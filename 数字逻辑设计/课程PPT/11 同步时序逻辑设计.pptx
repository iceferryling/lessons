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4" r:id="rId3"/>
  </p:sldMasterIdLst>
  <p:notesMasterIdLst>
    <p:notesMasterId r:id="rId39"/>
  </p:notesMasterIdLst>
  <p:handoutMasterIdLst>
    <p:handoutMasterId r:id="rId40"/>
  </p:handoutMasterIdLst>
  <p:sldIdLst>
    <p:sldId id="257" r:id="rId4"/>
    <p:sldId id="1301" r:id="rId5"/>
    <p:sldId id="1250" r:id="rId6"/>
    <p:sldId id="1118" r:id="rId7"/>
    <p:sldId id="1189" r:id="rId8"/>
    <p:sldId id="1252" r:id="rId9"/>
    <p:sldId id="1203" r:id="rId10"/>
    <p:sldId id="1204" r:id="rId11"/>
    <p:sldId id="1205" r:id="rId12"/>
    <p:sldId id="1206" r:id="rId13"/>
    <p:sldId id="1253" r:id="rId14"/>
    <p:sldId id="1207" r:id="rId15"/>
    <p:sldId id="1208" r:id="rId16"/>
    <p:sldId id="1255" r:id="rId17"/>
    <p:sldId id="1217" r:id="rId18"/>
    <p:sldId id="1256" r:id="rId19"/>
    <p:sldId id="1219" r:id="rId20"/>
    <p:sldId id="1220" r:id="rId21"/>
    <p:sldId id="1221" r:id="rId22"/>
    <p:sldId id="1222" r:id="rId23"/>
    <p:sldId id="1223" r:id="rId24"/>
    <p:sldId id="1224" r:id="rId25"/>
    <p:sldId id="1225" r:id="rId26"/>
    <p:sldId id="1226" r:id="rId27"/>
    <p:sldId id="1227" r:id="rId28"/>
    <p:sldId id="1228" r:id="rId29"/>
    <p:sldId id="1229" r:id="rId30"/>
    <p:sldId id="1230" r:id="rId31"/>
    <p:sldId id="1231" r:id="rId32"/>
    <p:sldId id="1232" r:id="rId33"/>
    <p:sldId id="1233" r:id="rId34"/>
    <p:sldId id="1234" r:id="rId35"/>
    <p:sldId id="1235" r:id="rId36"/>
    <p:sldId id="1236" r:id="rId37"/>
    <p:sldId id="1237" r:id="rId38"/>
  </p:sldIdLst>
  <p:sldSz cx="9144000" cy="5143500" type="screen16x9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81">
          <p15:clr>
            <a:srgbClr val="A4A3A4"/>
          </p15:clr>
        </p15:guide>
        <p15:guide id="2" pos="2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00"/>
    <a:srgbClr val="FFCC00"/>
    <a:srgbClr val="FF0066"/>
    <a:srgbClr val="00CC00"/>
    <a:srgbClr val="006600"/>
    <a:srgbClr val="9900FF"/>
    <a:srgbClr val="800000"/>
    <a:srgbClr val="FFCCFF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9872" autoAdjust="0"/>
  </p:normalViewPr>
  <p:slideViewPr>
    <p:cSldViewPr>
      <p:cViewPr>
        <p:scale>
          <a:sx n="125" d="100"/>
          <a:sy n="125" d="100"/>
        </p:scale>
        <p:origin x="1134" y="516"/>
      </p:cViewPr>
      <p:guideLst>
        <p:guide orient="horz" pos="288"/>
        <p:guide pos="2924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666"/>
    </p:cViewPr>
  </p:sorterViewPr>
  <p:notesViewPr>
    <p:cSldViewPr>
      <p:cViewPr varScale="1">
        <p:scale>
          <a:sx n="36" d="100"/>
          <a:sy n="36" d="100"/>
        </p:scale>
        <p:origin x="-1530" y="-78"/>
      </p:cViewPr>
      <p:guideLst>
        <p:guide orient="horz" pos="2781"/>
        <p:guide pos="2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CCE2648-A8DC-4EC5-B7E5-BA0DDBB4F4C4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42881-B77B-4B4C-A62F-3BDE769416B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45A18-899C-4FEE-AFEC-F93510AD1E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如果从状态机自启动的的定义来看，不用管输出逻辑是否正常，只要经过有限个状态可以回到常用状态，状态机就是可以自启动的。按照这个定义，这两个都是电路都是可以自启动的，只是转入常用状态时，异常输出可能会导致严重后果，这种电路是有瑕疵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45A18-899C-4FEE-AFEC-F93510AD1EF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846138" y="400050"/>
            <a:ext cx="7772400" cy="857250"/>
          </a:xfrm>
        </p:spPr>
        <p:txBody>
          <a:bodyPr anchor="b"/>
          <a:lstStyle>
            <a:lvl1pPr algn="ctr"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2571750"/>
            <a:ext cx="6400800" cy="131445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1FDC1-0F3B-44E6-A503-C614798938C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BC86C-0E00-4E96-9903-6ECBD47ADB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3074" name="Picture 4" descr="ELEGLIN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738505"/>
            <a:ext cx="7772400" cy="7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27355" y="46990"/>
            <a:ext cx="8320405" cy="64389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ELEGLIN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850900"/>
            <a:ext cx="7772400" cy="7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275" y="113563"/>
            <a:ext cx="7772400" cy="688658"/>
          </a:xfrm>
        </p:spPr>
        <p:txBody>
          <a:bodyPr/>
          <a:lstStyle>
            <a:lvl1pPr>
              <a:defRPr sz="4400"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042670"/>
            <a:ext cx="7772400" cy="3441065"/>
          </a:xfrm>
        </p:spPr>
        <p:txBody>
          <a:bodyPr/>
          <a:lstStyle>
            <a:lvl1pPr>
              <a:buClr>
                <a:srgbClr val="000000"/>
              </a:buClr>
              <a:buSzPct val="100000"/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1pPr>
            <a:lvl2pPr>
              <a:buClr>
                <a:srgbClr val="000000"/>
              </a:buClr>
              <a:buSzPct val="100000"/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2pPr>
            <a:lvl3pPr>
              <a:buClr>
                <a:srgbClr val="000000"/>
              </a:buClr>
              <a:buSzPct val="100000"/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3pPr>
            <a:lvl4pPr>
              <a:buClr>
                <a:srgbClr val="000000"/>
              </a:buClr>
              <a:buSzPct val="100000"/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4pPr>
            <a:lvl5pPr>
              <a:buClr>
                <a:srgbClr val="000000"/>
              </a:buClr>
              <a:buSzPct val="100000"/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en-US" altLang="zh-CN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en-US" altLang="zh-CN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4468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685"/>
            <a:ext cx="7886700" cy="548005"/>
          </a:xfrm>
          <a:prstGeom prst="rect">
            <a:avLst/>
          </a:prstGeom>
        </p:spPr>
        <p:txBody>
          <a:bodyPr/>
          <a:lstStyle>
            <a:lvl1pPr algn="ctr"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82980"/>
            <a:ext cx="7886700" cy="3649980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800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800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D8C69E-12AB-49DB-996A-4E47F9869E94}" type="slidenum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41935"/>
            <a:ext cx="7772400" cy="857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46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defRPr kumimoji="0" sz="14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46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46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kumimoji="0" sz="14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E772FB4-38C4-4625-BF58-AC39395B37C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4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ln>
            <a:noFill/>
          </a:ln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ln>
            <a:noFill/>
          </a:ln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ln>
            <a:noFill/>
          </a:ln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ln>
            <a:noFill/>
          </a:ln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ln>
            <a:noFill/>
          </a:ln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/>
          </p:cNvSpPr>
          <p:nvPr>
            <p:ph type="title"/>
          </p:nvPr>
        </p:nvSpPr>
        <p:spPr>
          <a:xfrm>
            <a:off x="449580" y="68580"/>
            <a:ext cx="8251825" cy="58356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/>
            <a:r>
              <a:rPr lang="en-US" altLang="en-US" dirty="0"/>
              <a:t>单击此处编辑母版标题样式</a:t>
            </a:r>
          </a:p>
        </p:txBody>
      </p:sp>
      <p:sp>
        <p:nvSpPr>
          <p:cNvPr id="1546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spcBef>
                <a:spcPct val="0"/>
              </a:spcBef>
              <a:defRPr kumimoji="0" sz="105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spcBef>
                <a:spcPct val="0"/>
              </a:spcBef>
              <a:defRPr kumimoji="0" sz="10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054" name="Rectangle 9"/>
          <p:cNvSpPr>
            <a:spLocks noGrp="1"/>
          </p:cNvSpPr>
          <p:nvPr>
            <p:ph type="body"/>
          </p:nvPr>
        </p:nvSpPr>
        <p:spPr>
          <a:xfrm>
            <a:off x="685800" y="766445"/>
            <a:ext cx="7772400" cy="380555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6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2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400">
          <a:solidFill>
            <a:schemeClr val="bg2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100">
          <a:solidFill>
            <a:schemeClr val="bg2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>
          <a:solidFill>
            <a:schemeClr val="bg2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500">
          <a:solidFill>
            <a:schemeClr val="bg2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1500">
          <a:solidFill>
            <a:schemeClr val="bg2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0" name="直接连接符 6"/>
          <p:cNvCxnSpPr/>
          <p:nvPr userDrawn="1"/>
        </p:nvCxnSpPr>
        <p:spPr>
          <a:xfrm>
            <a:off x="497681" y="881063"/>
            <a:ext cx="8165306" cy="0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标题 1"/>
          <p:cNvSpPr txBox="1"/>
          <p:nvPr/>
        </p:nvSpPr>
        <p:spPr>
          <a:xfrm>
            <a:off x="514350" y="241697"/>
            <a:ext cx="8161735" cy="58340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3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514350" y="1016794"/>
            <a:ext cx="8161735" cy="3555206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514350" y="4686300"/>
            <a:ext cx="2507456" cy="342900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sz="1050">
                <a:solidFill>
                  <a:prstClr val="black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68254" y="4686300"/>
            <a:ext cx="2755106" cy="342900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sz="1050">
                <a:solidFill>
                  <a:prstClr val="black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084094" y="4686300"/>
            <a:ext cx="2591991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05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3290F4-B726-4D2A-BEF4-189B623AEF38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r" defTabSz="685800" rtl="0" eaLnBrk="1" latinLnBrk="0" hangingPunct="1">
              <a:defRPr kumimoji="1" sz="10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2C937AA-D504-4AFF-87AB-8B4750AC8DC1}" type="slidenum">
              <a:rPr lang="zh-CN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147" name="矩形 10"/>
          <p:cNvSpPr>
            <a:spLocks noChangeArrowheads="1"/>
          </p:cNvSpPr>
          <p:nvPr/>
        </p:nvSpPr>
        <p:spPr bwMode="auto">
          <a:xfrm>
            <a:off x="2033587" y="1275160"/>
            <a:ext cx="5130404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950" b="1">
                <a:solidFill>
                  <a:srgbClr val="0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数字逻辑设计</a:t>
            </a:r>
            <a:endParaRPr lang="zh-CN" altLang="en-US" sz="2700">
              <a:solidFill>
                <a:srgbClr val="0000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5D841724-DE9C-AAD5-A0F1-A8322F01E6D2}"/>
              </a:ext>
            </a:extLst>
          </p:cNvPr>
          <p:cNvSpPr/>
          <p:nvPr/>
        </p:nvSpPr>
        <p:spPr>
          <a:xfrm>
            <a:off x="4949938" y="3489279"/>
            <a:ext cx="3348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曲龙跃</a:t>
            </a:r>
          </a:p>
          <a:p>
            <a:r>
              <a:rPr kumimoji="1" lang="zh-CN" altLang="en-US" dirty="0">
                <a:solidFill>
                  <a:srgbClr val="000000"/>
                </a:solidFill>
                <a:ea typeface="黑体" panose="02010609060101010101" pitchFamily="2" charset="-122"/>
                <a:cs typeface="Times New Roman" panose="02020603050405020304" pitchFamily="18" charset="0"/>
              </a:rPr>
              <a:t>信息科学与技术学院</a:t>
            </a:r>
            <a:endParaRPr kumimoji="1" lang="en-US" altLang="zh-CN" dirty="0">
              <a:solidFill>
                <a:srgbClr val="000000"/>
              </a:solidFill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solidFill>
                  <a:srgbClr val="000000"/>
                </a:solidFill>
                <a:ea typeface="黑体" panose="02010609060101010101" pitchFamily="2" charset="-122"/>
                <a:cs typeface="Times New Roman" panose="02020603050405020304" pitchFamily="18" charset="0"/>
              </a:rPr>
              <a:t>qulongyue@hit.edu.cn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bg2"/>
                </a:solidFill>
                <a:latin typeface="黑体" panose="02010609060101010101" pitchFamily="49" charset="-122"/>
                <a:sym typeface="+mn-ea"/>
              </a:rPr>
              <a:t>利用触发器设计时序逻辑的方法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5800" y="1024255"/>
            <a:ext cx="7772400" cy="3441065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）根据需求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获得原始状态图、状态表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）最小化状态图、状态表                  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）状态编码（分配）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获得状态转移表         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）状态转移表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触发器特征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）卡诺图化简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——&gt;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）电路实现      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）检查无关状态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灯片编号占位符 1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2075" tIns="46038" rIns="92075" bIns="46038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000" dirty="0"/>
              <a:t>2</a:t>
            </a:fld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7" name="Rectangle 16"/>
          <p:cNvSpPr/>
          <p:nvPr/>
        </p:nvSpPr>
        <p:spPr>
          <a:xfrm>
            <a:off x="4685665" y="1448435"/>
            <a:ext cx="5099050" cy="3305810"/>
          </a:xfrm>
          <a:prstGeom prst="rect">
            <a:avLst/>
          </a:prstGeom>
          <a:noFill/>
          <a:ln w="28575">
            <a:noFill/>
          </a:ln>
        </p:spPr>
        <p:txBody>
          <a:bodyPr lIns="92075" tIns="46038" rIns="92075" bIns="46038" anchor="ctr"/>
          <a:lstStyle/>
          <a:p>
            <a:pPr marL="342900" indent="-342900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AutoShape 20"/>
          <p:cNvSpPr/>
          <p:nvPr/>
        </p:nvSpPr>
        <p:spPr>
          <a:xfrm>
            <a:off x="3277870" y="2642870"/>
            <a:ext cx="205105" cy="680085"/>
          </a:xfrm>
          <a:prstGeom prst="rightBrace">
            <a:avLst>
              <a:gd name="adj1" fmla="val 27817"/>
              <a:gd name="adj2" fmla="val 50000"/>
            </a:avLst>
          </a:prstGeom>
          <a:noFill/>
          <a:ln w="19050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8" name="AutoShape 22"/>
          <p:cNvSpPr/>
          <p:nvPr/>
        </p:nvSpPr>
        <p:spPr>
          <a:xfrm>
            <a:off x="3946525" y="3362960"/>
            <a:ext cx="255270" cy="504190"/>
          </a:xfrm>
          <a:prstGeom prst="leftBrace">
            <a:avLst>
              <a:gd name="adj1" fmla="val 20740"/>
              <a:gd name="adj2" fmla="val 50000"/>
            </a:avLst>
          </a:prstGeom>
          <a:noFill/>
          <a:ln w="19050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9" name="Text Box 24"/>
          <p:cNvSpPr txBox="1"/>
          <p:nvPr/>
        </p:nvSpPr>
        <p:spPr>
          <a:xfrm>
            <a:off x="3629025" y="2783205"/>
            <a:ext cx="33070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——&gt;</a:t>
            </a:r>
            <a:r>
              <a:rPr lang="zh-CN" altLang="en-US" sz="2000" dirty="0">
                <a:latin typeface="宋体" panose="02010600030101010101" pitchFamily="2" charset="-122"/>
                <a:cs typeface="宋体" panose="02010600030101010101" pitchFamily="2" charset="-122"/>
              </a:rPr>
              <a:t>触发器激励表</a:t>
            </a:r>
          </a:p>
        </p:txBody>
      </p:sp>
      <p:sp>
        <p:nvSpPr>
          <p:cNvPr id="20" name="Text Box 24"/>
          <p:cNvSpPr txBox="1"/>
          <p:nvPr/>
        </p:nvSpPr>
        <p:spPr>
          <a:xfrm>
            <a:off x="4278630" y="3196590"/>
            <a:ext cx="37623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宋体" panose="02010600030101010101" pitchFamily="2" charset="-122"/>
              </a:rPr>
              <a:t>激励（输入）函数表达式</a:t>
            </a:r>
          </a:p>
        </p:txBody>
      </p:sp>
      <p:sp>
        <p:nvSpPr>
          <p:cNvPr id="21" name="Text Box 24"/>
          <p:cNvSpPr txBox="1"/>
          <p:nvPr/>
        </p:nvSpPr>
        <p:spPr>
          <a:xfrm>
            <a:off x="4278630" y="3583305"/>
            <a:ext cx="2657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宋体" panose="02010600030101010101" pitchFamily="2" charset="-122"/>
              </a:rPr>
              <a:t>输出函数表达式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7" grpId="0" bldLvl="0" animBg="1"/>
      <p:bldP spid="18" grpId="0" bldLvl="0" animBg="1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用触发器设计同步时序逻辑</a:t>
            </a:r>
            <a:r>
              <a:rPr lang="en-US" altLang="zh-CN" b="1" dirty="0">
                <a:sym typeface="+mn-ea"/>
              </a:rPr>
              <a:t>—</a:t>
            </a:r>
            <a:r>
              <a:rPr lang="zh-CN" altLang="en-US" b="1" dirty="0">
                <a:sym typeface="+mn-ea"/>
              </a:rPr>
              <a:t>实例</a:t>
            </a:r>
            <a:br>
              <a:rPr lang="en-US" altLang="zh-CN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模8可逆计数器</a:t>
            </a:r>
            <a:endParaRPr lang="zh-CN" altLang="en-US" sz="4000" b="1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时序锁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二进制串行加法器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奇偶校验器</a:t>
            </a:r>
            <a:endParaRPr lang="en-US" altLang="zh-CN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更复杂的同步时序逻辑设计</a:t>
            </a:r>
            <a:endParaRPr lang="zh-CN" altLang="en-US" sz="4000" dirty="0">
              <a:cs typeface="宋体" panose="02010600030101010101" pitchFamily="2" charset="-122"/>
            </a:endParaRPr>
          </a:p>
          <a:p>
            <a:endParaRPr lang="zh-CN" altLang="en-US" sz="4000" dirty="0"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 bwMode="auto">
          <a:xfrm>
            <a:off x="8496488" y="2086744"/>
            <a:ext cx="468000" cy="29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5700401" y="2086744"/>
            <a:ext cx="1641600" cy="29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4353932" y="2077219"/>
            <a:ext cx="1346400" cy="29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83260" y="651510"/>
            <a:ext cx="591248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T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触发器设计一个同步模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可逆计数器</a:t>
            </a:r>
            <a:endParaRPr lang="zh-CN" altLang="en-US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763688" y="104775"/>
            <a:ext cx="583264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</a:p>
        </p:txBody>
      </p:sp>
      <p:grpSp>
        <p:nvGrpSpPr>
          <p:cNvPr id="18" name="Group 4"/>
          <p:cNvGrpSpPr/>
          <p:nvPr/>
        </p:nvGrpSpPr>
        <p:grpSpPr bwMode="auto">
          <a:xfrm>
            <a:off x="685458" y="1203597"/>
            <a:ext cx="2158350" cy="879230"/>
            <a:chOff x="1394" y="3108"/>
            <a:chExt cx="2365" cy="935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1989" y="3108"/>
              <a:ext cx="1096" cy="54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同步模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</a:p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可逆计数器</a:t>
              </a:r>
            </a:p>
          </p:txBody>
        </p:sp>
        <p:sp>
          <p:nvSpPr>
            <p:cNvPr id="20" name="Line 6"/>
            <p:cNvSpPr>
              <a:spLocks noChangeShapeType="1"/>
            </p:cNvSpPr>
            <p:nvPr/>
          </p:nvSpPr>
          <p:spPr bwMode="auto">
            <a:xfrm>
              <a:off x="1660" y="3375"/>
              <a:ext cx="33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 b="1"/>
            </a:p>
          </p:txBody>
        </p:sp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1394" y="3223"/>
              <a:ext cx="336" cy="3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2" name="Line 8"/>
            <p:cNvSpPr>
              <a:spLocks noChangeShapeType="1"/>
            </p:cNvSpPr>
            <p:nvPr/>
          </p:nvSpPr>
          <p:spPr bwMode="auto">
            <a:xfrm>
              <a:off x="1963" y="3873"/>
              <a:ext cx="59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 sz="1400" b="1"/>
            </a:p>
          </p:txBody>
        </p:sp>
        <p:sp>
          <p:nvSpPr>
            <p:cNvPr id="23" name="Line 9"/>
            <p:cNvSpPr>
              <a:spLocks noChangeShapeType="1"/>
            </p:cNvSpPr>
            <p:nvPr/>
          </p:nvSpPr>
          <p:spPr bwMode="auto">
            <a:xfrm flipV="1">
              <a:off x="2544" y="3648"/>
              <a:ext cx="0" cy="23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 b="1"/>
            </a:p>
          </p:txBody>
        </p:sp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1473" y="3716"/>
              <a:ext cx="513" cy="3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CP</a:t>
              </a:r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3097" y="3356"/>
              <a:ext cx="31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 b="1"/>
            </a:p>
          </p:txBody>
        </p:sp>
        <p:sp>
          <p:nvSpPr>
            <p:cNvPr id="26" name="Text Box 12"/>
            <p:cNvSpPr txBox="1">
              <a:spLocks noChangeArrowheads="1"/>
            </p:cNvSpPr>
            <p:nvPr/>
          </p:nvSpPr>
          <p:spPr bwMode="auto">
            <a:xfrm>
              <a:off x="3327" y="3211"/>
              <a:ext cx="432" cy="3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91687" y="3003798"/>
            <a:ext cx="2064089" cy="2016224"/>
            <a:chOff x="1307787" y="2427734"/>
            <a:chExt cx="2064089" cy="2016224"/>
          </a:xfrm>
        </p:grpSpPr>
        <p:pic>
          <p:nvPicPr>
            <p:cNvPr id="64518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28728" y="2686709"/>
              <a:ext cx="1776433" cy="1714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411760" y="2613561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2939959" y="3047216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2963971" y="3735492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2507911" y="4197737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1" name="Text Box 25"/>
            <p:cNvSpPr txBox="1">
              <a:spLocks noChangeArrowheads="1"/>
            </p:cNvSpPr>
            <p:nvPr/>
          </p:nvSpPr>
          <p:spPr bwMode="auto">
            <a:xfrm>
              <a:off x="1763688" y="4197737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1339591" y="3813844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5"/>
            <p:cNvSpPr txBox="1">
              <a:spLocks noChangeArrowheads="1"/>
            </p:cNvSpPr>
            <p:nvPr/>
          </p:nvSpPr>
          <p:spPr bwMode="auto">
            <a:xfrm>
              <a:off x="1307787" y="3117617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4" name="Text Box 25"/>
            <p:cNvSpPr txBox="1">
              <a:spLocks noChangeArrowheads="1"/>
            </p:cNvSpPr>
            <p:nvPr/>
          </p:nvSpPr>
          <p:spPr bwMode="auto">
            <a:xfrm>
              <a:off x="1747786" y="2669218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0/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1715823" y="3189625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1683729" y="3589869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7" name="Text Box 25"/>
            <p:cNvSpPr txBox="1">
              <a:spLocks noChangeArrowheads="1"/>
            </p:cNvSpPr>
            <p:nvPr/>
          </p:nvSpPr>
          <p:spPr bwMode="auto">
            <a:xfrm>
              <a:off x="1907704" y="3837697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2291597" y="3853599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9" name="Text Box 25"/>
            <p:cNvSpPr txBox="1">
              <a:spLocks noChangeArrowheads="1"/>
            </p:cNvSpPr>
            <p:nvPr/>
          </p:nvSpPr>
          <p:spPr bwMode="auto">
            <a:xfrm>
              <a:off x="2547666" y="3621673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2579919" y="3261633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1" name="Text Box 25"/>
            <p:cNvSpPr txBox="1">
              <a:spLocks noChangeArrowheads="1"/>
            </p:cNvSpPr>
            <p:nvPr/>
          </p:nvSpPr>
          <p:spPr bwMode="auto">
            <a:xfrm>
              <a:off x="2339752" y="2989952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2" name="Text Box 25"/>
            <p:cNvSpPr txBox="1">
              <a:spLocks noChangeArrowheads="1"/>
            </p:cNvSpPr>
            <p:nvPr/>
          </p:nvSpPr>
          <p:spPr bwMode="auto">
            <a:xfrm>
              <a:off x="1980161" y="2973601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1/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3" name="Text Box 25"/>
            <p:cNvSpPr txBox="1">
              <a:spLocks noChangeArrowheads="1"/>
            </p:cNvSpPr>
            <p:nvPr/>
          </p:nvSpPr>
          <p:spPr bwMode="auto">
            <a:xfrm>
              <a:off x="2051720" y="2427734"/>
              <a:ext cx="407905" cy="246221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000" b="1" dirty="0">
                  <a:latin typeface="+mj-lt"/>
                  <a:ea typeface="宋体" panose="02010600030101010101" pitchFamily="2" charset="-122"/>
                </a:rPr>
                <a:t>X/</a:t>
              </a:r>
              <a:r>
                <a:rPr kumimoji="0" lang="en-US" altLang="zh-CN" sz="10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45" name="Text Box 20"/>
          <p:cNvSpPr txBox="1">
            <a:spLocks noChangeArrowheads="1"/>
          </p:cNvSpPr>
          <p:nvPr/>
        </p:nvSpPr>
        <p:spPr bwMode="auto">
          <a:xfrm>
            <a:off x="683568" y="2715766"/>
            <a:ext cx="1944216" cy="264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66750" indent="-666750" algn="just">
              <a:lnSpc>
                <a:spcPct val="70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需要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3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1600" b="1" dirty="0">
                <a:ea typeface="宋体" panose="02010600030101010101" pitchFamily="2" charset="-122"/>
              </a:rPr>
              <a:t>T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179512" y="2283718"/>
            <a:ext cx="28575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graphicFrame>
        <p:nvGraphicFramePr>
          <p:cNvPr id="47" name="表格 46"/>
          <p:cNvGraphicFramePr>
            <a:graphicFrameLocks noGrp="1"/>
          </p:cNvGraphicFramePr>
          <p:nvPr/>
        </p:nvGraphicFramePr>
        <p:xfrm>
          <a:off x="4353932" y="1635646"/>
          <a:ext cx="4608516" cy="33697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3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6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3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89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89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30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    现态 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  输入     输出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X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400" b="1" kern="1200" baseline="30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n+1</a:t>
                      </a:r>
                      <a:endParaRPr lang="zh-CN" altLang="en-US" sz="1400" b="1" kern="1200" baseline="30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altLang="zh-CN" sz="14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altLang="zh-CN" sz="14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T</a:t>
                      </a:r>
                      <a:r>
                        <a:rPr lang="en-US" altLang="zh-CN" sz="14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latin typeface="+mj-lt"/>
                        </a:rPr>
                        <a:t>Z</a:t>
                      </a:r>
                      <a:endParaRPr lang="zh-CN" altLang="en-US" sz="1400" b="1" baseline="-250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0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56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8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1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56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 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4281924" y="1235536"/>
            <a:ext cx="28575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2.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</a:t>
            </a:r>
          </a:p>
        </p:txBody>
      </p:sp>
      <p:grpSp>
        <p:nvGrpSpPr>
          <p:cNvPr id="52" name="组合 12"/>
          <p:cNvGrpSpPr/>
          <p:nvPr/>
        </p:nvGrpSpPr>
        <p:grpSpPr bwMode="auto">
          <a:xfrm>
            <a:off x="7092281" y="699542"/>
            <a:ext cx="2016223" cy="745025"/>
            <a:chOff x="4429119" y="1000114"/>
            <a:chExt cx="1113777" cy="350693"/>
          </a:xfrm>
        </p:grpSpPr>
        <p:sp>
          <p:nvSpPr>
            <p:cNvPr id="53" name="圆角矩形标注 13"/>
            <p:cNvSpPr>
              <a:spLocks noChangeArrowheads="1"/>
            </p:cNvSpPr>
            <p:nvPr/>
          </p:nvSpPr>
          <p:spPr bwMode="auto">
            <a:xfrm>
              <a:off x="4462660" y="1011894"/>
              <a:ext cx="1034107" cy="338913"/>
            </a:xfrm>
            <a:prstGeom prst="wedgeRoundRectCallout">
              <a:avLst>
                <a:gd name="adj1" fmla="val -7801"/>
                <a:gd name="adj2" fmla="val 73108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4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>
              <a:off x="4429119" y="1000114"/>
              <a:ext cx="1113777" cy="347699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ea typeface="黑体" panose="02010609060101010101" pitchFamily="49" charset="-122"/>
                </a:rPr>
                <a:t>确定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T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3</a:t>
              </a:r>
              <a:r>
                <a:rPr lang="zh-CN" altLang="en-US" sz="1400" b="1" dirty="0">
                  <a:ea typeface="黑体" panose="02010609060101010101" pitchFamily="49" charset="-122"/>
                </a:rPr>
                <a:t>：看</a:t>
              </a:r>
              <a:r>
                <a:rPr lang="en-US" altLang="zh-CN" sz="1400" b="1" dirty="0">
                  <a:solidFill>
                    <a:schemeClr val="dk1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3</a:t>
              </a:r>
              <a:r>
                <a:rPr lang="en-US" altLang="zh-CN" sz="1400" b="1" baseline="30000" dirty="0">
                  <a:solidFill>
                    <a:schemeClr val="dk1"/>
                  </a:solidFill>
                </a:rPr>
                <a:t>n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1400" b="1" dirty="0"/>
                <a:t>Q</a:t>
              </a:r>
              <a:r>
                <a:rPr lang="en-US" altLang="zh-CN" sz="1400" b="1" baseline="-25000" dirty="0"/>
                <a:t>3</a:t>
              </a:r>
              <a:r>
                <a:rPr lang="en-US" altLang="zh-CN" sz="1400" b="1" baseline="30000" dirty="0"/>
                <a:t>n+1</a:t>
              </a:r>
            </a:p>
            <a:p>
              <a:r>
                <a:rPr lang="zh-CN" altLang="en-US" sz="1400" b="1" dirty="0">
                  <a:ea typeface="黑体" panose="02010609060101010101" pitchFamily="49" charset="-122"/>
                </a:rPr>
                <a:t>确定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T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2</a:t>
              </a:r>
              <a:r>
                <a:rPr lang="zh-CN" altLang="en-US" sz="1400" b="1" dirty="0">
                  <a:ea typeface="黑体" panose="02010609060101010101" pitchFamily="49" charset="-122"/>
                </a:rPr>
                <a:t>：看</a:t>
              </a:r>
              <a:r>
                <a:rPr lang="en-US" altLang="zh-CN" sz="1400" b="1" dirty="0">
                  <a:solidFill>
                    <a:schemeClr val="dk1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2</a:t>
              </a:r>
              <a:r>
                <a:rPr lang="en-US" altLang="zh-CN" sz="1400" b="1" baseline="30000" dirty="0">
                  <a:solidFill>
                    <a:schemeClr val="dk1"/>
                  </a:solidFill>
                </a:rPr>
                <a:t>n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1400" b="1" dirty="0"/>
                <a:t>Q</a:t>
              </a:r>
              <a:r>
                <a:rPr lang="en-US" altLang="zh-CN" sz="1400" b="1" baseline="-25000" dirty="0"/>
                <a:t>2</a:t>
              </a:r>
              <a:r>
                <a:rPr lang="en-US" altLang="zh-CN" sz="1400" b="1" baseline="30000" dirty="0"/>
                <a:t>n+1</a:t>
              </a:r>
            </a:p>
            <a:p>
              <a:r>
                <a:rPr lang="zh-CN" altLang="en-US" sz="1400" b="1" dirty="0">
                  <a:ea typeface="黑体" panose="02010609060101010101" pitchFamily="49" charset="-122"/>
                </a:rPr>
                <a:t>确定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T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：看</a:t>
              </a:r>
              <a:r>
                <a:rPr lang="en-US" altLang="zh-CN" sz="1400" b="1" dirty="0">
                  <a:solidFill>
                    <a:schemeClr val="dk1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1</a:t>
              </a:r>
              <a:r>
                <a:rPr lang="en-US" altLang="zh-CN" sz="1400" b="1" baseline="30000" dirty="0">
                  <a:solidFill>
                    <a:schemeClr val="dk1"/>
                  </a:solidFill>
                </a:rPr>
                <a:t>n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1400" b="1" dirty="0"/>
                <a:t>Q</a:t>
              </a:r>
              <a:r>
                <a:rPr lang="en-US" altLang="zh-CN" sz="1400" b="1" baseline="-25000" dirty="0"/>
                <a:t>1</a:t>
              </a:r>
              <a:r>
                <a:rPr lang="en-US" altLang="zh-CN" sz="1400" b="1" baseline="30000" dirty="0"/>
                <a:t>n+1</a:t>
              </a:r>
            </a:p>
          </p:txBody>
        </p:sp>
      </p:grp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1763688" y="1797781"/>
            <a:ext cx="194421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X=0: 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加法；</a:t>
            </a: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X=1: 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减法</a:t>
            </a:r>
            <a:endParaRPr lang="en-US" altLang="zh-CN" sz="1400" b="1" dirty="0">
              <a:latin typeface="+mj-lt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Z 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：进位及借位</a:t>
            </a:r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2771800" y="3676328"/>
          <a:ext cx="1253155" cy="1127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0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输入端</a:t>
                      </a:r>
                      <a:r>
                        <a:rPr lang="en-US" altLang="zh-CN" sz="1400" kern="1200" dirty="0">
                          <a:latin typeface="+mj-lt"/>
                        </a:rPr>
                        <a:t>T</a:t>
                      </a:r>
                      <a:r>
                        <a:rPr lang="en-US" altLang="zh-CN" sz="1400" kern="1200" baseline="0" dirty="0">
                          <a:latin typeface="+mj-lt"/>
                        </a:rPr>
                        <a:t> </a:t>
                      </a:r>
                      <a:endParaRPr lang="zh-CN" altLang="en-US" sz="1400" b="1" kern="1200" baseline="0" dirty="0">
                        <a:solidFill>
                          <a:schemeClr val="bg1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391" marR="91391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lang="en-US" altLang="zh-CN" sz="1400" kern="1200" baseline="0" dirty="0">
                          <a:latin typeface="+mj-lt"/>
                        </a:rPr>
                        <a:t>Q</a:t>
                      </a:r>
                      <a:r>
                        <a:rPr lang="en-US" altLang="zh-CN" sz="1400" baseline="-25000" dirty="0">
                          <a:latin typeface="+mj-lt"/>
                        </a:rPr>
                        <a:t>n+1</a:t>
                      </a:r>
                      <a:endParaRPr lang="zh-CN" altLang="en-US" sz="1400" baseline="-25000" dirty="0">
                        <a:solidFill>
                          <a:srgbClr val="C00000"/>
                        </a:solidFill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91391" marR="91391" marT="45705" marB="457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391" marR="91391" marT="45705" marB="45705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baseline="0" dirty="0" err="1">
                          <a:latin typeface="+mj-lt"/>
                        </a:rPr>
                        <a:t>Q</a:t>
                      </a:r>
                      <a:r>
                        <a:rPr lang="en-US" altLang="zh-CN" sz="1400" b="1" kern="1200" baseline="-25000" dirty="0" err="1">
                          <a:latin typeface="+mj-lt"/>
                        </a:rPr>
                        <a:t>n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391" marR="91391" marT="45705" marB="4570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391" marR="91391" marT="45705" marB="45705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baseline="0" dirty="0" err="1">
                          <a:latin typeface="+mj-lt"/>
                        </a:rPr>
                        <a:t>Q</a:t>
                      </a:r>
                      <a:r>
                        <a:rPr lang="en-US" altLang="zh-CN" sz="1400" b="1" kern="1200" baseline="-25000" dirty="0" err="1">
                          <a:latin typeface="+mj-lt"/>
                        </a:rPr>
                        <a:t>n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391" marR="91391" marT="45705" marB="4570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7" name="直接连接符 122"/>
          <p:cNvCxnSpPr>
            <a:cxnSpLocks noChangeShapeType="1"/>
          </p:cNvCxnSpPr>
          <p:nvPr/>
        </p:nvCxnSpPr>
        <p:spPr bwMode="auto">
          <a:xfrm>
            <a:off x="3659731" y="4554557"/>
            <a:ext cx="107950" cy="0"/>
          </a:xfrm>
          <a:prstGeom prst="line">
            <a:avLst/>
          </a:prstGeom>
          <a:noFill/>
          <a:ln w="19050" algn="ctr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2555776" y="3388296"/>
            <a:ext cx="1584176" cy="264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66750" indent="-666750" algn="just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1600" b="1" dirty="0">
                <a:ea typeface="宋体" panose="02010600030101010101" pitchFamily="2" charset="-122"/>
              </a:rPr>
              <a:t>T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触发器驱动表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0" grpId="0" animBg="1"/>
      <p:bldP spid="49" grpId="0" animBg="1"/>
      <p:bldP spid="45" grpId="0" autoUpdateAnimBg="0"/>
      <p:bldP spid="46" grpId="0"/>
      <p:bldP spid="48" grpId="0"/>
      <p:bldP spid="55" grpId="0"/>
      <p:bldP spid="5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" name="Text Box 149"/>
          <p:cNvSpPr txBox="1">
            <a:spLocks noChangeArrowheads="1"/>
          </p:cNvSpPr>
          <p:nvPr/>
        </p:nvSpPr>
        <p:spPr bwMode="auto">
          <a:xfrm>
            <a:off x="4499992" y="627534"/>
            <a:ext cx="158417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ea typeface="宋体" panose="02010600030101010101" pitchFamily="2" charset="-122"/>
              </a:rPr>
              <a:t>4.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电路实现</a:t>
            </a:r>
          </a:p>
        </p:txBody>
      </p:sp>
      <p:sp>
        <p:nvSpPr>
          <p:cNvPr id="379" name="Rectangle 167"/>
          <p:cNvSpPr>
            <a:spLocks noChangeArrowheads="1"/>
          </p:cNvSpPr>
          <p:nvPr/>
        </p:nvSpPr>
        <p:spPr bwMode="auto">
          <a:xfrm>
            <a:off x="683568" y="627534"/>
            <a:ext cx="208756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卡诺图化简</a:t>
            </a:r>
          </a:p>
        </p:txBody>
      </p:sp>
      <p:grpSp>
        <p:nvGrpSpPr>
          <p:cNvPr id="240" name="组合 239"/>
          <p:cNvGrpSpPr/>
          <p:nvPr/>
        </p:nvGrpSpPr>
        <p:grpSpPr>
          <a:xfrm>
            <a:off x="0" y="1059582"/>
            <a:ext cx="4324350" cy="3968031"/>
            <a:chOff x="0" y="1059582"/>
            <a:chExt cx="4324350" cy="3968031"/>
          </a:xfrm>
        </p:grpSpPr>
        <p:grpSp>
          <p:nvGrpSpPr>
            <p:cNvPr id="239" name="组合 238"/>
            <p:cNvGrpSpPr/>
            <p:nvPr/>
          </p:nvGrpSpPr>
          <p:grpSpPr>
            <a:xfrm>
              <a:off x="35496" y="3075806"/>
              <a:ext cx="2971050" cy="1951807"/>
              <a:chOff x="35496" y="3075806"/>
              <a:chExt cx="2971050" cy="1951807"/>
            </a:xfrm>
          </p:grpSpPr>
          <p:graphicFrame>
            <p:nvGraphicFramePr>
              <p:cNvPr id="8196" name="Object 113"/>
              <p:cNvGraphicFramePr>
                <a:graphicFrameLocks noChangeAspect="1"/>
              </p:cNvGraphicFramePr>
              <p:nvPr/>
            </p:nvGraphicFramePr>
            <p:xfrm>
              <a:off x="2627784" y="3507854"/>
              <a:ext cx="378762" cy="2160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8534400" imgH="5181600" progId="Equation.3">
                      <p:embed/>
                    </p:oleObj>
                  </mc:Choice>
                  <mc:Fallback>
                    <p:oleObj name="公式" r:id="rId4" imgW="8534400" imgH="5181600" progId="Equation.3">
                      <p:embed/>
                      <p:pic>
                        <p:nvPicPr>
                          <p:cNvPr id="0" name="图片 102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2627784" y="3507854"/>
                            <a:ext cx="378762" cy="21602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97" name="Object 6"/>
              <p:cNvGraphicFramePr>
                <a:graphicFrameLocks noChangeAspect="1"/>
              </p:cNvGraphicFramePr>
              <p:nvPr/>
            </p:nvGraphicFramePr>
            <p:xfrm>
              <a:off x="85725" y="4730750"/>
              <a:ext cx="2565400" cy="2968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1452800" imgH="6400800" progId="">
                      <p:embed/>
                    </p:oleObj>
                  </mc:Choice>
                  <mc:Fallback>
                    <p:oleObj name="Equation" r:id="rId6" imgW="41452800" imgH="6400800" progId="">
                      <p:embed/>
                      <p:pic>
                        <p:nvPicPr>
                          <p:cNvPr id="0" name="图片 102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85725" y="4730750"/>
                            <a:ext cx="2565400" cy="29686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1" name="组合 113"/>
              <p:cNvGrpSpPr/>
              <p:nvPr/>
            </p:nvGrpSpPr>
            <p:grpSpPr bwMode="auto">
              <a:xfrm>
                <a:off x="35496" y="3075806"/>
                <a:ext cx="2107484" cy="1528773"/>
                <a:chOff x="5945968" y="1063530"/>
                <a:chExt cx="2980189" cy="2030962"/>
              </a:xfrm>
            </p:grpSpPr>
            <p:sp>
              <p:nvSpPr>
                <p:cNvPr id="122" name="Rectangle 6"/>
                <p:cNvSpPr>
                  <a:spLocks noChangeArrowheads="1"/>
                </p:cNvSpPr>
                <p:nvPr/>
              </p:nvSpPr>
              <p:spPr bwMode="auto">
                <a:xfrm>
                  <a:off x="8301459" y="1975170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23" name="Rectangle 7"/>
                <p:cNvSpPr>
                  <a:spLocks noChangeArrowheads="1"/>
                </p:cNvSpPr>
                <p:nvPr/>
              </p:nvSpPr>
              <p:spPr bwMode="auto">
                <a:xfrm>
                  <a:off x="7782347" y="1975170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124" name="Rectangle 8"/>
                <p:cNvSpPr>
                  <a:spLocks noChangeArrowheads="1"/>
                </p:cNvSpPr>
                <p:nvPr/>
              </p:nvSpPr>
              <p:spPr bwMode="auto">
                <a:xfrm>
                  <a:off x="7264822" y="1975170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25" name="Rectangle 9"/>
                <p:cNvSpPr>
                  <a:spLocks noChangeArrowheads="1"/>
                </p:cNvSpPr>
                <p:nvPr/>
              </p:nvSpPr>
              <p:spPr bwMode="auto">
                <a:xfrm>
                  <a:off x="6745709" y="1975170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26" name="Rectangle 10"/>
                <p:cNvSpPr>
                  <a:spLocks noChangeArrowheads="1"/>
                </p:cNvSpPr>
                <p:nvPr/>
              </p:nvSpPr>
              <p:spPr bwMode="auto">
                <a:xfrm>
                  <a:off x="8301459" y="1601977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27" name="Rectangle 11"/>
                <p:cNvSpPr>
                  <a:spLocks noChangeArrowheads="1"/>
                </p:cNvSpPr>
                <p:nvPr/>
              </p:nvSpPr>
              <p:spPr bwMode="auto">
                <a:xfrm>
                  <a:off x="7782347" y="1601977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28" name="Rectangle 12"/>
                <p:cNvSpPr>
                  <a:spLocks noChangeArrowheads="1"/>
                </p:cNvSpPr>
                <p:nvPr/>
              </p:nvSpPr>
              <p:spPr bwMode="auto">
                <a:xfrm>
                  <a:off x="7264822" y="1601977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29" name="Rectangle 13"/>
                <p:cNvSpPr>
                  <a:spLocks noChangeArrowheads="1"/>
                </p:cNvSpPr>
                <p:nvPr/>
              </p:nvSpPr>
              <p:spPr bwMode="auto">
                <a:xfrm>
                  <a:off x="6745709" y="1601977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30" name="Line 14"/>
                <p:cNvSpPr>
                  <a:spLocks noChangeShapeType="1"/>
                </p:cNvSpPr>
                <p:nvPr/>
              </p:nvSpPr>
              <p:spPr bwMode="auto">
                <a:xfrm>
                  <a:off x="6745709" y="1601977"/>
                  <a:ext cx="2073275" cy="0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1" name="Line 15"/>
                <p:cNvSpPr>
                  <a:spLocks noChangeShapeType="1"/>
                </p:cNvSpPr>
                <p:nvPr/>
              </p:nvSpPr>
              <p:spPr bwMode="auto">
                <a:xfrm>
                  <a:off x="6745709" y="1975170"/>
                  <a:ext cx="2073275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2" name="Line 17"/>
                <p:cNvSpPr>
                  <a:spLocks noChangeShapeType="1"/>
                </p:cNvSpPr>
                <p:nvPr/>
              </p:nvSpPr>
              <p:spPr bwMode="auto">
                <a:xfrm>
                  <a:off x="6745709" y="1601977"/>
                  <a:ext cx="0" cy="746386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3" name="Line 18"/>
                <p:cNvSpPr>
                  <a:spLocks noChangeShapeType="1"/>
                </p:cNvSpPr>
                <p:nvPr/>
              </p:nvSpPr>
              <p:spPr bwMode="auto">
                <a:xfrm>
                  <a:off x="7264822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4" name="Line 19"/>
                <p:cNvSpPr>
                  <a:spLocks noChangeShapeType="1"/>
                </p:cNvSpPr>
                <p:nvPr/>
              </p:nvSpPr>
              <p:spPr bwMode="auto">
                <a:xfrm>
                  <a:off x="7782347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5" name="Line 20"/>
                <p:cNvSpPr>
                  <a:spLocks noChangeShapeType="1"/>
                </p:cNvSpPr>
                <p:nvPr/>
              </p:nvSpPr>
              <p:spPr bwMode="auto">
                <a:xfrm>
                  <a:off x="8301459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6" name="Line 21"/>
                <p:cNvSpPr>
                  <a:spLocks noChangeShapeType="1"/>
                </p:cNvSpPr>
                <p:nvPr/>
              </p:nvSpPr>
              <p:spPr bwMode="auto">
                <a:xfrm>
                  <a:off x="8818984" y="1975170"/>
                  <a:ext cx="0" cy="373193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7" name="Line 22"/>
                <p:cNvSpPr>
                  <a:spLocks noChangeShapeType="1"/>
                </p:cNvSpPr>
                <p:nvPr/>
              </p:nvSpPr>
              <p:spPr bwMode="auto">
                <a:xfrm>
                  <a:off x="8818984" y="1601977"/>
                  <a:ext cx="0" cy="373193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8" name="Line 23"/>
                <p:cNvSpPr>
                  <a:spLocks noChangeShapeType="1"/>
                </p:cNvSpPr>
                <p:nvPr/>
              </p:nvSpPr>
              <p:spPr bwMode="auto">
                <a:xfrm>
                  <a:off x="6471072" y="1325245"/>
                  <a:ext cx="274638" cy="276732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39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37102" y="1274642"/>
                  <a:ext cx="2189055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00     01     11     10</a:t>
                  </a:r>
                </a:p>
              </p:txBody>
            </p:sp>
            <p:sp>
              <p:nvSpPr>
                <p:cNvPr id="14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6304856" y="1711086"/>
                  <a:ext cx="504057" cy="1380562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00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01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11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10</a:t>
                  </a:r>
                </a:p>
              </p:txBody>
            </p:sp>
            <p:sp>
              <p:nvSpPr>
                <p:cNvPr id="14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945968" y="1290465"/>
                  <a:ext cx="774845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XQ</a:t>
                  </a:r>
                  <a:r>
                    <a:rPr lang="en-US" altLang="zh-CN" sz="1200" b="1" baseline="-25000" dirty="0"/>
                    <a:t>3</a:t>
                  </a:r>
                  <a:r>
                    <a:rPr lang="en-US" altLang="zh-CN" sz="1200" b="1" baseline="30000" dirty="0"/>
                    <a:t>n</a:t>
                  </a:r>
                </a:p>
              </p:txBody>
            </p:sp>
            <p:sp>
              <p:nvSpPr>
                <p:cNvPr id="14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362588" y="1063530"/>
                  <a:ext cx="955072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Q</a:t>
                  </a:r>
                  <a:r>
                    <a:rPr lang="en-US" altLang="zh-CN" sz="1200" b="1" baseline="-25000" dirty="0"/>
                    <a:t>2</a:t>
                  </a:r>
                  <a:r>
                    <a:rPr lang="en-US" altLang="zh-CN" sz="1200" b="1" baseline="30000" dirty="0"/>
                    <a:t>n</a:t>
                  </a:r>
                  <a:r>
                    <a:rPr lang="en-US" altLang="zh-CN" sz="1200" b="1" dirty="0"/>
                    <a:t>Q</a:t>
                  </a:r>
                  <a:r>
                    <a:rPr lang="en-US" altLang="zh-CN" sz="1200" b="1" baseline="-25000" dirty="0"/>
                    <a:t>1</a:t>
                  </a:r>
                  <a:r>
                    <a:rPr lang="en-US" altLang="zh-CN" sz="1200" b="1" baseline="30000" dirty="0"/>
                    <a:t>n</a:t>
                  </a:r>
                </a:p>
              </p:txBody>
            </p:sp>
            <p:sp>
              <p:nvSpPr>
                <p:cNvPr id="143" name="Rectangle 6"/>
                <p:cNvSpPr>
                  <a:spLocks noChangeArrowheads="1"/>
                </p:cNvSpPr>
                <p:nvPr/>
              </p:nvSpPr>
              <p:spPr bwMode="auto">
                <a:xfrm>
                  <a:off x="8303520" y="2721299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44" name="Rectangle 7"/>
                <p:cNvSpPr>
                  <a:spLocks noChangeArrowheads="1"/>
                </p:cNvSpPr>
                <p:nvPr/>
              </p:nvSpPr>
              <p:spPr bwMode="auto">
                <a:xfrm>
                  <a:off x="7784408" y="2721299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45" name="Rectangle 8"/>
                <p:cNvSpPr>
                  <a:spLocks noChangeArrowheads="1"/>
                </p:cNvSpPr>
                <p:nvPr/>
              </p:nvSpPr>
              <p:spPr bwMode="auto">
                <a:xfrm>
                  <a:off x="7266883" y="2721299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46" name="Rectangle 9"/>
                <p:cNvSpPr>
                  <a:spLocks noChangeArrowheads="1"/>
                </p:cNvSpPr>
                <p:nvPr/>
              </p:nvSpPr>
              <p:spPr bwMode="auto">
                <a:xfrm>
                  <a:off x="6747770" y="2721299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1</a:t>
                  </a:r>
                </a:p>
              </p:txBody>
            </p:sp>
            <p:sp>
              <p:nvSpPr>
                <p:cNvPr id="147" name="Rectangle 10"/>
                <p:cNvSpPr>
                  <a:spLocks noChangeArrowheads="1"/>
                </p:cNvSpPr>
                <p:nvPr/>
              </p:nvSpPr>
              <p:spPr bwMode="auto">
                <a:xfrm>
                  <a:off x="8303520" y="2348106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48" name="Rectangle 11"/>
                <p:cNvSpPr>
                  <a:spLocks noChangeArrowheads="1"/>
                </p:cNvSpPr>
                <p:nvPr/>
              </p:nvSpPr>
              <p:spPr bwMode="auto">
                <a:xfrm>
                  <a:off x="7784408" y="2348106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49" name="Rectangle 12"/>
                <p:cNvSpPr>
                  <a:spLocks noChangeArrowheads="1"/>
                </p:cNvSpPr>
                <p:nvPr/>
              </p:nvSpPr>
              <p:spPr bwMode="auto">
                <a:xfrm>
                  <a:off x="7266883" y="2348106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50" name="Rectangle 13"/>
                <p:cNvSpPr>
                  <a:spLocks noChangeArrowheads="1"/>
                </p:cNvSpPr>
                <p:nvPr/>
              </p:nvSpPr>
              <p:spPr bwMode="auto">
                <a:xfrm>
                  <a:off x="6747770" y="2348106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51" name="Line 15"/>
                <p:cNvSpPr>
                  <a:spLocks noChangeShapeType="1"/>
                </p:cNvSpPr>
                <p:nvPr/>
              </p:nvSpPr>
              <p:spPr bwMode="auto">
                <a:xfrm>
                  <a:off x="6747770" y="2721299"/>
                  <a:ext cx="2073275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52" name="Line 17"/>
                <p:cNvSpPr>
                  <a:spLocks noChangeShapeType="1"/>
                </p:cNvSpPr>
                <p:nvPr/>
              </p:nvSpPr>
              <p:spPr bwMode="auto">
                <a:xfrm>
                  <a:off x="6747770" y="2348106"/>
                  <a:ext cx="0" cy="746386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53" name="Line 18"/>
                <p:cNvSpPr>
                  <a:spLocks noChangeShapeType="1"/>
                </p:cNvSpPr>
                <p:nvPr/>
              </p:nvSpPr>
              <p:spPr bwMode="auto">
                <a:xfrm>
                  <a:off x="7266883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54" name="Line 19"/>
                <p:cNvSpPr>
                  <a:spLocks noChangeShapeType="1"/>
                </p:cNvSpPr>
                <p:nvPr/>
              </p:nvSpPr>
              <p:spPr bwMode="auto">
                <a:xfrm>
                  <a:off x="7784408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55" name="Line 20"/>
                <p:cNvSpPr>
                  <a:spLocks noChangeShapeType="1"/>
                </p:cNvSpPr>
                <p:nvPr/>
              </p:nvSpPr>
              <p:spPr bwMode="auto">
                <a:xfrm>
                  <a:off x="8303520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56" name="Line 21"/>
                <p:cNvSpPr>
                  <a:spLocks noChangeShapeType="1"/>
                </p:cNvSpPr>
                <p:nvPr/>
              </p:nvSpPr>
              <p:spPr bwMode="auto">
                <a:xfrm>
                  <a:off x="8821045" y="2721299"/>
                  <a:ext cx="0" cy="373193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57" name="Line 22"/>
                <p:cNvSpPr>
                  <a:spLocks noChangeShapeType="1"/>
                </p:cNvSpPr>
                <p:nvPr/>
              </p:nvSpPr>
              <p:spPr bwMode="auto">
                <a:xfrm>
                  <a:off x="8821045" y="2348106"/>
                  <a:ext cx="0" cy="373193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</p:grpSp>
          <p:sp>
            <p:nvSpPr>
              <p:cNvPr id="229" name="AutoShape 43"/>
              <p:cNvSpPr>
                <a:spLocks noChangeArrowheads="1"/>
              </p:cNvSpPr>
              <p:nvPr/>
            </p:nvSpPr>
            <p:spPr bwMode="auto">
              <a:xfrm>
                <a:off x="1403648" y="3795910"/>
                <a:ext cx="252000" cy="216000"/>
              </a:xfrm>
              <a:prstGeom prst="roundRect">
                <a:avLst>
                  <a:gd name="adj" fmla="val 16667"/>
                </a:avLst>
              </a:prstGeom>
              <a:noFill/>
              <a:ln w="19050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/>
              </a:p>
            </p:txBody>
          </p:sp>
          <p:sp>
            <p:nvSpPr>
              <p:cNvPr id="230" name="AutoShape 43"/>
              <p:cNvSpPr>
                <a:spLocks noChangeArrowheads="1"/>
              </p:cNvSpPr>
              <p:nvPr/>
            </p:nvSpPr>
            <p:spPr bwMode="auto">
              <a:xfrm>
                <a:off x="662786" y="4361583"/>
                <a:ext cx="252000" cy="216000"/>
              </a:xfrm>
              <a:prstGeom prst="roundRect">
                <a:avLst>
                  <a:gd name="adj" fmla="val 16667"/>
                </a:avLst>
              </a:prstGeom>
              <a:noFill/>
              <a:ln w="19050" cap="sq">
                <a:solidFill>
                  <a:srgbClr val="0000CC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/>
              </a:p>
            </p:txBody>
          </p:sp>
        </p:grpSp>
        <p:grpSp>
          <p:nvGrpSpPr>
            <p:cNvPr id="238" name="组合 237"/>
            <p:cNvGrpSpPr/>
            <p:nvPr/>
          </p:nvGrpSpPr>
          <p:grpSpPr>
            <a:xfrm>
              <a:off x="0" y="1059582"/>
              <a:ext cx="4324350" cy="1886818"/>
              <a:chOff x="0" y="1059582"/>
              <a:chExt cx="4324350" cy="1886818"/>
            </a:xfrm>
          </p:grpSpPr>
          <p:graphicFrame>
            <p:nvGraphicFramePr>
              <p:cNvPr id="8194" name="Object 111"/>
              <p:cNvGraphicFramePr>
                <a:graphicFrameLocks noChangeAspect="1"/>
              </p:cNvGraphicFramePr>
              <p:nvPr/>
            </p:nvGraphicFramePr>
            <p:xfrm>
              <a:off x="107504" y="2643758"/>
              <a:ext cx="2129581" cy="2936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34747200" imgH="6400800" progId="Equation.3">
                      <p:embed/>
                    </p:oleObj>
                  </mc:Choice>
                  <mc:Fallback>
                    <p:oleObj name="公式" r:id="rId8" imgW="34747200" imgH="6400800" progId="Equation.3">
                      <p:embed/>
                      <p:pic>
                        <p:nvPicPr>
                          <p:cNvPr id="0" name="图片 102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07504" y="2643758"/>
                            <a:ext cx="2129581" cy="29368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95" name="Object 112"/>
              <p:cNvGraphicFramePr>
                <a:graphicFrameLocks noChangeAspect="1"/>
              </p:cNvGraphicFramePr>
              <p:nvPr/>
            </p:nvGraphicFramePr>
            <p:xfrm>
              <a:off x="2660650" y="2635250"/>
              <a:ext cx="1663700" cy="311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5603200" imgH="6400800" progId="">
                      <p:embed/>
                    </p:oleObj>
                  </mc:Choice>
                  <mc:Fallback>
                    <p:oleObj name="Equation" r:id="rId10" imgW="25603200" imgH="6400800" progId="">
                      <p:embed/>
                      <p:pic>
                        <p:nvPicPr>
                          <p:cNvPr id="0" name="图片 102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660650" y="2635250"/>
                            <a:ext cx="1663700" cy="31115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" name="组合 113"/>
              <p:cNvGrpSpPr/>
              <p:nvPr/>
            </p:nvGrpSpPr>
            <p:grpSpPr bwMode="auto">
              <a:xfrm>
                <a:off x="0" y="1059582"/>
                <a:ext cx="2128575" cy="1500198"/>
                <a:chOff x="5916144" y="1101492"/>
                <a:chExt cx="3010013" cy="1993000"/>
              </a:xfrm>
            </p:grpSpPr>
            <p:sp>
              <p:nvSpPr>
                <p:cNvPr id="9" name="Rectangle 6"/>
                <p:cNvSpPr>
                  <a:spLocks noChangeArrowheads="1"/>
                </p:cNvSpPr>
                <p:nvPr/>
              </p:nvSpPr>
              <p:spPr bwMode="auto">
                <a:xfrm>
                  <a:off x="8301459" y="1975170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0" name="Rectangle 7"/>
                <p:cNvSpPr>
                  <a:spLocks noChangeArrowheads="1"/>
                </p:cNvSpPr>
                <p:nvPr/>
              </p:nvSpPr>
              <p:spPr bwMode="auto">
                <a:xfrm>
                  <a:off x="7782347" y="1975170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11" name="Rectangle 8"/>
                <p:cNvSpPr>
                  <a:spLocks noChangeArrowheads="1"/>
                </p:cNvSpPr>
                <p:nvPr/>
              </p:nvSpPr>
              <p:spPr bwMode="auto">
                <a:xfrm>
                  <a:off x="7264822" y="1975170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2" name="Rectangle 9"/>
                <p:cNvSpPr>
                  <a:spLocks noChangeArrowheads="1"/>
                </p:cNvSpPr>
                <p:nvPr/>
              </p:nvSpPr>
              <p:spPr bwMode="auto">
                <a:xfrm>
                  <a:off x="6745709" y="1975170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3" name="Rectangle 10"/>
                <p:cNvSpPr>
                  <a:spLocks noChangeArrowheads="1"/>
                </p:cNvSpPr>
                <p:nvPr/>
              </p:nvSpPr>
              <p:spPr bwMode="auto">
                <a:xfrm>
                  <a:off x="8301459" y="1601977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4" name="Rectangle 11"/>
                <p:cNvSpPr>
                  <a:spLocks noChangeArrowheads="1"/>
                </p:cNvSpPr>
                <p:nvPr/>
              </p:nvSpPr>
              <p:spPr bwMode="auto">
                <a:xfrm>
                  <a:off x="7782347" y="1601977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15" name="Rectangle 12"/>
                <p:cNvSpPr>
                  <a:spLocks noChangeArrowheads="1"/>
                </p:cNvSpPr>
                <p:nvPr/>
              </p:nvSpPr>
              <p:spPr bwMode="auto">
                <a:xfrm>
                  <a:off x="7264822" y="1601977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16" name="Rectangle 13"/>
                <p:cNvSpPr>
                  <a:spLocks noChangeArrowheads="1"/>
                </p:cNvSpPr>
                <p:nvPr/>
              </p:nvSpPr>
              <p:spPr bwMode="auto">
                <a:xfrm>
                  <a:off x="6745709" y="1601977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17" name="Line 14"/>
                <p:cNvSpPr>
                  <a:spLocks noChangeShapeType="1"/>
                </p:cNvSpPr>
                <p:nvPr/>
              </p:nvSpPr>
              <p:spPr bwMode="auto">
                <a:xfrm>
                  <a:off x="6745709" y="1601977"/>
                  <a:ext cx="2073275" cy="0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8" name="Line 15"/>
                <p:cNvSpPr>
                  <a:spLocks noChangeShapeType="1"/>
                </p:cNvSpPr>
                <p:nvPr/>
              </p:nvSpPr>
              <p:spPr bwMode="auto">
                <a:xfrm>
                  <a:off x="6745709" y="1975170"/>
                  <a:ext cx="2073275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19" name="Line 17"/>
                <p:cNvSpPr>
                  <a:spLocks noChangeShapeType="1"/>
                </p:cNvSpPr>
                <p:nvPr/>
              </p:nvSpPr>
              <p:spPr bwMode="auto">
                <a:xfrm>
                  <a:off x="6745709" y="1601977"/>
                  <a:ext cx="0" cy="746386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>
                  <a:off x="7264822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1" name="Line 19"/>
                <p:cNvSpPr>
                  <a:spLocks noChangeShapeType="1"/>
                </p:cNvSpPr>
                <p:nvPr/>
              </p:nvSpPr>
              <p:spPr bwMode="auto">
                <a:xfrm>
                  <a:off x="7782347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2" name="Line 20"/>
                <p:cNvSpPr>
                  <a:spLocks noChangeShapeType="1"/>
                </p:cNvSpPr>
                <p:nvPr/>
              </p:nvSpPr>
              <p:spPr bwMode="auto">
                <a:xfrm>
                  <a:off x="8301459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3" name="Line 21"/>
                <p:cNvSpPr>
                  <a:spLocks noChangeShapeType="1"/>
                </p:cNvSpPr>
                <p:nvPr/>
              </p:nvSpPr>
              <p:spPr bwMode="auto">
                <a:xfrm>
                  <a:off x="8818984" y="1975170"/>
                  <a:ext cx="0" cy="373193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4" name="Line 22"/>
                <p:cNvSpPr>
                  <a:spLocks noChangeShapeType="1"/>
                </p:cNvSpPr>
                <p:nvPr/>
              </p:nvSpPr>
              <p:spPr bwMode="auto">
                <a:xfrm>
                  <a:off x="8818984" y="1601977"/>
                  <a:ext cx="0" cy="373193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5" name="Line 23"/>
                <p:cNvSpPr>
                  <a:spLocks noChangeShapeType="1"/>
                </p:cNvSpPr>
                <p:nvPr/>
              </p:nvSpPr>
              <p:spPr bwMode="auto">
                <a:xfrm>
                  <a:off x="6471072" y="1325245"/>
                  <a:ext cx="274638" cy="276732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2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37102" y="1274642"/>
                  <a:ext cx="2189055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00     01     11     10</a:t>
                  </a:r>
                </a:p>
              </p:txBody>
            </p:sp>
            <p:sp>
              <p:nvSpPr>
                <p:cNvPr id="2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6304856" y="1711086"/>
                  <a:ext cx="504057" cy="1380562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00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01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11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10</a:t>
                  </a:r>
                </a:p>
              </p:txBody>
            </p:sp>
            <p:sp>
              <p:nvSpPr>
                <p:cNvPr id="2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916144" y="1290465"/>
                  <a:ext cx="804668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XQ</a:t>
                  </a:r>
                  <a:r>
                    <a:rPr lang="en-US" altLang="zh-CN" sz="1200" b="1" baseline="-25000" dirty="0"/>
                    <a:t>3</a:t>
                  </a:r>
                  <a:r>
                    <a:rPr lang="en-US" altLang="zh-CN" sz="1200" b="1" baseline="30000" dirty="0"/>
                    <a:t>n</a:t>
                  </a:r>
                </a:p>
              </p:txBody>
            </p:sp>
            <p:sp>
              <p:nvSpPr>
                <p:cNvPr id="2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416463" y="1101492"/>
                  <a:ext cx="1027075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Q</a:t>
                  </a:r>
                  <a:r>
                    <a:rPr lang="en-US" altLang="zh-CN" sz="1200" b="1" baseline="-25000" dirty="0"/>
                    <a:t>2</a:t>
                  </a:r>
                  <a:r>
                    <a:rPr lang="en-US" altLang="zh-CN" sz="1200" b="1" baseline="30000" dirty="0"/>
                    <a:t>n</a:t>
                  </a:r>
                  <a:r>
                    <a:rPr lang="en-US" altLang="zh-CN" sz="1200" b="1" dirty="0"/>
                    <a:t>Q</a:t>
                  </a:r>
                  <a:r>
                    <a:rPr lang="en-US" altLang="zh-CN" sz="1200" b="1" baseline="-25000" dirty="0"/>
                    <a:t>1</a:t>
                  </a:r>
                  <a:r>
                    <a:rPr lang="en-US" altLang="zh-CN" sz="1200" b="1" baseline="30000" dirty="0"/>
                    <a:t>n</a:t>
                  </a:r>
                </a:p>
              </p:txBody>
            </p:sp>
            <p:sp>
              <p:nvSpPr>
                <p:cNvPr id="30" name="Rectangle 6"/>
                <p:cNvSpPr>
                  <a:spLocks noChangeArrowheads="1"/>
                </p:cNvSpPr>
                <p:nvPr/>
              </p:nvSpPr>
              <p:spPr bwMode="auto">
                <a:xfrm>
                  <a:off x="8303520" y="2721299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31" name="Rectangle 7"/>
                <p:cNvSpPr>
                  <a:spLocks noChangeArrowheads="1"/>
                </p:cNvSpPr>
                <p:nvPr/>
              </p:nvSpPr>
              <p:spPr bwMode="auto">
                <a:xfrm>
                  <a:off x="7784408" y="2721299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32" name="Rectangle 8"/>
                <p:cNvSpPr>
                  <a:spLocks noChangeArrowheads="1"/>
                </p:cNvSpPr>
                <p:nvPr/>
              </p:nvSpPr>
              <p:spPr bwMode="auto">
                <a:xfrm>
                  <a:off x="7266883" y="2721299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33" name="Rectangle 9"/>
                <p:cNvSpPr>
                  <a:spLocks noChangeArrowheads="1"/>
                </p:cNvSpPr>
                <p:nvPr/>
              </p:nvSpPr>
              <p:spPr bwMode="auto">
                <a:xfrm>
                  <a:off x="6747770" y="2721299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1</a:t>
                  </a:r>
                </a:p>
              </p:txBody>
            </p:sp>
            <p:sp>
              <p:nvSpPr>
                <p:cNvPr id="34" name="Rectangle 10"/>
                <p:cNvSpPr>
                  <a:spLocks noChangeArrowheads="1"/>
                </p:cNvSpPr>
                <p:nvPr/>
              </p:nvSpPr>
              <p:spPr bwMode="auto">
                <a:xfrm>
                  <a:off x="8303520" y="2348106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35" name="Rectangle 11"/>
                <p:cNvSpPr>
                  <a:spLocks noChangeArrowheads="1"/>
                </p:cNvSpPr>
                <p:nvPr/>
              </p:nvSpPr>
              <p:spPr bwMode="auto">
                <a:xfrm>
                  <a:off x="7784408" y="2348106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36" name="Rectangle 12"/>
                <p:cNvSpPr>
                  <a:spLocks noChangeArrowheads="1"/>
                </p:cNvSpPr>
                <p:nvPr/>
              </p:nvSpPr>
              <p:spPr bwMode="auto">
                <a:xfrm>
                  <a:off x="7266883" y="2348106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37" name="Rectangle 13"/>
                <p:cNvSpPr>
                  <a:spLocks noChangeArrowheads="1"/>
                </p:cNvSpPr>
                <p:nvPr/>
              </p:nvSpPr>
              <p:spPr bwMode="auto">
                <a:xfrm>
                  <a:off x="6747770" y="2348106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38" name="Line 15"/>
                <p:cNvSpPr>
                  <a:spLocks noChangeShapeType="1"/>
                </p:cNvSpPr>
                <p:nvPr/>
              </p:nvSpPr>
              <p:spPr bwMode="auto">
                <a:xfrm>
                  <a:off x="6747770" y="2721299"/>
                  <a:ext cx="2073275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39" name="Line 17"/>
                <p:cNvSpPr>
                  <a:spLocks noChangeShapeType="1"/>
                </p:cNvSpPr>
                <p:nvPr/>
              </p:nvSpPr>
              <p:spPr bwMode="auto">
                <a:xfrm>
                  <a:off x="6747770" y="2348106"/>
                  <a:ext cx="0" cy="746386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40" name="Line 18"/>
                <p:cNvSpPr>
                  <a:spLocks noChangeShapeType="1"/>
                </p:cNvSpPr>
                <p:nvPr/>
              </p:nvSpPr>
              <p:spPr bwMode="auto">
                <a:xfrm>
                  <a:off x="7266883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41" name="Line 19"/>
                <p:cNvSpPr>
                  <a:spLocks noChangeShapeType="1"/>
                </p:cNvSpPr>
                <p:nvPr/>
              </p:nvSpPr>
              <p:spPr bwMode="auto">
                <a:xfrm>
                  <a:off x="7784408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42" name="Line 20"/>
                <p:cNvSpPr>
                  <a:spLocks noChangeShapeType="1"/>
                </p:cNvSpPr>
                <p:nvPr/>
              </p:nvSpPr>
              <p:spPr bwMode="auto">
                <a:xfrm>
                  <a:off x="8303520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43" name="Line 21"/>
                <p:cNvSpPr>
                  <a:spLocks noChangeShapeType="1"/>
                </p:cNvSpPr>
                <p:nvPr/>
              </p:nvSpPr>
              <p:spPr bwMode="auto">
                <a:xfrm>
                  <a:off x="8821045" y="2721299"/>
                  <a:ext cx="0" cy="373193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44" name="Line 22"/>
                <p:cNvSpPr>
                  <a:spLocks noChangeShapeType="1"/>
                </p:cNvSpPr>
                <p:nvPr/>
              </p:nvSpPr>
              <p:spPr bwMode="auto">
                <a:xfrm>
                  <a:off x="8821045" y="2348106"/>
                  <a:ext cx="0" cy="373193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</p:grpSp>
          <p:grpSp>
            <p:nvGrpSpPr>
              <p:cNvPr id="45" name="组合 113"/>
              <p:cNvGrpSpPr/>
              <p:nvPr/>
            </p:nvGrpSpPr>
            <p:grpSpPr bwMode="auto">
              <a:xfrm>
                <a:off x="2123728" y="1071552"/>
                <a:ext cx="2125725" cy="1500198"/>
                <a:chOff x="5920174" y="1101492"/>
                <a:chExt cx="3005983" cy="1993000"/>
              </a:xfrm>
            </p:grpSpPr>
            <p:sp>
              <p:nvSpPr>
                <p:cNvPr id="46" name="Rectangle 6"/>
                <p:cNvSpPr>
                  <a:spLocks noChangeArrowheads="1"/>
                </p:cNvSpPr>
                <p:nvPr/>
              </p:nvSpPr>
              <p:spPr bwMode="auto">
                <a:xfrm>
                  <a:off x="8301459" y="1975170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47" name="Rectangle 7"/>
                <p:cNvSpPr>
                  <a:spLocks noChangeArrowheads="1"/>
                </p:cNvSpPr>
                <p:nvPr/>
              </p:nvSpPr>
              <p:spPr bwMode="auto">
                <a:xfrm>
                  <a:off x="7782347" y="1975170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48" name="Rectangle 8"/>
                <p:cNvSpPr>
                  <a:spLocks noChangeArrowheads="1"/>
                </p:cNvSpPr>
                <p:nvPr/>
              </p:nvSpPr>
              <p:spPr bwMode="auto">
                <a:xfrm>
                  <a:off x="7264822" y="1975170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49" name="Rectangle 9"/>
                <p:cNvSpPr>
                  <a:spLocks noChangeArrowheads="1"/>
                </p:cNvSpPr>
                <p:nvPr/>
              </p:nvSpPr>
              <p:spPr bwMode="auto">
                <a:xfrm>
                  <a:off x="6745709" y="1975170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50" name="Rectangle 10"/>
                <p:cNvSpPr>
                  <a:spLocks noChangeArrowheads="1"/>
                </p:cNvSpPr>
                <p:nvPr/>
              </p:nvSpPr>
              <p:spPr bwMode="auto">
                <a:xfrm>
                  <a:off x="8301459" y="1601977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51" name="Rectangle 11"/>
                <p:cNvSpPr>
                  <a:spLocks noChangeArrowheads="1"/>
                </p:cNvSpPr>
                <p:nvPr/>
              </p:nvSpPr>
              <p:spPr bwMode="auto">
                <a:xfrm>
                  <a:off x="7782347" y="1601977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52" name="Rectangle 12"/>
                <p:cNvSpPr>
                  <a:spLocks noChangeArrowheads="1"/>
                </p:cNvSpPr>
                <p:nvPr/>
              </p:nvSpPr>
              <p:spPr bwMode="auto">
                <a:xfrm>
                  <a:off x="7264822" y="1601977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53" name="Rectangle 13"/>
                <p:cNvSpPr>
                  <a:spLocks noChangeArrowheads="1"/>
                </p:cNvSpPr>
                <p:nvPr/>
              </p:nvSpPr>
              <p:spPr bwMode="auto">
                <a:xfrm>
                  <a:off x="6745709" y="1601977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54" name="Line 14"/>
                <p:cNvSpPr>
                  <a:spLocks noChangeShapeType="1"/>
                </p:cNvSpPr>
                <p:nvPr/>
              </p:nvSpPr>
              <p:spPr bwMode="auto">
                <a:xfrm>
                  <a:off x="6745709" y="1601977"/>
                  <a:ext cx="2073275" cy="0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55" name="Line 15"/>
                <p:cNvSpPr>
                  <a:spLocks noChangeShapeType="1"/>
                </p:cNvSpPr>
                <p:nvPr/>
              </p:nvSpPr>
              <p:spPr bwMode="auto">
                <a:xfrm>
                  <a:off x="6745709" y="1975170"/>
                  <a:ext cx="2073275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56" name="Line 17"/>
                <p:cNvSpPr>
                  <a:spLocks noChangeShapeType="1"/>
                </p:cNvSpPr>
                <p:nvPr/>
              </p:nvSpPr>
              <p:spPr bwMode="auto">
                <a:xfrm>
                  <a:off x="6745709" y="1601977"/>
                  <a:ext cx="0" cy="746386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57" name="Line 18"/>
                <p:cNvSpPr>
                  <a:spLocks noChangeShapeType="1"/>
                </p:cNvSpPr>
                <p:nvPr/>
              </p:nvSpPr>
              <p:spPr bwMode="auto">
                <a:xfrm>
                  <a:off x="7264822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58" name="Line 19"/>
                <p:cNvSpPr>
                  <a:spLocks noChangeShapeType="1"/>
                </p:cNvSpPr>
                <p:nvPr/>
              </p:nvSpPr>
              <p:spPr bwMode="auto">
                <a:xfrm>
                  <a:off x="7782347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59" name="Line 20"/>
                <p:cNvSpPr>
                  <a:spLocks noChangeShapeType="1"/>
                </p:cNvSpPr>
                <p:nvPr/>
              </p:nvSpPr>
              <p:spPr bwMode="auto">
                <a:xfrm>
                  <a:off x="8301459" y="1601977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60" name="Line 21"/>
                <p:cNvSpPr>
                  <a:spLocks noChangeShapeType="1"/>
                </p:cNvSpPr>
                <p:nvPr/>
              </p:nvSpPr>
              <p:spPr bwMode="auto">
                <a:xfrm>
                  <a:off x="8818984" y="1975170"/>
                  <a:ext cx="0" cy="373193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61" name="Line 22"/>
                <p:cNvSpPr>
                  <a:spLocks noChangeShapeType="1"/>
                </p:cNvSpPr>
                <p:nvPr/>
              </p:nvSpPr>
              <p:spPr bwMode="auto">
                <a:xfrm>
                  <a:off x="8818984" y="1601977"/>
                  <a:ext cx="0" cy="373193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62" name="Line 23"/>
                <p:cNvSpPr>
                  <a:spLocks noChangeShapeType="1"/>
                </p:cNvSpPr>
                <p:nvPr/>
              </p:nvSpPr>
              <p:spPr bwMode="auto">
                <a:xfrm>
                  <a:off x="6471072" y="1325245"/>
                  <a:ext cx="274638" cy="276732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63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37102" y="1274642"/>
                  <a:ext cx="2189055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00     01     11     10</a:t>
                  </a:r>
                </a:p>
              </p:txBody>
            </p:sp>
            <p:sp>
              <p:nvSpPr>
                <p:cNvPr id="6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6304856" y="1711086"/>
                  <a:ext cx="504057" cy="1380562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00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01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11</a:t>
                  </a:r>
                </a:p>
                <a:p>
                  <a:pPr>
                    <a:lnSpc>
                      <a:spcPct val="65000"/>
                    </a:lnSpc>
                    <a:spcBef>
                      <a:spcPts val="1200"/>
                    </a:spcBef>
                  </a:pPr>
                  <a:r>
                    <a:rPr lang="en-US" altLang="zh-CN" sz="1200" b="1" dirty="0"/>
                    <a:t>10</a:t>
                  </a:r>
                </a:p>
              </p:txBody>
            </p:sp>
            <p:sp>
              <p:nvSpPr>
                <p:cNvPr id="6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920174" y="1290465"/>
                  <a:ext cx="800638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XQ</a:t>
                  </a:r>
                  <a:r>
                    <a:rPr lang="en-US" altLang="zh-CN" sz="1200" b="1" baseline="-25000" dirty="0"/>
                    <a:t>3</a:t>
                  </a:r>
                  <a:r>
                    <a:rPr lang="en-US" altLang="zh-CN" sz="1200" b="1" baseline="30000" dirty="0"/>
                    <a:t>n</a:t>
                  </a:r>
                </a:p>
              </p:txBody>
            </p:sp>
            <p:sp>
              <p:nvSpPr>
                <p:cNvPr id="6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416463" y="1101492"/>
                  <a:ext cx="1031105" cy="367991"/>
                </a:xfrm>
                <a:prstGeom prst="rect">
                  <a:avLst/>
                </a:prstGeom>
                <a:noFill/>
                <a:ln w="1905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dirty="0"/>
                    <a:t>Q</a:t>
                  </a:r>
                  <a:r>
                    <a:rPr lang="en-US" altLang="zh-CN" sz="1200" b="1" baseline="-25000" dirty="0"/>
                    <a:t>2</a:t>
                  </a:r>
                  <a:r>
                    <a:rPr lang="en-US" altLang="zh-CN" sz="1200" b="1" baseline="30000" dirty="0"/>
                    <a:t>n</a:t>
                  </a:r>
                  <a:r>
                    <a:rPr lang="en-US" altLang="zh-CN" sz="1200" b="1" dirty="0"/>
                    <a:t>Q</a:t>
                  </a:r>
                  <a:r>
                    <a:rPr lang="en-US" altLang="zh-CN" sz="1200" b="1" baseline="-25000" dirty="0"/>
                    <a:t>1</a:t>
                  </a:r>
                  <a:r>
                    <a:rPr lang="en-US" altLang="zh-CN" sz="1200" b="1" baseline="30000" dirty="0"/>
                    <a:t>n</a:t>
                  </a:r>
                </a:p>
              </p:txBody>
            </p:sp>
            <p:sp>
              <p:nvSpPr>
                <p:cNvPr id="67" name="Rectangle 6"/>
                <p:cNvSpPr>
                  <a:spLocks noChangeArrowheads="1"/>
                </p:cNvSpPr>
                <p:nvPr/>
              </p:nvSpPr>
              <p:spPr bwMode="auto">
                <a:xfrm>
                  <a:off x="8303520" y="2721299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68" name="Rectangle 7"/>
                <p:cNvSpPr>
                  <a:spLocks noChangeArrowheads="1"/>
                </p:cNvSpPr>
                <p:nvPr/>
              </p:nvSpPr>
              <p:spPr bwMode="auto">
                <a:xfrm>
                  <a:off x="7784408" y="2721299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0</a:t>
                  </a:r>
                </a:p>
              </p:txBody>
            </p:sp>
            <p:sp>
              <p:nvSpPr>
                <p:cNvPr id="69" name="Rectangle 8"/>
                <p:cNvSpPr>
                  <a:spLocks noChangeArrowheads="1"/>
                </p:cNvSpPr>
                <p:nvPr/>
              </p:nvSpPr>
              <p:spPr bwMode="auto">
                <a:xfrm>
                  <a:off x="7266883" y="2721299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70" name="Rectangle 9"/>
                <p:cNvSpPr>
                  <a:spLocks noChangeArrowheads="1"/>
                </p:cNvSpPr>
                <p:nvPr/>
              </p:nvSpPr>
              <p:spPr bwMode="auto">
                <a:xfrm>
                  <a:off x="6747770" y="2721299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1</a:t>
                  </a:r>
                </a:p>
              </p:txBody>
            </p:sp>
            <p:sp>
              <p:nvSpPr>
                <p:cNvPr id="71" name="Rectangle 10"/>
                <p:cNvSpPr>
                  <a:spLocks noChangeArrowheads="1"/>
                </p:cNvSpPr>
                <p:nvPr/>
              </p:nvSpPr>
              <p:spPr bwMode="auto">
                <a:xfrm>
                  <a:off x="8303520" y="2348106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72" name="Rectangle 11"/>
                <p:cNvSpPr>
                  <a:spLocks noChangeArrowheads="1"/>
                </p:cNvSpPr>
                <p:nvPr/>
              </p:nvSpPr>
              <p:spPr bwMode="auto">
                <a:xfrm>
                  <a:off x="7784408" y="2348106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73" name="Rectangle 12"/>
                <p:cNvSpPr>
                  <a:spLocks noChangeArrowheads="1"/>
                </p:cNvSpPr>
                <p:nvPr/>
              </p:nvSpPr>
              <p:spPr bwMode="auto">
                <a:xfrm>
                  <a:off x="7266883" y="2348106"/>
                  <a:ext cx="517525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/>
                    <a:t>0</a:t>
                  </a:r>
                </a:p>
              </p:txBody>
            </p:sp>
            <p:sp>
              <p:nvSpPr>
                <p:cNvPr id="74" name="Rectangle 13"/>
                <p:cNvSpPr>
                  <a:spLocks noChangeArrowheads="1"/>
                </p:cNvSpPr>
                <p:nvPr/>
              </p:nvSpPr>
              <p:spPr bwMode="auto">
                <a:xfrm>
                  <a:off x="6747770" y="2348106"/>
                  <a:ext cx="519113" cy="373193"/>
                </a:xfrm>
                <a:prstGeom prst="rect">
                  <a:avLst/>
                </a:prstGeom>
                <a:noFill/>
                <a:ln w="1905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200" b="1" dirty="0"/>
                    <a:t>1</a:t>
                  </a:r>
                </a:p>
              </p:txBody>
            </p:sp>
            <p:sp>
              <p:nvSpPr>
                <p:cNvPr id="75" name="Line 15"/>
                <p:cNvSpPr>
                  <a:spLocks noChangeShapeType="1"/>
                </p:cNvSpPr>
                <p:nvPr/>
              </p:nvSpPr>
              <p:spPr bwMode="auto">
                <a:xfrm>
                  <a:off x="6747770" y="2721299"/>
                  <a:ext cx="2073275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76" name="Line 17"/>
                <p:cNvSpPr>
                  <a:spLocks noChangeShapeType="1"/>
                </p:cNvSpPr>
                <p:nvPr/>
              </p:nvSpPr>
              <p:spPr bwMode="auto">
                <a:xfrm>
                  <a:off x="6747770" y="2348106"/>
                  <a:ext cx="0" cy="746386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77" name="Line 18"/>
                <p:cNvSpPr>
                  <a:spLocks noChangeShapeType="1"/>
                </p:cNvSpPr>
                <p:nvPr/>
              </p:nvSpPr>
              <p:spPr bwMode="auto">
                <a:xfrm>
                  <a:off x="7266883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78" name="Line 19"/>
                <p:cNvSpPr>
                  <a:spLocks noChangeShapeType="1"/>
                </p:cNvSpPr>
                <p:nvPr/>
              </p:nvSpPr>
              <p:spPr bwMode="auto">
                <a:xfrm>
                  <a:off x="7784408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79" name="Line 20"/>
                <p:cNvSpPr>
                  <a:spLocks noChangeShapeType="1"/>
                </p:cNvSpPr>
                <p:nvPr/>
              </p:nvSpPr>
              <p:spPr bwMode="auto">
                <a:xfrm>
                  <a:off x="8303520" y="2348106"/>
                  <a:ext cx="0" cy="746386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80" name="Line 21"/>
                <p:cNvSpPr>
                  <a:spLocks noChangeShapeType="1"/>
                </p:cNvSpPr>
                <p:nvPr/>
              </p:nvSpPr>
              <p:spPr bwMode="auto">
                <a:xfrm>
                  <a:off x="8821045" y="2721299"/>
                  <a:ext cx="0" cy="373193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  <p:sp>
              <p:nvSpPr>
                <p:cNvPr id="81" name="Line 22"/>
                <p:cNvSpPr>
                  <a:spLocks noChangeShapeType="1"/>
                </p:cNvSpPr>
                <p:nvPr/>
              </p:nvSpPr>
              <p:spPr bwMode="auto">
                <a:xfrm>
                  <a:off x="8821045" y="2348106"/>
                  <a:ext cx="0" cy="373193"/>
                </a:xfrm>
                <a:prstGeom prst="line">
                  <a:avLst/>
                </a:prstGeom>
                <a:noFill/>
                <a:ln w="19050" cap="sq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zh-CN" altLang="en-US" sz="1200"/>
                </a:p>
              </p:txBody>
            </p:sp>
          </p:grpSp>
          <p:sp>
            <p:nvSpPr>
              <p:cNvPr id="227" name="AutoShape 43"/>
              <p:cNvSpPr>
                <a:spLocks noChangeArrowheads="1"/>
              </p:cNvSpPr>
              <p:nvPr/>
            </p:nvSpPr>
            <p:spPr bwMode="auto">
              <a:xfrm>
                <a:off x="1378063" y="1481239"/>
                <a:ext cx="252000" cy="468000"/>
              </a:xfrm>
              <a:prstGeom prst="roundRect">
                <a:avLst>
                  <a:gd name="adj" fmla="val 16667"/>
                </a:avLst>
              </a:prstGeom>
              <a:noFill/>
              <a:ln w="19050" cap="sq">
                <a:solidFill>
                  <a:srgbClr val="00CC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/>
              </a:p>
            </p:txBody>
          </p:sp>
          <p:sp>
            <p:nvSpPr>
              <p:cNvPr id="228" name="AutoShape 43"/>
              <p:cNvSpPr>
                <a:spLocks noChangeArrowheads="1"/>
              </p:cNvSpPr>
              <p:nvPr/>
            </p:nvSpPr>
            <p:spPr bwMode="auto">
              <a:xfrm>
                <a:off x="647592" y="2041404"/>
                <a:ext cx="252000" cy="468000"/>
              </a:xfrm>
              <a:prstGeom prst="roundRect">
                <a:avLst>
                  <a:gd name="adj" fmla="val 16667"/>
                </a:avLst>
              </a:prstGeom>
              <a:noFill/>
              <a:ln w="19050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/>
              </a:p>
            </p:txBody>
          </p:sp>
          <p:sp>
            <p:nvSpPr>
              <p:cNvPr id="231" name="AutoShape 43"/>
              <p:cNvSpPr>
                <a:spLocks noChangeArrowheads="1"/>
              </p:cNvSpPr>
              <p:nvPr/>
            </p:nvSpPr>
            <p:spPr bwMode="auto">
              <a:xfrm>
                <a:off x="3143251" y="1488039"/>
                <a:ext cx="612000" cy="468000"/>
              </a:xfrm>
              <a:prstGeom prst="roundRect">
                <a:avLst>
                  <a:gd name="adj" fmla="val 16667"/>
                </a:avLst>
              </a:prstGeom>
              <a:noFill/>
              <a:ln w="19050" cap="sq">
                <a:solidFill>
                  <a:srgbClr val="FF00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/>
              </a:p>
            </p:txBody>
          </p:sp>
          <p:sp>
            <p:nvSpPr>
              <p:cNvPr id="2" name="右中括号 1"/>
              <p:cNvSpPr/>
              <p:nvPr/>
            </p:nvSpPr>
            <p:spPr bwMode="auto">
              <a:xfrm>
                <a:off x="2813154" y="1986637"/>
                <a:ext cx="216000" cy="606449"/>
              </a:xfrm>
              <a:prstGeom prst="rightBracket">
                <a:avLst>
                  <a:gd name="adj" fmla="val 69140"/>
                </a:avLst>
              </a:pr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3" name="右中括号 232"/>
              <p:cNvSpPr/>
              <p:nvPr/>
            </p:nvSpPr>
            <p:spPr bwMode="auto">
              <a:xfrm rot="10800000">
                <a:off x="3907676" y="1995686"/>
                <a:ext cx="216000" cy="612000"/>
              </a:xfrm>
              <a:prstGeom prst="rightBracket">
                <a:avLst>
                  <a:gd name="adj" fmla="val 69140"/>
                </a:avLst>
              </a:pr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139952" y="1275606"/>
            <a:ext cx="4805062" cy="2684777"/>
            <a:chOff x="4139952" y="1275606"/>
            <a:chExt cx="4805062" cy="2684777"/>
          </a:xfrm>
        </p:grpSpPr>
        <p:cxnSp>
          <p:nvCxnSpPr>
            <p:cNvPr id="236" name="直接连接符 34"/>
            <p:cNvCxnSpPr>
              <a:cxnSpLocks noChangeShapeType="1"/>
            </p:cNvCxnSpPr>
            <p:nvPr/>
          </p:nvCxnSpPr>
          <p:spPr bwMode="auto">
            <a:xfrm rot="5400000">
              <a:off x="7599660" y="1861047"/>
              <a:ext cx="395233" cy="1588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none" w="sm" len="sm"/>
            </a:ln>
          </p:spPr>
        </p:cxnSp>
        <p:grpSp>
          <p:nvGrpSpPr>
            <p:cNvPr id="272" name="组合 271"/>
            <p:cNvGrpSpPr/>
            <p:nvPr/>
          </p:nvGrpSpPr>
          <p:grpSpPr>
            <a:xfrm>
              <a:off x="4139952" y="1275606"/>
              <a:ext cx="4805062" cy="2684777"/>
              <a:chOff x="3194323" y="1654696"/>
              <a:chExt cx="4805062" cy="2684777"/>
            </a:xfrm>
          </p:grpSpPr>
          <p:sp>
            <p:nvSpPr>
              <p:cNvPr id="273" name="Line 32"/>
              <p:cNvSpPr>
                <a:spLocks noChangeShapeType="1"/>
              </p:cNvSpPr>
              <p:nvPr/>
            </p:nvSpPr>
            <p:spPr bwMode="auto">
              <a:xfrm rot="16200000">
                <a:off x="4118743" y="3839197"/>
                <a:ext cx="54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4" name="Line 26"/>
              <p:cNvSpPr>
                <a:spLocks noChangeShapeType="1"/>
              </p:cNvSpPr>
              <p:nvPr/>
            </p:nvSpPr>
            <p:spPr bwMode="auto">
              <a:xfrm rot="16200000">
                <a:off x="3571847" y="4042700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5" name="Line 27"/>
              <p:cNvSpPr>
                <a:spLocks noChangeShapeType="1"/>
              </p:cNvSpPr>
              <p:nvPr/>
            </p:nvSpPr>
            <p:spPr bwMode="auto">
              <a:xfrm rot="16200000">
                <a:off x="5713833" y="2477474"/>
                <a:ext cx="0" cy="2844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3636323" y="4002860"/>
                <a:ext cx="0" cy="241179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" name="Line 29"/>
              <p:cNvSpPr>
                <a:spLocks noChangeShapeType="1"/>
              </p:cNvSpPr>
              <p:nvPr/>
            </p:nvSpPr>
            <p:spPr bwMode="auto">
              <a:xfrm rot="16200000">
                <a:off x="5077242" y="2995459"/>
                <a:ext cx="248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8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6091385" y="-253304"/>
                <a:ext cx="0" cy="3816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279" name="直接连接符 129"/>
              <p:cNvCxnSpPr>
                <a:cxnSpLocks noChangeShapeType="1"/>
              </p:cNvCxnSpPr>
              <p:nvPr/>
            </p:nvCxnSpPr>
            <p:spPr bwMode="auto">
              <a:xfrm flipH="1">
                <a:off x="7236296" y="4074393"/>
                <a:ext cx="756000" cy="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280" name="直接连接符 150"/>
              <p:cNvCxnSpPr>
                <a:cxnSpLocks noChangeShapeType="1"/>
              </p:cNvCxnSpPr>
              <p:nvPr/>
            </p:nvCxnSpPr>
            <p:spPr bwMode="auto">
              <a:xfrm flipH="1">
                <a:off x="4019789" y="4115947"/>
                <a:ext cx="2952000" cy="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281" name="直接连接符 160"/>
              <p:cNvCxnSpPr>
                <a:cxnSpLocks noChangeShapeType="1"/>
              </p:cNvCxnSpPr>
              <p:nvPr/>
            </p:nvCxnSpPr>
            <p:spPr bwMode="auto">
              <a:xfrm flipH="1">
                <a:off x="3651349" y="3979882"/>
                <a:ext cx="3780000" cy="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pic>
            <p:nvPicPr>
              <p:cNvPr id="282" name="Picture 3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 rot="16200000">
                <a:off x="5566587" y="2690453"/>
                <a:ext cx="491267" cy="307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83" name="Picture 3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 rot="16200000">
                <a:off x="4389415" y="2687258"/>
                <a:ext cx="491267" cy="307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284" name="直接连接符 34"/>
              <p:cNvCxnSpPr>
                <a:cxnSpLocks noChangeShapeType="1"/>
              </p:cNvCxnSpPr>
              <p:nvPr/>
            </p:nvCxnSpPr>
            <p:spPr bwMode="auto">
              <a:xfrm rot="5400000">
                <a:off x="4232809" y="2233722"/>
                <a:ext cx="395233" cy="1587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 type="oval" w="med" len="med"/>
                <a:tailEnd type="oval" w="sm" len="sm"/>
              </a:ln>
            </p:spPr>
          </p:cxnSp>
          <p:cxnSp>
            <p:nvCxnSpPr>
              <p:cNvPr id="285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4184253" y="2196936"/>
                <a:ext cx="900000" cy="1587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28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3997889" y="1851875"/>
                <a:ext cx="395945" cy="1587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287" name="矩形 19"/>
              <p:cNvSpPr>
                <a:spLocks noChangeArrowheads="1"/>
              </p:cNvSpPr>
              <p:nvPr/>
            </p:nvSpPr>
            <p:spPr bwMode="auto">
              <a:xfrm>
                <a:off x="4080093" y="1875198"/>
                <a:ext cx="719446" cy="431863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" name="TextBox 287"/>
              <p:cNvSpPr txBox="1">
                <a:spLocks noChangeArrowheads="1"/>
              </p:cNvSpPr>
              <p:nvPr/>
            </p:nvSpPr>
            <p:spPr bwMode="auto">
              <a:xfrm>
                <a:off x="4499412" y="2109961"/>
                <a:ext cx="357188" cy="24622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T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9" name="TextBox 288"/>
              <p:cNvSpPr txBox="1">
                <a:spLocks noChangeArrowheads="1"/>
              </p:cNvSpPr>
              <p:nvPr/>
            </p:nvSpPr>
            <p:spPr bwMode="auto">
              <a:xfrm>
                <a:off x="4067612" y="1859136"/>
                <a:ext cx="357188" cy="24622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0" name="TextBox 289"/>
              <p:cNvSpPr txBox="1">
                <a:spLocks noChangeArrowheads="1"/>
              </p:cNvSpPr>
              <p:nvPr/>
            </p:nvSpPr>
            <p:spPr bwMode="auto">
              <a:xfrm>
                <a:off x="4464487" y="1868661"/>
                <a:ext cx="357188" cy="24622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91" name="直接连接符 25"/>
              <p:cNvCxnSpPr>
                <a:cxnSpLocks noChangeShapeType="1"/>
              </p:cNvCxnSpPr>
              <p:nvPr/>
            </p:nvCxnSpPr>
            <p:spPr bwMode="auto">
              <a:xfrm>
                <a:off x="4551058" y="1921811"/>
                <a:ext cx="93519" cy="1587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292" name="等腰三角形 36"/>
              <p:cNvSpPr>
                <a:spLocks noChangeArrowheads="1"/>
              </p:cNvSpPr>
              <p:nvPr/>
            </p:nvSpPr>
            <p:spPr bwMode="auto">
              <a:xfrm>
                <a:off x="4372475" y="2199201"/>
                <a:ext cx="108007" cy="107985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3" name="TextBox 292"/>
              <p:cNvSpPr txBox="1">
                <a:spLocks noChangeArrowheads="1"/>
              </p:cNvSpPr>
              <p:nvPr/>
            </p:nvSpPr>
            <p:spPr bwMode="auto">
              <a:xfrm>
                <a:off x="4258112" y="2035348"/>
                <a:ext cx="422275" cy="2143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rPr>
                  <a:t>CK</a:t>
                </a:r>
                <a:endParaRPr lang="zh-CN" altLang="en-US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94" name="直接连接符 34"/>
              <p:cNvCxnSpPr>
                <a:cxnSpLocks noChangeShapeType="1"/>
              </p:cNvCxnSpPr>
              <p:nvPr/>
            </p:nvCxnSpPr>
            <p:spPr bwMode="auto">
              <a:xfrm rot="5400000">
                <a:off x="5427477" y="2230866"/>
                <a:ext cx="395233" cy="1588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tailEnd type="oval" w="sm" len="sm"/>
              </a:ln>
            </p:spPr>
          </p:cxnSp>
          <p:grpSp>
            <p:nvGrpSpPr>
              <p:cNvPr id="295" name="组合 16"/>
              <p:cNvGrpSpPr/>
              <p:nvPr/>
            </p:nvGrpSpPr>
            <p:grpSpPr bwMode="auto">
              <a:xfrm>
                <a:off x="5259825" y="1751835"/>
                <a:ext cx="793750" cy="896647"/>
                <a:chOff x="1863587" y="2510913"/>
                <a:chExt cx="793703" cy="897408"/>
              </a:xfrm>
            </p:grpSpPr>
            <p:cxnSp>
              <p:nvCxnSpPr>
                <p:cNvPr id="371" name="直接连接符 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974264" y="2960748"/>
                  <a:ext cx="893558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  <p:cxnSp>
              <p:nvCxnSpPr>
                <p:cNvPr id="372" name="直接连接符 1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766065" y="2744286"/>
                  <a:ext cx="468333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  <p:sp>
              <p:nvSpPr>
                <p:cNvPr id="373" name="矩形 19"/>
                <p:cNvSpPr>
                  <a:spLocks noChangeArrowheads="1"/>
                </p:cNvSpPr>
                <p:nvPr/>
              </p:nvSpPr>
              <p:spPr bwMode="auto">
                <a:xfrm>
                  <a:off x="1876406" y="2643188"/>
                  <a:ext cx="720005" cy="432308"/>
                </a:xfrm>
                <a:prstGeom prst="rect">
                  <a:avLst/>
                </a:prstGeom>
                <a:solidFill>
                  <a:srgbClr val="FFFF00"/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4" name="TextBox 373"/>
                <p:cNvSpPr txBox="1">
                  <a:spLocks noChangeArrowheads="1"/>
                </p:cNvSpPr>
                <p:nvPr/>
              </p:nvSpPr>
              <p:spPr bwMode="auto">
                <a:xfrm>
                  <a:off x="2300123" y="2869350"/>
                  <a:ext cx="357167" cy="2464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T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2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5" name="TextBox 374"/>
                <p:cNvSpPr txBox="1">
                  <a:spLocks noChangeArrowheads="1"/>
                </p:cNvSpPr>
                <p:nvPr/>
              </p:nvSpPr>
              <p:spPr bwMode="auto">
                <a:xfrm>
                  <a:off x="1863587" y="2619900"/>
                  <a:ext cx="357166" cy="2464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2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6" name="TextBox 375"/>
                <p:cNvSpPr txBox="1">
                  <a:spLocks noChangeArrowheads="1"/>
                </p:cNvSpPr>
                <p:nvPr/>
              </p:nvSpPr>
              <p:spPr bwMode="auto">
                <a:xfrm>
                  <a:off x="2277899" y="2629433"/>
                  <a:ext cx="355579" cy="2464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2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377" name="直接连接符 25"/>
                <p:cNvCxnSpPr>
                  <a:cxnSpLocks noChangeShapeType="1"/>
                </p:cNvCxnSpPr>
                <p:nvPr/>
              </p:nvCxnSpPr>
              <p:spPr bwMode="auto">
                <a:xfrm>
                  <a:off x="2373304" y="2681298"/>
                  <a:ext cx="936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</p:grpSp>
          <p:sp>
            <p:nvSpPr>
              <p:cNvPr id="296" name="等腰三角形 36"/>
              <p:cNvSpPr>
                <a:spLocks noChangeArrowheads="1"/>
              </p:cNvSpPr>
              <p:nvPr/>
            </p:nvSpPr>
            <p:spPr bwMode="auto">
              <a:xfrm>
                <a:off x="5569528" y="2210537"/>
                <a:ext cx="108007" cy="107985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" name="TextBox 296"/>
              <p:cNvSpPr txBox="1">
                <a:spLocks noChangeArrowheads="1"/>
              </p:cNvSpPr>
              <p:nvPr/>
            </p:nvSpPr>
            <p:spPr bwMode="auto">
              <a:xfrm>
                <a:off x="5455087" y="2049636"/>
                <a:ext cx="422275" cy="2143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rPr>
                  <a:t>CK</a:t>
                </a:r>
                <a:endParaRPr lang="zh-CN" altLang="en-US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8" name="Line 25"/>
              <p:cNvSpPr>
                <a:spLocks noChangeShapeType="1"/>
              </p:cNvSpPr>
              <p:nvPr/>
            </p:nvSpPr>
            <p:spPr bwMode="auto">
              <a:xfrm rot="16200000">
                <a:off x="4272809" y="3257529"/>
                <a:ext cx="252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9" name="Line 26"/>
              <p:cNvSpPr>
                <a:spLocks noChangeShapeType="1"/>
              </p:cNvSpPr>
              <p:nvPr/>
            </p:nvSpPr>
            <p:spPr bwMode="auto">
              <a:xfrm rot="16200000">
                <a:off x="4767430" y="3243049"/>
                <a:ext cx="214283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0" name="Line 27"/>
              <p:cNvSpPr>
                <a:spLocks noChangeShapeType="1"/>
              </p:cNvSpPr>
              <p:nvPr/>
            </p:nvSpPr>
            <p:spPr bwMode="auto">
              <a:xfrm rot="16200000">
                <a:off x="4481939" y="3045907"/>
                <a:ext cx="0" cy="180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1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796281" y="3045907"/>
                <a:ext cx="0" cy="180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" name="Line 38"/>
              <p:cNvSpPr>
                <a:spLocks noChangeShapeType="1"/>
              </p:cNvSpPr>
              <p:nvPr/>
            </p:nvSpPr>
            <p:spPr bwMode="auto">
              <a:xfrm rot="16200000">
                <a:off x="4482940" y="3055445"/>
                <a:ext cx="1799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" name="Line 39"/>
              <p:cNvSpPr>
                <a:spLocks noChangeShapeType="1"/>
              </p:cNvSpPr>
              <p:nvPr/>
            </p:nvSpPr>
            <p:spPr bwMode="auto">
              <a:xfrm rot="16200000">
                <a:off x="4612308" y="3055445"/>
                <a:ext cx="1799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" name="Line 25"/>
              <p:cNvSpPr>
                <a:spLocks noChangeShapeType="1"/>
              </p:cNvSpPr>
              <p:nvPr/>
            </p:nvSpPr>
            <p:spPr bwMode="auto">
              <a:xfrm rot="16200000">
                <a:off x="5434612" y="3274004"/>
                <a:ext cx="21587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" name="Line 26"/>
              <p:cNvSpPr>
                <a:spLocks noChangeShapeType="1"/>
              </p:cNvSpPr>
              <p:nvPr/>
            </p:nvSpPr>
            <p:spPr bwMode="auto">
              <a:xfrm rot="16200000">
                <a:off x="6007732" y="3274004"/>
                <a:ext cx="21587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6" name="Line 27"/>
              <p:cNvSpPr>
                <a:spLocks noChangeShapeType="1"/>
              </p:cNvSpPr>
              <p:nvPr/>
            </p:nvSpPr>
            <p:spPr bwMode="auto">
              <a:xfrm rot="16200000">
                <a:off x="5647329" y="3061287"/>
                <a:ext cx="0" cy="209564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6001359" y="3045411"/>
                <a:ext cx="0" cy="24131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" name="Line 31"/>
              <p:cNvSpPr>
                <a:spLocks noChangeShapeType="1"/>
              </p:cNvSpPr>
              <p:nvPr/>
            </p:nvSpPr>
            <p:spPr bwMode="auto">
              <a:xfrm rot="16200000">
                <a:off x="5806063" y="3781380"/>
                <a:ext cx="39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9" name="Line 32"/>
              <p:cNvSpPr>
                <a:spLocks noChangeShapeType="1"/>
              </p:cNvSpPr>
              <p:nvPr/>
            </p:nvSpPr>
            <p:spPr bwMode="auto">
              <a:xfrm rot="16200000">
                <a:off x="6038950" y="3667344"/>
                <a:ext cx="32395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5960235" y="3364408"/>
                <a:ext cx="285750" cy="284162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1" name="Line 38"/>
              <p:cNvSpPr>
                <a:spLocks noChangeShapeType="1"/>
              </p:cNvSpPr>
              <p:nvPr/>
            </p:nvSpPr>
            <p:spPr bwMode="auto">
              <a:xfrm rot="16200000">
                <a:off x="5651325" y="3066871"/>
                <a:ext cx="20157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2" name="Line 39"/>
              <p:cNvSpPr>
                <a:spLocks noChangeShapeType="1"/>
              </p:cNvSpPr>
              <p:nvPr/>
            </p:nvSpPr>
            <p:spPr bwMode="auto">
              <a:xfrm rot="16200000">
                <a:off x="5779914" y="3066871"/>
                <a:ext cx="20157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3" name="Text Box 69"/>
              <p:cNvSpPr txBox="1">
                <a:spLocks noChangeArrowheads="1"/>
              </p:cNvSpPr>
              <p:nvPr/>
            </p:nvSpPr>
            <p:spPr bwMode="auto">
              <a:xfrm>
                <a:off x="3443725" y="2220057"/>
                <a:ext cx="437857" cy="30773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400" b="1" dirty="0"/>
                  <a:t>CP</a:t>
                </a:r>
                <a:r>
                  <a:rPr kumimoji="0" lang="en-US" altLang="zh-CN" sz="1400" b="1" baseline="-25000" dirty="0"/>
                  <a:t> </a:t>
                </a:r>
              </a:p>
            </p:txBody>
          </p:sp>
          <p:cxnSp>
            <p:nvCxnSpPr>
              <p:cNvPr id="314" name="直接连接符 137"/>
              <p:cNvCxnSpPr>
                <a:cxnSpLocks noChangeShapeType="1"/>
              </p:cNvCxnSpPr>
              <p:nvPr/>
            </p:nvCxnSpPr>
            <p:spPr bwMode="auto">
              <a:xfrm flipH="1">
                <a:off x="3830604" y="2432132"/>
                <a:ext cx="3024000" cy="0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</a:ln>
            </p:spPr>
          </p:cxnSp>
          <p:sp>
            <p:nvSpPr>
              <p:cNvPr id="315" name="Line 32"/>
              <p:cNvSpPr>
                <a:spLocks noChangeShapeType="1"/>
              </p:cNvSpPr>
              <p:nvPr/>
            </p:nvSpPr>
            <p:spPr bwMode="auto">
              <a:xfrm rot="16200000">
                <a:off x="4515940" y="3859459"/>
                <a:ext cx="75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" name="Line 32"/>
              <p:cNvSpPr>
                <a:spLocks noChangeShapeType="1"/>
              </p:cNvSpPr>
              <p:nvPr/>
            </p:nvSpPr>
            <p:spPr bwMode="auto">
              <a:xfrm rot="16200000">
                <a:off x="4818931" y="3668919"/>
                <a:ext cx="32395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" name="Line 32"/>
              <p:cNvSpPr>
                <a:spLocks noChangeShapeType="1"/>
              </p:cNvSpPr>
              <p:nvPr/>
            </p:nvSpPr>
            <p:spPr bwMode="auto">
              <a:xfrm rot="16200000">
                <a:off x="4523357" y="3715372"/>
                <a:ext cx="54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" name="Line 31"/>
              <p:cNvSpPr>
                <a:spLocks noChangeShapeType="1"/>
              </p:cNvSpPr>
              <p:nvPr/>
            </p:nvSpPr>
            <p:spPr bwMode="auto">
              <a:xfrm rot="16200000">
                <a:off x="4166564" y="3770072"/>
                <a:ext cx="252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Line 32"/>
              <p:cNvSpPr>
                <a:spLocks noChangeShapeType="1"/>
              </p:cNvSpPr>
              <p:nvPr/>
            </p:nvSpPr>
            <p:spPr bwMode="auto">
              <a:xfrm rot="16200000">
                <a:off x="4381428" y="3625379"/>
                <a:ext cx="21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0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4248736" y="3354884"/>
                <a:ext cx="285750" cy="284162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1" name="组合 480"/>
              <p:cNvGrpSpPr/>
              <p:nvPr/>
            </p:nvGrpSpPr>
            <p:grpSpPr>
              <a:xfrm>
                <a:off x="3739709" y="4011686"/>
                <a:ext cx="292820" cy="216004"/>
                <a:chOff x="5868144" y="3867894"/>
                <a:chExt cx="292820" cy="216004"/>
              </a:xfrm>
            </p:grpSpPr>
            <p:sp>
              <p:nvSpPr>
                <p:cNvPr id="369" name="AutoShape 30"/>
                <p:cNvSpPr>
                  <a:spLocks noChangeArrowheads="1"/>
                </p:cNvSpPr>
                <p:nvPr/>
              </p:nvSpPr>
              <p:spPr bwMode="auto">
                <a:xfrm rot="5400000">
                  <a:off x="5868152" y="3867886"/>
                  <a:ext cx="216004" cy="216020"/>
                </a:xfrm>
                <a:prstGeom prst="flowChartExtract">
                  <a:avLst/>
                </a:prstGeom>
                <a:solidFill>
                  <a:srgbClr val="CCFFCC"/>
                </a:solidFill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0" name="椭圆 369"/>
                <p:cNvSpPr/>
                <p:nvPr/>
              </p:nvSpPr>
              <p:spPr bwMode="auto">
                <a:xfrm>
                  <a:off x="6088949" y="3939903"/>
                  <a:ext cx="72015" cy="72009"/>
                </a:xfrm>
                <a:prstGeom prst="ellips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endParaRPr lang="zh-CN" altLang="en-US"/>
                </a:p>
              </p:txBody>
            </p:sp>
          </p:grpSp>
          <p:pic>
            <p:nvPicPr>
              <p:cNvPr id="322" name="Picture 3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 rot="16200000">
                <a:off x="7078750" y="2762138"/>
                <a:ext cx="491267" cy="307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23" name="Line 25"/>
              <p:cNvSpPr>
                <a:spLocks noChangeShapeType="1"/>
              </p:cNvSpPr>
              <p:nvPr/>
            </p:nvSpPr>
            <p:spPr bwMode="auto">
              <a:xfrm rot="16200000">
                <a:off x="7002609" y="3311259"/>
                <a:ext cx="18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4" name="Line 26"/>
              <p:cNvSpPr>
                <a:spLocks noChangeShapeType="1"/>
              </p:cNvSpPr>
              <p:nvPr/>
            </p:nvSpPr>
            <p:spPr bwMode="auto">
              <a:xfrm rot="16200000">
                <a:off x="7477699" y="3277920"/>
                <a:ext cx="18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5" name="Line 27"/>
              <p:cNvSpPr>
                <a:spLocks noChangeShapeType="1"/>
              </p:cNvSpPr>
              <p:nvPr/>
            </p:nvSpPr>
            <p:spPr bwMode="auto">
              <a:xfrm rot="16200000">
                <a:off x="7175739" y="3120787"/>
                <a:ext cx="0" cy="180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6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7485616" y="3111262"/>
                <a:ext cx="0" cy="180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" name="Line 38"/>
              <p:cNvSpPr>
                <a:spLocks noChangeShapeType="1"/>
              </p:cNvSpPr>
              <p:nvPr/>
            </p:nvSpPr>
            <p:spPr bwMode="auto">
              <a:xfrm rot="16200000">
                <a:off x="7172275" y="3122374"/>
                <a:ext cx="1799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" name="Line 39"/>
              <p:cNvSpPr>
                <a:spLocks noChangeShapeType="1"/>
              </p:cNvSpPr>
              <p:nvPr/>
            </p:nvSpPr>
            <p:spPr bwMode="auto">
              <a:xfrm rot="16200000">
                <a:off x="7301643" y="3120800"/>
                <a:ext cx="1799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" name="Line 31"/>
              <p:cNvSpPr>
                <a:spLocks noChangeShapeType="1"/>
              </p:cNvSpPr>
              <p:nvPr/>
            </p:nvSpPr>
            <p:spPr bwMode="auto">
              <a:xfrm rot="16200000">
                <a:off x="7259072" y="3807527"/>
                <a:ext cx="36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0" name="Line 32"/>
              <p:cNvSpPr>
                <a:spLocks noChangeShapeType="1"/>
              </p:cNvSpPr>
              <p:nvPr/>
            </p:nvSpPr>
            <p:spPr bwMode="auto">
              <a:xfrm rot="16200000">
                <a:off x="7504611" y="3633847"/>
                <a:ext cx="39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1" name="Line 31"/>
              <p:cNvSpPr>
                <a:spLocks noChangeShapeType="1"/>
              </p:cNvSpPr>
              <p:nvPr/>
            </p:nvSpPr>
            <p:spPr bwMode="auto">
              <a:xfrm rot="16200000">
                <a:off x="6733314" y="3874301"/>
                <a:ext cx="468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2" name="Line 32"/>
              <p:cNvSpPr>
                <a:spLocks noChangeShapeType="1"/>
              </p:cNvSpPr>
              <p:nvPr/>
            </p:nvSpPr>
            <p:spPr bwMode="auto">
              <a:xfrm rot="16200000">
                <a:off x="6988378" y="3831918"/>
                <a:ext cx="50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" name="Line 31"/>
              <p:cNvSpPr>
                <a:spLocks noChangeShapeType="1"/>
              </p:cNvSpPr>
              <p:nvPr/>
            </p:nvSpPr>
            <p:spPr bwMode="auto">
              <a:xfrm rot="16200000">
                <a:off x="5175833" y="3845498"/>
                <a:ext cx="54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4" name="Line 32"/>
              <p:cNvSpPr>
                <a:spLocks noChangeShapeType="1"/>
              </p:cNvSpPr>
              <p:nvPr/>
            </p:nvSpPr>
            <p:spPr bwMode="auto">
              <a:xfrm rot="16200000">
                <a:off x="5534697" y="3614057"/>
                <a:ext cx="21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5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5402005" y="3354884"/>
                <a:ext cx="285750" cy="284162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6" name="Text Box 69"/>
              <p:cNvSpPr txBox="1">
                <a:spLocks noChangeArrowheads="1"/>
              </p:cNvSpPr>
              <p:nvPr/>
            </p:nvSpPr>
            <p:spPr bwMode="auto">
              <a:xfrm>
                <a:off x="3194323" y="3963980"/>
                <a:ext cx="360040" cy="3077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400" b="1" dirty="0"/>
                  <a:t>X</a:t>
                </a:r>
                <a:r>
                  <a:rPr kumimoji="0" lang="en-US" altLang="zh-CN" sz="1400" b="1" baseline="-25000" dirty="0"/>
                  <a:t> </a:t>
                </a:r>
              </a:p>
            </p:txBody>
          </p:sp>
          <p:sp>
            <p:nvSpPr>
              <p:cNvPr id="337" name="Line 32"/>
              <p:cNvSpPr>
                <a:spLocks noChangeShapeType="1"/>
              </p:cNvSpPr>
              <p:nvPr/>
            </p:nvSpPr>
            <p:spPr bwMode="auto">
              <a:xfrm rot="16200000">
                <a:off x="6777084" y="2870574"/>
                <a:ext cx="24264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4730691" y="3364409"/>
                <a:ext cx="285750" cy="284162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861283" y="1528785"/>
                <a:ext cx="0" cy="4536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" name="Line 29"/>
              <p:cNvSpPr>
                <a:spLocks noChangeShapeType="1"/>
              </p:cNvSpPr>
              <p:nvPr/>
            </p:nvSpPr>
            <p:spPr bwMode="auto">
              <a:xfrm rot="16200000">
                <a:off x="3780056" y="3037850"/>
                <a:ext cx="2592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1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6071989" y="1503585"/>
                <a:ext cx="0" cy="504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2" name="Line 29"/>
              <p:cNvSpPr>
                <a:spLocks noChangeShapeType="1"/>
              </p:cNvSpPr>
              <p:nvPr/>
            </p:nvSpPr>
            <p:spPr bwMode="auto">
              <a:xfrm rot="16200000">
                <a:off x="4129497" y="2834205"/>
                <a:ext cx="212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" name="Line 27"/>
              <p:cNvSpPr>
                <a:spLocks noChangeShapeType="1"/>
              </p:cNvSpPr>
              <p:nvPr/>
            </p:nvSpPr>
            <p:spPr bwMode="auto">
              <a:xfrm rot="16200000">
                <a:off x="6442998" y="2367893"/>
                <a:ext cx="0" cy="2916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344" name="直接连接符 129"/>
              <p:cNvCxnSpPr>
                <a:cxnSpLocks noChangeShapeType="1"/>
              </p:cNvCxnSpPr>
              <p:nvPr/>
            </p:nvCxnSpPr>
            <p:spPr bwMode="auto">
              <a:xfrm flipH="1">
                <a:off x="4898132" y="4227934"/>
                <a:ext cx="2628000" cy="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345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289996" y="1655006"/>
                <a:ext cx="0" cy="216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6" name="Line 29"/>
              <p:cNvSpPr>
                <a:spLocks noChangeShapeType="1"/>
              </p:cNvSpPr>
              <p:nvPr/>
            </p:nvSpPr>
            <p:spPr bwMode="auto">
              <a:xfrm rot="16200000">
                <a:off x="5428257" y="2715654"/>
                <a:ext cx="201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347" name="直接连接符 129"/>
              <p:cNvCxnSpPr>
                <a:cxnSpLocks noChangeShapeType="1"/>
              </p:cNvCxnSpPr>
              <p:nvPr/>
            </p:nvCxnSpPr>
            <p:spPr bwMode="auto">
              <a:xfrm flipH="1">
                <a:off x="4492847" y="3723654"/>
                <a:ext cx="2556000" cy="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348" name="Line 25"/>
              <p:cNvSpPr>
                <a:spLocks noChangeShapeType="1"/>
              </p:cNvSpPr>
              <p:nvPr/>
            </p:nvSpPr>
            <p:spPr bwMode="auto">
              <a:xfrm rot="16200000">
                <a:off x="7252751" y="2651291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" name="Text Box 69"/>
              <p:cNvSpPr txBox="1">
                <a:spLocks noChangeArrowheads="1"/>
              </p:cNvSpPr>
              <p:nvPr/>
            </p:nvSpPr>
            <p:spPr bwMode="auto">
              <a:xfrm>
                <a:off x="7308304" y="2479997"/>
                <a:ext cx="360040" cy="3077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C00000"/>
                    </a:solidFill>
                  </a:rPr>
                  <a:t>Z</a:t>
                </a:r>
                <a:r>
                  <a:rPr kumimoji="0" lang="en-US" altLang="zh-CN" sz="1400" b="1" baseline="-25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  <p:grpSp>
            <p:nvGrpSpPr>
              <p:cNvPr id="350" name="组合 16"/>
              <p:cNvGrpSpPr/>
              <p:nvPr/>
            </p:nvGrpSpPr>
            <p:grpSpPr bwMode="auto">
              <a:xfrm>
                <a:off x="6485979" y="1717181"/>
                <a:ext cx="793750" cy="725948"/>
                <a:chOff x="1863587" y="2472781"/>
                <a:chExt cx="793703" cy="726563"/>
              </a:xfrm>
            </p:grpSpPr>
            <p:cxnSp>
              <p:nvCxnSpPr>
                <p:cNvPr id="362" name="直接连接符 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078753" y="2856260"/>
                  <a:ext cx="68458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  <p:cxnSp>
              <p:nvCxnSpPr>
                <p:cNvPr id="363" name="直接连接符 1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766065" y="2706154"/>
                  <a:ext cx="468333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  <p:sp>
              <p:nvSpPr>
                <p:cNvPr id="364" name="矩形 19"/>
                <p:cNvSpPr>
                  <a:spLocks noChangeArrowheads="1"/>
                </p:cNvSpPr>
                <p:nvPr/>
              </p:nvSpPr>
              <p:spPr bwMode="auto">
                <a:xfrm>
                  <a:off x="1876406" y="2643188"/>
                  <a:ext cx="720005" cy="432308"/>
                </a:xfrm>
                <a:prstGeom prst="rect">
                  <a:avLst/>
                </a:prstGeom>
                <a:solidFill>
                  <a:srgbClr val="FFFF00"/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5" name="TextBox 364"/>
                <p:cNvSpPr txBox="1">
                  <a:spLocks noChangeArrowheads="1"/>
                </p:cNvSpPr>
                <p:nvPr/>
              </p:nvSpPr>
              <p:spPr bwMode="auto">
                <a:xfrm>
                  <a:off x="2300123" y="2869350"/>
                  <a:ext cx="357167" cy="2464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T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1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6" name="TextBox 365"/>
                <p:cNvSpPr txBox="1">
                  <a:spLocks noChangeArrowheads="1"/>
                </p:cNvSpPr>
                <p:nvPr/>
              </p:nvSpPr>
              <p:spPr bwMode="auto">
                <a:xfrm>
                  <a:off x="1863587" y="2619898"/>
                  <a:ext cx="357166" cy="2464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1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7" name="TextBox 366"/>
                <p:cNvSpPr txBox="1">
                  <a:spLocks noChangeArrowheads="1"/>
                </p:cNvSpPr>
                <p:nvPr/>
              </p:nvSpPr>
              <p:spPr bwMode="auto">
                <a:xfrm>
                  <a:off x="2277899" y="2629431"/>
                  <a:ext cx="355579" cy="2464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1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368" name="直接连接符 25"/>
                <p:cNvCxnSpPr>
                  <a:cxnSpLocks noChangeShapeType="1"/>
                </p:cNvCxnSpPr>
                <p:nvPr/>
              </p:nvCxnSpPr>
              <p:spPr bwMode="auto">
                <a:xfrm>
                  <a:off x="2373304" y="2681298"/>
                  <a:ext cx="936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</p:grpSp>
          <p:sp>
            <p:nvSpPr>
              <p:cNvPr id="351" name="Text Box 69"/>
              <p:cNvSpPr txBox="1">
                <a:spLocks noChangeArrowheads="1"/>
              </p:cNvSpPr>
              <p:nvPr/>
            </p:nvSpPr>
            <p:spPr bwMode="auto">
              <a:xfrm>
                <a:off x="6823298" y="2393826"/>
                <a:ext cx="494488" cy="276999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200" b="1" dirty="0"/>
                  <a:t>“1”</a:t>
                </a:r>
                <a:endParaRPr kumimoji="0" lang="en-US" altLang="zh-CN" sz="1200" b="1" baseline="-25000" dirty="0"/>
              </a:p>
            </p:txBody>
          </p:sp>
          <p:sp>
            <p:nvSpPr>
              <p:cNvPr id="352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6534015" y="1619979"/>
                <a:ext cx="0" cy="1944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3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7475211" y="1341737"/>
                <a:ext cx="0" cy="8568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4" name="Line 29"/>
              <p:cNvSpPr>
                <a:spLocks noChangeShapeType="1"/>
              </p:cNvSpPr>
              <p:nvPr/>
            </p:nvSpPr>
            <p:spPr bwMode="auto">
              <a:xfrm rot="16200000">
                <a:off x="6857093" y="2802223"/>
                <a:ext cx="20736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5" name="Line 32"/>
              <p:cNvSpPr>
                <a:spLocks noChangeShapeType="1"/>
              </p:cNvSpPr>
              <p:nvPr/>
            </p:nvSpPr>
            <p:spPr bwMode="auto">
              <a:xfrm rot="16200000">
                <a:off x="6982179" y="3651863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" name="Line 32"/>
              <p:cNvSpPr>
                <a:spLocks noChangeShapeType="1"/>
              </p:cNvSpPr>
              <p:nvPr/>
            </p:nvSpPr>
            <p:spPr bwMode="auto">
              <a:xfrm rot="16200000">
                <a:off x="6987453" y="3732315"/>
                <a:ext cx="32395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7" name="Line 32"/>
              <p:cNvSpPr>
                <a:spLocks noChangeShapeType="1"/>
              </p:cNvSpPr>
              <p:nvPr/>
            </p:nvSpPr>
            <p:spPr bwMode="auto">
              <a:xfrm rot="16200000">
                <a:off x="7218328" y="3933488"/>
                <a:ext cx="612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" name="Line 32"/>
              <p:cNvSpPr>
                <a:spLocks noChangeShapeType="1"/>
              </p:cNvSpPr>
              <p:nvPr/>
            </p:nvSpPr>
            <p:spPr bwMode="auto">
              <a:xfrm rot="16200000">
                <a:off x="7255386" y="3979473"/>
                <a:ext cx="720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6954639" y="3315570"/>
                <a:ext cx="288000" cy="396000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0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7435437" y="3310318"/>
                <a:ext cx="285750" cy="396000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361" name="直接连接符 129"/>
              <p:cNvCxnSpPr>
                <a:cxnSpLocks noChangeShapeType="1"/>
              </p:cNvCxnSpPr>
              <p:nvPr/>
            </p:nvCxnSpPr>
            <p:spPr bwMode="auto">
              <a:xfrm flipH="1">
                <a:off x="5074244" y="4332709"/>
                <a:ext cx="2556000" cy="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34" name="等腰三角形 36"/>
            <p:cNvSpPr>
              <a:spLocks noChangeArrowheads="1"/>
            </p:cNvSpPr>
            <p:nvPr/>
          </p:nvSpPr>
          <p:spPr bwMode="auto">
            <a:xfrm>
              <a:off x="7743020" y="1832618"/>
              <a:ext cx="108007" cy="107985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" name="TextBox 296"/>
            <p:cNvSpPr txBox="1">
              <a:spLocks noChangeArrowheads="1"/>
            </p:cNvSpPr>
            <p:nvPr/>
          </p:nvSpPr>
          <p:spPr bwMode="auto">
            <a:xfrm>
              <a:off x="7625161" y="1654698"/>
              <a:ext cx="422275" cy="214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241" name="Text Box 4"/>
          <p:cNvSpPr txBox="1">
            <a:spLocks noChangeArrowheads="1"/>
          </p:cNvSpPr>
          <p:nvPr/>
        </p:nvSpPr>
        <p:spPr bwMode="auto">
          <a:xfrm>
            <a:off x="1763688" y="104775"/>
            <a:ext cx="583264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用触发器设计同步时序逻辑</a:t>
            </a:r>
            <a:r>
              <a:rPr lang="en-US" altLang="zh-CN" b="1" dirty="0">
                <a:sym typeface="+mn-ea"/>
              </a:rPr>
              <a:t>—</a:t>
            </a:r>
            <a:r>
              <a:rPr lang="zh-CN" altLang="en-US" b="1" dirty="0">
                <a:sym typeface="+mn-ea"/>
              </a:rPr>
              <a:t>实例</a:t>
            </a:r>
            <a:br>
              <a:rPr lang="en-US" altLang="zh-CN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模8可逆计数器</a:t>
            </a:r>
            <a:endParaRPr lang="en-US" altLang="zh-CN" sz="40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 时序锁</a:t>
            </a:r>
            <a:endParaRPr lang="zh-CN" altLang="en-US" sz="4000" dirty="0">
              <a:solidFill>
                <a:srgbClr val="0000CC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二进制串行加法器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奇偶校验器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更复杂的同步时序逻辑设计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4"/>
          <p:cNvSpPr txBox="1">
            <a:spLocks noChangeArrowheads="1"/>
          </p:cNvSpPr>
          <p:nvPr/>
        </p:nvSpPr>
        <p:spPr bwMode="auto">
          <a:xfrm>
            <a:off x="1115616" y="1131590"/>
            <a:ext cx="4680520" cy="1774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spcBef>
                <a:spcPts val="4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输入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: 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X</a:t>
            </a:r>
            <a:r>
              <a:rPr kumimoji="0" lang="en-US" altLang="zh-CN" sz="1600" b="1" baseline="-2500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X</a:t>
            </a:r>
            <a:r>
              <a:rPr kumimoji="0" lang="en-US" altLang="zh-CN" sz="1600" b="1" baseline="-2500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，输出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: 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Z</a:t>
            </a:r>
          </a:p>
          <a:p>
            <a:pPr marL="180975" indent="-180975">
              <a:spcBef>
                <a:spcPts val="4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该锁内部有四个状态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R</a:t>
            </a:r>
            <a:r>
              <a:rPr lang="zh-CN" altLang="en-US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C</a:t>
            </a:r>
            <a:r>
              <a:rPr lang="zh-CN" altLang="en-US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E</a:t>
            </a:r>
          </a:p>
          <a:p>
            <a:pPr marL="180975" indent="-180975">
              <a:spcBef>
                <a:spcPts val="4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依次输入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00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、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01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、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11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，时序锁从状态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R</a:t>
            </a:r>
            <a:r>
              <a:rPr lang="en-US" altLang="zh-CN" sz="1600" b="1" dirty="0">
                <a:latin typeface="+mn-ea"/>
                <a:ea typeface="+mn-ea"/>
              </a:rPr>
              <a:t>→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en-US" altLang="zh-CN" sz="1600" b="1" dirty="0">
                <a:latin typeface="+mn-ea"/>
                <a:ea typeface="+mn-ea"/>
              </a:rPr>
              <a:t>→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C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，并开锁（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Z=1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）</a:t>
            </a:r>
            <a:endParaRPr lang="en-US" altLang="zh-CN" sz="1600" b="1" dirty="0">
              <a:latin typeface="+mj-lt"/>
              <a:ea typeface="黑体" panose="02010609060101010101" pitchFamily="49" charset="-122"/>
            </a:endParaRPr>
          </a:p>
          <a:p>
            <a:pPr marL="180975" indent="-180975">
              <a:spcBef>
                <a:spcPts val="4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不是上述序列，进入状态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E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error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）</a:t>
            </a:r>
            <a:endParaRPr lang="en-US" altLang="zh-CN" sz="1600" b="1" dirty="0">
              <a:latin typeface="+mj-lt"/>
              <a:ea typeface="黑体" panose="02010609060101010101" pitchFamily="49" charset="-122"/>
            </a:endParaRPr>
          </a:p>
          <a:p>
            <a:pPr marL="180975" indent="-180975">
              <a:spcBef>
                <a:spcPts val="4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任何时候只要输入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00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，都将返回状态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R</a:t>
            </a:r>
            <a:endParaRPr lang="en-US" altLang="zh-CN" sz="1600" b="1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79880" name="Picture 11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55526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726849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499745" y="655955"/>
            <a:ext cx="508063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例：利用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JK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触发器设计一个时序锁</a:t>
            </a:r>
            <a:endParaRPr lang="zh-CN" altLang="en-US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5546204" y="698716"/>
            <a:ext cx="2235691" cy="876146"/>
            <a:chOff x="1326307" y="1663395"/>
            <a:chExt cx="2235691" cy="876146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946658" y="1707654"/>
              <a:ext cx="1000233" cy="507791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时序锁</a:t>
              </a:r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1646405" y="1851670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7" name="Text Box 7"/>
            <p:cNvSpPr txBox="1">
              <a:spLocks noChangeArrowheads="1"/>
            </p:cNvSpPr>
            <p:nvPr/>
          </p:nvSpPr>
          <p:spPr bwMode="auto">
            <a:xfrm>
              <a:off x="1326307" y="1663395"/>
              <a:ext cx="450657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X</a:t>
              </a:r>
              <a:r>
                <a:rPr lang="en-US" altLang="zh-CN" sz="1400" b="1" baseline="-25000" dirty="0"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1922930" y="2407974"/>
              <a:ext cx="54027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 flipV="1">
              <a:off x="2453163" y="2205920"/>
              <a:ext cx="0" cy="216281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1479848" y="2231764"/>
              <a:ext cx="511697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CP</a:t>
              </a:r>
            </a:p>
          </p:txBody>
        </p:sp>
        <p:sp>
          <p:nvSpPr>
            <p:cNvPr id="21" name="Line 11"/>
            <p:cNvSpPr>
              <a:spLocks noChangeShapeType="1"/>
            </p:cNvSpPr>
            <p:nvPr/>
          </p:nvSpPr>
          <p:spPr bwMode="auto">
            <a:xfrm>
              <a:off x="2957843" y="1974267"/>
              <a:ext cx="288388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3167745" y="1837915"/>
              <a:ext cx="394253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3" name="Line 6"/>
            <p:cNvSpPr>
              <a:spLocks noChangeShapeType="1"/>
            </p:cNvSpPr>
            <p:nvPr/>
          </p:nvSpPr>
          <p:spPr bwMode="auto">
            <a:xfrm>
              <a:off x="1646405" y="2114197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4" name="Text Box 7"/>
            <p:cNvSpPr txBox="1">
              <a:spLocks noChangeArrowheads="1"/>
            </p:cNvSpPr>
            <p:nvPr/>
          </p:nvSpPr>
          <p:spPr bwMode="auto">
            <a:xfrm>
              <a:off x="1326307" y="1929011"/>
              <a:ext cx="374898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X</a:t>
              </a:r>
              <a:r>
                <a:rPr lang="en-US" altLang="zh-CN" sz="1400" b="1" baseline="-25000" dirty="0">
                  <a:latin typeface="+mj-lt"/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67544" y="2963728"/>
            <a:ext cx="28575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467544" y="3378160"/>
            <a:ext cx="4032448" cy="14978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b="1" dirty="0">
                <a:latin typeface="+mj-lt"/>
                <a:ea typeface="黑体" panose="02010609060101010101" pitchFamily="49" charset="-122"/>
              </a:rPr>
              <a:t>  ① </a:t>
            </a:r>
            <a:r>
              <a:rPr lang="zh-CN" altLang="en-US" sz="1800" b="1" dirty="0">
                <a:latin typeface="+mj-lt"/>
                <a:ea typeface="黑体" panose="02010609060101010101" pitchFamily="49" charset="-122"/>
              </a:rPr>
              <a:t>状态设定</a:t>
            </a:r>
          </a:p>
          <a:p>
            <a:pPr marL="180975" indent="-180975">
              <a:spcBef>
                <a:spcPts val="400"/>
              </a:spcBef>
            </a:pPr>
            <a:r>
              <a:rPr lang="zh-CN" altLang="en-US" sz="1500" b="1" dirty="0">
                <a:latin typeface="+mj-lt"/>
                <a:ea typeface="黑体" panose="02010609060101010101" pitchFamily="49" charset="-122"/>
              </a:rPr>
              <a:t>   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R—</a:t>
            </a:r>
            <a:r>
              <a:rPr lang="zh-CN" altLang="en-US" sz="1500" b="1" dirty="0">
                <a:latin typeface="+mj-lt"/>
                <a:ea typeface="黑体" panose="02010609060101010101" pitchFamily="49" charset="-122"/>
              </a:rPr>
              <a:t>初始状态，输入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00</a:t>
            </a:r>
            <a:endParaRPr lang="zh-CN" altLang="en-US" sz="1500" b="1" dirty="0">
              <a:latin typeface="+mj-lt"/>
              <a:ea typeface="黑体" panose="02010609060101010101" pitchFamily="49" charset="-122"/>
            </a:endParaRPr>
          </a:p>
          <a:p>
            <a:pPr marL="180975" indent="-180975">
              <a:spcBef>
                <a:spcPts val="400"/>
              </a:spcBef>
            </a:pPr>
            <a:r>
              <a:rPr lang="zh-CN" altLang="en-US" sz="1500" b="1" dirty="0">
                <a:latin typeface="+mj-lt"/>
                <a:ea typeface="黑体" panose="02010609060101010101" pitchFamily="49" charset="-122"/>
              </a:rPr>
              <a:t>   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B—</a:t>
            </a:r>
            <a:r>
              <a:rPr lang="zh-CN" altLang="en-US" sz="1500" b="1" dirty="0">
                <a:ea typeface="黑体" panose="02010609060101010101" pitchFamily="49" charset="-122"/>
              </a:rPr>
              <a:t>输入</a:t>
            </a:r>
            <a:r>
              <a:rPr lang="en-US" altLang="zh-CN" sz="1500" b="1" dirty="0">
                <a:ea typeface="黑体" panose="02010609060101010101" pitchFamily="49" charset="-122"/>
              </a:rPr>
              <a:t>00</a:t>
            </a:r>
            <a:r>
              <a:rPr lang="zh-CN" altLang="en-US" sz="1500" b="1" dirty="0">
                <a:ea typeface="黑体" panose="02010609060101010101" pitchFamily="49" charset="-122"/>
              </a:rPr>
              <a:t>后，再输入</a:t>
            </a:r>
            <a:r>
              <a:rPr lang="en-US" altLang="zh-CN" sz="1500" b="1" dirty="0">
                <a:ea typeface="黑体" panose="02010609060101010101" pitchFamily="49" charset="-122"/>
              </a:rPr>
              <a:t>01</a:t>
            </a:r>
            <a:endParaRPr lang="zh-CN" altLang="en-US" sz="1500" b="1" dirty="0">
              <a:latin typeface="+mj-lt"/>
              <a:ea typeface="黑体" panose="02010609060101010101" pitchFamily="49" charset="-122"/>
            </a:endParaRPr>
          </a:p>
          <a:p>
            <a:pPr marL="180975" indent="-180975">
              <a:spcBef>
                <a:spcPts val="400"/>
              </a:spcBef>
            </a:pPr>
            <a:r>
              <a:rPr lang="zh-CN" altLang="en-US" sz="1500" b="1" dirty="0">
                <a:latin typeface="+mj-lt"/>
                <a:ea typeface="黑体" panose="02010609060101010101" pitchFamily="49" charset="-122"/>
              </a:rPr>
              <a:t>   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C—</a:t>
            </a:r>
            <a:r>
              <a:rPr lang="zh-CN" altLang="en-US" sz="1500" b="1" dirty="0">
                <a:ea typeface="黑体" panose="02010609060101010101" pitchFamily="49" charset="-122"/>
              </a:rPr>
              <a:t>输入</a:t>
            </a:r>
            <a:r>
              <a:rPr lang="en-US" altLang="zh-CN" sz="1500" b="1" dirty="0">
                <a:ea typeface="黑体" panose="02010609060101010101" pitchFamily="49" charset="-122"/>
              </a:rPr>
              <a:t>00</a:t>
            </a:r>
            <a:r>
              <a:rPr lang="zh-CN" altLang="en-US" sz="1500" b="1" dirty="0">
                <a:ea typeface="黑体" panose="02010609060101010101" pitchFamily="49" charset="-122"/>
              </a:rPr>
              <a:t>、</a:t>
            </a:r>
            <a:r>
              <a:rPr lang="en-US" altLang="zh-CN" sz="1500" b="1" dirty="0">
                <a:ea typeface="黑体" panose="02010609060101010101" pitchFamily="49" charset="-122"/>
              </a:rPr>
              <a:t>01</a:t>
            </a:r>
            <a:r>
              <a:rPr lang="zh-CN" altLang="en-US" sz="1500" b="1" dirty="0">
                <a:ea typeface="黑体" panose="02010609060101010101" pitchFamily="49" charset="-122"/>
              </a:rPr>
              <a:t>后，再输入</a:t>
            </a:r>
            <a:r>
              <a:rPr lang="en-US" altLang="zh-CN" sz="1500" b="1" dirty="0">
                <a:ea typeface="黑体" panose="02010609060101010101" pitchFamily="49" charset="-122"/>
              </a:rPr>
              <a:t>11</a:t>
            </a:r>
            <a:r>
              <a:rPr lang="zh-CN" altLang="en-US" sz="1500" b="1" dirty="0">
                <a:ea typeface="黑体" panose="02010609060101010101" pitchFamily="49" charset="-122"/>
              </a:rPr>
              <a:t>，且</a:t>
            </a:r>
            <a:r>
              <a:rPr lang="en-US" altLang="zh-CN" sz="1500" b="1" dirty="0">
                <a:ea typeface="黑体" panose="02010609060101010101" pitchFamily="49" charset="-122"/>
              </a:rPr>
              <a:t>Z=1</a:t>
            </a:r>
          </a:p>
          <a:p>
            <a:pPr marL="180975" indent="-180975">
              <a:spcBef>
                <a:spcPts val="400"/>
              </a:spcBef>
            </a:pPr>
            <a:r>
              <a:rPr lang="en-US" altLang="zh-CN" sz="1500" b="1" dirty="0">
                <a:ea typeface="黑体" panose="02010609060101010101" pitchFamily="49" charset="-122"/>
              </a:rPr>
              <a:t>        E—</a:t>
            </a:r>
            <a:r>
              <a:rPr lang="zh-CN" altLang="en-US" sz="1500" b="1" dirty="0">
                <a:ea typeface="黑体" panose="02010609060101010101" pitchFamily="49" charset="-122"/>
              </a:rPr>
              <a:t>错误状态</a:t>
            </a:r>
            <a:endParaRPr kumimoji="0" lang="en-US" altLang="zh-CN" sz="1500" b="1" dirty="0"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88" name="Group 2"/>
          <p:cNvGraphicFramePr>
            <a:graphicFrameLocks noGrp="1"/>
          </p:cNvGraphicFramePr>
          <p:nvPr/>
        </p:nvGraphicFramePr>
        <p:xfrm>
          <a:off x="4283968" y="3328382"/>
          <a:ext cx="4608512" cy="1691640"/>
        </p:xfrm>
        <a:graphic>
          <a:graphicData uri="http://schemas.openxmlformats.org/drawingml/2006/table">
            <a:tbl>
              <a:tblPr/>
              <a:tblGrid>
                <a:gridCol w="43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860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</a:rPr>
                        <a:t>现态</a:t>
                      </a:r>
                      <a:endParaRPr lang="en-US" altLang="zh-CN" sz="1400" b="1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输出</a:t>
                      </a:r>
                      <a:endParaRPr lang="en-US" altLang="zh-CN" sz="14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5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00</a:t>
                      </a:r>
                    </a:p>
                  </a:txBody>
                  <a:tcPr marL="0" marR="0" marT="34290" marB="3429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01</a:t>
                      </a:r>
                    </a:p>
                  </a:txBody>
                  <a:tcPr marL="0" marR="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11</a:t>
                      </a:r>
                    </a:p>
                  </a:txBody>
                  <a:tcPr marL="0" marR="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10</a:t>
                      </a:r>
                    </a:p>
                  </a:txBody>
                  <a:tcPr marL="0" marR="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9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 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2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组合 26"/>
          <p:cNvGrpSpPr/>
          <p:nvPr/>
        </p:nvGrpSpPr>
        <p:grpSpPr>
          <a:xfrm>
            <a:off x="5724128" y="1510950"/>
            <a:ext cx="3014811" cy="1752305"/>
            <a:chOff x="909117" y="1111845"/>
            <a:chExt cx="3014811" cy="1752305"/>
          </a:xfrm>
        </p:grpSpPr>
        <p:sp>
          <p:nvSpPr>
            <p:cNvPr id="28" name="Freeform 19"/>
            <p:cNvSpPr/>
            <p:nvPr/>
          </p:nvSpPr>
          <p:spPr bwMode="auto">
            <a:xfrm rot="8684165">
              <a:off x="1671327" y="2033313"/>
              <a:ext cx="1260000" cy="288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29" name="Freeform 19"/>
            <p:cNvSpPr/>
            <p:nvPr/>
          </p:nvSpPr>
          <p:spPr bwMode="auto">
            <a:xfrm rot="10800000">
              <a:off x="1659286" y="2614751"/>
              <a:ext cx="972000" cy="108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headEnd type="triangle" w="med" len="lg"/>
              <a:tailEnd type="non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30" name="Freeform 20"/>
            <p:cNvSpPr/>
            <p:nvPr/>
          </p:nvSpPr>
          <p:spPr bwMode="auto">
            <a:xfrm rot="5400000">
              <a:off x="2511064" y="1942321"/>
              <a:ext cx="828000" cy="108000"/>
            </a:xfrm>
            <a:custGeom>
              <a:avLst/>
              <a:gdLst>
                <a:gd name="T0" fmla="*/ 0 w 953"/>
                <a:gd name="T1" fmla="*/ 0 h 181"/>
                <a:gd name="T2" fmla="*/ 6 w 953"/>
                <a:gd name="T3" fmla="*/ 0 h 181"/>
                <a:gd name="T4" fmla="*/ 12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31" name="Freeform 22"/>
            <p:cNvSpPr/>
            <p:nvPr/>
          </p:nvSpPr>
          <p:spPr bwMode="auto">
            <a:xfrm rot="4825010" flipH="1" flipV="1">
              <a:off x="1007640" y="2104247"/>
              <a:ext cx="828000" cy="108000"/>
            </a:xfrm>
            <a:custGeom>
              <a:avLst/>
              <a:gdLst>
                <a:gd name="T0" fmla="*/ 0 w 953"/>
                <a:gd name="T1" fmla="*/ 0 h 181"/>
                <a:gd name="T2" fmla="*/ 5 w 953"/>
                <a:gd name="T3" fmla="*/ 0 h 181"/>
                <a:gd name="T4" fmla="*/ 11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32" name="Text Box 23"/>
            <p:cNvSpPr txBox="1">
              <a:spLocks noChangeArrowheads="1"/>
            </p:cNvSpPr>
            <p:nvPr/>
          </p:nvSpPr>
          <p:spPr bwMode="auto">
            <a:xfrm>
              <a:off x="909117" y="1183853"/>
              <a:ext cx="432048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00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33" name="Freeform 24"/>
            <p:cNvSpPr/>
            <p:nvPr/>
          </p:nvSpPr>
          <p:spPr bwMode="auto">
            <a:xfrm>
              <a:off x="1156551" y="1263231"/>
              <a:ext cx="396000" cy="288000"/>
            </a:xfrm>
            <a:custGeom>
              <a:avLst/>
              <a:gdLst>
                <a:gd name="T0" fmla="*/ 152 w 438"/>
                <a:gd name="T1" fmla="*/ 26 h 416"/>
                <a:gd name="T2" fmla="*/ 89 w 438"/>
                <a:gd name="T3" fmla="*/ 3 h 416"/>
                <a:gd name="T4" fmla="*/ 26 w 438"/>
                <a:gd name="T5" fmla="*/ 16 h 416"/>
                <a:gd name="T6" fmla="*/ 11 w 438"/>
                <a:gd name="T7" fmla="*/ 42 h 416"/>
                <a:gd name="T8" fmla="*/ 89 w 438"/>
                <a:gd name="T9" fmla="*/ 42 h 4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8"/>
                <a:gd name="T16" fmla="*/ 0 h 416"/>
                <a:gd name="T17" fmla="*/ 438 w 438"/>
                <a:gd name="T18" fmla="*/ 416 h 4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8" h="416">
                  <a:moveTo>
                    <a:pt x="438" y="242"/>
                  </a:moveTo>
                  <a:cubicBezTo>
                    <a:pt x="377" y="136"/>
                    <a:pt x="317" y="30"/>
                    <a:pt x="257" y="15"/>
                  </a:cubicBezTo>
                  <a:cubicBezTo>
                    <a:pt x="197" y="0"/>
                    <a:pt x="114" y="91"/>
                    <a:pt x="76" y="151"/>
                  </a:cubicBezTo>
                  <a:cubicBezTo>
                    <a:pt x="38" y="211"/>
                    <a:pt x="0" y="340"/>
                    <a:pt x="30" y="378"/>
                  </a:cubicBezTo>
                  <a:cubicBezTo>
                    <a:pt x="60" y="416"/>
                    <a:pt x="219" y="378"/>
                    <a:pt x="257" y="378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34" name="Text Box 25"/>
            <p:cNvSpPr txBox="1">
              <a:spLocks noChangeArrowheads="1"/>
            </p:cNvSpPr>
            <p:nvPr/>
          </p:nvSpPr>
          <p:spPr bwMode="auto">
            <a:xfrm>
              <a:off x="1947702" y="1111845"/>
              <a:ext cx="392050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01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35" name="Text Box 26"/>
            <p:cNvSpPr txBox="1">
              <a:spLocks noChangeArrowheads="1"/>
            </p:cNvSpPr>
            <p:nvPr/>
          </p:nvSpPr>
          <p:spPr bwMode="auto">
            <a:xfrm>
              <a:off x="2915816" y="1851670"/>
              <a:ext cx="679266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01,10</a:t>
              </a:r>
            </a:p>
          </p:txBody>
        </p:sp>
        <p:sp>
          <p:nvSpPr>
            <p:cNvPr id="36" name="Text Box 27"/>
            <p:cNvSpPr txBox="1">
              <a:spLocks noChangeArrowheads="1"/>
            </p:cNvSpPr>
            <p:nvPr/>
          </p:nvSpPr>
          <p:spPr bwMode="auto">
            <a:xfrm rot="19440473">
              <a:off x="2246420" y="1922387"/>
              <a:ext cx="470310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11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37" name="Text Box 29"/>
            <p:cNvSpPr txBox="1">
              <a:spLocks noChangeArrowheads="1"/>
            </p:cNvSpPr>
            <p:nvPr/>
          </p:nvSpPr>
          <p:spPr bwMode="auto">
            <a:xfrm>
              <a:off x="1697013" y="2425289"/>
              <a:ext cx="1008112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01,10,11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38" name="Text Box 30"/>
            <p:cNvSpPr txBox="1">
              <a:spLocks noChangeArrowheads="1"/>
            </p:cNvSpPr>
            <p:nvPr/>
          </p:nvSpPr>
          <p:spPr bwMode="auto">
            <a:xfrm>
              <a:off x="1023887" y="1944274"/>
              <a:ext cx="470820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00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961419" y="1501358"/>
              <a:ext cx="57763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00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40" name="Freeform 33"/>
            <p:cNvSpPr/>
            <p:nvPr/>
          </p:nvSpPr>
          <p:spPr bwMode="auto">
            <a:xfrm>
              <a:off x="2780575" y="2576150"/>
              <a:ext cx="324000" cy="288000"/>
            </a:xfrm>
            <a:custGeom>
              <a:avLst/>
              <a:gdLst>
                <a:gd name="T0" fmla="*/ 192 w 344"/>
                <a:gd name="T1" fmla="*/ 0 h 336"/>
                <a:gd name="T2" fmla="*/ 336 w 344"/>
                <a:gd name="T3" fmla="*/ 144 h 336"/>
                <a:gd name="T4" fmla="*/ 144 w 344"/>
                <a:gd name="T5" fmla="*/ 336 h 336"/>
                <a:gd name="T6" fmla="*/ 0 w 344"/>
                <a:gd name="T7" fmla="*/ 144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4"/>
                <a:gd name="T13" fmla="*/ 0 h 336"/>
                <a:gd name="T14" fmla="*/ 344 w 344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4" h="336">
                  <a:moveTo>
                    <a:pt x="192" y="0"/>
                  </a:moveTo>
                  <a:cubicBezTo>
                    <a:pt x="268" y="44"/>
                    <a:pt x="344" y="88"/>
                    <a:pt x="336" y="144"/>
                  </a:cubicBezTo>
                  <a:cubicBezTo>
                    <a:pt x="328" y="200"/>
                    <a:pt x="200" y="336"/>
                    <a:pt x="144" y="336"/>
                  </a:cubicBezTo>
                  <a:cubicBezTo>
                    <a:pt x="88" y="336"/>
                    <a:pt x="44" y="240"/>
                    <a:pt x="0" y="144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2946694" y="2388244"/>
              <a:ext cx="97723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01,10,11</a:t>
              </a:r>
            </a:p>
          </p:txBody>
        </p:sp>
        <p:grpSp>
          <p:nvGrpSpPr>
            <p:cNvPr id="4" name="组合 73"/>
            <p:cNvGrpSpPr/>
            <p:nvPr/>
          </p:nvGrpSpPr>
          <p:grpSpPr>
            <a:xfrm>
              <a:off x="1351816" y="2331991"/>
              <a:ext cx="428628" cy="360000"/>
              <a:chOff x="185707" y="1643056"/>
              <a:chExt cx="428628" cy="360000"/>
            </a:xfrm>
          </p:grpSpPr>
          <p:sp>
            <p:nvSpPr>
              <p:cNvPr id="56" name="椭圆 5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C/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" name="Freeform 19"/>
            <p:cNvSpPr/>
            <p:nvPr/>
          </p:nvSpPr>
          <p:spPr bwMode="auto">
            <a:xfrm>
              <a:off x="1670905" y="1369545"/>
              <a:ext cx="972000" cy="108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grpSp>
          <p:nvGrpSpPr>
            <p:cNvPr id="5" name="组合 76"/>
            <p:cNvGrpSpPr/>
            <p:nvPr/>
          </p:nvGrpSpPr>
          <p:grpSpPr>
            <a:xfrm>
              <a:off x="2571024" y="2331991"/>
              <a:ext cx="428628" cy="360000"/>
              <a:chOff x="185707" y="1643056"/>
              <a:chExt cx="428628" cy="360000"/>
            </a:xfrm>
          </p:grpSpPr>
          <p:sp>
            <p:nvSpPr>
              <p:cNvPr id="54" name="椭圆 5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E/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5" name="Freeform 19"/>
            <p:cNvSpPr/>
            <p:nvPr/>
          </p:nvSpPr>
          <p:spPr bwMode="auto">
            <a:xfrm rot="10800000">
              <a:off x="1661381" y="1648997"/>
              <a:ext cx="972000" cy="108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grpSp>
          <p:nvGrpSpPr>
            <p:cNvPr id="6" name="组合 67"/>
            <p:cNvGrpSpPr/>
            <p:nvPr/>
          </p:nvGrpSpPr>
          <p:grpSpPr>
            <a:xfrm>
              <a:off x="1342291" y="1406109"/>
              <a:ext cx="428628" cy="360000"/>
              <a:chOff x="185707" y="1643056"/>
              <a:chExt cx="428628" cy="360000"/>
            </a:xfrm>
          </p:grpSpPr>
          <p:sp>
            <p:nvSpPr>
              <p:cNvPr id="52" name="椭圆 5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R/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组合 70"/>
            <p:cNvGrpSpPr/>
            <p:nvPr/>
          </p:nvGrpSpPr>
          <p:grpSpPr>
            <a:xfrm>
              <a:off x="2561499" y="1406109"/>
              <a:ext cx="428628" cy="360000"/>
              <a:chOff x="185707" y="1643056"/>
              <a:chExt cx="428628" cy="360000"/>
            </a:xfrm>
          </p:grpSpPr>
          <p:sp>
            <p:nvSpPr>
              <p:cNvPr id="50" name="椭圆 4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B/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" name="Freeform 19"/>
            <p:cNvSpPr/>
            <p:nvPr/>
          </p:nvSpPr>
          <p:spPr bwMode="auto">
            <a:xfrm rot="12752910">
              <a:off x="1415762" y="2080806"/>
              <a:ext cx="1260000" cy="216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headEnd type="triangle" w="med" len="lg"/>
              <a:tailEnd type="non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49" name="Text Box 27"/>
            <p:cNvSpPr txBox="1">
              <a:spLocks noChangeArrowheads="1"/>
            </p:cNvSpPr>
            <p:nvPr/>
          </p:nvSpPr>
          <p:spPr bwMode="auto">
            <a:xfrm rot="2319536">
              <a:off x="1624538" y="1957542"/>
              <a:ext cx="67667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10,11</a:t>
              </a:r>
              <a:endParaRPr kumimoji="0"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</p:grp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5004048" y="2931790"/>
            <a:ext cx="108012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摩尔型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/>
      <p:bldP spid="25" grpId="0"/>
      <p:bldP spid="26" grpId="0" autoUpdateAnimBg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 bwMode="auto">
          <a:xfrm>
            <a:off x="8248594" y="1736229"/>
            <a:ext cx="355854" cy="29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6247234" y="1726704"/>
            <a:ext cx="845046" cy="29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5076056" y="1736229"/>
            <a:ext cx="1162800" cy="29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6" name="Picture 11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55526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448494" y="2787774"/>
            <a:ext cx="1857388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Text Box 17"/>
          <p:cNvSpPr txBox="1">
            <a:spLocks noChangeArrowheads="1"/>
          </p:cNvSpPr>
          <p:nvPr/>
        </p:nvSpPr>
        <p:spPr bwMode="auto">
          <a:xfrm>
            <a:off x="448494" y="3219822"/>
            <a:ext cx="1535093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状态分配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808534" y="4011910"/>
            <a:ext cx="1584176" cy="5601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1600" b="1" dirty="0">
                <a:ea typeface="宋体" panose="02010600030101010101" pitchFamily="2" charset="-122"/>
              </a:rPr>
              <a:t>R: 00,  B</a:t>
            </a:r>
            <a:r>
              <a:rPr kumimoji="0" lang="en-US" altLang="zh-CN" sz="1600" b="1" baseline="-25000" dirty="0">
                <a:ea typeface="宋体" panose="02010600030101010101" pitchFamily="2" charset="-122"/>
              </a:rPr>
              <a:t> </a:t>
            </a:r>
            <a:r>
              <a:rPr lang="en-US" altLang="zh-CN" sz="1600" b="1" dirty="0">
                <a:ea typeface="宋体" panose="02010600030101010101" pitchFamily="2" charset="-122"/>
              </a:rPr>
              <a:t>: 01</a:t>
            </a:r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1600" b="1" dirty="0">
                <a:ea typeface="宋体" panose="02010600030101010101" pitchFamily="2" charset="-122"/>
              </a:rPr>
              <a:t>E</a:t>
            </a:r>
            <a:r>
              <a:rPr kumimoji="0" lang="en-US" altLang="zh-CN" sz="1600" b="1" baseline="-25000" dirty="0">
                <a:ea typeface="宋体" panose="02010600030101010101" pitchFamily="2" charset="-122"/>
              </a:rPr>
              <a:t> </a:t>
            </a:r>
            <a:r>
              <a:rPr kumimoji="0" lang="en-US" altLang="zh-CN" sz="1600" b="1" dirty="0">
                <a:ea typeface="宋体" panose="02010600030101010101" pitchFamily="2" charset="-122"/>
              </a:rPr>
              <a:t>: </a:t>
            </a:r>
            <a:r>
              <a:rPr lang="en-US" altLang="zh-CN" sz="1600" b="1" dirty="0">
                <a:ea typeface="宋体" panose="02010600030101010101" pitchFamily="2" charset="-122"/>
              </a:rPr>
              <a:t>10,  C: 11</a:t>
            </a: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2339752" y="3335263"/>
            <a:ext cx="2160240" cy="2862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66750" indent="-666750" algn="just">
              <a:lnSpc>
                <a:spcPct val="70000"/>
              </a:lnSpc>
              <a:spcBef>
                <a:spcPct val="50000"/>
              </a:spcBef>
              <a:defRPr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需要</a:t>
            </a:r>
            <a:r>
              <a:rPr lang="en-US" altLang="zh-CN" sz="1800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1800" b="1" dirty="0">
                <a:latin typeface="+mj-lt"/>
                <a:ea typeface="黑体" panose="02010609060101010101" pitchFamily="49" charset="-122"/>
              </a:rPr>
              <a:t>JK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grpSp>
        <p:nvGrpSpPr>
          <p:cNvPr id="2" name="组合 93"/>
          <p:cNvGrpSpPr/>
          <p:nvPr/>
        </p:nvGrpSpPr>
        <p:grpSpPr>
          <a:xfrm>
            <a:off x="2752750" y="3723878"/>
            <a:ext cx="1224094" cy="852467"/>
            <a:chOff x="2339752" y="3507854"/>
            <a:chExt cx="1224094" cy="852467"/>
          </a:xfrm>
        </p:grpSpPr>
        <p:grpSp>
          <p:nvGrpSpPr>
            <p:cNvPr id="3" name="Group 34"/>
            <p:cNvGrpSpPr/>
            <p:nvPr/>
          </p:nvGrpSpPr>
          <p:grpSpPr bwMode="auto">
            <a:xfrm>
              <a:off x="2339752" y="3507854"/>
              <a:ext cx="1224094" cy="852467"/>
              <a:chOff x="2722" y="2490"/>
              <a:chExt cx="1934" cy="990"/>
            </a:xfrm>
          </p:grpSpPr>
          <p:sp>
            <p:nvSpPr>
              <p:cNvPr id="54" name="Rectangle 35"/>
              <p:cNvSpPr>
                <a:spLocks noChangeArrowheads="1"/>
              </p:cNvSpPr>
              <p:nvPr/>
            </p:nvSpPr>
            <p:spPr bwMode="auto">
              <a:xfrm>
                <a:off x="3888" y="3112"/>
                <a:ext cx="768" cy="32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lang="en-US" altLang="zh-CN" sz="1400" b="1" dirty="0"/>
              </a:p>
            </p:txBody>
          </p:sp>
          <p:sp>
            <p:nvSpPr>
              <p:cNvPr id="62" name="Rectangle 36"/>
              <p:cNvSpPr>
                <a:spLocks noChangeArrowheads="1"/>
              </p:cNvSpPr>
              <p:nvPr/>
            </p:nvSpPr>
            <p:spPr bwMode="auto">
              <a:xfrm>
                <a:off x="3120" y="3112"/>
                <a:ext cx="768" cy="32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400" b="1" dirty="0">
                    <a:ea typeface="宋体" panose="02010600030101010101" pitchFamily="2" charset="-122"/>
                  </a:rPr>
                  <a:t>E</a:t>
                </a:r>
                <a:endParaRPr lang="en-US" altLang="zh-CN" sz="1400" b="1" dirty="0"/>
              </a:p>
            </p:txBody>
          </p:sp>
          <p:sp>
            <p:nvSpPr>
              <p:cNvPr id="78" name="Rectangle 37"/>
              <p:cNvSpPr>
                <a:spLocks noChangeArrowheads="1"/>
              </p:cNvSpPr>
              <p:nvPr/>
            </p:nvSpPr>
            <p:spPr bwMode="auto">
              <a:xfrm>
                <a:off x="3888" y="2784"/>
                <a:ext cx="768" cy="328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400" b="1" dirty="0">
                    <a:ea typeface="宋体" panose="02010600030101010101" pitchFamily="2" charset="-122"/>
                  </a:rPr>
                  <a:t>B</a:t>
                </a:r>
                <a:endParaRPr lang="en-US" altLang="zh-CN" sz="1400" b="1" dirty="0"/>
              </a:p>
            </p:txBody>
          </p:sp>
          <p:sp>
            <p:nvSpPr>
              <p:cNvPr id="79" name="Rectangle 3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768" cy="328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400" b="1" dirty="0"/>
                  <a:t>R</a:t>
                </a:r>
              </a:p>
            </p:txBody>
          </p:sp>
          <p:sp>
            <p:nvSpPr>
              <p:cNvPr id="80" name="Line 39"/>
              <p:cNvSpPr>
                <a:spLocks noChangeShapeType="1"/>
              </p:cNvSpPr>
              <p:nvPr/>
            </p:nvSpPr>
            <p:spPr bwMode="auto">
              <a:xfrm>
                <a:off x="3120" y="2784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1" name="Line 40"/>
              <p:cNvSpPr>
                <a:spLocks noChangeShapeType="1"/>
              </p:cNvSpPr>
              <p:nvPr/>
            </p:nvSpPr>
            <p:spPr bwMode="auto">
              <a:xfrm>
                <a:off x="3120" y="3112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2" name="Line 41"/>
              <p:cNvSpPr>
                <a:spLocks noChangeShapeType="1"/>
              </p:cNvSpPr>
              <p:nvPr/>
            </p:nvSpPr>
            <p:spPr bwMode="auto">
              <a:xfrm>
                <a:off x="3120" y="343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3" name="Line 42"/>
              <p:cNvSpPr>
                <a:spLocks noChangeShapeType="1"/>
              </p:cNvSpPr>
              <p:nvPr/>
            </p:nvSpPr>
            <p:spPr bwMode="auto">
              <a:xfrm>
                <a:off x="3120" y="2784"/>
                <a:ext cx="0" cy="654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4" name="Line 43"/>
              <p:cNvSpPr>
                <a:spLocks noChangeShapeType="1"/>
              </p:cNvSpPr>
              <p:nvPr/>
            </p:nvSpPr>
            <p:spPr bwMode="auto">
              <a:xfrm>
                <a:off x="3888" y="2784"/>
                <a:ext cx="0" cy="654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5" name="Line 44"/>
              <p:cNvSpPr>
                <a:spLocks noChangeShapeType="1"/>
              </p:cNvSpPr>
              <p:nvPr/>
            </p:nvSpPr>
            <p:spPr bwMode="auto">
              <a:xfrm>
                <a:off x="4656" y="3112"/>
                <a:ext cx="0" cy="32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6" name="Line 45"/>
              <p:cNvSpPr>
                <a:spLocks noChangeShapeType="1"/>
              </p:cNvSpPr>
              <p:nvPr/>
            </p:nvSpPr>
            <p:spPr bwMode="auto">
              <a:xfrm>
                <a:off x="4656" y="2784"/>
                <a:ext cx="0" cy="328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7" name="Line 46"/>
              <p:cNvSpPr>
                <a:spLocks noChangeShapeType="1"/>
              </p:cNvSpPr>
              <p:nvPr/>
            </p:nvSpPr>
            <p:spPr bwMode="auto">
              <a:xfrm>
                <a:off x="2949" y="2657"/>
                <a:ext cx="171" cy="127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8" name="Text Box 47"/>
              <p:cNvSpPr txBox="1">
                <a:spLocks noChangeArrowheads="1"/>
              </p:cNvSpPr>
              <p:nvPr/>
            </p:nvSpPr>
            <p:spPr bwMode="auto">
              <a:xfrm>
                <a:off x="3312" y="2490"/>
                <a:ext cx="1230" cy="357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400" b="1" dirty="0"/>
                  <a:t>0       1</a:t>
                </a:r>
              </a:p>
            </p:txBody>
          </p:sp>
          <p:sp>
            <p:nvSpPr>
              <p:cNvPr id="89" name="Text Box 48"/>
              <p:cNvSpPr txBox="1">
                <a:spLocks noChangeArrowheads="1"/>
              </p:cNvSpPr>
              <p:nvPr/>
            </p:nvSpPr>
            <p:spPr bwMode="auto">
              <a:xfrm>
                <a:off x="2722" y="2800"/>
                <a:ext cx="384" cy="680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400" b="1" dirty="0"/>
                  <a:t>0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400" b="1" dirty="0"/>
                  <a:t>1</a:t>
                </a:r>
              </a:p>
            </p:txBody>
          </p:sp>
        </p:grpSp>
        <p:sp>
          <p:nvSpPr>
            <p:cNvPr id="91" name="Rectangle 36"/>
            <p:cNvSpPr>
              <a:spLocks noChangeArrowheads="1"/>
            </p:cNvSpPr>
            <p:nvPr/>
          </p:nvSpPr>
          <p:spPr bwMode="auto">
            <a:xfrm>
              <a:off x="3069357" y="4036293"/>
              <a:ext cx="486093" cy="280711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400" b="1" dirty="0">
                  <a:ea typeface="宋体" panose="02010600030101010101" pitchFamily="2" charset="-122"/>
                </a:rPr>
                <a:t>C</a:t>
              </a:r>
              <a:endParaRPr lang="en-US" altLang="zh-CN" sz="1400" b="1" dirty="0"/>
            </a:p>
          </p:txBody>
        </p:sp>
      </p:grpSp>
      <p:graphicFrame>
        <p:nvGraphicFramePr>
          <p:cNvPr id="93" name="表格 92"/>
          <p:cNvGraphicFramePr>
            <a:graphicFrameLocks noGrp="1"/>
          </p:cNvGraphicFramePr>
          <p:nvPr/>
        </p:nvGraphicFramePr>
        <p:xfrm>
          <a:off x="5076056" y="1328172"/>
          <a:ext cx="3528392" cy="333181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9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9706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    现态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   输入      输出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X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altLang="zh-CN" sz="1200" b="1" kern="1200" baseline="-25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kern="1200" baseline="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Q</a:t>
                      </a:r>
                      <a:r>
                        <a:rPr lang="en-US" altLang="zh-CN" sz="1200" b="1" kern="1200" baseline="-25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200" b="1" kern="1200" baseline="300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200" b="1" kern="1200" baseline="30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J</a:t>
                      </a:r>
                      <a:r>
                        <a:rPr lang="en-US" altLang="zh-CN" sz="12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altLang="zh-CN" sz="12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J</a:t>
                      </a:r>
                      <a:r>
                        <a:rPr lang="en-US" altLang="zh-CN" sz="12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altLang="zh-CN" sz="12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>
                          <a:solidFill>
                            <a:srgbClr val="C00000"/>
                          </a:solidFill>
                          <a:latin typeface="+mj-lt"/>
                        </a:rPr>
                        <a:t>Z</a:t>
                      </a:r>
                      <a:endParaRPr lang="zh-CN" altLang="en-US" sz="1200" b="1" baseline="-250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2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0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56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8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1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56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 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95" name="Text Box 10"/>
          <p:cNvSpPr txBox="1">
            <a:spLocks noChangeArrowheads="1"/>
          </p:cNvSpPr>
          <p:nvPr/>
        </p:nvSpPr>
        <p:spPr bwMode="auto">
          <a:xfrm>
            <a:off x="4932040" y="906274"/>
            <a:ext cx="28803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4.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 </a:t>
            </a:r>
          </a:p>
        </p:txBody>
      </p:sp>
      <p:graphicFrame>
        <p:nvGraphicFramePr>
          <p:cNvPr id="75" name="Group 2"/>
          <p:cNvGraphicFramePr>
            <a:graphicFrameLocks noGrp="1"/>
          </p:cNvGraphicFramePr>
          <p:nvPr/>
        </p:nvGraphicFramePr>
        <p:xfrm>
          <a:off x="232470" y="843558"/>
          <a:ext cx="4608512" cy="1691640"/>
        </p:xfrm>
        <a:graphic>
          <a:graphicData uri="http://schemas.openxmlformats.org/drawingml/2006/table">
            <a:tbl>
              <a:tblPr/>
              <a:tblGrid>
                <a:gridCol w="43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860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</a:rPr>
                        <a:t>现态</a:t>
                      </a:r>
                      <a:endParaRPr lang="en-US" altLang="zh-CN" sz="1400" b="1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输出</a:t>
                      </a:r>
                      <a:endParaRPr lang="en-US" altLang="zh-CN" sz="14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5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00</a:t>
                      </a:r>
                    </a:p>
                  </a:txBody>
                  <a:tcPr marL="0" marR="0" marT="34290" marB="3429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01</a:t>
                      </a:r>
                    </a:p>
                  </a:txBody>
                  <a:tcPr marL="0" marR="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11</a:t>
                      </a:r>
                    </a:p>
                  </a:txBody>
                  <a:tcPr marL="0" marR="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10</a:t>
                      </a:r>
                    </a:p>
                  </a:txBody>
                  <a:tcPr marL="0" marR="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9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 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2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组合 12"/>
          <p:cNvGrpSpPr/>
          <p:nvPr/>
        </p:nvGrpSpPr>
        <p:grpSpPr bwMode="auto">
          <a:xfrm>
            <a:off x="7141047" y="699542"/>
            <a:ext cx="2016223" cy="529032"/>
            <a:chOff x="4429119" y="1000114"/>
            <a:chExt cx="1113777" cy="249023"/>
          </a:xfrm>
        </p:grpSpPr>
        <p:sp>
          <p:nvSpPr>
            <p:cNvPr id="101" name="圆角矩形标注 13"/>
            <p:cNvSpPr>
              <a:spLocks noChangeArrowheads="1"/>
            </p:cNvSpPr>
            <p:nvPr/>
          </p:nvSpPr>
          <p:spPr bwMode="auto">
            <a:xfrm>
              <a:off x="4462660" y="1011897"/>
              <a:ext cx="994334" cy="237240"/>
            </a:xfrm>
            <a:prstGeom prst="wedgeRoundRectCallout">
              <a:avLst>
                <a:gd name="adj1" fmla="val -31797"/>
                <a:gd name="adj2" fmla="val 73297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400"/>
            </a:p>
          </p:txBody>
        </p:sp>
        <p:sp>
          <p:nvSpPr>
            <p:cNvPr id="102" name="Text Box 34"/>
            <p:cNvSpPr txBox="1">
              <a:spLocks noChangeArrowheads="1"/>
            </p:cNvSpPr>
            <p:nvPr/>
          </p:nvSpPr>
          <p:spPr bwMode="auto">
            <a:xfrm>
              <a:off x="4429119" y="1000114"/>
              <a:ext cx="1113777" cy="246286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ea typeface="黑体" panose="02010609060101010101" pitchFamily="49" charset="-122"/>
                </a:rPr>
                <a:t>J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2</a:t>
              </a:r>
              <a:r>
                <a:rPr lang="en-US" altLang="zh-CN" sz="1400" b="1" dirty="0">
                  <a:ea typeface="黑体" panose="02010609060101010101" pitchFamily="49" charset="-122"/>
                </a:rPr>
                <a:t> K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2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：看</a:t>
              </a:r>
              <a:r>
                <a:rPr lang="en-US" altLang="zh-CN" sz="1400" b="1" dirty="0">
                  <a:solidFill>
                    <a:schemeClr val="dk1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2</a:t>
              </a:r>
              <a:r>
                <a:rPr lang="en-US" altLang="zh-CN" sz="1400" b="1" baseline="30000" dirty="0">
                  <a:solidFill>
                    <a:schemeClr val="dk1"/>
                  </a:solidFill>
                </a:rPr>
                <a:t>n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1400" b="1" dirty="0"/>
                <a:t>Q</a:t>
              </a:r>
              <a:r>
                <a:rPr lang="en-US" altLang="zh-CN" sz="1400" b="1" baseline="-25000" dirty="0"/>
                <a:t>2</a:t>
              </a:r>
              <a:r>
                <a:rPr lang="en-US" altLang="zh-CN" sz="1400" b="1" baseline="30000" dirty="0"/>
                <a:t>n+1</a:t>
              </a:r>
            </a:p>
            <a:p>
              <a:r>
                <a:rPr lang="en-US" altLang="zh-CN" sz="1400" b="1" dirty="0">
                  <a:ea typeface="黑体" panose="02010609060101010101" pitchFamily="49" charset="-122"/>
                </a:rPr>
                <a:t>J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1</a:t>
              </a:r>
              <a:r>
                <a:rPr lang="en-US" altLang="zh-CN" sz="1400" b="1" dirty="0">
                  <a:ea typeface="黑体" panose="02010609060101010101" pitchFamily="49" charset="-122"/>
                </a:rPr>
                <a:t> K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：看</a:t>
              </a:r>
              <a:r>
                <a:rPr lang="en-US" altLang="zh-CN" sz="1400" b="1" dirty="0">
                  <a:solidFill>
                    <a:schemeClr val="dk1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chemeClr val="dk1"/>
                  </a:solidFill>
                </a:rPr>
                <a:t>1</a:t>
              </a:r>
              <a:r>
                <a:rPr lang="en-US" altLang="zh-CN" sz="1400" b="1" baseline="30000" dirty="0">
                  <a:solidFill>
                    <a:schemeClr val="dk1"/>
                  </a:solidFill>
                </a:rPr>
                <a:t>n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1400" b="1" dirty="0"/>
                <a:t>Q</a:t>
              </a:r>
              <a:r>
                <a:rPr lang="en-US" altLang="zh-CN" sz="1400" b="1" baseline="-25000" dirty="0"/>
                <a:t>1</a:t>
              </a:r>
              <a:r>
                <a:rPr lang="en-US" altLang="zh-CN" sz="1400" b="1" baseline="30000" dirty="0"/>
                <a:t>n+1</a:t>
              </a:r>
            </a:p>
          </p:txBody>
        </p:sp>
      </p:grp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1726849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ldLvl="0" animBg="1"/>
      <p:bldP spid="92" grpId="0" bldLvl="0" animBg="1"/>
      <p:bldP spid="96" grpId="0" bldLvl="0" animBg="1"/>
      <p:bldP spid="36" grpId="0" bldLvl="0" animBg="1" autoUpdateAnimBg="0"/>
      <p:bldP spid="37" grpId="0" bldLvl="0" animBg="1" autoUpdateAnimBg="0"/>
      <p:bldP spid="39" grpId="0" bldLvl="0" animBg="1" autoUpdateAnimBg="0"/>
      <p:bldP spid="40" grpId="0" bldLvl="0" animBg="1" autoUpdateAnimBg="0"/>
      <p:bldP spid="9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55526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67"/>
          <p:cNvSpPr>
            <a:spLocks noChangeArrowheads="1"/>
          </p:cNvSpPr>
          <p:nvPr/>
        </p:nvSpPr>
        <p:spPr bwMode="auto">
          <a:xfrm>
            <a:off x="770434" y="646584"/>
            <a:ext cx="208756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5</a:t>
            </a:r>
            <a:r>
              <a: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卡诺图化简</a:t>
            </a:r>
          </a:p>
        </p:txBody>
      </p:sp>
      <p:grpSp>
        <p:nvGrpSpPr>
          <p:cNvPr id="2" name="组合 113"/>
          <p:cNvGrpSpPr/>
          <p:nvPr/>
        </p:nvGrpSpPr>
        <p:grpSpPr bwMode="auto">
          <a:xfrm>
            <a:off x="6228184" y="915566"/>
            <a:ext cx="2102841" cy="1538298"/>
            <a:chOff x="5952534" y="1050876"/>
            <a:chExt cx="2973623" cy="2043616"/>
          </a:xfrm>
        </p:grpSpPr>
        <p:sp>
          <p:nvSpPr>
            <p:cNvPr id="183" name="Rectangle 6"/>
            <p:cNvSpPr>
              <a:spLocks noChangeArrowheads="1"/>
            </p:cNvSpPr>
            <p:nvPr/>
          </p:nvSpPr>
          <p:spPr bwMode="auto">
            <a:xfrm>
              <a:off x="8301459" y="1975170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184" name="Rectangle 7"/>
            <p:cNvSpPr>
              <a:spLocks noChangeArrowheads="1"/>
            </p:cNvSpPr>
            <p:nvPr/>
          </p:nvSpPr>
          <p:spPr bwMode="auto">
            <a:xfrm>
              <a:off x="7782347" y="1975170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185" name="Rectangle 8"/>
            <p:cNvSpPr>
              <a:spLocks noChangeArrowheads="1"/>
            </p:cNvSpPr>
            <p:nvPr/>
          </p:nvSpPr>
          <p:spPr bwMode="auto">
            <a:xfrm>
              <a:off x="7264822" y="1975170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186" name="Rectangle 9"/>
            <p:cNvSpPr>
              <a:spLocks noChangeArrowheads="1"/>
            </p:cNvSpPr>
            <p:nvPr/>
          </p:nvSpPr>
          <p:spPr bwMode="auto">
            <a:xfrm>
              <a:off x="6745709" y="1975170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1</a:t>
              </a:r>
            </a:p>
          </p:txBody>
        </p:sp>
        <p:sp>
          <p:nvSpPr>
            <p:cNvPr id="187" name="Rectangle 10"/>
            <p:cNvSpPr>
              <a:spLocks noChangeArrowheads="1"/>
            </p:cNvSpPr>
            <p:nvPr/>
          </p:nvSpPr>
          <p:spPr bwMode="auto">
            <a:xfrm>
              <a:off x="8301459" y="1601977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188" name="Rectangle 11"/>
            <p:cNvSpPr>
              <a:spLocks noChangeArrowheads="1"/>
            </p:cNvSpPr>
            <p:nvPr/>
          </p:nvSpPr>
          <p:spPr bwMode="auto">
            <a:xfrm>
              <a:off x="7782347" y="1601977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189" name="Rectangle 12"/>
            <p:cNvSpPr>
              <a:spLocks noChangeArrowheads="1"/>
            </p:cNvSpPr>
            <p:nvPr/>
          </p:nvSpPr>
          <p:spPr bwMode="auto">
            <a:xfrm>
              <a:off x="7264822" y="1601977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190" name="Rectangle 13"/>
            <p:cNvSpPr>
              <a:spLocks noChangeArrowheads="1"/>
            </p:cNvSpPr>
            <p:nvPr/>
          </p:nvSpPr>
          <p:spPr bwMode="auto">
            <a:xfrm>
              <a:off x="6745709" y="1601977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191" name="Line 14"/>
            <p:cNvSpPr>
              <a:spLocks noChangeShapeType="1"/>
            </p:cNvSpPr>
            <p:nvPr/>
          </p:nvSpPr>
          <p:spPr bwMode="auto">
            <a:xfrm>
              <a:off x="6745709" y="1601977"/>
              <a:ext cx="2073275" cy="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2" name="Line 15"/>
            <p:cNvSpPr>
              <a:spLocks noChangeShapeType="1"/>
            </p:cNvSpPr>
            <p:nvPr/>
          </p:nvSpPr>
          <p:spPr bwMode="auto">
            <a:xfrm>
              <a:off x="6745709" y="1975170"/>
              <a:ext cx="20732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3" name="Line 17"/>
            <p:cNvSpPr>
              <a:spLocks noChangeShapeType="1"/>
            </p:cNvSpPr>
            <p:nvPr/>
          </p:nvSpPr>
          <p:spPr bwMode="auto">
            <a:xfrm>
              <a:off x="6745709" y="1601977"/>
              <a:ext cx="0" cy="746386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4" name="Line 18"/>
            <p:cNvSpPr>
              <a:spLocks noChangeShapeType="1"/>
            </p:cNvSpPr>
            <p:nvPr/>
          </p:nvSpPr>
          <p:spPr bwMode="auto">
            <a:xfrm>
              <a:off x="7264822" y="1601977"/>
              <a:ext cx="0" cy="7463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5" name="Line 19"/>
            <p:cNvSpPr>
              <a:spLocks noChangeShapeType="1"/>
            </p:cNvSpPr>
            <p:nvPr/>
          </p:nvSpPr>
          <p:spPr bwMode="auto">
            <a:xfrm>
              <a:off x="7782347" y="1601977"/>
              <a:ext cx="0" cy="7463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6" name="Line 20"/>
            <p:cNvSpPr>
              <a:spLocks noChangeShapeType="1"/>
            </p:cNvSpPr>
            <p:nvPr/>
          </p:nvSpPr>
          <p:spPr bwMode="auto">
            <a:xfrm>
              <a:off x="8301459" y="1601977"/>
              <a:ext cx="0" cy="7463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7" name="Line 21"/>
            <p:cNvSpPr>
              <a:spLocks noChangeShapeType="1"/>
            </p:cNvSpPr>
            <p:nvPr/>
          </p:nvSpPr>
          <p:spPr bwMode="auto">
            <a:xfrm>
              <a:off x="8818984" y="1975170"/>
              <a:ext cx="0" cy="37319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8" name="Line 22"/>
            <p:cNvSpPr>
              <a:spLocks noChangeShapeType="1"/>
            </p:cNvSpPr>
            <p:nvPr/>
          </p:nvSpPr>
          <p:spPr bwMode="auto">
            <a:xfrm>
              <a:off x="8818984" y="1601977"/>
              <a:ext cx="0" cy="373193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199" name="Line 23"/>
            <p:cNvSpPr>
              <a:spLocks noChangeShapeType="1"/>
            </p:cNvSpPr>
            <p:nvPr/>
          </p:nvSpPr>
          <p:spPr bwMode="auto">
            <a:xfrm>
              <a:off x="6471072" y="1325245"/>
              <a:ext cx="274638" cy="276732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00" name="Text Box 24"/>
            <p:cNvSpPr txBox="1">
              <a:spLocks noChangeArrowheads="1"/>
            </p:cNvSpPr>
            <p:nvPr/>
          </p:nvSpPr>
          <p:spPr bwMode="auto">
            <a:xfrm>
              <a:off x="6737102" y="1274642"/>
              <a:ext cx="2189055" cy="367991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00     01     11     10</a:t>
              </a:r>
            </a:p>
          </p:txBody>
        </p:sp>
        <p:sp>
          <p:nvSpPr>
            <p:cNvPr id="201" name="Text Box 25"/>
            <p:cNvSpPr txBox="1">
              <a:spLocks noChangeArrowheads="1"/>
            </p:cNvSpPr>
            <p:nvPr/>
          </p:nvSpPr>
          <p:spPr bwMode="auto">
            <a:xfrm>
              <a:off x="6304856" y="1711086"/>
              <a:ext cx="504057" cy="1380562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65000"/>
                </a:lnSpc>
                <a:spcBef>
                  <a:spcPts val="1200"/>
                </a:spcBef>
              </a:pPr>
              <a:r>
                <a:rPr lang="en-US" altLang="zh-CN" sz="1200" b="1" dirty="0"/>
                <a:t>00</a:t>
              </a:r>
            </a:p>
            <a:p>
              <a:pPr>
                <a:lnSpc>
                  <a:spcPct val="65000"/>
                </a:lnSpc>
                <a:spcBef>
                  <a:spcPts val="1200"/>
                </a:spcBef>
              </a:pPr>
              <a:r>
                <a:rPr lang="en-US" altLang="zh-CN" sz="1200" b="1" dirty="0"/>
                <a:t>01</a:t>
              </a:r>
            </a:p>
            <a:p>
              <a:pPr>
                <a:lnSpc>
                  <a:spcPct val="65000"/>
                </a:lnSpc>
                <a:spcBef>
                  <a:spcPts val="1200"/>
                </a:spcBef>
              </a:pPr>
              <a:r>
                <a:rPr lang="en-US" altLang="zh-CN" sz="1200" b="1" dirty="0"/>
                <a:t>11</a:t>
              </a:r>
            </a:p>
            <a:p>
              <a:pPr>
                <a:lnSpc>
                  <a:spcPct val="65000"/>
                </a:lnSpc>
                <a:spcBef>
                  <a:spcPts val="1200"/>
                </a:spcBef>
              </a:pPr>
              <a:r>
                <a:rPr lang="en-US" altLang="zh-CN" sz="1200" b="1" dirty="0"/>
                <a:t>10</a:t>
              </a:r>
            </a:p>
          </p:txBody>
        </p:sp>
        <p:sp>
          <p:nvSpPr>
            <p:cNvPr id="202" name="Text Box 26"/>
            <p:cNvSpPr txBox="1">
              <a:spLocks noChangeArrowheads="1"/>
            </p:cNvSpPr>
            <p:nvPr/>
          </p:nvSpPr>
          <p:spPr bwMode="auto">
            <a:xfrm>
              <a:off x="5952534" y="1290465"/>
              <a:ext cx="951272" cy="367991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X</a:t>
              </a:r>
              <a:r>
                <a:rPr lang="en-US" altLang="zh-CN" sz="1200" b="1" baseline="-25000" dirty="0"/>
                <a:t>1</a:t>
              </a:r>
              <a:r>
                <a:rPr lang="en-US" altLang="zh-CN" sz="1200" b="1" dirty="0"/>
                <a:t>X</a:t>
              </a:r>
              <a:r>
                <a:rPr lang="en-US" altLang="zh-CN" sz="1200" b="1" baseline="-25000" dirty="0"/>
                <a:t>2</a:t>
              </a:r>
              <a:endParaRPr lang="en-US" altLang="zh-CN" sz="1200" b="1" baseline="30000" dirty="0"/>
            </a:p>
          </p:txBody>
        </p:sp>
        <p:sp>
          <p:nvSpPr>
            <p:cNvPr id="203" name="Text Box 27"/>
            <p:cNvSpPr txBox="1">
              <a:spLocks noChangeArrowheads="1"/>
            </p:cNvSpPr>
            <p:nvPr/>
          </p:nvSpPr>
          <p:spPr bwMode="auto">
            <a:xfrm>
              <a:off x="6362587" y="1050876"/>
              <a:ext cx="1036175" cy="367991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Q</a:t>
              </a:r>
              <a:r>
                <a:rPr lang="en-US" altLang="zh-CN" sz="1200" b="1" baseline="-25000" dirty="0"/>
                <a:t>2</a:t>
              </a:r>
              <a:r>
                <a:rPr lang="en-US" altLang="zh-CN" sz="1200" b="1" baseline="30000" dirty="0"/>
                <a:t>n</a:t>
              </a:r>
              <a:r>
                <a:rPr lang="en-US" altLang="zh-CN" sz="1200" b="1" dirty="0"/>
                <a:t>Q</a:t>
              </a:r>
              <a:r>
                <a:rPr lang="en-US" altLang="zh-CN" sz="1200" b="1" baseline="-25000" dirty="0"/>
                <a:t>1</a:t>
              </a:r>
              <a:r>
                <a:rPr lang="en-US" altLang="zh-CN" sz="1200" b="1" baseline="30000" dirty="0"/>
                <a:t>n</a:t>
              </a:r>
            </a:p>
          </p:txBody>
        </p:sp>
        <p:sp>
          <p:nvSpPr>
            <p:cNvPr id="204" name="Rectangle 6"/>
            <p:cNvSpPr>
              <a:spLocks noChangeArrowheads="1"/>
            </p:cNvSpPr>
            <p:nvPr/>
          </p:nvSpPr>
          <p:spPr bwMode="auto">
            <a:xfrm>
              <a:off x="8303520" y="2721299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205" name="Rectangle 7"/>
            <p:cNvSpPr>
              <a:spLocks noChangeArrowheads="1"/>
            </p:cNvSpPr>
            <p:nvPr/>
          </p:nvSpPr>
          <p:spPr bwMode="auto">
            <a:xfrm>
              <a:off x="7784408" y="2721299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7266883" y="2721299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207" name="Rectangle 9"/>
            <p:cNvSpPr>
              <a:spLocks noChangeArrowheads="1"/>
            </p:cNvSpPr>
            <p:nvPr/>
          </p:nvSpPr>
          <p:spPr bwMode="auto">
            <a:xfrm>
              <a:off x="6747770" y="2721299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208" name="Rectangle 10"/>
            <p:cNvSpPr>
              <a:spLocks noChangeArrowheads="1"/>
            </p:cNvSpPr>
            <p:nvPr/>
          </p:nvSpPr>
          <p:spPr bwMode="auto">
            <a:xfrm>
              <a:off x="8303520" y="2348106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209" name="Rectangle 11"/>
            <p:cNvSpPr>
              <a:spLocks noChangeArrowheads="1"/>
            </p:cNvSpPr>
            <p:nvPr/>
          </p:nvSpPr>
          <p:spPr bwMode="auto">
            <a:xfrm>
              <a:off x="7784408" y="2348106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210" name="Rectangle 12"/>
            <p:cNvSpPr>
              <a:spLocks noChangeArrowheads="1"/>
            </p:cNvSpPr>
            <p:nvPr/>
          </p:nvSpPr>
          <p:spPr bwMode="auto">
            <a:xfrm>
              <a:off x="7266883" y="2348106"/>
              <a:ext cx="517525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X</a:t>
              </a:r>
            </a:p>
          </p:txBody>
        </p:sp>
        <p:sp>
          <p:nvSpPr>
            <p:cNvPr id="211" name="Rectangle 13"/>
            <p:cNvSpPr>
              <a:spLocks noChangeArrowheads="1"/>
            </p:cNvSpPr>
            <p:nvPr/>
          </p:nvSpPr>
          <p:spPr bwMode="auto">
            <a:xfrm>
              <a:off x="6747770" y="2348106"/>
              <a:ext cx="519113" cy="373193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200" b="1" dirty="0"/>
                <a:t>0</a:t>
              </a:r>
            </a:p>
          </p:txBody>
        </p:sp>
        <p:sp>
          <p:nvSpPr>
            <p:cNvPr id="212" name="Line 15"/>
            <p:cNvSpPr>
              <a:spLocks noChangeShapeType="1"/>
            </p:cNvSpPr>
            <p:nvPr/>
          </p:nvSpPr>
          <p:spPr bwMode="auto">
            <a:xfrm>
              <a:off x="6747770" y="2721299"/>
              <a:ext cx="20732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3" name="Line 17"/>
            <p:cNvSpPr>
              <a:spLocks noChangeShapeType="1"/>
            </p:cNvSpPr>
            <p:nvPr/>
          </p:nvSpPr>
          <p:spPr bwMode="auto">
            <a:xfrm>
              <a:off x="6747770" y="2348106"/>
              <a:ext cx="0" cy="746386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4" name="Line 18"/>
            <p:cNvSpPr>
              <a:spLocks noChangeShapeType="1"/>
            </p:cNvSpPr>
            <p:nvPr/>
          </p:nvSpPr>
          <p:spPr bwMode="auto">
            <a:xfrm>
              <a:off x="7266883" y="2348106"/>
              <a:ext cx="0" cy="7463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5" name="Line 19"/>
            <p:cNvSpPr>
              <a:spLocks noChangeShapeType="1"/>
            </p:cNvSpPr>
            <p:nvPr/>
          </p:nvSpPr>
          <p:spPr bwMode="auto">
            <a:xfrm>
              <a:off x="7784408" y="2348106"/>
              <a:ext cx="0" cy="7463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6" name="Line 20"/>
            <p:cNvSpPr>
              <a:spLocks noChangeShapeType="1"/>
            </p:cNvSpPr>
            <p:nvPr/>
          </p:nvSpPr>
          <p:spPr bwMode="auto">
            <a:xfrm>
              <a:off x="8303520" y="2348106"/>
              <a:ext cx="0" cy="7463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7" name="Line 21"/>
            <p:cNvSpPr>
              <a:spLocks noChangeShapeType="1"/>
            </p:cNvSpPr>
            <p:nvPr/>
          </p:nvSpPr>
          <p:spPr bwMode="auto">
            <a:xfrm>
              <a:off x="8821045" y="2721299"/>
              <a:ext cx="0" cy="37319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8" name="Line 22"/>
            <p:cNvSpPr>
              <a:spLocks noChangeShapeType="1"/>
            </p:cNvSpPr>
            <p:nvPr/>
          </p:nvSpPr>
          <p:spPr bwMode="auto">
            <a:xfrm>
              <a:off x="8821045" y="2348106"/>
              <a:ext cx="0" cy="373193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200"/>
            </a:p>
          </p:txBody>
        </p:sp>
      </p:grpSp>
      <p:grpSp>
        <p:nvGrpSpPr>
          <p:cNvPr id="3" name="组合 218"/>
          <p:cNvGrpSpPr/>
          <p:nvPr/>
        </p:nvGrpSpPr>
        <p:grpSpPr>
          <a:xfrm>
            <a:off x="467544" y="991006"/>
            <a:ext cx="7662814" cy="4101024"/>
            <a:chOff x="467544" y="991006"/>
            <a:chExt cx="7662814" cy="4101024"/>
          </a:xfrm>
        </p:grpSpPr>
        <p:grpSp>
          <p:nvGrpSpPr>
            <p:cNvPr id="4" name="组合 113"/>
            <p:cNvGrpSpPr/>
            <p:nvPr/>
          </p:nvGrpSpPr>
          <p:grpSpPr bwMode="auto">
            <a:xfrm>
              <a:off x="467544" y="1039837"/>
              <a:ext cx="2127988" cy="1538298"/>
              <a:chOff x="5916975" y="1050876"/>
              <a:chExt cx="3009182" cy="2043616"/>
            </a:xfrm>
          </p:grpSpPr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8301459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6" name="Rectangle 7"/>
              <p:cNvSpPr>
                <a:spLocks noChangeArrowheads="1"/>
              </p:cNvSpPr>
              <p:nvPr/>
            </p:nvSpPr>
            <p:spPr bwMode="auto">
              <a:xfrm>
                <a:off x="7782347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7" name="Rectangle 8"/>
              <p:cNvSpPr>
                <a:spLocks noChangeArrowheads="1"/>
              </p:cNvSpPr>
              <p:nvPr/>
            </p:nvSpPr>
            <p:spPr bwMode="auto">
              <a:xfrm>
                <a:off x="7264822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18" name="Rectangle 9"/>
              <p:cNvSpPr>
                <a:spLocks noChangeArrowheads="1"/>
              </p:cNvSpPr>
              <p:nvPr/>
            </p:nvSpPr>
            <p:spPr bwMode="auto">
              <a:xfrm>
                <a:off x="6745709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9" name="Rectangle 10"/>
              <p:cNvSpPr>
                <a:spLocks noChangeArrowheads="1"/>
              </p:cNvSpPr>
              <p:nvPr/>
            </p:nvSpPr>
            <p:spPr bwMode="auto">
              <a:xfrm>
                <a:off x="8301459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20" name="Rectangle 11"/>
              <p:cNvSpPr>
                <a:spLocks noChangeArrowheads="1"/>
              </p:cNvSpPr>
              <p:nvPr/>
            </p:nvSpPr>
            <p:spPr bwMode="auto">
              <a:xfrm>
                <a:off x="7782347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21" name="Rectangle 12"/>
              <p:cNvSpPr>
                <a:spLocks noChangeArrowheads="1"/>
              </p:cNvSpPr>
              <p:nvPr/>
            </p:nvSpPr>
            <p:spPr bwMode="auto">
              <a:xfrm>
                <a:off x="7264822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/>
                  <a:t>0</a:t>
                </a:r>
              </a:p>
            </p:txBody>
          </p:sp>
          <p:sp>
            <p:nvSpPr>
              <p:cNvPr id="22" name="Rectangle 13"/>
              <p:cNvSpPr>
                <a:spLocks noChangeArrowheads="1"/>
              </p:cNvSpPr>
              <p:nvPr/>
            </p:nvSpPr>
            <p:spPr bwMode="auto">
              <a:xfrm>
                <a:off x="6745709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23" name="Line 14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2073275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24" name="Line 15"/>
              <p:cNvSpPr>
                <a:spLocks noChangeShapeType="1"/>
              </p:cNvSpPr>
              <p:nvPr/>
            </p:nvSpPr>
            <p:spPr bwMode="auto">
              <a:xfrm>
                <a:off x="6745709" y="1975170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25" name="Line 17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26" name="Line 18"/>
              <p:cNvSpPr>
                <a:spLocks noChangeShapeType="1"/>
              </p:cNvSpPr>
              <p:nvPr/>
            </p:nvSpPr>
            <p:spPr bwMode="auto">
              <a:xfrm>
                <a:off x="7264822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27" name="Line 19"/>
              <p:cNvSpPr>
                <a:spLocks noChangeShapeType="1"/>
              </p:cNvSpPr>
              <p:nvPr/>
            </p:nvSpPr>
            <p:spPr bwMode="auto">
              <a:xfrm>
                <a:off x="7782347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28" name="Line 20"/>
              <p:cNvSpPr>
                <a:spLocks noChangeShapeType="1"/>
              </p:cNvSpPr>
              <p:nvPr/>
            </p:nvSpPr>
            <p:spPr bwMode="auto">
              <a:xfrm>
                <a:off x="8301459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29" name="Line 21"/>
              <p:cNvSpPr>
                <a:spLocks noChangeShapeType="1"/>
              </p:cNvSpPr>
              <p:nvPr/>
            </p:nvSpPr>
            <p:spPr bwMode="auto">
              <a:xfrm>
                <a:off x="8818984" y="1975170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30" name="Line 22"/>
              <p:cNvSpPr>
                <a:spLocks noChangeShapeType="1"/>
              </p:cNvSpPr>
              <p:nvPr/>
            </p:nvSpPr>
            <p:spPr bwMode="auto">
              <a:xfrm>
                <a:off x="8818984" y="1601977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31" name="Line 23"/>
              <p:cNvSpPr>
                <a:spLocks noChangeShapeType="1"/>
              </p:cNvSpPr>
              <p:nvPr/>
            </p:nvSpPr>
            <p:spPr bwMode="auto">
              <a:xfrm>
                <a:off x="6471072" y="1325245"/>
                <a:ext cx="274638" cy="27673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32" name="Text Box 24"/>
              <p:cNvSpPr txBox="1">
                <a:spLocks noChangeArrowheads="1"/>
              </p:cNvSpPr>
              <p:nvPr/>
            </p:nvSpPr>
            <p:spPr bwMode="auto">
              <a:xfrm>
                <a:off x="6737102" y="1274642"/>
                <a:ext cx="218905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00     01     11     10</a:t>
                </a:r>
              </a:p>
            </p:txBody>
          </p:sp>
          <p:sp>
            <p:nvSpPr>
              <p:cNvPr id="33" name="Text Box 25"/>
              <p:cNvSpPr txBox="1">
                <a:spLocks noChangeArrowheads="1"/>
              </p:cNvSpPr>
              <p:nvPr/>
            </p:nvSpPr>
            <p:spPr bwMode="auto">
              <a:xfrm>
                <a:off x="6304856" y="1711086"/>
                <a:ext cx="504057" cy="138056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00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10</a:t>
                </a:r>
              </a:p>
            </p:txBody>
          </p:sp>
          <p:sp>
            <p:nvSpPr>
              <p:cNvPr id="34" name="Text Box 26"/>
              <p:cNvSpPr txBox="1">
                <a:spLocks noChangeArrowheads="1"/>
              </p:cNvSpPr>
              <p:nvPr/>
            </p:nvSpPr>
            <p:spPr bwMode="auto">
              <a:xfrm>
                <a:off x="5916975" y="1252504"/>
                <a:ext cx="758393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2</a:t>
                </a:r>
                <a:endParaRPr lang="en-US" altLang="zh-CN" sz="1200" b="1" baseline="30000" dirty="0"/>
              </a:p>
            </p:txBody>
          </p:sp>
          <p:sp>
            <p:nvSpPr>
              <p:cNvPr id="35" name="Text Box 27"/>
              <p:cNvSpPr txBox="1">
                <a:spLocks noChangeArrowheads="1"/>
              </p:cNvSpPr>
              <p:nvPr/>
            </p:nvSpPr>
            <p:spPr bwMode="auto">
              <a:xfrm>
                <a:off x="6362587" y="1050876"/>
                <a:ext cx="103617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2</a:t>
                </a:r>
                <a:r>
                  <a:rPr lang="en-US" altLang="zh-CN" sz="1200" b="1" baseline="30000" dirty="0"/>
                  <a:t>n</a:t>
                </a:r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baseline="30000" dirty="0"/>
                  <a:t>n</a:t>
                </a:r>
              </a:p>
            </p:txBody>
          </p:sp>
          <p:sp>
            <p:nvSpPr>
              <p:cNvPr id="36" name="Rectangle 6"/>
              <p:cNvSpPr>
                <a:spLocks noChangeArrowheads="1"/>
              </p:cNvSpPr>
              <p:nvPr/>
            </p:nvSpPr>
            <p:spPr bwMode="auto">
              <a:xfrm>
                <a:off x="8303520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7784408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7266883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6747770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8303520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7784408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7266883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6747770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44" name="Line 15"/>
              <p:cNvSpPr>
                <a:spLocks noChangeShapeType="1"/>
              </p:cNvSpPr>
              <p:nvPr/>
            </p:nvSpPr>
            <p:spPr bwMode="auto">
              <a:xfrm>
                <a:off x="6747770" y="2721299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45" name="Line 17"/>
              <p:cNvSpPr>
                <a:spLocks noChangeShapeType="1"/>
              </p:cNvSpPr>
              <p:nvPr/>
            </p:nvSpPr>
            <p:spPr bwMode="auto">
              <a:xfrm>
                <a:off x="6747770" y="2348106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46" name="Line 18"/>
              <p:cNvSpPr>
                <a:spLocks noChangeShapeType="1"/>
              </p:cNvSpPr>
              <p:nvPr/>
            </p:nvSpPr>
            <p:spPr bwMode="auto">
              <a:xfrm>
                <a:off x="7266883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47" name="Line 19"/>
              <p:cNvSpPr>
                <a:spLocks noChangeShapeType="1"/>
              </p:cNvSpPr>
              <p:nvPr/>
            </p:nvSpPr>
            <p:spPr bwMode="auto">
              <a:xfrm>
                <a:off x="7784408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48" name="Line 20"/>
              <p:cNvSpPr>
                <a:spLocks noChangeShapeType="1"/>
              </p:cNvSpPr>
              <p:nvPr/>
            </p:nvSpPr>
            <p:spPr bwMode="auto">
              <a:xfrm>
                <a:off x="8303520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49" name="Line 21"/>
              <p:cNvSpPr>
                <a:spLocks noChangeShapeType="1"/>
              </p:cNvSpPr>
              <p:nvPr/>
            </p:nvSpPr>
            <p:spPr bwMode="auto">
              <a:xfrm>
                <a:off x="8821045" y="2721299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50" name="Line 22"/>
              <p:cNvSpPr>
                <a:spLocks noChangeShapeType="1"/>
              </p:cNvSpPr>
              <p:nvPr/>
            </p:nvSpPr>
            <p:spPr bwMode="auto">
              <a:xfrm>
                <a:off x="8821045" y="2348106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grpSp>
          <p:nvGrpSpPr>
            <p:cNvPr id="5" name="组合 113"/>
            <p:cNvGrpSpPr/>
            <p:nvPr/>
          </p:nvGrpSpPr>
          <p:grpSpPr bwMode="auto">
            <a:xfrm>
              <a:off x="467544" y="3035523"/>
              <a:ext cx="2132597" cy="1538298"/>
              <a:chOff x="5910456" y="1050876"/>
              <a:chExt cx="3015701" cy="2043616"/>
            </a:xfrm>
          </p:grpSpPr>
          <p:sp>
            <p:nvSpPr>
              <p:cNvPr id="52" name="Rectangle 6"/>
              <p:cNvSpPr>
                <a:spLocks noChangeArrowheads="1"/>
              </p:cNvSpPr>
              <p:nvPr/>
            </p:nvSpPr>
            <p:spPr bwMode="auto">
              <a:xfrm>
                <a:off x="8301459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7782347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54" name="Rectangle 8"/>
              <p:cNvSpPr>
                <a:spLocks noChangeArrowheads="1"/>
              </p:cNvSpPr>
              <p:nvPr/>
            </p:nvSpPr>
            <p:spPr bwMode="auto">
              <a:xfrm>
                <a:off x="7264822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55" name="Rectangle 9"/>
              <p:cNvSpPr>
                <a:spLocks noChangeArrowheads="1"/>
              </p:cNvSpPr>
              <p:nvPr/>
            </p:nvSpPr>
            <p:spPr bwMode="auto">
              <a:xfrm>
                <a:off x="6745709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56" name="Rectangle 10"/>
              <p:cNvSpPr>
                <a:spLocks noChangeArrowheads="1"/>
              </p:cNvSpPr>
              <p:nvPr/>
            </p:nvSpPr>
            <p:spPr bwMode="auto">
              <a:xfrm>
                <a:off x="8301459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57" name="Rectangle 11"/>
              <p:cNvSpPr>
                <a:spLocks noChangeArrowheads="1"/>
              </p:cNvSpPr>
              <p:nvPr/>
            </p:nvSpPr>
            <p:spPr bwMode="auto">
              <a:xfrm>
                <a:off x="7782347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58" name="Rectangle 12"/>
              <p:cNvSpPr>
                <a:spLocks noChangeArrowheads="1"/>
              </p:cNvSpPr>
              <p:nvPr/>
            </p:nvSpPr>
            <p:spPr bwMode="auto">
              <a:xfrm>
                <a:off x="7264822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59" name="Rectangle 13"/>
              <p:cNvSpPr>
                <a:spLocks noChangeArrowheads="1"/>
              </p:cNvSpPr>
              <p:nvPr/>
            </p:nvSpPr>
            <p:spPr bwMode="auto">
              <a:xfrm>
                <a:off x="6745709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60" name="Line 14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2073275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1" name="Line 15"/>
              <p:cNvSpPr>
                <a:spLocks noChangeShapeType="1"/>
              </p:cNvSpPr>
              <p:nvPr/>
            </p:nvSpPr>
            <p:spPr bwMode="auto">
              <a:xfrm>
                <a:off x="6745709" y="1975170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2" name="Line 17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3" name="Line 18"/>
              <p:cNvSpPr>
                <a:spLocks noChangeShapeType="1"/>
              </p:cNvSpPr>
              <p:nvPr/>
            </p:nvSpPr>
            <p:spPr bwMode="auto">
              <a:xfrm>
                <a:off x="7264822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4" name="Line 19"/>
              <p:cNvSpPr>
                <a:spLocks noChangeShapeType="1"/>
              </p:cNvSpPr>
              <p:nvPr/>
            </p:nvSpPr>
            <p:spPr bwMode="auto">
              <a:xfrm>
                <a:off x="7782347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5" name="Line 20"/>
              <p:cNvSpPr>
                <a:spLocks noChangeShapeType="1"/>
              </p:cNvSpPr>
              <p:nvPr/>
            </p:nvSpPr>
            <p:spPr bwMode="auto">
              <a:xfrm>
                <a:off x="8301459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6" name="Line 21"/>
              <p:cNvSpPr>
                <a:spLocks noChangeShapeType="1"/>
              </p:cNvSpPr>
              <p:nvPr/>
            </p:nvSpPr>
            <p:spPr bwMode="auto">
              <a:xfrm>
                <a:off x="8818984" y="1975170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7" name="Line 22"/>
              <p:cNvSpPr>
                <a:spLocks noChangeShapeType="1"/>
              </p:cNvSpPr>
              <p:nvPr/>
            </p:nvSpPr>
            <p:spPr bwMode="auto">
              <a:xfrm>
                <a:off x="8818984" y="1601977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8" name="Line 23"/>
              <p:cNvSpPr>
                <a:spLocks noChangeShapeType="1"/>
              </p:cNvSpPr>
              <p:nvPr/>
            </p:nvSpPr>
            <p:spPr bwMode="auto">
              <a:xfrm>
                <a:off x="6471072" y="1325245"/>
                <a:ext cx="274638" cy="27673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9" name="Text Box 24"/>
              <p:cNvSpPr txBox="1">
                <a:spLocks noChangeArrowheads="1"/>
              </p:cNvSpPr>
              <p:nvPr/>
            </p:nvSpPr>
            <p:spPr bwMode="auto">
              <a:xfrm>
                <a:off x="6737102" y="1274642"/>
                <a:ext cx="218905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00     01     11     10</a:t>
                </a:r>
              </a:p>
            </p:txBody>
          </p:sp>
          <p:sp>
            <p:nvSpPr>
              <p:cNvPr id="70" name="Text Box 25"/>
              <p:cNvSpPr txBox="1">
                <a:spLocks noChangeArrowheads="1"/>
              </p:cNvSpPr>
              <p:nvPr/>
            </p:nvSpPr>
            <p:spPr bwMode="auto">
              <a:xfrm>
                <a:off x="6304856" y="1711086"/>
                <a:ext cx="504057" cy="138056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00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10</a:t>
                </a:r>
              </a:p>
            </p:txBody>
          </p:sp>
          <p:sp>
            <p:nvSpPr>
              <p:cNvPr id="71" name="Text Box 26"/>
              <p:cNvSpPr txBox="1">
                <a:spLocks noChangeArrowheads="1"/>
              </p:cNvSpPr>
              <p:nvPr/>
            </p:nvSpPr>
            <p:spPr bwMode="auto">
              <a:xfrm>
                <a:off x="5910456" y="1290465"/>
                <a:ext cx="962377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2</a:t>
                </a:r>
                <a:endParaRPr lang="en-US" altLang="zh-CN" sz="1200" b="1" baseline="30000" dirty="0"/>
              </a:p>
            </p:txBody>
          </p:sp>
          <p:sp>
            <p:nvSpPr>
              <p:cNvPr id="72" name="Text Box 27"/>
              <p:cNvSpPr txBox="1">
                <a:spLocks noChangeArrowheads="1"/>
              </p:cNvSpPr>
              <p:nvPr/>
            </p:nvSpPr>
            <p:spPr bwMode="auto">
              <a:xfrm>
                <a:off x="6362587" y="1050876"/>
                <a:ext cx="103617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2</a:t>
                </a:r>
                <a:r>
                  <a:rPr lang="en-US" altLang="zh-CN" sz="1200" b="1" baseline="30000" dirty="0"/>
                  <a:t>n</a:t>
                </a:r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baseline="30000" dirty="0"/>
                  <a:t>n</a:t>
                </a:r>
              </a:p>
            </p:txBody>
          </p:sp>
          <p:sp>
            <p:nvSpPr>
              <p:cNvPr id="73" name="Rectangle 6"/>
              <p:cNvSpPr>
                <a:spLocks noChangeArrowheads="1"/>
              </p:cNvSpPr>
              <p:nvPr/>
            </p:nvSpPr>
            <p:spPr bwMode="auto">
              <a:xfrm>
                <a:off x="8303520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74" name="Rectangle 7"/>
              <p:cNvSpPr>
                <a:spLocks noChangeArrowheads="1"/>
              </p:cNvSpPr>
              <p:nvPr/>
            </p:nvSpPr>
            <p:spPr bwMode="auto">
              <a:xfrm>
                <a:off x="7784408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75" name="Rectangle 8"/>
              <p:cNvSpPr>
                <a:spLocks noChangeArrowheads="1"/>
              </p:cNvSpPr>
              <p:nvPr/>
            </p:nvSpPr>
            <p:spPr bwMode="auto">
              <a:xfrm>
                <a:off x="7266883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76" name="Rectangle 9"/>
              <p:cNvSpPr>
                <a:spLocks noChangeArrowheads="1"/>
              </p:cNvSpPr>
              <p:nvPr/>
            </p:nvSpPr>
            <p:spPr bwMode="auto">
              <a:xfrm>
                <a:off x="6747770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77" name="Rectangle 10"/>
              <p:cNvSpPr>
                <a:spLocks noChangeArrowheads="1"/>
              </p:cNvSpPr>
              <p:nvPr/>
            </p:nvSpPr>
            <p:spPr bwMode="auto">
              <a:xfrm>
                <a:off x="8303520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78" name="Rectangle 11"/>
              <p:cNvSpPr>
                <a:spLocks noChangeArrowheads="1"/>
              </p:cNvSpPr>
              <p:nvPr/>
            </p:nvSpPr>
            <p:spPr bwMode="auto">
              <a:xfrm>
                <a:off x="7784408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79" name="Rectangle 12"/>
              <p:cNvSpPr>
                <a:spLocks noChangeArrowheads="1"/>
              </p:cNvSpPr>
              <p:nvPr/>
            </p:nvSpPr>
            <p:spPr bwMode="auto">
              <a:xfrm>
                <a:off x="7266883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80" name="Rectangle 13"/>
              <p:cNvSpPr>
                <a:spLocks noChangeArrowheads="1"/>
              </p:cNvSpPr>
              <p:nvPr/>
            </p:nvSpPr>
            <p:spPr bwMode="auto">
              <a:xfrm>
                <a:off x="6747770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81" name="Line 15"/>
              <p:cNvSpPr>
                <a:spLocks noChangeShapeType="1"/>
              </p:cNvSpPr>
              <p:nvPr/>
            </p:nvSpPr>
            <p:spPr bwMode="auto">
              <a:xfrm>
                <a:off x="6747770" y="2721299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82" name="Line 17"/>
              <p:cNvSpPr>
                <a:spLocks noChangeShapeType="1"/>
              </p:cNvSpPr>
              <p:nvPr/>
            </p:nvSpPr>
            <p:spPr bwMode="auto">
              <a:xfrm>
                <a:off x="6747770" y="2348106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83" name="Line 18"/>
              <p:cNvSpPr>
                <a:spLocks noChangeShapeType="1"/>
              </p:cNvSpPr>
              <p:nvPr/>
            </p:nvSpPr>
            <p:spPr bwMode="auto">
              <a:xfrm>
                <a:off x="7266883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84" name="Line 19"/>
              <p:cNvSpPr>
                <a:spLocks noChangeShapeType="1"/>
              </p:cNvSpPr>
              <p:nvPr/>
            </p:nvSpPr>
            <p:spPr bwMode="auto">
              <a:xfrm>
                <a:off x="7784408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85" name="Line 20"/>
              <p:cNvSpPr>
                <a:spLocks noChangeShapeType="1"/>
              </p:cNvSpPr>
              <p:nvPr/>
            </p:nvSpPr>
            <p:spPr bwMode="auto">
              <a:xfrm>
                <a:off x="8303520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86" name="Line 21"/>
              <p:cNvSpPr>
                <a:spLocks noChangeShapeType="1"/>
              </p:cNvSpPr>
              <p:nvPr/>
            </p:nvSpPr>
            <p:spPr bwMode="auto">
              <a:xfrm>
                <a:off x="8821045" y="2721299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87" name="Line 22"/>
              <p:cNvSpPr>
                <a:spLocks noChangeShapeType="1"/>
              </p:cNvSpPr>
              <p:nvPr/>
            </p:nvSpPr>
            <p:spPr bwMode="auto">
              <a:xfrm>
                <a:off x="8821045" y="2348106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sp>
          <p:nvSpPr>
            <p:cNvPr id="89" name="Text Box 151"/>
            <p:cNvSpPr txBox="1">
              <a:spLocks noChangeArrowheads="1"/>
            </p:cNvSpPr>
            <p:nvPr/>
          </p:nvSpPr>
          <p:spPr bwMode="auto">
            <a:xfrm>
              <a:off x="1043608" y="2643758"/>
              <a:ext cx="1440160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+mj-lt"/>
                </a:rPr>
                <a:t>J</a:t>
              </a:r>
              <a:r>
                <a:rPr kumimoji="0" lang="en-US" altLang="zh-CN" sz="1400" b="1" baseline="-25000" dirty="0">
                  <a:latin typeface="+mj-lt"/>
                </a:rPr>
                <a:t>2 </a:t>
              </a:r>
              <a:r>
                <a:rPr lang="en-US" altLang="zh-CN" sz="1400" b="1" dirty="0">
                  <a:latin typeface="+mj-lt"/>
                </a:rPr>
                <a:t>= </a:t>
              </a:r>
              <a:r>
                <a:rPr kumimoji="0" lang="en-US" altLang="zh-CN" sz="1400" b="1" dirty="0">
                  <a:latin typeface="+mj-lt"/>
                </a:rPr>
                <a:t>X</a:t>
              </a:r>
              <a:r>
                <a:rPr kumimoji="0" lang="en-US" altLang="zh-CN" sz="1400" b="1" baseline="-25000" dirty="0">
                  <a:latin typeface="+mj-lt"/>
                </a:rPr>
                <a:t>2</a:t>
              </a:r>
              <a:r>
                <a:rPr kumimoji="0" lang="en-US" altLang="zh-CN" sz="1400" b="1" dirty="0"/>
                <a:t>Q</a:t>
              </a:r>
              <a:r>
                <a:rPr kumimoji="0" lang="en-US" altLang="zh-CN" sz="1400" b="1" baseline="-25000" dirty="0"/>
                <a:t>1</a:t>
              </a:r>
              <a:r>
                <a:rPr kumimoji="0" lang="en-US" altLang="zh-CN" sz="1400" b="1" baseline="30000" dirty="0"/>
                <a:t>n</a:t>
              </a:r>
              <a:r>
                <a:rPr lang="en-US" altLang="zh-CN" sz="1400" b="1" dirty="0">
                  <a:latin typeface="+mj-lt"/>
                </a:rPr>
                <a:t> + </a:t>
              </a:r>
              <a:r>
                <a:rPr kumimoji="0" lang="en-US" altLang="zh-CN" sz="1400" b="1" dirty="0">
                  <a:latin typeface="+mj-lt"/>
                </a:rPr>
                <a:t>X</a:t>
              </a:r>
              <a:r>
                <a:rPr kumimoji="0" lang="en-US" altLang="zh-CN" sz="1400" b="1" baseline="-25000" dirty="0">
                  <a:latin typeface="+mj-lt"/>
                </a:rPr>
                <a:t>1</a:t>
              </a:r>
              <a:endParaRPr kumimoji="0" lang="en-US" altLang="zh-CN" sz="1400" b="1" baseline="30000" dirty="0">
                <a:latin typeface="+mj-lt"/>
              </a:endParaRPr>
            </a:p>
          </p:txBody>
        </p:sp>
        <p:grpSp>
          <p:nvGrpSpPr>
            <p:cNvPr id="6" name="组合 113"/>
            <p:cNvGrpSpPr/>
            <p:nvPr/>
          </p:nvGrpSpPr>
          <p:grpSpPr bwMode="auto">
            <a:xfrm>
              <a:off x="3275856" y="991006"/>
              <a:ext cx="2140942" cy="1538298"/>
              <a:chOff x="5898655" y="1050876"/>
              <a:chExt cx="3027502" cy="2043616"/>
            </a:xfrm>
          </p:grpSpPr>
          <p:sp>
            <p:nvSpPr>
              <p:cNvPr id="94" name="Rectangle 6"/>
              <p:cNvSpPr>
                <a:spLocks noChangeArrowheads="1"/>
              </p:cNvSpPr>
              <p:nvPr/>
            </p:nvSpPr>
            <p:spPr bwMode="auto">
              <a:xfrm>
                <a:off x="8301459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95" name="Rectangle 7"/>
              <p:cNvSpPr>
                <a:spLocks noChangeArrowheads="1"/>
              </p:cNvSpPr>
              <p:nvPr/>
            </p:nvSpPr>
            <p:spPr bwMode="auto">
              <a:xfrm>
                <a:off x="7782347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96" name="Rectangle 8"/>
              <p:cNvSpPr>
                <a:spLocks noChangeArrowheads="1"/>
              </p:cNvSpPr>
              <p:nvPr/>
            </p:nvSpPr>
            <p:spPr bwMode="auto">
              <a:xfrm>
                <a:off x="7264822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97" name="Rectangle 9"/>
              <p:cNvSpPr>
                <a:spLocks noChangeArrowheads="1"/>
              </p:cNvSpPr>
              <p:nvPr/>
            </p:nvSpPr>
            <p:spPr bwMode="auto">
              <a:xfrm>
                <a:off x="6745709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98" name="Rectangle 10"/>
              <p:cNvSpPr>
                <a:spLocks noChangeArrowheads="1"/>
              </p:cNvSpPr>
              <p:nvPr/>
            </p:nvSpPr>
            <p:spPr bwMode="auto">
              <a:xfrm>
                <a:off x="8301459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99" name="Rectangle 11"/>
              <p:cNvSpPr>
                <a:spLocks noChangeArrowheads="1"/>
              </p:cNvSpPr>
              <p:nvPr/>
            </p:nvSpPr>
            <p:spPr bwMode="auto">
              <a:xfrm>
                <a:off x="7782347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100" name="Rectangle 12"/>
              <p:cNvSpPr>
                <a:spLocks noChangeArrowheads="1"/>
              </p:cNvSpPr>
              <p:nvPr/>
            </p:nvSpPr>
            <p:spPr bwMode="auto">
              <a:xfrm>
                <a:off x="7264822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01" name="Rectangle 13"/>
              <p:cNvSpPr>
                <a:spLocks noChangeArrowheads="1"/>
              </p:cNvSpPr>
              <p:nvPr/>
            </p:nvSpPr>
            <p:spPr bwMode="auto">
              <a:xfrm>
                <a:off x="6745709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02" name="Line 14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2073275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3" name="Line 15"/>
              <p:cNvSpPr>
                <a:spLocks noChangeShapeType="1"/>
              </p:cNvSpPr>
              <p:nvPr/>
            </p:nvSpPr>
            <p:spPr bwMode="auto">
              <a:xfrm>
                <a:off x="6745709" y="1975170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4" name="Line 17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5" name="Line 18"/>
              <p:cNvSpPr>
                <a:spLocks noChangeShapeType="1"/>
              </p:cNvSpPr>
              <p:nvPr/>
            </p:nvSpPr>
            <p:spPr bwMode="auto">
              <a:xfrm>
                <a:off x="7264822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6" name="Line 19"/>
              <p:cNvSpPr>
                <a:spLocks noChangeShapeType="1"/>
              </p:cNvSpPr>
              <p:nvPr/>
            </p:nvSpPr>
            <p:spPr bwMode="auto">
              <a:xfrm>
                <a:off x="7782347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7" name="Line 20"/>
              <p:cNvSpPr>
                <a:spLocks noChangeShapeType="1"/>
              </p:cNvSpPr>
              <p:nvPr/>
            </p:nvSpPr>
            <p:spPr bwMode="auto">
              <a:xfrm>
                <a:off x="8301459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8" name="Line 21"/>
              <p:cNvSpPr>
                <a:spLocks noChangeShapeType="1"/>
              </p:cNvSpPr>
              <p:nvPr/>
            </p:nvSpPr>
            <p:spPr bwMode="auto">
              <a:xfrm>
                <a:off x="8818984" y="1975170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09" name="Line 22"/>
              <p:cNvSpPr>
                <a:spLocks noChangeShapeType="1"/>
              </p:cNvSpPr>
              <p:nvPr/>
            </p:nvSpPr>
            <p:spPr bwMode="auto">
              <a:xfrm>
                <a:off x="8818984" y="1601977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10" name="Line 23"/>
              <p:cNvSpPr>
                <a:spLocks noChangeShapeType="1"/>
              </p:cNvSpPr>
              <p:nvPr/>
            </p:nvSpPr>
            <p:spPr bwMode="auto">
              <a:xfrm>
                <a:off x="6471072" y="1325245"/>
                <a:ext cx="274638" cy="27673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11" name="Text Box 24"/>
              <p:cNvSpPr txBox="1">
                <a:spLocks noChangeArrowheads="1"/>
              </p:cNvSpPr>
              <p:nvPr/>
            </p:nvSpPr>
            <p:spPr bwMode="auto">
              <a:xfrm>
                <a:off x="6737102" y="1274642"/>
                <a:ext cx="218905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00     01     11     10</a:t>
                </a:r>
              </a:p>
            </p:txBody>
          </p:sp>
          <p:sp>
            <p:nvSpPr>
              <p:cNvPr id="112" name="Text Box 25"/>
              <p:cNvSpPr txBox="1">
                <a:spLocks noChangeArrowheads="1"/>
              </p:cNvSpPr>
              <p:nvPr/>
            </p:nvSpPr>
            <p:spPr bwMode="auto">
              <a:xfrm>
                <a:off x="6304856" y="1711086"/>
                <a:ext cx="504057" cy="138056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00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10</a:t>
                </a:r>
              </a:p>
            </p:txBody>
          </p:sp>
          <p:sp>
            <p:nvSpPr>
              <p:cNvPr id="113" name="Text Box 26"/>
              <p:cNvSpPr txBox="1">
                <a:spLocks noChangeArrowheads="1"/>
              </p:cNvSpPr>
              <p:nvPr/>
            </p:nvSpPr>
            <p:spPr bwMode="auto">
              <a:xfrm>
                <a:off x="5898655" y="1290465"/>
                <a:ext cx="951272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2</a:t>
                </a:r>
                <a:endParaRPr lang="en-US" altLang="zh-CN" sz="1200" b="1" baseline="30000" dirty="0"/>
              </a:p>
            </p:txBody>
          </p:sp>
          <p:sp>
            <p:nvSpPr>
              <p:cNvPr id="114" name="Text Box 27"/>
              <p:cNvSpPr txBox="1">
                <a:spLocks noChangeArrowheads="1"/>
              </p:cNvSpPr>
              <p:nvPr/>
            </p:nvSpPr>
            <p:spPr bwMode="auto">
              <a:xfrm>
                <a:off x="6362587" y="1050876"/>
                <a:ext cx="103617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2</a:t>
                </a:r>
                <a:r>
                  <a:rPr lang="en-US" altLang="zh-CN" sz="1200" b="1" baseline="30000" dirty="0"/>
                  <a:t>n</a:t>
                </a:r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baseline="30000" dirty="0"/>
                  <a:t>n</a:t>
                </a:r>
              </a:p>
            </p:txBody>
          </p:sp>
          <p:sp>
            <p:nvSpPr>
              <p:cNvPr id="115" name="Rectangle 6"/>
              <p:cNvSpPr>
                <a:spLocks noChangeArrowheads="1"/>
              </p:cNvSpPr>
              <p:nvPr/>
            </p:nvSpPr>
            <p:spPr bwMode="auto">
              <a:xfrm>
                <a:off x="8303520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16" name="Rectangle 7"/>
              <p:cNvSpPr>
                <a:spLocks noChangeArrowheads="1"/>
              </p:cNvSpPr>
              <p:nvPr/>
            </p:nvSpPr>
            <p:spPr bwMode="auto">
              <a:xfrm>
                <a:off x="7784408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17" name="Rectangle 8"/>
              <p:cNvSpPr>
                <a:spLocks noChangeArrowheads="1"/>
              </p:cNvSpPr>
              <p:nvPr/>
            </p:nvSpPr>
            <p:spPr bwMode="auto">
              <a:xfrm>
                <a:off x="7266883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18" name="Rectangle 9"/>
              <p:cNvSpPr>
                <a:spLocks noChangeArrowheads="1"/>
              </p:cNvSpPr>
              <p:nvPr/>
            </p:nvSpPr>
            <p:spPr bwMode="auto">
              <a:xfrm>
                <a:off x="6747770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19" name="Rectangle 10"/>
              <p:cNvSpPr>
                <a:spLocks noChangeArrowheads="1"/>
              </p:cNvSpPr>
              <p:nvPr/>
            </p:nvSpPr>
            <p:spPr bwMode="auto">
              <a:xfrm>
                <a:off x="8303520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20" name="Rectangle 11"/>
              <p:cNvSpPr>
                <a:spLocks noChangeArrowheads="1"/>
              </p:cNvSpPr>
              <p:nvPr/>
            </p:nvSpPr>
            <p:spPr bwMode="auto">
              <a:xfrm>
                <a:off x="7784408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21" name="Rectangle 12"/>
              <p:cNvSpPr>
                <a:spLocks noChangeArrowheads="1"/>
              </p:cNvSpPr>
              <p:nvPr/>
            </p:nvSpPr>
            <p:spPr bwMode="auto">
              <a:xfrm>
                <a:off x="7266883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22" name="Rectangle 13"/>
              <p:cNvSpPr>
                <a:spLocks noChangeArrowheads="1"/>
              </p:cNvSpPr>
              <p:nvPr/>
            </p:nvSpPr>
            <p:spPr bwMode="auto">
              <a:xfrm>
                <a:off x="6747770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X</a:t>
                </a:r>
              </a:p>
            </p:txBody>
          </p:sp>
          <p:sp>
            <p:nvSpPr>
              <p:cNvPr id="123" name="Line 15"/>
              <p:cNvSpPr>
                <a:spLocks noChangeShapeType="1"/>
              </p:cNvSpPr>
              <p:nvPr/>
            </p:nvSpPr>
            <p:spPr bwMode="auto">
              <a:xfrm>
                <a:off x="6747770" y="2721299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24" name="Line 17"/>
              <p:cNvSpPr>
                <a:spLocks noChangeShapeType="1"/>
              </p:cNvSpPr>
              <p:nvPr/>
            </p:nvSpPr>
            <p:spPr bwMode="auto">
              <a:xfrm>
                <a:off x="6747770" y="2348106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25" name="Line 18"/>
              <p:cNvSpPr>
                <a:spLocks noChangeShapeType="1"/>
              </p:cNvSpPr>
              <p:nvPr/>
            </p:nvSpPr>
            <p:spPr bwMode="auto">
              <a:xfrm>
                <a:off x="7266883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26" name="Line 19"/>
              <p:cNvSpPr>
                <a:spLocks noChangeShapeType="1"/>
              </p:cNvSpPr>
              <p:nvPr/>
            </p:nvSpPr>
            <p:spPr bwMode="auto">
              <a:xfrm>
                <a:off x="7784408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27" name="Line 20"/>
              <p:cNvSpPr>
                <a:spLocks noChangeShapeType="1"/>
              </p:cNvSpPr>
              <p:nvPr/>
            </p:nvSpPr>
            <p:spPr bwMode="auto">
              <a:xfrm>
                <a:off x="8303520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28" name="Line 21"/>
              <p:cNvSpPr>
                <a:spLocks noChangeShapeType="1"/>
              </p:cNvSpPr>
              <p:nvPr/>
            </p:nvSpPr>
            <p:spPr bwMode="auto">
              <a:xfrm>
                <a:off x="8821045" y="2721299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29" name="Line 22"/>
              <p:cNvSpPr>
                <a:spLocks noChangeShapeType="1"/>
              </p:cNvSpPr>
              <p:nvPr/>
            </p:nvSpPr>
            <p:spPr bwMode="auto">
              <a:xfrm>
                <a:off x="8821045" y="2348106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grpSp>
          <p:nvGrpSpPr>
            <p:cNvPr id="7" name="组合 113"/>
            <p:cNvGrpSpPr/>
            <p:nvPr/>
          </p:nvGrpSpPr>
          <p:grpSpPr bwMode="auto">
            <a:xfrm>
              <a:off x="3563888" y="3147814"/>
              <a:ext cx="2096083" cy="1538298"/>
              <a:chOff x="5962090" y="1050876"/>
              <a:chExt cx="2964067" cy="2043616"/>
            </a:xfrm>
          </p:grpSpPr>
          <p:sp>
            <p:nvSpPr>
              <p:cNvPr id="131" name="Rectangle 6"/>
              <p:cNvSpPr>
                <a:spLocks noChangeArrowheads="1"/>
              </p:cNvSpPr>
              <p:nvPr/>
            </p:nvSpPr>
            <p:spPr bwMode="auto">
              <a:xfrm>
                <a:off x="8301459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32" name="Rectangle 7"/>
              <p:cNvSpPr>
                <a:spLocks noChangeArrowheads="1"/>
              </p:cNvSpPr>
              <p:nvPr/>
            </p:nvSpPr>
            <p:spPr bwMode="auto">
              <a:xfrm>
                <a:off x="7782347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133" name="Rectangle 8"/>
              <p:cNvSpPr>
                <a:spLocks noChangeArrowheads="1"/>
              </p:cNvSpPr>
              <p:nvPr/>
            </p:nvSpPr>
            <p:spPr bwMode="auto">
              <a:xfrm>
                <a:off x="7264822" y="1975170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34" name="Rectangle 9"/>
              <p:cNvSpPr>
                <a:spLocks noChangeArrowheads="1"/>
              </p:cNvSpPr>
              <p:nvPr/>
            </p:nvSpPr>
            <p:spPr bwMode="auto">
              <a:xfrm>
                <a:off x="6745709" y="1975170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35" name="Rectangle 10"/>
              <p:cNvSpPr>
                <a:spLocks noChangeArrowheads="1"/>
              </p:cNvSpPr>
              <p:nvPr/>
            </p:nvSpPr>
            <p:spPr bwMode="auto">
              <a:xfrm>
                <a:off x="8301459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36" name="Rectangle 11"/>
              <p:cNvSpPr>
                <a:spLocks noChangeArrowheads="1"/>
              </p:cNvSpPr>
              <p:nvPr/>
            </p:nvSpPr>
            <p:spPr bwMode="auto">
              <a:xfrm>
                <a:off x="7782347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137" name="Rectangle 12"/>
              <p:cNvSpPr>
                <a:spLocks noChangeArrowheads="1"/>
              </p:cNvSpPr>
              <p:nvPr/>
            </p:nvSpPr>
            <p:spPr bwMode="auto">
              <a:xfrm>
                <a:off x="7264822" y="1601977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38" name="Rectangle 13"/>
              <p:cNvSpPr>
                <a:spLocks noChangeArrowheads="1"/>
              </p:cNvSpPr>
              <p:nvPr/>
            </p:nvSpPr>
            <p:spPr bwMode="auto">
              <a:xfrm>
                <a:off x="6745709" y="1601977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39" name="Line 14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2073275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0" name="Line 15"/>
              <p:cNvSpPr>
                <a:spLocks noChangeShapeType="1"/>
              </p:cNvSpPr>
              <p:nvPr/>
            </p:nvSpPr>
            <p:spPr bwMode="auto">
              <a:xfrm>
                <a:off x="6745709" y="1975170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1" name="Line 17"/>
              <p:cNvSpPr>
                <a:spLocks noChangeShapeType="1"/>
              </p:cNvSpPr>
              <p:nvPr/>
            </p:nvSpPr>
            <p:spPr bwMode="auto">
              <a:xfrm>
                <a:off x="6745709" y="1601977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2" name="Line 18"/>
              <p:cNvSpPr>
                <a:spLocks noChangeShapeType="1"/>
              </p:cNvSpPr>
              <p:nvPr/>
            </p:nvSpPr>
            <p:spPr bwMode="auto">
              <a:xfrm>
                <a:off x="7264822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3" name="Line 19"/>
              <p:cNvSpPr>
                <a:spLocks noChangeShapeType="1"/>
              </p:cNvSpPr>
              <p:nvPr/>
            </p:nvSpPr>
            <p:spPr bwMode="auto">
              <a:xfrm>
                <a:off x="7782347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4" name="Line 20"/>
              <p:cNvSpPr>
                <a:spLocks noChangeShapeType="1"/>
              </p:cNvSpPr>
              <p:nvPr/>
            </p:nvSpPr>
            <p:spPr bwMode="auto">
              <a:xfrm>
                <a:off x="8301459" y="1601977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5" name="Line 21"/>
              <p:cNvSpPr>
                <a:spLocks noChangeShapeType="1"/>
              </p:cNvSpPr>
              <p:nvPr/>
            </p:nvSpPr>
            <p:spPr bwMode="auto">
              <a:xfrm>
                <a:off x="8818984" y="1975170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6" name="Line 22"/>
              <p:cNvSpPr>
                <a:spLocks noChangeShapeType="1"/>
              </p:cNvSpPr>
              <p:nvPr/>
            </p:nvSpPr>
            <p:spPr bwMode="auto">
              <a:xfrm>
                <a:off x="8818984" y="1601977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7" name="Line 23"/>
              <p:cNvSpPr>
                <a:spLocks noChangeShapeType="1"/>
              </p:cNvSpPr>
              <p:nvPr/>
            </p:nvSpPr>
            <p:spPr bwMode="auto">
              <a:xfrm>
                <a:off x="6471072" y="1325245"/>
                <a:ext cx="274638" cy="27673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48" name="Text Box 24"/>
              <p:cNvSpPr txBox="1">
                <a:spLocks noChangeArrowheads="1"/>
              </p:cNvSpPr>
              <p:nvPr/>
            </p:nvSpPr>
            <p:spPr bwMode="auto">
              <a:xfrm>
                <a:off x="6737102" y="1274642"/>
                <a:ext cx="218905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00     01     11     10</a:t>
                </a:r>
              </a:p>
            </p:txBody>
          </p:sp>
          <p:sp>
            <p:nvSpPr>
              <p:cNvPr id="149" name="Text Box 25"/>
              <p:cNvSpPr txBox="1">
                <a:spLocks noChangeArrowheads="1"/>
              </p:cNvSpPr>
              <p:nvPr/>
            </p:nvSpPr>
            <p:spPr bwMode="auto">
              <a:xfrm>
                <a:off x="6304856" y="1711086"/>
                <a:ext cx="504057" cy="138056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00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01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11</a:t>
                </a:r>
              </a:p>
              <a:p>
                <a:pPr>
                  <a:lnSpc>
                    <a:spcPct val="65000"/>
                  </a:lnSpc>
                  <a:spcBef>
                    <a:spcPts val="1200"/>
                  </a:spcBef>
                </a:pPr>
                <a:r>
                  <a:rPr lang="en-US" altLang="zh-CN" sz="1200" b="1" dirty="0"/>
                  <a:t>10</a:t>
                </a:r>
              </a:p>
            </p:txBody>
          </p:sp>
          <p:sp>
            <p:nvSpPr>
              <p:cNvPr id="150" name="Text Box 26"/>
              <p:cNvSpPr txBox="1">
                <a:spLocks noChangeArrowheads="1"/>
              </p:cNvSpPr>
              <p:nvPr/>
            </p:nvSpPr>
            <p:spPr bwMode="auto">
              <a:xfrm>
                <a:off x="5962090" y="1290465"/>
                <a:ext cx="927542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X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2</a:t>
                </a:r>
                <a:endParaRPr lang="en-US" altLang="zh-CN" sz="1200" b="1" baseline="30000" dirty="0"/>
              </a:p>
            </p:txBody>
          </p:sp>
          <p:sp>
            <p:nvSpPr>
              <p:cNvPr id="151" name="Text Box 27"/>
              <p:cNvSpPr txBox="1">
                <a:spLocks noChangeArrowheads="1"/>
              </p:cNvSpPr>
              <p:nvPr/>
            </p:nvSpPr>
            <p:spPr bwMode="auto">
              <a:xfrm>
                <a:off x="6362587" y="1050876"/>
                <a:ext cx="1036175" cy="367991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2</a:t>
                </a:r>
                <a:r>
                  <a:rPr lang="en-US" altLang="zh-CN" sz="1200" b="1" baseline="30000" dirty="0"/>
                  <a:t>n</a:t>
                </a:r>
                <a:r>
                  <a:rPr lang="en-US" altLang="zh-CN" sz="1200" b="1" dirty="0"/>
                  <a:t>Q</a:t>
                </a:r>
                <a:r>
                  <a:rPr lang="en-US" altLang="zh-CN" sz="1200" b="1" baseline="-25000" dirty="0"/>
                  <a:t>1</a:t>
                </a:r>
                <a:r>
                  <a:rPr lang="en-US" altLang="zh-CN" sz="1200" b="1" baseline="30000" dirty="0"/>
                  <a:t>n</a:t>
                </a:r>
              </a:p>
            </p:txBody>
          </p:sp>
          <p:sp>
            <p:nvSpPr>
              <p:cNvPr id="152" name="Rectangle 6"/>
              <p:cNvSpPr>
                <a:spLocks noChangeArrowheads="1"/>
              </p:cNvSpPr>
              <p:nvPr/>
            </p:nvSpPr>
            <p:spPr bwMode="auto">
              <a:xfrm>
                <a:off x="8303520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53" name="Rectangle 7"/>
              <p:cNvSpPr>
                <a:spLocks noChangeArrowheads="1"/>
              </p:cNvSpPr>
              <p:nvPr/>
            </p:nvSpPr>
            <p:spPr bwMode="auto">
              <a:xfrm>
                <a:off x="7784408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154" name="Rectangle 8"/>
              <p:cNvSpPr>
                <a:spLocks noChangeArrowheads="1"/>
              </p:cNvSpPr>
              <p:nvPr/>
            </p:nvSpPr>
            <p:spPr bwMode="auto">
              <a:xfrm>
                <a:off x="7266883" y="2721299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55" name="Rectangle 9"/>
              <p:cNvSpPr>
                <a:spLocks noChangeArrowheads="1"/>
              </p:cNvSpPr>
              <p:nvPr/>
            </p:nvSpPr>
            <p:spPr bwMode="auto">
              <a:xfrm>
                <a:off x="6747770" y="2721299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56" name="Rectangle 10"/>
              <p:cNvSpPr>
                <a:spLocks noChangeArrowheads="1"/>
              </p:cNvSpPr>
              <p:nvPr/>
            </p:nvSpPr>
            <p:spPr bwMode="auto">
              <a:xfrm>
                <a:off x="8303520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57" name="Rectangle 11"/>
              <p:cNvSpPr>
                <a:spLocks noChangeArrowheads="1"/>
              </p:cNvSpPr>
              <p:nvPr/>
            </p:nvSpPr>
            <p:spPr bwMode="auto">
              <a:xfrm>
                <a:off x="7784408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1</a:t>
                </a:r>
              </a:p>
            </p:txBody>
          </p:sp>
          <p:sp>
            <p:nvSpPr>
              <p:cNvPr id="158" name="Rectangle 12"/>
              <p:cNvSpPr>
                <a:spLocks noChangeArrowheads="1"/>
              </p:cNvSpPr>
              <p:nvPr/>
            </p:nvSpPr>
            <p:spPr bwMode="auto">
              <a:xfrm>
                <a:off x="7266883" y="2348106"/>
                <a:ext cx="517525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59" name="Rectangle 13"/>
              <p:cNvSpPr>
                <a:spLocks noChangeArrowheads="1"/>
              </p:cNvSpPr>
              <p:nvPr/>
            </p:nvSpPr>
            <p:spPr bwMode="auto">
              <a:xfrm>
                <a:off x="6747770" y="2348106"/>
                <a:ext cx="519113" cy="373193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200" b="1" dirty="0"/>
                  <a:t>0</a:t>
                </a:r>
              </a:p>
            </p:txBody>
          </p:sp>
          <p:sp>
            <p:nvSpPr>
              <p:cNvPr id="160" name="Line 15"/>
              <p:cNvSpPr>
                <a:spLocks noChangeShapeType="1"/>
              </p:cNvSpPr>
              <p:nvPr/>
            </p:nvSpPr>
            <p:spPr bwMode="auto">
              <a:xfrm>
                <a:off x="6747770" y="2721299"/>
                <a:ext cx="207327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61" name="Line 17"/>
              <p:cNvSpPr>
                <a:spLocks noChangeShapeType="1"/>
              </p:cNvSpPr>
              <p:nvPr/>
            </p:nvSpPr>
            <p:spPr bwMode="auto">
              <a:xfrm>
                <a:off x="6747770" y="2348106"/>
                <a:ext cx="0" cy="74638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62" name="Line 18"/>
              <p:cNvSpPr>
                <a:spLocks noChangeShapeType="1"/>
              </p:cNvSpPr>
              <p:nvPr/>
            </p:nvSpPr>
            <p:spPr bwMode="auto">
              <a:xfrm>
                <a:off x="7266883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63" name="Line 19"/>
              <p:cNvSpPr>
                <a:spLocks noChangeShapeType="1"/>
              </p:cNvSpPr>
              <p:nvPr/>
            </p:nvSpPr>
            <p:spPr bwMode="auto">
              <a:xfrm>
                <a:off x="7784408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64" name="Line 20"/>
              <p:cNvSpPr>
                <a:spLocks noChangeShapeType="1"/>
              </p:cNvSpPr>
              <p:nvPr/>
            </p:nvSpPr>
            <p:spPr bwMode="auto">
              <a:xfrm>
                <a:off x="8303520" y="2348106"/>
                <a:ext cx="0" cy="74638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65" name="Line 21"/>
              <p:cNvSpPr>
                <a:spLocks noChangeShapeType="1"/>
              </p:cNvSpPr>
              <p:nvPr/>
            </p:nvSpPr>
            <p:spPr bwMode="auto">
              <a:xfrm>
                <a:off x="8821045" y="2721299"/>
                <a:ext cx="0" cy="37319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166" name="Line 22"/>
              <p:cNvSpPr>
                <a:spLocks noChangeShapeType="1"/>
              </p:cNvSpPr>
              <p:nvPr/>
            </p:nvSpPr>
            <p:spPr bwMode="auto">
              <a:xfrm>
                <a:off x="8821045" y="2348106"/>
                <a:ext cx="0" cy="373193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sp>
          <p:nvSpPr>
            <p:cNvPr id="167" name="AutoShape 43"/>
            <p:cNvSpPr>
              <a:spLocks noChangeArrowheads="1"/>
            </p:cNvSpPr>
            <p:nvPr/>
          </p:nvSpPr>
          <p:spPr bwMode="auto">
            <a:xfrm>
              <a:off x="1447080" y="1770137"/>
              <a:ext cx="684000" cy="504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rgbClr val="99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170" name="AutoShape 43"/>
            <p:cNvSpPr>
              <a:spLocks noChangeArrowheads="1"/>
            </p:cNvSpPr>
            <p:nvPr/>
          </p:nvSpPr>
          <p:spPr bwMode="auto">
            <a:xfrm>
              <a:off x="3925321" y="1453530"/>
              <a:ext cx="1332000" cy="216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173" name="AutoShape 43"/>
            <p:cNvSpPr>
              <a:spLocks noChangeArrowheads="1"/>
            </p:cNvSpPr>
            <p:nvPr/>
          </p:nvSpPr>
          <p:spPr bwMode="auto">
            <a:xfrm>
              <a:off x="4896493" y="3578288"/>
              <a:ext cx="288000" cy="1116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178" name="AutoShape 43"/>
            <p:cNvSpPr>
              <a:spLocks noChangeArrowheads="1"/>
            </p:cNvSpPr>
            <p:nvPr/>
          </p:nvSpPr>
          <p:spPr bwMode="auto">
            <a:xfrm>
              <a:off x="1087040" y="2039119"/>
              <a:ext cx="1404000" cy="504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rgbClr val="00CC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181" name="AutoShape 43"/>
            <p:cNvSpPr>
              <a:spLocks noChangeArrowheads="1"/>
            </p:cNvSpPr>
            <p:nvPr/>
          </p:nvSpPr>
          <p:spPr bwMode="auto">
            <a:xfrm>
              <a:off x="1826172" y="3477791"/>
              <a:ext cx="684000" cy="1116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263" name="AutoShape 43"/>
            <p:cNvSpPr>
              <a:spLocks noChangeArrowheads="1"/>
            </p:cNvSpPr>
            <p:nvPr/>
          </p:nvSpPr>
          <p:spPr bwMode="auto">
            <a:xfrm>
              <a:off x="6834214" y="1655391"/>
              <a:ext cx="648000" cy="216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rgbClr val="00CC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278" name="AutoShape 43"/>
            <p:cNvSpPr>
              <a:spLocks noChangeArrowheads="1"/>
            </p:cNvSpPr>
            <p:nvPr/>
          </p:nvSpPr>
          <p:spPr bwMode="auto">
            <a:xfrm>
              <a:off x="1087042" y="3477847"/>
              <a:ext cx="1404000" cy="504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rgbClr val="00CC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279" name="左中括号 278"/>
            <p:cNvSpPr/>
            <p:nvPr/>
          </p:nvSpPr>
          <p:spPr bwMode="auto">
            <a:xfrm rot="16200000">
              <a:off x="1681042" y="2857340"/>
              <a:ext cx="252000" cy="1440000"/>
            </a:xfrm>
            <a:prstGeom prst="leftBracket">
              <a:avLst>
                <a:gd name="adj" fmla="val 59863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0" name="左中括号 279"/>
            <p:cNvSpPr/>
            <p:nvPr/>
          </p:nvSpPr>
          <p:spPr bwMode="auto">
            <a:xfrm rot="5400000">
              <a:off x="1673777" y="3711887"/>
              <a:ext cx="252000" cy="1512000"/>
            </a:xfrm>
            <a:prstGeom prst="leftBracket">
              <a:avLst>
                <a:gd name="adj" fmla="val 59863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" name="组合 284"/>
            <p:cNvGrpSpPr/>
            <p:nvPr/>
          </p:nvGrpSpPr>
          <p:grpSpPr>
            <a:xfrm>
              <a:off x="4064004" y="2614488"/>
              <a:ext cx="1080120" cy="307777"/>
              <a:chOff x="3995936" y="2355726"/>
              <a:chExt cx="1080120" cy="307777"/>
            </a:xfrm>
          </p:grpSpPr>
          <p:sp>
            <p:nvSpPr>
              <p:cNvPr id="282" name="Text Box 151"/>
              <p:cNvSpPr txBox="1">
                <a:spLocks noChangeArrowheads="1"/>
              </p:cNvSpPr>
              <p:nvPr/>
            </p:nvSpPr>
            <p:spPr bwMode="auto">
              <a:xfrm>
                <a:off x="3995936" y="2355726"/>
                <a:ext cx="1080120" cy="30777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latin typeface="+mj-lt"/>
                  </a:rPr>
                  <a:t>K</a:t>
                </a:r>
                <a:r>
                  <a:rPr kumimoji="0" lang="en-US" altLang="zh-CN" sz="1400" b="1" baseline="-25000" dirty="0">
                    <a:latin typeface="+mj-lt"/>
                  </a:rPr>
                  <a:t>2 </a:t>
                </a:r>
                <a:r>
                  <a:rPr lang="en-US" altLang="zh-CN" sz="1400" b="1" dirty="0">
                    <a:latin typeface="+mj-lt"/>
                  </a:rPr>
                  <a:t>=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2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  <a:endParaRPr kumimoji="0" lang="en-US" altLang="zh-CN" sz="1400" b="1" baseline="30000" dirty="0">
                  <a:latin typeface="+mj-lt"/>
                </a:endParaRPr>
              </a:p>
            </p:txBody>
          </p:sp>
          <p:sp>
            <p:nvSpPr>
              <p:cNvPr id="283" name="Line 153"/>
              <p:cNvSpPr>
                <a:spLocks noChangeShapeType="1"/>
              </p:cNvSpPr>
              <p:nvPr/>
            </p:nvSpPr>
            <p:spPr bwMode="auto">
              <a:xfrm>
                <a:off x="4447034" y="24086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  <p:sp>
            <p:nvSpPr>
              <p:cNvPr id="284" name="Line 153"/>
              <p:cNvSpPr>
                <a:spLocks noChangeShapeType="1"/>
              </p:cNvSpPr>
              <p:nvPr/>
            </p:nvSpPr>
            <p:spPr bwMode="auto">
              <a:xfrm>
                <a:off x="4663074" y="24086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</p:grpSp>
        <p:grpSp>
          <p:nvGrpSpPr>
            <p:cNvPr id="9" name="组合 288"/>
            <p:cNvGrpSpPr/>
            <p:nvPr/>
          </p:nvGrpSpPr>
          <p:grpSpPr>
            <a:xfrm>
              <a:off x="6834214" y="2552005"/>
              <a:ext cx="1296144" cy="307777"/>
              <a:chOff x="7164288" y="2335981"/>
              <a:chExt cx="1296144" cy="307777"/>
            </a:xfrm>
          </p:grpSpPr>
          <p:sp>
            <p:nvSpPr>
              <p:cNvPr id="286" name="Text Box 151"/>
              <p:cNvSpPr txBox="1">
                <a:spLocks noChangeArrowheads="1"/>
              </p:cNvSpPr>
              <p:nvPr/>
            </p:nvSpPr>
            <p:spPr bwMode="auto">
              <a:xfrm>
                <a:off x="7164288" y="2335981"/>
                <a:ext cx="1296144" cy="30777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latin typeface="+mj-lt"/>
                  </a:rPr>
                  <a:t>J</a:t>
                </a:r>
                <a:r>
                  <a:rPr kumimoji="0" lang="en-US" altLang="zh-CN" sz="1400" b="1" baseline="-25000" dirty="0">
                    <a:latin typeface="+mj-lt"/>
                  </a:rPr>
                  <a:t>1 </a:t>
                </a:r>
                <a:r>
                  <a:rPr lang="en-US" altLang="zh-CN" sz="1400" b="1" dirty="0">
                    <a:latin typeface="+mj-lt"/>
                  </a:rPr>
                  <a:t>=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2</a:t>
                </a:r>
                <a:r>
                  <a:rPr kumimoji="0" lang="en-US" altLang="zh-CN" sz="1400" b="1" dirty="0"/>
                  <a:t>Q</a:t>
                </a:r>
                <a:r>
                  <a:rPr kumimoji="0" lang="en-US" altLang="zh-CN" sz="1400" b="1" baseline="-25000" dirty="0"/>
                  <a:t>2</a:t>
                </a:r>
                <a:r>
                  <a:rPr kumimoji="0" lang="en-US" altLang="zh-CN" sz="1400" b="1" baseline="30000" dirty="0"/>
                  <a:t>n</a:t>
                </a:r>
                <a:r>
                  <a:rPr lang="en-US" altLang="zh-CN" sz="1400" b="1" dirty="0">
                    <a:latin typeface="+mj-lt"/>
                  </a:rPr>
                  <a:t> </a:t>
                </a:r>
                <a:endParaRPr kumimoji="0" lang="en-US" altLang="zh-CN" sz="1400" b="1" baseline="30000" dirty="0">
                  <a:latin typeface="+mj-lt"/>
                </a:endParaRPr>
              </a:p>
            </p:txBody>
          </p:sp>
          <p:sp>
            <p:nvSpPr>
              <p:cNvPr id="287" name="Line 153"/>
              <p:cNvSpPr>
                <a:spLocks noChangeShapeType="1"/>
              </p:cNvSpPr>
              <p:nvPr/>
            </p:nvSpPr>
            <p:spPr bwMode="auto">
              <a:xfrm>
                <a:off x="7596336" y="2393826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  <p:sp>
            <p:nvSpPr>
              <p:cNvPr id="288" name="Line 153"/>
              <p:cNvSpPr>
                <a:spLocks noChangeShapeType="1"/>
              </p:cNvSpPr>
              <p:nvPr/>
            </p:nvSpPr>
            <p:spPr bwMode="auto">
              <a:xfrm>
                <a:off x="7990300" y="2393826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</p:grpSp>
        <p:grpSp>
          <p:nvGrpSpPr>
            <p:cNvPr id="10" name="组合 294"/>
            <p:cNvGrpSpPr/>
            <p:nvPr/>
          </p:nvGrpSpPr>
          <p:grpSpPr>
            <a:xfrm>
              <a:off x="971600" y="4731990"/>
              <a:ext cx="1656184" cy="307777"/>
              <a:chOff x="1691680" y="4155926"/>
              <a:chExt cx="1656184" cy="307777"/>
            </a:xfrm>
          </p:grpSpPr>
          <p:sp>
            <p:nvSpPr>
              <p:cNvPr id="292" name="Text Box 151"/>
              <p:cNvSpPr txBox="1">
                <a:spLocks noChangeArrowheads="1"/>
              </p:cNvSpPr>
              <p:nvPr/>
            </p:nvSpPr>
            <p:spPr bwMode="auto">
              <a:xfrm>
                <a:off x="1691680" y="4155926"/>
                <a:ext cx="1656184" cy="30777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latin typeface="+mj-lt"/>
                  </a:rPr>
                  <a:t>K</a:t>
                </a:r>
                <a:r>
                  <a:rPr kumimoji="0" lang="en-US" altLang="zh-CN" sz="1400" b="1" baseline="-25000" dirty="0">
                    <a:latin typeface="+mj-lt"/>
                  </a:rPr>
                  <a:t>1 </a:t>
                </a:r>
                <a:r>
                  <a:rPr lang="en-US" altLang="zh-CN" sz="1400" b="1" dirty="0">
                    <a:latin typeface="+mj-lt"/>
                  </a:rPr>
                  <a:t>= </a:t>
                </a:r>
                <a:r>
                  <a:rPr kumimoji="0" lang="en-US" altLang="zh-CN" sz="1400" b="1" dirty="0"/>
                  <a:t>Q</a:t>
                </a:r>
                <a:r>
                  <a:rPr kumimoji="0" lang="en-US" altLang="zh-CN" sz="1400" b="1" baseline="-25000" dirty="0"/>
                  <a:t>2</a:t>
                </a:r>
                <a:r>
                  <a:rPr kumimoji="0" lang="en-US" altLang="zh-CN" sz="1400" b="1" baseline="30000" dirty="0"/>
                  <a:t>n</a:t>
                </a:r>
                <a:r>
                  <a:rPr lang="en-US" altLang="zh-CN" sz="1400" b="1" dirty="0"/>
                  <a:t> +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2</a:t>
                </a:r>
                <a:r>
                  <a:rPr lang="en-US" altLang="zh-CN" sz="1400" b="1" dirty="0">
                    <a:latin typeface="+mj-lt"/>
                  </a:rPr>
                  <a:t> +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  <a:endParaRPr kumimoji="0" lang="en-US" altLang="zh-CN" sz="1400" b="1" baseline="30000" dirty="0">
                  <a:latin typeface="+mj-lt"/>
                </a:endParaRPr>
              </a:p>
            </p:txBody>
          </p:sp>
          <p:sp>
            <p:nvSpPr>
              <p:cNvPr id="293" name="Line 153"/>
              <p:cNvSpPr>
                <a:spLocks noChangeShapeType="1"/>
              </p:cNvSpPr>
              <p:nvPr/>
            </p:nvSpPr>
            <p:spPr bwMode="auto">
              <a:xfrm>
                <a:off x="2627784" y="42088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  <p:sp>
            <p:nvSpPr>
              <p:cNvPr id="294" name="Line 153"/>
              <p:cNvSpPr>
                <a:spLocks noChangeShapeType="1"/>
              </p:cNvSpPr>
              <p:nvPr/>
            </p:nvSpPr>
            <p:spPr bwMode="auto">
              <a:xfrm>
                <a:off x="3016399" y="42088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</p:grpSp>
        <p:sp>
          <p:nvSpPr>
            <p:cNvPr id="297" name="Text Box 151"/>
            <p:cNvSpPr txBox="1">
              <a:spLocks noChangeArrowheads="1"/>
            </p:cNvSpPr>
            <p:nvPr/>
          </p:nvSpPr>
          <p:spPr bwMode="auto">
            <a:xfrm>
              <a:off x="4067944" y="4784253"/>
              <a:ext cx="129614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+mj-lt"/>
                </a:rPr>
                <a:t>Z</a:t>
              </a:r>
              <a:r>
                <a:rPr kumimoji="0" lang="en-US" altLang="zh-CN" sz="1400" b="1" baseline="-25000" dirty="0">
                  <a:latin typeface="+mj-lt"/>
                </a:rPr>
                <a:t> </a:t>
              </a:r>
              <a:r>
                <a:rPr lang="en-US" altLang="zh-CN" sz="1400" b="1" dirty="0">
                  <a:latin typeface="+mj-lt"/>
                </a:rPr>
                <a:t>= </a:t>
              </a:r>
              <a:r>
                <a:rPr kumimoji="0" lang="en-US" altLang="zh-CN" sz="1400" b="1" dirty="0"/>
                <a:t>Q</a:t>
              </a:r>
              <a:r>
                <a:rPr kumimoji="0" lang="en-US" altLang="zh-CN" sz="1400" b="1" baseline="-25000" dirty="0"/>
                <a:t>2</a:t>
              </a:r>
              <a:r>
                <a:rPr kumimoji="0" lang="en-US" altLang="zh-CN" sz="1400" b="1" baseline="30000" dirty="0"/>
                <a:t>n</a:t>
              </a:r>
              <a:r>
                <a:rPr kumimoji="0" lang="en-US" altLang="zh-CN" sz="1400" b="1" dirty="0"/>
                <a:t>Q</a:t>
              </a:r>
              <a:r>
                <a:rPr kumimoji="0" lang="en-US" altLang="zh-CN" sz="1400" b="1" baseline="-25000" dirty="0"/>
                <a:t>1</a:t>
              </a:r>
              <a:r>
                <a:rPr kumimoji="0" lang="en-US" altLang="zh-CN" sz="1400" b="1" baseline="30000" dirty="0"/>
                <a:t>n</a:t>
              </a:r>
              <a:endParaRPr kumimoji="0" lang="en-US" altLang="zh-CN" sz="1400" b="1" baseline="30000" dirty="0">
                <a:latin typeface="+mj-lt"/>
              </a:endParaRPr>
            </a:p>
          </p:txBody>
        </p:sp>
      </p:grpSp>
      <p:sp>
        <p:nvSpPr>
          <p:cNvPr id="219" name="Text Box 4"/>
          <p:cNvSpPr txBox="1">
            <a:spLocks noChangeArrowheads="1"/>
          </p:cNvSpPr>
          <p:nvPr/>
        </p:nvSpPr>
        <p:spPr bwMode="auto">
          <a:xfrm>
            <a:off x="1726849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1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55526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149"/>
          <p:cNvSpPr txBox="1">
            <a:spLocks noChangeArrowheads="1"/>
          </p:cNvSpPr>
          <p:nvPr/>
        </p:nvSpPr>
        <p:spPr bwMode="auto">
          <a:xfrm>
            <a:off x="827584" y="699542"/>
            <a:ext cx="2016224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ea typeface="宋体" panose="02010600030101010101" pitchFamily="2" charset="-122"/>
              </a:rPr>
              <a:t>6. 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电路实现</a:t>
            </a:r>
          </a:p>
        </p:txBody>
      </p:sp>
      <p:grpSp>
        <p:nvGrpSpPr>
          <p:cNvPr id="2" name="组合 83"/>
          <p:cNvGrpSpPr/>
          <p:nvPr/>
        </p:nvGrpSpPr>
        <p:grpSpPr>
          <a:xfrm>
            <a:off x="1331640" y="1203598"/>
            <a:ext cx="1800184" cy="1747937"/>
            <a:chOff x="899608" y="1275606"/>
            <a:chExt cx="1800184" cy="1747937"/>
          </a:xfrm>
        </p:grpSpPr>
        <p:sp>
          <p:nvSpPr>
            <p:cNvPr id="69" name="Text Box 151"/>
            <p:cNvSpPr txBox="1">
              <a:spLocks noChangeArrowheads="1"/>
            </p:cNvSpPr>
            <p:nvPr/>
          </p:nvSpPr>
          <p:spPr bwMode="auto">
            <a:xfrm>
              <a:off x="1043608" y="1275606"/>
              <a:ext cx="1440160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+mj-lt"/>
                </a:rPr>
                <a:t>J</a:t>
              </a:r>
              <a:r>
                <a:rPr kumimoji="0" lang="en-US" altLang="zh-CN" sz="1400" b="1" baseline="-25000" dirty="0">
                  <a:latin typeface="+mj-lt"/>
                </a:rPr>
                <a:t>2 </a:t>
              </a:r>
              <a:r>
                <a:rPr lang="en-US" altLang="zh-CN" sz="1400" b="1" dirty="0">
                  <a:latin typeface="+mj-lt"/>
                </a:rPr>
                <a:t>= </a:t>
              </a:r>
              <a:r>
                <a:rPr kumimoji="0" lang="en-US" altLang="zh-CN" sz="1400" b="1" dirty="0">
                  <a:latin typeface="+mj-lt"/>
                </a:rPr>
                <a:t>X</a:t>
              </a:r>
              <a:r>
                <a:rPr kumimoji="0" lang="en-US" altLang="zh-CN" sz="1400" b="1" baseline="-25000" dirty="0">
                  <a:latin typeface="+mj-lt"/>
                </a:rPr>
                <a:t>2</a:t>
              </a:r>
              <a:r>
                <a:rPr kumimoji="0" lang="en-US" altLang="zh-CN" sz="1400" b="1" dirty="0"/>
                <a:t>Q</a:t>
              </a:r>
              <a:r>
                <a:rPr kumimoji="0" lang="en-US" altLang="zh-CN" sz="1400" b="1" baseline="-25000" dirty="0"/>
                <a:t>1</a:t>
              </a:r>
              <a:r>
                <a:rPr kumimoji="0" lang="en-US" altLang="zh-CN" sz="1400" b="1" baseline="30000" dirty="0"/>
                <a:t>n</a:t>
              </a:r>
              <a:r>
                <a:rPr lang="en-US" altLang="zh-CN" sz="1400" b="1" dirty="0">
                  <a:latin typeface="+mj-lt"/>
                </a:rPr>
                <a:t> + </a:t>
              </a:r>
              <a:r>
                <a:rPr kumimoji="0" lang="en-US" altLang="zh-CN" sz="1400" b="1" dirty="0">
                  <a:latin typeface="+mj-lt"/>
                </a:rPr>
                <a:t>X</a:t>
              </a:r>
              <a:r>
                <a:rPr kumimoji="0" lang="en-US" altLang="zh-CN" sz="1400" b="1" baseline="-25000" dirty="0">
                  <a:latin typeface="+mj-lt"/>
                </a:rPr>
                <a:t>1</a:t>
              </a:r>
              <a:endParaRPr kumimoji="0" lang="en-US" altLang="zh-CN" sz="1400" b="1" baseline="30000" dirty="0">
                <a:latin typeface="+mj-lt"/>
              </a:endParaRPr>
            </a:p>
          </p:txBody>
        </p:sp>
        <p:grpSp>
          <p:nvGrpSpPr>
            <p:cNvPr id="3" name="组合 69"/>
            <p:cNvGrpSpPr/>
            <p:nvPr/>
          </p:nvGrpSpPr>
          <p:grpSpPr>
            <a:xfrm>
              <a:off x="1043608" y="1635646"/>
              <a:ext cx="1080120" cy="307777"/>
              <a:chOff x="3995936" y="2355726"/>
              <a:chExt cx="1080120" cy="307777"/>
            </a:xfrm>
          </p:grpSpPr>
          <p:sp>
            <p:nvSpPr>
              <p:cNvPr id="71" name="Text Box 151"/>
              <p:cNvSpPr txBox="1">
                <a:spLocks noChangeArrowheads="1"/>
              </p:cNvSpPr>
              <p:nvPr/>
            </p:nvSpPr>
            <p:spPr bwMode="auto">
              <a:xfrm>
                <a:off x="3995936" y="2355726"/>
                <a:ext cx="1080120" cy="30777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latin typeface="+mj-lt"/>
                  </a:rPr>
                  <a:t>K</a:t>
                </a:r>
                <a:r>
                  <a:rPr kumimoji="0" lang="en-US" altLang="zh-CN" sz="1400" b="1" baseline="-25000" dirty="0">
                    <a:latin typeface="+mj-lt"/>
                  </a:rPr>
                  <a:t>2 </a:t>
                </a:r>
                <a:r>
                  <a:rPr lang="en-US" altLang="zh-CN" sz="1400" b="1" dirty="0">
                    <a:latin typeface="+mj-lt"/>
                  </a:rPr>
                  <a:t>=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2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  <a:endParaRPr kumimoji="0" lang="en-US" altLang="zh-CN" sz="1400" b="1" baseline="30000" dirty="0">
                  <a:latin typeface="+mj-lt"/>
                </a:endParaRPr>
              </a:p>
            </p:txBody>
          </p:sp>
          <p:sp>
            <p:nvSpPr>
              <p:cNvPr id="72" name="Line 153"/>
              <p:cNvSpPr>
                <a:spLocks noChangeShapeType="1"/>
              </p:cNvSpPr>
              <p:nvPr/>
            </p:nvSpPr>
            <p:spPr bwMode="auto">
              <a:xfrm>
                <a:off x="4447034" y="24086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  <p:sp>
            <p:nvSpPr>
              <p:cNvPr id="73" name="Line 153"/>
              <p:cNvSpPr>
                <a:spLocks noChangeShapeType="1"/>
              </p:cNvSpPr>
              <p:nvPr/>
            </p:nvSpPr>
            <p:spPr bwMode="auto">
              <a:xfrm>
                <a:off x="4663074" y="24086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</p:grpSp>
        <p:grpSp>
          <p:nvGrpSpPr>
            <p:cNvPr id="4" name="组合 73"/>
            <p:cNvGrpSpPr/>
            <p:nvPr/>
          </p:nvGrpSpPr>
          <p:grpSpPr>
            <a:xfrm>
              <a:off x="1043608" y="1995686"/>
              <a:ext cx="1296144" cy="307777"/>
              <a:chOff x="7164288" y="2335981"/>
              <a:chExt cx="1296144" cy="307777"/>
            </a:xfrm>
          </p:grpSpPr>
          <p:sp>
            <p:nvSpPr>
              <p:cNvPr id="75" name="Text Box 151"/>
              <p:cNvSpPr txBox="1">
                <a:spLocks noChangeArrowheads="1"/>
              </p:cNvSpPr>
              <p:nvPr/>
            </p:nvSpPr>
            <p:spPr bwMode="auto">
              <a:xfrm>
                <a:off x="7164288" y="2335981"/>
                <a:ext cx="1296144" cy="30777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latin typeface="+mj-lt"/>
                  </a:rPr>
                  <a:t>J</a:t>
                </a:r>
                <a:r>
                  <a:rPr kumimoji="0" lang="en-US" altLang="zh-CN" sz="1400" b="1" baseline="-25000" dirty="0">
                    <a:latin typeface="+mj-lt"/>
                  </a:rPr>
                  <a:t>1 </a:t>
                </a:r>
                <a:r>
                  <a:rPr lang="en-US" altLang="zh-CN" sz="1400" b="1" dirty="0">
                    <a:latin typeface="+mj-lt"/>
                  </a:rPr>
                  <a:t>=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2</a:t>
                </a:r>
                <a:r>
                  <a:rPr kumimoji="0" lang="en-US" altLang="zh-CN" sz="1400" b="1" dirty="0"/>
                  <a:t>Q</a:t>
                </a:r>
                <a:r>
                  <a:rPr kumimoji="0" lang="en-US" altLang="zh-CN" sz="1400" b="1" baseline="-25000" dirty="0"/>
                  <a:t>2</a:t>
                </a:r>
                <a:r>
                  <a:rPr kumimoji="0" lang="en-US" altLang="zh-CN" sz="1400" b="1" baseline="30000" dirty="0"/>
                  <a:t>n</a:t>
                </a:r>
                <a:r>
                  <a:rPr lang="en-US" altLang="zh-CN" sz="1400" b="1" dirty="0">
                    <a:latin typeface="+mj-lt"/>
                  </a:rPr>
                  <a:t> </a:t>
                </a:r>
                <a:endParaRPr kumimoji="0" lang="en-US" altLang="zh-CN" sz="1400" b="1" baseline="30000" dirty="0">
                  <a:latin typeface="+mj-lt"/>
                </a:endParaRPr>
              </a:p>
            </p:txBody>
          </p:sp>
          <p:sp>
            <p:nvSpPr>
              <p:cNvPr id="76" name="Line 153"/>
              <p:cNvSpPr>
                <a:spLocks noChangeShapeType="1"/>
              </p:cNvSpPr>
              <p:nvPr/>
            </p:nvSpPr>
            <p:spPr bwMode="auto">
              <a:xfrm>
                <a:off x="7596336" y="2393826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  <p:sp>
            <p:nvSpPr>
              <p:cNvPr id="77" name="Line 153"/>
              <p:cNvSpPr>
                <a:spLocks noChangeShapeType="1"/>
              </p:cNvSpPr>
              <p:nvPr/>
            </p:nvSpPr>
            <p:spPr bwMode="auto">
              <a:xfrm>
                <a:off x="7990300" y="2393826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</p:grpSp>
        <p:grpSp>
          <p:nvGrpSpPr>
            <p:cNvPr id="5" name="组合 77"/>
            <p:cNvGrpSpPr/>
            <p:nvPr/>
          </p:nvGrpSpPr>
          <p:grpSpPr>
            <a:xfrm>
              <a:off x="1043608" y="2346201"/>
              <a:ext cx="1656184" cy="307777"/>
              <a:chOff x="1691680" y="4155926"/>
              <a:chExt cx="1656184" cy="307777"/>
            </a:xfrm>
          </p:grpSpPr>
          <p:sp>
            <p:nvSpPr>
              <p:cNvPr id="79" name="Text Box 151"/>
              <p:cNvSpPr txBox="1">
                <a:spLocks noChangeArrowheads="1"/>
              </p:cNvSpPr>
              <p:nvPr/>
            </p:nvSpPr>
            <p:spPr bwMode="auto">
              <a:xfrm>
                <a:off x="1691680" y="4155926"/>
                <a:ext cx="1656184" cy="30777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latin typeface="+mj-lt"/>
                  </a:rPr>
                  <a:t>K</a:t>
                </a:r>
                <a:r>
                  <a:rPr kumimoji="0" lang="en-US" altLang="zh-CN" sz="1400" b="1" baseline="-25000" dirty="0">
                    <a:latin typeface="+mj-lt"/>
                  </a:rPr>
                  <a:t>1 </a:t>
                </a:r>
                <a:r>
                  <a:rPr lang="en-US" altLang="zh-CN" sz="1400" b="1" dirty="0">
                    <a:latin typeface="+mj-lt"/>
                  </a:rPr>
                  <a:t>= </a:t>
                </a:r>
                <a:r>
                  <a:rPr kumimoji="0" lang="en-US" altLang="zh-CN" sz="1400" b="1" dirty="0"/>
                  <a:t>Q</a:t>
                </a:r>
                <a:r>
                  <a:rPr kumimoji="0" lang="en-US" altLang="zh-CN" sz="1400" b="1" baseline="-25000" dirty="0"/>
                  <a:t>2</a:t>
                </a:r>
                <a:r>
                  <a:rPr kumimoji="0" lang="en-US" altLang="zh-CN" sz="1400" b="1" baseline="30000" dirty="0"/>
                  <a:t>n</a:t>
                </a:r>
                <a:r>
                  <a:rPr lang="en-US" altLang="zh-CN" sz="1400" b="1" dirty="0"/>
                  <a:t> +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2</a:t>
                </a:r>
                <a:r>
                  <a:rPr lang="en-US" altLang="zh-CN" sz="1400" b="1" dirty="0">
                    <a:latin typeface="+mj-lt"/>
                  </a:rPr>
                  <a:t> + </a:t>
                </a:r>
                <a:r>
                  <a:rPr kumimoji="0" lang="en-US" altLang="zh-CN" sz="1400" b="1" dirty="0">
                    <a:latin typeface="+mj-lt"/>
                  </a:rPr>
                  <a:t>X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  <a:endParaRPr kumimoji="0" lang="en-US" altLang="zh-CN" sz="1400" b="1" baseline="30000" dirty="0">
                  <a:latin typeface="+mj-lt"/>
                </a:endParaRPr>
              </a:p>
            </p:txBody>
          </p:sp>
          <p:sp>
            <p:nvSpPr>
              <p:cNvPr id="80" name="Line 153"/>
              <p:cNvSpPr>
                <a:spLocks noChangeShapeType="1"/>
              </p:cNvSpPr>
              <p:nvPr/>
            </p:nvSpPr>
            <p:spPr bwMode="auto">
              <a:xfrm>
                <a:off x="2627784" y="42088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  <p:sp>
            <p:nvSpPr>
              <p:cNvPr id="81" name="Line 153"/>
              <p:cNvSpPr>
                <a:spLocks noChangeShapeType="1"/>
              </p:cNvSpPr>
              <p:nvPr/>
            </p:nvSpPr>
            <p:spPr bwMode="auto">
              <a:xfrm>
                <a:off x="3016399" y="4208884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>
                  <a:latin typeface="+mj-lt"/>
                </a:endParaRPr>
              </a:p>
            </p:txBody>
          </p:sp>
        </p:grpSp>
        <p:sp>
          <p:nvSpPr>
            <p:cNvPr id="82" name="Text Box 151"/>
            <p:cNvSpPr txBox="1">
              <a:spLocks noChangeArrowheads="1"/>
            </p:cNvSpPr>
            <p:nvPr/>
          </p:nvSpPr>
          <p:spPr bwMode="auto">
            <a:xfrm>
              <a:off x="1062658" y="2715766"/>
              <a:ext cx="129614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+mj-lt"/>
                </a:rPr>
                <a:t>Z</a:t>
              </a:r>
              <a:r>
                <a:rPr kumimoji="0" lang="en-US" altLang="zh-CN" sz="1400" b="1" baseline="-25000" dirty="0">
                  <a:latin typeface="+mj-lt"/>
                </a:rPr>
                <a:t> </a:t>
              </a:r>
              <a:r>
                <a:rPr lang="en-US" altLang="zh-CN" sz="1400" b="1" dirty="0">
                  <a:latin typeface="+mj-lt"/>
                </a:rPr>
                <a:t>= </a:t>
              </a:r>
              <a:r>
                <a:rPr kumimoji="0" lang="en-US" altLang="zh-CN" sz="1400" b="1" dirty="0"/>
                <a:t>Q</a:t>
              </a:r>
              <a:r>
                <a:rPr kumimoji="0" lang="en-US" altLang="zh-CN" sz="1400" b="1" baseline="-25000" dirty="0"/>
                <a:t>2</a:t>
              </a:r>
              <a:r>
                <a:rPr kumimoji="0" lang="en-US" altLang="zh-CN" sz="1400" b="1" baseline="30000" dirty="0"/>
                <a:t>n</a:t>
              </a:r>
              <a:r>
                <a:rPr kumimoji="0" lang="en-US" altLang="zh-CN" sz="1400" b="1" dirty="0"/>
                <a:t>Q</a:t>
              </a:r>
              <a:r>
                <a:rPr kumimoji="0" lang="en-US" altLang="zh-CN" sz="1400" b="1" baseline="-25000" dirty="0"/>
                <a:t>1</a:t>
              </a:r>
              <a:r>
                <a:rPr kumimoji="0" lang="en-US" altLang="zh-CN" sz="1400" b="1" baseline="30000" dirty="0"/>
                <a:t>n</a:t>
              </a:r>
              <a:endParaRPr kumimoji="0" lang="en-US" altLang="zh-CN" sz="1400" b="1" baseline="30000" dirty="0">
                <a:latin typeface="+mj-lt"/>
              </a:endParaRPr>
            </a:p>
          </p:txBody>
        </p:sp>
        <p:sp>
          <p:nvSpPr>
            <p:cNvPr id="83" name="左大括号 82"/>
            <p:cNvSpPr/>
            <p:nvPr/>
          </p:nvSpPr>
          <p:spPr bwMode="auto">
            <a:xfrm>
              <a:off x="899608" y="1383790"/>
              <a:ext cx="144000" cy="1548000"/>
            </a:xfrm>
            <a:prstGeom prst="leftBrace">
              <a:avLst>
                <a:gd name="adj1" fmla="val 57937"/>
                <a:gd name="adj2" fmla="val 50000"/>
              </a:avLst>
            </a:pr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201"/>
          <p:cNvGrpSpPr/>
          <p:nvPr/>
        </p:nvGrpSpPr>
        <p:grpSpPr>
          <a:xfrm>
            <a:off x="4499992" y="732865"/>
            <a:ext cx="3484750" cy="3711093"/>
            <a:chOff x="4286072" y="1028680"/>
            <a:chExt cx="3484750" cy="3711093"/>
          </a:xfrm>
        </p:grpSpPr>
        <p:sp>
          <p:nvSpPr>
            <p:cNvPr id="197" name="Line 25"/>
            <p:cNvSpPr>
              <a:spLocks noChangeShapeType="1"/>
            </p:cNvSpPr>
            <p:nvPr/>
          </p:nvSpPr>
          <p:spPr bwMode="auto">
            <a:xfrm rot="16200000">
              <a:off x="5954972" y="2655829"/>
              <a:ext cx="576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0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6200000">
              <a:off x="5543647" y="2915312"/>
              <a:ext cx="491267" cy="307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0" name="直接连接符 34"/>
            <p:cNvCxnSpPr>
              <a:cxnSpLocks noChangeShapeType="1"/>
            </p:cNvCxnSpPr>
            <p:nvPr/>
          </p:nvCxnSpPr>
          <p:spPr bwMode="auto">
            <a:xfrm rot="5400000">
              <a:off x="5830017" y="2496071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oval" w="sm" len="sm"/>
              <a:tailEnd type="oval" w="sm" len="sm"/>
            </a:ln>
          </p:spPr>
        </p:cxnSp>
        <p:grpSp>
          <p:nvGrpSpPr>
            <p:cNvPr id="7" name="组合 16"/>
            <p:cNvGrpSpPr/>
            <p:nvPr/>
          </p:nvGrpSpPr>
          <p:grpSpPr bwMode="auto">
            <a:xfrm>
              <a:off x="5659105" y="1773329"/>
              <a:ext cx="803540" cy="1116000"/>
              <a:chOff x="1863800" y="2409069"/>
              <a:chExt cx="803540" cy="1116868"/>
            </a:xfrm>
          </p:grpSpPr>
          <p:cxnSp>
            <p:nvCxnSpPr>
              <p:cNvPr id="62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52167" y="2789074"/>
                <a:ext cx="57644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63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441795" y="2966709"/>
                <a:ext cx="111686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64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" name="TextBox 64"/>
              <p:cNvSpPr txBox="1">
                <a:spLocks noChangeArrowheads="1"/>
              </p:cNvSpPr>
              <p:nvPr/>
            </p:nvSpPr>
            <p:spPr bwMode="auto">
              <a:xfrm>
                <a:off x="2310034" y="2877221"/>
                <a:ext cx="357306" cy="246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TextBox 65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462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TextBox 66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462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68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2" name="等腰三角形 36"/>
            <p:cNvSpPr>
              <a:spLocks noChangeArrowheads="1"/>
            </p:cNvSpPr>
            <p:nvPr/>
          </p:nvSpPr>
          <p:spPr bwMode="auto">
            <a:xfrm>
              <a:off x="5974229" y="2329912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>
              <a:spLocks noChangeArrowheads="1"/>
            </p:cNvSpPr>
            <p:nvPr/>
          </p:nvSpPr>
          <p:spPr bwMode="auto">
            <a:xfrm>
              <a:off x="5866453" y="2172856"/>
              <a:ext cx="422275" cy="214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4" name="Text Box 69"/>
            <p:cNvSpPr txBox="1">
              <a:spLocks noChangeArrowheads="1"/>
            </p:cNvSpPr>
            <p:nvPr/>
          </p:nvSpPr>
          <p:spPr bwMode="auto">
            <a:xfrm>
              <a:off x="5076056" y="2554078"/>
              <a:ext cx="437686" cy="30775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25" name="直接连接符 34"/>
            <p:cNvCxnSpPr>
              <a:cxnSpLocks noChangeShapeType="1"/>
            </p:cNvCxnSpPr>
            <p:nvPr/>
          </p:nvCxnSpPr>
          <p:spPr bwMode="auto">
            <a:xfrm rot="5400000">
              <a:off x="7012605" y="2506692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grpSp>
          <p:nvGrpSpPr>
            <p:cNvPr id="8" name="组合 16"/>
            <p:cNvGrpSpPr/>
            <p:nvPr/>
          </p:nvGrpSpPr>
          <p:grpSpPr bwMode="auto">
            <a:xfrm>
              <a:off x="6836229" y="1660029"/>
              <a:ext cx="803540" cy="1260000"/>
              <a:chOff x="1863914" y="2281530"/>
              <a:chExt cx="803540" cy="1260988"/>
            </a:xfrm>
          </p:grpSpPr>
          <p:cxnSp>
            <p:nvCxnSpPr>
              <p:cNvPr id="55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044078" y="3035127"/>
                <a:ext cx="792622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5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369735" y="2911230"/>
                <a:ext cx="126098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57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>
                <a:spLocks noChangeArrowheads="1"/>
              </p:cNvSpPr>
              <p:nvPr/>
            </p:nvSpPr>
            <p:spPr bwMode="auto">
              <a:xfrm>
                <a:off x="2310148" y="2877375"/>
                <a:ext cx="357306" cy="2462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TextBox 58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0" name="TextBox 59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61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7" name="等腰三角形 36"/>
            <p:cNvSpPr>
              <a:spLocks noChangeArrowheads="1"/>
            </p:cNvSpPr>
            <p:nvPr/>
          </p:nvSpPr>
          <p:spPr bwMode="auto">
            <a:xfrm>
              <a:off x="7151238" y="2344060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7043577" y="2187143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 rot="16200000" flipV="1">
              <a:off x="6343484" y="1839438"/>
              <a:ext cx="0" cy="1728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0"/>
            <p:cNvSpPr txBox="1">
              <a:spLocks noChangeArrowheads="1"/>
            </p:cNvSpPr>
            <p:nvPr/>
          </p:nvSpPr>
          <p:spPr bwMode="auto">
            <a:xfrm>
              <a:off x="5669603" y="2242706"/>
              <a:ext cx="357188" cy="2460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2" name="TextBox 31"/>
            <p:cNvSpPr txBox="1">
              <a:spLocks noChangeArrowheads="1"/>
            </p:cNvSpPr>
            <p:nvPr/>
          </p:nvSpPr>
          <p:spPr bwMode="auto">
            <a:xfrm>
              <a:off x="6814977" y="2256993"/>
              <a:ext cx="355600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3" name="椭圆 93"/>
            <p:cNvSpPr>
              <a:spLocks noChangeArrowheads="1"/>
            </p:cNvSpPr>
            <p:nvPr/>
          </p:nvSpPr>
          <p:spPr bwMode="auto">
            <a:xfrm>
              <a:off x="7171285" y="2450321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椭圆 93"/>
            <p:cNvSpPr>
              <a:spLocks noChangeArrowheads="1"/>
            </p:cNvSpPr>
            <p:nvPr/>
          </p:nvSpPr>
          <p:spPr bwMode="auto">
            <a:xfrm>
              <a:off x="5993502" y="2440230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 rot="16200000" flipV="1">
              <a:off x="6848763" y="1757945"/>
              <a:ext cx="0" cy="252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8" name="直接连接符 154"/>
            <p:cNvCxnSpPr>
              <a:cxnSpLocks noChangeShapeType="1"/>
            </p:cNvCxnSpPr>
            <p:nvPr/>
          </p:nvCxnSpPr>
          <p:spPr bwMode="auto">
            <a:xfrm>
              <a:off x="6534805" y="1874420"/>
              <a:ext cx="0" cy="144000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39" name="Text Box 69"/>
            <p:cNvSpPr txBox="1">
              <a:spLocks noChangeArrowheads="1"/>
            </p:cNvSpPr>
            <p:nvPr/>
          </p:nvSpPr>
          <p:spPr bwMode="auto">
            <a:xfrm>
              <a:off x="6780436" y="1028680"/>
              <a:ext cx="437686" cy="30775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C00000"/>
                  </a:solidFill>
                </a:rPr>
                <a:t>Z </a:t>
              </a:r>
              <a:endParaRPr kumimoji="0" lang="en-US" altLang="zh-CN" sz="1400" b="1" baseline="-25000" dirty="0">
                <a:solidFill>
                  <a:srgbClr val="C00000"/>
                </a:solidFill>
              </a:endParaRPr>
            </a:p>
          </p:txBody>
        </p:sp>
        <p:cxnSp>
          <p:nvCxnSpPr>
            <p:cNvPr id="41" name="直接连接符 115"/>
            <p:cNvCxnSpPr>
              <a:cxnSpLocks noChangeShapeType="1"/>
            </p:cNvCxnSpPr>
            <p:nvPr/>
          </p:nvCxnSpPr>
          <p:spPr bwMode="auto">
            <a:xfrm>
              <a:off x="6913787" y="1304907"/>
              <a:ext cx="0" cy="216083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42" name="直接连接符 115"/>
            <p:cNvCxnSpPr>
              <a:cxnSpLocks noChangeShapeType="1"/>
            </p:cNvCxnSpPr>
            <p:nvPr/>
          </p:nvCxnSpPr>
          <p:spPr bwMode="auto">
            <a:xfrm>
              <a:off x="6847681" y="1563638"/>
              <a:ext cx="0" cy="216083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oval" w="sm" len="sm"/>
              <a:tailEnd type="oval" w="sm" len="sm"/>
            </a:ln>
          </p:spPr>
        </p:cxnSp>
        <p:sp>
          <p:nvSpPr>
            <p:cNvPr id="49" name="流程图: 延期 95"/>
            <p:cNvSpPr>
              <a:spLocks noChangeArrowheads="1"/>
            </p:cNvSpPr>
            <p:nvPr/>
          </p:nvSpPr>
          <p:spPr bwMode="auto">
            <a:xfrm rot="16200000">
              <a:off x="6784148" y="1401622"/>
              <a:ext cx="252000" cy="288000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79"/>
            <p:cNvSpPr>
              <a:spLocks noChangeShapeType="1"/>
            </p:cNvSpPr>
            <p:nvPr/>
          </p:nvSpPr>
          <p:spPr bwMode="auto">
            <a:xfrm rot="5400000">
              <a:off x="5673840" y="2940985"/>
              <a:ext cx="2116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6" name="Line 26"/>
            <p:cNvSpPr>
              <a:spLocks noChangeShapeType="1"/>
            </p:cNvSpPr>
            <p:nvPr/>
          </p:nvSpPr>
          <p:spPr bwMode="auto">
            <a:xfrm rot="16200000">
              <a:off x="4726079" y="4150676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7"/>
            <p:cNvSpPr>
              <a:spLocks noChangeShapeType="1"/>
            </p:cNvSpPr>
            <p:nvPr/>
          </p:nvSpPr>
          <p:spPr bwMode="auto">
            <a:xfrm rot="16200000">
              <a:off x="6076053" y="3322400"/>
              <a:ext cx="0" cy="1332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8"/>
            <p:cNvSpPr>
              <a:spLocks noChangeShapeType="1"/>
            </p:cNvSpPr>
            <p:nvPr/>
          </p:nvSpPr>
          <p:spPr bwMode="auto">
            <a:xfrm rot="16200000" flipV="1">
              <a:off x="4790555" y="4110836"/>
              <a:ext cx="0" cy="241179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28"/>
            <p:cNvSpPr>
              <a:spLocks noChangeShapeType="1"/>
            </p:cNvSpPr>
            <p:nvPr/>
          </p:nvSpPr>
          <p:spPr bwMode="auto">
            <a:xfrm rot="16200000" flipV="1">
              <a:off x="4790555" y="4479276"/>
              <a:ext cx="0" cy="241179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4" name="直接连接符 129"/>
            <p:cNvCxnSpPr>
              <a:cxnSpLocks noChangeShapeType="1"/>
            </p:cNvCxnSpPr>
            <p:nvPr/>
          </p:nvCxnSpPr>
          <p:spPr bwMode="auto">
            <a:xfrm flipH="1">
              <a:off x="6535266" y="3311325"/>
              <a:ext cx="3456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95" name="直接连接符 150"/>
            <p:cNvCxnSpPr>
              <a:cxnSpLocks noChangeShapeType="1"/>
            </p:cNvCxnSpPr>
            <p:nvPr/>
          </p:nvCxnSpPr>
          <p:spPr bwMode="auto">
            <a:xfrm flipH="1">
              <a:off x="5174021" y="4223923"/>
              <a:ext cx="21816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96" name="直接连接符 160"/>
            <p:cNvCxnSpPr>
              <a:cxnSpLocks noChangeShapeType="1"/>
            </p:cNvCxnSpPr>
            <p:nvPr/>
          </p:nvCxnSpPr>
          <p:spPr bwMode="auto">
            <a:xfrm flipH="1">
              <a:off x="4805581" y="4087858"/>
              <a:ext cx="21600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97" name="Text Box 69"/>
            <p:cNvSpPr txBox="1">
              <a:spLocks noChangeArrowheads="1"/>
            </p:cNvSpPr>
            <p:nvPr/>
          </p:nvSpPr>
          <p:spPr bwMode="auto">
            <a:xfrm>
              <a:off x="4286072" y="4431996"/>
              <a:ext cx="432048" cy="30777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/>
                <a:t>X</a:t>
              </a:r>
              <a:r>
                <a:rPr kumimoji="0" lang="en-US" altLang="zh-CN" sz="1400" b="1" baseline="-25000" dirty="0"/>
                <a:t>1 </a:t>
              </a:r>
            </a:p>
          </p:txBody>
        </p:sp>
        <p:sp>
          <p:nvSpPr>
            <p:cNvPr id="115" name="Line 25"/>
            <p:cNvSpPr>
              <a:spLocks noChangeShapeType="1"/>
            </p:cNvSpPr>
            <p:nvPr/>
          </p:nvSpPr>
          <p:spPr bwMode="auto">
            <a:xfrm rot="16200000">
              <a:off x="5341316" y="3485583"/>
              <a:ext cx="25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7"/>
            <p:cNvSpPr>
              <a:spLocks noChangeShapeType="1"/>
            </p:cNvSpPr>
            <p:nvPr/>
          </p:nvSpPr>
          <p:spPr bwMode="auto">
            <a:xfrm rot="16200000">
              <a:off x="5590046" y="3234361"/>
              <a:ext cx="0" cy="2592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38"/>
            <p:cNvSpPr>
              <a:spLocks noChangeShapeType="1"/>
            </p:cNvSpPr>
            <p:nvPr/>
          </p:nvSpPr>
          <p:spPr bwMode="auto">
            <a:xfrm rot="16200000">
              <a:off x="5637172" y="3283499"/>
              <a:ext cx="1799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39"/>
            <p:cNvSpPr>
              <a:spLocks noChangeShapeType="1"/>
            </p:cNvSpPr>
            <p:nvPr/>
          </p:nvSpPr>
          <p:spPr bwMode="auto">
            <a:xfrm rot="16200000">
              <a:off x="5226527" y="3816018"/>
              <a:ext cx="1260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32"/>
            <p:cNvSpPr>
              <a:spLocks noChangeShapeType="1"/>
            </p:cNvSpPr>
            <p:nvPr/>
          </p:nvSpPr>
          <p:spPr bwMode="auto">
            <a:xfrm rot="16200000">
              <a:off x="5340782" y="3897423"/>
              <a:ext cx="396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31"/>
            <p:cNvSpPr>
              <a:spLocks noChangeShapeType="1"/>
            </p:cNvSpPr>
            <p:nvPr/>
          </p:nvSpPr>
          <p:spPr bwMode="auto">
            <a:xfrm rot="16200000">
              <a:off x="5274100" y="3878048"/>
              <a:ext cx="25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流程图: 延期 92"/>
            <p:cNvSpPr>
              <a:spLocks noChangeArrowheads="1"/>
            </p:cNvSpPr>
            <p:nvPr/>
          </p:nvSpPr>
          <p:spPr bwMode="auto">
            <a:xfrm rot="16200000">
              <a:off x="5326768" y="3582938"/>
              <a:ext cx="285750" cy="284162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9" name="组合 480"/>
            <p:cNvGrpSpPr/>
            <p:nvPr/>
          </p:nvGrpSpPr>
          <p:grpSpPr>
            <a:xfrm>
              <a:off x="4893941" y="4119662"/>
              <a:ext cx="292820" cy="216004"/>
              <a:chOff x="5868144" y="3867894"/>
              <a:chExt cx="292820" cy="216004"/>
            </a:xfrm>
          </p:grpSpPr>
          <p:sp>
            <p:nvSpPr>
              <p:cNvPr id="188" name="AutoShape 30"/>
              <p:cNvSpPr>
                <a:spLocks noChangeArrowheads="1"/>
              </p:cNvSpPr>
              <p:nvPr/>
            </p:nvSpPr>
            <p:spPr bwMode="auto">
              <a:xfrm rot="5400000">
                <a:off x="5868152" y="3867886"/>
                <a:ext cx="216004" cy="216020"/>
              </a:xfrm>
              <a:prstGeom prst="flowChartExtract">
                <a:avLst/>
              </a:prstGeom>
              <a:solidFill>
                <a:srgbClr val="CCFFCC"/>
              </a:solidFill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椭圆 188"/>
              <p:cNvSpPr/>
              <p:nvPr/>
            </p:nvSpPr>
            <p:spPr bwMode="auto">
              <a:xfrm>
                <a:off x="6088949" y="3939903"/>
                <a:ext cx="72015" cy="72009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pic>
          <p:nvPicPr>
            <p:cNvPr id="143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6200000">
              <a:off x="7165956" y="2913992"/>
              <a:ext cx="491267" cy="307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5" name="Line 26"/>
            <p:cNvSpPr>
              <a:spLocks noChangeShapeType="1"/>
            </p:cNvSpPr>
            <p:nvPr/>
          </p:nvSpPr>
          <p:spPr bwMode="auto">
            <a:xfrm rot="16200000">
              <a:off x="6973412" y="2565210"/>
              <a:ext cx="158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8"/>
            <p:cNvSpPr>
              <a:spLocks noChangeShapeType="1"/>
            </p:cNvSpPr>
            <p:nvPr/>
          </p:nvSpPr>
          <p:spPr bwMode="auto">
            <a:xfrm rot="16200000" flipV="1">
              <a:off x="7626822" y="3218641"/>
              <a:ext cx="0" cy="288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38"/>
            <p:cNvSpPr>
              <a:spLocks noChangeShapeType="1"/>
            </p:cNvSpPr>
            <p:nvPr/>
          </p:nvSpPr>
          <p:spPr bwMode="auto">
            <a:xfrm rot="16200000">
              <a:off x="6827468" y="3705934"/>
              <a:ext cx="10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39"/>
            <p:cNvSpPr>
              <a:spLocks noChangeShapeType="1"/>
            </p:cNvSpPr>
            <p:nvPr/>
          </p:nvSpPr>
          <p:spPr bwMode="auto">
            <a:xfrm rot="16200000">
              <a:off x="7388849" y="3282179"/>
              <a:ext cx="1799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50" name="直接连接符 79"/>
            <p:cNvCxnSpPr>
              <a:cxnSpLocks noChangeShapeType="1"/>
            </p:cNvCxnSpPr>
            <p:nvPr/>
          </p:nvCxnSpPr>
          <p:spPr bwMode="auto">
            <a:xfrm flipH="1">
              <a:off x="7416602" y="3195599"/>
              <a:ext cx="0" cy="138960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grpSp>
          <p:nvGrpSpPr>
            <p:cNvPr id="10" name="组合 481"/>
            <p:cNvGrpSpPr/>
            <p:nvPr/>
          </p:nvGrpSpPr>
          <p:grpSpPr>
            <a:xfrm>
              <a:off x="4893941" y="4479702"/>
              <a:ext cx="292820" cy="216004"/>
              <a:chOff x="5868144" y="3867894"/>
              <a:chExt cx="292820" cy="216004"/>
            </a:xfrm>
          </p:grpSpPr>
          <p:sp>
            <p:nvSpPr>
              <p:cNvPr id="186" name="AutoShape 30"/>
              <p:cNvSpPr>
                <a:spLocks noChangeArrowheads="1"/>
              </p:cNvSpPr>
              <p:nvPr/>
            </p:nvSpPr>
            <p:spPr bwMode="auto">
              <a:xfrm rot="5400000">
                <a:off x="5868152" y="3867886"/>
                <a:ext cx="216004" cy="216020"/>
              </a:xfrm>
              <a:prstGeom prst="flowChartExtract">
                <a:avLst/>
              </a:prstGeom>
              <a:solidFill>
                <a:srgbClr val="CCFFCC"/>
              </a:solidFill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椭圆 186"/>
              <p:cNvSpPr/>
              <p:nvPr/>
            </p:nvSpPr>
            <p:spPr bwMode="auto">
              <a:xfrm>
                <a:off x="6088949" y="3939903"/>
                <a:ext cx="72015" cy="72009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61" name="Line 32"/>
            <p:cNvSpPr>
              <a:spLocks noChangeShapeType="1"/>
            </p:cNvSpPr>
            <p:nvPr/>
          </p:nvSpPr>
          <p:spPr bwMode="auto">
            <a:xfrm rot="16200000">
              <a:off x="6469924" y="3579918"/>
              <a:ext cx="1008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31"/>
            <p:cNvSpPr>
              <a:spLocks noChangeShapeType="1"/>
            </p:cNvSpPr>
            <p:nvPr/>
          </p:nvSpPr>
          <p:spPr bwMode="auto">
            <a:xfrm rot="16200000">
              <a:off x="6751060" y="3194850"/>
              <a:ext cx="25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32"/>
            <p:cNvSpPr>
              <a:spLocks noChangeShapeType="1"/>
            </p:cNvSpPr>
            <p:nvPr/>
          </p:nvSpPr>
          <p:spPr bwMode="auto">
            <a:xfrm rot="16200000">
              <a:off x="6317924" y="3822449"/>
              <a:ext cx="151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流程图: 延期 92"/>
            <p:cNvSpPr>
              <a:spLocks noChangeArrowheads="1"/>
            </p:cNvSpPr>
            <p:nvPr/>
          </p:nvSpPr>
          <p:spPr bwMode="auto">
            <a:xfrm rot="16200000">
              <a:off x="6833232" y="2908037"/>
              <a:ext cx="285750" cy="284162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" name="Text Box 69"/>
            <p:cNvSpPr txBox="1">
              <a:spLocks noChangeArrowheads="1"/>
            </p:cNvSpPr>
            <p:nvPr/>
          </p:nvSpPr>
          <p:spPr bwMode="auto">
            <a:xfrm>
              <a:off x="4286072" y="4071956"/>
              <a:ext cx="432048" cy="30777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/>
                <a:t>X</a:t>
              </a:r>
              <a:r>
                <a:rPr kumimoji="0" lang="en-US" altLang="zh-CN" sz="1400" b="1" baseline="-25000" dirty="0"/>
                <a:t>2 </a:t>
              </a:r>
            </a:p>
          </p:txBody>
        </p:sp>
        <p:cxnSp>
          <p:nvCxnSpPr>
            <p:cNvPr id="166" name="直接连接符 150"/>
            <p:cNvCxnSpPr>
              <a:cxnSpLocks noChangeShapeType="1"/>
            </p:cNvCxnSpPr>
            <p:nvPr/>
          </p:nvCxnSpPr>
          <p:spPr bwMode="auto">
            <a:xfrm flipH="1">
              <a:off x="5174021" y="4583514"/>
              <a:ext cx="22536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167" name="Line 26"/>
            <p:cNvSpPr>
              <a:spLocks noChangeShapeType="1"/>
            </p:cNvSpPr>
            <p:nvPr/>
          </p:nvSpPr>
          <p:spPr bwMode="auto">
            <a:xfrm rot="16200000">
              <a:off x="4734030" y="4519450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8" name="直接连接符 160"/>
            <p:cNvCxnSpPr>
              <a:cxnSpLocks noChangeShapeType="1"/>
            </p:cNvCxnSpPr>
            <p:nvPr/>
          </p:nvCxnSpPr>
          <p:spPr bwMode="auto">
            <a:xfrm flipH="1">
              <a:off x="4798078" y="4447449"/>
              <a:ext cx="10440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176" name="直接连接符 129"/>
            <p:cNvCxnSpPr>
              <a:cxnSpLocks noChangeShapeType="1"/>
            </p:cNvCxnSpPr>
            <p:nvPr/>
          </p:nvCxnSpPr>
          <p:spPr bwMode="auto">
            <a:xfrm flipH="1">
              <a:off x="5796136" y="1780107"/>
              <a:ext cx="19620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181" name="Line 25"/>
            <p:cNvSpPr>
              <a:spLocks noChangeShapeType="1"/>
            </p:cNvSpPr>
            <p:nvPr/>
          </p:nvSpPr>
          <p:spPr bwMode="auto">
            <a:xfrm rot="16200000">
              <a:off x="7339957" y="2803145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32"/>
            <p:cNvSpPr>
              <a:spLocks noChangeShapeType="1"/>
            </p:cNvSpPr>
            <p:nvPr/>
          </p:nvSpPr>
          <p:spPr bwMode="auto">
            <a:xfrm rot="16200000">
              <a:off x="5558438" y="3822449"/>
              <a:ext cx="151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31"/>
            <p:cNvSpPr>
              <a:spLocks noChangeShapeType="1"/>
            </p:cNvSpPr>
            <p:nvPr/>
          </p:nvSpPr>
          <p:spPr bwMode="auto">
            <a:xfrm rot="16200000">
              <a:off x="5599756" y="3632884"/>
              <a:ext cx="115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流程图: 延期 92"/>
            <p:cNvSpPr>
              <a:spLocks noChangeArrowheads="1"/>
            </p:cNvSpPr>
            <p:nvPr/>
          </p:nvSpPr>
          <p:spPr bwMode="auto">
            <a:xfrm rot="16200000">
              <a:off x="6102424" y="2915184"/>
              <a:ext cx="285750" cy="284162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1" name="Line 28"/>
            <p:cNvSpPr>
              <a:spLocks noChangeShapeType="1"/>
            </p:cNvSpPr>
            <p:nvPr/>
          </p:nvSpPr>
          <p:spPr bwMode="auto">
            <a:xfrm rot="16200000" flipV="1">
              <a:off x="6391234" y="1727165"/>
              <a:ext cx="0" cy="288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102"/>
          <p:cNvGrpSpPr/>
          <p:nvPr/>
        </p:nvGrpSpPr>
        <p:grpSpPr>
          <a:xfrm>
            <a:off x="611560" y="3093252"/>
            <a:ext cx="3672408" cy="1772061"/>
            <a:chOff x="5743178" y="1945164"/>
            <a:chExt cx="3096344" cy="1354149"/>
          </a:xfrm>
        </p:grpSpPr>
        <p:sp>
          <p:nvSpPr>
            <p:cNvPr id="203" name="Text Box 3"/>
            <p:cNvSpPr txBox="1">
              <a:spLocks noChangeArrowheads="1"/>
            </p:cNvSpPr>
            <p:nvPr/>
          </p:nvSpPr>
          <p:spPr bwMode="auto">
            <a:xfrm>
              <a:off x="5795120" y="2283718"/>
              <a:ext cx="3025352" cy="999567"/>
            </a:xfrm>
            <a:prstGeom prst="rect">
              <a:avLst/>
            </a:prstGeom>
            <a:noFill/>
            <a:ln w="2857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n"/>
              </a:pPr>
              <a:r>
                <a:rPr lang="zh-CN" altLang="en-US" sz="1600" b="1" dirty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一维开锁：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密码正确</a:t>
              </a:r>
              <a:endParaRPr lang="en-US" altLang="zh-CN" sz="16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n"/>
              </a:pPr>
              <a:r>
                <a:rPr lang="zh-CN" altLang="en-US" sz="1600" b="1" dirty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二维开锁：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有限时间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密码正确</a:t>
              </a:r>
            </a:p>
            <a:p>
              <a:pPr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n"/>
              </a:pPr>
              <a:r>
                <a:rPr lang="zh-CN" altLang="en-US" sz="1600" b="1" dirty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三维开锁：</a:t>
              </a:r>
              <a:endParaRPr lang="en-US" altLang="zh-CN" sz="16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600"/>
                </a:spcBef>
                <a:buClr>
                  <a:srgbClr val="C00000"/>
                </a:buClr>
                <a:buSzPct val="70000"/>
              </a:pPr>
              <a:r>
                <a:rPr lang="en-US" altLang="zh-CN" sz="1600" b="1" dirty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有限时间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有限按键次数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密码正确</a:t>
              </a:r>
              <a:endParaRPr lang="zh-CN" altLang="en-US" sz="16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1" name="圆角矩形 248"/>
            <p:cNvSpPr>
              <a:spLocks noChangeArrowheads="1"/>
            </p:cNvSpPr>
            <p:nvPr/>
          </p:nvSpPr>
          <p:spPr bwMode="auto">
            <a:xfrm>
              <a:off x="5743178" y="2143894"/>
              <a:ext cx="3096344" cy="1155419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chemeClr val="accent1">
                  <a:lumMod val="50000"/>
                </a:schemeClr>
              </a:solidFill>
              <a:prstDash val="sysDash"/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876256" y="1945164"/>
              <a:ext cx="864096" cy="2822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密码锁</a:t>
              </a:r>
            </a:p>
          </p:txBody>
        </p:sp>
      </p:grp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726849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用触发器设计同步时序逻辑</a:t>
            </a:r>
            <a:r>
              <a:rPr lang="en-US" altLang="zh-CN" b="1" dirty="0">
                <a:sym typeface="+mn-ea"/>
              </a:rPr>
              <a:t>—</a:t>
            </a:r>
            <a:r>
              <a:rPr lang="zh-CN" altLang="en-US" b="1" dirty="0">
                <a:sym typeface="+mn-ea"/>
              </a:rPr>
              <a:t>实例</a:t>
            </a:r>
            <a:br>
              <a:rPr lang="en-US" altLang="zh-CN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模8可逆计数器</a:t>
            </a:r>
            <a:endParaRPr lang="en-US" altLang="zh-CN" sz="40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时序锁</a:t>
            </a:r>
            <a:endParaRPr lang="en-US" altLang="zh-CN" sz="40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 二进制串行加法器</a:t>
            </a:r>
            <a:endParaRPr lang="zh-CN" altLang="en-US" sz="4000" dirty="0">
              <a:solidFill>
                <a:srgbClr val="0000CC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奇偶校验器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更复杂的同步时序逻辑设计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dirty="0">
              <a:cs typeface="宋体" panose="02010600030101010101" pitchFamily="2" charset="-122"/>
            </a:endParaRPr>
          </a:p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9"/>
          <p:cNvGrpSpPr/>
          <p:nvPr/>
        </p:nvGrpSpPr>
        <p:grpSpPr>
          <a:xfrm>
            <a:off x="1043608" y="1218555"/>
            <a:ext cx="2277983" cy="879512"/>
            <a:chOff x="1284015" y="1707654"/>
            <a:chExt cx="2277983" cy="879512"/>
          </a:xfrm>
        </p:grpSpPr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1946658" y="1707654"/>
              <a:ext cx="1000233" cy="507791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同步二进制</a:t>
              </a:r>
              <a:endPara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串行加法器</a:t>
              </a:r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1646405" y="1851670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1288207" y="1739595"/>
              <a:ext cx="450657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X</a:t>
              </a:r>
              <a:r>
                <a:rPr lang="en-US" altLang="zh-CN" sz="1400" b="1" baseline="-25000" dirty="0"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1922930" y="2427024"/>
              <a:ext cx="54027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V="1">
              <a:off x="2453163" y="2215445"/>
              <a:ext cx="0" cy="216281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1473767" y="2279389"/>
              <a:ext cx="470154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CP</a:t>
              </a:r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>
              <a:off x="2957843" y="1979600"/>
              <a:ext cx="288388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3167745" y="1843248"/>
              <a:ext cx="394253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9" name="Line 6"/>
            <p:cNvSpPr>
              <a:spLocks noChangeShapeType="1"/>
            </p:cNvSpPr>
            <p:nvPr/>
          </p:nvSpPr>
          <p:spPr bwMode="auto">
            <a:xfrm>
              <a:off x="1646405" y="2114197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1284015" y="1938536"/>
              <a:ext cx="504056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X</a:t>
              </a:r>
              <a:r>
                <a:rPr lang="en-US" altLang="zh-CN" sz="1400" b="1" baseline="-25000" dirty="0">
                  <a:latin typeface="+mj-lt"/>
                  <a:ea typeface="宋体" panose="02010600030101010101" pitchFamily="2" charset="-122"/>
                </a:rPr>
                <a:t>2</a:t>
              </a:r>
            </a:p>
          </p:txBody>
        </p:sp>
      </p:grpSp>
      <p:pic>
        <p:nvPicPr>
          <p:cNvPr id="33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531006" y="636080"/>
            <a:ext cx="6696744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例：利用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JK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触发器设计一个同步二进制串行加法器</a:t>
            </a:r>
            <a:endParaRPr lang="zh-CN" altLang="en-US" sz="20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836554" y="3928097"/>
            <a:ext cx="3015366" cy="1019917"/>
            <a:chOff x="3933453" y="1131590"/>
            <a:chExt cx="3015366" cy="1019917"/>
          </a:xfrm>
        </p:grpSpPr>
        <p:sp>
          <p:nvSpPr>
            <p:cNvPr id="37" name="Text Box 23"/>
            <p:cNvSpPr txBox="1">
              <a:spLocks noChangeArrowheads="1"/>
            </p:cNvSpPr>
            <p:nvPr/>
          </p:nvSpPr>
          <p:spPr bwMode="auto">
            <a:xfrm>
              <a:off x="3933453" y="1451250"/>
              <a:ext cx="54804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00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8" name="Freeform 24"/>
            <p:cNvSpPr/>
            <p:nvPr/>
          </p:nvSpPr>
          <p:spPr bwMode="auto">
            <a:xfrm>
              <a:off x="4396911" y="1551263"/>
              <a:ext cx="396000" cy="288000"/>
            </a:xfrm>
            <a:custGeom>
              <a:avLst/>
              <a:gdLst>
                <a:gd name="T0" fmla="*/ 152 w 438"/>
                <a:gd name="T1" fmla="*/ 26 h 416"/>
                <a:gd name="T2" fmla="*/ 89 w 438"/>
                <a:gd name="T3" fmla="*/ 3 h 416"/>
                <a:gd name="T4" fmla="*/ 26 w 438"/>
                <a:gd name="T5" fmla="*/ 16 h 416"/>
                <a:gd name="T6" fmla="*/ 11 w 438"/>
                <a:gd name="T7" fmla="*/ 42 h 416"/>
                <a:gd name="T8" fmla="*/ 89 w 438"/>
                <a:gd name="T9" fmla="*/ 42 h 4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8"/>
                <a:gd name="T16" fmla="*/ 0 h 416"/>
                <a:gd name="T17" fmla="*/ 438 w 438"/>
                <a:gd name="T18" fmla="*/ 416 h 4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8" h="416">
                  <a:moveTo>
                    <a:pt x="438" y="242"/>
                  </a:moveTo>
                  <a:cubicBezTo>
                    <a:pt x="377" y="136"/>
                    <a:pt x="317" y="30"/>
                    <a:pt x="257" y="15"/>
                  </a:cubicBezTo>
                  <a:cubicBezTo>
                    <a:pt x="197" y="0"/>
                    <a:pt x="114" y="91"/>
                    <a:pt x="76" y="151"/>
                  </a:cubicBezTo>
                  <a:cubicBezTo>
                    <a:pt x="38" y="211"/>
                    <a:pt x="0" y="340"/>
                    <a:pt x="30" y="378"/>
                  </a:cubicBezTo>
                  <a:cubicBezTo>
                    <a:pt x="60" y="416"/>
                    <a:pt x="219" y="378"/>
                    <a:pt x="257" y="378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39" name="Text Box 25"/>
            <p:cNvSpPr txBox="1">
              <a:spLocks noChangeArrowheads="1"/>
            </p:cNvSpPr>
            <p:nvPr/>
          </p:nvSpPr>
          <p:spPr bwMode="auto">
            <a:xfrm>
              <a:off x="5116054" y="1336949"/>
              <a:ext cx="692131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11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0" name="Text Box 32"/>
            <p:cNvSpPr txBox="1">
              <a:spLocks noChangeArrowheads="1"/>
            </p:cNvSpPr>
            <p:nvPr/>
          </p:nvSpPr>
          <p:spPr bwMode="auto">
            <a:xfrm>
              <a:off x="5201779" y="1789390"/>
              <a:ext cx="57763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00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5652120" y="1131590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X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X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 </a:t>
              </a: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/ </a:t>
              </a:r>
              <a:r>
                <a:rPr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42" name="Freeform 19"/>
            <p:cNvSpPr/>
            <p:nvPr/>
          </p:nvSpPr>
          <p:spPr bwMode="auto">
            <a:xfrm>
              <a:off x="4911265" y="1657577"/>
              <a:ext cx="972000" cy="108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 rot="10800000">
              <a:off x="4901741" y="1937029"/>
              <a:ext cx="972000" cy="108000"/>
            </a:xfrm>
            <a:custGeom>
              <a:avLst/>
              <a:gdLst>
                <a:gd name="T0" fmla="*/ 0 w 953"/>
                <a:gd name="T1" fmla="*/ 0 h 181"/>
                <a:gd name="T2" fmla="*/ 157 w 953"/>
                <a:gd name="T3" fmla="*/ 0 h 181"/>
                <a:gd name="T4" fmla="*/ 327 w 953"/>
                <a:gd name="T5" fmla="*/ 0 h 181"/>
                <a:gd name="T6" fmla="*/ 0 60000 65536"/>
                <a:gd name="T7" fmla="*/ 0 60000 65536"/>
                <a:gd name="T8" fmla="*/ 0 60000 65536"/>
                <a:gd name="T9" fmla="*/ 0 w 953"/>
                <a:gd name="T10" fmla="*/ 0 h 181"/>
                <a:gd name="T11" fmla="*/ 953 w 953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3" h="181">
                  <a:moveTo>
                    <a:pt x="0" y="181"/>
                  </a:moveTo>
                  <a:cubicBezTo>
                    <a:pt x="147" y="90"/>
                    <a:pt x="295" y="0"/>
                    <a:pt x="454" y="0"/>
                  </a:cubicBezTo>
                  <a:cubicBezTo>
                    <a:pt x="613" y="0"/>
                    <a:pt x="870" y="151"/>
                    <a:pt x="953" y="181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lg"/>
            </a:ln>
          </p:spPr>
          <p:txBody>
            <a:bodyPr>
              <a:spAutoFit/>
            </a:bodyPr>
            <a:lstStyle/>
            <a:p>
              <a:endParaRPr lang="zh-CN" altLang="en-US" sz="1400">
                <a:latin typeface="+mj-lt"/>
              </a:endParaRPr>
            </a:p>
          </p:txBody>
        </p:sp>
        <p:grpSp>
          <p:nvGrpSpPr>
            <p:cNvPr id="44" name="组合 67"/>
            <p:cNvGrpSpPr/>
            <p:nvPr/>
          </p:nvGrpSpPr>
          <p:grpSpPr>
            <a:xfrm>
              <a:off x="4606463" y="1694141"/>
              <a:ext cx="461966" cy="360000"/>
              <a:chOff x="209519" y="1643056"/>
              <a:chExt cx="461966" cy="360000"/>
            </a:xfrm>
          </p:grpSpPr>
          <p:sp>
            <p:nvSpPr>
              <p:cNvPr id="54" name="椭圆 5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242857" y="1662104"/>
                <a:ext cx="428628" cy="307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a</a:t>
                </a:r>
                <a:endParaRPr kumimoji="0" lang="en-US" altLang="zh-CN" sz="1400" b="1" baseline="-25000" dirty="0"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5" name="组合 70"/>
            <p:cNvGrpSpPr/>
            <p:nvPr/>
          </p:nvGrpSpPr>
          <p:grpSpPr>
            <a:xfrm>
              <a:off x="5825671" y="1694141"/>
              <a:ext cx="461966" cy="360000"/>
              <a:chOff x="209519" y="1643056"/>
              <a:chExt cx="461966" cy="360000"/>
            </a:xfrm>
          </p:grpSpPr>
          <p:sp>
            <p:nvSpPr>
              <p:cNvPr id="52" name="椭圆 5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Text Box 6"/>
              <p:cNvSpPr txBox="1">
                <a:spLocks noChangeArrowheads="1"/>
              </p:cNvSpPr>
              <p:nvPr/>
            </p:nvSpPr>
            <p:spPr bwMode="auto">
              <a:xfrm>
                <a:off x="242857" y="1671629"/>
                <a:ext cx="428628" cy="307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b</a:t>
                </a:r>
                <a:endParaRPr kumimoji="0" lang="en-US" altLang="zh-CN" sz="1400" b="1" baseline="-25000" dirty="0"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6" name="Freeform 23"/>
            <p:cNvSpPr/>
            <p:nvPr/>
          </p:nvSpPr>
          <p:spPr bwMode="auto">
            <a:xfrm flipH="1">
              <a:off x="6156176" y="1635646"/>
              <a:ext cx="252000" cy="324000"/>
            </a:xfrm>
            <a:custGeom>
              <a:avLst/>
              <a:gdLst>
                <a:gd name="T0" fmla="*/ 20 w 448"/>
                <a:gd name="T1" fmla="*/ 7 h 480"/>
                <a:gd name="T2" fmla="*/ 7 w 448"/>
                <a:gd name="T3" fmla="*/ 2 h 480"/>
                <a:gd name="T4" fmla="*/ 2 w 448"/>
                <a:gd name="T5" fmla="*/ 10 h 480"/>
                <a:gd name="T6" fmla="*/ 3 w 448"/>
                <a:gd name="T7" fmla="*/ 20 h 480"/>
                <a:gd name="T8" fmla="*/ 18 w 448"/>
                <a:gd name="T9" fmla="*/ 20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8"/>
                <a:gd name="T16" fmla="*/ 0 h 480"/>
                <a:gd name="T17" fmla="*/ 448 w 448"/>
                <a:gd name="T18" fmla="*/ 480 h 4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8" h="480">
                  <a:moveTo>
                    <a:pt x="448" y="152"/>
                  </a:moveTo>
                  <a:cubicBezTo>
                    <a:pt x="340" y="76"/>
                    <a:pt x="232" y="0"/>
                    <a:pt x="160" y="8"/>
                  </a:cubicBezTo>
                  <a:cubicBezTo>
                    <a:pt x="88" y="16"/>
                    <a:pt x="32" y="128"/>
                    <a:pt x="16" y="200"/>
                  </a:cubicBezTo>
                  <a:cubicBezTo>
                    <a:pt x="0" y="272"/>
                    <a:pt x="0" y="400"/>
                    <a:pt x="64" y="440"/>
                  </a:cubicBezTo>
                  <a:cubicBezTo>
                    <a:pt x="128" y="480"/>
                    <a:pt x="344" y="440"/>
                    <a:pt x="400" y="440"/>
                  </a:cubicBezTo>
                </a:path>
              </a:pathLst>
            </a:custGeom>
            <a:noFill/>
            <a:ln w="19050">
              <a:solidFill>
                <a:schemeClr val="bg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3942978" y="1622700"/>
              <a:ext cx="54804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01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3933453" y="1803350"/>
              <a:ext cx="54804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10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6372200" y="1491630"/>
              <a:ext cx="54804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01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0" name="Text Box 23"/>
            <p:cNvSpPr txBox="1">
              <a:spLocks noChangeArrowheads="1"/>
            </p:cNvSpPr>
            <p:nvPr/>
          </p:nvSpPr>
          <p:spPr bwMode="auto">
            <a:xfrm>
              <a:off x="6381725" y="1663080"/>
              <a:ext cx="54804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10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400775" y="1843730"/>
              <a:ext cx="548044" cy="30777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11</a:t>
              </a:r>
              <a:r>
                <a:rPr kumimoji="0" lang="en-US" altLang="zh-CN" sz="1400" b="1" dirty="0">
                  <a:latin typeface="+mj-lt"/>
                  <a:ea typeface="宋体" panose="02010600030101010101" pitchFamily="2" charset="-122"/>
                </a:rPr>
                <a:t>/</a:t>
              </a:r>
              <a:r>
                <a:rPr kumimoji="0"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</p:grpSp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4644008" y="1411076"/>
          <a:ext cx="3384376" cy="90756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4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57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baseline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现态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+mj-lt"/>
                        </a:rPr>
                        <a:t>Q</a:t>
                      </a:r>
                      <a:r>
                        <a:rPr lang="en-US" altLang="zh-CN" sz="1400" kern="1200" baseline="30000" dirty="0">
                          <a:latin typeface="+mj-lt"/>
                        </a:rPr>
                        <a:t>n+1</a:t>
                      </a:r>
                      <a:r>
                        <a:rPr lang="en-US" altLang="zh-CN" sz="1400" kern="1200" baseline="0" dirty="0">
                          <a:latin typeface="+mj-lt"/>
                        </a:rPr>
                        <a:t>/ </a:t>
                      </a:r>
                      <a:r>
                        <a:rPr lang="en-US" altLang="zh-CN" sz="1400" kern="1200" baseline="0" dirty="0">
                          <a:solidFill>
                            <a:srgbClr val="C00000"/>
                          </a:solidFill>
                          <a:latin typeface="+mj-lt"/>
                        </a:rPr>
                        <a:t>Z</a:t>
                      </a:r>
                      <a:endParaRPr lang="zh-CN" altLang="en-US" sz="1400" b="1" kern="1200" baseline="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 err="1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400" b="1" dirty="0">
                          <a:solidFill>
                            <a:srgbClr val="0000CC"/>
                          </a:solidFill>
                          <a:latin typeface="+mj-lt"/>
                        </a:rPr>
                        <a:t>=00</a:t>
                      </a:r>
                      <a:endParaRPr lang="zh-CN" altLang="en-US" sz="1400" b="1" baseline="30000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400" b="1" dirty="0">
                          <a:solidFill>
                            <a:srgbClr val="0000CC"/>
                          </a:solidFill>
                          <a:latin typeface="+mj-lt"/>
                        </a:rPr>
                        <a:t>=01</a:t>
                      </a:r>
                      <a:endParaRPr lang="zh-CN" altLang="en-US" sz="1400" b="1" baseline="30000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400" b="1" dirty="0">
                          <a:solidFill>
                            <a:srgbClr val="0000CC"/>
                          </a:solidFill>
                          <a:latin typeface="+mj-lt"/>
                        </a:rPr>
                        <a:t>=10</a:t>
                      </a:r>
                      <a:endParaRPr lang="zh-CN" altLang="en-US" sz="1400" b="1" baseline="30000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kumimoji="0" lang="en-US" altLang="zh-CN" sz="1400" b="1" kern="1200" baseline="-250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400" b="1" dirty="0">
                          <a:solidFill>
                            <a:srgbClr val="0000CC"/>
                          </a:solidFill>
                          <a:latin typeface="+mj-lt"/>
                        </a:rPr>
                        <a:t>=11</a:t>
                      </a:r>
                      <a:endParaRPr lang="zh-CN" altLang="en-US" sz="1400" b="1" baseline="30000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a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4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dirty="0">
                          <a:latin typeface="+mj-lt"/>
                        </a:rPr>
                        <a:t>/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400" b="1" kern="1200" baseline="-2500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>
                          <a:solidFill>
                            <a:schemeClr val="bg2"/>
                          </a:solidFill>
                          <a:latin typeface="+mj-lt"/>
                        </a:rPr>
                        <a:t>/ </a:t>
                      </a:r>
                      <a:r>
                        <a:rPr lang="en-US" altLang="zh-CN" sz="1400" b="1" kern="120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4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/ </a:t>
                      </a: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400" b="1" dirty="0">
                          <a:latin typeface="+mj-lt"/>
                        </a:rPr>
                        <a:t> / </a:t>
                      </a: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b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4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/ </a:t>
                      </a: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400" b="1" dirty="0">
                          <a:latin typeface="+mj-lt"/>
                        </a:rPr>
                        <a:t> / </a:t>
                      </a: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400" b="1" dirty="0">
                          <a:latin typeface="+mj-lt"/>
                        </a:rPr>
                        <a:t> / </a:t>
                      </a: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b / 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Text Box 12"/>
          <p:cNvSpPr txBox="1">
            <a:spLocks noChangeArrowheads="1"/>
          </p:cNvSpPr>
          <p:nvPr/>
        </p:nvSpPr>
        <p:spPr bwMode="auto">
          <a:xfrm>
            <a:off x="683568" y="2643758"/>
            <a:ext cx="2592288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b="1" dirty="0">
                <a:ea typeface="黑体" panose="02010609060101010101" pitchFamily="49" charset="-122"/>
              </a:rPr>
              <a:t>①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设加法器内部状态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latin typeface="+mj-lt"/>
              </a:rPr>
              <a:t>  a——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无进位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latin typeface="+mj-lt"/>
              </a:rPr>
              <a:t>  b——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有进位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467544" y="2211710"/>
            <a:ext cx="285752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sp>
        <p:nvSpPr>
          <p:cNvPr id="60" name="Text Box 33"/>
          <p:cNvSpPr txBox="1">
            <a:spLocks noChangeArrowheads="1"/>
          </p:cNvSpPr>
          <p:nvPr/>
        </p:nvSpPr>
        <p:spPr bwMode="auto">
          <a:xfrm>
            <a:off x="683568" y="3673356"/>
            <a:ext cx="217803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en-US" altLang="zh-CN" sz="1800" b="1" dirty="0">
                <a:ea typeface="宋体" panose="02010600030101010101" pitchFamily="2" charset="-122"/>
              </a:rPr>
              <a:t>Mealy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状态图</a:t>
            </a:r>
          </a:p>
        </p:txBody>
      </p:sp>
      <p:sp>
        <p:nvSpPr>
          <p:cNvPr id="61" name="Text Box 33"/>
          <p:cNvSpPr txBox="1">
            <a:spLocks noChangeArrowheads="1"/>
          </p:cNvSpPr>
          <p:nvPr/>
        </p:nvSpPr>
        <p:spPr bwMode="auto">
          <a:xfrm>
            <a:off x="4220506" y="1036136"/>
            <a:ext cx="217803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800" b="1" dirty="0">
                <a:ea typeface="宋体" panose="02010600030101010101" pitchFamily="2" charset="-122"/>
              </a:rPr>
              <a:t>③ </a:t>
            </a:r>
            <a:r>
              <a:rPr lang="en-US" altLang="zh-CN" sz="1800" b="1" dirty="0">
                <a:ea typeface="宋体" panose="02010600030101010101" pitchFamily="2" charset="-122"/>
              </a:rPr>
              <a:t>Mealy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状态表</a:t>
            </a: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4004482" y="2427734"/>
            <a:ext cx="1857388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</a:rPr>
              <a:t>2. </a:t>
            </a: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  <a:endParaRPr lang="zh-CN" altLang="en-US" sz="1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Text Box 17"/>
          <p:cNvSpPr txBox="1">
            <a:spLocks noChangeArrowheads="1"/>
          </p:cNvSpPr>
          <p:nvPr/>
        </p:nvSpPr>
        <p:spPr bwMode="auto">
          <a:xfrm>
            <a:off x="5516650" y="2427734"/>
            <a:ext cx="153509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3.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状态分配</a:t>
            </a:r>
            <a:endParaRPr lang="en-US" altLang="zh-CN" sz="1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" name="Text Box 4"/>
          <p:cNvSpPr txBox="1">
            <a:spLocks noChangeArrowheads="1"/>
          </p:cNvSpPr>
          <p:nvPr/>
        </p:nvSpPr>
        <p:spPr bwMode="auto">
          <a:xfrm>
            <a:off x="6956810" y="2427734"/>
            <a:ext cx="115212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/>
              <a:t>a=0, b=1</a:t>
            </a:r>
          </a:p>
        </p:txBody>
      </p:sp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6084168" y="2859783"/>
          <a:ext cx="2808312" cy="22085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1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1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输入 现态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输入  输出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6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X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X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 err="1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J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K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Z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0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X 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6" name="Text Box 10"/>
          <p:cNvSpPr txBox="1">
            <a:spLocks noChangeArrowheads="1"/>
          </p:cNvSpPr>
          <p:nvPr/>
        </p:nvSpPr>
        <p:spPr bwMode="auto">
          <a:xfrm>
            <a:off x="3995936" y="2762136"/>
            <a:ext cx="224629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4.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 </a:t>
            </a:r>
          </a:p>
        </p:txBody>
      </p: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1726849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utoUpdateAnimBg="0"/>
      <p:bldP spid="59" grpId="0"/>
      <p:bldP spid="60" grpId="0" bldLvl="0" animBg="1" autoUpdateAnimBg="0"/>
      <p:bldP spid="61" grpId="0" bldLvl="0" animBg="1" autoUpdateAnimBg="0"/>
      <p:bldP spid="62" grpId="0" bldLvl="0" animBg="1" autoUpdateAnimBg="0"/>
      <p:bldP spid="63" grpId="0" bldLvl="0" animBg="1" autoUpdateAnimBg="0"/>
      <p:bldP spid="64" grpId="0" autoUpdateAnimBg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67"/>
          <p:cNvSpPr>
            <a:spLocks noChangeArrowheads="1"/>
          </p:cNvSpPr>
          <p:nvPr/>
        </p:nvSpPr>
        <p:spPr bwMode="auto">
          <a:xfrm>
            <a:off x="467544" y="646584"/>
            <a:ext cx="20875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5</a:t>
            </a:r>
            <a:r>
              <a: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卡诺图化简</a:t>
            </a:r>
          </a:p>
        </p:txBody>
      </p:sp>
      <p:pic>
        <p:nvPicPr>
          <p:cNvPr id="81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48" name="组合 247"/>
          <p:cNvGrpSpPr/>
          <p:nvPr/>
        </p:nvGrpSpPr>
        <p:grpSpPr>
          <a:xfrm>
            <a:off x="467544" y="1153076"/>
            <a:ext cx="2088232" cy="3650922"/>
            <a:chOff x="467544" y="1153076"/>
            <a:chExt cx="2088232" cy="3650922"/>
          </a:xfrm>
        </p:grpSpPr>
        <p:sp>
          <p:nvSpPr>
            <p:cNvPr id="92184" name="Text Box 24"/>
            <p:cNvSpPr txBox="1">
              <a:spLocks noChangeArrowheads="1"/>
            </p:cNvSpPr>
            <p:nvPr/>
          </p:nvSpPr>
          <p:spPr bwMode="auto">
            <a:xfrm>
              <a:off x="971600" y="2038658"/>
              <a:ext cx="108012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+mj-lt"/>
                </a:rPr>
                <a:t>J</a:t>
              </a:r>
              <a:r>
                <a:rPr kumimoji="0" lang="en-US" altLang="zh-CN" sz="1600" b="1" baseline="-25000" dirty="0">
                  <a:latin typeface="+mj-lt"/>
                </a:rPr>
                <a:t> </a:t>
              </a:r>
              <a:r>
                <a:rPr lang="en-US" altLang="zh-CN" sz="1600" b="1" dirty="0">
                  <a:latin typeface="+mj-lt"/>
                </a:rPr>
                <a:t>= X</a:t>
              </a:r>
              <a:r>
                <a:rPr kumimoji="0" lang="en-US" altLang="zh-CN" sz="1600" b="1" baseline="-25000" dirty="0">
                  <a:latin typeface="+mj-lt"/>
                </a:rPr>
                <a:t>1 </a:t>
              </a:r>
              <a:r>
                <a:rPr lang="en-US" altLang="zh-CN" sz="1600" b="1" dirty="0">
                  <a:latin typeface="+mj-lt"/>
                </a:rPr>
                <a:t>X</a:t>
              </a:r>
              <a:r>
                <a:rPr kumimoji="0" lang="en-US" altLang="zh-CN" sz="1600" b="1" baseline="-25000" dirty="0">
                  <a:latin typeface="+mj-lt"/>
                </a:rPr>
                <a:t>2</a:t>
              </a:r>
            </a:p>
          </p:txBody>
        </p:sp>
        <p:sp>
          <p:nvSpPr>
            <p:cNvPr id="92232" name="Text Box 72"/>
            <p:cNvSpPr txBox="1">
              <a:spLocks noChangeArrowheads="1"/>
            </p:cNvSpPr>
            <p:nvPr/>
          </p:nvSpPr>
          <p:spPr bwMode="auto">
            <a:xfrm>
              <a:off x="827584" y="4465444"/>
              <a:ext cx="1728192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+mj-lt"/>
                </a:rPr>
                <a:t>Z= X</a:t>
              </a:r>
              <a:r>
                <a:rPr kumimoji="0" lang="en-US" altLang="zh-CN" sz="1600" b="1" baseline="-25000" dirty="0">
                  <a:latin typeface="+mj-lt"/>
                </a:rPr>
                <a:t>1</a:t>
              </a:r>
              <a:r>
                <a:rPr lang="en-US" altLang="zh-CN" sz="1600" b="1" dirty="0">
                  <a:latin typeface="+mj-lt"/>
                </a:rPr>
                <a:t>⊕</a:t>
              </a:r>
              <a:r>
                <a:rPr kumimoji="0" lang="en-US" altLang="zh-CN" sz="1600" b="1" baseline="-25000" dirty="0">
                  <a:latin typeface="+mj-lt"/>
                </a:rPr>
                <a:t> </a:t>
              </a:r>
              <a:r>
                <a:rPr lang="en-US" altLang="zh-CN" sz="1600" b="1" dirty="0">
                  <a:latin typeface="+mj-lt"/>
                </a:rPr>
                <a:t>X</a:t>
              </a:r>
              <a:r>
                <a:rPr kumimoji="0" lang="en-US" altLang="zh-CN" sz="1600" b="1" baseline="-25000" dirty="0">
                  <a:latin typeface="+mj-lt"/>
                </a:rPr>
                <a:t>2</a:t>
              </a:r>
              <a:r>
                <a:rPr lang="en-US" altLang="zh-CN" sz="1600" b="1" dirty="0">
                  <a:latin typeface="+mj-lt"/>
                </a:rPr>
                <a:t>⊕Q</a:t>
              </a:r>
              <a:r>
                <a:rPr lang="en-US" altLang="zh-CN" sz="1600" b="1" baseline="30000" dirty="0">
                  <a:latin typeface="+mj-lt"/>
                </a:rPr>
                <a:t>n</a:t>
              </a:r>
            </a:p>
          </p:txBody>
        </p:sp>
        <p:grpSp>
          <p:nvGrpSpPr>
            <p:cNvPr id="246" name="组合 245"/>
            <p:cNvGrpSpPr/>
            <p:nvPr/>
          </p:nvGrpSpPr>
          <p:grpSpPr>
            <a:xfrm>
              <a:off x="947939" y="3231783"/>
              <a:ext cx="1152128" cy="338554"/>
              <a:chOff x="3347864" y="2067694"/>
              <a:chExt cx="1152128" cy="338554"/>
            </a:xfrm>
          </p:grpSpPr>
          <p:sp>
            <p:nvSpPr>
              <p:cNvPr id="92186" name="Text Box 26"/>
              <p:cNvSpPr txBox="1">
                <a:spLocks noChangeArrowheads="1"/>
              </p:cNvSpPr>
              <p:nvPr/>
            </p:nvSpPr>
            <p:spPr bwMode="auto">
              <a:xfrm>
                <a:off x="3347864" y="2067694"/>
                <a:ext cx="1152128" cy="3385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 b="1">
                    <a:latin typeface="+mj-lt"/>
                  </a:rPr>
                  <a:t>K</a:t>
                </a:r>
                <a:r>
                  <a:rPr kumimoji="0" lang="en-US" altLang="zh-CN" sz="1600" b="1" baseline="-25000">
                    <a:latin typeface="+mj-lt"/>
                  </a:rPr>
                  <a:t>  </a:t>
                </a:r>
                <a:r>
                  <a:rPr lang="en-US" altLang="zh-CN" sz="1600" b="1">
                    <a:latin typeface="+mj-lt"/>
                  </a:rPr>
                  <a:t>= X</a:t>
                </a:r>
                <a:r>
                  <a:rPr kumimoji="0" lang="en-US" altLang="zh-CN" sz="1600" b="1" baseline="-25000">
                    <a:latin typeface="+mj-lt"/>
                  </a:rPr>
                  <a:t>1 </a:t>
                </a:r>
                <a:r>
                  <a:rPr lang="en-US" altLang="zh-CN" sz="1600" b="1">
                    <a:latin typeface="+mj-lt"/>
                  </a:rPr>
                  <a:t>X</a:t>
                </a:r>
                <a:r>
                  <a:rPr kumimoji="0" lang="en-US" altLang="zh-CN" sz="1600" b="1" baseline="-25000">
                    <a:latin typeface="+mj-lt"/>
                  </a:rPr>
                  <a:t>2</a:t>
                </a:r>
              </a:p>
            </p:txBody>
          </p:sp>
          <p:sp>
            <p:nvSpPr>
              <p:cNvPr id="92234" name="Line 77"/>
              <p:cNvSpPr>
                <a:spLocks noChangeShapeType="1"/>
              </p:cNvSpPr>
              <p:nvPr/>
            </p:nvSpPr>
            <p:spPr bwMode="auto">
              <a:xfrm>
                <a:off x="3832870" y="2139702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235" name="Line 78"/>
              <p:cNvSpPr>
                <a:spLocks noChangeShapeType="1"/>
              </p:cNvSpPr>
              <p:nvPr/>
            </p:nvSpPr>
            <p:spPr bwMode="auto">
              <a:xfrm>
                <a:off x="4082802" y="2139702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75" name="Group 5"/>
            <p:cNvGrpSpPr/>
            <p:nvPr/>
          </p:nvGrpSpPr>
          <p:grpSpPr bwMode="auto">
            <a:xfrm>
              <a:off x="467544" y="1153076"/>
              <a:ext cx="1698719" cy="812497"/>
              <a:chOff x="4" y="1804"/>
              <a:chExt cx="1750" cy="836"/>
            </a:xfrm>
          </p:grpSpPr>
          <p:sp>
            <p:nvSpPr>
              <p:cNvPr id="176" name="Rectangle 6"/>
              <p:cNvSpPr>
                <a:spLocks noChangeArrowheads="1"/>
              </p:cNvSpPr>
              <p:nvPr/>
            </p:nvSpPr>
            <p:spPr bwMode="auto">
              <a:xfrm>
                <a:off x="1354" y="2403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1</a:t>
                </a:r>
                <a:endParaRPr lang="en-US" altLang="zh-CN" sz="900" b="1" baseline="-25000" dirty="0"/>
              </a:p>
            </p:txBody>
          </p:sp>
          <p:sp>
            <p:nvSpPr>
              <p:cNvPr id="177" name="Rectangle 7"/>
              <p:cNvSpPr>
                <a:spLocks noChangeArrowheads="1"/>
              </p:cNvSpPr>
              <p:nvPr/>
            </p:nvSpPr>
            <p:spPr bwMode="auto">
              <a:xfrm>
                <a:off x="1027" y="2403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178" name="Rectangle 8"/>
              <p:cNvSpPr>
                <a:spLocks noChangeArrowheads="1"/>
              </p:cNvSpPr>
              <p:nvPr/>
            </p:nvSpPr>
            <p:spPr bwMode="auto">
              <a:xfrm>
                <a:off x="701" y="2403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179" name="Rectangle 9"/>
              <p:cNvSpPr>
                <a:spLocks noChangeArrowheads="1"/>
              </p:cNvSpPr>
              <p:nvPr/>
            </p:nvSpPr>
            <p:spPr bwMode="auto">
              <a:xfrm>
                <a:off x="374" y="2403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180" name="Rectangle 10"/>
              <p:cNvSpPr>
                <a:spLocks noChangeArrowheads="1"/>
              </p:cNvSpPr>
              <p:nvPr/>
            </p:nvSpPr>
            <p:spPr bwMode="auto">
              <a:xfrm>
                <a:off x="1354" y="2167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181" name="Rectangle 11"/>
              <p:cNvSpPr>
                <a:spLocks noChangeArrowheads="1"/>
              </p:cNvSpPr>
              <p:nvPr/>
            </p:nvSpPr>
            <p:spPr bwMode="auto">
              <a:xfrm>
                <a:off x="1027" y="2167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182" name="Rectangle 12"/>
              <p:cNvSpPr>
                <a:spLocks noChangeArrowheads="1"/>
              </p:cNvSpPr>
              <p:nvPr/>
            </p:nvSpPr>
            <p:spPr bwMode="auto">
              <a:xfrm>
                <a:off x="701" y="2167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183" name="Rectangle 13"/>
              <p:cNvSpPr>
                <a:spLocks noChangeArrowheads="1"/>
              </p:cNvSpPr>
              <p:nvPr/>
            </p:nvSpPr>
            <p:spPr bwMode="auto">
              <a:xfrm>
                <a:off x="374" y="2167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184" name="Line 14"/>
              <p:cNvSpPr>
                <a:spLocks noChangeShapeType="1"/>
              </p:cNvSpPr>
              <p:nvPr/>
            </p:nvSpPr>
            <p:spPr bwMode="auto">
              <a:xfrm>
                <a:off x="374" y="2167"/>
                <a:ext cx="130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85" name="Line 15"/>
              <p:cNvSpPr>
                <a:spLocks noChangeShapeType="1"/>
              </p:cNvSpPr>
              <p:nvPr/>
            </p:nvSpPr>
            <p:spPr bwMode="auto">
              <a:xfrm>
                <a:off x="374" y="2403"/>
                <a:ext cx="130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86" name="Line 16"/>
              <p:cNvSpPr>
                <a:spLocks noChangeShapeType="1"/>
              </p:cNvSpPr>
              <p:nvPr/>
            </p:nvSpPr>
            <p:spPr bwMode="auto">
              <a:xfrm>
                <a:off x="374" y="2639"/>
                <a:ext cx="130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87" name="Line 17"/>
              <p:cNvSpPr>
                <a:spLocks noChangeShapeType="1"/>
              </p:cNvSpPr>
              <p:nvPr/>
            </p:nvSpPr>
            <p:spPr bwMode="auto">
              <a:xfrm>
                <a:off x="374" y="2167"/>
                <a:ext cx="0" cy="47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88" name="Line 18"/>
              <p:cNvSpPr>
                <a:spLocks noChangeShapeType="1"/>
              </p:cNvSpPr>
              <p:nvPr/>
            </p:nvSpPr>
            <p:spPr bwMode="auto">
              <a:xfrm>
                <a:off x="701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89" name="Line 19"/>
              <p:cNvSpPr>
                <a:spLocks noChangeShapeType="1"/>
              </p:cNvSpPr>
              <p:nvPr/>
            </p:nvSpPr>
            <p:spPr bwMode="auto">
              <a:xfrm>
                <a:off x="1027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90" name="Line 20"/>
              <p:cNvSpPr>
                <a:spLocks noChangeShapeType="1"/>
              </p:cNvSpPr>
              <p:nvPr/>
            </p:nvSpPr>
            <p:spPr bwMode="auto">
              <a:xfrm>
                <a:off x="1354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91" name="Line 21"/>
              <p:cNvSpPr>
                <a:spLocks noChangeShapeType="1"/>
              </p:cNvSpPr>
              <p:nvPr/>
            </p:nvSpPr>
            <p:spPr bwMode="auto">
              <a:xfrm>
                <a:off x="1680" y="2403"/>
                <a:ext cx="0" cy="23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92" name="Line 22"/>
              <p:cNvSpPr>
                <a:spLocks noChangeShapeType="1"/>
              </p:cNvSpPr>
              <p:nvPr/>
            </p:nvSpPr>
            <p:spPr bwMode="auto">
              <a:xfrm>
                <a:off x="1680" y="2167"/>
                <a:ext cx="0" cy="23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93" name="Line 23"/>
              <p:cNvSpPr>
                <a:spLocks noChangeShapeType="1"/>
              </p:cNvSpPr>
              <p:nvPr/>
            </p:nvSpPr>
            <p:spPr bwMode="auto">
              <a:xfrm>
                <a:off x="201" y="1992"/>
                <a:ext cx="173" cy="175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194" name="Text Box 24"/>
              <p:cNvSpPr txBox="1">
                <a:spLocks noChangeArrowheads="1"/>
              </p:cNvSpPr>
              <p:nvPr/>
            </p:nvSpPr>
            <p:spPr bwMode="auto">
              <a:xfrm>
                <a:off x="391" y="1960"/>
                <a:ext cx="1363" cy="25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00     01     11    10</a:t>
                </a:r>
              </a:p>
            </p:txBody>
          </p:sp>
          <p:sp>
            <p:nvSpPr>
              <p:cNvPr id="195" name="Text Box 25"/>
              <p:cNvSpPr txBox="1">
                <a:spLocks noChangeArrowheads="1"/>
              </p:cNvSpPr>
              <p:nvPr/>
            </p:nvSpPr>
            <p:spPr bwMode="auto">
              <a:xfrm>
                <a:off x="162" y="2236"/>
                <a:ext cx="196" cy="404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65000"/>
                  </a:lnSpc>
                </a:pPr>
                <a:r>
                  <a:rPr lang="en-US" altLang="zh-CN" sz="1000" b="1" dirty="0"/>
                  <a:t>0</a:t>
                </a:r>
              </a:p>
              <a:p>
                <a:pPr>
                  <a:lnSpc>
                    <a:spcPct val="65000"/>
                  </a:lnSpc>
                </a:pPr>
                <a:endParaRPr lang="en-US" altLang="zh-CN" sz="1000" b="1" dirty="0"/>
              </a:p>
              <a:p>
                <a:pPr>
                  <a:lnSpc>
                    <a:spcPct val="65000"/>
                  </a:lnSpc>
                </a:pPr>
                <a:r>
                  <a:rPr lang="en-US" altLang="zh-CN" sz="1000" b="1" dirty="0"/>
                  <a:t>1</a:t>
                </a:r>
              </a:p>
            </p:txBody>
          </p:sp>
          <p:sp>
            <p:nvSpPr>
              <p:cNvPr id="196" name="Text Box 26"/>
              <p:cNvSpPr txBox="1">
                <a:spLocks noChangeArrowheads="1"/>
              </p:cNvSpPr>
              <p:nvPr/>
            </p:nvSpPr>
            <p:spPr bwMode="auto">
              <a:xfrm>
                <a:off x="4" y="1960"/>
                <a:ext cx="371" cy="253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X</a:t>
                </a:r>
                <a:r>
                  <a:rPr lang="en-US" altLang="zh-CN" sz="1000" b="1" baseline="-25000" dirty="0"/>
                  <a:t>1</a:t>
                </a:r>
                <a:endParaRPr lang="en-US" altLang="zh-CN" sz="1000" b="1" baseline="30000" dirty="0"/>
              </a:p>
            </p:txBody>
          </p:sp>
          <p:sp>
            <p:nvSpPr>
              <p:cNvPr id="197" name="Text Box 27"/>
              <p:cNvSpPr txBox="1">
                <a:spLocks noChangeArrowheads="1"/>
              </p:cNvSpPr>
              <p:nvPr/>
            </p:nvSpPr>
            <p:spPr bwMode="auto">
              <a:xfrm>
                <a:off x="124" y="1804"/>
                <a:ext cx="597" cy="253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X</a:t>
                </a:r>
                <a:r>
                  <a:rPr lang="en-US" altLang="zh-CN" sz="1000" b="1" baseline="-25000" dirty="0"/>
                  <a:t>2</a:t>
                </a:r>
                <a:r>
                  <a:rPr lang="en-US" altLang="zh-CN" sz="1000" b="1" dirty="0"/>
                  <a:t>Q</a:t>
                </a:r>
                <a:r>
                  <a:rPr lang="en-US" altLang="zh-CN" sz="1000" b="1" baseline="30000" dirty="0"/>
                  <a:t>n</a:t>
                </a:r>
                <a:endParaRPr lang="en-US" altLang="zh-CN" sz="1000" b="1" baseline="-25000" dirty="0"/>
              </a:p>
            </p:txBody>
          </p:sp>
        </p:grpSp>
        <p:grpSp>
          <p:nvGrpSpPr>
            <p:cNvPr id="198" name="Group 5"/>
            <p:cNvGrpSpPr/>
            <p:nvPr/>
          </p:nvGrpSpPr>
          <p:grpSpPr bwMode="auto">
            <a:xfrm>
              <a:off x="496841" y="2305204"/>
              <a:ext cx="1760843" cy="812497"/>
              <a:chOff x="4" y="1804"/>
              <a:chExt cx="1814" cy="836"/>
            </a:xfrm>
          </p:grpSpPr>
          <p:sp>
            <p:nvSpPr>
              <p:cNvPr id="199" name="Rectangle 6"/>
              <p:cNvSpPr>
                <a:spLocks noChangeArrowheads="1"/>
              </p:cNvSpPr>
              <p:nvPr/>
            </p:nvSpPr>
            <p:spPr bwMode="auto">
              <a:xfrm>
                <a:off x="1354" y="2403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200" name="Rectangle 7"/>
              <p:cNvSpPr>
                <a:spLocks noChangeArrowheads="1"/>
              </p:cNvSpPr>
              <p:nvPr/>
            </p:nvSpPr>
            <p:spPr bwMode="auto">
              <a:xfrm>
                <a:off x="1027" y="2403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01" name="Rectangle 8"/>
              <p:cNvSpPr>
                <a:spLocks noChangeArrowheads="1"/>
              </p:cNvSpPr>
              <p:nvPr/>
            </p:nvSpPr>
            <p:spPr bwMode="auto">
              <a:xfrm>
                <a:off x="701" y="2403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02" name="Rectangle 9"/>
              <p:cNvSpPr>
                <a:spLocks noChangeArrowheads="1"/>
              </p:cNvSpPr>
              <p:nvPr/>
            </p:nvSpPr>
            <p:spPr bwMode="auto">
              <a:xfrm>
                <a:off x="374" y="2403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203" name="Rectangle 10"/>
              <p:cNvSpPr>
                <a:spLocks noChangeArrowheads="1"/>
              </p:cNvSpPr>
              <p:nvPr/>
            </p:nvSpPr>
            <p:spPr bwMode="auto">
              <a:xfrm>
                <a:off x="1354" y="2167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204" name="Rectangle 11"/>
              <p:cNvSpPr>
                <a:spLocks noChangeArrowheads="1"/>
              </p:cNvSpPr>
              <p:nvPr/>
            </p:nvSpPr>
            <p:spPr bwMode="auto">
              <a:xfrm>
                <a:off x="1027" y="2167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05" name="Rectangle 12"/>
              <p:cNvSpPr>
                <a:spLocks noChangeArrowheads="1"/>
              </p:cNvSpPr>
              <p:nvPr/>
            </p:nvSpPr>
            <p:spPr bwMode="auto">
              <a:xfrm>
                <a:off x="701" y="2167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1</a:t>
                </a:r>
                <a:endParaRPr lang="en-US" altLang="zh-CN" sz="900" b="1" baseline="-25000" dirty="0"/>
              </a:p>
            </p:txBody>
          </p:sp>
          <p:sp>
            <p:nvSpPr>
              <p:cNvPr id="206" name="Rectangle 13"/>
              <p:cNvSpPr>
                <a:spLocks noChangeArrowheads="1"/>
              </p:cNvSpPr>
              <p:nvPr/>
            </p:nvSpPr>
            <p:spPr bwMode="auto">
              <a:xfrm>
                <a:off x="374" y="2167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X</a:t>
                </a:r>
                <a:endParaRPr lang="en-US" altLang="zh-CN" sz="900" b="1" baseline="-25000" dirty="0"/>
              </a:p>
            </p:txBody>
          </p:sp>
          <p:sp>
            <p:nvSpPr>
              <p:cNvPr id="207" name="Line 14"/>
              <p:cNvSpPr>
                <a:spLocks noChangeShapeType="1"/>
              </p:cNvSpPr>
              <p:nvPr/>
            </p:nvSpPr>
            <p:spPr bwMode="auto">
              <a:xfrm>
                <a:off x="374" y="2167"/>
                <a:ext cx="130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08" name="Line 15"/>
              <p:cNvSpPr>
                <a:spLocks noChangeShapeType="1"/>
              </p:cNvSpPr>
              <p:nvPr/>
            </p:nvSpPr>
            <p:spPr bwMode="auto">
              <a:xfrm>
                <a:off x="374" y="2403"/>
                <a:ext cx="130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09" name="Line 16"/>
              <p:cNvSpPr>
                <a:spLocks noChangeShapeType="1"/>
              </p:cNvSpPr>
              <p:nvPr/>
            </p:nvSpPr>
            <p:spPr bwMode="auto">
              <a:xfrm>
                <a:off x="374" y="2639"/>
                <a:ext cx="130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0" name="Line 17"/>
              <p:cNvSpPr>
                <a:spLocks noChangeShapeType="1"/>
              </p:cNvSpPr>
              <p:nvPr/>
            </p:nvSpPr>
            <p:spPr bwMode="auto">
              <a:xfrm>
                <a:off x="374" y="2167"/>
                <a:ext cx="0" cy="47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1" name="Line 18"/>
              <p:cNvSpPr>
                <a:spLocks noChangeShapeType="1"/>
              </p:cNvSpPr>
              <p:nvPr/>
            </p:nvSpPr>
            <p:spPr bwMode="auto">
              <a:xfrm>
                <a:off x="701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2" name="Line 19"/>
              <p:cNvSpPr>
                <a:spLocks noChangeShapeType="1"/>
              </p:cNvSpPr>
              <p:nvPr/>
            </p:nvSpPr>
            <p:spPr bwMode="auto">
              <a:xfrm>
                <a:off x="1027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3" name="Line 20"/>
              <p:cNvSpPr>
                <a:spLocks noChangeShapeType="1"/>
              </p:cNvSpPr>
              <p:nvPr/>
            </p:nvSpPr>
            <p:spPr bwMode="auto">
              <a:xfrm>
                <a:off x="1354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4" name="Line 21"/>
              <p:cNvSpPr>
                <a:spLocks noChangeShapeType="1"/>
              </p:cNvSpPr>
              <p:nvPr/>
            </p:nvSpPr>
            <p:spPr bwMode="auto">
              <a:xfrm>
                <a:off x="1680" y="2403"/>
                <a:ext cx="0" cy="23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5" name="Line 22"/>
              <p:cNvSpPr>
                <a:spLocks noChangeShapeType="1"/>
              </p:cNvSpPr>
              <p:nvPr/>
            </p:nvSpPr>
            <p:spPr bwMode="auto">
              <a:xfrm>
                <a:off x="1680" y="2167"/>
                <a:ext cx="0" cy="23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6" name="Line 23"/>
              <p:cNvSpPr>
                <a:spLocks noChangeShapeType="1"/>
              </p:cNvSpPr>
              <p:nvPr/>
            </p:nvSpPr>
            <p:spPr bwMode="auto">
              <a:xfrm>
                <a:off x="201" y="1992"/>
                <a:ext cx="173" cy="175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17" name="Text Box 24"/>
              <p:cNvSpPr txBox="1">
                <a:spLocks noChangeArrowheads="1"/>
              </p:cNvSpPr>
              <p:nvPr/>
            </p:nvSpPr>
            <p:spPr bwMode="auto">
              <a:xfrm>
                <a:off x="391" y="1960"/>
                <a:ext cx="1427" cy="25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00     01     11    10</a:t>
                </a:r>
              </a:p>
            </p:txBody>
          </p:sp>
          <p:sp>
            <p:nvSpPr>
              <p:cNvPr id="218" name="Text Box 25"/>
              <p:cNvSpPr txBox="1">
                <a:spLocks noChangeArrowheads="1"/>
              </p:cNvSpPr>
              <p:nvPr/>
            </p:nvSpPr>
            <p:spPr bwMode="auto">
              <a:xfrm>
                <a:off x="162" y="2236"/>
                <a:ext cx="196" cy="404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65000"/>
                  </a:lnSpc>
                </a:pPr>
                <a:r>
                  <a:rPr lang="en-US" altLang="zh-CN" sz="1000" b="1" dirty="0"/>
                  <a:t>0</a:t>
                </a:r>
              </a:p>
              <a:p>
                <a:pPr>
                  <a:lnSpc>
                    <a:spcPct val="65000"/>
                  </a:lnSpc>
                </a:pPr>
                <a:endParaRPr lang="en-US" altLang="zh-CN" sz="1000" b="1" dirty="0"/>
              </a:p>
              <a:p>
                <a:pPr>
                  <a:lnSpc>
                    <a:spcPct val="65000"/>
                  </a:lnSpc>
                </a:pPr>
                <a:r>
                  <a:rPr lang="en-US" altLang="zh-CN" sz="1000" b="1" dirty="0"/>
                  <a:t>1</a:t>
                </a:r>
              </a:p>
            </p:txBody>
          </p:sp>
          <p:sp>
            <p:nvSpPr>
              <p:cNvPr id="219" name="Text Box 26"/>
              <p:cNvSpPr txBox="1">
                <a:spLocks noChangeArrowheads="1"/>
              </p:cNvSpPr>
              <p:nvPr/>
            </p:nvSpPr>
            <p:spPr bwMode="auto">
              <a:xfrm>
                <a:off x="4" y="1960"/>
                <a:ext cx="371" cy="253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X</a:t>
                </a:r>
                <a:r>
                  <a:rPr lang="en-US" altLang="zh-CN" sz="1000" b="1" baseline="-25000" dirty="0"/>
                  <a:t>1</a:t>
                </a:r>
                <a:endParaRPr lang="en-US" altLang="zh-CN" sz="1000" b="1" baseline="30000" dirty="0"/>
              </a:p>
            </p:txBody>
          </p:sp>
          <p:sp>
            <p:nvSpPr>
              <p:cNvPr id="220" name="Text Box 27"/>
              <p:cNvSpPr txBox="1">
                <a:spLocks noChangeArrowheads="1"/>
              </p:cNvSpPr>
              <p:nvPr/>
            </p:nvSpPr>
            <p:spPr bwMode="auto">
              <a:xfrm>
                <a:off x="124" y="1804"/>
                <a:ext cx="597" cy="253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X</a:t>
                </a:r>
                <a:r>
                  <a:rPr lang="en-US" altLang="zh-CN" sz="1000" b="1" baseline="-25000" dirty="0"/>
                  <a:t>2</a:t>
                </a:r>
                <a:r>
                  <a:rPr lang="en-US" altLang="zh-CN" sz="1000" b="1" dirty="0"/>
                  <a:t>Q</a:t>
                </a:r>
                <a:r>
                  <a:rPr lang="en-US" altLang="zh-CN" sz="1000" b="1" baseline="30000" dirty="0"/>
                  <a:t>n</a:t>
                </a:r>
                <a:endParaRPr lang="en-US" altLang="zh-CN" sz="1000" b="1" baseline="-25000" dirty="0"/>
              </a:p>
            </p:txBody>
          </p:sp>
        </p:grpSp>
        <p:sp>
          <p:nvSpPr>
            <p:cNvPr id="221" name="AutoShape 43"/>
            <p:cNvSpPr>
              <a:spLocks noChangeArrowheads="1"/>
            </p:cNvSpPr>
            <p:nvPr/>
          </p:nvSpPr>
          <p:spPr bwMode="auto">
            <a:xfrm>
              <a:off x="1547664" y="1757715"/>
              <a:ext cx="468000" cy="180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222" name="AutoShape 43"/>
            <p:cNvSpPr>
              <a:spLocks noChangeArrowheads="1"/>
            </p:cNvSpPr>
            <p:nvPr/>
          </p:nvSpPr>
          <p:spPr bwMode="auto">
            <a:xfrm>
              <a:off x="928889" y="2684294"/>
              <a:ext cx="468000" cy="1800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/>
            </a:p>
          </p:txBody>
        </p:sp>
        <p:grpSp>
          <p:nvGrpSpPr>
            <p:cNvPr id="223" name="Group 5"/>
            <p:cNvGrpSpPr/>
            <p:nvPr/>
          </p:nvGrpSpPr>
          <p:grpSpPr bwMode="auto">
            <a:xfrm>
              <a:off x="539552" y="3529340"/>
              <a:ext cx="1717162" cy="812497"/>
              <a:chOff x="4" y="1804"/>
              <a:chExt cx="1769" cy="836"/>
            </a:xfrm>
          </p:grpSpPr>
          <p:sp>
            <p:nvSpPr>
              <p:cNvPr id="224" name="Rectangle 6"/>
              <p:cNvSpPr>
                <a:spLocks noChangeArrowheads="1"/>
              </p:cNvSpPr>
              <p:nvPr/>
            </p:nvSpPr>
            <p:spPr bwMode="auto">
              <a:xfrm>
                <a:off x="1354" y="2403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25" name="Rectangle 7"/>
              <p:cNvSpPr>
                <a:spLocks noChangeArrowheads="1"/>
              </p:cNvSpPr>
              <p:nvPr/>
            </p:nvSpPr>
            <p:spPr bwMode="auto">
              <a:xfrm>
                <a:off x="1027" y="2403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1</a:t>
                </a:r>
                <a:endParaRPr lang="en-US" altLang="zh-CN" sz="900" b="1" baseline="-25000" dirty="0"/>
              </a:p>
            </p:txBody>
          </p:sp>
          <p:sp>
            <p:nvSpPr>
              <p:cNvPr id="226" name="Rectangle 8"/>
              <p:cNvSpPr>
                <a:spLocks noChangeArrowheads="1"/>
              </p:cNvSpPr>
              <p:nvPr/>
            </p:nvSpPr>
            <p:spPr bwMode="auto">
              <a:xfrm>
                <a:off x="701" y="2403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27" name="Rectangle 9"/>
              <p:cNvSpPr>
                <a:spLocks noChangeArrowheads="1"/>
              </p:cNvSpPr>
              <p:nvPr/>
            </p:nvSpPr>
            <p:spPr bwMode="auto">
              <a:xfrm>
                <a:off x="374" y="2403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1</a:t>
                </a:r>
                <a:endParaRPr lang="en-US" altLang="zh-CN" sz="900" b="1" baseline="-25000" dirty="0"/>
              </a:p>
            </p:txBody>
          </p:sp>
          <p:sp>
            <p:nvSpPr>
              <p:cNvPr id="228" name="Rectangle 10"/>
              <p:cNvSpPr>
                <a:spLocks noChangeArrowheads="1"/>
              </p:cNvSpPr>
              <p:nvPr/>
            </p:nvSpPr>
            <p:spPr bwMode="auto">
              <a:xfrm>
                <a:off x="1354" y="2167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1</a:t>
                </a:r>
                <a:endParaRPr lang="en-US" altLang="zh-CN" sz="900" b="1" baseline="-25000" dirty="0"/>
              </a:p>
            </p:txBody>
          </p:sp>
          <p:sp>
            <p:nvSpPr>
              <p:cNvPr id="229" name="Rectangle 11"/>
              <p:cNvSpPr>
                <a:spLocks noChangeArrowheads="1"/>
              </p:cNvSpPr>
              <p:nvPr/>
            </p:nvSpPr>
            <p:spPr bwMode="auto">
              <a:xfrm>
                <a:off x="1027" y="2167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30" name="Rectangle 12"/>
              <p:cNvSpPr>
                <a:spLocks noChangeArrowheads="1"/>
              </p:cNvSpPr>
              <p:nvPr/>
            </p:nvSpPr>
            <p:spPr bwMode="auto">
              <a:xfrm>
                <a:off x="701" y="2167"/>
                <a:ext cx="326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1</a:t>
                </a:r>
                <a:endParaRPr lang="en-US" altLang="zh-CN" sz="900" b="1" baseline="-25000" dirty="0"/>
              </a:p>
            </p:txBody>
          </p:sp>
          <p:sp>
            <p:nvSpPr>
              <p:cNvPr id="231" name="Rectangle 13"/>
              <p:cNvSpPr>
                <a:spLocks noChangeArrowheads="1"/>
              </p:cNvSpPr>
              <p:nvPr/>
            </p:nvSpPr>
            <p:spPr bwMode="auto">
              <a:xfrm>
                <a:off x="374" y="2167"/>
                <a:ext cx="327" cy="236"/>
              </a:xfrm>
              <a:prstGeom prst="rect">
                <a:avLst/>
              </a:prstGeom>
              <a:noFill/>
              <a:ln w="19050" cap="sq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900" b="1" dirty="0"/>
                  <a:t>0</a:t>
                </a:r>
                <a:endParaRPr lang="en-US" altLang="zh-CN" sz="900" b="1" baseline="-25000" dirty="0"/>
              </a:p>
            </p:txBody>
          </p:sp>
          <p:sp>
            <p:nvSpPr>
              <p:cNvPr id="232" name="Line 14"/>
              <p:cNvSpPr>
                <a:spLocks noChangeShapeType="1"/>
              </p:cNvSpPr>
              <p:nvPr/>
            </p:nvSpPr>
            <p:spPr bwMode="auto">
              <a:xfrm>
                <a:off x="374" y="2167"/>
                <a:ext cx="130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3" name="Line 15"/>
              <p:cNvSpPr>
                <a:spLocks noChangeShapeType="1"/>
              </p:cNvSpPr>
              <p:nvPr/>
            </p:nvSpPr>
            <p:spPr bwMode="auto">
              <a:xfrm>
                <a:off x="374" y="2403"/>
                <a:ext cx="130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4" name="Line 16"/>
              <p:cNvSpPr>
                <a:spLocks noChangeShapeType="1"/>
              </p:cNvSpPr>
              <p:nvPr/>
            </p:nvSpPr>
            <p:spPr bwMode="auto">
              <a:xfrm>
                <a:off x="374" y="2639"/>
                <a:ext cx="1306" cy="0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5" name="Line 17"/>
              <p:cNvSpPr>
                <a:spLocks noChangeShapeType="1"/>
              </p:cNvSpPr>
              <p:nvPr/>
            </p:nvSpPr>
            <p:spPr bwMode="auto">
              <a:xfrm>
                <a:off x="374" y="2167"/>
                <a:ext cx="0" cy="472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6" name="Line 18"/>
              <p:cNvSpPr>
                <a:spLocks noChangeShapeType="1"/>
              </p:cNvSpPr>
              <p:nvPr/>
            </p:nvSpPr>
            <p:spPr bwMode="auto">
              <a:xfrm>
                <a:off x="701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7" name="Line 19"/>
              <p:cNvSpPr>
                <a:spLocks noChangeShapeType="1"/>
              </p:cNvSpPr>
              <p:nvPr/>
            </p:nvSpPr>
            <p:spPr bwMode="auto">
              <a:xfrm>
                <a:off x="1027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8" name="Line 20"/>
              <p:cNvSpPr>
                <a:spLocks noChangeShapeType="1"/>
              </p:cNvSpPr>
              <p:nvPr/>
            </p:nvSpPr>
            <p:spPr bwMode="auto">
              <a:xfrm>
                <a:off x="1354" y="2167"/>
                <a:ext cx="0" cy="47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39" name="Line 21"/>
              <p:cNvSpPr>
                <a:spLocks noChangeShapeType="1"/>
              </p:cNvSpPr>
              <p:nvPr/>
            </p:nvSpPr>
            <p:spPr bwMode="auto">
              <a:xfrm>
                <a:off x="1680" y="2403"/>
                <a:ext cx="0" cy="23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40" name="Line 22"/>
              <p:cNvSpPr>
                <a:spLocks noChangeShapeType="1"/>
              </p:cNvSpPr>
              <p:nvPr/>
            </p:nvSpPr>
            <p:spPr bwMode="auto">
              <a:xfrm>
                <a:off x="1680" y="2167"/>
                <a:ext cx="0" cy="236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41" name="Line 23"/>
              <p:cNvSpPr>
                <a:spLocks noChangeShapeType="1"/>
              </p:cNvSpPr>
              <p:nvPr/>
            </p:nvSpPr>
            <p:spPr bwMode="auto">
              <a:xfrm>
                <a:off x="201" y="1992"/>
                <a:ext cx="173" cy="175"/>
              </a:xfrm>
              <a:prstGeom prst="line">
                <a:avLst/>
              </a:prstGeom>
              <a:noFill/>
              <a:ln w="1905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 sz="1000"/>
              </a:p>
            </p:txBody>
          </p:sp>
          <p:sp>
            <p:nvSpPr>
              <p:cNvPr id="242" name="Text Box 24"/>
              <p:cNvSpPr txBox="1">
                <a:spLocks noChangeArrowheads="1"/>
              </p:cNvSpPr>
              <p:nvPr/>
            </p:nvSpPr>
            <p:spPr bwMode="auto">
              <a:xfrm>
                <a:off x="391" y="1960"/>
                <a:ext cx="1382" cy="252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00     01     11    10</a:t>
                </a:r>
              </a:p>
            </p:txBody>
          </p:sp>
          <p:sp>
            <p:nvSpPr>
              <p:cNvPr id="243" name="Text Box 25"/>
              <p:cNvSpPr txBox="1">
                <a:spLocks noChangeArrowheads="1"/>
              </p:cNvSpPr>
              <p:nvPr/>
            </p:nvSpPr>
            <p:spPr bwMode="auto">
              <a:xfrm>
                <a:off x="162" y="2236"/>
                <a:ext cx="196" cy="404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65000"/>
                  </a:lnSpc>
                </a:pPr>
                <a:r>
                  <a:rPr lang="en-US" altLang="zh-CN" sz="1000" b="1" dirty="0"/>
                  <a:t>0</a:t>
                </a:r>
              </a:p>
              <a:p>
                <a:pPr>
                  <a:lnSpc>
                    <a:spcPct val="65000"/>
                  </a:lnSpc>
                </a:pPr>
                <a:endParaRPr lang="en-US" altLang="zh-CN" sz="1000" b="1" dirty="0"/>
              </a:p>
              <a:p>
                <a:pPr>
                  <a:lnSpc>
                    <a:spcPct val="65000"/>
                  </a:lnSpc>
                </a:pPr>
                <a:r>
                  <a:rPr lang="en-US" altLang="zh-CN" sz="1000" b="1" dirty="0"/>
                  <a:t>1</a:t>
                </a:r>
              </a:p>
            </p:txBody>
          </p:sp>
          <p:sp>
            <p:nvSpPr>
              <p:cNvPr id="244" name="Text Box 26"/>
              <p:cNvSpPr txBox="1">
                <a:spLocks noChangeArrowheads="1"/>
              </p:cNvSpPr>
              <p:nvPr/>
            </p:nvSpPr>
            <p:spPr bwMode="auto">
              <a:xfrm>
                <a:off x="4" y="1960"/>
                <a:ext cx="371" cy="253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X</a:t>
                </a:r>
                <a:r>
                  <a:rPr lang="en-US" altLang="zh-CN" sz="1000" b="1" baseline="-25000" dirty="0"/>
                  <a:t>1</a:t>
                </a:r>
                <a:endParaRPr lang="en-US" altLang="zh-CN" sz="1000" b="1" baseline="30000" dirty="0"/>
              </a:p>
            </p:txBody>
          </p:sp>
          <p:sp>
            <p:nvSpPr>
              <p:cNvPr id="245" name="Text Box 27"/>
              <p:cNvSpPr txBox="1">
                <a:spLocks noChangeArrowheads="1"/>
              </p:cNvSpPr>
              <p:nvPr/>
            </p:nvSpPr>
            <p:spPr bwMode="auto">
              <a:xfrm>
                <a:off x="124" y="1804"/>
                <a:ext cx="597" cy="253"/>
              </a:xfrm>
              <a:prstGeom prst="rect">
                <a:avLst/>
              </a:prstGeom>
              <a:noFill/>
              <a:ln w="1905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X</a:t>
                </a:r>
                <a:r>
                  <a:rPr lang="en-US" altLang="zh-CN" sz="1000" b="1" baseline="-25000" dirty="0"/>
                  <a:t>2</a:t>
                </a:r>
                <a:r>
                  <a:rPr lang="en-US" altLang="zh-CN" sz="1000" b="1" dirty="0"/>
                  <a:t>Q</a:t>
                </a:r>
                <a:r>
                  <a:rPr lang="en-US" altLang="zh-CN" sz="1000" b="1" baseline="30000" dirty="0"/>
                  <a:t>n</a:t>
                </a:r>
                <a:endParaRPr lang="en-US" altLang="zh-CN" sz="1000" b="1" baseline="-25000" dirty="0"/>
              </a:p>
            </p:txBody>
          </p:sp>
        </p:grpSp>
      </p:grpSp>
      <p:sp>
        <p:nvSpPr>
          <p:cNvPr id="247" name="Text Box 149"/>
          <p:cNvSpPr txBox="1">
            <a:spLocks noChangeArrowheads="1"/>
          </p:cNvSpPr>
          <p:nvPr/>
        </p:nvSpPr>
        <p:spPr bwMode="auto">
          <a:xfrm>
            <a:off x="3131840" y="699542"/>
            <a:ext cx="2016224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a typeface="宋体" panose="02010600030101010101" pitchFamily="2" charset="-122"/>
              </a:rPr>
              <a:t>6.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电路实现</a:t>
            </a:r>
          </a:p>
        </p:txBody>
      </p:sp>
      <p:grpSp>
        <p:nvGrpSpPr>
          <p:cNvPr id="368" name="组合 367"/>
          <p:cNvGrpSpPr/>
          <p:nvPr/>
        </p:nvGrpSpPr>
        <p:grpSpPr>
          <a:xfrm>
            <a:off x="2699792" y="1203598"/>
            <a:ext cx="2787147" cy="2828058"/>
            <a:chOff x="4355976" y="1995686"/>
            <a:chExt cx="2787147" cy="2828058"/>
          </a:xfrm>
        </p:grpSpPr>
        <p:sp>
          <p:nvSpPr>
            <p:cNvPr id="163" name="Text Box 69"/>
            <p:cNvSpPr txBox="1">
              <a:spLocks noChangeArrowheads="1"/>
            </p:cNvSpPr>
            <p:nvPr/>
          </p:nvSpPr>
          <p:spPr bwMode="auto">
            <a:xfrm>
              <a:off x="6705437" y="3454896"/>
              <a:ext cx="437686" cy="30775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164" name="直接连接符 34"/>
            <p:cNvCxnSpPr>
              <a:cxnSpLocks noChangeShapeType="1"/>
            </p:cNvCxnSpPr>
            <p:nvPr/>
          </p:nvCxnSpPr>
          <p:spPr bwMode="auto">
            <a:xfrm rot="5400000">
              <a:off x="6047594" y="3435707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grpSp>
          <p:nvGrpSpPr>
            <p:cNvPr id="165" name="组合 16"/>
            <p:cNvGrpSpPr/>
            <p:nvPr/>
          </p:nvGrpSpPr>
          <p:grpSpPr bwMode="auto">
            <a:xfrm>
              <a:off x="5871218" y="2861993"/>
              <a:ext cx="803540" cy="1080000"/>
              <a:chOff x="1863914" y="2497604"/>
              <a:chExt cx="803540" cy="1080847"/>
            </a:xfrm>
          </p:grpSpPr>
          <p:cxnSp>
            <p:nvCxnSpPr>
              <p:cNvPr id="361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044078" y="3035127"/>
                <a:ext cx="792622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362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459806" y="3037234"/>
                <a:ext cx="1080847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363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4" name="TextBox 363"/>
              <p:cNvSpPr txBox="1">
                <a:spLocks noChangeArrowheads="1"/>
              </p:cNvSpPr>
              <p:nvPr/>
            </p:nvSpPr>
            <p:spPr bwMode="auto">
              <a:xfrm>
                <a:off x="2310148" y="2877375"/>
                <a:ext cx="357306" cy="2462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5" name="TextBox 364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6" name="TextBox 365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367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166" name="等腰三角形 36"/>
            <p:cNvSpPr>
              <a:spLocks noChangeArrowheads="1"/>
            </p:cNvSpPr>
            <p:nvPr/>
          </p:nvSpPr>
          <p:spPr bwMode="auto">
            <a:xfrm>
              <a:off x="6186227" y="3330116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" name="TextBox 166"/>
            <p:cNvSpPr txBox="1">
              <a:spLocks noChangeArrowheads="1"/>
            </p:cNvSpPr>
            <p:nvPr/>
          </p:nvSpPr>
          <p:spPr bwMode="auto">
            <a:xfrm>
              <a:off x="6078566" y="3173199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68" name="Line 28"/>
            <p:cNvSpPr>
              <a:spLocks noChangeShapeType="1"/>
            </p:cNvSpPr>
            <p:nvPr/>
          </p:nvSpPr>
          <p:spPr bwMode="auto">
            <a:xfrm rot="16200000" flipV="1">
              <a:off x="6506531" y="3375488"/>
              <a:ext cx="0" cy="504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TextBox 168"/>
            <p:cNvSpPr txBox="1">
              <a:spLocks noChangeArrowheads="1"/>
            </p:cNvSpPr>
            <p:nvPr/>
          </p:nvSpPr>
          <p:spPr bwMode="auto">
            <a:xfrm>
              <a:off x="5869016" y="3243049"/>
              <a:ext cx="355600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70" name="椭圆 93"/>
            <p:cNvSpPr>
              <a:spLocks noChangeArrowheads="1"/>
            </p:cNvSpPr>
            <p:nvPr/>
          </p:nvSpPr>
          <p:spPr bwMode="auto">
            <a:xfrm>
              <a:off x="6206274" y="3436377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1" name="Line 28"/>
            <p:cNvSpPr>
              <a:spLocks noChangeShapeType="1"/>
            </p:cNvSpPr>
            <p:nvPr/>
          </p:nvSpPr>
          <p:spPr bwMode="auto">
            <a:xfrm rot="16200000" flipV="1">
              <a:off x="5769534" y="2625201"/>
              <a:ext cx="0" cy="4896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Text Box 69"/>
            <p:cNvSpPr txBox="1">
              <a:spLocks noChangeArrowheads="1"/>
            </p:cNvSpPr>
            <p:nvPr/>
          </p:nvSpPr>
          <p:spPr bwMode="auto">
            <a:xfrm>
              <a:off x="5178106" y="1995686"/>
              <a:ext cx="437686" cy="30775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C00000"/>
                  </a:solidFill>
                </a:rPr>
                <a:t>Z </a:t>
              </a:r>
              <a:endParaRPr kumimoji="0" lang="en-US" altLang="zh-CN" sz="14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174" name="Line 26"/>
            <p:cNvSpPr>
              <a:spLocks noChangeShapeType="1"/>
            </p:cNvSpPr>
            <p:nvPr/>
          </p:nvSpPr>
          <p:spPr bwMode="auto">
            <a:xfrm rot="16200000">
              <a:off x="4795983" y="4234647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28"/>
            <p:cNvSpPr>
              <a:spLocks noChangeShapeType="1"/>
            </p:cNvSpPr>
            <p:nvPr/>
          </p:nvSpPr>
          <p:spPr bwMode="auto">
            <a:xfrm rot="16200000" flipV="1">
              <a:off x="4860459" y="4194807"/>
              <a:ext cx="0" cy="241179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28"/>
            <p:cNvSpPr>
              <a:spLocks noChangeShapeType="1"/>
            </p:cNvSpPr>
            <p:nvPr/>
          </p:nvSpPr>
          <p:spPr bwMode="auto">
            <a:xfrm rot="16200000" flipV="1">
              <a:off x="4860459" y="4563247"/>
              <a:ext cx="0" cy="241179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29" name="直接连接符 150"/>
            <p:cNvCxnSpPr>
              <a:cxnSpLocks noChangeShapeType="1"/>
            </p:cNvCxnSpPr>
            <p:nvPr/>
          </p:nvCxnSpPr>
          <p:spPr bwMode="auto">
            <a:xfrm flipH="1">
              <a:off x="5243925" y="4307894"/>
              <a:ext cx="11304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330" name="直接连接符 160"/>
            <p:cNvCxnSpPr>
              <a:cxnSpLocks noChangeShapeType="1"/>
            </p:cNvCxnSpPr>
            <p:nvPr/>
          </p:nvCxnSpPr>
          <p:spPr bwMode="auto">
            <a:xfrm flipH="1">
              <a:off x="4875485" y="4171829"/>
              <a:ext cx="10440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331" name="Text Box 69"/>
            <p:cNvSpPr txBox="1">
              <a:spLocks noChangeArrowheads="1"/>
            </p:cNvSpPr>
            <p:nvPr/>
          </p:nvSpPr>
          <p:spPr bwMode="auto">
            <a:xfrm>
              <a:off x="4355976" y="4515967"/>
              <a:ext cx="432048" cy="30777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/>
                <a:t>X</a:t>
              </a:r>
              <a:r>
                <a:rPr kumimoji="0" lang="en-US" altLang="zh-CN" sz="1400" b="1" baseline="-25000" dirty="0"/>
                <a:t>1 </a:t>
              </a:r>
            </a:p>
          </p:txBody>
        </p:sp>
        <p:grpSp>
          <p:nvGrpSpPr>
            <p:cNvPr id="332" name="组合 480"/>
            <p:cNvGrpSpPr/>
            <p:nvPr/>
          </p:nvGrpSpPr>
          <p:grpSpPr>
            <a:xfrm>
              <a:off x="4963845" y="4203633"/>
              <a:ext cx="292820" cy="216004"/>
              <a:chOff x="5868144" y="3867894"/>
              <a:chExt cx="292820" cy="216004"/>
            </a:xfrm>
          </p:grpSpPr>
          <p:sp>
            <p:nvSpPr>
              <p:cNvPr id="359" name="AutoShape 30"/>
              <p:cNvSpPr>
                <a:spLocks noChangeArrowheads="1"/>
              </p:cNvSpPr>
              <p:nvPr/>
            </p:nvSpPr>
            <p:spPr bwMode="auto">
              <a:xfrm rot="5400000">
                <a:off x="5868152" y="3867886"/>
                <a:ext cx="216004" cy="216020"/>
              </a:xfrm>
              <a:prstGeom prst="flowChartExtract">
                <a:avLst/>
              </a:prstGeom>
              <a:solidFill>
                <a:srgbClr val="CCFFCC"/>
              </a:solidFill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60" name="椭圆 359"/>
              <p:cNvSpPr/>
              <p:nvPr/>
            </p:nvSpPr>
            <p:spPr bwMode="auto">
              <a:xfrm>
                <a:off x="6088949" y="3939903"/>
                <a:ext cx="72015" cy="72009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333" name="Line 38"/>
            <p:cNvSpPr>
              <a:spLocks noChangeShapeType="1"/>
            </p:cNvSpPr>
            <p:nvPr/>
          </p:nvSpPr>
          <p:spPr bwMode="auto">
            <a:xfrm rot="16200000">
              <a:off x="6114473" y="4255397"/>
              <a:ext cx="828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34" name="直接连接符 79"/>
            <p:cNvCxnSpPr>
              <a:cxnSpLocks noChangeShapeType="1"/>
            </p:cNvCxnSpPr>
            <p:nvPr/>
          </p:nvCxnSpPr>
          <p:spPr bwMode="auto">
            <a:xfrm flipH="1">
              <a:off x="6369780" y="3976031"/>
              <a:ext cx="0" cy="32400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tailEnd type="none" w="sm" len="sm"/>
            </a:ln>
          </p:spPr>
        </p:cxnSp>
        <p:grpSp>
          <p:nvGrpSpPr>
            <p:cNvPr id="335" name="组合 481"/>
            <p:cNvGrpSpPr/>
            <p:nvPr/>
          </p:nvGrpSpPr>
          <p:grpSpPr>
            <a:xfrm>
              <a:off x="4963845" y="4563673"/>
              <a:ext cx="292820" cy="216004"/>
              <a:chOff x="5868144" y="3867894"/>
              <a:chExt cx="292820" cy="216004"/>
            </a:xfrm>
          </p:grpSpPr>
          <p:sp>
            <p:nvSpPr>
              <p:cNvPr id="357" name="AutoShape 30"/>
              <p:cNvSpPr>
                <a:spLocks noChangeArrowheads="1"/>
              </p:cNvSpPr>
              <p:nvPr/>
            </p:nvSpPr>
            <p:spPr bwMode="auto">
              <a:xfrm rot="5400000">
                <a:off x="5868152" y="3867886"/>
                <a:ext cx="216004" cy="216020"/>
              </a:xfrm>
              <a:prstGeom prst="flowChartExtract">
                <a:avLst/>
              </a:prstGeom>
              <a:solidFill>
                <a:srgbClr val="CCFFCC"/>
              </a:solidFill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58" name="椭圆 357"/>
              <p:cNvSpPr/>
              <p:nvPr/>
            </p:nvSpPr>
            <p:spPr bwMode="auto">
              <a:xfrm>
                <a:off x="6088949" y="3939903"/>
                <a:ext cx="72015" cy="72009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336" name="Line 32"/>
            <p:cNvSpPr>
              <a:spLocks noChangeShapeType="1"/>
            </p:cNvSpPr>
            <p:nvPr/>
          </p:nvSpPr>
          <p:spPr bwMode="auto">
            <a:xfrm rot="16200000">
              <a:off x="5760874" y="4022502"/>
              <a:ext cx="32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32"/>
            <p:cNvSpPr>
              <a:spLocks noChangeShapeType="1"/>
            </p:cNvSpPr>
            <p:nvPr/>
          </p:nvSpPr>
          <p:spPr bwMode="auto">
            <a:xfrm rot="16200000">
              <a:off x="5815940" y="4255453"/>
              <a:ext cx="540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流程图: 延期 92"/>
            <p:cNvSpPr>
              <a:spLocks noChangeArrowheads="1"/>
            </p:cNvSpPr>
            <p:nvPr/>
          </p:nvSpPr>
          <p:spPr bwMode="auto">
            <a:xfrm rot="16200000">
              <a:off x="5868221" y="3731028"/>
              <a:ext cx="285750" cy="284162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9" name="Text Box 69"/>
            <p:cNvSpPr txBox="1">
              <a:spLocks noChangeArrowheads="1"/>
            </p:cNvSpPr>
            <p:nvPr/>
          </p:nvSpPr>
          <p:spPr bwMode="auto">
            <a:xfrm>
              <a:off x="4355976" y="4155927"/>
              <a:ext cx="432048" cy="30777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/>
                <a:t>X</a:t>
              </a:r>
              <a:r>
                <a:rPr kumimoji="0" lang="en-US" altLang="zh-CN" sz="1400" b="1" baseline="-25000" dirty="0"/>
                <a:t>2 </a:t>
              </a:r>
            </a:p>
          </p:txBody>
        </p:sp>
        <p:cxnSp>
          <p:nvCxnSpPr>
            <p:cNvPr id="340" name="直接连接符 150"/>
            <p:cNvCxnSpPr>
              <a:cxnSpLocks noChangeShapeType="1"/>
            </p:cNvCxnSpPr>
            <p:nvPr/>
          </p:nvCxnSpPr>
          <p:spPr bwMode="auto">
            <a:xfrm flipH="1">
              <a:off x="5243925" y="4667485"/>
              <a:ext cx="12888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341" name="Line 26"/>
            <p:cNvSpPr>
              <a:spLocks noChangeShapeType="1"/>
            </p:cNvSpPr>
            <p:nvPr/>
          </p:nvSpPr>
          <p:spPr bwMode="auto">
            <a:xfrm rot="16200000">
              <a:off x="4803934" y="4603421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2" name="直接连接符 160"/>
            <p:cNvCxnSpPr>
              <a:cxnSpLocks noChangeShapeType="1"/>
            </p:cNvCxnSpPr>
            <p:nvPr/>
          </p:nvCxnSpPr>
          <p:spPr bwMode="auto">
            <a:xfrm flipH="1">
              <a:off x="4867982" y="4531420"/>
              <a:ext cx="1224000" cy="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343" name="Line 25"/>
            <p:cNvSpPr>
              <a:spLocks noChangeShapeType="1"/>
            </p:cNvSpPr>
            <p:nvPr/>
          </p:nvSpPr>
          <p:spPr bwMode="auto">
            <a:xfrm rot="16200000">
              <a:off x="6356946" y="3799776"/>
              <a:ext cx="180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流程图: 延期 92"/>
            <p:cNvSpPr>
              <a:spLocks noChangeArrowheads="1"/>
            </p:cNvSpPr>
            <p:nvPr/>
          </p:nvSpPr>
          <p:spPr bwMode="auto">
            <a:xfrm rot="16200000">
              <a:off x="6301170" y="3724673"/>
              <a:ext cx="285750" cy="284162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45" name="组合 153"/>
            <p:cNvGrpSpPr/>
            <p:nvPr/>
          </p:nvGrpSpPr>
          <p:grpSpPr>
            <a:xfrm>
              <a:off x="5236702" y="3050282"/>
              <a:ext cx="400773" cy="1484734"/>
              <a:chOff x="8480567" y="804724"/>
              <a:chExt cx="400773" cy="1484734"/>
            </a:xfrm>
          </p:grpSpPr>
          <p:pic>
            <p:nvPicPr>
              <p:cNvPr id="353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6200000">
                <a:off x="8388485" y="896806"/>
                <a:ext cx="491267" cy="307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4" name="Line 38"/>
              <p:cNvSpPr>
                <a:spLocks noChangeShapeType="1"/>
              </p:cNvSpPr>
              <p:nvPr/>
            </p:nvSpPr>
            <p:spPr bwMode="auto">
              <a:xfrm rot="16200000">
                <a:off x="8193997" y="1551418"/>
                <a:ext cx="75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5" name="Line 39"/>
              <p:cNvSpPr>
                <a:spLocks noChangeShapeType="1"/>
              </p:cNvSpPr>
              <p:nvPr/>
            </p:nvSpPr>
            <p:spPr bwMode="auto">
              <a:xfrm rot="16200000">
                <a:off x="8143365" y="1731458"/>
                <a:ext cx="1116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oval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" name="弧形 355"/>
              <p:cNvSpPr/>
              <p:nvPr/>
            </p:nvSpPr>
            <p:spPr bwMode="auto">
              <a:xfrm rot="18316332">
                <a:off x="8539324" y="1180648"/>
                <a:ext cx="288032" cy="396000"/>
              </a:xfrm>
              <a:prstGeom prst="arc">
                <a:avLst/>
              </a:prstGeom>
              <a:no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47" name="组合 155"/>
            <p:cNvGrpSpPr/>
            <p:nvPr/>
          </p:nvGrpSpPr>
          <p:grpSpPr>
            <a:xfrm>
              <a:off x="5299185" y="2230760"/>
              <a:ext cx="400773" cy="873620"/>
              <a:chOff x="8480567" y="804724"/>
              <a:chExt cx="400773" cy="873620"/>
            </a:xfrm>
          </p:grpSpPr>
          <p:pic>
            <p:nvPicPr>
              <p:cNvPr id="349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6200000">
                <a:off x="8388485" y="896806"/>
                <a:ext cx="491267" cy="307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0" name="Line 38"/>
              <p:cNvSpPr>
                <a:spLocks noChangeShapeType="1"/>
              </p:cNvSpPr>
              <p:nvPr/>
            </p:nvSpPr>
            <p:spPr bwMode="auto">
              <a:xfrm rot="16200000">
                <a:off x="8319997" y="1426344"/>
                <a:ext cx="50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" name="Line 39"/>
              <p:cNvSpPr>
                <a:spLocks noChangeShapeType="1"/>
              </p:cNvSpPr>
              <p:nvPr/>
            </p:nvSpPr>
            <p:spPr bwMode="auto">
              <a:xfrm rot="16200000">
                <a:off x="8557365" y="1304174"/>
                <a:ext cx="288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" name="弧形 351"/>
              <p:cNvSpPr/>
              <p:nvPr/>
            </p:nvSpPr>
            <p:spPr bwMode="auto">
              <a:xfrm rot="18316332">
                <a:off x="8539324" y="1180648"/>
                <a:ext cx="288032" cy="396000"/>
              </a:xfrm>
              <a:prstGeom prst="arc">
                <a:avLst/>
              </a:prstGeom>
              <a:no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48" name="直接连接符 115"/>
            <p:cNvCxnSpPr>
              <a:cxnSpLocks noChangeShapeType="1"/>
            </p:cNvCxnSpPr>
            <p:nvPr/>
          </p:nvCxnSpPr>
          <p:spPr bwMode="auto">
            <a:xfrm>
              <a:off x="5452726" y="2124844"/>
              <a:ext cx="0" cy="14400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</p:grpSp>
      <p:sp>
        <p:nvSpPr>
          <p:cNvPr id="369" name="Text Box 8"/>
          <p:cNvSpPr txBox="1">
            <a:spLocks noChangeArrowheads="1"/>
          </p:cNvSpPr>
          <p:nvPr/>
        </p:nvSpPr>
        <p:spPr bwMode="auto">
          <a:xfrm>
            <a:off x="2771800" y="1635646"/>
            <a:ext cx="792088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方案</a:t>
            </a: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1: </a:t>
            </a:r>
          </a:p>
        </p:txBody>
      </p:sp>
      <p:grpSp>
        <p:nvGrpSpPr>
          <p:cNvPr id="370" name="Group 5"/>
          <p:cNvGrpSpPr/>
          <p:nvPr/>
        </p:nvGrpSpPr>
        <p:grpSpPr bwMode="auto">
          <a:xfrm>
            <a:off x="5818585" y="1079701"/>
            <a:ext cx="2830513" cy="1921669"/>
            <a:chOff x="3165" y="2146"/>
            <a:chExt cx="1783" cy="1614"/>
          </a:xfrm>
        </p:grpSpPr>
        <p:sp>
          <p:nvSpPr>
            <p:cNvPr id="371" name="Text Box 6"/>
            <p:cNvSpPr txBox="1">
              <a:spLocks noChangeArrowheads="1"/>
            </p:cNvSpPr>
            <p:nvPr/>
          </p:nvSpPr>
          <p:spPr bwMode="auto">
            <a:xfrm>
              <a:off x="4691" y="2724"/>
              <a:ext cx="257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C</a:t>
              </a:r>
              <a:r>
                <a:rPr lang="en-US" altLang="zh-CN" sz="1600" b="1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72" name="Text Box 7"/>
            <p:cNvSpPr txBox="1">
              <a:spLocks noChangeArrowheads="1"/>
            </p:cNvSpPr>
            <p:nvPr/>
          </p:nvSpPr>
          <p:spPr bwMode="auto">
            <a:xfrm>
              <a:off x="3952" y="3476"/>
              <a:ext cx="253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latin typeface="Tahoma" panose="020B0604030504040204" pitchFamily="34" charset="0"/>
                </a:rPr>
                <a:t>S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73" name="Text Box 8"/>
            <p:cNvSpPr txBox="1">
              <a:spLocks noChangeArrowheads="1"/>
            </p:cNvSpPr>
            <p:nvPr/>
          </p:nvSpPr>
          <p:spPr bwMode="auto">
            <a:xfrm>
              <a:off x="3784" y="2146"/>
              <a:ext cx="635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latin typeface="Tahoma" panose="020B0604030504040204" pitchFamily="34" charset="0"/>
                </a:rPr>
                <a:t>X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0</a:t>
              </a:r>
              <a:r>
                <a:rPr lang="en-US" altLang="zh-CN" sz="1600" b="1" dirty="0">
                  <a:latin typeface="Tahoma" panose="020B0604030504040204" pitchFamily="34" charset="0"/>
                </a:rPr>
                <a:t>      Y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74" name="Text Box 9"/>
            <p:cNvSpPr txBox="1">
              <a:spLocks noChangeArrowheads="1"/>
            </p:cNvSpPr>
            <p:nvPr/>
          </p:nvSpPr>
          <p:spPr bwMode="auto">
            <a:xfrm>
              <a:off x="3165" y="2697"/>
              <a:ext cx="294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latin typeface="Tahoma" panose="020B0604030504040204" pitchFamily="34" charset="0"/>
                </a:rPr>
                <a:t>C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-1</a:t>
              </a:r>
            </a:p>
          </p:txBody>
        </p:sp>
      </p:grpSp>
      <p:grpSp>
        <p:nvGrpSpPr>
          <p:cNvPr id="377" name="Group 50"/>
          <p:cNvGrpSpPr/>
          <p:nvPr/>
        </p:nvGrpSpPr>
        <p:grpSpPr bwMode="auto">
          <a:xfrm>
            <a:off x="5803354" y="1091654"/>
            <a:ext cx="2870201" cy="1912144"/>
            <a:chOff x="3343" y="1861"/>
            <a:chExt cx="1808" cy="1606"/>
          </a:xfrm>
        </p:grpSpPr>
        <p:sp>
          <p:nvSpPr>
            <p:cNvPr id="378" name="Text Box 51"/>
            <p:cNvSpPr txBox="1">
              <a:spLocks noChangeArrowheads="1"/>
            </p:cNvSpPr>
            <p:nvPr/>
          </p:nvSpPr>
          <p:spPr bwMode="auto">
            <a:xfrm>
              <a:off x="4941" y="2444"/>
              <a:ext cx="210" cy="2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 lIns="1800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C</a:t>
              </a:r>
              <a:r>
                <a:rPr lang="en-US" altLang="zh-CN" sz="1600" b="1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79" name="Text Box 52"/>
            <p:cNvSpPr txBox="1">
              <a:spLocks noChangeArrowheads="1"/>
            </p:cNvSpPr>
            <p:nvPr/>
          </p:nvSpPr>
          <p:spPr bwMode="auto">
            <a:xfrm>
              <a:off x="4147" y="3242"/>
              <a:ext cx="253" cy="22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 t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Tahoma" panose="020B0604030504040204" pitchFamily="34" charset="0"/>
                </a:rPr>
                <a:t>S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80" name="Text Box 53"/>
            <p:cNvSpPr txBox="1">
              <a:spLocks noChangeArrowheads="1"/>
            </p:cNvSpPr>
            <p:nvPr/>
          </p:nvSpPr>
          <p:spPr bwMode="auto">
            <a:xfrm>
              <a:off x="3945" y="1861"/>
              <a:ext cx="678" cy="2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latin typeface="Tahoma" panose="020B0604030504040204" pitchFamily="34" charset="0"/>
                </a:rPr>
                <a:t>X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1</a:t>
              </a:r>
              <a:r>
                <a:rPr lang="en-US" altLang="zh-CN" sz="1600" b="1" dirty="0">
                  <a:latin typeface="Tahoma" panose="020B0604030504040204" pitchFamily="34" charset="0"/>
                </a:rPr>
                <a:t>       Y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81" name="Text Box 54"/>
            <p:cNvSpPr txBox="1">
              <a:spLocks noChangeArrowheads="1"/>
            </p:cNvSpPr>
            <p:nvPr/>
          </p:nvSpPr>
          <p:spPr bwMode="auto">
            <a:xfrm>
              <a:off x="3343" y="2395"/>
              <a:ext cx="257" cy="2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C</a:t>
              </a:r>
              <a:r>
                <a:rPr lang="en-US" altLang="zh-CN" sz="1600" b="1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382" name="Text Box 57"/>
          <p:cNvSpPr txBox="1">
            <a:spLocks noChangeArrowheads="1"/>
          </p:cNvSpPr>
          <p:nvPr/>
        </p:nvSpPr>
        <p:spPr bwMode="auto">
          <a:xfrm>
            <a:off x="6369619" y="2447282"/>
            <a:ext cx="598241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Arial Narrow" panose="020B0606020202030204" pitchFamily="34" charset="0"/>
                <a:ea typeface="黑体" panose="02010609060101010101" pitchFamily="49" charset="-122"/>
              </a:rPr>
              <a:t>反馈</a:t>
            </a:r>
            <a:endParaRPr lang="en-US" altLang="zh-CN" sz="1600" b="1" dirty="0"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383" name="Group 59"/>
          <p:cNvGrpSpPr/>
          <p:nvPr/>
        </p:nvGrpSpPr>
        <p:grpSpPr bwMode="auto">
          <a:xfrm>
            <a:off x="5855468" y="1087663"/>
            <a:ext cx="2820988" cy="1915716"/>
            <a:chOff x="3111" y="2108"/>
            <a:chExt cx="1777" cy="1609"/>
          </a:xfrm>
        </p:grpSpPr>
        <p:sp>
          <p:nvSpPr>
            <p:cNvPr id="384" name="Text Box 60"/>
            <p:cNvSpPr txBox="1">
              <a:spLocks noChangeArrowheads="1"/>
            </p:cNvSpPr>
            <p:nvPr/>
          </p:nvSpPr>
          <p:spPr bwMode="auto">
            <a:xfrm>
              <a:off x="4678" y="2687"/>
              <a:ext cx="210" cy="2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 lIns="1800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C</a:t>
              </a:r>
              <a:r>
                <a:rPr lang="en-US" altLang="zh-CN" sz="1600" b="1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85" name="Text Box 61"/>
            <p:cNvSpPr txBox="1">
              <a:spLocks noChangeArrowheads="1"/>
            </p:cNvSpPr>
            <p:nvPr/>
          </p:nvSpPr>
          <p:spPr bwMode="auto">
            <a:xfrm>
              <a:off x="3888" y="3492"/>
              <a:ext cx="253" cy="22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 t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Tahoma" panose="020B0604030504040204" pitchFamily="34" charset="0"/>
                </a:rPr>
                <a:t>S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86" name="Text Box 62"/>
            <p:cNvSpPr txBox="1">
              <a:spLocks noChangeArrowheads="1"/>
            </p:cNvSpPr>
            <p:nvPr/>
          </p:nvSpPr>
          <p:spPr bwMode="auto">
            <a:xfrm>
              <a:off x="3665" y="2108"/>
              <a:ext cx="670" cy="2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latin typeface="Tahoma" panose="020B0604030504040204" pitchFamily="34" charset="0"/>
                </a:rPr>
                <a:t>X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2</a:t>
              </a:r>
              <a:r>
                <a:rPr lang="en-US" altLang="zh-CN" sz="1600" b="1" dirty="0">
                  <a:latin typeface="Tahoma" panose="020B0604030504040204" pitchFamily="34" charset="0"/>
                </a:rPr>
                <a:t>       Y</a:t>
              </a:r>
              <a:r>
                <a:rPr lang="en-US" altLang="zh-CN" sz="1600" b="1" baseline="-25000" dirty="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87" name="Text Box 63"/>
            <p:cNvSpPr txBox="1">
              <a:spLocks noChangeArrowheads="1"/>
            </p:cNvSpPr>
            <p:nvPr/>
          </p:nvSpPr>
          <p:spPr bwMode="auto">
            <a:xfrm>
              <a:off x="3111" y="2663"/>
              <a:ext cx="257" cy="2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C</a:t>
              </a:r>
              <a:r>
                <a:rPr lang="en-US" altLang="zh-CN" sz="1600" b="1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</p:grpSp>
      <p:cxnSp>
        <p:nvCxnSpPr>
          <p:cNvPr id="388" name="AutoShape 56"/>
          <p:cNvCxnSpPr>
            <a:cxnSpLocks noChangeShapeType="1"/>
          </p:cNvCxnSpPr>
          <p:nvPr/>
        </p:nvCxnSpPr>
        <p:spPr bwMode="auto">
          <a:xfrm rot="5400000">
            <a:off x="7244403" y="958334"/>
            <a:ext cx="14400" cy="2052000"/>
          </a:xfrm>
          <a:prstGeom prst="curvedConnector3">
            <a:avLst>
              <a:gd name="adj1" fmla="val 3825001"/>
            </a:avLst>
          </a:prstGeom>
          <a:noFill/>
          <a:ln w="19050">
            <a:solidFill>
              <a:schemeClr val="bg2"/>
            </a:solidFill>
            <a:prstDash val="dash"/>
            <a:miter lim="800000"/>
            <a:tailEnd type="triangle" w="med" len="lg"/>
          </a:ln>
        </p:spPr>
      </p:cxnSp>
      <p:grpSp>
        <p:nvGrpSpPr>
          <p:cNvPr id="249" name="组合 248"/>
          <p:cNvGrpSpPr/>
          <p:nvPr/>
        </p:nvGrpSpPr>
        <p:grpSpPr>
          <a:xfrm>
            <a:off x="6189651" y="1366642"/>
            <a:ext cx="2110395" cy="1336875"/>
            <a:chOff x="6189651" y="1366642"/>
            <a:chExt cx="2110395" cy="1336875"/>
          </a:xfrm>
        </p:grpSpPr>
        <p:sp>
          <p:nvSpPr>
            <p:cNvPr id="375" name="Line 46"/>
            <p:cNvSpPr>
              <a:spLocks noChangeShapeType="1"/>
            </p:cNvSpPr>
            <p:nvPr/>
          </p:nvSpPr>
          <p:spPr bwMode="auto">
            <a:xfrm>
              <a:off x="6953646" y="1366642"/>
              <a:ext cx="0" cy="22860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6" name="Line 47"/>
            <p:cNvSpPr>
              <a:spLocks noChangeShapeType="1"/>
            </p:cNvSpPr>
            <p:nvPr/>
          </p:nvSpPr>
          <p:spPr bwMode="auto">
            <a:xfrm>
              <a:off x="7563246" y="1366642"/>
              <a:ext cx="0" cy="22860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89" name="组合 388"/>
            <p:cNvGrpSpPr/>
            <p:nvPr/>
          </p:nvGrpSpPr>
          <p:grpSpPr>
            <a:xfrm>
              <a:off x="6189651" y="1530228"/>
              <a:ext cx="2110395" cy="1173289"/>
              <a:chOff x="5616168" y="2950840"/>
              <a:chExt cx="2110395" cy="1173289"/>
            </a:xfrm>
          </p:grpSpPr>
          <p:sp>
            <p:nvSpPr>
              <p:cNvPr id="390" name="Line 48"/>
              <p:cNvSpPr>
                <a:spLocks noChangeShapeType="1"/>
              </p:cNvSpPr>
              <p:nvPr/>
            </p:nvSpPr>
            <p:spPr bwMode="auto">
              <a:xfrm>
                <a:off x="6672263" y="3692129"/>
                <a:ext cx="0" cy="4320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1" name="Line 44"/>
              <p:cNvSpPr>
                <a:spLocks noChangeShapeType="1"/>
              </p:cNvSpPr>
              <p:nvPr/>
            </p:nvSpPr>
            <p:spPr bwMode="auto">
              <a:xfrm>
                <a:off x="5616168" y="3358754"/>
                <a:ext cx="46800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" name="Rectangle 45"/>
              <p:cNvSpPr>
                <a:spLocks noChangeArrowheads="1"/>
              </p:cNvSpPr>
              <p:nvPr/>
            </p:nvSpPr>
            <p:spPr bwMode="auto">
              <a:xfrm>
                <a:off x="6075363" y="3015854"/>
                <a:ext cx="1219200" cy="6840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bg2"/>
                </a:solidFill>
                <a:miter lim="800000"/>
              </a:ln>
            </p:spPr>
            <p:txBody>
              <a:bodyPr wrap="none" lIns="54000" tIns="10800" rIns="54000" bIns="10800"/>
              <a:lstStyle/>
              <a:p>
                <a:pPr algn="ctr">
                  <a:lnSpc>
                    <a:spcPct val="110000"/>
                  </a:lnSpc>
                </a:pP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93" name="Line 49"/>
              <p:cNvSpPr>
                <a:spLocks noChangeShapeType="1"/>
              </p:cNvSpPr>
              <p:nvPr/>
            </p:nvSpPr>
            <p:spPr bwMode="auto">
              <a:xfrm>
                <a:off x="7294563" y="3358754"/>
                <a:ext cx="43200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6218659" y="2960365"/>
                <a:ext cx="360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 err="1"/>
                  <a:t>a</a:t>
                </a:r>
                <a:r>
                  <a:rPr lang="en-US" altLang="zh-CN" sz="1400" b="1" baseline="-25000" dirty="0" err="1"/>
                  <a:t>i</a:t>
                </a:r>
                <a:endParaRPr lang="zh-CN" altLang="en-US" sz="1400" b="1" baseline="-25000" dirty="0"/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6813773" y="2950840"/>
                <a:ext cx="360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b</a:t>
                </a:r>
                <a:r>
                  <a:rPr lang="en-US" altLang="zh-CN" sz="1400" b="1" baseline="-25000" dirty="0"/>
                  <a:t>i</a:t>
                </a:r>
                <a:endParaRPr lang="zh-CN" altLang="en-US" sz="1400" b="1" baseline="-25000" dirty="0"/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6046068" y="3200772"/>
                <a:ext cx="5421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C</a:t>
                </a:r>
                <a:r>
                  <a:rPr lang="en-US" altLang="zh-CN" sz="1400" b="1" baseline="-25000" dirty="0"/>
                  <a:t>i-1</a:t>
                </a:r>
                <a:endParaRPr lang="zh-CN" altLang="en-US" sz="1400" b="1" baseline="-25000" dirty="0"/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6982172" y="3195439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 err="1"/>
                  <a:t>C</a:t>
                </a:r>
                <a:r>
                  <a:rPr lang="en-US" altLang="zh-CN" sz="1400" b="1" baseline="-25000" dirty="0" err="1"/>
                  <a:t>i</a:t>
                </a:r>
                <a:endParaRPr lang="zh-CN" altLang="en-US" sz="1400" b="1" baseline="-25000" dirty="0"/>
              </a:p>
            </p:txBody>
          </p:sp>
          <p:sp>
            <p:nvSpPr>
              <p:cNvPr id="398" name="TextBox 397"/>
              <p:cNvSpPr txBox="1"/>
              <p:nvPr/>
            </p:nvSpPr>
            <p:spPr>
              <a:xfrm>
                <a:off x="6506691" y="3435151"/>
                <a:ext cx="3886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S</a:t>
                </a:r>
                <a:r>
                  <a:rPr lang="en-US" altLang="zh-CN" sz="1400" b="1" baseline="-25000" dirty="0"/>
                  <a:t>i</a:t>
                </a:r>
                <a:endParaRPr lang="zh-CN" altLang="en-US" sz="1400" b="1" baseline="-25000" dirty="0"/>
              </a:p>
            </p:txBody>
          </p:sp>
        </p:grpSp>
      </p:grpSp>
      <p:sp>
        <p:nvSpPr>
          <p:cNvPr id="399" name="Rectangle 65"/>
          <p:cNvSpPr>
            <a:spLocks noChangeArrowheads="1"/>
          </p:cNvSpPr>
          <p:nvPr/>
        </p:nvSpPr>
        <p:spPr bwMode="auto">
          <a:xfrm>
            <a:off x="7439644" y="2349899"/>
            <a:ext cx="576064" cy="288032"/>
          </a:xfrm>
          <a:prstGeom prst="rect">
            <a:avLst/>
          </a:prstGeom>
          <a:solidFill>
            <a:srgbClr val="FFFF99"/>
          </a:solidFill>
          <a:ln w="19050">
            <a:solidFill>
              <a:srgbClr val="006600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Arial Narrow" panose="020B0606020202030204" pitchFamily="34" charset="0"/>
                <a:ea typeface="黑体" panose="02010609060101010101" pitchFamily="49" charset="-122"/>
              </a:rPr>
              <a:t>register</a:t>
            </a:r>
          </a:p>
        </p:txBody>
      </p:sp>
      <p:grpSp>
        <p:nvGrpSpPr>
          <p:cNvPr id="400" name="组合 399"/>
          <p:cNvGrpSpPr/>
          <p:nvPr/>
        </p:nvGrpSpPr>
        <p:grpSpPr>
          <a:xfrm>
            <a:off x="6228184" y="3370274"/>
            <a:ext cx="2283316" cy="1649748"/>
            <a:chOff x="5459338" y="3172197"/>
            <a:chExt cx="2283316" cy="1649748"/>
          </a:xfrm>
        </p:grpSpPr>
        <p:cxnSp>
          <p:nvCxnSpPr>
            <p:cNvPr id="401" name="直接连接符 18"/>
            <p:cNvCxnSpPr>
              <a:cxnSpLocks noChangeShapeType="1"/>
            </p:cNvCxnSpPr>
            <p:nvPr/>
          </p:nvCxnSpPr>
          <p:spPr bwMode="auto">
            <a:xfrm rot="5400000">
              <a:off x="5843529" y="4398705"/>
              <a:ext cx="396000" cy="1588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sp>
          <p:nvSpPr>
            <p:cNvPr id="402" name="Rectangle 5"/>
            <p:cNvSpPr>
              <a:spLocks noChangeArrowheads="1"/>
            </p:cNvSpPr>
            <p:nvPr/>
          </p:nvSpPr>
          <p:spPr bwMode="auto">
            <a:xfrm>
              <a:off x="6098739" y="3291830"/>
              <a:ext cx="1000233" cy="507791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03" name="Line 6"/>
            <p:cNvSpPr>
              <a:spLocks noChangeShapeType="1"/>
            </p:cNvSpPr>
            <p:nvPr/>
          </p:nvSpPr>
          <p:spPr bwMode="auto">
            <a:xfrm>
              <a:off x="5798486" y="3363838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04" name="Text Box 7"/>
            <p:cNvSpPr txBox="1">
              <a:spLocks noChangeArrowheads="1"/>
            </p:cNvSpPr>
            <p:nvPr/>
          </p:nvSpPr>
          <p:spPr bwMode="auto">
            <a:xfrm>
              <a:off x="5459338" y="3172197"/>
              <a:ext cx="450657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latin typeface="+mj-lt"/>
                  <a:ea typeface="宋体" panose="02010600030101010101" pitchFamily="2" charset="-122"/>
                </a:rPr>
                <a:t>X</a:t>
              </a:r>
              <a:r>
                <a:rPr lang="en-US" altLang="zh-CN" sz="1200" b="1" baseline="-25000" dirty="0">
                  <a:latin typeface="+mj-lt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05" name="Line 8"/>
            <p:cNvSpPr>
              <a:spLocks noChangeShapeType="1"/>
            </p:cNvSpPr>
            <p:nvPr/>
          </p:nvSpPr>
          <p:spPr bwMode="auto">
            <a:xfrm>
              <a:off x="6228184" y="4561451"/>
              <a:ext cx="1152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headEnd type="triangle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06" name="Line 9"/>
            <p:cNvSpPr>
              <a:spLocks noChangeShapeType="1"/>
            </p:cNvSpPr>
            <p:nvPr/>
          </p:nvSpPr>
          <p:spPr bwMode="auto">
            <a:xfrm flipV="1">
              <a:off x="7374979" y="3704828"/>
              <a:ext cx="0" cy="864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headEnd type="none"/>
              <a:tailEnd type="non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07" name="Text Box 10"/>
            <p:cNvSpPr txBox="1">
              <a:spLocks noChangeArrowheads="1"/>
            </p:cNvSpPr>
            <p:nvPr/>
          </p:nvSpPr>
          <p:spPr bwMode="auto">
            <a:xfrm>
              <a:off x="5800023" y="4544541"/>
              <a:ext cx="394253" cy="27740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latin typeface="+mj-lt"/>
                  <a:ea typeface="宋体" panose="02010600030101010101" pitchFamily="2" charset="-122"/>
                </a:rPr>
                <a:t>CP</a:t>
              </a:r>
            </a:p>
          </p:txBody>
        </p:sp>
        <p:sp>
          <p:nvSpPr>
            <p:cNvPr id="408" name="Line 11"/>
            <p:cNvSpPr>
              <a:spLocks noChangeShapeType="1"/>
            </p:cNvSpPr>
            <p:nvPr/>
          </p:nvSpPr>
          <p:spPr bwMode="auto">
            <a:xfrm>
              <a:off x="7109924" y="3457860"/>
              <a:ext cx="288388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09" name="Text Box 12"/>
            <p:cNvSpPr txBox="1">
              <a:spLocks noChangeArrowheads="1"/>
            </p:cNvSpPr>
            <p:nvPr/>
          </p:nvSpPr>
          <p:spPr bwMode="auto">
            <a:xfrm>
              <a:off x="7348401" y="3283408"/>
              <a:ext cx="394253" cy="27740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410" name="Line 6"/>
            <p:cNvSpPr>
              <a:spLocks noChangeShapeType="1"/>
            </p:cNvSpPr>
            <p:nvPr/>
          </p:nvSpPr>
          <p:spPr bwMode="auto">
            <a:xfrm>
              <a:off x="5798486" y="3545954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11" name="Text Box 7"/>
            <p:cNvSpPr txBox="1">
              <a:spLocks noChangeArrowheads="1"/>
            </p:cNvSpPr>
            <p:nvPr/>
          </p:nvSpPr>
          <p:spPr bwMode="auto">
            <a:xfrm>
              <a:off x="5474196" y="3388221"/>
              <a:ext cx="504056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latin typeface="+mj-lt"/>
                  <a:ea typeface="宋体" panose="02010600030101010101" pitchFamily="2" charset="-122"/>
                </a:rPr>
                <a:t>X</a:t>
              </a:r>
              <a:r>
                <a:rPr lang="en-US" altLang="zh-CN" sz="1200" b="1" baseline="-25000" dirty="0">
                  <a:latin typeface="+mj-lt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12" name="Line 6"/>
            <p:cNvSpPr>
              <a:spLocks noChangeShapeType="1"/>
            </p:cNvSpPr>
            <p:nvPr/>
          </p:nvSpPr>
          <p:spPr bwMode="auto">
            <a:xfrm>
              <a:off x="5796136" y="3713212"/>
              <a:ext cx="30664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grpSp>
          <p:nvGrpSpPr>
            <p:cNvPr id="413" name="组合 16"/>
            <p:cNvGrpSpPr/>
            <p:nvPr/>
          </p:nvGrpSpPr>
          <p:grpSpPr bwMode="auto">
            <a:xfrm>
              <a:off x="5680695" y="3704828"/>
              <a:ext cx="793750" cy="856624"/>
              <a:chOff x="1863587" y="2345652"/>
              <a:chExt cx="793703" cy="857349"/>
            </a:xfrm>
          </p:grpSpPr>
          <p:cxnSp>
            <p:nvCxnSpPr>
              <p:cNvPr id="423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68830" y="2949994"/>
                <a:ext cx="504427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424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792540" y="2543026"/>
                <a:ext cx="396335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425" name="矩形 19"/>
              <p:cNvSpPr>
                <a:spLocks noChangeArrowheads="1"/>
              </p:cNvSpPr>
              <p:nvPr/>
            </p:nvSpPr>
            <p:spPr bwMode="auto">
              <a:xfrm>
                <a:off x="1876406" y="2643188"/>
                <a:ext cx="720005" cy="432308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6" name="TextBox 425"/>
              <p:cNvSpPr txBox="1">
                <a:spLocks noChangeArrowheads="1"/>
              </p:cNvSpPr>
              <p:nvPr/>
            </p:nvSpPr>
            <p:spPr bwMode="auto">
              <a:xfrm>
                <a:off x="2300123" y="2869350"/>
                <a:ext cx="357167" cy="2446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D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27" name="TextBox 426"/>
              <p:cNvSpPr txBox="1">
                <a:spLocks noChangeArrowheads="1"/>
              </p:cNvSpPr>
              <p:nvPr/>
            </p:nvSpPr>
            <p:spPr bwMode="auto">
              <a:xfrm>
                <a:off x="1863587" y="2619900"/>
                <a:ext cx="357166" cy="2464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28" name="TextBox 427"/>
              <p:cNvSpPr txBox="1">
                <a:spLocks noChangeArrowheads="1"/>
              </p:cNvSpPr>
              <p:nvPr/>
            </p:nvSpPr>
            <p:spPr bwMode="auto">
              <a:xfrm>
                <a:off x="2277899" y="2629433"/>
                <a:ext cx="355579" cy="2464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429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73304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414" name="Text Box 69"/>
            <p:cNvSpPr txBox="1">
              <a:spLocks noChangeArrowheads="1"/>
            </p:cNvSpPr>
            <p:nvPr/>
          </p:nvSpPr>
          <p:spPr bwMode="auto">
            <a:xfrm>
              <a:off x="6372468" y="3363967"/>
              <a:ext cx="513715" cy="306705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/>
                <a:t>FA</a:t>
              </a:r>
              <a:r>
                <a:rPr kumimoji="0" lang="en-US" altLang="zh-CN" sz="1400" b="1" baseline="-25000" dirty="0"/>
                <a:t> </a:t>
              </a: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6804248" y="3555479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err="1"/>
                <a:t>C</a:t>
              </a:r>
              <a:r>
                <a:rPr lang="en-US" altLang="zh-CN" sz="1200" b="1" baseline="-25000" dirty="0" err="1"/>
                <a:t>i</a:t>
              </a:r>
              <a:endParaRPr lang="zh-CN" altLang="en-US" sz="1200" b="1" baseline="-25000" dirty="0"/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6813773" y="328230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S</a:t>
              </a:r>
              <a:r>
                <a:rPr lang="en-US" altLang="zh-CN" sz="1200" b="1" baseline="-25000" dirty="0"/>
                <a:t>i</a:t>
              </a:r>
              <a:endParaRPr lang="zh-CN" altLang="en-US" sz="1200" b="1" baseline="-25000" dirty="0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6021685" y="356081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C</a:t>
              </a:r>
              <a:r>
                <a:rPr lang="en-US" altLang="zh-CN" sz="1200" b="1" baseline="-25000" dirty="0"/>
                <a:t>i-1</a:t>
              </a:r>
              <a:endParaRPr lang="zh-CN" altLang="en-US" sz="1200" b="1" baseline="-25000" dirty="0"/>
            </a:p>
          </p:txBody>
        </p:sp>
        <p:sp>
          <p:nvSpPr>
            <p:cNvPr id="418" name="Line 11"/>
            <p:cNvSpPr>
              <a:spLocks noChangeShapeType="1"/>
            </p:cNvSpPr>
            <p:nvPr/>
          </p:nvSpPr>
          <p:spPr bwMode="auto">
            <a:xfrm>
              <a:off x="7092280" y="3695303"/>
              <a:ext cx="288388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non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6027018" y="326325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err="1"/>
                <a:t>a</a:t>
              </a:r>
              <a:r>
                <a:rPr lang="en-US" altLang="zh-CN" sz="1200" b="1" baseline="-25000" dirty="0" err="1"/>
                <a:t>i</a:t>
              </a:r>
              <a:endParaRPr lang="zh-CN" altLang="en-US" sz="1200" b="1" baseline="-25000" dirty="0"/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6031210" y="341565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b</a:t>
              </a:r>
              <a:r>
                <a:rPr lang="en-US" altLang="zh-CN" sz="1200" b="1" baseline="-25000" dirty="0"/>
                <a:t>i</a:t>
              </a:r>
              <a:endParaRPr lang="zh-CN" altLang="en-US" sz="1200" b="1" baseline="-25000" dirty="0"/>
            </a:p>
          </p:txBody>
        </p:sp>
        <p:sp>
          <p:nvSpPr>
            <p:cNvPr id="421" name="TextBox 420"/>
            <p:cNvSpPr txBox="1">
              <a:spLocks noChangeArrowheads="1"/>
            </p:cNvSpPr>
            <p:nvPr/>
          </p:nvSpPr>
          <p:spPr bwMode="auto">
            <a:xfrm>
              <a:off x="5868144" y="4155926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22" name="等腰三角形 36"/>
            <p:cNvSpPr>
              <a:spLocks noChangeArrowheads="1"/>
            </p:cNvSpPr>
            <p:nvPr/>
          </p:nvSpPr>
          <p:spPr bwMode="auto">
            <a:xfrm>
              <a:off x="5988345" y="4326440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31" name="Text Box 58"/>
          <p:cNvSpPr txBox="1">
            <a:spLocks noChangeArrowheads="1"/>
          </p:cNvSpPr>
          <p:nvPr/>
        </p:nvSpPr>
        <p:spPr bwMode="auto">
          <a:xfrm>
            <a:off x="7236296" y="4755702"/>
            <a:ext cx="1441420" cy="350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反馈</a:t>
            </a: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时钟控制</a:t>
            </a: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32" name="AutoShape 64"/>
          <p:cNvSpPr>
            <a:spLocks noChangeArrowheads="1"/>
          </p:cNvSpPr>
          <p:nvPr/>
        </p:nvSpPr>
        <p:spPr bwMode="auto">
          <a:xfrm>
            <a:off x="7596336" y="3003798"/>
            <a:ext cx="180000" cy="25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/>
          </a:solidFill>
          <a:ln w="19050" algn="ctr">
            <a:solidFill>
              <a:srgbClr val="006600"/>
            </a:solidFill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3" name="Text Box 8"/>
          <p:cNvSpPr txBox="1">
            <a:spLocks noChangeArrowheads="1"/>
          </p:cNvSpPr>
          <p:nvPr/>
        </p:nvSpPr>
        <p:spPr bwMode="auto">
          <a:xfrm>
            <a:off x="5292080" y="699542"/>
            <a:ext cx="3384376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1800" b="1" dirty="0">
                <a:latin typeface="+mj-lt"/>
                <a:ea typeface="黑体" panose="02010609060101010101" pitchFamily="49" charset="-122"/>
              </a:rPr>
              <a:t>方案</a:t>
            </a:r>
            <a:r>
              <a:rPr lang="en-US" altLang="zh-CN" sz="1800" b="1" dirty="0">
                <a:latin typeface="+mj-lt"/>
                <a:ea typeface="黑体" panose="02010609060101010101" pitchFamily="49" charset="-122"/>
              </a:rPr>
              <a:t>2: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如何用一位全加器实现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250" name="Text Box 4"/>
          <p:cNvSpPr txBox="1">
            <a:spLocks noChangeArrowheads="1"/>
          </p:cNvSpPr>
          <p:nvPr/>
        </p:nvSpPr>
        <p:spPr bwMode="auto">
          <a:xfrm>
            <a:off x="1726849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bldLvl="0" animBg="1"/>
      <p:bldP spid="369" grpId="0"/>
      <p:bldP spid="382" grpId="0"/>
      <p:bldP spid="399" grpId="0" bldLvl="0" animBg="1"/>
      <p:bldP spid="431" grpId="0" autoUpdateAnimBg="0"/>
      <p:bldP spid="432" grpId="0" bldLvl="0" animBg="1"/>
      <p:bldP spid="4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利用触发器设计时序逻辑</a:t>
            </a:r>
            <a:r>
              <a:rPr lang="en-US" altLang="zh-CN" b="1" dirty="0">
                <a:sym typeface="+mn-ea"/>
              </a:rPr>
              <a:t>——</a:t>
            </a:r>
            <a:r>
              <a:rPr lang="zh-CN" altLang="en-US" b="1" dirty="0">
                <a:sym typeface="+mn-ea"/>
              </a:rPr>
              <a:t>实例</a:t>
            </a:r>
            <a:br>
              <a:rPr lang="en-US" altLang="zh-CN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模8可逆计数器</a:t>
            </a:r>
            <a:endParaRPr lang="en-US" altLang="zh-CN" sz="40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时序锁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二进制串行加法器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奇偶校验器</a:t>
            </a:r>
            <a:endParaRPr lang="en-US" altLang="zh-CN" sz="4000" dirty="0">
              <a:solidFill>
                <a:srgbClr val="0000CC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更复杂的同步时序逻辑设计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dirty="0">
              <a:cs typeface="宋体" panose="02010600030101010101" pitchFamily="2" charset="-122"/>
            </a:endParaRPr>
          </a:p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757466" y="1275605"/>
            <a:ext cx="2158350" cy="879230"/>
            <a:chOff x="1394" y="3108"/>
            <a:chExt cx="2365" cy="935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989" y="3108"/>
              <a:ext cx="1096" cy="54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奇校验</a:t>
              </a:r>
              <a:endParaRPr lang="en-US" altLang="zh-CN" sz="1400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检测器</a:t>
              </a: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660" y="3375"/>
              <a:ext cx="33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1394" y="3223"/>
              <a:ext cx="336" cy="3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963" y="3873"/>
              <a:ext cx="59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2544" y="3648"/>
              <a:ext cx="0" cy="23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554" y="3716"/>
              <a:ext cx="630" cy="3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CP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3097" y="3356"/>
              <a:ext cx="31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3327" y="3211"/>
              <a:ext cx="432" cy="3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683568" y="642924"/>
            <a:ext cx="6264696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例：利用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T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触发器设计一个串行输入的奇校验检测器</a:t>
            </a:r>
          </a:p>
        </p:txBody>
      </p:sp>
      <p:pic>
        <p:nvPicPr>
          <p:cNvPr id="19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3419872" y="1050290"/>
            <a:ext cx="285752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3491880" y="1461316"/>
            <a:ext cx="4752528" cy="9664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/>
              <a:t> ①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状态设定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6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表示收到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偶数个“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”，初始为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个“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”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600" b="1" baseline="-25000" dirty="0"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表示收到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奇数个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2863105"/>
            <a:ext cx="2880320" cy="788765"/>
          </a:xfrm>
          <a:prstGeom prst="rect">
            <a:avLst/>
          </a:prstGeom>
        </p:spPr>
      </p:pic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704938" y="2449220"/>
            <a:ext cx="1922846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600" b="1" dirty="0">
                <a:latin typeface="宋体" panose="02010600030101010101" pitchFamily="2" charset="-122"/>
              </a:rPr>
              <a:t>② </a:t>
            </a:r>
            <a:r>
              <a:rPr lang="en-US" altLang="zh-CN" sz="1600" b="1" dirty="0">
                <a:ea typeface="宋体" panose="02010600030101010101" pitchFamily="2" charset="-122"/>
              </a:rPr>
              <a:t>Moor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状态图</a:t>
            </a: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007009" y="4052318"/>
          <a:ext cx="1584176" cy="97102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21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baseline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现态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次态</a:t>
                      </a:r>
                      <a:r>
                        <a:rPr lang="en-US" altLang="zh-CN" sz="1400" kern="1200" dirty="0">
                          <a:latin typeface="+mj-lt"/>
                        </a:rPr>
                        <a:t>Q</a:t>
                      </a:r>
                      <a:r>
                        <a:rPr lang="en-US" altLang="zh-CN" sz="1400" kern="1200" baseline="30000" dirty="0">
                          <a:latin typeface="+mj-lt"/>
                        </a:rPr>
                        <a:t>n+1</a:t>
                      </a:r>
                      <a:endParaRPr lang="zh-CN" altLang="en-US" sz="1400" b="1" kern="1200" baseline="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输出</a:t>
                      </a:r>
                    </a:p>
                  </a:txBody>
                  <a:tcPr marL="0" marR="0" marT="0" marB="0" anchor="ctr" anchorCtr="1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 err="1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lang="en-US" altLang="zh-CN" sz="1400" b="1" dirty="0">
                          <a:solidFill>
                            <a:srgbClr val="0000CC"/>
                          </a:solidFill>
                          <a:latin typeface="+mj-lt"/>
                        </a:rPr>
                        <a:t>=0</a:t>
                      </a:r>
                      <a:endParaRPr lang="zh-CN" altLang="en-US" sz="1400" b="1" baseline="30000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kern="1200" dirty="0">
                          <a:solidFill>
                            <a:schemeClr val="bg1"/>
                          </a:solidFill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lang="en-US" altLang="zh-CN" sz="1400" b="1" dirty="0">
                          <a:solidFill>
                            <a:srgbClr val="0000CC"/>
                          </a:solidFill>
                          <a:latin typeface="+mj-lt"/>
                        </a:rPr>
                        <a:t>=1</a:t>
                      </a:r>
                      <a:endParaRPr lang="zh-CN" altLang="en-US" sz="1400" b="1" baseline="30000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rgbClr val="FF0000"/>
                          </a:solidFill>
                          <a:latin typeface="+mj-lt"/>
                        </a:rPr>
                        <a:t>Z</a:t>
                      </a:r>
                      <a:endParaRPr lang="zh-CN" altLang="en-US" sz="1400" b="1" baseline="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S</a:t>
                      </a:r>
                      <a:r>
                        <a:rPr lang="en-US" altLang="zh-CN" sz="14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S</a:t>
                      </a:r>
                      <a:r>
                        <a:rPr kumimoji="0" lang="en-US" altLang="zh-CN" sz="1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S</a:t>
                      </a:r>
                      <a:r>
                        <a:rPr kumimoji="0" lang="en-US" altLang="zh-CN" sz="1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6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CN" sz="1400" b="1" kern="1200" baseline="-250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baseline="-250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S</a:t>
                      </a:r>
                      <a:r>
                        <a:rPr kumimoji="0" lang="en-US" altLang="zh-CN" sz="1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S</a:t>
                      </a:r>
                      <a:r>
                        <a:rPr kumimoji="0" lang="en-US" altLang="zh-CN" sz="1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3569" y="3676549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③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状态表</a:t>
            </a:r>
            <a:endParaRPr lang="zh-CN" altLang="en-US" sz="1600" dirty="0"/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4932040" y="2931790"/>
            <a:ext cx="1368152" cy="346249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500" b="1" i="1" dirty="0"/>
              <a:t>S</a:t>
            </a:r>
            <a:r>
              <a:rPr lang="en-US" altLang="zh-CN" sz="1500" b="1" baseline="-25000" dirty="0"/>
              <a:t>0</a:t>
            </a:r>
            <a:r>
              <a:rPr lang="en-US" altLang="zh-CN" sz="1500" b="1" dirty="0"/>
              <a:t>: 0</a:t>
            </a:r>
            <a:r>
              <a:rPr lang="zh-CN" altLang="en-US" sz="1500" b="1" dirty="0"/>
              <a:t>；</a:t>
            </a:r>
            <a:r>
              <a:rPr lang="en-US" altLang="zh-CN" sz="1500" b="1" dirty="0"/>
              <a:t>S</a:t>
            </a:r>
            <a:r>
              <a:rPr lang="en-US" altLang="zh-CN" sz="1500" b="1" baseline="-25000" dirty="0"/>
              <a:t>1</a:t>
            </a:r>
            <a:r>
              <a:rPr lang="en-US" altLang="zh-CN" sz="1500" b="1" dirty="0"/>
              <a:t>: 1 </a:t>
            </a:r>
            <a:endParaRPr lang="zh-CN" altLang="en-US" sz="1500" b="1" dirty="0"/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3419872" y="2886802"/>
            <a:ext cx="153509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3.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状态分配</a:t>
            </a:r>
            <a:endParaRPr lang="en-US" altLang="zh-CN" sz="1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3419872" y="2518069"/>
            <a:ext cx="1857388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</a:rPr>
              <a:t>2. 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  <a:endParaRPr lang="zh-CN" altLang="en-US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3563888" y="3651870"/>
          <a:ext cx="2556899" cy="141091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26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209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 现态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输入 输出</a:t>
                      </a: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X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 err="1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baseline="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T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Z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1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1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1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1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3419872" y="3282538"/>
            <a:ext cx="224629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4.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 </a:t>
            </a:r>
          </a:p>
        </p:txBody>
      </p:sp>
      <p:sp>
        <p:nvSpPr>
          <p:cNvPr id="33" name="Rectangle 167"/>
          <p:cNvSpPr>
            <a:spLocks noChangeArrowheads="1"/>
          </p:cNvSpPr>
          <p:nvPr/>
        </p:nvSpPr>
        <p:spPr bwMode="auto">
          <a:xfrm>
            <a:off x="6650992" y="2486854"/>
            <a:ext cx="20875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5</a:t>
            </a:r>
            <a:r>
              <a: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卡诺图化简</a:t>
            </a: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6948264" y="2863105"/>
            <a:ext cx="1224426" cy="326564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500" b="1" i="1" dirty="0"/>
              <a:t>T=X;  Z=</a:t>
            </a:r>
            <a:r>
              <a:rPr lang="en-US" altLang="zh-CN" sz="1500" b="1" i="1" dirty="0" err="1"/>
              <a:t>Q</a:t>
            </a:r>
            <a:r>
              <a:rPr lang="en-US" altLang="zh-CN" sz="1500" b="1" i="1" baseline="30000" dirty="0" err="1"/>
              <a:t>n</a:t>
            </a:r>
            <a:r>
              <a:rPr lang="en-US" altLang="zh-CN" sz="1500" b="1" dirty="0"/>
              <a:t> </a:t>
            </a:r>
            <a:endParaRPr lang="zh-CN" altLang="en-US" sz="15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92280" y="3795886"/>
            <a:ext cx="1363452" cy="1273959"/>
          </a:xfrm>
          <a:prstGeom prst="rect">
            <a:avLst/>
          </a:prstGeom>
        </p:spPr>
      </p:pic>
      <p:sp>
        <p:nvSpPr>
          <p:cNvPr id="36" name="Text Box 149"/>
          <p:cNvSpPr txBox="1">
            <a:spLocks noChangeArrowheads="1"/>
          </p:cNvSpPr>
          <p:nvPr/>
        </p:nvSpPr>
        <p:spPr bwMode="auto">
          <a:xfrm>
            <a:off x="6682921" y="3348375"/>
            <a:ext cx="1595395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a typeface="宋体" panose="02010600030101010101" pitchFamily="2" charset="-122"/>
              </a:rPr>
              <a:t>6.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电路实现</a:t>
            </a: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1763688" y="104775"/>
            <a:ext cx="583264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利用触发器设计同步时序逻辑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bldLvl="0" animBg="1" autoUpdateAnimBg="0"/>
      <p:bldP spid="24" grpId="0" bldLvl="0" animBg="1" autoUpdateAnimBg="0"/>
      <p:bldP spid="3" grpId="0"/>
      <p:bldP spid="28" grpId="0"/>
      <p:bldP spid="29" grpId="0" bldLvl="0" animBg="1" autoUpdateAnimBg="0"/>
      <p:bldP spid="30" grpId="0" bldLvl="0" animBg="1" autoUpdateAnimBg="0"/>
      <p:bldP spid="32" grpId="0"/>
      <p:bldP spid="33" grpId="0"/>
      <p:bldP spid="34" grpId="0"/>
      <p:bldP spid="3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用触发器设计同步时序逻辑</a:t>
            </a:r>
            <a:r>
              <a:rPr lang="en-US" altLang="zh-CN" b="1" dirty="0">
                <a:sym typeface="+mn-ea"/>
              </a:rPr>
              <a:t>—</a:t>
            </a:r>
            <a:r>
              <a:rPr lang="zh-CN" altLang="en-US" b="1" dirty="0">
                <a:sym typeface="+mn-ea"/>
              </a:rPr>
              <a:t>实例</a:t>
            </a:r>
            <a:br>
              <a:rPr lang="en-US" altLang="zh-CN" b="1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模8可逆计数器</a:t>
            </a:r>
            <a:endParaRPr lang="en-US" altLang="zh-CN" sz="40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时序锁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 二进制串行加法器</a:t>
            </a:r>
            <a:endParaRPr lang="zh-CN" altLang="en-US" sz="4000" dirty="0"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4000" b="1" dirty="0"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4000" b="1" dirty="0">
                <a:cs typeface="宋体" panose="02010600030101010101" pitchFamily="2" charset="-122"/>
                <a:sym typeface="+mn-ea"/>
              </a:rPr>
              <a:t>奇偶校验器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4000" b="1" dirty="0">
                <a:solidFill>
                  <a:srgbClr val="0000CC"/>
                </a:solidFill>
                <a:cs typeface="宋体" panose="02010600030101010101" pitchFamily="2" charset="-122"/>
                <a:sym typeface="+mn-ea"/>
              </a:rPr>
              <a:t> 更复杂的同步时序逻辑设计</a:t>
            </a:r>
            <a:endParaRPr lang="zh-CN" altLang="en-US" sz="4000" dirty="0">
              <a:solidFill>
                <a:srgbClr val="0000CC"/>
              </a:solidFill>
              <a:cs typeface="宋体" panose="02010600030101010101" pitchFamily="2" charset="-122"/>
            </a:endParaRPr>
          </a:p>
          <a:p>
            <a:endParaRPr lang="zh-CN" altLang="en-US" sz="4000" dirty="0">
              <a:solidFill>
                <a:srgbClr val="0000CC"/>
              </a:solidFill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3" name="Text Box 7"/>
          <p:cNvSpPr txBox="1">
            <a:spLocks noChangeArrowheads="1"/>
          </p:cNvSpPr>
          <p:nvPr/>
        </p:nvSpPr>
        <p:spPr bwMode="auto">
          <a:xfrm>
            <a:off x="1214414" y="1357304"/>
            <a:ext cx="4452820" cy="369332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266700" indent="-266700"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j-lt"/>
                <a:ea typeface="黑体" panose="02010609060101010101" pitchFamily="49" charset="-122"/>
              </a:rPr>
              <a:t>转换器的输入和输出都是最低位优先</a:t>
            </a:r>
          </a:p>
        </p:txBody>
      </p:sp>
      <p:pic>
        <p:nvPicPr>
          <p:cNvPr id="25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683060" y="716046"/>
            <a:ext cx="7704856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624205" indent="-624205">
              <a:spcBef>
                <a:spcPct val="50000"/>
              </a:spcBef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例：利用</a:t>
            </a:r>
            <a:r>
              <a:rPr lang="en-US" altLang="zh-CN" sz="1800" b="1" dirty="0">
                <a:latin typeface="+mj-lt"/>
                <a:ea typeface="黑体" panose="02010609060101010101" pitchFamily="49" charset="-122"/>
              </a:rPr>
              <a:t>D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触发器设计一个同步时序的码制转换器，将串行输入的</a:t>
            </a:r>
            <a:r>
              <a:rPr lang="en-US" altLang="zh-CN" sz="1800" b="1" dirty="0">
                <a:latin typeface="+mj-lt"/>
                <a:ea typeface="黑体" panose="02010609060101010101" pitchFamily="49" charset="-122"/>
              </a:rPr>
              <a:t>8421BCD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码转换为余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码。</a:t>
            </a:r>
            <a:endParaRPr lang="zh-CN" altLang="en-US" sz="1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91680" y="1851670"/>
            <a:ext cx="2670180" cy="3020367"/>
          </a:xfrm>
          <a:prstGeom prst="rect">
            <a:avLst/>
          </a:prstGeom>
        </p:spPr>
      </p:pic>
      <p:grpSp>
        <p:nvGrpSpPr>
          <p:cNvPr id="51" name="组合 50"/>
          <p:cNvGrpSpPr/>
          <p:nvPr/>
        </p:nvGrpSpPr>
        <p:grpSpPr>
          <a:xfrm>
            <a:off x="1674251" y="2799012"/>
            <a:ext cx="2398131" cy="2140061"/>
            <a:chOff x="5868537" y="2690453"/>
            <a:chExt cx="2398131" cy="2140061"/>
          </a:xfrm>
        </p:grpSpPr>
        <p:sp>
          <p:nvSpPr>
            <p:cNvPr id="52" name="矩形 51"/>
            <p:cNvSpPr/>
            <p:nvPr/>
          </p:nvSpPr>
          <p:spPr bwMode="auto">
            <a:xfrm>
              <a:off x="5868537" y="2701604"/>
              <a:ext cx="930609" cy="212891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7336059" y="2690453"/>
              <a:ext cx="930609" cy="212891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684141" y="2806812"/>
            <a:ext cx="2138124" cy="2140061"/>
            <a:chOff x="5868538" y="2690453"/>
            <a:chExt cx="2138124" cy="2140061"/>
          </a:xfrm>
        </p:grpSpPr>
        <p:sp>
          <p:nvSpPr>
            <p:cNvPr id="55" name="矩形 54"/>
            <p:cNvSpPr/>
            <p:nvPr/>
          </p:nvSpPr>
          <p:spPr bwMode="auto">
            <a:xfrm>
              <a:off x="5868538" y="2701604"/>
              <a:ext cx="632536" cy="212891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7336059" y="2690453"/>
              <a:ext cx="670603" cy="212891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697723" y="2825003"/>
            <a:ext cx="1753135" cy="2140061"/>
            <a:chOff x="5868538" y="2690453"/>
            <a:chExt cx="2138124" cy="2140061"/>
          </a:xfrm>
        </p:grpSpPr>
        <p:sp>
          <p:nvSpPr>
            <p:cNvPr id="58" name="矩形 57"/>
            <p:cNvSpPr/>
            <p:nvPr/>
          </p:nvSpPr>
          <p:spPr bwMode="auto">
            <a:xfrm>
              <a:off x="5868538" y="2701604"/>
              <a:ext cx="181396" cy="212891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7636505" y="2690453"/>
              <a:ext cx="370157" cy="212891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4"/>
          <p:cNvGrpSpPr/>
          <p:nvPr/>
        </p:nvGrpSpPr>
        <p:grpSpPr bwMode="auto">
          <a:xfrm>
            <a:off x="5940152" y="1275606"/>
            <a:ext cx="2158350" cy="847258"/>
            <a:chOff x="1394" y="3108"/>
            <a:chExt cx="2365" cy="901"/>
          </a:xfrm>
        </p:grpSpPr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1989" y="3108"/>
              <a:ext cx="1096" cy="54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+mj-lt"/>
                  <a:ea typeface="黑体" panose="02010609060101010101" pitchFamily="49" charset="-122"/>
                </a:rPr>
                <a:t>8421BCD</a:t>
              </a:r>
              <a:r>
                <a:rPr lang="zh-CN" altLang="en-US" sz="1200" b="1" dirty="0">
                  <a:latin typeface="+mj-lt"/>
                  <a:ea typeface="黑体" panose="02010609060101010101" pitchFamily="49" charset="-122"/>
                </a:rPr>
                <a:t>到</a:t>
              </a:r>
              <a:endParaRPr lang="en-US" altLang="zh-CN" sz="1200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1200" b="1" dirty="0">
                  <a:latin typeface="+mj-lt"/>
                  <a:ea typeface="黑体" panose="02010609060101010101" pitchFamily="49" charset="-122"/>
                </a:rPr>
                <a:t>余</a:t>
              </a:r>
              <a:r>
                <a:rPr lang="en-US" altLang="zh-CN" sz="1200" b="1" dirty="0">
                  <a:latin typeface="+mj-lt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latin typeface="+mj-lt"/>
                  <a:ea typeface="黑体" panose="02010609060101010101" pitchFamily="49" charset="-122"/>
                </a:rPr>
                <a:t>码转换器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" name="Line 6"/>
            <p:cNvSpPr>
              <a:spLocks noChangeShapeType="1"/>
            </p:cNvSpPr>
            <p:nvPr/>
          </p:nvSpPr>
          <p:spPr bwMode="auto">
            <a:xfrm>
              <a:off x="1660" y="3375"/>
              <a:ext cx="33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1394" y="3223"/>
              <a:ext cx="336" cy="29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latin typeface="+mj-lt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1963" y="3873"/>
              <a:ext cx="59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 flipV="1">
              <a:off x="2544" y="3648"/>
              <a:ext cx="0" cy="23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34" name="Text Box 10"/>
            <p:cNvSpPr txBox="1">
              <a:spLocks noChangeArrowheads="1"/>
            </p:cNvSpPr>
            <p:nvPr/>
          </p:nvSpPr>
          <p:spPr bwMode="auto">
            <a:xfrm>
              <a:off x="1394" y="3716"/>
              <a:ext cx="592" cy="29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latin typeface="+mj-lt"/>
                  <a:ea typeface="宋体" panose="02010600030101010101" pitchFamily="2" charset="-122"/>
                </a:rPr>
                <a:t>CP</a:t>
              </a:r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>
              <a:off x="3097" y="3356"/>
              <a:ext cx="31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36" name="Text Box 12"/>
            <p:cNvSpPr txBox="1">
              <a:spLocks noChangeArrowheads="1"/>
            </p:cNvSpPr>
            <p:nvPr/>
          </p:nvSpPr>
          <p:spPr bwMode="auto">
            <a:xfrm>
              <a:off x="3327" y="3211"/>
              <a:ext cx="432" cy="29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dirty="0">
                  <a:latin typeface="+mj-lt"/>
                  <a:ea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78" name="组合 468"/>
          <p:cNvGrpSpPr/>
          <p:nvPr/>
        </p:nvGrpSpPr>
        <p:grpSpPr bwMode="auto">
          <a:xfrm>
            <a:off x="5796136" y="2499742"/>
            <a:ext cx="2250329" cy="2214578"/>
            <a:chOff x="-71453" y="761120"/>
            <a:chExt cx="2250801" cy="2215211"/>
          </a:xfrm>
        </p:grpSpPr>
        <p:sp>
          <p:nvSpPr>
            <p:cNvPr id="79" name="竖卷形 78"/>
            <p:cNvSpPr/>
            <p:nvPr/>
          </p:nvSpPr>
          <p:spPr bwMode="auto">
            <a:xfrm>
              <a:off x="-71453" y="761120"/>
              <a:ext cx="2250801" cy="2215211"/>
            </a:xfrm>
            <a:prstGeom prst="verticalScroll">
              <a:avLst>
                <a:gd name="adj" fmla="val 524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spcBef>
                  <a:spcPct val="0"/>
                </a:spcBef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Text Box 3"/>
            <p:cNvSpPr txBox="1">
              <a:spLocks noChangeArrowheads="1"/>
            </p:cNvSpPr>
            <p:nvPr/>
          </p:nvSpPr>
          <p:spPr bwMode="auto">
            <a:xfrm>
              <a:off x="55574" y="829402"/>
              <a:ext cx="2052321" cy="21242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en-US" altLang="zh-CN" sz="1600" b="1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600" b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时刻：</a:t>
              </a:r>
              <a:endParaRPr lang="en-US" altLang="zh-CN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defRPr/>
              </a:pP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，输出为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defRPr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输入为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，输出为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en-US" altLang="zh-CN" sz="1600" b="1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1~</a:t>
              </a:r>
              <a:r>
                <a:rPr lang="en-US" altLang="zh-CN" sz="1600" b="1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600" b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时刻：</a:t>
              </a:r>
              <a:endParaRPr lang="en-US" altLang="zh-CN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defRPr/>
              </a:pP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单纯看没有规律，要联合前一时刻的输入一同来看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grpSp>
        <p:nvGrpSpPr>
          <p:cNvPr id="6" name="组合 468"/>
          <p:cNvGrpSpPr/>
          <p:nvPr/>
        </p:nvGrpSpPr>
        <p:grpSpPr bwMode="auto">
          <a:xfrm>
            <a:off x="642910" y="857238"/>
            <a:ext cx="4786346" cy="1000132"/>
            <a:chOff x="-71453" y="780176"/>
            <a:chExt cx="4787350" cy="1000418"/>
          </a:xfrm>
        </p:grpSpPr>
        <p:sp>
          <p:nvSpPr>
            <p:cNvPr id="7" name="竖卷形 6"/>
            <p:cNvSpPr/>
            <p:nvPr/>
          </p:nvSpPr>
          <p:spPr bwMode="auto">
            <a:xfrm>
              <a:off x="-71453" y="780176"/>
              <a:ext cx="4787350" cy="1000418"/>
            </a:xfrm>
            <a:prstGeom prst="verticalScroll">
              <a:avLst>
                <a:gd name="adj" fmla="val 524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spcBef>
                  <a:spcPct val="0"/>
                </a:spcBef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Text Box 3"/>
            <p:cNvSpPr txBox="1">
              <a:spLocks noChangeArrowheads="1"/>
            </p:cNvSpPr>
            <p:nvPr/>
          </p:nvSpPr>
          <p:spPr bwMode="auto">
            <a:xfrm>
              <a:off x="55574" y="829402"/>
              <a:ext cx="4660323" cy="908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en-US" altLang="zh-CN" sz="16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600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时刻：输入为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，输出为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1;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，输出为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en-US" altLang="zh-CN" sz="16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600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1~</a:t>
              </a:r>
              <a:r>
                <a:rPr lang="en-US" altLang="zh-CN" sz="16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600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时刻：单纯看没有规律，要联合前一时刻的输入一同来看</a:t>
              </a: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27963" y="928676"/>
            <a:ext cx="2670180" cy="3020367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 bwMode="auto">
          <a:xfrm>
            <a:off x="6534896" y="1907410"/>
            <a:ext cx="2065339" cy="145255"/>
            <a:chOff x="3417" y="2450"/>
            <a:chExt cx="1301" cy="122"/>
          </a:xfrm>
        </p:grpSpPr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3417" y="2451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hlink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Rectangle 10"/>
            <p:cNvSpPr>
              <a:spLocks noChangeArrowheads="1"/>
            </p:cNvSpPr>
            <p:nvPr/>
          </p:nvSpPr>
          <p:spPr bwMode="auto">
            <a:xfrm>
              <a:off x="4378" y="2450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hlink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Group 20"/>
          <p:cNvGrpSpPr/>
          <p:nvPr/>
        </p:nvGrpSpPr>
        <p:grpSpPr bwMode="auto">
          <a:xfrm>
            <a:off x="6545284" y="2756611"/>
            <a:ext cx="2078038" cy="148826"/>
            <a:chOff x="3417" y="2992"/>
            <a:chExt cx="1309" cy="125"/>
          </a:xfrm>
        </p:grpSpPr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3417" y="2996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hlink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auto">
            <a:xfrm>
              <a:off x="4386" y="2992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hlink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Group 21"/>
          <p:cNvGrpSpPr/>
          <p:nvPr/>
        </p:nvGrpSpPr>
        <p:grpSpPr bwMode="auto">
          <a:xfrm>
            <a:off x="6546008" y="3595202"/>
            <a:ext cx="2032002" cy="147636"/>
            <a:chOff x="3424" y="3560"/>
            <a:chExt cx="1280" cy="124"/>
          </a:xfrm>
        </p:grpSpPr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3424" y="3563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hlink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4364" y="3560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hlink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" name="Group 22"/>
          <p:cNvGrpSpPr/>
          <p:nvPr/>
        </p:nvGrpSpPr>
        <p:grpSpPr bwMode="auto">
          <a:xfrm>
            <a:off x="6534900" y="2099094"/>
            <a:ext cx="2073279" cy="153589"/>
            <a:chOff x="3417" y="2605"/>
            <a:chExt cx="1306" cy="129"/>
          </a:xfrm>
        </p:grpSpPr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3417" y="2605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bg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4383" y="2613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bg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1" name="Group 23"/>
          <p:cNvGrpSpPr/>
          <p:nvPr/>
        </p:nvGrpSpPr>
        <p:grpSpPr bwMode="auto">
          <a:xfrm>
            <a:off x="6546876" y="2961243"/>
            <a:ext cx="2097090" cy="148826"/>
            <a:chOff x="3424" y="3146"/>
            <a:chExt cx="1321" cy="125"/>
          </a:xfrm>
        </p:grpSpPr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3424" y="3150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bg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Rectangle 17"/>
            <p:cNvSpPr>
              <a:spLocks noChangeArrowheads="1"/>
            </p:cNvSpPr>
            <p:nvPr/>
          </p:nvSpPr>
          <p:spPr bwMode="auto">
            <a:xfrm>
              <a:off x="4405" y="3146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bg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4" name="Group 24"/>
          <p:cNvGrpSpPr/>
          <p:nvPr/>
        </p:nvGrpSpPr>
        <p:grpSpPr bwMode="auto">
          <a:xfrm>
            <a:off x="6546007" y="3785703"/>
            <a:ext cx="2041526" cy="147636"/>
            <a:chOff x="3424" y="3702"/>
            <a:chExt cx="1286" cy="124"/>
          </a:xfrm>
        </p:grpSpPr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3424" y="3702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bg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Rectangle 18"/>
            <p:cNvSpPr>
              <a:spLocks noChangeArrowheads="1"/>
            </p:cNvSpPr>
            <p:nvPr/>
          </p:nvSpPr>
          <p:spPr bwMode="auto">
            <a:xfrm>
              <a:off x="4370" y="3705"/>
              <a:ext cx="340" cy="121"/>
            </a:xfrm>
            <a:prstGeom prst="rect">
              <a:avLst/>
            </a:prstGeom>
            <a:noFill/>
            <a:ln w="19050" algn="ctr">
              <a:solidFill>
                <a:schemeClr val="bg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52369" y="2214560"/>
          <a:ext cx="1571604" cy="1280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5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11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1795443" y="2203144"/>
          <a:ext cx="1857388" cy="201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111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3719507" y="2203144"/>
          <a:ext cx="200026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1001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2264584"/>
            <a:ext cx="5436484" cy="252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714348" y="702220"/>
            <a:ext cx="285752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072098" y="862962"/>
          <a:ext cx="1571604" cy="1280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5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11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6786578" y="428610"/>
          <a:ext cx="1857388" cy="201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111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6715140" y="2571750"/>
          <a:ext cx="200026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altLang="zh-CN" sz="1200" b="1" i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</a:t>
                      </a:r>
                      <a:r>
                        <a:rPr lang="en-US" altLang="zh-CN" sz="1200" b="1" baseline="-25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时刻</a:t>
                      </a:r>
                      <a:endParaRPr lang="en-US" altLang="zh-CN" sz="12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endParaRPr lang="zh-CN" altLang="en-US" sz="12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0011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0101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1001</a:t>
                      </a:r>
                      <a:endParaRPr kumimoji="1" lang="zh-CN" altLang="en-US" sz="1200" b="1" kern="1200" dirty="0">
                        <a:solidFill>
                          <a:schemeClr val="bg2"/>
                        </a:solidFill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rgbClr val="0000CC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200" b="1" kern="1200" dirty="0">
                          <a:solidFill>
                            <a:srgbClr val="FF0000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011</a:t>
                      </a:r>
                    </a:p>
                    <a:p>
                      <a:pPr algn="ctr"/>
                      <a:r>
                        <a:rPr kumimoji="1" lang="en-US" altLang="zh-CN" sz="1200" b="1" kern="1200" dirty="0">
                          <a:solidFill>
                            <a:srgbClr val="D60093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r>
                        <a:rPr kumimoji="1" lang="en-US" altLang="zh-CN" sz="1200" b="1" kern="1200" dirty="0">
                          <a:solidFill>
                            <a:schemeClr val="bg2"/>
                          </a:solidFill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100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组合 468"/>
          <p:cNvGrpSpPr/>
          <p:nvPr/>
        </p:nvGrpSpPr>
        <p:grpSpPr bwMode="auto">
          <a:xfrm>
            <a:off x="785786" y="1142990"/>
            <a:ext cx="4071966" cy="864820"/>
            <a:chOff x="-71454" y="780176"/>
            <a:chExt cx="4072820" cy="865067"/>
          </a:xfrm>
        </p:grpSpPr>
        <p:sp>
          <p:nvSpPr>
            <p:cNvPr id="37" name="竖卷形 36"/>
            <p:cNvSpPr/>
            <p:nvPr/>
          </p:nvSpPr>
          <p:spPr bwMode="auto">
            <a:xfrm>
              <a:off x="-71454" y="780176"/>
              <a:ext cx="4072820" cy="857501"/>
            </a:xfrm>
            <a:prstGeom prst="verticalScroll">
              <a:avLst>
                <a:gd name="adj" fmla="val 524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spcBef>
                  <a:spcPct val="0"/>
                </a:spcBef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Text Box 3"/>
            <p:cNvSpPr txBox="1">
              <a:spLocks noChangeArrowheads="1"/>
            </p:cNvSpPr>
            <p:nvPr/>
          </p:nvSpPr>
          <p:spPr bwMode="auto">
            <a:xfrm>
              <a:off x="-20642" y="829402"/>
              <a:ext cx="4022008" cy="8158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en-US" altLang="zh-CN" sz="14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400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时刻：输入为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，输出为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1;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输入为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，输出为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en-US" altLang="zh-CN" sz="14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400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1~</a:t>
              </a:r>
              <a:r>
                <a:rPr lang="en-US" altLang="zh-CN" sz="14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en-US" altLang="zh-CN" sz="1400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时刻：单纯看没有规律，要联合前一时刻的输入一同来看</a:t>
              </a:r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1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743" y="1545431"/>
            <a:ext cx="5113337" cy="2920604"/>
          </a:xfrm>
          <a:prstGeom prst="rect">
            <a:avLst/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</p:spPr>
      </p:pic>
      <p:sp>
        <p:nvSpPr>
          <p:cNvPr id="121863" name="AutoShape 11"/>
          <p:cNvSpPr>
            <a:spLocks noChangeArrowheads="1"/>
          </p:cNvSpPr>
          <p:nvPr/>
        </p:nvSpPr>
        <p:spPr bwMode="auto">
          <a:xfrm rot="20171049">
            <a:off x="5593449" y="1476523"/>
            <a:ext cx="184731" cy="461665"/>
          </a:xfrm>
          <a:prstGeom prst="curvedLeftArrow">
            <a:avLst>
              <a:gd name="adj1" fmla="val 47929"/>
              <a:gd name="adj2" fmla="val 95859"/>
              <a:gd name="adj3" fmla="val 33333"/>
            </a:avLst>
          </a:prstGeom>
          <a:solidFill>
            <a:srgbClr val="CCFFFF"/>
          </a:solidFill>
          <a:ln w="19050">
            <a:solidFill>
              <a:schemeClr val="bg1"/>
            </a:solidFill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58880" y="2074672"/>
            <a:ext cx="3556834" cy="2416132"/>
          </a:xfrm>
          <a:prstGeom prst="rect">
            <a:avLst/>
          </a:prstGeom>
          <a:ln w="19050">
            <a:solidFill>
              <a:srgbClr val="336600"/>
            </a:solidFill>
          </a:ln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770396" y="762258"/>
            <a:ext cx="1857388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2. 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</a:p>
        </p:txBody>
      </p:sp>
      <p:pic>
        <p:nvPicPr>
          <p:cNvPr id="10" name="Picture 2" descr="ELEG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3568" y="1059582"/>
            <a:ext cx="3556834" cy="2416132"/>
          </a:xfrm>
          <a:prstGeom prst="rect">
            <a:avLst/>
          </a:prstGeom>
          <a:ln w="19050">
            <a:solidFill>
              <a:srgbClr val="336600"/>
            </a:solidFill>
          </a:ln>
        </p:spPr>
      </p:pic>
      <p:sp>
        <p:nvSpPr>
          <p:cNvPr id="12" name="AutoShape 64"/>
          <p:cNvSpPr>
            <a:spLocks noChangeArrowheads="1"/>
          </p:cNvSpPr>
          <p:nvPr/>
        </p:nvSpPr>
        <p:spPr bwMode="auto">
          <a:xfrm rot="16200000">
            <a:off x="4337968" y="2194469"/>
            <a:ext cx="216000" cy="32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83568" y="634574"/>
            <a:ext cx="153509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3.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状态分配</a:t>
            </a:r>
            <a:endParaRPr lang="en-US" altLang="zh-CN" sz="1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Picture 2" descr="ELEGL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44008" y="1122592"/>
            <a:ext cx="3873874" cy="2385262"/>
          </a:xfrm>
          <a:prstGeom prst="rect">
            <a:avLst/>
          </a:prstGeom>
          <a:ln w="19050">
            <a:solidFill>
              <a:srgbClr val="336600"/>
            </a:solidFill>
          </a:ln>
        </p:spPr>
      </p:pic>
      <p:grpSp>
        <p:nvGrpSpPr>
          <p:cNvPr id="6" name="组合 5"/>
          <p:cNvGrpSpPr/>
          <p:nvPr/>
        </p:nvGrpSpPr>
        <p:grpSpPr>
          <a:xfrm>
            <a:off x="1648266" y="3907301"/>
            <a:ext cx="1871345" cy="812497"/>
            <a:chOff x="1073425" y="3779178"/>
            <a:chExt cx="1871345" cy="812497"/>
          </a:xfrm>
        </p:grpSpPr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2414232" y="4361338"/>
              <a:ext cx="316447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H</a:t>
              </a:r>
              <a:endParaRPr lang="en-US" altLang="zh-CN" sz="1000" b="1" dirty="0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2096814" y="4361338"/>
              <a:ext cx="317418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1000" b="1" dirty="0"/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780367" y="4361338"/>
              <a:ext cx="316447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1000" b="1" dirty="0"/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1462949" y="4361338"/>
              <a:ext cx="317418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1000" b="1" dirty="0"/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2414232" y="4131973"/>
              <a:ext cx="316447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M</a:t>
              </a:r>
              <a:endParaRPr lang="en-US" altLang="zh-CN" sz="1000" b="1" dirty="0"/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2096814" y="4131973"/>
              <a:ext cx="317418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1000" b="1" dirty="0"/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1780367" y="4131973"/>
              <a:ext cx="316447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B</a:t>
              </a:r>
              <a:endParaRPr lang="en-US" altLang="zh-CN" sz="1000" b="1" dirty="0"/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1462949" y="4131973"/>
              <a:ext cx="317418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A</a:t>
              </a:r>
              <a:endParaRPr lang="en-US" altLang="zh-CN" sz="1000" b="1" dirty="0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1462949" y="4131973"/>
              <a:ext cx="1267730" cy="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>
              <a:off x="1462949" y="4361338"/>
              <a:ext cx="126773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1462949" y="4590703"/>
              <a:ext cx="1267730" cy="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1462949" y="4131973"/>
              <a:ext cx="0" cy="45873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1780367" y="4131973"/>
              <a:ext cx="0" cy="45873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2096814" y="4131973"/>
              <a:ext cx="0" cy="45873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414232" y="4131973"/>
              <a:ext cx="0" cy="45873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2730679" y="4361338"/>
              <a:ext cx="0" cy="22936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2730679" y="4131973"/>
              <a:ext cx="0" cy="229365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>
              <a:off x="1295018" y="3961893"/>
              <a:ext cx="167931" cy="17008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 sz="1000"/>
            </a:p>
          </p:txBody>
        </p:sp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1479190" y="3930943"/>
              <a:ext cx="1465580" cy="245110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en-US" altLang="zh-CN" sz="1000" b="1" dirty="0"/>
                <a:t>00     01     11    10</a:t>
              </a:r>
            </a:p>
          </p:txBody>
        </p:sp>
        <p:sp>
          <p:nvSpPr>
            <p:cNvPr id="37" name="Text Box 25"/>
            <p:cNvSpPr txBox="1">
              <a:spLocks noChangeArrowheads="1"/>
            </p:cNvSpPr>
            <p:nvPr/>
          </p:nvSpPr>
          <p:spPr bwMode="auto">
            <a:xfrm>
              <a:off x="1257161" y="4199033"/>
              <a:ext cx="190257" cy="392642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65000"/>
                </a:lnSpc>
              </a:pPr>
              <a:r>
                <a:rPr lang="en-US" altLang="zh-CN" sz="1000" b="1" dirty="0"/>
                <a:t>0</a:t>
              </a:r>
            </a:p>
            <a:p>
              <a:pPr>
                <a:lnSpc>
                  <a:spcPct val="65000"/>
                </a:lnSpc>
              </a:pPr>
              <a:endParaRPr lang="en-US" altLang="zh-CN" sz="1000" b="1" dirty="0"/>
            </a:p>
            <a:p>
              <a:pPr>
                <a:lnSpc>
                  <a:spcPct val="65000"/>
                </a:lnSpc>
              </a:pPr>
              <a:r>
                <a:rPr lang="en-US" altLang="zh-CN" sz="1000" b="1" dirty="0"/>
                <a:t>1</a:t>
              </a: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1073425" y="3916525"/>
              <a:ext cx="431960" cy="245887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en-US" altLang="zh-CN" sz="1000" b="1" dirty="0"/>
                <a:t>Q</a:t>
              </a:r>
              <a:r>
                <a:rPr lang="en-US" altLang="zh-CN" sz="1000" b="1" baseline="-25000" dirty="0"/>
                <a:t>3</a:t>
              </a:r>
              <a:endParaRPr lang="en-US" altLang="zh-CN" sz="1000" b="1" baseline="30000" dirty="0"/>
            </a:p>
          </p:txBody>
        </p:sp>
        <p:sp>
          <p:nvSpPr>
            <p:cNvPr id="39" name="Text Box 27"/>
            <p:cNvSpPr txBox="1">
              <a:spLocks noChangeArrowheads="1"/>
            </p:cNvSpPr>
            <p:nvPr/>
          </p:nvSpPr>
          <p:spPr bwMode="auto">
            <a:xfrm>
              <a:off x="1220275" y="3779178"/>
              <a:ext cx="631924" cy="245887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en-US" altLang="zh-CN" sz="1000" b="1" dirty="0"/>
                <a:t>Q</a:t>
              </a:r>
              <a:r>
                <a:rPr lang="en-US" altLang="zh-CN" sz="1000" b="1" baseline="-25000" dirty="0"/>
                <a:t>2</a:t>
              </a:r>
              <a:r>
                <a:rPr lang="en-US" altLang="zh-CN" sz="1000" b="1" dirty="0"/>
                <a:t>Q</a:t>
              </a:r>
              <a:r>
                <a:rPr lang="en-US" altLang="zh-CN" sz="1000" b="1" baseline="-25000" dirty="0"/>
                <a:t>1</a:t>
              </a:r>
              <a:endParaRPr lang="en-US" altLang="zh-CN" sz="1000" b="1" baseline="30000" dirty="0"/>
            </a:p>
          </p:txBody>
        </p:sp>
        <p:sp>
          <p:nvSpPr>
            <p:cNvPr id="40" name="Rectangle 12"/>
            <p:cNvSpPr>
              <a:spLocks noChangeArrowheads="1"/>
            </p:cNvSpPr>
            <p:nvPr/>
          </p:nvSpPr>
          <p:spPr bwMode="auto">
            <a:xfrm>
              <a:off x="2095313" y="4134163"/>
              <a:ext cx="316447" cy="229365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E</a:t>
              </a:r>
              <a:endParaRPr lang="en-US" altLang="zh-CN" sz="1000" b="1" dirty="0"/>
            </a:p>
          </p:txBody>
        </p:sp>
        <p:sp>
          <p:nvSpPr>
            <p:cNvPr id="41" name="Rectangle 12"/>
            <p:cNvSpPr>
              <a:spLocks noChangeArrowheads="1"/>
            </p:cNvSpPr>
            <p:nvPr/>
          </p:nvSpPr>
          <p:spPr bwMode="auto">
            <a:xfrm>
              <a:off x="2099345" y="4355896"/>
              <a:ext cx="316447" cy="229365"/>
            </a:xfrm>
            <a:prstGeom prst="rect">
              <a:avLst/>
            </a:prstGeom>
            <a:noFill/>
            <a:ln w="1905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D</a:t>
              </a:r>
              <a:endParaRPr lang="en-US" altLang="zh-CN" sz="1000" b="1" dirty="0"/>
            </a:p>
          </p:txBody>
        </p:sp>
        <p:sp>
          <p:nvSpPr>
            <p:cNvPr id="42" name="Rectangle 12"/>
            <p:cNvSpPr>
              <a:spLocks noChangeArrowheads="1"/>
            </p:cNvSpPr>
            <p:nvPr/>
          </p:nvSpPr>
          <p:spPr bwMode="auto">
            <a:xfrm>
              <a:off x="1774041" y="4354360"/>
              <a:ext cx="316447" cy="229365"/>
            </a:xfrm>
            <a:prstGeom prst="rect">
              <a:avLst/>
            </a:prstGeom>
            <a:noFill/>
            <a:ln w="1905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1000" b="1" dirty="0">
                  <a:ea typeface="宋体" panose="02010600030101010101" pitchFamily="2" charset="-122"/>
                </a:rPr>
                <a:t>C</a:t>
              </a:r>
              <a:endParaRPr lang="en-US" altLang="zh-CN" sz="1000" b="1" dirty="0"/>
            </a:p>
          </p:txBody>
        </p:sp>
      </p:grpSp>
      <p:sp>
        <p:nvSpPr>
          <p:cNvPr id="7" name="下箭头 6"/>
          <p:cNvSpPr/>
          <p:nvPr/>
        </p:nvSpPr>
        <p:spPr bwMode="auto">
          <a:xfrm>
            <a:off x="2427040" y="3651870"/>
            <a:ext cx="200744" cy="255431"/>
          </a:xfrm>
          <a:prstGeom prst="downArrow">
            <a:avLst/>
          </a:prstGeom>
          <a:solidFill>
            <a:srgbClr val="FFFF00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右箭头 7"/>
          <p:cNvSpPr/>
          <p:nvPr/>
        </p:nvSpPr>
        <p:spPr bwMode="auto">
          <a:xfrm rot="20393615">
            <a:off x="4134695" y="4020410"/>
            <a:ext cx="360040" cy="214786"/>
          </a:xfrm>
          <a:prstGeom prst="rightArrow">
            <a:avLst/>
          </a:prstGeom>
          <a:solidFill>
            <a:srgbClr val="FFFF00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4485941" y="668477"/>
            <a:ext cx="224629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4.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 </a:t>
            </a:r>
          </a:p>
        </p:txBody>
      </p:sp>
      <p:sp>
        <p:nvSpPr>
          <p:cNvPr id="43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7" grpId="0" bldLvl="0" animBg="1"/>
      <p:bldP spid="8" grpId="0" bldLvl="0" animBg="1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9552" y="1333670"/>
            <a:ext cx="3873874" cy="2385262"/>
          </a:xfrm>
          <a:prstGeom prst="rect">
            <a:avLst/>
          </a:prstGeom>
          <a:ln w="19050">
            <a:solidFill>
              <a:srgbClr val="336600"/>
            </a:solidFill>
          </a:ln>
        </p:spPr>
      </p:pic>
      <p:grpSp>
        <p:nvGrpSpPr>
          <p:cNvPr id="12" name="组合 11"/>
          <p:cNvGrpSpPr/>
          <p:nvPr/>
        </p:nvGrpSpPr>
        <p:grpSpPr>
          <a:xfrm>
            <a:off x="4644008" y="627534"/>
            <a:ext cx="4341211" cy="4392488"/>
            <a:chOff x="4644008" y="627534"/>
            <a:chExt cx="4341211" cy="439248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4509" y="627534"/>
              <a:ext cx="4229979" cy="2119297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4008" y="2909711"/>
              <a:ext cx="4341211" cy="2110311"/>
            </a:xfrm>
            <a:prstGeom prst="rect">
              <a:avLst/>
            </a:prstGeom>
          </p:spPr>
        </p:pic>
      </p:grp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83568" y="668477"/>
            <a:ext cx="224629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4.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 </a:t>
            </a:r>
          </a:p>
        </p:txBody>
      </p:sp>
      <p:pic>
        <p:nvPicPr>
          <p:cNvPr id="11" name="Picture 2" descr="ELEGLIN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67"/>
          <p:cNvSpPr>
            <a:spLocks noChangeArrowheads="1"/>
          </p:cNvSpPr>
          <p:nvPr/>
        </p:nvSpPr>
        <p:spPr bwMode="auto">
          <a:xfrm>
            <a:off x="756246" y="3964866"/>
            <a:ext cx="20875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5</a:t>
            </a:r>
            <a:r>
              <a: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卡诺图化简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987574"/>
            <a:ext cx="5519737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49"/>
          <p:cNvSpPr txBox="1">
            <a:spLocks noChangeArrowheads="1"/>
          </p:cNvSpPr>
          <p:nvPr/>
        </p:nvSpPr>
        <p:spPr bwMode="auto">
          <a:xfrm>
            <a:off x="827584" y="627534"/>
            <a:ext cx="2016224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a typeface="宋体" panose="02010600030101010101" pitchFamily="2" charset="-122"/>
              </a:rPr>
              <a:t>6.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电路实现</a:t>
            </a:r>
          </a:p>
        </p:txBody>
      </p:sp>
      <p:pic>
        <p:nvPicPr>
          <p:cNvPr id="7" name="Picture 2" descr="ELEGL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149"/>
          <p:cNvSpPr txBox="1">
            <a:spLocks noChangeArrowheads="1"/>
          </p:cNvSpPr>
          <p:nvPr/>
        </p:nvSpPr>
        <p:spPr bwMode="auto">
          <a:xfrm>
            <a:off x="827584" y="3385253"/>
            <a:ext cx="2016224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a typeface="宋体" panose="02010600030101010101" pitchFamily="2" charset="-122"/>
              </a:rPr>
              <a:t>7.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无关项检查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67401" y="996866"/>
            <a:ext cx="1440160" cy="2127373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043608" y="3835250"/>
            <a:ext cx="3199797" cy="1184772"/>
            <a:chOff x="1102874" y="3801277"/>
            <a:chExt cx="3199797" cy="118477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3721" y="3801277"/>
              <a:ext cx="1123950" cy="26670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3721" y="4103617"/>
              <a:ext cx="1019175" cy="25717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3721" y="4396432"/>
              <a:ext cx="3028950" cy="2857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3330" y="4709824"/>
              <a:ext cx="1266825" cy="276225"/>
            </a:xfrm>
            <a:prstGeom prst="rect">
              <a:avLst/>
            </a:prstGeom>
          </p:spPr>
        </p:pic>
        <p:sp>
          <p:nvSpPr>
            <p:cNvPr id="10" name="左大括号 9"/>
            <p:cNvSpPr/>
            <p:nvPr/>
          </p:nvSpPr>
          <p:spPr bwMode="auto">
            <a:xfrm>
              <a:off x="1102874" y="3849704"/>
              <a:ext cx="144000" cy="1080000"/>
            </a:xfrm>
            <a:prstGeom prst="leftBrace">
              <a:avLst>
                <a:gd name="adj1" fmla="val 58353"/>
                <a:gd name="adj2" fmla="val 50000"/>
              </a:avLst>
            </a:pr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87307" y="3560117"/>
            <a:ext cx="4713801" cy="1484814"/>
            <a:chOff x="4087307" y="3560117"/>
            <a:chExt cx="4713801" cy="1484814"/>
          </a:xfrm>
        </p:grpSpPr>
        <p:sp>
          <p:nvSpPr>
            <p:cNvPr id="15" name="Text Box 107"/>
            <p:cNvSpPr txBox="1">
              <a:spLocks noChangeArrowheads="1"/>
            </p:cNvSpPr>
            <p:nvPr/>
          </p:nvSpPr>
          <p:spPr bwMode="auto">
            <a:xfrm>
              <a:off x="4087307" y="3560117"/>
              <a:ext cx="4713801" cy="3067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将无关状态</a:t>
              </a:r>
              <a:r>
                <a:rPr lang="en-US" altLang="zh-CN" sz="1400" b="1" dirty="0">
                  <a:solidFill>
                    <a:srgbClr val="0000CC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rgbClr val="0000CC"/>
                  </a:solidFill>
                </a:rPr>
                <a:t>1</a:t>
              </a:r>
              <a:r>
                <a:rPr lang="en-US" altLang="zh-CN" sz="1400" b="1" dirty="0">
                  <a:solidFill>
                    <a:srgbClr val="0000CC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rgbClr val="0000CC"/>
                  </a:solidFill>
                </a:rPr>
                <a:t>2</a:t>
              </a:r>
              <a:r>
                <a:rPr lang="en-US" altLang="zh-CN" sz="1400" b="1" dirty="0">
                  <a:solidFill>
                    <a:srgbClr val="0000CC"/>
                  </a:solidFill>
                </a:rPr>
                <a:t>Q</a:t>
              </a:r>
              <a:r>
                <a:rPr lang="en-US" altLang="zh-CN" sz="1400" b="1" baseline="-25000" dirty="0">
                  <a:solidFill>
                    <a:srgbClr val="0000CC"/>
                  </a:solidFill>
                </a:rPr>
                <a:t>3</a:t>
              </a:r>
              <a:r>
                <a:rPr lang="en-US" altLang="zh-CN" sz="1400" b="1" dirty="0">
                  <a:solidFill>
                    <a:srgbClr val="0000CC"/>
                  </a:solidFill>
                  <a:latin typeface="+mj-lt"/>
                  <a:ea typeface="黑体" panose="02010609060101010101" pitchFamily="49" charset="-122"/>
                </a:rPr>
                <a:t>=001</a:t>
              </a: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代入次态方程和输出方程计算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145633" y="3939902"/>
              <a:ext cx="1308100" cy="786387"/>
              <a:chOff x="5145633" y="4132581"/>
              <a:chExt cx="1308100" cy="786387"/>
            </a:xfrm>
          </p:grpSpPr>
          <p:sp>
            <p:nvSpPr>
              <p:cNvPr id="19" name="Oval 101"/>
              <p:cNvSpPr>
                <a:spLocks noChangeArrowheads="1"/>
              </p:cNvSpPr>
              <p:nvPr/>
            </p:nvSpPr>
            <p:spPr bwMode="auto">
              <a:xfrm>
                <a:off x="6083846" y="4134962"/>
                <a:ext cx="360363" cy="359569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b="1" dirty="0">
                    <a:latin typeface="+mj-lt"/>
                  </a:rPr>
                  <a:t>100</a:t>
                </a:r>
              </a:p>
            </p:txBody>
          </p:sp>
          <p:sp>
            <p:nvSpPr>
              <p:cNvPr id="20" name="Line 102"/>
              <p:cNvSpPr>
                <a:spLocks noChangeShapeType="1"/>
              </p:cNvSpPr>
              <p:nvPr/>
            </p:nvSpPr>
            <p:spPr bwMode="auto">
              <a:xfrm flipV="1">
                <a:off x="5185321" y="4326653"/>
                <a:ext cx="898525" cy="21431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 sz="1600" b="1">
                  <a:latin typeface="+mj-lt"/>
                </a:endParaRPr>
              </a:p>
            </p:txBody>
          </p:sp>
          <p:sp>
            <p:nvSpPr>
              <p:cNvPr id="21" name="Text Box 104"/>
              <p:cNvSpPr txBox="1">
                <a:spLocks noChangeArrowheads="1"/>
              </p:cNvSpPr>
              <p:nvPr/>
            </p:nvSpPr>
            <p:spPr bwMode="auto">
              <a:xfrm>
                <a:off x="5580608" y="4132581"/>
                <a:ext cx="538163" cy="23931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100"/>
                  </a:lnSpc>
                  <a:spcBef>
                    <a:spcPts val="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0/0</a:t>
                </a:r>
              </a:p>
            </p:txBody>
          </p:sp>
          <p:sp>
            <p:nvSpPr>
              <p:cNvPr id="22" name="Oval 99"/>
              <p:cNvSpPr>
                <a:spLocks noChangeArrowheads="1"/>
              </p:cNvSpPr>
              <p:nvPr/>
            </p:nvSpPr>
            <p:spPr bwMode="auto">
              <a:xfrm>
                <a:off x="5145633" y="4156393"/>
                <a:ext cx="360363" cy="359569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b="1" dirty="0">
                    <a:latin typeface="+mj-lt"/>
                  </a:rPr>
                  <a:t>001</a:t>
                </a:r>
              </a:p>
            </p:txBody>
          </p:sp>
          <p:sp>
            <p:nvSpPr>
              <p:cNvPr id="23" name="Oval 101"/>
              <p:cNvSpPr>
                <a:spLocks noChangeArrowheads="1"/>
              </p:cNvSpPr>
              <p:nvPr/>
            </p:nvSpPr>
            <p:spPr bwMode="auto">
              <a:xfrm>
                <a:off x="6093370" y="4559399"/>
                <a:ext cx="360363" cy="359569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b="1" dirty="0">
                    <a:latin typeface="+mj-lt"/>
                  </a:rPr>
                  <a:t>101</a:t>
                </a:r>
              </a:p>
            </p:txBody>
          </p:sp>
          <p:sp>
            <p:nvSpPr>
              <p:cNvPr id="24" name="Text Box 104"/>
              <p:cNvSpPr txBox="1">
                <a:spLocks noChangeArrowheads="1"/>
              </p:cNvSpPr>
              <p:nvPr/>
            </p:nvSpPr>
            <p:spPr bwMode="auto">
              <a:xfrm>
                <a:off x="5436096" y="4564629"/>
                <a:ext cx="538163" cy="23931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100"/>
                  </a:lnSpc>
                  <a:spcBef>
                    <a:spcPts val="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1/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5" name="Line 102"/>
              <p:cNvSpPr>
                <a:spLocks noChangeShapeType="1"/>
              </p:cNvSpPr>
              <p:nvPr/>
            </p:nvSpPr>
            <p:spPr bwMode="auto">
              <a:xfrm>
                <a:off x="5477421" y="4447331"/>
                <a:ext cx="641350" cy="238892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 sz="1600" b="1">
                  <a:latin typeface="+mj-lt"/>
                </a:endParaRPr>
              </a:p>
            </p:txBody>
          </p:sp>
        </p:grpSp>
        <p:sp>
          <p:nvSpPr>
            <p:cNvPr id="27" name="Text Box 107"/>
            <p:cNvSpPr txBox="1">
              <a:spLocks noChangeArrowheads="1"/>
            </p:cNvSpPr>
            <p:nvPr/>
          </p:nvSpPr>
          <p:spPr bwMode="auto">
            <a:xfrm>
              <a:off x="6876256" y="4011910"/>
              <a:ext cx="1785950" cy="3385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1600" b="1" dirty="0">
                  <a:latin typeface="+mj-lt"/>
                  <a:ea typeface="黑体" panose="02010609060101010101" pitchFamily="49" charset="-122"/>
                </a:rPr>
                <a:t>电路可以自启动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736071" y="4579616"/>
              <a:ext cx="936600" cy="465315"/>
              <a:chOff x="4736071" y="4579616"/>
              <a:chExt cx="936600" cy="465315"/>
            </a:xfrm>
          </p:grpSpPr>
          <p:sp>
            <p:nvSpPr>
              <p:cNvPr id="13" name="圆角矩形标注 12"/>
              <p:cNvSpPr/>
              <p:nvPr/>
            </p:nvSpPr>
            <p:spPr bwMode="auto">
              <a:xfrm>
                <a:off x="4736071" y="4579616"/>
                <a:ext cx="864000" cy="432000"/>
              </a:xfrm>
              <a:prstGeom prst="wedgeRoundRectCallout">
                <a:avLst>
                  <a:gd name="adj1" fmla="val 58491"/>
                  <a:gd name="adj2" fmla="val -48931"/>
                  <a:gd name="adj3" fmla="val 16667"/>
                </a:avLst>
              </a:prstGeom>
              <a:solidFill>
                <a:srgbClr val="FFCCFF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Text Box 107"/>
              <p:cNvSpPr txBox="1">
                <a:spLocks noChangeArrowheads="1"/>
              </p:cNvSpPr>
              <p:nvPr/>
            </p:nvSpPr>
            <p:spPr bwMode="auto">
              <a:xfrm>
                <a:off x="4769409" y="4583266"/>
                <a:ext cx="903262" cy="4616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1200" b="1" dirty="0">
                    <a:latin typeface="+mj-lt"/>
                    <a:ea typeface="黑体" panose="02010609060101010101" pitchFamily="49" charset="-122"/>
                  </a:rPr>
                  <a:t>当</a:t>
                </a:r>
                <a:r>
                  <a:rPr lang="en-US" altLang="zh-CN" sz="1200" b="1" dirty="0">
                    <a:latin typeface="+mj-lt"/>
                    <a:ea typeface="黑体" panose="02010609060101010101" pitchFamily="49" charset="-122"/>
                  </a:rPr>
                  <a:t>X=1</a:t>
                </a:r>
                <a:r>
                  <a:rPr lang="zh-CN" altLang="en-US" sz="1200" b="1" dirty="0">
                    <a:latin typeface="+mj-lt"/>
                    <a:ea typeface="黑体" panose="02010609060101010101" pitchFamily="49" charset="-122"/>
                  </a:rPr>
                  <a:t>时，输出错误</a:t>
                </a:r>
              </a:p>
            </p:txBody>
          </p:sp>
        </p:grpSp>
      </p:grp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3060" y="716046"/>
            <a:ext cx="790313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624205" indent="-624205">
              <a:spcBef>
                <a:spcPct val="50000"/>
              </a:spcBef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例：迭代电路设计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触发器设计一个比较器，能对两个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位二进制数进行比较。</a:t>
            </a:r>
            <a:endParaRPr lang="zh-CN" altLang="en-US" sz="20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468"/>
          <p:cNvGrpSpPr/>
          <p:nvPr/>
        </p:nvGrpSpPr>
        <p:grpSpPr bwMode="auto">
          <a:xfrm>
            <a:off x="3767945" y="3075806"/>
            <a:ext cx="4786346" cy="1403430"/>
            <a:chOff x="-71453" y="780175"/>
            <a:chExt cx="4787350" cy="1403831"/>
          </a:xfrm>
        </p:grpSpPr>
        <p:sp>
          <p:nvSpPr>
            <p:cNvPr id="10" name="竖卷形 6"/>
            <p:cNvSpPr/>
            <p:nvPr/>
          </p:nvSpPr>
          <p:spPr bwMode="auto">
            <a:xfrm>
              <a:off x="-71453" y="780175"/>
              <a:ext cx="4787350" cy="1403830"/>
            </a:xfrm>
            <a:prstGeom prst="verticalScroll">
              <a:avLst>
                <a:gd name="adj" fmla="val 524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spcBef>
                  <a:spcPct val="0"/>
                </a:spcBef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55574" y="829402"/>
              <a:ext cx="4660323" cy="13546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由</a:t>
              </a:r>
              <a:r>
                <a:rPr lang="en-US" altLang="zh-CN" sz="1600" b="1" i="1" dirty="0">
                  <a:latin typeface="+mn-lt"/>
                  <a:ea typeface="黑体" panose="02010609060101010101" pitchFamily="49" charset="-122"/>
                </a:rPr>
                <a:t>n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个比较子单元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600" b="1" dirty="0">
                  <a:latin typeface="+mj-lt"/>
                  <a:ea typeface="黑体" panose="02010609060101010101" pitchFamily="49" charset="-122"/>
                </a:rPr>
                <a:t>cell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构成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从高位到低位，逐位对应比较，并将前一位比较的结果传送给下一位</a:t>
              </a:r>
            </a:p>
            <a:p>
              <a:pPr marL="180975" indent="-180975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  <a:defRPr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600" b="1" i="1" dirty="0" err="1">
                  <a:latin typeface="+mn-lt"/>
                  <a:ea typeface="黑体" panose="02010609060101010101" pitchFamily="49" charset="-122"/>
                </a:rPr>
                <a:t>i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个单元的比较结果：</a:t>
              </a:r>
              <a:r>
                <a:rPr lang="es-ES" altLang="zh-CN" i="1" dirty="0"/>
                <a:t> </a:t>
              </a:r>
              <a:r>
                <a:rPr lang="es-ES" altLang="zh-CN" sz="1600" b="1" i="1" dirty="0">
                  <a:latin typeface="+mj-lt"/>
                  <a:ea typeface="黑体" panose="02010609060101010101" pitchFamily="49" charset="-122"/>
                </a:rPr>
                <a:t>X = Y,  X &gt; Y, or X &lt; Y.</a:t>
              </a:r>
              <a:endParaRPr lang="zh-CN" altLang="en-US" sz="1600" b="1" i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95536" y="2931790"/>
            <a:ext cx="285752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6491" y="3349808"/>
            <a:ext cx="2980434" cy="1631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对于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第 </a:t>
            </a:r>
            <a:r>
              <a:rPr lang="en-US" altLang="zh-CN" sz="1600" b="1" i="1" dirty="0" err="1">
                <a:latin typeface="+mn-lt"/>
                <a:ea typeface="黑体" panose="02010609060101010101" pitchFamily="49" charset="-122"/>
              </a:rPr>
              <a:t>i</a:t>
            </a:r>
            <a:r>
              <a:rPr lang="en-US" altLang="zh-CN" sz="1600" b="1" i="1" dirty="0"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个单元，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设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</a:p>
          <a:p>
            <a:pPr>
              <a:spcBef>
                <a:spcPts val="600"/>
              </a:spcBef>
            </a:pPr>
            <a:r>
              <a:rPr lang="en-US" altLang="zh-CN" sz="1600" b="1" i="1" dirty="0">
                <a:latin typeface="+mj-lt"/>
                <a:ea typeface="黑体" panose="02010609060101010101" pitchFamily="49" charset="-122"/>
              </a:rPr>
              <a:t>    S</a:t>
            </a:r>
            <a:r>
              <a:rPr lang="en-US" altLang="zh-CN" sz="1600" b="1" baseline="-25000" dirty="0">
                <a:latin typeface="+mj-lt"/>
                <a:ea typeface="黑体" panose="02010609060101010101" pitchFamily="49" charset="-122"/>
              </a:rPr>
              <a:t>0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:</a:t>
            </a:r>
            <a:r>
              <a:rPr lang="es-ES" altLang="zh-CN" sz="1600" b="1" i="1" dirty="0">
                <a:ea typeface="黑体" panose="02010609060101010101" pitchFamily="49" charset="-122"/>
              </a:rPr>
              <a:t> X = Y </a:t>
            </a:r>
            <a:r>
              <a:rPr lang="zh-CN" altLang="en-US" sz="1600" b="1" dirty="0">
                <a:ea typeface="黑体" panose="02010609060101010101" pitchFamily="49" charset="-122"/>
              </a:rPr>
              <a:t>时</a:t>
            </a:r>
            <a:endParaRPr lang="en-US" altLang="zh-CN" sz="1600" b="1" baseline="-25000" dirty="0">
              <a:latin typeface="+mj-lt"/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b="1" i="1" dirty="0">
                <a:ea typeface="黑体" panose="02010609060101010101" pitchFamily="49" charset="-122"/>
              </a:rPr>
              <a:t>    S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1 </a:t>
            </a:r>
            <a:r>
              <a:rPr lang="en-US" altLang="zh-CN" sz="1600" b="1" dirty="0">
                <a:ea typeface="黑体" panose="02010609060101010101" pitchFamily="49" charset="-122"/>
              </a:rPr>
              <a:t>: </a:t>
            </a:r>
            <a:r>
              <a:rPr lang="es-ES" altLang="zh-CN" sz="1600" b="1" i="1" dirty="0">
                <a:ea typeface="黑体" panose="02010609060101010101" pitchFamily="49" charset="-122"/>
              </a:rPr>
              <a:t>X &gt; Y </a:t>
            </a:r>
            <a:r>
              <a:rPr lang="zh-CN" altLang="en-US" sz="1600" b="1" dirty="0">
                <a:ea typeface="黑体" panose="02010609060101010101" pitchFamily="49" charset="-122"/>
              </a:rPr>
              <a:t>时</a:t>
            </a:r>
            <a:endParaRPr lang="en-US" altLang="zh-CN" sz="1600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b="1" i="1" dirty="0">
                <a:ea typeface="黑体" panose="02010609060101010101" pitchFamily="49" charset="-122"/>
              </a:rPr>
              <a:t>    S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2 </a:t>
            </a:r>
            <a:r>
              <a:rPr lang="en-US" altLang="zh-CN" sz="1600" b="1" dirty="0">
                <a:ea typeface="黑体" panose="02010609060101010101" pitchFamily="49" charset="-122"/>
              </a:rPr>
              <a:t>: </a:t>
            </a:r>
            <a:r>
              <a:rPr lang="es-ES" altLang="zh-CN" sz="1600" b="1" i="1" dirty="0">
                <a:ea typeface="黑体" panose="02010609060101010101" pitchFamily="49" charset="-122"/>
              </a:rPr>
              <a:t>X &lt; Y </a:t>
            </a:r>
            <a:r>
              <a:rPr lang="zh-CN" altLang="en-US" sz="1600" b="1" dirty="0">
                <a:ea typeface="黑体" panose="02010609060101010101" pitchFamily="49" charset="-122"/>
              </a:rPr>
              <a:t>时</a:t>
            </a:r>
            <a:endParaRPr lang="en-US" altLang="zh-CN" sz="1600" b="1" dirty="0"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600" b="1" i="1" dirty="0">
                <a:ea typeface="黑体" panose="02010609060101010101" pitchFamily="49" charset="-122"/>
              </a:rPr>
              <a:t>    </a:t>
            </a:r>
            <a:r>
              <a:rPr lang="en-US" altLang="zh-CN" sz="1600" b="1" i="1" dirty="0">
                <a:ea typeface="黑体" panose="02010609060101010101" pitchFamily="49" charset="-122"/>
              </a:rPr>
              <a:t>Z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2 </a:t>
            </a:r>
            <a:r>
              <a:rPr lang="zh-CN" altLang="en-US" sz="1600" b="1" dirty="0">
                <a:ea typeface="黑体" panose="02010609060101010101" pitchFamily="49" charset="-122"/>
              </a:rPr>
              <a:t>、</a:t>
            </a:r>
            <a:r>
              <a:rPr lang="en-US" altLang="zh-CN" sz="1600" b="1" i="1" dirty="0">
                <a:ea typeface="黑体" panose="02010609060101010101" pitchFamily="49" charset="-122"/>
              </a:rPr>
              <a:t>Z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3</a:t>
            </a:r>
            <a:r>
              <a:rPr lang="zh-CN" altLang="en-US" sz="1600" b="1" dirty="0">
                <a:ea typeface="黑体" panose="02010609060101010101" pitchFamily="49" charset="-122"/>
              </a:rPr>
              <a:t>、</a:t>
            </a:r>
            <a:r>
              <a:rPr lang="en-US" altLang="zh-CN" sz="1600" b="1" i="1" dirty="0">
                <a:ea typeface="黑体" panose="02010609060101010101" pitchFamily="49" charset="-122"/>
              </a:rPr>
              <a:t>Z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1 </a:t>
            </a:r>
            <a:r>
              <a:rPr lang="zh-CN" altLang="en-US" sz="1600" b="1" dirty="0">
                <a:ea typeface="黑体" panose="02010609060101010101" pitchFamily="49" charset="-122"/>
              </a:rPr>
              <a:t>分别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取值为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600" b="1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5576" y="1491630"/>
            <a:ext cx="7628817" cy="1219003"/>
          </a:xfrm>
          <a:prstGeom prst="rect">
            <a:avLst/>
          </a:prstGeom>
        </p:spPr>
      </p:pic>
      <p:grpSp>
        <p:nvGrpSpPr>
          <p:cNvPr id="14" name="组合 12"/>
          <p:cNvGrpSpPr/>
          <p:nvPr/>
        </p:nvGrpSpPr>
        <p:grpSpPr bwMode="auto">
          <a:xfrm>
            <a:off x="6516216" y="1131590"/>
            <a:ext cx="1944216" cy="576065"/>
            <a:chOff x="4413448" y="1000112"/>
            <a:chExt cx="1360006" cy="600865"/>
          </a:xfrm>
        </p:grpSpPr>
        <p:sp>
          <p:nvSpPr>
            <p:cNvPr id="15" name="圆角矩形标注 13"/>
            <p:cNvSpPr>
              <a:spLocks noChangeArrowheads="1"/>
            </p:cNvSpPr>
            <p:nvPr/>
          </p:nvSpPr>
          <p:spPr bwMode="auto">
            <a:xfrm>
              <a:off x="4413448" y="1011893"/>
              <a:ext cx="1360006" cy="589084"/>
            </a:xfrm>
            <a:prstGeom prst="wedgeRoundRectCallout">
              <a:avLst>
                <a:gd name="adj1" fmla="val -62446"/>
                <a:gd name="adj2" fmla="val 49350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 wrap="none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4429123" y="1000112"/>
              <a:ext cx="1344331" cy="33584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每个对应位的比较都是一个相似的子单元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9612" y="1203598"/>
            <a:ext cx="4824536" cy="1269239"/>
          </a:xfrm>
          <a:prstGeom prst="rect">
            <a:avLst/>
          </a:prstGeom>
          <a:ln w="19050">
            <a:solidFill>
              <a:schemeClr val="bg2">
                <a:lumMod val="85000"/>
                <a:lumOff val="15000"/>
              </a:schemeClr>
            </a:solidFill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66976" y="725831"/>
            <a:ext cx="285752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原始状态图及状态表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827584" y="2927312"/>
            <a:ext cx="1857388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2. 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27584" y="3377773"/>
            <a:ext cx="153509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3.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状态分配</a:t>
            </a:r>
            <a:endParaRPr lang="en-US" altLang="zh-CN" sz="1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043608" y="3747105"/>
            <a:ext cx="1224136" cy="9848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600" b="1" i="1" dirty="0">
                <a:latin typeface="+mj-lt"/>
                <a:ea typeface="黑体" panose="02010609060101010101" pitchFamily="49" charset="-122"/>
              </a:rPr>
              <a:t>S</a:t>
            </a:r>
            <a:r>
              <a:rPr lang="en-US" altLang="zh-CN" sz="1600" b="1" baseline="-25000" dirty="0">
                <a:latin typeface="+mj-lt"/>
                <a:ea typeface="黑体" panose="02010609060101010101" pitchFamily="49" charset="-122"/>
              </a:rPr>
              <a:t>0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:</a:t>
            </a:r>
            <a:r>
              <a:rPr lang="es-ES" altLang="zh-CN" sz="1600" b="1" i="1" dirty="0">
                <a:ea typeface="黑体" panose="02010609060101010101" pitchFamily="49" charset="-122"/>
              </a:rPr>
              <a:t> </a:t>
            </a:r>
            <a:r>
              <a:rPr lang="en-US" altLang="zh-CN" sz="1600" b="1" dirty="0">
                <a:ea typeface="黑体" panose="02010609060101010101" pitchFamily="49" charset="-122"/>
              </a:rPr>
              <a:t>00</a:t>
            </a:r>
            <a:endParaRPr lang="en-US" altLang="zh-CN" sz="1600" b="1" baseline="-25000" dirty="0">
              <a:latin typeface="+mj-lt"/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b="1" i="1" dirty="0">
                <a:ea typeface="黑体" panose="02010609060101010101" pitchFamily="49" charset="-122"/>
              </a:rPr>
              <a:t>S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1 </a:t>
            </a:r>
            <a:r>
              <a:rPr lang="en-US" altLang="zh-CN" sz="1600" b="1" dirty="0">
                <a:ea typeface="黑体" panose="02010609060101010101" pitchFamily="49" charset="-122"/>
              </a:rPr>
              <a:t>: 01</a:t>
            </a:r>
          </a:p>
          <a:p>
            <a:pPr>
              <a:spcBef>
                <a:spcPts val="600"/>
              </a:spcBef>
            </a:pPr>
            <a:r>
              <a:rPr lang="en-US" altLang="zh-CN" sz="1600" b="1" i="1" dirty="0">
                <a:ea typeface="黑体" panose="02010609060101010101" pitchFamily="49" charset="-122"/>
              </a:rPr>
              <a:t>S</a:t>
            </a:r>
            <a:r>
              <a:rPr lang="en-US" altLang="zh-CN" sz="1600" b="1" baseline="-25000" dirty="0">
                <a:ea typeface="黑体" panose="02010609060101010101" pitchFamily="49" charset="-122"/>
              </a:rPr>
              <a:t>2 </a:t>
            </a:r>
            <a:r>
              <a:rPr lang="en-US" altLang="zh-CN" sz="1600" b="1" dirty="0">
                <a:ea typeface="黑体" panose="02010609060101010101" pitchFamily="49" charset="-122"/>
              </a:rPr>
              <a:t>: </a:t>
            </a:r>
            <a:r>
              <a:rPr lang="es-ES" altLang="zh-CN" sz="1600" b="1" dirty="0">
                <a:ea typeface="黑体" panose="02010609060101010101" pitchFamily="49" charset="-122"/>
              </a:rPr>
              <a:t>10</a:t>
            </a:r>
            <a:endParaRPr lang="en-US" altLang="zh-CN" sz="1600" b="1" dirty="0">
              <a:ea typeface="黑体" panose="02010609060101010101" pitchFamily="49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724400" y="2994506"/>
            <a:ext cx="21742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4.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3435846"/>
            <a:ext cx="4019550" cy="1304925"/>
          </a:xfrm>
          <a:prstGeom prst="rect">
            <a:avLst/>
          </a:prstGeom>
          <a:noFill/>
          <a:ln w="19050">
            <a:solidFill>
              <a:schemeClr val="bg2">
                <a:lumMod val="95000"/>
                <a:lumOff val="5000"/>
              </a:schemeClr>
            </a:solidFill>
            <a:miter lim="800000"/>
            <a:headEnd/>
            <a:tailEnd/>
          </a:ln>
        </p:spPr>
      </p:pic>
      <p:grpSp>
        <p:nvGrpSpPr>
          <p:cNvPr id="12" name="组合 12"/>
          <p:cNvGrpSpPr/>
          <p:nvPr/>
        </p:nvGrpSpPr>
        <p:grpSpPr bwMode="auto">
          <a:xfrm>
            <a:off x="6156176" y="641667"/>
            <a:ext cx="2232248" cy="954107"/>
            <a:chOff x="4413448" y="1000112"/>
            <a:chExt cx="1360006" cy="612421"/>
          </a:xfrm>
        </p:grpSpPr>
        <p:sp>
          <p:nvSpPr>
            <p:cNvPr id="13" name="圆角矩形标注 13"/>
            <p:cNvSpPr>
              <a:spLocks noChangeArrowheads="1"/>
            </p:cNvSpPr>
            <p:nvPr/>
          </p:nvSpPr>
          <p:spPr bwMode="auto">
            <a:xfrm>
              <a:off x="4413448" y="1011893"/>
              <a:ext cx="1360006" cy="589084"/>
            </a:xfrm>
            <a:prstGeom prst="wedgeRoundRectCallout">
              <a:avLst>
                <a:gd name="adj1" fmla="val -62446"/>
                <a:gd name="adj2" fmla="val 49350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 wrap="none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4429123" y="1000112"/>
              <a:ext cx="1344331" cy="61242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在第</a:t>
              </a:r>
              <a:r>
                <a:rPr lang="en-US" altLang="zh-CN" sz="1400" b="1" i="1" dirty="0" err="1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400" b="1" i="1" dirty="0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个（前一个）单元有比较结果的前提下，根据输入取值，可以确定第 </a:t>
              </a:r>
              <a:r>
                <a:rPr lang="en-US" altLang="zh-CN" sz="1400" b="1" i="1" dirty="0" err="1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400" b="1" i="1" dirty="0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+1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个单元的比较结果</a:t>
              </a:r>
            </a:p>
          </p:txBody>
        </p:sp>
      </p:grpSp>
      <p:grpSp>
        <p:nvGrpSpPr>
          <p:cNvPr id="15" name="组合 12"/>
          <p:cNvGrpSpPr/>
          <p:nvPr/>
        </p:nvGrpSpPr>
        <p:grpSpPr bwMode="auto">
          <a:xfrm>
            <a:off x="2123728" y="4021048"/>
            <a:ext cx="1512169" cy="557710"/>
            <a:chOff x="4413448" y="997032"/>
            <a:chExt cx="921295" cy="357982"/>
          </a:xfrm>
        </p:grpSpPr>
        <p:sp>
          <p:nvSpPr>
            <p:cNvPr id="16" name="圆角矩形标注 13"/>
            <p:cNvSpPr>
              <a:spLocks noChangeArrowheads="1"/>
            </p:cNvSpPr>
            <p:nvPr/>
          </p:nvSpPr>
          <p:spPr bwMode="auto">
            <a:xfrm>
              <a:off x="4413448" y="997032"/>
              <a:ext cx="877423" cy="357982"/>
            </a:xfrm>
            <a:prstGeom prst="wedgeRoundRectCallout">
              <a:avLst>
                <a:gd name="adj1" fmla="val -64261"/>
                <a:gd name="adj2" fmla="val 1089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 wrap="none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7" name="Text Box 34"/>
            <p:cNvSpPr txBox="1">
              <a:spLocks noChangeArrowheads="1"/>
            </p:cNvSpPr>
            <p:nvPr/>
          </p:nvSpPr>
          <p:spPr bwMode="auto">
            <a:xfrm>
              <a:off x="4429123" y="1000111"/>
              <a:ext cx="905620" cy="33584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需要两个触发器，用 </a:t>
              </a:r>
              <a:r>
                <a:rPr lang="en-US" altLang="zh-CN" sz="1400" b="1" dirty="0" err="1">
                  <a:ea typeface="黑体" panose="02010609060101010101" pitchFamily="49" charset="-122"/>
                </a:rPr>
                <a:t>a,b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来表示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56176" y="1707654"/>
            <a:ext cx="2592288" cy="1169551"/>
            <a:chOff x="6156176" y="1707654"/>
            <a:chExt cx="2592288" cy="1169551"/>
          </a:xfrm>
        </p:grpSpPr>
        <p:sp>
          <p:nvSpPr>
            <p:cNvPr id="19" name="圆角矩形 18"/>
            <p:cNvSpPr/>
            <p:nvPr/>
          </p:nvSpPr>
          <p:spPr bwMode="auto">
            <a:xfrm>
              <a:off x="6156176" y="1707654"/>
              <a:ext cx="2520280" cy="1152128"/>
            </a:xfrm>
            <a:prstGeom prst="roundRect">
              <a:avLst>
                <a:gd name="adj" fmla="val 9523"/>
              </a:avLst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6156176" y="1707654"/>
              <a:ext cx="2592288" cy="11695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对于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第 </a:t>
              </a:r>
              <a:r>
                <a:rPr lang="en-US" altLang="zh-CN" sz="1400" b="1" i="1" dirty="0" err="1"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400" b="1" i="1" dirty="0"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个单元，</a:t>
              </a: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设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状态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</a:p>
            <a:p>
              <a:pPr>
                <a:spcBef>
                  <a:spcPts val="0"/>
                </a:spcBef>
              </a:pPr>
              <a:r>
                <a:rPr lang="en-US" altLang="zh-CN" sz="1400" b="1" i="1" dirty="0">
                  <a:latin typeface="+mj-lt"/>
                  <a:ea typeface="黑体" panose="02010609060101010101" pitchFamily="49" charset="-122"/>
                </a:rPr>
                <a:t>    S</a:t>
              </a:r>
              <a:r>
                <a:rPr lang="en-US" altLang="zh-CN" sz="1400" b="1" baseline="-25000" dirty="0">
                  <a:latin typeface="+mj-lt"/>
                  <a:ea typeface="黑体" panose="02010609060101010101" pitchFamily="49" charset="-122"/>
                </a:rPr>
                <a:t>0 </a:t>
              </a:r>
              <a:r>
                <a:rPr lang="en-US" altLang="zh-CN" sz="1400" b="1" dirty="0">
                  <a:latin typeface="+mj-lt"/>
                  <a:ea typeface="黑体" panose="02010609060101010101" pitchFamily="49" charset="-122"/>
                </a:rPr>
                <a:t>:</a:t>
              </a:r>
              <a:r>
                <a:rPr lang="es-ES" altLang="zh-CN" sz="1400" b="1" i="1" dirty="0">
                  <a:ea typeface="黑体" panose="02010609060101010101" pitchFamily="49" charset="-122"/>
                </a:rPr>
                <a:t> X = Y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时</a:t>
              </a:r>
              <a:endParaRPr lang="en-US" altLang="zh-CN" sz="1400" b="1" baseline="-25000" dirty="0">
                <a:latin typeface="+mj-lt"/>
                <a:ea typeface="黑体" panose="02010609060101010101" pitchFamily="49" charset="-122"/>
              </a:endParaRPr>
            </a:p>
            <a:p>
              <a:pPr>
                <a:spcBef>
                  <a:spcPts val="0"/>
                </a:spcBef>
              </a:pPr>
              <a:r>
                <a:rPr lang="en-US" altLang="zh-CN" sz="1400" b="1" i="1" dirty="0">
                  <a:ea typeface="黑体" panose="02010609060101010101" pitchFamily="49" charset="-122"/>
                </a:rPr>
                <a:t>    S</a:t>
              </a:r>
              <a:r>
                <a:rPr lang="en-US" altLang="zh-CN" sz="1400" b="1" baseline="-25000" dirty="0">
                  <a:ea typeface="黑体" panose="02010609060101010101" pitchFamily="49" charset="-122"/>
                </a:rPr>
                <a:t>1 </a:t>
              </a:r>
              <a:r>
                <a:rPr lang="en-US" altLang="zh-CN" sz="1400" b="1" dirty="0">
                  <a:ea typeface="黑体" panose="02010609060101010101" pitchFamily="49" charset="-122"/>
                </a:rPr>
                <a:t>: </a:t>
              </a:r>
              <a:r>
                <a:rPr lang="es-ES" altLang="zh-CN" sz="1400" b="1" i="1" dirty="0">
                  <a:ea typeface="黑体" panose="02010609060101010101" pitchFamily="49" charset="-122"/>
                </a:rPr>
                <a:t>X &gt; Y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时</a:t>
              </a:r>
              <a:endParaRPr lang="en-US" altLang="zh-CN" sz="1400" b="1" dirty="0">
                <a:solidFill>
                  <a:schemeClr val="bg1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ts val="0"/>
                </a:spcBef>
              </a:pPr>
              <a:r>
                <a:rPr lang="en-US" altLang="zh-CN" sz="1400" b="1" i="1" dirty="0">
                  <a:ea typeface="黑体" panose="02010609060101010101" pitchFamily="49" charset="-122"/>
                </a:rPr>
                <a:t>    S</a:t>
              </a:r>
              <a:r>
                <a:rPr lang="en-US" altLang="zh-CN" sz="1400" b="1" baseline="-25000" dirty="0">
                  <a:ea typeface="黑体" panose="02010609060101010101" pitchFamily="49" charset="-122"/>
                </a:rPr>
                <a:t>2 </a:t>
              </a:r>
              <a:r>
                <a:rPr lang="en-US" altLang="zh-CN" sz="1400" b="1" dirty="0">
                  <a:ea typeface="黑体" panose="02010609060101010101" pitchFamily="49" charset="-122"/>
                </a:rPr>
                <a:t>: </a:t>
              </a:r>
              <a:r>
                <a:rPr lang="es-ES" altLang="zh-CN" sz="1400" b="1" i="1" dirty="0">
                  <a:ea typeface="黑体" panose="02010609060101010101" pitchFamily="49" charset="-122"/>
                </a:rPr>
                <a:t>X &lt; Y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时</a:t>
              </a:r>
              <a:endParaRPr lang="en-US" altLang="zh-CN" sz="1400" b="1" dirty="0">
                <a:ea typeface="黑体" panose="02010609060101010101" pitchFamily="49" charset="-122"/>
              </a:endParaRPr>
            </a:p>
            <a:p>
              <a:pPr>
                <a:spcBef>
                  <a:spcPts val="0"/>
                </a:spcBef>
              </a:pPr>
              <a:r>
                <a:rPr lang="zh-CN" altLang="en-US" sz="1400" b="1" i="1" dirty="0">
                  <a:ea typeface="黑体" panose="02010609060101010101" pitchFamily="49" charset="-122"/>
                </a:rPr>
                <a:t>    </a:t>
              </a:r>
              <a:r>
                <a:rPr lang="en-US" altLang="zh-CN" sz="1400" b="1" i="1" dirty="0">
                  <a:ea typeface="黑体" panose="02010609060101010101" pitchFamily="49" charset="-122"/>
                </a:rPr>
                <a:t>Z</a:t>
              </a:r>
              <a:r>
                <a:rPr lang="en-US" altLang="zh-CN" sz="1400" b="1" baseline="-25000" dirty="0">
                  <a:ea typeface="黑体" panose="02010609060101010101" pitchFamily="49" charset="-122"/>
                </a:rPr>
                <a:t>1</a:t>
              </a:r>
              <a:r>
                <a:rPr lang="en-US" altLang="zh-CN" sz="1400" b="1" dirty="0">
                  <a:ea typeface="黑体" panose="02010609060101010101" pitchFamily="49" charset="-122"/>
                </a:rPr>
                <a:t>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1400" b="1" i="1" dirty="0">
                  <a:ea typeface="黑体" panose="02010609060101010101" pitchFamily="49" charset="-122"/>
                </a:rPr>
                <a:t>Z</a:t>
              </a:r>
              <a:r>
                <a:rPr lang="en-US" altLang="zh-CN" sz="1400" b="1" baseline="-25000" dirty="0">
                  <a:ea typeface="黑体" panose="02010609060101010101" pitchFamily="49" charset="-122"/>
                </a:rPr>
                <a:t>2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1400" b="1" baseline="-25000" dirty="0">
                  <a:ea typeface="黑体" panose="02010609060101010101" pitchFamily="49" charset="-122"/>
                </a:rPr>
                <a:t> </a:t>
              </a:r>
              <a:r>
                <a:rPr lang="en-US" altLang="zh-CN" sz="1400" b="1" i="1" dirty="0">
                  <a:ea typeface="黑体" panose="02010609060101010101" pitchFamily="49" charset="-122"/>
                </a:rPr>
                <a:t>Z</a:t>
              </a:r>
              <a:r>
                <a:rPr lang="en-US" altLang="zh-CN" sz="1400" b="1" baseline="-25000" dirty="0">
                  <a:ea typeface="黑体" panose="02010609060101010101" pitchFamily="49" charset="-122"/>
                </a:rPr>
                <a:t>3</a:t>
              </a:r>
              <a:r>
                <a:rPr lang="zh-CN" altLang="en-US" sz="1400" b="1" dirty="0">
                  <a:ea typeface="黑体" panose="02010609060101010101" pitchFamily="49" charset="-122"/>
                </a:rPr>
                <a:t> 分别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取值为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b="1" dirty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7" name="Rectangle 167"/>
          <p:cNvSpPr>
            <a:spLocks noChangeArrowheads="1"/>
          </p:cNvSpPr>
          <p:nvPr/>
        </p:nvSpPr>
        <p:spPr bwMode="auto">
          <a:xfrm>
            <a:off x="755576" y="726043"/>
            <a:ext cx="20875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5</a:t>
            </a:r>
            <a:r>
              <a: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卡诺图化简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36097" y="3692674"/>
            <a:ext cx="3168352" cy="128527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716016" y="909811"/>
            <a:ext cx="4027339" cy="2400013"/>
            <a:chOff x="4716016" y="909811"/>
            <a:chExt cx="4027339" cy="2400013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6016" y="909811"/>
              <a:ext cx="4027339" cy="2400013"/>
            </a:xfrm>
            <a:prstGeom prst="rect">
              <a:avLst/>
            </a:prstGeom>
          </p:spPr>
        </p:pic>
        <p:sp>
          <p:nvSpPr>
            <p:cNvPr id="12" name="矩形: 圆角 11"/>
            <p:cNvSpPr/>
            <p:nvPr/>
          </p:nvSpPr>
          <p:spPr bwMode="auto">
            <a:xfrm>
              <a:off x="5148064" y="1198755"/>
              <a:ext cx="3024336" cy="2111069"/>
            </a:xfrm>
            <a:prstGeom prst="roundRect">
              <a:avLst>
                <a:gd name="adj" fmla="val 5613"/>
              </a:avLst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9482" y="1059582"/>
            <a:ext cx="4312518" cy="2281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3632613"/>
            <a:ext cx="4724400" cy="151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149"/>
          <p:cNvSpPr txBox="1">
            <a:spLocks noChangeArrowheads="1"/>
          </p:cNvSpPr>
          <p:nvPr/>
        </p:nvSpPr>
        <p:spPr bwMode="auto">
          <a:xfrm>
            <a:off x="6228184" y="699542"/>
            <a:ext cx="2843808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zh-CN" altLang="en-US" sz="1800" b="1" dirty="0">
                <a:ea typeface="宋体" panose="02010600030101010101" pitchFamily="2" charset="-122"/>
              </a:rPr>
              <a:t> </a:t>
            </a:r>
            <a:r>
              <a:rPr lang="en-US" altLang="zh-CN" sz="1800" b="1" i="1" dirty="0" err="1">
                <a:latin typeface="+mn-lt"/>
                <a:ea typeface="宋体" panose="02010600030101010101" pitchFamily="2" charset="-122"/>
              </a:rPr>
              <a:t>i</a:t>
            </a:r>
            <a:r>
              <a:rPr lang="zh-CN" altLang="en-US" sz="1800" b="1" i="1" dirty="0">
                <a:latin typeface="+mn-lt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个子单元的电路实现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99792" y="724317"/>
            <a:ext cx="5184576" cy="2677748"/>
          </a:xfrm>
          <a:prstGeom prst="rect">
            <a:avLst/>
          </a:prstGeom>
        </p:spPr>
      </p:pic>
      <p:pic>
        <p:nvPicPr>
          <p:cNvPr id="5" name="Picture 2" descr="ELEGL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8" name="Text Box 149"/>
          <p:cNvSpPr txBox="1">
            <a:spLocks noChangeArrowheads="1"/>
          </p:cNvSpPr>
          <p:nvPr/>
        </p:nvSpPr>
        <p:spPr bwMode="auto">
          <a:xfrm>
            <a:off x="809030" y="726043"/>
            <a:ext cx="2016224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a typeface="宋体" panose="02010600030101010101" pitchFamily="2" charset="-122"/>
              </a:rPr>
              <a:t>6.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电路实现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60004" y="3795886"/>
            <a:ext cx="7012396" cy="1120505"/>
          </a:xfrm>
          <a:prstGeom prst="rect">
            <a:avLst/>
          </a:prstGeom>
          <a:ln w="19050">
            <a:solidFill>
              <a:schemeClr val="tx1">
                <a:lumMod val="50000"/>
              </a:schemeClr>
            </a:solidFill>
            <a:prstDash val="sysDash"/>
          </a:ln>
        </p:spPr>
      </p:pic>
      <p:sp>
        <p:nvSpPr>
          <p:cNvPr id="10" name="Text Box 149"/>
          <p:cNvSpPr txBox="1">
            <a:spLocks noChangeArrowheads="1"/>
          </p:cNvSpPr>
          <p:nvPr/>
        </p:nvSpPr>
        <p:spPr bwMode="auto">
          <a:xfrm>
            <a:off x="827088" y="1350518"/>
            <a:ext cx="2016224" cy="784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ea typeface="宋体" panose="02010600030101010101" pitchFamily="2" charset="-122"/>
              </a:rPr>
              <a:t>7.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无关项检查</a:t>
            </a:r>
            <a:endParaRPr lang="en-US" altLang="zh-CN" sz="1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（略）</a:t>
            </a:r>
          </a:p>
        </p:txBody>
      </p:sp>
      <p:grpSp>
        <p:nvGrpSpPr>
          <p:cNvPr id="11" name="组合 12"/>
          <p:cNvGrpSpPr/>
          <p:nvPr/>
        </p:nvGrpSpPr>
        <p:grpSpPr bwMode="auto">
          <a:xfrm>
            <a:off x="6277042" y="2750491"/>
            <a:ext cx="2327406" cy="954107"/>
            <a:chOff x="4413448" y="1000112"/>
            <a:chExt cx="1360006" cy="612421"/>
          </a:xfrm>
        </p:grpSpPr>
        <p:sp>
          <p:nvSpPr>
            <p:cNvPr id="12" name="圆角矩形标注 13"/>
            <p:cNvSpPr>
              <a:spLocks noChangeArrowheads="1"/>
            </p:cNvSpPr>
            <p:nvPr/>
          </p:nvSpPr>
          <p:spPr bwMode="auto">
            <a:xfrm>
              <a:off x="4413448" y="1011893"/>
              <a:ext cx="1360006" cy="589084"/>
            </a:xfrm>
            <a:prstGeom prst="wedgeRoundRectCallout">
              <a:avLst>
                <a:gd name="adj1" fmla="val -77971"/>
                <a:gd name="adj2" fmla="val -38934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 wrap="none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3" name="Text Box 34"/>
            <p:cNvSpPr txBox="1">
              <a:spLocks noChangeArrowheads="1"/>
            </p:cNvSpPr>
            <p:nvPr/>
          </p:nvSpPr>
          <p:spPr bwMode="auto">
            <a:xfrm>
              <a:off x="4429123" y="1000112"/>
              <a:ext cx="1344331" cy="61242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ea typeface="黑体" panose="02010609060101010101" pitchFamily="49" charset="-122"/>
                </a:rPr>
                <a:t>D</a:t>
              </a:r>
              <a:r>
                <a:rPr lang="zh-CN" altLang="en-US" sz="1400" b="1" dirty="0">
                  <a:ea typeface="黑体" panose="02010609060101010101" pitchFamily="49" charset="-122"/>
                </a:rPr>
                <a:t>触发器作用：当时钟信号到来，存储第 </a:t>
              </a:r>
              <a:r>
                <a:rPr lang="en-US" altLang="zh-CN" sz="1400" b="1" i="1" dirty="0" err="1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400" b="1" i="1" dirty="0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个（前一个）单元的比较结果，并产生第 </a:t>
              </a:r>
              <a:r>
                <a:rPr lang="en-US" altLang="zh-CN" sz="1400" b="1" i="1" dirty="0" err="1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400" b="1" i="1" dirty="0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bg1"/>
                  </a:solidFill>
                  <a:latin typeface="+mn-lt"/>
                  <a:ea typeface="黑体" panose="02010609060101010101" pitchFamily="49" charset="-122"/>
                </a:rPr>
                <a:t>+1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个单元的比较结果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83060" y="699542"/>
            <a:ext cx="7777372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542925" indent="-542925">
              <a:spcBef>
                <a:spcPct val="50000"/>
              </a:spcBef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9: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触发器设计一个同步时序电路，当输入序列以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010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1001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结尾时（允许重叠检测），输出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Z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，否则</a:t>
            </a:r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Z=0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0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Picture 2" descr="ELEG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808" y="1635646"/>
            <a:ext cx="5256584" cy="1185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圆角矩形 5"/>
          <p:cNvSpPr/>
          <p:nvPr/>
        </p:nvSpPr>
        <p:spPr bwMode="auto">
          <a:xfrm>
            <a:off x="3851920" y="1635646"/>
            <a:ext cx="743526" cy="230012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4331037" y="1635646"/>
            <a:ext cx="743526" cy="230012"/>
          </a:xfrm>
          <a:prstGeom prst="roundRect">
            <a:avLst/>
          </a:prstGeom>
          <a:noFill/>
          <a:ln w="19050" cap="flat" cmpd="sng" algn="ctr">
            <a:solidFill>
              <a:schemeClr val="bg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644008" y="1563638"/>
            <a:ext cx="946306" cy="345018"/>
          </a:xfrm>
          <a:prstGeom prst="roundRect">
            <a:avLst/>
          </a:prstGeom>
          <a:noFill/>
          <a:ln w="19050" cap="flat" cmpd="sng" algn="ctr">
            <a:solidFill>
              <a:srgbClr val="99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5173003" y="1635646"/>
            <a:ext cx="743526" cy="230012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6228184" y="1635646"/>
            <a:ext cx="743526" cy="230012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6485490" y="1563638"/>
            <a:ext cx="1013899" cy="345018"/>
          </a:xfrm>
          <a:prstGeom prst="roundRect">
            <a:avLst/>
          </a:prstGeom>
          <a:noFill/>
          <a:ln w="19050" cap="flat" cmpd="sng" algn="ctr">
            <a:solidFill>
              <a:srgbClr val="99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2787774"/>
            <a:ext cx="1424099" cy="185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627784" y="2931790"/>
            <a:ext cx="352839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Mealy</a:t>
            </a:r>
            <a:r>
              <a:rPr lang="zh-CN" altLang="en-US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型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原始状态图构建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467544" y="1635646"/>
            <a:ext cx="2158350" cy="879230"/>
            <a:chOff x="497525" y="1898830"/>
            <a:chExt cx="2158350" cy="879230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1040535" y="1898830"/>
              <a:ext cx="1000233" cy="507791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序列检测器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97525" y="2006971"/>
              <a:ext cx="549398" cy="307495"/>
              <a:chOff x="899592" y="3976034"/>
              <a:chExt cx="549398" cy="307495"/>
            </a:xfrm>
          </p:grpSpPr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>
                <a:off x="1142349" y="4118967"/>
                <a:ext cx="30664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19" name="Text Box 7"/>
              <p:cNvSpPr txBox="1">
                <a:spLocks noChangeArrowheads="1"/>
              </p:cNvSpPr>
              <p:nvPr/>
            </p:nvSpPr>
            <p:spPr bwMode="auto">
              <a:xfrm>
                <a:off x="899592" y="3976034"/>
                <a:ext cx="306641" cy="30749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X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43544" y="2406621"/>
              <a:ext cx="913535" cy="371439"/>
              <a:chOff x="1045611" y="4375684"/>
              <a:chExt cx="913535" cy="371439"/>
            </a:xfrm>
          </p:grpSpPr>
          <p:sp>
            <p:nvSpPr>
              <p:cNvPr id="21" name="Line 8"/>
              <p:cNvSpPr>
                <a:spLocks noChangeShapeType="1"/>
              </p:cNvSpPr>
              <p:nvPr/>
            </p:nvSpPr>
            <p:spPr bwMode="auto">
              <a:xfrm>
                <a:off x="1418874" y="4587263"/>
                <a:ext cx="54027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22" name="Line 9"/>
              <p:cNvSpPr>
                <a:spLocks noChangeShapeType="1"/>
              </p:cNvSpPr>
              <p:nvPr/>
            </p:nvSpPr>
            <p:spPr bwMode="auto">
              <a:xfrm flipV="1">
                <a:off x="1949107" y="4375684"/>
                <a:ext cx="0" cy="216281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23" name="Text Box 10"/>
              <p:cNvSpPr txBox="1">
                <a:spLocks noChangeArrowheads="1"/>
              </p:cNvSpPr>
              <p:nvPr/>
            </p:nvSpPr>
            <p:spPr bwMode="auto">
              <a:xfrm>
                <a:off x="1045611" y="4439628"/>
                <a:ext cx="490990" cy="30749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CP</a:t>
                </a: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2051720" y="1995686"/>
              <a:ext cx="604155" cy="307495"/>
              <a:chOff x="2453787" y="3964749"/>
              <a:chExt cx="604155" cy="307495"/>
            </a:xfrm>
          </p:grpSpPr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>
                <a:off x="2453787" y="4101101"/>
                <a:ext cx="288388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26" name="Text Box 12"/>
              <p:cNvSpPr txBox="1">
                <a:spLocks noChangeArrowheads="1"/>
              </p:cNvSpPr>
              <p:nvPr/>
            </p:nvSpPr>
            <p:spPr bwMode="auto">
              <a:xfrm>
                <a:off x="2663689" y="3964749"/>
                <a:ext cx="394253" cy="30749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  <a:ea typeface="宋体" panose="02010600030101010101" pitchFamily="2" charset="-122"/>
                  </a:rPr>
                  <a:t>Z</a:t>
                </a:r>
              </a:p>
            </p:txBody>
          </p:sp>
        </p:grpSp>
      </p:grp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2555776" y="3363838"/>
            <a:ext cx="6184913" cy="15819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）子序列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010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检测的状态设定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 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6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初始复位状态，表示没有任何输入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 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600" b="1" baseline="-25000" dirty="0"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600" b="1" baseline="-25000" dirty="0"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10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 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600" b="1" baseline="-25000" dirty="0">
                <a:latin typeface="+mj-lt"/>
                <a:ea typeface="黑体" panose="02010609060101010101" pitchFamily="49" charset="-122"/>
              </a:rPr>
              <a:t>3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010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”结束，此时输出标志 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Z=1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179512" y="4640237"/>
            <a:ext cx="2520280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）</a:t>
            </a: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010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检测的局部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5" grpId="0"/>
      <p:bldP spid="27" grpId="0" bldLvl="0" animBg="1" autoUpdateAnimBg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20576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51470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91343" y="629738"/>
            <a:ext cx="6184913" cy="20813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）子序列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检测的状态设定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初始复位状态，表示没有任何输入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10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3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010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”结束，此时输出标志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Z=1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ea typeface="黑体" panose="02010609060101010101" pitchFamily="49" charset="-122"/>
              </a:rPr>
              <a:t>         </a:t>
            </a:r>
            <a:r>
              <a:rPr lang="en-US" altLang="zh-CN" sz="1500" b="1" dirty="0"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ea typeface="黑体" panose="02010609060101010101" pitchFamily="49" charset="-122"/>
              </a:rPr>
              <a:t>4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表示接收到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序列的第一个“</a:t>
            </a:r>
            <a:r>
              <a:rPr lang="en-US" altLang="zh-CN" sz="1500" b="1" dirty="0">
                <a:ea typeface="黑体" panose="02010609060101010101" pitchFamily="49" charset="-122"/>
              </a:rPr>
              <a:t>1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ea typeface="黑体" panose="02010609060101010101" pitchFamily="49" charset="-122"/>
              </a:rPr>
              <a:t>         </a:t>
            </a:r>
            <a:r>
              <a:rPr lang="en-US" altLang="zh-CN" sz="1500" b="1" dirty="0"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ea typeface="黑体" panose="02010609060101010101" pitchFamily="49" charset="-122"/>
              </a:rPr>
              <a:t>5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ea typeface="黑体" panose="02010609060101010101" pitchFamily="49" charset="-122"/>
              </a:rPr>
              <a:t>100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”结束。</a:t>
            </a:r>
            <a:endParaRPr lang="en-US" altLang="zh-CN" sz="1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2859782"/>
            <a:ext cx="1424099" cy="185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右箭头 8"/>
          <p:cNvSpPr/>
          <p:nvPr/>
        </p:nvSpPr>
        <p:spPr bwMode="auto">
          <a:xfrm>
            <a:off x="2411760" y="3507854"/>
            <a:ext cx="360040" cy="21602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1840" y="2643758"/>
            <a:ext cx="1635734" cy="2356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12"/>
          <p:cNvGrpSpPr/>
          <p:nvPr/>
        </p:nvGrpSpPr>
        <p:grpSpPr bwMode="auto">
          <a:xfrm>
            <a:off x="4003711" y="1203598"/>
            <a:ext cx="2137410" cy="528068"/>
            <a:chOff x="4413448" y="1000113"/>
            <a:chExt cx="1495148" cy="338956"/>
          </a:xfrm>
        </p:grpSpPr>
        <p:sp>
          <p:nvSpPr>
            <p:cNvPr id="12" name="圆角矩形标注 13"/>
            <p:cNvSpPr>
              <a:spLocks noChangeArrowheads="1"/>
            </p:cNvSpPr>
            <p:nvPr/>
          </p:nvSpPr>
          <p:spPr bwMode="auto">
            <a:xfrm>
              <a:off x="4413448" y="1011894"/>
              <a:ext cx="1360006" cy="327175"/>
            </a:xfrm>
            <a:prstGeom prst="wedgeRoundRectCallout">
              <a:avLst>
                <a:gd name="adj1" fmla="val -53659"/>
                <a:gd name="adj2" fmla="val 81293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400"/>
            </a:p>
          </p:txBody>
        </p:sp>
        <p:sp>
          <p:nvSpPr>
            <p:cNvPr id="13" name="Text Box 34"/>
            <p:cNvSpPr txBox="1">
              <a:spLocks noChangeArrowheads="1"/>
            </p:cNvSpPr>
            <p:nvPr/>
          </p:nvSpPr>
          <p:spPr bwMode="auto">
            <a:xfrm>
              <a:off x="4428995" y="1000113"/>
              <a:ext cx="1479601" cy="33504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重叠检测：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010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中的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可以被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1001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检测重用</a:t>
              </a:r>
            </a:p>
          </p:txBody>
        </p:sp>
      </p:grpSp>
      <p:grpSp>
        <p:nvGrpSpPr>
          <p:cNvPr id="14" name="组合 12"/>
          <p:cNvGrpSpPr/>
          <p:nvPr/>
        </p:nvGrpSpPr>
        <p:grpSpPr bwMode="auto">
          <a:xfrm>
            <a:off x="4788024" y="3507854"/>
            <a:ext cx="2232661" cy="528068"/>
            <a:chOff x="4413448" y="1000113"/>
            <a:chExt cx="1561777" cy="338956"/>
          </a:xfrm>
        </p:grpSpPr>
        <p:sp>
          <p:nvSpPr>
            <p:cNvPr id="15" name="圆角矩形标注 13"/>
            <p:cNvSpPr>
              <a:spLocks noChangeArrowheads="1"/>
            </p:cNvSpPr>
            <p:nvPr/>
          </p:nvSpPr>
          <p:spPr bwMode="auto">
            <a:xfrm>
              <a:off x="4413448" y="1011894"/>
              <a:ext cx="1360006" cy="327175"/>
            </a:xfrm>
            <a:prstGeom prst="wedgeRoundRectCallout">
              <a:avLst>
                <a:gd name="adj1" fmla="val -56224"/>
                <a:gd name="adj2" fmla="val 40522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400"/>
            </a:p>
          </p:txBody>
        </p:sp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4428995" y="1000113"/>
              <a:ext cx="1546230" cy="33504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重叠检测：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010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中的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可以被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1001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检测重用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60032" y="4155926"/>
            <a:ext cx="3513619" cy="864096"/>
            <a:chOff x="4860032" y="4155926"/>
            <a:chExt cx="3513619" cy="864096"/>
          </a:xfrm>
        </p:grpSpPr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60032" y="4227934"/>
              <a:ext cx="3513619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9" name="直接连接符 18"/>
            <p:cNvCxnSpPr/>
            <p:nvPr/>
          </p:nvCxnSpPr>
          <p:spPr bwMode="auto">
            <a:xfrm>
              <a:off x="7172601" y="4405202"/>
              <a:ext cx="43204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圆角矩形 19"/>
            <p:cNvSpPr/>
            <p:nvPr/>
          </p:nvSpPr>
          <p:spPr bwMode="auto">
            <a:xfrm>
              <a:off x="7308305" y="4155926"/>
              <a:ext cx="720080" cy="288032"/>
            </a:xfrm>
            <a:prstGeom prst="roundRect">
              <a:avLst/>
            </a:prstGeom>
            <a:noFill/>
            <a:ln w="19050" cap="flat" cmpd="sng" algn="ctr">
              <a:solidFill>
                <a:srgbClr val="99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4499992" y="2787774"/>
            <a:ext cx="2520280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）</a:t>
            </a:r>
            <a:r>
              <a:rPr lang="en-US" altLang="zh-CN" sz="1400" b="1" dirty="0">
                <a:latin typeface="+mj-lt"/>
                <a:ea typeface="黑体" panose="02010609060101010101" pitchFamily="49" charset="-122"/>
              </a:rPr>
              <a:t>1001</a:t>
            </a:r>
            <a:r>
              <a:rPr lang="zh-CN" altLang="en-US" sz="1400" b="1" dirty="0">
                <a:latin typeface="+mj-lt"/>
                <a:ea typeface="黑体" panose="02010609060101010101" pitchFamily="49" charset="-122"/>
              </a:rPr>
              <a:t>检测的局部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状态图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20576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51470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91343" y="629738"/>
            <a:ext cx="6184913" cy="20813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）子序列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检测的状态设定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初始复位状态，表示没有任何输入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10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</a:t>
            </a: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latin typeface="+mj-lt"/>
                <a:ea typeface="黑体" panose="02010609060101010101" pitchFamily="49" charset="-122"/>
              </a:rPr>
              <a:t>3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010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”结束，此时输出标志 </a:t>
            </a:r>
            <a:r>
              <a:rPr lang="en-US" altLang="zh-CN" sz="1500" b="1" dirty="0">
                <a:latin typeface="+mj-lt"/>
                <a:ea typeface="黑体" panose="02010609060101010101" pitchFamily="49" charset="-122"/>
              </a:rPr>
              <a:t>Z=1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ea typeface="黑体" panose="02010609060101010101" pitchFamily="49" charset="-122"/>
              </a:rPr>
              <a:t>         </a:t>
            </a:r>
            <a:r>
              <a:rPr lang="en-US" altLang="zh-CN" sz="1500" b="1" dirty="0"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ea typeface="黑体" panose="02010609060101010101" pitchFamily="49" charset="-122"/>
              </a:rPr>
              <a:t>4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表示接收到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序列的第一个“</a:t>
            </a:r>
            <a:r>
              <a:rPr lang="en-US" altLang="zh-CN" sz="1500" b="1" dirty="0">
                <a:ea typeface="黑体" panose="02010609060101010101" pitchFamily="49" charset="-122"/>
              </a:rPr>
              <a:t>1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1500" b="1" dirty="0">
                <a:ea typeface="黑体" panose="02010609060101010101" pitchFamily="49" charset="-122"/>
              </a:rPr>
              <a:t>         </a:t>
            </a:r>
            <a:r>
              <a:rPr lang="en-US" altLang="zh-CN" sz="1500" b="1" dirty="0">
                <a:ea typeface="黑体" panose="02010609060101010101" pitchFamily="49" charset="-122"/>
              </a:rPr>
              <a:t>S</a:t>
            </a:r>
            <a:r>
              <a:rPr kumimoji="0" lang="en-US" altLang="zh-CN" sz="1500" b="1" baseline="-25000" dirty="0">
                <a:ea typeface="黑体" panose="02010609060101010101" pitchFamily="49" charset="-122"/>
              </a:rPr>
              <a:t>5</a:t>
            </a:r>
            <a:r>
              <a: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表示序列以“</a:t>
            </a:r>
            <a:r>
              <a:rPr lang="en-US" altLang="zh-CN" sz="1500" b="1" dirty="0">
                <a:ea typeface="黑体" panose="02010609060101010101" pitchFamily="49" charset="-122"/>
              </a:rPr>
              <a:t>100</a:t>
            </a:r>
            <a:r>
              <a:rPr lang="zh-CN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”结束。</a:t>
            </a:r>
            <a:endParaRPr lang="en-US" altLang="zh-CN" sz="1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" name="组合 12"/>
          <p:cNvGrpSpPr/>
          <p:nvPr/>
        </p:nvGrpSpPr>
        <p:grpSpPr bwMode="auto">
          <a:xfrm>
            <a:off x="4003711" y="1203598"/>
            <a:ext cx="2080260" cy="528068"/>
            <a:chOff x="4413448" y="1000113"/>
            <a:chExt cx="1455171" cy="338956"/>
          </a:xfrm>
        </p:grpSpPr>
        <p:sp>
          <p:nvSpPr>
            <p:cNvPr id="9" name="圆角矩形标注 13"/>
            <p:cNvSpPr>
              <a:spLocks noChangeArrowheads="1"/>
            </p:cNvSpPr>
            <p:nvPr/>
          </p:nvSpPr>
          <p:spPr bwMode="auto">
            <a:xfrm>
              <a:off x="4413448" y="1011894"/>
              <a:ext cx="1360006" cy="327175"/>
            </a:xfrm>
            <a:prstGeom prst="wedgeRoundRectCallout">
              <a:avLst>
                <a:gd name="adj1" fmla="val -53659"/>
                <a:gd name="adj2" fmla="val 81293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400"/>
            </a:p>
          </p:txBody>
        </p:sp>
        <p:sp>
          <p:nvSpPr>
            <p:cNvPr id="10" name="Text Box 34"/>
            <p:cNvSpPr txBox="1">
              <a:spLocks noChangeArrowheads="1"/>
            </p:cNvSpPr>
            <p:nvPr/>
          </p:nvSpPr>
          <p:spPr bwMode="auto">
            <a:xfrm>
              <a:off x="4428995" y="1000113"/>
              <a:ext cx="1439624" cy="33504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重叠检测：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010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中的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可以被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1001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检测重用</a:t>
              </a:r>
            </a:p>
          </p:txBody>
        </p:sp>
      </p:grp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356" y="2859782"/>
            <a:ext cx="1424099" cy="185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右箭头 11"/>
          <p:cNvSpPr/>
          <p:nvPr/>
        </p:nvSpPr>
        <p:spPr bwMode="auto">
          <a:xfrm>
            <a:off x="1763524" y="3507854"/>
            <a:ext cx="360040" cy="21602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2643758"/>
            <a:ext cx="1635734" cy="2356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组合 18"/>
          <p:cNvGrpSpPr/>
          <p:nvPr/>
        </p:nvGrpSpPr>
        <p:grpSpPr>
          <a:xfrm>
            <a:off x="6228184" y="699542"/>
            <a:ext cx="2664296" cy="1728192"/>
            <a:chOff x="6228184" y="699542"/>
            <a:chExt cx="2664296" cy="1728192"/>
          </a:xfrm>
        </p:grpSpPr>
        <p:sp>
          <p:nvSpPr>
            <p:cNvPr id="18" name="圆角矩形 17"/>
            <p:cNvSpPr/>
            <p:nvPr/>
          </p:nvSpPr>
          <p:spPr bwMode="auto">
            <a:xfrm>
              <a:off x="6228184" y="699542"/>
              <a:ext cx="2664296" cy="1728192"/>
            </a:xfrm>
            <a:prstGeom prst="roundRect">
              <a:avLst>
                <a:gd name="adj" fmla="val 10895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6300192" y="771550"/>
              <a:ext cx="2520280" cy="16312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2.</a:t>
              </a:r>
              <a:r>
                <a:rPr lang="en-US" altLang="zh-CN" sz="1800" b="1" i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 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状态化简（略）</a:t>
              </a:r>
              <a:endPara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3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3.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状态分配（略）</a:t>
              </a:r>
              <a:endPara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3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4.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状态转换真值表（略）</a:t>
              </a:r>
              <a:endPara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3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5.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卡诺图化简（略）</a:t>
              </a:r>
              <a:endPara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3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6. 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电路实现（略）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292080" y="2499742"/>
            <a:ext cx="3528392" cy="2612033"/>
            <a:chOff x="5292080" y="2499742"/>
            <a:chExt cx="3528392" cy="2612033"/>
          </a:xfrm>
        </p:grpSpPr>
        <p:grpSp>
          <p:nvGrpSpPr>
            <p:cNvPr id="20" name="组合 19"/>
            <p:cNvGrpSpPr/>
            <p:nvPr/>
          </p:nvGrpSpPr>
          <p:grpSpPr>
            <a:xfrm>
              <a:off x="5292080" y="2499742"/>
              <a:ext cx="2952328" cy="2356669"/>
              <a:chOff x="5292080" y="2499742"/>
              <a:chExt cx="2952328" cy="2356669"/>
            </a:xfrm>
          </p:grpSpPr>
          <p:sp>
            <p:nvSpPr>
              <p:cNvPr id="14" name="右箭头 13"/>
              <p:cNvSpPr/>
              <p:nvPr/>
            </p:nvSpPr>
            <p:spPr bwMode="auto">
              <a:xfrm>
                <a:off x="5292080" y="3579862"/>
                <a:ext cx="360040" cy="216024"/>
              </a:xfrm>
              <a:prstGeom prst="right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960438" y="2499742"/>
                <a:ext cx="2283970" cy="23566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5796136" y="4803998"/>
              <a:ext cx="3024336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（</a:t>
              </a:r>
              <a:r>
                <a:rPr lang="en-US" altLang="zh-CN" sz="1400" b="1" dirty="0">
                  <a:latin typeface="+mj-lt"/>
                  <a:ea typeface="黑体" panose="02010609060101010101" pitchFamily="49" charset="-122"/>
                </a:rPr>
                <a:t>3</a:t>
              </a: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）</a:t>
              </a:r>
              <a:r>
                <a:rPr lang="en-US" altLang="zh-CN" sz="1400" b="1" dirty="0">
                  <a:latin typeface="+mj-lt"/>
                  <a:ea typeface="黑体" panose="02010609060101010101" pitchFamily="49" charset="-122"/>
                </a:rPr>
                <a:t>010</a:t>
              </a: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及</a:t>
              </a:r>
              <a:r>
                <a:rPr lang="en-US" altLang="zh-CN" sz="1400" b="1" dirty="0">
                  <a:latin typeface="+mj-lt"/>
                  <a:ea typeface="黑体" panose="02010609060101010101" pitchFamily="49" charset="-122"/>
                </a:rPr>
                <a:t>1001</a:t>
              </a:r>
              <a:r>
                <a:rPr lang="zh-CN" altLang="en-US" sz="1400" b="1" dirty="0">
                  <a:latin typeface="+mj-lt"/>
                  <a:ea typeface="黑体" panose="02010609060101010101" pitchFamily="49" charset="-122"/>
                </a:rPr>
                <a:t>检测的完整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状态图</a:t>
              </a:r>
            </a:p>
          </p:txBody>
        </p:sp>
      </p:grpSp>
      <p:grpSp>
        <p:nvGrpSpPr>
          <p:cNvPr id="22" name="组合 12"/>
          <p:cNvGrpSpPr/>
          <p:nvPr/>
        </p:nvGrpSpPr>
        <p:grpSpPr bwMode="auto">
          <a:xfrm>
            <a:off x="4003427" y="4337225"/>
            <a:ext cx="2080741" cy="528070"/>
            <a:chOff x="4317947" y="1000112"/>
            <a:chExt cx="1455507" cy="338957"/>
          </a:xfrm>
        </p:grpSpPr>
        <p:sp>
          <p:nvSpPr>
            <p:cNvPr id="23" name="圆角矩形标注 13"/>
            <p:cNvSpPr>
              <a:spLocks noChangeArrowheads="1"/>
            </p:cNvSpPr>
            <p:nvPr/>
          </p:nvSpPr>
          <p:spPr bwMode="auto">
            <a:xfrm>
              <a:off x="4413448" y="1011894"/>
              <a:ext cx="1360006" cy="327175"/>
            </a:xfrm>
            <a:prstGeom prst="wedgeRoundRectCallout">
              <a:avLst>
                <a:gd name="adj1" fmla="val 68981"/>
                <a:gd name="adj2" fmla="val -66310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400"/>
            </a:p>
          </p:txBody>
        </p:sp>
        <p:sp>
          <p:nvSpPr>
            <p:cNvPr id="24" name="Text Box 34"/>
            <p:cNvSpPr txBox="1">
              <a:spLocks noChangeArrowheads="1"/>
            </p:cNvSpPr>
            <p:nvPr/>
          </p:nvSpPr>
          <p:spPr bwMode="auto">
            <a:xfrm>
              <a:off x="4317947" y="1000112"/>
              <a:ext cx="1455171" cy="33504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ea typeface="黑体" panose="02010609060101010101" pitchFamily="49" charset="-122"/>
                </a:rPr>
                <a:t>重叠检测：</a:t>
              </a:r>
              <a:r>
                <a:rPr lang="en-US" altLang="zh-CN" sz="1400" b="1" dirty="0">
                  <a:ea typeface="黑体" panose="02010609060101010101" pitchFamily="49" charset="-122"/>
                </a:rPr>
                <a:t>1001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中的</a:t>
              </a:r>
              <a:r>
                <a:rPr lang="en-US" altLang="zh-CN" sz="1400" b="1" dirty="0">
                  <a:ea typeface="黑体" panose="02010609060101010101" pitchFamily="49" charset="-122"/>
                </a:rPr>
                <a:t>01</a:t>
              </a:r>
              <a:r>
                <a:rPr lang="zh-CN" altLang="en-US" sz="1400" b="1" dirty="0">
                  <a:ea typeface="黑体" panose="02010609060101010101" pitchFamily="49" charset="-122"/>
                </a:rPr>
                <a:t>可以被</a:t>
              </a:r>
              <a:r>
                <a:rPr lang="en-US" altLang="zh-CN" sz="1400" b="1" dirty="0">
                  <a:ea typeface="黑体" panose="02010609060101010101" pitchFamily="49" charset="-122"/>
                </a:rPr>
                <a:t>010</a:t>
              </a:r>
              <a:r>
                <a:rPr lang="zh-CN" altLang="en-US" sz="1400" b="1" dirty="0">
                  <a:ea typeface="黑体" panose="02010609060101010101" pitchFamily="49" charset="-122"/>
                </a:rPr>
                <a:t>检测重用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11560" y="627534"/>
            <a:ext cx="7704856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542925" indent="-542925">
              <a:spcBef>
                <a:spcPct val="50000"/>
              </a:spcBef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某同步时序电路如下所示，按图接线后，试验得到如下的循环状态。经检查：触发器工作正常，试分析故障所在。</a:t>
            </a:r>
            <a:endParaRPr lang="zh-CN" altLang="en-US" sz="20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671213" y="1391451"/>
            <a:ext cx="2036691" cy="1451857"/>
            <a:chOff x="3275856" y="1767965"/>
            <a:chExt cx="2036691" cy="1451857"/>
          </a:xfrm>
        </p:grpSpPr>
        <p:grpSp>
          <p:nvGrpSpPr>
            <p:cNvPr id="22" name="组合 73"/>
            <p:cNvGrpSpPr/>
            <p:nvPr/>
          </p:nvGrpSpPr>
          <p:grpSpPr>
            <a:xfrm>
              <a:off x="3423356" y="2859822"/>
              <a:ext cx="491408" cy="360000"/>
              <a:chOff x="185707" y="1643056"/>
              <a:chExt cx="428628" cy="360000"/>
            </a:xfrm>
          </p:grpSpPr>
          <p:sp>
            <p:nvSpPr>
              <p:cNvPr id="36" name="椭圆 3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组合 76"/>
            <p:cNvGrpSpPr/>
            <p:nvPr/>
          </p:nvGrpSpPr>
          <p:grpSpPr>
            <a:xfrm>
              <a:off x="4821139" y="2859822"/>
              <a:ext cx="491408" cy="360000"/>
              <a:chOff x="185707" y="1643056"/>
              <a:chExt cx="428628" cy="360000"/>
            </a:xfrm>
          </p:grpSpPr>
          <p:sp>
            <p:nvSpPr>
              <p:cNvPr id="34" name="椭圆 3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6" name="组合 67"/>
            <p:cNvGrpSpPr/>
            <p:nvPr/>
          </p:nvGrpSpPr>
          <p:grpSpPr>
            <a:xfrm>
              <a:off x="3412436" y="2073926"/>
              <a:ext cx="491408" cy="499763"/>
              <a:chOff x="185707" y="1643056"/>
              <a:chExt cx="428628" cy="499763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4616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组合 70"/>
            <p:cNvGrpSpPr/>
            <p:nvPr/>
          </p:nvGrpSpPr>
          <p:grpSpPr>
            <a:xfrm>
              <a:off x="4810219" y="2073926"/>
              <a:ext cx="491408" cy="360000"/>
              <a:chOff x="185707" y="1643056"/>
              <a:chExt cx="428628" cy="360000"/>
            </a:xfrm>
          </p:grpSpPr>
          <p:sp>
            <p:nvSpPr>
              <p:cNvPr id="30" name="椭圆 2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9" name="Text Box 35"/>
            <p:cNvSpPr txBox="1">
              <a:spLocks noChangeArrowheads="1"/>
            </p:cNvSpPr>
            <p:nvPr/>
          </p:nvSpPr>
          <p:spPr bwMode="auto">
            <a:xfrm>
              <a:off x="3275856" y="1767965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61" name="直接箭头连接符 60"/>
            <p:cNvCxnSpPr/>
            <p:nvPr/>
          </p:nvCxnSpPr>
          <p:spPr bwMode="auto">
            <a:xfrm>
              <a:off x="3867832" y="2253716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直接箭头连接符 64"/>
            <p:cNvCxnSpPr/>
            <p:nvPr/>
          </p:nvCxnSpPr>
          <p:spPr bwMode="auto">
            <a:xfrm>
              <a:off x="3865519" y="3062274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直接箭头连接符 66"/>
            <p:cNvCxnSpPr/>
            <p:nvPr/>
          </p:nvCxnSpPr>
          <p:spPr bwMode="auto">
            <a:xfrm>
              <a:off x="5050528" y="2437990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箭头连接符 67"/>
            <p:cNvCxnSpPr/>
            <p:nvPr/>
          </p:nvCxnSpPr>
          <p:spPr bwMode="auto">
            <a:xfrm>
              <a:off x="3635896" y="2433926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0" name="Text Box 5"/>
          <p:cNvSpPr txBox="1">
            <a:spLocks noChangeArrowheads="1"/>
          </p:cNvSpPr>
          <p:nvPr/>
        </p:nvSpPr>
        <p:spPr bwMode="auto">
          <a:xfrm>
            <a:off x="631126" y="3056097"/>
            <a:ext cx="257272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1.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获得正确状态图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4685720" y="1347614"/>
            <a:ext cx="3484147" cy="1609370"/>
            <a:chOff x="4342466" y="1568816"/>
            <a:chExt cx="3484147" cy="1609370"/>
          </a:xfrm>
        </p:grpSpPr>
        <p:cxnSp>
          <p:nvCxnSpPr>
            <p:cNvPr id="73" name="直接连接符 34"/>
            <p:cNvCxnSpPr>
              <a:cxnSpLocks noChangeShapeType="1"/>
            </p:cNvCxnSpPr>
            <p:nvPr/>
          </p:nvCxnSpPr>
          <p:spPr bwMode="auto">
            <a:xfrm rot="5400000">
              <a:off x="4554834" y="268689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74" name="组合 16"/>
            <p:cNvGrpSpPr/>
            <p:nvPr/>
          </p:nvGrpSpPr>
          <p:grpSpPr bwMode="auto">
            <a:xfrm>
              <a:off x="4384292" y="1876948"/>
              <a:ext cx="870174" cy="881868"/>
              <a:chOff x="1863800" y="2488442"/>
              <a:chExt cx="803540" cy="756588"/>
            </a:xfrm>
          </p:grpSpPr>
          <p:cxnSp>
            <p:nvCxnSpPr>
              <p:cNvPr id="138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40" y="2813953"/>
                <a:ext cx="648504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139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21935" y="2865942"/>
                <a:ext cx="75658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140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TextBox 197"/>
              <p:cNvSpPr txBox="1">
                <a:spLocks noChangeArrowheads="1"/>
              </p:cNvSpPr>
              <p:nvPr/>
            </p:nvSpPr>
            <p:spPr bwMode="auto">
              <a:xfrm>
                <a:off x="2310034" y="285335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2" name="TextBox 198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3" name="TextBox 199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44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58964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75" name="等腰三角形 36"/>
            <p:cNvSpPr>
              <a:spLocks noChangeArrowheads="1"/>
            </p:cNvSpPr>
            <p:nvPr/>
          </p:nvSpPr>
          <p:spPr bwMode="auto">
            <a:xfrm>
              <a:off x="4725809" y="2433689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TextBox 135"/>
            <p:cNvSpPr txBox="1">
              <a:spLocks noChangeArrowheads="1"/>
            </p:cNvSpPr>
            <p:nvPr/>
          </p:nvSpPr>
          <p:spPr bwMode="auto">
            <a:xfrm>
              <a:off x="4609082" y="2250484"/>
              <a:ext cx="457343" cy="2499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77" name="Text Box 69"/>
            <p:cNvSpPr txBox="1">
              <a:spLocks noChangeArrowheads="1"/>
            </p:cNvSpPr>
            <p:nvPr/>
          </p:nvSpPr>
          <p:spPr bwMode="auto">
            <a:xfrm>
              <a:off x="7352579" y="2759732"/>
              <a:ext cx="474034" cy="35899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78" name="直接连接符 34"/>
            <p:cNvCxnSpPr>
              <a:cxnSpLocks noChangeShapeType="1"/>
            </p:cNvCxnSpPr>
            <p:nvPr/>
          </p:nvCxnSpPr>
          <p:spPr bwMode="auto">
            <a:xfrm rot="5400000">
              <a:off x="5685627" y="268692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oval"/>
            </a:ln>
          </p:spPr>
        </p:cxnSp>
        <p:grpSp>
          <p:nvGrpSpPr>
            <p:cNvPr id="79" name="组合 16"/>
            <p:cNvGrpSpPr/>
            <p:nvPr/>
          </p:nvGrpSpPr>
          <p:grpSpPr bwMode="auto">
            <a:xfrm>
              <a:off x="5510872" y="1892256"/>
              <a:ext cx="870174" cy="756806"/>
              <a:chOff x="1863914" y="2503340"/>
              <a:chExt cx="803540" cy="649298"/>
            </a:xfrm>
          </p:grpSpPr>
          <p:cxnSp>
            <p:nvCxnSpPr>
              <p:cNvPr id="131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27589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oval" w="med" len="med"/>
              </a:ln>
            </p:spPr>
          </p:cxnSp>
          <p:cxnSp>
            <p:nvCxnSpPr>
              <p:cNvPr id="132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75973" y="2826801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133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TextBox 190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5" name="TextBox 191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6" name="TextBox 192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37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80" name="等腰三角形 36"/>
            <p:cNvSpPr>
              <a:spLocks noChangeArrowheads="1"/>
            </p:cNvSpPr>
            <p:nvPr/>
          </p:nvSpPr>
          <p:spPr bwMode="auto">
            <a:xfrm>
              <a:off x="5852264" y="2431642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TextBox 140"/>
            <p:cNvSpPr txBox="1">
              <a:spLocks noChangeArrowheads="1"/>
            </p:cNvSpPr>
            <p:nvPr/>
          </p:nvSpPr>
          <p:spPr bwMode="auto">
            <a:xfrm>
              <a:off x="5735663" y="2248600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2" name="Line 28"/>
            <p:cNvSpPr>
              <a:spLocks noChangeShapeType="1"/>
            </p:cNvSpPr>
            <p:nvPr/>
          </p:nvSpPr>
          <p:spPr bwMode="auto">
            <a:xfrm rot="16200000" flipV="1">
              <a:off x="6101869" y="1604914"/>
              <a:ext cx="0" cy="2628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Box 145"/>
            <p:cNvSpPr txBox="1">
              <a:spLocks noChangeArrowheads="1"/>
            </p:cNvSpPr>
            <p:nvPr/>
          </p:nvSpPr>
          <p:spPr bwMode="auto">
            <a:xfrm>
              <a:off x="4370051" y="2304139"/>
              <a:ext cx="38685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4" name="TextBox 146"/>
            <p:cNvSpPr txBox="1">
              <a:spLocks noChangeArrowheads="1"/>
            </p:cNvSpPr>
            <p:nvPr/>
          </p:nvSpPr>
          <p:spPr bwMode="auto">
            <a:xfrm>
              <a:off x="5488078" y="2311530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8" name="Line 28"/>
            <p:cNvSpPr>
              <a:spLocks noChangeShapeType="1"/>
            </p:cNvSpPr>
            <p:nvPr/>
          </p:nvSpPr>
          <p:spPr bwMode="auto">
            <a:xfrm rot="16200000" flipV="1">
              <a:off x="6008556" y="2097735"/>
              <a:ext cx="0" cy="151279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" name="直接连接符 34"/>
            <p:cNvCxnSpPr>
              <a:cxnSpLocks noChangeShapeType="1"/>
            </p:cNvCxnSpPr>
            <p:nvPr/>
          </p:nvCxnSpPr>
          <p:spPr bwMode="auto">
            <a:xfrm rot="5400000">
              <a:off x="6783263" y="2686015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/>
              <a:tailEnd type="oval" w="med" len="med"/>
            </a:ln>
          </p:spPr>
        </p:cxnSp>
        <p:grpSp>
          <p:nvGrpSpPr>
            <p:cNvPr id="90" name="组合 16"/>
            <p:cNvGrpSpPr/>
            <p:nvPr/>
          </p:nvGrpSpPr>
          <p:grpSpPr bwMode="auto">
            <a:xfrm>
              <a:off x="6608508" y="1902593"/>
              <a:ext cx="870174" cy="956944"/>
              <a:chOff x="1863914" y="2512482"/>
              <a:chExt cx="803540" cy="821004"/>
            </a:xfrm>
          </p:grpSpPr>
          <p:cxnSp>
            <p:nvCxnSpPr>
              <p:cNvPr id="124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35943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125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93109" y="2925573"/>
                <a:ext cx="81423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126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" name="TextBox 206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8" name="TextBox 207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9" name="TextBox 208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30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91" name="等腰三角形 36"/>
            <p:cNvSpPr>
              <a:spLocks noChangeArrowheads="1"/>
            </p:cNvSpPr>
            <p:nvPr/>
          </p:nvSpPr>
          <p:spPr bwMode="auto">
            <a:xfrm>
              <a:off x="6949900" y="2431316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TextBox 211"/>
            <p:cNvSpPr txBox="1">
              <a:spLocks noChangeArrowheads="1"/>
            </p:cNvSpPr>
            <p:nvPr/>
          </p:nvSpPr>
          <p:spPr bwMode="auto">
            <a:xfrm>
              <a:off x="6833298" y="2248273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93" name="TextBox 212"/>
            <p:cNvSpPr txBox="1">
              <a:spLocks noChangeArrowheads="1"/>
            </p:cNvSpPr>
            <p:nvPr/>
          </p:nvSpPr>
          <p:spPr bwMode="auto">
            <a:xfrm>
              <a:off x="6585714" y="2311203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0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95" name="Line 28"/>
            <p:cNvSpPr>
              <a:spLocks noChangeShapeType="1"/>
            </p:cNvSpPr>
            <p:nvPr/>
          </p:nvSpPr>
          <p:spPr bwMode="auto">
            <a:xfrm rot="16200000" flipV="1">
              <a:off x="6089788" y="2216779"/>
              <a:ext cx="0" cy="864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2" name="直接连接符 18"/>
            <p:cNvCxnSpPr>
              <a:cxnSpLocks noChangeShapeType="1"/>
            </p:cNvCxnSpPr>
            <p:nvPr/>
          </p:nvCxnSpPr>
          <p:spPr bwMode="auto">
            <a:xfrm rot="5400000">
              <a:off x="5886875" y="2538705"/>
              <a:ext cx="1259812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103" name="Line 28"/>
            <p:cNvSpPr>
              <a:spLocks noChangeShapeType="1"/>
            </p:cNvSpPr>
            <p:nvPr/>
          </p:nvSpPr>
          <p:spPr bwMode="auto">
            <a:xfrm rot="16200000" flipV="1">
              <a:off x="6641633" y="1792690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4" name="直接连接符 18"/>
            <p:cNvCxnSpPr>
              <a:cxnSpLocks noChangeShapeType="1"/>
            </p:cNvCxnSpPr>
            <p:nvPr/>
          </p:nvCxnSpPr>
          <p:spPr bwMode="auto">
            <a:xfrm rot="5400000">
              <a:off x="4768001" y="2373178"/>
              <a:ext cx="9658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105" name="Line 28"/>
            <p:cNvSpPr>
              <a:spLocks noChangeShapeType="1"/>
            </p:cNvSpPr>
            <p:nvPr/>
          </p:nvSpPr>
          <p:spPr bwMode="auto">
            <a:xfrm rot="16200000" flipV="1">
              <a:off x="5137015" y="1774141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6" name="直接连接符 18"/>
            <p:cNvCxnSpPr>
              <a:cxnSpLocks noChangeShapeType="1"/>
            </p:cNvCxnSpPr>
            <p:nvPr/>
          </p:nvCxnSpPr>
          <p:spPr bwMode="auto">
            <a:xfrm rot="5400000">
              <a:off x="4779538" y="2499159"/>
              <a:ext cx="1217818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107" name="Line 28"/>
            <p:cNvSpPr>
              <a:spLocks noChangeShapeType="1"/>
            </p:cNvSpPr>
            <p:nvPr/>
          </p:nvSpPr>
          <p:spPr bwMode="auto">
            <a:xfrm rot="16200000" flipV="1">
              <a:off x="5524314" y="1754646"/>
              <a:ext cx="0" cy="27292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8"/>
            <p:cNvSpPr>
              <a:spLocks noChangeShapeType="1"/>
            </p:cNvSpPr>
            <p:nvPr/>
          </p:nvSpPr>
          <p:spPr bwMode="auto">
            <a:xfrm rot="16200000" flipV="1">
              <a:off x="4991730" y="2702536"/>
              <a:ext cx="0" cy="8031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8"/>
            <p:cNvSpPr>
              <a:spLocks noChangeShapeType="1"/>
            </p:cNvSpPr>
            <p:nvPr/>
          </p:nvSpPr>
          <p:spPr bwMode="auto">
            <a:xfrm rot="16200000" flipV="1">
              <a:off x="5499980" y="2156658"/>
              <a:ext cx="0" cy="20430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" name="直接连接符 18"/>
            <p:cNvCxnSpPr>
              <a:cxnSpLocks noChangeShapeType="1"/>
            </p:cNvCxnSpPr>
            <p:nvPr/>
          </p:nvCxnSpPr>
          <p:spPr bwMode="auto">
            <a:xfrm rot="5400000">
              <a:off x="4340814" y="3026697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11" name="直接连接符 18"/>
            <p:cNvCxnSpPr>
              <a:cxnSpLocks noChangeShapeType="1"/>
            </p:cNvCxnSpPr>
            <p:nvPr/>
          </p:nvCxnSpPr>
          <p:spPr bwMode="auto">
            <a:xfrm rot="5400000">
              <a:off x="4445591" y="2963152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112" name="流程图: 延期 95"/>
            <p:cNvSpPr>
              <a:spLocks noChangeArrowheads="1"/>
            </p:cNvSpPr>
            <p:nvPr/>
          </p:nvSpPr>
          <p:spPr bwMode="auto">
            <a:xfrm rot="16200000">
              <a:off x="4396836" y="2737111"/>
              <a:ext cx="272959" cy="23393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Text Box 64"/>
            <p:cNvSpPr txBox="1">
              <a:spLocks noChangeArrowheads="1"/>
            </p:cNvSpPr>
            <p:nvPr/>
          </p:nvSpPr>
          <p:spPr bwMode="auto">
            <a:xfrm>
              <a:off x="4342466" y="1568816"/>
              <a:ext cx="428114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2</a:t>
              </a:r>
            </a:p>
          </p:txBody>
        </p:sp>
        <p:sp>
          <p:nvSpPr>
            <p:cNvPr id="114" name="Text Box 65"/>
            <p:cNvSpPr txBox="1">
              <a:spLocks noChangeArrowheads="1"/>
            </p:cNvSpPr>
            <p:nvPr/>
          </p:nvSpPr>
          <p:spPr bwMode="auto">
            <a:xfrm>
              <a:off x="5467047" y="1568816"/>
              <a:ext cx="412640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1</a:t>
              </a:r>
            </a:p>
          </p:txBody>
        </p:sp>
        <p:sp>
          <p:nvSpPr>
            <p:cNvPr id="115" name="Text Box 66"/>
            <p:cNvSpPr txBox="1">
              <a:spLocks noChangeArrowheads="1"/>
            </p:cNvSpPr>
            <p:nvPr/>
          </p:nvSpPr>
          <p:spPr bwMode="auto">
            <a:xfrm>
              <a:off x="6550235" y="1568816"/>
              <a:ext cx="434992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0</a:t>
              </a:r>
            </a:p>
          </p:txBody>
        </p:sp>
        <p:sp>
          <p:nvSpPr>
            <p:cNvPr id="145" name="Text Box 35"/>
            <p:cNvSpPr txBox="1">
              <a:spLocks noChangeArrowheads="1"/>
            </p:cNvSpPr>
            <p:nvPr/>
          </p:nvSpPr>
          <p:spPr bwMode="auto">
            <a:xfrm>
              <a:off x="4820990" y="2639834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146" name="Text Box 35"/>
            <p:cNvSpPr txBox="1">
              <a:spLocks noChangeArrowheads="1"/>
            </p:cNvSpPr>
            <p:nvPr/>
          </p:nvSpPr>
          <p:spPr bwMode="auto">
            <a:xfrm>
              <a:off x="7040210" y="2629089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</p:grpSp>
      <p:sp>
        <p:nvSpPr>
          <p:cNvPr id="151" name="Text Box 81"/>
          <p:cNvSpPr txBox="1">
            <a:spLocks noChangeArrowheads="1"/>
          </p:cNvSpPr>
          <p:nvPr/>
        </p:nvSpPr>
        <p:spPr bwMode="auto">
          <a:xfrm>
            <a:off x="631126" y="3472230"/>
            <a:ext cx="1728787" cy="33972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</a:p>
        </p:txBody>
      </p:sp>
      <p:sp>
        <p:nvSpPr>
          <p:cNvPr id="152" name="Text Box 83"/>
          <p:cNvSpPr txBox="1">
            <a:spLocks noChangeArrowheads="1"/>
          </p:cNvSpPr>
          <p:nvPr/>
        </p:nvSpPr>
        <p:spPr bwMode="auto">
          <a:xfrm>
            <a:off x="6049454" y="3127534"/>
            <a:ext cx="2699009" cy="338554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正确的状态转换图</a:t>
            </a:r>
          </a:p>
        </p:txBody>
      </p:sp>
      <p:grpSp>
        <p:nvGrpSpPr>
          <p:cNvPr id="158" name="组合 157"/>
          <p:cNvGrpSpPr/>
          <p:nvPr/>
        </p:nvGrpSpPr>
        <p:grpSpPr>
          <a:xfrm>
            <a:off x="775587" y="3904030"/>
            <a:ext cx="2040157" cy="929485"/>
            <a:chOff x="1317253" y="4259511"/>
            <a:chExt cx="2040157" cy="929485"/>
          </a:xfrm>
        </p:grpSpPr>
        <p:sp>
          <p:nvSpPr>
            <p:cNvPr id="150" name="Text Box 3"/>
            <p:cNvSpPr txBox="1">
              <a:spLocks noChangeArrowheads="1"/>
            </p:cNvSpPr>
            <p:nvPr/>
          </p:nvSpPr>
          <p:spPr bwMode="auto">
            <a:xfrm>
              <a:off x="1317253" y="4259511"/>
              <a:ext cx="2040157" cy="9294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20000"/>
                </a:spcBef>
              </a:pPr>
              <a:r>
                <a:rPr kumimoji="0" lang="en-US" altLang="zh-CN" sz="1600" b="1" dirty="0">
                  <a:cs typeface="Arial" panose="020B0604020202020204" pitchFamily="34" charset="0"/>
                </a:rPr>
                <a:t>J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0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= 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2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 </a:t>
              </a:r>
              <a:r>
                <a:rPr kumimoji="0" lang="zh-CN" altLang="en-US" sz="1600" b="1" dirty="0">
                  <a:cs typeface="Arial" panose="020B0604020202020204" pitchFamily="34" charset="0"/>
                </a:rPr>
                <a:t>，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K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0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=1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600" b="1" dirty="0">
                  <a:cs typeface="Arial" panose="020B0604020202020204" pitchFamily="34" charset="0"/>
                </a:rPr>
                <a:t>J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1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= K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1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= 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0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    </a:t>
              </a:r>
            </a:p>
            <a:p>
              <a:pPr eaLnBrk="1" hangingPunct="1">
                <a:spcBef>
                  <a:spcPct val="20000"/>
                </a:spcBef>
              </a:pPr>
              <a:r>
                <a:rPr kumimoji="0" lang="en-US" altLang="zh-CN" sz="1600" b="1" dirty="0">
                  <a:cs typeface="Arial" panose="020B0604020202020204" pitchFamily="34" charset="0"/>
                </a:rPr>
                <a:t>J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2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= 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0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1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</a:t>
              </a:r>
              <a:r>
                <a:rPr kumimoji="0" lang="zh-CN" altLang="en-US" sz="1600" b="1" dirty="0">
                  <a:cs typeface="Arial" panose="020B0604020202020204" pitchFamily="34" charset="0"/>
                </a:rPr>
                <a:t>，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K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2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=1</a:t>
              </a:r>
              <a:endParaRPr lang="en-US" altLang="zh-CN" sz="1600" b="1" baseline="30000" dirty="0"/>
            </a:p>
          </p:txBody>
        </p:sp>
        <p:sp>
          <p:nvSpPr>
            <p:cNvPr id="156" name="Line 7"/>
            <p:cNvSpPr>
              <a:spLocks noChangeShapeType="1"/>
            </p:cNvSpPr>
            <p:nvPr/>
          </p:nvSpPr>
          <p:spPr bwMode="auto">
            <a:xfrm>
              <a:off x="1762328" y="4299942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3291383" y="3837453"/>
            <a:ext cx="2162175" cy="1077218"/>
            <a:chOff x="3291383" y="4003441"/>
            <a:chExt cx="2162175" cy="1077218"/>
          </a:xfrm>
        </p:grpSpPr>
        <p:sp>
          <p:nvSpPr>
            <p:cNvPr id="154" name="Text Box 6"/>
            <p:cNvSpPr txBox="1">
              <a:spLocks noChangeArrowheads="1"/>
            </p:cNvSpPr>
            <p:nvPr/>
          </p:nvSpPr>
          <p:spPr bwMode="auto">
            <a:xfrm>
              <a:off x="3291383" y="4003441"/>
              <a:ext cx="2162175" cy="10772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 </a:t>
              </a: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n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1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Q</a:t>
              </a:r>
              <a:r>
                <a:rPr kumimoji="0" lang="en-US" altLang="zh-CN" sz="1600" b="1" baseline="-25000" dirty="0"/>
                <a:t>1</a:t>
              </a:r>
              <a:r>
                <a:rPr kumimoji="0" lang="en-US" altLang="zh-CN" sz="1600" b="1" baseline="30000" dirty="0"/>
                <a:t>n</a:t>
              </a:r>
              <a:r>
                <a:rPr kumimoji="0" lang="en-US" altLang="zh-CN" sz="1600" b="1" dirty="0"/>
                <a:t>⊕Q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 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 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1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2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</a:t>
              </a:r>
              <a:endParaRPr kumimoji="0" lang="en-US" altLang="zh-CN" sz="1600" b="1" baseline="30000" dirty="0"/>
            </a:p>
          </p:txBody>
        </p:sp>
        <p:sp>
          <p:nvSpPr>
            <p:cNvPr id="159" name="Line 7"/>
            <p:cNvSpPr>
              <a:spLocks noChangeShapeType="1"/>
            </p:cNvSpPr>
            <p:nvPr/>
          </p:nvSpPr>
          <p:spPr bwMode="auto">
            <a:xfrm>
              <a:off x="4068068" y="407001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0" name="Line 7"/>
            <p:cNvSpPr>
              <a:spLocks noChangeShapeType="1"/>
            </p:cNvSpPr>
            <p:nvPr/>
          </p:nvSpPr>
          <p:spPr bwMode="auto">
            <a:xfrm>
              <a:off x="4463988" y="407001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1" name="Line 7"/>
            <p:cNvSpPr>
              <a:spLocks noChangeShapeType="1"/>
            </p:cNvSpPr>
            <p:nvPr/>
          </p:nvSpPr>
          <p:spPr bwMode="auto">
            <a:xfrm>
              <a:off x="4885589" y="480399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3" name="Text Box 83"/>
          <p:cNvSpPr txBox="1">
            <a:spLocks noChangeArrowheads="1"/>
          </p:cNvSpPr>
          <p:nvPr/>
        </p:nvSpPr>
        <p:spPr bwMode="auto">
          <a:xfrm>
            <a:off x="3264751" y="3435846"/>
            <a:ext cx="1728788" cy="33972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</a:p>
        </p:txBody>
      </p:sp>
      <p:grpSp>
        <p:nvGrpSpPr>
          <p:cNvPr id="201" name="组合 200"/>
          <p:cNvGrpSpPr/>
          <p:nvPr/>
        </p:nvGrpSpPr>
        <p:grpSpPr>
          <a:xfrm>
            <a:off x="5691466" y="3507854"/>
            <a:ext cx="3273022" cy="1366164"/>
            <a:chOff x="5413062" y="3448220"/>
            <a:chExt cx="3273022" cy="1366164"/>
          </a:xfrm>
        </p:grpSpPr>
        <p:grpSp>
          <p:nvGrpSpPr>
            <p:cNvPr id="166" name="组合 76"/>
            <p:cNvGrpSpPr/>
            <p:nvPr/>
          </p:nvGrpSpPr>
          <p:grpSpPr>
            <a:xfrm>
              <a:off x="7506087" y="3750443"/>
              <a:ext cx="491408" cy="360000"/>
              <a:chOff x="185707" y="1643056"/>
              <a:chExt cx="428628" cy="360000"/>
            </a:xfrm>
          </p:grpSpPr>
          <p:sp>
            <p:nvSpPr>
              <p:cNvPr id="178" name="椭圆 177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7" name="组合 67"/>
            <p:cNvGrpSpPr/>
            <p:nvPr/>
          </p:nvGrpSpPr>
          <p:grpSpPr>
            <a:xfrm>
              <a:off x="6103121" y="3754181"/>
              <a:ext cx="491408" cy="360000"/>
              <a:chOff x="185707" y="1643056"/>
              <a:chExt cx="428628" cy="360000"/>
            </a:xfrm>
          </p:grpSpPr>
          <p:sp>
            <p:nvSpPr>
              <p:cNvPr id="176" name="椭圆 17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8" name="组合 70"/>
            <p:cNvGrpSpPr/>
            <p:nvPr/>
          </p:nvGrpSpPr>
          <p:grpSpPr>
            <a:xfrm>
              <a:off x="6823846" y="3733398"/>
              <a:ext cx="491408" cy="360000"/>
              <a:chOff x="185707" y="1643056"/>
              <a:chExt cx="428628" cy="360000"/>
            </a:xfrm>
          </p:grpSpPr>
          <p:sp>
            <p:nvSpPr>
              <p:cNvPr id="174" name="椭圆 17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9" name="Text Box 35"/>
            <p:cNvSpPr txBox="1">
              <a:spLocks noChangeArrowheads="1"/>
            </p:cNvSpPr>
            <p:nvPr/>
          </p:nvSpPr>
          <p:spPr bwMode="auto">
            <a:xfrm>
              <a:off x="5966541" y="3448220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170" name="直接箭头连接符 169"/>
            <p:cNvCxnSpPr/>
            <p:nvPr/>
          </p:nvCxnSpPr>
          <p:spPr bwMode="auto">
            <a:xfrm>
              <a:off x="6558517" y="3933971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1" name="直接箭头连接符 170"/>
            <p:cNvCxnSpPr/>
            <p:nvPr/>
          </p:nvCxnSpPr>
          <p:spPr bwMode="auto">
            <a:xfrm>
              <a:off x="6556204" y="4654949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2" name="直接箭头连接符 171"/>
            <p:cNvCxnSpPr/>
            <p:nvPr/>
          </p:nvCxnSpPr>
          <p:spPr bwMode="auto">
            <a:xfrm>
              <a:off x="7741213" y="4118245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3" name="直接箭头连接符 172"/>
            <p:cNvCxnSpPr/>
            <p:nvPr/>
          </p:nvCxnSpPr>
          <p:spPr bwMode="auto">
            <a:xfrm>
              <a:off x="6326581" y="4114181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2" name="组合 70"/>
            <p:cNvGrpSpPr/>
            <p:nvPr/>
          </p:nvGrpSpPr>
          <p:grpSpPr>
            <a:xfrm>
              <a:off x="7506087" y="4454384"/>
              <a:ext cx="491408" cy="360000"/>
              <a:chOff x="185707" y="1643056"/>
              <a:chExt cx="428628" cy="360000"/>
            </a:xfrm>
          </p:grpSpPr>
          <p:sp>
            <p:nvSpPr>
              <p:cNvPr id="183" name="椭圆 182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5" name="组合 67"/>
            <p:cNvGrpSpPr/>
            <p:nvPr/>
          </p:nvGrpSpPr>
          <p:grpSpPr>
            <a:xfrm>
              <a:off x="5413062" y="3750443"/>
              <a:ext cx="491408" cy="360000"/>
              <a:chOff x="185707" y="1643056"/>
              <a:chExt cx="428628" cy="360000"/>
            </a:xfrm>
          </p:grpSpPr>
          <p:sp>
            <p:nvSpPr>
              <p:cNvPr id="186" name="椭圆 18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88" name="直接箭头连接符 187"/>
            <p:cNvCxnSpPr/>
            <p:nvPr/>
          </p:nvCxnSpPr>
          <p:spPr bwMode="auto">
            <a:xfrm>
              <a:off x="5867372" y="3947965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9" name="组合 67"/>
            <p:cNvGrpSpPr/>
            <p:nvPr/>
          </p:nvGrpSpPr>
          <p:grpSpPr>
            <a:xfrm>
              <a:off x="8185048" y="3750204"/>
              <a:ext cx="491408" cy="360000"/>
              <a:chOff x="185707" y="1643056"/>
              <a:chExt cx="428628" cy="360000"/>
            </a:xfrm>
          </p:grpSpPr>
          <p:sp>
            <p:nvSpPr>
              <p:cNvPr id="190" name="椭圆 18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92" name="直接箭头连接符 191"/>
            <p:cNvCxnSpPr/>
            <p:nvPr/>
          </p:nvCxnSpPr>
          <p:spPr bwMode="auto">
            <a:xfrm>
              <a:off x="7959300" y="3933971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3" name="直接箭头连接符 192"/>
            <p:cNvCxnSpPr/>
            <p:nvPr/>
          </p:nvCxnSpPr>
          <p:spPr bwMode="auto">
            <a:xfrm>
              <a:off x="7261223" y="3949626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65" name="组合 73"/>
            <p:cNvGrpSpPr/>
            <p:nvPr/>
          </p:nvGrpSpPr>
          <p:grpSpPr>
            <a:xfrm>
              <a:off x="6114041" y="4452497"/>
              <a:ext cx="491408" cy="360000"/>
              <a:chOff x="185707" y="1643056"/>
              <a:chExt cx="428628" cy="360000"/>
            </a:xfrm>
          </p:grpSpPr>
          <p:sp>
            <p:nvSpPr>
              <p:cNvPr id="180" name="椭圆 17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" name="组合 67"/>
            <p:cNvGrpSpPr/>
            <p:nvPr/>
          </p:nvGrpSpPr>
          <p:grpSpPr>
            <a:xfrm>
              <a:off x="8194676" y="4176370"/>
              <a:ext cx="491408" cy="360000"/>
              <a:chOff x="185707" y="1643056"/>
              <a:chExt cx="428628" cy="360000"/>
            </a:xfrm>
          </p:grpSpPr>
          <p:sp>
            <p:nvSpPr>
              <p:cNvPr id="195" name="椭圆 194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6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97" name="直接箭头连接符 196"/>
            <p:cNvCxnSpPr/>
            <p:nvPr/>
          </p:nvCxnSpPr>
          <p:spPr bwMode="auto">
            <a:xfrm>
              <a:off x="7929491" y="4024771"/>
              <a:ext cx="298293" cy="18969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4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563638"/>
            <a:ext cx="864096" cy="104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151" grpId="0"/>
      <p:bldP spid="152" grpId="0"/>
      <p:bldP spid="16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: 圆角 130"/>
          <p:cNvSpPr/>
          <p:nvPr/>
        </p:nvSpPr>
        <p:spPr bwMode="auto">
          <a:xfrm>
            <a:off x="3572200" y="4310862"/>
            <a:ext cx="1793672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47344" y="710455"/>
            <a:ext cx="3273022" cy="1366164"/>
            <a:chOff x="5413062" y="3448220"/>
            <a:chExt cx="3273022" cy="1366164"/>
          </a:xfrm>
        </p:grpSpPr>
        <p:grpSp>
          <p:nvGrpSpPr>
            <p:cNvPr id="7" name="组合 76"/>
            <p:cNvGrpSpPr/>
            <p:nvPr/>
          </p:nvGrpSpPr>
          <p:grpSpPr>
            <a:xfrm>
              <a:off x="7506087" y="3750443"/>
              <a:ext cx="491408" cy="360000"/>
              <a:chOff x="185707" y="1643056"/>
              <a:chExt cx="428628" cy="360000"/>
            </a:xfrm>
          </p:grpSpPr>
          <p:sp>
            <p:nvSpPr>
              <p:cNvPr id="38" name="椭圆 37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" name="组合 67"/>
            <p:cNvGrpSpPr/>
            <p:nvPr/>
          </p:nvGrpSpPr>
          <p:grpSpPr>
            <a:xfrm>
              <a:off x="6103121" y="3754181"/>
              <a:ext cx="491408" cy="360000"/>
              <a:chOff x="185707" y="1643056"/>
              <a:chExt cx="428628" cy="360000"/>
            </a:xfrm>
          </p:grpSpPr>
          <p:sp>
            <p:nvSpPr>
              <p:cNvPr id="36" name="椭圆 3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组合 70"/>
            <p:cNvGrpSpPr/>
            <p:nvPr/>
          </p:nvGrpSpPr>
          <p:grpSpPr>
            <a:xfrm>
              <a:off x="6823846" y="3733398"/>
              <a:ext cx="491408" cy="360000"/>
              <a:chOff x="185707" y="1643056"/>
              <a:chExt cx="428628" cy="360000"/>
            </a:xfrm>
          </p:grpSpPr>
          <p:sp>
            <p:nvSpPr>
              <p:cNvPr id="34" name="椭圆 3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" name="Text Box 35"/>
            <p:cNvSpPr txBox="1">
              <a:spLocks noChangeArrowheads="1"/>
            </p:cNvSpPr>
            <p:nvPr/>
          </p:nvSpPr>
          <p:spPr bwMode="auto">
            <a:xfrm>
              <a:off x="5966541" y="3448220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 bwMode="auto">
            <a:xfrm>
              <a:off x="6558517" y="3933971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箭头连接符 11"/>
            <p:cNvCxnSpPr/>
            <p:nvPr/>
          </p:nvCxnSpPr>
          <p:spPr bwMode="auto">
            <a:xfrm>
              <a:off x="6556204" y="4654949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7741213" y="4118245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6326581" y="4114181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5" name="组合 70"/>
            <p:cNvGrpSpPr/>
            <p:nvPr/>
          </p:nvGrpSpPr>
          <p:grpSpPr>
            <a:xfrm>
              <a:off x="7506087" y="4454384"/>
              <a:ext cx="491408" cy="360000"/>
              <a:chOff x="185707" y="1643056"/>
              <a:chExt cx="428628" cy="360000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" name="组合 67"/>
            <p:cNvGrpSpPr/>
            <p:nvPr/>
          </p:nvGrpSpPr>
          <p:grpSpPr>
            <a:xfrm>
              <a:off x="5413062" y="3750443"/>
              <a:ext cx="491408" cy="360000"/>
              <a:chOff x="185707" y="1643056"/>
              <a:chExt cx="428628" cy="360000"/>
            </a:xfrm>
          </p:grpSpPr>
          <p:sp>
            <p:nvSpPr>
              <p:cNvPr id="30" name="椭圆 2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7" name="直接箭头连接符 16"/>
            <p:cNvCxnSpPr/>
            <p:nvPr/>
          </p:nvCxnSpPr>
          <p:spPr bwMode="auto">
            <a:xfrm>
              <a:off x="5867372" y="3947965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" name="组合 67"/>
            <p:cNvGrpSpPr/>
            <p:nvPr/>
          </p:nvGrpSpPr>
          <p:grpSpPr>
            <a:xfrm>
              <a:off x="8185048" y="3750204"/>
              <a:ext cx="491408" cy="360000"/>
              <a:chOff x="185707" y="1643056"/>
              <a:chExt cx="428628" cy="360000"/>
            </a:xfrm>
          </p:grpSpPr>
          <p:sp>
            <p:nvSpPr>
              <p:cNvPr id="28" name="椭圆 27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9" name="直接箭头连接符 18"/>
            <p:cNvCxnSpPr/>
            <p:nvPr/>
          </p:nvCxnSpPr>
          <p:spPr bwMode="auto">
            <a:xfrm>
              <a:off x="7959300" y="3933971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箭头连接符 19"/>
            <p:cNvCxnSpPr/>
            <p:nvPr/>
          </p:nvCxnSpPr>
          <p:spPr bwMode="auto">
            <a:xfrm>
              <a:off x="7261223" y="3949626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1" name="组合 73"/>
            <p:cNvGrpSpPr/>
            <p:nvPr/>
          </p:nvGrpSpPr>
          <p:grpSpPr>
            <a:xfrm>
              <a:off x="6114041" y="4452497"/>
              <a:ext cx="491408" cy="360000"/>
              <a:chOff x="185707" y="1643056"/>
              <a:chExt cx="428628" cy="360000"/>
            </a:xfrm>
          </p:grpSpPr>
          <p:sp>
            <p:nvSpPr>
              <p:cNvPr id="26" name="椭圆 2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" name="组合 67"/>
            <p:cNvGrpSpPr/>
            <p:nvPr/>
          </p:nvGrpSpPr>
          <p:grpSpPr>
            <a:xfrm>
              <a:off x="8194676" y="4176370"/>
              <a:ext cx="491408" cy="360000"/>
              <a:chOff x="185707" y="1643056"/>
              <a:chExt cx="428628" cy="360000"/>
            </a:xfrm>
          </p:grpSpPr>
          <p:sp>
            <p:nvSpPr>
              <p:cNvPr id="24" name="椭圆 2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3" name="直接箭头连接符 22"/>
            <p:cNvCxnSpPr/>
            <p:nvPr/>
          </p:nvCxnSpPr>
          <p:spPr bwMode="auto">
            <a:xfrm>
              <a:off x="7929491" y="4024771"/>
              <a:ext cx="298293" cy="18969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" name="组合 39"/>
          <p:cNvGrpSpPr/>
          <p:nvPr/>
        </p:nvGrpSpPr>
        <p:grpSpPr>
          <a:xfrm>
            <a:off x="4943124" y="737726"/>
            <a:ext cx="3484147" cy="1609370"/>
            <a:chOff x="4342466" y="1568816"/>
            <a:chExt cx="3484147" cy="1609370"/>
          </a:xfrm>
        </p:grpSpPr>
        <p:cxnSp>
          <p:nvCxnSpPr>
            <p:cNvPr id="41" name="直接连接符 34"/>
            <p:cNvCxnSpPr>
              <a:cxnSpLocks noChangeShapeType="1"/>
            </p:cNvCxnSpPr>
            <p:nvPr/>
          </p:nvCxnSpPr>
          <p:spPr bwMode="auto">
            <a:xfrm rot="5400000">
              <a:off x="4554834" y="268689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42" name="组合 16"/>
            <p:cNvGrpSpPr/>
            <p:nvPr/>
          </p:nvGrpSpPr>
          <p:grpSpPr bwMode="auto">
            <a:xfrm>
              <a:off x="4384292" y="1876948"/>
              <a:ext cx="870174" cy="881868"/>
              <a:chOff x="1863800" y="2488442"/>
              <a:chExt cx="803540" cy="756588"/>
            </a:xfrm>
          </p:grpSpPr>
          <p:cxnSp>
            <p:nvCxnSpPr>
              <p:cNvPr id="90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40" y="2813953"/>
                <a:ext cx="648504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91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21935" y="2865942"/>
                <a:ext cx="75658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92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TextBox 197"/>
              <p:cNvSpPr txBox="1">
                <a:spLocks noChangeArrowheads="1"/>
              </p:cNvSpPr>
              <p:nvPr/>
            </p:nvSpPr>
            <p:spPr bwMode="auto">
              <a:xfrm>
                <a:off x="2310034" y="285335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4" name="TextBox 198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5" name="TextBox 199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96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58964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43" name="等腰三角形 36"/>
            <p:cNvSpPr>
              <a:spLocks noChangeArrowheads="1"/>
            </p:cNvSpPr>
            <p:nvPr/>
          </p:nvSpPr>
          <p:spPr bwMode="auto">
            <a:xfrm>
              <a:off x="4725809" y="2433689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TextBox 135"/>
            <p:cNvSpPr txBox="1">
              <a:spLocks noChangeArrowheads="1"/>
            </p:cNvSpPr>
            <p:nvPr/>
          </p:nvSpPr>
          <p:spPr bwMode="auto">
            <a:xfrm>
              <a:off x="4609082" y="2250484"/>
              <a:ext cx="457343" cy="2499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5" name="Text Box 69"/>
            <p:cNvSpPr txBox="1">
              <a:spLocks noChangeArrowheads="1"/>
            </p:cNvSpPr>
            <p:nvPr/>
          </p:nvSpPr>
          <p:spPr bwMode="auto">
            <a:xfrm>
              <a:off x="7352579" y="2759732"/>
              <a:ext cx="474034" cy="35899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46" name="直接连接符 34"/>
            <p:cNvCxnSpPr>
              <a:cxnSpLocks noChangeShapeType="1"/>
            </p:cNvCxnSpPr>
            <p:nvPr/>
          </p:nvCxnSpPr>
          <p:spPr bwMode="auto">
            <a:xfrm rot="5400000">
              <a:off x="5685627" y="268692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oval"/>
            </a:ln>
          </p:spPr>
        </p:cxnSp>
        <p:grpSp>
          <p:nvGrpSpPr>
            <p:cNvPr id="47" name="组合 16"/>
            <p:cNvGrpSpPr/>
            <p:nvPr/>
          </p:nvGrpSpPr>
          <p:grpSpPr bwMode="auto">
            <a:xfrm>
              <a:off x="5510872" y="1892256"/>
              <a:ext cx="870174" cy="756806"/>
              <a:chOff x="1863914" y="2503340"/>
              <a:chExt cx="803540" cy="649298"/>
            </a:xfrm>
          </p:grpSpPr>
          <p:cxnSp>
            <p:nvCxnSpPr>
              <p:cNvPr id="83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27589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oval" w="med" len="med"/>
              </a:ln>
            </p:spPr>
          </p:cxnSp>
          <p:cxnSp>
            <p:nvCxnSpPr>
              <p:cNvPr id="84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75973" y="2826801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85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TextBox 190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TextBox 191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8" name="TextBox 192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89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48" name="等腰三角形 36"/>
            <p:cNvSpPr>
              <a:spLocks noChangeArrowheads="1"/>
            </p:cNvSpPr>
            <p:nvPr/>
          </p:nvSpPr>
          <p:spPr bwMode="auto">
            <a:xfrm>
              <a:off x="5852264" y="2431642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Box 140"/>
            <p:cNvSpPr txBox="1">
              <a:spLocks noChangeArrowheads="1"/>
            </p:cNvSpPr>
            <p:nvPr/>
          </p:nvSpPr>
          <p:spPr bwMode="auto">
            <a:xfrm>
              <a:off x="5735663" y="2248600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0" name="Line 28"/>
            <p:cNvSpPr>
              <a:spLocks noChangeShapeType="1"/>
            </p:cNvSpPr>
            <p:nvPr/>
          </p:nvSpPr>
          <p:spPr bwMode="auto">
            <a:xfrm rot="16200000" flipV="1">
              <a:off x="6101869" y="1604914"/>
              <a:ext cx="0" cy="2628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145"/>
            <p:cNvSpPr txBox="1">
              <a:spLocks noChangeArrowheads="1"/>
            </p:cNvSpPr>
            <p:nvPr/>
          </p:nvSpPr>
          <p:spPr bwMode="auto">
            <a:xfrm>
              <a:off x="4370051" y="2304139"/>
              <a:ext cx="38685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2" name="TextBox 146"/>
            <p:cNvSpPr txBox="1">
              <a:spLocks noChangeArrowheads="1"/>
            </p:cNvSpPr>
            <p:nvPr/>
          </p:nvSpPr>
          <p:spPr bwMode="auto">
            <a:xfrm>
              <a:off x="5488078" y="2311530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3" name="Line 28"/>
            <p:cNvSpPr>
              <a:spLocks noChangeShapeType="1"/>
            </p:cNvSpPr>
            <p:nvPr/>
          </p:nvSpPr>
          <p:spPr bwMode="auto">
            <a:xfrm rot="16200000" flipV="1">
              <a:off x="6008556" y="2097735"/>
              <a:ext cx="0" cy="151279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4" name="直接连接符 34"/>
            <p:cNvCxnSpPr>
              <a:cxnSpLocks noChangeShapeType="1"/>
            </p:cNvCxnSpPr>
            <p:nvPr/>
          </p:nvCxnSpPr>
          <p:spPr bwMode="auto">
            <a:xfrm rot="5400000">
              <a:off x="6783263" y="2686015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/>
              <a:tailEnd type="oval" w="med" len="med"/>
            </a:ln>
          </p:spPr>
        </p:cxnSp>
        <p:grpSp>
          <p:nvGrpSpPr>
            <p:cNvPr id="55" name="组合 16"/>
            <p:cNvGrpSpPr/>
            <p:nvPr/>
          </p:nvGrpSpPr>
          <p:grpSpPr bwMode="auto">
            <a:xfrm>
              <a:off x="6608508" y="1902593"/>
              <a:ext cx="870174" cy="956944"/>
              <a:chOff x="1863914" y="2512482"/>
              <a:chExt cx="803540" cy="821004"/>
            </a:xfrm>
          </p:grpSpPr>
          <p:cxnSp>
            <p:nvCxnSpPr>
              <p:cNvPr id="76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35943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77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93109" y="2925573"/>
                <a:ext cx="81423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78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TextBox 206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0" name="TextBox 207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1" name="TextBox 208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82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56" name="等腰三角形 36"/>
            <p:cNvSpPr>
              <a:spLocks noChangeArrowheads="1"/>
            </p:cNvSpPr>
            <p:nvPr/>
          </p:nvSpPr>
          <p:spPr bwMode="auto">
            <a:xfrm>
              <a:off x="6949900" y="2431316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TextBox 211"/>
            <p:cNvSpPr txBox="1">
              <a:spLocks noChangeArrowheads="1"/>
            </p:cNvSpPr>
            <p:nvPr/>
          </p:nvSpPr>
          <p:spPr bwMode="auto">
            <a:xfrm>
              <a:off x="6833298" y="2248273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8" name="TextBox 212"/>
            <p:cNvSpPr txBox="1">
              <a:spLocks noChangeArrowheads="1"/>
            </p:cNvSpPr>
            <p:nvPr/>
          </p:nvSpPr>
          <p:spPr bwMode="auto">
            <a:xfrm>
              <a:off x="6585714" y="2311203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0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9" name="Line 28"/>
            <p:cNvSpPr>
              <a:spLocks noChangeShapeType="1"/>
            </p:cNvSpPr>
            <p:nvPr/>
          </p:nvSpPr>
          <p:spPr bwMode="auto">
            <a:xfrm rot="16200000" flipV="1">
              <a:off x="6089788" y="2216779"/>
              <a:ext cx="0" cy="864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0" name="直接连接符 18"/>
            <p:cNvCxnSpPr>
              <a:cxnSpLocks noChangeShapeType="1"/>
            </p:cNvCxnSpPr>
            <p:nvPr/>
          </p:nvCxnSpPr>
          <p:spPr bwMode="auto">
            <a:xfrm rot="5400000">
              <a:off x="5886875" y="2538705"/>
              <a:ext cx="1259812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61" name="Line 28"/>
            <p:cNvSpPr>
              <a:spLocks noChangeShapeType="1"/>
            </p:cNvSpPr>
            <p:nvPr/>
          </p:nvSpPr>
          <p:spPr bwMode="auto">
            <a:xfrm rot="16200000" flipV="1">
              <a:off x="6641633" y="1792690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2" name="直接连接符 18"/>
            <p:cNvCxnSpPr>
              <a:cxnSpLocks noChangeShapeType="1"/>
            </p:cNvCxnSpPr>
            <p:nvPr/>
          </p:nvCxnSpPr>
          <p:spPr bwMode="auto">
            <a:xfrm rot="5400000">
              <a:off x="4768001" y="2373178"/>
              <a:ext cx="9658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 rot="16200000" flipV="1">
              <a:off x="5137015" y="1774141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4" name="直接连接符 18"/>
            <p:cNvCxnSpPr>
              <a:cxnSpLocks noChangeShapeType="1"/>
            </p:cNvCxnSpPr>
            <p:nvPr/>
          </p:nvCxnSpPr>
          <p:spPr bwMode="auto">
            <a:xfrm rot="5400000">
              <a:off x="4779538" y="2499159"/>
              <a:ext cx="1217818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65" name="Line 28"/>
            <p:cNvSpPr>
              <a:spLocks noChangeShapeType="1"/>
            </p:cNvSpPr>
            <p:nvPr/>
          </p:nvSpPr>
          <p:spPr bwMode="auto">
            <a:xfrm rot="16200000" flipV="1">
              <a:off x="5524314" y="1754646"/>
              <a:ext cx="0" cy="27292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28"/>
            <p:cNvSpPr>
              <a:spLocks noChangeShapeType="1"/>
            </p:cNvSpPr>
            <p:nvPr/>
          </p:nvSpPr>
          <p:spPr bwMode="auto">
            <a:xfrm rot="16200000" flipV="1">
              <a:off x="4991730" y="2702536"/>
              <a:ext cx="0" cy="8031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8"/>
            <p:cNvSpPr>
              <a:spLocks noChangeShapeType="1"/>
            </p:cNvSpPr>
            <p:nvPr/>
          </p:nvSpPr>
          <p:spPr bwMode="auto">
            <a:xfrm rot="16200000" flipV="1">
              <a:off x="5499980" y="2156658"/>
              <a:ext cx="0" cy="20430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8" name="直接连接符 18"/>
            <p:cNvCxnSpPr>
              <a:cxnSpLocks noChangeShapeType="1"/>
            </p:cNvCxnSpPr>
            <p:nvPr/>
          </p:nvCxnSpPr>
          <p:spPr bwMode="auto">
            <a:xfrm rot="5400000">
              <a:off x="4340814" y="3026697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9" name="直接连接符 18"/>
            <p:cNvCxnSpPr>
              <a:cxnSpLocks noChangeShapeType="1"/>
            </p:cNvCxnSpPr>
            <p:nvPr/>
          </p:nvCxnSpPr>
          <p:spPr bwMode="auto">
            <a:xfrm rot="5400000">
              <a:off x="4445591" y="2963152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70" name="流程图: 延期 95"/>
            <p:cNvSpPr>
              <a:spLocks noChangeArrowheads="1"/>
            </p:cNvSpPr>
            <p:nvPr/>
          </p:nvSpPr>
          <p:spPr bwMode="auto">
            <a:xfrm rot="16200000">
              <a:off x="4396836" y="2737111"/>
              <a:ext cx="272959" cy="23393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Text Box 64"/>
            <p:cNvSpPr txBox="1">
              <a:spLocks noChangeArrowheads="1"/>
            </p:cNvSpPr>
            <p:nvPr/>
          </p:nvSpPr>
          <p:spPr bwMode="auto">
            <a:xfrm>
              <a:off x="4342466" y="1568816"/>
              <a:ext cx="428114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2</a:t>
              </a:r>
            </a:p>
          </p:txBody>
        </p:sp>
        <p:sp>
          <p:nvSpPr>
            <p:cNvPr id="72" name="Text Box 65"/>
            <p:cNvSpPr txBox="1">
              <a:spLocks noChangeArrowheads="1"/>
            </p:cNvSpPr>
            <p:nvPr/>
          </p:nvSpPr>
          <p:spPr bwMode="auto">
            <a:xfrm>
              <a:off x="5467047" y="1568816"/>
              <a:ext cx="412640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1</a:t>
              </a:r>
            </a:p>
          </p:txBody>
        </p:sp>
        <p:sp>
          <p:nvSpPr>
            <p:cNvPr id="73" name="Text Box 66"/>
            <p:cNvSpPr txBox="1">
              <a:spLocks noChangeArrowheads="1"/>
            </p:cNvSpPr>
            <p:nvPr/>
          </p:nvSpPr>
          <p:spPr bwMode="auto">
            <a:xfrm>
              <a:off x="6550235" y="1568816"/>
              <a:ext cx="434992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0</a:t>
              </a:r>
            </a:p>
          </p:txBody>
        </p:sp>
        <p:sp>
          <p:nvSpPr>
            <p:cNvPr id="74" name="Text Box 35"/>
            <p:cNvSpPr txBox="1">
              <a:spLocks noChangeArrowheads="1"/>
            </p:cNvSpPr>
            <p:nvPr/>
          </p:nvSpPr>
          <p:spPr bwMode="auto">
            <a:xfrm>
              <a:off x="4820990" y="2639834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75" name="Text Box 35"/>
            <p:cNvSpPr txBox="1">
              <a:spLocks noChangeArrowheads="1"/>
            </p:cNvSpPr>
            <p:nvPr/>
          </p:nvSpPr>
          <p:spPr bwMode="auto">
            <a:xfrm>
              <a:off x="7040210" y="2629089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</p:grpSp>
      <p:sp>
        <p:nvSpPr>
          <p:cNvPr id="97" name="Text Box 5"/>
          <p:cNvSpPr txBox="1">
            <a:spLocks noChangeArrowheads="1"/>
          </p:cNvSpPr>
          <p:nvPr/>
        </p:nvSpPr>
        <p:spPr bwMode="auto">
          <a:xfrm>
            <a:off x="692101" y="2638776"/>
            <a:ext cx="156461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2.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</a:p>
        </p:txBody>
      </p:sp>
      <p:sp>
        <p:nvSpPr>
          <p:cNvPr id="98" name="Text Box 83"/>
          <p:cNvSpPr txBox="1">
            <a:spLocks noChangeArrowheads="1"/>
          </p:cNvSpPr>
          <p:nvPr/>
        </p:nvSpPr>
        <p:spPr bwMode="auto">
          <a:xfrm>
            <a:off x="716729" y="2211628"/>
            <a:ext cx="4005538" cy="338554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电路功能：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模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加法计数器，可自启动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617329" y="3022864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① 触发器工作正常：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841097" y="3003798"/>
            <a:ext cx="511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电源和地线接触良好、时钟信号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CP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正常送入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故障只可能在进位链或驱动回路中</a:t>
            </a:r>
            <a:endParaRPr lang="zh-CN" altLang="en-US" sz="1600" dirty="0"/>
          </a:p>
        </p:txBody>
      </p:sp>
      <p:sp>
        <p:nvSpPr>
          <p:cNvPr id="101" name="文本框 100"/>
          <p:cNvSpPr txBox="1"/>
          <p:nvPr/>
        </p:nvSpPr>
        <p:spPr>
          <a:xfrm>
            <a:off x="611560" y="365187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② 分析各触发器状态：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6316908" y="3778285"/>
            <a:ext cx="2036691" cy="1294139"/>
            <a:chOff x="3642665" y="3641367"/>
            <a:chExt cx="2036691" cy="1294139"/>
          </a:xfrm>
        </p:grpSpPr>
        <p:grpSp>
          <p:nvGrpSpPr>
            <p:cNvPr id="103" name="组合 73"/>
            <p:cNvGrpSpPr/>
            <p:nvPr/>
          </p:nvGrpSpPr>
          <p:grpSpPr>
            <a:xfrm>
              <a:off x="3790165" y="4575506"/>
              <a:ext cx="491408" cy="360000"/>
              <a:chOff x="185707" y="1643056"/>
              <a:chExt cx="428628" cy="360000"/>
            </a:xfrm>
          </p:grpSpPr>
          <p:sp>
            <p:nvSpPr>
              <p:cNvPr id="118" name="椭圆 117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4" name="组合 76"/>
            <p:cNvGrpSpPr/>
            <p:nvPr/>
          </p:nvGrpSpPr>
          <p:grpSpPr>
            <a:xfrm>
              <a:off x="5187948" y="4575506"/>
              <a:ext cx="491408" cy="360000"/>
              <a:chOff x="185707" y="1643056"/>
              <a:chExt cx="428628" cy="360000"/>
            </a:xfrm>
          </p:grpSpPr>
          <p:sp>
            <p:nvSpPr>
              <p:cNvPr id="116" name="椭圆 11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5" name="组合 67"/>
            <p:cNvGrpSpPr/>
            <p:nvPr/>
          </p:nvGrpSpPr>
          <p:grpSpPr>
            <a:xfrm>
              <a:off x="3779245" y="3947328"/>
              <a:ext cx="491408" cy="360000"/>
              <a:chOff x="185707" y="1643056"/>
              <a:chExt cx="428628" cy="360000"/>
            </a:xfrm>
          </p:grpSpPr>
          <p:sp>
            <p:nvSpPr>
              <p:cNvPr id="114" name="椭圆 11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6" name="组合 70"/>
            <p:cNvGrpSpPr/>
            <p:nvPr/>
          </p:nvGrpSpPr>
          <p:grpSpPr>
            <a:xfrm>
              <a:off x="5177028" y="3947328"/>
              <a:ext cx="491408" cy="360000"/>
              <a:chOff x="185707" y="1643056"/>
              <a:chExt cx="428628" cy="360000"/>
            </a:xfrm>
          </p:grpSpPr>
          <p:sp>
            <p:nvSpPr>
              <p:cNvPr id="112" name="椭圆 11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7" name="Text Box 35"/>
            <p:cNvSpPr txBox="1">
              <a:spLocks noChangeArrowheads="1"/>
            </p:cNvSpPr>
            <p:nvPr/>
          </p:nvSpPr>
          <p:spPr bwMode="auto">
            <a:xfrm>
              <a:off x="3642665" y="3641367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108" name="直接箭头连接符 107"/>
            <p:cNvCxnSpPr/>
            <p:nvPr/>
          </p:nvCxnSpPr>
          <p:spPr bwMode="auto">
            <a:xfrm>
              <a:off x="4234641" y="4127118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4232328" y="4777958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5417337" y="4311392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直接箭头连接符 110"/>
            <p:cNvCxnSpPr/>
            <p:nvPr/>
          </p:nvCxnSpPr>
          <p:spPr bwMode="auto">
            <a:xfrm>
              <a:off x="4002705" y="4307328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1" name="组合 120"/>
          <p:cNvGrpSpPr/>
          <p:nvPr/>
        </p:nvGrpSpPr>
        <p:grpSpPr>
          <a:xfrm>
            <a:off x="3601388" y="3946973"/>
            <a:ext cx="2162175" cy="1077218"/>
            <a:chOff x="3291383" y="4003441"/>
            <a:chExt cx="2162175" cy="1077218"/>
          </a:xfrm>
        </p:grpSpPr>
        <p:sp>
          <p:nvSpPr>
            <p:cNvPr id="122" name="Text Box 6"/>
            <p:cNvSpPr txBox="1">
              <a:spLocks noChangeArrowheads="1"/>
            </p:cNvSpPr>
            <p:nvPr/>
          </p:nvSpPr>
          <p:spPr bwMode="auto">
            <a:xfrm>
              <a:off x="3291383" y="4003441"/>
              <a:ext cx="2162175" cy="10772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 </a:t>
              </a: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n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1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Q</a:t>
              </a:r>
              <a:r>
                <a:rPr kumimoji="0" lang="en-US" altLang="zh-CN" sz="1600" b="1" baseline="-25000" dirty="0"/>
                <a:t>1</a:t>
              </a:r>
              <a:r>
                <a:rPr kumimoji="0" lang="en-US" altLang="zh-CN" sz="1600" b="1" baseline="30000" dirty="0"/>
                <a:t>n</a:t>
              </a:r>
              <a:r>
                <a:rPr kumimoji="0" lang="en-US" altLang="zh-CN" sz="1600" b="1" dirty="0"/>
                <a:t>⊕Q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 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 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1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2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</a:t>
              </a:r>
              <a:endParaRPr kumimoji="0" lang="en-US" altLang="zh-CN" sz="1600" b="1" baseline="30000" dirty="0"/>
            </a:p>
          </p:txBody>
        </p:sp>
        <p:sp>
          <p:nvSpPr>
            <p:cNvPr id="123" name="Line 7"/>
            <p:cNvSpPr>
              <a:spLocks noChangeShapeType="1"/>
            </p:cNvSpPr>
            <p:nvPr/>
          </p:nvSpPr>
          <p:spPr bwMode="auto">
            <a:xfrm>
              <a:off x="4068068" y="407001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" name="Line 7"/>
            <p:cNvSpPr>
              <a:spLocks noChangeShapeType="1"/>
            </p:cNvSpPr>
            <p:nvPr/>
          </p:nvSpPr>
          <p:spPr bwMode="auto">
            <a:xfrm>
              <a:off x="4463988" y="407001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" name="Line 7"/>
            <p:cNvSpPr>
              <a:spLocks noChangeShapeType="1"/>
            </p:cNvSpPr>
            <p:nvPr/>
          </p:nvSpPr>
          <p:spPr bwMode="auto">
            <a:xfrm>
              <a:off x="4885589" y="480399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26" name="Text Box 83"/>
          <p:cNvSpPr txBox="1">
            <a:spLocks noChangeArrowheads="1"/>
          </p:cNvSpPr>
          <p:nvPr/>
        </p:nvSpPr>
        <p:spPr bwMode="auto">
          <a:xfrm>
            <a:off x="3563888" y="3612504"/>
            <a:ext cx="1728788" cy="33972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次态方程</a:t>
            </a:r>
          </a:p>
        </p:txBody>
      </p:sp>
      <p:grpSp>
        <p:nvGrpSpPr>
          <p:cNvPr id="135" name="组合 134"/>
          <p:cNvGrpSpPr/>
          <p:nvPr/>
        </p:nvGrpSpPr>
        <p:grpSpPr>
          <a:xfrm>
            <a:off x="6677402" y="4345665"/>
            <a:ext cx="1365308" cy="299651"/>
            <a:chOff x="6677402" y="4345665"/>
            <a:chExt cx="1365308" cy="299651"/>
          </a:xfrm>
        </p:grpSpPr>
        <p:sp>
          <p:nvSpPr>
            <p:cNvPr id="128" name="任意多边形 56"/>
            <p:cNvSpPr/>
            <p:nvPr/>
          </p:nvSpPr>
          <p:spPr bwMode="auto">
            <a:xfrm rot="10800000">
              <a:off x="6691165" y="4345665"/>
              <a:ext cx="1351545" cy="190639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rgbClr val="C00000"/>
              </a:solidFill>
              <a:prstDash val="sysDash"/>
              <a:round/>
              <a:headEnd type="triangl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7232720" y="4399095"/>
              <a:ext cx="288000" cy="24622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 anchorCtr="1">
              <a:spAutoFit/>
            </a:bodyPr>
            <a:lstStyle/>
            <a:p>
              <a:r>
                <a:rPr kumimoji="0" lang="en-US" altLang="zh-CN" sz="1600" b="1" dirty="0"/>
                <a:t>⊕</a:t>
              </a:r>
              <a:endParaRPr lang="zh-CN" altLang="en-US" sz="1600" dirty="0"/>
            </a:p>
          </p:txBody>
        </p:sp>
        <p:sp>
          <p:nvSpPr>
            <p:cNvPr id="130" name="Line 7"/>
            <p:cNvSpPr>
              <a:spLocks noChangeShapeType="1"/>
            </p:cNvSpPr>
            <p:nvPr/>
          </p:nvSpPr>
          <p:spPr bwMode="auto">
            <a:xfrm>
              <a:off x="6677402" y="4351064"/>
              <a:ext cx="144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2" name="箭头: 左 131"/>
          <p:cNvSpPr/>
          <p:nvPr/>
        </p:nvSpPr>
        <p:spPr bwMode="auto">
          <a:xfrm>
            <a:off x="3171687" y="4417044"/>
            <a:ext cx="317847" cy="197006"/>
          </a:xfrm>
          <a:prstGeom prst="lef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" name="Text Box 83"/>
          <p:cNvSpPr txBox="1">
            <a:spLocks noChangeArrowheads="1"/>
          </p:cNvSpPr>
          <p:nvPr/>
        </p:nvSpPr>
        <p:spPr bwMode="auto">
          <a:xfrm>
            <a:off x="1998812" y="4260843"/>
            <a:ext cx="1263371" cy="58477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FF1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没有问题</a:t>
            </a:r>
          </a:p>
        </p:txBody>
      </p:sp>
      <p:sp>
        <p:nvSpPr>
          <p:cNvPr id="134" name="箭头: 右 133"/>
          <p:cNvSpPr/>
          <p:nvPr/>
        </p:nvSpPr>
        <p:spPr bwMode="auto">
          <a:xfrm>
            <a:off x="5577073" y="4376695"/>
            <a:ext cx="347677" cy="176535"/>
          </a:xfrm>
          <a:prstGeom prst="righ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bldLvl="0" animBg="1"/>
      <p:bldP spid="97" grpId="0"/>
      <p:bldP spid="98" grpId="0"/>
      <p:bldP spid="99" grpId="0"/>
      <p:bldP spid="100" grpId="0"/>
      <p:bldP spid="101" grpId="0"/>
      <p:bldP spid="126" grpId="0"/>
      <p:bldP spid="132" grpId="0" bldLvl="0" animBg="1"/>
      <p:bldP spid="133" grpId="0"/>
      <p:bldP spid="13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: 圆角 153"/>
          <p:cNvSpPr/>
          <p:nvPr/>
        </p:nvSpPr>
        <p:spPr bwMode="auto">
          <a:xfrm>
            <a:off x="4274462" y="3557873"/>
            <a:ext cx="2048504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4273180" y="4249751"/>
            <a:ext cx="2048504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92101" y="2139702"/>
            <a:ext cx="156461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2.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5147" y="265515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② 分析各触发器状态：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302368" y="3541977"/>
            <a:ext cx="2162175" cy="1077218"/>
            <a:chOff x="3291383" y="4003441"/>
            <a:chExt cx="2162175" cy="1077218"/>
          </a:xfrm>
        </p:grpSpPr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3291383" y="4003441"/>
              <a:ext cx="2162175" cy="10772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 </a:t>
              </a: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n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1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Q</a:t>
              </a:r>
              <a:r>
                <a:rPr kumimoji="0" lang="en-US" altLang="zh-CN" sz="1600" b="1" baseline="-25000" dirty="0"/>
                <a:t>1</a:t>
              </a:r>
              <a:r>
                <a:rPr kumimoji="0" lang="en-US" altLang="zh-CN" sz="1600" b="1" baseline="30000" dirty="0"/>
                <a:t>n</a:t>
              </a:r>
              <a:r>
                <a:rPr kumimoji="0" lang="en-US" altLang="zh-CN" sz="1600" b="1" dirty="0"/>
                <a:t>⊕Q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1600" b="1" dirty="0"/>
                <a:t>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n+1  </a:t>
              </a:r>
              <a:r>
                <a:rPr kumimoji="0" lang="en-US" altLang="zh-CN" sz="1600" b="1" dirty="0"/>
                <a:t>=  Q</a:t>
              </a:r>
              <a:r>
                <a:rPr kumimoji="0" lang="en-US" altLang="zh-CN" sz="1600" b="1" baseline="-25000" dirty="0"/>
                <a:t>0</a:t>
              </a:r>
              <a:r>
                <a:rPr kumimoji="0" lang="en-US" altLang="zh-CN" sz="1600" b="1" baseline="30000" dirty="0"/>
                <a:t>n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 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1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 </a:t>
              </a:r>
              <a:r>
                <a:rPr kumimoji="0" lang="en-US" altLang="zh-CN" sz="1600" b="1" dirty="0">
                  <a:cs typeface="Arial" panose="020B0604020202020204" pitchFamily="34" charset="0"/>
                </a:rPr>
                <a:t>Q</a:t>
              </a:r>
              <a:r>
                <a:rPr kumimoji="0" lang="en-US" altLang="zh-CN" sz="1600" b="1" baseline="-25000" dirty="0">
                  <a:cs typeface="Arial" panose="020B0604020202020204" pitchFamily="34" charset="0"/>
                </a:rPr>
                <a:t>2</a:t>
              </a:r>
              <a:r>
                <a:rPr kumimoji="0" lang="en-US" altLang="zh-CN" sz="1600" b="1" baseline="30000" dirty="0">
                  <a:cs typeface="Arial" panose="020B0604020202020204" pitchFamily="34" charset="0"/>
                </a:rPr>
                <a:t>n</a:t>
              </a:r>
              <a:endParaRPr kumimoji="0" lang="en-US" altLang="zh-CN" sz="1600" b="1" baseline="30000" dirty="0"/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>
              <a:off x="4068068" y="407001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7"/>
            <p:cNvSpPr>
              <a:spLocks noChangeShapeType="1"/>
            </p:cNvSpPr>
            <p:nvPr/>
          </p:nvSpPr>
          <p:spPr bwMode="auto">
            <a:xfrm>
              <a:off x="4463988" y="407001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4885589" y="4803998"/>
              <a:ext cx="2159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" name="Text Box 83"/>
          <p:cNvSpPr txBox="1">
            <a:spLocks noChangeArrowheads="1"/>
          </p:cNvSpPr>
          <p:nvPr/>
        </p:nvSpPr>
        <p:spPr bwMode="auto">
          <a:xfrm>
            <a:off x="4264868" y="3207508"/>
            <a:ext cx="1728788" cy="33972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次态方程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6649143" y="3337412"/>
            <a:ext cx="2036691" cy="1294139"/>
            <a:chOff x="5746592" y="2593169"/>
            <a:chExt cx="2036691" cy="1294139"/>
          </a:xfrm>
        </p:grpSpPr>
        <p:grpSp>
          <p:nvGrpSpPr>
            <p:cNvPr id="11" name="组合 10"/>
            <p:cNvGrpSpPr/>
            <p:nvPr/>
          </p:nvGrpSpPr>
          <p:grpSpPr>
            <a:xfrm>
              <a:off x="5746592" y="2593169"/>
              <a:ext cx="2036691" cy="1294139"/>
              <a:chOff x="3642665" y="3641367"/>
              <a:chExt cx="2036691" cy="1294139"/>
            </a:xfrm>
          </p:grpSpPr>
          <p:grpSp>
            <p:nvGrpSpPr>
              <p:cNvPr id="12" name="组合 73"/>
              <p:cNvGrpSpPr/>
              <p:nvPr/>
            </p:nvGrpSpPr>
            <p:grpSpPr>
              <a:xfrm>
                <a:off x="3790165" y="4575506"/>
                <a:ext cx="491408" cy="360000"/>
                <a:chOff x="185707" y="1643056"/>
                <a:chExt cx="428628" cy="360000"/>
              </a:xfrm>
            </p:grpSpPr>
            <p:sp>
              <p:nvSpPr>
                <p:cNvPr id="27" name="椭圆 26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90679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100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" name="组合 76"/>
              <p:cNvGrpSpPr/>
              <p:nvPr/>
            </p:nvGrpSpPr>
            <p:grpSpPr>
              <a:xfrm>
                <a:off x="5187948" y="4575506"/>
                <a:ext cx="491408" cy="360000"/>
                <a:chOff x="185707" y="1643056"/>
                <a:chExt cx="428628" cy="360000"/>
              </a:xfrm>
            </p:grpSpPr>
            <p:sp>
              <p:nvSpPr>
                <p:cNvPr id="25" name="椭圆 24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90679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011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" name="组合 67"/>
              <p:cNvGrpSpPr/>
              <p:nvPr/>
            </p:nvGrpSpPr>
            <p:grpSpPr>
              <a:xfrm>
                <a:off x="3779245" y="3947328"/>
                <a:ext cx="491408" cy="360000"/>
                <a:chOff x="185707" y="1643056"/>
                <a:chExt cx="428628" cy="360000"/>
              </a:xfrm>
            </p:grpSpPr>
            <p:sp>
              <p:nvSpPr>
                <p:cNvPr id="23" name="椭圆 22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81154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solidFill>
                        <a:srgbClr val="C00000"/>
                      </a:solidFill>
                      <a:latin typeface="+mj-lt"/>
                      <a:ea typeface="宋体" panose="02010600030101010101" pitchFamily="2" charset="-122"/>
                    </a:rPr>
                    <a:t>001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" name="组合 70"/>
              <p:cNvGrpSpPr/>
              <p:nvPr/>
            </p:nvGrpSpPr>
            <p:grpSpPr>
              <a:xfrm>
                <a:off x="5177028" y="3947328"/>
                <a:ext cx="491408" cy="360000"/>
                <a:chOff x="185707" y="1643056"/>
                <a:chExt cx="428628" cy="360000"/>
              </a:xfrm>
            </p:grpSpPr>
            <p:sp>
              <p:nvSpPr>
                <p:cNvPr id="21" name="椭圆 20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90679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solidFill>
                        <a:srgbClr val="C00000"/>
                      </a:solidFill>
                      <a:latin typeface="+mj-lt"/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10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" name="Text Box 35"/>
              <p:cNvSpPr txBox="1">
                <a:spLocks noChangeArrowheads="1"/>
              </p:cNvSpPr>
              <p:nvPr/>
            </p:nvSpPr>
            <p:spPr bwMode="auto">
              <a:xfrm>
                <a:off x="3642665" y="3641367"/>
                <a:ext cx="936920" cy="3077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0" lang="en-US" altLang="zh-CN" sz="1400" b="1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Q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2</a:t>
                </a:r>
                <a:r>
                  <a:rPr kumimoji="0" lang="en-US" altLang="zh-CN" sz="1400" b="1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Q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  <a:r>
                  <a:rPr kumimoji="0" lang="en-US" altLang="zh-CN" sz="1400" b="1" dirty="0">
                    <a:solidFill>
                      <a:schemeClr val="bg1"/>
                    </a:solidFill>
                    <a:ea typeface="宋体" panose="02010600030101010101" pitchFamily="2" charset="-122"/>
                  </a:rPr>
                  <a:t>Q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  <a:ea typeface="宋体" panose="02010600030101010101" pitchFamily="2" charset="-122"/>
                  </a:rPr>
                  <a:t>0 </a:t>
                </a:r>
                <a:endParaRPr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  <p:cxnSp>
            <p:nvCxnSpPr>
              <p:cNvPr id="17" name="直接箭头连接符 16"/>
              <p:cNvCxnSpPr/>
              <p:nvPr/>
            </p:nvCxnSpPr>
            <p:spPr bwMode="auto">
              <a:xfrm>
                <a:off x="4234641" y="4127118"/>
                <a:ext cx="972000" cy="1053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" name="直接箭头连接符 17"/>
              <p:cNvCxnSpPr/>
              <p:nvPr/>
            </p:nvCxnSpPr>
            <p:spPr bwMode="auto">
              <a:xfrm>
                <a:off x="4232328" y="4777958"/>
                <a:ext cx="972000" cy="1053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triangle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直接箭头连接符 18"/>
              <p:cNvCxnSpPr/>
              <p:nvPr/>
            </p:nvCxnSpPr>
            <p:spPr bwMode="auto">
              <a:xfrm>
                <a:off x="5417337" y="4311392"/>
                <a:ext cx="0" cy="25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直接箭头连接符 19"/>
              <p:cNvCxnSpPr/>
              <p:nvPr/>
            </p:nvCxnSpPr>
            <p:spPr bwMode="auto">
              <a:xfrm>
                <a:off x="4002705" y="4307328"/>
                <a:ext cx="0" cy="25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triangle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5" name="任意多边形 56"/>
            <p:cNvSpPr/>
            <p:nvPr/>
          </p:nvSpPr>
          <p:spPr bwMode="auto">
            <a:xfrm rot="10800000">
              <a:off x="6120849" y="3160549"/>
              <a:ext cx="1351545" cy="190639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rgbClr val="C00000"/>
              </a:solidFill>
              <a:prstDash val="sysDash"/>
              <a:round/>
              <a:headEnd type="triangl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662404" y="3213979"/>
              <a:ext cx="288000" cy="24622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 anchorCtr="1">
              <a:spAutoFit/>
            </a:bodyPr>
            <a:lstStyle/>
            <a:p>
              <a:r>
                <a:rPr kumimoji="0" lang="en-US" altLang="zh-CN" sz="1600" b="1" dirty="0"/>
                <a:t>•</a:t>
              </a:r>
              <a:endParaRPr lang="zh-CN" altLang="en-US" sz="1600" dirty="0"/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>
              <a:off x="5981932" y="3149324"/>
              <a:ext cx="252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8" name="箭头: 左 37"/>
          <p:cNvSpPr/>
          <p:nvPr/>
        </p:nvSpPr>
        <p:spPr bwMode="auto">
          <a:xfrm>
            <a:off x="3872667" y="4355933"/>
            <a:ext cx="317847" cy="197006"/>
          </a:xfrm>
          <a:prstGeom prst="lef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83"/>
          <p:cNvSpPr txBox="1">
            <a:spLocks noChangeArrowheads="1"/>
          </p:cNvSpPr>
          <p:nvPr/>
        </p:nvSpPr>
        <p:spPr bwMode="auto">
          <a:xfrm>
            <a:off x="2699792" y="4199732"/>
            <a:ext cx="1263371" cy="58477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FF2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没有问题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847344" y="710455"/>
            <a:ext cx="3273022" cy="1366164"/>
            <a:chOff x="5413062" y="3448220"/>
            <a:chExt cx="3273022" cy="1366164"/>
          </a:xfrm>
        </p:grpSpPr>
        <p:grpSp>
          <p:nvGrpSpPr>
            <p:cNvPr id="41" name="组合 76"/>
            <p:cNvGrpSpPr/>
            <p:nvPr/>
          </p:nvGrpSpPr>
          <p:grpSpPr>
            <a:xfrm>
              <a:off x="7506087" y="3750443"/>
              <a:ext cx="491408" cy="360000"/>
              <a:chOff x="185707" y="1643056"/>
              <a:chExt cx="428628" cy="360000"/>
            </a:xfrm>
          </p:grpSpPr>
          <p:sp>
            <p:nvSpPr>
              <p:cNvPr id="72" name="椭圆 7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组合 67"/>
            <p:cNvGrpSpPr/>
            <p:nvPr/>
          </p:nvGrpSpPr>
          <p:grpSpPr>
            <a:xfrm>
              <a:off x="6103121" y="3754181"/>
              <a:ext cx="491408" cy="360000"/>
              <a:chOff x="185707" y="1643056"/>
              <a:chExt cx="428628" cy="360000"/>
            </a:xfrm>
          </p:grpSpPr>
          <p:sp>
            <p:nvSpPr>
              <p:cNvPr id="70" name="椭圆 6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组合 70"/>
            <p:cNvGrpSpPr/>
            <p:nvPr/>
          </p:nvGrpSpPr>
          <p:grpSpPr>
            <a:xfrm>
              <a:off x="6823846" y="3733398"/>
              <a:ext cx="491408" cy="360000"/>
              <a:chOff x="185707" y="1643056"/>
              <a:chExt cx="428628" cy="360000"/>
            </a:xfrm>
          </p:grpSpPr>
          <p:sp>
            <p:nvSpPr>
              <p:cNvPr id="68" name="椭圆 67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4" name="Text Box 35"/>
            <p:cNvSpPr txBox="1">
              <a:spLocks noChangeArrowheads="1"/>
            </p:cNvSpPr>
            <p:nvPr/>
          </p:nvSpPr>
          <p:spPr bwMode="auto">
            <a:xfrm>
              <a:off x="5966541" y="3448220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>
              <a:off x="6558517" y="3933971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箭头连接符 45"/>
            <p:cNvCxnSpPr/>
            <p:nvPr/>
          </p:nvCxnSpPr>
          <p:spPr bwMode="auto">
            <a:xfrm>
              <a:off x="6556204" y="4654949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箭头连接符 46"/>
            <p:cNvCxnSpPr/>
            <p:nvPr/>
          </p:nvCxnSpPr>
          <p:spPr bwMode="auto">
            <a:xfrm>
              <a:off x="7741213" y="4118245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箭头连接符 47"/>
            <p:cNvCxnSpPr/>
            <p:nvPr/>
          </p:nvCxnSpPr>
          <p:spPr bwMode="auto">
            <a:xfrm>
              <a:off x="6326581" y="4114181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9" name="组合 70"/>
            <p:cNvGrpSpPr/>
            <p:nvPr/>
          </p:nvGrpSpPr>
          <p:grpSpPr>
            <a:xfrm>
              <a:off x="7506087" y="4454384"/>
              <a:ext cx="491408" cy="360000"/>
              <a:chOff x="185707" y="1643056"/>
              <a:chExt cx="428628" cy="360000"/>
            </a:xfrm>
          </p:grpSpPr>
          <p:sp>
            <p:nvSpPr>
              <p:cNvPr id="66" name="椭圆 65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0" name="组合 67"/>
            <p:cNvGrpSpPr/>
            <p:nvPr/>
          </p:nvGrpSpPr>
          <p:grpSpPr>
            <a:xfrm>
              <a:off x="5413062" y="3750443"/>
              <a:ext cx="491408" cy="360000"/>
              <a:chOff x="185707" y="1643056"/>
              <a:chExt cx="428628" cy="360000"/>
            </a:xfrm>
          </p:grpSpPr>
          <p:sp>
            <p:nvSpPr>
              <p:cNvPr id="64" name="椭圆 63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1" name="直接箭头连接符 50"/>
            <p:cNvCxnSpPr/>
            <p:nvPr/>
          </p:nvCxnSpPr>
          <p:spPr bwMode="auto">
            <a:xfrm>
              <a:off x="5867372" y="3947965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52" name="组合 67"/>
            <p:cNvGrpSpPr/>
            <p:nvPr/>
          </p:nvGrpSpPr>
          <p:grpSpPr>
            <a:xfrm>
              <a:off x="8185048" y="3750204"/>
              <a:ext cx="491408" cy="360000"/>
              <a:chOff x="185707" y="1643056"/>
              <a:chExt cx="428628" cy="360000"/>
            </a:xfrm>
          </p:grpSpPr>
          <p:sp>
            <p:nvSpPr>
              <p:cNvPr id="62" name="椭圆 61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3" name="直接箭头连接符 52"/>
            <p:cNvCxnSpPr/>
            <p:nvPr/>
          </p:nvCxnSpPr>
          <p:spPr bwMode="auto">
            <a:xfrm>
              <a:off x="7959300" y="3933971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/>
            <p:cNvCxnSpPr/>
            <p:nvPr/>
          </p:nvCxnSpPr>
          <p:spPr bwMode="auto">
            <a:xfrm>
              <a:off x="7261223" y="3949626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55" name="组合 73"/>
            <p:cNvGrpSpPr/>
            <p:nvPr/>
          </p:nvGrpSpPr>
          <p:grpSpPr>
            <a:xfrm>
              <a:off x="6114041" y="4452497"/>
              <a:ext cx="491408" cy="360000"/>
              <a:chOff x="185707" y="1643056"/>
              <a:chExt cx="428628" cy="360000"/>
            </a:xfrm>
          </p:grpSpPr>
          <p:sp>
            <p:nvSpPr>
              <p:cNvPr id="60" name="椭圆 59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6" name="组合 67"/>
            <p:cNvGrpSpPr/>
            <p:nvPr/>
          </p:nvGrpSpPr>
          <p:grpSpPr>
            <a:xfrm>
              <a:off x="8194676" y="4176370"/>
              <a:ext cx="491408" cy="360000"/>
              <a:chOff x="185707" y="1643056"/>
              <a:chExt cx="428628" cy="360000"/>
            </a:xfrm>
          </p:grpSpPr>
          <p:sp>
            <p:nvSpPr>
              <p:cNvPr id="58" name="椭圆 57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7" name="直接箭头连接符 56"/>
            <p:cNvCxnSpPr/>
            <p:nvPr/>
          </p:nvCxnSpPr>
          <p:spPr bwMode="auto">
            <a:xfrm>
              <a:off x="7929491" y="4024771"/>
              <a:ext cx="298293" cy="18969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4" name="组合 73"/>
          <p:cNvGrpSpPr/>
          <p:nvPr/>
        </p:nvGrpSpPr>
        <p:grpSpPr>
          <a:xfrm>
            <a:off x="4943124" y="737726"/>
            <a:ext cx="3484147" cy="1609370"/>
            <a:chOff x="4342466" y="1568816"/>
            <a:chExt cx="3484147" cy="1609370"/>
          </a:xfrm>
        </p:grpSpPr>
        <p:cxnSp>
          <p:nvCxnSpPr>
            <p:cNvPr id="75" name="直接连接符 34"/>
            <p:cNvCxnSpPr>
              <a:cxnSpLocks noChangeShapeType="1"/>
            </p:cNvCxnSpPr>
            <p:nvPr/>
          </p:nvCxnSpPr>
          <p:spPr bwMode="auto">
            <a:xfrm rot="5400000">
              <a:off x="4554834" y="268689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76" name="组合 16"/>
            <p:cNvGrpSpPr/>
            <p:nvPr/>
          </p:nvGrpSpPr>
          <p:grpSpPr bwMode="auto">
            <a:xfrm>
              <a:off x="4384292" y="1876948"/>
              <a:ext cx="870174" cy="881868"/>
              <a:chOff x="1863800" y="2488442"/>
              <a:chExt cx="803540" cy="756588"/>
            </a:xfrm>
          </p:grpSpPr>
          <p:cxnSp>
            <p:nvCxnSpPr>
              <p:cNvPr id="124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40" y="2813953"/>
                <a:ext cx="648504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125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21935" y="2865942"/>
                <a:ext cx="75658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126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" name="TextBox 197"/>
              <p:cNvSpPr txBox="1">
                <a:spLocks noChangeArrowheads="1"/>
              </p:cNvSpPr>
              <p:nvPr/>
            </p:nvSpPr>
            <p:spPr bwMode="auto">
              <a:xfrm>
                <a:off x="2310034" y="285335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8" name="TextBox 198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9" name="TextBox 199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30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58964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77" name="等腰三角形 36"/>
            <p:cNvSpPr>
              <a:spLocks noChangeArrowheads="1"/>
            </p:cNvSpPr>
            <p:nvPr/>
          </p:nvSpPr>
          <p:spPr bwMode="auto">
            <a:xfrm>
              <a:off x="4725809" y="2433689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TextBox 135"/>
            <p:cNvSpPr txBox="1">
              <a:spLocks noChangeArrowheads="1"/>
            </p:cNvSpPr>
            <p:nvPr/>
          </p:nvSpPr>
          <p:spPr bwMode="auto">
            <a:xfrm>
              <a:off x="4609082" y="2250484"/>
              <a:ext cx="457343" cy="2499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79" name="Text Box 69"/>
            <p:cNvSpPr txBox="1">
              <a:spLocks noChangeArrowheads="1"/>
            </p:cNvSpPr>
            <p:nvPr/>
          </p:nvSpPr>
          <p:spPr bwMode="auto">
            <a:xfrm>
              <a:off x="7352579" y="2759732"/>
              <a:ext cx="474034" cy="35899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80" name="直接连接符 34"/>
            <p:cNvCxnSpPr>
              <a:cxnSpLocks noChangeShapeType="1"/>
            </p:cNvCxnSpPr>
            <p:nvPr/>
          </p:nvCxnSpPr>
          <p:spPr bwMode="auto">
            <a:xfrm rot="5400000">
              <a:off x="5685627" y="268692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oval"/>
            </a:ln>
          </p:spPr>
        </p:cxnSp>
        <p:grpSp>
          <p:nvGrpSpPr>
            <p:cNvPr id="81" name="组合 16"/>
            <p:cNvGrpSpPr/>
            <p:nvPr/>
          </p:nvGrpSpPr>
          <p:grpSpPr bwMode="auto">
            <a:xfrm>
              <a:off x="5510872" y="1892256"/>
              <a:ext cx="870174" cy="756806"/>
              <a:chOff x="1863914" y="2503340"/>
              <a:chExt cx="803540" cy="649298"/>
            </a:xfrm>
          </p:grpSpPr>
          <p:cxnSp>
            <p:nvCxnSpPr>
              <p:cNvPr id="117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27589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oval" w="med" len="med"/>
              </a:ln>
            </p:spPr>
          </p:cxnSp>
          <p:cxnSp>
            <p:nvCxnSpPr>
              <p:cNvPr id="118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75973" y="2826801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119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TextBox 190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1" name="TextBox 191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2" name="TextBox 192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23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82" name="等腰三角形 36"/>
            <p:cNvSpPr>
              <a:spLocks noChangeArrowheads="1"/>
            </p:cNvSpPr>
            <p:nvPr/>
          </p:nvSpPr>
          <p:spPr bwMode="auto">
            <a:xfrm>
              <a:off x="5852264" y="2431642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" name="TextBox 140"/>
            <p:cNvSpPr txBox="1">
              <a:spLocks noChangeArrowheads="1"/>
            </p:cNvSpPr>
            <p:nvPr/>
          </p:nvSpPr>
          <p:spPr bwMode="auto">
            <a:xfrm>
              <a:off x="5735663" y="2248600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4" name="Line 28"/>
            <p:cNvSpPr>
              <a:spLocks noChangeShapeType="1"/>
            </p:cNvSpPr>
            <p:nvPr/>
          </p:nvSpPr>
          <p:spPr bwMode="auto">
            <a:xfrm rot="16200000" flipV="1">
              <a:off x="6101869" y="1604914"/>
              <a:ext cx="0" cy="2628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Box 145"/>
            <p:cNvSpPr txBox="1">
              <a:spLocks noChangeArrowheads="1"/>
            </p:cNvSpPr>
            <p:nvPr/>
          </p:nvSpPr>
          <p:spPr bwMode="auto">
            <a:xfrm>
              <a:off x="4370051" y="2304139"/>
              <a:ext cx="38685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6" name="TextBox 146"/>
            <p:cNvSpPr txBox="1">
              <a:spLocks noChangeArrowheads="1"/>
            </p:cNvSpPr>
            <p:nvPr/>
          </p:nvSpPr>
          <p:spPr bwMode="auto">
            <a:xfrm>
              <a:off x="5488078" y="2311530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7" name="Line 28"/>
            <p:cNvSpPr>
              <a:spLocks noChangeShapeType="1"/>
            </p:cNvSpPr>
            <p:nvPr/>
          </p:nvSpPr>
          <p:spPr bwMode="auto">
            <a:xfrm rot="16200000" flipV="1">
              <a:off x="6008556" y="2097735"/>
              <a:ext cx="0" cy="151279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8" name="直接连接符 34"/>
            <p:cNvCxnSpPr>
              <a:cxnSpLocks noChangeShapeType="1"/>
            </p:cNvCxnSpPr>
            <p:nvPr/>
          </p:nvCxnSpPr>
          <p:spPr bwMode="auto">
            <a:xfrm rot="5400000">
              <a:off x="6783263" y="2686015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/>
              <a:tailEnd type="oval" w="med" len="med"/>
            </a:ln>
          </p:spPr>
        </p:cxnSp>
        <p:grpSp>
          <p:nvGrpSpPr>
            <p:cNvPr id="89" name="组合 16"/>
            <p:cNvGrpSpPr/>
            <p:nvPr/>
          </p:nvGrpSpPr>
          <p:grpSpPr bwMode="auto">
            <a:xfrm>
              <a:off x="6608508" y="1902593"/>
              <a:ext cx="870174" cy="956944"/>
              <a:chOff x="1863914" y="2512482"/>
              <a:chExt cx="803540" cy="821004"/>
            </a:xfrm>
          </p:grpSpPr>
          <p:cxnSp>
            <p:nvCxnSpPr>
              <p:cNvPr id="110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35943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111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93109" y="2925573"/>
                <a:ext cx="81423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112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" name="TextBox 206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4" name="TextBox 207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5" name="TextBox 208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6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90" name="等腰三角形 36"/>
            <p:cNvSpPr>
              <a:spLocks noChangeArrowheads="1"/>
            </p:cNvSpPr>
            <p:nvPr/>
          </p:nvSpPr>
          <p:spPr bwMode="auto">
            <a:xfrm>
              <a:off x="6949900" y="2431316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" name="TextBox 211"/>
            <p:cNvSpPr txBox="1">
              <a:spLocks noChangeArrowheads="1"/>
            </p:cNvSpPr>
            <p:nvPr/>
          </p:nvSpPr>
          <p:spPr bwMode="auto">
            <a:xfrm>
              <a:off x="6833298" y="2248273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92" name="TextBox 212"/>
            <p:cNvSpPr txBox="1">
              <a:spLocks noChangeArrowheads="1"/>
            </p:cNvSpPr>
            <p:nvPr/>
          </p:nvSpPr>
          <p:spPr bwMode="auto">
            <a:xfrm>
              <a:off x="6585714" y="2311203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0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93" name="Line 28"/>
            <p:cNvSpPr>
              <a:spLocks noChangeShapeType="1"/>
            </p:cNvSpPr>
            <p:nvPr/>
          </p:nvSpPr>
          <p:spPr bwMode="auto">
            <a:xfrm rot="16200000" flipV="1">
              <a:off x="6089788" y="2216779"/>
              <a:ext cx="0" cy="864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4" name="直接连接符 18"/>
            <p:cNvCxnSpPr>
              <a:cxnSpLocks noChangeShapeType="1"/>
            </p:cNvCxnSpPr>
            <p:nvPr/>
          </p:nvCxnSpPr>
          <p:spPr bwMode="auto">
            <a:xfrm rot="5400000">
              <a:off x="5886875" y="2538705"/>
              <a:ext cx="1259812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95" name="Line 28"/>
            <p:cNvSpPr>
              <a:spLocks noChangeShapeType="1"/>
            </p:cNvSpPr>
            <p:nvPr/>
          </p:nvSpPr>
          <p:spPr bwMode="auto">
            <a:xfrm rot="16200000" flipV="1">
              <a:off x="6641633" y="1792690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6" name="直接连接符 18"/>
            <p:cNvCxnSpPr>
              <a:cxnSpLocks noChangeShapeType="1"/>
            </p:cNvCxnSpPr>
            <p:nvPr/>
          </p:nvCxnSpPr>
          <p:spPr bwMode="auto">
            <a:xfrm rot="5400000">
              <a:off x="4768001" y="2373178"/>
              <a:ext cx="9658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97" name="Line 28"/>
            <p:cNvSpPr>
              <a:spLocks noChangeShapeType="1"/>
            </p:cNvSpPr>
            <p:nvPr/>
          </p:nvSpPr>
          <p:spPr bwMode="auto">
            <a:xfrm rot="16200000" flipV="1">
              <a:off x="5137015" y="1774141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8" name="直接连接符 18"/>
            <p:cNvCxnSpPr>
              <a:cxnSpLocks noChangeShapeType="1"/>
            </p:cNvCxnSpPr>
            <p:nvPr/>
          </p:nvCxnSpPr>
          <p:spPr bwMode="auto">
            <a:xfrm rot="5400000">
              <a:off x="4779538" y="2499159"/>
              <a:ext cx="1217818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99" name="Line 28"/>
            <p:cNvSpPr>
              <a:spLocks noChangeShapeType="1"/>
            </p:cNvSpPr>
            <p:nvPr/>
          </p:nvSpPr>
          <p:spPr bwMode="auto">
            <a:xfrm rot="16200000" flipV="1">
              <a:off x="5524314" y="1754646"/>
              <a:ext cx="0" cy="27292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8"/>
            <p:cNvSpPr>
              <a:spLocks noChangeShapeType="1"/>
            </p:cNvSpPr>
            <p:nvPr/>
          </p:nvSpPr>
          <p:spPr bwMode="auto">
            <a:xfrm rot="16200000" flipV="1">
              <a:off x="4991730" y="2702536"/>
              <a:ext cx="0" cy="8031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8"/>
            <p:cNvSpPr>
              <a:spLocks noChangeShapeType="1"/>
            </p:cNvSpPr>
            <p:nvPr/>
          </p:nvSpPr>
          <p:spPr bwMode="auto">
            <a:xfrm rot="16200000" flipV="1">
              <a:off x="5499980" y="2156658"/>
              <a:ext cx="0" cy="20430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2" name="直接连接符 18"/>
            <p:cNvCxnSpPr>
              <a:cxnSpLocks noChangeShapeType="1"/>
            </p:cNvCxnSpPr>
            <p:nvPr/>
          </p:nvCxnSpPr>
          <p:spPr bwMode="auto">
            <a:xfrm rot="5400000">
              <a:off x="4340814" y="3026697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03" name="直接连接符 18"/>
            <p:cNvCxnSpPr>
              <a:cxnSpLocks noChangeShapeType="1"/>
            </p:cNvCxnSpPr>
            <p:nvPr/>
          </p:nvCxnSpPr>
          <p:spPr bwMode="auto">
            <a:xfrm rot="5400000">
              <a:off x="4445591" y="2963152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104" name="流程图: 延期 95"/>
            <p:cNvSpPr>
              <a:spLocks noChangeArrowheads="1"/>
            </p:cNvSpPr>
            <p:nvPr/>
          </p:nvSpPr>
          <p:spPr bwMode="auto">
            <a:xfrm rot="16200000">
              <a:off x="4396836" y="2737111"/>
              <a:ext cx="272959" cy="23393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Text Box 64"/>
            <p:cNvSpPr txBox="1">
              <a:spLocks noChangeArrowheads="1"/>
            </p:cNvSpPr>
            <p:nvPr/>
          </p:nvSpPr>
          <p:spPr bwMode="auto">
            <a:xfrm>
              <a:off x="4342466" y="1568816"/>
              <a:ext cx="428114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2</a:t>
              </a:r>
            </a:p>
          </p:txBody>
        </p:sp>
        <p:sp>
          <p:nvSpPr>
            <p:cNvPr id="106" name="Text Box 65"/>
            <p:cNvSpPr txBox="1">
              <a:spLocks noChangeArrowheads="1"/>
            </p:cNvSpPr>
            <p:nvPr/>
          </p:nvSpPr>
          <p:spPr bwMode="auto">
            <a:xfrm>
              <a:off x="5467047" y="1568816"/>
              <a:ext cx="412640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1</a:t>
              </a:r>
            </a:p>
          </p:txBody>
        </p:sp>
        <p:sp>
          <p:nvSpPr>
            <p:cNvPr id="107" name="Text Box 66"/>
            <p:cNvSpPr txBox="1">
              <a:spLocks noChangeArrowheads="1"/>
            </p:cNvSpPr>
            <p:nvPr/>
          </p:nvSpPr>
          <p:spPr bwMode="auto">
            <a:xfrm>
              <a:off x="6550235" y="1568816"/>
              <a:ext cx="434992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0</a:t>
              </a:r>
            </a:p>
          </p:txBody>
        </p:sp>
        <p:sp>
          <p:nvSpPr>
            <p:cNvPr id="108" name="Text Box 35"/>
            <p:cNvSpPr txBox="1">
              <a:spLocks noChangeArrowheads="1"/>
            </p:cNvSpPr>
            <p:nvPr/>
          </p:nvSpPr>
          <p:spPr bwMode="auto">
            <a:xfrm>
              <a:off x="4820990" y="2639834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109" name="Text Box 35"/>
            <p:cNvSpPr txBox="1">
              <a:spLocks noChangeArrowheads="1"/>
            </p:cNvSpPr>
            <p:nvPr/>
          </p:nvSpPr>
          <p:spPr bwMode="auto">
            <a:xfrm>
              <a:off x="7040210" y="2629089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</p:grpSp>
      <p:sp>
        <p:nvSpPr>
          <p:cNvPr id="155" name="箭头: 左 154"/>
          <p:cNvSpPr/>
          <p:nvPr/>
        </p:nvSpPr>
        <p:spPr bwMode="auto">
          <a:xfrm rot="1020739">
            <a:off x="3799113" y="3497941"/>
            <a:ext cx="454268" cy="199194"/>
          </a:xfrm>
          <a:prstGeom prst="lef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" name="Text Box 83"/>
          <p:cNvSpPr txBox="1">
            <a:spLocks noChangeArrowheads="1"/>
          </p:cNvSpPr>
          <p:nvPr/>
        </p:nvSpPr>
        <p:spPr bwMode="auto">
          <a:xfrm>
            <a:off x="2699792" y="3075806"/>
            <a:ext cx="1263371" cy="58477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16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FF0</a:t>
            </a: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有问题</a:t>
            </a:r>
          </a:p>
        </p:txBody>
      </p:sp>
      <p:grpSp>
        <p:nvGrpSpPr>
          <p:cNvPr id="159" name="组合 158"/>
          <p:cNvGrpSpPr/>
          <p:nvPr/>
        </p:nvGrpSpPr>
        <p:grpSpPr>
          <a:xfrm>
            <a:off x="519085" y="3291830"/>
            <a:ext cx="2036691" cy="1294139"/>
            <a:chOff x="336319" y="3207508"/>
            <a:chExt cx="2036691" cy="1294139"/>
          </a:xfrm>
        </p:grpSpPr>
        <p:grpSp>
          <p:nvGrpSpPr>
            <p:cNvPr id="133" name="组合 132"/>
            <p:cNvGrpSpPr/>
            <p:nvPr/>
          </p:nvGrpSpPr>
          <p:grpSpPr>
            <a:xfrm>
              <a:off x="336319" y="3207508"/>
              <a:ext cx="2036691" cy="1294139"/>
              <a:chOff x="3642665" y="3641367"/>
              <a:chExt cx="2036691" cy="1294139"/>
            </a:xfrm>
          </p:grpSpPr>
          <p:grpSp>
            <p:nvGrpSpPr>
              <p:cNvPr id="137" name="组合 73"/>
              <p:cNvGrpSpPr/>
              <p:nvPr/>
            </p:nvGrpSpPr>
            <p:grpSpPr>
              <a:xfrm>
                <a:off x="3790165" y="4575506"/>
                <a:ext cx="491408" cy="360000"/>
                <a:chOff x="185707" y="1643056"/>
                <a:chExt cx="428628" cy="360000"/>
              </a:xfrm>
            </p:grpSpPr>
            <p:sp>
              <p:nvSpPr>
                <p:cNvPr id="152" name="椭圆 151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90679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100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8" name="组合 76"/>
              <p:cNvGrpSpPr/>
              <p:nvPr/>
            </p:nvGrpSpPr>
            <p:grpSpPr>
              <a:xfrm>
                <a:off x="5187948" y="4575506"/>
                <a:ext cx="491408" cy="360000"/>
                <a:chOff x="185707" y="1643056"/>
                <a:chExt cx="428628" cy="360000"/>
              </a:xfrm>
            </p:grpSpPr>
            <p:sp>
              <p:nvSpPr>
                <p:cNvPr id="150" name="椭圆 149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1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90679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011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9" name="组合 67"/>
              <p:cNvGrpSpPr/>
              <p:nvPr/>
            </p:nvGrpSpPr>
            <p:grpSpPr>
              <a:xfrm>
                <a:off x="3779245" y="3947328"/>
                <a:ext cx="491408" cy="360000"/>
                <a:chOff x="185707" y="1643056"/>
                <a:chExt cx="428628" cy="360000"/>
              </a:xfrm>
            </p:grpSpPr>
            <p:sp>
              <p:nvSpPr>
                <p:cNvPr id="148" name="椭圆 147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81154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solidFill>
                        <a:srgbClr val="C00000"/>
                      </a:solidFill>
                      <a:latin typeface="+mj-lt"/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1200" b="1" dirty="0">
                      <a:solidFill>
                        <a:srgbClr val="C00000"/>
                      </a:solidFill>
                      <a:latin typeface="+mj-lt"/>
                      <a:ea typeface="宋体" panose="02010600030101010101" pitchFamily="2" charset="-122"/>
                    </a:rPr>
                    <a:t>1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0" name="组合 70"/>
              <p:cNvGrpSpPr/>
              <p:nvPr/>
            </p:nvGrpSpPr>
            <p:grpSpPr>
              <a:xfrm>
                <a:off x="5177028" y="3947328"/>
                <a:ext cx="491408" cy="360000"/>
                <a:chOff x="185707" y="1643056"/>
                <a:chExt cx="428628" cy="360000"/>
              </a:xfrm>
            </p:grpSpPr>
            <p:sp>
              <p:nvSpPr>
                <p:cNvPr id="146" name="椭圆 145"/>
                <p:cNvSpPr/>
                <p:nvPr/>
              </p:nvSpPr>
              <p:spPr bwMode="auto">
                <a:xfrm>
                  <a:off x="209519" y="1643056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85707" y="1690679"/>
                  <a:ext cx="428628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1200" b="1" dirty="0">
                      <a:latin typeface="+mj-lt"/>
                      <a:ea typeface="宋体" panose="02010600030101010101" pitchFamily="2" charset="-122"/>
                    </a:rPr>
                    <a:t>01</a:t>
                  </a:r>
                  <a:r>
                    <a:rPr lang="en-US" altLang="zh-CN" sz="1200" b="1" dirty="0">
                      <a:solidFill>
                        <a:srgbClr val="C00000"/>
                      </a:solidFill>
                      <a:latin typeface="+mj-lt"/>
                      <a:ea typeface="宋体" panose="02010600030101010101" pitchFamily="2" charset="-122"/>
                    </a:rPr>
                    <a:t>0</a:t>
                  </a:r>
                  <a:endParaRPr kumimoji="0" lang="en-US" altLang="zh-CN" sz="1200" b="1" baseline="-25000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1" name="Text Box 35"/>
              <p:cNvSpPr txBox="1">
                <a:spLocks noChangeArrowheads="1"/>
              </p:cNvSpPr>
              <p:nvPr/>
            </p:nvSpPr>
            <p:spPr bwMode="auto">
              <a:xfrm>
                <a:off x="3642665" y="3641367"/>
                <a:ext cx="936920" cy="3077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0" lang="en-US" altLang="zh-CN" sz="1400" b="1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Q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2</a:t>
                </a:r>
                <a:r>
                  <a:rPr kumimoji="0" lang="en-US" altLang="zh-CN" sz="1400" b="1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Q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  <a:r>
                  <a:rPr kumimoji="0" lang="en-US" altLang="zh-CN" sz="1400" b="1" dirty="0">
                    <a:solidFill>
                      <a:schemeClr val="bg1"/>
                    </a:solidFill>
                    <a:ea typeface="宋体" panose="02010600030101010101" pitchFamily="2" charset="-122"/>
                  </a:rPr>
                  <a:t>Q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  <a:ea typeface="宋体" panose="02010600030101010101" pitchFamily="2" charset="-122"/>
                  </a:rPr>
                  <a:t>0 </a:t>
                </a:r>
                <a:endParaRPr lang="en-US" altLang="zh-CN" sz="14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  <p:cxnSp>
            <p:nvCxnSpPr>
              <p:cNvPr id="142" name="直接箭头连接符 141"/>
              <p:cNvCxnSpPr/>
              <p:nvPr/>
            </p:nvCxnSpPr>
            <p:spPr bwMode="auto">
              <a:xfrm>
                <a:off x="4234641" y="4127118"/>
                <a:ext cx="972000" cy="1053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3" name="直接箭头连接符 142"/>
              <p:cNvCxnSpPr/>
              <p:nvPr/>
            </p:nvCxnSpPr>
            <p:spPr bwMode="auto">
              <a:xfrm>
                <a:off x="4232328" y="4777958"/>
                <a:ext cx="972000" cy="1053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triangle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4" name="直接箭头连接符 143"/>
              <p:cNvCxnSpPr/>
              <p:nvPr/>
            </p:nvCxnSpPr>
            <p:spPr bwMode="auto">
              <a:xfrm>
                <a:off x="5417337" y="4311392"/>
                <a:ext cx="0" cy="25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5" name="直接箭头连接符 144"/>
              <p:cNvCxnSpPr/>
              <p:nvPr/>
            </p:nvCxnSpPr>
            <p:spPr bwMode="auto">
              <a:xfrm>
                <a:off x="4002705" y="4307328"/>
                <a:ext cx="0" cy="25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triangle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4" name="任意多边形 56"/>
            <p:cNvSpPr/>
            <p:nvPr/>
          </p:nvSpPr>
          <p:spPr bwMode="auto">
            <a:xfrm rot="10800000">
              <a:off x="710576" y="3774888"/>
              <a:ext cx="1351545" cy="190639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rgbClr val="C00000"/>
              </a:solidFill>
              <a:prstDash val="sysDash"/>
              <a:round/>
              <a:headEnd type="triangl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1125936" y="3859095"/>
              <a:ext cx="578893" cy="184666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 anchorCtr="1">
              <a:spAutoFit/>
            </a:bodyPr>
            <a:lstStyle/>
            <a:p>
              <a:r>
                <a:rPr kumimoji="0" lang="en-US" altLang="zh-CN" sz="1200" b="1" dirty="0"/>
                <a:t>Q</a:t>
              </a:r>
              <a:r>
                <a:rPr kumimoji="0" lang="en-US" altLang="zh-CN" sz="1200" b="1" baseline="-25000" dirty="0"/>
                <a:t>0</a:t>
              </a:r>
              <a:r>
                <a:rPr kumimoji="0" lang="en-US" altLang="zh-CN" sz="1200" b="1" baseline="30000" dirty="0"/>
                <a:t>n </a:t>
              </a:r>
              <a:r>
                <a:rPr kumimoji="0" lang="en-US" altLang="zh-CN" sz="1200" b="1" dirty="0"/>
                <a:t>Q</a:t>
              </a:r>
              <a:r>
                <a:rPr kumimoji="0" lang="en-US" altLang="zh-CN" sz="1200" b="1" baseline="-25000" dirty="0"/>
                <a:t>2</a:t>
              </a:r>
              <a:r>
                <a:rPr kumimoji="0" lang="en-US" altLang="zh-CN" sz="1200" b="1" baseline="30000" dirty="0"/>
                <a:t>n</a:t>
              </a:r>
              <a:endParaRPr lang="zh-CN" altLang="en-US" sz="1200" dirty="0"/>
            </a:p>
          </p:txBody>
        </p:sp>
        <p:sp>
          <p:nvSpPr>
            <p:cNvPr id="136" name="Line 7"/>
            <p:cNvSpPr>
              <a:spLocks noChangeShapeType="1"/>
            </p:cNvSpPr>
            <p:nvPr/>
          </p:nvSpPr>
          <p:spPr bwMode="auto">
            <a:xfrm>
              <a:off x="571659" y="3763663"/>
              <a:ext cx="252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7" name="Line 7"/>
            <p:cNvSpPr>
              <a:spLocks noChangeShapeType="1"/>
            </p:cNvSpPr>
            <p:nvPr/>
          </p:nvSpPr>
          <p:spPr bwMode="auto">
            <a:xfrm>
              <a:off x="1154238" y="3867894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8" name="Line 7"/>
            <p:cNvSpPr>
              <a:spLocks noChangeShapeType="1"/>
            </p:cNvSpPr>
            <p:nvPr/>
          </p:nvSpPr>
          <p:spPr bwMode="auto">
            <a:xfrm>
              <a:off x="1431623" y="3865297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1" name="箭头: 右 160"/>
          <p:cNvSpPr/>
          <p:nvPr/>
        </p:nvSpPr>
        <p:spPr bwMode="auto">
          <a:xfrm rot="19636253">
            <a:off x="6385539" y="4170805"/>
            <a:ext cx="374580" cy="180548"/>
          </a:xfrm>
          <a:prstGeom prst="righ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" name="箭头: 右 160"/>
          <p:cNvSpPr/>
          <p:nvPr/>
        </p:nvSpPr>
        <p:spPr bwMode="auto">
          <a:xfrm rot="19636253">
            <a:off x="2502842" y="3522775"/>
            <a:ext cx="374580" cy="180548"/>
          </a:xfrm>
          <a:prstGeom prst="righ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bldLvl="0" animBg="1"/>
      <p:bldP spid="6" grpId="0" bldLvl="0" animBg="1"/>
      <p:bldP spid="34" grpId="0"/>
      <p:bldP spid="38" grpId="0" bldLvl="0" animBg="1"/>
      <p:bldP spid="39" grpId="0"/>
      <p:bldP spid="155" grpId="0" bldLvl="0" animBg="1"/>
      <p:bldP spid="156" grpId="0"/>
      <p:bldP spid="161" grpId="0" bldLvl="0" animBg="1"/>
      <p:bldP spid="16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95736" y="104775"/>
            <a:ext cx="52565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更复杂的同步时序设计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8" name="Picture 2" descr="ELEG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573881"/>
            <a:ext cx="7416800" cy="5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3528" y="2490450"/>
            <a:ext cx="156461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2.</a:t>
            </a:r>
            <a:r>
              <a:rPr lang="en-US" altLang="zh-CN" sz="1800" b="1" i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39552" y="293179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③ 针对触发器</a:t>
            </a:r>
            <a:r>
              <a:rPr lang="en-US" altLang="zh-CN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分析：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47344" y="710455"/>
            <a:ext cx="3273022" cy="1366164"/>
            <a:chOff x="5413062" y="3448220"/>
            <a:chExt cx="3273022" cy="1366164"/>
          </a:xfrm>
        </p:grpSpPr>
        <p:grpSp>
          <p:nvGrpSpPr>
            <p:cNvPr id="12" name="组合 76"/>
            <p:cNvGrpSpPr/>
            <p:nvPr/>
          </p:nvGrpSpPr>
          <p:grpSpPr>
            <a:xfrm>
              <a:off x="7506087" y="3750443"/>
              <a:ext cx="491408" cy="360000"/>
              <a:chOff x="185707" y="1643056"/>
              <a:chExt cx="428628" cy="360000"/>
            </a:xfrm>
          </p:grpSpPr>
          <p:sp>
            <p:nvSpPr>
              <p:cNvPr id="43" name="椭圆 42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组合 67"/>
            <p:cNvGrpSpPr/>
            <p:nvPr/>
          </p:nvGrpSpPr>
          <p:grpSpPr>
            <a:xfrm>
              <a:off x="6103121" y="3754181"/>
              <a:ext cx="491408" cy="360000"/>
              <a:chOff x="185707" y="1643056"/>
              <a:chExt cx="428628" cy="360000"/>
            </a:xfrm>
          </p:grpSpPr>
          <p:sp>
            <p:nvSpPr>
              <p:cNvPr id="41" name="椭圆 40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" name="组合 70"/>
            <p:cNvGrpSpPr/>
            <p:nvPr/>
          </p:nvGrpSpPr>
          <p:grpSpPr>
            <a:xfrm>
              <a:off x="6823846" y="3733398"/>
              <a:ext cx="491408" cy="360000"/>
              <a:chOff x="185707" y="1643056"/>
              <a:chExt cx="428628" cy="360000"/>
            </a:xfrm>
          </p:grpSpPr>
          <p:sp>
            <p:nvSpPr>
              <p:cNvPr id="39" name="椭圆 38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Text Box 35"/>
            <p:cNvSpPr txBox="1">
              <a:spLocks noChangeArrowheads="1"/>
            </p:cNvSpPr>
            <p:nvPr/>
          </p:nvSpPr>
          <p:spPr bwMode="auto">
            <a:xfrm>
              <a:off x="5966541" y="3448220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>
              <a:off x="6558517" y="3933971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箭头连接符 16"/>
            <p:cNvCxnSpPr/>
            <p:nvPr/>
          </p:nvCxnSpPr>
          <p:spPr bwMode="auto">
            <a:xfrm>
              <a:off x="6556204" y="4654949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箭头连接符 17"/>
            <p:cNvCxnSpPr/>
            <p:nvPr/>
          </p:nvCxnSpPr>
          <p:spPr bwMode="auto">
            <a:xfrm>
              <a:off x="7741213" y="4118245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箭头连接符 18"/>
            <p:cNvCxnSpPr/>
            <p:nvPr/>
          </p:nvCxnSpPr>
          <p:spPr bwMode="auto">
            <a:xfrm>
              <a:off x="6326581" y="4114181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0" name="组合 70"/>
            <p:cNvGrpSpPr/>
            <p:nvPr/>
          </p:nvGrpSpPr>
          <p:grpSpPr>
            <a:xfrm>
              <a:off x="7506087" y="4454384"/>
              <a:ext cx="491408" cy="360000"/>
              <a:chOff x="185707" y="1643056"/>
              <a:chExt cx="428628" cy="360000"/>
            </a:xfrm>
          </p:grpSpPr>
          <p:sp>
            <p:nvSpPr>
              <p:cNvPr id="37" name="椭圆 36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" name="组合 67"/>
            <p:cNvGrpSpPr/>
            <p:nvPr/>
          </p:nvGrpSpPr>
          <p:grpSpPr>
            <a:xfrm>
              <a:off x="5413062" y="3750443"/>
              <a:ext cx="491408" cy="360000"/>
              <a:chOff x="185707" y="1643056"/>
              <a:chExt cx="428628" cy="360000"/>
            </a:xfrm>
          </p:grpSpPr>
          <p:sp>
            <p:nvSpPr>
              <p:cNvPr id="35" name="椭圆 34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2" name="直接箭头连接符 21"/>
            <p:cNvCxnSpPr/>
            <p:nvPr/>
          </p:nvCxnSpPr>
          <p:spPr bwMode="auto">
            <a:xfrm>
              <a:off x="5867372" y="3947965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3" name="组合 67"/>
            <p:cNvGrpSpPr/>
            <p:nvPr/>
          </p:nvGrpSpPr>
          <p:grpSpPr>
            <a:xfrm>
              <a:off x="8185048" y="3750204"/>
              <a:ext cx="491408" cy="360000"/>
              <a:chOff x="185707" y="1643056"/>
              <a:chExt cx="428628" cy="360000"/>
            </a:xfrm>
          </p:grpSpPr>
          <p:sp>
            <p:nvSpPr>
              <p:cNvPr id="33" name="椭圆 32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4" name="直接箭头连接符 23"/>
            <p:cNvCxnSpPr/>
            <p:nvPr/>
          </p:nvCxnSpPr>
          <p:spPr bwMode="auto">
            <a:xfrm>
              <a:off x="7959300" y="3933971"/>
              <a:ext cx="25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7261223" y="3949626"/>
              <a:ext cx="288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6" name="组合 73"/>
            <p:cNvGrpSpPr/>
            <p:nvPr/>
          </p:nvGrpSpPr>
          <p:grpSpPr>
            <a:xfrm>
              <a:off x="6114041" y="4452497"/>
              <a:ext cx="491408" cy="360000"/>
              <a:chOff x="185707" y="1643056"/>
              <a:chExt cx="428628" cy="360000"/>
            </a:xfrm>
          </p:grpSpPr>
          <p:sp>
            <p:nvSpPr>
              <p:cNvPr id="31" name="椭圆 30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组合 67"/>
            <p:cNvGrpSpPr/>
            <p:nvPr/>
          </p:nvGrpSpPr>
          <p:grpSpPr>
            <a:xfrm>
              <a:off x="8194676" y="4176370"/>
              <a:ext cx="491408" cy="360000"/>
              <a:chOff x="185707" y="1643056"/>
              <a:chExt cx="428628" cy="360000"/>
            </a:xfrm>
          </p:grpSpPr>
          <p:sp>
            <p:nvSpPr>
              <p:cNvPr id="29" name="椭圆 28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110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8" name="直接箭头连接符 27"/>
            <p:cNvCxnSpPr/>
            <p:nvPr/>
          </p:nvCxnSpPr>
          <p:spPr bwMode="auto">
            <a:xfrm>
              <a:off x="7929491" y="4024771"/>
              <a:ext cx="298293" cy="18969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5" name="组合 44"/>
          <p:cNvGrpSpPr/>
          <p:nvPr/>
        </p:nvGrpSpPr>
        <p:grpSpPr>
          <a:xfrm>
            <a:off x="4943124" y="699542"/>
            <a:ext cx="3484147" cy="1609370"/>
            <a:chOff x="4342466" y="1568816"/>
            <a:chExt cx="3484147" cy="1609370"/>
          </a:xfrm>
        </p:grpSpPr>
        <p:cxnSp>
          <p:nvCxnSpPr>
            <p:cNvPr id="46" name="直接连接符 34"/>
            <p:cNvCxnSpPr>
              <a:cxnSpLocks noChangeShapeType="1"/>
            </p:cNvCxnSpPr>
            <p:nvPr/>
          </p:nvCxnSpPr>
          <p:spPr bwMode="auto">
            <a:xfrm rot="5400000">
              <a:off x="4554834" y="268689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47" name="组合 16"/>
            <p:cNvGrpSpPr/>
            <p:nvPr/>
          </p:nvGrpSpPr>
          <p:grpSpPr bwMode="auto">
            <a:xfrm>
              <a:off x="4384292" y="1876948"/>
              <a:ext cx="870174" cy="881868"/>
              <a:chOff x="1863800" y="2488442"/>
              <a:chExt cx="803540" cy="756588"/>
            </a:xfrm>
          </p:grpSpPr>
          <p:cxnSp>
            <p:nvCxnSpPr>
              <p:cNvPr id="95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40" y="2813953"/>
                <a:ext cx="648504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9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21935" y="2865942"/>
                <a:ext cx="75658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97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" name="TextBox 197"/>
              <p:cNvSpPr txBox="1">
                <a:spLocks noChangeArrowheads="1"/>
              </p:cNvSpPr>
              <p:nvPr/>
            </p:nvSpPr>
            <p:spPr bwMode="auto">
              <a:xfrm>
                <a:off x="2310034" y="285335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9" name="TextBox 198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0" name="TextBox 199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11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01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58964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48" name="等腰三角形 36"/>
            <p:cNvSpPr>
              <a:spLocks noChangeArrowheads="1"/>
            </p:cNvSpPr>
            <p:nvPr/>
          </p:nvSpPr>
          <p:spPr bwMode="auto">
            <a:xfrm>
              <a:off x="4725809" y="2433689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Box 135"/>
            <p:cNvSpPr txBox="1">
              <a:spLocks noChangeArrowheads="1"/>
            </p:cNvSpPr>
            <p:nvPr/>
          </p:nvSpPr>
          <p:spPr bwMode="auto">
            <a:xfrm>
              <a:off x="4609082" y="2250484"/>
              <a:ext cx="457343" cy="2499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0" name="Text Box 69"/>
            <p:cNvSpPr txBox="1">
              <a:spLocks noChangeArrowheads="1"/>
            </p:cNvSpPr>
            <p:nvPr/>
          </p:nvSpPr>
          <p:spPr bwMode="auto">
            <a:xfrm>
              <a:off x="7352579" y="2759732"/>
              <a:ext cx="474034" cy="35899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51" name="直接连接符 34"/>
            <p:cNvCxnSpPr>
              <a:cxnSpLocks noChangeShapeType="1"/>
            </p:cNvCxnSpPr>
            <p:nvPr/>
          </p:nvCxnSpPr>
          <p:spPr bwMode="auto">
            <a:xfrm rot="5400000">
              <a:off x="5685627" y="2686929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oval"/>
            </a:ln>
          </p:spPr>
        </p:cxnSp>
        <p:grpSp>
          <p:nvGrpSpPr>
            <p:cNvPr id="52" name="组合 16"/>
            <p:cNvGrpSpPr/>
            <p:nvPr/>
          </p:nvGrpSpPr>
          <p:grpSpPr bwMode="auto">
            <a:xfrm>
              <a:off x="5510872" y="1892256"/>
              <a:ext cx="870174" cy="756806"/>
              <a:chOff x="1863914" y="2503340"/>
              <a:chExt cx="803540" cy="649298"/>
            </a:xfrm>
          </p:grpSpPr>
          <p:cxnSp>
            <p:nvCxnSpPr>
              <p:cNvPr id="88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27589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oval" w="med" len="med"/>
              </a:ln>
            </p:spPr>
          </p:cxnSp>
          <p:cxnSp>
            <p:nvCxnSpPr>
              <p:cNvPr id="89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75973" y="2826801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90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" name="TextBox 190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2" name="TextBox 191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3" name="TextBox 192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94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53" name="等腰三角形 36"/>
            <p:cNvSpPr>
              <a:spLocks noChangeArrowheads="1"/>
            </p:cNvSpPr>
            <p:nvPr/>
          </p:nvSpPr>
          <p:spPr bwMode="auto">
            <a:xfrm>
              <a:off x="5852264" y="2431642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TextBox 140"/>
            <p:cNvSpPr txBox="1">
              <a:spLocks noChangeArrowheads="1"/>
            </p:cNvSpPr>
            <p:nvPr/>
          </p:nvSpPr>
          <p:spPr bwMode="auto">
            <a:xfrm>
              <a:off x="5735663" y="2248600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 rot="16200000" flipV="1">
              <a:off x="6101869" y="1604914"/>
              <a:ext cx="0" cy="2628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145"/>
            <p:cNvSpPr txBox="1">
              <a:spLocks noChangeArrowheads="1"/>
            </p:cNvSpPr>
            <p:nvPr/>
          </p:nvSpPr>
          <p:spPr bwMode="auto">
            <a:xfrm>
              <a:off x="4370051" y="2304139"/>
              <a:ext cx="38685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7" name="TextBox 146"/>
            <p:cNvSpPr txBox="1">
              <a:spLocks noChangeArrowheads="1"/>
            </p:cNvSpPr>
            <p:nvPr/>
          </p:nvSpPr>
          <p:spPr bwMode="auto">
            <a:xfrm>
              <a:off x="5488078" y="2311530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8" name="Line 28"/>
            <p:cNvSpPr>
              <a:spLocks noChangeShapeType="1"/>
            </p:cNvSpPr>
            <p:nvPr/>
          </p:nvSpPr>
          <p:spPr bwMode="auto">
            <a:xfrm rot="16200000" flipV="1">
              <a:off x="6008556" y="2097735"/>
              <a:ext cx="0" cy="151279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9" name="直接连接符 34"/>
            <p:cNvCxnSpPr>
              <a:cxnSpLocks noChangeShapeType="1"/>
            </p:cNvCxnSpPr>
            <p:nvPr/>
          </p:nvCxnSpPr>
          <p:spPr bwMode="auto">
            <a:xfrm rot="5400000">
              <a:off x="6783263" y="2686015"/>
              <a:ext cx="461063" cy="1719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/>
              <a:tailEnd type="oval" w="med" len="med"/>
            </a:ln>
          </p:spPr>
        </p:cxnSp>
        <p:grpSp>
          <p:nvGrpSpPr>
            <p:cNvPr id="60" name="组合 16"/>
            <p:cNvGrpSpPr/>
            <p:nvPr/>
          </p:nvGrpSpPr>
          <p:grpSpPr bwMode="auto">
            <a:xfrm>
              <a:off x="6608508" y="1902593"/>
              <a:ext cx="870174" cy="956944"/>
              <a:chOff x="1863914" y="2512482"/>
              <a:chExt cx="803540" cy="821004"/>
            </a:xfrm>
          </p:grpSpPr>
          <p:cxnSp>
            <p:nvCxnSpPr>
              <p:cNvPr id="81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35943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82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93109" y="2925573"/>
                <a:ext cx="81423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83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TextBox 206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5" name="TextBox 207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6" name="TextBox 208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11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0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87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61" name="等腰三角形 36"/>
            <p:cNvSpPr>
              <a:spLocks noChangeArrowheads="1"/>
            </p:cNvSpPr>
            <p:nvPr/>
          </p:nvSpPr>
          <p:spPr bwMode="auto">
            <a:xfrm>
              <a:off x="6949900" y="2431316"/>
              <a:ext cx="116931" cy="12597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TextBox 211"/>
            <p:cNvSpPr txBox="1">
              <a:spLocks noChangeArrowheads="1"/>
            </p:cNvSpPr>
            <p:nvPr/>
          </p:nvSpPr>
          <p:spPr bwMode="auto">
            <a:xfrm>
              <a:off x="6833298" y="2248273"/>
              <a:ext cx="457343" cy="2499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63" name="TextBox 212"/>
            <p:cNvSpPr txBox="1">
              <a:spLocks noChangeArrowheads="1"/>
            </p:cNvSpPr>
            <p:nvPr/>
          </p:nvSpPr>
          <p:spPr bwMode="auto">
            <a:xfrm>
              <a:off x="6585714" y="2311203"/>
              <a:ext cx="385131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0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64" name="Line 28"/>
            <p:cNvSpPr>
              <a:spLocks noChangeShapeType="1"/>
            </p:cNvSpPr>
            <p:nvPr/>
          </p:nvSpPr>
          <p:spPr bwMode="auto">
            <a:xfrm rot="16200000" flipV="1">
              <a:off x="6089788" y="2216779"/>
              <a:ext cx="0" cy="864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oval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5" name="直接连接符 18"/>
            <p:cNvCxnSpPr>
              <a:cxnSpLocks noChangeShapeType="1"/>
            </p:cNvCxnSpPr>
            <p:nvPr/>
          </p:nvCxnSpPr>
          <p:spPr bwMode="auto">
            <a:xfrm rot="5400000">
              <a:off x="5886875" y="2538705"/>
              <a:ext cx="1259812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66" name="Line 28"/>
            <p:cNvSpPr>
              <a:spLocks noChangeShapeType="1"/>
            </p:cNvSpPr>
            <p:nvPr/>
          </p:nvSpPr>
          <p:spPr bwMode="auto">
            <a:xfrm rot="16200000" flipV="1">
              <a:off x="6641633" y="1792690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7" name="直接连接符 18"/>
            <p:cNvCxnSpPr>
              <a:cxnSpLocks noChangeShapeType="1"/>
            </p:cNvCxnSpPr>
            <p:nvPr/>
          </p:nvCxnSpPr>
          <p:spPr bwMode="auto">
            <a:xfrm rot="5400000">
              <a:off x="4768001" y="2373178"/>
              <a:ext cx="9658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68" name="Line 28"/>
            <p:cNvSpPr>
              <a:spLocks noChangeShapeType="1"/>
            </p:cNvSpPr>
            <p:nvPr/>
          </p:nvSpPr>
          <p:spPr bwMode="auto">
            <a:xfrm rot="16200000" flipV="1">
              <a:off x="5137015" y="1774141"/>
              <a:ext cx="0" cy="23393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9" name="直接连接符 18"/>
            <p:cNvCxnSpPr>
              <a:cxnSpLocks noChangeShapeType="1"/>
            </p:cNvCxnSpPr>
            <p:nvPr/>
          </p:nvCxnSpPr>
          <p:spPr bwMode="auto">
            <a:xfrm rot="5400000">
              <a:off x="4779538" y="2499159"/>
              <a:ext cx="1217818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70" name="Line 28"/>
            <p:cNvSpPr>
              <a:spLocks noChangeShapeType="1"/>
            </p:cNvSpPr>
            <p:nvPr/>
          </p:nvSpPr>
          <p:spPr bwMode="auto">
            <a:xfrm rot="16200000" flipV="1">
              <a:off x="5524314" y="1754646"/>
              <a:ext cx="0" cy="27292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28"/>
            <p:cNvSpPr>
              <a:spLocks noChangeShapeType="1"/>
            </p:cNvSpPr>
            <p:nvPr/>
          </p:nvSpPr>
          <p:spPr bwMode="auto">
            <a:xfrm rot="16200000" flipV="1">
              <a:off x="4991730" y="2702536"/>
              <a:ext cx="0" cy="8031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 rot="16200000" flipV="1">
              <a:off x="5499980" y="2156658"/>
              <a:ext cx="0" cy="20430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3" name="直接连接符 18"/>
            <p:cNvCxnSpPr>
              <a:cxnSpLocks noChangeShapeType="1"/>
            </p:cNvCxnSpPr>
            <p:nvPr/>
          </p:nvCxnSpPr>
          <p:spPr bwMode="auto">
            <a:xfrm rot="5400000">
              <a:off x="4340814" y="3026697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74" name="直接连接符 18"/>
            <p:cNvCxnSpPr>
              <a:cxnSpLocks noChangeShapeType="1"/>
            </p:cNvCxnSpPr>
            <p:nvPr/>
          </p:nvCxnSpPr>
          <p:spPr bwMode="auto">
            <a:xfrm rot="5400000">
              <a:off x="4445591" y="2963152"/>
              <a:ext cx="293956" cy="172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75" name="流程图: 延期 95"/>
            <p:cNvSpPr>
              <a:spLocks noChangeArrowheads="1"/>
            </p:cNvSpPr>
            <p:nvPr/>
          </p:nvSpPr>
          <p:spPr bwMode="auto">
            <a:xfrm rot="16200000">
              <a:off x="4396836" y="2737111"/>
              <a:ext cx="272959" cy="23393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Text Box 64"/>
            <p:cNvSpPr txBox="1">
              <a:spLocks noChangeArrowheads="1"/>
            </p:cNvSpPr>
            <p:nvPr/>
          </p:nvSpPr>
          <p:spPr bwMode="auto">
            <a:xfrm>
              <a:off x="4342466" y="1568816"/>
              <a:ext cx="428114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2</a:t>
              </a:r>
            </a:p>
          </p:txBody>
        </p:sp>
        <p:sp>
          <p:nvSpPr>
            <p:cNvPr id="77" name="Text Box 65"/>
            <p:cNvSpPr txBox="1">
              <a:spLocks noChangeArrowheads="1"/>
            </p:cNvSpPr>
            <p:nvPr/>
          </p:nvSpPr>
          <p:spPr bwMode="auto">
            <a:xfrm>
              <a:off x="5467047" y="1568816"/>
              <a:ext cx="412640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1</a:t>
              </a:r>
            </a:p>
          </p:txBody>
        </p:sp>
        <p:sp>
          <p:nvSpPr>
            <p:cNvPr id="78" name="Text Box 66"/>
            <p:cNvSpPr txBox="1">
              <a:spLocks noChangeArrowheads="1"/>
            </p:cNvSpPr>
            <p:nvPr/>
          </p:nvSpPr>
          <p:spPr bwMode="auto">
            <a:xfrm>
              <a:off x="6550235" y="1568816"/>
              <a:ext cx="434992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+mj-lt"/>
                </a:rPr>
                <a:t>Q</a:t>
              </a:r>
              <a:r>
                <a:rPr kumimoji="0" lang="en-US" altLang="zh-CN" sz="1400" b="1" baseline="-25000" dirty="0">
                  <a:latin typeface="+mj-lt"/>
                </a:rPr>
                <a:t>0</a:t>
              </a:r>
            </a:p>
          </p:txBody>
        </p:sp>
        <p:sp>
          <p:nvSpPr>
            <p:cNvPr id="79" name="Text Box 35"/>
            <p:cNvSpPr txBox="1">
              <a:spLocks noChangeArrowheads="1"/>
            </p:cNvSpPr>
            <p:nvPr/>
          </p:nvSpPr>
          <p:spPr bwMode="auto">
            <a:xfrm>
              <a:off x="4820990" y="2639834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sp>
          <p:nvSpPr>
            <p:cNvPr id="80" name="Text Box 35"/>
            <p:cNvSpPr txBox="1">
              <a:spLocks noChangeArrowheads="1"/>
            </p:cNvSpPr>
            <p:nvPr/>
          </p:nvSpPr>
          <p:spPr bwMode="auto">
            <a:xfrm>
              <a:off x="7040210" y="2629089"/>
              <a:ext cx="421109" cy="276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200" b="1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rPr>
                <a:t>“1”</a:t>
              </a:r>
              <a:endParaRPr lang="en-US" altLang="zh-CN" sz="12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</p:grpSp>
      <p:sp>
        <p:nvSpPr>
          <p:cNvPr id="102" name="Text Box 83"/>
          <p:cNvSpPr txBox="1">
            <a:spLocks noChangeArrowheads="1"/>
          </p:cNvSpPr>
          <p:nvPr/>
        </p:nvSpPr>
        <p:spPr bwMode="auto">
          <a:xfrm>
            <a:off x="899592" y="3435846"/>
            <a:ext cx="1656184" cy="338554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K</a:t>
            </a:r>
            <a:r>
              <a:rPr lang="en-US" altLang="zh-CN" sz="16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接触不良？</a:t>
            </a:r>
          </a:p>
        </p:txBody>
      </p:sp>
      <p:grpSp>
        <p:nvGrpSpPr>
          <p:cNvPr id="139" name="组合 138"/>
          <p:cNvGrpSpPr/>
          <p:nvPr/>
        </p:nvGrpSpPr>
        <p:grpSpPr>
          <a:xfrm>
            <a:off x="2411760" y="3291830"/>
            <a:ext cx="2013666" cy="656783"/>
            <a:chOff x="2411760" y="3003798"/>
            <a:chExt cx="2013666" cy="656783"/>
          </a:xfrm>
        </p:grpSpPr>
        <p:sp>
          <p:nvSpPr>
            <p:cNvPr id="137" name="圆角矩形 136"/>
            <p:cNvSpPr/>
            <p:nvPr/>
          </p:nvSpPr>
          <p:spPr bwMode="auto">
            <a:xfrm>
              <a:off x="2411760" y="3003798"/>
              <a:ext cx="2013666" cy="648072"/>
            </a:xfrm>
            <a:prstGeom prst="roundRect">
              <a:avLst/>
            </a:prstGeom>
            <a:solidFill>
              <a:srgbClr val="FFE5FF"/>
            </a:solidFill>
            <a:ln w="1905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Text Box 83"/>
            <p:cNvSpPr txBox="1">
              <a:spLocks noChangeArrowheads="1"/>
            </p:cNvSpPr>
            <p:nvPr/>
          </p:nvSpPr>
          <p:spPr bwMode="auto">
            <a:xfrm>
              <a:off x="2449043" y="3075806"/>
              <a:ext cx="1952600" cy="584775"/>
            </a:xfrm>
            <a:prstGeom prst="rect">
              <a:avLst/>
            </a:prstGeom>
            <a:noFill/>
            <a:ln w="19050" algn="ctr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+mj-lt"/>
                  <a:ea typeface="黑体" panose="02010609060101010101" pitchFamily="49" charset="-122"/>
                </a:rPr>
                <a:t>TTL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电路管脚悬空等效为高电平</a:t>
              </a:r>
              <a:r>
                <a:rPr lang="en-US" altLang="zh-CN" sz="1600" b="1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600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104" name="箭头: 右 133"/>
          <p:cNvSpPr/>
          <p:nvPr/>
        </p:nvSpPr>
        <p:spPr bwMode="auto">
          <a:xfrm>
            <a:off x="4499992" y="3579862"/>
            <a:ext cx="347677" cy="176535"/>
          </a:xfrm>
          <a:prstGeom prst="righ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" name="Text Box 83"/>
          <p:cNvSpPr txBox="1">
            <a:spLocks noChangeArrowheads="1"/>
          </p:cNvSpPr>
          <p:nvPr/>
        </p:nvSpPr>
        <p:spPr bwMode="auto">
          <a:xfrm>
            <a:off x="4716016" y="3507854"/>
            <a:ext cx="1440160" cy="338554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K</a:t>
            </a:r>
            <a:r>
              <a:rPr lang="en-US" altLang="zh-CN" sz="16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没问题</a:t>
            </a:r>
          </a:p>
        </p:txBody>
      </p:sp>
      <p:sp>
        <p:nvSpPr>
          <p:cNvPr id="106" name="Text Box 83"/>
          <p:cNvSpPr txBox="1">
            <a:spLocks noChangeArrowheads="1"/>
          </p:cNvSpPr>
          <p:nvPr/>
        </p:nvSpPr>
        <p:spPr bwMode="auto">
          <a:xfrm>
            <a:off x="899592" y="4155926"/>
            <a:ext cx="1431143" cy="338554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J</a:t>
            </a:r>
            <a:r>
              <a:rPr lang="en-US" altLang="zh-CN" sz="1600" b="1" baseline="-25000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接触不良？</a:t>
            </a:r>
          </a:p>
        </p:txBody>
      </p:sp>
      <p:sp>
        <p:nvSpPr>
          <p:cNvPr id="108" name="箭头: 右 133"/>
          <p:cNvSpPr/>
          <p:nvPr/>
        </p:nvSpPr>
        <p:spPr bwMode="auto">
          <a:xfrm>
            <a:off x="4499992" y="4227934"/>
            <a:ext cx="347677" cy="176535"/>
          </a:xfrm>
          <a:prstGeom prst="rightArrow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" name="Text Box 83"/>
          <p:cNvSpPr txBox="1">
            <a:spLocks noChangeArrowheads="1"/>
          </p:cNvSpPr>
          <p:nvPr/>
        </p:nvSpPr>
        <p:spPr bwMode="auto">
          <a:xfrm>
            <a:off x="4860032" y="4011910"/>
            <a:ext cx="1440160" cy="58477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600" b="1" dirty="0">
                <a:latin typeface="+mj-lt"/>
                <a:ea typeface="黑体" panose="02010609060101010101" pitchFamily="49" charset="-122"/>
              </a:rPr>
              <a:t>触发器变成</a:t>
            </a: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T’,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符合故障现象</a:t>
            </a:r>
          </a:p>
        </p:txBody>
      </p:sp>
      <p:grpSp>
        <p:nvGrpSpPr>
          <p:cNvPr id="140" name="组合 139"/>
          <p:cNvGrpSpPr/>
          <p:nvPr/>
        </p:nvGrpSpPr>
        <p:grpSpPr>
          <a:xfrm>
            <a:off x="2411760" y="4011910"/>
            <a:ext cx="2016224" cy="648072"/>
            <a:chOff x="2411760" y="3723878"/>
            <a:chExt cx="2016224" cy="648072"/>
          </a:xfrm>
        </p:grpSpPr>
        <p:sp>
          <p:nvSpPr>
            <p:cNvPr id="138" name="圆角矩形 137"/>
            <p:cNvSpPr/>
            <p:nvPr/>
          </p:nvSpPr>
          <p:spPr bwMode="auto">
            <a:xfrm>
              <a:off x="2411760" y="3723878"/>
              <a:ext cx="2016224" cy="648072"/>
            </a:xfrm>
            <a:prstGeom prst="roundRect">
              <a:avLst/>
            </a:prstGeom>
            <a:solidFill>
              <a:srgbClr val="FFE5FF"/>
            </a:solidFill>
            <a:ln w="1905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2411760" y="3723878"/>
              <a:ext cx="1952600" cy="584775"/>
              <a:chOff x="2483768" y="3939902"/>
              <a:chExt cx="1952600" cy="584775"/>
            </a:xfrm>
          </p:grpSpPr>
          <p:sp>
            <p:nvSpPr>
              <p:cNvPr id="107" name="Text Box 83"/>
              <p:cNvSpPr txBox="1">
                <a:spLocks noChangeArrowheads="1"/>
              </p:cNvSpPr>
              <p:nvPr/>
            </p:nvSpPr>
            <p:spPr bwMode="auto">
              <a:xfrm>
                <a:off x="2483768" y="3939902"/>
                <a:ext cx="1952600" cy="584775"/>
              </a:xfrm>
              <a:prstGeom prst="rect">
                <a:avLst/>
              </a:prstGeom>
              <a:noFill/>
              <a:ln w="19050" algn="ctr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kumimoji="0" lang="en-US" altLang="zh-CN" sz="1600" b="1" dirty="0"/>
                  <a:t>Q</a:t>
                </a:r>
                <a:r>
                  <a:rPr kumimoji="0" lang="en-US" altLang="zh-CN" sz="1600" b="1" baseline="-25000" dirty="0"/>
                  <a:t>2</a:t>
                </a:r>
                <a:r>
                  <a:rPr kumimoji="0" lang="en-US" altLang="zh-CN" sz="1600" b="1" baseline="30000" dirty="0"/>
                  <a:t> </a:t>
                </a:r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没有接入，</a:t>
                </a:r>
                <a:r>
                  <a:rPr lang="en-US" altLang="zh-CN" sz="1600" b="1" dirty="0">
                    <a:ea typeface="黑体" panose="02010609060101010101" pitchFamily="49" charset="-122"/>
                  </a:rPr>
                  <a:t> </a:t>
                </a:r>
                <a:r>
                  <a:rPr lang="en-US" altLang="zh-CN" sz="1600" b="1" dirty="0">
                    <a:latin typeface="+mj-lt"/>
                    <a:ea typeface="黑体" panose="02010609060101010101" pitchFamily="49" charset="-122"/>
                  </a:rPr>
                  <a:t>J</a:t>
                </a:r>
                <a:r>
                  <a:rPr lang="en-US" altLang="zh-CN" sz="1600" b="1" baseline="-25000" dirty="0">
                    <a:ea typeface="黑体" panose="02010609060101010101" pitchFamily="49" charset="-122"/>
                  </a:rPr>
                  <a:t>0</a:t>
                </a:r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悬空等效为高电平</a:t>
                </a:r>
                <a:r>
                  <a:rPr lang="en-US" altLang="zh-CN" sz="1600" b="1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6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0" name="Line 7"/>
              <p:cNvSpPr>
                <a:spLocks noChangeShapeType="1"/>
              </p:cNvSpPr>
              <p:nvPr/>
            </p:nvSpPr>
            <p:spPr bwMode="auto">
              <a:xfrm>
                <a:off x="2586256" y="4004290"/>
                <a:ext cx="14400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>
            <a:off x="6516216" y="3363838"/>
            <a:ext cx="2036691" cy="1294139"/>
            <a:chOff x="3642665" y="3641367"/>
            <a:chExt cx="2036691" cy="1294139"/>
          </a:xfrm>
        </p:grpSpPr>
        <p:grpSp>
          <p:nvGrpSpPr>
            <p:cNvPr id="112" name="组合 73"/>
            <p:cNvGrpSpPr/>
            <p:nvPr/>
          </p:nvGrpSpPr>
          <p:grpSpPr>
            <a:xfrm>
              <a:off x="3790165" y="4575506"/>
              <a:ext cx="491408" cy="360000"/>
              <a:chOff x="185707" y="1643056"/>
              <a:chExt cx="428628" cy="360000"/>
            </a:xfrm>
          </p:grpSpPr>
          <p:sp>
            <p:nvSpPr>
              <p:cNvPr id="127" name="椭圆 126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10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13" name="组合 76"/>
            <p:cNvGrpSpPr/>
            <p:nvPr/>
          </p:nvGrpSpPr>
          <p:grpSpPr>
            <a:xfrm>
              <a:off x="5187948" y="4575506"/>
              <a:ext cx="491408" cy="360000"/>
              <a:chOff x="185707" y="1643056"/>
              <a:chExt cx="428628" cy="360000"/>
            </a:xfrm>
          </p:grpSpPr>
          <p:sp>
            <p:nvSpPr>
              <p:cNvPr id="125" name="椭圆 124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4" name="组合 67"/>
            <p:cNvGrpSpPr/>
            <p:nvPr/>
          </p:nvGrpSpPr>
          <p:grpSpPr>
            <a:xfrm>
              <a:off x="3779245" y="3947328"/>
              <a:ext cx="491408" cy="360000"/>
              <a:chOff x="185707" y="1643056"/>
              <a:chExt cx="428628" cy="360000"/>
            </a:xfrm>
          </p:grpSpPr>
          <p:sp>
            <p:nvSpPr>
              <p:cNvPr id="123" name="椭圆 122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81154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00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1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5" name="组合 70"/>
            <p:cNvGrpSpPr/>
            <p:nvPr/>
          </p:nvGrpSpPr>
          <p:grpSpPr>
            <a:xfrm>
              <a:off x="5177028" y="3947328"/>
              <a:ext cx="491408" cy="360000"/>
              <a:chOff x="185707" y="1643056"/>
              <a:chExt cx="428628" cy="360000"/>
            </a:xfrm>
          </p:grpSpPr>
          <p:sp>
            <p:nvSpPr>
              <p:cNvPr id="121" name="椭圆 120"/>
              <p:cNvSpPr/>
              <p:nvPr/>
            </p:nvSpPr>
            <p:spPr bwMode="auto">
              <a:xfrm>
                <a:off x="209519" y="1643056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270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Text Box 6"/>
              <p:cNvSpPr txBox="1">
                <a:spLocks noChangeArrowheads="1"/>
              </p:cNvSpPr>
              <p:nvPr/>
            </p:nvSpPr>
            <p:spPr bwMode="auto">
              <a:xfrm>
                <a:off x="185707" y="1690679"/>
                <a:ext cx="428628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1200" b="1" dirty="0">
                    <a:latin typeface="+mj-lt"/>
                    <a:ea typeface="宋体" panose="02010600030101010101" pitchFamily="2" charset="-122"/>
                  </a:rPr>
                  <a:t>01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lt"/>
                    <a:ea typeface="宋体" panose="02010600030101010101" pitchFamily="2" charset="-122"/>
                  </a:rPr>
                  <a:t>0</a:t>
                </a:r>
                <a:endParaRPr kumimoji="0" lang="en-US" altLang="zh-CN" sz="1200" b="1" baseline="-25000" dirty="0">
                  <a:solidFill>
                    <a:srgbClr val="C00000"/>
                  </a:solidFill>
                  <a:latin typeface="+mj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6" name="Text Box 35"/>
            <p:cNvSpPr txBox="1">
              <a:spLocks noChangeArrowheads="1"/>
            </p:cNvSpPr>
            <p:nvPr/>
          </p:nvSpPr>
          <p:spPr bwMode="auto">
            <a:xfrm>
              <a:off x="3642665" y="3641367"/>
              <a:ext cx="936920" cy="3077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2</a:t>
              </a:r>
              <a:r>
                <a:rPr kumimoji="0" lang="en-US" altLang="zh-CN" sz="1400" b="1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latin typeface="+mj-lt"/>
                  <a:ea typeface="宋体" panose="02010600030101010101" pitchFamily="2" charset="-122"/>
                </a:rPr>
                <a:t>1</a:t>
              </a:r>
              <a:r>
                <a:rPr kumimoji="0" lang="en-US" altLang="zh-CN" sz="1400" b="1" dirty="0">
                  <a:solidFill>
                    <a:schemeClr val="bg1"/>
                  </a:solidFill>
                  <a:ea typeface="宋体" panose="02010600030101010101" pitchFamily="2" charset="-122"/>
                </a:rPr>
                <a:t>Q</a:t>
              </a:r>
              <a:r>
                <a:rPr kumimoji="0" lang="en-US" altLang="zh-CN" sz="1400" b="1" baseline="-25000" dirty="0">
                  <a:solidFill>
                    <a:schemeClr val="bg1"/>
                  </a:solidFill>
                  <a:ea typeface="宋体" panose="02010600030101010101" pitchFamily="2" charset="-122"/>
                </a:rPr>
                <a:t>0 </a:t>
              </a:r>
              <a:endParaRPr lang="en-US" altLang="zh-CN" sz="1400" b="1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endParaRPr>
            </a:p>
          </p:txBody>
        </p:sp>
        <p:cxnSp>
          <p:nvCxnSpPr>
            <p:cNvPr id="117" name="直接箭头连接符 116"/>
            <p:cNvCxnSpPr/>
            <p:nvPr/>
          </p:nvCxnSpPr>
          <p:spPr bwMode="auto">
            <a:xfrm>
              <a:off x="4234641" y="4127118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8" name="直接箭头连接符 117"/>
            <p:cNvCxnSpPr/>
            <p:nvPr/>
          </p:nvCxnSpPr>
          <p:spPr bwMode="auto">
            <a:xfrm>
              <a:off x="4232328" y="4777958"/>
              <a:ext cx="972000" cy="105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" name="直接箭头连接符 118"/>
            <p:cNvCxnSpPr/>
            <p:nvPr/>
          </p:nvCxnSpPr>
          <p:spPr bwMode="auto">
            <a:xfrm>
              <a:off x="5417337" y="4311392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0" name="直接箭头连接符 119"/>
            <p:cNvCxnSpPr/>
            <p:nvPr/>
          </p:nvCxnSpPr>
          <p:spPr bwMode="auto">
            <a:xfrm>
              <a:off x="4002705" y="4307328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3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435846"/>
            <a:ext cx="775301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6" name="组合 145"/>
          <p:cNvGrpSpPr/>
          <p:nvPr/>
        </p:nvGrpSpPr>
        <p:grpSpPr>
          <a:xfrm>
            <a:off x="6228184" y="2499742"/>
            <a:ext cx="2088232" cy="864096"/>
            <a:chOff x="3203848" y="2355726"/>
            <a:chExt cx="2088232" cy="864096"/>
          </a:xfrm>
        </p:grpSpPr>
        <p:sp>
          <p:nvSpPr>
            <p:cNvPr id="145" name="云形标注 144"/>
            <p:cNvSpPr/>
            <p:nvPr/>
          </p:nvSpPr>
          <p:spPr bwMode="auto">
            <a:xfrm>
              <a:off x="3203848" y="2355726"/>
              <a:ext cx="2088232" cy="864096"/>
            </a:xfrm>
            <a:prstGeom prst="cloudCallout">
              <a:avLst>
                <a:gd name="adj1" fmla="val -111"/>
                <a:gd name="adj2" fmla="val -111637"/>
              </a:avLst>
            </a:prstGeom>
            <a:solidFill>
              <a:srgbClr val="FFE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491881" y="2499742"/>
              <a:ext cx="15841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结论：</a:t>
              </a:r>
              <a:r>
                <a:rPr kumimoji="0" lang="en-US" altLang="zh-CN" sz="1600" b="1" dirty="0"/>
                <a:t> Q</a:t>
              </a:r>
              <a:r>
                <a:rPr kumimoji="0" lang="en-US" altLang="zh-CN" sz="1600" b="1" baseline="-25000" dirty="0"/>
                <a:t>2</a:t>
              </a:r>
              <a:r>
                <a:rPr kumimoji="0" lang="en-US" altLang="zh-CN" sz="1600" b="1" baseline="30000" dirty="0"/>
                <a:t> 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没有接入，</a:t>
              </a:r>
              <a:r>
                <a:rPr lang="en-US" altLang="zh-CN" sz="1600" b="1" dirty="0">
                  <a:ea typeface="黑体" panose="02010609060101010101" pitchFamily="49" charset="-122"/>
                </a:rPr>
                <a:t> J</a:t>
              </a:r>
              <a:r>
                <a:rPr lang="en-US" altLang="zh-CN" sz="1600" b="1" baseline="-25000" dirty="0">
                  <a:ea typeface="黑体" panose="02010609060101010101" pitchFamily="49" charset="-122"/>
                </a:rPr>
                <a:t>0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悬空</a:t>
              </a:r>
            </a:p>
          </p:txBody>
        </p:sp>
        <p:sp>
          <p:nvSpPr>
            <p:cNvPr id="135" name="Line 7"/>
            <p:cNvSpPr>
              <a:spLocks noChangeShapeType="1"/>
            </p:cNvSpPr>
            <p:nvPr/>
          </p:nvSpPr>
          <p:spPr bwMode="auto">
            <a:xfrm>
              <a:off x="4272393" y="2560175"/>
              <a:ext cx="144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4" grpId="0" bldLvl="0" animBg="1"/>
      <p:bldP spid="105" grpId="0"/>
      <p:bldP spid="106" grpId="0"/>
      <p:bldP spid="108" grpId="0" bldLvl="0" animBg="1"/>
      <p:bldP spid="10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83060" y="716046"/>
            <a:ext cx="7704856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542925" indent="-542925">
              <a:spcBef>
                <a:spcPct val="50000"/>
              </a:spcBef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某同步时序电路如下所示，在电路状态转换图保持不变的前提下，把电路中的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JK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触发器换成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触发器，应该怎样设计？如果将电路改成模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计数器，最简单的实现方法是什么？</a:t>
            </a:r>
            <a:endParaRPr lang="zh-CN" altLang="en-US" sz="20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1878652" y="1851670"/>
            <a:ext cx="5069612" cy="1824218"/>
            <a:chOff x="1878652" y="1851670"/>
            <a:chExt cx="5069612" cy="1824218"/>
          </a:xfrm>
        </p:grpSpPr>
        <p:grpSp>
          <p:nvGrpSpPr>
            <p:cNvPr id="93" name="组合 92"/>
            <p:cNvGrpSpPr/>
            <p:nvPr/>
          </p:nvGrpSpPr>
          <p:grpSpPr>
            <a:xfrm>
              <a:off x="1878652" y="1851670"/>
              <a:ext cx="5069612" cy="1824218"/>
              <a:chOff x="1878652" y="1851670"/>
              <a:chExt cx="5069612" cy="1824218"/>
            </a:xfrm>
          </p:grpSpPr>
          <p:cxnSp>
            <p:nvCxnSpPr>
              <p:cNvPr id="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4777831" y="2731652"/>
                <a:ext cx="1080000" cy="172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</a:ln>
            </p:spPr>
          </p:cxnSp>
          <p:cxnSp>
            <p:nvCxnSpPr>
              <p:cNvPr id="7" name="直接连接符 34"/>
              <p:cNvCxnSpPr>
                <a:cxnSpLocks noChangeShapeType="1"/>
              </p:cNvCxnSpPr>
              <p:nvPr/>
            </p:nvCxnSpPr>
            <p:spPr bwMode="auto">
              <a:xfrm rot="5400000">
                <a:off x="2264088" y="2969753"/>
                <a:ext cx="461063" cy="1719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8" name="组合 16"/>
              <p:cNvGrpSpPr/>
              <p:nvPr/>
            </p:nvGrpSpPr>
            <p:grpSpPr bwMode="auto">
              <a:xfrm>
                <a:off x="2093546" y="2159796"/>
                <a:ext cx="870173" cy="1118389"/>
                <a:chOff x="1863800" y="2488442"/>
                <a:chExt cx="803540" cy="959510"/>
              </a:xfrm>
            </p:grpSpPr>
            <p:cxnSp>
              <p:nvCxnSpPr>
                <p:cNvPr id="72" name="直接连接符 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961661" y="2968428"/>
                  <a:ext cx="957460" cy="1588"/>
                </a:xfrm>
                <a:prstGeom prst="line">
                  <a:avLst/>
                </a:prstGeom>
                <a:noFill/>
                <a:ln w="19050" algn="ctr">
                  <a:solidFill>
                    <a:srgbClr val="C00000"/>
                  </a:solidFill>
                  <a:round/>
                  <a:tailEnd type="none" w="sm" len="sm"/>
                </a:ln>
              </p:spPr>
            </p:cxnSp>
            <p:cxnSp>
              <p:nvCxnSpPr>
                <p:cNvPr id="73" name="直接连接符 1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621935" y="2865942"/>
                  <a:ext cx="756588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  <p:sp>
              <p:nvSpPr>
                <p:cNvPr id="74" name="矩形 19"/>
                <p:cNvSpPr>
                  <a:spLocks noChangeArrowheads="1"/>
                </p:cNvSpPr>
                <p:nvPr/>
              </p:nvSpPr>
              <p:spPr bwMode="auto">
                <a:xfrm>
                  <a:off x="1876406" y="2643187"/>
                  <a:ext cx="720005" cy="432304"/>
                </a:xfrm>
                <a:prstGeom prst="rect">
                  <a:avLst/>
                </a:prstGeom>
                <a:solidFill>
                  <a:srgbClr val="FFFF00"/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5" name="TextBox 197"/>
                <p:cNvSpPr txBox="1">
                  <a:spLocks noChangeArrowheads="1"/>
                </p:cNvSpPr>
                <p:nvPr/>
              </p:nvSpPr>
              <p:spPr bwMode="auto">
                <a:xfrm>
                  <a:off x="2310034" y="2853350"/>
                  <a:ext cx="357306" cy="246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K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4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76" name="TextBox 198"/>
                <p:cNvSpPr txBox="1">
                  <a:spLocks noChangeArrowheads="1"/>
                </p:cNvSpPr>
                <p:nvPr/>
              </p:nvSpPr>
              <p:spPr bwMode="auto">
                <a:xfrm>
                  <a:off x="1863800" y="2627790"/>
                  <a:ext cx="357305" cy="246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4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77" name="TextBox 199"/>
                <p:cNvSpPr txBox="1">
                  <a:spLocks noChangeArrowheads="1"/>
                </p:cNvSpPr>
                <p:nvPr/>
              </p:nvSpPr>
              <p:spPr bwMode="auto">
                <a:xfrm>
                  <a:off x="2268746" y="2627790"/>
                  <a:ext cx="357306" cy="246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4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78" name="直接连接符 25"/>
                <p:cNvCxnSpPr>
                  <a:cxnSpLocks noChangeShapeType="1"/>
                </p:cNvCxnSpPr>
                <p:nvPr/>
              </p:nvCxnSpPr>
              <p:spPr bwMode="auto">
                <a:xfrm>
                  <a:off x="2366639" y="2681298"/>
                  <a:ext cx="936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</p:grpSp>
          <p:sp>
            <p:nvSpPr>
              <p:cNvPr id="9" name="等腰三角形 36"/>
              <p:cNvSpPr>
                <a:spLocks noChangeArrowheads="1"/>
              </p:cNvSpPr>
              <p:nvPr/>
            </p:nvSpPr>
            <p:spPr bwMode="auto">
              <a:xfrm>
                <a:off x="2435063" y="2716543"/>
                <a:ext cx="116931" cy="125972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Box 135"/>
              <p:cNvSpPr txBox="1">
                <a:spLocks noChangeArrowheads="1"/>
              </p:cNvSpPr>
              <p:nvPr/>
            </p:nvSpPr>
            <p:spPr bwMode="auto">
              <a:xfrm>
                <a:off x="2318336" y="2533338"/>
                <a:ext cx="457343" cy="24999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rPr>
                  <a:t>CK</a:t>
                </a:r>
                <a:endParaRPr lang="zh-CN" altLang="en-US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" name="Text Box 69"/>
              <p:cNvSpPr txBox="1">
                <a:spLocks noChangeArrowheads="1"/>
              </p:cNvSpPr>
              <p:nvPr/>
            </p:nvSpPr>
            <p:spPr bwMode="auto">
              <a:xfrm>
                <a:off x="6474231" y="3016522"/>
                <a:ext cx="474033" cy="35899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chemeClr val="bg1"/>
                    </a:solidFill>
                  </a:rPr>
                  <a:t>cp</a:t>
                </a:r>
                <a:r>
                  <a:rPr kumimoji="0" lang="en-US" altLang="zh-CN" sz="1400" b="1" baseline="-250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  <p:cxnSp>
            <p:nvCxnSpPr>
              <p:cNvPr id="12" name="直接连接符 34"/>
              <p:cNvCxnSpPr>
                <a:cxnSpLocks noChangeShapeType="1"/>
              </p:cNvCxnSpPr>
              <p:nvPr/>
            </p:nvCxnSpPr>
            <p:spPr bwMode="auto">
              <a:xfrm rot="5400000">
                <a:off x="3394880" y="2971806"/>
                <a:ext cx="461063" cy="1719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 type="oval"/>
                <a:tailEnd type="oval"/>
              </a:ln>
            </p:spPr>
          </p:cxnSp>
          <p:grpSp>
            <p:nvGrpSpPr>
              <p:cNvPr id="13" name="组合 16"/>
              <p:cNvGrpSpPr/>
              <p:nvPr/>
            </p:nvGrpSpPr>
            <p:grpSpPr bwMode="auto">
              <a:xfrm>
                <a:off x="3220126" y="2175109"/>
                <a:ext cx="870173" cy="1432800"/>
                <a:chOff x="1863914" y="2503339"/>
                <a:chExt cx="803540" cy="1229263"/>
              </a:xfrm>
            </p:grpSpPr>
            <p:cxnSp>
              <p:nvCxnSpPr>
                <p:cNvPr id="65" name="直接连接符 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027267" y="2920295"/>
                  <a:ext cx="833922" cy="1588"/>
                </a:xfrm>
                <a:prstGeom prst="line">
                  <a:avLst/>
                </a:prstGeom>
                <a:noFill/>
                <a:ln w="19050" algn="ctr">
                  <a:solidFill>
                    <a:srgbClr val="C00000"/>
                  </a:solidFill>
                  <a:round/>
                  <a:tailEnd type="none" w="sm" len="sm"/>
                </a:ln>
              </p:spPr>
            </p:cxnSp>
            <p:cxnSp>
              <p:nvCxnSpPr>
                <p:cNvPr id="66" name="直接连接符 1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85597" y="3117177"/>
                  <a:ext cx="1229263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67" name="矩形 19"/>
                <p:cNvSpPr>
                  <a:spLocks noChangeArrowheads="1"/>
                </p:cNvSpPr>
                <p:nvPr/>
              </p:nvSpPr>
              <p:spPr bwMode="auto">
                <a:xfrm>
                  <a:off x="1876406" y="2643187"/>
                  <a:ext cx="720005" cy="432304"/>
                </a:xfrm>
                <a:prstGeom prst="rect">
                  <a:avLst/>
                </a:prstGeom>
                <a:solidFill>
                  <a:srgbClr val="FFFF00"/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" name="TextBox 190"/>
                <p:cNvSpPr txBox="1">
                  <a:spLocks noChangeArrowheads="1"/>
                </p:cNvSpPr>
                <p:nvPr/>
              </p:nvSpPr>
              <p:spPr bwMode="auto">
                <a:xfrm>
                  <a:off x="2310148" y="2861462"/>
                  <a:ext cx="357306" cy="246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K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3</a:t>
                  </a: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 </a:t>
                  </a:r>
                  <a:endParaRPr lang="zh-CN" altLang="en-US" sz="1000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9" name="TextBox 191"/>
                <p:cNvSpPr txBox="1">
                  <a:spLocks noChangeArrowheads="1"/>
                </p:cNvSpPr>
                <p:nvPr/>
              </p:nvSpPr>
              <p:spPr bwMode="auto">
                <a:xfrm>
                  <a:off x="1863914" y="2618409"/>
                  <a:ext cx="357305" cy="246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3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70" name="TextBox 192"/>
                <p:cNvSpPr txBox="1">
                  <a:spLocks noChangeArrowheads="1"/>
                </p:cNvSpPr>
                <p:nvPr/>
              </p:nvSpPr>
              <p:spPr bwMode="auto">
                <a:xfrm>
                  <a:off x="2268860" y="2627942"/>
                  <a:ext cx="357306" cy="246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3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71" name="直接连接符 25"/>
                <p:cNvCxnSpPr>
                  <a:cxnSpLocks noChangeShapeType="1"/>
                </p:cNvCxnSpPr>
                <p:nvPr/>
              </p:nvCxnSpPr>
              <p:spPr bwMode="auto">
                <a:xfrm>
                  <a:off x="2366639" y="2681298"/>
                  <a:ext cx="936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</p:grpSp>
          <p:sp>
            <p:nvSpPr>
              <p:cNvPr id="14" name="等腰三角形 36"/>
              <p:cNvSpPr>
                <a:spLocks noChangeArrowheads="1"/>
              </p:cNvSpPr>
              <p:nvPr/>
            </p:nvSpPr>
            <p:spPr bwMode="auto">
              <a:xfrm>
                <a:off x="3561518" y="2714496"/>
                <a:ext cx="116931" cy="125972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TextBox 140"/>
              <p:cNvSpPr txBox="1">
                <a:spLocks noChangeArrowheads="1"/>
              </p:cNvSpPr>
              <p:nvPr/>
            </p:nvSpPr>
            <p:spPr bwMode="auto">
              <a:xfrm>
                <a:off x="3444916" y="2531454"/>
                <a:ext cx="457343" cy="2499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rPr>
                  <a:t>CK</a:t>
                </a:r>
                <a:endParaRPr lang="zh-CN" altLang="en-US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477123" y="1221769"/>
                <a:ext cx="0" cy="396000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Box 145"/>
              <p:cNvSpPr txBox="1">
                <a:spLocks noChangeArrowheads="1"/>
              </p:cNvSpPr>
              <p:nvPr/>
            </p:nvSpPr>
            <p:spPr bwMode="auto">
              <a:xfrm>
                <a:off x="2079305" y="2586993"/>
                <a:ext cx="386851" cy="2870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J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TextBox 146"/>
              <p:cNvSpPr txBox="1">
                <a:spLocks noChangeArrowheads="1"/>
              </p:cNvSpPr>
              <p:nvPr/>
            </p:nvSpPr>
            <p:spPr bwMode="auto">
              <a:xfrm>
                <a:off x="3197332" y="2594384"/>
                <a:ext cx="385131" cy="2870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J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椭圆 93"/>
              <p:cNvSpPr>
                <a:spLocks noChangeArrowheads="1"/>
              </p:cNvSpPr>
              <p:nvPr/>
            </p:nvSpPr>
            <p:spPr bwMode="auto">
              <a:xfrm>
                <a:off x="3583230" y="2838449"/>
                <a:ext cx="77346" cy="83325"/>
              </a:xfrm>
              <a:prstGeom prst="ellipse">
                <a:avLst/>
              </a:prstGeom>
              <a:solidFill>
                <a:schemeClr val="tx1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椭圆 93"/>
              <p:cNvSpPr>
                <a:spLocks noChangeArrowheads="1"/>
              </p:cNvSpPr>
              <p:nvPr/>
            </p:nvSpPr>
            <p:spPr bwMode="auto">
              <a:xfrm>
                <a:off x="2455936" y="2845228"/>
                <a:ext cx="77346" cy="83325"/>
              </a:xfrm>
              <a:prstGeom prst="ellipse">
                <a:avLst/>
              </a:prstGeom>
              <a:solidFill>
                <a:schemeClr val="tx1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3411412" y="2686987"/>
                <a:ext cx="0" cy="90000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23" name="直接连接符 34"/>
              <p:cNvCxnSpPr>
                <a:cxnSpLocks noChangeShapeType="1"/>
              </p:cNvCxnSpPr>
              <p:nvPr/>
            </p:nvCxnSpPr>
            <p:spPr bwMode="auto">
              <a:xfrm rot="5400000">
                <a:off x="4492516" y="2968869"/>
                <a:ext cx="461063" cy="1719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 type="none"/>
                <a:tailEnd type="oval" w="med" len="med"/>
              </a:ln>
            </p:spPr>
          </p:cxnSp>
          <p:grpSp>
            <p:nvGrpSpPr>
              <p:cNvPr id="24" name="组合 16"/>
              <p:cNvGrpSpPr/>
              <p:nvPr/>
            </p:nvGrpSpPr>
            <p:grpSpPr bwMode="auto">
              <a:xfrm>
                <a:off x="4317761" y="2164663"/>
                <a:ext cx="870173" cy="1231062"/>
                <a:chOff x="1863914" y="2494654"/>
                <a:chExt cx="803540" cy="1056183"/>
              </a:xfrm>
            </p:grpSpPr>
            <p:cxnSp>
              <p:nvCxnSpPr>
                <p:cNvPr id="58" name="直接连接符 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054315" y="2879935"/>
                  <a:ext cx="772149" cy="1588"/>
                </a:xfrm>
                <a:prstGeom prst="line">
                  <a:avLst/>
                </a:prstGeom>
                <a:noFill/>
                <a:ln w="19050" algn="ctr">
                  <a:solidFill>
                    <a:srgbClr val="C00000"/>
                  </a:solidFill>
                  <a:round/>
                  <a:tailEnd type="none" w="sm" len="sm"/>
                </a:ln>
              </p:spPr>
            </p:cxnSp>
            <p:cxnSp>
              <p:nvCxnSpPr>
                <p:cNvPr id="59" name="直接连接符 1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484433" y="3034248"/>
                  <a:ext cx="1031591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60" name="矩形 19"/>
                <p:cNvSpPr>
                  <a:spLocks noChangeArrowheads="1"/>
                </p:cNvSpPr>
                <p:nvPr/>
              </p:nvSpPr>
              <p:spPr bwMode="auto">
                <a:xfrm>
                  <a:off x="1876406" y="2643187"/>
                  <a:ext cx="720005" cy="432304"/>
                </a:xfrm>
                <a:prstGeom prst="rect">
                  <a:avLst/>
                </a:prstGeom>
                <a:solidFill>
                  <a:srgbClr val="FFFF00"/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" name="TextBox 206"/>
                <p:cNvSpPr txBox="1">
                  <a:spLocks noChangeArrowheads="1"/>
                </p:cNvSpPr>
                <p:nvPr/>
              </p:nvSpPr>
              <p:spPr bwMode="auto">
                <a:xfrm>
                  <a:off x="2310148" y="2861462"/>
                  <a:ext cx="357306" cy="246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K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2</a:t>
                  </a: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 </a:t>
                  </a:r>
                  <a:endParaRPr lang="zh-CN" altLang="en-US" sz="1000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2" name="TextBox 207"/>
                <p:cNvSpPr txBox="1">
                  <a:spLocks noChangeArrowheads="1"/>
                </p:cNvSpPr>
                <p:nvPr/>
              </p:nvSpPr>
              <p:spPr bwMode="auto">
                <a:xfrm>
                  <a:off x="1863914" y="2618409"/>
                  <a:ext cx="357305" cy="246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2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3" name="TextBox 208"/>
                <p:cNvSpPr txBox="1">
                  <a:spLocks noChangeArrowheads="1"/>
                </p:cNvSpPr>
                <p:nvPr/>
              </p:nvSpPr>
              <p:spPr bwMode="auto">
                <a:xfrm>
                  <a:off x="2268860" y="2627942"/>
                  <a:ext cx="357306" cy="246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2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64" name="直接连接符 25"/>
                <p:cNvCxnSpPr>
                  <a:cxnSpLocks noChangeShapeType="1"/>
                </p:cNvCxnSpPr>
                <p:nvPr/>
              </p:nvCxnSpPr>
              <p:spPr bwMode="auto">
                <a:xfrm>
                  <a:off x="2366639" y="2681298"/>
                  <a:ext cx="936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</p:grpSp>
          <p:sp>
            <p:nvSpPr>
              <p:cNvPr id="25" name="等腰三角形 36"/>
              <p:cNvSpPr>
                <a:spLocks noChangeArrowheads="1"/>
              </p:cNvSpPr>
              <p:nvPr/>
            </p:nvSpPr>
            <p:spPr bwMode="auto">
              <a:xfrm>
                <a:off x="4659153" y="2714170"/>
                <a:ext cx="116931" cy="125972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Box 211"/>
              <p:cNvSpPr txBox="1">
                <a:spLocks noChangeArrowheads="1"/>
              </p:cNvSpPr>
              <p:nvPr/>
            </p:nvSpPr>
            <p:spPr bwMode="auto">
              <a:xfrm>
                <a:off x="4542551" y="2531127"/>
                <a:ext cx="457343" cy="2499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rPr>
                  <a:t>CK</a:t>
                </a:r>
                <a:endParaRPr lang="zh-CN" altLang="en-US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TextBox 212"/>
              <p:cNvSpPr txBox="1">
                <a:spLocks noChangeArrowheads="1"/>
              </p:cNvSpPr>
              <p:nvPr/>
            </p:nvSpPr>
            <p:spPr bwMode="auto">
              <a:xfrm>
                <a:off x="4294967" y="2594057"/>
                <a:ext cx="385131" cy="2870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J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椭圆 93"/>
              <p:cNvSpPr>
                <a:spLocks noChangeArrowheads="1"/>
              </p:cNvSpPr>
              <p:nvPr/>
            </p:nvSpPr>
            <p:spPr bwMode="auto">
              <a:xfrm>
                <a:off x="4680865" y="2838123"/>
                <a:ext cx="77346" cy="83325"/>
              </a:xfrm>
              <a:prstGeom prst="ellipse">
                <a:avLst/>
              </a:prstGeom>
              <a:solidFill>
                <a:schemeClr val="tx1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434073" y="2075543"/>
                <a:ext cx="0" cy="23393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30" name="直接连接符 34"/>
              <p:cNvCxnSpPr>
                <a:cxnSpLocks noChangeShapeType="1"/>
              </p:cNvCxnSpPr>
              <p:nvPr/>
            </p:nvCxnSpPr>
            <p:spPr bwMode="auto">
              <a:xfrm rot="5400000">
                <a:off x="5575703" y="2966293"/>
                <a:ext cx="461063" cy="1719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tailEnd type="oval"/>
              </a:ln>
            </p:spPr>
          </p:cxnSp>
          <p:grpSp>
            <p:nvGrpSpPr>
              <p:cNvPr id="31" name="组合 16"/>
              <p:cNvGrpSpPr/>
              <p:nvPr/>
            </p:nvGrpSpPr>
            <p:grpSpPr bwMode="auto">
              <a:xfrm>
                <a:off x="5400949" y="2184055"/>
                <a:ext cx="870173" cy="1296000"/>
                <a:chOff x="1863914" y="2511296"/>
                <a:chExt cx="803540" cy="1111898"/>
              </a:xfrm>
            </p:grpSpPr>
            <p:cxnSp>
              <p:nvCxnSpPr>
                <p:cNvPr id="51" name="直接连接符 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946212" y="3015740"/>
                  <a:ext cx="988354" cy="1588"/>
                </a:xfrm>
                <a:prstGeom prst="line">
                  <a:avLst/>
                </a:prstGeom>
                <a:noFill/>
                <a:ln w="19050" algn="ctr">
                  <a:solidFill>
                    <a:srgbClr val="C00000"/>
                  </a:solidFill>
                  <a:round/>
                  <a:tailEnd type="none" w="sm" len="sm"/>
                </a:ln>
              </p:spPr>
            </p:cxnSp>
            <p:cxnSp>
              <p:nvCxnSpPr>
                <p:cNvPr id="52" name="直接连接符 1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444279" y="3066451"/>
                  <a:ext cx="1111898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3" name="矩形 19"/>
                <p:cNvSpPr>
                  <a:spLocks noChangeArrowheads="1"/>
                </p:cNvSpPr>
                <p:nvPr/>
              </p:nvSpPr>
              <p:spPr bwMode="auto">
                <a:xfrm>
                  <a:off x="1876406" y="2643187"/>
                  <a:ext cx="720005" cy="432304"/>
                </a:xfrm>
                <a:prstGeom prst="rect">
                  <a:avLst/>
                </a:prstGeom>
                <a:solidFill>
                  <a:srgbClr val="FFFF00"/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4" name="TextBox 220"/>
                <p:cNvSpPr txBox="1">
                  <a:spLocks noChangeArrowheads="1"/>
                </p:cNvSpPr>
                <p:nvPr/>
              </p:nvSpPr>
              <p:spPr bwMode="auto">
                <a:xfrm>
                  <a:off x="2310148" y="2861461"/>
                  <a:ext cx="357306" cy="246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K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1</a:t>
                  </a: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 </a:t>
                  </a:r>
                  <a:endParaRPr lang="zh-CN" altLang="en-US" sz="1000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5" name="TextBox 221"/>
                <p:cNvSpPr txBox="1">
                  <a:spLocks noChangeArrowheads="1"/>
                </p:cNvSpPr>
                <p:nvPr/>
              </p:nvSpPr>
              <p:spPr bwMode="auto">
                <a:xfrm>
                  <a:off x="1863914" y="2618409"/>
                  <a:ext cx="357305" cy="2462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1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6" name="TextBox 222"/>
                <p:cNvSpPr txBox="1">
                  <a:spLocks noChangeArrowheads="1"/>
                </p:cNvSpPr>
                <p:nvPr/>
              </p:nvSpPr>
              <p:spPr bwMode="auto">
                <a:xfrm>
                  <a:off x="2268860" y="2627942"/>
                  <a:ext cx="357306" cy="2462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1000" b="1" dirty="0">
                      <a:latin typeface="+mj-lt"/>
                      <a:ea typeface="黑体" panose="02010609060101010101" pitchFamily="49" charset="-122"/>
                    </a:rPr>
                    <a:t>Q</a:t>
                  </a:r>
                  <a:r>
                    <a:rPr lang="en-US" altLang="zh-CN" sz="1000" b="1" baseline="-25000" dirty="0">
                      <a:latin typeface="+mj-lt"/>
                      <a:ea typeface="黑体" panose="02010609060101010101" pitchFamily="49" charset="-122"/>
                    </a:rPr>
                    <a:t>1</a:t>
                  </a:r>
                  <a:endParaRPr lang="zh-CN" altLang="en-US" sz="1000" b="1" baseline="-25000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57" name="直接连接符 25"/>
                <p:cNvCxnSpPr>
                  <a:cxnSpLocks noChangeShapeType="1"/>
                </p:cNvCxnSpPr>
                <p:nvPr/>
              </p:nvCxnSpPr>
              <p:spPr bwMode="auto">
                <a:xfrm>
                  <a:off x="2366639" y="2681298"/>
                  <a:ext cx="936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bg2"/>
                  </a:solidFill>
                  <a:round/>
                </a:ln>
              </p:spPr>
            </p:cxnSp>
          </p:grpSp>
          <p:sp>
            <p:nvSpPr>
              <p:cNvPr id="32" name="等腰三角形 36"/>
              <p:cNvSpPr>
                <a:spLocks noChangeArrowheads="1"/>
              </p:cNvSpPr>
              <p:nvPr/>
            </p:nvSpPr>
            <p:spPr bwMode="auto">
              <a:xfrm>
                <a:off x="5742341" y="2714170"/>
                <a:ext cx="116931" cy="125972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TextBox 225"/>
              <p:cNvSpPr txBox="1">
                <a:spLocks noChangeArrowheads="1"/>
              </p:cNvSpPr>
              <p:nvPr/>
            </p:nvSpPr>
            <p:spPr bwMode="auto">
              <a:xfrm>
                <a:off x="5625739" y="2531127"/>
                <a:ext cx="457343" cy="2499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rPr>
                  <a:t>CK</a:t>
                </a:r>
                <a:endParaRPr lang="zh-CN" altLang="en-US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TextBox 226"/>
              <p:cNvSpPr txBox="1">
                <a:spLocks noChangeArrowheads="1"/>
              </p:cNvSpPr>
              <p:nvPr/>
            </p:nvSpPr>
            <p:spPr bwMode="auto">
              <a:xfrm>
                <a:off x="5378155" y="2594057"/>
                <a:ext cx="385131" cy="2870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J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椭圆 93"/>
              <p:cNvSpPr>
                <a:spLocks noChangeArrowheads="1"/>
              </p:cNvSpPr>
              <p:nvPr/>
            </p:nvSpPr>
            <p:spPr bwMode="auto">
              <a:xfrm>
                <a:off x="5764052" y="2838123"/>
                <a:ext cx="77346" cy="83325"/>
              </a:xfrm>
              <a:prstGeom prst="ellipse">
                <a:avLst/>
              </a:prstGeom>
              <a:solidFill>
                <a:schemeClr val="tx1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3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3596128" y="2821559"/>
                <a:ext cx="1259812" cy="172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</a:ln>
            </p:spPr>
          </p:cxnSp>
          <p:sp>
            <p:nvSpPr>
              <p:cNvPr id="37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350886" y="2075544"/>
                <a:ext cx="0" cy="23393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38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2477254" y="2656032"/>
                <a:ext cx="965856" cy="1720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round/>
                <a:headEnd type="none" w="sm" len="sm"/>
              </a:ln>
            </p:spPr>
          </p:cxnSp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2846269" y="2056995"/>
                <a:ext cx="0" cy="233938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40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2488792" y="2782013"/>
                <a:ext cx="1217818" cy="172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</a:ln>
            </p:spPr>
          </p:cxnSp>
          <p:sp>
            <p:nvSpPr>
              <p:cNvPr id="41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3233567" y="2037500"/>
                <a:ext cx="0" cy="272927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297391" y="1666338"/>
                <a:ext cx="0" cy="399600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3868906" y="1779839"/>
                <a:ext cx="0" cy="33624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44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2050068" y="3309551"/>
                <a:ext cx="293956" cy="172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2013823" y="3387028"/>
                <a:ext cx="576000" cy="1720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46" name="流程图: 延期 95"/>
              <p:cNvSpPr>
                <a:spLocks noChangeArrowheads="1"/>
              </p:cNvSpPr>
              <p:nvPr/>
            </p:nvSpPr>
            <p:spPr bwMode="auto">
              <a:xfrm rot="16200000">
                <a:off x="2106090" y="3036589"/>
                <a:ext cx="272959" cy="233938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Text Box 64"/>
              <p:cNvSpPr txBox="1">
                <a:spLocks noChangeArrowheads="1"/>
              </p:cNvSpPr>
              <p:nvPr/>
            </p:nvSpPr>
            <p:spPr bwMode="auto">
              <a:xfrm>
                <a:off x="2051720" y="1851670"/>
                <a:ext cx="428113" cy="3590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</a:rPr>
                  <a:t>Y</a:t>
                </a:r>
                <a:r>
                  <a:rPr kumimoji="0" lang="en-US" altLang="zh-CN" sz="1400" b="1" baseline="-25000" dirty="0">
                    <a:latin typeface="+mj-lt"/>
                  </a:rPr>
                  <a:t>4</a:t>
                </a:r>
              </a:p>
            </p:txBody>
          </p:sp>
          <p:sp>
            <p:nvSpPr>
              <p:cNvPr id="48" name="Text Box 65"/>
              <p:cNvSpPr txBox="1">
                <a:spLocks noChangeArrowheads="1"/>
              </p:cNvSpPr>
              <p:nvPr/>
            </p:nvSpPr>
            <p:spPr bwMode="auto">
              <a:xfrm>
                <a:off x="3176300" y="1851670"/>
                <a:ext cx="412640" cy="3590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</a:rPr>
                  <a:t>Y</a:t>
                </a:r>
                <a:r>
                  <a:rPr kumimoji="0" lang="en-US" altLang="zh-CN" sz="1400" b="1" baseline="-25000" dirty="0">
                    <a:latin typeface="+mj-lt"/>
                  </a:rPr>
                  <a:t>3</a:t>
                </a:r>
              </a:p>
            </p:txBody>
          </p:sp>
          <p:sp>
            <p:nvSpPr>
              <p:cNvPr id="49" name="Text Box 66"/>
              <p:cNvSpPr txBox="1">
                <a:spLocks noChangeArrowheads="1"/>
              </p:cNvSpPr>
              <p:nvPr/>
            </p:nvSpPr>
            <p:spPr bwMode="auto">
              <a:xfrm>
                <a:off x="4248743" y="1852690"/>
                <a:ext cx="434992" cy="3590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</a:rPr>
                  <a:t>Y</a:t>
                </a:r>
                <a:r>
                  <a:rPr kumimoji="0" lang="en-US" altLang="zh-CN" sz="1400" b="1" baseline="-25000" dirty="0">
                    <a:latin typeface="+mj-lt"/>
                  </a:rPr>
                  <a:t>2</a:t>
                </a:r>
              </a:p>
            </p:txBody>
          </p:sp>
          <p:sp>
            <p:nvSpPr>
              <p:cNvPr id="50" name="Text Box 64"/>
              <p:cNvSpPr txBox="1">
                <a:spLocks noChangeArrowheads="1"/>
              </p:cNvSpPr>
              <p:nvPr/>
            </p:nvSpPr>
            <p:spPr bwMode="auto">
              <a:xfrm>
                <a:off x="5336653" y="1881330"/>
                <a:ext cx="428115" cy="3590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+mj-lt"/>
                  </a:rPr>
                  <a:t>Y</a:t>
                </a:r>
                <a:r>
                  <a:rPr kumimoji="0" lang="en-US" altLang="zh-CN" sz="1400" b="1" baseline="-25000" dirty="0">
                    <a:latin typeface="+mj-lt"/>
                  </a:rPr>
                  <a:t>1</a:t>
                </a:r>
              </a:p>
            </p:txBody>
          </p:sp>
          <p:sp>
            <p:nvSpPr>
              <p:cNvPr id="79" name="椭圆 93"/>
              <p:cNvSpPr>
                <a:spLocks noChangeArrowheads="1"/>
              </p:cNvSpPr>
              <p:nvPr/>
            </p:nvSpPr>
            <p:spPr bwMode="auto">
              <a:xfrm>
                <a:off x="2199892" y="2939439"/>
                <a:ext cx="77346" cy="83325"/>
              </a:xfrm>
              <a:prstGeom prst="ellipse">
                <a:avLst/>
              </a:prstGeom>
              <a:solidFill>
                <a:schemeClr val="tx1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2058652" y="1982481"/>
                <a:ext cx="0" cy="360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81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163269" y="2878942"/>
                <a:ext cx="1440000" cy="1720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</a:ln>
            </p:spPr>
          </p:cxnSp>
          <p:sp>
            <p:nvSpPr>
              <p:cNvPr id="82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2619739" y="2854485"/>
                <a:ext cx="0" cy="147600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3958350" y="2063423"/>
                <a:ext cx="0" cy="233938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84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3631258" y="2625166"/>
                <a:ext cx="900000" cy="1720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round/>
                <a:headEnd type="none" w="sm" len="sm"/>
              </a:ln>
            </p:spPr>
          </p:cxnSp>
          <p:sp>
            <p:nvSpPr>
              <p:cNvPr id="85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507319" y="2635505"/>
                <a:ext cx="0" cy="86400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050671" y="2053629"/>
                <a:ext cx="0" cy="233938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88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4574539" y="2761387"/>
                <a:ext cx="1188000" cy="1720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round/>
                <a:headEnd type="none" w="sm" len="sm"/>
              </a:ln>
            </p:spPr>
          </p:cxnSp>
          <p:sp>
            <p:nvSpPr>
              <p:cNvPr id="89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594416" y="2924247"/>
                <a:ext cx="0" cy="86400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4020074" y="1975434"/>
                <a:ext cx="0" cy="261000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6155341" y="2048512"/>
                <a:ext cx="0" cy="28800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2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5563739" y="2920129"/>
                <a:ext cx="1476000" cy="1720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round/>
                <a:headEnd type="none" w="sm" len="sm"/>
              </a:ln>
            </p:spPr>
          </p:cxnSp>
        </p:grpSp>
        <p:sp>
          <p:nvSpPr>
            <p:cNvPr id="94" name="Line 28"/>
            <p:cNvSpPr>
              <a:spLocks noChangeShapeType="1"/>
            </p:cNvSpPr>
            <p:nvPr/>
          </p:nvSpPr>
          <p:spPr bwMode="auto">
            <a:xfrm rot="16200000" flipV="1">
              <a:off x="3777079" y="2697472"/>
              <a:ext cx="0" cy="13824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M0MWUyNDc3N2VhMDc0MjVjYzQ2MTY3N2JkOWQzMzYifQ=="/>
  <p:tag name="KSO_WPP_MARK_KEY" val="2695504d-0f81-4fea-a833-50b188ecdb1c"/>
</p:tagLst>
</file>

<file path=ppt/theme/theme1.xml><?xml version="1.0" encoding="utf-8"?>
<a:theme xmlns:a="http://schemas.openxmlformats.org/drawingml/2006/main" name="Soaring">
  <a:themeElements>
    <a:clrScheme name="Soaring 5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1">
  <a:themeElements>
    <a:clrScheme name="Soaring 5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4869</Words>
  <Application>Microsoft Office PowerPoint</Application>
  <PresentationFormat>On-screen Show (16:9)</PresentationFormat>
  <Paragraphs>1563</Paragraphs>
  <Slides>35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52" baseType="lpstr">
      <vt:lpstr>等线</vt:lpstr>
      <vt:lpstr>等线 Light</vt:lpstr>
      <vt:lpstr>黑体</vt:lpstr>
      <vt:lpstr>隶书</vt:lpstr>
      <vt:lpstr>宋体</vt:lpstr>
      <vt:lpstr>Arial</vt:lpstr>
      <vt:lpstr>Arial Narrow</vt:lpstr>
      <vt:lpstr>Calibri</vt:lpstr>
      <vt:lpstr>Segoe UI Black</vt:lpstr>
      <vt:lpstr>Tahoma</vt:lpstr>
      <vt:lpstr>Times New Roman</vt:lpstr>
      <vt:lpstr>Wingdings</vt:lpstr>
      <vt:lpstr>Soaring</vt:lpstr>
      <vt:lpstr>主题1</vt:lpstr>
      <vt:lpstr>Office 主题​​</vt:lpstr>
      <vt:lpstr>公式</vt:lpstr>
      <vt:lpstr>Equation</vt:lpstr>
      <vt:lpstr>PowerPoint Presentation</vt:lpstr>
      <vt:lpstr>利用触发器设计时序逻辑的方法</vt:lpstr>
      <vt:lpstr>用触发器设计同步时序逻辑—实例 </vt:lpstr>
      <vt:lpstr>PowerPoint Presentation</vt:lpstr>
      <vt:lpstr>PowerPoint Presentation</vt:lpstr>
      <vt:lpstr>用触发器设计同步时序逻辑—实例 </vt:lpstr>
      <vt:lpstr>PowerPoint Presentation</vt:lpstr>
      <vt:lpstr>PowerPoint Presentation</vt:lpstr>
      <vt:lpstr>PowerPoint Presentation</vt:lpstr>
      <vt:lpstr>PowerPoint Presentation</vt:lpstr>
      <vt:lpstr>用触发器设计同步时序逻辑—实例 </vt:lpstr>
      <vt:lpstr>PowerPoint Presentation</vt:lpstr>
      <vt:lpstr>PowerPoint Presentation</vt:lpstr>
      <vt:lpstr>利用触发器设计时序逻辑——实例 </vt:lpstr>
      <vt:lpstr>PowerPoint Presentation</vt:lpstr>
      <vt:lpstr>用触发器设计同步时序逻辑—实例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niuyv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lina</dc:creator>
  <cp:lastModifiedBy>Longyue Qu</cp:lastModifiedBy>
  <cp:revision>2475</cp:revision>
  <dcterms:created xsi:type="dcterms:W3CDTF">2002-03-18T12:39:00Z</dcterms:created>
  <dcterms:modified xsi:type="dcterms:W3CDTF">2025-10-23T08:37:12Z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F5409D5573FB411E87765ED686105AA7</vt:lpwstr>
  </property>
</Properties>
</file>