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5"/>
  </p:handoutMasterIdLst>
  <p:sldIdLst>
    <p:sldId id="957" r:id="rId3"/>
    <p:sldId id="935" r:id="rId4"/>
    <p:sldId id="936" r:id="rId6"/>
    <p:sldId id="937" r:id="rId7"/>
    <p:sldId id="938" r:id="rId8"/>
    <p:sldId id="939" r:id="rId9"/>
    <p:sldId id="940" r:id="rId10"/>
    <p:sldId id="931" r:id="rId11"/>
    <p:sldId id="932" r:id="rId12"/>
    <p:sldId id="934" r:id="rId13"/>
    <p:sldId id="956" r:id="rId14"/>
  </p:sldIdLst>
  <p:sldSz cx="9144000" cy="5143500" type="screen16x9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2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" userDrawn="1">
          <p15:clr>
            <a:srgbClr val="A4A3A4"/>
          </p15:clr>
        </p15:guide>
        <p15:guide id="2" pos="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 Youyou" initials="LY" lastIdx="0" clrIdx="0"/>
  <p:cmAuthor id="2" name="Kang Chen" initials="KC" lastIdx="0" clrIdx="1"/>
  <p:cmAuthor id="3" name="lenovo" initials="l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6600"/>
    <a:srgbClr val="FFCCFF"/>
    <a:srgbClr val="0000CC"/>
    <a:srgbClr val="000066"/>
    <a:srgbClr val="000099"/>
    <a:srgbClr val="660033"/>
    <a:srgbClr val="FF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7" autoAdjust="0"/>
    <p:restoredTop sz="94646" autoAdjust="0"/>
  </p:normalViewPr>
  <p:slideViewPr>
    <p:cSldViewPr showGuides="1">
      <p:cViewPr varScale="1">
        <p:scale>
          <a:sx n="143" d="100"/>
          <a:sy n="143" d="100"/>
        </p:scale>
        <p:origin x="138" y="258"/>
      </p:cViewPr>
      <p:guideLst>
        <p:guide orient="horz" pos="193"/>
        <p:guide pos="22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666"/>
    </p:cViewPr>
  </p:sorterViewPr>
  <p:notesViewPr>
    <p:cSldViewPr>
      <p:cViewPr varScale="1">
        <p:scale>
          <a:sx n="36" d="100"/>
          <a:sy n="36" d="100"/>
        </p:scale>
        <p:origin x="-1530" y="-78"/>
      </p:cViewPr>
      <p:guideLst>
        <p:guide orient="horz" pos="300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6E756AE-20ED-403B-9BC8-B154292ADF3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6F1D7-6856-40B3-BE50-123E9BC09D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E0F10-9183-4005-912E-B979E56F02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第一行：输入</a:t>
            </a:r>
            <a:r>
              <a:rPr lang="en-US" altLang="zh-CN" dirty="0"/>
              <a:t>X=0</a:t>
            </a:r>
            <a:r>
              <a:rPr lang="zh-CN" altLang="en-US" dirty="0"/>
              <a:t>，则</a:t>
            </a:r>
            <a:r>
              <a:rPr lang="en-US" altLang="zh-CN" dirty="0"/>
              <a:t>===</a:t>
            </a:r>
            <a:r>
              <a:rPr lang="zh-CN" altLang="en-US" dirty="0"/>
              <a:t>》</a:t>
            </a:r>
            <a:r>
              <a:rPr lang="en-US" altLang="zh-CN" dirty="0"/>
              <a:t>00</a:t>
            </a:r>
            <a:r>
              <a:rPr lang="zh-CN" altLang="en-US" dirty="0"/>
              <a:t>变</a:t>
            </a:r>
            <a:r>
              <a:rPr lang="en-US" altLang="zh-CN" dirty="0"/>
              <a:t>01</a:t>
            </a:r>
            <a:r>
              <a:rPr lang="zh-CN" altLang="en-US" dirty="0"/>
              <a:t>，输出</a:t>
            </a:r>
            <a:r>
              <a:rPr lang="en-US" altLang="zh-CN" dirty="0"/>
              <a:t>Z=0</a:t>
            </a:r>
            <a:r>
              <a:rPr lang="zh-CN" altLang="en-US" dirty="0"/>
              <a:t>；</a:t>
            </a:r>
            <a:r>
              <a:rPr lang="en-US" altLang="zh-CN" dirty="0"/>
              <a:t>    </a:t>
            </a:r>
            <a:r>
              <a:rPr lang="zh-CN" altLang="en-US" dirty="0"/>
              <a:t>输入</a:t>
            </a:r>
            <a:r>
              <a:rPr lang="en-US" altLang="zh-CN" dirty="0"/>
              <a:t> </a:t>
            </a:r>
            <a:r>
              <a:rPr lang="zh-CN" altLang="en-US" dirty="0"/>
              <a:t>决定</a:t>
            </a:r>
            <a:r>
              <a:rPr lang="en-US" altLang="zh-CN" dirty="0"/>
              <a:t> </a:t>
            </a:r>
            <a:r>
              <a:rPr lang="zh-CN" altLang="en-US" dirty="0"/>
              <a:t>次态和输出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简化后的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状态转换表，后面会反复用到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>
                <a:solidFill>
                  <a:srgbClr val="EEECE1"/>
                </a:solidFill>
              </a:rPr>
            </a:fld>
            <a:endParaRPr lang="zh-CN" altLang="en-US">
              <a:solidFill>
                <a:srgbClr val="EEECE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先判断</a:t>
            </a:r>
            <a:r>
              <a:rPr lang="en-US" altLang="zh-CN"/>
              <a:t>Y1</a:t>
            </a:r>
            <a:r>
              <a:rPr lang="zh-CN" altLang="en-US"/>
              <a:t>的次态；</a:t>
            </a:r>
            <a:r>
              <a:rPr lang="en-US" altLang="zh-CN"/>
              <a:t>CP</a:t>
            </a:r>
            <a:r>
              <a:rPr lang="zh-CN" altLang="en-US"/>
              <a:t>一直在变；但是</a:t>
            </a:r>
            <a:r>
              <a:rPr lang="en-US" altLang="zh-CN"/>
              <a:t>CP2-CP4</a:t>
            </a:r>
            <a:r>
              <a:rPr lang="zh-CN" altLang="en-US"/>
              <a:t>不一定；</a:t>
            </a:r>
            <a:endParaRPr lang="zh-CN" altLang="en-US"/>
          </a:p>
          <a:p>
            <a:r>
              <a:rPr lang="en-US" altLang="zh-CN"/>
              <a:t>Y3Y3Y2Y1 0000</a:t>
            </a:r>
            <a:r>
              <a:rPr lang="zh-CN" altLang="en-US"/>
              <a:t>带入次态方程得到</a:t>
            </a:r>
            <a:r>
              <a:rPr lang="en-US" altLang="zh-CN"/>
              <a:t>0111</a:t>
            </a:r>
            <a:r>
              <a:rPr lang="zh-CN" altLang="en-US"/>
              <a:t>，</a:t>
            </a:r>
            <a:r>
              <a:rPr lang="en-US" altLang="zh-CN">
                <a:sym typeface="+mn-ea"/>
              </a:rPr>
              <a:t>CP1</a:t>
            </a:r>
            <a:r>
              <a:rPr lang="zh-CN" altLang="en-US">
                <a:sym typeface="+mn-ea"/>
              </a:rPr>
              <a:t>下降沿，</a:t>
            </a:r>
            <a:r>
              <a:rPr lang="en-US" altLang="zh-CN">
                <a:sym typeface="+mn-ea"/>
              </a:rPr>
              <a:t>CP2</a:t>
            </a:r>
            <a:r>
              <a:rPr lang="zh-CN" altLang="en-US">
                <a:sym typeface="+mn-ea"/>
              </a:rPr>
              <a:t>上升沿，</a:t>
            </a:r>
            <a:r>
              <a:rPr lang="en-US" altLang="zh-CN">
                <a:sym typeface="+mn-ea"/>
              </a:rPr>
              <a:t>CP3</a:t>
            </a:r>
            <a:r>
              <a:rPr lang="zh-CN" altLang="en-US">
                <a:sym typeface="+mn-ea"/>
              </a:rPr>
              <a:t>上升沿，</a:t>
            </a:r>
            <a:r>
              <a:rPr lang="en-US" altLang="zh-CN">
                <a:sym typeface="+mn-ea"/>
              </a:rPr>
              <a:t>CP4</a:t>
            </a:r>
            <a:r>
              <a:rPr lang="zh-CN" altLang="en-US">
                <a:sym typeface="+mn-ea"/>
              </a:rPr>
              <a:t>上升</a:t>
            </a:r>
            <a:r>
              <a:rPr lang="zh-CN" altLang="en-US">
                <a:sym typeface="+mn-ea"/>
              </a:rPr>
              <a:t>沿</a:t>
            </a:r>
            <a:endParaRPr lang="zh-CN" altLang="en-US"/>
          </a:p>
          <a:p>
            <a:r>
              <a:rPr lang="en-US" altLang="zh-CN">
                <a:sym typeface="+mn-ea"/>
              </a:rPr>
              <a:t>Y3Y3Y2Y1 </a:t>
            </a:r>
            <a:r>
              <a:rPr lang="en-US" altLang="zh-CN"/>
              <a:t>0001</a:t>
            </a:r>
            <a:r>
              <a:rPr lang="zh-CN" altLang="en-US"/>
              <a:t>带入次态方程得到</a:t>
            </a:r>
            <a:r>
              <a:rPr lang="en-US" altLang="zh-CN"/>
              <a:t>0110</a:t>
            </a:r>
            <a:r>
              <a:rPr lang="zh-CN" altLang="en-US"/>
              <a:t>，</a:t>
            </a:r>
            <a:r>
              <a:rPr lang="en-US" altLang="zh-CN"/>
              <a:t>CP1</a:t>
            </a:r>
            <a:r>
              <a:rPr lang="zh-CN" altLang="en-US"/>
              <a:t>下降沿，</a:t>
            </a:r>
            <a:r>
              <a:rPr lang="en-US" altLang="zh-CN"/>
              <a:t>CP2</a:t>
            </a:r>
            <a:r>
              <a:rPr lang="zh-CN" altLang="en-US"/>
              <a:t>下降沿，</a:t>
            </a:r>
            <a:r>
              <a:rPr lang="en-US" altLang="zh-CN"/>
              <a:t>CP3</a:t>
            </a:r>
            <a:r>
              <a:rPr lang="zh-CN" altLang="en-US"/>
              <a:t>上升沿，</a:t>
            </a:r>
            <a:r>
              <a:rPr lang="en-US" altLang="zh-CN"/>
              <a:t>CP4</a:t>
            </a:r>
            <a:r>
              <a:rPr lang="zh-CN" altLang="en-US"/>
              <a:t>下降沿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E0F10-9183-4005-912E-B979E56F02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15315"/>
          </a:xfrm>
        </p:spPr>
        <p:txBody>
          <a:bodyPr lIns="0" tIns="0" rIns="0" bIns="0">
            <a:noAutofit/>
          </a:bodyPr>
          <a:lstStyle>
            <a:lvl1pPr>
              <a:defRPr sz="4000" b="1">
                <a:effectLst/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685800" y="678815"/>
            <a:ext cx="7772400" cy="3942080"/>
          </a:xfrm>
        </p:spPr>
        <p:txBody>
          <a:bodyPr/>
          <a:lstStyle>
            <a:lvl1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1pPr>
            <a:lvl2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2pPr>
            <a:lvl3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4pPr>
            <a:lvl5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8400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84000" y="650875"/>
            <a:ext cx="77724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85800" y="169545"/>
            <a:ext cx="7772400" cy="738505"/>
          </a:xfrm>
        </p:spPr>
        <p:txBody>
          <a:bodyPr lIns="0" tIns="0" rIns="0" bIns="0"/>
          <a:lstStyle>
            <a:lvl1pPr>
              <a:defRPr sz="4400" b="1">
                <a:effectLst/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685800" y="1063625"/>
            <a:ext cx="7772400" cy="3508375"/>
          </a:xfrm>
        </p:spPr>
        <p:txBody>
          <a:bodyPr/>
          <a:lstStyle>
            <a:lvl1pPr>
              <a:buClr>
                <a:srgbClr val="000000"/>
              </a:buClr>
              <a:buFont typeface="Wingdings" panose="05000000000000000000" charset="0"/>
              <a:buChar char="l"/>
              <a:defRPr sz="3600">
                <a:latin typeface="Times New Roman" panose="02020603050405020304" pitchFamily="18" charset="0"/>
              </a:defRPr>
            </a:lvl1pPr>
            <a:lvl2pPr>
              <a:buClr>
                <a:srgbClr val="000000"/>
              </a:buClr>
              <a:buFont typeface="Wingdings" panose="05000000000000000000" charset="0"/>
              <a:buChar char="l"/>
              <a:defRPr sz="3200">
                <a:latin typeface="Times New Roman" panose="02020603050405020304" pitchFamily="18" charset="0"/>
              </a:defRPr>
            </a:lvl2pPr>
            <a:lvl3pPr>
              <a:buClr>
                <a:srgbClr val="000000"/>
              </a:buClr>
              <a:buFont typeface="Wingdings" panose="05000000000000000000" charset="0"/>
              <a:buChar char="l"/>
              <a:defRPr sz="2800">
                <a:latin typeface="Times New Roman" panose="02020603050405020304" pitchFamily="18" charset="0"/>
              </a:defRPr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 sz="2400">
                <a:latin typeface="Times New Roman" panose="02020603050405020304" pitchFamily="18" charset="0"/>
              </a:defRPr>
            </a:lvl4pPr>
            <a:lvl5pPr indent="0">
              <a:buClr>
                <a:srgbClr val="000000"/>
              </a:buClr>
              <a:buFont typeface="Wingdings" panose="05000000000000000000" charset="0"/>
              <a:buNone/>
              <a:defRPr sz="280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8400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9" name="直接连接符 6"/>
          <p:cNvCxnSpPr/>
          <p:nvPr userDrawn="1"/>
        </p:nvCxnSpPr>
        <p:spPr>
          <a:xfrm>
            <a:off x="684000" y="963930"/>
            <a:ext cx="77724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2070"/>
            <a:ext cx="7772400" cy="441325"/>
          </a:xfrm>
        </p:spPr>
        <p:txBody>
          <a:bodyPr lIns="0" tIns="0" rIns="0" bIns="0"/>
          <a:lstStyle>
            <a:lvl1pPr>
              <a:defRPr sz="4000" b="1">
                <a:effectLst/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635635"/>
            <a:ext cx="7772400" cy="3936365"/>
          </a:xfrm>
        </p:spPr>
        <p:txBody>
          <a:bodyPr/>
          <a:lstStyle>
            <a:lvl1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1pPr>
            <a:lvl2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2pPr>
            <a:lvl3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4pPr>
            <a:lvl5pPr>
              <a:buClr>
                <a:srgbClr val="000000"/>
              </a:buClr>
              <a:buFont typeface="Wingdings" panose="05000000000000000000" charset="0"/>
              <a:buChar char="l"/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84000" y="533400"/>
            <a:ext cx="7772400" cy="0"/>
          </a:xfrm>
          <a:prstGeom prst="line">
            <a:avLst/>
          </a:prstGeom>
          <a:ln w="38100" cap="flat" cmpd="dbl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546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14985" y="51435"/>
            <a:ext cx="8161655" cy="857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46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kumimoji="0" sz="1400">
                <a:solidFill>
                  <a:schemeClr val="bg2"/>
                </a:solidFill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eaLnBrk="1" hangingPunct="1">
              <a:defRPr kumimoji="0" sz="1400">
                <a:solidFill>
                  <a:schemeClr val="bg2"/>
                </a:solidFill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00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514350" y="1016318"/>
            <a:ext cx="8162106" cy="3555683"/>
          </a:xfrm>
        </p:spPr>
        <p:txBody>
          <a:bodyPr/>
          <a:lstStyle>
            <a:lvl1pPr>
              <a:buClr>
                <a:srgbClr val="000000"/>
              </a:buClr>
              <a:buFont typeface="Wingdings" panose="05000000000000000000" charset="0"/>
              <a:buChar char="l"/>
              <a:defRPr/>
            </a:lvl1pPr>
            <a:lvl2pPr>
              <a:buClr>
                <a:srgbClr val="000000"/>
              </a:buClr>
              <a:buFont typeface="Wingdings" panose="05000000000000000000" charset="0"/>
              <a:buChar char="l"/>
              <a:defRPr/>
            </a:lvl2pPr>
            <a:lvl3pPr>
              <a:buClr>
                <a:srgbClr val="000000"/>
              </a:buClr>
              <a:buSzPct val="80000"/>
              <a:buFont typeface="Wingdings" panose="05000000000000000000" charset="0"/>
              <a:buChar char="l"/>
              <a:defRPr/>
            </a:lvl3pPr>
            <a:lvl4pPr>
              <a:buClr>
                <a:srgbClr val="000000"/>
              </a:buClr>
              <a:buFont typeface="Wingdings" panose="05000000000000000000" charset="0"/>
              <a:buChar char="l"/>
              <a:defRPr/>
            </a:lvl4pPr>
            <a:lvl5pPr marL="1828800" indent="0">
              <a:buClr>
                <a:srgbClr val="000000"/>
              </a:buClr>
              <a:buSzPct val="80000"/>
              <a:buFont typeface="Wingdings" panose="05000000000000000000" charset="0"/>
              <a:buNone/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bg2"/>
          </a:solidFill>
          <a:effectLst/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r" defTabSz="685800" rtl="0" eaLnBrk="1" latinLnBrk="0" hangingPunct="1">
              <a:defRPr kumimoji="1" sz="10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2C937AA-D504-4AFF-87AB-8B4750AC8DC1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147" name="矩形 10"/>
          <p:cNvSpPr>
            <a:spLocks noChangeArrowheads="1"/>
          </p:cNvSpPr>
          <p:nvPr/>
        </p:nvSpPr>
        <p:spPr bwMode="auto">
          <a:xfrm>
            <a:off x="2033587" y="1275160"/>
            <a:ext cx="5130404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950" b="1">
                <a:solidFill>
                  <a:srgbClr val="0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数字逻辑设计</a:t>
            </a:r>
            <a:endParaRPr lang="zh-CN" altLang="en-US" sz="2700">
              <a:solidFill>
                <a:srgbClr val="00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矩形 4"/>
          <p:cNvSpPr/>
          <p:nvPr/>
        </p:nvSpPr>
        <p:spPr>
          <a:xfrm>
            <a:off x="4949938" y="3489279"/>
            <a:ext cx="3348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曲龙跃</a:t>
            </a:r>
            <a:endParaRPr kumimoji="1"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信息科学与技术学院</a:t>
            </a:r>
            <a:endParaRPr kumimoji="1"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qulongyue@hit.edu.cn</a:t>
            </a:r>
            <a:endParaRPr kumimoji="1"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时序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逻辑电路的分析方法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zh-CN" altLang="en-US" sz="2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确定</a:t>
            </a:r>
            <a:r>
              <a:rPr kumimoji="0"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系统变量</a:t>
            </a:r>
            <a:r>
              <a:rPr kumimoji="0"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输入变量、输出变量、状态变量</a:t>
            </a:r>
            <a:r>
              <a:rPr kumimoji="0"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列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驱动方程（控制函数）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列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输出方程（输出函数）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列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状态方程（次态方程）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④ 列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写状态转换表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⑤ 画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出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状态图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⑥ 画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出波形图（如必要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6156325" y="3651885"/>
            <a:ext cx="2778125" cy="992505"/>
          </a:xfrm>
          <a:prstGeom prst="roundRect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342900" indent="-342900" algn="l" eaLnBrk="1" hangingPunct="1"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同步时序电路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l" eaLnBrk="1" hangingPunct="1">
              <a:spcBef>
                <a:spcPts val="600"/>
              </a:spcBef>
              <a:buClr>
                <a:srgbClr val="000000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异步时序电路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3" name="右箭头 22"/>
          <p:cNvSpPr/>
          <p:nvPr/>
        </p:nvSpPr>
        <p:spPr bwMode="auto">
          <a:xfrm rot="2880000">
            <a:off x="5716905" y="3209925"/>
            <a:ext cx="667385" cy="215900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3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1 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同步时序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分析</a:t>
            </a:r>
            <a:endParaRPr lang="en-US" altLang="zh-CN" dirty="0" smtClean="0">
              <a:solidFill>
                <a:srgbClr val="000000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118" name="矩形 117"/>
          <p:cNvSpPr/>
          <p:nvPr/>
        </p:nvSpPr>
        <p:spPr bwMode="auto">
          <a:xfrm>
            <a:off x="6518774" y="3605570"/>
            <a:ext cx="351656" cy="972000"/>
          </a:xfrm>
          <a:prstGeom prst="rect">
            <a:avLst/>
          </a:prstGeom>
          <a:solidFill>
            <a:srgbClr val="FF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" name="矩形 118"/>
          <p:cNvSpPr/>
          <p:nvPr/>
        </p:nvSpPr>
        <p:spPr bwMode="auto">
          <a:xfrm>
            <a:off x="6867239" y="3608128"/>
            <a:ext cx="720080" cy="9720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6527791" y="2738916"/>
            <a:ext cx="351656" cy="864096"/>
          </a:xfrm>
          <a:prstGeom prst="rect">
            <a:avLst/>
          </a:prstGeom>
          <a:solidFill>
            <a:srgbClr val="FF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6876256" y="2741474"/>
            <a:ext cx="720080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171" name="组合 211"/>
          <p:cNvGrpSpPr/>
          <p:nvPr/>
        </p:nvGrpSpPr>
        <p:grpSpPr bwMode="auto">
          <a:xfrm>
            <a:off x="11187" y="704850"/>
            <a:ext cx="3768725" cy="3068638"/>
            <a:chOff x="4817750" y="1251223"/>
            <a:chExt cx="3769143" cy="3068418"/>
          </a:xfrm>
        </p:grpSpPr>
        <p:cxnSp>
          <p:nvCxnSpPr>
            <p:cNvPr id="7260" name="直接连接符 114"/>
            <p:cNvCxnSpPr>
              <a:cxnSpLocks noChangeShapeType="1"/>
            </p:cNvCxnSpPr>
            <p:nvPr/>
          </p:nvCxnSpPr>
          <p:spPr bwMode="auto">
            <a:xfrm>
              <a:off x="6679282" y="1403623"/>
              <a:ext cx="0" cy="21606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261" name="直接连接符 115"/>
            <p:cNvCxnSpPr>
              <a:cxnSpLocks noChangeShapeType="1"/>
            </p:cNvCxnSpPr>
            <p:nvPr/>
          </p:nvCxnSpPr>
          <p:spPr bwMode="auto">
            <a:xfrm>
              <a:off x="7010747" y="2115319"/>
              <a:ext cx="0" cy="21606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262" name="直接连接符 116"/>
            <p:cNvCxnSpPr>
              <a:cxnSpLocks noChangeShapeType="1"/>
            </p:cNvCxnSpPr>
            <p:nvPr/>
          </p:nvCxnSpPr>
          <p:spPr bwMode="auto">
            <a:xfrm>
              <a:off x="6381725" y="2124844"/>
              <a:ext cx="0" cy="21606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263" name="直接连接符 34"/>
            <p:cNvCxnSpPr>
              <a:cxnSpLocks noChangeShapeType="1"/>
            </p:cNvCxnSpPr>
            <p:nvPr/>
          </p:nvCxnSpPr>
          <p:spPr bwMode="auto">
            <a:xfrm rot="5400000">
              <a:off x="6127695" y="3972956"/>
              <a:ext cx="395228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oval" w="sm" len="sm"/>
              <a:tailEnd type="oval" w="sm" len="sm"/>
            </a:ln>
          </p:spPr>
        </p:cxnSp>
        <p:grpSp>
          <p:nvGrpSpPr>
            <p:cNvPr id="7264" name="组合 16"/>
            <p:cNvGrpSpPr/>
            <p:nvPr/>
          </p:nvGrpSpPr>
          <p:grpSpPr bwMode="auto">
            <a:xfrm>
              <a:off x="5946588" y="2730623"/>
              <a:ext cx="803364" cy="1307647"/>
              <a:chOff x="1863800" y="1908049"/>
              <a:chExt cx="803540" cy="1308758"/>
            </a:xfrm>
          </p:grpSpPr>
          <p:cxnSp>
            <p:nvCxnSpPr>
              <p:cNvPr id="7323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1791842" y="2555806"/>
                <a:ext cx="1297101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sm" len="sm"/>
              </a:ln>
            </p:spPr>
          </p:cxnSp>
          <p:cxnSp>
            <p:nvCxnSpPr>
              <p:cNvPr id="7324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477786" y="2693570"/>
                <a:ext cx="1044887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7325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TextBox 183"/>
              <p:cNvSpPr txBox="1">
                <a:spLocks noChangeArrowheads="1"/>
              </p:cNvSpPr>
              <p:nvPr/>
            </p:nvSpPr>
            <p:spPr bwMode="auto">
              <a:xfrm>
                <a:off x="2310034" y="2865637"/>
                <a:ext cx="357306" cy="246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185" name="TextBox 184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462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186" name="TextBox 185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462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cxnSp>
            <p:nvCxnSpPr>
              <p:cNvPr id="7329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7265" name="等腰三角形 36"/>
            <p:cNvSpPr>
              <a:spLocks noChangeArrowheads="1"/>
            </p:cNvSpPr>
            <p:nvPr/>
          </p:nvSpPr>
          <p:spPr bwMode="auto">
            <a:xfrm>
              <a:off x="6262361" y="3787760"/>
              <a:ext cx="107977" cy="107984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>
              <a:spLocks noChangeArrowheads="1"/>
            </p:cNvSpPr>
            <p:nvPr/>
          </p:nvSpPr>
          <p:spPr bwMode="auto">
            <a:xfrm>
              <a:off x="6142997" y="3607567"/>
              <a:ext cx="422322" cy="2462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10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7267" name="Text Box 69"/>
            <p:cNvSpPr txBox="1">
              <a:spLocks noChangeArrowheads="1"/>
            </p:cNvSpPr>
            <p:nvPr/>
          </p:nvSpPr>
          <p:spPr bwMode="auto">
            <a:xfrm>
              <a:off x="5364088" y="4011910"/>
              <a:ext cx="437735" cy="30773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 smtClean="0">
                  <a:solidFill>
                    <a:srgbClr val="0000FF"/>
                  </a:solidFill>
                </a:rPr>
                <a:t>cp</a:t>
              </a:r>
              <a:r>
                <a:rPr kumimoji="0" lang="en-US" altLang="zh-CN" sz="1400" b="1" baseline="-25000" dirty="0" smtClean="0">
                  <a:solidFill>
                    <a:srgbClr val="0000FF"/>
                  </a:solidFill>
                </a:rPr>
                <a:t> </a:t>
              </a:r>
              <a:endParaRPr kumimoji="0" lang="en-US" altLang="zh-CN" sz="1400" b="1" baseline="-25000" dirty="0">
                <a:solidFill>
                  <a:srgbClr val="0000FF"/>
                </a:solidFill>
              </a:endParaRPr>
            </a:p>
          </p:txBody>
        </p:sp>
        <p:cxnSp>
          <p:nvCxnSpPr>
            <p:cNvPr id="7268" name="直接连接符 34"/>
            <p:cNvCxnSpPr>
              <a:cxnSpLocks noChangeShapeType="1"/>
            </p:cNvCxnSpPr>
            <p:nvPr/>
          </p:nvCxnSpPr>
          <p:spPr bwMode="auto">
            <a:xfrm rot="5400000">
              <a:off x="7654154" y="3964527"/>
              <a:ext cx="395228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7269" name="组合 16"/>
            <p:cNvGrpSpPr/>
            <p:nvPr/>
          </p:nvGrpSpPr>
          <p:grpSpPr bwMode="auto">
            <a:xfrm>
              <a:off x="7477108" y="3219822"/>
              <a:ext cx="803364" cy="835518"/>
              <a:chOff x="1863914" y="2383515"/>
              <a:chExt cx="803540" cy="836234"/>
            </a:xfrm>
          </p:grpSpPr>
          <p:cxnSp>
            <p:nvCxnSpPr>
              <p:cNvPr id="7316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026035" y="2797076"/>
                <a:ext cx="8287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oval" w="sm" len="sm"/>
              </a:ln>
            </p:spPr>
          </p:cxnSp>
          <p:cxnSp>
            <p:nvCxnSpPr>
              <p:cNvPr id="7317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57936" y="2876662"/>
                <a:ext cx="684586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7318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TextBox 176"/>
              <p:cNvSpPr txBox="1">
                <a:spLocks noChangeArrowheads="1"/>
              </p:cNvSpPr>
              <p:nvPr/>
            </p:nvSpPr>
            <p:spPr bwMode="auto">
              <a:xfrm>
                <a:off x="2310148" y="2865791"/>
                <a:ext cx="357306" cy="2462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178" name="TextBox 17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179" name="TextBox 17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cxnSp>
            <p:nvCxnSpPr>
              <p:cNvPr id="7322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7270" name="等腰三角形 36"/>
            <p:cNvSpPr>
              <a:spLocks noChangeArrowheads="1"/>
            </p:cNvSpPr>
            <p:nvPr/>
          </p:nvSpPr>
          <p:spPr bwMode="auto">
            <a:xfrm>
              <a:off x="7792766" y="3801907"/>
              <a:ext cx="107977" cy="107984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>
              <a:spLocks noChangeArrowheads="1"/>
            </p:cNvSpPr>
            <p:nvPr/>
          </p:nvSpPr>
          <p:spPr bwMode="auto">
            <a:xfrm>
              <a:off x="7661940" y="3598705"/>
              <a:ext cx="422322" cy="24620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10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7272" name="Line 28"/>
            <p:cNvSpPr>
              <a:spLocks noChangeShapeType="1"/>
            </p:cNvSpPr>
            <p:nvPr/>
          </p:nvSpPr>
          <p:spPr bwMode="auto">
            <a:xfrm rot="16200000" flipV="1">
              <a:off x="5967781" y="1965832"/>
              <a:ext cx="0" cy="1836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73" name="Line 28"/>
            <p:cNvSpPr>
              <a:spLocks noChangeShapeType="1"/>
            </p:cNvSpPr>
            <p:nvPr/>
          </p:nvSpPr>
          <p:spPr bwMode="auto">
            <a:xfrm rot="16200000" flipV="1">
              <a:off x="7298380" y="3052963"/>
              <a:ext cx="0" cy="6408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oval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74" name="Line 28"/>
            <p:cNvSpPr>
              <a:spLocks noChangeShapeType="1"/>
            </p:cNvSpPr>
            <p:nvPr/>
          </p:nvSpPr>
          <p:spPr bwMode="auto">
            <a:xfrm rot="16200000" flipV="1">
              <a:off x="6811509" y="3117311"/>
              <a:ext cx="0" cy="20878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75" name="Line 28"/>
            <p:cNvSpPr>
              <a:spLocks noChangeShapeType="1"/>
            </p:cNvSpPr>
            <p:nvPr/>
          </p:nvSpPr>
          <p:spPr bwMode="auto">
            <a:xfrm rot="16200000" flipV="1">
              <a:off x="6580968" y="2506997"/>
              <a:ext cx="0" cy="9936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5" name="TextBox 134"/>
            <p:cNvSpPr txBox="1">
              <a:spLocks noChangeArrowheads="1"/>
            </p:cNvSpPr>
            <p:nvPr/>
          </p:nvSpPr>
          <p:spPr bwMode="auto">
            <a:xfrm>
              <a:off x="5957701" y="3688986"/>
              <a:ext cx="357228" cy="2460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136" name="TextBox 135"/>
            <p:cNvSpPr txBox="1">
              <a:spLocks noChangeArrowheads="1"/>
            </p:cNvSpPr>
            <p:nvPr/>
          </p:nvSpPr>
          <p:spPr bwMode="auto">
            <a:xfrm>
              <a:off x="7456467" y="3703272"/>
              <a:ext cx="355639" cy="2460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7278" name="椭圆 93"/>
            <p:cNvSpPr>
              <a:spLocks noChangeArrowheads="1"/>
            </p:cNvSpPr>
            <p:nvPr/>
          </p:nvSpPr>
          <p:spPr bwMode="auto">
            <a:xfrm>
              <a:off x="7812815" y="3908161"/>
              <a:ext cx="71423" cy="71427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9" name="椭圆 93"/>
            <p:cNvSpPr>
              <a:spLocks noChangeArrowheads="1"/>
            </p:cNvSpPr>
            <p:nvPr/>
          </p:nvSpPr>
          <p:spPr bwMode="auto">
            <a:xfrm>
              <a:off x="6281636" y="3898070"/>
              <a:ext cx="71423" cy="71427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" name="组合 226"/>
            <p:cNvGrpSpPr/>
            <p:nvPr/>
          </p:nvGrpSpPr>
          <p:grpSpPr bwMode="auto">
            <a:xfrm>
              <a:off x="5436096" y="2787774"/>
              <a:ext cx="292853" cy="215989"/>
              <a:chOff x="5580112" y="4083918"/>
              <a:chExt cx="292793" cy="216000"/>
            </a:xfrm>
            <a:solidFill>
              <a:srgbClr val="CCFFCC"/>
            </a:solidFill>
          </p:grpSpPr>
          <p:sp>
            <p:nvSpPr>
              <p:cNvPr id="170" name="AutoShape 30"/>
              <p:cNvSpPr>
                <a:spLocks noChangeArrowheads="1"/>
              </p:cNvSpPr>
              <p:nvPr/>
            </p:nvSpPr>
            <p:spPr bwMode="auto">
              <a:xfrm rot="5400000">
                <a:off x="5580112" y="4083918"/>
                <a:ext cx="216000" cy="216000"/>
              </a:xfrm>
              <a:prstGeom prst="flowChartExtract">
                <a:avLst/>
              </a:prstGeom>
              <a:grpFill/>
              <a:ln w="19050">
                <a:solidFill>
                  <a:schemeClr val="bg2"/>
                </a:solidFill>
                <a:miter lim="800000"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椭圆 170"/>
              <p:cNvSpPr/>
              <p:nvPr/>
            </p:nvSpPr>
            <p:spPr bwMode="auto">
              <a:xfrm>
                <a:off x="5800897" y="4155926"/>
                <a:ext cx="72008" cy="72008"/>
              </a:xfrm>
              <a:prstGeom prst="ellipse">
                <a:avLst/>
              </a:prstGeom>
              <a:grp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7281" name="直接连接符 154"/>
            <p:cNvCxnSpPr>
              <a:cxnSpLocks noChangeShapeType="1"/>
            </p:cNvCxnSpPr>
            <p:nvPr/>
          </p:nvCxnSpPr>
          <p:spPr bwMode="auto">
            <a:xfrm>
              <a:off x="7063705" y="2605658"/>
              <a:ext cx="0" cy="396081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282" name="直接连接符 157"/>
            <p:cNvCxnSpPr>
              <a:cxnSpLocks noChangeShapeType="1"/>
            </p:cNvCxnSpPr>
            <p:nvPr/>
          </p:nvCxnSpPr>
          <p:spPr bwMode="auto">
            <a:xfrm>
              <a:off x="6891116" y="2566748"/>
              <a:ext cx="0" cy="324066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283" name="直接连接符 161"/>
            <p:cNvCxnSpPr>
              <a:cxnSpLocks noChangeShapeType="1"/>
            </p:cNvCxnSpPr>
            <p:nvPr/>
          </p:nvCxnSpPr>
          <p:spPr bwMode="auto">
            <a:xfrm>
              <a:off x="6391817" y="2504019"/>
              <a:ext cx="0" cy="21606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grpSp>
          <p:nvGrpSpPr>
            <p:cNvPr id="7284" name="组合 193"/>
            <p:cNvGrpSpPr/>
            <p:nvPr/>
          </p:nvGrpSpPr>
          <p:grpSpPr bwMode="auto">
            <a:xfrm>
              <a:off x="6185557" y="2295232"/>
              <a:ext cx="396000" cy="432000"/>
              <a:chOff x="5887393" y="2575000"/>
              <a:chExt cx="258762" cy="331787"/>
            </a:xfrm>
          </p:grpSpPr>
          <p:sp>
            <p:nvSpPr>
              <p:cNvPr id="141" name="椭圆 96"/>
              <p:cNvSpPr>
                <a:spLocks noChangeArrowheads="1"/>
              </p:cNvSpPr>
              <p:nvPr/>
            </p:nvSpPr>
            <p:spPr bwMode="auto">
              <a:xfrm>
                <a:off x="5983341" y="2575377"/>
                <a:ext cx="64322" cy="6705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流程图: 延期 95"/>
              <p:cNvSpPr>
                <a:spLocks noChangeArrowheads="1"/>
              </p:cNvSpPr>
              <p:nvPr/>
            </p:nvSpPr>
            <p:spPr bwMode="auto">
              <a:xfrm rot="16200000">
                <a:off x="5882951" y="2643717"/>
                <a:ext cx="268214" cy="258325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85" name="Line 28"/>
            <p:cNvSpPr>
              <a:spLocks noChangeShapeType="1"/>
            </p:cNvSpPr>
            <p:nvPr/>
          </p:nvSpPr>
          <p:spPr bwMode="auto">
            <a:xfrm rot="16200000" flipV="1">
              <a:off x="6489726" y="2016843"/>
              <a:ext cx="0" cy="216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86" name="Line 28"/>
            <p:cNvSpPr>
              <a:spLocks noChangeShapeType="1"/>
            </p:cNvSpPr>
            <p:nvPr/>
          </p:nvSpPr>
          <p:spPr bwMode="auto">
            <a:xfrm rot="16200000" flipV="1">
              <a:off x="6498167" y="3624036"/>
              <a:ext cx="0" cy="828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7287" name="组合 191"/>
            <p:cNvGrpSpPr/>
            <p:nvPr/>
          </p:nvGrpSpPr>
          <p:grpSpPr bwMode="auto">
            <a:xfrm rot="5400000">
              <a:off x="6272737" y="3185833"/>
              <a:ext cx="1274621" cy="288000"/>
              <a:chOff x="5208182" y="4610869"/>
              <a:chExt cx="2037640" cy="360040"/>
            </a:xfrm>
          </p:grpSpPr>
          <p:pic>
            <p:nvPicPr>
              <p:cNvPr id="7310" name="Picture 3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6669757" y="4610869"/>
                <a:ext cx="576065" cy="3600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11" name="任意多边形 188"/>
              <p:cNvSpPr/>
              <p:nvPr/>
            </p:nvSpPr>
            <p:spPr bwMode="auto">
              <a:xfrm>
                <a:off x="6695387" y="4635874"/>
                <a:ext cx="57550" cy="315035"/>
              </a:xfrm>
              <a:custGeom>
                <a:avLst/>
                <a:gdLst>
                  <a:gd name="T0" fmla="*/ 5154 w 106362"/>
                  <a:gd name="T1" fmla="*/ 0 h 447675"/>
                  <a:gd name="T2" fmla="*/ 56691 w 106362"/>
                  <a:gd name="T3" fmla="*/ 147463 h 447675"/>
                  <a:gd name="T4" fmla="*/ 0 w 106362"/>
                  <a:gd name="T5" fmla="*/ 315035 h 4476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362" h="447675">
                    <a:moveTo>
                      <a:pt x="9525" y="0"/>
                    </a:moveTo>
                    <a:cubicBezTo>
                      <a:pt x="57943" y="67469"/>
                      <a:pt x="106362" y="134938"/>
                      <a:pt x="104775" y="209550"/>
                    </a:cubicBezTo>
                    <a:cubicBezTo>
                      <a:pt x="103188" y="284162"/>
                      <a:pt x="0" y="447675"/>
                      <a:pt x="0" y="447675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312" name="Line 79"/>
              <p:cNvSpPr>
                <a:spLocks noChangeShapeType="1"/>
              </p:cNvSpPr>
              <p:nvPr/>
            </p:nvSpPr>
            <p:spPr bwMode="auto">
              <a:xfrm>
                <a:off x="5208182" y="4712631"/>
                <a:ext cx="1611413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313" name="Line 79"/>
              <p:cNvSpPr>
                <a:spLocks noChangeShapeType="1"/>
              </p:cNvSpPr>
              <p:nvPr/>
            </p:nvSpPr>
            <p:spPr bwMode="auto">
              <a:xfrm>
                <a:off x="6266136" y="4877248"/>
                <a:ext cx="5524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7288" name="直接连接符 142"/>
            <p:cNvCxnSpPr>
              <a:cxnSpLocks noChangeShapeType="1"/>
            </p:cNvCxnSpPr>
            <p:nvPr/>
          </p:nvCxnSpPr>
          <p:spPr bwMode="auto">
            <a:xfrm>
              <a:off x="6919577" y="3930037"/>
              <a:ext cx="0" cy="1080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7289" name="Line 28"/>
            <p:cNvSpPr>
              <a:spLocks noChangeShapeType="1"/>
            </p:cNvSpPr>
            <p:nvPr/>
          </p:nvSpPr>
          <p:spPr bwMode="auto">
            <a:xfrm rot="16200000" flipV="1">
              <a:off x="7912313" y="3750271"/>
              <a:ext cx="0" cy="612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7290" name="组合 194"/>
            <p:cNvGrpSpPr/>
            <p:nvPr/>
          </p:nvGrpSpPr>
          <p:grpSpPr bwMode="auto">
            <a:xfrm>
              <a:off x="6814350" y="2286279"/>
              <a:ext cx="396000" cy="432000"/>
              <a:chOff x="6323955" y="2575000"/>
              <a:chExt cx="258763" cy="331787"/>
            </a:xfrm>
          </p:grpSpPr>
          <p:sp>
            <p:nvSpPr>
              <p:cNvPr id="139" name="椭圆 96"/>
              <p:cNvSpPr>
                <a:spLocks noChangeArrowheads="1"/>
              </p:cNvSpPr>
              <p:nvPr/>
            </p:nvSpPr>
            <p:spPr bwMode="auto">
              <a:xfrm>
                <a:off x="6419856" y="2574939"/>
                <a:ext cx="64322" cy="6705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流程图: 延期 95"/>
              <p:cNvSpPr>
                <a:spLocks noChangeArrowheads="1"/>
              </p:cNvSpPr>
              <p:nvPr/>
            </p:nvSpPr>
            <p:spPr bwMode="auto">
              <a:xfrm rot="16200000">
                <a:off x="6319466" y="2643278"/>
                <a:ext cx="268214" cy="258326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7292" name="直接连接符 18"/>
            <p:cNvCxnSpPr>
              <a:cxnSpLocks noChangeShapeType="1"/>
            </p:cNvCxnSpPr>
            <p:nvPr/>
          </p:nvCxnSpPr>
          <p:spPr bwMode="auto">
            <a:xfrm rot="5400000">
              <a:off x="5048074" y="3122838"/>
              <a:ext cx="4896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oval" w="sm" len="sm"/>
            </a:ln>
          </p:spPr>
        </p:cxnSp>
        <p:sp>
          <p:nvSpPr>
            <p:cNvPr id="7293" name="Line 28"/>
            <p:cNvSpPr>
              <a:spLocks noChangeShapeType="1"/>
            </p:cNvSpPr>
            <p:nvPr/>
          </p:nvSpPr>
          <p:spPr bwMode="auto">
            <a:xfrm rot="16200000" flipV="1">
              <a:off x="6066080" y="2589838"/>
              <a:ext cx="0" cy="1548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94" name="Line 79"/>
            <p:cNvSpPr>
              <a:spLocks noChangeShapeType="1"/>
            </p:cNvSpPr>
            <p:nvPr/>
          </p:nvSpPr>
          <p:spPr bwMode="auto">
            <a:xfrm rot="5400000">
              <a:off x="6063052" y="3039766"/>
              <a:ext cx="648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  <a:tailEnd type="oval" w="sm" len="sm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97" name="Line 28"/>
            <p:cNvSpPr>
              <a:spLocks noChangeShapeType="1"/>
            </p:cNvSpPr>
            <p:nvPr/>
          </p:nvSpPr>
          <p:spPr bwMode="auto">
            <a:xfrm rot="16200000" flipV="1">
              <a:off x="7157095" y="2319822"/>
              <a:ext cx="0" cy="1800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7298" name="直接连接符 154"/>
            <p:cNvCxnSpPr>
              <a:cxnSpLocks noChangeShapeType="1"/>
            </p:cNvCxnSpPr>
            <p:nvPr/>
          </p:nvCxnSpPr>
          <p:spPr bwMode="auto">
            <a:xfrm>
              <a:off x="6247234" y="2715765"/>
              <a:ext cx="0" cy="504000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7299" name="Line 28"/>
            <p:cNvSpPr>
              <a:spLocks noChangeShapeType="1"/>
            </p:cNvSpPr>
            <p:nvPr/>
          </p:nvSpPr>
          <p:spPr bwMode="auto">
            <a:xfrm rot="16200000" flipV="1">
              <a:off x="6912264" y="2012652"/>
              <a:ext cx="0" cy="216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7300" name="直接连接符 154"/>
            <p:cNvCxnSpPr>
              <a:cxnSpLocks noChangeShapeType="1"/>
            </p:cNvCxnSpPr>
            <p:nvPr/>
          </p:nvCxnSpPr>
          <p:spPr bwMode="auto">
            <a:xfrm>
              <a:off x="6800056" y="1717179"/>
              <a:ext cx="0" cy="396081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7301" name="直接连接符 154"/>
            <p:cNvCxnSpPr>
              <a:cxnSpLocks noChangeShapeType="1"/>
            </p:cNvCxnSpPr>
            <p:nvPr/>
          </p:nvCxnSpPr>
          <p:spPr bwMode="auto">
            <a:xfrm>
              <a:off x="6588224" y="1726704"/>
              <a:ext cx="0" cy="396081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grpSp>
          <p:nvGrpSpPr>
            <p:cNvPr id="7302" name="组合 195"/>
            <p:cNvGrpSpPr/>
            <p:nvPr/>
          </p:nvGrpSpPr>
          <p:grpSpPr bwMode="auto">
            <a:xfrm>
              <a:off x="6482308" y="1543447"/>
              <a:ext cx="396000" cy="432000"/>
              <a:chOff x="6516217" y="1500137"/>
              <a:chExt cx="258762" cy="331787"/>
            </a:xfrm>
          </p:grpSpPr>
          <p:sp>
            <p:nvSpPr>
              <p:cNvPr id="145" name="椭圆 96"/>
              <p:cNvSpPr>
                <a:spLocks noChangeArrowheads="1"/>
              </p:cNvSpPr>
              <p:nvPr/>
            </p:nvSpPr>
            <p:spPr bwMode="auto">
              <a:xfrm>
                <a:off x="6611222" y="1500026"/>
                <a:ext cx="65360" cy="6705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流程图: 延期 95"/>
              <p:cNvSpPr>
                <a:spLocks noChangeArrowheads="1"/>
              </p:cNvSpPr>
              <p:nvPr/>
            </p:nvSpPr>
            <p:spPr bwMode="auto">
              <a:xfrm rot="16200000">
                <a:off x="6511351" y="1567847"/>
                <a:ext cx="268214" cy="259363"/>
              </a:xfrm>
              <a:prstGeom prst="flowChartDelay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303" name="Text Box 69"/>
            <p:cNvSpPr txBox="1">
              <a:spLocks noChangeArrowheads="1"/>
            </p:cNvSpPr>
            <p:nvPr/>
          </p:nvSpPr>
          <p:spPr bwMode="auto">
            <a:xfrm>
              <a:off x="6400775" y="1251223"/>
              <a:ext cx="437735" cy="30773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C00000"/>
                  </a:solidFill>
                </a:rPr>
                <a:t>Z </a:t>
              </a:r>
              <a:endParaRPr kumimoji="0" lang="en-US" altLang="zh-CN" sz="14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7304" name="Text Box 69"/>
            <p:cNvSpPr txBox="1">
              <a:spLocks noChangeArrowheads="1"/>
            </p:cNvSpPr>
            <p:nvPr/>
          </p:nvSpPr>
          <p:spPr bwMode="auto">
            <a:xfrm>
              <a:off x="8149158" y="3920852"/>
              <a:ext cx="437735" cy="307731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>
                  <a:solidFill>
                    <a:srgbClr val="C00000"/>
                  </a:solidFill>
                </a:rPr>
                <a:t>“1”</a:t>
              </a:r>
              <a:endParaRPr kumimoji="0" lang="en-US" altLang="zh-CN" sz="1400" b="1" baseline="-25000">
                <a:solidFill>
                  <a:srgbClr val="C00000"/>
                </a:solidFill>
              </a:endParaRPr>
            </a:p>
          </p:txBody>
        </p:sp>
        <p:sp>
          <p:nvSpPr>
            <p:cNvPr id="7305" name="Text Box 69"/>
            <p:cNvSpPr txBox="1">
              <a:spLocks noChangeArrowheads="1"/>
            </p:cNvSpPr>
            <p:nvPr/>
          </p:nvSpPr>
          <p:spPr bwMode="auto">
            <a:xfrm>
              <a:off x="4817750" y="2714793"/>
              <a:ext cx="351829" cy="306683"/>
            </a:xfrm>
            <a:prstGeom prst="rect">
              <a:avLst/>
            </a:prstGeom>
            <a:solidFill>
              <a:schemeClr val="tx1"/>
            </a:solidFill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006600"/>
                  </a:solidFill>
                </a:rPr>
                <a:t>X</a:t>
              </a:r>
              <a:endParaRPr kumimoji="0" lang="en-US" altLang="zh-CN" sz="1400" b="1" baseline="-25000" dirty="0">
                <a:solidFill>
                  <a:srgbClr val="006600"/>
                </a:solidFill>
              </a:endParaRPr>
            </a:p>
          </p:txBody>
        </p:sp>
      </p:grpSp>
      <p:sp>
        <p:nvSpPr>
          <p:cNvPr id="214" name="Text Box 3"/>
          <p:cNvSpPr txBox="1">
            <a:spLocks noChangeArrowheads="1"/>
          </p:cNvSpPr>
          <p:nvPr/>
        </p:nvSpPr>
        <p:spPr bwMode="auto">
          <a:xfrm>
            <a:off x="252095" y="4227513"/>
            <a:ext cx="1533506" cy="632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J</a:t>
            </a:r>
            <a:r>
              <a:rPr kumimoji="0" lang="en-US" altLang="zh-CN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=K</a:t>
            </a:r>
            <a:r>
              <a:rPr kumimoji="0" lang="en-US" altLang="zh-CN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=1     </a:t>
            </a:r>
            <a:endParaRPr kumimoji="0" lang="en-US" altLang="zh-CN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J</a:t>
            </a:r>
            <a:r>
              <a:rPr kumimoji="0" lang="en-US" altLang="zh-CN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=K</a:t>
            </a:r>
            <a:r>
              <a:rPr kumimoji="0" lang="en-US" altLang="zh-CN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kumimoji="0" lang="en-US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=X</a:t>
            </a: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sym typeface="+mn-ea"/>
              </a:rPr>
              <a:t>⊕</a:t>
            </a:r>
            <a:r>
              <a:rPr kumimoji="0" lang="en-US" altLang="zh-CN" sz="16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Q</a:t>
            </a:r>
            <a:r>
              <a:rPr kumimoji="0" lang="en-US" altLang="zh-CN" sz="1600" b="1" baseline="-25000" dirty="0" smtClean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kumimoji="0" lang="en-US" altLang="zh-CN" sz="1600" b="1" baseline="30000" dirty="0" smtClean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endParaRPr lang="en-US" altLang="zh-CN" sz="1600" b="1" baseline="30000" dirty="0">
              <a:solidFill>
                <a:srgbClr val="000000"/>
              </a:solidFill>
            </a:endParaRPr>
          </a:p>
        </p:txBody>
      </p:sp>
      <p:sp>
        <p:nvSpPr>
          <p:cNvPr id="215" name="Text Box 81"/>
          <p:cNvSpPr txBox="1">
            <a:spLocks noChangeArrowheads="1"/>
          </p:cNvSpPr>
          <p:nvPr/>
        </p:nvSpPr>
        <p:spPr bwMode="auto">
          <a:xfrm>
            <a:off x="179388" y="3795713"/>
            <a:ext cx="1728787" cy="33718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  <a:endParaRPr lang="zh-CN" altLang="en-US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6" name="Text Box 83"/>
          <p:cNvSpPr txBox="1">
            <a:spLocks noChangeArrowheads="1"/>
          </p:cNvSpPr>
          <p:nvPr/>
        </p:nvSpPr>
        <p:spPr bwMode="auto">
          <a:xfrm>
            <a:off x="2124075" y="3816350"/>
            <a:ext cx="1728788" cy="33718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  <a:endParaRPr lang="zh-CN" altLang="en-US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Group 5"/>
          <p:cNvGrpSpPr/>
          <p:nvPr/>
        </p:nvGrpSpPr>
        <p:grpSpPr bwMode="auto">
          <a:xfrm>
            <a:off x="1908493" y="4168773"/>
            <a:ext cx="2162175" cy="706438"/>
            <a:chOff x="0" y="3360"/>
            <a:chExt cx="1362" cy="594"/>
          </a:xfrm>
        </p:grpSpPr>
        <p:sp>
          <p:nvSpPr>
            <p:cNvPr id="7258" name="Text Box 6"/>
            <p:cNvSpPr txBox="1">
              <a:spLocks noChangeArrowheads="1"/>
            </p:cNvSpPr>
            <p:nvPr/>
          </p:nvSpPr>
          <p:spPr bwMode="auto">
            <a:xfrm>
              <a:off x="0" y="3360"/>
              <a:ext cx="1362" cy="5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X</a:t>
              </a:r>
              <a:r>
                <a:rPr lang="en-US" altLang="zh-CN" sz="1600" b="1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r>
                <a:rPr lang="en-US" altLang="zh-CN" sz="1600" b="1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</p:txBody>
        </p:sp>
        <p:sp>
          <p:nvSpPr>
            <p:cNvPr id="7259" name="Line 7"/>
            <p:cNvSpPr>
              <a:spLocks noChangeShapeType="1"/>
            </p:cNvSpPr>
            <p:nvPr/>
          </p:nvSpPr>
          <p:spPr bwMode="auto">
            <a:xfrm>
              <a:off x="556" y="3731"/>
              <a:ext cx="136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31" name="Text Box 83"/>
          <p:cNvSpPr txBox="1">
            <a:spLocks noChangeArrowheads="1"/>
          </p:cNvSpPr>
          <p:nvPr/>
        </p:nvSpPr>
        <p:spPr bwMode="auto">
          <a:xfrm>
            <a:off x="3946009" y="771525"/>
            <a:ext cx="1728788" cy="33718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输出方程</a:t>
            </a:r>
            <a:endParaRPr lang="zh-CN" altLang="en-US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5563671" y="771525"/>
            <a:ext cx="2418715" cy="762000"/>
            <a:chOff x="4605337" y="771525"/>
            <a:chExt cx="2418715" cy="762000"/>
          </a:xfrm>
        </p:grpSpPr>
        <p:sp>
          <p:nvSpPr>
            <p:cNvPr id="7248" name="Text Box 110"/>
            <p:cNvSpPr txBox="1">
              <a:spLocks noChangeArrowheads="1"/>
            </p:cNvSpPr>
            <p:nvPr/>
          </p:nvSpPr>
          <p:spPr bwMode="auto">
            <a:xfrm>
              <a:off x="4605337" y="826770"/>
              <a:ext cx="2418715" cy="706755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Z = 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X</a:t>
              </a:r>
              <a:r>
                <a:rPr kumimoji="0" lang="en-US" altLang="zh-CN" sz="1600" b="1" dirty="0">
                  <a:solidFill>
                    <a:srgbClr val="000000"/>
                  </a:solidFill>
                  <a:sym typeface="+mn-ea"/>
                </a:rPr>
                <a:t>·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·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 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X</a:t>
              </a:r>
              <a:r>
                <a:rPr kumimoji="0" lang="en-US" altLang="zh-CN" sz="1600" b="1" dirty="0">
                  <a:solidFill>
                    <a:srgbClr val="000000"/>
                  </a:solidFill>
                  <a:sym typeface="+mn-ea"/>
                </a:rPr>
                <a:t>·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    </a:t>
              </a:r>
              <a:r>
                <a:rPr lang="en-US" altLang="zh-CN" sz="1600" b="1" dirty="0">
                  <a:solidFill>
                    <a:srgbClr val="000000"/>
                  </a:solidFill>
                </a:rPr>
                <a:t>= 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X</a:t>
              </a:r>
              <a:r>
                <a:rPr kumimoji="0" lang="en-US" altLang="zh-CN" sz="1600" b="1" dirty="0">
                  <a:solidFill>
                    <a:srgbClr val="000000"/>
                  </a:solidFill>
                  <a:sym typeface="+mn-ea"/>
                </a:rPr>
                <a:t>·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 </a:t>
              </a:r>
              <a:r>
                <a:rPr lang="en-US" altLang="zh-CN" sz="1600" b="1" dirty="0">
                  <a:solidFill>
                    <a:srgbClr val="000000"/>
                  </a:solidFill>
                </a:rPr>
                <a:t>+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 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X</a:t>
              </a:r>
              <a:r>
                <a:rPr kumimoji="0" lang="en-US" altLang="zh-CN" sz="1600" b="1" dirty="0">
                  <a:solidFill>
                    <a:srgbClr val="000000"/>
                  </a:solidFill>
                  <a:sym typeface="+mn-ea"/>
                </a:rPr>
                <a:t>·</a:t>
              </a:r>
              <a:r>
                <a:rPr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Q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</p:txBody>
        </p:sp>
        <p:sp>
          <p:nvSpPr>
            <p:cNvPr id="7249" name="Line 111"/>
            <p:cNvSpPr>
              <a:spLocks noChangeShapeType="1"/>
            </p:cNvSpPr>
            <p:nvPr/>
          </p:nvSpPr>
          <p:spPr bwMode="auto">
            <a:xfrm>
              <a:off x="5226367" y="885944"/>
              <a:ext cx="21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0" name="Line 112"/>
            <p:cNvSpPr>
              <a:spLocks noChangeShapeType="1"/>
            </p:cNvSpPr>
            <p:nvPr/>
          </p:nvSpPr>
          <p:spPr bwMode="auto">
            <a:xfrm>
              <a:off x="5549492" y="885944"/>
              <a:ext cx="21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1" name="Line 113"/>
            <p:cNvSpPr>
              <a:spLocks noChangeShapeType="1"/>
            </p:cNvSpPr>
            <p:nvPr/>
          </p:nvSpPr>
          <p:spPr bwMode="auto">
            <a:xfrm>
              <a:off x="5013643" y="828734"/>
              <a:ext cx="828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2" name="Line 115"/>
            <p:cNvSpPr>
              <a:spLocks noChangeShapeType="1"/>
            </p:cNvSpPr>
            <p:nvPr/>
          </p:nvSpPr>
          <p:spPr bwMode="auto">
            <a:xfrm>
              <a:off x="6029971" y="885944"/>
              <a:ext cx="144463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3" name="Line 116"/>
            <p:cNvSpPr>
              <a:spLocks noChangeShapeType="1"/>
            </p:cNvSpPr>
            <p:nvPr/>
          </p:nvSpPr>
          <p:spPr bwMode="auto">
            <a:xfrm>
              <a:off x="6016307" y="828040"/>
              <a:ext cx="828000" cy="127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4" name="Line 117"/>
            <p:cNvSpPr>
              <a:spLocks noChangeShapeType="1"/>
            </p:cNvSpPr>
            <p:nvPr/>
          </p:nvSpPr>
          <p:spPr bwMode="auto">
            <a:xfrm>
              <a:off x="4972367" y="771525"/>
              <a:ext cx="1836000" cy="63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5" name="Line 118"/>
            <p:cNvSpPr>
              <a:spLocks noChangeShapeType="1"/>
            </p:cNvSpPr>
            <p:nvPr/>
          </p:nvSpPr>
          <p:spPr bwMode="auto">
            <a:xfrm>
              <a:off x="6041084" y="1259475"/>
              <a:ext cx="144463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6" name="Line 119"/>
            <p:cNvSpPr>
              <a:spLocks noChangeShapeType="1"/>
            </p:cNvSpPr>
            <p:nvPr/>
          </p:nvSpPr>
          <p:spPr bwMode="auto">
            <a:xfrm>
              <a:off x="5559969" y="1259475"/>
              <a:ext cx="21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57" name="Line 120"/>
            <p:cNvSpPr>
              <a:spLocks noChangeShapeType="1"/>
            </p:cNvSpPr>
            <p:nvPr/>
          </p:nvSpPr>
          <p:spPr bwMode="auto">
            <a:xfrm>
              <a:off x="5206047" y="1259475"/>
              <a:ext cx="2160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44" name="Text Box 83"/>
          <p:cNvSpPr txBox="1">
            <a:spLocks noChangeArrowheads="1"/>
          </p:cNvSpPr>
          <p:nvPr/>
        </p:nvSpPr>
        <p:spPr bwMode="auto">
          <a:xfrm>
            <a:off x="6536166" y="1851670"/>
            <a:ext cx="1728787" cy="337185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状态转换表</a:t>
            </a:r>
            <a:endParaRPr lang="zh-CN" altLang="en-US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0" name="表格 119"/>
          <p:cNvGraphicFramePr>
            <a:graphicFrameLocks noGrp="1"/>
          </p:cNvGraphicFramePr>
          <p:nvPr/>
        </p:nvGraphicFramePr>
        <p:xfrm>
          <a:off x="6513416" y="2208860"/>
          <a:ext cx="2523080" cy="23583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08045"/>
                <a:gridCol w="313432"/>
                <a:gridCol w="361437"/>
                <a:gridCol w="432048"/>
                <a:gridCol w="504056"/>
                <a:gridCol w="504062"/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  <a:endParaRPr lang="zh-CN" altLang="en-US" sz="14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输出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X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smtClean="0">
                          <a:solidFill>
                            <a:schemeClr val="bg2"/>
                          </a:solidFill>
                          <a:latin typeface="+mj-lt"/>
                        </a:rPr>
                        <a:t>Z</a:t>
                      </a:r>
                      <a:endParaRPr lang="zh-CN" altLang="en-US" sz="14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grpSp>
        <p:nvGrpSpPr>
          <p:cNvPr id="134" name="组合 247"/>
          <p:cNvGrpSpPr/>
          <p:nvPr/>
        </p:nvGrpSpPr>
        <p:grpSpPr bwMode="auto">
          <a:xfrm>
            <a:off x="467543" y="1059581"/>
            <a:ext cx="1008000" cy="584775"/>
            <a:chOff x="3067772" y="2211710"/>
            <a:chExt cx="921136" cy="583882"/>
          </a:xfrm>
        </p:grpSpPr>
        <p:sp>
          <p:nvSpPr>
            <p:cNvPr id="137" name="圆角矩形标注 13"/>
            <p:cNvSpPr>
              <a:spLocks noChangeArrowheads="1"/>
            </p:cNvSpPr>
            <p:nvPr/>
          </p:nvSpPr>
          <p:spPr bwMode="auto">
            <a:xfrm>
              <a:off x="3088416" y="2224011"/>
              <a:ext cx="828341" cy="373999"/>
            </a:xfrm>
            <a:prstGeom prst="wedgeRoundRectCallout">
              <a:avLst>
                <a:gd name="adj1" fmla="val 69488"/>
                <a:gd name="adj2" fmla="val 51783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0066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138" name="Text Box 34"/>
            <p:cNvSpPr txBox="1">
              <a:spLocks noChangeArrowheads="1"/>
            </p:cNvSpPr>
            <p:nvPr/>
          </p:nvSpPr>
          <p:spPr bwMode="auto">
            <a:xfrm>
              <a:off x="3067772" y="2211710"/>
              <a:ext cx="921136" cy="583882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b="1" i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Mealy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型</a:t>
              </a:r>
              <a:endParaRPr lang="zh-CN" altLang="en-US" sz="1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14" name="表格 11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067944" y="2713995"/>
          <a:ext cx="2160270" cy="18720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7330"/>
                <a:gridCol w="400685"/>
                <a:gridCol w="699747"/>
                <a:gridCol w="712470"/>
              </a:tblGrid>
              <a:tr h="37806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00" kern="1200" baseline="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现态</a:t>
                      </a:r>
                      <a:endParaRPr lang="zh-CN" altLang="en-US" sz="15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R w="12700">
                      <a:solidFill>
                        <a:schemeClr val="bg2"/>
                      </a:solidFill>
                      <a:prstDash val="soli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kern="1200" dirty="0" smtClean="0">
                          <a:latin typeface="+mj-lt"/>
                        </a:rPr>
                        <a:t>Q</a:t>
                      </a:r>
                      <a:r>
                        <a:rPr lang="en-US" altLang="zh-CN" sz="1500" kern="1200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500" kern="1200" baseline="30000" dirty="0" smtClean="0">
                          <a:latin typeface="+mj-lt"/>
                        </a:rPr>
                        <a:t>n+1 </a:t>
                      </a:r>
                      <a:r>
                        <a:rPr lang="en-US" altLang="zh-CN" sz="1500" kern="1200" dirty="0" smtClean="0">
                          <a:latin typeface="+mj-lt"/>
                        </a:rPr>
                        <a:t>Q</a:t>
                      </a:r>
                      <a:r>
                        <a:rPr lang="en-US" altLang="zh-CN" sz="1500" kern="1200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500" kern="1200" baseline="30000" dirty="0" smtClean="0">
                          <a:latin typeface="+mj-lt"/>
                        </a:rPr>
                        <a:t>n+1</a:t>
                      </a:r>
                      <a:r>
                        <a:rPr lang="en-US" altLang="zh-CN" sz="1500" kern="1200" baseline="0" dirty="0" smtClean="0">
                          <a:latin typeface="+mj-lt"/>
                        </a:rPr>
                        <a:t>/ </a:t>
                      </a:r>
                      <a:r>
                        <a:rPr lang="en-US" altLang="zh-CN" sz="1500" kern="1200" baseline="0" dirty="0" smtClean="0">
                          <a:solidFill>
                            <a:srgbClr val="C00000"/>
                          </a:solidFill>
                          <a:latin typeface="+mj-lt"/>
                        </a:rPr>
                        <a:t>Z</a:t>
                      </a:r>
                      <a:endParaRPr lang="zh-CN" altLang="en-US" sz="1500" b="1" kern="1200" baseline="0" dirty="0" smtClean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>
                      <a:solidFill>
                        <a:schemeClr val="bg2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5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500" b="1" baseline="30000" dirty="0" smtClean="0">
                          <a:latin typeface="+mj-lt"/>
                        </a:rPr>
                        <a:t>n</a:t>
                      </a:r>
                      <a:endParaRPr lang="zh-CN" altLang="en-US" sz="15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5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500" b="1" baseline="30000" dirty="0" smtClean="0">
                          <a:latin typeface="+mj-lt"/>
                        </a:rPr>
                        <a:t>n</a:t>
                      </a:r>
                      <a:endParaRPr lang="zh-CN" altLang="en-US" sz="15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solidFill>
                            <a:srgbClr val="006600"/>
                          </a:solidFill>
                          <a:latin typeface="+mj-lt"/>
                        </a:rPr>
                        <a:t>X=0</a:t>
                      </a:r>
                      <a:endParaRPr lang="zh-CN" altLang="en-US" sz="1500" b="1" baseline="30000" dirty="0">
                        <a:solidFill>
                          <a:srgbClr val="006600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>
                      <a:solidFill>
                        <a:schemeClr val="bg2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solidFill>
                            <a:srgbClr val="006600"/>
                          </a:solidFill>
                          <a:latin typeface="+mj-lt"/>
                        </a:rPr>
                        <a:t>X=1</a:t>
                      </a:r>
                      <a:endParaRPr lang="zh-CN" altLang="en-US" sz="1500" b="1" baseline="30000" dirty="0">
                        <a:solidFill>
                          <a:srgbClr val="006600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</a:tr>
              <a:tr h="2988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 1 / </a:t>
                      </a:r>
                      <a:r>
                        <a:rPr lang="en-US" altLang="zh-CN" sz="1500" b="1" dirty="0" smtClean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5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 1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2988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 0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 0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2988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 1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0 1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</a:t>
                      </a:r>
                      <a:endParaRPr lang="zh-CN" altLang="en-US" sz="15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 0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smtClean="0">
                          <a:latin typeface="+mj-lt"/>
                        </a:rPr>
                        <a:t>1 0 / </a:t>
                      </a:r>
                      <a:r>
                        <a:rPr lang="en-US" altLang="zh-CN" sz="15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5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</a:tbl>
          </a:graphicData>
        </a:graphic>
      </p:graphicFrame>
      <p:sp>
        <p:nvSpPr>
          <p:cNvPr id="115" name="左箭头 114"/>
          <p:cNvSpPr/>
          <p:nvPr/>
        </p:nvSpPr>
        <p:spPr bwMode="auto">
          <a:xfrm>
            <a:off x="6193712" y="3360521"/>
            <a:ext cx="288032" cy="216024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" name="圆角矩形 141"/>
          <p:cNvSpPr/>
          <p:nvPr/>
        </p:nvSpPr>
        <p:spPr bwMode="auto">
          <a:xfrm>
            <a:off x="6565074" y="2715766"/>
            <a:ext cx="2448272" cy="216024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" name="圆角矩形 142"/>
          <p:cNvSpPr/>
          <p:nvPr/>
        </p:nvSpPr>
        <p:spPr bwMode="auto">
          <a:xfrm>
            <a:off x="6562516" y="3628720"/>
            <a:ext cx="2448272" cy="216024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" name="圆角矩形 143"/>
          <p:cNvSpPr/>
          <p:nvPr/>
        </p:nvSpPr>
        <p:spPr bwMode="auto">
          <a:xfrm>
            <a:off x="4137394" y="3436633"/>
            <a:ext cx="2016000" cy="216024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algn="ctr" eaLnBrk="1" hangingPunct="1"/>
            <a:endParaRPr lang="zh-CN" altLang="en-US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2" name="Group 126"/>
          <p:cNvGrpSpPr/>
          <p:nvPr/>
        </p:nvGrpSpPr>
        <p:grpSpPr bwMode="auto">
          <a:xfrm>
            <a:off x="3233014" y="647204"/>
            <a:ext cx="2520951" cy="2447925"/>
            <a:chOff x="1824" y="1210"/>
            <a:chExt cx="1588" cy="2057"/>
          </a:xfrm>
        </p:grpSpPr>
        <p:sp>
          <p:nvSpPr>
            <p:cNvPr id="123" name="Text Box 127"/>
            <p:cNvSpPr txBox="1">
              <a:spLocks noChangeArrowheads="1"/>
            </p:cNvSpPr>
            <p:nvPr/>
          </p:nvSpPr>
          <p:spPr bwMode="auto">
            <a:xfrm>
              <a:off x="1824" y="1210"/>
              <a:ext cx="1588" cy="2057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lIns="0" tIns="0" rIns="0" bIns="0"/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kumimoji="0" lang="zh-CN" altLang="en-US" sz="1600" b="1" dirty="0">
                  <a:ln>
                    <a:noFill/>
                  </a:ln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次态方程：</a:t>
              </a:r>
              <a:endParaRPr kumimoji="0" lang="zh-CN" altLang="en-US" sz="1600" b="1" dirty="0">
                <a:ln>
                  <a:noFill/>
                </a:ln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JK</a:t>
              </a:r>
              <a:r>
                <a:rPr kumimoji="0" lang="zh-CN" altLang="en-US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：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30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n+1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</a:t>
              </a:r>
              <a:r>
                <a:rPr kumimoji="0" lang="en-US" altLang="zh-CN" sz="1600" b="1" dirty="0" err="1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JQ</a:t>
              </a:r>
              <a:r>
                <a:rPr kumimoji="0" lang="en-US" altLang="zh-CN" sz="1600" b="1" baseline="30000" dirty="0" err="1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n</a:t>
              </a:r>
              <a:r>
                <a:rPr kumimoji="0" lang="en-US" altLang="zh-CN" sz="1600" b="1" dirty="0" err="1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+KQ</a:t>
              </a:r>
              <a:r>
                <a:rPr kumimoji="0" lang="en-US" altLang="zh-CN" sz="1600" b="1" baseline="30000" dirty="0" err="1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n</a:t>
              </a:r>
              <a:endParaRPr kumimoji="0" lang="en-US" altLang="zh-CN" sz="1600" b="1" baseline="3000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r>
                <a:rPr kumimoji="0" lang="en-US" altLang="zh-CN" sz="1600" b="1" baseline="30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n+1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 J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+K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endParaRPr kumimoji="0" lang="en-US" altLang="zh-CN" sz="1600" b="1" baseline="-2500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        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=(X</a:t>
              </a:r>
              <a:r>
                <a:rPr lang="en-US" altLang="zh-CN" sz="1600" b="1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)Q</a:t>
              </a:r>
              <a:r>
                <a:rPr kumimoji="0" lang="en-US" altLang="zh-CN" sz="1600" b="1" baseline="-2500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+(X</a:t>
              </a:r>
              <a:r>
                <a:rPr lang="en-US" altLang="zh-CN" sz="1600" b="1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)Q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endParaRPr kumimoji="0" lang="en-US" altLang="zh-CN" sz="1600" b="1" baseline="-2500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  <a:p>
              <a:pPr eaLnBrk="1" hangingPunct="1">
                <a:lnSpc>
                  <a:spcPct val="120000"/>
                </a:lnSpc>
                <a:defRPr/>
              </a:pP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        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=X</a:t>
              </a:r>
              <a:r>
                <a:rPr lang="en-US" altLang="zh-CN" sz="1600" b="1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lang="en-US" altLang="zh-CN" sz="1600" b="1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sym typeface="+mn-ea"/>
                </a:rPr>
                <a:t>⊕</a:t>
              </a:r>
              <a:r>
                <a:rPr kumimoji="0" lang="en-US" altLang="zh-CN" sz="1600" b="1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2</a:t>
              </a:r>
              <a:endParaRPr kumimoji="0" lang="en-US" altLang="en-US" sz="1600" b="1" baseline="-2500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baseline="30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n+1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 J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+K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r>
                <a:rPr kumimoji="0" lang="en-US" altLang="zh-CN" sz="1600" b="1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Q</a:t>
              </a: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endParaRPr kumimoji="0" lang="en-US" altLang="zh-CN" sz="1600" b="1" baseline="-2500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kumimoji="0" lang="en-US" altLang="zh-CN" sz="1600" b="1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           </a:t>
              </a:r>
              <a:r>
                <a:rPr kumimoji="0" lang="en-US" altLang="zh-CN" sz="1600" b="1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=Q</a:t>
              </a:r>
              <a:r>
                <a:rPr kumimoji="0" lang="en-US" altLang="zh-CN" sz="1600" b="1" baseline="-2500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anose="020B0604020202020204"/>
                </a:rPr>
                <a:t>1</a:t>
              </a:r>
              <a:endParaRPr kumimoji="0" lang="en-US" altLang="zh-CN" sz="1600" b="1" baseline="-2500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/>
              </a:endParaRPr>
            </a:p>
          </p:txBody>
        </p:sp>
        <p:sp>
          <p:nvSpPr>
            <p:cNvPr id="124" name="Line 128"/>
            <p:cNvSpPr>
              <a:spLocks noChangeShapeType="1"/>
            </p:cNvSpPr>
            <p:nvPr/>
          </p:nvSpPr>
          <p:spPr bwMode="auto">
            <a:xfrm>
              <a:off x="2362" y="1847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6" name="Line 129"/>
            <p:cNvSpPr>
              <a:spLocks noChangeShapeType="1"/>
            </p:cNvSpPr>
            <p:nvPr/>
          </p:nvSpPr>
          <p:spPr bwMode="auto">
            <a:xfrm>
              <a:off x="2568" y="1847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7" name="Line 130"/>
            <p:cNvSpPr>
              <a:spLocks noChangeShapeType="1"/>
            </p:cNvSpPr>
            <p:nvPr/>
          </p:nvSpPr>
          <p:spPr bwMode="auto">
            <a:xfrm>
              <a:off x="2518" y="1500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" name="Line 131"/>
            <p:cNvSpPr>
              <a:spLocks noChangeShapeType="1"/>
            </p:cNvSpPr>
            <p:nvPr/>
          </p:nvSpPr>
          <p:spPr bwMode="auto">
            <a:xfrm>
              <a:off x="2722" y="1500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9" name="Line 132"/>
            <p:cNvSpPr>
              <a:spLocks noChangeShapeType="1"/>
            </p:cNvSpPr>
            <p:nvPr/>
          </p:nvSpPr>
          <p:spPr bwMode="auto">
            <a:xfrm>
              <a:off x="2522" y="2085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0" name="Line 133"/>
            <p:cNvSpPr>
              <a:spLocks noChangeShapeType="1"/>
            </p:cNvSpPr>
            <p:nvPr/>
          </p:nvSpPr>
          <p:spPr bwMode="auto">
            <a:xfrm>
              <a:off x="2753" y="2085"/>
              <a:ext cx="3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1" name="Line 134"/>
            <p:cNvSpPr>
              <a:spLocks noChangeShapeType="1"/>
            </p:cNvSpPr>
            <p:nvPr/>
          </p:nvSpPr>
          <p:spPr bwMode="auto">
            <a:xfrm>
              <a:off x="2362" y="2678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2" name="Line 135"/>
            <p:cNvSpPr>
              <a:spLocks noChangeShapeType="1"/>
            </p:cNvSpPr>
            <p:nvPr/>
          </p:nvSpPr>
          <p:spPr bwMode="auto">
            <a:xfrm>
              <a:off x="2698" y="2678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3" name="Line 136"/>
            <p:cNvSpPr>
              <a:spLocks noChangeShapeType="1"/>
            </p:cNvSpPr>
            <p:nvPr/>
          </p:nvSpPr>
          <p:spPr bwMode="auto">
            <a:xfrm>
              <a:off x="2148" y="3017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17" grpId="0" animBg="1"/>
      <p:bldP spid="116" grpId="0" animBg="1"/>
      <p:bldP spid="214" grpId="0" autoUpdateAnimBg="0"/>
      <p:bldP spid="215" grpId="0"/>
      <p:bldP spid="216" grpId="0"/>
      <p:bldP spid="231" grpId="0"/>
      <p:bldP spid="244" grpId="0"/>
      <p:bldP spid="115" grpId="0" bldLvl="0" animBg="1"/>
      <p:bldP spid="142" grpId="0" animBg="1"/>
      <p:bldP spid="143" grpId="0" animBg="1"/>
      <p:bldP spid="14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1 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同步时序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分析</a:t>
            </a:r>
            <a:endParaRPr lang="en-US" altLang="zh-CN" dirty="0" smtClean="0">
              <a:solidFill>
                <a:srgbClr val="000000"/>
              </a:solidFill>
              <a:latin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3568" y="1635646"/>
          <a:ext cx="2376264" cy="19442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2063"/>
                <a:gridCol w="440580"/>
                <a:gridCol w="769896"/>
                <a:gridCol w="783725"/>
              </a:tblGrid>
              <a:tr h="39260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baseline="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现态</a:t>
                      </a:r>
                      <a:endParaRPr lang="zh-CN" altLang="en-US" sz="16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 smtClean="0">
                          <a:latin typeface="+mj-lt"/>
                        </a:rPr>
                        <a:t>Q</a:t>
                      </a:r>
                      <a:r>
                        <a:rPr lang="en-US" altLang="zh-CN" sz="1600" kern="1200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600" kern="1200" baseline="30000" dirty="0" smtClean="0">
                          <a:latin typeface="+mj-lt"/>
                        </a:rPr>
                        <a:t>n+1 </a:t>
                      </a:r>
                      <a:r>
                        <a:rPr lang="en-US" altLang="zh-CN" sz="1600" kern="1200" dirty="0" smtClean="0">
                          <a:latin typeface="+mj-lt"/>
                        </a:rPr>
                        <a:t>Q</a:t>
                      </a:r>
                      <a:r>
                        <a:rPr lang="en-US" altLang="zh-CN" sz="1600" kern="1200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600" kern="1200" baseline="30000" dirty="0" smtClean="0">
                          <a:latin typeface="+mj-lt"/>
                        </a:rPr>
                        <a:t>n+1</a:t>
                      </a:r>
                      <a:r>
                        <a:rPr lang="en-US" altLang="zh-CN" sz="1600" kern="1200" baseline="0" dirty="0" smtClean="0">
                          <a:latin typeface="+mj-lt"/>
                        </a:rPr>
                        <a:t>/ </a:t>
                      </a:r>
                      <a:r>
                        <a:rPr lang="en-US" altLang="zh-CN" sz="1600" kern="1200" baseline="0" dirty="0" smtClean="0">
                          <a:solidFill>
                            <a:srgbClr val="C00000"/>
                          </a:solidFill>
                          <a:latin typeface="+mj-lt"/>
                        </a:rPr>
                        <a:t>Z</a:t>
                      </a:r>
                      <a:endParaRPr lang="zh-CN" altLang="en-US" sz="1600" b="1" kern="1200" baseline="0" dirty="0" smtClean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rgbClr val="FFFF00"/>
                    </a:solidFill>
                  </a:tcPr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1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6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600" b="1" baseline="30000" dirty="0" smtClean="0">
                          <a:latin typeface="+mj-lt"/>
                        </a:rPr>
                        <a:t>n</a:t>
                      </a:r>
                      <a:endParaRPr lang="zh-CN" altLang="en-US" sz="16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Q</a:t>
                      </a:r>
                      <a:r>
                        <a:rPr lang="en-US" altLang="zh-CN" sz="16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600" b="1" baseline="30000" dirty="0" smtClean="0">
                          <a:latin typeface="+mj-lt"/>
                        </a:rPr>
                        <a:t>n</a:t>
                      </a:r>
                      <a:endParaRPr lang="zh-CN" altLang="en-US" sz="16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006600"/>
                          </a:solidFill>
                          <a:latin typeface="+mj-lt"/>
                        </a:rPr>
                        <a:t>X=0</a:t>
                      </a:r>
                      <a:endParaRPr lang="zh-CN" altLang="en-US" sz="1600" b="1" baseline="30000" dirty="0">
                        <a:solidFill>
                          <a:srgbClr val="006600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006600"/>
                          </a:solidFill>
                          <a:latin typeface="+mj-lt"/>
                        </a:rPr>
                        <a:t>X=1</a:t>
                      </a:r>
                      <a:endParaRPr lang="zh-CN" altLang="en-US" sz="1600" b="1" baseline="30000" dirty="0">
                        <a:solidFill>
                          <a:srgbClr val="006600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</a:tr>
              <a:tr h="31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 1 / </a:t>
                      </a:r>
                      <a:r>
                        <a:rPr lang="en-US" altLang="zh-CN" sz="1600" b="1" dirty="0" smtClean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 1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31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 0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 0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31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 1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0 1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  <a:tr h="3103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</a:t>
                      </a:r>
                      <a:endParaRPr lang="zh-CN" altLang="en-US" sz="16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 0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+mj-lt"/>
                        </a:rPr>
                        <a:t>1 0 / </a:t>
                      </a:r>
                      <a:r>
                        <a:rPr lang="en-US" altLang="zh-CN" sz="1600" b="1" kern="1200" dirty="0" smtClean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noFill/>
                  </a:tcPr>
                </a:tc>
              </a:tr>
            </a:tbl>
          </a:graphicData>
        </a:graphic>
      </p:graphicFrame>
      <p:grpSp>
        <p:nvGrpSpPr>
          <p:cNvPr id="69" name="组合 68"/>
          <p:cNvGrpSpPr/>
          <p:nvPr/>
        </p:nvGrpSpPr>
        <p:grpSpPr>
          <a:xfrm>
            <a:off x="3563888" y="1505880"/>
            <a:ext cx="2587728" cy="2362014"/>
            <a:chOff x="2493937" y="2833689"/>
            <a:chExt cx="2344765" cy="2107044"/>
          </a:xfrm>
        </p:grpSpPr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3386129" y="3086103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53" name="任意多边形 52"/>
            <p:cNvSpPr/>
            <p:nvPr/>
          </p:nvSpPr>
          <p:spPr bwMode="auto">
            <a:xfrm>
              <a:off x="3181350" y="3343280"/>
              <a:ext cx="828000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任意多边形 53"/>
            <p:cNvSpPr/>
            <p:nvPr/>
          </p:nvSpPr>
          <p:spPr bwMode="auto">
            <a:xfrm rot="10800000">
              <a:off x="3182014" y="3504639"/>
              <a:ext cx="828000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3381368" y="4602179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56" name="任意多边形 55"/>
            <p:cNvSpPr/>
            <p:nvPr/>
          </p:nvSpPr>
          <p:spPr bwMode="auto">
            <a:xfrm>
              <a:off x="3205164" y="4424376"/>
              <a:ext cx="828000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任意多边形 56"/>
            <p:cNvSpPr/>
            <p:nvPr/>
          </p:nvSpPr>
          <p:spPr bwMode="auto">
            <a:xfrm rot="10800000">
              <a:off x="3190866" y="4585735"/>
              <a:ext cx="828000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任意多边形 57"/>
            <p:cNvSpPr/>
            <p:nvPr/>
          </p:nvSpPr>
          <p:spPr bwMode="auto">
            <a:xfrm rot="5247865">
              <a:off x="3895676" y="3967082"/>
              <a:ext cx="802849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ln>
                  <a:solidFill>
                    <a:srgbClr val="0000CC"/>
                  </a:solidFill>
                </a:ln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任意多边形 58"/>
            <p:cNvSpPr/>
            <p:nvPr/>
          </p:nvSpPr>
          <p:spPr bwMode="auto">
            <a:xfrm rot="15975484">
              <a:off x="3734175" y="3985239"/>
              <a:ext cx="828000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4004330" y="4370831"/>
              <a:ext cx="427847" cy="346234"/>
            </a:xfrm>
            <a:prstGeom prst="ellipse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10</a:t>
              </a:r>
              <a:endParaRPr kumimoji="0" lang="en-US" altLang="zh-CN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 bwMode="auto">
            <a:xfrm rot="5247865">
              <a:off x="2639356" y="3938507"/>
              <a:ext cx="802849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任意多边形 60"/>
            <p:cNvSpPr/>
            <p:nvPr/>
          </p:nvSpPr>
          <p:spPr bwMode="auto">
            <a:xfrm rot="15975484">
              <a:off x="2491264" y="3969212"/>
              <a:ext cx="802849" cy="72000"/>
            </a:xfrm>
            <a:custGeom>
              <a:avLst/>
              <a:gdLst>
                <a:gd name="connsiteX0" fmla="*/ 0 w 885825"/>
                <a:gd name="connsiteY0" fmla="*/ 69850 h 88900"/>
                <a:gd name="connsiteX1" fmla="*/ 409575 w 885825"/>
                <a:gd name="connsiteY1" fmla="*/ 3175 h 88900"/>
                <a:gd name="connsiteX2" fmla="*/ 885825 w 885825"/>
                <a:gd name="connsiteY2" fmla="*/ 88900 h 8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825" h="88900">
                  <a:moveTo>
                    <a:pt x="0" y="69850"/>
                  </a:moveTo>
                  <a:cubicBezTo>
                    <a:pt x="130969" y="34925"/>
                    <a:pt x="261938" y="0"/>
                    <a:pt x="409575" y="3175"/>
                  </a:cubicBezTo>
                  <a:cubicBezTo>
                    <a:pt x="557213" y="6350"/>
                    <a:pt x="721519" y="47625"/>
                    <a:pt x="885825" y="88900"/>
                  </a:cubicBezTo>
                </a:path>
              </a:pathLst>
            </a:cu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/>
            <a:lstStyle/>
            <a:p>
              <a:pPr algn="ctr" eaLnBrk="1" hangingPunct="1"/>
              <a:endParaRPr lang="zh-CN" altLang="en-US" sz="1600" smtClean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2750111" y="3283893"/>
              <a:ext cx="432088" cy="346234"/>
            </a:xfrm>
            <a:prstGeom prst="ellipse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00</a:t>
              </a:r>
              <a:endParaRPr kumimoji="0" lang="en-US" altLang="zh-CN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Oval 5"/>
            <p:cNvSpPr>
              <a:spLocks noChangeArrowheads="1"/>
            </p:cNvSpPr>
            <p:nvPr/>
          </p:nvSpPr>
          <p:spPr bwMode="auto">
            <a:xfrm>
              <a:off x="2768232" y="4361785"/>
              <a:ext cx="432088" cy="346234"/>
            </a:xfrm>
            <a:prstGeom prst="ellipse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11</a:t>
              </a:r>
              <a:endParaRPr kumimoji="0" lang="en-US" altLang="zh-CN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4279887" y="3835411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3" name="Text Box 12"/>
            <p:cNvSpPr txBox="1">
              <a:spLocks noChangeArrowheads="1"/>
            </p:cNvSpPr>
            <p:nvPr/>
          </p:nvSpPr>
          <p:spPr bwMode="auto">
            <a:xfrm>
              <a:off x="2493937" y="3886208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3376604" y="3535371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3376604" y="4178313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6" name="Text Box 12"/>
            <p:cNvSpPr txBox="1">
              <a:spLocks noChangeArrowheads="1"/>
            </p:cNvSpPr>
            <p:nvPr/>
          </p:nvSpPr>
          <p:spPr bwMode="auto">
            <a:xfrm>
              <a:off x="3732195" y="3835411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0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7" name="Text Box 12"/>
            <p:cNvSpPr txBox="1">
              <a:spLocks noChangeArrowheads="1"/>
            </p:cNvSpPr>
            <p:nvPr/>
          </p:nvSpPr>
          <p:spPr bwMode="auto">
            <a:xfrm>
              <a:off x="3000364" y="3902086"/>
              <a:ext cx="558815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/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68" name="Text Box 16"/>
            <p:cNvSpPr txBox="1">
              <a:spLocks noChangeArrowheads="1"/>
            </p:cNvSpPr>
            <p:nvPr/>
          </p:nvSpPr>
          <p:spPr bwMode="auto">
            <a:xfrm>
              <a:off x="3352791" y="2833689"/>
              <a:ext cx="571504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solidFill>
                    <a:srgbClr val="006600"/>
                  </a:solidFill>
                  <a:latin typeface="Arial" panose="020B0604020202020204" pitchFamily="34" charset="0"/>
                </a:rPr>
                <a:t>X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/</a:t>
              </a:r>
              <a:r>
                <a:rPr kumimoji="0" lang="en-US" altLang="zh-CN" sz="16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Z</a:t>
              </a:r>
              <a:endParaRPr kumimoji="0" lang="en-US" altLang="zh-CN" sz="16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Oval 6"/>
            <p:cNvSpPr>
              <a:spLocks noChangeArrowheads="1"/>
            </p:cNvSpPr>
            <p:nvPr/>
          </p:nvSpPr>
          <p:spPr bwMode="auto">
            <a:xfrm>
              <a:off x="3986209" y="3292939"/>
              <a:ext cx="427847" cy="346234"/>
            </a:xfrm>
            <a:prstGeom prst="ellipse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01</a:t>
              </a:r>
              <a:endParaRPr kumimoji="0" lang="en-US" altLang="zh-CN" sz="16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70" name="Text Box 83"/>
          <p:cNvSpPr txBox="1">
            <a:spLocks noChangeArrowheads="1"/>
          </p:cNvSpPr>
          <p:nvPr/>
        </p:nvSpPr>
        <p:spPr bwMode="auto">
          <a:xfrm>
            <a:off x="755576" y="915566"/>
            <a:ext cx="2113291" cy="39878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状态转换表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Text Box 83"/>
          <p:cNvSpPr txBox="1">
            <a:spLocks noChangeArrowheads="1"/>
          </p:cNvSpPr>
          <p:nvPr/>
        </p:nvSpPr>
        <p:spPr bwMode="auto">
          <a:xfrm>
            <a:off x="3419872" y="924354"/>
            <a:ext cx="1589331" cy="39878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⑤ 状态图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3" name="组合 247"/>
          <p:cNvGrpSpPr/>
          <p:nvPr/>
        </p:nvGrpSpPr>
        <p:grpSpPr bwMode="auto">
          <a:xfrm>
            <a:off x="3863495" y="3939902"/>
            <a:ext cx="1584000" cy="864000"/>
            <a:chOff x="3067772" y="2211711"/>
            <a:chExt cx="921136" cy="421184"/>
          </a:xfrm>
        </p:grpSpPr>
        <p:sp>
          <p:nvSpPr>
            <p:cNvPr id="74" name="圆角矩形标注 13"/>
            <p:cNvSpPr>
              <a:spLocks noChangeArrowheads="1"/>
            </p:cNvSpPr>
            <p:nvPr/>
          </p:nvSpPr>
          <p:spPr bwMode="auto">
            <a:xfrm>
              <a:off x="3088416" y="2224011"/>
              <a:ext cx="828341" cy="373999"/>
            </a:xfrm>
            <a:prstGeom prst="wedgeRoundRectCallout">
              <a:avLst>
                <a:gd name="adj1" fmla="val 19444"/>
                <a:gd name="adj2" fmla="val -77091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75" name="Text Box 34"/>
            <p:cNvSpPr txBox="1">
              <a:spLocks noChangeArrowheads="1"/>
            </p:cNvSpPr>
            <p:nvPr/>
          </p:nvSpPr>
          <p:spPr bwMode="auto">
            <a:xfrm>
              <a:off x="3067772" y="2211711"/>
              <a:ext cx="921136" cy="42118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b="1" i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Mealy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型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输出值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画在状态图转换线的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旁边</a:t>
              </a:r>
              <a:endPara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6311766" y="1743886"/>
            <a:ext cx="2472444" cy="1480382"/>
            <a:chOff x="6129776" y="1120767"/>
            <a:chExt cx="1799812" cy="1328606"/>
          </a:xfrm>
        </p:grpSpPr>
        <p:sp>
          <p:nvSpPr>
            <p:cNvPr id="77" name="Text Box 71"/>
            <p:cNvSpPr txBox="1">
              <a:spLocks noChangeArrowheads="1"/>
            </p:cNvSpPr>
            <p:nvPr/>
          </p:nvSpPr>
          <p:spPr bwMode="auto">
            <a:xfrm>
              <a:off x="6226188" y="1120767"/>
              <a:ext cx="1703400" cy="584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结论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1600" b="1" kern="0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</a:t>
              </a:r>
              <a:r>
                <a:rPr lang="en-US" altLang="zh-CN" sz="16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600" b="1" kern="0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可逆计数器</a:t>
              </a:r>
              <a:endParaRPr lang="zh-CN" altLang="en-US" sz="16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9" name="Text Box 3"/>
            <p:cNvSpPr txBox="1">
              <a:spLocks noChangeArrowheads="1"/>
            </p:cNvSpPr>
            <p:nvPr/>
          </p:nvSpPr>
          <p:spPr bwMode="auto">
            <a:xfrm>
              <a:off x="6158868" y="1466592"/>
              <a:ext cx="1762291" cy="96677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L="180975" indent="-180975">
                <a:spcBef>
                  <a:spcPct val="50000"/>
                </a:spcBef>
                <a:buClr>
                  <a:srgbClr val="0000FF">
                    <a:lumMod val="75000"/>
                  </a:srgbClr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zh-CN" sz="1600" b="1" dirty="0" smtClean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X=0: </a:t>
              </a:r>
              <a:r>
                <a:rPr lang="zh-CN" altLang="en-US" sz="1600" b="1" dirty="0" smtClean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加计数</a:t>
              </a:r>
              <a:endPara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80975" indent="-180975">
                <a:spcBef>
                  <a:spcPct val="50000"/>
                </a:spcBef>
                <a:buClr>
                  <a:srgbClr val="0000FF">
                    <a:lumMod val="75000"/>
                  </a:srgbClr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zh-CN" sz="1600" b="1" dirty="0" smtClean="0">
                  <a:solidFill>
                    <a:srgbClr val="0000FF"/>
                  </a:solidFill>
                  <a:ea typeface="黑体" panose="02010609060101010101" pitchFamily="49" charset="-122"/>
                </a:rPr>
                <a:t>X=1: </a:t>
              </a:r>
              <a:r>
                <a:rPr lang="zh-CN" altLang="en-US" sz="1600" b="1" dirty="0" smtClean="0">
                  <a:solidFill>
                    <a:srgbClr val="0000FF"/>
                  </a:solidFill>
                  <a:ea typeface="黑体" panose="02010609060101010101" pitchFamily="49" charset="-122"/>
                </a:rPr>
                <a:t>减计数</a:t>
              </a:r>
              <a:endParaRPr lang="en-US" altLang="zh-CN" sz="1600" b="1" dirty="0" smtClean="0">
                <a:solidFill>
                  <a:srgbClr val="0000FF"/>
                </a:solidFill>
                <a:ea typeface="黑体" panose="02010609060101010101" pitchFamily="49" charset="-122"/>
              </a:endParaRPr>
            </a:p>
            <a:p>
              <a:pPr marL="180975" indent="-180975">
                <a:spcBef>
                  <a:spcPct val="50000"/>
                </a:spcBef>
                <a:buClr>
                  <a:srgbClr val="0000FF">
                    <a:lumMod val="75000"/>
                  </a:srgbClr>
                </a:buClr>
                <a:defRPr/>
              </a:pPr>
              <a:r>
                <a:rPr lang="en-US" altLang="zh-CN" sz="1600" b="1" dirty="0" smtClean="0">
                  <a:solidFill>
                    <a:srgbClr val="C00000"/>
                  </a:solidFill>
                  <a:latin typeface="Arial" panose="020B0604020202020204"/>
                  <a:ea typeface="黑体" panose="02010609060101010101" pitchFamily="49" charset="-122"/>
                </a:rPr>
                <a:t>Z</a:t>
              </a:r>
              <a:r>
                <a:rPr lang="zh-CN" altLang="en-US" sz="1600" b="1" dirty="0" smtClean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：进位和借位输出标志</a:t>
              </a:r>
              <a:endParaRPr lang="zh-CN" altLang="en-US" sz="1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" name="圆角矩形 79"/>
            <p:cNvSpPr/>
            <p:nvPr/>
          </p:nvSpPr>
          <p:spPr bwMode="auto">
            <a:xfrm>
              <a:off x="6129776" y="1447791"/>
              <a:ext cx="1782018" cy="1001582"/>
            </a:xfrm>
            <a:prstGeom prst="roundRect">
              <a:avLst/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endParaRPr lang="zh-CN" altLang="en-US" sz="16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2 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同步时序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分析</a:t>
            </a:r>
            <a:endParaRPr lang="zh-CN" altLang="en-US"/>
          </a:p>
        </p:txBody>
      </p:sp>
      <p:grpSp>
        <p:nvGrpSpPr>
          <p:cNvPr id="327" name="组合 326"/>
          <p:cNvGrpSpPr/>
          <p:nvPr/>
        </p:nvGrpSpPr>
        <p:grpSpPr>
          <a:xfrm>
            <a:off x="142844" y="642924"/>
            <a:ext cx="4857369" cy="1952195"/>
            <a:chOff x="4137246" y="2849914"/>
            <a:chExt cx="4857369" cy="1952195"/>
          </a:xfrm>
        </p:grpSpPr>
        <p:cxnSp>
          <p:nvCxnSpPr>
            <p:cNvPr id="198" name="直接连接符 34"/>
            <p:cNvCxnSpPr>
              <a:cxnSpLocks noChangeShapeType="1"/>
            </p:cNvCxnSpPr>
            <p:nvPr/>
          </p:nvCxnSpPr>
          <p:spPr bwMode="auto">
            <a:xfrm rot="5400000">
              <a:off x="4926147" y="3679759"/>
              <a:ext cx="395148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oval" w="med" len="med"/>
              <a:tailEnd type="oval" w="sm" len="sm"/>
            </a:ln>
          </p:spPr>
        </p:cxnSp>
        <p:cxnSp>
          <p:nvCxnSpPr>
            <p:cNvPr id="199" name="直接连接符 17"/>
            <p:cNvCxnSpPr>
              <a:cxnSpLocks noChangeShapeType="1"/>
            </p:cNvCxnSpPr>
            <p:nvPr/>
          </p:nvCxnSpPr>
          <p:spPr bwMode="auto">
            <a:xfrm rot="5400000">
              <a:off x="4975453" y="3600737"/>
              <a:ext cx="720000" cy="1587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cxnSp>
          <p:nvCxnSpPr>
            <p:cNvPr id="200" name="直接连接符 18"/>
            <p:cNvCxnSpPr>
              <a:cxnSpLocks noChangeShapeType="1"/>
            </p:cNvCxnSpPr>
            <p:nvPr/>
          </p:nvCxnSpPr>
          <p:spPr bwMode="auto">
            <a:xfrm rot="5400000">
              <a:off x="4699230" y="3241929"/>
              <a:ext cx="395860" cy="1587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201" name="矩形 19"/>
            <p:cNvSpPr>
              <a:spLocks noChangeArrowheads="1"/>
            </p:cNvSpPr>
            <p:nvPr/>
          </p:nvSpPr>
          <p:spPr bwMode="auto">
            <a:xfrm>
              <a:off x="4773469" y="3321312"/>
              <a:ext cx="719282" cy="431771"/>
            </a:xfrm>
            <a:prstGeom prst="rect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2" name="TextBox 201"/>
            <p:cNvSpPr txBox="1">
              <a:spLocks noChangeArrowheads="1"/>
            </p:cNvSpPr>
            <p:nvPr/>
          </p:nvSpPr>
          <p:spPr bwMode="auto">
            <a:xfrm>
              <a:off x="5192708" y="3541707"/>
              <a:ext cx="35718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D</a:t>
              </a:r>
              <a:r>
                <a:rPr lang="en-US" altLang="zh-CN" sz="1000" b="1" baseline="-25000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203" name="TextBox 202"/>
            <p:cNvSpPr txBox="1">
              <a:spLocks noChangeArrowheads="1"/>
            </p:cNvSpPr>
            <p:nvPr/>
          </p:nvSpPr>
          <p:spPr bwMode="auto">
            <a:xfrm>
              <a:off x="4760908" y="3305171"/>
              <a:ext cx="35718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Q</a:t>
              </a:r>
              <a:r>
                <a:rPr lang="en-US" altLang="zh-CN" sz="1000" b="1" baseline="-25000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204" name="TextBox 203"/>
            <p:cNvSpPr txBox="1">
              <a:spLocks noChangeArrowheads="1"/>
            </p:cNvSpPr>
            <p:nvPr/>
          </p:nvSpPr>
          <p:spPr bwMode="auto">
            <a:xfrm>
              <a:off x="5172077" y="3314696"/>
              <a:ext cx="357188" cy="2462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Q</a:t>
              </a:r>
              <a:r>
                <a:rPr lang="en-US" altLang="zh-CN" sz="1000" b="1" baseline="-25000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cxnSp>
          <p:nvCxnSpPr>
            <p:cNvPr id="205" name="直接连接符 25"/>
            <p:cNvCxnSpPr>
              <a:cxnSpLocks noChangeShapeType="1"/>
            </p:cNvCxnSpPr>
            <p:nvPr/>
          </p:nvCxnSpPr>
          <p:spPr bwMode="auto">
            <a:xfrm>
              <a:off x="5263372" y="3367915"/>
              <a:ext cx="93498" cy="1587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206" name="等腰三角形 36"/>
            <p:cNvSpPr>
              <a:spLocks noChangeArrowheads="1"/>
            </p:cNvSpPr>
            <p:nvPr/>
          </p:nvSpPr>
          <p:spPr bwMode="auto">
            <a:xfrm>
              <a:off x="5065784" y="3645246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7" name="TextBox 206"/>
            <p:cNvSpPr txBox="1">
              <a:spLocks noChangeArrowheads="1"/>
            </p:cNvSpPr>
            <p:nvPr/>
          </p:nvSpPr>
          <p:spPr bwMode="auto">
            <a:xfrm>
              <a:off x="4951408" y="3481383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cxnSp>
          <p:nvCxnSpPr>
            <p:cNvPr id="209" name="直接连接符 34"/>
            <p:cNvCxnSpPr>
              <a:cxnSpLocks noChangeShapeType="1"/>
            </p:cNvCxnSpPr>
            <p:nvPr/>
          </p:nvCxnSpPr>
          <p:spPr bwMode="auto">
            <a:xfrm rot="5400000">
              <a:off x="6082452" y="3676904"/>
              <a:ext cx="395148" cy="1588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 w="sm" len="sm"/>
            </a:ln>
          </p:spPr>
        </p:cxnSp>
        <p:grpSp>
          <p:nvGrpSpPr>
            <p:cNvPr id="210" name="组合 16"/>
            <p:cNvGrpSpPr/>
            <p:nvPr/>
          </p:nvGrpSpPr>
          <p:grpSpPr bwMode="auto">
            <a:xfrm>
              <a:off x="5914911" y="3080679"/>
              <a:ext cx="793703" cy="923343"/>
              <a:chOff x="1863767" y="2393510"/>
              <a:chExt cx="793884" cy="924328"/>
            </a:xfrm>
          </p:grpSpPr>
          <p:cxnSp>
            <p:nvCxnSpPr>
              <p:cNvPr id="316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078678" y="2974680"/>
                <a:ext cx="68472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317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766065" y="2626882"/>
                <a:ext cx="468332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318" name="矩形 19"/>
              <p:cNvSpPr>
                <a:spLocks noChangeArrowheads="1"/>
              </p:cNvSpPr>
              <p:nvPr/>
            </p:nvSpPr>
            <p:spPr bwMode="auto">
              <a:xfrm>
                <a:off x="1876406" y="2643188"/>
                <a:ext cx="720005" cy="432308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" name="TextBox 318"/>
              <p:cNvSpPr txBox="1">
                <a:spLocks noChangeArrowheads="1"/>
              </p:cNvSpPr>
              <p:nvPr/>
            </p:nvSpPr>
            <p:spPr bwMode="auto">
              <a:xfrm>
                <a:off x="2300403" y="2869323"/>
                <a:ext cx="357248" cy="2464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D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320" name="TextBox 319"/>
              <p:cNvSpPr txBox="1">
                <a:spLocks noChangeArrowheads="1"/>
              </p:cNvSpPr>
              <p:nvPr/>
            </p:nvSpPr>
            <p:spPr bwMode="auto">
              <a:xfrm>
                <a:off x="1863767" y="2619819"/>
                <a:ext cx="357247" cy="2464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321" name="TextBox 320"/>
              <p:cNvSpPr txBox="1">
                <a:spLocks noChangeArrowheads="1"/>
              </p:cNvSpPr>
              <p:nvPr/>
            </p:nvSpPr>
            <p:spPr bwMode="auto">
              <a:xfrm>
                <a:off x="2278174" y="2629355"/>
                <a:ext cx="355660" cy="2464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cxnSp>
            <p:nvCxnSpPr>
              <p:cNvPr id="322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73304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11" name="等腰三角形 36"/>
            <p:cNvSpPr>
              <a:spLocks noChangeArrowheads="1"/>
            </p:cNvSpPr>
            <p:nvPr/>
          </p:nvSpPr>
          <p:spPr bwMode="auto">
            <a:xfrm>
              <a:off x="6224474" y="3647056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2" name="TextBox 211"/>
            <p:cNvSpPr txBox="1">
              <a:spLocks noChangeArrowheads="1"/>
            </p:cNvSpPr>
            <p:nvPr/>
          </p:nvSpPr>
          <p:spPr bwMode="auto">
            <a:xfrm>
              <a:off x="6110283" y="3495671"/>
              <a:ext cx="422275" cy="214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cxnSp>
          <p:nvCxnSpPr>
            <p:cNvPr id="214" name="直接连接符 34"/>
            <p:cNvCxnSpPr>
              <a:cxnSpLocks noChangeShapeType="1"/>
            </p:cNvCxnSpPr>
            <p:nvPr/>
          </p:nvCxnSpPr>
          <p:spPr bwMode="auto">
            <a:xfrm rot="5400000">
              <a:off x="7208106" y="3679759"/>
              <a:ext cx="395148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tailEnd type="oval" w="sm" len="sm"/>
            </a:ln>
          </p:spPr>
        </p:cxnSp>
        <p:grpSp>
          <p:nvGrpSpPr>
            <p:cNvPr id="215" name="组合 16"/>
            <p:cNvGrpSpPr/>
            <p:nvPr/>
          </p:nvGrpSpPr>
          <p:grpSpPr bwMode="auto">
            <a:xfrm>
              <a:off x="7040449" y="3056280"/>
              <a:ext cx="803228" cy="944052"/>
              <a:chOff x="1863945" y="2369061"/>
              <a:chExt cx="803411" cy="945040"/>
            </a:xfrm>
          </p:grpSpPr>
          <p:cxnSp>
            <p:nvCxnSpPr>
              <p:cNvPr id="309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06527" y="2988968"/>
                <a:ext cx="64867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310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766066" y="2602431"/>
                <a:ext cx="468327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311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2" name="TextBox 311"/>
              <p:cNvSpPr txBox="1">
                <a:spLocks noChangeArrowheads="1"/>
              </p:cNvSpPr>
              <p:nvPr/>
            </p:nvSpPr>
            <p:spPr bwMode="auto">
              <a:xfrm>
                <a:off x="2310109" y="2862955"/>
                <a:ext cx="357247" cy="2464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D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313" name="TextBox 312"/>
              <p:cNvSpPr txBox="1">
                <a:spLocks noChangeArrowheads="1"/>
              </p:cNvSpPr>
              <p:nvPr/>
            </p:nvSpPr>
            <p:spPr bwMode="auto">
              <a:xfrm>
                <a:off x="1863945" y="2618225"/>
                <a:ext cx="357248" cy="2464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314" name="TextBox 313"/>
              <p:cNvSpPr txBox="1">
                <a:spLocks noChangeArrowheads="1"/>
              </p:cNvSpPr>
              <p:nvPr/>
            </p:nvSpPr>
            <p:spPr bwMode="auto">
              <a:xfrm>
                <a:off x="2268827" y="2627760"/>
                <a:ext cx="357247" cy="2464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cxnSp>
            <p:nvCxnSpPr>
              <p:cNvPr id="315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16" name="等腰三角形 36"/>
            <p:cNvSpPr>
              <a:spLocks noChangeArrowheads="1"/>
            </p:cNvSpPr>
            <p:nvPr/>
          </p:nvSpPr>
          <p:spPr bwMode="auto">
            <a:xfrm>
              <a:off x="7356201" y="3652657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7" name="TextBox 216"/>
            <p:cNvSpPr txBox="1">
              <a:spLocks noChangeArrowheads="1"/>
            </p:cNvSpPr>
            <p:nvPr/>
          </p:nvSpPr>
          <p:spPr bwMode="auto">
            <a:xfrm>
              <a:off x="7248521" y="3495671"/>
              <a:ext cx="422275" cy="214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219" name="Text Box 69"/>
            <p:cNvSpPr txBox="1">
              <a:spLocks noChangeArrowheads="1"/>
            </p:cNvSpPr>
            <p:nvPr/>
          </p:nvSpPr>
          <p:spPr bwMode="auto">
            <a:xfrm>
              <a:off x="4137246" y="3666097"/>
              <a:ext cx="437757" cy="307668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 smtClean="0">
                  <a:solidFill>
                    <a:srgbClr val="0000FF"/>
                  </a:solidFill>
                </a:rPr>
                <a:t>cp</a:t>
              </a:r>
              <a:r>
                <a:rPr kumimoji="0" lang="en-US" altLang="zh-CN" sz="1400" b="1" baseline="-25000" dirty="0" smtClean="0">
                  <a:solidFill>
                    <a:srgbClr val="0000FF"/>
                  </a:solidFill>
                </a:rPr>
                <a:t> </a:t>
              </a:r>
              <a:endParaRPr kumimoji="0" lang="en-US" altLang="zh-CN" sz="1400" b="1" baseline="-25000" dirty="0">
                <a:solidFill>
                  <a:srgbClr val="0000FF"/>
                </a:solidFill>
              </a:endParaRPr>
            </a:p>
          </p:txBody>
        </p:sp>
        <p:cxnSp>
          <p:nvCxnSpPr>
            <p:cNvPr id="228" name="直接连接符 137"/>
            <p:cNvCxnSpPr>
              <a:cxnSpLocks noChangeShapeType="1"/>
            </p:cNvCxnSpPr>
            <p:nvPr/>
          </p:nvCxnSpPr>
          <p:spPr bwMode="auto">
            <a:xfrm flipH="1">
              <a:off x="4524036" y="3878127"/>
              <a:ext cx="4031082" cy="0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sp>
          <p:nvSpPr>
            <p:cNvPr id="229" name="Text Box 64"/>
            <p:cNvSpPr txBox="1">
              <a:spLocks noChangeArrowheads="1"/>
            </p:cNvSpPr>
            <p:nvPr/>
          </p:nvSpPr>
          <p:spPr bwMode="auto">
            <a:xfrm>
              <a:off x="4826190" y="2849914"/>
              <a:ext cx="395287" cy="30797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anose="020B0604020202020204"/>
                </a:rPr>
                <a:t>Y</a:t>
              </a:r>
              <a:r>
                <a:rPr kumimoji="0" lang="en-US" altLang="zh-CN" sz="1400" b="1" baseline="-25000" dirty="0">
                  <a:solidFill>
                    <a:srgbClr val="000000"/>
                  </a:solidFill>
                  <a:latin typeface="Arial" panose="020B0604020202020204"/>
                </a:rPr>
                <a:t>1</a:t>
              </a:r>
              <a:endParaRPr kumimoji="0" lang="en-US" altLang="zh-CN" sz="1400" b="1" baseline="-2500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0" name="Text Box 65"/>
            <p:cNvSpPr txBox="1">
              <a:spLocks noChangeArrowheads="1"/>
            </p:cNvSpPr>
            <p:nvPr/>
          </p:nvSpPr>
          <p:spPr bwMode="auto">
            <a:xfrm>
              <a:off x="5969198" y="2849914"/>
              <a:ext cx="381000" cy="30797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anose="020B0604020202020204"/>
                </a:rPr>
                <a:t>Y</a:t>
              </a:r>
              <a:r>
                <a:rPr kumimoji="0" lang="en-US" altLang="zh-CN" sz="1400" b="1" baseline="-25000" dirty="0">
                  <a:solidFill>
                    <a:srgbClr val="000000"/>
                  </a:solidFill>
                  <a:latin typeface="Arial" panose="020B0604020202020204"/>
                </a:rPr>
                <a:t>2</a:t>
              </a:r>
              <a:endParaRPr kumimoji="0" lang="en-US" altLang="zh-CN" sz="1400" b="1" baseline="-2500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31" name="Text Box 66"/>
            <p:cNvSpPr txBox="1">
              <a:spLocks noChangeArrowheads="1"/>
            </p:cNvSpPr>
            <p:nvPr/>
          </p:nvSpPr>
          <p:spPr bwMode="auto">
            <a:xfrm>
              <a:off x="7112206" y="2849914"/>
              <a:ext cx="401638" cy="30797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anose="020B0604020202020204"/>
                </a:rPr>
                <a:t>Y</a:t>
              </a:r>
              <a:r>
                <a:rPr kumimoji="0" lang="en-US" altLang="zh-CN" sz="1400" b="1" baseline="-25000" dirty="0">
                  <a:solidFill>
                    <a:srgbClr val="000000"/>
                  </a:solidFill>
                  <a:latin typeface="Arial" panose="020B0604020202020204"/>
                </a:rPr>
                <a:t>3</a:t>
              </a:r>
              <a:endParaRPr kumimoji="0" lang="en-US" altLang="zh-CN" sz="1400" b="1" baseline="-2500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86" name="Line 45"/>
            <p:cNvSpPr>
              <a:spLocks noChangeShapeType="1"/>
            </p:cNvSpPr>
            <p:nvPr/>
          </p:nvSpPr>
          <p:spPr bwMode="auto">
            <a:xfrm rot="16200000">
              <a:off x="5295304" y="4192287"/>
              <a:ext cx="252000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8" name="Line 45"/>
            <p:cNvSpPr>
              <a:spLocks noChangeShapeType="1"/>
            </p:cNvSpPr>
            <p:nvPr/>
          </p:nvSpPr>
          <p:spPr bwMode="auto">
            <a:xfrm rot="16200000">
              <a:off x="5109522" y="4723203"/>
              <a:ext cx="144000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9" name="Line 45"/>
            <p:cNvSpPr>
              <a:spLocks noChangeShapeType="1"/>
            </p:cNvSpPr>
            <p:nvPr/>
          </p:nvSpPr>
          <p:spPr bwMode="auto">
            <a:xfrm rot="16200000">
              <a:off x="5258732" y="4709600"/>
              <a:ext cx="180000" cy="0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2" name="Line 56"/>
            <p:cNvSpPr>
              <a:spLocks noChangeShapeType="1"/>
            </p:cNvSpPr>
            <p:nvPr/>
          </p:nvSpPr>
          <p:spPr bwMode="auto">
            <a:xfrm flipV="1">
              <a:off x="5259853" y="4215203"/>
              <a:ext cx="0" cy="237788"/>
            </a:xfrm>
            <a:prstGeom prst="line">
              <a:avLst/>
            </a:prstGeom>
            <a:noFill/>
            <a:ln w="1905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5" name="流程图: 延期 92"/>
            <p:cNvSpPr>
              <a:spLocks noChangeArrowheads="1"/>
            </p:cNvSpPr>
            <p:nvPr/>
          </p:nvSpPr>
          <p:spPr bwMode="auto">
            <a:xfrm rot="16200000">
              <a:off x="5127965" y="4397845"/>
              <a:ext cx="269877" cy="284999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" name="椭圆 93"/>
            <p:cNvSpPr>
              <a:spLocks noChangeArrowheads="1"/>
            </p:cNvSpPr>
            <p:nvPr/>
          </p:nvSpPr>
          <p:spPr bwMode="auto">
            <a:xfrm>
              <a:off x="5225312" y="4343494"/>
              <a:ext cx="71688" cy="666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3" name="流程图: 延期 95"/>
            <p:cNvSpPr>
              <a:spLocks noChangeArrowheads="1"/>
            </p:cNvSpPr>
            <p:nvPr/>
          </p:nvSpPr>
          <p:spPr bwMode="auto">
            <a:xfrm rot="16200000">
              <a:off x="5199362" y="3936700"/>
              <a:ext cx="266702" cy="283249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6" name="直接连接符 34"/>
            <p:cNvCxnSpPr>
              <a:cxnSpLocks noChangeShapeType="1"/>
            </p:cNvCxnSpPr>
            <p:nvPr/>
          </p:nvCxnSpPr>
          <p:spPr bwMode="auto">
            <a:xfrm rot="5400000">
              <a:off x="8359663" y="3693903"/>
              <a:ext cx="395148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237" name="组合 16"/>
            <p:cNvGrpSpPr/>
            <p:nvPr/>
          </p:nvGrpSpPr>
          <p:grpSpPr bwMode="auto">
            <a:xfrm>
              <a:off x="8191387" y="3089461"/>
              <a:ext cx="803228" cy="1708328"/>
              <a:chOff x="1863326" y="2388138"/>
              <a:chExt cx="803411" cy="1710132"/>
            </a:xfrm>
          </p:grpSpPr>
          <p:cxnSp>
            <p:nvCxnSpPr>
              <p:cNvPr id="279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1646497" y="3295630"/>
                <a:ext cx="1603692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cxnSp>
            <p:nvCxnSpPr>
              <p:cNvPr id="280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766065" y="2621509"/>
                <a:ext cx="46832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281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2" name="TextBox 281"/>
              <p:cNvSpPr txBox="1">
                <a:spLocks noChangeArrowheads="1"/>
              </p:cNvSpPr>
              <p:nvPr/>
            </p:nvSpPr>
            <p:spPr bwMode="auto">
              <a:xfrm>
                <a:off x="2309489" y="2858345"/>
                <a:ext cx="357248" cy="2464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D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283" name="TextBox 282"/>
              <p:cNvSpPr txBox="1">
                <a:spLocks noChangeArrowheads="1"/>
              </p:cNvSpPr>
              <p:nvPr/>
            </p:nvSpPr>
            <p:spPr bwMode="auto">
              <a:xfrm>
                <a:off x="1863326" y="2618380"/>
                <a:ext cx="357247" cy="2464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sp>
            <p:nvSpPr>
              <p:cNvPr id="284" name="TextBox 283"/>
              <p:cNvSpPr txBox="1">
                <a:spLocks noChangeArrowheads="1"/>
              </p:cNvSpPr>
              <p:nvPr/>
            </p:nvSpPr>
            <p:spPr bwMode="auto">
              <a:xfrm>
                <a:off x="2268207" y="2627915"/>
                <a:ext cx="357248" cy="2464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p:txBody>
          </p:sp>
          <p:cxnSp>
            <p:nvCxnSpPr>
              <p:cNvPr id="285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38" name="等腰三角形 36"/>
            <p:cNvSpPr>
              <a:spLocks noChangeArrowheads="1"/>
            </p:cNvSpPr>
            <p:nvPr/>
          </p:nvSpPr>
          <p:spPr bwMode="auto">
            <a:xfrm>
              <a:off x="8507758" y="3666801"/>
              <a:ext cx="107982" cy="10796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9" name="TextBox 238"/>
            <p:cNvSpPr txBox="1">
              <a:spLocks noChangeArrowheads="1"/>
            </p:cNvSpPr>
            <p:nvPr/>
          </p:nvSpPr>
          <p:spPr bwMode="auto">
            <a:xfrm>
              <a:off x="8399458" y="3509958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rgbClr val="0000FF"/>
                  </a:solidFill>
                  <a:latin typeface="Arial" panose="020B0604020202020204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rgbClr val="0000FF"/>
                </a:solidFill>
                <a:latin typeface="Arial" panose="020B0604020202020204"/>
                <a:ea typeface="黑体" panose="02010609060101010101" pitchFamily="49" charset="-122"/>
              </a:endParaRPr>
            </a:p>
          </p:txBody>
        </p:sp>
        <p:sp>
          <p:nvSpPr>
            <p:cNvPr id="243" name="Text Box 64"/>
            <p:cNvSpPr txBox="1">
              <a:spLocks noChangeArrowheads="1"/>
            </p:cNvSpPr>
            <p:nvPr/>
          </p:nvSpPr>
          <p:spPr bwMode="auto">
            <a:xfrm>
              <a:off x="8255335" y="2881839"/>
              <a:ext cx="395288" cy="30797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anose="020B0604020202020204"/>
                </a:rPr>
                <a:t>Y</a:t>
              </a:r>
              <a:r>
                <a:rPr kumimoji="0" lang="en-US" altLang="zh-CN" sz="1400" b="1" baseline="-25000" dirty="0">
                  <a:solidFill>
                    <a:srgbClr val="000000"/>
                  </a:solidFill>
                  <a:latin typeface="Arial" panose="020B0604020202020204"/>
                </a:rPr>
                <a:t>4</a:t>
              </a:r>
              <a:endParaRPr kumimoji="0" lang="en-US" altLang="zh-CN" sz="1400" b="1" baseline="-25000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44" name="Line 28"/>
            <p:cNvSpPr>
              <a:spLocks noChangeShapeType="1"/>
            </p:cNvSpPr>
            <p:nvPr/>
          </p:nvSpPr>
          <p:spPr bwMode="auto">
            <a:xfrm rot="16200000" flipV="1">
              <a:off x="8428862" y="2842511"/>
              <a:ext cx="0" cy="7128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5" name="Line 28"/>
            <p:cNvSpPr>
              <a:spLocks noChangeShapeType="1"/>
            </p:cNvSpPr>
            <p:nvPr/>
          </p:nvSpPr>
          <p:spPr bwMode="auto">
            <a:xfrm rot="16200000" flipV="1">
              <a:off x="5256718" y="2811810"/>
              <a:ext cx="0" cy="71983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oval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246" name="直接连接符 17"/>
            <p:cNvCxnSpPr>
              <a:cxnSpLocks noChangeShapeType="1"/>
            </p:cNvCxnSpPr>
            <p:nvPr/>
          </p:nvCxnSpPr>
          <p:spPr bwMode="auto">
            <a:xfrm rot="5400000">
              <a:off x="5200227" y="3594457"/>
              <a:ext cx="828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247" name="Line 28"/>
            <p:cNvSpPr>
              <a:spLocks noChangeShapeType="1"/>
            </p:cNvSpPr>
            <p:nvPr/>
          </p:nvSpPr>
          <p:spPr bwMode="auto">
            <a:xfrm rot="16200000" flipV="1">
              <a:off x="6036591" y="3573711"/>
              <a:ext cx="0" cy="84940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48" name="Line 28"/>
            <p:cNvSpPr>
              <a:spLocks noChangeShapeType="1"/>
            </p:cNvSpPr>
            <p:nvPr/>
          </p:nvSpPr>
          <p:spPr bwMode="auto">
            <a:xfrm rot="16200000" flipV="1">
              <a:off x="4993389" y="2912326"/>
              <a:ext cx="0" cy="684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1" name="Line 28"/>
            <p:cNvSpPr>
              <a:spLocks noChangeShapeType="1"/>
            </p:cNvSpPr>
            <p:nvPr/>
          </p:nvSpPr>
          <p:spPr bwMode="auto">
            <a:xfrm rot="16200000" flipV="1">
              <a:off x="6410713" y="2811811"/>
              <a:ext cx="0" cy="71983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tailEnd type="oval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252" name="直接连接符 17"/>
            <p:cNvCxnSpPr>
              <a:cxnSpLocks noChangeShapeType="1"/>
            </p:cNvCxnSpPr>
            <p:nvPr/>
          </p:nvCxnSpPr>
          <p:spPr bwMode="auto">
            <a:xfrm rot="5400000">
              <a:off x="6350505" y="3594457"/>
              <a:ext cx="828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</a:ln>
          </p:spPr>
        </p:cxnSp>
        <p:sp>
          <p:nvSpPr>
            <p:cNvPr id="253" name="Line 28"/>
            <p:cNvSpPr>
              <a:spLocks noChangeShapeType="1"/>
            </p:cNvSpPr>
            <p:nvPr/>
          </p:nvSpPr>
          <p:spPr bwMode="auto">
            <a:xfrm rot="16200000" flipV="1">
              <a:off x="6749704" y="2989544"/>
              <a:ext cx="0" cy="26568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4" name="Line 28"/>
            <p:cNvSpPr>
              <a:spLocks noChangeShapeType="1"/>
            </p:cNvSpPr>
            <p:nvPr/>
          </p:nvSpPr>
          <p:spPr bwMode="auto">
            <a:xfrm rot="16200000" flipV="1">
              <a:off x="7185450" y="3575807"/>
              <a:ext cx="0" cy="849407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5" name="Line 28"/>
            <p:cNvSpPr>
              <a:spLocks noChangeShapeType="1"/>
            </p:cNvSpPr>
            <p:nvPr/>
          </p:nvSpPr>
          <p:spPr bwMode="auto">
            <a:xfrm rot="16200000" flipV="1">
              <a:off x="7535490" y="2830948"/>
              <a:ext cx="0" cy="71983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tailEnd type="oval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256" name="直接连接符 17"/>
            <p:cNvCxnSpPr>
              <a:cxnSpLocks noChangeShapeType="1"/>
            </p:cNvCxnSpPr>
            <p:nvPr/>
          </p:nvCxnSpPr>
          <p:spPr bwMode="auto">
            <a:xfrm rot="5400000">
              <a:off x="7508056" y="3754645"/>
              <a:ext cx="11304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tailEnd type="none" w="sm" len="sm"/>
            </a:ln>
          </p:spPr>
        </p:cxnSp>
        <p:sp>
          <p:nvSpPr>
            <p:cNvPr id="323" name="Line 28"/>
            <p:cNvSpPr>
              <a:spLocks noChangeShapeType="1"/>
            </p:cNvSpPr>
            <p:nvPr/>
          </p:nvSpPr>
          <p:spPr bwMode="auto">
            <a:xfrm rot="16200000" flipV="1">
              <a:off x="7059746" y="3092109"/>
              <a:ext cx="0" cy="3420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24" name="直接连接符 17"/>
            <p:cNvCxnSpPr>
              <a:cxnSpLocks noChangeShapeType="1"/>
            </p:cNvCxnSpPr>
            <p:nvPr/>
          </p:nvCxnSpPr>
          <p:spPr bwMode="auto">
            <a:xfrm rot="5400000">
              <a:off x="7088158" y="3991045"/>
              <a:ext cx="1602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tailEnd type="oval" w="sm" len="sm"/>
            </a:ln>
          </p:spPr>
        </p:cxnSp>
        <p:cxnSp>
          <p:nvCxnSpPr>
            <p:cNvPr id="325" name="直接连接符 17"/>
            <p:cNvCxnSpPr>
              <a:cxnSpLocks noChangeShapeType="1"/>
            </p:cNvCxnSpPr>
            <p:nvPr/>
          </p:nvCxnSpPr>
          <p:spPr bwMode="auto">
            <a:xfrm rot="5400000">
              <a:off x="3884546" y="4021033"/>
              <a:ext cx="1548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tailEnd type="none" w="sm" len="sm"/>
            </a:ln>
          </p:spPr>
        </p:cxnSp>
        <p:sp>
          <p:nvSpPr>
            <p:cNvPr id="326" name="Line 28"/>
            <p:cNvSpPr>
              <a:spLocks noChangeShapeType="1"/>
            </p:cNvSpPr>
            <p:nvPr/>
          </p:nvSpPr>
          <p:spPr bwMode="auto">
            <a:xfrm rot="16200000" flipV="1">
              <a:off x="4925983" y="4527879"/>
              <a:ext cx="0" cy="5328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39" name="组合 338"/>
          <p:cNvGrpSpPr/>
          <p:nvPr/>
        </p:nvGrpSpPr>
        <p:grpSpPr>
          <a:xfrm>
            <a:off x="642910" y="3286130"/>
            <a:ext cx="2143125" cy="1727210"/>
            <a:chOff x="642910" y="2857502"/>
            <a:chExt cx="2143125" cy="1727210"/>
          </a:xfrm>
        </p:grpSpPr>
        <p:grpSp>
          <p:nvGrpSpPr>
            <p:cNvPr id="328" name="Group 99"/>
            <p:cNvGrpSpPr/>
            <p:nvPr/>
          </p:nvGrpSpPr>
          <p:grpSpPr bwMode="auto">
            <a:xfrm>
              <a:off x="642910" y="3876686"/>
              <a:ext cx="2143125" cy="708026"/>
              <a:chOff x="576" y="3120"/>
              <a:chExt cx="1350" cy="446"/>
            </a:xfrm>
          </p:grpSpPr>
          <p:sp>
            <p:nvSpPr>
              <p:cNvPr id="329" name="Text Box 100"/>
              <p:cNvSpPr txBox="1">
                <a:spLocks noChangeArrowheads="1"/>
              </p:cNvSpPr>
              <p:nvPr/>
            </p:nvSpPr>
            <p:spPr bwMode="auto">
              <a:xfrm>
                <a:off x="576" y="3120"/>
                <a:ext cx="1350" cy="44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600" b="1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D</a:t>
                </a:r>
                <a:r>
                  <a:rPr kumimoji="0" lang="en-US" altLang="zh-CN" sz="1600" b="1" baseline="-25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1 </a:t>
                </a:r>
                <a:r>
                  <a:rPr kumimoji="0" lang="en-US" altLang="zh-CN" sz="1600" b="1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= 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3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1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4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endPara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600" b="1" baseline="-25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     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= 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1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4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r>
                  <a:rPr kumimoji="0" lang="en-US" altLang="zh-CN" sz="1600" b="1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+</a:t>
                </a:r>
                <a:r>
                  <a:rPr kumimoji="0" lang="en-US" altLang="zh-CN" sz="1600" b="1" baseline="-25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3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 </a:t>
                </a:r>
                <a:r>
                  <a:rPr kumimoji="0" lang="en-US" altLang="zh-CN" sz="1600" b="1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Y</a:t>
                </a:r>
                <a:r>
                  <a:rPr kumimoji="0" lang="en-US" altLang="zh-CN" sz="1600" b="1" baseline="-25000" dirty="0" smtClean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4</a:t>
                </a:r>
                <a:r>
                  <a:rPr kumimoji="0" lang="en-US" altLang="zh-CN" sz="1600" b="1" baseline="30000" dirty="0">
                    <a:solidFill>
                      <a:srgbClr val="000000"/>
                    </a:solidFill>
                    <a:latin typeface="Arial" panose="020B0604020202020204"/>
                    <a:ea typeface="楷体_GB2312" pitchFamily="49" charset="-122"/>
                  </a:rPr>
                  <a:t>n</a:t>
                </a:r>
                <a:endParaRPr kumimoji="0" lang="en-US" altLang="zh-CN" sz="1600" b="1" baseline="30000" dirty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endParaRPr>
              </a:p>
            </p:txBody>
          </p:sp>
          <p:sp>
            <p:nvSpPr>
              <p:cNvPr id="330" name="Line 101"/>
              <p:cNvSpPr>
                <a:spLocks noChangeShapeType="1"/>
              </p:cNvSpPr>
              <p:nvPr/>
            </p:nvSpPr>
            <p:spPr bwMode="auto">
              <a:xfrm>
                <a:off x="1321" y="316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31" name="Line 102"/>
              <p:cNvSpPr>
                <a:spLocks noChangeShapeType="1"/>
              </p:cNvSpPr>
              <p:nvPr/>
            </p:nvSpPr>
            <p:spPr bwMode="auto">
              <a:xfrm>
                <a:off x="1121" y="337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32" name="Line 103"/>
              <p:cNvSpPr>
                <a:spLocks noChangeShapeType="1"/>
              </p:cNvSpPr>
              <p:nvPr/>
            </p:nvSpPr>
            <p:spPr bwMode="auto">
              <a:xfrm>
                <a:off x="896" y="3125"/>
                <a:ext cx="386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33" name="Line 104"/>
              <p:cNvSpPr>
                <a:spLocks noChangeShapeType="1"/>
              </p:cNvSpPr>
              <p:nvPr/>
            </p:nvSpPr>
            <p:spPr bwMode="auto">
              <a:xfrm>
                <a:off x="1107" y="3155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34" name="Line 105"/>
              <p:cNvSpPr>
                <a:spLocks noChangeShapeType="1"/>
              </p:cNvSpPr>
              <p:nvPr/>
            </p:nvSpPr>
            <p:spPr bwMode="auto">
              <a:xfrm>
                <a:off x="1633" y="337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35" name="Line 106"/>
              <p:cNvSpPr>
                <a:spLocks noChangeShapeType="1"/>
              </p:cNvSpPr>
              <p:nvPr/>
            </p:nvSpPr>
            <p:spPr bwMode="auto">
              <a:xfrm>
                <a:off x="1421" y="337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endParaRPr lang="zh-CN" altLang="en-US" sz="160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336" name="Text Box 107"/>
            <p:cNvSpPr txBox="1">
              <a:spLocks noChangeArrowheads="1"/>
            </p:cNvSpPr>
            <p:nvPr/>
          </p:nvSpPr>
          <p:spPr bwMode="auto">
            <a:xfrm>
              <a:off x="650860" y="3500444"/>
              <a:ext cx="920743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D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2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= 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  <a:latin typeface="Arial" panose="020B0604020202020204"/>
                <a:ea typeface="楷体_GB2312" pitchFamily="49" charset="-122"/>
              </a:endParaRPr>
            </a:p>
          </p:txBody>
        </p:sp>
        <p:sp>
          <p:nvSpPr>
            <p:cNvPr id="337" name="Text Box 108"/>
            <p:cNvSpPr txBox="1">
              <a:spLocks noChangeArrowheads="1"/>
            </p:cNvSpPr>
            <p:nvPr/>
          </p:nvSpPr>
          <p:spPr bwMode="auto">
            <a:xfrm>
              <a:off x="642910" y="3190839"/>
              <a:ext cx="160020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D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3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= 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  <a:latin typeface="Arial" panose="020B0604020202020204"/>
                <a:ea typeface="楷体_GB2312" pitchFamily="49" charset="-122"/>
              </a:endParaRPr>
            </a:p>
          </p:txBody>
        </p:sp>
        <p:sp>
          <p:nvSpPr>
            <p:cNvPr id="338" name="Text Box 109"/>
            <p:cNvSpPr txBox="1">
              <a:spLocks noChangeArrowheads="1"/>
            </p:cNvSpPr>
            <p:nvPr/>
          </p:nvSpPr>
          <p:spPr bwMode="auto">
            <a:xfrm>
              <a:off x="642910" y="2857502"/>
              <a:ext cx="160020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D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4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= 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3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  <a:latin typeface="Arial" panose="020B0604020202020204"/>
                  <a:ea typeface="楷体_GB2312" pitchFamily="49" charset="-122"/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  <a:latin typeface="Arial" panose="020B0604020202020204"/>
                <a:ea typeface="楷体_GB2312" pitchFamily="49" charset="-122"/>
              </a:endParaRPr>
            </a:p>
          </p:txBody>
        </p:sp>
      </p:grpSp>
      <p:sp>
        <p:nvSpPr>
          <p:cNvPr id="340" name="Text Box 81"/>
          <p:cNvSpPr txBox="1">
            <a:spLocks noChangeArrowheads="1"/>
          </p:cNvSpPr>
          <p:nvPr/>
        </p:nvSpPr>
        <p:spPr bwMode="auto">
          <a:xfrm>
            <a:off x="428596" y="2857502"/>
            <a:ext cx="1728787" cy="36830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1" name="Text Box 83"/>
          <p:cNvSpPr txBox="1">
            <a:spLocks noChangeArrowheads="1"/>
          </p:cNvSpPr>
          <p:nvPr/>
        </p:nvSpPr>
        <p:spPr bwMode="auto">
          <a:xfrm>
            <a:off x="2357422" y="2857502"/>
            <a:ext cx="1728788" cy="36830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2" name="Group 111"/>
          <p:cNvGrpSpPr/>
          <p:nvPr/>
        </p:nvGrpSpPr>
        <p:grpSpPr bwMode="auto">
          <a:xfrm>
            <a:off x="2786050" y="3357569"/>
            <a:ext cx="2286000" cy="1249363"/>
            <a:chOff x="1872" y="2901"/>
            <a:chExt cx="1440" cy="787"/>
          </a:xfrm>
        </p:grpSpPr>
        <p:sp>
          <p:nvSpPr>
            <p:cNvPr id="343" name="Text Box 112"/>
            <p:cNvSpPr txBox="1">
              <a:spLocks noChangeArrowheads="1"/>
            </p:cNvSpPr>
            <p:nvPr/>
          </p:nvSpPr>
          <p:spPr bwMode="auto">
            <a:xfrm>
              <a:off x="1872" y="2901"/>
              <a:ext cx="1440" cy="78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4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3</a:t>
              </a:r>
              <a:r>
                <a:rPr kumimoji="0" lang="en-US" altLang="zh-CN" sz="1600" b="1" baseline="30000" dirty="0" smtClean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3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2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</a:rPr>
                <a:t> </a:t>
              </a:r>
              <a:endParaRPr kumimoji="0" lang="en-US" altLang="zh-CN" sz="1600" b="1" baseline="-25000" dirty="0">
                <a:solidFill>
                  <a:srgbClr val="000000"/>
                </a:solidFill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0" lang="en-US" altLang="zh-CN" sz="1600" b="1" dirty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n+1  </a:t>
              </a:r>
              <a:r>
                <a:rPr kumimoji="0" lang="en-US" altLang="zh-CN" sz="1600" b="1" dirty="0">
                  <a:solidFill>
                    <a:srgbClr val="000000"/>
                  </a:solidFill>
                </a:rPr>
                <a:t>=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ea typeface="楷体_GB2312" pitchFamily="49" charset="-122"/>
                </a:rPr>
                <a:t>4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sz="1600" b="1" dirty="0">
                  <a:solidFill>
                    <a:srgbClr val="000000"/>
                  </a:solidFill>
                  <a:ea typeface="楷体_GB2312" pitchFamily="49" charset="-122"/>
                </a:rPr>
                <a:t>+</a:t>
              </a:r>
              <a:r>
                <a:rPr kumimoji="0" lang="en-US" altLang="zh-CN" sz="1600" b="1" baseline="-25000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ea typeface="楷体_GB2312" pitchFamily="49" charset="-122"/>
                </a:rPr>
                <a:t>3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r>
                <a:rPr kumimoji="0" lang="en-US" altLang="zh-CN" sz="1600" b="1" baseline="-25000" dirty="0" smtClean="0">
                  <a:solidFill>
                    <a:srgbClr val="000000"/>
                  </a:solidFill>
                  <a:ea typeface="楷体_GB2312" pitchFamily="49" charset="-122"/>
                </a:rPr>
                <a:t>4</a:t>
              </a:r>
              <a:r>
                <a:rPr kumimoji="0" lang="en-US" altLang="zh-CN" sz="1600" b="1" baseline="30000" dirty="0">
                  <a:solidFill>
                    <a:srgbClr val="000000"/>
                  </a:solidFill>
                </a:rPr>
                <a:t>n</a:t>
              </a:r>
              <a:endParaRPr kumimoji="0" lang="en-US" altLang="zh-CN" sz="1600" b="1" baseline="30000" dirty="0">
                <a:solidFill>
                  <a:srgbClr val="000000"/>
                </a:solidFill>
              </a:endParaRPr>
            </a:p>
          </p:txBody>
        </p:sp>
        <p:sp>
          <p:nvSpPr>
            <p:cNvPr id="344" name="Line 113"/>
            <p:cNvSpPr>
              <a:spLocks noChangeShapeType="1"/>
            </p:cNvSpPr>
            <p:nvPr/>
          </p:nvSpPr>
          <p:spPr bwMode="auto">
            <a:xfrm>
              <a:off x="2547" y="3506"/>
              <a:ext cx="16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5" name="Line 114"/>
            <p:cNvSpPr>
              <a:spLocks noChangeShapeType="1"/>
            </p:cNvSpPr>
            <p:nvPr/>
          </p:nvSpPr>
          <p:spPr bwMode="auto">
            <a:xfrm>
              <a:off x="2847" y="3506"/>
              <a:ext cx="16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6" name="Line 115"/>
            <p:cNvSpPr>
              <a:spLocks noChangeShapeType="1"/>
            </p:cNvSpPr>
            <p:nvPr/>
          </p:nvSpPr>
          <p:spPr bwMode="auto">
            <a:xfrm>
              <a:off x="3042" y="3506"/>
              <a:ext cx="165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47" name="Text Box 83"/>
          <p:cNvSpPr txBox="1">
            <a:spLocks noChangeArrowheads="1"/>
          </p:cNvSpPr>
          <p:nvPr/>
        </p:nvSpPr>
        <p:spPr bwMode="auto">
          <a:xfrm>
            <a:off x="5363493" y="699542"/>
            <a:ext cx="1728787" cy="36830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状态转换表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8" name="表格 347"/>
          <p:cNvGraphicFramePr>
            <a:graphicFrameLocks noGrp="1"/>
          </p:cNvGraphicFramePr>
          <p:nvPr/>
        </p:nvGraphicFramePr>
        <p:xfrm>
          <a:off x="5429824" y="1059582"/>
          <a:ext cx="3534664" cy="3900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4844"/>
                <a:gridCol w="344845"/>
                <a:gridCol w="350420"/>
                <a:gridCol w="277652"/>
                <a:gridCol w="423707"/>
                <a:gridCol w="448299"/>
                <a:gridCol w="448299"/>
                <a:gridCol w="448299"/>
                <a:gridCol w="448299"/>
              </a:tblGrid>
              <a:tr h="206025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  <a:endParaRPr lang="zh-CN" altLang="en-US" sz="14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序号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6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baseline="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38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②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③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8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④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99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⑧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⑦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⑥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1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⑤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73" name="组合 247"/>
          <p:cNvGrpSpPr/>
          <p:nvPr/>
        </p:nvGrpSpPr>
        <p:grpSpPr bwMode="auto">
          <a:xfrm>
            <a:off x="4151739" y="2722581"/>
            <a:ext cx="1022350" cy="378935"/>
            <a:chOff x="3028065" y="2219652"/>
            <a:chExt cx="1022771" cy="378356"/>
          </a:xfrm>
        </p:grpSpPr>
        <p:sp>
          <p:nvSpPr>
            <p:cNvPr id="374" name="圆角矩形标注 13"/>
            <p:cNvSpPr>
              <a:spLocks noChangeArrowheads="1"/>
            </p:cNvSpPr>
            <p:nvPr/>
          </p:nvSpPr>
          <p:spPr bwMode="auto">
            <a:xfrm>
              <a:off x="3088415" y="2224009"/>
              <a:ext cx="936385" cy="373999"/>
            </a:xfrm>
            <a:prstGeom prst="wedgeRoundRectCallout">
              <a:avLst>
                <a:gd name="adj1" fmla="val -49590"/>
                <a:gd name="adj2" fmla="val -77978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0066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600" b="1">
                <a:solidFill>
                  <a:srgbClr val="000000"/>
                </a:solidFill>
              </a:endParaRPr>
            </a:p>
          </p:txBody>
        </p:sp>
        <p:sp>
          <p:nvSpPr>
            <p:cNvPr id="375" name="Text Box 34"/>
            <p:cNvSpPr txBox="1">
              <a:spLocks noChangeArrowheads="1"/>
            </p:cNvSpPr>
            <p:nvPr/>
          </p:nvSpPr>
          <p:spPr bwMode="auto">
            <a:xfrm>
              <a:off x="3028065" y="2219652"/>
              <a:ext cx="1022771" cy="33667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b="1" i="1" dirty="0" smtClean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Moore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型</a:t>
              </a:r>
              <a:endParaRPr lang="zh-CN" altLang="en-US" sz="1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" grpId="0"/>
      <p:bldP spid="341" grpId="0"/>
      <p:bldP spid="3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2 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同步时序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分析</a:t>
            </a:r>
            <a:endParaRPr lang="zh-CN" altLang="en-US"/>
          </a:p>
        </p:txBody>
      </p:sp>
      <p:sp>
        <p:nvSpPr>
          <p:cNvPr id="4" name="Text Box 83"/>
          <p:cNvSpPr txBox="1">
            <a:spLocks noChangeArrowheads="1"/>
          </p:cNvSpPr>
          <p:nvPr/>
        </p:nvSpPr>
        <p:spPr bwMode="auto">
          <a:xfrm>
            <a:off x="323528" y="627534"/>
            <a:ext cx="2036282" cy="39878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 wrap="square"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状态转换表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5536" y="1006536"/>
          <a:ext cx="3888432" cy="401348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9358"/>
                <a:gridCol w="379359"/>
                <a:gridCol w="385492"/>
                <a:gridCol w="305441"/>
                <a:gridCol w="466114"/>
                <a:gridCol w="493167"/>
                <a:gridCol w="493167"/>
                <a:gridCol w="493167"/>
                <a:gridCol w="493167"/>
              </a:tblGrid>
              <a:tr h="231195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  <a:endParaRPr lang="zh-CN" altLang="en-US" sz="14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序号</a:t>
                      </a:r>
                      <a:endParaRPr lang="zh-CN" altLang="en-US" sz="14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78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2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4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400" b="1" baseline="30000" dirty="0" smtClean="0">
                          <a:latin typeface="+mj-lt"/>
                        </a:rPr>
                        <a:t>n+1</a:t>
                      </a:r>
                      <a:endParaRPr lang="zh-CN" altLang="en-US" sz="14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baseline="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11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②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③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27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④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68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⑧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⑦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latin typeface="+mj-lt"/>
                        </a:rPr>
                        <a:t>0</a:t>
                      </a:r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⑥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2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 smtClean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⑤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4858322" y="699542"/>
            <a:ext cx="1441870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B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状态图</a:t>
            </a:r>
            <a:endParaRPr lang="zh-CN" altLang="en-US" sz="2000" b="1" dirty="0">
              <a:solidFill>
                <a:srgbClr val="0000B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Box 71"/>
          <p:cNvSpPr txBox="1">
            <a:spLocks noChangeArrowheads="1"/>
          </p:cNvSpPr>
          <p:nvPr/>
        </p:nvSpPr>
        <p:spPr bwMode="auto">
          <a:xfrm>
            <a:off x="4628639" y="4145796"/>
            <a:ext cx="4116582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r>
              <a:rPr lang="en-US" altLang="zh-CN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格雷码输出</a:t>
            </a:r>
            <a:r>
              <a:rPr lang="en-US" altLang="zh-CN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b="1" kern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，能够自启动。</a:t>
            </a:r>
            <a:endParaRPr lang="zh-CN" altLang="en-US" sz="18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  <p:grpSp>
        <p:nvGrpSpPr>
          <p:cNvPr id="46" name="组合 45"/>
          <p:cNvGrpSpPr/>
          <p:nvPr/>
        </p:nvGrpSpPr>
        <p:grpSpPr>
          <a:xfrm>
            <a:off x="4786630" y="1327785"/>
            <a:ext cx="4105910" cy="2452370"/>
            <a:chOff x="7538" y="2091"/>
            <a:chExt cx="6466" cy="3862"/>
          </a:xfrm>
        </p:grpSpPr>
        <p:grpSp>
          <p:nvGrpSpPr>
            <p:cNvPr id="39" name="组合 38"/>
            <p:cNvGrpSpPr/>
            <p:nvPr/>
          </p:nvGrpSpPr>
          <p:grpSpPr>
            <a:xfrm>
              <a:off x="7538" y="2091"/>
              <a:ext cx="6466" cy="2980"/>
              <a:chOff x="4786314" y="1327834"/>
              <a:chExt cx="3779351" cy="1637459"/>
            </a:xfrm>
          </p:grpSpPr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 flipV="1">
                <a:off x="5945224" y="2474557"/>
                <a:ext cx="0" cy="216337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" name="Oval 20"/>
              <p:cNvSpPr>
                <a:spLocks noChangeArrowheads="1"/>
              </p:cNvSpPr>
              <p:nvPr/>
            </p:nvSpPr>
            <p:spPr bwMode="auto">
              <a:xfrm>
                <a:off x="4857752" y="1768941"/>
                <a:ext cx="567380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>
                    <a:solidFill>
                      <a:srgbClr val="000000"/>
                    </a:solidFill>
                  </a:rPr>
                  <a:t>0000</a:t>
                </a:r>
                <a:endParaRPr kumimoji="0" lang="en-US" altLang="zh-CN" sz="14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" name="Oval 21"/>
              <p:cNvSpPr>
                <a:spLocks noChangeArrowheads="1"/>
              </p:cNvSpPr>
              <p:nvPr/>
            </p:nvSpPr>
            <p:spPr bwMode="auto">
              <a:xfrm>
                <a:off x="5647903" y="1787459"/>
                <a:ext cx="579714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0001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Oval 22"/>
              <p:cNvSpPr>
                <a:spLocks noChangeArrowheads="1"/>
              </p:cNvSpPr>
              <p:nvPr/>
            </p:nvSpPr>
            <p:spPr bwMode="auto">
              <a:xfrm>
                <a:off x="5658592" y="2192984"/>
                <a:ext cx="567380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1100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Line 24"/>
              <p:cNvSpPr>
                <a:spLocks noChangeShapeType="1"/>
              </p:cNvSpPr>
              <p:nvPr/>
            </p:nvSpPr>
            <p:spPr bwMode="auto">
              <a:xfrm>
                <a:off x="5445961" y="1918918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Line 25"/>
              <p:cNvSpPr>
                <a:spLocks noChangeShapeType="1"/>
              </p:cNvSpPr>
              <p:nvPr/>
            </p:nvSpPr>
            <p:spPr bwMode="auto">
              <a:xfrm flipH="1">
                <a:off x="5477759" y="2345747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Line 26"/>
              <p:cNvSpPr>
                <a:spLocks noChangeShapeType="1"/>
              </p:cNvSpPr>
              <p:nvPr/>
            </p:nvSpPr>
            <p:spPr bwMode="auto">
              <a:xfrm flipV="1">
                <a:off x="5141442" y="2045843"/>
                <a:ext cx="0" cy="216337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Oval 27"/>
              <p:cNvSpPr>
                <a:spLocks noChangeArrowheads="1"/>
              </p:cNvSpPr>
              <p:nvPr/>
            </p:nvSpPr>
            <p:spPr bwMode="auto">
              <a:xfrm>
                <a:off x="6429388" y="1767506"/>
                <a:ext cx="567380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0011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Oval 29"/>
              <p:cNvSpPr>
                <a:spLocks noChangeArrowheads="1"/>
              </p:cNvSpPr>
              <p:nvPr/>
            </p:nvSpPr>
            <p:spPr bwMode="auto">
              <a:xfrm>
                <a:off x="7224801" y="2189168"/>
                <a:ext cx="567380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>
                    <a:solidFill>
                      <a:srgbClr val="000000"/>
                    </a:solidFill>
                  </a:rPr>
                  <a:t>1111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Oval 30"/>
              <p:cNvSpPr>
                <a:spLocks noChangeArrowheads="1"/>
              </p:cNvSpPr>
              <p:nvPr/>
            </p:nvSpPr>
            <p:spPr bwMode="auto">
              <a:xfrm>
                <a:off x="6441722" y="2196436"/>
                <a:ext cx="606028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1110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Line 31"/>
              <p:cNvSpPr>
                <a:spLocks noChangeShapeType="1"/>
              </p:cNvSpPr>
              <p:nvPr/>
            </p:nvSpPr>
            <p:spPr bwMode="auto">
              <a:xfrm>
                <a:off x="7018691" y="1894164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Line 32"/>
              <p:cNvSpPr>
                <a:spLocks noChangeShapeType="1"/>
              </p:cNvSpPr>
              <p:nvPr/>
            </p:nvSpPr>
            <p:spPr bwMode="auto">
              <a:xfrm>
                <a:off x="7506024" y="2001885"/>
                <a:ext cx="0" cy="216337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Line 33"/>
              <p:cNvSpPr>
                <a:spLocks noChangeShapeType="1"/>
              </p:cNvSpPr>
              <p:nvPr/>
            </p:nvSpPr>
            <p:spPr bwMode="auto">
              <a:xfrm flipH="1">
                <a:off x="7049394" y="2325943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Line 34"/>
              <p:cNvSpPr>
                <a:spLocks noChangeShapeType="1"/>
              </p:cNvSpPr>
              <p:nvPr/>
            </p:nvSpPr>
            <p:spPr bwMode="auto">
              <a:xfrm>
                <a:off x="6236112" y="1920117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Line 35"/>
              <p:cNvSpPr>
                <a:spLocks noChangeShapeType="1"/>
              </p:cNvSpPr>
              <p:nvPr/>
            </p:nvSpPr>
            <p:spPr bwMode="auto">
              <a:xfrm flipH="1">
                <a:off x="6230628" y="2340646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圆角矩形 131"/>
              <p:cNvSpPr>
                <a:spLocks noChangeArrowheads="1"/>
              </p:cNvSpPr>
              <p:nvPr/>
            </p:nvSpPr>
            <p:spPr bwMode="auto">
              <a:xfrm>
                <a:off x="4786314" y="1699019"/>
                <a:ext cx="3096000" cy="864000"/>
              </a:xfrm>
              <a:prstGeom prst="roundRect">
                <a:avLst>
                  <a:gd name="adj" fmla="val 16667"/>
                </a:avLst>
              </a:prstGeom>
              <a:noFill/>
              <a:ln w="19050" algn="ctr">
                <a:solidFill>
                  <a:schemeClr val="bg1"/>
                </a:solidFill>
                <a:prstDash val="sysDash"/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Oval 28"/>
              <p:cNvSpPr>
                <a:spLocks noChangeArrowheads="1"/>
              </p:cNvSpPr>
              <p:nvPr/>
            </p:nvSpPr>
            <p:spPr bwMode="auto">
              <a:xfrm>
                <a:off x="7199304" y="1770657"/>
                <a:ext cx="579714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0111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Oval 23"/>
              <p:cNvSpPr>
                <a:spLocks noChangeArrowheads="1"/>
              </p:cNvSpPr>
              <p:nvPr/>
            </p:nvSpPr>
            <p:spPr bwMode="auto">
              <a:xfrm>
                <a:off x="4870086" y="2208737"/>
                <a:ext cx="606028" cy="302955"/>
              </a:xfrm>
              <a:prstGeom prst="ellipse">
                <a:avLst/>
              </a:prstGeom>
              <a:solidFill>
                <a:srgbClr val="99FF99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1000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Oval 22"/>
              <p:cNvSpPr>
                <a:spLocks noChangeArrowheads="1"/>
              </p:cNvSpPr>
              <p:nvPr/>
            </p:nvSpPr>
            <p:spPr bwMode="auto">
              <a:xfrm>
                <a:off x="6432076" y="2646585"/>
                <a:ext cx="567380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1011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 flipH="1">
                <a:off x="6251243" y="2799348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Oval 29"/>
              <p:cNvSpPr>
                <a:spLocks noChangeArrowheads="1"/>
              </p:cNvSpPr>
              <p:nvPr/>
            </p:nvSpPr>
            <p:spPr bwMode="auto">
              <a:xfrm>
                <a:off x="7998285" y="2658137"/>
                <a:ext cx="567380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0010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Oval 30"/>
              <p:cNvSpPr>
                <a:spLocks noChangeArrowheads="1"/>
              </p:cNvSpPr>
              <p:nvPr/>
            </p:nvSpPr>
            <p:spPr bwMode="auto">
              <a:xfrm>
                <a:off x="7215206" y="2650037"/>
                <a:ext cx="606028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0101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Line 33"/>
              <p:cNvSpPr>
                <a:spLocks noChangeShapeType="1"/>
              </p:cNvSpPr>
              <p:nvPr/>
            </p:nvSpPr>
            <p:spPr bwMode="auto">
              <a:xfrm flipH="1">
                <a:off x="7822878" y="2779544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Line 35"/>
              <p:cNvSpPr>
                <a:spLocks noChangeShapeType="1"/>
              </p:cNvSpPr>
              <p:nvPr/>
            </p:nvSpPr>
            <p:spPr bwMode="auto">
              <a:xfrm flipH="1">
                <a:off x="7004112" y="2794247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Oval 23"/>
              <p:cNvSpPr>
                <a:spLocks noChangeArrowheads="1"/>
              </p:cNvSpPr>
              <p:nvPr/>
            </p:nvSpPr>
            <p:spPr bwMode="auto">
              <a:xfrm>
                <a:off x="5643570" y="2662338"/>
                <a:ext cx="606028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0110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Oval 23"/>
              <p:cNvSpPr>
                <a:spLocks noChangeArrowheads="1"/>
              </p:cNvSpPr>
              <p:nvPr/>
            </p:nvSpPr>
            <p:spPr bwMode="auto">
              <a:xfrm>
                <a:off x="5643570" y="1327834"/>
                <a:ext cx="606028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0100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Line 25"/>
              <p:cNvSpPr>
                <a:spLocks noChangeShapeType="1"/>
              </p:cNvSpPr>
              <p:nvPr/>
            </p:nvSpPr>
            <p:spPr bwMode="auto">
              <a:xfrm flipH="1">
                <a:off x="5465425" y="1472795"/>
                <a:ext cx="180000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Line 32"/>
              <p:cNvSpPr>
                <a:spLocks noChangeShapeType="1"/>
              </p:cNvSpPr>
              <p:nvPr/>
            </p:nvSpPr>
            <p:spPr bwMode="auto">
              <a:xfrm>
                <a:off x="5151576" y="1587520"/>
                <a:ext cx="0" cy="216337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lstStyle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Oval 23"/>
              <p:cNvSpPr>
                <a:spLocks noChangeArrowheads="1"/>
              </p:cNvSpPr>
              <p:nvPr/>
            </p:nvSpPr>
            <p:spPr bwMode="auto">
              <a:xfrm>
                <a:off x="4857752" y="1335785"/>
                <a:ext cx="606028" cy="302955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1000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2983" y="5097"/>
              <a:ext cx="971" cy="857"/>
              <a:chOff x="13386" y="4101"/>
              <a:chExt cx="971" cy="857"/>
            </a:xfrm>
          </p:grpSpPr>
          <p:sp>
            <p:nvSpPr>
              <p:cNvPr id="33" name="Oval 29"/>
              <p:cNvSpPr>
                <a:spLocks noChangeArrowheads="1"/>
              </p:cNvSpPr>
              <p:nvPr/>
            </p:nvSpPr>
            <p:spPr bwMode="auto">
              <a:xfrm>
                <a:off x="13386" y="4478"/>
                <a:ext cx="971" cy="480"/>
              </a:xfrm>
              <a:prstGeom prst="ellipse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  <a:effectLst/>
            </p:spPr>
            <p:txBody>
              <a:bodyPr lIns="0" tIns="0" rIns="0" bIns="0" anchor="ctr">
                <a:spAutoFit/>
              </a:bodyPr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400" b="1" dirty="0" smtClean="0">
                    <a:solidFill>
                      <a:srgbClr val="000000"/>
                    </a:solidFill>
                  </a:rPr>
                  <a:t>1001</a:t>
                </a:r>
                <a:endParaRPr kumimoji="0" lang="en-US" altLang="zh-CN" sz="14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Line 33"/>
              <p:cNvSpPr>
                <a:spLocks noChangeShapeType="1"/>
              </p:cNvSpPr>
              <p:nvPr/>
            </p:nvSpPr>
            <p:spPr bwMode="auto">
              <a:xfrm rot="5400000" flipH="1">
                <a:off x="13724" y="4255"/>
                <a:ext cx="308" cy="0"/>
              </a:xfrm>
              <a:prstGeom prst="line">
                <a:avLst/>
              </a:prstGeom>
              <a:solidFill>
                <a:srgbClr val="99FF99"/>
              </a:solidFill>
              <a:ln w="19050">
                <a:solidFill>
                  <a:schemeClr val="bg2"/>
                </a:solidFill>
                <a:miter lim="800000"/>
                <a:tailEnd type="triangle" w="med" len="med"/>
              </a:ln>
            </p:spPr>
            <p:txBody>
              <a:bodyPr wrap="none" lIns="0" tIns="0" rIns="0" bIns="0"/>
              <a:p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" name="Oval 29"/>
            <p:cNvSpPr>
              <a:spLocks noChangeArrowheads="1"/>
            </p:cNvSpPr>
            <p:nvPr/>
          </p:nvSpPr>
          <p:spPr bwMode="auto">
            <a:xfrm>
              <a:off x="10408" y="2146"/>
              <a:ext cx="971" cy="486"/>
            </a:xfrm>
            <a:prstGeom prst="ellipse">
              <a:avLst/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400" b="1" dirty="0" smtClean="0">
                  <a:solidFill>
                    <a:srgbClr val="000000"/>
                  </a:solidFill>
                </a:rPr>
                <a:t>1010</a:t>
              </a:r>
              <a:endParaRPr kumimoji="0" lang="en-US" altLang="zh-CN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5" name="Line 33"/>
            <p:cNvSpPr>
              <a:spLocks noChangeShapeType="1"/>
            </p:cNvSpPr>
            <p:nvPr/>
          </p:nvSpPr>
          <p:spPr bwMode="auto">
            <a:xfrm flipH="1">
              <a:off x="10096" y="2346"/>
              <a:ext cx="308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p>
              <a:endParaRPr lang="zh-CN" altLang="en-US" sz="1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同步时序</a:t>
            </a:r>
            <a:r>
              <a:rPr lang="zh-CN" altLang="en-US" sz="4000" dirty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sz="4000" dirty="0" smtClean="0">
                <a:solidFill>
                  <a:srgbClr val="000000"/>
                </a:solidFill>
                <a:latin typeface="黑体" panose="02010609060101010101" pitchFamily="49" charset="-122"/>
                <a:sym typeface="+mn-ea"/>
              </a:rPr>
              <a:t>分析方法总结</a:t>
            </a:r>
            <a:endParaRPr lang="zh-CN" altLang="en-US" sz="4000" dirty="0" smtClean="0">
              <a:solidFill>
                <a:srgbClr val="000000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>
          <a:xfrm>
            <a:off x="685800" y="678815"/>
            <a:ext cx="7943215" cy="3942080"/>
          </a:xfrm>
        </p:spPr>
        <p:txBody>
          <a:bodyPr/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6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确定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系统变量（输入变量、输出变量、状态变量）</a:t>
            </a:r>
            <a:endParaRPr lang="zh-CN" altLang="en-US" sz="2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列写三组方程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激励方程</a:t>
            </a:r>
            <a:r>
              <a:rPr lang="en-US" altLang="zh-CN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控制函数</a:t>
            </a:r>
            <a:r>
              <a:rPr lang="en-US" altLang="zh-CN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状态方程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次态方程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、输出方程</a:t>
            </a:r>
            <a:endParaRPr lang="zh-CN" altLang="en-US" sz="2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② 列写状态转换表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72745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None/>
              <a:defRPr/>
            </a:pP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写出</a:t>
            </a:r>
            <a:r>
              <a:rPr lang="zh-CN" altLang="en-US" sz="2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所有输入及现态</a:t>
            </a: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取值组合</a:t>
            </a: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2200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72745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None/>
              <a:defRPr/>
            </a:pP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将各取值组合带入次态方程和输出方程，计算次态和输出；</a:t>
            </a:r>
            <a:endParaRPr lang="en-US" altLang="zh-CN" sz="2200" dirty="0" smtClean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72745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None/>
              <a:defRPr/>
            </a:pP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从表中第一行开始，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寻找状态转换规律</a:t>
            </a:r>
            <a:r>
              <a:rPr lang="zh-CN" altLang="en-US" sz="220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200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③ 画出完整的状态图；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④ 得出电路功能，并说明能否自启动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3 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异步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时序</a:t>
            </a:r>
            <a:r>
              <a:rPr lang="zh-CN" altLang="en-US" dirty="0"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分析</a:t>
            </a:r>
            <a:endParaRPr lang="zh-CN" altLang="en-US"/>
          </a:p>
        </p:txBody>
      </p:sp>
      <p:grpSp>
        <p:nvGrpSpPr>
          <p:cNvPr id="244" name="组合 243"/>
          <p:cNvGrpSpPr/>
          <p:nvPr/>
        </p:nvGrpSpPr>
        <p:grpSpPr>
          <a:xfrm>
            <a:off x="928662" y="627534"/>
            <a:ext cx="4219402" cy="1609370"/>
            <a:chOff x="3105021" y="3192348"/>
            <a:chExt cx="3895871" cy="1379666"/>
          </a:xfrm>
        </p:grpSpPr>
        <p:cxnSp>
          <p:nvCxnSpPr>
            <p:cNvPr id="88" name="直接连接符 18"/>
            <p:cNvCxnSpPr>
              <a:cxnSpLocks noChangeShapeType="1"/>
            </p:cNvCxnSpPr>
            <p:nvPr/>
          </p:nvCxnSpPr>
          <p:spPr bwMode="auto">
            <a:xfrm rot="5400000">
              <a:off x="5688697" y="3915748"/>
              <a:ext cx="864000" cy="1588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</a:ln>
          </p:spPr>
        </p:cxnSp>
        <p:cxnSp>
          <p:nvCxnSpPr>
            <p:cNvPr id="133" name="直接连接符 34"/>
            <p:cNvCxnSpPr>
              <a:cxnSpLocks noChangeShapeType="1"/>
            </p:cNvCxnSpPr>
            <p:nvPr/>
          </p:nvCxnSpPr>
          <p:spPr bwMode="auto">
            <a:xfrm rot="5400000">
              <a:off x="3316332" y="4150791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134" name="组合 16"/>
            <p:cNvGrpSpPr/>
            <p:nvPr/>
          </p:nvGrpSpPr>
          <p:grpSpPr bwMode="auto">
            <a:xfrm>
              <a:off x="3143640" y="3456501"/>
              <a:ext cx="803451" cy="756000"/>
              <a:chOff x="1863800" y="2488442"/>
              <a:chExt cx="803540" cy="756588"/>
            </a:xfrm>
          </p:grpSpPr>
          <p:cxnSp>
            <p:nvCxnSpPr>
              <p:cNvPr id="195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40" y="2813953"/>
                <a:ext cx="648504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9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21935" y="2865942"/>
                <a:ext cx="756588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  <p:sp>
            <p:nvSpPr>
              <p:cNvPr id="197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8" name="TextBox 197"/>
              <p:cNvSpPr txBox="1">
                <a:spLocks noChangeArrowheads="1"/>
              </p:cNvSpPr>
              <p:nvPr/>
            </p:nvSpPr>
            <p:spPr bwMode="auto">
              <a:xfrm>
                <a:off x="2310034" y="2853350"/>
                <a:ext cx="357306" cy="2464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9" name="TextBox 198"/>
              <p:cNvSpPr txBox="1">
                <a:spLocks noChangeArrowheads="1"/>
              </p:cNvSpPr>
              <p:nvPr/>
            </p:nvSpPr>
            <p:spPr bwMode="auto">
              <a:xfrm>
                <a:off x="1863800" y="2627790"/>
                <a:ext cx="357305" cy="2464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0" name="TextBox 199"/>
              <p:cNvSpPr txBox="1">
                <a:spLocks noChangeArrowheads="1"/>
              </p:cNvSpPr>
              <p:nvPr/>
            </p:nvSpPr>
            <p:spPr bwMode="auto">
              <a:xfrm>
                <a:off x="2268746" y="2627790"/>
                <a:ext cx="357306" cy="2464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4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01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135" name="等腰三角形 36"/>
            <p:cNvSpPr>
              <a:spLocks noChangeArrowheads="1"/>
            </p:cNvSpPr>
            <p:nvPr/>
          </p:nvSpPr>
          <p:spPr bwMode="auto">
            <a:xfrm>
              <a:off x="3458970" y="3933778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6" name="TextBox 135"/>
            <p:cNvSpPr txBox="1">
              <a:spLocks noChangeArrowheads="1"/>
            </p:cNvSpPr>
            <p:nvPr/>
          </p:nvSpPr>
          <p:spPr bwMode="auto">
            <a:xfrm>
              <a:off x="3351194" y="3776722"/>
              <a:ext cx="422275" cy="214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37" name="Text Box 69"/>
            <p:cNvSpPr txBox="1">
              <a:spLocks noChangeArrowheads="1"/>
            </p:cNvSpPr>
            <p:nvPr/>
          </p:nvSpPr>
          <p:spPr bwMode="auto">
            <a:xfrm>
              <a:off x="6357950" y="4214824"/>
              <a:ext cx="437686" cy="30775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dirty="0" smtClean="0">
                  <a:solidFill>
                    <a:schemeClr val="bg1"/>
                  </a:solidFill>
                </a:rPr>
                <a:t>cp</a:t>
              </a:r>
              <a:r>
                <a:rPr kumimoji="0" lang="en-US" altLang="zh-CN" sz="1400" b="1" baseline="-25000" dirty="0" smtClean="0">
                  <a:solidFill>
                    <a:schemeClr val="bg1"/>
                  </a:solidFill>
                </a:rPr>
                <a:t> </a:t>
              </a:r>
              <a:endParaRPr kumimoji="0" lang="en-US" altLang="zh-CN" sz="1400" b="1" baseline="-25000" dirty="0">
                <a:solidFill>
                  <a:schemeClr val="bg1"/>
                </a:solidFill>
              </a:endParaRPr>
            </a:p>
          </p:txBody>
        </p:sp>
        <p:cxnSp>
          <p:nvCxnSpPr>
            <p:cNvPr id="138" name="直接连接符 34"/>
            <p:cNvCxnSpPr>
              <a:cxnSpLocks noChangeShapeType="1"/>
            </p:cNvCxnSpPr>
            <p:nvPr/>
          </p:nvCxnSpPr>
          <p:spPr bwMode="auto">
            <a:xfrm rot="5400000">
              <a:off x="4360419" y="4046950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139" name="组合 16"/>
            <p:cNvGrpSpPr/>
            <p:nvPr/>
          </p:nvGrpSpPr>
          <p:grpSpPr bwMode="auto">
            <a:xfrm>
              <a:off x="4183837" y="3469624"/>
              <a:ext cx="803451" cy="648788"/>
              <a:chOff x="1863914" y="2503340"/>
              <a:chExt cx="803540" cy="649298"/>
            </a:xfrm>
          </p:grpSpPr>
          <p:cxnSp>
            <p:nvCxnSpPr>
              <p:cNvPr id="188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27589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189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26801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190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TextBox 190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3</a:t>
                </a: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2" name="TextBox 19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193" name="TextBox 19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3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194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140" name="等腰三角形 36"/>
            <p:cNvSpPr>
              <a:spLocks noChangeArrowheads="1"/>
            </p:cNvSpPr>
            <p:nvPr/>
          </p:nvSpPr>
          <p:spPr bwMode="auto">
            <a:xfrm>
              <a:off x="4499052" y="3932024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1" name="TextBox 140"/>
            <p:cNvSpPr txBox="1">
              <a:spLocks noChangeArrowheads="1"/>
            </p:cNvSpPr>
            <p:nvPr/>
          </p:nvSpPr>
          <p:spPr bwMode="auto">
            <a:xfrm>
              <a:off x="4391391" y="3775107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44" name="Line 28"/>
            <p:cNvSpPr>
              <a:spLocks noChangeShapeType="1"/>
            </p:cNvSpPr>
            <p:nvPr/>
          </p:nvSpPr>
          <p:spPr bwMode="auto">
            <a:xfrm rot="16200000" flipV="1">
              <a:off x="4823072" y="3042949"/>
              <a:ext cx="0" cy="2613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Box 145"/>
            <p:cNvSpPr txBox="1">
              <a:spLocks noChangeArrowheads="1"/>
            </p:cNvSpPr>
            <p:nvPr/>
          </p:nvSpPr>
          <p:spPr bwMode="auto">
            <a:xfrm>
              <a:off x="3130491" y="3822719"/>
              <a:ext cx="357188" cy="2460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 smtClean="0">
                  <a:latin typeface="+mj-lt"/>
                  <a:ea typeface="黑体" panose="02010609060101010101" pitchFamily="49" charset="-122"/>
                </a:rPr>
                <a:t>4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47" name="TextBox 146"/>
            <p:cNvSpPr txBox="1">
              <a:spLocks noChangeArrowheads="1"/>
            </p:cNvSpPr>
            <p:nvPr/>
          </p:nvSpPr>
          <p:spPr bwMode="auto">
            <a:xfrm>
              <a:off x="4162791" y="3829055"/>
              <a:ext cx="355600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 smtClean="0">
                  <a:latin typeface="+mj-lt"/>
                  <a:ea typeface="黑体" panose="02010609060101010101" pitchFamily="49" charset="-122"/>
                </a:rPr>
                <a:t>3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148" name="椭圆 93"/>
            <p:cNvSpPr>
              <a:spLocks noChangeArrowheads="1"/>
            </p:cNvSpPr>
            <p:nvPr/>
          </p:nvSpPr>
          <p:spPr bwMode="auto">
            <a:xfrm>
              <a:off x="4519099" y="4038285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9" name="椭圆 93"/>
            <p:cNvSpPr>
              <a:spLocks noChangeArrowheads="1"/>
            </p:cNvSpPr>
            <p:nvPr/>
          </p:nvSpPr>
          <p:spPr bwMode="auto">
            <a:xfrm>
              <a:off x="3478243" y="4044096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6" name="Line 28"/>
            <p:cNvSpPr>
              <a:spLocks noChangeShapeType="1"/>
            </p:cNvSpPr>
            <p:nvPr/>
          </p:nvSpPr>
          <p:spPr bwMode="auto">
            <a:xfrm rot="16200000" flipV="1">
              <a:off x="4836898" y="3957877"/>
              <a:ext cx="0" cy="561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oval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8"/>
            <p:cNvSpPr>
              <a:spLocks noChangeShapeType="1"/>
            </p:cNvSpPr>
            <p:nvPr/>
          </p:nvSpPr>
          <p:spPr bwMode="auto">
            <a:xfrm rot="16200000" flipV="1">
              <a:off x="4643360" y="3595813"/>
              <a:ext cx="0" cy="13968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02" name="直接连接符 34"/>
            <p:cNvCxnSpPr>
              <a:cxnSpLocks noChangeShapeType="1"/>
            </p:cNvCxnSpPr>
            <p:nvPr/>
          </p:nvCxnSpPr>
          <p:spPr bwMode="auto">
            <a:xfrm rot="5400000">
              <a:off x="5373891" y="4150033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/>
              <a:tailEnd type="oval" w="sm" len="sm"/>
            </a:ln>
          </p:spPr>
        </p:cxnSp>
        <p:grpSp>
          <p:nvGrpSpPr>
            <p:cNvPr id="203" name="组合 16"/>
            <p:cNvGrpSpPr/>
            <p:nvPr/>
          </p:nvGrpSpPr>
          <p:grpSpPr bwMode="auto">
            <a:xfrm>
              <a:off x="5197309" y="3478485"/>
              <a:ext cx="803451" cy="820360"/>
              <a:chOff x="1863914" y="2512482"/>
              <a:chExt cx="803540" cy="821004"/>
            </a:xfrm>
          </p:grpSpPr>
          <p:cxnSp>
            <p:nvCxnSpPr>
              <p:cNvPr id="204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5" y="2835943"/>
                <a:ext cx="64851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205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93109" y="2925573"/>
                <a:ext cx="814239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06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" name="TextBox 206"/>
              <p:cNvSpPr txBox="1">
                <a:spLocks noChangeArrowheads="1"/>
              </p:cNvSpPr>
              <p:nvPr/>
            </p:nvSpPr>
            <p:spPr bwMode="auto">
              <a:xfrm>
                <a:off x="2310148" y="2861462"/>
                <a:ext cx="357306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2</a:t>
                </a: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8" name="TextBox 207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09" name="TextBox 208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 smtClean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 smtClean="0">
                    <a:latin typeface="+mj-lt"/>
                    <a:ea typeface="黑体" panose="02010609060101010101" pitchFamily="49" charset="-122"/>
                  </a:rPr>
                  <a:t>2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10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11" name="等腰三角形 36"/>
            <p:cNvSpPr>
              <a:spLocks noChangeArrowheads="1"/>
            </p:cNvSpPr>
            <p:nvPr/>
          </p:nvSpPr>
          <p:spPr bwMode="auto">
            <a:xfrm>
              <a:off x="5512524" y="3931744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2" name="TextBox 211"/>
            <p:cNvSpPr txBox="1">
              <a:spLocks noChangeArrowheads="1"/>
            </p:cNvSpPr>
            <p:nvPr/>
          </p:nvSpPr>
          <p:spPr bwMode="auto">
            <a:xfrm>
              <a:off x="5404863" y="3774827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13" name="TextBox 212"/>
            <p:cNvSpPr txBox="1">
              <a:spLocks noChangeArrowheads="1"/>
            </p:cNvSpPr>
            <p:nvPr/>
          </p:nvSpPr>
          <p:spPr bwMode="auto">
            <a:xfrm>
              <a:off x="5176263" y="3828775"/>
              <a:ext cx="355600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 smtClean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 smtClean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14" name="椭圆 93"/>
            <p:cNvSpPr>
              <a:spLocks noChangeArrowheads="1"/>
            </p:cNvSpPr>
            <p:nvPr/>
          </p:nvSpPr>
          <p:spPr bwMode="auto">
            <a:xfrm>
              <a:off x="5532571" y="4038005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" name="Line 28"/>
            <p:cNvSpPr>
              <a:spLocks noChangeShapeType="1"/>
            </p:cNvSpPr>
            <p:nvPr/>
          </p:nvSpPr>
          <p:spPr bwMode="auto">
            <a:xfrm rot="16200000" flipV="1">
              <a:off x="6228025" y="3376542"/>
              <a:ext cx="0" cy="216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6" name="直接连接符 34"/>
            <p:cNvCxnSpPr>
              <a:cxnSpLocks noChangeShapeType="1"/>
            </p:cNvCxnSpPr>
            <p:nvPr/>
          </p:nvCxnSpPr>
          <p:spPr bwMode="auto">
            <a:xfrm rot="5400000">
              <a:off x="6374023" y="4094376"/>
              <a:ext cx="395256" cy="1587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</a:ln>
          </p:spPr>
        </p:cxnSp>
        <p:grpSp>
          <p:nvGrpSpPr>
            <p:cNvPr id="217" name="组合 16"/>
            <p:cNvGrpSpPr/>
            <p:nvPr/>
          </p:nvGrpSpPr>
          <p:grpSpPr bwMode="auto">
            <a:xfrm>
              <a:off x="6197441" y="3477291"/>
              <a:ext cx="803451" cy="655490"/>
              <a:chOff x="1863914" y="2511296"/>
              <a:chExt cx="803540" cy="656007"/>
            </a:xfrm>
          </p:grpSpPr>
          <p:cxnSp>
            <p:nvCxnSpPr>
              <p:cNvPr id="218" name="直接连接符 17"/>
              <p:cNvCxnSpPr>
                <a:cxnSpLocks noChangeShapeType="1"/>
              </p:cNvCxnSpPr>
              <p:nvPr/>
            </p:nvCxnSpPr>
            <p:spPr bwMode="auto">
              <a:xfrm rot="5400000">
                <a:off x="2116134" y="2842254"/>
                <a:ext cx="648511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tailEnd type="none" w="sm" len="sm"/>
              </a:ln>
            </p:spPr>
          </p:cxnSp>
          <p:cxnSp>
            <p:nvCxnSpPr>
              <p:cNvPr id="219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675973" y="2834758"/>
                <a:ext cx="648511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20" name="矩形 19"/>
              <p:cNvSpPr>
                <a:spLocks noChangeArrowheads="1"/>
              </p:cNvSpPr>
              <p:nvPr/>
            </p:nvSpPr>
            <p:spPr bwMode="auto">
              <a:xfrm>
                <a:off x="1876406" y="2643187"/>
                <a:ext cx="720005" cy="432304"/>
              </a:xfrm>
              <a:prstGeom prst="rect">
                <a:avLst/>
              </a:prstGeom>
              <a:solidFill>
                <a:srgbClr val="FFFF00"/>
              </a:solidFill>
              <a:ln w="19050" algn="ctr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pPr algn="ctr" eaLnBrk="1" hangingPunct="1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1" name="TextBox 220"/>
              <p:cNvSpPr txBox="1">
                <a:spLocks noChangeArrowheads="1"/>
              </p:cNvSpPr>
              <p:nvPr/>
            </p:nvSpPr>
            <p:spPr bwMode="auto">
              <a:xfrm>
                <a:off x="2310148" y="2861461"/>
                <a:ext cx="357306" cy="2462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K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 </a:t>
                </a:r>
                <a:endParaRPr lang="zh-CN" altLang="en-US" sz="1000" b="1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2" name="TextBox 221"/>
              <p:cNvSpPr txBox="1">
                <a:spLocks noChangeArrowheads="1"/>
              </p:cNvSpPr>
              <p:nvPr/>
            </p:nvSpPr>
            <p:spPr bwMode="auto">
              <a:xfrm>
                <a:off x="1863914" y="2618409"/>
                <a:ext cx="357305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sp>
            <p:nvSpPr>
              <p:cNvPr id="223" name="TextBox 222"/>
              <p:cNvSpPr txBox="1">
                <a:spLocks noChangeArrowheads="1"/>
              </p:cNvSpPr>
              <p:nvPr/>
            </p:nvSpPr>
            <p:spPr bwMode="auto">
              <a:xfrm>
                <a:off x="2268860" y="2627942"/>
                <a:ext cx="357306" cy="24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1000" b="1" dirty="0">
                    <a:latin typeface="+mj-lt"/>
                    <a:ea typeface="黑体" panose="02010609060101010101" pitchFamily="49" charset="-122"/>
                  </a:rPr>
                  <a:t>Q</a:t>
                </a:r>
                <a:r>
                  <a:rPr lang="en-US" altLang="zh-CN" sz="1000" b="1" baseline="-25000" dirty="0">
                    <a:latin typeface="+mj-lt"/>
                    <a:ea typeface="黑体" panose="02010609060101010101" pitchFamily="49" charset="-122"/>
                  </a:rPr>
                  <a:t>1</a:t>
                </a:r>
                <a:endParaRPr lang="zh-CN" altLang="en-US" sz="1000" b="1" baseline="-25000" dirty="0">
                  <a:latin typeface="+mj-lt"/>
                  <a:ea typeface="黑体" panose="02010609060101010101" pitchFamily="49" charset="-122"/>
                </a:endParaRPr>
              </a:p>
            </p:txBody>
          </p:sp>
          <p:cxnSp>
            <p:nvCxnSpPr>
              <p:cNvPr id="224" name="直接连接符 25"/>
              <p:cNvCxnSpPr>
                <a:cxnSpLocks noChangeShapeType="1"/>
              </p:cNvCxnSpPr>
              <p:nvPr/>
            </p:nvCxnSpPr>
            <p:spPr bwMode="auto">
              <a:xfrm>
                <a:off x="2366639" y="2681298"/>
                <a:ext cx="93600" cy="1588"/>
              </a:xfrm>
              <a:prstGeom prst="line">
                <a:avLst/>
              </a:prstGeom>
              <a:noFill/>
              <a:ln w="19050" algn="ctr">
                <a:solidFill>
                  <a:schemeClr val="bg2"/>
                </a:solidFill>
                <a:round/>
              </a:ln>
            </p:spPr>
          </p:cxnSp>
        </p:grpSp>
        <p:sp>
          <p:nvSpPr>
            <p:cNvPr id="225" name="等腰三角形 36"/>
            <p:cNvSpPr>
              <a:spLocks noChangeArrowheads="1"/>
            </p:cNvSpPr>
            <p:nvPr/>
          </p:nvSpPr>
          <p:spPr bwMode="auto">
            <a:xfrm>
              <a:off x="6512656" y="3931744"/>
              <a:ext cx="107965" cy="1079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6" name="TextBox 225"/>
            <p:cNvSpPr txBox="1">
              <a:spLocks noChangeArrowheads="1"/>
            </p:cNvSpPr>
            <p:nvPr/>
          </p:nvSpPr>
          <p:spPr bwMode="auto">
            <a:xfrm>
              <a:off x="6404995" y="3774827"/>
              <a:ext cx="422275" cy="214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800" b="1" dirty="0">
                  <a:solidFill>
                    <a:schemeClr val="bg1"/>
                  </a:solidFill>
                  <a:latin typeface="+mj-lt"/>
                  <a:ea typeface="黑体" panose="02010609060101010101" pitchFamily="49" charset="-122"/>
                </a:rPr>
                <a:t>CK</a:t>
              </a:r>
              <a:endParaRPr lang="zh-CN" altLang="en-US" sz="800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27" name="TextBox 226"/>
            <p:cNvSpPr txBox="1">
              <a:spLocks noChangeArrowheads="1"/>
            </p:cNvSpPr>
            <p:nvPr/>
          </p:nvSpPr>
          <p:spPr bwMode="auto">
            <a:xfrm>
              <a:off x="6176395" y="3828775"/>
              <a:ext cx="355600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1000" b="1" dirty="0">
                  <a:latin typeface="+mj-lt"/>
                  <a:ea typeface="黑体" panose="02010609060101010101" pitchFamily="49" charset="-122"/>
                </a:rPr>
                <a:t>J</a:t>
              </a:r>
              <a:r>
                <a:rPr lang="en-US" altLang="zh-CN" sz="1000" b="1" baseline="-25000" dirty="0">
                  <a:latin typeface="+mj-lt"/>
                  <a:ea typeface="黑体" panose="02010609060101010101" pitchFamily="49" charset="-122"/>
                </a:rPr>
                <a:t>1</a:t>
              </a:r>
              <a:endParaRPr lang="zh-CN" altLang="en-US" sz="1000" b="1" baseline="-25000" dirty="0">
                <a:latin typeface="+mj-lt"/>
                <a:ea typeface="黑体" panose="02010609060101010101" pitchFamily="49" charset="-122"/>
              </a:endParaRPr>
            </a:p>
          </p:txBody>
        </p:sp>
        <p:sp>
          <p:nvSpPr>
            <p:cNvPr id="228" name="椭圆 93"/>
            <p:cNvSpPr>
              <a:spLocks noChangeArrowheads="1"/>
            </p:cNvSpPr>
            <p:nvPr/>
          </p:nvSpPr>
          <p:spPr bwMode="auto">
            <a:xfrm>
              <a:off x="6532703" y="4038005"/>
              <a:ext cx="71415" cy="71432"/>
            </a:xfrm>
            <a:prstGeom prst="ellipse">
              <a:avLst/>
            </a:prstGeom>
            <a:solidFill>
              <a:schemeClr val="tx1"/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30" name="直接连接符 18"/>
            <p:cNvCxnSpPr>
              <a:cxnSpLocks noChangeShapeType="1"/>
            </p:cNvCxnSpPr>
            <p:nvPr/>
          </p:nvCxnSpPr>
          <p:spPr bwMode="auto">
            <a:xfrm rot="5400000">
              <a:off x="4572615" y="4023749"/>
              <a:ext cx="1080000" cy="1588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 type="none" w="sm" len="sm"/>
            </a:ln>
          </p:spPr>
        </p:cxnSp>
        <p:sp>
          <p:nvSpPr>
            <p:cNvPr id="231" name="Line 28"/>
            <p:cNvSpPr>
              <a:spLocks noChangeShapeType="1"/>
            </p:cNvSpPr>
            <p:nvPr/>
          </p:nvSpPr>
          <p:spPr bwMode="auto">
            <a:xfrm rot="16200000" flipV="1">
              <a:off x="5227894" y="3376543"/>
              <a:ext cx="0" cy="2160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32" name="直接连接符 18"/>
            <p:cNvCxnSpPr>
              <a:cxnSpLocks noChangeShapeType="1"/>
            </p:cNvCxnSpPr>
            <p:nvPr/>
          </p:nvCxnSpPr>
          <p:spPr bwMode="auto">
            <a:xfrm rot="5400000">
              <a:off x="3529825" y="3881847"/>
              <a:ext cx="828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233" name="Line 28"/>
            <p:cNvSpPr>
              <a:spLocks noChangeShapeType="1"/>
            </p:cNvSpPr>
            <p:nvPr/>
          </p:nvSpPr>
          <p:spPr bwMode="auto">
            <a:xfrm rot="16200000" flipV="1">
              <a:off x="3838646" y="3360641"/>
              <a:ext cx="0" cy="216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34" name="直接连接符 18"/>
            <p:cNvCxnSpPr>
              <a:cxnSpLocks noChangeShapeType="1"/>
            </p:cNvCxnSpPr>
            <p:nvPr/>
          </p:nvCxnSpPr>
          <p:spPr bwMode="auto">
            <a:xfrm rot="5400000">
              <a:off x="3548799" y="3989847"/>
              <a:ext cx="1044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</a:ln>
          </p:spPr>
        </p:cxnSp>
        <p:sp>
          <p:nvSpPr>
            <p:cNvPr id="235" name="Line 28"/>
            <p:cNvSpPr>
              <a:spLocks noChangeShapeType="1"/>
            </p:cNvSpPr>
            <p:nvPr/>
          </p:nvSpPr>
          <p:spPr bwMode="auto">
            <a:xfrm rot="16200000" flipV="1">
              <a:off x="4196248" y="3342641"/>
              <a:ext cx="0" cy="2520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8"/>
            <p:cNvSpPr>
              <a:spLocks noChangeShapeType="1"/>
            </p:cNvSpPr>
            <p:nvPr/>
          </p:nvSpPr>
          <p:spPr bwMode="auto">
            <a:xfrm rot="16200000" flipV="1">
              <a:off x="3704501" y="4137727"/>
              <a:ext cx="0" cy="7416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8"/>
            <p:cNvSpPr>
              <a:spLocks noChangeShapeType="1"/>
            </p:cNvSpPr>
            <p:nvPr/>
          </p:nvSpPr>
          <p:spPr bwMode="auto">
            <a:xfrm rot="16200000" flipV="1">
              <a:off x="4173780" y="3628814"/>
              <a:ext cx="0" cy="18864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38" name="直接连接符 18"/>
            <p:cNvCxnSpPr>
              <a:cxnSpLocks noChangeShapeType="1"/>
            </p:cNvCxnSpPr>
            <p:nvPr/>
          </p:nvCxnSpPr>
          <p:spPr bwMode="auto">
            <a:xfrm rot="5400000">
              <a:off x="3113204" y="4442090"/>
              <a:ext cx="252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39" name="直接连接符 18"/>
            <p:cNvCxnSpPr>
              <a:cxnSpLocks noChangeShapeType="1"/>
            </p:cNvCxnSpPr>
            <p:nvPr/>
          </p:nvCxnSpPr>
          <p:spPr bwMode="auto">
            <a:xfrm rot="5400000">
              <a:off x="3209947" y="4387615"/>
              <a:ext cx="252000" cy="1588"/>
            </a:xfrm>
            <a:prstGeom prst="line">
              <a:avLst/>
            </a:prstGeom>
            <a:noFill/>
            <a:ln w="19050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105" name="流程图: 延期 95"/>
            <p:cNvSpPr>
              <a:spLocks noChangeArrowheads="1"/>
            </p:cNvSpPr>
            <p:nvPr/>
          </p:nvSpPr>
          <p:spPr bwMode="auto">
            <a:xfrm rot="16200000">
              <a:off x="3164237" y="4186167"/>
              <a:ext cx="234000" cy="216000"/>
            </a:xfrm>
            <a:prstGeom prst="flowChartDe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0" name="Text Box 64"/>
            <p:cNvSpPr txBox="1">
              <a:spLocks noChangeArrowheads="1"/>
            </p:cNvSpPr>
            <p:nvPr/>
          </p:nvSpPr>
          <p:spPr bwMode="auto">
            <a:xfrm>
              <a:off x="3105021" y="3192348"/>
              <a:ext cx="395287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 smtClean="0">
                  <a:latin typeface="+mj-lt"/>
                </a:rPr>
                <a:t>Y</a:t>
              </a:r>
              <a:r>
                <a:rPr kumimoji="0" lang="en-US" altLang="zh-CN" sz="1400" b="1" baseline="-25000" dirty="0" smtClean="0">
                  <a:latin typeface="+mj-lt"/>
                </a:rPr>
                <a:t>4</a:t>
              </a:r>
              <a:endParaRPr kumimoji="0" lang="en-US" altLang="zh-CN" sz="1400" b="1" baseline="-25000" dirty="0">
                <a:latin typeface="+mj-lt"/>
              </a:endParaRPr>
            </a:p>
          </p:txBody>
        </p:sp>
        <p:sp>
          <p:nvSpPr>
            <p:cNvPr id="241" name="Text Box 65"/>
            <p:cNvSpPr txBox="1">
              <a:spLocks noChangeArrowheads="1"/>
            </p:cNvSpPr>
            <p:nvPr/>
          </p:nvSpPr>
          <p:spPr bwMode="auto">
            <a:xfrm>
              <a:off x="4143372" y="3192348"/>
              <a:ext cx="381000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 smtClean="0">
                  <a:latin typeface="+mj-lt"/>
                </a:rPr>
                <a:t>Y</a:t>
              </a:r>
              <a:r>
                <a:rPr kumimoji="0" lang="en-US" altLang="zh-CN" sz="1400" b="1" baseline="-25000" dirty="0" smtClean="0">
                  <a:latin typeface="+mj-lt"/>
                </a:rPr>
                <a:t>3</a:t>
              </a:r>
              <a:endParaRPr kumimoji="0" lang="en-US" altLang="zh-CN" sz="1400" b="1" baseline="-25000" dirty="0">
                <a:latin typeface="+mj-lt"/>
              </a:endParaRPr>
            </a:p>
          </p:txBody>
        </p:sp>
        <p:sp>
          <p:nvSpPr>
            <p:cNvPr id="242" name="Text Box 66"/>
            <p:cNvSpPr txBox="1">
              <a:spLocks noChangeArrowheads="1"/>
            </p:cNvSpPr>
            <p:nvPr/>
          </p:nvSpPr>
          <p:spPr bwMode="auto">
            <a:xfrm>
              <a:off x="5143504" y="3192348"/>
              <a:ext cx="401638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 smtClean="0">
                  <a:latin typeface="+mj-lt"/>
                </a:rPr>
                <a:t>Y</a:t>
              </a:r>
              <a:r>
                <a:rPr kumimoji="0" lang="en-US" altLang="zh-CN" sz="1400" b="1" baseline="-25000" dirty="0" smtClean="0">
                  <a:latin typeface="+mj-lt"/>
                </a:rPr>
                <a:t>2</a:t>
              </a:r>
              <a:endParaRPr kumimoji="0" lang="en-US" altLang="zh-CN" sz="1400" b="1" baseline="-25000" dirty="0">
                <a:latin typeface="+mj-lt"/>
              </a:endParaRPr>
            </a:p>
          </p:txBody>
        </p:sp>
        <p:sp>
          <p:nvSpPr>
            <p:cNvPr id="243" name="Text Box 64"/>
            <p:cNvSpPr txBox="1">
              <a:spLocks noChangeArrowheads="1"/>
            </p:cNvSpPr>
            <p:nvPr/>
          </p:nvSpPr>
          <p:spPr bwMode="auto">
            <a:xfrm>
              <a:off x="6135685" y="3208371"/>
              <a:ext cx="395288" cy="307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400" b="1" dirty="0" smtClean="0">
                  <a:latin typeface="+mj-lt"/>
                </a:rPr>
                <a:t>Y</a:t>
              </a:r>
              <a:r>
                <a:rPr kumimoji="0" lang="en-US" altLang="zh-CN" sz="1400" b="1" baseline="-25000" dirty="0" smtClean="0">
                  <a:latin typeface="+mj-lt"/>
                </a:rPr>
                <a:t>1</a:t>
              </a:r>
              <a:endParaRPr kumimoji="0" lang="en-US" altLang="zh-CN" sz="1400" b="1" baseline="-25000" dirty="0">
                <a:latin typeface="+mj-lt"/>
              </a:endParaRPr>
            </a:p>
          </p:txBody>
        </p:sp>
      </p:grpSp>
      <p:grpSp>
        <p:nvGrpSpPr>
          <p:cNvPr id="253" name="组合 252"/>
          <p:cNvGrpSpPr/>
          <p:nvPr/>
        </p:nvGrpSpPr>
        <p:grpSpPr>
          <a:xfrm>
            <a:off x="1166916" y="2854032"/>
            <a:ext cx="1785938" cy="1575106"/>
            <a:chOff x="1928795" y="2414598"/>
            <a:chExt cx="1785938" cy="1575106"/>
          </a:xfrm>
        </p:grpSpPr>
        <p:sp>
          <p:nvSpPr>
            <p:cNvPr id="245" name="Text Box 58"/>
            <p:cNvSpPr txBox="1">
              <a:spLocks noChangeArrowheads="1"/>
            </p:cNvSpPr>
            <p:nvPr/>
          </p:nvSpPr>
          <p:spPr bwMode="auto">
            <a:xfrm>
              <a:off x="2079500" y="3032061"/>
              <a:ext cx="1143008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600" b="1" dirty="0" smtClean="0">
                  <a:latin typeface="+mj-lt"/>
                </a:rPr>
                <a:t>J</a:t>
              </a:r>
              <a:r>
                <a:rPr kumimoji="0" lang="en-US" altLang="zh-CN" sz="1600" b="1" baseline="-25000" dirty="0" smtClean="0">
                  <a:latin typeface="+mj-lt"/>
                </a:rPr>
                <a:t>3 </a:t>
              </a:r>
              <a:r>
                <a:rPr kumimoji="0" lang="en-US" altLang="zh-CN" sz="1600" b="1" dirty="0" smtClean="0">
                  <a:latin typeface="+mj-lt"/>
                </a:rPr>
                <a:t>=</a:t>
              </a:r>
              <a:r>
                <a:rPr kumimoji="0" lang="zh-CN" altLang="en-US" sz="1600" b="1" dirty="0" smtClean="0">
                  <a:latin typeface="+mj-lt"/>
                </a:rPr>
                <a:t> </a:t>
              </a:r>
              <a:r>
                <a:rPr kumimoji="0" lang="en-US" altLang="zh-CN" sz="1600" b="1" dirty="0">
                  <a:latin typeface="+mj-lt"/>
                </a:rPr>
                <a:t>K</a:t>
              </a:r>
              <a:r>
                <a:rPr kumimoji="0" lang="en-US" altLang="zh-CN" sz="1600" b="1" baseline="-25000" dirty="0">
                  <a:latin typeface="+mj-lt"/>
                </a:rPr>
                <a:t>3 </a:t>
              </a:r>
              <a:r>
                <a:rPr kumimoji="0" lang="en-US" altLang="zh-CN" sz="1600" b="1" dirty="0" smtClean="0">
                  <a:latin typeface="+mj-lt"/>
                </a:rPr>
                <a:t>=</a:t>
              </a:r>
              <a:r>
                <a:rPr kumimoji="0" lang="zh-CN" altLang="en-US" sz="1600" b="1" dirty="0" smtClean="0">
                  <a:latin typeface="+mj-lt"/>
                </a:rPr>
                <a:t> </a:t>
              </a:r>
              <a:r>
                <a:rPr kumimoji="0" lang="en-US" altLang="zh-CN" sz="1600" b="1" dirty="0">
                  <a:latin typeface="+mj-lt"/>
                </a:rPr>
                <a:t>1</a:t>
              </a:r>
              <a:endParaRPr kumimoji="0" lang="en-US" altLang="zh-CN" sz="1600" b="1" baseline="-25000" dirty="0">
                <a:latin typeface="+mj-lt"/>
              </a:endParaRPr>
            </a:p>
          </p:txBody>
        </p:sp>
        <p:grpSp>
          <p:nvGrpSpPr>
            <p:cNvPr id="246" name="Group 59"/>
            <p:cNvGrpSpPr/>
            <p:nvPr/>
          </p:nvGrpSpPr>
          <p:grpSpPr bwMode="auto">
            <a:xfrm>
              <a:off x="2071670" y="3357568"/>
              <a:ext cx="1643063" cy="338138"/>
              <a:chOff x="144" y="2073"/>
              <a:chExt cx="1035" cy="213"/>
            </a:xfrm>
          </p:grpSpPr>
          <p:sp>
            <p:nvSpPr>
              <p:cNvPr id="247" name="Text Box 60"/>
              <p:cNvSpPr txBox="1">
                <a:spLocks noChangeArrowheads="1"/>
              </p:cNvSpPr>
              <p:nvPr/>
            </p:nvSpPr>
            <p:spPr bwMode="auto">
              <a:xfrm>
                <a:off x="144" y="2073"/>
                <a:ext cx="1035" cy="21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0" lang="en-US" altLang="zh-CN" sz="1600" b="1" dirty="0">
                    <a:latin typeface="+mj-lt"/>
                  </a:rPr>
                  <a:t>J</a:t>
                </a:r>
                <a:r>
                  <a:rPr kumimoji="0" lang="en-US" altLang="zh-CN" sz="1600" b="1" baseline="-25000" dirty="0">
                    <a:latin typeface="+mj-lt"/>
                  </a:rPr>
                  <a:t>2 </a:t>
                </a:r>
                <a:r>
                  <a:rPr kumimoji="0" lang="en-US" altLang="zh-CN" sz="1600" b="1" baseline="-25000" dirty="0" smtClean="0">
                    <a:latin typeface="+mj-lt"/>
                  </a:rPr>
                  <a:t> </a:t>
                </a:r>
                <a:r>
                  <a:rPr kumimoji="0" lang="en-US" altLang="zh-CN" sz="1600" b="1" dirty="0" smtClean="0">
                    <a:latin typeface="+mj-lt"/>
                  </a:rPr>
                  <a:t>=</a:t>
                </a:r>
                <a:r>
                  <a:rPr kumimoji="0" lang="zh-CN" altLang="en-US" sz="1600" b="1" dirty="0" smtClean="0">
                    <a:latin typeface="+mj-lt"/>
                  </a:rPr>
                  <a:t> </a:t>
                </a:r>
                <a:r>
                  <a:rPr kumimoji="0" lang="en-US" altLang="zh-CN" sz="1600" b="1" dirty="0" smtClean="0">
                    <a:latin typeface="+mj-lt"/>
                  </a:rPr>
                  <a:t>Y</a:t>
                </a:r>
                <a:r>
                  <a:rPr kumimoji="0" lang="en-US" altLang="zh-CN" sz="1600" b="1" baseline="-25000" dirty="0" smtClean="0">
                    <a:latin typeface="+mj-lt"/>
                  </a:rPr>
                  <a:t>4</a:t>
                </a:r>
                <a:r>
                  <a:rPr kumimoji="0" lang="en-US" altLang="zh-CN" sz="1600" b="1" baseline="30000" dirty="0" smtClean="0">
                    <a:latin typeface="+mj-lt"/>
                  </a:rPr>
                  <a:t>n </a:t>
                </a:r>
                <a:r>
                  <a:rPr kumimoji="0" lang="en-US" altLang="zh-CN" sz="1600" b="1" dirty="0" smtClean="0">
                    <a:latin typeface="+mj-lt"/>
                  </a:rPr>
                  <a:t>, K</a:t>
                </a:r>
                <a:r>
                  <a:rPr kumimoji="0" lang="en-US" altLang="zh-CN" sz="1600" b="1" baseline="-25000" dirty="0" smtClean="0">
                    <a:latin typeface="+mj-lt"/>
                  </a:rPr>
                  <a:t>2 </a:t>
                </a:r>
                <a:r>
                  <a:rPr kumimoji="0" lang="en-US" altLang="zh-CN" sz="1600" b="1" dirty="0" smtClean="0">
                    <a:latin typeface="+mj-lt"/>
                  </a:rPr>
                  <a:t>=</a:t>
                </a:r>
                <a:r>
                  <a:rPr kumimoji="0" lang="zh-CN" altLang="en-US" sz="1600" b="1" dirty="0" smtClean="0">
                    <a:latin typeface="+mj-lt"/>
                  </a:rPr>
                  <a:t> </a:t>
                </a:r>
                <a:r>
                  <a:rPr kumimoji="0" lang="en-US" altLang="zh-CN" sz="1600" b="1" dirty="0">
                    <a:latin typeface="+mj-lt"/>
                  </a:rPr>
                  <a:t>1</a:t>
                </a:r>
                <a:endParaRPr kumimoji="0" lang="en-US" altLang="zh-CN" sz="1600" b="1" dirty="0">
                  <a:latin typeface="+mj-lt"/>
                </a:endParaRPr>
              </a:p>
            </p:txBody>
          </p:sp>
          <p:sp>
            <p:nvSpPr>
              <p:cNvPr id="248" name="Line 61"/>
              <p:cNvSpPr>
                <a:spLocks noChangeShapeType="1"/>
              </p:cNvSpPr>
              <p:nvPr/>
            </p:nvSpPr>
            <p:spPr bwMode="auto">
              <a:xfrm>
                <a:off x="454" y="21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/>
              <a:lstStyle/>
              <a:p>
                <a:pPr>
                  <a:defRPr/>
                </a:pPr>
                <a:endParaRPr lang="zh-CN" altLang="en-US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endParaRPr>
              </a:p>
            </p:txBody>
          </p:sp>
        </p:grpSp>
        <p:sp>
          <p:nvSpPr>
            <p:cNvPr id="249" name="Text Box 62"/>
            <p:cNvSpPr txBox="1">
              <a:spLocks noChangeArrowheads="1"/>
            </p:cNvSpPr>
            <p:nvPr/>
          </p:nvSpPr>
          <p:spPr bwMode="auto">
            <a:xfrm>
              <a:off x="2079500" y="3651150"/>
              <a:ext cx="1219240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latin typeface="+mj-lt"/>
                </a:rPr>
                <a:t>J</a:t>
              </a:r>
              <a:r>
                <a:rPr kumimoji="0" lang="en-US" altLang="zh-CN" sz="1600" b="1" baseline="-25000" dirty="0" smtClean="0">
                  <a:latin typeface="+mj-lt"/>
                </a:rPr>
                <a:t>1</a:t>
              </a:r>
              <a:r>
                <a:rPr kumimoji="0" lang="zh-CN" altLang="en-US" sz="1600" b="1" dirty="0">
                  <a:latin typeface="+mj-lt"/>
                </a:rPr>
                <a:t> </a:t>
              </a:r>
              <a:r>
                <a:rPr kumimoji="0" lang="en-US" altLang="zh-CN" sz="1600" b="1" dirty="0" smtClean="0">
                  <a:latin typeface="+mj-lt"/>
                </a:rPr>
                <a:t>=</a:t>
              </a:r>
              <a:r>
                <a:rPr kumimoji="0" lang="zh-CN" altLang="en-US" sz="1600" b="1" dirty="0" smtClean="0">
                  <a:latin typeface="+mj-lt"/>
                </a:rPr>
                <a:t> </a:t>
              </a:r>
              <a:r>
                <a:rPr kumimoji="0" lang="en-US" altLang="zh-CN" sz="1600" b="1" dirty="0" smtClean="0">
                  <a:latin typeface="+mj-lt"/>
                </a:rPr>
                <a:t>K</a:t>
              </a:r>
              <a:r>
                <a:rPr kumimoji="0" lang="en-US" altLang="zh-CN" sz="1600" b="1" baseline="-25000" dirty="0" smtClean="0">
                  <a:latin typeface="+mj-lt"/>
                </a:rPr>
                <a:t>1</a:t>
              </a:r>
              <a:r>
                <a:rPr kumimoji="0" lang="zh-CN" altLang="en-US" sz="1600" b="1" dirty="0">
                  <a:latin typeface="+mj-lt"/>
                </a:rPr>
                <a:t> </a:t>
              </a:r>
              <a:r>
                <a:rPr kumimoji="0" lang="en-US" altLang="zh-CN" sz="1600" b="1" dirty="0" smtClean="0">
                  <a:latin typeface="+mj-lt"/>
                </a:rPr>
                <a:t>=</a:t>
              </a:r>
              <a:r>
                <a:rPr kumimoji="0" lang="zh-CN" altLang="en-US" sz="1600" b="1" dirty="0" smtClean="0">
                  <a:latin typeface="+mj-lt"/>
                </a:rPr>
                <a:t> </a:t>
              </a:r>
              <a:r>
                <a:rPr kumimoji="0" lang="en-US" altLang="zh-CN" sz="1600" b="1" dirty="0">
                  <a:latin typeface="+mj-lt"/>
                </a:rPr>
                <a:t>1</a:t>
              </a:r>
              <a:endParaRPr kumimoji="0" lang="en-US" altLang="zh-CN" sz="1600" b="1" baseline="-25000" dirty="0">
                <a:latin typeface="+mj-lt"/>
              </a:endParaRPr>
            </a:p>
          </p:txBody>
        </p:sp>
        <p:grpSp>
          <p:nvGrpSpPr>
            <p:cNvPr id="250" name="Group 63"/>
            <p:cNvGrpSpPr/>
            <p:nvPr/>
          </p:nvGrpSpPr>
          <p:grpSpPr bwMode="auto">
            <a:xfrm>
              <a:off x="1928795" y="2414598"/>
              <a:ext cx="1357313" cy="1501770"/>
              <a:chOff x="54" y="757"/>
              <a:chExt cx="855" cy="946"/>
            </a:xfrm>
          </p:grpSpPr>
          <p:sp>
            <p:nvSpPr>
              <p:cNvPr id="251" name="Text Box 64"/>
              <p:cNvSpPr txBox="1">
                <a:spLocks noChangeArrowheads="1"/>
              </p:cNvSpPr>
              <p:nvPr/>
            </p:nvSpPr>
            <p:spPr bwMode="auto">
              <a:xfrm>
                <a:off x="144" y="757"/>
                <a:ext cx="765" cy="4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ts val="600"/>
                  </a:spcBef>
                </a:pPr>
                <a:r>
                  <a:rPr kumimoji="0" lang="en-US" altLang="zh-CN" sz="1600" b="1" dirty="0">
                    <a:latin typeface="+mj-lt"/>
                  </a:rPr>
                  <a:t>J</a:t>
                </a:r>
                <a:r>
                  <a:rPr kumimoji="0" lang="en-US" altLang="zh-CN" sz="1600" b="1" baseline="-25000" dirty="0">
                    <a:latin typeface="+mj-lt"/>
                  </a:rPr>
                  <a:t>4 </a:t>
                </a:r>
                <a:r>
                  <a:rPr kumimoji="0" lang="en-US" altLang="zh-CN" sz="1600" b="1" dirty="0" smtClean="0">
                    <a:latin typeface="+mj-lt"/>
                  </a:rPr>
                  <a:t>=</a:t>
                </a:r>
                <a:r>
                  <a:rPr kumimoji="0" lang="zh-CN" altLang="en-US" sz="1600" b="1" dirty="0" smtClean="0">
                    <a:latin typeface="+mj-lt"/>
                  </a:rPr>
                  <a:t> </a:t>
                </a:r>
                <a:r>
                  <a:rPr kumimoji="0" lang="en-US" altLang="zh-CN" sz="1600" b="1" dirty="0" smtClean="0">
                    <a:latin typeface="+mj-lt"/>
                  </a:rPr>
                  <a:t>Y</a:t>
                </a:r>
                <a:r>
                  <a:rPr kumimoji="0" lang="en-US" altLang="zh-CN" sz="1600" b="1" baseline="-25000" dirty="0" smtClean="0">
                    <a:latin typeface="+mj-lt"/>
                  </a:rPr>
                  <a:t>3</a:t>
                </a:r>
                <a:r>
                  <a:rPr kumimoji="0" lang="en-US" altLang="zh-CN" sz="1600" b="1" baseline="30000" dirty="0" smtClean="0">
                    <a:latin typeface="+mj-lt"/>
                  </a:rPr>
                  <a:t>n</a:t>
                </a:r>
                <a:r>
                  <a:rPr kumimoji="0" lang="en-US" altLang="zh-CN" sz="1600" b="1" baseline="-25000" dirty="0" smtClean="0">
                    <a:latin typeface="+mj-lt"/>
                  </a:rPr>
                  <a:t> </a:t>
                </a:r>
                <a:r>
                  <a:rPr kumimoji="0" lang="en-US" altLang="zh-CN" sz="1600" b="1" dirty="0" smtClean="0">
                    <a:latin typeface="+mj-lt"/>
                  </a:rPr>
                  <a:t>Y</a:t>
                </a:r>
                <a:r>
                  <a:rPr kumimoji="0" lang="en-US" altLang="zh-CN" sz="1600" b="1" baseline="-25000" dirty="0" smtClean="0">
                    <a:latin typeface="+mj-lt"/>
                  </a:rPr>
                  <a:t>2</a:t>
                </a:r>
                <a:r>
                  <a:rPr kumimoji="0" lang="en-US" altLang="zh-CN" sz="1600" b="1" baseline="30000" dirty="0">
                    <a:latin typeface="+mj-lt"/>
                  </a:rPr>
                  <a:t>n</a:t>
                </a:r>
                <a:endParaRPr kumimoji="0" lang="en-US" altLang="zh-CN" sz="1600" b="1" baseline="30000" dirty="0">
                  <a:latin typeface="+mj-lt"/>
                </a:endParaRPr>
              </a:p>
              <a:p>
                <a:pPr eaLnBrk="1" hangingPunct="1">
                  <a:spcBef>
                    <a:spcPts val="600"/>
                  </a:spcBef>
                </a:pPr>
                <a:r>
                  <a:rPr kumimoji="0" lang="en-US" altLang="zh-CN" sz="1600" b="1" dirty="0" smtClean="0">
                    <a:latin typeface="+mj-lt"/>
                  </a:rPr>
                  <a:t>K</a:t>
                </a:r>
                <a:r>
                  <a:rPr kumimoji="0" lang="en-US" altLang="zh-CN" sz="1600" b="1" baseline="-25000" dirty="0" smtClean="0">
                    <a:latin typeface="+mj-lt"/>
                  </a:rPr>
                  <a:t>4 </a:t>
                </a:r>
                <a:r>
                  <a:rPr kumimoji="0" lang="en-US" altLang="zh-CN" sz="1600" b="1" dirty="0" smtClean="0">
                    <a:latin typeface="+mj-lt"/>
                  </a:rPr>
                  <a:t>=</a:t>
                </a:r>
                <a:r>
                  <a:rPr kumimoji="0" lang="zh-CN" altLang="en-US" sz="1600" b="1" dirty="0" smtClean="0">
                    <a:latin typeface="+mj-lt"/>
                  </a:rPr>
                  <a:t> </a:t>
                </a:r>
                <a:r>
                  <a:rPr kumimoji="0" lang="en-US" altLang="zh-CN" sz="1600" b="1" dirty="0">
                    <a:latin typeface="+mj-lt"/>
                  </a:rPr>
                  <a:t>1</a:t>
                </a:r>
                <a:endParaRPr kumimoji="0" lang="en-US" altLang="zh-CN" sz="1600" b="1" dirty="0">
                  <a:latin typeface="+mj-lt"/>
                </a:endParaRPr>
              </a:p>
            </p:txBody>
          </p:sp>
          <p:sp>
            <p:nvSpPr>
              <p:cNvPr id="252" name="AutoShape 65"/>
              <p:cNvSpPr/>
              <p:nvPr/>
            </p:nvSpPr>
            <p:spPr bwMode="auto">
              <a:xfrm>
                <a:off x="54" y="864"/>
                <a:ext cx="91" cy="839"/>
              </a:xfrm>
              <a:prstGeom prst="leftBrace">
                <a:avLst>
                  <a:gd name="adj1" fmla="val 30556"/>
                  <a:gd name="adj2" fmla="val 50000"/>
                </a:avLst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altLang="zh-CN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endParaRPr>
              </a:p>
            </p:txBody>
          </p:sp>
        </p:grpSp>
      </p:grpSp>
      <p:sp>
        <p:nvSpPr>
          <p:cNvPr id="284" name="Text Box 81"/>
          <p:cNvSpPr txBox="1">
            <a:spLocks noChangeArrowheads="1"/>
          </p:cNvSpPr>
          <p:nvPr/>
        </p:nvSpPr>
        <p:spPr bwMode="auto">
          <a:xfrm>
            <a:off x="928662" y="2500312"/>
            <a:ext cx="1728787" cy="39878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88900" indent="-88900"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输入方程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5" name="Text Box 83"/>
          <p:cNvSpPr txBox="1">
            <a:spLocks noChangeArrowheads="1"/>
          </p:cNvSpPr>
          <p:nvPr/>
        </p:nvSpPr>
        <p:spPr bwMode="auto">
          <a:xfrm>
            <a:off x="3865030" y="2500312"/>
            <a:ext cx="1728788" cy="39878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  <a:endParaRPr lang="zh-CN" altLang="en-US" sz="2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3958821" y="2857502"/>
            <a:ext cx="4573619" cy="1502454"/>
            <a:chOff x="2855901" y="2857502"/>
            <a:chExt cx="4573619" cy="1502454"/>
          </a:xfrm>
        </p:grpSpPr>
        <p:sp>
          <p:nvSpPr>
            <p:cNvPr id="255" name="Text Box 67"/>
            <p:cNvSpPr txBox="1">
              <a:spLocks noChangeArrowheads="1"/>
            </p:cNvSpPr>
            <p:nvPr/>
          </p:nvSpPr>
          <p:spPr bwMode="auto">
            <a:xfrm>
              <a:off x="6143636" y="2857502"/>
              <a:ext cx="1285884" cy="14465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latin typeface="Arial" panose="020B0604020202020204" pitchFamily="34" charset="0"/>
                </a:rPr>
                <a:t>CP</a:t>
              </a:r>
              <a:r>
                <a:rPr kumimoji="0" lang="en-US" altLang="zh-CN" sz="1600" b="1" baseline="-25000" dirty="0">
                  <a:latin typeface="Arial" panose="020B0604020202020204" pitchFamily="34" charset="0"/>
                </a:rPr>
                <a:t>4 </a:t>
              </a:r>
              <a:r>
                <a:rPr kumimoji="0" lang="en-US" altLang="zh-CN" sz="1600" b="1" dirty="0">
                  <a:latin typeface="Arial" panose="020B0604020202020204" pitchFamily="34" charset="0"/>
                </a:rPr>
                <a:t>=</a:t>
              </a:r>
              <a:r>
                <a:rPr kumimoji="0" lang="en-US" altLang="zh-CN" sz="1600" b="1" dirty="0" smtClean="0">
                  <a:latin typeface="Arial" panose="020B0604020202020204" pitchFamily="34" charset="0"/>
                </a:rPr>
                <a:t>Y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1</a:t>
              </a:r>
              <a:r>
                <a:rPr kumimoji="0" lang="en-US" altLang="zh-CN" sz="1600" b="1" dirty="0" smtClean="0">
                  <a:solidFill>
                    <a:srgbClr val="0000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↓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 </a:t>
              </a:r>
              <a:endParaRPr kumimoji="0" lang="en-US" altLang="zh-CN" sz="1600" b="1" baseline="-250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latin typeface="Arial" panose="020B0604020202020204" pitchFamily="34" charset="0"/>
                </a:rPr>
                <a:t>CP</a:t>
              </a:r>
              <a:r>
                <a:rPr kumimoji="0" lang="en-US" altLang="zh-CN" sz="1600" b="1" baseline="-25000" dirty="0">
                  <a:latin typeface="Arial" panose="020B0604020202020204" pitchFamily="34" charset="0"/>
                </a:rPr>
                <a:t>3 </a:t>
              </a:r>
              <a:r>
                <a:rPr kumimoji="0" lang="en-US" altLang="zh-CN" sz="1600" b="1" dirty="0">
                  <a:latin typeface="Arial" panose="020B0604020202020204" pitchFamily="34" charset="0"/>
                </a:rPr>
                <a:t>=</a:t>
              </a:r>
              <a:r>
                <a:rPr kumimoji="0" lang="zh-CN" altLang="en-US" sz="1600" b="1" dirty="0">
                  <a:latin typeface="Arial" panose="020B0604020202020204" pitchFamily="34" charset="0"/>
                </a:rPr>
                <a:t> </a:t>
              </a:r>
              <a:r>
                <a:rPr kumimoji="0" lang="en-US" altLang="zh-CN" sz="1600" b="1" dirty="0" smtClean="0">
                  <a:latin typeface="Arial" panose="020B0604020202020204" pitchFamily="34" charset="0"/>
                </a:rPr>
                <a:t>Y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2</a:t>
              </a:r>
              <a:r>
                <a:rPr kumimoji="0" lang="en-US" altLang="zh-CN" sz="1600" b="1" dirty="0" smtClean="0">
                  <a:solidFill>
                    <a:srgbClr val="0000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↓</a:t>
              </a:r>
              <a:r>
                <a:rPr kumimoji="0" lang="en-US" altLang="zh-CN" sz="1600" b="1" dirty="0" smtClean="0">
                  <a:latin typeface="Arial" panose="020B0604020202020204" pitchFamily="34" charset="0"/>
                </a:rPr>
                <a:t> 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>
                  <a:latin typeface="Arial" panose="020B0604020202020204" pitchFamily="34" charset="0"/>
                </a:rPr>
                <a:t>CP</a:t>
              </a:r>
              <a:r>
                <a:rPr kumimoji="0" lang="en-US" altLang="zh-CN" sz="1600" b="1" baseline="-25000" dirty="0">
                  <a:latin typeface="Arial" panose="020B0604020202020204" pitchFamily="34" charset="0"/>
                </a:rPr>
                <a:t>2</a:t>
              </a:r>
              <a:r>
                <a:rPr kumimoji="0" lang="en-US" altLang="zh-CN" sz="1600" b="1" dirty="0">
                  <a:latin typeface="Arial" panose="020B0604020202020204" pitchFamily="34" charset="0"/>
                </a:rPr>
                <a:t> =</a:t>
              </a:r>
              <a:r>
                <a:rPr kumimoji="0" lang="en-US" altLang="zh-CN" sz="1600" b="1" dirty="0" smtClean="0">
                  <a:latin typeface="Arial" panose="020B0604020202020204" pitchFamily="34" charset="0"/>
                </a:rPr>
                <a:t>Y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1</a:t>
              </a:r>
              <a:r>
                <a:rPr kumimoji="0" lang="en-US" altLang="zh-CN" sz="1600" b="1" dirty="0" smtClean="0">
                  <a:solidFill>
                    <a:srgbClr val="0000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↓</a:t>
              </a:r>
              <a:endParaRPr kumimoji="0" lang="en-US" altLang="zh-CN" sz="1600" b="1" baseline="-25000" dirty="0">
                <a:solidFill>
                  <a:srgbClr val="0000CC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kumimoji="0" lang="en-US" altLang="zh-CN" sz="1600" b="1" dirty="0" smtClean="0">
                  <a:latin typeface="Arial" panose="020B0604020202020204" pitchFamily="34" charset="0"/>
                </a:rPr>
                <a:t>CP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1</a:t>
              </a:r>
              <a:r>
                <a:rPr kumimoji="0" lang="en-US" altLang="zh-CN" sz="1600" b="1" dirty="0" smtClean="0">
                  <a:solidFill>
                    <a:srgbClr val="0000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↓</a:t>
              </a:r>
              <a:r>
                <a:rPr kumimoji="0" lang="en-US" altLang="zh-CN" sz="1600" b="1" baseline="-25000" dirty="0" smtClean="0">
                  <a:latin typeface="Arial" panose="020B0604020202020204" pitchFamily="34" charset="0"/>
                </a:rPr>
                <a:t> </a:t>
              </a:r>
              <a:r>
                <a:rPr kumimoji="0" lang="en-US" altLang="zh-CN" sz="1600" b="1" dirty="0" smtClean="0">
                  <a:latin typeface="Arial" panose="020B0604020202020204" pitchFamily="34" charset="0"/>
                </a:rPr>
                <a:t>   </a:t>
              </a:r>
              <a:endParaRPr kumimoji="0" lang="en-US" altLang="zh-CN" sz="1600" b="1" dirty="0" smtClean="0">
                <a:latin typeface="Arial" panose="020B0604020202020204" pitchFamily="34" charset="0"/>
              </a:endParaRPr>
            </a:p>
          </p:txBody>
        </p:sp>
        <p:grpSp>
          <p:nvGrpSpPr>
            <p:cNvPr id="288" name="组合 287"/>
            <p:cNvGrpSpPr/>
            <p:nvPr/>
          </p:nvGrpSpPr>
          <p:grpSpPr>
            <a:xfrm>
              <a:off x="2855901" y="2857504"/>
              <a:ext cx="3216275" cy="1502452"/>
              <a:chOff x="2284397" y="2714628"/>
              <a:chExt cx="3216275" cy="1502452"/>
            </a:xfrm>
          </p:grpSpPr>
          <p:grpSp>
            <p:nvGrpSpPr>
              <p:cNvPr id="286" name="组合 285"/>
              <p:cNvGrpSpPr/>
              <p:nvPr/>
            </p:nvGrpSpPr>
            <p:grpSpPr>
              <a:xfrm>
                <a:off x="2357422" y="2714628"/>
                <a:ext cx="3143250" cy="1502452"/>
                <a:chOff x="2357422" y="2714628"/>
                <a:chExt cx="3143250" cy="1502452"/>
              </a:xfrm>
            </p:grpSpPr>
            <p:grpSp>
              <p:nvGrpSpPr>
                <p:cNvPr id="262" name="Group 74"/>
                <p:cNvGrpSpPr/>
                <p:nvPr/>
              </p:nvGrpSpPr>
              <p:grpSpPr bwMode="auto">
                <a:xfrm>
                  <a:off x="2357422" y="2714628"/>
                  <a:ext cx="3143250" cy="339071"/>
                  <a:chOff x="144" y="2976"/>
                  <a:chExt cx="1980" cy="285"/>
                </a:xfrm>
              </p:grpSpPr>
              <p:sp>
                <p:nvSpPr>
                  <p:cNvPr id="263" name="Text Box 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" y="2976"/>
                    <a:ext cx="1980" cy="285"/>
                  </a:xfrm>
                  <a:prstGeom prst="rect">
                    <a:avLst/>
                  </a:prstGeom>
                  <a:noFill/>
                  <a:ln w="19050"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0" lang="en-US" altLang="zh-CN" sz="1600" b="1" dirty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4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n+1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J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baseline="30000" dirty="0" smtClean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+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K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baseline="30000" dirty="0" smtClean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3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2</a:t>
                    </a:r>
                    <a:r>
                      <a:rPr kumimoji="0" lang="en-US" altLang="zh-CN" sz="1600" b="1" baseline="30000" dirty="0" smtClean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endParaRPr kumimoji="0" lang="en-US" altLang="zh-CN" sz="1600" b="1" baseline="-25000" dirty="0">
                      <a:latin typeface="+mj-lt"/>
                    </a:endParaRPr>
                  </a:p>
                </p:txBody>
              </p:sp>
              <p:sp>
                <p:nvSpPr>
                  <p:cNvPr id="264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73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65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1514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66" name="Line 78"/>
                  <p:cNvSpPr>
                    <a:spLocks noChangeShapeType="1"/>
                  </p:cNvSpPr>
                  <p:nvPr/>
                </p:nvSpPr>
                <p:spPr bwMode="auto">
                  <a:xfrm>
                    <a:off x="1034" y="3024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</p:grpSp>
            <p:grpSp>
              <p:nvGrpSpPr>
                <p:cNvPr id="267" name="Group 79"/>
                <p:cNvGrpSpPr/>
                <p:nvPr/>
              </p:nvGrpSpPr>
              <p:grpSpPr bwMode="auto">
                <a:xfrm>
                  <a:off x="2357422" y="3093983"/>
                  <a:ext cx="2643188" cy="339070"/>
                  <a:chOff x="144" y="2976"/>
                  <a:chExt cx="1665" cy="285"/>
                </a:xfrm>
              </p:grpSpPr>
              <p:sp>
                <p:nvSpPr>
                  <p:cNvPr id="268" name="Text Box 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" y="2976"/>
                    <a:ext cx="1665" cy="285"/>
                  </a:xfrm>
                  <a:prstGeom prst="rect">
                    <a:avLst/>
                  </a:prstGeom>
                  <a:noFill/>
                  <a:ln w="19050"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0" lang="en-US" altLang="zh-CN" sz="1600" b="1" dirty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3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n+1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J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3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3</a:t>
                    </a:r>
                    <a:r>
                      <a:rPr kumimoji="0" lang="en-US" altLang="zh-CN" sz="1600" b="1" baseline="30000" dirty="0" smtClean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+ K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3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3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3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 </a:t>
                    </a:r>
                    <a:endParaRPr kumimoji="0" lang="en-US" altLang="zh-CN" sz="1600" b="1" baseline="-25000" dirty="0">
                      <a:latin typeface="+mj-lt"/>
                    </a:endParaRPr>
                  </a:p>
                </p:txBody>
              </p:sp>
              <p:sp>
                <p:nvSpPr>
                  <p:cNvPr id="269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72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70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153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71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1034" y="3024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</p:grpSp>
            <p:grpSp>
              <p:nvGrpSpPr>
                <p:cNvPr id="272" name="Group 84"/>
                <p:cNvGrpSpPr/>
                <p:nvPr/>
              </p:nvGrpSpPr>
              <p:grpSpPr bwMode="auto">
                <a:xfrm>
                  <a:off x="2373324" y="3476467"/>
                  <a:ext cx="2928938" cy="339071"/>
                  <a:chOff x="144" y="3609"/>
                  <a:chExt cx="1845" cy="285"/>
                </a:xfrm>
              </p:grpSpPr>
              <p:grpSp>
                <p:nvGrpSpPr>
                  <p:cNvPr id="273" name="Group 85"/>
                  <p:cNvGrpSpPr/>
                  <p:nvPr/>
                </p:nvGrpSpPr>
                <p:grpSpPr bwMode="auto">
                  <a:xfrm>
                    <a:off x="144" y="3609"/>
                    <a:ext cx="1845" cy="285"/>
                    <a:chOff x="144" y="2976"/>
                    <a:chExt cx="1845" cy="285"/>
                  </a:xfrm>
                </p:grpSpPr>
                <p:sp>
                  <p:nvSpPr>
                    <p:cNvPr id="275" name="Text Box 8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4" y="2976"/>
                      <a:ext cx="1845" cy="285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kumimoji="0" lang="en-US" altLang="zh-CN" sz="1600" b="1" dirty="0">
                          <a:latin typeface="+mj-lt"/>
                        </a:rPr>
                        <a:t>Y</a:t>
                      </a:r>
                      <a:r>
                        <a:rPr kumimoji="0" lang="en-US" altLang="zh-CN" sz="1600" b="1" baseline="-25000" dirty="0">
                          <a:latin typeface="+mj-lt"/>
                        </a:rPr>
                        <a:t>2</a:t>
                      </a:r>
                      <a:r>
                        <a:rPr kumimoji="0" lang="en-US" altLang="zh-CN" sz="1600" b="1" baseline="30000" dirty="0">
                          <a:latin typeface="+mj-lt"/>
                        </a:rPr>
                        <a:t>n+1 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=</a:t>
                      </a:r>
                      <a:r>
                        <a:rPr kumimoji="0" lang="zh-CN" altLang="en-US" sz="1600" b="1" dirty="0" smtClean="0">
                          <a:latin typeface="+mj-lt"/>
                        </a:rPr>
                        <a:t> </a:t>
                      </a:r>
                      <a:r>
                        <a:rPr kumimoji="0" lang="en-US" altLang="zh-CN" sz="1600" b="1" dirty="0">
                          <a:latin typeface="+mj-lt"/>
                        </a:rPr>
                        <a:t>J</a:t>
                      </a:r>
                      <a:r>
                        <a:rPr kumimoji="0" lang="en-US" altLang="zh-CN" sz="1600" b="1" baseline="-25000" dirty="0">
                          <a:latin typeface="+mj-lt"/>
                        </a:rPr>
                        <a:t>2 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Y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2</a:t>
                      </a:r>
                      <a:r>
                        <a:rPr kumimoji="0" lang="en-US" altLang="zh-CN" sz="1600" b="1" baseline="30000" dirty="0">
                          <a:latin typeface="+mj-lt"/>
                        </a:rPr>
                        <a:t>n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 </a:t>
                      </a:r>
                      <a:r>
                        <a:rPr kumimoji="0" lang="en-US" altLang="zh-CN" sz="1600" b="1" dirty="0">
                          <a:latin typeface="+mj-lt"/>
                        </a:rPr>
                        <a:t>+ K</a:t>
                      </a:r>
                      <a:r>
                        <a:rPr kumimoji="0" lang="en-US" altLang="zh-CN" sz="1600" b="1" baseline="-25000" dirty="0">
                          <a:latin typeface="+mj-lt"/>
                        </a:rPr>
                        <a:t>2 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Y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2</a:t>
                      </a:r>
                      <a:r>
                        <a:rPr kumimoji="0" lang="en-US" altLang="zh-CN" sz="1600" b="1" baseline="30000" dirty="0">
                          <a:latin typeface="+mj-lt"/>
                        </a:rPr>
                        <a:t>n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 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=</a:t>
                      </a:r>
                      <a:r>
                        <a:rPr kumimoji="0" lang="zh-CN" altLang="en-US" sz="1600" b="1" dirty="0" smtClean="0">
                          <a:latin typeface="+mj-lt"/>
                        </a:rPr>
                        <a:t> 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Y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4</a:t>
                      </a:r>
                      <a:r>
                        <a:rPr kumimoji="0" lang="en-US" altLang="zh-CN" sz="1600" b="1" baseline="30000" dirty="0">
                          <a:latin typeface="+mj-lt"/>
                        </a:rPr>
                        <a:t>n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Y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2</a:t>
                      </a:r>
                      <a:r>
                        <a:rPr kumimoji="0" lang="en-US" altLang="zh-CN" sz="1600" b="1" baseline="30000" dirty="0">
                          <a:latin typeface="+mj-lt"/>
                        </a:rPr>
                        <a:t>n</a:t>
                      </a:r>
                      <a:r>
                        <a:rPr kumimoji="0" lang="en-US" altLang="zh-CN" sz="1600" b="1" dirty="0" smtClean="0">
                          <a:latin typeface="+mj-lt"/>
                        </a:rPr>
                        <a:t> </a:t>
                      </a:r>
                      <a:r>
                        <a:rPr kumimoji="0" lang="en-US" altLang="zh-CN" sz="1600" b="1" baseline="-25000" dirty="0" smtClean="0">
                          <a:latin typeface="+mj-lt"/>
                        </a:rPr>
                        <a:t> </a:t>
                      </a:r>
                      <a:endParaRPr kumimoji="0" lang="en-US" altLang="zh-CN" sz="1600" b="1" baseline="-25000" dirty="0">
                        <a:latin typeface="+mj-lt"/>
                      </a:endParaRPr>
                    </a:p>
                  </p:txBody>
                </p:sp>
                <p:sp>
                  <p:nvSpPr>
                    <p:cNvPr id="276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59" y="3024"/>
                      <a:ext cx="141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bg2"/>
                      </a:solidFill>
                      <a:miter lim="800000"/>
                    </a:ln>
                  </p:spPr>
                  <p:txBody>
                    <a:bodyPr wrap="none"/>
                    <a:lstStyle/>
                    <a:p>
                      <a:endParaRPr lang="zh-CN" altLang="en-US" sz="1600">
                        <a:latin typeface="+mj-lt"/>
                      </a:endParaRPr>
                    </a:p>
                  </p:txBody>
                </p:sp>
                <p:sp>
                  <p:nvSpPr>
                    <p:cNvPr id="277" name="Line 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9" y="3024"/>
                      <a:ext cx="141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bg2"/>
                      </a:solidFill>
                      <a:miter lim="800000"/>
                    </a:ln>
                  </p:spPr>
                  <p:txBody>
                    <a:bodyPr wrap="none"/>
                    <a:lstStyle/>
                    <a:p>
                      <a:endParaRPr lang="zh-CN" altLang="en-US" sz="1600">
                        <a:latin typeface="+mj-lt"/>
                      </a:endParaRPr>
                    </a:p>
                  </p:txBody>
                </p:sp>
                <p:sp>
                  <p:nvSpPr>
                    <p:cNvPr id="278" name="Line 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9" y="3024"/>
                      <a:ext cx="113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bg2"/>
                      </a:solidFill>
                      <a:miter lim="800000"/>
                    </a:ln>
                  </p:spPr>
                  <p:txBody>
                    <a:bodyPr wrap="none"/>
                    <a:lstStyle/>
                    <a:p>
                      <a:endParaRPr lang="zh-CN" altLang="en-US" sz="1600">
                        <a:latin typeface="+mj-lt"/>
                      </a:endParaRPr>
                    </a:p>
                  </p:txBody>
                </p:sp>
              </p:grpSp>
              <p:sp>
                <p:nvSpPr>
                  <p:cNvPr id="274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1734" y="3648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</p:grpSp>
            <p:grpSp>
              <p:nvGrpSpPr>
                <p:cNvPr id="279" name="Group 91"/>
                <p:cNvGrpSpPr/>
                <p:nvPr/>
              </p:nvGrpSpPr>
              <p:grpSpPr bwMode="auto">
                <a:xfrm>
                  <a:off x="2389226" y="3878009"/>
                  <a:ext cx="2714625" cy="339071"/>
                  <a:chOff x="144" y="2976"/>
                  <a:chExt cx="1710" cy="285"/>
                </a:xfrm>
              </p:grpSpPr>
              <p:sp>
                <p:nvSpPr>
                  <p:cNvPr id="280" name="Text Box 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" y="2976"/>
                    <a:ext cx="1710" cy="285"/>
                  </a:xfrm>
                  <a:prstGeom prst="rect">
                    <a:avLst/>
                  </a:prstGeom>
                  <a:noFill/>
                  <a:ln w="19050"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0" lang="en-US" altLang="zh-CN" sz="1600" b="1" dirty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1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n+1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J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1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+ K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1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1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 </a:t>
                    </a:r>
                    <a:endParaRPr kumimoji="0" lang="en-US" altLang="zh-CN" sz="1600" b="1" baseline="-25000" dirty="0">
                      <a:latin typeface="+mj-lt"/>
                    </a:endParaRPr>
                  </a:p>
                </p:txBody>
              </p:sp>
              <p:sp>
                <p:nvSpPr>
                  <p:cNvPr id="281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754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82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155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83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1069" y="3024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</p:grpSp>
          </p:grpSp>
          <p:sp>
            <p:nvSpPr>
              <p:cNvPr id="287" name="AutoShape 65"/>
              <p:cNvSpPr/>
              <p:nvPr/>
            </p:nvSpPr>
            <p:spPr bwMode="auto">
              <a:xfrm>
                <a:off x="2284397" y="2857502"/>
                <a:ext cx="144463" cy="1331908"/>
              </a:xfrm>
              <a:prstGeom prst="leftBrace">
                <a:avLst>
                  <a:gd name="adj1" fmla="val 30556"/>
                  <a:gd name="adj2" fmla="val 50000"/>
                </a:avLst>
              </a:prstGeom>
              <a:noFill/>
              <a:ln w="19050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altLang="zh-CN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endParaRPr>
              </a:p>
            </p:txBody>
          </p:sp>
        </p:grpSp>
      </p:grpSp>
      <p:grpSp>
        <p:nvGrpSpPr>
          <p:cNvPr id="116" name="组合 247"/>
          <p:cNvGrpSpPr/>
          <p:nvPr/>
        </p:nvGrpSpPr>
        <p:grpSpPr bwMode="auto">
          <a:xfrm>
            <a:off x="5396726" y="915566"/>
            <a:ext cx="1037590" cy="378935"/>
            <a:chOff x="3049029" y="2219652"/>
            <a:chExt cx="1038017" cy="378356"/>
          </a:xfrm>
        </p:grpSpPr>
        <p:sp>
          <p:nvSpPr>
            <p:cNvPr id="117" name="圆角矩形标注 13"/>
            <p:cNvSpPr>
              <a:spLocks noChangeArrowheads="1"/>
            </p:cNvSpPr>
            <p:nvPr/>
          </p:nvSpPr>
          <p:spPr bwMode="auto">
            <a:xfrm>
              <a:off x="3088415" y="2224009"/>
              <a:ext cx="936385" cy="373999"/>
            </a:xfrm>
            <a:prstGeom prst="wedgeRoundRectCallout">
              <a:avLst>
                <a:gd name="adj1" fmla="val -74322"/>
                <a:gd name="adj2" fmla="val -725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006600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 sz="1600" b="1"/>
            </a:p>
          </p:txBody>
        </p:sp>
        <p:sp>
          <p:nvSpPr>
            <p:cNvPr id="118" name="Text Box 34"/>
            <p:cNvSpPr txBox="1">
              <a:spLocks noChangeArrowheads="1"/>
            </p:cNvSpPr>
            <p:nvPr/>
          </p:nvSpPr>
          <p:spPr bwMode="auto">
            <a:xfrm>
              <a:off x="3049029" y="2219652"/>
              <a:ext cx="1038017" cy="33667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b="1" i="1" dirty="0" smtClean="0">
                  <a:latin typeface="+mj-lt"/>
                  <a:ea typeface="黑体" panose="02010609060101010101" pitchFamily="49" charset="-122"/>
                </a:rPr>
                <a:t>Moore</a:t>
              </a:r>
              <a:r>
                <a:rPr lang="zh-CN" altLang="en-US" sz="1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型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0"/>
      <p:bldP spid="2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例</a:t>
            </a:r>
            <a:r>
              <a:rPr lang="en-US" altLang="zh-CN" dirty="0" smtClean="0">
                <a:latin typeface="黑体" panose="02010609060101010101" pitchFamily="49" charset="-122"/>
                <a:sym typeface="+mn-ea"/>
              </a:rPr>
              <a:t>3 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异步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时序</a:t>
            </a:r>
            <a:r>
              <a:rPr lang="zh-CN" altLang="en-US" dirty="0">
                <a:latin typeface="黑体" panose="02010609060101010101" pitchFamily="49" charset="-122"/>
                <a:sym typeface="+mn-ea"/>
              </a:rPr>
              <a:t>逻辑电路</a:t>
            </a:r>
            <a:r>
              <a:rPr lang="zh-CN" altLang="en-US" dirty="0" smtClean="0">
                <a:latin typeface="黑体" panose="02010609060101010101" pitchFamily="49" charset="-122"/>
                <a:sym typeface="+mn-ea"/>
              </a:rPr>
              <a:t>分析</a:t>
            </a:r>
            <a:endParaRPr lang="zh-CN" altLang="en-US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506912" y="2163763"/>
            <a:ext cx="4500000" cy="215900"/>
          </a:xfrm>
          <a:prstGeom prst="rect">
            <a:avLst/>
          </a:prstGeom>
          <a:solidFill>
            <a:srgbClr val="FFFF00"/>
          </a:solidFill>
          <a:ln w="9525" algn="ctr">
            <a:noFill/>
            <a:round/>
          </a:ln>
        </p:spPr>
        <p:txBody>
          <a:bodyPr wrap="none"/>
          <a:lstStyle/>
          <a:p>
            <a:pPr algn="ctr" eaLnBrk="1" hangingPunct="1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506912" y="1911350"/>
            <a:ext cx="4500000" cy="252413"/>
          </a:xfrm>
          <a:prstGeom prst="rect">
            <a:avLst/>
          </a:prstGeom>
          <a:solidFill>
            <a:srgbClr val="FFFF00"/>
          </a:solidFill>
          <a:ln w="9525" algn="ctr">
            <a:noFill/>
            <a:round/>
          </a:ln>
        </p:spPr>
        <p:txBody>
          <a:bodyPr wrap="none"/>
          <a:lstStyle/>
          <a:p>
            <a:pPr algn="ctr" eaLnBrk="1" hangingPunct="1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00562" y="1700213"/>
            <a:ext cx="4500000" cy="215900"/>
          </a:xfrm>
          <a:prstGeom prst="rect">
            <a:avLst/>
          </a:prstGeom>
          <a:solidFill>
            <a:srgbClr val="FFFF00"/>
          </a:solidFill>
          <a:ln w="9525" algn="ctr">
            <a:noFill/>
            <a:round/>
          </a:ln>
        </p:spPr>
        <p:txBody>
          <a:bodyPr wrap="none"/>
          <a:lstStyle/>
          <a:p>
            <a:pPr algn="ctr" eaLnBrk="1" hangingPunct="1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500562" y="1452563"/>
            <a:ext cx="4500000" cy="252412"/>
          </a:xfrm>
          <a:prstGeom prst="rect">
            <a:avLst/>
          </a:prstGeom>
          <a:solidFill>
            <a:srgbClr val="FFFF00"/>
          </a:solidFill>
          <a:ln w="9525" algn="ctr">
            <a:noFill/>
            <a:round/>
          </a:ln>
        </p:spPr>
        <p:txBody>
          <a:bodyPr wrap="none"/>
          <a:lstStyle/>
          <a:p>
            <a:pPr algn="ctr" eaLnBrk="1" hangingPunct="1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500563" y="1004888"/>
          <a:ext cx="4500594" cy="41076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5751"/>
                <a:gridCol w="357190"/>
                <a:gridCol w="352800"/>
                <a:gridCol w="272463"/>
                <a:gridCol w="446307"/>
                <a:gridCol w="428628"/>
                <a:gridCol w="357190"/>
                <a:gridCol w="428628"/>
                <a:gridCol w="357190"/>
                <a:gridCol w="428628"/>
                <a:gridCol w="428628"/>
                <a:gridCol w="357191"/>
              </a:tblGrid>
              <a:tr h="216024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现态</a:t>
                      </a:r>
                      <a:endParaRPr lang="zh-CN" altLang="en-US" sz="12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次态</a:t>
                      </a:r>
                      <a:endParaRPr lang="zh-CN" altLang="en-US" sz="12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时钟</a:t>
                      </a:r>
                      <a:endParaRPr lang="zh-CN" altLang="en-US" sz="1200" b="1" kern="1200" baseline="0" dirty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altLang="zh-CN" sz="1200" b="1" kern="1200" baseline="-250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200" b="1" kern="1200" baseline="300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200" b="1" kern="1200" baseline="300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4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3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altLang="zh-CN" sz="1200" b="1" kern="1200" baseline="-250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200" b="1" kern="1200" baseline="300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n+1</a:t>
                      </a:r>
                      <a:endParaRPr lang="zh-CN" altLang="en-US" sz="1200" b="1" kern="1200" baseline="300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Y</a:t>
                      </a:r>
                      <a:r>
                        <a:rPr lang="en-US" altLang="zh-CN" sz="1200" b="1" baseline="-25000" dirty="0" smtClean="0">
                          <a:latin typeface="+mj-lt"/>
                        </a:rPr>
                        <a:t>1</a:t>
                      </a:r>
                      <a:r>
                        <a:rPr lang="en-US" altLang="zh-CN" sz="1200" b="1" baseline="30000" dirty="0" smtClean="0">
                          <a:latin typeface="+mj-lt"/>
                        </a:rPr>
                        <a:t>n+1</a:t>
                      </a:r>
                      <a:endParaRPr lang="zh-CN" altLang="en-US" sz="1200" b="1" baseline="30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kern="1200" baseline="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cp</a:t>
                      </a:r>
                      <a:r>
                        <a:rPr lang="en-US" altLang="zh-CN" sz="1200" b="1" kern="1200" baseline="-250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200" b="1" kern="1200" baseline="-250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 smtClean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 smtClean="0">
                          <a:solidFill>
                            <a:schemeClr val="bg2"/>
                          </a:solidFill>
                          <a:latin typeface="+mj-lt"/>
                        </a:rPr>
                        <a:t>3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 smtClean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 smtClean="0">
                          <a:solidFill>
                            <a:schemeClr val="bg2"/>
                          </a:solidFill>
                          <a:latin typeface="+mj-lt"/>
                        </a:rPr>
                        <a:t>2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baseline="0" dirty="0" smtClean="0">
                          <a:solidFill>
                            <a:schemeClr val="bg2"/>
                          </a:solidFill>
                          <a:latin typeface="+mj-lt"/>
                        </a:rPr>
                        <a:t>cp</a:t>
                      </a:r>
                      <a:r>
                        <a:rPr lang="en-US" altLang="zh-CN" sz="1200" b="1" baseline="-25000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baseline="-250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rgbClr val="0000CC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0000CC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rgbClr val="FF0000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rgbClr val="FF0000"/>
                          </a:solidFill>
                          <a:latin typeface="+mj-lt"/>
                        </a:rPr>
                        <a:t>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latin typeface="+mj-lt"/>
                        </a:rPr>
                        <a:t>0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 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</a:rPr>
                        <a:t>0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FF00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FF00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</a:rPr>
                        <a:t>1</a:t>
                      </a:r>
                      <a:endParaRPr lang="en-US" altLang="zh-CN" sz="1200" b="1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baseline="0" dirty="0" smtClean="0">
                          <a:solidFill>
                            <a:schemeClr val="bg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lang="zh-CN" altLang="en-US" sz="1200" b="1" kern="1200" baseline="0" dirty="0" smtClean="0">
                        <a:solidFill>
                          <a:schemeClr val="bg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  <a:tr h="2276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2"/>
                          </a:solidFill>
                          <a:highlight>
                            <a:srgbClr val="00FFFF"/>
                          </a:highlight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1" kern="1200" dirty="0" smtClean="0">
                        <a:solidFill>
                          <a:schemeClr val="bg2"/>
                        </a:solidFill>
                        <a:highlight>
                          <a:srgbClr val="00FFFF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1" kern="1200" dirty="0" smtClean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zh-CN" altLang="en-US" sz="12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j-lt"/>
                        </a:rPr>
                        <a:t>↓</a:t>
                      </a:r>
                      <a:endParaRPr lang="zh-CN" altLang="en-US" sz="1200" b="1" dirty="0">
                        <a:latin typeface="+mj-lt"/>
                      </a:endParaRPr>
                    </a:p>
                  </a:txBody>
                  <a:tcPr marL="0" marR="0" marT="0" marB="0"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9" name="Text Box 83"/>
          <p:cNvSpPr txBox="1">
            <a:spLocks noChangeArrowheads="1"/>
          </p:cNvSpPr>
          <p:nvPr/>
        </p:nvSpPr>
        <p:spPr bwMode="auto">
          <a:xfrm>
            <a:off x="5715008" y="661977"/>
            <a:ext cx="1728788" cy="36830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 状态转换表</a:t>
            </a:r>
            <a:endParaRPr lang="zh-CN" altLang="en-US" sz="1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67"/>
          <p:cNvSpPr txBox="1">
            <a:spLocks noChangeArrowheads="1"/>
          </p:cNvSpPr>
          <p:nvPr/>
        </p:nvSpPr>
        <p:spPr bwMode="auto">
          <a:xfrm>
            <a:off x="3286116" y="1109296"/>
            <a:ext cx="1214446" cy="14452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1600" b="1" dirty="0">
                <a:latin typeface="Arial" panose="020B0604020202020204" pitchFamily="34" charset="0"/>
              </a:rPr>
              <a:t>CP</a:t>
            </a:r>
            <a:r>
              <a:rPr kumimoji="0" lang="en-US" altLang="zh-CN" sz="1600" b="1" baseline="-25000" dirty="0">
                <a:latin typeface="Arial" panose="020B0604020202020204" pitchFamily="34" charset="0"/>
              </a:rPr>
              <a:t>4 </a:t>
            </a:r>
            <a:r>
              <a:rPr kumimoji="0" lang="en-US" altLang="zh-CN" sz="1600" b="1" dirty="0">
                <a:latin typeface="Arial" panose="020B0604020202020204" pitchFamily="34" charset="0"/>
              </a:rPr>
              <a:t>=</a:t>
            </a:r>
            <a:r>
              <a:rPr kumimoji="0" lang="en-US" altLang="zh-CN" sz="1600" b="1" dirty="0" smtClean="0">
                <a:latin typeface="Arial" panose="020B0604020202020204" pitchFamily="34" charset="0"/>
              </a:rPr>
              <a:t>Y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1</a:t>
            </a:r>
            <a:r>
              <a:rPr kumimoji="0" lang="en-US" altLang="zh-CN" sz="1600" b="1" dirty="0" smtClean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 </a:t>
            </a:r>
            <a:endParaRPr kumimoji="0" lang="en-US" altLang="zh-CN" sz="1600" b="1" baseline="-25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1600" b="1" dirty="0">
                <a:latin typeface="Arial" panose="020B0604020202020204" pitchFamily="34" charset="0"/>
              </a:rPr>
              <a:t>CP</a:t>
            </a:r>
            <a:r>
              <a:rPr kumimoji="0" lang="en-US" altLang="zh-CN" sz="1600" b="1" baseline="-25000" dirty="0">
                <a:latin typeface="Arial" panose="020B0604020202020204" pitchFamily="34" charset="0"/>
              </a:rPr>
              <a:t>3 </a:t>
            </a:r>
            <a:r>
              <a:rPr kumimoji="0" lang="en-US" altLang="zh-CN" sz="1600" b="1" dirty="0">
                <a:latin typeface="Arial" panose="020B0604020202020204" pitchFamily="34" charset="0"/>
              </a:rPr>
              <a:t>=</a:t>
            </a:r>
            <a:r>
              <a:rPr kumimoji="0" lang="zh-CN" altLang="en-US" sz="1600" b="1" dirty="0">
                <a:latin typeface="Arial" panose="020B0604020202020204" pitchFamily="34" charset="0"/>
              </a:rPr>
              <a:t> </a:t>
            </a:r>
            <a:r>
              <a:rPr kumimoji="0" lang="en-US" altLang="zh-CN" sz="1600" b="1" dirty="0" smtClean="0">
                <a:latin typeface="Arial" panose="020B0604020202020204" pitchFamily="34" charset="0"/>
              </a:rPr>
              <a:t>Y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2</a:t>
            </a:r>
            <a:r>
              <a:rPr kumimoji="0" lang="en-US" altLang="zh-CN" sz="1600" b="1" dirty="0" smtClean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r>
              <a:rPr kumimoji="0" lang="en-US" altLang="zh-CN" sz="1600" b="1" dirty="0" smtClean="0">
                <a:latin typeface="Arial" panose="020B0604020202020204" pitchFamily="34" charset="0"/>
              </a:rPr>
              <a:t> </a:t>
            </a:r>
            <a:endParaRPr kumimoji="0" lang="en-US" altLang="zh-CN" sz="16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1600" b="1" dirty="0">
                <a:latin typeface="Arial" panose="020B0604020202020204" pitchFamily="34" charset="0"/>
              </a:rPr>
              <a:t>CP</a:t>
            </a:r>
            <a:r>
              <a:rPr kumimoji="0" lang="en-US" altLang="zh-CN" sz="1600" b="1" baseline="-25000" dirty="0">
                <a:latin typeface="Arial" panose="020B0604020202020204" pitchFamily="34" charset="0"/>
              </a:rPr>
              <a:t>2</a:t>
            </a:r>
            <a:r>
              <a:rPr kumimoji="0" lang="en-US" altLang="zh-CN" sz="1600" b="1" dirty="0">
                <a:latin typeface="Arial" panose="020B0604020202020204" pitchFamily="34" charset="0"/>
              </a:rPr>
              <a:t> =</a:t>
            </a:r>
            <a:r>
              <a:rPr kumimoji="0" lang="en-US" altLang="zh-CN" sz="1600" b="1" dirty="0" smtClean="0">
                <a:latin typeface="Arial" panose="020B0604020202020204" pitchFamily="34" charset="0"/>
              </a:rPr>
              <a:t>Y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1</a:t>
            </a:r>
            <a:r>
              <a:rPr kumimoji="0" lang="en-US" altLang="zh-CN" sz="1600" b="1" dirty="0" smtClean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endParaRPr kumimoji="0" lang="en-US" altLang="zh-CN" sz="1600" b="1" baseline="-25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1600" b="1" dirty="0" smtClean="0">
                <a:latin typeface="Arial" panose="020B0604020202020204" pitchFamily="34" charset="0"/>
              </a:rPr>
              <a:t>CP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1</a:t>
            </a:r>
            <a:r>
              <a:rPr kumimoji="0" lang="en-US" altLang="zh-CN" sz="1600" b="1" dirty="0" smtClean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r>
              <a:rPr kumimoji="0" lang="en-US" altLang="zh-CN" sz="1600" b="1" baseline="-25000" dirty="0" smtClean="0">
                <a:latin typeface="Arial" panose="020B0604020202020204" pitchFamily="34" charset="0"/>
              </a:rPr>
              <a:t> </a:t>
            </a:r>
            <a:r>
              <a:rPr kumimoji="0" lang="en-US" altLang="zh-CN" sz="1600" b="1" dirty="0" smtClean="0">
                <a:latin typeface="Arial" panose="020B0604020202020204" pitchFamily="34" charset="0"/>
              </a:rPr>
              <a:t>   </a:t>
            </a:r>
            <a:endParaRPr kumimoji="0" lang="en-US" altLang="zh-CN" sz="1600" b="1" dirty="0" smtClean="0">
              <a:latin typeface="Arial" panose="020B0604020202020204" pitchFamily="34" charset="0"/>
            </a:endParaRPr>
          </a:p>
        </p:txBody>
      </p:sp>
      <p:sp>
        <p:nvSpPr>
          <p:cNvPr id="13" name="Text Box 83"/>
          <p:cNvSpPr txBox="1">
            <a:spLocks noChangeArrowheads="1"/>
          </p:cNvSpPr>
          <p:nvPr/>
        </p:nvSpPr>
        <p:spPr bwMode="auto">
          <a:xfrm>
            <a:off x="214282" y="707974"/>
            <a:ext cx="1728788" cy="368300"/>
          </a:xfrm>
          <a:prstGeom prst="rect">
            <a:avLst/>
          </a:prstGeom>
          <a:noFill/>
          <a:ln w="19050" algn="ctr">
            <a:noFill/>
            <a:miter lim="800000"/>
          </a:ln>
        </p:spPr>
        <p:txBody>
          <a:bodyPr>
            <a:spAutoFit/>
          </a:bodyPr>
          <a:lstStyle/>
          <a:p>
            <a:pPr marL="179705" indent="-179705"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1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次态方程</a:t>
            </a:r>
            <a:endParaRPr lang="zh-CN" altLang="en-US" sz="1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1257" y="1055650"/>
            <a:ext cx="3216275" cy="1502452"/>
            <a:chOff x="2284397" y="2714628"/>
            <a:chExt cx="3216275" cy="1502452"/>
          </a:xfrm>
        </p:grpSpPr>
        <p:grpSp>
          <p:nvGrpSpPr>
            <p:cNvPr id="15" name="组合 285"/>
            <p:cNvGrpSpPr/>
            <p:nvPr/>
          </p:nvGrpSpPr>
          <p:grpSpPr>
            <a:xfrm>
              <a:off x="2357422" y="2714628"/>
              <a:ext cx="3143250" cy="1502452"/>
              <a:chOff x="2357422" y="2714628"/>
              <a:chExt cx="3143250" cy="1502452"/>
            </a:xfrm>
          </p:grpSpPr>
          <p:grpSp>
            <p:nvGrpSpPr>
              <p:cNvPr id="17" name="Group 74"/>
              <p:cNvGrpSpPr/>
              <p:nvPr/>
            </p:nvGrpSpPr>
            <p:grpSpPr bwMode="auto">
              <a:xfrm>
                <a:off x="2357422" y="2714628"/>
                <a:ext cx="3143250" cy="339071"/>
                <a:chOff x="144" y="2976"/>
                <a:chExt cx="1980" cy="285"/>
              </a:xfrm>
            </p:grpSpPr>
            <p:sp>
              <p:nvSpPr>
                <p:cNvPr id="35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144" y="2976"/>
                  <a:ext cx="1980" cy="285"/>
                </a:xfrm>
                <a:prstGeom prst="rect">
                  <a:avLst/>
                </a:prstGeom>
                <a:noFill/>
                <a:ln w="19050"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kumimoji="0" lang="en-US" altLang="zh-CN" sz="1600" b="1" dirty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>
                      <a:latin typeface="+mj-lt"/>
                    </a:rPr>
                    <a:t>4</a:t>
                  </a:r>
                  <a:r>
                    <a:rPr kumimoji="0" lang="en-US" altLang="zh-CN" sz="1600" b="1" baseline="30000" dirty="0">
                      <a:latin typeface="+mj-lt"/>
                    </a:rPr>
                    <a:t>n+1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J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4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4</a:t>
                  </a:r>
                  <a:r>
                    <a:rPr kumimoji="0" lang="en-US" altLang="zh-CN" sz="1600" b="1" baseline="30000" dirty="0" smtClean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>
                      <a:latin typeface="+mj-lt"/>
                    </a:rPr>
                    <a:t>+ </a:t>
                  </a:r>
                  <a:r>
                    <a:rPr kumimoji="0" lang="en-US" altLang="zh-CN" sz="1600" b="1" dirty="0" smtClean="0">
                      <a:latin typeface="+mj-lt"/>
                    </a:rPr>
                    <a:t>K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4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4</a:t>
                  </a:r>
                  <a:r>
                    <a:rPr kumimoji="0" lang="en-US" altLang="zh-CN" sz="1600" b="1" baseline="30000" dirty="0" smtClean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4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3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2</a:t>
                  </a:r>
                  <a:r>
                    <a:rPr kumimoji="0" lang="en-US" altLang="zh-CN" sz="1600" b="1" baseline="30000" dirty="0" smtClean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endParaRPr kumimoji="0" lang="en-US" altLang="zh-CN" sz="1600" b="1" baseline="-25000" dirty="0">
                    <a:latin typeface="+mj-lt"/>
                  </a:endParaRPr>
                </a:p>
              </p:txBody>
            </p:sp>
            <p:sp>
              <p:nvSpPr>
                <p:cNvPr id="36" name="Line 76"/>
                <p:cNvSpPr>
                  <a:spLocks noChangeShapeType="1"/>
                </p:cNvSpPr>
                <p:nvPr/>
              </p:nvSpPr>
              <p:spPr bwMode="auto">
                <a:xfrm>
                  <a:off x="739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37" name="Line 77"/>
                <p:cNvSpPr>
                  <a:spLocks noChangeShapeType="1"/>
                </p:cNvSpPr>
                <p:nvPr/>
              </p:nvSpPr>
              <p:spPr bwMode="auto">
                <a:xfrm>
                  <a:off x="1514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38" name="Line 78"/>
                <p:cNvSpPr>
                  <a:spLocks noChangeShapeType="1"/>
                </p:cNvSpPr>
                <p:nvPr/>
              </p:nvSpPr>
              <p:spPr bwMode="auto">
                <a:xfrm>
                  <a:off x="1034" y="3024"/>
                  <a:ext cx="113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</p:grpSp>
          <p:grpSp>
            <p:nvGrpSpPr>
              <p:cNvPr id="18" name="Group 79"/>
              <p:cNvGrpSpPr/>
              <p:nvPr/>
            </p:nvGrpSpPr>
            <p:grpSpPr bwMode="auto">
              <a:xfrm>
                <a:off x="2357422" y="3093983"/>
                <a:ext cx="2643188" cy="339070"/>
                <a:chOff x="144" y="2976"/>
                <a:chExt cx="1665" cy="285"/>
              </a:xfrm>
            </p:grpSpPr>
            <p:sp>
              <p:nvSpPr>
                <p:cNvPr id="31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144" y="2976"/>
                  <a:ext cx="1665" cy="285"/>
                </a:xfrm>
                <a:prstGeom prst="rect">
                  <a:avLst/>
                </a:prstGeom>
                <a:noFill/>
                <a:ln w="19050"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kumimoji="0" lang="en-US" altLang="zh-CN" sz="1600" b="1" dirty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>
                      <a:latin typeface="+mj-lt"/>
                    </a:rPr>
                    <a:t>3</a:t>
                  </a:r>
                  <a:r>
                    <a:rPr kumimoji="0" lang="en-US" altLang="zh-CN" sz="1600" b="1" baseline="30000" dirty="0">
                      <a:latin typeface="+mj-lt"/>
                    </a:rPr>
                    <a:t>n+1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J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3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3</a:t>
                  </a:r>
                  <a:r>
                    <a:rPr kumimoji="0" lang="en-US" altLang="zh-CN" sz="1600" b="1" baseline="30000" dirty="0" smtClean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>
                      <a:latin typeface="+mj-lt"/>
                    </a:rPr>
                    <a:t>+ K</a:t>
                  </a:r>
                  <a:r>
                    <a:rPr kumimoji="0" lang="en-US" altLang="zh-CN" sz="1600" b="1" baseline="-25000" dirty="0">
                      <a:latin typeface="+mj-lt"/>
                    </a:rPr>
                    <a:t>3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3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3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dirty="0" smtClean="0">
                      <a:latin typeface="+mj-lt"/>
                    </a:rPr>
                    <a:t> </a:t>
                  </a:r>
                  <a:endParaRPr kumimoji="0" lang="en-US" altLang="zh-CN" sz="1600" b="1" baseline="-25000" dirty="0">
                    <a:latin typeface="+mj-lt"/>
                  </a:endParaRPr>
                </a:p>
              </p:txBody>
            </p:sp>
            <p:sp>
              <p:nvSpPr>
                <p:cNvPr id="32" name="Line 81"/>
                <p:cNvSpPr>
                  <a:spLocks noChangeShapeType="1"/>
                </p:cNvSpPr>
                <p:nvPr/>
              </p:nvSpPr>
              <p:spPr bwMode="auto">
                <a:xfrm>
                  <a:off x="729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33" name="Line 82"/>
                <p:cNvSpPr>
                  <a:spLocks noChangeShapeType="1"/>
                </p:cNvSpPr>
                <p:nvPr/>
              </p:nvSpPr>
              <p:spPr bwMode="auto">
                <a:xfrm>
                  <a:off x="1539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34" name="Line 83"/>
                <p:cNvSpPr>
                  <a:spLocks noChangeShapeType="1"/>
                </p:cNvSpPr>
                <p:nvPr/>
              </p:nvSpPr>
              <p:spPr bwMode="auto">
                <a:xfrm>
                  <a:off x="1034" y="3024"/>
                  <a:ext cx="113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</p:grpSp>
          <p:grpSp>
            <p:nvGrpSpPr>
              <p:cNvPr id="19" name="Group 84"/>
              <p:cNvGrpSpPr/>
              <p:nvPr/>
            </p:nvGrpSpPr>
            <p:grpSpPr bwMode="auto">
              <a:xfrm>
                <a:off x="2373324" y="3476467"/>
                <a:ext cx="2928938" cy="339071"/>
                <a:chOff x="144" y="3609"/>
                <a:chExt cx="1845" cy="285"/>
              </a:xfrm>
            </p:grpSpPr>
            <p:grpSp>
              <p:nvGrpSpPr>
                <p:cNvPr id="25" name="Group 85"/>
                <p:cNvGrpSpPr/>
                <p:nvPr/>
              </p:nvGrpSpPr>
              <p:grpSpPr bwMode="auto">
                <a:xfrm>
                  <a:off x="144" y="3609"/>
                  <a:ext cx="1845" cy="285"/>
                  <a:chOff x="144" y="2976"/>
                  <a:chExt cx="1845" cy="285"/>
                </a:xfrm>
              </p:grpSpPr>
              <p:sp>
                <p:nvSpPr>
                  <p:cNvPr id="27" name="Text Box 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" y="2976"/>
                    <a:ext cx="1845" cy="285"/>
                  </a:xfrm>
                  <a:prstGeom prst="rect">
                    <a:avLst/>
                  </a:prstGeom>
                  <a:noFill/>
                  <a:ln w="19050"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0" lang="en-US" altLang="zh-CN" sz="1600" b="1" dirty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2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n+1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J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2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2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>
                        <a:latin typeface="+mj-lt"/>
                      </a:rPr>
                      <a:t>+ K</a:t>
                    </a:r>
                    <a:r>
                      <a:rPr kumimoji="0" lang="en-US" altLang="zh-CN" sz="1600" b="1" baseline="-25000" dirty="0">
                        <a:latin typeface="+mj-lt"/>
                      </a:rPr>
                      <a:t>2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2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=</a:t>
                    </a:r>
                    <a:r>
                      <a:rPr kumimoji="0" lang="zh-CN" altLang="en-US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4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Y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2</a:t>
                    </a:r>
                    <a:r>
                      <a:rPr kumimoji="0" lang="en-US" altLang="zh-CN" sz="1600" b="1" baseline="30000" dirty="0">
                        <a:latin typeface="+mj-lt"/>
                      </a:rPr>
                      <a:t>n</a:t>
                    </a:r>
                    <a:r>
                      <a:rPr kumimoji="0" lang="en-US" altLang="zh-CN" sz="1600" b="1" dirty="0" smtClean="0">
                        <a:latin typeface="+mj-lt"/>
                      </a:rPr>
                      <a:t> </a:t>
                    </a:r>
                    <a:r>
                      <a:rPr kumimoji="0" lang="en-US" altLang="zh-CN" sz="1600" b="1" baseline="-25000" dirty="0" smtClean="0">
                        <a:latin typeface="+mj-lt"/>
                      </a:rPr>
                      <a:t> </a:t>
                    </a:r>
                    <a:endParaRPr kumimoji="0" lang="en-US" altLang="zh-CN" sz="1600" b="1" baseline="-25000" dirty="0">
                      <a:latin typeface="+mj-lt"/>
                    </a:endParaRPr>
                  </a:p>
                </p:txBody>
              </p:sp>
              <p:sp>
                <p:nvSpPr>
                  <p:cNvPr id="28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75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29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1539" y="3024"/>
                    <a:ext cx="141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  <p:sp>
                <p:nvSpPr>
                  <p:cNvPr id="30" name="Line 89"/>
                  <p:cNvSpPr>
                    <a:spLocks noChangeShapeType="1"/>
                  </p:cNvSpPr>
                  <p:nvPr/>
                </p:nvSpPr>
                <p:spPr bwMode="auto">
                  <a:xfrm>
                    <a:off x="1069" y="3024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miter lim="800000"/>
                  </a:ln>
                </p:spPr>
                <p:txBody>
                  <a:bodyPr wrap="none"/>
                  <a:lstStyle/>
                  <a:p>
                    <a:endParaRPr lang="zh-CN" altLang="en-US" sz="1600">
                      <a:latin typeface="+mj-lt"/>
                    </a:endParaRPr>
                  </a:p>
                </p:txBody>
              </p:sp>
            </p:grp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auto">
                <a:xfrm>
                  <a:off x="1734" y="3648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</p:grpSp>
          <p:grpSp>
            <p:nvGrpSpPr>
              <p:cNvPr id="20" name="Group 91"/>
              <p:cNvGrpSpPr/>
              <p:nvPr/>
            </p:nvGrpSpPr>
            <p:grpSpPr bwMode="auto">
              <a:xfrm>
                <a:off x="2389226" y="3878009"/>
                <a:ext cx="2714625" cy="339071"/>
                <a:chOff x="144" y="2976"/>
                <a:chExt cx="1710" cy="285"/>
              </a:xfrm>
            </p:grpSpPr>
            <p:sp>
              <p:nvSpPr>
                <p:cNvPr id="21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44" y="2976"/>
                  <a:ext cx="1710" cy="285"/>
                </a:xfrm>
                <a:prstGeom prst="rect">
                  <a:avLst/>
                </a:prstGeom>
                <a:noFill/>
                <a:ln w="19050"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kumimoji="0" lang="en-US" altLang="zh-CN" sz="1600" b="1" dirty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>
                      <a:latin typeface="+mj-lt"/>
                    </a:rPr>
                    <a:t>1</a:t>
                  </a:r>
                  <a:r>
                    <a:rPr kumimoji="0" lang="en-US" altLang="zh-CN" sz="1600" b="1" baseline="30000" dirty="0">
                      <a:latin typeface="+mj-lt"/>
                    </a:rPr>
                    <a:t>n+1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>
                      <a:latin typeface="+mj-lt"/>
                    </a:rPr>
                    <a:t>J</a:t>
                  </a:r>
                  <a:r>
                    <a:rPr kumimoji="0" lang="en-US" altLang="zh-CN" sz="1600" b="1" baseline="-25000" dirty="0">
                      <a:latin typeface="+mj-lt"/>
                    </a:rPr>
                    <a:t>1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1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>
                      <a:latin typeface="+mj-lt"/>
                    </a:rPr>
                    <a:t>+ K</a:t>
                  </a:r>
                  <a:r>
                    <a:rPr kumimoji="0" lang="en-US" altLang="zh-CN" sz="1600" b="1" baseline="-25000" dirty="0">
                      <a:latin typeface="+mj-lt"/>
                    </a:rPr>
                    <a:t>1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1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=</a:t>
                  </a:r>
                  <a:r>
                    <a:rPr kumimoji="0" lang="zh-CN" altLang="en-US" sz="1600" b="1" dirty="0" smtClean="0">
                      <a:latin typeface="+mj-lt"/>
                    </a:rPr>
                    <a:t> </a:t>
                  </a:r>
                  <a:r>
                    <a:rPr kumimoji="0" lang="en-US" altLang="zh-CN" sz="1600" b="1" dirty="0" smtClean="0">
                      <a:latin typeface="+mj-lt"/>
                    </a:rPr>
                    <a:t>Y</a:t>
                  </a:r>
                  <a:r>
                    <a:rPr kumimoji="0" lang="en-US" altLang="zh-CN" sz="1600" b="1" baseline="-25000" dirty="0" smtClean="0">
                      <a:latin typeface="+mj-lt"/>
                    </a:rPr>
                    <a:t>1</a:t>
                  </a:r>
                  <a:r>
                    <a:rPr kumimoji="0" lang="en-US" altLang="zh-CN" sz="1600" b="1" baseline="30000" dirty="0">
                      <a:latin typeface="+mj-lt"/>
                    </a:rPr>
                    <a:t>n</a:t>
                  </a:r>
                  <a:r>
                    <a:rPr kumimoji="0" lang="en-US" altLang="zh-CN" sz="1600" b="1" dirty="0" smtClean="0">
                      <a:latin typeface="+mj-lt"/>
                    </a:rPr>
                    <a:t> </a:t>
                  </a:r>
                  <a:endParaRPr kumimoji="0" lang="en-US" altLang="zh-CN" sz="1600" b="1" baseline="-25000" dirty="0">
                    <a:latin typeface="+mj-lt"/>
                  </a:endParaRPr>
                </a:p>
              </p:txBody>
            </p:sp>
            <p:sp>
              <p:nvSpPr>
                <p:cNvPr id="22" name="Line 93"/>
                <p:cNvSpPr>
                  <a:spLocks noChangeShapeType="1"/>
                </p:cNvSpPr>
                <p:nvPr/>
              </p:nvSpPr>
              <p:spPr bwMode="auto">
                <a:xfrm>
                  <a:off x="754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23" name="Line 94"/>
                <p:cNvSpPr>
                  <a:spLocks noChangeShapeType="1"/>
                </p:cNvSpPr>
                <p:nvPr/>
              </p:nvSpPr>
              <p:spPr bwMode="auto">
                <a:xfrm>
                  <a:off x="1559" y="3024"/>
                  <a:ext cx="141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  <p:sp>
              <p:nvSpPr>
                <p:cNvPr id="24" name="Line 95"/>
                <p:cNvSpPr>
                  <a:spLocks noChangeShapeType="1"/>
                </p:cNvSpPr>
                <p:nvPr/>
              </p:nvSpPr>
              <p:spPr bwMode="auto">
                <a:xfrm>
                  <a:off x="1069" y="3024"/>
                  <a:ext cx="113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miter lim="800000"/>
                </a:ln>
              </p:spPr>
              <p:txBody>
                <a:bodyPr wrap="none"/>
                <a:lstStyle/>
                <a:p>
                  <a:endParaRPr lang="zh-CN" altLang="en-US" sz="1600">
                    <a:latin typeface="+mj-lt"/>
                  </a:endParaRPr>
                </a:p>
              </p:txBody>
            </p:sp>
          </p:grpSp>
        </p:grpSp>
        <p:sp>
          <p:nvSpPr>
            <p:cNvPr id="16" name="AutoShape 65"/>
            <p:cNvSpPr/>
            <p:nvPr/>
          </p:nvSpPr>
          <p:spPr bwMode="auto">
            <a:xfrm>
              <a:off x="2284397" y="2857502"/>
              <a:ext cx="144463" cy="1331908"/>
            </a:xfrm>
            <a:prstGeom prst="leftBrace">
              <a:avLst>
                <a:gd name="adj1" fmla="val 30556"/>
                <a:gd name="adj2" fmla="val 50000"/>
              </a:avLst>
            </a:prstGeom>
            <a:noFill/>
            <a:ln w="1905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altLang="zh-CN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</p:grpSp>
      <p:sp>
        <p:nvSpPr>
          <p:cNvPr id="39" name="Text Box 101"/>
          <p:cNvSpPr txBox="1">
            <a:spLocks noChangeArrowheads="1"/>
          </p:cNvSpPr>
          <p:nvPr/>
        </p:nvSpPr>
        <p:spPr bwMode="auto">
          <a:xfrm>
            <a:off x="1259632" y="2953276"/>
            <a:ext cx="2883740" cy="3371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1600" b="1" dirty="0">
                <a:latin typeface="+mj-lt"/>
                <a:ea typeface="黑体" panose="02010609060101010101" pitchFamily="49" charset="-122"/>
              </a:rPr>
              <a:t>8421 BCD </a:t>
            </a:r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码异步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加法计数器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5" name="直接连接符 104"/>
          <p:cNvCxnSpPr/>
          <p:nvPr/>
        </p:nvCxnSpPr>
        <p:spPr bwMode="auto">
          <a:xfrm>
            <a:off x="4500562" y="3754513"/>
            <a:ext cx="4500594" cy="15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5" name="组合 184"/>
          <p:cNvGrpSpPr/>
          <p:nvPr/>
        </p:nvGrpSpPr>
        <p:grpSpPr>
          <a:xfrm>
            <a:off x="301622" y="3365640"/>
            <a:ext cx="3925124" cy="1589978"/>
            <a:chOff x="469686" y="3286130"/>
            <a:chExt cx="3925124" cy="1589978"/>
          </a:xfrm>
        </p:grpSpPr>
        <p:sp>
          <p:nvSpPr>
            <p:cNvPr id="142" name="Oval 20"/>
            <p:cNvSpPr>
              <a:spLocks noChangeArrowheads="1"/>
            </p:cNvSpPr>
            <p:nvPr/>
          </p:nvSpPr>
          <p:spPr bwMode="auto">
            <a:xfrm>
              <a:off x="1280381" y="3742605"/>
              <a:ext cx="567380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0001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43" name="Oval 21"/>
            <p:cNvSpPr>
              <a:spLocks noChangeArrowheads="1"/>
            </p:cNvSpPr>
            <p:nvPr/>
          </p:nvSpPr>
          <p:spPr bwMode="auto">
            <a:xfrm>
              <a:off x="2070532" y="3745755"/>
              <a:ext cx="579714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0010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44" name="Oval 22"/>
            <p:cNvSpPr>
              <a:spLocks noChangeArrowheads="1"/>
            </p:cNvSpPr>
            <p:nvPr/>
          </p:nvSpPr>
          <p:spPr bwMode="auto">
            <a:xfrm>
              <a:off x="2081221" y="4151280"/>
              <a:ext cx="567380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0111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45" name="Line 24"/>
            <p:cNvSpPr>
              <a:spLocks noChangeShapeType="1"/>
            </p:cNvSpPr>
            <p:nvPr/>
          </p:nvSpPr>
          <p:spPr bwMode="auto">
            <a:xfrm>
              <a:off x="1868590" y="3855574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46" name="Line 25"/>
            <p:cNvSpPr>
              <a:spLocks noChangeShapeType="1"/>
            </p:cNvSpPr>
            <p:nvPr/>
          </p:nvSpPr>
          <p:spPr bwMode="auto">
            <a:xfrm flipH="1">
              <a:off x="1900388" y="4282403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48" name="Oval 27"/>
            <p:cNvSpPr>
              <a:spLocks noChangeArrowheads="1"/>
            </p:cNvSpPr>
            <p:nvPr/>
          </p:nvSpPr>
          <p:spPr bwMode="auto">
            <a:xfrm>
              <a:off x="2852017" y="3725802"/>
              <a:ext cx="567380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0011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49" name="Oval 29"/>
            <p:cNvSpPr>
              <a:spLocks noChangeArrowheads="1"/>
            </p:cNvSpPr>
            <p:nvPr/>
          </p:nvSpPr>
          <p:spPr bwMode="auto">
            <a:xfrm>
              <a:off x="3647430" y="4162832"/>
              <a:ext cx="567380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0</a:t>
              </a:r>
              <a:r>
                <a:rPr kumimoji="0" lang="en-US" altLang="zh-CN" sz="1200" b="1" dirty="0" smtClean="0">
                  <a:ea typeface="宋体" panose="02010600030101010101" pitchFamily="2" charset="-122"/>
                </a:rPr>
                <a:t>101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50" name="Oval 30"/>
            <p:cNvSpPr>
              <a:spLocks noChangeArrowheads="1"/>
            </p:cNvSpPr>
            <p:nvPr/>
          </p:nvSpPr>
          <p:spPr bwMode="auto">
            <a:xfrm>
              <a:off x="2864351" y="4154732"/>
              <a:ext cx="606028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0110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51" name="Line 31"/>
            <p:cNvSpPr>
              <a:spLocks noChangeShapeType="1"/>
            </p:cNvSpPr>
            <p:nvPr/>
          </p:nvSpPr>
          <p:spPr bwMode="auto">
            <a:xfrm>
              <a:off x="3441320" y="3830820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2" name="Line 32"/>
            <p:cNvSpPr>
              <a:spLocks noChangeShapeType="1"/>
            </p:cNvSpPr>
            <p:nvPr/>
          </p:nvSpPr>
          <p:spPr bwMode="auto">
            <a:xfrm>
              <a:off x="3928653" y="3938541"/>
              <a:ext cx="0" cy="216337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3" name="Line 33"/>
            <p:cNvSpPr>
              <a:spLocks noChangeShapeType="1"/>
            </p:cNvSpPr>
            <p:nvPr/>
          </p:nvSpPr>
          <p:spPr bwMode="auto">
            <a:xfrm flipH="1">
              <a:off x="3472023" y="4262599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4" name="Line 34"/>
            <p:cNvSpPr>
              <a:spLocks noChangeShapeType="1"/>
            </p:cNvSpPr>
            <p:nvPr/>
          </p:nvSpPr>
          <p:spPr bwMode="auto">
            <a:xfrm>
              <a:off x="2658741" y="3856773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5" name="Line 35"/>
            <p:cNvSpPr>
              <a:spLocks noChangeShapeType="1"/>
            </p:cNvSpPr>
            <p:nvPr/>
          </p:nvSpPr>
          <p:spPr bwMode="auto">
            <a:xfrm flipH="1">
              <a:off x="2653257" y="4277302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6" name="圆角矩形 131"/>
            <p:cNvSpPr>
              <a:spLocks noChangeArrowheads="1"/>
            </p:cNvSpPr>
            <p:nvPr/>
          </p:nvSpPr>
          <p:spPr bwMode="auto">
            <a:xfrm>
              <a:off x="469686" y="3659101"/>
              <a:ext cx="3852000" cy="864000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chemeClr val="bg1"/>
              </a:solidFill>
              <a:prstDash val="sysDash"/>
              <a:round/>
            </a:ln>
          </p:spPr>
          <p:txBody>
            <a:bodyPr wrap="none"/>
            <a:lstStyle/>
            <a:p>
              <a:pPr algn="ctr" eaLnBrk="1" hangingPunct="1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7" name="Oval 28"/>
            <p:cNvSpPr>
              <a:spLocks noChangeArrowheads="1"/>
            </p:cNvSpPr>
            <p:nvPr/>
          </p:nvSpPr>
          <p:spPr bwMode="auto">
            <a:xfrm>
              <a:off x="3621933" y="3728953"/>
              <a:ext cx="579714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0100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58" name="Oval 23"/>
            <p:cNvSpPr>
              <a:spLocks noChangeArrowheads="1"/>
            </p:cNvSpPr>
            <p:nvPr/>
          </p:nvSpPr>
          <p:spPr bwMode="auto">
            <a:xfrm>
              <a:off x="1292715" y="4167033"/>
              <a:ext cx="606028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1000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61" name="Oval 29"/>
            <p:cNvSpPr>
              <a:spLocks noChangeArrowheads="1"/>
            </p:cNvSpPr>
            <p:nvPr/>
          </p:nvSpPr>
          <p:spPr bwMode="auto">
            <a:xfrm>
              <a:off x="3640567" y="4616433"/>
              <a:ext cx="567380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1101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62" name="Oval 30"/>
            <p:cNvSpPr>
              <a:spLocks noChangeArrowheads="1"/>
            </p:cNvSpPr>
            <p:nvPr/>
          </p:nvSpPr>
          <p:spPr bwMode="auto">
            <a:xfrm>
              <a:off x="2857488" y="4608333"/>
              <a:ext cx="606028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1100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63" name="Line 33"/>
            <p:cNvSpPr>
              <a:spLocks noChangeShapeType="1"/>
            </p:cNvSpPr>
            <p:nvPr/>
          </p:nvSpPr>
          <p:spPr bwMode="auto">
            <a:xfrm flipH="1">
              <a:off x="3465160" y="4740053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headEnd type="triangle"/>
              <a:tailEnd type="non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64" name="Line 35"/>
            <p:cNvSpPr>
              <a:spLocks noChangeShapeType="1"/>
            </p:cNvSpPr>
            <p:nvPr/>
          </p:nvSpPr>
          <p:spPr bwMode="auto">
            <a:xfrm flipH="1">
              <a:off x="4214810" y="3857634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66" name="Oval 23"/>
            <p:cNvSpPr>
              <a:spLocks noChangeArrowheads="1"/>
            </p:cNvSpPr>
            <p:nvPr/>
          </p:nvSpPr>
          <p:spPr bwMode="auto">
            <a:xfrm>
              <a:off x="1285852" y="3286130"/>
              <a:ext cx="606028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1110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68" name="Line 25"/>
            <p:cNvSpPr>
              <a:spLocks noChangeShapeType="1"/>
            </p:cNvSpPr>
            <p:nvPr/>
          </p:nvSpPr>
          <p:spPr bwMode="auto">
            <a:xfrm flipH="1">
              <a:off x="1107707" y="3409451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69" name="Line 32"/>
            <p:cNvSpPr>
              <a:spLocks noChangeShapeType="1"/>
            </p:cNvSpPr>
            <p:nvPr/>
          </p:nvSpPr>
          <p:spPr bwMode="auto">
            <a:xfrm>
              <a:off x="793858" y="3540078"/>
              <a:ext cx="0" cy="216337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70" name="Oval 23"/>
            <p:cNvSpPr>
              <a:spLocks noChangeArrowheads="1"/>
            </p:cNvSpPr>
            <p:nvPr/>
          </p:nvSpPr>
          <p:spPr bwMode="auto">
            <a:xfrm>
              <a:off x="500034" y="3294081"/>
              <a:ext cx="606028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1111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71" name="Oval 20"/>
            <p:cNvSpPr>
              <a:spLocks noChangeArrowheads="1"/>
            </p:cNvSpPr>
            <p:nvPr/>
          </p:nvSpPr>
          <p:spPr bwMode="auto">
            <a:xfrm>
              <a:off x="500034" y="3754392"/>
              <a:ext cx="567380" cy="228939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>
                  <a:ea typeface="宋体" panose="02010600030101010101" pitchFamily="2" charset="-122"/>
                </a:rPr>
                <a:t>0000</a:t>
              </a:r>
              <a:endParaRPr kumimoji="0" lang="en-US" altLang="zh-CN" sz="1200" b="1">
                <a:ea typeface="宋体" panose="02010600030101010101" pitchFamily="2" charset="-122"/>
              </a:endParaRPr>
            </a:p>
          </p:txBody>
        </p:sp>
        <p:sp>
          <p:nvSpPr>
            <p:cNvPr id="172" name="Line 24"/>
            <p:cNvSpPr>
              <a:spLocks noChangeShapeType="1"/>
            </p:cNvSpPr>
            <p:nvPr/>
          </p:nvSpPr>
          <p:spPr bwMode="auto">
            <a:xfrm>
              <a:off x="1088243" y="3867361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73" name="Line 25"/>
            <p:cNvSpPr>
              <a:spLocks noChangeShapeType="1"/>
            </p:cNvSpPr>
            <p:nvPr/>
          </p:nvSpPr>
          <p:spPr bwMode="auto">
            <a:xfrm flipH="1">
              <a:off x="1120041" y="4318043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74" name="Line 26"/>
            <p:cNvSpPr>
              <a:spLocks noChangeShapeType="1"/>
            </p:cNvSpPr>
            <p:nvPr/>
          </p:nvSpPr>
          <p:spPr bwMode="auto">
            <a:xfrm flipV="1">
              <a:off x="783724" y="4002237"/>
              <a:ext cx="0" cy="216337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75" name="Oval 23"/>
            <p:cNvSpPr>
              <a:spLocks noChangeArrowheads="1"/>
            </p:cNvSpPr>
            <p:nvPr/>
          </p:nvSpPr>
          <p:spPr bwMode="auto">
            <a:xfrm>
              <a:off x="512368" y="4186771"/>
              <a:ext cx="606028" cy="259675"/>
            </a:xfrm>
            <a:prstGeom prst="ellipse">
              <a:avLst/>
            </a:prstGeom>
            <a:solidFill>
              <a:srgbClr val="99FF99"/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1001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76" name="Line 32"/>
            <p:cNvSpPr>
              <a:spLocks noChangeShapeType="1"/>
            </p:cNvSpPr>
            <p:nvPr/>
          </p:nvSpPr>
          <p:spPr bwMode="auto">
            <a:xfrm>
              <a:off x="3929058" y="3516346"/>
              <a:ext cx="0" cy="216337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tailEnd type="triangl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59" name="Oval 22"/>
            <p:cNvSpPr>
              <a:spLocks noChangeArrowheads="1"/>
            </p:cNvSpPr>
            <p:nvPr/>
          </p:nvSpPr>
          <p:spPr bwMode="auto">
            <a:xfrm>
              <a:off x="3645994" y="3302060"/>
              <a:ext cx="567380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>
                  <a:ea typeface="宋体" panose="02010600030101010101" pitchFamily="2" charset="-122"/>
                </a:rPr>
                <a:t>1011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sp>
          <p:nvSpPr>
            <p:cNvPr id="160" name="Line 25"/>
            <p:cNvSpPr>
              <a:spLocks noChangeShapeType="1"/>
            </p:cNvSpPr>
            <p:nvPr/>
          </p:nvSpPr>
          <p:spPr bwMode="auto">
            <a:xfrm flipH="1">
              <a:off x="3465161" y="3433183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headEnd type="triangle"/>
              <a:tailEnd type="non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  <p:sp>
          <p:nvSpPr>
            <p:cNvPr id="165" name="Oval 23"/>
            <p:cNvSpPr>
              <a:spLocks noChangeArrowheads="1"/>
            </p:cNvSpPr>
            <p:nvPr/>
          </p:nvSpPr>
          <p:spPr bwMode="auto">
            <a:xfrm>
              <a:off x="2857488" y="3317813"/>
              <a:ext cx="606028" cy="2596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algn="ctr">
              <a:solidFill>
                <a:schemeClr val="bg2"/>
              </a:solidFill>
              <a:rou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0" lang="en-US" altLang="zh-CN" sz="1200" b="1" dirty="0" smtClean="0"/>
                <a:t>1010</a:t>
              </a:r>
              <a:endParaRPr kumimoji="0" lang="en-US" altLang="zh-CN" sz="1200" b="1" dirty="0">
                <a:ea typeface="宋体" panose="02010600030101010101" pitchFamily="2" charset="-122"/>
              </a:endParaRPr>
            </a:p>
          </p:txBody>
        </p:sp>
        <p:cxnSp>
          <p:nvCxnSpPr>
            <p:cNvPr id="180" name="直接连接符 179"/>
            <p:cNvCxnSpPr/>
            <p:nvPr/>
          </p:nvCxnSpPr>
          <p:spPr bwMode="auto">
            <a:xfrm rot="5400000">
              <a:off x="3940284" y="4306943"/>
              <a:ext cx="900000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1" name="Line 35"/>
            <p:cNvSpPr>
              <a:spLocks noChangeShapeType="1"/>
            </p:cNvSpPr>
            <p:nvPr/>
          </p:nvSpPr>
          <p:spPr bwMode="auto">
            <a:xfrm flipH="1">
              <a:off x="4214810" y="4762475"/>
              <a:ext cx="180000" cy="0"/>
            </a:xfrm>
            <a:prstGeom prst="line">
              <a:avLst/>
            </a:prstGeom>
            <a:solidFill>
              <a:srgbClr val="99FF99"/>
            </a:solidFill>
            <a:ln w="19050">
              <a:solidFill>
                <a:schemeClr val="bg2"/>
              </a:solidFill>
              <a:miter lim="800000"/>
              <a:headEnd type="none"/>
              <a:tailEnd type="none" w="med" len="med"/>
            </a:ln>
          </p:spPr>
          <p:txBody>
            <a:bodyPr wrap="none" lIns="0" tIns="0" rIns="0" bIns="0"/>
            <a:lstStyle/>
            <a:p>
              <a:endParaRPr lang="zh-CN" altLang="en-US" sz="1200"/>
            </a:p>
          </p:txBody>
        </p:sp>
      </p:grpSp>
      <p:sp>
        <p:nvSpPr>
          <p:cNvPr id="184" name="Text Box 13"/>
          <p:cNvSpPr txBox="1">
            <a:spLocks noChangeArrowheads="1"/>
          </p:cNvSpPr>
          <p:nvPr/>
        </p:nvSpPr>
        <p:spPr bwMode="auto">
          <a:xfrm>
            <a:off x="141105" y="2667041"/>
            <a:ext cx="1224136" cy="3683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800" b="1" dirty="0" smtClean="0">
                <a:solidFill>
                  <a:srgbClr val="0000B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 状态图</a:t>
            </a:r>
            <a:endParaRPr lang="zh-CN" altLang="en-US" sz="1800" b="1" dirty="0">
              <a:solidFill>
                <a:srgbClr val="0000B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9" name="组合 188"/>
          <p:cNvGrpSpPr/>
          <p:nvPr/>
        </p:nvGrpSpPr>
        <p:grpSpPr>
          <a:xfrm>
            <a:off x="1518897" y="4752350"/>
            <a:ext cx="886466" cy="276998"/>
            <a:chOff x="1184887" y="4727585"/>
            <a:chExt cx="886466" cy="276998"/>
          </a:xfrm>
        </p:grpSpPr>
        <p:sp>
          <p:nvSpPr>
            <p:cNvPr id="187" name="圆角矩形标注 13"/>
            <p:cNvSpPr>
              <a:spLocks noChangeArrowheads="1"/>
            </p:cNvSpPr>
            <p:nvPr/>
          </p:nvSpPr>
          <p:spPr bwMode="auto">
            <a:xfrm>
              <a:off x="1184887" y="4730760"/>
              <a:ext cx="871220" cy="273050"/>
            </a:xfrm>
            <a:prstGeom prst="wedgeRoundRectCallout">
              <a:avLst>
                <a:gd name="adj1" fmla="val 84141"/>
                <a:gd name="adj2" fmla="val -34360"/>
                <a:gd name="adj3" fmla="val 16667"/>
              </a:avLst>
            </a:prstGeom>
            <a:solidFill>
              <a:schemeClr val="tx1"/>
            </a:solidFill>
            <a:ln w="19050" algn="ctr">
              <a:solidFill>
                <a:srgbClr val="C00000"/>
              </a:solidFill>
              <a:round/>
            </a:ln>
          </p:spPr>
          <p:txBody>
            <a:bodyPr wrap="square"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188" name="Text Box 34"/>
            <p:cNvSpPr txBox="1">
              <a:spLocks noChangeArrowheads="1"/>
            </p:cNvSpPr>
            <p:nvPr/>
          </p:nvSpPr>
          <p:spPr bwMode="auto">
            <a:xfrm>
              <a:off x="1214097" y="4727585"/>
              <a:ext cx="857256" cy="276998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179705" indent="-179705" eaLnBrk="1" hangingPunct="1">
                <a:spcBef>
                  <a:spcPct val="50000"/>
                </a:spcBef>
              </a:pPr>
              <a:r>
                <a:rPr lang="zh-CN" altLang="en-US" sz="1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能自启动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/>
      <p:bldP spid="39" grpId="0" bldLvl="0" animBg="1" autoUpdateAnimBg="0"/>
      <p:bldP spid="18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sym typeface="+mn-ea"/>
              </a:rPr>
              <a:t>异步</a:t>
            </a:r>
            <a:r>
              <a:rPr lang="zh-CN" altLang="en-US" dirty="0" smtClean="0">
                <a:solidFill>
                  <a:schemeClr val="bg2"/>
                </a:solidFill>
                <a:latin typeface="黑体" panose="02010609060101010101" pitchFamily="49" charset="-122"/>
                <a:sym typeface="+mn-ea"/>
              </a:rPr>
              <a:t>时序逻辑电路分析方法总结</a:t>
            </a:r>
            <a:endParaRPr lang="zh-CN" altLang="en-US" dirty="0" smtClean="0">
              <a:solidFill>
                <a:schemeClr val="bg2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kumimoji="0"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确定</a:t>
            </a:r>
            <a:r>
              <a:rPr kumimoji="0"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系统变量（输入变量、输出变量、状态变量）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lang="en-US" altLang="zh-CN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 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确定每个触发器的时钟</a:t>
            </a:r>
            <a:r>
              <a:rPr lang="zh-CN" altLang="en-US" sz="1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由谁供给</a:t>
            </a:r>
            <a:r>
              <a:rPr kumimoji="0"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？</a:t>
            </a:r>
            <a:endParaRPr kumimoji="0" lang="en-US" altLang="zh-CN" sz="1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lang="en-US" altLang="zh-CN" sz="18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列写三组方程：</a:t>
            </a:r>
            <a:r>
              <a:rPr lang="zh-CN" altLang="en-US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驱动</a:t>
            </a:r>
            <a:r>
              <a:rPr lang="zh-CN" altLang="en-US" sz="1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方程</a:t>
            </a:r>
            <a:r>
              <a:rPr lang="zh-CN" altLang="en-US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、状态方程</a:t>
            </a:r>
            <a:r>
              <a:rPr lang="en-US" altLang="zh-CN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次态方程</a:t>
            </a:r>
            <a:r>
              <a:rPr lang="en-US" altLang="zh-CN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、输出方程</a:t>
            </a:r>
            <a:endParaRPr lang="zh-CN" altLang="en-US" sz="1800" dirty="0">
              <a:solidFill>
                <a:srgbClr val="0066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 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列写状态转换表：</a:t>
            </a:r>
            <a:endParaRPr lang="en-US" altLang="zh-CN" sz="1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6075" indent="329565" algn="just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80000"/>
              <a:buNone/>
              <a:defRPr/>
            </a:pPr>
            <a:r>
              <a:rPr lang="en-US" altLang="zh-CN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a.</a:t>
            </a:r>
            <a:r>
              <a:rPr lang="zh-CN" altLang="en-US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从假定（或给定）的某一个初始状态开始，每来一个外输入及外接时钟脉冲，确定与之对应的触发器次态及输出；</a:t>
            </a:r>
            <a:endParaRPr lang="zh-CN" altLang="en-US" sz="1800" dirty="0" smtClean="0">
              <a:solidFill>
                <a:schemeClr val="bg2"/>
              </a:solidFill>
              <a:latin typeface="+mn-ea"/>
              <a:cs typeface="+mn-ea"/>
            </a:endParaRPr>
          </a:p>
          <a:p>
            <a:pPr marL="346075" indent="329565" algn="just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80000"/>
              <a:buNone/>
              <a:defRPr/>
            </a:pPr>
            <a:r>
              <a:rPr lang="en-US" altLang="zh-CN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b.</a:t>
            </a:r>
            <a:r>
              <a:rPr lang="zh-CN" altLang="en-US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确定该触发器的</a:t>
            </a:r>
            <a:r>
              <a:rPr lang="zh-CN" altLang="en-US" sz="1800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状态改变能否给其它触发器提供需要的时钟边沿</a:t>
            </a:r>
            <a:r>
              <a:rPr lang="zh-CN" altLang="en-US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。若能，则与之相应的其它触发器动作。否则，与之相应的其它触发器保持；重复该步骤，直到所有触发器的次态都确定为止。</a:t>
            </a:r>
            <a:endParaRPr lang="zh-CN" altLang="en-US" sz="1800" dirty="0" smtClean="0">
              <a:solidFill>
                <a:schemeClr val="bg2"/>
              </a:solidFill>
              <a:latin typeface="+mn-ea"/>
              <a:cs typeface="+mn-ea"/>
            </a:endParaRPr>
          </a:p>
          <a:p>
            <a:pPr marL="346075" indent="329565" algn="just">
              <a:lnSpc>
                <a:spcPct val="90000"/>
              </a:lnSpc>
              <a:spcBef>
                <a:spcPts val="600"/>
              </a:spcBef>
              <a:buClr>
                <a:srgbClr val="C00000"/>
              </a:buClr>
              <a:buSzPct val="80000"/>
              <a:buNone/>
              <a:defRPr/>
            </a:pPr>
            <a:r>
              <a:rPr lang="en-US" altLang="zh-CN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c.</a:t>
            </a:r>
            <a:r>
              <a:rPr lang="zh-CN" altLang="en-US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该次态成为新的现态，来一个外输入及外接时钟脉冲，重复上述操作，直到所有的2</a:t>
            </a:r>
            <a:r>
              <a:rPr lang="zh-CN" altLang="en-US" sz="1800" baseline="300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n</a:t>
            </a:r>
            <a:r>
              <a:rPr lang="zh-CN" altLang="en-US" sz="18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个现态到次态的转换都已计算完毕；从表中第一行开始，寻找状态转换规律；</a:t>
            </a:r>
            <a:endParaRPr lang="zh-CN" altLang="en-US" sz="1800" dirty="0" smtClean="0">
              <a:solidFill>
                <a:schemeClr val="bg2"/>
              </a:solidFill>
              <a:latin typeface="+mn-ea"/>
              <a:cs typeface="+mn-ea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</a:t>
            </a:r>
            <a:r>
              <a:rPr lang="en-US" altLang="zh-CN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画出完整的状态图；</a:t>
            </a:r>
            <a:r>
              <a:rPr lang="en-US" altLang="zh-CN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endParaRPr lang="en-US" altLang="zh-CN" sz="1800" dirty="0" smtClean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None/>
              <a:defRPr/>
            </a:pP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⑤</a:t>
            </a:r>
            <a:r>
              <a:rPr lang="en-US" altLang="zh-CN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得出电路功能，并说明能否自启动。</a:t>
            </a:r>
            <a:endParaRPr lang="en-US" altLang="zh-CN" sz="1800" dirty="0" smtClean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2782640A-C475-4570-9838-6A09B3023A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布尔代数基础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，具有利用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布尔代数原理及基本逻辑门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典型逻辑组合部件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的能力</a:t>
            </a:r>
            <a:endParaRPr lang="zh-CN" altLang="en-US" sz="225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组合逻辑电路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的分析方法及设计方法，具有利用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基本逻辑部件及中规模芯片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组合逻辑电路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的能力;</a:t>
            </a:r>
            <a:endParaRPr lang="zh-CN" altLang="en-US" sz="225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时序逻辑电路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的分析方法及设计方法，具有利用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触发器、逻辑门、基本逻辑部件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时序逻辑电路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的能力;</a:t>
            </a:r>
            <a:endParaRPr lang="zh-CN" altLang="en-US" sz="225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了解可编程逻辑器件的基本工作原理，具有</a:t>
            </a:r>
            <a:r>
              <a:rPr lang="zh-CN" altLang="en-US" sz="225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利用可编程逻辑器件设计逻辑电路的能力</a:t>
            </a:r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 sz="225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25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培养自主学习的能力，通过查阅器件资料及参考文献，能利用各种基本逻辑部件、中规模芯片及可编程逻辑器件设计一个较为复杂的完整的数字系统。</a:t>
            </a:r>
            <a:endParaRPr lang="zh-CN" altLang="en-US" sz="225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855B4502-5570-4FB2-86C0-5BAFA47D358D}" type="slidenum">
              <a:rPr kumimoji="1" lang="en-US" altLang="zh-CN" sz="1050" smtClean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kumimoji="1" lang="en-US" altLang="zh-CN" sz="10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p="http://schemas.openxmlformats.org/presentationml/2006/main">
  <p:tag name="KSO_WM_UNIT_TABLE_BEAUTIFY" val="smartTable{520401db-ee47-43f7-b8f6-a6e71861562a}"/>
</p:tagLst>
</file>

<file path=ppt/tags/tag2.xml><?xml version="1.0" encoding="utf-8"?>
<p:tagLst xmlns:p="http://schemas.openxmlformats.org/presentationml/2006/main">
  <p:tag name="COMMONDATA" val="eyJoZGlkIjoiMmM0MWUyNDc3N2VhMDc0MjVjYzQ2MTY3N2JkOWQzMzYifQ=="/>
  <p:tag name="KSO_WPP_MARK_KEY" val="b6e21d8a-a2e2-4abe-b7d0-6a4eaae458a7"/>
  <p:tag name="commondata" val="eyJoZGlkIjoiODRhMzUyZWU5MDQ3YmZmNTZkNzFhOGE4N2UwZTYyNTYifQ=="/>
</p:tagLst>
</file>

<file path=ppt/theme/theme1.xml><?xml version="1.0" encoding="utf-8"?>
<a:theme xmlns:a="http://schemas.openxmlformats.org/drawingml/2006/main" name="1_Soaring">
  <a:themeElements>
    <a:clrScheme name="Soaring 5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9050" algn="ctr">
          <a:solidFill>
            <a:schemeClr val="bg2"/>
          </a:solidFill>
          <a:round/>
        </a:ln>
      </a:spPr>
      <a:bodyPr lIns="0" rIns="0" anchor="ctr">
        <a:spAutoFit/>
      </a:bodyPr>
      <a:lstStyle>
        <a:defPPr algn="ctr" eaLnBrk="1" hangingPunct="1">
          <a:spcBef>
            <a:spcPct val="50000"/>
          </a:spcBef>
          <a:defRPr kumimoji="0" sz="1200" b="1" dirty="0" smtClean="0">
            <a:solidFill>
              <a:schemeClr val="bg2"/>
            </a:solidFill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3127</Words>
  <Application>WPS 演示</Application>
  <PresentationFormat>全屏显示(16:9)</PresentationFormat>
  <Paragraphs>1667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Wingdings</vt:lpstr>
      <vt:lpstr>黑体</vt:lpstr>
      <vt:lpstr>Segoe UI Black</vt:lpstr>
      <vt:lpstr>隶书</vt:lpstr>
      <vt:lpstr>Arial</vt:lpstr>
      <vt:lpstr>楷体_GB2312</vt:lpstr>
      <vt:lpstr>新宋体</vt:lpstr>
      <vt:lpstr>微软雅黑</vt:lpstr>
      <vt:lpstr>Arial Unicode MS</vt:lpstr>
      <vt:lpstr>Calibri</vt:lpstr>
      <vt:lpstr>1_Soaring</vt:lpstr>
      <vt:lpstr>PowerPoint 演示文稿</vt:lpstr>
      <vt:lpstr>时序逻辑电路的分析方法</vt:lpstr>
      <vt:lpstr>例1 同步时序逻辑电路分析</vt:lpstr>
      <vt:lpstr>例1 同步时序逻辑电路分析</vt:lpstr>
      <vt:lpstr>例2 同步时序逻辑电路分析</vt:lpstr>
      <vt:lpstr>例2 同步时序逻辑电路分析</vt:lpstr>
      <vt:lpstr>同步时序逻辑电路分析方法总结</vt:lpstr>
      <vt:lpstr>例3 异步时序逻辑电路分析</vt:lpstr>
      <vt:lpstr>例3 异步时序逻辑电路分析</vt:lpstr>
      <vt:lpstr>异步时序逻辑电路分析方法总结</vt:lpstr>
      <vt:lpstr>课程目标</vt:lpstr>
    </vt:vector>
  </TitlesOfParts>
  <Company>niuyv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lina</dc:creator>
  <cp:lastModifiedBy>曲龙跃</cp:lastModifiedBy>
  <cp:revision>2146</cp:revision>
  <dcterms:created xsi:type="dcterms:W3CDTF">2025-10-23T02:41:00Z</dcterms:created>
  <dcterms:modified xsi:type="dcterms:W3CDTF">2026-10-22T01:58:27Z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671034116B814BA0ADB9C1A424952C73</vt:lpwstr>
  </property>
</Properties>
</file>