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5.xml" ContentType="application/vnd.openxmlformats-officedocument.presentationml.tags+xml"/>
  <Override PartName="/ppt/notesSlides/notesSlide3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7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469" r:id="rId11"/>
    <p:sldId id="389" r:id="rId12"/>
    <p:sldId id="430" r:id="rId13"/>
    <p:sldId id="508" r:id="rId14"/>
    <p:sldId id="391" r:id="rId15"/>
    <p:sldId id="392" r:id="rId16"/>
    <p:sldId id="393" r:id="rId17"/>
    <p:sldId id="394" r:id="rId18"/>
    <p:sldId id="546" r:id="rId19"/>
    <p:sldId id="547" r:id="rId20"/>
    <p:sldId id="397" r:id="rId21"/>
    <p:sldId id="398" r:id="rId22"/>
    <p:sldId id="399" r:id="rId23"/>
    <p:sldId id="401" r:id="rId24"/>
    <p:sldId id="402" r:id="rId25"/>
    <p:sldId id="581" r:id="rId26"/>
    <p:sldId id="404" r:id="rId27"/>
    <p:sldId id="579" r:id="rId28"/>
    <p:sldId id="405" r:id="rId29"/>
    <p:sldId id="406" r:id="rId30"/>
    <p:sldId id="409" r:id="rId31"/>
    <p:sldId id="410" r:id="rId32"/>
    <p:sldId id="413" r:id="rId33"/>
    <p:sldId id="414" r:id="rId34"/>
    <p:sldId id="415" r:id="rId35"/>
    <p:sldId id="416" r:id="rId36"/>
    <p:sldId id="417" r:id="rId37"/>
    <p:sldId id="418" r:id="rId38"/>
    <p:sldId id="419" r:id="rId39"/>
    <p:sldId id="580" r:id="rId40"/>
    <p:sldId id="420" r:id="rId41"/>
    <p:sldId id="421" r:id="rId42"/>
    <p:sldId id="422" r:id="rId43"/>
    <p:sldId id="473" r:id="rId44"/>
    <p:sldId id="424" r:id="rId45"/>
    <p:sldId id="425" r:id="rId46"/>
    <p:sldId id="426" r:id="rId47"/>
    <p:sldId id="427" r:id="rId48"/>
    <p:sldId id="428" r:id="rId49"/>
    <p:sldId id="474" r:id="rId50"/>
  </p:sldIdLst>
  <p:sldSz cx="9144000" cy="5143500" type="screen16x9"/>
  <p:notesSz cx="6858000" cy="9144000"/>
  <p:custDataLst>
    <p:tags r:id="rId5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9" userDrawn="1">
          <p15:clr>
            <a:srgbClr val="A4A3A4"/>
          </p15:clr>
        </p15:guide>
        <p15:guide id="2" pos="4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CC00"/>
    <a:srgbClr val="5F5F5F"/>
    <a:srgbClr val="E4E5EA"/>
    <a:srgbClr val="CC00CC"/>
    <a:srgbClr val="006666"/>
    <a:srgbClr val="660066"/>
    <a:srgbClr val="800080"/>
    <a:srgbClr val="990099"/>
    <a:srgbClr val="FFE8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6"/>
    <p:restoredTop sz="85230" autoAdjust="0"/>
  </p:normalViewPr>
  <p:slideViewPr>
    <p:cSldViewPr snapToGrid="0" showGuides="1">
      <p:cViewPr varScale="1">
        <p:scale>
          <a:sx n="95" d="100"/>
          <a:sy n="95" d="100"/>
        </p:scale>
        <p:origin x="1042" y="67"/>
      </p:cViewPr>
      <p:guideLst>
        <p:guide orient="horz" pos="2799"/>
        <p:guide pos="4434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86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51560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51561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51562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5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5155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517A846-97E9-4236-B876-D42378EED4B8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2026/10/18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5155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155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105155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5155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08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908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108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Clock Enable</a:t>
            </a:r>
            <a:r>
              <a:rPr lang="zh-CN" altLang="en-US" dirty="0"/>
              <a:t>（时钟使能端）：如果没有 </a:t>
            </a:r>
            <a:r>
              <a:rPr lang="en-US" altLang="zh-CN" dirty="0"/>
              <a:t>CE</a:t>
            </a:r>
            <a:r>
              <a:rPr lang="zh-CN" altLang="en-US" dirty="0"/>
              <a:t>，每个时钟沿都会更新输出，导致无法“暂停”数据。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缓存器：缓存寄存的数据，等待</a:t>
            </a:r>
            <a:r>
              <a:rPr lang="en-US" altLang="zh-CN" dirty="0" err="1"/>
              <a:t>En</a:t>
            </a:r>
            <a:r>
              <a:rPr lang="zh-CN" altLang="en-US" dirty="0"/>
              <a:t>读出</a:t>
            </a:r>
            <a:endParaRPr lang="en-US" altLang="zh-CN" dirty="0"/>
          </a:p>
        </p:txBody>
      </p:sp>
      <p:sp>
        <p:nvSpPr>
          <p:cNvPr id="104910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11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911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16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清零后，输入的是</a:t>
            </a:r>
            <a:r>
              <a:rPr lang="en-US" altLang="zh-CN" dirty="0"/>
              <a:t>yi1</a:t>
            </a:r>
            <a:r>
              <a:rPr lang="zh-CN" altLang="en-US" dirty="0"/>
              <a:t>，相当于</a:t>
            </a:r>
            <a:r>
              <a:rPr lang="en-US" altLang="zh-CN" dirty="0"/>
              <a:t>yi1+0</a:t>
            </a:r>
            <a:r>
              <a:rPr lang="zh-CN" altLang="en-US" dirty="0"/>
              <a:t>，将</a:t>
            </a:r>
            <a:r>
              <a:rPr lang="en-US" altLang="zh-CN" dirty="0"/>
              <a:t>yi1</a:t>
            </a:r>
            <a:r>
              <a:rPr lang="zh-CN" altLang="en-US" dirty="0"/>
              <a:t>存储到寄存器；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之后再输入一组数据</a:t>
            </a:r>
            <a:r>
              <a:rPr lang="en-US" altLang="zh-CN" dirty="0"/>
              <a:t>yi2</a:t>
            </a:r>
            <a:r>
              <a:rPr lang="zh-CN" altLang="en-US" dirty="0"/>
              <a:t>，执行的是</a:t>
            </a:r>
            <a:r>
              <a:rPr lang="en-US" altLang="zh-CN" dirty="0"/>
              <a:t>yi1+yi2</a:t>
            </a:r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所以真正的加数输入端口是</a:t>
            </a:r>
            <a:r>
              <a:rPr lang="en-US" altLang="zh-CN" dirty="0" err="1"/>
              <a:t>yi</a:t>
            </a:r>
            <a:r>
              <a:rPr lang="zh-CN" altLang="en-US" dirty="0"/>
              <a:t>，寄存器保存上一个输入的数据，然后做加法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加法做完后，清零</a:t>
            </a:r>
            <a:endParaRPr lang="en-US" altLang="zh-CN" dirty="0"/>
          </a:p>
        </p:txBody>
      </p:sp>
      <p:sp>
        <p:nvSpPr>
          <p:cNvPr id="104916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18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FA</a:t>
            </a:r>
            <a:r>
              <a:rPr lang="zh-CN" altLang="en-US" dirty="0"/>
              <a:t>：</a:t>
            </a:r>
            <a:r>
              <a:rPr lang="en-US" altLang="zh-CN" dirty="0"/>
              <a:t>full adder</a:t>
            </a:r>
            <a:endParaRPr lang="zh-CN" altLang="en-US" dirty="0"/>
          </a:p>
        </p:txBody>
      </p:sp>
      <p:sp>
        <p:nvSpPr>
          <p:cNvPr id="104919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21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92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06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90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73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串行输入：将数码从一个输入端</a:t>
            </a:r>
            <a:r>
              <a:rPr lang="zh-CN" altLang="en-US" b="1" dirty="0"/>
              <a:t>逐位输入</a:t>
            </a:r>
            <a:r>
              <a:rPr lang="zh-CN" altLang="en-US" dirty="0"/>
              <a:t>到寄存器中；并行输入：是将寄存的数码从各对应的输入端</a:t>
            </a:r>
            <a:r>
              <a:rPr lang="zh-CN" altLang="en-US" b="1" dirty="0"/>
              <a:t>同时输入</a:t>
            </a:r>
            <a:r>
              <a:rPr lang="zh-CN" altLang="en-US" dirty="0"/>
              <a:t>到寄存器中。</a:t>
            </a:r>
          </a:p>
          <a:p>
            <a:pPr lvl="0"/>
            <a:endParaRPr lang="zh-CN" altLang="en-US" dirty="0"/>
          </a:p>
        </p:txBody>
      </p:sp>
      <p:sp>
        <p:nvSpPr>
          <p:cNvPr id="104873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10486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486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71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r>
              <a:rPr lang="zh-CN" altLang="en-US" dirty="0"/>
              <a:t>串行输出：</a:t>
            </a:r>
            <a:r>
              <a:rPr lang="en-US" altLang="zh-CN" dirty="0"/>
              <a:t>Y0</a:t>
            </a:r>
            <a:r>
              <a:rPr lang="zh-CN" altLang="en-US" dirty="0"/>
              <a:t>从第四个时钟上升沿开始反映输入的变化，</a:t>
            </a:r>
            <a:endParaRPr lang="en-US" altLang="zh-CN" dirty="0"/>
          </a:p>
          <a:p>
            <a:pPr lvl="0">
              <a:spcBef>
                <a:spcPct val="0"/>
              </a:spcBef>
            </a:pPr>
            <a:r>
              <a:rPr lang="zh-CN" altLang="en-US" dirty="0"/>
              <a:t>并行输出：第四个时钟结束后，并行输出的结果是</a:t>
            </a:r>
            <a:r>
              <a:rPr lang="en-US" altLang="zh-CN" dirty="0"/>
              <a:t>1011</a:t>
            </a:r>
          </a:p>
        </p:txBody>
      </p:sp>
      <p:sp>
        <p:nvSpPr>
          <p:cNvPr id="104871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87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常用状态：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  <a:endParaRPr lang="en-US" altLang="zh-CN" dirty="0"/>
          </a:p>
          <a:p>
            <a:pPr lvl="0"/>
            <a:r>
              <a:rPr lang="zh-CN" altLang="en-US" dirty="0"/>
              <a:t>不常用状态：全</a:t>
            </a:r>
            <a:r>
              <a:rPr lang="en-US" altLang="zh-CN" dirty="0"/>
              <a:t>0</a:t>
            </a:r>
            <a:r>
              <a:rPr lang="zh-CN" altLang="en-US" dirty="0"/>
              <a:t>、全</a:t>
            </a:r>
            <a:r>
              <a:rPr lang="en-US" altLang="zh-CN" dirty="0"/>
              <a:t>1</a:t>
            </a:r>
            <a:r>
              <a:rPr lang="zh-CN" altLang="en-US" dirty="0"/>
              <a:t>、双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4887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04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A1~A3</a:t>
            </a:r>
            <a:r>
              <a:rPr lang="zh-CN" altLang="en-US" dirty="0"/>
              <a:t>是 预置数，写入；</a:t>
            </a:r>
            <a:endParaRPr lang="en-US" altLang="zh-CN" dirty="0"/>
          </a:p>
          <a:p>
            <a:pPr lvl="0"/>
            <a:r>
              <a:rPr lang="zh-CN" altLang="en-US" dirty="0"/>
              <a:t>对应</a:t>
            </a:r>
            <a:r>
              <a:rPr lang="en-US" altLang="zh-CN" dirty="0"/>
              <a:t>Q0~Q4</a:t>
            </a:r>
            <a:r>
              <a:rPr lang="zh-CN" altLang="en-US" dirty="0"/>
              <a:t>从触发器输出反馈得到，</a:t>
            </a:r>
            <a:r>
              <a:rPr lang="en-US" altLang="zh-CN" dirty="0"/>
              <a:t>Q0</a:t>
            </a:r>
            <a:r>
              <a:rPr lang="zh-CN" altLang="en-US" dirty="0"/>
              <a:t>和</a:t>
            </a:r>
            <a:r>
              <a:rPr lang="en-US" altLang="zh-CN" dirty="0"/>
              <a:t>Q4</a:t>
            </a:r>
            <a:r>
              <a:rPr lang="zh-CN" altLang="en-US" dirty="0"/>
              <a:t>是 左右移动时候的缓冲位</a:t>
            </a:r>
          </a:p>
        </p:txBody>
      </p:sp>
      <p:sp>
        <p:nvSpPr>
          <p:cNvPr id="104904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37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4937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982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串行输入（</a:t>
            </a:r>
            <a:r>
              <a:rPr lang="en-US" altLang="zh-CN" dirty="0"/>
              <a:t>SERIN</a:t>
            </a:r>
            <a:r>
              <a:rPr lang="zh-CN" altLang="en-US" dirty="0"/>
              <a:t>）；并行输出（</a:t>
            </a:r>
            <a:r>
              <a:rPr lang="en-US" altLang="zh-CN" dirty="0"/>
              <a:t>Q[7:0]</a:t>
            </a:r>
            <a:r>
              <a:rPr lang="zh-CN" altLang="en-US" dirty="0"/>
              <a:t>）</a:t>
            </a:r>
          </a:p>
        </p:txBody>
      </p:sp>
      <p:sp>
        <p:nvSpPr>
          <p:cNvPr id="10499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998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CLR</a:t>
            </a:r>
            <a:r>
              <a:rPr lang="zh-CN" altLang="en-US" dirty="0"/>
              <a:t>没有写在敏感列表中，同步清零。</a:t>
            </a:r>
          </a:p>
        </p:txBody>
      </p:sp>
      <p:sp>
        <p:nvSpPr>
          <p:cNvPr id="1049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002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计数器是一种典型的时序逻辑电路，所以在这里简单介绍一下时序逻辑电路的分类。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2-</a:t>
            </a:r>
            <a:r>
              <a:rPr lang="zh-CN" altLang="en-US" dirty="0"/>
              <a:t>上一级输出作为下一级的时钟输入；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3-</a:t>
            </a:r>
            <a:r>
              <a:rPr lang="zh-CN" altLang="en-US" dirty="0"/>
              <a:t>输出端</a:t>
            </a:r>
            <a:r>
              <a:rPr lang="en-US" altLang="zh-CN" dirty="0"/>
              <a:t>Y</a:t>
            </a:r>
            <a:r>
              <a:rPr lang="zh-CN" altLang="en-US" dirty="0"/>
              <a:t> 取自 触发器的</a:t>
            </a:r>
            <a:r>
              <a:rPr lang="en-US" altLang="zh-CN" dirty="0"/>
              <a:t>Q</a:t>
            </a:r>
            <a:r>
              <a:rPr lang="zh-CN" altLang="en-US" dirty="0"/>
              <a:t>输出；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4-</a:t>
            </a:r>
            <a:r>
              <a:rPr lang="zh-CN" altLang="en-US" dirty="0"/>
              <a:t>输出端</a:t>
            </a:r>
            <a:r>
              <a:rPr lang="en-US" altLang="zh-CN" dirty="0"/>
              <a:t>B</a:t>
            </a:r>
            <a:r>
              <a:rPr lang="zh-CN" altLang="en-US" dirty="0"/>
              <a:t> 与</a:t>
            </a:r>
            <a:r>
              <a:rPr lang="en-US" altLang="zh-CN" dirty="0"/>
              <a:t>Q</a:t>
            </a:r>
            <a:r>
              <a:rPr lang="zh-CN" altLang="en-US" dirty="0"/>
              <a:t>和输入</a:t>
            </a:r>
            <a:r>
              <a:rPr lang="en-US" altLang="zh-CN" dirty="0" err="1"/>
              <a:t>En</a:t>
            </a:r>
            <a:r>
              <a:rPr lang="zh-CN" altLang="en-US" dirty="0"/>
              <a:t>有关</a:t>
            </a:r>
          </a:p>
        </p:txBody>
      </p:sp>
      <p:sp>
        <p:nvSpPr>
          <p:cNvPr id="10500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26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  <a:t>27</a:t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02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图中模</a:t>
            </a:r>
            <a:r>
              <a:rPr lang="en-US" altLang="zh-CN" dirty="0"/>
              <a:t>6</a:t>
            </a:r>
            <a:r>
              <a:rPr lang="zh-CN" altLang="en-US" dirty="0"/>
              <a:t>加法计数器：只使用 </a:t>
            </a:r>
            <a:r>
              <a:rPr lang="en-US" altLang="zh-CN" dirty="0"/>
              <a:t>6 </a:t>
            </a:r>
            <a:r>
              <a:rPr lang="zh-CN" altLang="en-US" dirty="0"/>
              <a:t>种状态（</a:t>
            </a:r>
            <a:r>
              <a:rPr lang="en-US" altLang="zh-CN" dirty="0"/>
              <a:t>0~5</a:t>
            </a:r>
            <a:r>
              <a:rPr lang="zh-CN" altLang="en-US" dirty="0"/>
              <a:t>），剩下的两个状态不参与循环。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整组触发器的组合状态即表示 计数值。</a:t>
            </a:r>
          </a:p>
        </p:txBody>
      </p:sp>
      <p:sp>
        <p:nvSpPr>
          <p:cNvPr id="10500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28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3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032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003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29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19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次态：</a:t>
            </a:r>
            <a:r>
              <a:rPr lang="en-US" altLang="zh-CN" dirty="0"/>
              <a:t>11 </a:t>
            </a:r>
            <a:r>
              <a:rPr lang="zh-CN" altLang="en-US" dirty="0"/>
              <a:t>翻转； 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状态转换表：状态按二进制加 </a:t>
            </a:r>
            <a:r>
              <a:rPr lang="en-US" altLang="zh-CN" dirty="0"/>
              <a:t>1 </a:t>
            </a:r>
            <a:r>
              <a:rPr lang="zh-CN" altLang="en-US" dirty="0"/>
              <a:t>顺序循环（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7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现态</a:t>
            </a:r>
            <a:r>
              <a:rPr lang="en-US" altLang="zh-CN" dirty="0"/>
              <a:t>=》</a:t>
            </a:r>
            <a:r>
              <a:rPr lang="zh-CN" altLang="en-US" dirty="0"/>
              <a:t>次态，有变化 则对应有</a:t>
            </a:r>
            <a:r>
              <a:rPr lang="en-US" altLang="zh-CN" dirty="0"/>
              <a:t>CP</a:t>
            </a:r>
            <a:endParaRPr lang="zh-CN" altLang="en-US" dirty="0"/>
          </a:p>
        </p:txBody>
      </p:sp>
      <p:sp>
        <p:nvSpPr>
          <p:cNvPr id="105019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zh-CN" altLang="en-US" sz="1200" noProof="0" dirty="0">
                <a:latin typeface="宋体" pitchFamily="2" charset="-122"/>
                <a:cs typeface="宋体" pitchFamily="2" charset="-122"/>
                <a:sym typeface="+mn-ea"/>
              </a:rPr>
              <a:t>各触发器的输入：由多个</a:t>
            </a:r>
            <a:r>
              <a:rPr kumimoji="1" lang="en-US" altLang="zh-CN" sz="1200" noProof="0" dirty="0">
                <a:latin typeface="宋体" pitchFamily="2" charset="-122"/>
                <a:cs typeface="宋体" pitchFamily="2" charset="-122"/>
                <a:sym typeface="+mn-ea"/>
              </a:rPr>
              <a:t>Q</a:t>
            </a:r>
            <a:r>
              <a:rPr kumimoji="1" lang="zh-CN" altLang="en-US" sz="1200" noProof="0" dirty="0">
                <a:latin typeface="宋体" pitchFamily="2" charset="-122"/>
                <a:cs typeface="宋体" pitchFamily="2" charset="-122"/>
                <a:sym typeface="+mn-ea"/>
              </a:rPr>
              <a:t>输出的组合逻辑得到；</a:t>
            </a:r>
            <a:endParaRPr kumimoji="1" lang="en-US" altLang="zh-CN" sz="1200" noProof="0" dirty="0">
              <a:latin typeface="宋体" pitchFamily="2" charset="-122"/>
              <a:cs typeface="宋体" pitchFamily="2" charset="-122"/>
              <a:sym typeface="+mn-ea"/>
            </a:endParaRPr>
          </a:p>
          <a:p>
            <a:r>
              <a:rPr lang="zh-CN" altLang="en-US" dirty="0"/>
              <a:t>根据现态，代入输入方程和次态方程，得到次态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410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前面讲触发器应用的时候提到了环形计数器，这里简介回顾</a:t>
            </a:r>
            <a:endParaRPr lang="en-US" altLang="zh-CN" dirty="0"/>
          </a:p>
          <a:p>
            <a:pPr lvl="0"/>
            <a:r>
              <a:rPr lang="zh-CN" altLang="en-US" dirty="0"/>
              <a:t>状态图：按照并行输出的方式 整理出的状态</a:t>
            </a:r>
          </a:p>
        </p:txBody>
      </p:sp>
      <p:sp>
        <p:nvSpPr>
          <p:cNvPr id="1050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6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46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/>
              <a:t>状态图：按照并行输出的方式进行 整理的状态</a:t>
            </a:r>
            <a:endParaRPr lang="zh-CN" altLang="en-US" dirty="0"/>
          </a:p>
        </p:txBody>
      </p:sp>
      <p:sp>
        <p:nvSpPr>
          <p:cNvPr id="105046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波形图，每个时钟代表一组</a:t>
            </a:r>
            <a:r>
              <a:rPr lang="en-US" altLang="zh-CN" dirty="0"/>
              <a:t>Q3Q2Q1Q0 </a:t>
            </a:r>
            <a:r>
              <a:rPr lang="zh-CN" altLang="en-US" dirty="0"/>
              <a:t>分别为</a:t>
            </a:r>
            <a:r>
              <a:rPr lang="en-US" altLang="zh-CN" dirty="0"/>
              <a:t>1000  1100 1110.</a:t>
            </a:r>
            <a:r>
              <a:rPr lang="zh-CN" altLang="en-US" dirty="0"/>
              <a:t>。。。。。。。。</a:t>
            </a:r>
            <a:endParaRPr lang="en-US" altLang="zh-CN" dirty="0"/>
          </a:p>
          <a:p>
            <a:r>
              <a:rPr lang="zh-CN" altLang="en-US" dirty="0"/>
              <a:t>译码无竞争冒险（因为每次只翻转一个触发器，状态平滑切换）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2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92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093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93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09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9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0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4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094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094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自学</a:t>
            </a:r>
          </a:p>
        </p:txBody>
      </p:sp>
    </p:spTree>
    <p:extLst>
      <p:ext uri="{BB962C8B-B14F-4D97-AF65-F5344CB8AC3E}">
        <p14:creationId xmlns:p14="http://schemas.microsoft.com/office/powerpoint/2010/main" val="1512781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4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104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105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3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1440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5144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4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1548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05154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48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标题 1"/>
          <p:cNvSpPr>
            <a:spLocks noGrp="1"/>
          </p:cNvSpPr>
          <p:nvPr>
            <p:ph type="title"/>
          </p:nvPr>
        </p:nvSpPr>
        <p:spPr>
          <a:xfrm>
            <a:off x="417600" y="46990"/>
            <a:ext cx="8320405" cy="51054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80" name="内容占位符 2"/>
          <p:cNvSpPr>
            <a:spLocks noGrp="1"/>
          </p:cNvSpPr>
          <p:nvPr>
            <p:ph idx="1"/>
          </p:nvPr>
        </p:nvSpPr>
        <p:spPr>
          <a:xfrm>
            <a:off x="417600" y="629920"/>
            <a:ext cx="8320405" cy="4046855"/>
          </a:xfrm>
        </p:spPr>
        <p:txBody>
          <a:bodyPr/>
          <a:lstStyle>
            <a:lvl1pPr>
              <a:buClr>
                <a:srgbClr val="000000"/>
              </a:buClr>
              <a:defRPr sz="3200"/>
            </a:lvl1pPr>
            <a:lvl2pPr>
              <a:buClr>
                <a:srgbClr val="000000"/>
              </a:buClr>
              <a:buFont typeface="Wingdings" panose="05000000000000000000" charset="0"/>
              <a:buChar char="l"/>
              <a:defRPr sz="2800"/>
            </a:lvl2pPr>
            <a:lvl3pPr>
              <a:buClr>
                <a:srgbClr val="000000"/>
              </a:buClr>
              <a:buSzPct val="80000"/>
              <a:defRPr sz="2400"/>
            </a:lvl3pPr>
            <a:lvl4pPr>
              <a:buClr>
                <a:srgbClr val="000000"/>
              </a:buClr>
              <a:buFont typeface="Wingdings" panose="05000000000000000000" charset="0"/>
              <a:buChar char="l"/>
              <a:defRPr sz="2000"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</p:txBody>
      </p:sp>
      <p:sp>
        <p:nvSpPr>
          <p:cNvPr id="1048881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882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883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418042" y="594000"/>
            <a:ext cx="8352000" cy="0"/>
          </a:xfrm>
          <a:prstGeom prst="line">
            <a:avLst/>
          </a:prstGeom>
          <a:ln w="38100" cap="flat" cmpd="dbl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标题 1"/>
          <p:cNvSpPr>
            <a:spLocks noGrp="1"/>
          </p:cNvSpPr>
          <p:nvPr>
            <p:ph type="title"/>
          </p:nvPr>
        </p:nvSpPr>
        <p:spPr>
          <a:xfrm>
            <a:off x="427355" y="46990"/>
            <a:ext cx="8320405" cy="73914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80" name="内容占位符 2"/>
          <p:cNvSpPr>
            <a:spLocks noGrp="1"/>
          </p:cNvSpPr>
          <p:nvPr>
            <p:ph idx="1"/>
          </p:nvPr>
        </p:nvSpPr>
        <p:spPr>
          <a:xfrm>
            <a:off x="417600" y="972185"/>
            <a:ext cx="8320405" cy="3704590"/>
          </a:xfrm>
        </p:spPr>
        <p:txBody>
          <a:bodyPr/>
          <a:lstStyle>
            <a:lvl1pPr>
              <a:lnSpc>
                <a:spcPct val="150000"/>
              </a:lnSpc>
              <a:buClr>
                <a:srgbClr val="000000"/>
              </a:buClr>
              <a:defRPr sz="3600"/>
            </a:lvl1pPr>
            <a:lvl2pPr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l"/>
              <a:defRPr sz="3200"/>
            </a:lvl2pPr>
            <a:lvl3pPr marL="685800" indent="0">
              <a:buClr>
                <a:srgbClr val="000000"/>
              </a:buClr>
              <a:buSzPct val="80000"/>
              <a:buNone/>
              <a:defRPr sz="2400"/>
            </a:lvl3pPr>
            <a:lvl4pPr>
              <a:buClr>
                <a:srgbClr val="000000"/>
              </a:buClr>
              <a:buFont typeface="Wingdings" panose="05000000000000000000" charset="0"/>
              <a:buChar char="l"/>
              <a:defRPr sz="2000"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</p:txBody>
      </p:sp>
      <p:sp>
        <p:nvSpPr>
          <p:cNvPr id="1048881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882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883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418042" y="879120"/>
            <a:ext cx="8352000" cy="0"/>
          </a:xfrm>
          <a:prstGeom prst="line">
            <a:avLst/>
          </a:prstGeom>
          <a:ln w="38100" cap="flat" cmpd="dbl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  <a:t>‹#›</a:t>
            </a:fld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1048584" name="标题 4"/>
          <p:cNvSpPr>
            <a:spLocks noGrp="1"/>
          </p:cNvSpPr>
          <p:nvPr>
            <p:ph type="title"/>
          </p:nvPr>
        </p:nvSpPr>
        <p:spPr>
          <a:xfrm>
            <a:off x="417600" y="46990"/>
            <a:ext cx="8320405" cy="49403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418042" y="592243"/>
            <a:ext cx="8352000" cy="0"/>
          </a:xfrm>
          <a:prstGeom prst="line">
            <a:avLst/>
          </a:prstGeom>
          <a:ln w="38100" cap="flat" cmpd="dbl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en-US" altLang="zh-CN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en-US" altLang="zh-CN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29777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5"/>
          <p:cNvSpPr>
            <a:spLocks noGrp="1"/>
          </p:cNvSpPr>
          <p:nvPr>
            <p:ph type="title"/>
          </p:nvPr>
        </p:nvSpPr>
        <p:spPr>
          <a:xfrm>
            <a:off x="417600" y="68580"/>
            <a:ext cx="8251825" cy="58356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/>
            <a:r>
              <a:rPr lang="en-US" altLang="en-US" dirty="0"/>
              <a:t>单击此处编辑母版标题样式</a:t>
            </a:r>
          </a:p>
        </p:txBody>
      </p:sp>
      <p:sp>
        <p:nvSpPr>
          <p:cNvPr id="1048577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spcBef>
                <a:spcPct val="0"/>
              </a:spcBef>
              <a:defRPr kumimoji="0" sz="105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578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spcBef>
                <a:spcPct val="0"/>
              </a:spcBef>
              <a:defRPr kumimoji="0" sz="10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579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90204" pitchFamily="34" charset="0"/>
              </a:rPr>
              <a:t>‹#›</a:t>
            </a:fld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1048580" name="Rectangle 9"/>
          <p:cNvSpPr>
            <a:spLocks noGrp="1"/>
          </p:cNvSpPr>
          <p:nvPr>
            <p:ph type="body"/>
          </p:nvPr>
        </p:nvSpPr>
        <p:spPr>
          <a:xfrm>
            <a:off x="417600" y="711200"/>
            <a:ext cx="8251825" cy="3975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2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90204" pitchFamily="34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90204" pitchFamily="34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90204" pitchFamily="34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90204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l"/>
        <a:defRPr sz="3200">
          <a:solidFill>
            <a:schemeClr val="bg2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90000"/>
        <a:buFont typeface="Wingdings" panose="05000000000000000000" charset="0"/>
        <a:buChar char="l"/>
        <a:defRPr sz="2800">
          <a:solidFill>
            <a:schemeClr val="bg2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60000"/>
        <a:buFont typeface="Wingdings" panose="05000000000000000000" pitchFamily="2" charset="2"/>
        <a:buChar char="l"/>
        <a:defRPr sz="2400">
          <a:solidFill>
            <a:schemeClr val="bg2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90000"/>
        <a:buFont typeface="Wingdings" panose="05000000000000000000" charset="0"/>
        <a:buChar char="l"/>
        <a:defRPr sz="2000">
          <a:solidFill>
            <a:schemeClr val="bg2"/>
          </a:solidFill>
          <a:latin typeface="+mn-lt"/>
          <a:ea typeface="+mn-ea"/>
        </a:defRPr>
      </a:lvl4pPr>
      <a:lvl5pPr marL="1371600" indent="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None/>
        <a:defRPr sz="1500">
          <a:solidFill>
            <a:schemeClr val="bg2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3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r" defTabSz="685800" rtl="0" eaLnBrk="1" latinLnBrk="0" hangingPunct="1">
              <a:defRPr kumimoji="1" sz="10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2C937AA-D504-4AFF-87AB-8B4750AC8DC1}" type="slidenum">
              <a:rPr lang="zh-CN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147" name="矩形 10"/>
          <p:cNvSpPr>
            <a:spLocks noChangeArrowheads="1"/>
          </p:cNvSpPr>
          <p:nvPr/>
        </p:nvSpPr>
        <p:spPr bwMode="auto">
          <a:xfrm>
            <a:off x="2033587" y="1275160"/>
            <a:ext cx="5130404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950" b="1">
                <a:solidFill>
                  <a:srgbClr val="0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数字逻辑设计</a:t>
            </a:r>
            <a:endParaRPr lang="zh-CN" altLang="en-US" sz="2700">
              <a:solidFill>
                <a:srgbClr val="0000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5D841724-DE9C-AAD5-A0F1-A8322F01E6D2}"/>
              </a:ext>
            </a:extLst>
          </p:cNvPr>
          <p:cNvSpPr/>
          <p:nvPr/>
        </p:nvSpPr>
        <p:spPr>
          <a:xfrm>
            <a:off x="4949938" y="3489279"/>
            <a:ext cx="3348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曲龙跃</a:t>
            </a:r>
          </a:p>
          <a:p>
            <a:r>
              <a:rPr kumimoji="1" lang="zh-CN" altLang="en-US" dirty="0">
                <a:solidFill>
                  <a:srgbClr val="000000"/>
                </a:solidFill>
                <a:ea typeface="黑体" panose="02010609060101010101" pitchFamily="2" charset="-122"/>
                <a:cs typeface="Times New Roman" panose="02020603050405020304" pitchFamily="18" charset="0"/>
              </a:rPr>
              <a:t>信息科学与技术学院</a:t>
            </a:r>
            <a:endParaRPr kumimoji="1" lang="en-US" altLang="zh-CN" dirty="0">
              <a:solidFill>
                <a:srgbClr val="000000"/>
              </a:solidFill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solidFill>
                  <a:srgbClr val="000000"/>
                </a:solidFill>
                <a:ea typeface="黑体" panose="02010609060101010101" pitchFamily="2" charset="-122"/>
                <a:cs typeface="Times New Roman" panose="02020603050405020304" pitchFamily="18" charset="0"/>
              </a:rPr>
              <a:t>qulongyue@hit.edu.cn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寄存器和计数器</a:t>
            </a:r>
          </a:p>
        </p:txBody>
      </p:sp>
      <p:sp>
        <p:nvSpPr>
          <p:cNvPr id="104907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寄存器（Registers） 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移位寄存器（Shift Registers）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计数器（Counters）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节拍发生器（Beat Generator）</a:t>
            </a:r>
            <a:r>
              <a:rPr kumimoji="1" lang="en-US" altLang="zh-CN" b="1" kern="120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kumimoji="1" lang="zh-CN" altLang="en-US" b="1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自学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49073" name="灯片编号占位符 4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2075" tIns="46038" rIns="92075" bIns="46038" numCol="1" anchor="ctr" anchorCtr="0" compatLnSpc="1"/>
          <a:lstStyle/>
          <a:p>
            <a:pPr marL="0" indent="0" algn="r" defTabSz="68580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2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寄存器的定义、分类等</a:t>
            </a:r>
            <a:endParaRPr lang="en-US" altLang="zh-CN" dirty="0">
              <a:sym typeface="+mn-ea"/>
            </a:endParaRPr>
          </a:p>
        </p:txBody>
      </p:sp>
      <p:sp>
        <p:nvSpPr>
          <p:cNvPr id="1049075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4625" lvl="1" indent="-174625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寄存器是计算机的重要部件，用于暂时存放一组二进制代码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(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如参加运算的数据、运算结果、指令等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宋体" pitchFamily="2" charset="-122"/>
              <a:ea typeface="宋体" pitchFamily="2" charset="-122"/>
            </a:endParaRPr>
          </a:p>
          <a:p>
            <a:pPr marL="174625" lvl="1" indent="-174625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dirty="0">
                <a:latin typeface="宋体" pitchFamily="2" charset="-122"/>
                <a:ea typeface="宋体" pitchFamily="2" charset="-122"/>
                <a:sym typeface="+mn-ea"/>
              </a:rPr>
              <a:t>由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触发器及控制门</a:t>
            </a:r>
            <a:r>
              <a:rPr lang="zh-CN" altLang="en-US" dirty="0">
                <a:latin typeface="宋体" pitchFamily="2" charset="-122"/>
                <a:ea typeface="宋体" pitchFamily="2" charset="-122"/>
                <a:sym typeface="+mn-ea"/>
              </a:rPr>
              <a:t>组成</a:t>
            </a:r>
          </a:p>
        </p:txBody>
      </p:sp>
      <p:sp>
        <p:nvSpPr>
          <p:cNvPr id="1049076" name="Rectangle 112"/>
          <p:cNvSpPr/>
          <p:nvPr/>
        </p:nvSpPr>
        <p:spPr>
          <a:xfrm>
            <a:off x="1817370" y="2588260"/>
            <a:ext cx="12261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寄存器</a:t>
            </a:r>
          </a:p>
        </p:txBody>
      </p:sp>
      <p:sp>
        <p:nvSpPr>
          <p:cNvPr id="1049077" name="AutoShape 113"/>
          <p:cNvSpPr/>
          <p:nvPr/>
        </p:nvSpPr>
        <p:spPr>
          <a:xfrm>
            <a:off x="3219450" y="2326005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9078" name="Rectangle 114"/>
          <p:cNvSpPr/>
          <p:nvPr/>
        </p:nvSpPr>
        <p:spPr>
          <a:xfrm>
            <a:off x="3349625" y="2116455"/>
            <a:ext cx="19097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基本寄存器</a:t>
            </a:r>
          </a:p>
        </p:txBody>
      </p:sp>
      <p:sp>
        <p:nvSpPr>
          <p:cNvPr id="1049079" name="Rectangle 115"/>
          <p:cNvSpPr/>
          <p:nvPr/>
        </p:nvSpPr>
        <p:spPr>
          <a:xfrm>
            <a:off x="3349625" y="2975293"/>
            <a:ext cx="19605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移位寄存器</a:t>
            </a:r>
          </a:p>
        </p:txBody>
      </p:sp>
      <p:grpSp>
        <p:nvGrpSpPr>
          <p:cNvPr id="169" name="Group 18"/>
          <p:cNvGrpSpPr/>
          <p:nvPr/>
        </p:nvGrpSpPr>
        <p:grpSpPr>
          <a:xfrm>
            <a:off x="5247005" y="2764155"/>
            <a:ext cx="2540635" cy="892175"/>
            <a:chOff x="3084" y="3362"/>
            <a:chExt cx="1249" cy="562"/>
          </a:xfrm>
        </p:grpSpPr>
        <p:sp>
          <p:nvSpPr>
            <p:cNvPr id="1049080" name="Rectangle 120"/>
            <p:cNvSpPr/>
            <p:nvPr/>
          </p:nvSpPr>
          <p:spPr>
            <a:xfrm>
              <a:off x="3132" y="3362"/>
              <a:ext cx="120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bg2"/>
                  </a:solidFill>
                  <a:latin typeface="宋体" pitchFamily="2" charset="-122"/>
                  <a:ea typeface="宋体" pitchFamily="2" charset="-122"/>
                </a:rPr>
                <a:t>单向移位寄存器</a:t>
              </a:r>
            </a:p>
          </p:txBody>
        </p:sp>
        <p:sp>
          <p:nvSpPr>
            <p:cNvPr id="1049081" name="AutoShape 121"/>
            <p:cNvSpPr/>
            <p:nvPr/>
          </p:nvSpPr>
          <p:spPr>
            <a:xfrm>
              <a:off x="3084" y="3418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49082" name="Rectangle 122"/>
            <p:cNvSpPr/>
            <p:nvPr/>
          </p:nvSpPr>
          <p:spPr>
            <a:xfrm>
              <a:off x="3132" y="3634"/>
              <a:ext cx="120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bg2"/>
                  </a:solidFill>
                  <a:latin typeface="宋体" pitchFamily="2" charset="-122"/>
                  <a:ea typeface="宋体" pitchFamily="2" charset="-122"/>
                </a:rPr>
                <a:t>双向移位寄存器</a:t>
              </a:r>
            </a:p>
          </p:txBody>
        </p:sp>
      </p:grpSp>
      <p:sp>
        <p:nvSpPr>
          <p:cNvPr id="1049083" name="TextBox 18"/>
          <p:cNvSpPr txBox="1"/>
          <p:nvPr/>
        </p:nvSpPr>
        <p:spPr>
          <a:xfrm>
            <a:off x="417830" y="3834765"/>
            <a:ext cx="8569960" cy="979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74625" lvl="1" indent="-174625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基本寄存器的操作：</a:t>
            </a:r>
            <a:r>
              <a:rPr kumimoji="0" lang="zh-CN" altLang="en-US" sz="240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读出/写入/复位（清零）</a:t>
            </a:r>
            <a:endParaRPr lang="en-US" altLang="zh-CN" sz="2400" dirty="0">
              <a:solidFill>
                <a:schemeClr val="bg2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174625" lvl="1" indent="-174625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移位寄存器的操作：</a:t>
            </a:r>
            <a:r>
              <a:rPr kumimoji="0" lang="zh-CN" altLang="en-US" sz="240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读出/写入/复位（清零）/左移（右移）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49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49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75" grpId="0" uiExpand="1" build="p"/>
      <p:bldP spid="1049076" grpId="0"/>
      <p:bldP spid="1049077" grpId="0" bldLvl="0" animBg="1"/>
      <p:bldP spid="1049078" grpId="0"/>
      <p:bldP spid="1049079" grpId="0"/>
      <p:bldP spid="1049083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605" y="2334260"/>
            <a:ext cx="1971675" cy="1329690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1049087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基本寄存器</a:t>
            </a:r>
            <a:endParaRPr lang="zh-CN" altLang="en-US"/>
          </a:p>
        </p:txBody>
      </p:sp>
      <p:pic>
        <p:nvPicPr>
          <p:cNvPr id="2097161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1625283"/>
            <a:ext cx="6121400" cy="1550987"/>
          </a:xfrm>
          <a:prstGeom prst="rect">
            <a:avLst/>
          </a:prstGeom>
          <a:noFill/>
          <a:ln w="19050">
            <a:noFill/>
          </a:ln>
        </p:spPr>
      </p:pic>
      <p:grpSp>
        <p:nvGrpSpPr>
          <p:cNvPr id="173" name="组合 43"/>
          <p:cNvGrpSpPr/>
          <p:nvPr/>
        </p:nvGrpSpPr>
        <p:grpSpPr>
          <a:xfrm>
            <a:off x="1476375" y="1350645"/>
            <a:ext cx="5529263" cy="387350"/>
            <a:chOff x="1475656" y="1465543"/>
            <a:chExt cx="5529534" cy="387275"/>
          </a:xfrm>
        </p:grpSpPr>
        <p:pic>
          <p:nvPicPr>
            <p:cNvPr id="2097162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55776" y="1465543"/>
              <a:ext cx="317496" cy="360000"/>
            </a:xfrm>
            <a:prstGeom prst="rect">
              <a:avLst/>
            </a:prstGeom>
            <a:noFill/>
            <a:ln w="19050">
              <a:noFill/>
            </a:ln>
          </p:spPr>
        </p:pic>
        <p:pic>
          <p:nvPicPr>
            <p:cNvPr id="2097163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38009" y="1465543"/>
              <a:ext cx="317496" cy="360000"/>
            </a:xfrm>
            <a:prstGeom prst="rect">
              <a:avLst/>
            </a:prstGeom>
            <a:noFill/>
            <a:ln w="19050">
              <a:noFill/>
            </a:ln>
          </p:spPr>
        </p:pic>
        <p:pic>
          <p:nvPicPr>
            <p:cNvPr id="2097164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05461" y="1491670"/>
              <a:ext cx="317496" cy="360000"/>
            </a:xfrm>
            <a:prstGeom prst="rect">
              <a:avLst/>
            </a:prstGeom>
            <a:noFill/>
            <a:ln w="19050">
              <a:noFill/>
            </a:ln>
          </p:spPr>
        </p:pic>
        <p:pic>
          <p:nvPicPr>
            <p:cNvPr id="2097165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87694" y="1491670"/>
              <a:ext cx="317496" cy="360000"/>
            </a:xfrm>
            <a:prstGeom prst="rect">
              <a:avLst/>
            </a:prstGeom>
            <a:noFill/>
            <a:ln w="19050">
              <a:noFill/>
            </a:ln>
          </p:spPr>
        </p:pic>
        <p:pic>
          <p:nvPicPr>
            <p:cNvPr id="2097166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35696" y="1509048"/>
              <a:ext cx="432048" cy="301681"/>
            </a:xfrm>
            <a:prstGeom prst="rect">
              <a:avLst/>
            </a:prstGeom>
            <a:noFill/>
            <a:ln w="19050">
              <a:noFill/>
            </a:ln>
          </p:spPr>
        </p:pic>
        <p:cxnSp>
          <p:nvCxnSpPr>
            <p:cNvPr id="3145803" name="直接连接符 32"/>
            <p:cNvCxnSpPr/>
            <p:nvPr/>
          </p:nvCxnSpPr>
          <p:spPr>
            <a:xfrm>
              <a:off x="2250326" y="1653064"/>
              <a:ext cx="396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04" name="直接连接符 34"/>
            <p:cNvCxnSpPr/>
            <p:nvPr/>
          </p:nvCxnSpPr>
          <p:spPr>
            <a:xfrm>
              <a:off x="2411760" y="1661773"/>
              <a:ext cx="0" cy="1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oval" w="med" len="med"/>
              <a:tailEnd type="none" w="med" len="med"/>
            </a:ln>
          </p:spPr>
        </p:cxnSp>
        <p:cxnSp>
          <p:nvCxnSpPr>
            <p:cNvPr id="3145805" name="直接连接符 35"/>
            <p:cNvCxnSpPr/>
            <p:nvPr/>
          </p:nvCxnSpPr>
          <p:spPr>
            <a:xfrm>
              <a:off x="2420144" y="1840300"/>
              <a:ext cx="40608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06" name="直接连接符 36"/>
            <p:cNvCxnSpPr/>
            <p:nvPr/>
          </p:nvCxnSpPr>
          <p:spPr>
            <a:xfrm>
              <a:off x="3714277" y="1653064"/>
              <a:ext cx="0" cy="1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807" name="直接连接符 37"/>
            <p:cNvCxnSpPr/>
            <p:nvPr/>
          </p:nvCxnSpPr>
          <p:spPr>
            <a:xfrm>
              <a:off x="3715489" y="1653064"/>
              <a:ext cx="3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08" name="直接连接符 38"/>
            <p:cNvCxnSpPr/>
            <p:nvPr/>
          </p:nvCxnSpPr>
          <p:spPr>
            <a:xfrm>
              <a:off x="5077749" y="1672818"/>
              <a:ext cx="0" cy="1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809" name="直接连接符 39"/>
            <p:cNvCxnSpPr/>
            <p:nvPr/>
          </p:nvCxnSpPr>
          <p:spPr>
            <a:xfrm>
              <a:off x="5087670" y="1681527"/>
              <a:ext cx="3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0" name="直接连接符 40"/>
            <p:cNvCxnSpPr/>
            <p:nvPr/>
          </p:nvCxnSpPr>
          <p:spPr>
            <a:xfrm>
              <a:off x="6479044" y="1671670"/>
              <a:ext cx="0" cy="162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1" name="直接连接符 41"/>
            <p:cNvCxnSpPr/>
            <p:nvPr/>
          </p:nvCxnSpPr>
          <p:spPr>
            <a:xfrm>
              <a:off x="6471547" y="1680379"/>
              <a:ext cx="3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pic>
          <p:nvPicPr>
            <p:cNvPr id="2097167" name="Pictur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5656" y="1491630"/>
              <a:ext cx="249684" cy="249684"/>
            </a:xfrm>
            <a:prstGeom prst="rect">
              <a:avLst/>
            </a:prstGeom>
            <a:noFill/>
            <a:ln w="19050">
              <a:noFill/>
            </a:ln>
          </p:spPr>
        </p:pic>
      </p:grpSp>
      <p:grpSp>
        <p:nvGrpSpPr>
          <p:cNvPr id="174" name="组合 34"/>
          <p:cNvGrpSpPr/>
          <p:nvPr/>
        </p:nvGrpSpPr>
        <p:grpSpPr>
          <a:xfrm>
            <a:off x="2679065" y="3129280"/>
            <a:ext cx="4565650" cy="311965"/>
            <a:chOff x="2581903" y="2912045"/>
            <a:chExt cx="4564967" cy="516559"/>
          </a:xfrm>
        </p:grpSpPr>
        <p:sp>
          <p:nvSpPr>
            <p:cNvPr id="1049088" name="Text Box 5"/>
            <p:cNvSpPr txBox="1"/>
            <p:nvPr/>
          </p:nvSpPr>
          <p:spPr>
            <a:xfrm>
              <a:off x="3973512" y="2920754"/>
              <a:ext cx="598488" cy="5078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1</a:t>
              </a:r>
            </a:p>
          </p:txBody>
        </p:sp>
        <p:sp>
          <p:nvSpPr>
            <p:cNvPr id="1049089" name="Text Box 6"/>
            <p:cNvSpPr txBox="1"/>
            <p:nvPr/>
          </p:nvSpPr>
          <p:spPr>
            <a:xfrm>
              <a:off x="2581903" y="2912045"/>
              <a:ext cx="432048" cy="5078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0</a:t>
              </a:r>
            </a:p>
          </p:txBody>
        </p:sp>
        <p:sp>
          <p:nvSpPr>
            <p:cNvPr id="1049090" name="Text Box 43"/>
            <p:cNvSpPr txBox="1"/>
            <p:nvPr/>
          </p:nvSpPr>
          <p:spPr>
            <a:xfrm>
              <a:off x="5355379" y="2912045"/>
              <a:ext cx="336376" cy="5078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1</a:t>
              </a:r>
            </a:p>
          </p:txBody>
        </p:sp>
        <p:sp>
          <p:nvSpPr>
            <p:cNvPr id="1049091" name="Text Box 44"/>
            <p:cNvSpPr txBox="1"/>
            <p:nvPr/>
          </p:nvSpPr>
          <p:spPr>
            <a:xfrm>
              <a:off x="6714822" y="2914372"/>
              <a:ext cx="432048" cy="5078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0</a:t>
              </a:r>
            </a:p>
          </p:txBody>
        </p:sp>
      </p:grpSp>
      <p:sp>
        <p:nvSpPr>
          <p:cNvPr id="1049092" name="矩形 33"/>
          <p:cNvSpPr>
            <a:spLocks noChangeArrowheads="1"/>
          </p:cNvSpPr>
          <p:nvPr/>
        </p:nvSpPr>
        <p:spPr bwMode="auto">
          <a:xfrm>
            <a:off x="958850" y="4754880"/>
            <a:ext cx="6346825" cy="3416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49093" name="矩形 32"/>
          <p:cNvSpPr>
            <a:spLocks noChangeArrowheads="1"/>
          </p:cNvSpPr>
          <p:nvPr/>
        </p:nvSpPr>
        <p:spPr bwMode="auto">
          <a:xfrm>
            <a:off x="958850" y="4391025"/>
            <a:ext cx="6346825" cy="36449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49094" name="矩形 31"/>
          <p:cNvSpPr>
            <a:spLocks noChangeArrowheads="1"/>
          </p:cNvSpPr>
          <p:nvPr/>
        </p:nvSpPr>
        <p:spPr bwMode="auto">
          <a:xfrm>
            <a:off x="958850" y="4043680"/>
            <a:ext cx="6346825" cy="3479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49095" name="矩形 30"/>
          <p:cNvSpPr>
            <a:spLocks noChangeArrowheads="1"/>
          </p:cNvSpPr>
          <p:nvPr/>
        </p:nvSpPr>
        <p:spPr bwMode="auto">
          <a:xfrm>
            <a:off x="958850" y="3733165"/>
            <a:ext cx="6346825" cy="3098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49096" name="Text Box 6"/>
          <p:cNvSpPr txBox="1">
            <a:spLocks noChangeArrowheads="1"/>
          </p:cNvSpPr>
          <p:nvPr/>
        </p:nvSpPr>
        <p:spPr bwMode="auto">
          <a:xfrm>
            <a:off x="375285" y="648970"/>
            <a:ext cx="8362950" cy="721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ts val="600"/>
              </a:spcBef>
              <a:buClr>
                <a:srgbClr val="000000"/>
              </a:buClr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一个</a:t>
            </a:r>
            <a:r>
              <a:rPr kumimoji="1" lang="en-US" altLang="zh-CN" sz="1800" b="1" i="1" kern="1200" cap="none" spc="0" normalizeH="0" baseline="0" noProof="0" dirty="0">
                <a:solidFill>
                  <a:srgbClr val="C00000"/>
                </a:solidFill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n</a:t>
            </a:r>
            <a:r>
              <a:rPr kumimoji="1" lang="en-US" altLang="zh-CN" sz="1800" b="1" i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位寄存器由</a:t>
            </a:r>
            <a:r>
              <a:rPr kumimoji="1" lang="zh-CN" altLang="en-US" sz="1800" b="1" kern="1200" cap="none" spc="0" normalizeH="0" baseline="0" noProof="0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1800" b="1" i="1" kern="1200" cap="none" spc="0" normalizeH="0" baseline="0" noProof="0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  <a:cs typeface="+mn-cs"/>
              </a:rPr>
              <a:t>n </a:t>
            </a: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个触发器构成，能存放 </a:t>
            </a:r>
            <a:r>
              <a:rPr kumimoji="1" lang="en-US" altLang="zh-CN" sz="1800" b="1" i="1" kern="1200" cap="none" spc="0" normalizeH="0" baseline="0" noProof="0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  <a:cs typeface="+mn-cs"/>
              </a:rPr>
              <a:t>n</a:t>
            </a:r>
            <a:r>
              <a:rPr kumimoji="1" lang="en-US" altLang="zh-CN" sz="1800" b="1" i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位二进制数。</a:t>
            </a:r>
            <a:endParaRPr kumimoji="1" lang="en-US" altLang="zh-CN" sz="18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spcBef>
                <a:spcPts val="600"/>
              </a:spcBef>
              <a:buClr>
                <a:srgbClr val="000000"/>
              </a:buClr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各种触发器均能构成寄存器，用 </a:t>
            </a:r>
            <a:r>
              <a:rPr kumimoji="1" lang="en-US" altLang="zh-CN" sz="18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D</a:t>
            </a:r>
            <a:r>
              <a:rPr kumimoji="1" lang="en-US" altLang="zh-CN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  <a:r>
              <a:rPr kumimoji="1" lang="zh-CN" altLang="en-US" sz="1800" b="1" kern="120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最简单</a:t>
            </a: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grpSp>
        <p:nvGrpSpPr>
          <p:cNvPr id="175" name="组合 15"/>
          <p:cNvGrpSpPr/>
          <p:nvPr/>
        </p:nvGrpSpPr>
        <p:grpSpPr>
          <a:xfrm>
            <a:off x="7331075" y="757555"/>
            <a:ext cx="1171575" cy="504825"/>
            <a:chOff x="7247659" y="627534"/>
            <a:chExt cx="1356789" cy="504056"/>
          </a:xfrm>
        </p:grpSpPr>
        <p:sp>
          <p:nvSpPr>
            <p:cNvPr id="1049097" name="云形标注 16"/>
            <p:cNvSpPr/>
            <p:nvPr/>
          </p:nvSpPr>
          <p:spPr>
            <a:xfrm>
              <a:off x="7247659" y="627534"/>
              <a:ext cx="1250664" cy="504056"/>
            </a:xfrm>
            <a:prstGeom prst="cloudCallout">
              <a:avLst>
                <a:gd name="adj1" fmla="val -79105"/>
                <a:gd name="adj2" fmla="val 117924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/>
            </a:p>
          </p:txBody>
        </p:sp>
        <p:sp>
          <p:nvSpPr>
            <p:cNvPr id="1049098" name="TextBox 17"/>
            <p:cNvSpPr txBox="1"/>
            <p:nvPr/>
          </p:nvSpPr>
          <p:spPr>
            <a:xfrm>
              <a:off x="7308304" y="695350"/>
              <a:ext cx="1296144" cy="292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位</a:t>
              </a:r>
              <a:r>
                <a:rPr lang="zh-CN" altLang="en-US" sz="13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寄存器</a:t>
              </a:r>
            </a:p>
          </p:txBody>
        </p:sp>
      </p:grpSp>
      <p:graphicFrame>
        <p:nvGraphicFramePr>
          <p:cNvPr id="4194304" name="表格 1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9771946"/>
              </p:ext>
            </p:extLst>
          </p:nvPr>
        </p:nvGraphicFramePr>
        <p:xfrm>
          <a:off x="974090" y="3387090"/>
          <a:ext cx="6323965" cy="1708785"/>
        </p:xfrm>
        <a:graphic>
          <a:graphicData uri="http://schemas.openxmlformats.org/drawingml/2006/table">
            <a:tbl>
              <a:tblPr firstRow="1" bandRow="1" bandCol="1">
                <a:tableStyleId>{D7AC3CCA-C797-4891-BE02-D94E43425B78}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4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功能</a:t>
                      </a:r>
                      <a:endParaRPr lang="zh-CN" altLang="en-US" sz="14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7780" marR="17780" marT="45736" marB="45736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条件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17780" marR="17780" marT="45736" marB="45736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寄存器输出</a:t>
                      </a:r>
                      <a:endParaRPr lang="zh-CN" altLang="en-US" sz="14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7780" marR="17780" marT="45736" marB="45736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异步清零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dirty="0" err="1">
                          <a:latin typeface="+mj-lt"/>
                        </a:rPr>
                        <a:t>ClrN</a:t>
                      </a:r>
                      <a:r>
                        <a:rPr lang="en-US" altLang="zh-CN" sz="1400" b="1" dirty="0">
                          <a:latin typeface="+mj-lt"/>
                        </a:rPr>
                        <a:t>=0</a:t>
                      </a:r>
                      <a:endParaRPr lang="en-US" altLang="zh-CN" sz="14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0</a:t>
                      </a:r>
                      <a:r>
                        <a:rPr lang="en-US" altLang="zh-CN" sz="1400" b="1" dirty="0">
                          <a:latin typeface="+mj-lt"/>
                        </a:rPr>
                        <a:t>=0000</a:t>
                      </a:r>
                    </a:p>
                  </a:txBody>
                  <a:tcPr marL="17780" marR="17780" marT="45736" marB="4573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保持</a:t>
                      </a: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latin typeface="+mj-lt"/>
                        </a:rPr>
                        <a:t>ClrN</a:t>
                      </a:r>
                      <a:r>
                        <a:rPr lang="en-US" altLang="zh-CN" sz="1400" b="1" dirty="0">
                          <a:latin typeface="+mj-lt"/>
                        </a:rPr>
                        <a:t>=1, </a:t>
                      </a:r>
                      <a:r>
                        <a:rPr lang="en-US" altLang="zh-CN" sz="1400" b="1" baseline="0" dirty="0">
                          <a:latin typeface="+mj-lt"/>
                        </a:rPr>
                        <a:t> </a:t>
                      </a:r>
                      <a:r>
                        <a:rPr lang="zh-CN" altLang="en-US" sz="1400" b="1" dirty="0">
                          <a:latin typeface="+mj-lt"/>
                          <a:ea typeface="黑体" panose="02010609060101010101" pitchFamily="49" charset="-122"/>
                        </a:rPr>
                        <a:t>且</a:t>
                      </a:r>
                      <a:r>
                        <a:rPr lang="en-US" altLang="zh-CN" sz="1400" b="1" dirty="0">
                          <a:latin typeface="+mj-lt"/>
                        </a:rPr>
                        <a:t>Load=0</a:t>
                      </a: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0</a:t>
                      </a:r>
                      <a:r>
                        <a:rPr lang="en-US" altLang="zh-CN" sz="1400" b="1" dirty="0">
                          <a:latin typeface="+mj-lt"/>
                        </a:rPr>
                        <a:t>=Q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0</a:t>
                      </a:r>
                      <a:endParaRPr lang="en-US" altLang="zh-CN" sz="1400" b="1" kern="1200" baseline="-250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780" marR="17780" marT="45736" marB="4573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zh-CN" altLang="en-US" sz="1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写入</a:t>
                      </a: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>
                          <a:latin typeface="+mj-lt"/>
                        </a:rPr>
                        <a:t>ClrN</a:t>
                      </a:r>
                      <a:r>
                        <a:rPr lang="en-US" altLang="zh-CN" sz="1400" b="1" dirty="0">
                          <a:latin typeface="+mj-lt"/>
                        </a:rPr>
                        <a:t>=1, Load=1,</a:t>
                      </a:r>
                      <a:r>
                        <a:rPr lang="en-US" altLang="zh-CN" sz="1400" b="1" dirty="0" err="1">
                          <a:latin typeface="+mj-lt"/>
                        </a:rPr>
                        <a:t>clk</a:t>
                      </a:r>
                      <a:r>
                        <a:rPr lang="en-US" altLang="zh-CN" sz="1400" b="1" dirty="0">
                          <a:latin typeface="宋体" pitchFamily="2" charset="-122"/>
                          <a:ea typeface="宋体" pitchFamily="2" charset="-122"/>
                        </a:rPr>
                        <a:t>↓</a:t>
                      </a:r>
                      <a:r>
                        <a:rPr lang="en-US" altLang="zh-CN" sz="1400" dirty="0"/>
                        <a:t> </a:t>
                      </a:r>
                      <a:endParaRPr lang="en-US" altLang="zh-CN" sz="1400" b="1" dirty="0">
                        <a:latin typeface="+mj-lt"/>
                      </a:endParaRPr>
                    </a:p>
                  </a:txBody>
                  <a:tcPr marL="0" marR="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0</a:t>
                      </a:r>
                      <a:r>
                        <a:rPr lang="en-US" altLang="zh-CN" sz="1400" b="1" dirty="0">
                          <a:latin typeface="+mj-lt"/>
                        </a:rPr>
                        <a:t>=D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</a:rPr>
                        <a:t>D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</a:rPr>
                        <a:t>D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</a:rPr>
                        <a:t>D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0</a:t>
                      </a:r>
                      <a:endParaRPr lang="en-US" altLang="zh-CN" sz="1400" b="1" kern="1200" baseline="-250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780" marR="17780" marT="45736" marB="4573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读出</a:t>
                      </a: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En=0</a:t>
                      </a:r>
                    </a:p>
                  </a:txBody>
                  <a:tcPr marL="17780" marR="17780" marT="45736" marB="4573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O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O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O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O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0</a:t>
                      </a:r>
                      <a:r>
                        <a:rPr lang="en-US" altLang="zh-CN" sz="1400" b="1" dirty="0">
                          <a:latin typeface="+mj-lt"/>
                        </a:rPr>
                        <a:t>=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  <a:sym typeface="+mn-ea"/>
                        </a:rPr>
                        <a:t>3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  <a:sym typeface="+mn-ea"/>
                        </a:rPr>
                        <a:t>2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  <a:sym typeface="+mn-ea"/>
                        </a:rPr>
                        <a:t>1</a:t>
                      </a:r>
                      <a:r>
                        <a:rPr lang="en-US" altLang="zh-CN" sz="1400" b="1" dirty="0">
                          <a:latin typeface="+mj-lt"/>
                          <a:sym typeface="+mn-ea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  <a:sym typeface="+mn-ea"/>
                        </a:rPr>
                        <a:t>0</a:t>
                      </a:r>
                      <a:endParaRPr lang="en-US" altLang="zh-CN" sz="1400" b="1" kern="1200" baseline="-250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780" marR="17780" marT="45736" marB="4573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9099" name="Text Box 6"/>
          <p:cNvSpPr txBox="1"/>
          <p:nvPr/>
        </p:nvSpPr>
        <p:spPr>
          <a:xfrm>
            <a:off x="378143" y="3661093"/>
            <a:ext cx="613410" cy="1106487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>
                <a:schemeClr val="hlink"/>
              </a:buClr>
              <a:buSzPct val="70000"/>
              <a:buFontTx/>
              <a:buNone/>
            </a:pPr>
            <a:r>
              <a:rPr lang="zh-CN" altLang="en-US" sz="14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en-US" altLang="zh-CN" sz="1400" b="1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Clr>
                <a:schemeClr val="hlink"/>
              </a:buClr>
              <a:buSzPct val="70000"/>
              <a:buFontTx/>
              <a:buNone/>
            </a:pPr>
            <a:r>
              <a:rPr lang="zh-CN" altLang="en-US" sz="14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基本寄存器</a:t>
            </a:r>
          </a:p>
        </p:txBody>
      </p:sp>
      <p:sp>
        <p:nvSpPr>
          <p:cNvPr id="1049100" name="右弧形箭头 37"/>
          <p:cNvSpPr/>
          <p:nvPr/>
        </p:nvSpPr>
        <p:spPr bwMode="auto">
          <a:xfrm rot="17133612">
            <a:off x="7502525" y="1395095"/>
            <a:ext cx="360680" cy="942975"/>
          </a:xfrm>
          <a:prstGeom prst="curvedLeftArrow">
            <a:avLst/>
          </a:prstGeom>
          <a:solidFill>
            <a:srgbClr val="FF0000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176" name="组合 15"/>
          <p:cNvGrpSpPr/>
          <p:nvPr/>
        </p:nvGrpSpPr>
        <p:grpSpPr>
          <a:xfrm>
            <a:off x="79058" y="3134043"/>
            <a:ext cx="1016000" cy="468312"/>
            <a:chOff x="7131468" y="613595"/>
            <a:chExt cx="1176619" cy="467287"/>
          </a:xfrm>
        </p:grpSpPr>
        <p:sp>
          <p:nvSpPr>
            <p:cNvPr id="1049101" name="云形标注 16"/>
            <p:cNvSpPr/>
            <p:nvPr/>
          </p:nvSpPr>
          <p:spPr>
            <a:xfrm>
              <a:off x="7131468" y="613595"/>
              <a:ext cx="1083972" cy="467287"/>
            </a:xfrm>
            <a:prstGeom prst="cloudCallout">
              <a:avLst>
                <a:gd name="adj1" fmla="val 59259"/>
                <a:gd name="adj2" fmla="val -66881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/>
            </a:p>
          </p:txBody>
        </p:sp>
        <p:sp>
          <p:nvSpPr>
            <p:cNvPr id="1049102" name="TextBox 17"/>
            <p:cNvSpPr txBox="1"/>
            <p:nvPr/>
          </p:nvSpPr>
          <p:spPr>
            <a:xfrm>
              <a:off x="7243247" y="695331"/>
              <a:ext cx="1064840" cy="2908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同步</a:t>
              </a:r>
              <a:r>
                <a:rPr lang="zh-CN" altLang="en-US" sz="13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时序</a:t>
              </a:r>
            </a:p>
          </p:txBody>
        </p:sp>
      </p:grpSp>
      <p:grpSp>
        <p:nvGrpSpPr>
          <p:cNvPr id="177" name="组合 15"/>
          <p:cNvGrpSpPr/>
          <p:nvPr/>
        </p:nvGrpSpPr>
        <p:grpSpPr>
          <a:xfrm>
            <a:off x="79375" y="1972945"/>
            <a:ext cx="1171575" cy="468313"/>
            <a:chOff x="7247659" y="627534"/>
            <a:chExt cx="1356789" cy="467287"/>
          </a:xfrm>
        </p:grpSpPr>
        <p:sp>
          <p:nvSpPr>
            <p:cNvPr id="1049103" name="云形标注 16"/>
            <p:cNvSpPr/>
            <p:nvPr/>
          </p:nvSpPr>
          <p:spPr>
            <a:xfrm>
              <a:off x="7247659" y="627534"/>
              <a:ext cx="1083972" cy="467287"/>
            </a:xfrm>
            <a:prstGeom prst="cloudCallout">
              <a:avLst>
                <a:gd name="adj1" fmla="val 49998"/>
                <a:gd name="adj2" fmla="val 80033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/>
            </a:p>
          </p:txBody>
        </p:sp>
        <p:sp>
          <p:nvSpPr>
            <p:cNvPr id="1049104" name="TextBox 17"/>
            <p:cNvSpPr txBox="1"/>
            <p:nvPr/>
          </p:nvSpPr>
          <p:spPr>
            <a:xfrm>
              <a:off x="7308304" y="695349"/>
              <a:ext cx="1296144" cy="2919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写入</a:t>
              </a:r>
              <a:r>
                <a:rPr lang="zh-CN" altLang="en-US" sz="13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使能</a:t>
              </a:r>
            </a:p>
          </p:txBody>
        </p:sp>
      </p:grpSp>
      <p:grpSp>
        <p:nvGrpSpPr>
          <p:cNvPr id="178" name="组合 15"/>
          <p:cNvGrpSpPr/>
          <p:nvPr/>
        </p:nvGrpSpPr>
        <p:grpSpPr>
          <a:xfrm>
            <a:off x="323850" y="1409065"/>
            <a:ext cx="1151890" cy="468313"/>
            <a:chOff x="7247659" y="627534"/>
            <a:chExt cx="1333992" cy="467287"/>
          </a:xfrm>
        </p:grpSpPr>
        <p:sp>
          <p:nvSpPr>
            <p:cNvPr id="1049105" name="云形标注 16"/>
            <p:cNvSpPr/>
            <p:nvPr/>
          </p:nvSpPr>
          <p:spPr>
            <a:xfrm>
              <a:off x="7247659" y="627534"/>
              <a:ext cx="1083972" cy="467287"/>
            </a:xfrm>
            <a:prstGeom prst="cloudCallout">
              <a:avLst>
                <a:gd name="adj1" fmla="val 70283"/>
                <a:gd name="adj2" fmla="val -24779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/>
            </a:p>
          </p:txBody>
        </p:sp>
        <p:sp>
          <p:nvSpPr>
            <p:cNvPr id="1049106" name="TextBox 17"/>
            <p:cNvSpPr txBox="1"/>
            <p:nvPr/>
          </p:nvSpPr>
          <p:spPr>
            <a:xfrm>
              <a:off x="7307961" y="695330"/>
              <a:ext cx="1273690" cy="290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读出</a:t>
              </a:r>
              <a:r>
                <a:rPr lang="zh-CN" altLang="en-US" sz="13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使能</a:t>
              </a:r>
            </a:p>
          </p:txBody>
        </p:sp>
      </p:grpSp>
      <p:grpSp>
        <p:nvGrpSpPr>
          <p:cNvPr id="179" name="组合 53"/>
          <p:cNvGrpSpPr/>
          <p:nvPr/>
        </p:nvGrpSpPr>
        <p:grpSpPr>
          <a:xfrm>
            <a:off x="1381125" y="2520950"/>
            <a:ext cx="5187950" cy="538480"/>
            <a:chOff x="1387974" y="2474690"/>
            <a:chExt cx="5187724" cy="493052"/>
          </a:xfrm>
        </p:grpSpPr>
        <p:cxnSp>
          <p:nvCxnSpPr>
            <p:cNvPr id="3145812" name="直接连接符 47"/>
            <p:cNvCxnSpPr/>
            <p:nvPr/>
          </p:nvCxnSpPr>
          <p:spPr>
            <a:xfrm>
              <a:off x="1387974" y="2944316"/>
              <a:ext cx="5183907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3" name="直接连接符 49"/>
            <p:cNvCxnSpPr/>
            <p:nvPr/>
          </p:nvCxnSpPr>
          <p:spPr>
            <a:xfrm>
              <a:off x="2449338" y="2499742"/>
              <a:ext cx="0" cy="468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4" name="直接连接符 50"/>
            <p:cNvCxnSpPr/>
            <p:nvPr/>
          </p:nvCxnSpPr>
          <p:spPr>
            <a:xfrm>
              <a:off x="3830016" y="2499742"/>
              <a:ext cx="0" cy="468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5" name="直接连接符 51"/>
            <p:cNvCxnSpPr/>
            <p:nvPr/>
          </p:nvCxnSpPr>
          <p:spPr>
            <a:xfrm>
              <a:off x="5195020" y="2474690"/>
              <a:ext cx="0" cy="468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6" name="直接连接符 52"/>
            <p:cNvCxnSpPr/>
            <p:nvPr/>
          </p:nvCxnSpPr>
          <p:spPr>
            <a:xfrm>
              <a:off x="6575698" y="2487216"/>
              <a:ext cx="0" cy="468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80" name="组合 54"/>
          <p:cNvGrpSpPr/>
          <p:nvPr/>
        </p:nvGrpSpPr>
        <p:grpSpPr>
          <a:xfrm>
            <a:off x="1403350" y="2480945"/>
            <a:ext cx="4900930" cy="168275"/>
            <a:chOff x="1676006" y="2787840"/>
            <a:chExt cx="4899692" cy="169052"/>
          </a:xfrm>
        </p:grpSpPr>
        <p:cxnSp>
          <p:nvCxnSpPr>
            <p:cNvPr id="3145817" name="直接连接符 55"/>
            <p:cNvCxnSpPr/>
            <p:nvPr/>
          </p:nvCxnSpPr>
          <p:spPr>
            <a:xfrm>
              <a:off x="1676006" y="2944316"/>
              <a:ext cx="4896000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8" name="直接连接符 56"/>
            <p:cNvCxnSpPr/>
            <p:nvPr/>
          </p:nvCxnSpPr>
          <p:spPr>
            <a:xfrm>
              <a:off x="2436812" y="2812892"/>
              <a:ext cx="0" cy="14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19" name="直接连接符 57"/>
            <p:cNvCxnSpPr/>
            <p:nvPr/>
          </p:nvCxnSpPr>
          <p:spPr>
            <a:xfrm>
              <a:off x="3817490" y="2812892"/>
              <a:ext cx="0" cy="14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0" name="直接连接符 58"/>
            <p:cNvCxnSpPr/>
            <p:nvPr/>
          </p:nvCxnSpPr>
          <p:spPr>
            <a:xfrm>
              <a:off x="5195020" y="2787840"/>
              <a:ext cx="0" cy="14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1" name="直接连接符 59"/>
            <p:cNvCxnSpPr/>
            <p:nvPr/>
          </p:nvCxnSpPr>
          <p:spPr>
            <a:xfrm>
              <a:off x="6575698" y="2800366"/>
              <a:ext cx="0" cy="14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81" name="组合 71"/>
          <p:cNvGrpSpPr/>
          <p:nvPr/>
        </p:nvGrpSpPr>
        <p:grpSpPr>
          <a:xfrm>
            <a:off x="1409700" y="2150745"/>
            <a:ext cx="4637088" cy="684213"/>
            <a:chOff x="1410076" y="2067694"/>
            <a:chExt cx="4636514" cy="684128"/>
          </a:xfrm>
        </p:grpSpPr>
        <p:cxnSp>
          <p:nvCxnSpPr>
            <p:cNvPr id="3145822" name="直接连接符 61"/>
            <p:cNvCxnSpPr/>
            <p:nvPr/>
          </p:nvCxnSpPr>
          <p:spPr>
            <a:xfrm>
              <a:off x="1410076" y="2751822"/>
              <a:ext cx="450000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3" name="直接连接符 62"/>
            <p:cNvCxnSpPr/>
            <p:nvPr/>
          </p:nvCxnSpPr>
          <p:spPr>
            <a:xfrm>
              <a:off x="1782510" y="2067694"/>
              <a:ext cx="0" cy="6840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4" name="直接连接符 63"/>
            <p:cNvCxnSpPr/>
            <p:nvPr/>
          </p:nvCxnSpPr>
          <p:spPr>
            <a:xfrm>
              <a:off x="3150662" y="2067694"/>
              <a:ext cx="0" cy="6840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5" name="直接连接符 64"/>
            <p:cNvCxnSpPr/>
            <p:nvPr/>
          </p:nvCxnSpPr>
          <p:spPr>
            <a:xfrm>
              <a:off x="4528192" y="2067694"/>
              <a:ext cx="0" cy="6840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6" name="直接连接符 65"/>
            <p:cNvCxnSpPr/>
            <p:nvPr/>
          </p:nvCxnSpPr>
          <p:spPr>
            <a:xfrm>
              <a:off x="5908870" y="2067694"/>
              <a:ext cx="0" cy="6840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7" name="直接连接符 67"/>
            <p:cNvCxnSpPr/>
            <p:nvPr/>
          </p:nvCxnSpPr>
          <p:spPr>
            <a:xfrm>
              <a:off x="1785592" y="2067694"/>
              <a:ext cx="14400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8" name="直接连接符 68"/>
            <p:cNvCxnSpPr/>
            <p:nvPr/>
          </p:nvCxnSpPr>
          <p:spPr>
            <a:xfrm>
              <a:off x="3153744" y="2067694"/>
              <a:ext cx="14400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29" name="直接连接符 69"/>
            <p:cNvCxnSpPr/>
            <p:nvPr/>
          </p:nvCxnSpPr>
          <p:spPr>
            <a:xfrm>
              <a:off x="4525060" y="2067694"/>
              <a:ext cx="14400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30" name="直接连接符 70"/>
            <p:cNvCxnSpPr/>
            <p:nvPr/>
          </p:nvCxnSpPr>
          <p:spPr>
            <a:xfrm>
              <a:off x="5902590" y="2067694"/>
              <a:ext cx="14400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2" name="文本框 1"/>
          <p:cNvSpPr txBox="1"/>
          <p:nvPr/>
        </p:nvSpPr>
        <p:spPr>
          <a:xfrm>
            <a:off x="2350770" y="1233805"/>
            <a:ext cx="46424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latin typeface="+mj-lt"/>
                <a:sym typeface="+mn-ea"/>
              </a:rPr>
              <a:t>O</a:t>
            </a:r>
            <a:r>
              <a:rPr lang="en-US" altLang="zh-CN" sz="1600" b="1" baseline="-25000" dirty="0">
                <a:latin typeface="+mj-lt"/>
                <a:sym typeface="+mn-ea"/>
              </a:rPr>
              <a:t>3</a:t>
            </a:r>
            <a:r>
              <a:rPr lang="en-US" altLang="zh-CN" sz="1600" b="1" dirty="0">
                <a:latin typeface="+mj-lt"/>
                <a:sym typeface="+mn-ea"/>
              </a:rPr>
              <a:t>   	        O</a:t>
            </a:r>
            <a:r>
              <a:rPr lang="en-US" altLang="zh-CN" sz="1600" b="1" baseline="-25000" dirty="0">
                <a:latin typeface="+mj-lt"/>
                <a:sym typeface="+mn-ea"/>
              </a:rPr>
              <a:t>2</a:t>
            </a:r>
            <a:r>
              <a:rPr lang="en-US" altLang="zh-CN" sz="1600" b="1" dirty="0">
                <a:latin typeface="+mj-lt"/>
                <a:sym typeface="+mn-ea"/>
              </a:rPr>
              <a:t>                   O</a:t>
            </a:r>
            <a:r>
              <a:rPr lang="en-US" altLang="zh-CN" sz="1600" b="1" baseline="-25000" dirty="0">
                <a:latin typeface="+mj-lt"/>
                <a:sym typeface="+mn-ea"/>
              </a:rPr>
              <a:t>1</a:t>
            </a:r>
            <a:r>
              <a:rPr lang="en-US" altLang="zh-CN" sz="1600" b="1" dirty="0">
                <a:latin typeface="+mj-lt"/>
                <a:sym typeface="+mn-ea"/>
              </a:rPr>
              <a:t>   	       O</a:t>
            </a:r>
            <a:r>
              <a:rPr lang="en-US" altLang="zh-CN" sz="1600" b="1" baseline="-25000" dirty="0">
                <a:latin typeface="+mj-lt"/>
                <a:sym typeface="+mn-ea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9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4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19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4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4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4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63889 0 L -0.000138889 -0.304198 " pathEditMode="relative" rAng="0" ptsTypes="">
                                      <p:cBhvr>
                                        <p:cTn id="74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04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72222 -0.309506 L -0.00284722 -0.367901 " pathEditMode="relative" rAng="0" ptsTypes="">
                                      <p:cBhvr>
                                        <p:cTn id="90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04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09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92" grpId="0" bldLvl="0" animBg="1"/>
      <p:bldP spid="1049093" grpId="0" bldLvl="0" animBg="1"/>
      <p:bldP spid="1049094" grpId="0" bldLvl="0" animBg="1"/>
      <p:bldP spid="1049095" grpId="0" bldLvl="0" animBg="1"/>
      <p:bldP spid="1049096" grpId="0" uiExpand="1" build="p"/>
      <p:bldP spid="1049099" grpId="0"/>
      <p:bldP spid="1049100" grpId="0" bldLvl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寄存器的应用</a:t>
            </a:r>
            <a:r>
              <a:rPr lang="en-US" altLang="zh-CN" sz="2800" dirty="0">
                <a:sym typeface="+mn-ea"/>
              </a:rPr>
              <a:t>——</a:t>
            </a:r>
            <a:r>
              <a:rPr lang="zh-CN" altLang="en-US" sz="2800" dirty="0">
                <a:sym typeface="+mn-ea"/>
              </a:rPr>
              <a:t>利用三态总线进行数据传送</a:t>
            </a:r>
          </a:p>
        </p:txBody>
      </p:sp>
      <p:sp>
        <p:nvSpPr>
          <p:cNvPr id="10491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b="1" dirty="0">
              <a:latin typeface="Arial" panose="020B0604020202090204" pitchFamily="34" charset="0"/>
              <a:sym typeface="+mn-ea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b="1" dirty="0">
              <a:latin typeface="Arial" panose="020B0604020202090204" pitchFamily="34" charset="0"/>
              <a:sym typeface="+mn-ea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b="1" dirty="0">
              <a:latin typeface="Arial" panose="020B0604020202090204" pitchFamily="34" charset="0"/>
              <a:sym typeface="+mn-ea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b="1" dirty="0">
              <a:latin typeface="Arial" panose="020B0604020202090204" pitchFamily="34" charset="0"/>
              <a:sym typeface="+mn-ea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b="1" dirty="0">
              <a:latin typeface="Arial" panose="020B0604020202090204" pitchFamily="34" charset="0"/>
              <a:sym typeface="+mn-ea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sz="2000" b="1" dirty="0">
              <a:latin typeface="Arial" panose="020B0604020202090204" pitchFamily="34" charset="0"/>
              <a:sym typeface="+mn-ea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endParaRPr lang="en-US" altLang="zh-CN" sz="2000" b="1" dirty="0">
              <a:latin typeface="Arial" panose="020B0604020202090204" pitchFamily="34" charset="0"/>
              <a:sym typeface="+mn-ea"/>
            </a:endParaRPr>
          </a:p>
          <a:p>
            <a:pPr marL="1371600" lvl="3" indent="45720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E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为</a:t>
            </a:r>
            <a:r>
              <a:rPr lang="zh-CN" altLang="en-US" sz="2000" b="1" dirty="0">
                <a:latin typeface="Arial" panose="020B0604020202090204" pitchFamily="34" charset="0"/>
                <a:sym typeface="+mn-ea"/>
              </a:rPr>
              <a:t>译码器输入的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高位</a:t>
            </a:r>
            <a:r>
              <a:rPr lang="zh-CN" altLang="en-US" sz="2000" b="1" dirty="0">
                <a:latin typeface="Arial" panose="020B0604020202090204" pitchFamily="34" charset="0"/>
                <a:sym typeface="+mn-ea"/>
              </a:rPr>
              <a:t>，从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90204" pitchFamily="34" charset="0"/>
                <a:sym typeface="+mn-ea"/>
              </a:rPr>
              <a:t>左到右</a:t>
            </a:r>
            <a:r>
              <a:rPr lang="zh-CN" altLang="en-US" sz="2000" b="1" dirty="0">
                <a:latin typeface="Arial" panose="020B0604020202090204" pitchFamily="34" charset="0"/>
                <a:sym typeface="+mn-ea"/>
              </a:rPr>
              <a:t>的输出编号依次为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0-3</a:t>
            </a:r>
            <a:endParaRPr lang="en-US" altLang="zh-CN" sz="2000" b="1" dirty="0">
              <a:solidFill>
                <a:schemeClr val="bg2"/>
              </a:solidFill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 Register from A to G: </a:t>
            </a: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 	EF=00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，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且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LdG=1,LdH=0, Clock</a:t>
            </a:r>
            <a:r>
              <a:rPr lang="en-US" altLang="zh-CN" sz="1800" b="1" dirty="0">
                <a:solidFill>
                  <a:schemeClr val="bg1"/>
                </a:solidFill>
                <a:latin typeface="宋体" pitchFamily="2" charset="-122"/>
                <a:sym typeface="+mn-ea"/>
              </a:rPr>
              <a:t>↑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 </a:t>
            </a:r>
            <a:endParaRPr lang="en-US" altLang="zh-CN" sz="1800" b="1" dirty="0">
              <a:solidFill>
                <a:schemeClr val="bg2"/>
              </a:solidFill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Register from B to H:  </a:t>
            </a: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	EF=01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，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且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LdG=0,LdH=1, Clock</a:t>
            </a:r>
            <a:r>
              <a:rPr lang="en-US" altLang="zh-CN" sz="1800" b="1" dirty="0">
                <a:solidFill>
                  <a:schemeClr val="bg1"/>
                </a:solidFill>
                <a:latin typeface="宋体" pitchFamily="2" charset="-122"/>
                <a:sym typeface="+mn-ea"/>
              </a:rPr>
              <a:t>↑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 </a:t>
            </a:r>
            <a:endParaRPr lang="en-US" altLang="zh-CN" sz="1800" b="1" dirty="0">
              <a:solidFill>
                <a:schemeClr val="bg2"/>
              </a:solidFill>
              <a:latin typeface="Arial" panose="020B0604020202090204" pitchFamily="34" charset="0"/>
            </a:endParaRPr>
          </a:p>
        </p:txBody>
      </p:sp>
      <p:pic>
        <p:nvPicPr>
          <p:cNvPr id="2097170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640" y="629920"/>
            <a:ext cx="6263005" cy="2823210"/>
          </a:xfrm>
          <a:prstGeom prst="rect">
            <a:avLst/>
          </a:prstGeom>
          <a:noFill/>
          <a:ln w="1905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/>
                </a:solidFill>
                <a:sym typeface="+mn-ea"/>
              </a:rPr>
              <a:t>寄存器的应用</a:t>
            </a:r>
            <a:r>
              <a:rPr lang="en-US" altLang="zh-CN" sz="2800" i="1" dirty="0">
                <a:solidFill>
                  <a:schemeClr val="bg2"/>
                </a:solidFill>
                <a:latin typeface="Arial" panose="020B0604020202090204" pitchFamily="34" charset="0"/>
                <a:sym typeface="+mn-ea"/>
              </a:rPr>
              <a:t>——</a:t>
            </a:r>
            <a:r>
              <a:rPr lang="zh-CN" altLang="en-US" sz="2800" dirty="0">
                <a:solidFill>
                  <a:schemeClr val="bg2"/>
                </a:solidFill>
                <a:sym typeface="+mn-ea"/>
              </a:rPr>
              <a:t>具有累加功能的并行加法器</a:t>
            </a:r>
            <a:r>
              <a:rPr lang="en-US" altLang="zh-CN" sz="2800" dirty="0">
                <a:solidFill>
                  <a:schemeClr val="bg2"/>
                </a:solidFill>
                <a:sym typeface="+mn-ea"/>
              </a:rPr>
              <a:t>1</a:t>
            </a:r>
            <a:endParaRPr lang="en-US" altLang="zh-CN" sz="2800" b="1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97171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888" y="1073150"/>
            <a:ext cx="7058025" cy="2722563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i="1" dirty="0"/>
              <a:t>X</a:t>
            </a:r>
            <a:r>
              <a:rPr lang="en-US" altLang="zh-CN" sz="2800" dirty="0"/>
              <a:t>—</a:t>
            </a:r>
            <a:r>
              <a:rPr lang="en-US" altLang="zh-CN" sz="2800" i="1" dirty="0"/>
              <a:t>x</a:t>
            </a:r>
            <a:r>
              <a:rPr lang="en-US" altLang="zh-CN" sz="2800" i="1" baseline="-25000" dirty="0"/>
              <a:t>n</a:t>
            </a:r>
            <a:r>
              <a:rPr lang="en-US" altLang="zh-CN" sz="2800" i="1" dirty="0">
                <a:sym typeface="+mn-ea"/>
              </a:rPr>
              <a:t>x</a:t>
            </a:r>
            <a:r>
              <a:rPr lang="en-US" altLang="zh-CN" sz="2800" i="1" baseline="-25000" dirty="0">
                <a:sym typeface="+mn-ea"/>
              </a:rPr>
              <a:t>n-1</a:t>
            </a:r>
            <a:r>
              <a:rPr lang="en-US" altLang="zh-CN" sz="2800" i="1" dirty="0">
                <a:sym typeface="+mn-ea"/>
              </a:rPr>
              <a:t>...x</a:t>
            </a:r>
            <a:r>
              <a:rPr lang="en-US" altLang="zh-CN" sz="2800" i="1" baseline="-25000" dirty="0">
                <a:sym typeface="+mn-ea"/>
              </a:rPr>
              <a:t>2</a:t>
            </a:r>
            <a:r>
              <a:rPr lang="en-US" altLang="zh-CN" sz="2800" i="1" dirty="0">
                <a:sym typeface="+mn-ea"/>
              </a:rPr>
              <a:t>x</a:t>
            </a:r>
            <a:r>
              <a:rPr lang="en-US" altLang="zh-CN" sz="2800" i="1" baseline="-25000" dirty="0">
                <a:sym typeface="+mn-ea"/>
              </a:rPr>
              <a:t>1</a:t>
            </a:r>
          </a:p>
        </p:txBody>
      </p:sp>
      <p:sp>
        <p:nvSpPr>
          <p:cNvPr id="1049115" name="Text Box 22"/>
          <p:cNvSpPr txBox="1"/>
          <p:nvPr/>
        </p:nvSpPr>
        <p:spPr>
          <a:xfrm>
            <a:off x="6229350" y="661988"/>
            <a:ext cx="1079500" cy="3683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bg2"/>
                </a:solidFill>
                <a:latin typeface="Arial" panose="020B0604020202090204" pitchFamily="34" charset="0"/>
              </a:rPr>
              <a:t>X=X+Y</a:t>
            </a:r>
          </a:p>
        </p:txBody>
      </p:sp>
      <p:sp>
        <p:nvSpPr>
          <p:cNvPr id="1049116" name="Text Box 4"/>
          <p:cNvSpPr txBox="1">
            <a:spLocks noChangeArrowheads="1"/>
          </p:cNvSpPr>
          <p:nvPr/>
        </p:nvSpPr>
        <p:spPr bwMode="auto">
          <a:xfrm>
            <a:off x="1292225" y="3841750"/>
            <a:ext cx="6589395" cy="123444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square">
            <a:spAutoFit/>
          </a:bodyPr>
          <a:lstStyle/>
          <a:p>
            <a:pPr marL="457200" marR="0" indent="-457200" defTabSz="914400" eaLnBrk="1" hangingPunct="1">
              <a:lnSpc>
                <a:spcPct val="90000"/>
              </a:lnSpc>
              <a:spcBef>
                <a:spcPts val="600"/>
              </a:spcBef>
              <a:buClrTx/>
              <a:buSzTx/>
              <a:buFontTx/>
            </a:pPr>
            <a:r>
              <a:rPr kumimoji="1" lang="en-US" altLang="zh-CN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初始化清零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kumimoji="1" lang="en-US" altLang="zh-CN" sz="1600" b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ClrN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=0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则</a:t>
            </a:r>
            <a:r>
              <a:rPr kumimoji="1" lang="en-US" altLang="zh-CN" sz="1600" b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Q</a:t>
            </a:r>
            <a:r>
              <a:rPr kumimoji="1" lang="en-US" altLang="zh-CN" sz="1600" b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1" lang="en-US" altLang="zh-CN" sz="1600" b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…..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Q</a:t>
            </a:r>
            <a:r>
              <a:rPr kumimoji="1" lang="en-US" altLang="zh-CN" sz="1600" b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 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=0, 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即</a:t>
            </a:r>
            <a:r>
              <a:rPr kumimoji="1" lang="en-US" altLang="zh-CN" sz="1600" b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X</a:t>
            </a:r>
            <a:r>
              <a:rPr kumimoji="1" lang="en-US" altLang="zh-CN" sz="1600" b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1" lang="en-US" altLang="zh-CN" sz="1600" b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…..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X</a:t>
            </a:r>
            <a:r>
              <a:rPr kumimoji="1" lang="en-US" altLang="zh-CN" sz="1600" b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 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=0</a:t>
            </a:r>
            <a:endParaRPr kumimoji="1" lang="zh-CN" altLang="en-US" sz="1600" b="1" kern="1200" cap="none" spc="0" normalizeH="0" baseline="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7200" marR="0" indent="-457200" defTabSz="914400" eaLnBrk="1" hangingPunct="1">
              <a:lnSpc>
                <a:spcPct val="90000"/>
              </a:lnSpc>
              <a:spcBef>
                <a:spcPts val="600"/>
              </a:spcBef>
              <a:buClrTx/>
              <a:buSzTx/>
              <a:buFontTx/>
            </a:pP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</a:t>
            </a:r>
            <a:r>
              <a:rPr kumimoji="1" lang="en-US" altLang="zh-CN" sz="1600" b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ClrN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=1, 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将</a:t>
            </a:r>
            <a:r>
              <a:rPr kumimoji="1" lang="en-US" altLang="zh-CN" sz="1600" b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600" b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送到全加器输入端</a:t>
            </a:r>
            <a:endParaRPr kumimoji="1" lang="en-US" altLang="zh-CN" sz="1600" b="1" kern="1200" cap="none" spc="0" normalizeH="0" baseline="0" noProof="0" dirty="0">
              <a:solidFill>
                <a:schemeClr val="bg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457200" marR="0" indent="-457200" defTabSz="914400" eaLnBrk="1" hangingPunct="1">
              <a:lnSpc>
                <a:spcPct val="90000"/>
              </a:lnSpc>
              <a:spcBef>
                <a:spcPts val="600"/>
              </a:spcBef>
              <a:buClrTx/>
              <a:buSzTx/>
              <a:buFontTx/>
            </a:pP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执行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 x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 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endParaRPr kumimoji="1" lang="en-US" altLang="zh-CN" sz="1600" b="1" kern="1200" cap="none" spc="0" normalizeH="0" baseline="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7200" marR="0" indent="-457200" defTabSz="914400" eaLnBrk="1" hangingPunct="1">
              <a:lnSpc>
                <a:spcPct val="90000"/>
              </a:lnSpc>
              <a:spcBef>
                <a:spcPts val="600"/>
              </a:spcBef>
              <a:buClrTx/>
              <a:buSzTx/>
              <a:buFontTx/>
            </a:pP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存储累加和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:  </a:t>
            </a:r>
            <a:r>
              <a:rPr kumimoji="1" lang="en-US" altLang="zh-CN" sz="1600" b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ClrN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=1, Ad=1, CLK↑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到来时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寄存器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1" lang="en-US" altLang="zh-CN" sz="16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Q</a:t>
            </a:r>
            <a:r>
              <a:rPr kumimoji="1" lang="en-US" altLang="zh-CN" sz="1600" b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</a:t>
            </a:r>
            <a:r>
              <a:rPr kumimoji="1" lang="en-US" altLang="zh-CN" sz="16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</a:t>
            </a:r>
            <a:r>
              <a:rPr kumimoji="1" lang="en-US" altLang="zh-CN" sz="16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</a:p>
        </p:txBody>
      </p:sp>
      <p:grpSp>
        <p:nvGrpSpPr>
          <p:cNvPr id="188" name="组合 63"/>
          <p:cNvGrpSpPr/>
          <p:nvPr/>
        </p:nvGrpSpPr>
        <p:grpSpPr>
          <a:xfrm>
            <a:off x="1638300" y="2073275"/>
            <a:ext cx="6027738" cy="161925"/>
            <a:chOff x="1071563" y="2139702"/>
            <a:chExt cx="6026970" cy="162785"/>
          </a:xfrm>
        </p:grpSpPr>
        <p:sp>
          <p:nvSpPr>
            <p:cNvPr id="1049117" name="Line 11"/>
            <p:cNvSpPr/>
            <p:nvPr/>
          </p:nvSpPr>
          <p:spPr>
            <a:xfrm>
              <a:off x="1086533" y="2301627"/>
              <a:ext cx="6012000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18" name="Line 12"/>
            <p:cNvSpPr/>
            <p:nvPr/>
          </p:nvSpPr>
          <p:spPr>
            <a:xfrm flipV="1">
              <a:off x="1071563" y="2139702"/>
              <a:ext cx="0" cy="16192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19" name="Line 13"/>
            <p:cNvSpPr/>
            <p:nvPr/>
          </p:nvSpPr>
          <p:spPr>
            <a:xfrm flipV="1">
              <a:off x="2708501" y="2140562"/>
              <a:ext cx="0" cy="16192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120" name="Line 14"/>
            <p:cNvSpPr/>
            <p:nvPr/>
          </p:nvSpPr>
          <p:spPr>
            <a:xfrm flipV="1">
              <a:off x="4329849" y="2139702"/>
              <a:ext cx="0" cy="16192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121" name="Line 15"/>
            <p:cNvSpPr/>
            <p:nvPr/>
          </p:nvSpPr>
          <p:spPr>
            <a:xfrm flipV="1">
              <a:off x="5966279" y="2140562"/>
              <a:ext cx="0" cy="16192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oval" w="sm" len="sm"/>
              <a:tailEnd type="none" w="med" len="med"/>
            </a:ln>
          </p:spPr>
        </p:sp>
      </p:grpSp>
      <p:grpSp>
        <p:nvGrpSpPr>
          <p:cNvPr id="189" name="组合 64"/>
          <p:cNvGrpSpPr/>
          <p:nvPr/>
        </p:nvGrpSpPr>
        <p:grpSpPr>
          <a:xfrm>
            <a:off x="2195513" y="1316038"/>
            <a:ext cx="5230812" cy="1585912"/>
            <a:chOff x="1628775" y="1382450"/>
            <a:chExt cx="5230385" cy="1586002"/>
          </a:xfrm>
        </p:grpSpPr>
        <p:grpSp>
          <p:nvGrpSpPr>
            <p:cNvPr id="190" name="Group 20"/>
            <p:cNvGrpSpPr/>
            <p:nvPr/>
          </p:nvGrpSpPr>
          <p:grpSpPr>
            <a:xfrm>
              <a:off x="1628775" y="1384434"/>
              <a:ext cx="360363" cy="1584018"/>
              <a:chOff x="1026" y="1207"/>
              <a:chExt cx="227" cy="1330"/>
            </a:xfrm>
          </p:grpSpPr>
          <p:sp>
            <p:nvSpPr>
              <p:cNvPr id="1049122" name="Line 16"/>
              <p:cNvSpPr/>
              <p:nvPr/>
            </p:nvSpPr>
            <p:spPr>
              <a:xfrm flipV="1">
                <a:off x="1038" y="1207"/>
                <a:ext cx="0" cy="91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23" name="Line 17"/>
              <p:cNvSpPr/>
              <p:nvPr/>
            </p:nvSpPr>
            <p:spPr>
              <a:xfrm>
                <a:off x="1026" y="1207"/>
                <a:ext cx="227" cy="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24" name="Line 19"/>
              <p:cNvSpPr/>
              <p:nvPr/>
            </p:nvSpPr>
            <p:spPr>
              <a:xfrm>
                <a:off x="1242" y="1207"/>
                <a:ext cx="0" cy="133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91" name="Group 21"/>
            <p:cNvGrpSpPr/>
            <p:nvPr/>
          </p:nvGrpSpPr>
          <p:grpSpPr>
            <a:xfrm>
              <a:off x="3247393" y="1391159"/>
              <a:ext cx="360362" cy="1548288"/>
              <a:chOff x="1026" y="1207"/>
              <a:chExt cx="227" cy="1300"/>
            </a:xfrm>
          </p:grpSpPr>
          <p:sp>
            <p:nvSpPr>
              <p:cNvPr id="1049125" name="Line 22"/>
              <p:cNvSpPr/>
              <p:nvPr/>
            </p:nvSpPr>
            <p:spPr>
              <a:xfrm flipV="1">
                <a:off x="1038" y="1207"/>
                <a:ext cx="0" cy="91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26" name="Line 23"/>
              <p:cNvSpPr/>
              <p:nvPr/>
            </p:nvSpPr>
            <p:spPr>
              <a:xfrm>
                <a:off x="1026" y="1207"/>
                <a:ext cx="227" cy="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27" name="Line 24"/>
              <p:cNvSpPr/>
              <p:nvPr/>
            </p:nvSpPr>
            <p:spPr>
              <a:xfrm>
                <a:off x="1247" y="1207"/>
                <a:ext cx="0" cy="130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92" name="Group 25"/>
            <p:cNvGrpSpPr/>
            <p:nvPr/>
          </p:nvGrpSpPr>
          <p:grpSpPr>
            <a:xfrm>
              <a:off x="4877450" y="1382450"/>
              <a:ext cx="360363" cy="1584018"/>
              <a:chOff x="1026" y="1207"/>
              <a:chExt cx="227" cy="1330"/>
            </a:xfrm>
          </p:grpSpPr>
          <p:sp>
            <p:nvSpPr>
              <p:cNvPr id="1049128" name="Line 26"/>
              <p:cNvSpPr/>
              <p:nvPr/>
            </p:nvSpPr>
            <p:spPr>
              <a:xfrm flipV="1">
                <a:off x="1038" y="1207"/>
                <a:ext cx="0" cy="91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29" name="Line 27"/>
              <p:cNvSpPr/>
              <p:nvPr/>
            </p:nvSpPr>
            <p:spPr>
              <a:xfrm>
                <a:off x="1026" y="1207"/>
                <a:ext cx="227" cy="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30" name="Line 28"/>
              <p:cNvSpPr/>
              <p:nvPr/>
            </p:nvSpPr>
            <p:spPr>
              <a:xfrm>
                <a:off x="1247" y="1207"/>
                <a:ext cx="0" cy="133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93" name="Group 29"/>
            <p:cNvGrpSpPr/>
            <p:nvPr/>
          </p:nvGrpSpPr>
          <p:grpSpPr>
            <a:xfrm>
              <a:off x="6498798" y="1382450"/>
              <a:ext cx="360362" cy="1584018"/>
              <a:chOff x="1026" y="1207"/>
              <a:chExt cx="227" cy="1330"/>
            </a:xfrm>
          </p:grpSpPr>
          <p:sp>
            <p:nvSpPr>
              <p:cNvPr id="1049131" name="Line 30"/>
              <p:cNvSpPr/>
              <p:nvPr/>
            </p:nvSpPr>
            <p:spPr>
              <a:xfrm flipV="1">
                <a:off x="1038" y="1207"/>
                <a:ext cx="0" cy="91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32" name="Line 31"/>
              <p:cNvSpPr/>
              <p:nvPr/>
            </p:nvSpPr>
            <p:spPr>
              <a:xfrm>
                <a:off x="1026" y="1207"/>
                <a:ext cx="227" cy="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33" name="Line 32"/>
              <p:cNvSpPr/>
              <p:nvPr/>
            </p:nvSpPr>
            <p:spPr>
              <a:xfrm>
                <a:off x="1247" y="1207"/>
                <a:ext cx="0" cy="1330"/>
              </a:xfrm>
              <a:prstGeom prst="line">
                <a:avLst/>
              </a:prstGeom>
              <a:ln w="38100" cap="flat" cmpd="sng">
                <a:solidFill>
                  <a:srgbClr val="0000CC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94" name="组合 66"/>
          <p:cNvGrpSpPr/>
          <p:nvPr/>
        </p:nvGrpSpPr>
        <p:grpSpPr>
          <a:xfrm>
            <a:off x="2205038" y="2051050"/>
            <a:ext cx="5033962" cy="981075"/>
            <a:chOff x="1637573" y="2118350"/>
            <a:chExt cx="5034989" cy="980181"/>
          </a:xfrm>
        </p:grpSpPr>
        <p:grpSp>
          <p:nvGrpSpPr>
            <p:cNvPr id="195" name="Group 37"/>
            <p:cNvGrpSpPr/>
            <p:nvPr/>
          </p:nvGrpSpPr>
          <p:grpSpPr>
            <a:xfrm>
              <a:off x="1637573" y="2120811"/>
              <a:ext cx="147638" cy="972230"/>
              <a:chOff x="1048" y="1752"/>
              <a:chExt cx="93" cy="817"/>
            </a:xfrm>
          </p:grpSpPr>
          <p:sp>
            <p:nvSpPr>
              <p:cNvPr id="1049134" name="Line 35"/>
              <p:cNvSpPr/>
              <p:nvPr/>
            </p:nvSpPr>
            <p:spPr>
              <a:xfrm flipH="1">
                <a:off x="1050" y="2555"/>
                <a:ext cx="91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35" name="Line 36"/>
              <p:cNvSpPr/>
              <p:nvPr/>
            </p:nvSpPr>
            <p:spPr>
              <a:xfrm flipV="1">
                <a:off x="1048" y="1752"/>
                <a:ext cx="0" cy="817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96" name="Group 38"/>
            <p:cNvGrpSpPr/>
            <p:nvPr/>
          </p:nvGrpSpPr>
          <p:grpSpPr>
            <a:xfrm>
              <a:off x="3267147" y="2121550"/>
              <a:ext cx="147637" cy="972230"/>
              <a:chOff x="1048" y="1752"/>
              <a:chExt cx="93" cy="817"/>
            </a:xfrm>
          </p:grpSpPr>
          <p:sp>
            <p:nvSpPr>
              <p:cNvPr id="1049136" name="Line 39"/>
              <p:cNvSpPr/>
              <p:nvPr/>
            </p:nvSpPr>
            <p:spPr>
              <a:xfrm flipH="1">
                <a:off x="1050" y="2554"/>
                <a:ext cx="91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37" name="Line 40"/>
              <p:cNvSpPr/>
              <p:nvPr/>
            </p:nvSpPr>
            <p:spPr>
              <a:xfrm flipV="1">
                <a:off x="1048" y="1752"/>
                <a:ext cx="0" cy="817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97" name="Group 41"/>
            <p:cNvGrpSpPr/>
            <p:nvPr/>
          </p:nvGrpSpPr>
          <p:grpSpPr>
            <a:xfrm>
              <a:off x="4894868" y="2118350"/>
              <a:ext cx="147638" cy="972230"/>
              <a:chOff x="1048" y="1738"/>
              <a:chExt cx="93" cy="817"/>
            </a:xfrm>
          </p:grpSpPr>
          <p:sp>
            <p:nvSpPr>
              <p:cNvPr id="1049138" name="Line 42"/>
              <p:cNvSpPr/>
              <p:nvPr/>
            </p:nvSpPr>
            <p:spPr>
              <a:xfrm flipH="1">
                <a:off x="1050" y="2543"/>
                <a:ext cx="91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39" name="Line 43"/>
              <p:cNvSpPr/>
              <p:nvPr/>
            </p:nvSpPr>
            <p:spPr>
              <a:xfrm flipV="1">
                <a:off x="1048" y="1738"/>
                <a:ext cx="0" cy="817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98" name="Group 44"/>
            <p:cNvGrpSpPr/>
            <p:nvPr/>
          </p:nvGrpSpPr>
          <p:grpSpPr>
            <a:xfrm>
              <a:off x="6524925" y="2126301"/>
              <a:ext cx="147637" cy="972230"/>
              <a:chOff x="1048" y="1752"/>
              <a:chExt cx="93" cy="817"/>
            </a:xfrm>
          </p:grpSpPr>
          <p:sp>
            <p:nvSpPr>
              <p:cNvPr id="1049140" name="Line 45"/>
              <p:cNvSpPr/>
              <p:nvPr/>
            </p:nvSpPr>
            <p:spPr>
              <a:xfrm flipH="1">
                <a:off x="1050" y="2557"/>
                <a:ext cx="91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41" name="Line 46"/>
              <p:cNvSpPr/>
              <p:nvPr/>
            </p:nvSpPr>
            <p:spPr>
              <a:xfrm flipV="1">
                <a:off x="1048" y="1752"/>
                <a:ext cx="0" cy="817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99" name="组合 65"/>
          <p:cNvGrpSpPr/>
          <p:nvPr/>
        </p:nvGrpSpPr>
        <p:grpSpPr>
          <a:xfrm>
            <a:off x="2636838" y="3363913"/>
            <a:ext cx="4887912" cy="266700"/>
            <a:chOff x="2069138" y="3430436"/>
            <a:chExt cx="4887835" cy="267102"/>
          </a:xfrm>
        </p:grpSpPr>
        <p:sp>
          <p:nvSpPr>
            <p:cNvPr id="1049142" name="Line 47"/>
            <p:cNvSpPr/>
            <p:nvPr/>
          </p:nvSpPr>
          <p:spPr>
            <a:xfrm flipV="1">
              <a:off x="2069138" y="3430436"/>
              <a:ext cx="0" cy="252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143" name="Line 48"/>
            <p:cNvSpPr/>
            <p:nvPr/>
          </p:nvSpPr>
          <p:spPr>
            <a:xfrm flipV="1">
              <a:off x="3699195" y="3445538"/>
              <a:ext cx="0" cy="252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144" name="Line 49"/>
            <p:cNvSpPr/>
            <p:nvPr/>
          </p:nvSpPr>
          <p:spPr>
            <a:xfrm flipV="1">
              <a:off x="5326916" y="3439188"/>
              <a:ext cx="0" cy="252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145" name="Line 50"/>
            <p:cNvSpPr/>
            <p:nvPr/>
          </p:nvSpPr>
          <p:spPr>
            <a:xfrm flipV="1">
              <a:off x="6956973" y="3433611"/>
              <a:ext cx="0" cy="252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0" name="组合 68"/>
          <p:cNvGrpSpPr/>
          <p:nvPr/>
        </p:nvGrpSpPr>
        <p:grpSpPr>
          <a:xfrm>
            <a:off x="1295400" y="1739900"/>
            <a:ext cx="6386513" cy="828675"/>
            <a:chOff x="728666" y="1806972"/>
            <a:chExt cx="6386195" cy="828487"/>
          </a:xfrm>
        </p:grpSpPr>
        <p:grpSp>
          <p:nvGrpSpPr>
            <p:cNvPr id="201" name="Group 55"/>
            <p:cNvGrpSpPr/>
            <p:nvPr/>
          </p:nvGrpSpPr>
          <p:grpSpPr>
            <a:xfrm>
              <a:off x="728666" y="1806972"/>
              <a:ext cx="107950" cy="828487"/>
              <a:chOff x="459" y="1518"/>
              <a:chExt cx="68" cy="695"/>
            </a:xfrm>
          </p:grpSpPr>
          <p:sp>
            <p:nvSpPr>
              <p:cNvPr id="1049146" name="Line 51"/>
              <p:cNvSpPr/>
              <p:nvPr/>
            </p:nvSpPr>
            <p:spPr>
              <a:xfrm>
                <a:off x="459" y="1519"/>
                <a:ext cx="68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47" name="Line 53"/>
              <p:cNvSpPr/>
              <p:nvPr/>
            </p:nvSpPr>
            <p:spPr>
              <a:xfrm>
                <a:off x="468" y="1518"/>
                <a:ext cx="0" cy="695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9148" name="Line 54"/>
            <p:cNvSpPr/>
            <p:nvPr/>
          </p:nvSpPr>
          <p:spPr>
            <a:xfrm>
              <a:off x="742861" y="2626340"/>
              <a:ext cx="6372000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2" name="Group 56"/>
            <p:cNvGrpSpPr/>
            <p:nvPr/>
          </p:nvGrpSpPr>
          <p:grpSpPr>
            <a:xfrm>
              <a:off x="2340524" y="1825581"/>
              <a:ext cx="144462" cy="798685"/>
              <a:chOff x="438" y="1519"/>
              <a:chExt cx="91" cy="670"/>
            </a:xfrm>
          </p:grpSpPr>
          <p:sp>
            <p:nvSpPr>
              <p:cNvPr id="1049149" name="Line 57"/>
              <p:cNvSpPr/>
              <p:nvPr/>
            </p:nvSpPr>
            <p:spPr>
              <a:xfrm>
                <a:off x="438" y="1519"/>
                <a:ext cx="91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50" name="Line 58"/>
              <p:cNvSpPr/>
              <p:nvPr/>
            </p:nvSpPr>
            <p:spPr>
              <a:xfrm>
                <a:off x="452" y="1525"/>
                <a:ext cx="0" cy="664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203" name="Group 59"/>
            <p:cNvGrpSpPr/>
            <p:nvPr/>
          </p:nvGrpSpPr>
          <p:grpSpPr>
            <a:xfrm>
              <a:off x="3970580" y="1818039"/>
              <a:ext cx="144463" cy="791994"/>
              <a:chOff x="438" y="1518"/>
              <a:chExt cx="91" cy="666"/>
            </a:xfrm>
          </p:grpSpPr>
          <p:sp>
            <p:nvSpPr>
              <p:cNvPr id="1049151" name="Line 60"/>
              <p:cNvSpPr/>
              <p:nvPr/>
            </p:nvSpPr>
            <p:spPr>
              <a:xfrm>
                <a:off x="438" y="1519"/>
                <a:ext cx="91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52" name="Line 61"/>
              <p:cNvSpPr/>
              <p:nvPr/>
            </p:nvSpPr>
            <p:spPr>
              <a:xfrm>
                <a:off x="452" y="1518"/>
                <a:ext cx="0" cy="666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204" name="Group 62"/>
            <p:cNvGrpSpPr/>
            <p:nvPr/>
          </p:nvGrpSpPr>
          <p:grpSpPr>
            <a:xfrm>
              <a:off x="5598301" y="1822406"/>
              <a:ext cx="144463" cy="798685"/>
              <a:chOff x="438" y="1519"/>
              <a:chExt cx="91" cy="670"/>
            </a:xfrm>
          </p:grpSpPr>
          <p:sp>
            <p:nvSpPr>
              <p:cNvPr id="1049153" name="Line 63"/>
              <p:cNvSpPr/>
              <p:nvPr/>
            </p:nvSpPr>
            <p:spPr>
              <a:xfrm>
                <a:off x="438" y="1519"/>
                <a:ext cx="91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154" name="Line 64"/>
              <p:cNvSpPr/>
              <p:nvPr/>
            </p:nvSpPr>
            <p:spPr>
              <a:xfrm>
                <a:off x="452" y="1525"/>
                <a:ext cx="0" cy="664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oval" w="med" len="med"/>
              </a:ln>
            </p:spPr>
          </p:sp>
        </p:grpSp>
      </p:grpSp>
      <p:sp>
        <p:nvSpPr>
          <p:cNvPr id="1049156" name="Line 25"/>
          <p:cNvSpPr/>
          <p:nvPr/>
        </p:nvSpPr>
        <p:spPr>
          <a:xfrm flipH="1" flipV="1">
            <a:off x="7848600" y="3252788"/>
            <a:ext cx="433388" cy="0"/>
          </a:xfrm>
          <a:prstGeom prst="line">
            <a:avLst/>
          </a:prstGeom>
          <a:ln w="28575" cap="flat" cmpd="sng">
            <a:solidFill>
              <a:srgbClr val="660033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05" name="组合 15"/>
          <p:cNvGrpSpPr/>
          <p:nvPr/>
        </p:nvGrpSpPr>
        <p:grpSpPr>
          <a:xfrm>
            <a:off x="7740650" y="842963"/>
            <a:ext cx="1008063" cy="577850"/>
            <a:chOff x="7247659" y="627534"/>
            <a:chExt cx="1250664" cy="504056"/>
          </a:xfrm>
        </p:grpSpPr>
        <p:sp>
          <p:nvSpPr>
            <p:cNvPr id="1049157" name="云形标注 16"/>
            <p:cNvSpPr>
              <a:spLocks noChangeArrowheads="1"/>
            </p:cNvSpPr>
            <p:nvPr/>
          </p:nvSpPr>
          <p:spPr bwMode="auto">
            <a:xfrm>
              <a:off x="7247659" y="627534"/>
              <a:ext cx="1250664" cy="504056"/>
            </a:xfrm>
            <a:prstGeom prst="cloudCallout">
              <a:avLst>
                <a:gd name="adj1" fmla="val -68057"/>
                <a:gd name="adj2" fmla="val 115963"/>
              </a:avLst>
            </a:prstGeom>
            <a:solidFill>
              <a:schemeClr val="tx1"/>
            </a:solidFill>
            <a:ln w="12700" algn="ctr">
              <a:solidFill>
                <a:schemeClr val="bg1">
                  <a:lumMod val="75000"/>
                </a:schemeClr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158" name="TextBox 17"/>
            <p:cNvSpPr txBox="1"/>
            <p:nvPr/>
          </p:nvSpPr>
          <p:spPr>
            <a:xfrm>
              <a:off x="7444830" y="665585"/>
              <a:ext cx="906222" cy="4342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需要</a:t>
              </a:r>
              <a:r>
                <a:rPr lang="zh-CN" altLang="en-US" sz="1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清零</a:t>
              </a:r>
              <a:r>
                <a:rPr lang="zh-CN" altLang="en-US" sz="14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操作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9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9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49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49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16" grpId="0" uiExpand="1" build="p" bldLvl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2"/>
                </a:solidFill>
                <a:sym typeface="+mn-ea"/>
              </a:rPr>
              <a:t>寄存器的应用</a:t>
            </a:r>
            <a:r>
              <a:rPr lang="en-US" altLang="zh-CN" sz="2800" i="1" noProof="0" dirty="0">
                <a:solidFill>
                  <a:schemeClr val="bg2"/>
                </a:solidFill>
                <a:latin typeface="Arial" panose="020B0604020202090204" pitchFamily="34" charset="0"/>
                <a:ea typeface="宋体" pitchFamily="2" charset="-122"/>
                <a:sym typeface="+mn-ea"/>
              </a:rPr>
              <a:t>——</a:t>
            </a:r>
            <a:r>
              <a:rPr lang="zh-CN" altLang="en-US" sz="2800" noProof="0" dirty="0">
                <a:solidFill>
                  <a:schemeClr val="bg2"/>
                </a:solidFill>
                <a:sym typeface="+mn-ea"/>
              </a:rPr>
              <a:t>具有累加功能的并行加法器</a:t>
            </a:r>
            <a:r>
              <a:rPr lang="en-US" altLang="zh-CN" sz="2800" noProof="0" dirty="0">
                <a:solidFill>
                  <a:schemeClr val="bg2"/>
                </a:solidFill>
                <a:latin typeface="+mj-lt"/>
                <a:sym typeface="+mn-ea"/>
              </a:rPr>
              <a:t>2</a:t>
            </a:r>
          </a:p>
        </p:txBody>
      </p:sp>
      <p:pic>
        <p:nvPicPr>
          <p:cNvPr id="2097174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63" y="971550"/>
            <a:ext cx="3384550" cy="2608263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1049164" name="Text Box 22"/>
          <p:cNvSpPr txBox="1"/>
          <p:nvPr/>
        </p:nvSpPr>
        <p:spPr>
          <a:xfrm>
            <a:off x="2124075" y="1563688"/>
            <a:ext cx="1081088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chemeClr val="bg2"/>
                </a:solidFill>
                <a:latin typeface="Arial" panose="020B0604020202090204" pitchFamily="34" charset="0"/>
              </a:rPr>
              <a:t>X=X+Y</a:t>
            </a:r>
          </a:p>
        </p:txBody>
      </p:sp>
      <p:grpSp>
        <p:nvGrpSpPr>
          <p:cNvPr id="209" name="组合 17"/>
          <p:cNvGrpSpPr/>
          <p:nvPr/>
        </p:nvGrpSpPr>
        <p:grpSpPr>
          <a:xfrm>
            <a:off x="5202238" y="2162175"/>
            <a:ext cx="1671637" cy="179388"/>
            <a:chOff x="1071563" y="2166596"/>
            <a:chExt cx="1670970" cy="180000"/>
          </a:xfrm>
        </p:grpSpPr>
        <p:sp>
          <p:nvSpPr>
            <p:cNvPr id="1049165" name="Line 11"/>
            <p:cNvSpPr/>
            <p:nvPr/>
          </p:nvSpPr>
          <p:spPr>
            <a:xfrm>
              <a:off x="1086533" y="2345172"/>
              <a:ext cx="1656000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66" name="Line 12"/>
            <p:cNvSpPr/>
            <p:nvPr/>
          </p:nvSpPr>
          <p:spPr>
            <a:xfrm flipV="1">
              <a:off x="1071563" y="2166596"/>
              <a:ext cx="0" cy="18000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oval" w="med" len="med"/>
            </a:ln>
          </p:spPr>
        </p:sp>
      </p:grpSp>
      <p:grpSp>
        <p:nvGrpSpPr>
          <p:cNvPr id="210" name="组合 25"/>
          <p:cNvGrpSpPr/>
          <p:nvPr/>
        </p:nvGrpSpPr>
        <p:grpSpPr>
          <a:xfrm>
            <a:off x="6959600" y="2457450"/>
            <a:ext cx="222250" cy="936625"/>
            <a:chOff x="4943923" y="2473615"/>
            <a:chExt cx="221559" cy="936072"/>
          </a:xfrm>
        </p:grpSpPr>
        <p:sp>
          <p:nvSpPr>
            <p:cNvPr id="1049167" name="Line 35"/>
            <p:cNvSpPr>
              <a:spLocks noChangeShapeType="1"/>
            </p:cNvSpPr>
            <p:nvPr/>
          </p:nvSpPr>
          <p:spPr bwMode="auto">
            <a:xfrm flipH="1">
              <a:off x="4943923" y="3254204"/>
              <a:ext cx="215229" cy="0"/>
            </a:xfrm>
            <a:prstGeom prst="line">
              <a:avLst/>
            </a:prstGeom>
            <a:noFill/>
            <a:ln w="38100">
              <a:solidFill>
                <a:schemeClr val="bg1">
                  <a:lumMod val="75000"/>
                </a:schemeClr>
              </a:solidFill>
              <a:round/>
              <a:headEnd type="oval"/>
              <a:tailEnd type="none" w="sm" len="sm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168" name="Line 36"/>
            <p:cNvSpPr>
              <a:spLocks noChangeShapeType="1"/>
            </p:cNvSpPr>
            <p:nvPr/>
          </p:nvSpPr>
          <p:spPr bwMode="auto">
            <a:xfrm flipV="1">
              <a:off x="4948671" y="2473615"/>
              <a:ext cx="0" cy="791695"/>
            </a:xfrm>
            <a:prstGeom prst="line">
              <a:avLst/>
            </a:prstGeom>
            <a:noFill/>
            <a:ln w="38100">
              <a:solidFill>
                <a:schemeClr val="bg1">
                  <a:lumMod val="75000"/>
                </a:schemeClr>
              </a:solidFill>
              <a:round/>
              <a:tailEnd type="triangle" w="med" len="med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169" name="Line 18"/>
            <p:cNvSpPr/>
            <p:nvPr/>
          </p:nvSpPr>
          <p:spPr>
            <a:xfrm flipV="1">
              <a:off x="5165482" y="3121687"/>
              <a:ext cx="0" cy="288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49170" name="Line 19"/>
          <p:cNvSpPr/>
          <p:nvPr/>
        </p:nvSpPr>
        <p:spPr>
          <a:xfrm flipV="1">
            <a:off x="7119938" y="1873250"/>
            <a:ext cx="0" cy="360363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11" name="组合 27"/>
          <p:cNvGrpSpPr/>
          <p:nvPr/>
        </p:nvGrpSpPr>
        <p:grpSpPr>
          <a:xfrm>
            <a:off x="5802313" y="1889125"/>
            <a:ext cx="792162" cy="152400"/>
            <a:chOff x="1077568" y="2193491"/>
            <a:chExt cx="792000" cy="151681"/>
          </a:xfrm>
        </p:grpSpPr>
        <p:sp>
          <p:nvSpPr>
            <p:cNvPr id="1049171" name="Line 11"/>
            <p:cNvSpPr/>
            <p:nvPr/>
          </p:nvSpPr>
          <p:spPr>
            <a:xfrm>
              <a:off x="1077568" y="2345172"/>
              <a:ext cx="792000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72" name="Line 12"/>
            <p:cNvSpPr/>
            <p:nvPr/>
          </p:nvSpPr>
          <p:spPr>
            <a:xfrm flipV="1">
              <a:off x="1863651" y="2193491"/>
              <a:ext cx="0" cy="14400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12" name="组合 35"/>
          <p:cNvGrpSpPr/>
          <p:nvPr/>
        </p:nvGrpSpPr>
        <p:grpSpPr>
          <a:xfrm>
            <a:off x="7127875" y="1106488"/>
            <a:ext cx="504825" cy="2141537"/>
            <a:chOff x="5111882" y="1122625"/>
            <a:chExt cx="504000" cy="2142022"/>
          </a:xfrm>
        </p:grpSpPr>
        <p:sp>
          <p:nvSpPr>
            <p:cNvPr id="1049173" name="Line 22"/>
            <p:cNvSpPr/>
            <p:nvPr/>
          </p:nvSpPr>
          <p:spPr>
            <a:xfrm flipV="1">
              <a:off x="5113036" y="1122625"/>
              <a:ext cx="0" cy="144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74" name="Line 23"/>
            <p:cNvSpPr/>
            <p:nvPr/>
          </p:nvSpPr>
          <p:spPr>
            <a:xfrm>
              <a:off x="5111882" y="1131590"/>
              <a:ext cx="504000" cy="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75" name="Line 24"/>
            <p:cNvSpPr/>
            <p:nvPr/>
          </p:nvSpPr>
          <p:spPr>
            <a:xfrm>
              <a:off x="5607007" y="1140555"/>
              <a:ext cx="0" cy="2124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176" name="Line 23"/>
            <p:cNvSpPr/>
            <p:nvPr/>
          </p:nvSpPr>
          <p:spPr>
            <a:xfrm>
              <a:off x="5373109" y="3255682"/>
              <a:ext cx="216000" cy="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77" name="Line 22"/>
            <p:cNvSpPr/>
            <p:nvPr/>
          </p:nvSpPr>
          <p:spPr>
            <a:xfrm flipV="1">
              <a:off x="5364088" y="3120647"/>
              <a:ext cx="0" cy="144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13" name="组合 36"/>
          <p:cNvGrpSpPr/>
          <p:nvPr/>
        </p:nvGrpSpPr>
        <p:grpSpPr>
          <a:xfrm>
            <a:off x="6961188" y="2457450"/>
            <a:ext cx="220662" cy="935038"/>
            <a:chOff x="4943923" y="2473615"/>
            <a:chExt cx="221559" cy="936072"/>
          </a:xfrm>
        </p:grpSpPr>
        <p:sp>
          <p:nvSpPr>
            <p:cNvPr id="1049178" name="Line 35"/>
            <p:cNvSpPr/>
            <p:nvPr/>
          </p:nvSpPr>
          <p:spPr>
            <a:xfrm flipH="1">
              <a:off x="4943923" y="3254658"/>
              <a:ext cx="216000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oval" w="med" len="med"/>
              <a:tailEnd type="none" w="sm" len="sm"/>
            </a:ln>
          </p:spPr>
        </p:sp>
        <p:sp>
          <p:nvSpPr>
            <p:cNvPr id="1049179" name="Line 36"/>
            <p:cNvSpPr/>
            <p:nvPr/>
          </p:nvSpPr>
          <p:spPr>
            <a:xfrm flipV="1">
              <a:off x="4949458" y="2473615"/>
              <a:ext cx="0" cy="79200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180" name="Line 18"/>
            <p:cNvSpPr/>
            <p:nvPr/>
          </p:nvSpPr>
          <p:spPr>
            <a:xfrm flipV="1">
              <a:off x="5165482" y="3121687"/>
              <a:ext cx="0" cy="28800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49181" name="Line 19"/>
          <p:cNvSpPr/>
          <p:nvPr/>
        </p:nvSpPr>
        <p:spPr>
          <a:xfrm flipV="1">
            <a:off x="7272338" y="2474913"/>
            <a:ext cx="0" cy="287337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9182" name="Text Box 4"/>
          <p:cNvSpPr txBox="1">
            <a:spLocks noChangeArrowheads="1"/>
          </p:cNvSpPr>
          <p:nvPr/>
        </p:nvSpPr>
        <p:spPr bwMode="auto">
          <a:xfrm>
            <a:off x="809625" y="3796030"/>
            <a:ext cx="8211185" cy="96393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n"/>
            </a:pPr>
            <a:r>
              <a:rPr kumimoji="1" lang="en-US" altLang="zh-CN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初始化：</a:t>
            </a:r>
            <a:endParaRPr kumimoji="1" lang="en-US" altLang="zh-CN" sz="1600" b="1" kern="1200" cap="none" spc="0" normalizeH="0" baseline="0" noProof="0" dirty="0">
              <a:solidFill>
                <a:schemeClr val="bg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R="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FF3300"/>
              </a:buClr>
              <a:buSzTx/>
              <a:buFontTx/>
            </a:pP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Ld=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则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CE=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当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ck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↑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到来时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Q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即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→ x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将</a:t>
            </a:r>
            <a:r>
              <a:rPr kumimoji="1" lang="en-US" altLang="zh-CN" sz="16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x</a:t>
            </a:r>
            <a:r>
              <a:rPr kumimoji="1" lang="en-US" altLang="zh-CN" sz="16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送到全加器的另一个输入端</a:t>
            </a:r>
          </a:p>
          <a:p>
            <a:pPr marL="285750" marR="0" indent="-28575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Tx/>
              <a:buFont typeface="Wingdings" panose="05000000000000000000" charset="0"/>
              <a:buChar char="n"/>
            </a:pPr>
            <a:r>
              <a:rPr kumimoji="1" lang="en-US" altLang="zh-CN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送入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第二个操作数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，执行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 x</a:t>
            </a:r>
            <a:r>
              <a:rPr kumimoji="1" lang="en-US" altLang="zh-CN" sz="18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kumimoji="1" lang="en-US" altLang="zh-CN" sz="18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 </a:t>
            </a:r>
            <a:r>
              <a:rPr kumimoji="1" lang="en-US" altLang="zh-CN" sz="18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</a:t>
            </a:r>
            <a:r>
              <a:rPr kumimoji="1" lang="en-US" altLang="zh-CN" sz="18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</p:txBody>
      </p:sp>
      <p:grpSp>
        <p:nvGrpSpPr>
          <p:cNvPr id="214" name="组合 15"/>
          <p:cNvGrpSpPr/>
          <p:nvPr/>
        </p:nvGrpSpPr>
        <p:grpSpPr>
          <a:xfrm>
            <a:off x="3492500" y="2139950"/>
            <a:ext cx="1171575" cy="468313"/>
            <a:chOff x="7247659" y="627534"/>
            <a:chExt cx="1356789" cy="467287"/>
          </a:xfrm>
        </p:grpSpPr>
        <p:sp>
          <p:nvSpPr>
            <p:cNvPr id="1049183" name="云形标注 16"/>
            <p:cNvSpPr/>
            <p:nvPr/>
          </p:nvSpPr>
          <p:spPr>
            <a:xfrm>
              <a:off x="7247659" y="627534"/>
              <a:ext cx="1083972" cy="467287"/>
            </a:xfrm>
            <a:prstGeom prst="cloudCallout">
              <a:avLst>
                <a:gd name="adj1" fmla="val 89019"/>
                <a:gd name="adj2" fmla="val -37125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/>
            </a:p>
          </p:txBody>
        </p:sp>
        <p:sp>
          <p:nvSpPr>
            <p:cNvPr id="1049184" name="TextBox 17"/>
            <p:cNvSpPr txBox="1"/>
            <p:nvPr/>
          </p:nvSpPr>
          <p:spPr>
            <a:xfrm>
              <a:off x="7308304" y="695349"/>
              <a:ext cx="1296144" cy="2919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写入</a:t>
              </a:r>
              <a:r>
                <a:rPr lang="zh-CN" altLang="en-US" sz="13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使能</a:t>
              </a:r>
            </a:p>
          </p:txBody>
        </p:sp>
      </p:grpSp>
      <p:grpSp>
        <p:nvGrpSpPr>
          <p:cNvPr id="215" name="组合 15"/>
          <p:cNvGrpSpPr/>
          <p:nvPr/>
        </p:nvGrpSpPr>
        <p:grpSpPr>
          <a:xfrm>
            <a:off x="3635375" y="1311275"/>
            <a:ext cx="1171575" cy="468313"/>
            <a:chOff x="7247659" y="627534"/>
            <a:chExt cx="1356789" cy="467287"/>
          </a:xfrm>
        </p:grpSpPr>
        <p:sp>
          <p:nvSpPr>
            <p:cNvPr id="1049185" name="云形标注 16"/>
            <p:cNvSpPr/>
            <p:nvPr/>
          </p:nvSpPr>
          <p:spPr>
            <a:xfrm>
              <a:off x="7247659" y="627534"/>
              <a:ext cx="1083972" cy="467287"/>
            </a:xfrm>
            <a:prstGeom prst="cloudCallout">
              <a:avLst>
                <a:gd name="adj1" fmla="val 70282"/>
                <a:gd name="adj2" fmla="val 61843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/>
            </a:p>
          </p:txBody>
        </p:sp>
        <p:sp>
          <p:nvSpPr>
            <p:cNvPr id="1049186" name="TextBox 17"/>
            <p:cNvSpPr txBox="1"/>
            <p:nvPr/>
          </p:nvSpPr>
          <p:spPr>
            <a:xfrm>
              <a:off x="7308304" y="695349"/>
              <a:ext cx="1296144" cy="2919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加法</a:t>
              </a:r>
              <a:r>
                <a:rPr lang="zh-CN" altLang="en-US" sz="13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使能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8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寄存器的应用</a:t>
            </a:r>
            <a:r>
              <a:rPr lang="en-US" altLang="zh-CN" sz="2800" i="1" noProof="0" dirty="0">
                <a:latin typeface="Arial" panose="020B0604020202090204" pitchFamily="34" charset="0"/>
                <a:ea typeface="宋体" pitchFamily="2" charset="-122"/>
                <a:sym typeface="+mn-ea"/>
              </a:rPr>
              <a:t>——</a:t>
            </a:r>
            <a:r>
              <a:rPr lang="zh-CN" altLang="en-US" sz="2800" noProof="0" dirty="0">
                <a:sym typeface="+mn-ea"/>
              </a:rPr>
              <a:t>具有累加功能的并行加法器</a:t>
            </a:r>
            <a:r>
              <a:rPr lang="en-US" altLang="zh-CN" sz="2800" noProof="0" dirty="0">
                <a:latin typeface="+mj-lt"/>
                <a:sym typeface="+mn-ea"/>
              </a:rPr>
              <a:t>2</a:t>
            </a:r>
          </a:p>
        </p:txBody>
      </p:sp>
      <p:pic>
        <p:nvPicPr>
          <p:cNvPr id="2097176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363" y="755650"/>
            <a:ext cx="3384550" cy="2608263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1049192" name="Text Box 22"/>
          <p:cNvSpPr txBox="1"/>
          <p:nvPr/>
        </p:nvSpPr>
        <p:spPr>
          <a:xfrm>
            <a:off x="5104765" y="794385"/>
            <a:ext cx="10810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i="1" dirty="0">
                <a:solidFill>
                  <a:schemeClr val="bg2"/>
                </a:solidFill>
                <a:latin typeface="Arial" panose="020B0604020202090204" pitchFamily="34" charset="0"/>
              </a:rPr>
              <a:t>X=X+Y</a:t>
            </a:r>
          </a:p>
        </p:txBody>
      </p:sp>
      <p:grpSp>
        <p:nvGrpSpPr>
          <p:cNvPr id="219" name="组合 36"/>
          <p:cNvGrpSpPr/>
          <p:nvPr/>
        </p:nvGrpSpPr>
        <p:grpSpPr>
          <a:xfrm>
            <a:off x="7175500" y="2241550"/>
            <a:ext cx="222250" cy="936625"/>
            <a:chOff x="4943923" y="2473615"/>
            <a:chExt cx="221559" cy="936072"/>
          </a:xfrm>
        </p:grpSpPr>
        <p:sp>
          <p:nvSpPr>
            <p:cNvPr id="1049193" name="Line 35"/>
            <p:cNvSpPr>
              <a:spLocks noChangeShapeType="1"/>
            </p:cNvSpPr>
            <p:nvPr/>
          </p:nvSpPr>
          <p:spPr bwMode="auto">
            <a:xfrm flipH="1">
              <a:off x="4943923" y="3254204"/>
              <a:ext cx="215229" cy="0"/>
            </a:xfrm>
            <a:prstGeom prst="line">
              <a:avLst/>
            </a:prstGeom>
            <a:noFill/>
            <a:ln w="38100">
              <a:solidFill>
                <a:schemeClr val="bg1">
                  <a:lumMod val="75000"/>
                </a:schemeClr>
              </a:solidFill>
              <a:round/>
              <a:headEnd type="oval"/>
              <a:tailEnd type="none" w="sm" len="sm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194" name="Line 36"/>
            <p:cNvSpPr>
              <a:spLocks noChangeShapeType="1"/>
            </p:cNvSpPr>
            <p:nvPr/>
          </p:nvSpPr>
          <p:spPr bwMode="auto">
            <a:xfrm flipV="1">
              <a:off x="4948671" y="2473615"/>
              <a:ext cx="0" cy="791695"/>
            </a:xfrm>
            <a:prstGeom prst="line">
              <a:avLst/>
            </a:prstGeom>
            <a:noFill/>
            <a:ln w="38100">
              <a:solidFill>
                <a:schemeClr val="bg1">
                  <a:lumMod val="75000"/>
                </a:schemeClr>
              </a:solidFill>
              <a:round/>
              <a:tailEnd type="triangle" w="med" len="med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195" name="Line 18"/>
            <p:cNvSpPr/>
            <p:nvPr/>
          </p:nvSpPr>
          <p:spPr>
            <a:xfrm flipV="1">
              <a:off x="5165482" y="3121687"/>
              <a:ext cx="0" cy="288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49196" name="Line 19"/>
          <p:cNvSpPr/>
          <p:nvPr/>
        </p:nvSpPr>
        <p:spPr>
          <a:xfrm flipV="1">
            <a:off x="7335838" y="1657350"/>
            <a:ext cx="0" cy="360363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20" name="组合 41"/>
          <p:cNvGrpSpPr/>
          <p:nvPr/>
        </p:nvGrpSpPr>
        <p:grpSpPr>
          <a:xfrm>
            <a:off x="6018213" y="1673225"/>
            <a:ext cx="792162" cy="152400"/>
            <a:chOff x="1077568" y="2193491"/>
            <a:chExt cx="792000" cy="151681"/>
          </a:xfrm>
        </p:grpSpPr>
        <p:sp>
          <p:nvSpPr>
            <p:cNvPr id="1049197" name="Line 11"/>
            <p:cNvSpPr/>
            <p:nvPr/>
          </p:nvSpPr>
          <p:spPr>
            <a:xfrm>
              <a:off x="1077568" y="2345172"/>
              <a:ext cx="792000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198" name="Line 12"/>
            <p:cNvSpPr/>
            <p:nvPr/>
          </p:nvSpPr>
          <p:spPr>
            <a:xfrm flipV="1">
              <a:off x="1863651" y="2193491"/>
              <a:ext cx="0" cy="14400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21" name="组合 44"/>
          <p:cNvGrpSpPr/>
          <p:nvPr/>
        </p:nvGrpSpPr>
        <p:grpSpPr>
          <a:xfrm>
            <a:off x="7343775" y="890588"/>
            <a:ext cx="504825" cy="2141537"/>
            <a:chOff x="5111882" y="1122625"/>
            <a:chExt cx="504000" cy="2142022"/>
          </a:xfrm>
        </p:grpSpPr>
        <p:sp>
          <p:nvSpPr>
            <p:cNvPr id="1049199" name="Line 22"/>
            <p:cNvSpPr/>
            <p:nvPr/>
          </p:nvSpPr>
          <p:spPr>
            <a:xfrm flipV="1">
              <a:off x="5113036" y="1122625"/>
              <a:ext cx="0" cy="144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00" name="Line 23"/>
            <p:cNvSpPr/>
            <p:nvPr/>
          </p:nvSpPr>
          <p:spPr>
            <a:xfrm>
              <a:off x="5111882" y="1131590"/>
              <a:ext cx="504000" cy="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01" name="Line 24"/>
            <p:cNvSpPr/>
            <p:nvPr/>
          </p:nvSpPr>
          <p:spPr>
            <a:xfrm>
              <a:off x="5607007" y="1140555"/>
              <a:ext cx="0" cy="2124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202" name="Line 23"/>
            <p:cNvSpPr/>
            <p:nvPr/>
          </p:nvSpPr>
          <p:spPr>
            <a:xfrm>
              <a:off x="5373109" y="3255682"/>
              <a:ext cx="216000" cy="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03" name="Line 22"/>
            <p:cNvSpPr/>
            <p:nvPr/>
          </p:nvSpPr>
          <p:spPr>
            <a:xfrm flipV="1">
              <a:off x="5364088" y="3120647"/>
              <a:ext cx="0" cy="144000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22" name="组合 50"/>
          <p:cNvGrpSpPr/>
          <p:nvPr/>
        </p:nvGrpSpPr>
        <p:grpSpPr>
          <a:xfrm>
            <a:off x="7177088" y="2241550"/>
            <a:ext cx="220662" cy="935038"/>
            <a:chOff x="4943923" y="2473615"/>
            <a:chExt cx="221559" cy="936072"/>
          </a:xfrm>
        </p:grpSpPr>
        <p:sp>
          <p:nvSpPr>
            <p:cNvPr id="1049204" name="Line 35"/>
            <p:cNvSpPr/>
            <p:nvPr/>
          </p:nvSpPr>
          <p:spPr>
            <a:xfrm flipH="1">
              <a:off x="4943923" y="3254658"/>
              <a:ext cx="216000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oval" w="med" len="med"/>
              <a:tailEnd type="none" w="sm" len="sm"/>
            </a:ln>
          </p:spPr>
        </p:sp>
        <p:sp>
          <p:nvSpPr>
            <p:cNvPr id="1049205" name="Line 36"/>
            <p:cNvSpPr/>
            <p:nvPr/>
          </p:nvSpPr>
          <p:spPr>
            <a:xfrm flipV="1">
              <a:off x="4949458" y="2473615"/>
              <a:ext cx="0" cy="79200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206" name="Line 18"/>
            <p:cNvSpPr/>
            <p:nvPr/>
          </p:nvSpPr>
          <p:spPr>
            <a:xfrm flipV="1">
              <a:off x="5165482" y="3121687"/>
              <a:ext cx="0" cy="28800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49207" name="Line 19"/>
          <p:cNvSpPr/>
          <p:nvPr/>
        </p:nvSpPr>
        <p:spPr>
          <a:xfrm flipV="1">
            <a:off x="7488238" y="2259013"/>
            <a:ext cx="0" cy="287337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9208" name="Line 11"/>
          <p:cNvSpPr/>
          <p:nvPr/>
        </p:nvSpPr>
        <p:spPr>
          <a:xfrm>
            <a:off x="5257800" y="1709738"/>
            <a:ext cx="287338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9209" name="Text Box 4"/>
          <p:cNvSpPr txBox="1">
            <a:spLocks noChangeArrowheads="1"/>
          </p:cNvSpPr>
          <p:nvPr/>
        </p:nvSpPr>
        <p:spPr bwMode="auto">
          <a:xfrm>
            <a:off x="760413" y="3516313"/>
            <a:ext cx="7777163" cy="150495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 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初始化：</a:t>
            </a:r>
            <a:endParaRPr kumimoji="1" lang="en-US" altLang="zh-CN" sz="1600" b="1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R="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FF3300"/>
              </a:buClr>
              <a:buSzPct val="80000"/>
              <a:buFontTx/>
            </a:pP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Ld=1, 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则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CE=1, 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当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ck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↑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到来时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kumimoji="1" lang="en-US" altLang="zh-CN" sz="1600" b="1" kern="1200" cap="none" spc="0" normalizeH="0" baseline="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Q</a:t>
            </a:r>
            <a:r>
              <a:rPr kumimoji="1" lang="en-US" altLang="zh-CN" sz="1600" b="1" kern="1200" cap="none" spc="0" normalizeH="0" baseline="-2500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</a:t>
            </a:r>
            <a:r>
              <a:rPr kumimoji="1" lang="en-US" altLang="zh-CN" sz="1600" b="1" kern="1200" cap="none" spc="0" normalizeH="0" baseline="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600" b="1" kern="1200" cap="none" spc="0" normalizeH="0" baseline="-2500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即</a:t>
            </a:r>
            <a:r>
              <a:rPr kumimoji="1" lang="en-US" altLang="zh-CN" sz="1600" b="1" kern="1200" cap="none" spc="0" normalizeH="0" baseline="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600" b="1" kern="1200" cap="none" spc="0" normalizeH="0" baseline="-2500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→ x</a:t>
            </a:r>
            <a:r>
              <a:rPr kumimoji="1" lang="en-US" altLang="zh-CN" sz="1600" b="1" kern="1200" cap="none" spc="0" normalizeH="0" baseline="-2500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将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x</a:t>
            </a:r>
            <a:r>
              <a:rPr kumimoji="1" lang="en-US" altLang="zh-CN" sz="1600" b="1" kern="1200" cap="none" spc="0" normalizeH="0" baseline="-2500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送到全加器的另一个输入端</a:t>
            </a:r>
            <a:endParaRPr kumimoji="1" lang="en-US" altLang="zh-CN" sz="1600" b="1" kern="1200" cap="none" spc="0" normalizeH="0" baseline="-25000" noProof="0" dirty="0">
              <a:solidFill>
                <a:schemeClr val="tx1">
                  <a:lumMod val="65000"/>
                </a:schemeClr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 送入第二个操作数</a:t>
            </a:r>
            <a:r>
              <a:rPr kumimoji="1" lang="en-US" altLang="zh-CN" sz="1600" b="1" kern="1200" cap="none" spc="0" normalizeH="0" baseline="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600" b="1" kern="1200" cap="none" spc="0" normalizeH="0" baseline="-2500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zh-CN" altLang="en-US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，执行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</a:t>
            </a:r>
            <a:r>
              <a:rPr kumimoji="1" lang="en-US" altLang="zh-CN" sz="1600" b="1" kern="1200" cap="none" spc="0" normalizeH="0" baseline="-2500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</a:t>
            </a:r>
            <a:r>
              <a:rPr kumimoji="1" lang="en-US" altLang="zh-CN" sz="1600" b="1" kern="1200" cap="none" spc="0" normalizeH="0" baseline="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</a:t>
            </a:r>
            <a:r>
              <a:rPr kumimoji="1" lang="en-US" altLang="zh-CN" sz="1600" b="1" kern="1200" cap="none" spc="0" normalizeH="0" baseline="-2500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+x</a:t>
            </a:r>
            <a:r>
              <a:rPr kumimoji="1" lang="en-US" altLang="zh-CN" sz="1600" b="1" kern="1200" cap="none" spc="0" normalizeH="0" baseline="-25000" noProof="0" dirty="0" err="1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r>
              <a:rPr kumimoji="1" lang="en-US" altLang="zh-CN" sz="1600" b="1" kern="1200" cap="none" spc="0" normalizeH="0" baseline="-25000" noProof="0" dirty="0">
                <a:solidFill>
                  <a:schemeClr val="tx1">
                    <a:lumMod val="6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marR="0" defTabSz="914400" eaLnBrk="1" hangingPunct="1">
              <a:lnSpc>
                <a:spcPct val="90000"/>
              </a:lnSpc>
              <a:spcBef>
                <a:spcPts val="6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 sz="1600" b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Ld=0, Ad=1, ck↑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到来时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: </a:t>
            </a:r>
            <a:r>
              <a:rPr kumimoji="1" lang="en-US" altLang="zh-CN" sz="16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x</a:t>
            </a:r>
            <a:r>
              <a:rPr kumimoji="1" lang="en-US" altLang="zh-CN" sz="1600" b="1" i="1" kern="1200" cap="none" spc="0" normalizeH="0" baseline="-250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kumimoji="1" lang="en-US" altLang="zh-CN" sz="1600" b="1" i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</a:t>
            </a:r>
            <a:r>
              <a:rPr kumimoji="1" lang="en-US" altLang="zh-CN" sz="1600" b="1" i="1" kern="1200" cap="none" spc="0" normalizeH="0" baseline="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</a:t>
            </a:r>
            <a:r>
              <a:rPr kumimoji="1" lang="en-US" altLang="zh-CN" sz="1600" b="1" i="1" kern="1200" cap="none" spc="0" normalizeH="0" baseline="-25000" noProof="0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</a:t>
            </a:r>
            <a:endParaRPr kumimoji="1" lang="en-US" altLang="zh-CN" sz="1600" b="1" i="1" kern="1200" cap="none" spc="0" normalizeH="0" baseline="-2500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1600" b="1" kern="1200" cap="none" spc="0" normalizeH="0" baseline="0" noProof="0" dirty="0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 保持：</a:t>
            </a:r>
            <a:r>
              <a:rPr kumimoji="1" lang="en-US" altLang="zh-CN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Ld=0, Ad=0 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</a:t>
            </a:r>
            <a:r>
              <a:rPr kumimoji="1"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kumimoji="1" lang="en-US" altLang="zh-CN" sz="16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Ld</a:t>
            </a:r>
            <a:r>
              <a:rPr kumimoji="1"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kumimoji="1"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</a:t>
            </a:r>
            <a:r>
              <a:rPr kumimoji="1"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不同时为</a:t>
            </a:r>
            <a:r>
              <a:rPr kumimoji="1"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 </a:t>
            </a:r>
            <a:r>
              <a:rPr kumimoji="1" lang="zh-CN" altLang="en-US" sz="1600" b="1" kern="1200" cap="none" spc="0" normalizeH="0" baseline="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endParaRPr kumimoji="1" lang="en-US" altLang="zh-CN" sz="1600" b="1" kern="1200" cap="none" spc="0" normalizeH="0" baseline="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2765" y="1368425"/>
            <a:ext cx="3820160" cy="1706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cs typeface="宋体" pitchFamily="2" charset="-122"/>
                <a:sym typeface="+mn-ea"/>
              </a:rPr>
              <a:t>与方案</a:t>
            </a:r>
            <a:r>
              <a:rPr lang="en-US" altLang="zh-CN" sz="2000" b="1" dirty="0">
                <a:solidFill>
                  <a:srgbClr val="C00000"/>
                </a:solidFill>
                <a:latin typeface="宋体" pitchFamily="2" charset="-122"/>
                <a:cs typeface="宋体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宋体" pitchFamily="2" charset="-122"/>
                <a:cs typeface="宋体" pitchFamily="2" charset="-122"/>
                <a:sym typeface="+mn-ea"/>
              </a:rPr>
              <a:t>比较：</a:t>
            </a:r>
            <a:endParaRPr lang="en-US" altLang="zh-CN" sz="2000" b="1" dirty="0">
              <a:solidFill>
                <a:srgbClr val="C00000"/>
              </a:solidFill>
              <a:latin typeface="宋体" pitchFamily="2" charset="-122"/>
              <a:cs typeface="宋体" pitchFamily="2" charset="-122"/>
            </a:endParaRPr>
          </a:p>
          <a:p>
            <a:pPr marL="0" lvl="0" indent="0" algn="l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  <a:cs typeface="宋体" pitchFamily="2" charset="-122"/>
                <a:sym typeface="+mn-ea"/>
              </a:rPr>
              <a:t>触发器</a:t>
            </a: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不需要初始清零；</a:t>
            </a:r>
          </a:p>
          <a:p>
            <a:pPr marL="0" lvl="0" indent="0" algn="just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  <a:cs typeface="宋体" pitchFamily="2" charset="-122"/>
                <a:sym typeface="+mn-ea"/>
              </a:rPr>
              <a:t>通过一个二选一数据选择器，在第一个时钟沿送入一个操作数，之后在每个时钟沿送入累加和。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209" grpId="0" uiExpand="1" build="p"/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寄存器的应用</a:t>
            </a:r>
            <a:r>
              <a:rPr lang="en-US" altLang="zh-CN" sz="2800" i="1" dirty="0">
                <a:latin typeface="Arial" panose="020B0604020202090204" pitchFamily="34" charset="0"/>
                <a:sym typeface="+mn-ea"/>
              </a:rPr>
              <a:t>——</a:t>
            </a:r>
            <a:r>
              <a:rPr lang="zh-CN" altLang="en-US" sz="2800" dirty="0">
                <a:sym typeface="+mn-ea"/>
              </a:rPr>
              <a:t>计算机并行输入</a:t>
            </a:r>
            <a:r>
              <a:rPr lang="en-US" altLang="zh-CN" sz="2800" dirty="0">
                <a:sym typeface="+mn-ea"/>
              </a:rPr>
              <a:t>/</a:t>
            </a:r>
            <a:r>
              <a:rPr lang="zh-CN" altLang="en-US" sz="2800" dirty="0">
                <a:sym typeface="+mn-ea"/>
              </a:rPr>
              <a:t>输出接口</a:t>
            </a:r>
          </a:p>
        </p:txBody>
      </p:sp>
      <p:sp>
        <p:nvSpPr>
          <p:cNvPr id="1049046" name="AutoShape 3"/>
          <p:cNvSpPr/>
          <p:nvPr/>
        </p:nvSpPr>
        <p:spPr>
          <a:xfrm>
            <a:off x="4505325" y="3729038"/>
            <a:ext cx="215900" cy="468312"/>
          </a:xfrm>
          <a:prstGeom prst="upArrow">
            <a:avLst>
              <a:gd name="adj1" fmla="val 50000"/>
              <a:gd name="adj2" fmla="val 59118"/>
            </a:avLst>
          </a:prstGeom>
          <a:solidFill>
            <a:srgbClr val="66FFFF"/>
          </a:solid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solidFill>
                <a:schemeClr val="bg2"/>
              </a:solidFill>
              <a:latin typeface="Arial" panose="020B0604020202090204" pitchFamily="34" charset="0"/>
            </a:endParaRPr>
          </a:p>
        </p:txBody>
      </p:sp>
      <p:sp>
        <p:nvSpPr>
          <p:cNvPr id="1049047" name="Text Box 7"/>
          <p:cNvSpPr txBox="1">
            <a:spLocks noChangeArrowheads="1"/>
          </p:cNvSpPr>
          <p:nvPr/>
        </p:nvSpPr>
        <p:spPr bwMode="auto">
          <a:xfrm>
            <a:off x="3882866" y="1349058"/>
            <a:ext cx="1332230" cy="6451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6666"/>
            </a:solidFill>
            <a:miter lim="800000"/>
          </a:ln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buFontTx/>
            </a:pP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外部设备</a:t>
            </a:r>
            <a:endParaRPr kumimoji="1" lang="en-US" altLang="zh-CN" sz="18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R="0" algn="ctr" defTabSz="914400">
              <a:buClrTx/>
              <a:buSzTx/>
              <a:buFontTx/>
            </a:pPr>
            <a:r>
              <a:rPr kumimoji="1" lang="zh-CN" altLang="en-US" sz="18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（打印机）</a:t>
            </a:r>
            <a:endParaRPr kumimoji="1" lang="en-US" altLang="zh-CN" sz="18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62" name="Group 9"/>
          <p:cNvGrpSpPr/>
          <p:nvPr/>
        </p:nvGrpSpPr>
        <p:grpSpPr>
          <a:xfrm>
            <a:off x="2825750" y="2527300"/>
            <a:ext cx="2982913" cy="1201738"/>
            <a:chOff x="1614" y="2039"/>
            <a:chExt cx="1879" cy="757"/>
          </a:xfrm>
        </p:grpSpPr>
        <p:sp>
          <p:nvSpPr>
            <p:cNvPr id="1049048" name="Text Box 10"/>
            <p:cNvSpPr txBox="1"/>
            <p:nvPr/>
          </p:nvSpPr>
          <p:spPr>
            <a:xfrm>
              <a:off x="2479" y="2297"/>
              <a:ext cx="74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8D</a:t>
              </a:r>
              <a:r>
                <a:rPr lang="zh-CN" altLang="en-US" sz="1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寄存器</a:t>
              </a:r>
            </a:p>
          </p:txBody>
        </p:sp>
        <p:sp>
          <p:nvSpPr>
            <p:cNvPr id="1049049" name="Rectangle 11"/>
            <p:cNvSpPr/>
            <p:nvPr/>
          </p:nvSpPr>
          <p:spPr>
            <a:xfrm>
              <a:off x="1905" y="2039"/>
              <a:ext cx="1588" cy="757"/>
            </a:xfrm>
            <a:prstGeom prst="rect">
              <a:avLst/>
            </a:prstGeom>
            <a:solidFill>
              <a:srgbClr val="FFFF00"/>
            </a:solidFill>
            <a:ln w="2857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solidFill>
                  <a:schemeClr val="bg2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049050" name="Text Box 12"/>
            <p:cNvSpPr txBox="1"/>
            <p:nvPr/>
          </p:nvSpPr>
          <p:spPr>
            <a:xfrm>
              <a:off x="2449" y="2572"/>
              <a:ext cx="572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1D ~ 8D</a:t>
              </a:r>
            </a:p>
          </p:txBody>
        </p:sp>
        <p:sp>
          <p:nvSpPr>
            <p:cNvPr id="1049051" name="Text Box 13"/>
            <p:cNvSpPr txBox="1"/>
            <p:nvPr/>
          </p:nvSpPr>
          <p:spPr>
            <a:xfrm>
              <a:off x="2449" y="2044"/>
              <a:ext cx="58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1Q ~ 8Q</a:t>
              </a:r>
            </a:p>
          </p:txBody>
        </p:sp>
        <p:sp>
          <p:nvSpPr>
            <p:cNvPr id="1049052" name="Line 14"/>
            <p:cNvSpPr/>
            <p:nvPr/>
          </p:nvSpPr>
          <p:spPr>
            <a:xfrm>
              <a:off x="1614" y="2411"/>
              <a:ext cx="291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9053" name="Text Box 16"/>
            <p:cNvSpPr txBox="1"/>
            <p:nvPr/>
          </p:nvSpPr>
          <p:spPr>
            <a:xfrm>
              <a:off x="1859" y="2303"/>
              <a:ext cx="26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bg2"/>
                  </a:solidFill>
                  <a:latin typeface="Arial" panose="020B0604020202090204" pitchFamily="34" charset="0"/>
                </a:rPr>
                <a:t>CP</a:t>
              </a:r>
            </a:p>
          </p:txBody>
        </p:sp>
      </p:grpSp>
      <p:sp>
        <p:nvSpPr>
          <p:cNvPr id="1049054" name="Text Box 17"/>
          <p:cNvSpPr txBox="1"/>
          <p:nvPr/>
        </p:nvSpPr>
        <p:spPr>
          <a:xfrm>
            <a:off x="3430588" y="4229418"/>
            <a:ext cx="2581275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bg2"/>
                </a:solidFill>
                <a:latin typeface="Arial" panose="020B0604020202090204" pitchFamily="34" charset="0"/>
              </a:rPr>
              <a:t>D</a:t>
            </a:r>
            <a:r>
              <a:rPr lang="en-US" altLang="zh-CN" sz="1600" b="1" baseline="-25000" dirty="0">
                <a:solidFill>
                  <a:schemeClr val="bg2"/>
                </a:solidFill>
                <a:latin typeface="Arial" panose="020B0604020202090204" pitchFamily="34" charset="0"/>
              </a:rPr>
              <a:t>7</a:t>
            </a:r>
            <a:r>
              <a:rPr lang="en-US" altLang="zh-CN" sz="1600" b="1" dirty="0">
                <a:solidFill>
                  <a:schemeClr val="bg2"/>
                </a:solidFill>
                <a:latin typeface="Arial" panose="020B0604020202090204" pitchFamily="34" charset="0"/>
              </a:rPr>
              <a:t>~D</a:t>
            </a:r>
            <a:r>
              <a:rPr lang="en-US" altLang="zh-CN" sz="1600" b="1" baseline="-25000" dirty="0">
                <a:solidFill>
                  <a:schemeClr val="bg2"/>
                </a:solidFill>
                <a:latin typeface="Arial" panose="020B0604020202090204" pitchFamily="34" charset="0"/>
              </a:rPr>
              <a:t>0</a:t>
            </a:r>
            <a:endParaRPr lang="en-US" altLang="zh-CN" sz="1600" b="1" dirty="0">
              <a:solidFill>
                <a:schemeClr val="bg2"/>
              </a:solidFill>
              <a:latin typeface="Arial" panose="020B060402020209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2"/>
                </a:solidFill>
                <a:latin typeface="Arial" panose="020B0604020202090204" pitchFamily="34" charset="0"/>
                <a:ea typeface="楷体_GB2312"/>
              </a:rPr>
              <a:t>计算机</a:t>
            </a:r>
            <a:r>
              <a:rPr lang="en-US" altLang="zh-CN" sz="1600" b="1" dirty="0">
                <a:solidFill>
                  <a:schemeClr val="bg2"/>
                </a:solidFill>
                <a:latin typeface="Arial" panose="020B0604020202090204" pitchFamily="34" charset="0"/>
                <a:ea typeface="楷体_GB2312"/>
              </a:rPr>
              <a:t>CPU</a:t>
            </a:r>
            <a:r>
              <a:rPr lang="zh-CN" altLang="en-US" sz="1600" b="1" dirty="0">
                <a:solidFill>
                  <a:schemeClr val="bg2"/>
                </a:solidFill>
                <a:latin typeface="Arial" panose="020B0604020202090204" pitchFamily="34" charset="0"/>
                <a:ea typeface="楷体_GB2312"/>
              </a:rPr>
              <a:t>数据总线</a:t>
            </a:r>
          </a:p>
        </p:txBody>
      </p:sp>
      <p:grpSp>
        <p:nvGrpSpPr>
          <p:cNvPr id="163" name="Group 18"/>
          <p:cNvGrpSpPr/>
          <p:nvPr/>
        </p:nvGrpSpPr>
        <p:grpSpPr>
          <a:xfrm>
            <a:off x="2351088" y="2992438"/>
            <a:ext cx="360362" cy="360362"/>
            <a:chOff x="1845" y="3928"/>
            <a:chExt cx="623" cy="281"/>
          </a:xfrm>
        </p:grpSpPr>
        <p:sp>
          <p:nvSpPr>
            <p:cNvPr id="1049055" name="Line 19"/>
            <p:cNvSpPr/>
            <p:nvPr/>
          </p:nvSpPr>
          <p:spPr>
            <a:xfrm>
              <a:off x="1845" y="4200"/>
              <a:ext cx="200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056" name="Line 20"/>
            <p:cNvSpPr/>
            <p:nvPr/>
          </p:nvSpPr>
          <p:spPr>
            <a:xfrm flipV="1">
              <a:off x="2045" y="3928"/>
              <a:ext cx="0" cy="27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1049057" name="Line 21"/>
            <p:cNvSpPr/>
            <p:nvPr/>
          </p:nvSpPr>
          <p:spPr>
            <a:xfrm>
              <a:off x="2036" y="3946"/>
              <a:ext cx="237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058" name="Line 22"/>
            <p:cNvSpPr/>
            <p:nvPr/>
          </p:nvSpPr>
          <p:spPr>
            <a:xfrm>
              <a:off x="2272" y="3946"/>
              <a:ext cx="0" cy="263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059" name="Line 23"/>
            <p:cNvSpPr/>
            <p:nvPr/>
          </p:nvSpPr>
          <p:spPr>
            <a:xfrm>
              <a:off x="2268" y="4196"/>
              <a:ext cx="200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49060" name="Text Box 24"/>
          <p:cNvSpPr txBox="1"/>
          <p:nvPr/>
        </p:nvSpPr>
        <p:spPr>
          <a:xfrm>
            <a:off x="1919288" y="3406299"/>
            <a:ext cx="1295400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2"/>
                </a:solidFill>
                <a:latin typeface="Arial" panose="020B0604020202090204" pitchFamily="34" charset="0"/>
                <a:ea typeface="楷体_GB2312"/>
              </a:rPr>
              <a:t>计算机</a:t>
            </a:r>
            <a:r>
              <a:rPr lang="en-US" altLang="zh-CN" sz="1600" b="1" dirty="0">
                <a:solidFill>
                  <a:schemeClr val="bg2"/>
                </a:solidFill>
                <a:latin typeface="Arial" panose="020B0604020202090204" pitchFamily="34" charset="0"/>
                <a:ea typeface="楷体_GB2312"/>
              </a:rPr>
              <a:t>CPU</a:t>
            </a:r>
            <a:r>
              <a:rPr lang="zh-CN" altLang="en-US" sz="1600" b="1" dirty="0">
                <a:solidFill>
                  <a:schemeClr val="bg2"/>
                </a:solidFill>
                <a:latin typeface="Arial" panose="020B0604020202090204" pitchFamily="34" charset="0"/>
                <a:ea typeface="楷体_GB2312"/>
              </a:rPr>
              <a:t>控制信号</a:t>
            </a:r>
          </a:p>
        </p:txBody>
      </p:sp>
      <p:cxnSp>
        <p:nvCxnSpPr>
          <p:cNvPr id="3145801" name="直接连接符 37"/>
          <p:cNvCxnSpPr/>
          <p:nvPr/>
        </p:nvCxnSpPr>
        <p:spPr>
          <a:xfrm flipV="1">
            <a:off x="4498975" y="3897313"/>
            <a:ext cx="250825" cy="179387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9062" name="AutoShape 3"/>
          <p:cNvSpPr/>
          <p:nvPr/>
        </p:nvSpPr>
        <p:spPr>
          <a:xfrm>
            <a:off x="4438650" y="2032000"/>
            <a:ext cx="215900" cy="468313"/>
          </a:xfrm>
          <a:prstGeom prst="upArrow">
            <a:avLst>
              <a:gd name="adj1" fmla="val 50000"/>
              <a:gd name="adj2" fmla="val 59118"/>
            </a:avLst>
          </a:prstGeom>
          <a:solidFill>
            <a:srgbClr val="66FFFF"/>
          </a:solid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solidFill>
                <a:schemeClr val="bg2"/>
              </a:solidFill>
              <a:latin typeface="Arial" panose="020B0604020202090204" pitchFamily="34" charset="0"/>
            </a:endParaRPr>
          </a:p>
        </p:txBody>
      </p:sp>
      <p:sp>
        <p:nvSpPr>
          <p:cNvPr id="1049063" name="Text Box 24"/>
          <p:cNvSpPr txBox="1">
            <a:spLocks noChangeArrowheads="1"/>
          </p:cNvSpPr>
          <p:nvPr/>
        </p:nvSpPr>
        <p:spPr bwMode="auto">
          <a:xfrm>
            <a:off x="4006850" y="2923223"/>
            <a:ext cx="1296988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buClrTx/>
              <a:buSzTx/>
              <a:buFontTx/>
            </a:pPr>
            <a:r>
              <a:rPr kumimoji="1" lang="en-US" altLang="zh-CN" sz="20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rPr>
              <a:t>8D</a:t>
            </a:r>
            <a:r>
              <a:rPr kumimoji="1" lang="zh-CN" altLang="en-US" sz="20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rPr>
              <a:t>寄存器</a:t>
            </a:r>
          </a:p>
        </p:txBody>
      </p:sp>
      <p:cxnSp>
        <p:nvCxnSpPr>
          <p:cNvPr id="3145802" name="直接连接符 44"/>
          <p:cNvCxnSpPr/>
          <p:nvPr/>
        </p:nvCxnSpPr>
        <p:spPr>
          <a:xfrm flipV="1">
            <a:off x="4440238" y="2244725"/>
            <a:ext cx="250825" cy="179388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寄存器和计数器</a:t>
            </a:r>
          </a:p>
        </p:txBody>
      </p:sp>
      <p:sp>
        <p:nvSpPr>
          <p:cNvPr id="104907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寄存器（Registers） 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移位寄存器（Shift Registers）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计数器（Counters）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节拍发生器（Beat Generator）</a:t>
            </a:r>
            <a:endParaRPr lang="zh-CN" altLang="en-US"/>
          </a:p>
        </p:txBody>
      </p:sp>
      <p:sp>
        <p:nvSpPr>
          <p:cNvPr id="1049073" name="灯片编号占位符 4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2075" tIns="46038" rIns="92075" bIns="46038" numCol="1" anchor="ctr" anchorCtr="0" compatLnSpc="1"/>
          <a:lstStyle/>
          <a:p>
            <a:pPr marL="0" indent="0" algn="r" defTabSz="68580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10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移位寄存器</a:t>
            </a:r>
            <a:r>
              <a:rPr kumimoji="1" lang="en-US" altLang="zh-CN" kern="1200" noProof="0" dirty="0">
                <a:cs typeface="+mn-cs"/>
                <a:sym typeface="+mn-ea"/>
              </a:rPr>
              <a:t>(</a:t>
            </a:r>
            <a:r>
              <a:rPr kumimoji="1" lang="en-US" altLang="zh-CN" kern="12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Shift Register)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9090" marR="0" lvl="0" indent="-33909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1" lang="zh-CN" altLang="en-US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每个有效时钟沿，寄存器里的数据依次左移或右移</a:t>
            </a:r>
            <a:r>
              <a:rPr kumimoji="1" lang="en-US" altLang="zh-CN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1</a:t>
            </a:r>
            <a:r>
              <a:rPr kumimoji="1" lang="zh-CN" altLang="en-US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位</a:t>
            </a:r>
            <a:r>
              <a:rPr kumimoji="1" lang="en-US" altLang="zh-CN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 </a:t>
            </a:r>
            <a:endParaRPr kumimoji="1" lang="en-US" altLang="zh-CN" sz="260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39090" marR="0" lvl="0" indent="-33909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1" lang="zh-CN" altLang="en-US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可以实现代码的串、并行转换、数值运算和处理等</a:t>
            </a:r>
          </a:p>
          <a:p>
            <a:pPr marL="339090" marR="0" lvl="0" indent="-33909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1" lang="zh-CN" altLang="en-US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分类</a:t>
            </a:r>
          </a:p>
          <a:p>
            <a:pPr marL="796290" marR="0" lvl="2" indent="-33909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1" lang="zh-CN" altLang="en-US" sz="2225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单向移位寄存器：左移寄存器、右移寄存器</a:t>
            </a:r>
          </a:p>
          <a:p>
            <a:pPr marL="796290" marR="0" lvl="2" indent="-33909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1" lang="zh-CN" altLang="en-US" sz="2225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双向移位寄存器</a:t>
            </a:r>
          </a:p>
          <a:p>
            <a:pPr marL="339090" marR="0" lvl="0" indent="-33909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1" lang="zh-CN" altLang="en-US" sz="2600" kern="120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工作方式</a:t>
            </a:r>
          </a:p>
        </p:txBody>
      </p:sp>
      <p:sp>
        <p:nvSpPr>
          <p:cNvPr id="1048727" name="Rectangle 3"/>
          <p:cNvSpPr/>
          <p:nvPr/>
        </p:nvSpPr>
        <p:spPr>
          <a:xfrm>
            <a:off x="1547813" y="3919538"/>
            <a:ext cx="1800225" cy="884237"/>
          </a:xfrm>
          <a:prstGeom prst="rect">
            <a:avLst/>
          </a:prstGeom>
          <a:noFill/>
          <a:ln w="19050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just">
              <a:lnSpc>
                <a:spcPct val="105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数据输入方式</a:t>
            </a:r>
          </a:p>
          <a:p>
            <a:pPr marL="450850" lvl="1" indent="-184150" algn="just">
              <a:lnSpc>
                <a:spcPct val="105000"/>
              </a:lnSpc>
              <a:buClr>
                <a:srgbClr val="006666"/>
              </a:buClr>
              <a:buSzPct val="110000"/>
              <a:buFont typeface="Wingdings" panose="05000000000000000000" pitchFamily="2" charset="2"/>
              <a:buChar char="w"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串行输入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0850" lvl="1" indent="-184150" algn="just">
              <a:lnSpc>
                <a:spcPct val="105000"/>
              </a:lnSpc>
              <a:buClr>
                <a:srgbClr val="006666"/>
              </a:buClr>
              <a:buSzPct val="110000"/>
              <a:buFont typeface="Wingdings" panose="05000000000000000000" pitchFamily="2" charset="2"/>
              <a:buChar char="w"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并行输入</a:t>
            </a:r>
          </a:p>
        </p:txBody>
      </p:sp>
      <p:sp>
        <p:nvSpPr>
          <p:cNvPr id="1048728" name="Rectangle 3"/>
          <p:cNvSpPr/>
          <p:nvPr/>
        </p:nvSpPr>
        <p:spPr>
          <a:xfrm>
            <a:off x="3816350" y="3929063"/>
            <a:ext cx="1800225" cy="884237"/>
          </a:xfrm>
          <a:prstGeom prst="rect">
            <a:avLst/>
          </a:prstGeom>
          <a:noFill/>
          <a:ln w="19050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just">
              <a:lnSpc>
                <a:spcPct val="105000"/>
              </a:lnSpc>
              <a:buClr>
                <a:schemeClr val="bg2"/>
              </a:buClr>
              <a:buFont typeface="Wingdings" panose="05000000000000000000" pitchFamily="2" charset="2"/>
              <a:buChar char="v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数据输出方式</a:t>
            </a:r>
          </a:p>
          <a:p>
            <a:pPr marL="450850" lvl="1" indent="-184150" algn="just">
              <a:lnSpc>
                <a:spcPct val="105000"/>
              </a:lnSpc>
              <a:buClr>
                <a:srgbClr val="006666"/>
              </a:buClr>
              <a:buSzPct val="110000"/>
              <a:buFont typeface="Wingdings" panose="05000000000000000000" pitchFamily="2" charset="2"/>
              <a:buChar char="w"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串行输出</a:t>
            </a:r>
          </a:p>
          <a:p>
            <a:pPr marL="450850" lvl="1" indent="-184150" algn="just">
              <a:lnSpc>
                <a:spcPct val="105000"/>
              </a:lnSpc>
              <a:buClr>
                <a:srgbClr val="006666"/>
              </a:buClr>
              <a:buSzPct val="110000"/>
              <a:buFont typeface="Wingdings" panose="05000000000000000000" pitchFamily="2" charset="2"/>
              <a:buChar char="w"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并行输出</a:t>
            </a:r>
          </a:p>
        </p:txBody>
      </p:sp>
      <p:grpSp>
        <p:nvGrpSpPr>
          <p:cNvPr id="92" name="组合 98"/>
          <p:cNvGrpSpPr/>
          <p:nvPr/>
        </p:nvGrpSpPr>
        <p:grpSpPr>
          <a:xfrm>
            <a:off x="6300788" y="3473450"/>
            <a:ext cx="1595437" cy="1450975"/>
            <a:chOff x="5868144" y="2271326"/>
            <a:chExt cx="1595751" cy="1452416"/>
          </a:xfrm>
        </p:grpSpPr>
        <p:sp>
          <p:nvSpPr>
            <p:cNvPr id="1048729" name="TextBox 17"/>
            <p:cNvSpPr txBox="1"/>
            <p:nvPr/>
          </p:nvSpPr>
          <p:spPr>
            <a:xfrm>
              <a:off x="5879719" y="2594489"/>
              <a:ext cx="1584176" cy="11257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lvl="1" indent="0" algn="ctr">
                <a:lnSpc>
                  <a:spcPct val="105000"/>
                </a:lnSpc>
                <a:buClr>
                  <a:srgbClr val="006666"/>
                </a:buClr>
                <a:buSzPct val="110000"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串入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—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串出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1" indent="0" algn="ctr">
                <a:lnSpc>
                  <a:spcPct val="105000"/>
                </a:lnSpc>
                <a:buClr>
                  <a:srgbClr val="006666"/>
                </a:buClr>
                <a:buSzPct val="110000"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串入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—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并出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1" indent="0" algn="ctr">
                <a:lnSpc>
                  <a:spcPct val="105000"/>
                </a:lnSpc>
                <a:buClr>
                  <a:srgbClr val="006666"/>
                </a:buClr>
                <a:buSzPct val="110000"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并入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—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串出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lvl="1" indent="0" algn="ctr">
                <a:lnSpc>
                  <a:spcPct val="105000"/>
                </a:lnSpc>
                <a:buClr>
                  <a:srgbClr val="006666"/>
                </a:buClr>
                <a:buSzPct val="110000"/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并入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—</a:t>
              </a: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并出</a:t>
              </a:r>
            </a:p>
          </p:txBody>
        </p:sp>
        <p:sp>
          <p:nvSpPr>
            <p:cNvPr id="1048730" name="圆角矩形 18"/>
            <p:cNvSpPr/>
            <p:nvPr/>
          </p:nvSpPr>
          <p:spPr>
            <a:xfrm>
              <a:off x="5868144" y="2499742"/>
              <a:ext cx="1584176" cy="1224000"/>
            </a:xfrm>
            <a:prstGeom prst="roundRect">
              <a:avLst>
                <a:gd name="adj" fmla="val 7292"/>
              </a:avLst>
            </a:prstGeom>
            <a:noFill/>
            <a:ln w="19050" cap="flat" cmpd="sng">
              <a:solidFill>
                <a:srgbClr val="008080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731" name="TextBox 19"/>
            <p:cNvSpPr txBox="1"/>
            <p:nvPr/>
          </p:nvSpPr>
          <p:spPr>
            <a:xfrm>
              <a:off x="6088849" y="2271326"/>
              <a:ext cx="1151165" cy="368666"/>
            </a:xfrm>
            <a:prstGeom prst="rect">
              <a:avLst/>
            </a:prstGeom>
            <a:solidFill>
              <a:schemeClr val="tx1"/>
            </a:solidFill>
          </p:spPr>
          <p:txBody>
            <a:bodyPr lIns="0" rIns="0">
              <a:spAutoFit/>
            </a:bodyPr>
            <a:lstStyle/>
            <a:p>
              <a:pPr marR="0" algn="ctr" defTabSz="914400">
                <a:buClrTx/>
                <a:buSzTx/>
                <a:buFontTx/>
              </a:pPr>
              <a:r>
                <a:rPr kumimoji="1" lang="zh-CN" altLang="en-US" sz="1800" b="1" kern="1200" cap="none" spc="0" normalizeH="0" baseline="0" noProof="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工作方式 </a:t>
              </a:r>
              <a:endParaRPr kumimoji="1" lang="zh-CN" altLang="en-US" sz="1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048733" name="虚尾箭头 21"/>
          <p:cNvSpPr/>
          <p:nvPr/>
        </p:nvSpPr>
        <p:spPr bwMode="auto">
          <a:xfrm>
            <a:off x="5724525" y="4227513"/>
            <a:ext cx="360363" cy="215900"/>
          </a:xfrm>
          <a:prstGeom prst="stripedRightArrow">
            <a:avLst/>
          </a:prstGeom>
          <a:solidFill>
            <a:srgbClr val="FFFF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4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4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48727" grpId="0" animBg="1"/>
      <p:bldP spid="10487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2"/>
                </a:solidFill>
                <a:sym typeface="+mn-ea"/>
              </a:rPr>
              <a:t>右移寄存器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dirty="0">
                <a:solidFill>
                  <a:schemeClr val="bg2"/>
                </a:solidFill>
                <a:latin typeface="Arial" panose="020B0604020202090204" pitchFamily="34" charset="0"/>
                <a:sym typeface="+mn-ea"/>
              </a:rPr>
              <a:t>Right-Shift Register)</a:t>
            </a:r>
            <a:endParaRPr lang="zh-CN" altLang="en-US" dirty="0">
              <a:solidFill>
                <a:schemeClr val="bg2"/>
              </a:solidFill>
              <a:latin typeface="Arial" panose="020B0604020202090204" pitchFamily="34" charset="0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Arial" panose="020B0604020202090204" pitchFamily="34" charset="0"/>
                <a:sym typeface="+mn-ea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串行输入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串行输出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b="1" dirty="0">
                <a:latin typeface="Arial" panose="020B0604020202090204" pitchFamily="34" charset="0"/>
                <a:sym typeface="+mn-ea"/>
              </a:rPr>
              <a:t>Serial in/Serial out)</a:t>
            </a:r>
            <a:endParaRPr lang="en-US" altLang="zh-CN" dirty="0">
              <a:latin typeface="Arial" panose="020B0604020202090204" pitchFamily="34" charset="0"/>
            </a:endParaRPr>
          </a:p>
          <a:p>
            <a:endParaRPr lang="zh-CN" altLang="en-US"/>
          </a:p>
        </p:txBody>
      </p:sp>
      <p:sp>
        <p:nvSpPr>
          <p:cNvPr id="1048586" name="横卷形 39"/>
          <p:cNvSpPr/>
          <p:nvPr/>
        </p:nvSpPr>
        <p:spPr bwMode="auto">
          <a:xfrm>
            <a:off x="542925" y="1241425"/>
            <a:ext cx="7856220" cy="624205"/>
          </a:xfrm>
          <a:prstGeom prst="horizontalScroll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lvl="1" indent="0" algn="l" eaLnBrk="1" hangingPunct="1">
              <a:spcBef>
                <a:spcPts val="6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串行输出：移位路径上最后一个触发器的输出作为整个电路的输出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  <p:pic>
        <p:nvPicPr>
          <p:cNvPr id="209715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2571750"/>
            <a:ext cx="6048375" cy="1422400"/>
          </a:xfrm>
          <a:prstGeom prst="rect">
            <a:avLst/>
          </a:prstGeom>
          <a:noFill/>
          <a:ln w="19050">
            <a:noFill/>
          </a:ln>
        </p:spPr>
      </p:pic>
      <p:grpSp>
        <p:nvGrpSpPr>
          <p:cNvPr id="30" name="组合 80"/>
          <p:cNvGrpSpPr/>
          <p:nvPr/>
        </p:nvGrpSpPr>
        <p:grpSpPr>
          <a:xfrm>
            <a:off x="3348038" y="4227513"/>
            <a:ext cx="242887" cy="165100"/>
            <a:chOff x="5966723" y="2114718"/>
            <a:chExt cx="242596" cy="165658"/>
          </a:xfrm>
        </p:grpSpPr>
        <p:sp>
          <p:nvSpPr>
            <p:cNvPr id="1048589" name="Line 115"/>
            <p:cNvSpPr/>
            <p:nvPr/>
          </p:nvSpPr>
          <p:spPr>
            <a:xfrm>
              <a:off x="5966723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0" name="Line 116"/>
            <p:cNvSpPr/>
            <p:nvPr/>
          </p:nvSpPr>
          <p:spPr>
            <a:xfrm>
              <a:off x="6088021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1" name="Line 118"/>
            <p:cNvSpPr/>
            <p:nvPr/>
          </p:nvSpPr>
          <p:spPr>
            <a:xfrm>
              <a:off x="6088021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1" name="组合 81"/>
          <p:cNvGrpSpPr/>
          <p:nvPr/>
        </p:nvGrpSpPr>
        <p:grpSpPr>
          <a:xfrm>
            <a:off x="3590925" y="4227513"/>
            <a:ext cx="241300" cy="165100"/>
            <a:chOff x="6209319" y="2114718"/>
            <a:chExt cx="242595" cy="165658"/>
          </a:xfrm>
        </p:grpSpPr>
        <p:sp>
          <p:nvSpPr>
            <p:cNvPr id="1048592" name="Line 119"/>
            <p:cNvSpPr/>
            <p:nvPr/>
          </p:nvSpPr>
          <p:spPr>
            <a:xfrm>
              <a:off x="6209319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3" name="Line 120"/>
            <p:cNvSpPr/>
            <p:nvPr/>
          </p:nvSpPr>
          <p:spPr>
            <a:xfrm>
              <a:off x="6330616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4" name="Line 122"/>
            <p:cNvSpPr/>
            <p:nvPr/>
          </p:nvSpPr>
          <p:spPr>
            <a:xfrm>
              <a:off x="6330616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2" name="组合 82"/>
          <p:cNvGrpSpPr/>
          <p:nvPr/>
        </p:nvGrpSpPr>
        <p:grpSpPr>
          <a:xfrm>
            <a:off x="3832225" y="4227513"/>
            <a:ext cx="242888" cy="165100"/>
            <a:chOff x="6451914" y="2114718"/>
            <a:chExt cx="242596" cy="165658"/>
          </a:xfrm>
        </p:grpSpPr>
        <p:sp>
          <p:nvSpPr>
            <p:cNvPr id="1048595" name="Line 123"/>
            <p:cNvSpPr/>
            <p:nvPr/>
          </p:nvSpPr>
          <p:spPr>
            <a:xfrm>
              <a:off x="6451914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6" name="Line 124"/>
            <p:cNvSpPr/>
            <p:nvPr/>
          </p:nvSpPr>
          <p:spPr>
            <a:xfrm>
              <a:off x="6573212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7" name="Line 126"/>
            <p:cNvSpPr/>
            <p:nvPr/>
          </p:nvSpPr>
          <p:spPr>
            <a:xfrm>
              <a:off x="6573212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3" name="组合 79"/>
          <p:cNvGrpSpPr/>
          <p:nvPr/>
        </p:nvGrpSpPr>
        <p:grpSpPr>
          <a:xfrm>
            <a:off x="3105150" y="4227513"/>
            <a:ext cx="242888" cy="165100"/>
            <a:chOff x="5724128" y="2114718"/>
            <a:chExt cx="242596" cy="165658"/>
          </a:xfrm>
        </p:grpSpPr>
        <p:sp>
          <p:nvSpPr>
            <p:cNvPr id="1048598" name="Line 112"/>
            <p:cNvSpPr/>
            <p:nvPr/>
          </p:nvSpPr>
          <p:spPr>
            <a:xfrm>
              <a:off x="5845426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9" name="Line 114"/>
            <p:cNvSpPr/>
            <p:nvPr/>
          </p:nvSpPr>
          <p:spPr>
            <a:xfrm>
              <a:off x="5845426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600" name="Line 128"/>
            <p:cNvSpPr/>
            <p:nvPr/>
          </p:nvSpPr>
          <p:spPr>
            <a:xfrm>
              <a:off x="5724128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4" name="组合 12"/>
          <p:cNvGrpSpPr/>
          <p:nvPr/>
        </p:nvGrpSpPr>
        <p:grpSpPr>
          <a:xfrm>
            <a:off x="7235825" y="3219450"/>
            <a:ext cx="1620838" cy="751432"/>
            <a:chOff x="4429124" y="984441"/>
            <a:chExt cx="2722225" cy="922426"/>
          </a:xfrm>
        </p:grpSpPr>
        <p:sp>
          <p:nvSpPr>
            <p:cNvPr id="1048614" name="圆角矩形标注 13"/>
            <p:cNvSpPr/>
            <p:nvPr/>
          </p:nvSpPr>
          <p:spPr>
            <a:xfrm>
              <a:off x="4451349" y="984441"/>
              <a:ext cx="2700000" cy="885089"/>
            </a:xfrm>
            <a:prstGeom prst="wedgeRoundRectCallout">
              <a:avLst>
                <a:gd name="adj1" fmla="val -64361"/>
                <a:gd name="adj2" fmla="val -82176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48615" name="Text Box 34"/>
            <p:cNvSpPr txBox="1"/>
            <p:nvPr/>
          </p:nvSpPr>
          <p:spPr>
            <a:xfrm>
              <a:off x="4429124" y="1000114"/>
              <a:ext cx="2714644" cy="90675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  <a:buClr>
                  <a:srgbClr val="C00000"/>
                </a:buClr>
                <a:buSzPct val="70000"/>
              </a:pP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应用：时间延迟，入口到出口，滞后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3-4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个时钟周期</a:t>
              </a:r>
              <a:endPara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5" name="组合 15"/>
          <p:cNvGrpSpPr/>
          <p:nvPr/>
        </p:nvGrpSpPr>
        <p:grpSpPr>
          <a:xfrm>
            <a:off x="1249363" y="4156075"/>
            <a:ext cx="1171575" cy="468313"/>
            <a:chOff x="7247659" y="627534"/>
            <a:chExt cx="1356789" cy="467287"/>
          </a:xfrm>
        </p:grpSpPr>
        <p:sp>
          <p:nvSpPr>
            <p:cNvPr id="1048616" name="云形标注 16"/>
            <p:cNvSpPr/>
            <p:nvPr/>
          </p:nvSpPr>
          <p:spPr>
            <a:xfrm>
              <a:off x="7247659" y="627534"/>
              <a:ext cx="1083972" cy="467287"/>
            </a:xfrm>
            <a:prstGeom prst="cloudCallout">
              <a:avLst>
                <a:gd name="adj1" fmla="val 48870"/>
                <a:gd name="adj2" fmla="val -77245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617" name="TextBox 17"/>
            <p:cNvSpPr txBox="1"/>
            <p:nvPr/>
          </p:nvSpPr>
          <p:spPr>
            <a:xfrm>
              <a:off x="7308304" y="695349"/>
              <a:ext cx="1296144" cy="2919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同步</a:t>
              </a:r>
              <a:r>
                <a:rPr lang="zh-CN" altLang="en-US" sz="13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时序</a:t>
              </a:r>
            </a:p>
          </p:txBody>
        </p:sp>
      </p:grpSp>
      <p:cxnSp>
        <p:nvCxnSpPr>
          <p:cNvPr id="3145728" name="直接箭头连接符 45"/>
          <p:cNvCxnSpPr/>
          <p:nvPr/>
        </p:nvCxnSpPr>
        <p:spPr>
          <a:xfrm>
            <a:off x="2558733" y="2794000"/>
            <a:ext cx="504825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145729" name="直接箭头连接符 46"/>
          <p:cNvCxnSpPr/>
          <p:nvPr/>
        </p:nvCxnSpPr>
        <p:spPr>
          <a:xfrm>
            <a:off x="7015798" y="2801620"/>
            <a:ext cx="360362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36" name="组合 71"/>
          <p:cNvGrpSpPr/>
          <p:nvPr/>
        </p:nvGrpSpPr>
        <p:grpSpPr>
          <a:xfrm>
            <a:off x="2557463" y="3063875"/>
            <a:ext cx="3805237" cy="876300"/>
            <a:chOff x="1629963" y="2058529"/>
            <a:chExt cx="3803324" cy="693165"/>
          </a:xfrm>
        </p:grpSpPr>
        <p:cxnSp>
          <p:nvCxnSpPr>
            <p:cNvPr id="3145730" name="直接连接符 61"/>
            <p:cNvCxnSpPr/>
            <p:nvPr/>
          </p:nvCxnSpPr>
          <p:spPr>
            <a:xfrm>
              <a:off x="1629963" y="2742659"/>
              <a:ext cx="3527551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1" name="直接连接符 62"/>
            <p:cNvCxnSpPr/>
            <p:nvPr/>
          </p:nvCxnSpPr>
          <p:spPr>
            <a:xfrm>
              <a:off x="1782510" y="2067694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2" name="直接连接符 63"/>
            <p:cNvCxnSpPr/>
            <p:nvPr/>
          </p:nvCxnSpPr>
          <p:spPr>
            <a:xfrm>
              <a:off x="2913351" y="2067694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3" name="直接连接符 64"/>
            <p:cNvCxnSpPr/>
            <p:nvPr/>
          </p:nvCxnSpPr>
          <p:spPr>
            <a:xfrm>
              <a:off x="4035772" y="2067693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4" name="直接连接符 65"/>
            <p:cNvCxnSpPr/>
            <p:nvPr/>
          </p:nvCxnSpPr>
          <p:spPr>
            <a:xfrm>
              <a:off x="5151603" y="2067693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5" name="直接连接符 67"/>
            <p:cNvCxnSpPr/>
            <p:nvPr/>
          </p:nvCxnSpPr>
          <p:spPr>
            <a:xfrm>
              <a:off x="1785592" y="2058530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6" name="直接连接符 68"/>
            <p:cNvCxnSpPr/>
            <p:nvPr/>
          </p:nvCxnSpPr>
          <p:spPr>
            <a:xfrm>
              <a:off x="2916434" y="2058530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7" name="直接连接符 69"/>
            <p:cNvCxnSpPr/>
            <p:nvPr/>
          </p:nvCxnSpPr>
          <p:spPr>
            <a:xfrm>
              <a:off x="4032640" y="2058530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8" name="直接连接符 70"/>
            <p:cNvCxnSpPr/>
            <p:nvPr/>
          </p:nvCxnSpPr>
          <p:spPr>
            <a:xfrm>
              <a:off x="5145323" y="2058529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7" name="组合 71"/>
          <p:cNvGrpSpPr/>
          <p:nvPr/>
        </p:nvGrpSpPr>
        <p:grpSpPr>
          <a:xfrm>
            <a:off x="2519363" y="3352800"/>
            <a:ext cx="3876675" cy="396875"/>
            <a:chOff x="1410076" y="2067694"/>
            <a:chExt cx="3876379" cy="684128"/>
          </a:xfrm>
        </p:grpSpPr>
        <p:cxnSp>
          <p:nvCxnSpPr>
            <p:cNvPr id="3145739" name="直接连接符 61"/>
            <p:cNvCxnSpPr/>
            <p:nvPr/>
          </p:nvCxnSpPr>
          <p:spPr>
            <a:xfrm>
              <a:off x="1410076" y="2751822"/>
              <a:ext cx="374353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0" name="直接连接符 62"/>
            <p:cNvCxnSpPr/>
            <p:nvPr/>
          </p:nvCxnSpPr>
          <p:spPr>
            <a:xfrm>
              <a:off x="1782510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1" name="直接连接符 63"/>
            <p:cNvCxnSpPr/>
            <p:nvPr/>
          </p:nvCxnSpPr>
          <p:spPr>
            <a:xfrm>
              <a:off x="2898910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2" name="直接连接符 64"/>
            <p:cNvCxnSpPr/>
            <p:nvPr/>
          </p:nvCxnSpPr>
          <p:spPr>
            <a:xfrm>
              <a:off x="4019306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3" name="直接连接符 65"/>
            <p:cNvCxnSpPr/>
            <p:nvPr/>
          </p:nvCxnSpPr>
          <p:spPr>
            <a:xfrm>
              <a:off x="5148735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4" name="直接连接符 67"/>
            <p:cNvCxnSpPr/>
            <p:nvPr/>
          </p:nvCxnSpPr>
          <p:spPr>
            <a:xfrm>
              <a:off x="1785592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5" name="直接连接符 68"/>
            <p:cNvCxnSpPr/>
            <p:nvPr/>
          </p:nvCxnSpPr>
          <p:spPr>
            <a:xfrm>
              <a:off x="2901992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6" name="直接连接符 69"/>
            <p:cNvCxnSpPr/>
            <p:nvPr/>
          </p:nvCxnSpPr>
          <p:spPr>
            <a:xfrm>
              <a:off x="4016174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7" name="直接连接符 70"/>
            <p:cNvCxnSpPr/>
            <p:nvPr/>
          </p:nvCxnSpPr>
          <p:spPr>
            <a:xfrm>
              <a:off x="5142455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048618" name="圆角矩形标注 13"/>
          <p:cNvSpPr/>
          <p:nvPr/>
        </p:nvSpPr>
        <p:spPr>
          <a:xfrm>
            <a:off x="193675" y="2973704"/>
            <a:ext cx="1755140" cy="966469"/>
          </a:xfrm>
          <a:prstGeom prst="wedgeRoundRectCallout">
            <a:avLst>
              <a:gd name="adj1" fmla="val 47550"/>
              <a:gd name="adj2" fmla="val -75032"/>
              <a:gd name="adj3" fmla="val 16667"/>
            </a:avLst>
          </a:prstGeom>
          <a:solidFill>
            <a:schemeClr val="tx1"/>
          </a:solidFill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noAutofit/>
          </a:bodyPr>
          <a:lstStyle/>
          <a:p>
            <a:pPr eaLnBrk="1" hangingPunct="1"/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右移方式：</a:t>
            </a:r>
            <a:endParaRPr lang="en-US" altLang="zh-CN" sz="1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eaLnBrk="1" hangingPunct="1"/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数据从串行输入端送入，应该</a:t>
            </a:r>
            <a:r>
              <a:rPr lang="zh-CN" altLang="en-US" sz="1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先送最低位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48815" y="240157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101</a:t>
            </a:r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    0               0              0             0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11045" y="240284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101                   </a:t>
            </a:r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0              0             0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78355" y="241046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 10                   1               </a:t>
            </a:r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0             0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46935" y="239395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  1                   0               1              </a:t>
            </a:r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20595" y="239903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                      1               0              1            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1</a:t>
            </a:r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95465" y="1934210"/>
            <a:ext cx="711835" cy="323215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4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4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6" grpId="0" animBg="1"/>
      <p:bldP spid="1048618" grpId="0" animBg="1"/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2"/>
                </a:solidFill>
                <a:sym typeface="+mn-ea"/>
              </a:rPr>
              <a:t>右移寄存器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dirty="0">
                <a:solidFill>
                  <a:schemeClr val="bg2"/>
                </a:solidFill>
                <a:latin typeface="Arial" panose="020B0604020202090204" pitchFamily="34" charset="0"/>
                <a:sym typeface="+mn-ea"/>
              </a:rPr>
              <a:t>Right-Shift Register)</a:t>
            </a:r>
            <a:endParaRPr lang="zh-CN" altLang="en-US" dirty="0">
              <a:solidFill>
                <a:schemeClr val="bg2"/>
              </a:solidFill>
              <a:latin typeface="Arial" panose="020B0604020202090204" pitchFamily="34" charset="0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串行输入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串行输出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Serial in/Serial out)</a:t>
            </a:r>
            <a:endParaRPr lang="en-US" altLang="zh-CN" sz="2400" dirty="0">
              <a:latin typeface="Arial" panose="020B0604020202090204" pitchFamily="34" charset="0"/>
            </a:endParaRPr>
          </a:p>
          <a:p>
            <a:endParaRPr lang="en-US" altLang="zh-CN" sz="2400" dirty="0">
              <a:latin typeface="Arial" panose="020B0604020202090204" pitchFamily="34" charset="0"/>
            </a:endParaRPr>
          </a:p>
        </p:txBody>
      </p:sp>
      <p:sp>
        <p:nvSpPr>
          <p:cNvPr id="1048586" name="横卷形 39"/>
          <p:cNvSpPr/>
          <p:nvPr/>
        </p:nvSpPr>
        <p:spPr bwMode="auto">
          <a:xfrm>
            <a:off x="542925" y="944245"/>
            <a:ext cx="7856220" cy="624205"/>
          </a:xfrm>
          <a:prstGeom prst="horizontalScroll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lvl="1" indent="0" algn="l" eaLnBrk="1" hangingPunct="1">
              <a:spcBef>
                <a:spcPts val="6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串行输出：移位路径上最后一个触发器的输出作为整个电路的输出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  <p:pic>
        <p:nvPicPr>
          <p:cNvPr id="209715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2571750"/>
            <a:ext cx="6048375" cy="1422400"/>
          </a:xfrm>
          <a:prstGeom prst="rect">
            <a:avLst/>
          </a:prstGeom>
          <a:noFill/>
          <a:ln w="19050">
            <a:noFill/>
          </a:ln>
        </p:spPr>
      </p:pic>
      <p:grpSp>
        <p:nvGrpSpPr>
          <p:cNvPr id="30" name="组合 80"/>
          <p:cNvGrpSpPr/>
          <p:nvPr/>
        </p:nvGrpSpPr>
        <p:grpSpPr>
          <a:xfrm>
            <a:off x="3348038" y="4227513"/>
            <a:ext cx="242887" cy="165100"/>
            <a:chOff x="5966723" y="2114718"/>
            <a:chExt cx="242596" cy="165658"/>
          </a:xfrm>
        </p:grpSpPr>
        <p:sp>
          <p:nvSpPr>
            <p:cNvPr id="1048589" name="Line 115"/>
            <p:cNvSpPr/>
            <p:nvPr/>
          </p:nvSpPr>
          <p:spPr>
            <a:xfrm>
              <a:off x="5966723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0" name="Line 116"/>
            <p:cNvSpPr/>
            <p:nvPr/>
          </p:nvSpPr>
          <p:spPr>
            <a:xfrm>
              <a:off x="6088021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1" name="Line 118"/>
            <p:cNvSpPr/>
            <p:nvPr/>
          </p:nvSpPr>
          <p:spPr>
            <a:xfrm>
              <a:off x="6088021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1" name="组合 81"/>
          <p:cNvGrpSpPr/>
          <p:nvPr/>
        </p:nvGrpSpPr>
        <p:grpSpPr>
          <a:xfrm>
            <a:off x="3590925" y="4227513"/>
            <a:ext cx="241300" cy="165100"/>
            <a:chOff x="6209319" y="2114718"/>
            <a:chExt cx="242595" cy="165658"/>
          </a:xfrm>
        </p:grpSpPr>
        <p:sp>
          <p:nvSpPr>
            <p:cNvPr id="1048592" name="Line 119"/>
            <p:cNvSpPr/>
            <p:nvPr/>
          </p:nvSpPr>
          <p:spPr>
            <a:xfrm>
              <a:off x="6209319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3" name="Line 120"/>
            <p:cNvSpPr/>
            <p:nvPr/>
          </p:nvSpPr>
          <p:spPr>
            <a:xfrm>
              <a:off x="6330616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4" name="Line 122"/>
            <p:cNvSpPr/>
            <p:nvPr/>
          </p:nvSpPr>
          <p:spPr>
            <a:xfrm>
              <a:off x="6330616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2" name="组合 82"/>
          <p:cNvGrpSpPr/>
          <p:nvPr/>
        </p:nvGrpSpPr>
        <p:grpSpPr>
          <a:xfrm>
            <a:off x="3832225" y="4227513"/>
            <a:ext cx="242888" cy="165100"/>
            <a:chOff x="6451914" y="2114718"/>
            <a:chExt cx="242596" cy="165658"/>
          </a:xfrm>
        </p:grpSpPr>
        <p:sp>
          <p:nvSpPr>
            <p:cNvPr id="1048595" name="Line 123"/>
            <p:cNvSpPr/>
            <p:nvPr/>
          </p:nvSpPr>
          <p:spPr>
            <a:xfrm>
              <a:off x="6451914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6" name="Line 124"/>
            <p:cNvSpPr/>
            <p:nvPr/>
          </p:nvSpPr>
          <p:spPr>
            <a:xfrm>
              <a:off x="6573212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7" name="Line 126"/>
            <p:cNvSpPr/>
            <p:nvPr/>
          </p:nvSpPr>
          <p:spPr>
            <a:xfrm>
              <a:off x="6573212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3" name="组合 79"/>
          <p:cNvGrpSpPr/>
          <p:nvPr/>
        </p:nvGrpSpPr>
        <p:grpSpPr>
          <a:xfrm>
            <a:off x="3105150" y="4227513"/>
            <a:ext cx="242888" cy="165100"/>
            <a:chOff x="5724128" y="2114718"/>
            <a:chExt cx="242596" cy="165658"/>
          </a:xfrm>
        </p:grpSpPr>
        <p:sp>
          <p:nvSpPr>
            <p:cNvPr id="1048598" name="Line 112"/>
            <p:cNvSpPr/>
            <p:nvPr/>
          </p:nvSpPr>
          <p:spPr>
            <a:xfrm>
              <a:off x="5845426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599" name="Line 114"/>
            <p:cNvSpPr/>
            <p:nvPr/>
          </p:nvSpPr>
          <p:spPr>
            <a:xfrm>
              <a:off x="5845426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600" name="Line 128"/>
            <p:cNvSpPr/>
            <p:nvPr/>
          </p:nvSpPr>
          <p:spPr>
            <a:xfrm>
              <a:off x="5724128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4" name="组合 12"/>
          <p:cNvGrpSpPr/>
          <p:nvPr/>
        </p:nvGrpSpPr>
        <p:grpSpPr>
          <a:xfrm>
            <a:off x="7235825" y="3219450"/>
            <a:ext cx="1620838" cy="751432"/>
            <a:chOff x="4429124" y="984441"/>
            <a:chExt cx="2722225" cy="922426"/>
          </a:xfrm>
        </p:grpSpPr>
        <p:sp>
          <p:nvSpPr>
            <p:cNvPr id="1048614" name="圆角矩形标注 13"/>
            <p:cNvSpPr/>
            <p:nvPr/>
          </p:nvSpPr>
          <p:spPr>
            <a:xfrm>
              <a:off x="4451349" y="984441"/>
              <a:ext cx="2700000" cy="885089"/>
            </a:xfrm>
            <a:prstGeom prst="wedgeRoundRectCallout">
              <a:avLst>
                <a:gd name="adj1" fmla="val -64361"/>
                <a:gd name="adj2" fmla="val -82176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48615" name="Text Box 34"/>
            <p:cNvSpPr txBox="1"/>
            <p:nvPr/>
          </p:nvSpPr>
          <p:spPr>
            <a:xfrm>
              <a:off x="4429124" y="1000114"/>
              <a:ext cx="2714644" cy="90675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  <a:buClr>
                  <a:srgbClr val="C00000"/>
                </a:buClr>
                <a:buSzPct val="70000"/>
              </a:pP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应用：时间延迟，入口到出口，滞后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3-4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个时钟周期</a:t>
              </a:r>
              <a:endPara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5" name="组合 15"/>
          <p:cNvGrpSpPr/>
          <p:nvPr/>
        </p:nvGrpSpPr>
        <p:grpSpPr>
          <a:xfrm>
            <a:off x="1249363" y="4156075"/>
            <a:ext cx="1171575" cy="468313"/>
            <a:chOff x="7247659" y="627534"/>
            <a:chExt cx="1356789" cy="467287"/>
          </a:xfrm>
        </p:grpSpPr>
        <p:sp>
          <p:nvSpPr>
            <p:cNvPr id="1048616" name="云形标注 16"/>
            <p:cNvSpPr/>
            <p:nvPr/>
          </p:nvSpPr>
          <p:spPr>
            <a:xfrm>
              <a:off x="7247659" y="627534"/>
              <a:ext cx="1083972" cy="467287"/>
            </a:xfrm>
            <a:prstGeom prst="cloudCallout">
              <a:avLst>
                <a:gd name="adj1" fmla="val 48870"/>
                <a:gd name="adj2" fmla="val -77245"/>
              </a:avLst>
            </a:prstGeom>
            <a:solidFill>
              <a:schemeClr val="tx1"/>
            </a:solidFill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617" name="TextBox 17"/>
            <p:cNvSpPr txBox="1"/>
            <p:nvPr/>
          </p:nvSpPr>
          <p:spPr>
            <a:xfrm>
              <a:off x="7308304" y="695349"/>
              <a:ext cx="1296144" cy="2919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3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同步</a:t>
              </a:r>
              <a:r>
                <a:rPr lang="zh-CN" altLang="en-US" sz="13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时序</a:t>
              </a:r>
            </a:p>
          </p:txBody>
        </p:sp>
      </p:grpSp>
      <p:cxnSp>
        <p:nvCxnSpPr>
          <p:cNvPr id="3145728" name="直接箭头连接符 45"/>
          <p:cNvCxnSpPr/>
          <p:nvPr/>
        </p:nvCxnSpPr>
        <p:spPr>
          <a:xfrm>
            <a:off x="2558733" y="2794000"/>
            <a:ext cx="504825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145729" name="直接箭头连接符 46"/>
          <p:cNvCxnSpPr/>
          <p:nvPr/>
        </p:nvCxnSpPr>
        <p:spPr>
          <a:xfrm>
            <a:off x="7015798" y="2801620"/>
            <a:ext cx="360362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36" name="组合 71"/>
          <p:cNvGrpSpPr/>
          <p:nvPr/>
        </p:nvGrpSpPr>
        <p:grpSpPr>
          <a:xfrm>
            <a:off x="2557463" y="3063875"/>
            <a:ext cx="3805237" cy="876300"/>
            <a:chOff x="1629963" y="2058529"/>
            <a:chExt cx="3803324" cy="693165"/>
          </a:xfrm>
        </p:grpSpPr>
        <p:cxnSp>
          <p:nvCxnSpPr>
            <p:cNvPr id="3145730" name="直接连接符 61"/>
            <p:cNvCxnSpPr/>
            <p:nvPr/>
          </p:nvCxnSpPr>
          <p:spPr>
            <a:xfrm>
              <a:off x="1629963" y="2742659"/>
              <a:ext cx="3527551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1" name="直接连接符 62"/>
            <p:cNvCxnSpPr/>
            <p:nvPr/>
          </p:nvCxnSpPr>
          <p:spPr>
            <a:xfrm>
              <a:off x="1782510" y="2067694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2" name="直接连接符 63"/>
            <p:cNvCxnSpPr/>
            <p:nvPr/>
          </p:nvCxnSpPr>
          <p:spPr>
            <a:xfrm>
              <a:off x="2913351" y="2067694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3" name="直接连接符 64"/>
            <p:cNvCxnSpPr/>
            <p:nvPr/>
          </p:nvCxnSpPr>
          <p:spPr>
            <a:xfrm>
              <a:off x="4035772" y="2067693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4" name="直接连接符 65"/>
            <p:cNvCxnSpPr/>
            <p:nvPr/>
          </p:nvCxnSpPr>
          <p:spPr>
            <a:xfrm>
              <a:off x="5151603" y="2067693"/>
              <a:ext cx="0" cy="68400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5" name="直接连接符 67"/>
            <p:cNvCxnSpPr/>
            <p:nvPr/>
          </p:nvCxnSpPr>
          <p:spPr>
            <a:xfrm>
              <a:off x="1785592" y="2058530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6" name="直接连接符 68"/>
            <p:cNvCxnSpPr/>
            <p:nvPr/>
          </p:nvCxnSpPr>
          <p:spPr>
            <a:xfrm>
              <a:off x="2916434" y="2058530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7" name="直接连接符 69"/>
            <p:cNvCxnSpPr/>
            <p:nvPr/>
          </p:nvCxnSpPr>
          <p:spPr>
            <a:xfrm>
              <a:off x="4032640" y="2058530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38" name="直接连接符 70"/>
            <p:cNvCxnSpPr/>
            <p:nvPr/>
          </p:nvCxnSpPr>
          <p:spPr>
            <a:xfrm>
              <a:off x="5145323" y="2058529"/>
              <a:ext cx="28796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7" name="组合 71"/>
          <p:cNvGrpSpPr/>
          <p:nvPr/>
        </p:nvGrpSpPr>
        <p:grpSpPr>
          <a:xfrm>
            <a:off x="2519363" y="3352800"/>
            <a:ext cx="3876675" cy="396875"/>
            <a:chOff x="1410076" y="2067694"/>
            <a:chExt cx="3876379" cy="684128"/>
          </a:xfrm>
        </p:grpSpPr>
        <p:cxnSp>
          <p:nvCxnSpPr>
            <p:cNvPr id="3145739" name="直接连接符 61"/>
            <p:cNvCxnSpPr/>
            <p:nvPr/>
          </p:nvCxnSpPr>
          <p:spPr>
            <a:xfrm>
              <a:off x="1410076" y="2751822"/>
              <a:ext cx="374353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0" name="直接连接符 62"/>
            <p:cNvCxnSpPr/>
            <p:nvPr/>
          </p:nvCxnSpPr>
          <p:spPr>
            <a:xfrm>
              <a:off x="1782510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1" name="直接连接符 63"/>
            <p:cNvCxnSpPr/>
            <p:nvPr/>
          </p:nvCxnSpPr>
          <p:spPr>
            <a:xfrm>
              <a:off x="2898910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2" name="直接连接符 64"/>
            <p:cNvCxnSpPr/>
            <p:nvPr/>
          </p:nvCxnSpPr>
          <p:spPr>
            <a:xfrm>
              <a:off x="4019306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3" name="直接连接符 65"/>
            <p:cNvCxnSpPr/>
            <p:nvPr/>
          </p:nvCxnSpPr>
          <p:spPr>
            <a:xfrm>
              <a:off x="5148735" y="2067694"/>
              <a:ext cx="0" cy="68400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4" name="直接连接符 67"/>
            <p:cNvCxnSpPr/>
            <p:nvPr/>
          </p:nvCxnSpPr>
          <p:spPr>
            <a:xfrm>
              <a:off x="1785592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5" name="直接连接符 68"/>
            <p:cNvCxnSpPr/>
            <p:nvPr/>
          </p:nvCxnSpPr>
          <p:spPr>
            <a:xfrm>
              <a:off x="2901992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6" name="直接连接符 69"/>
            <p:cNvCxnSpPr/>
            <p:nvPr/>
          </p:nvCxnSpPr>
          <p:spPr>
            <a:xfrm>
              <a:off x="4016174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47" name="直接连接符 70"/>
            <p:cNvCxnSpPr/>
            <p:nvPr/>
          </p:nvCxnSpPr>
          <p:spPr>
            <a:xfrm>
              <a:off x="5142455" y="2067694"/>
              <a:ext cx="144000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8" name="组合 12"/>
          <p:cNvGrpSpPr/>
          <p:nvPr/>
        </p:nvGrpSpPr>
        <p:grpSpPr>
          <a:xfrm>
            <a:off x="107950" y="2932113"/>
            <a:ext cx="1403350" cy="943808"/>
            <a:chOff x="4413445" y="1000114"/>
            <a:chExt cx="2730323" cy="687279"/>
          </a:xfrm>
        </p:grpSpPr>
        <p:sp>
          <p:nvSpPr>
            <p:cNvPr id="1048618" name="圆角矩形标注 13"/>
            <p:cNvSpPr/>
            <p:nvPr/>
          </p:nvSpPr>
          <p:spPr>
            <a:xfrm>
              <a:off x="4413445" y="1030197"/>
              <a:ext cx="2544165" cy="657196"/>
            </a:xfrm>
            <a:prstGeom prst="wedgeRoundRectCallout">
              <a:avLst>
                <a:gd name="adj1" fmla="val 65903"/>
                <a:gd name="adj2" fmla="val -57894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48619" name="Text Box 34"/>
            <p:cNvSpPr txBox="1"/>
            <p:nvPr/>
          </p:nvSpPr>
          <p:spPr>
            <a:xfrm>
              <a:off x="4429125" y="1000114"/>
              <a:ext cx="2714643" cy="6584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右移方式下：数据从串行输入端送入，应该</a:t>
              </a:r>
              <a:r>
                <a:rPr lang="zh-CN" altLang="en-US" sz="1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先送最低位</a:t>
              </a:r>
            </a:p>
          </p:txBody>
        </p:sp>
      </p:grpSp>
      <p:sp>
        <p:nvSpPr>
          <p:cNvPr id="1048620" name="横卷形 79"/>
          <p:cNvSpPr/>
          <p:nvPr/>
        </p:nvSpPr>
        <p:spPr bwMode="auto">
          <a:xfrm>
            <a:off x="4584065" y="4076700"/>
            <a:ext cx="4337685" cy="1066800"/>
          </a:xfrm>
          <a:prstGeom prst="horizontalScroll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/>
          <a:lstStyle/>
          <a:p>
            <a:pPr algn="l"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思考：左移寄存器如何设计？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左移方式下从串行输入端送入数据，应该先送最低位还是最高位？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48815" y="240157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u="sng">
                <a:solidFill>
                  <a:schemeClr val="bg2"/>
                </a:solidFill>
              </a:rPr>
              <a:t>101</a:t>
            </a:r>
            <a:r>
              <a:rPr lang="en-US" altLang="zh-CN" sz="2000" u="sng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    0               0              0             0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11045" y="2163445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</a:t>
            </a:r>
            <a:r>
              <a:rPr lang="en-US" altLang="zh-CN" sz="2000" u="sng">
                <a:solidFill>
                  <a:schemeClr val="bg2"/>
                </a:solidFill>
              </a:rPr>
              <a:t>101</a:t>
            </a:r>
            <a:r>
              <a:rPr lang="en-US" altLang="zh-CN" sz="2000">
                <a:solidFill>
                  <a:schemeClr val="bg2"/>
                </a:solidFill>
              </a:rPr>
              <a:t>                   </a:t>
            </a:r>
            <a:r>
              <a:rPr lang="en-US" altLang="zh-CN" sz="2000" u="sng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0              0             0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78355" y="1915160"/>
            <a:ext cx="5706745" cy="39878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 </a:t>
            </a:r>
            <a:r>
              <a:rPr lang="en-US" altLang="zh-CN" sz="2000" u="sng">
                <a:solidFill>
                  <a:schemeClr val="bg2"/>
                </a:solidFill>
              </a:rPr>
              <a:t>10</a:t>
            </a:r>
            <a:r>
              <a:rPr lang="en-US" altLang="zh-CN" sz="2000">
                <a:solidFill>
                  <a:schemeClr val="bg2"/>
                </a:solidFill>
              </a:rPr>
              <a:t>                   </a:t>
            </a:r>
            <a:r>
              <a:rPr lang="en-US" altLang="zh-CN" sz="2000" u="sng">
                <a:solidFill>
                  <a:schemeClr val="bg2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</a:t>
            </a:r>
            <a:r>
              <a:rPr lang="en-US" altLang="zh-CN" sz="2000" u="sng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0             0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46935" y="1700530"/>
            <a:ext cx="5706745" cy="28321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  </a:t>
            </a:r>
            <a:r>
              <a:rPr lang="en-US" altLang="zh-CN" sz="2000" u="sng">
                <a:solidFill>
                  <a:schemeClr val="bg2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    </a:t>
            </a:r>
            <a:r>
              <a:rPr lang="en-US" altLang="zh-CN" sz="2000" u="sng">
                <a:solidFill>
                  <a:schemeClr val="bg2"/>
                </a:solidFill>
              </a:rPr>
              <a:t>0</a:t>
            </a:r>
            <a:r>
              <a:rPr lang="en-US" altLang="zh-CN" sz="2000">
                <a:solidFill>
                  <a:schemeClr val="bg2"/>
                </a:solidFill>
              </a:rPr>
              <a:t>               </a:t>
            </a:r>
            <a:r>
              <a:rPr lang="en-US" altLang="zh-CN" sz="2000" u="sng">
                <a:solidFill>
                  <a:schemeClr val="bg2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</a:t>
            </a:r>
            <a:r>
              <a:rPr lang="en-US" altLang="zh-CN" sz="2000" u="sng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26945" y="1430020"/>
            <a:ext cx="5706745" cy="33655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lIns="71755" tIns="36195" rIns="71755" bIns="36195" rtlCol="0">
            <a:noAutofit/>
          </a:bodyPr>
          <a:lstStyle/>
          <a:p>
            <a:r>
              <a:rPr lang="en-US" altLang="zh-CN" sz="2000">
                <a:solidFill>
                  <a:schemeClr val="bg2"/>
                </a:solidFill>
              </a:rPr>
              <a:t>                       </a:t>
            </a:r>
            <a:r>
              <a:rPr lang="en-US" altLang="zh-CN" sz="2000" u="sng">
                <a:solidFill>
                  <a:schemeClr val="bg2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  </a:t>
            </a:r>
            <a:r>
              <a:rPr lang="en-US" altLang="zh-CN" sz="2000" u="sng">
                <a:solidFill>
                  <a:schemeClr val="bg2"/>
                </a:solidFill>
              </a:rPr>
              <a:t>0</a:t>
            </a:r>
            <a:r>
              <a:rPr lang="en-US" altLang="zh-CN" sz="2000">
                <a:solidFill>
                  <a:schemeClr val="bg2"/>
                </a:solidFill>
              </a:rPr>
              <a:t>              </a:t>
            </a:r>
            <a:r>
              <a:rPr lang="en-US" altLang="zh-CN" sz="2000" u="sng">
                <a:solidFill>
                  <a:schemeClr val="bg2"/>
                </a:solidFill>
              </a:rPr>
              <a:t>1</a:t>
            </a:r>
            <a:r>
              <a:rPr lang="en-US" altLang="zh-CN" sz="2000">
                <a:solidFill>
                  <a:schemeClr val="bg2"/>
                </a:solidFill>
              </a:rPr>
              <a:t>             </a:t>
            </a:r>
            <a:r>
              <a:rPr lang="en-US" altLang="zh-CN" sz="2000" u="sng">
                <a:solidFill>
                  <a:srgbClr val="FF0000"/>
                </a:solidFill>
                <a:sym typeface="+mn-ea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4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4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6" grpId="0" bldLvl="0" animBg="1"/>
      <p:bldP spid="1048620" grpId="0" bldLvl="0" animBg="1"/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右移寄存器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2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并出</a:t>
            </a:r>
            <a:r>
              <a:rPr lang="zh-CN" altLang="en-US" sz="2400" b="1" dirty="0">
                <a:latin typeface="Arial" panose="020B0604020202090204" pitchFamily="34" charset="0"/>
                <a:sym typeface="+mn-ea"/>
              </a:rPr>
              <a:t>（</a:t>
            </a: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Serial in / Parallel out</a:t>
            </a:r>
            <a:r>
              <a:rPr lang="zh-CN" altLang="en-US" sz="2400" b="1" dirty="0">
                <a:latin typeface="Arial" panose="020B0604020202090204" pitchFamily="34" charset="0"/>
                <a:sym typeface="+mn-ea"/>
              </a:rPr>
              <a:t>）</a:t>
            </a:r>
          </a:p>
          <a:p>
            <a:pPr marL="0" indent="0">
              <a:buNone/>
            </a:pPr>
            <a:endParaRPr lang="zh-CN" altLang="en-US" sz="2400" b="1" dirty="0">
              <a:latin typeface="Arial" panose="020B0604020202090204" pitchFamily="34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Arial" panose="020B0604020202090204" pitchFamily="34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Arial" panose="020B0604020202090204" pitchFamily="34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Arial" panose="020B060402020209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串出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Parallel in/Serial out)</a:t>
            </a:r>
          </a:p>
          <a:p>
            <a:pPr marL="0" indent="0">
              <a:buNone/>
            </a:pP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4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b="1" dirty="0">
                <a:latin typeface="Arial" panose="020B0604020202090204" pitchFamily="34" charset="0"/>
                <a:sym typeface="+mn-ea"/>
              </a:rPr>
              <a:t>Parallel in/Parallel out)</a:t>
            </a:r>
            <a:endParaRPr lang="zh-CN" altLang="en-US" sz="2400" b="1" dirty="0">
              <a:latin typeface="Arial" panose="020B0604020202090204" pitchFamily="34" charset="0"/>
            </a:endParaRPr>
          </a:p>
          <a:p>
            <a:pPr marL="0" indent="0">
              <a:buNone/>
            </a:pPr>
            <a:endParaRPr lang="zh-CN" altLang="en-US" sz="2400" b="1" dirty="0">
              <a:latin typeface="Arial" panose="020B0604020202090204" pitchFamily="34" charset="0"/>
              <a:sym typeface="+mn-ea"/>
            </a:endParaRPr>
          </a:p>
        </p:txBody>
      </p:sp>
      <p:sp>
        <p:nvSpPr>
          <p:cNvPr id="1048626" name="Line 61"/>
          <p:cNvSpPr>
            <a:spLocks noChangeShapeType="1"/>
          </p:cNvSpPr>
          <p:nvPr/>
        </p:nvSpPr>
        <p:spPr bwMode="auto">
          <a:xfrm>
            <a:off x="6989763" y="925513"/>
            <a:ext cx="0" cy="1584325"/>
          </a:xfrm>
          <a:prstGeom prst="line">
            <a:avLst/>
          </a:prstGeom>
          <a:noFill/>
          <a:ln w="19050">
            <a:solidFill>
              <a:schemeClr val="bg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1048627" name="Line 62"/>
          <p:cNvSpPr/>
          <p:nvPr/>
        </p:nvSpPr>
        <p:spPr>
          <a:xfrm>
            <a:off x="7456488" y="933450"/>
            <a:ext cx="0" cy="1584325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48628" name="Line 63"/>
          <p:cNvSpPr/>
          <p:nvPr/>
        </p:nvSpPr>
        <p:spPr>
          <a:xfrm>
            <a:off x="7918450" y="928688"/>
            <a:ext cx="0" cy="1584325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48629" name="Line 65"/>
          <p:cNvSpPr/>
          <p:nvPr/>
        </p:nvSpPr>
        <p:spPr>
          <a:xfrm>
            <a:off x="8378825" y="904875"/>
            <a:ext cx="0" cy="1584325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48630" name="Text Box 67"/>
          <p:cNvSpPr txBox="1">
            <a:spLocks noChangeArrowheads="1"/>
          </p:cNvSpPr>
          <p:nvPr/>
        </p:nvSpPr>
        <p:spPr bwMode="auto">
          <a:xfrm>
            <a:off x="6356350" y="771525"/>
            <a:ext cx="663575" cy="2755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CP</a:t>
            </a:r>
          </a:p>
        </p:txBody>
      </p:sp>
      <p:sp>
        <p:nvSpPr>
          <p:cNvPr id="1048631" name="Text Box 68"/>
          <p:cNvSpPr txBox="1">
            <a:spLocks noChangeArrowheads="1"/>
          </p:cNvSpPr>
          <p:nvPr/>
        </p:nvSpPr>
        <p:spPr bwMode="auto">
          <a:xfrm>
            <a:off x="6362700" y="1377950"/>
            <a:ext cx="450850" cy="2755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3</a:t>
            </a:r>
          </a:p>
        </p:txBody>
      </p:sp>
      <p:sp>
        <p:nvSpPr>
          <p:cNvPr id="1048632" name="Text Box 69"/>
          <p:cNvSpPr txBox="1">
            <a:spLocks noChangeArrowheads="1"/>
          </p:cNvSpPr>
          <p:nvPr/>
        </p:nvSpPr>
        <p:spPr bwMode="auto">
          <a:xfrm>
            <a:off x="6386513" y="2011363"/>
            <a:ext cx="450850" cy="2755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1</a:t>
            </a:r>
          </a:p>
        </p:txBody>
      </p:sp>
      <p:grpSp>
        <p:nvGrpSpPr>
          <p:cNvPr id="72" name="Group 70"/>
          <p:cNvGrpSpPr/>
          <p:nvPr/>
        </p:nvGrpSpPr>
        <p:grpSpPr>
          <a:xfrm>
            <a:off x="6762750" y="823913"/>
            <a:ext cx="2074863" cy="152400"/>
            <a:chOff x="480" y="2160"/>
            <a:chExt cx="2160" cy="240"/>
          </a:xfrm>
        </p:grpSpPr>
        <p:sp>
          <p:nvSpPr>
            <p:cNvPr id="1048633" name="Line 71"/>
            <p:cNvSpPr/>
            <p:nvPr/>
          </p:nvSpPr>
          <p:spPr>
            <a:xfrm>
              <a:off x="72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34" name="Line 72"/>
            <p:cNvSpPr/>
            <p:nvPr/>
          </p:nvSpPr>
          <p:spPr>
            <a:xfrm>
              <a:off x="96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35" name="Line 73"/>
            <p:cNvSpPr/>
            <p:nvPr/>
          </p:nvSpPr>
          <p:spPr>
            <a:xfrm>
              <a:off x="72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636" name="Line 74"/>
            <p:cNvSpPr/>
            <p:nvPr/>
          </p:nvSpPr>
          <p:spPr>
            <a:xfrm>
              <a:off x="96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37" name="Line 75"/>
            <p:cNvSpPr/>
            <p:nvPr/>
          </p:nvSpPr>
          <p:spPr>
            <a:xfrm>
              <a:off x="120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38" name="Line 76"/>
            <p:cNvSpPr/>
            <p:nvPr/>
          </p:nvSpPr>
          <p:spPr>
            <a:xfrm>
              <a:off x="144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39" name="Line 77"/>
            <p:cNvSpPr/>
            <p:nvPr/>
          </p:nvSpPr>
          <p:spPr>
            <a:xfrm>
              <a:off x="120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640" name="Line 78"/>
            <p:cNvSpPr/>
            <p:nvPr/>
          </p:nvSpPr>
          <p:spPr>
            <a:xfrm>
              <a:off x="144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1" name="Line 79"/>
            <p:cNvSpPr/>
            <p:nvPr/>
          </p:nvSpPr>
          <p:spPr>
            <a:xfrm>
              <a:off x="168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2" name="Line 80"/>
            <p:cNvSpPr/>
            <p:nvPr/>
          </p:nvSpPr>
          <p:spPr>
            <a:xfrm>
              <a:off x="192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3" name="Line 81"/>
            <p:cNvSpPr/>
            <p:nvPr/>
          </p:nvSpPr>
          <p:spPr>
            <a:xfrm>
              <a:off x="168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644" name="Line 82"/>
            <p:cNvSpPr/>
            <p:nvPr/>
          </p:nvSpPr>
          <p:spPr>
            <a:xfrm>
              <a:off x="192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5" name="Line 83"/>
            <p:cNvSpPr/>
            <p:nvPr/>
          </p:nvSpPr>
          <p:spPr>
            <a:xfrm>
              <a:off x="216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6" name="Line 84"/>
            <p:cNvSpPr/>
            <p:nvPr/>
          </p:nvSpPr>
          <p:spPr>
            <a:xfrm>
              <a:off x="240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7" name="Line 85"/>
            <p:cNvSpPr/>
            <p:nvPr/>
          </p:nvSpPr>
          <p:spPr>
            <a:xfrm>
              <a:off x="216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648" name="Line 86"/>
            <p:cNvSpPr/>
            <p:nvPr/>
          </p:nvSpPr>
          <p:spPr>
            <a:xfrm>
              <a:off x="240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49" name="Line 87"/>
            <p:cNvSpPr/>
            <p:nvPr/>
          </p:nvSpPr>
          <p:spPr>
            <a:xfrm>
              <a:off x="48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48650" name="Text Box 90"/>
          <p:cNvSpPr txBox="1">
            <a:spLocks noChangeArrowheads="1"/>
          </p:cNvSpPr>
          <p:nvPr/>
        </p:nvSpPr>
        <p:spPr bwMode="auto">
          <a:xfrm>
            <a:off x="6376988" y="1701800"/>
            <a:ext cx="450850" cy="2755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2</a:t>
            </a:r>
          </a:p>
        </p:txBody>
      </p:sp>
      <p:grpSp>
        <p:nvGrpSpPr>
          <p:cNvPr id="73" name="Group 99"/>
          <p:cNvGrpSpPr/>
          <p:nvPr/>
        </p:nvGrpSpPr>
        <p:grpSpPr>
          <a:xfrm>
            <a:off x="6762750" y="1755775"/>
            <a:ext cx="2097088" cy="122238"/>
            <a:chOff x="474" y="3312"/>
            <a:chExt cx="2183" cy="192"/>
          </a:xfrm>
        </p:grpSpPr>
        <p:sp>
          <p:nvSpPr>
            <p:cNvPr id="1048651" name="Line 100"/>
            <p:cNvSpPr/>
            <p:nvPr/>
          </p:nvSpPr>
          <p:spPr>
            <a:xfrm>
              <a:off x="1200" y="3312"/>
              <a:ext cx="469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8652" name="Line 101"/>
            <p:cNvSpPr/>
            <p:nvPr/>
          </p:nvSpPr>
          <p:spPr>
            <a:xfrm>
              <a:off x="1200" y="331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53" name="Line 102"/>
            <p:cNvSpPr/>
            <p:nvPr/>
          </p:nvSpPr>
          <p:spPr>
            <a:xfrm flipH="1">
              <a:off x="474" y="3504"/>
              <a:ext cx="73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54" name="Line 104"/>
            <p:cNvSpPr/>
            <p:nvPr/>
          </p:nvSpPr>
          <p:spPr>
            <a:xfrm>
              <a:off x="1680" y="3314"/>
              <a:ext cx="48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55" name="Line 105"/>
            <p:cNvSpPr/>
            <p:nvPr/>
          </p:nvSpPr>
          <p:spPr>
            <a:xfrm flipV="1">
              <a:off x="2160" y="331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56" name="Line 106"/>
            <p:cNvSpPr/>
            <p:nvPr/>
          </p:nvSpPr>
          <p:spPr>
            <a:xfrm>
              <a:off x="2170" y="3499"/>
              <a:ext cx="487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74" name="Group 158"/>
          <p:cNvGrpSpPr/>
          <p:nvPr/>
        </p:nvGrpSpPr>
        <p:grpSpPr>
          <a:xfrm>
            <a:off x="6811963" y="1133475"/>
            <a:ext cx="2030412" cy="122238"/>
            <a:chOff x="480" y="2592"/>
            <a:chExt cx="2112" cy="192"/>
          </a:xfrm>
        </p:grpSpPr>
        <p:sp>
          <p:nvSpPr>
            <p:cNvPr id="1048657" name="Line 159"/>
            <p:cNvSpPr/>
            <p:nvPr/>
          </p:nvSpPr>
          <p:spPr>
            <a:xfrm>
              <a:off x="480" y="2784"/>
              <a:ext cx="14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58" name="Line 160"/>
            <p:cNvSpPr/>
            <p:nvPr/>
          </p:nvSpPr>
          <p:spPr>
            <a:xfrm flipV="1">
              <a:off x="624" y="259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59" name="Line 161"/>
            <p:cNvSpPr/>
            <p:nvPr/>
          </p:nvSpPr>
          <p:spPr>
            <a:xfrm>
              <a:off x="624" y="2592"/>
              <a:ext cx="876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0" name="Line 162"/>
            <p:cNvSpPr/>
            <p:nvPr/>
          </p:nvSpPr>
          <p:spPr>
            <a:xfrm>
              <a:off x="1513" y="259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1" name="Line 163"/>
            <p:cNvSpPr/>
            <p:nvPr/>
          </p:nvSpPr>
          <p:spPr>
            <a:xfrm>
              <a:off x="1505" y="2784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2" name="Line 164"/>
            <p:cNvSpPr/>
            <p:nvPr/>
          </p:nvSpPr>
          <p:spPr>
            <a:xfrm flipV="1">
              <a:off x="1753" y="259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3" name="Line 165"/>
            <p:cNvSpPr/>
            <p:nvPr/>
          </p:nvSpPr>
          <p:spPr>
            <a:xfrm>
              <a:off x="1767" y="2592"/>
              <a:ext cx="67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4" name="Line 166"/>
            <p:cNvSpPr/>
            <p:nvPr/>
          </p:nvSpPr>
          <p:spPr>
            <a:xfrm>
              <a:off x="2448" y="259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5" name="Line 167"/>
            <p:cNvSpPr/>
            <p:nvPr/>
          </p:nvSpPr>
          <p:spPr>
            <a:xfrm>
              <a:off x="2448" y="2784"/>
              <a:ext cx="14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75" name="Group 168"/>
          <p:cNvGrpSpPr/>
          <p:nvPr/>
        </p:nvGrpSpPr>
        <p:grpSpPr>
          <a:xfrm>
            <a:off x="6762750" y="2070100"/>
            <a:ext cx="2090738" cy="122238"/>
            <a:chOff x="480" y="3552"/>
            <a:chExt cx="2176" cy="192"/>
          </a:xfrm>
        </p:grpSpPr>
        <p:sp>
          <p:nvSpPr>
            <p:cNvPr id="1048666" name="Line 169"/>
            <p:cNvSpPr/>
            <p:nvPr/>
          </p:nvSpPr>
          <p:spPr>
            <a:xfrm>
              <a:off x="480" y="3744"/>
              <a:ext cx="12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7" name="Line 170"/>
            <p:cNvSpPr/>
            <p:nvPr/>
          </p:nvSpPr>
          <p:spPr>
            <a:xfrm flipV="1">
              <a:off x="1680" y="3552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8" name="Line 171"/>
            <p:cNvSpPr/>
            <p:nvPr/>
          </p:nvSpPr>
          <p:spPr>
            <a:xfrm>
              <a:off x="1680" y="3552"/>
              <a:ext cx="48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69" name="Line 173"/>
            <p:cNvSpPr/>
            <p:nvPr/>
          </p:nvSpPr>
          <p:spPr>
            <a:xfrm>
              <a:off x="2176" y="3560"/>
              <a:ext cx="48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76" name="Group 174"/>
          <p:cNvGrpSpPr/>
          <p:nvPr/>
        </p:nvGrpSpPr>
        <p:grpSpPr>
          <a:xfrm>
            <a:off x="6762750" y="2393950"/>
            <a:ext cx="2074863" cy="122238"/>
            <a:chOff x="480" y="3696"/>
            <a:chExt cx="2160" cy="192"/>
          </a:xfrm>
        </p:grpSpPr>
        <p:sp>
          <p:nvSpPr>
            <p:cNvPr id="1048670" name="Line 175"/>
            <p:cNvSpPr/>
            <p:nvPr/>
          </p:nvSpPr>
          <p:spPr>
            <a:xfrm>
              <a:off x="480" y="3888"/>
              <a:ext cx="168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71" name="Line 176"/>
            <p:cNvSpPr/>
            <p:nvPr/>
          </p:nvSpPr>
          <p:spPr>
            <a:xfrm flipV="1">
              <a:off x="2168" y="3696"/>
              <a:ext cx="0" cy="192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72" name="Line 177"/>
            <p:cNvSpPr/>
            <p:nvPr/>
          </p:nvSpPr>
          <p:spPr>
            <a:xfrm>
              <a:off x="2160" y="3696"/>
              <a:ext cx="48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48673" name="Text Box 178"/>
          <p:cNvSpPr txBox="1">
            <a:spLocks noChangeArrowheads="1"/>
          </p:cNvSpPr>
          <p:nvPr/>
        </p:nvSpPr>
        <p:spPr bwMode="auto">
          <a:xfrm>
            <a:off x="6400800" y="2325688"/>
            <a:ext cx="377825" cy="2755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0</a:t>
            </a:r>
          </a:p>
        </p:txBody>
      </p:sp>
      <p:sp>
        <p:nvSpPr>
          <p:cNvPr id="1048674" name="Text Box 179"/>
          <p:cNvSpPr txBox="1">
            <a:spLocks noChangeArrowheads="1"/>
          </p:cNvSpPr>
          <p:nvPr/>
        </p:nvSpPr>
        <p:spPr bwMode="auto">
          <a:xfrm>
            <a:off x="6373813" y="1068388"/>
            <a:ext cx="530225" cy="2755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D</a:t>
            </a:r>
            <a:endParaRPr kumimoji="0" lang="en-US" altLang="zh-CN" sz="1200" b="1" kern="1200" cap="none" spc="0" normalizeH="0" baseline="-25000" noProof="0" dirty="0">
              <a:latin typeface="+mj-lt"/>
              <a:ea typeface="宋体" pitchFamily="2" charset="-122"/>
              <a:cs typeface="+mn-cs"/>
            </a:endParaRPr>
          </a:p>
        </p:txBody>
      </p:sp>
      <p:pic>
        <p:nvPicPr>
          <p:cNvPr id="2097155" name="Picture 2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347788"/>
            <a:ext cx="5553075" cy="1511300"/>
          </a:xfrm>
          <a:prstGeom prst="rect">
            <a:avLst/>
          </a:prstGeom>
          <a:noFill/>
          <a:ln w="19050">
            <a:noFill/>
          </a:ln>
        </p:spPr>
      </p:pic>
      <p:grpSp>
        <p:nvGrpSpPr>
          <p:cNvPr id="77" name="组合 218"/>
          <p:cNvGrpSpPr/>
          <p:nvPr/>
        </p:nvGrpSpPr>
        <p:grpSpPr>
          <a:xfrm>
            <a:off x="2076450" y="1058863"/>
            <a:ext cx="4094163" cy="557212"/>
            <a:chOff x="3347864" y="1059582"/>
            <a:chExt cx="4094931" cy="557014"/>
          </a:xfrm>
        </p:grpSpPr>
        <p:cxnSp>
          <p:nvCxnSpPr>
            <p:cNvPr id="3145748" name="直接箭头连接符 209"/>
            <p:cNvCxnSpPr/>
            <p:nvPr/>
          </p:nvCxnSpPr>
          <p:spPr>
            <a:xfrm flipV="1">
              <a:off x="3419872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5749" name="直接箭头连接符 210"/>
            <p:cNvCxnSpPr/>
            <p:nvPr/>
          </p:nvCxnSpPr>
          <p:spPr>
            <a:xfrm flipV="1">
              <a:off x="4577333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5750" name="直接箭头连接符 211"/>
            <p:cNvCxnSpPr/>
            <p:nvPr/>
          </p:nvCxnSpPr>
          <p:spPr>
            <a:xfrm flipV="1">
              <a:off x="5737845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5751" name="直接箭头连接符 212"/>
            <p:cNvCxnSpPr/>
            <p:nvPr/>
          </p:nvCxnSpPr>
          <p:spPr>
            <a:xfrm flipV="1">
              <a:off x="6847681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sp>
          <p:nvSpPr>
            <p:cNvPr id="1048676" name="Text Box 68"/>
            <p:cNvSpPr txBox="1">
              <a:spLocks noChangeArrowheads="1"/>
            </p:cNvSpPr>
            <p:nvPr/>
          </p:nvSpPr>
          <p:spPr bwMode="auto">
            <a:xfrm>
              <a:off x="3347864" y="1059582"/>
              <a:ext cx="762143" cy="307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8677" name="Text Box 69"/>
            <p:cNvSpPr txBox="1">
              <a:spLocks noChangeArrowheads="1"/>
            </p:cNvSpPr>
            <p:nvPr/>
          </p:nvSpPr>
          <p:spPr bwMode="auto">
            <a:xfrm>
              <a:off x="5718447" y="1113538"/>
              <a:ext cx="609714" cy="307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8678" name="Text Box 90"/>
            <p:cNvSpPr txBox="1">
              <a:spLocks noChangeArrowheads="1"/>
            </p:cNvSpPr>
            <p:nvPr/>
          </p:nvSpPr>
          <p:spPr bwMode="auto">
            <a:xfrm>
              <a:off x="4573644" y="1113538"/>
              <a:ext cx="762143" cy="307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8679" name="Text Box 178"/>
            <p:cNvSpPr txBox="1">
              <a:spLocks noChangeArrowheads="1"/>
            </p:cNvSpPr>
            <p:nvPr/>
          </p:nvSpPr>
          <p:spPr bwMode="auto">
            <a:xfrm>
              <a:off x="6833081" y="1111950"/>
              <a:ext cx="609714" cy="307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78" name="Group 204"/>
          <p:cNvGrpSpPr/>
          <p:nvPr/>
        </p:nvGrpSpPr>
        <p:grpSpPr>
          <a:xfrm>
            <a:off x="1787525" y="1327150"/>
            <a:ext cx="3887788" cy="307975"/>
            <a:chOff x="2064" y="73"/>
            <a:chExt cx="2449" cy="259"/>
          </a:xfrm>
        </p:grpSpPr>
        <p:sp>
          <p:nvSpPr>
            <p:cNvPr id="1048680" name="Text Box 205"/>
            <p:cNvSpPr txBox="1">
              <a:spLocks noChangeArrowheads="1"/>
            </p:cNvSpPr>
            <p:nvPr/>
          </p:nvSpPr>
          <p:spPr bwMode="auto">
            <a:xfrm>
              <a:off x="2064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8681" name="Text Box 206"/>
            <p:cNvSpPr txBox="1">
              <a:spLocks noChangeArrowheads="1"/>
            </p:cNvSpPr>
            <p:nvPr/>
          </p:nvSpPr>
          <p:spPr bwMode="auto">
            <a:xfrm>
              <a:off x="2835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48682" name="Text Box 207"/>
            <p:cNvSpPr txBox="1">
              <a:spLocks noChangeArrowheads="1"/>
            </p:cNvSpPr>
            <p:nvPr/>
          </p:nvSpPr>
          <p:spPr bwMode="auto">
            <a:xfrm>
              <a:off x="356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8683" name="Text Box 208"/>
            <p:cNvSpPr txBox="1">
              <a:spLocks noChangeArrowheads="1"/>
            </p:cNvSpPr>
            <p:nvPr/>
          </p:nvSpPr>
          <p:spPr bwMode="auto">
            <a:xfrm>
              <a:off x="424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1048684" name="Rectangle 12"/>
          <p:cNvSpPr/>
          <p:nvPr/>
        </p:nvSpPr>
        <p:spPr>
          <a:xfrm>
            <a:off x="107950" y="1404938"/>
            <a:ext cx="647700" cy="4140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1400" b="1" dirty="0">
                <a:latin typeface="Arial" panose="020B0604020202090204" pitchFamily="34" charset="0"/>
              </a:rPr>
              <a:t>101</a:t>
            </a:r>
            <a:r>
              <a:rPr lang="en-US" altLang="zh-CN" sz="1400" b="1" u="sng" dirty="0">
                <a:latin typeface="Arial" panose="020B0604020202090204" pitchFamily="34" charset="0"/>
              </a:rPr>
              <a:t>1</a:t>
            </a:r>
          </a:p>
        </p:txBody>
      </p:sp>
      <p:grpSp>
        <p:nvGrpSpPr>
          <p:cNvPr id="79" name="Group 204"/>
          <p:cNvGrpSpPr/>
          <p:nvPr/>
        </p:nvGrpSpPr>
        <p:grpSpPr>
          <a:xfrm>
            <a:off x="1782763" y="1338263"/>
            <a:ext cx="3887787" cy="307975"/>
            <a:chOff x="2064" y="73"/>
            <a:chExt cx="2449" cy="259"/>
          </a:xfrm>
        </p:grpSpPr>
        <p:sp>
          <p:nvSpPr>
            <p:cNvPr id="1048685" name="Text Box 205"/>
            <p:cNvSpPr txBox="1">
              <a:spLocks noChangeArrowheads="1"/>
            </p:cNvSpPr>
            <p:nvPr/>
          </p:nvSpPr>
          <p:spPr bwMode="auto">
            <a:xfrm>
              <a:off x="2064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48686" name="Text Box 206"/>
            <p:cNvSpPr txBox="1">
              <a:spLocks noChangeArrowheads="1"/>
            </p:cNvSpPr>
            <p:nvPr/>
          </p:nvSpPr>
          <p:spPr bwMode="auto">
            <a:xfrm>
              <a:off x="2835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48687" name="Text Box 207"/>
            <p:cNvSpPr txBox="1">
              <a:spLocks noChangeArrowheads="1"/>
            </p:cNvSpPr>
            <p:nvPr/>
          </p:nvSpPr>
          <p:spPr bwMode="auto">
            <a:xfrm>
              <a:off x="356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48688" name="Text Box 208"/>
            <p:cNvSpPr txBox="1">
              <a:spLocks noChangeArrowheads="1"/>
            </p:cNvSpPr>
            <p:nvPr/>
          </p:nvSpPr>
          <p:spPr bwMode="auto">
            <a:xfrm>
              <a:off x="424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  <p:pic>
        <p:nvPicPr>
          <p:cNvPr id="209715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775" y="2787650"/>
            <a:ext cx="3514725" cy="2151063"/>
          </a:xfrm>
          <a:prstGeom prst="rect">
            <a:avLst/>
          </a:prstGeom>
          <a:noFill/>
          <a:ln w="19050">
            <a:noFill/>
          </a:ln>
        </p:spPr>
      </p:pic>
      <p:pic>
        <p:nvPicPr>
          <p:cNvPr id="2097157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3919538"/>
            <a:ext cx="4679950" cy="1028700"/>
          </a:xfrm>
          <a:prstGeom prst="rect">
            <a:avLst/>
          </a:prstGeom>
          <a:noFill/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</p:pic>
      <p:grpSp>
        <p:nvGrpSpPr>
          <p:cNvPr id="80" name="组合 80"/>
          <p:cNvGrpSpPr/>
          <p:nvPr/>
        </p:nvGrpSpPr>
        <p:grpSpPr>
          <a:xfrm>
            <a:off x="4740275" y="2692400"/>
            <a:ext cx="242888" cy="165100"/>
            <a:chOff x="5966723" y="2114718"/>
            <a:chExt cx="242596" cy="165658"/>
          </a:xfrm>
        </p:grpSpPr>
        <p:sp>
          <p:nvSpPr>
            <p:cNvPr id="1048690" name="Line 115"/>
            <p:cNvSpPr/>
            <p:nvPr/>
          </p:nvSpPr>
          <p:spPr>
            <a:xfrm>
              <a:off x="5966723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91" name="Line 116"/>
            <p:cNvSpPr/>
            <p:nvPr/>
          </p:nvSpPr>
          <p:spPr>
            <a:xfrm>
              <a:off x="6088021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92" name="Line 118"/>
            <p:cNvSpPr/>
            <p:nvPr/>
          </p:nvSpPr>
          <p:spPr>
            <a:xfrm>
              <a:off x="6088021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81" name="组合 81"/>
          <p:cNvGrpSpPr/>
          <p:nvPr/>
        </p:nvGrpSpPr>
        <p:grpSpPr>
          <a:xfrm>
            <a:off x="4983163" y="2692400"/>
            <a:ext cx="241300" cy="165100"/>
            <a:chOff x="6209319" y="2114718"/>
            <a:chExt cx="242595" cy="165658"/>
          </a:xfrm>
        </p:grpSpPr>
        <p:sp>
          <p:nvSpPr>
            <p:cNvPr id="1048693" name="Line 119"/>
            <p:cNvSpPr/>
            <p:nvPr/>
          </p:nvSpPr>
          <p:spPr>
            <a:xfrm>
              <a:off x="6209319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94" name="Line 120"/>
            <p:cNvSpPr/>
            <p:nvPr/>
          </p:nvSpPr>
          <p:spPr>
            <a:xfrm>
              <a:off x="6330616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95" name="Line 122"/>
            <p:cNvSpPr/>
            <p:nvPr/>
          </p:nvSpPr>
          <p:spPr>
            <a:xfrm>
              <a:off x="6330616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82" name="组合 82"/>
          <p:cNvGrpSpPr/>
          <p:nvPr/>
        </p:nvGrpSpPr>
        <p:grpSpPr>
          <a:xfrm>
            <a:off x="5224463" y="2692400"/>
            <a:ext cx="242887" cy="165100"/>
            <a:chOff x="6451914" y="2114718"/>
            <a:chExt cx="242596" cy="165658"/>
          </a:xfrm>
        </p:grpSpPr>
        <p:sp>
          <p:nvSpPr>
            <p:cNvPr id="1048696" name="Line 123"/>
            <p:cNvSpPr/>
            <p:nvPr/>
          </p:nvSpPr>
          <p:spPr>
            <a:xfrm>
              <a:off x="6451914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97" name="Line 124"/>
            <p:cNvSpPr/>
            <p:nvPr/>
          </p:nvSpPr>
          <p:spPr>
            <a:xfrm>
              <a:off x="6573212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698" name="Line 126"/>
            <p:cNvSpPr/>
            <p:nvPr/>
          </p:nvSpPr>
          <p:spPr>
            <a:xfrm>
              <a:off x="6573212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83" name="组合 79"/>
          <p:cNvGrpSpPr/>
          <p:nvPr/>
        </p:nvGrpSpPr>
        <p:grpSpPr>
          <a:xfrm>
            <a:off x="4497388" y="2692400"/>
            <a:ext cx="242887" cy="165100"/>
            <a:chOff x="5724128" y="2114718"/>
            <a:chExt cx="242596" cy="165658"/>
          </a:xfrm>
        </p:grpSpPr>
        <p:sp>
          <p:nvSpPr>
            <p:cNvPr id="1048699" name="Line 112"/>
            <p:cNvSpPr/>
            <p:nvPr/>
          </p:nvSpPr>
          <p:spPr>
            <a:xfrm>
              <a:off x="5845426" y="2114718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700" name="Line 114"/>
            <p:cNvSpPr/>
            <p:nvPr/>
          </p:nvSpPr>
          <p:spPr>
            <a:xfrm>
              <a:off x="5845426" y="2114718"/>
              <a:ext cx="0" cy="16565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48701" name="Line 128"/>
            <p:cNvSpPr/>
            <p:nvPr/>
          </p:nvSpPr>
          <p:spPr>
            <a:xfrm>
              <a:off x="5724128" y="2280376"/>
              <a:ext cx="12129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48702" name="左大括号 111"/>
          <p:cNvSpPr/>
          <p:nvPr/>
        </p:nvSpPr>
        <p:spPr>
          <a:xfrm>
            <a:off x="6227763" y="1563688"/>
            <a:ext cx="180975" cy="972000"/>
          </a:xfrm>
          <a:prstGeom prst="leftBrace">
            <a:avLst>
              <a:gd name="adj1" fmla="val 28345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algn="r"/>
            <a:endParaRPr lang="zh-CN" altLang="en-US" u="sng" dirty="0">
              <a:solidFill>
                <a:schemeClr val="accent1"/>
              </a:solidFill>
              <a:latin typeface="Lucida Sans Unicode" panose="020B0602030504020204" pitchFamily="34" charset="0"/>
              <a:ea typeface="Gulim" pitchFamily="34" charset="-127"/>
            </a:endParaRPr>
          </a:p>
        </p:txBody>
      </p:sp>
      <p:sp>
        <p:nvSpPr>
          <p:cNvPr id="1048703" name="Text Box 25"/>
          <p:cNvSpPr txBox="1"/>
          <p:nvPr/>
        </p:nvSpPr>
        <p:spPr>
          <a:xfrm>
            <a:off x="5407025" y="1851025"/>
            <a:ext cx="1181100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zh-CN" altLang="en-US" sz="1400" b="1" dirty="0">
                <a:latin typeface="Arial" panose="020B0604020202090204" pitchFamily="34" charset="0"/>
                <a:ea typeface="楷体_GB2312"/>
              </a:rPr>
              <a:t>并行输出</a:t>
            </a:r>
          </a:p>
        </p:txBody>
      </p:sp>
      <p:sp>
        <p:nvSpPr>
          <p:cNvPr id="1048704" name="AutoShape 8"/>
          <p:cNvSpPr/>
          <p:nvPr/>
        </p:nvSpPr>
        <p:spPr>
          <a:xfrm>
            <a:off x="5591175" y="2847975"/>
            <a:ext cx="935038" cy="360363"/>
          </a:xfrm>
          <a:prstGeom prst="wedgeRoundRectCallout">
            <a:avLst>
              <a:gd name="adj1" fmla="val 53412"/>
              <a:gd name="adj2" fmla="val -129824"/>
              <a:gd name="adj3" fmla="val 16667"/>
            </a:avLst>
          </a:prstGeom>
          <a:solidFill>
            <a:srgbClr val="FFFF99"/>
          </a:solidFill>
          <a:ln w="9525" cap="flat" cmpd="sng">
            <a:solidFill>
              <a:srgbClr val="FF9966"/>
            </a:solidFill>
            <a:prstDash val="solid"/>
            <a:miter/>
            <a:headEnd type="none" w="med" len="med"/>
            <a:tailEnd type="none" w="med" len="med"/>
          </a:ln>
          <a:effectLst>
            <a:prstShdw prst="shdw17" dist="17961" dir="2699999">
              <a:srgbClr val="99995C"/>
            </a:prstShdw>
          </a:effectLst>
        </p:spPr>
        <p:txBody>
          <a:bodyPr anchor="b"/>
          <a:lstStyle/>
          <a:p>
            <a:r>
              <a:rPr lang="zh-CN" altLang="en-US" sz="1400" b="1" dirty="0">
                <a:latin typeface="Arial" panose="020B0604020202090204" pitchFamily="34" charset="0"/>
                <a:ea typeface="楷体_GB2312"/>
              </a:rPr>
              <a:t>串行输出 </a:t>
            </a:r>
          </a:p>
        </p:txBody>
      </p:sp>
      <p:grpSp>
        <p:nvGrpSpPr>
          <p:cNvPr id="84" name="组合 125"/>
          <p:cNvGrpSpPr/>
          <p:nvPr/>
        </p:nvGrpSpPr>
        <p:grpSpPr>
          <a:xfrm>
            <a:off x="7018338" y="4216400"/>
            <a:ext cx="795337" cy="252413"/>
            <a:chOff x="6971414" y="4216359"/>
            <a:chExt cx="794646" cy="229524"/>
          </a:xfrm>
        </p:grpSpPr>
        <p:cxnSp>
          <p:nvCxnSpPr>
            <p:cNvPr id="3145752" name="直接箭头连接符 116"/>
            <p:cNvCxnSpPr/>
            <p:nvPr/>
          </p:nvCxnSpPr>
          <p:spPr>
            <a:xfrm flipV="1">
              <a:off x="6971414" y="4216359"/>
              <a:ext cx="0" cy="216024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145753" name="直接箭头连接符 117"/>
            <p:cNvCxnSpPr/>
            <p:nvPr/>
          </p:nvCxnSpPr>
          <p:spPr>
            <a:xfrm flipV="1">
              <a:off x="7238854" y="4216359"/>
              <a:ext cx="0" cy="216024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145754" name="直接箭头连接符 118"/>
            <p:cNvCxnSpPr/>
            <p:nvPr/>
          </p:nvCxnSpPr>
          <p:spPr>
            <a:xfrm flipV="1">
              <a:off x="7498620" y="4229859"/>
              <a:ext cx="0" cy="216024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145755" name="直接箭头连接符 119"/>
            <p:cNvCxnSpPr/>
            <p:nvPr/>
          </p:nvCxnSpPr>
          <p:spPr>
            <a:xfrm flipV="1">
              <a:off x="7766060" y="4229859"/>
              <a:ext cx="0" cy="216024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</p:grpSp>
      <p:grpSp>
        <p:nvGrpSpPr>
          <p:cNvPr id="85" name="组合 124"/>
          <p:cNvGrpSpPr/>
          <p:nvPr/>
        </p:nvGrpSpPr>
        <p:grpSpPr>
          <a:xfrm>
            <a:off x="7007225" y="3219450"/>
            <a:ext cx="806450" cy="265113"/>
            <a:chOff x="6959839" y="3231397"/>
            <a:chExt cx="806221" cy="265500"/>
          </a:xfrm>
        </p:grpSpPr>
        <p:cxnSp>
          <p:nvCxnSpPr>
            <p:cNvPr id="3145756" name="直接箭头连接符 120"/>
            <p:cNvCxnSpPr/>
            <p:nvPr/>
          </p:nvCxnSpPr>
          <p:spPr>
            <a:xfrm flipV="1">
              <a:off x="6959839" y="3231397"/>
              <a:ext cx="0" cy="252000"/>
            </a:xfrm>
            <a:prstGeom prst="straightConnector1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145757" name="直接箭头连接符 121"/>
            <p:cNvCxnSpPr/>
            <p:nvPr/>
          </p:nvCxnSpPr>
          <p:spPr>
            <a:xfrm flipV="1">
              <a:off x="7238854" y="3231397"/>
              <a:ext cx="0" cy="252000"/>
            </a:xfrm>
            <a:prstGeom prst="straightConnector1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145758" name="直接箭头连接符 122"/>
            <p:cNvCxnSpPr/>
            <p:nvPr/>
          </p:nvCxnSpPr>
          <p:spPr>
            <a:xfrm flipV="1">
              <a:off x="7498620" y="3233322"/>
              <a:ext cx="0" cy="252000"/>
            </a:xfrm>
            <a:prstGeom prst="straightConnector1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3145759" name="直接箭头连接符 123"/>
            <p:cNvCxnSpPr/>
            <p:nvPr/>
          </p:nvCxnSpPr>
          <p:spPr>
            <a:xfrm flipV="1">
              <a:off x="7766060" y="3244897"/>
              <a:ext cx="0" cy="252000"/>
            </a:xfrm>
            <a:prstGeom prst="straightConnector1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arrow" w="med" len="med"/>
            </a:ln>
          </p:spPr>
        </p:cxnSp>
      </p:grpSp>
      <p:cxnSp>
        <p:nvCxnSpPr>
          <p:cNvPr id="3145760" name="直接箭头连接符 127"/>
          <p:cNvCxnSpPr/>
          <p:nvPr/>
        </p:nvCxnSpPr>
        <p:spPr>
          <a:xfrm>
            <a:off x="7824788" y="3363913"/>
            <a:ext cx="288925" cy="0"/>
          </a:xfrm>
          <a:prstGeom prst="straightConnector1">
            <a:avLst/>
          </a:prstGeom>
          <a:ln w="28575" cap="flat" cmpd="sng">
            <a:solidFill>
              <a:srgbClr val="D60093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048706" name="上弧形箭头 129"/>
          <p:cNvSpPr/>
          <p:nvPr/>
        </p:nvSpPr>
        <p:spPr>
          <a:xfrm rot="-1981547">
            <a:off x="6586538" y="3279775"/>
            <a:ext cx="360362" cy="215900"/>
          </a:xfrm>
          <a:prstGeom prst="curvedDownArrow">
            <a:avLst>
              <a:gd name="adj1" fmla="val 25036"/>
              <a:gd name="adj2" fmla="val 50073"/>
              <a:gd name="adj3" fmla="val 25000"/>
            </a:avLst>
          </a:prstGeom>
          <a:solidFill>
            <a:srgbClr val="FF0000"/>
          </a:solidFill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86" name="组合 131"/>
          <p:cNvGrpSpPr/>
          <p:nvPr/>
        </p:nvGrpSpPr>
        <p:grpSpPr>
          <a:xfrm>
            <a:off x="6731000" y="1441450"/>
            <a:ext cx="2116138" cy="122238"/>
            <a:chOff x="6731000" y="1441450"/>
            <a:chExt cx="2115760" cy="122238"/>
          </a:xfrm>
        </p:grpSpPr>
        <p:grpSp>
          <p:nvGrpSpPr>
            <p:cNvPr id="87" name="Group 91"/>
            <p:cNvGrpSpPr/>
            <p:nvPr/>
          </p:nvGrpSpPr>
          <p:grpSpPr>
            <a:xfrm>
              <a:off x="6731000" y="1441450"/>
              <a:ext cx="1659676" cy="122238"/>
              <a:chOff x="448" y="2592"/>
              <a:chExt cx="1728" cy="192"/>
            </a:xfrm>
          </p:grpSpPr>
          <p:sp>
            <p:nvSpPr>
              <p:cNvPr id="1048707" name="Line 92"/>
              <p:cNvSpPr/>
              <p:nvPr/>
            </p:nvSpPr>
            <p:spPr>
              <a:xfrm>
                <a:off x="72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48708" name="Line 93"/>
              <p:cNvSpPr/>
              <p:nvPr/>
            </p:nvSpPr>
            <p:spPr>
              <a:xfrm>
                <a:off x="1188" y="2592"/>
                <a:ext cx="49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48709" name="Line 94"/>
              <p:cNvSpPr/>
              <p:nvPr/>
            </p:nvSpPr>
            <p:spPr>
              <a:xfrm>
                <a:off x="722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710" name="Line 95"/>
              <p:cNvSpPr/>
              <p:nvPr/>
            </p:nvSpPr>
            <p:spPr>
              <a:xfrm flipH="1">
                <a:off x="448" y="2784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711" name="Line 96"/>
              <p:cNvSpPr/>
              <p:nvPr/>
            </p:nvSpPr>
            <p:spPr>
              <a:xfrm>
                <a:off x="2166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712" name="Line 97"/>
              <p:cNvSpPr/>
              <p:nvPr/>
            </p:nvSpPr>
            <p:spPr>
              <a:xfrm>
                <a:off x="1676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713" name="Line 98"/>
              <p:cNvSpPr/>
              <p:nvPr/>
            </p:nvSpPr>
            <p:spPr>
              <a:xfrm flipH="1">
                <a:off x="1689" y="2784"/>
                <a:ext cx="48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8714" name="Line 92"/>
            <p:cNvSpPr/>
            <p:nvPr/>
          </p:nvSpPr>
          <p:spPr>
            <a:xfrm>
              <a:off x="8389581" y="1442482"/>
              <a:ext cx="457179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104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104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9" dur="500"/>
                                        <p:tgtEl>
                                          <p:spTgt spid="104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4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09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09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04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314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48631" grpId="0" bldLvl="0" animBg="1"/>
      <p:bldP spid="1048632" grpId="0" bldLvl="0" animBg="1"/>
      <p:bldP spid="1048650" grpId="0" bldLvl="0" animBg="1"/>
      <p:bldP spid="1048673" grpId="0" bldLvl="0" animBg="1"/>
      <p:bldP spid="1048702" grpId="0" bldLvl="0" animBg="1"/>
      <p:bldP spid="1048703" grpId="0"/>
      <p:bldP spid="1048704" grpId="0" bldLvl="0" animBg="1"/>
      <p:bldP spid="104870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右移寄存器的应用</a:t>
            </a:r>
            <a:r>
              <a:rPr kumimoji="1" lang="en-US" altLang="zh-CN" kern="1200" noProof="0" dirty="0">
                <a:cs typeface="+mn-cs"/>
                <a:sym typeface="+mn-ea"/>
              </a:rPr>
              <a:t>——</a:t>
            </a:r>
            <a:r>
              <a:rPr kumimoji="1" lang="zh-CN" altLang="en-US" kern="1200" noProof="0" dirty="0">
                <a:cs typeface="+mn-cs"/>
                <a:sym typeface="+mn-ea"/>
              </a:rPr>
              <a:t>环形计数器</a:t>
            </a:r>
            <a:endParaRPr lang="zh-CN" altLang="en-US"/>
          </a:p>
        </p:txBody>
      </p:sp>
      <p:grpSp>
        <p:nvGrpSpPr>
          <p:cNvPr id="96" name="组合 76"/>
          <p:cNvGrpSpPr/>
          <p:nvPr/>
        </p:nvGrpSpPr>
        <p:grpSpPr>
          <a:xfrm>
            <a:off x="1619250" y="1411288"/>
            <a:ext cx="6048375" cy="1423987"/>
            <a:chOff x="1619250" y="1652588"/>
            <a:chExt cx="6048375" cy="1423987"/>
          </a:xfrm>
        </p:grpSpPr>
        <p:pic>
          <p:nvPicPr>
            <p:cNvPr id="2097158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0" y="1652588"/>
              <a:ext cx="6048375" cy="1423987"/>
            </a:xfrm>
            <a:prstGeom prst="rect">
              <a:avLst/>
            </a:prstGeom>
            <a:noFill/>
            <a:ln w="19050">
              <a:noFill/>
            </a:ln>
          </p:spPr>
        </p:pic>
        <p:grpSp>
          <p:nvGrpSpPr>
            <p:cNvPr id="97" name="组合 65"/>
            <p:cNvGrpSpPr/>
            <p:nvPr/>
          </p:nvGrpSpPr>
          <p:grpSpPr>
            <a:xfrm>
              <a:off x="6305550" y="2287588"/>
              <a:ext cx="377825" cy="307340"/>
              <a:chOff x="6343650" y="2287588"/>
              <a:chExt cx="377825" cy="307340"/>
            </a:xfrm>
          </p:grpSpPr>
          <p:sp>
            <p:nvSpPr>
              <p:cNvPr id="1048739" name="Text Box 178"/>
              <p:cNvSpPr txBox="1">
                <a:spLocks noChangeArrowheads="1"/>
              </p:cNvSpPr>
              <p:nvPr/>
            </p:nvSpPr>
            <p:spPr bwMode="auto">
              <a:xfrm>
                <a:off x="6343650" y="2287588"/>
                <a:ext cx="377825" cy="30734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cxnSp>
            <p:nvCxnSpPr>
              <p:cNvPr id="3145761" name="直接连接符 64"/>
              <p:cNvCxnSpPr/>
              <p:nvPr/>
            </p:nvCxnSpPr>
            <p:spPr bwMode="auto">
              <a:xfrm>
                <a:off x="6453188" y="2346325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8" name="组合 66"/>
            <p:cNvGrpSpPr/>
            <p:nvPr/>
          </p:nvGrpSpPr>
          <p:grpSpPr>
            <a:xfrm>
              <a:off x="5172075" y="2303463"/>
              <a:ext cx="377825" cy="307340"/>
              <a:chOff x="6343278" y="2288283"/>
              <a:chExt cx="377825" cy="307340"/>
            </a:xfrm>
          </p:grpSpPr>
          <p:sp>
            <p:nvSpPr>
              <p:cNvPr id="1048740" name="Text Box 178"/>
              <p:cNvSpPr txBox="1">
                <a:spLocks noChangeArrowheads="1"/>
              </p:cNvSpPr>
              <p:nvPr/>
            </p:nvSpPr>
            <p:spPr bwMode="auto">
              <a:xfrm>
                <a:off x="6343278" y="2288283"/>
                <a:ext cx="377825" cy="30734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cxnSp>
            <p:nvCxnSpPr>
              <p:cNvPr id="3145762" name="直接连接符 68"/>
              <p:cNvCxnSpPr/>
              <p:nvPr/>
            </p:nvCxnSpPr>
            <p:spPr bwMode="auto">
              <a:xfrm>
                <a:off x="6452816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9" name="组合 69"/>
            <p:cNvGrpSpPr/>
            <p:nvPr/>
          </p:nvGrpSpPr>
          <p:grpSpPr>
            <a:xfrm>
              <a:off x="4057650" y="2303463"/>
              <a:ext cx="377825" cy="307340"/>
              <a:chOff x="6342881" y="2288283"/>
              <a:chExt cx="377825" cy="307340"/>
            </a:xfrm>
          </p:grpSpPr>
          <p:sp>
            <p:nvSpPr>
              <p:cNvPr id="1048741" name="Text Box 178"/>
              <p:cNvSpPr txBox="1">
                <a:spLocks noChangeArrowheads="1"/>
              </p:cNvSpPr>
              <p:nvPr/>
            </p:nvSpPr>
            <p:spPr bwMode="auto">
              <a:xfrm>
                <a:off x="6342881" y="2288283"/>
                <a:ext cx="377825" cy="30734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cxnSp>
            <p:nvCxnSpPr>
              <p:cNvPr id="3145763" name="直接连接符 71"/>
              <p:cNvCxnSpPr/>
              <p:nvPr/>
            </p:nvCxnSpPr>
            <p:spPr bwMode="auto">
              <a:xfrm>
                <a:off x="6452419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0" name="组合 72"/>
            <p:cNvGrpSpPr/>
            <p:nvPr/>
          </p:nvGrpSpPr>
          <p:grpSpPr>
            <a:xfrm>
              <a:off x="2925763" y="2293938"/>
              <a:ext cx="377825" cy="307340"/>
              <a:chOff x="6344072" y="2288283"/>
              <a:chExt cx="377825" cy="307340"/>
            </a:xfrm>
          </p:grpSpPr>
          <p:sp>
            <p:nvSpPr>
              <p:cNvPr id="1048742" name="Text Box 178"/>
              <p:cNvSpPr txBox="1">
                <a:spLocks noChangeArrowheads="1"/>
              </p:cNvSpPr>
              <p:nvPr/>
            </p:nvSpPr>
            <p:spPr bwMode="auto">
              <a:xfrm>
                <a:off x="6344072" y="2288283"/>
                <a:ext cx="377825" cy="30734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cxnSp>
            <p:nvCxnSpPr>
              <p:cNvPr id="3145764" name="直接连接符 75"/>
              <p:cNvCxnSpPr/>
              <p:nvPr/>
            </p:nvCxnSpPr>
            <p:spPr bwMode="auto">
              <a:xfrm>
                <a:off x="6453609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48743" name="Text Box 20"/>
          <p:cNvSpPr txBox="1"/>
          <p:nvPr/>
        </p:nvSpPr>
        <p:spPr>
          <a:xfrm>
            <a:off x="676275" y="665480"/>
            <a:ext cx="7712075" cy="368300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717550" indent="-717550" algn="ctr" eaLnBrk="1" hangingPunct="1"/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一种能在输入信号作用下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依次循环预定状态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的时序逻辑电路。</a:t>
            </a:r>
          </a:p>
        </p:txBody>
      </p:sp>
      <p:sp>
        <p:nvSpPr>
          <p:cNvPr id="1048744" name="Line 80"/>
          <p:cNvSpPr/>
          <p:nvPr/>
        </p:nvSpPr>
        <p:spPr>
          <a:xfrm flipH="1">
            <a:off x="2376488" y="1277938"/>
            <a:ext cx="4392612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miter/>
            <a:headEnd type="oval" w="lg" len="lg"/>
            <a:tailEnd type="none" w="med" len="med"/>
          </a:ln>
        </p:spPr>
      </p:sp>
      <p:cxnSp>
        <p:nvCxnSpPr>
          <p:cNvPr id="3145765" name="直接连接符 76"/>
          <p:cNvCxnSpPr/>
          <p:nvPr/>
        </p:nvCxnSpPr>
        <p:spPr>
          <a:xfrm flipV="1">
            <a:off x="6770688" y="1290638"/>
            <a:ext cx="0" cy="32385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oval" w="sm" len="sm"/>
            <a:tailEnd type="none" w="med" len="med"/>
          </a:ln>
        </p:spPr>
      </p:cxnSp>
      <p:cxnSp>
        <p:nvCxnSpPr>
          <p:cNvPr id="3145766" name="直接连接符 77"/>
          <p:cNvCxnSpPr/>
          <p:nvPr/>
        </p:nvCxnSpPr>
        <p:spPr>
          <a:xfrm flipV="1">
            <a:off x="2378075" y="1268413"/>
            <a:ext cx="0" cy="358775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oval" w="sm" len="sm"/>
            <a:tailEnd type="none" w="med" len="med"/>
          </a:ln>
        </p:spPr>
      </p:cxnSp>
      <p:grpSp>
        <p:nvGrpSpPr>
          <p:cNvPr id="101" name="组合 79"/>
          <p:cNvGrpSpPr/>
          <p:nvPr/>
        </p:nvGrpSpPr>
        <p:grpSpPr>
          <a:xfrm>
            <a:off x="3273425" y="3251156"/>
            <a:ext cx="1444625" cy="774700"/>
            <a:chOff x="2627784" y="449207"/>
            <a:chExt cx="1444030" cy="813447"/>
          </a:xfrm>
        </p:grpSpPr>
        <p:grpSp>
          <p:nvGrpSpPr>
            <p:cNvPr id="102" name="Group 4"/>
            <p:cNvGrpSpPr/>
            <p:nvPr/>
          </p:nvGrpSpPr>
          <p:grpSpPr>
            <a:xfrm>
              <a:off x="2627784" y="449207"/>
              <a:ext cx="1444030" cy="813447"/>
              <a:chOff x="528" y="504"/>
              <a:chExt cx="1149" cy="820"/>
            </a:xfrm>
          </p:grpSpPr>
          <p:sp>
            <p:nvSpPr>
              <p:cNvPr id="1048745" name="Oval 5"/>
              <p:cNvSpPr/>
              <p:nvPr/>
            </p:nvSpPr>
            <p:spPr>
              <a:xfrm>
                <a:off x="528" y="504"/>
                <a:ext cx="462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1000</a:t>
                </a:r>
              </a:p>
            </p:txBody>
          </p:sp>
          <p:sp>
            <p:nvSpPr>
              <p:cNvPr id="1048746" name="Oval 6"/>
              <p:cNvSpPr/>
              <p:nvPr/>
            </p:nvSpPr>
            <p:spPr>
              <a:xfrm>
                <a:off x="1219" y="529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0100</a:t>
                </a:r>
              </a:p>
            </p:txBody>
          </p:sp>
          <p:sp>
            <p:nvSpPr>
              <p:cNvPr id="1048747" name="Oval 7"/>
              <p:cNvSpPr/>
              <p:nvPr/>
            </p:nvSpPr>
            <p:spPr>
              <a:xfrm>
                <a:off x="1219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0010</a:t>
                </a:r>
              </a:p>
            </p:txBody>
          </p:sp>
          <p:sp>
            <p:nvSpPr>
              <p:cNvPr id="1048748" name="Oval 8"/>
              <p:cNvSpPr/>
              <p:nvPr/>
            </p:nvSpPr>
            <p:spPr>
              <a:xfrm>
                <a:off x="531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0001</a:t>
                </a:r>
              </a:p>
            </p:txBody>
          </p:sp>
          <p:sp>
            <p:nvSpPr>
              <p:cNvPr id="1048749" name="Line 9"/>
              <p:cNvSpPr>
                <a:spLocks noChangeShapeType="1"/>
              </p:cNvSpPr>
              <p:nvPr/>
            </p:nvSpPr>
            <p:spPr bwMode="auto">
              <a:xfrm>
                <a:off x="1017" y="674"/>
                <a:ext cx="20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48750" name="Line 11"/>
              <p:cNvSpPr>
                <a:spLocks noChangeShapeType="1"/>
              </p:cNvSpPr>
              <p:nvPr/>
            </p:nvSpPr>
            <p:spPr bwMode="auto">
              <a:xfrm flipH="1">
                <a:off x="996" y="1178"/>
                <a:ext cx="20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48751" name="Line 12"/>
              <p:cNvSpPr>
                <a:spLocks noChangeShapeType="1"/>
              </p:cNvSpPr>
              <p:nvPr/>
            </p:nvSpPr>
            <p:spPr bwMode="auto">
              <a:xfrm flipV="1">
                <a:off x="754" y="828"/>
                <a:ext cx="0" cy="19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48752" name="Line 12"/>
            <p:cNvSpPr/>
            <p:nvPr/>
          </p:nvSpPr>
          <p:spPr>
            <a:xfrm flipV="1">
              <a:off x="3784062" y="771552"/>
              <a:ext cx="0" cy="188955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103" name="组合 99"/>
          <p:cNvGrpSpPr/>
          <p:nvPr/>
        </p:nvGrpSpPr>
        <p:grpSpPr>
          <a:xfrm>
            <a:off x="4929188" y="3251156"/>
            <a:ext cx="1444625" cy="774700"/>
            <a:chOff x="2627784" y="449207"/>
            <a:chExt cx="1444030" cy="813447"/>
          </a:xfrm>
        </p:grpSpPr>
        <p:grpSp>
          <p:nvGrpSpPr>
            <p:cNvPr id="104" name="Group 4"/>
            <p:cNvGrpSpPr/>
            <p:nvPr/>
          </p:nvGrpSpPr>
          <p:grpSpPr>
            <a:xfrm>
              <a:off x="2627784" y="449207"/>
              <a:ext cx="1444030" cy="813447"/>
              <a:chOff x="528" y="504"/>
              <a:chExt cx="1149" cy="820"/>
            </a:xfrm>
          </p:grpSpPr>
          <p:sp>
            <p:nvSpPr>
              <p:cNvPr id="1048753" name="Oval 5"/>
              <p:cNvSpPr/>
              <p:nvPr/>
            </p:nvSpPr>
            <p:spPr>
              <a:xfrm>
                <a:off x="528" y="504"/>
                <a:ext cx="462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1101</a:t>
                </a:r>
              </a:p>
            </p:txBody>
          </p:sp>
          <p:sp>
            <p:nvSpPr>
              <p:cNvPr id="1048754" name="Oval 6"/>
              <p:cNvSpPr/>
              <p:nvPr/>
            </p:nvSpPr>
            <p:spPr>
              <a:xfrm>
                <a:off x="1219" y="529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1110</a:t>
                </a:r>
              </a:p>
            </p:txBody>
          </p:sp>
          <p:sp>
            <p:nvSpPr>
              <p:cNvPr id="1048755" name="Oval 7"/>
              <p:cNvSpPr/>
              <p:nvPr/>
            </p:nvSpPr>
            <p:spPr>
              <a:xfrm>
                <a:off x="1219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0111</a:t>
                </a:r>
              </a:p>
            </p:txBody>
          </p:sp>
          <p:sp>
            <p:nvSpPr>
              <p:cNvPr id="1048756" name="Oval 8"/>
              <p:cNvSpPr/>
              <p:nvPr/>
            </p:nvSpPr>
            <p:spPr>
              <a:xfrm>
                <a:off x="531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1011</a:t>
                </a:r>
              </a:p>
            </p:txBody>
          </p:sp>
          <p:sp>
            <p:nvSpPr>
              <p:cNvPr id="1048757" name="Line 9"/>
              <p:cNvSpPr>
                <a:spLocks noChangeShapeType="1"/>
              </p:cNvSpPr>
              <p:nvPr/>
            </p:nvSpPr>
            <p:spPr bwMode="auto">
              <a:xfrm>
                <a:off x="1017" y="674"/>
                <a:ext cx="20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48758" name="Line 11"/>
              <p:cNvSpPr>
                <a:spLocks noChangeShapeType="1"/>
              </p:cNvSpPr>
              <p:nvPr/>
            </p:nvSpPr>
            <p:spPr bwMode="auto">
              <a:xfrm flipH="1">
                <a:off x="996" y="1178"/>
                <a:ext cx="20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48759" name="Line 12"/>
              <p:cNvSpPr>
                <a:spLocks noChangeShapeType="1"/>
              </p:cNvSpPr>
              <p:nvPr/>
            </p:nvSpPr>
            <p:spPr bwMode="auto">
              <a:xfrm flipV="1">
                <a:off x="754" y="828"/>
                <a:ext cx="0" cy="19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48760" name="Line 12"/>
            <p:cNvSpPr/>
            <p:nvPr/>
          </p:nvSpPr>
          <p:spPr>
            <a:xfrm flipV="1">
              <a:off x="3784062" y="771552"/>
              <a:ext cx="0" cy="188955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105" name="组合 90"/>
          <p:cNvGrpSpPr/>
          <p:nvPr/>
        </p:nvGrpSpPr>
        <p:grpSpPr>
          <a:xfrm>
            <a:off x="3205163" y="2791595"/>
            <a:ext cx="3311525" cy="1325701"/>
            <a:chOff x="900435" y="3284082"/>
            <a:chExt cx="3311525" cy="1325701"/>
          </a:xfrm>
        </p:grpSpPr>
        <p:sp>
          <p:nvSpPr>
            <p:cNvPr id="1048761" name="圆角矩形 131"/>
            <p:cNvSpPr/>
            <p:nvPr/>
          </p:nvSpPr>
          <p:spPr>
            <a:xfrm>
              <a:off x="900435" y="3579813"/>
              <a:ext cx="3311525" cy="102997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762" name="Text Box 13"/>
            <p:cNvSpPr txBox="1"/>
            <p:nvPr/>
          </p:nvSpPr>
          <p:spPr>
            <a:xfrm>
              <a:off x="1851476" y="3284082"/>
              <a:ext cx="1352371" cy="415498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tIns="0" bIns="0">
              <a:spAutoFit/>
            </a:bodyPr>
            <a:lstStyle/>
            <a:p>
              <a:pPr algn="ctr" eaLnBrk="1" hangingPunct="1">
                <a:spcBef>
                  <a:spcPts val="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常用状态图</a:t>
              </a:r>
              <a:r>
                <a:rPr lang="zh-CN" altLang="en-US" sz="11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（单个</a:t>
              </a:r>
              <a:r>
                <a:rPr lang="en-US" altLang="zh-CN" sz="11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1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</a:t>
              </a:r>
              <a:r>
                <a:rPr lang="en-US" altLang="zh-CN" sz="11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1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grpSp>
        <p:nvGrpSpPr>
          <p:cNvPr id="106" name="组合 133"/>
          <p:cNvGrpSpPr/>
          <p:nvPr/>
        </p:nvGrpSpPr>
        <p:grpSpPr>
          <a:xfrm>
            <a:off x="6773545" y="2363790"/>
            <a:ext cx="1903730" cy="2497456"/>
            <a:chOff x="5980736" y="2306343"/>
            <a:chExt cx="1903632" cy="2497976"/>
          </a:xfrm>
        </p:grpSpPr>
        <p:grpSp>
          <p:nvGrpSpPr>
            <p:cNvPr id="107" name="Group 15"/>
            <p:cNvGrpSpPr/>
            <p:nvPr/>
          </p:nvGrpSpPr>
          <p:grpSpPr>
            <a:xfrm>
              <a:off x="6300192" y="3809980"/>
              <a:ext cx="1458518" cy="799559"/>
              <a:chOff x="528" y="475"/>
              <a:chExt cx="1240" cy="964"/>
            </a:xfrm>
          </p:grpSpPr>
          <p:sp>
            <p:nvSpPr>
              <p:cNvPr id="1048763" name="Oval 16"/>
              <p:cNvSpPr/>
              <p:nvPr/>
            </p:nvSpPr>
            <p:spPr>
              <a:xfrm>
                <a:off x="528" y="475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1100</a:t>
                </a:r>
              </a:p>
            </p:txBody>
          </p:sp>
          <p:sp>
            <p:nvSpPr>
              <p:cNvPr id="1048764" name="Oval 17"/>
              <p:cNvSpPr/>
              <p:nvPr/>
            </p:nvSpPr>
            <p:spPr>
              <a:xfrm>
                <a:off x="1263" y="475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0110</a:t>
                </a:r>
              </a:p>
            </p:txBody>
          </p:sp>
          <p:sp>
            <p:nvSpPr>
              <p:cNvPr id="1048765" name="Oval 18"/>
              <p:cNvSpPr/>
              <p:nvPr/>
            </p:nvSpPr>
            <p:spPr>
              <a:xfrm>
                <a:off x="1278" y="1060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0011</a:t>
                </a:r>
              </a:p>
            </p:txBody>
          </p:sp>
          <p:sp>
            <p:nvSpPr>
              <p:cNvPr id="1048766" name="Oval 19"/>
              <p:cNvSpPr/>
              <p:nvPr/>
            </p:nvSpPr>
            <p:spPr>
              <a:xfrm>
                <a:off x="552" y="1074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1001</a:t>
                </a:r>
              </a:p>
            </p:txBody>
          </p:sp>
          <p:sp>
            <p:nvSpPr>
              <p:cNvPr id="1048767" name="Line 20"/>
              <p:cNvSpPr/>
              <p:nvPr/>
            </p:nvSpPr>
            <p:spPr>
              <a:xfrm>
                <a:off x="1055" y="647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48768" name="Line 21"/>
              <p:cNvSpPr/>
              <p:nvPr/>
            </p:nvSpPr>
            <p:spPr>
              <a:xfrm>
                <a:off x="1544" y="850"/>
                <a:ext cx="0" cy="21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48769" name="Line 22"/>
              <p:cNvSpPr/>
              <p:nvPr/>
            </p:nvSpPr>
            <p:spPr>
              <a:xfrm flipH="1">
                <a:off x="1062" y="1268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48770" name="Line 23"/>
              <p:cNvSpPr/>
              <p:nvPr/>
            </p:nvSpPr>
            <p:spPr>
              <a:xfrm flipV="1">
                <a:off x="773" y="841"/>
                <a:ext cx="0" cy="21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grpSp>
          <p:nvGrpSpPr>
            <p:cNvPr id="108" name="Group 33"/>
            <p:cNvGrpSpPr/>
            <p:nvPr/>
          </p:nvGrpSpPr>
          <p:grpSpPr>
            <a:xfrm>
              <a:off x="6164709" y="2732593"/>
              <a:ext cx="688849" cy="415751"/>
              <a:chOff x="5572" y="2075"/>
              <a:chExt cx="624" cy="450"/>
            </a:xfrm>
          </p:grpSpPr>
          <p:sp>
            <p:nvSpPr>
              <p:cNvPr id="1048771" name="Oval 34"/>
              <p:cNvSpPr/>
              <p:nvPr/>
            </p:nvSpPr>
            <p:spPr>
              <a:xfrm>
                <a:off x="5674" y="2197"/>
                <a:ext cx="522" cy="328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0000</a:t>
                </a:r>
              </a:p>
            </p:txBody>
          </p:sp>
          <p:sp>
            <p:nvSpPr>
              <p:cNvPr id="1048772" name="Freeform 35"/>
              <p:cNvSpPr/>
              <p:nvPr/>
            </p:nvSpPr>
            <p:spPr>
              <a:xfrm>
                <a:off x="5572" y="2075"/>
                <a:ext cx="335" cy="354"/>
              </a:xfrm>
              <a:custGeom>
                <a:avLst/>
                <a:gdLst>
                  <a:gd name="txL" fmla="*/ 0 w 400"/>
                  <a:gd name="txT" fmla="*/ 0 h 432"/>
                  <a:gd name="txR" fmla="*/ 400 w 400"/>
                  <a:gd name="txB" fmla="*/ 432 h 432"/>
                </a:gdLst>
                <a:ahLst/>
                <a:cxnLst>
                  <a:cxn ang="0">
                    <a:pos x="165" y="65"/>
                  </a:cxn>
                  <a:cxn ang="0">
                    <a:pos x="27" y="11"/>
                  </a:cxn>
                  <a:cxn ang="0">
                    <a:pos x="7" y="136"/>
                  </a:cxn>
                  <a:cxn ang="0">
                    <a:pos x="66" y="154"/>
                  </a:cxn>
                </a:cxnLst>
                <a:rect l="txL" t="txT" r="txR" b="txB"/>
                <a:pathLst>
                  <a:path w="400" h="432">
                    <a:moveTo>
                      <a:pt x="400" y="176"/>
                    </a:moveTo>
                    <a:cubicBezTo>
                      <a:pt x="264" y="88"/>
                      <a:pt x="128" y="0"/>
                      <a:pt x="64" y="32"/>
                    </a:cubicBezTo>
                    <a:cubicBezTo>
                      <a:pt x="0" y="64"/>
                      <a:pt x="0" y="304"/>
                      <a:pt x="16" y="368"/>
                    </a:cubicBezTo>
                    <a:cubicBezTo>
                      <a:pt x="32" y="432"/>
                      <a:pt x="136" y="416"/>
                      <a:pt x="160" y="416"/>
                    </a:cubicBezTo>
                  </a:path>
                </a:pathLst>
              </a:custGeom>
              <a:noFill/>
              <a:ln w="19050" cap="flat" cmpd="sng">
                <a:solidFill>
                  <a:schemeClr val="bg2">
                    <a:alpha val="100000"/>
                  </a:schemeClr>
                </a:solidFill>
                <a:prstDash val="solid"/>
                <a:miter lim="800000"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9" name="Group 36"/>
            <p:cNvGrpSpPr/>
            <p:nvPr/>
          </p:nvGrpSpPr>
          <p:grpSpPr>
            <a:xfrm>
              <a:off x="7080595" y="2754951"/>
              <a:ext cx="660133" cy="392836"/>
              <a:chOff x="5711" y="1180"/>
              <a:chExt cx="625" cy="426"/>
            </a:xfrm>
          </p:grpSpPr>
          <p:sp>
            <p:nvSpPr>
              <p:cNvPr id="1048773" name="Oval 37"/>
              <p:cNvSpPr/>
              <p:nvPr/>
            </p:nvSpPr>
            <p:spPr>
              <a:xfrm>
                <a:off x="5791" y="1277"/>
                <a:ext cx="545" cy="329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1111</a:t>
                </a:r>
              </a:p>
            </p:txBody>
          </p:sp>
          <p:sp>
            <p:nvSpPr>
              <p:cNvPr id="1048774" name="Freeform 38"/>
              <p:cNvSpPr/>
              <p:nvPr/>
            </p:nvSpPr>
            <p:spPr>
              <a:xfrm rot="4861775">
                <a:off x="5727" y="1164"/>
                <a:ext cx="261" cy="293"/>
              </a:xfrm>
              <a:custGeom>
                <a:avLst/>
                <a:gdLst>
                  <a:gd name="txL" fmla="*/ 0 w 336"/>
                  <a:gd name="txT" fmla="*/ 0 h 360"/>
                  <a:gd name="txR" fmla="*/ 336 w 336"/>
                  <a:gd name="txB" fmla="*/ 360 h 360"/>
                </a:gdLst>
                <a:ahLst/>
                <a:cxnLst>
                  <a:cxn ang="0">
                    <a:pos x="37" y="0"/>
                  </a:cxn>
                  <a:cxn ang="0">
                    <a:pos x="0" y="54"/>
                  </a:cxn>
                  <a:cxn ang="0">
                    <a:pos x="37" y="126"/>
                  </a:cxn>
                  <a:cxn ang="0">
                    <a:pos x="85" y="108"/>
                  </a:cxn>
                </a:cxnLst>
                <a:rect l="txL" t="txT" r="txR" b="txB"/>
                <a:pathLst>
                  <a:path w="336" h="360">
                    <a:moveTo>
                      <a:pt x="144" y="0"/>
                    </a:moveTo>
                    <a:cubicBezTo>
                      <a:pt x="72" y="44"/>
                      <a:pt x="0" y="88"/>
                      <a:pt x="0" y="144"/>
                    </a:cubicBezTo>
                    <a:cubicBezTo>
                      <a:pt x="0" y="200"/>
                      <a:pt x="88" y="312"/>
                      <a:pt x="144" y="336"/>
                    </a:cubicBezTo>
                    <a:cubicBezTo>
                      <a:pt x="200" y="360"/>
                      <a:pt x="268" y="324"/>
                      <a:pt x="336" y="288"/>
                    </a:cubicBezTo>
                  </a:path>
                </a:pathLst>
              </a:custGeom>
              <a:noFill/>
              <a:ln w="19050" cap="flat" cmpd="sng">
                <a:solidFill>
                  <a:schemeClr val="bg2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0" name="Group 40"/>
            <p:cNvGrpSpPr/>
            <p:nvPr/>
          </p:nvGrpSpPr>
          <p:grpSpPr>
            <a:xfrm>
              <a:off x="6315084" y="3283433"/>
              <a:ext cx="1425927" cy="303017"/>
              <a:chOff x="3034" y="1576"/>
              <a:chExt cx="1293" cy="313"/>
            </a:xfrm>
          </p:grpSpPr>
          <p:sp>
            <p:nvSpPr>
              <p:cNvPr id="1048775" name="Oval 41"/>
              <p:cNvSpPr/>
              <p:nvPr/>
            </p:nvSpPr>
            <p:spPr>
              <a:xfrm>
                <a:off x="3034" y="1576"/>
                <a:ext cx="522" cy="313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0101</a:t>
                </a:r>
              </a:p>
            </p:txBody>
          </p:sp>
          <p:sp>
            <p:nvSpPr>
              <p:cNvPr id="1048776" name="Oval 42"/>
              <p:cNvSpPr/>
              <p:nvPr/>
            </p:nvSpPr>
            <p:spPr>
              <a:xfrm>
                <a:off x="3805" y="1576"/>
                <a:ext cx="522" cy="313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1010</a:t>
                </a:r>
              </a:p>
            </p:txBody>
          </p:sp>
          <p:sp>
            <p:nvSpPr>
              <p:cNvPr id="1048777" name="Line 43"/>
              <p:cNvSpPr/>
              <p:nvPr/>
            </p:nvSpPr>
            <p:spPr>
              <a:xfrm>
                <a:off x="3567" y="1712"/>
                <a:ext cx="19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48778" name="Line 44"/>
              <p:cNvSpPr/>
              <p:nvPr/>
            </p:nvSpPr>
            <p:spPr>
              <a:xfrm flipH="1">
                <a:off x="3567" y="1786"/>
                <a:ext cx="19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sp>
          <p:nvSpPr>
            <p:cNvPr id="1048779" name="圆角矩形 132"/>
            <p:cNvSpPr/>
            <p:nvPr/>
          </p:nvSpPr>
          <p:spPr>
            <a:xfrm>
              <a:off x="5980736" y="2428924"/>
              <a:ext cx="1903632" cy="2375395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780" name="Text Box 14"/>
            <p:cNvSpPr txBox="1"/>
            <p:nvPr/>
          </p:nvSpPr>
          <p:spPr>
            <a:xfrm>
              <a:off x="6363624" y="2306343"/>
              <a:ext cx="1195009" cy="27564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不常用状态图</a:t>
              </a:r>
            </a:p>
          </p:txBody>
        </p:sp>
      </p:grpSp>
      <p:sp>
        <p:nvSpPr>
          <p:cNvPr id="1048781" name="Text Box 34"/>
          <p:cNvSpPr txBox="1"/>
          <p:nvPr/>
        </p:nvSpPr>
        <p:spPr>
          <a:xfrm>
            <a:off x="3277235" y="4363720"/>
            <a:ext cx="3123565" cy="64516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缺点：</a:t>
            </a:r>
            <a:r>
              <a:rPr lang="en-US" altLang="zh-CN" sz="1800" dirty="0">
                <a:latin typeface="Arial" panose="020B0604020202090204" pitchFamily="34" charset="0"/>
              </a:rPr>
              <a:t>2</a:t>
            </a:r>
            <a:r>
              <a:rPr lang="en-US" altLang="zh-CN" sz="1800" baseline="30000" dirty="0">
                <a:latin typeface="Arial" panose="020B0604020202090204" pitchFamily="34" charset="0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个状态只用了</a:t>
            </a:r>
            <a:r>
              <a:rPr lang="en-US" altLang="zh-CN" sz="1800" i="1" dirty="0">
                <a:latin typeface="Arial" panose="020B0604020202090204" pitchFamily="34" charset="0"/>
              </a:rPr>
              <a:t>n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 sz="1800" dirty="0">
                <a:latin typeface="Arial" panose="020B0604020202090204" pitchFamily="34" charset="0"/>
              </a:rPr>
              <a:t>；</a:t>
            </a:r>
          </a:p>
          <a:p>
            <a:pPr eaLnBrk="1" hangingPunct="1"/>
            <a:r>
              <a:rPr lang="zh-CN" altLang="en-US" sz="1800" dirty="0">
                <a:latin typeface="Arial" panose="020B0604020202090204" pitchFamily="34" charset="0"/>
              </a:rPr>
              <a:t> 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不能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自启动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需要预置</a:t>
            </a:r>
          </a:p>
        </p:txBody>
      </p:sp>
      <p:grpSp>
        <p:nvGrpSpPr>
          <p:cNvPr id="111" name="Group 204"/>
          <p:cNvGrpSpPr/>
          <p:nvPr/>
        </p:nvGrpSpPr>
        <p:grpSpPr>
          <a:xfrm>
            <a:off x="3205163" y="1374775"/>
            <a:ext cx="3887787" cy="307975"/>
            <a:chOff x="2064" y="73"/>
            <a:chExt cx="2449" cy="259"/>
          </a:xfrm>
        </p:grpSpPr>
        <p:sp>
          <p:nvSpPr>
            <p:cNvPr id="1048782" name="Text Box 205"/>
            <p:cNvSpPr txBox="1">
              <a:spLocks noChangeArrowheads="1"/>
            </p:cNvSpPr>
            <p:nvPr/>
          </p:nvSpPr>
          <p:spPr bwMode="auto">
            <a:xfrm>
              <a:off x="2064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8783" name="Text Box 206"/>
            <p:cNvSpPr txBox="1">
              <a:spLocks noChangeArrowheads="1"/>
            </p:cNvSpPr>
            <p:nvPr/>
          </p:nvSpPr>
          <p:spPr bwMode="auto">
            <a:xfrm>
              <a:off x="2835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48784" name="Text Box 207"/>
            <p:cNvSpPr txBox="1">
              <a:spLocks noChangeArrowheads="1"/>
            </p:cNvSpPr>
            <p:nvPr/>
          </p:nvSpPr>
          <p:spPr bwMode="auto">
            <a:xfrm>
              <a:off x="356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48785" name="Text Box 208"/>
            <p:cNvSpPr txBox="1">
              <a:spLocks noChangeArrowheads="1"/>
            </p:cNvSpPr>
            <p:nvPr/>
          </p:nvSpPr>
          <p:spPr bwMode="auto">
            <a:xfrm>
              <a:off x="424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  <p:sp>
        <p:nvSpPr>
          <p:cNvPr id="1048786" name="Text Box 257"/>
          <p:cNvSpPr txBox="1"/>
          <p:nvPr/>
        </p:nvSpPr>
        <p:spPr>
          <a:xfrm>
            <a:off x="6588125" y="1754188"/>
            <a:ext cx="21605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带反馈的右移寄存器</a:t>
            </a:r>
          </a:p>
        </p:txBody>
      </p:sp>
      <p:grpSp>
        <p:nvGrpSpPr>
          <p:cNvPr id="112" name="组合 218"/>
          <p:cNvGrpSpPr/>
          <p:nvPr/>
        </p:nvGrpSpPr>
        <p:grpSpPr>
          <a:xfrm>
            <a:off x="3286125" y="1025525"/>
            <a:ext cx="4094163" cy="584200"/>
            <a:chOff x="3347864" y="1114191"/>
            <a:chExt cx="4094931" cy="502405"/>
          </a:xfrm>
        </p:grpSpPr>
        <p:cxnSp>
          <p:nvCxnSpPr>
            <p:cNvPr id="3145767" name="直接箭头连接符 212"/>
            <p:cNvCxnSpPr/>
            <p:nvPr/>
          </p:nvCxnSpPr>
          <p:spPr>
            <a:xfrm flipV="1">
              <a:off x="6836104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5768" name="直接箭头连接符 209"/>
            <p:cNvCxnSpPr/>
            <p:nvPr/>
          </p:nvCxnSpPr>
          <p:spPr>
            <a:xfrm flipV="1">
              <a:off x="3419872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5769" name="直接箭头连接符 210"/>
            <p:cNvCxnSpPr/>
            <p:nvPr/>
          </p:nvCxnSpPr>
          <p:spPr>
            <a:xfrm flipV="1">
              <a:off x="4577333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5770" name="直接箭头连接符 211"/>
            <p:cNvCxnSpPr/>
            <p:nvPr/>
          </p:nvCxnSpPr>
          <p:spPr>
            <a:xfrm flipV="1">
              <a:off x="5737845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sp>
          <p:nvSpPr>
            <p:cNvPr id="1048787" name="Text Box 68"/>
            <p:cNvSpPr txBox="1">
              <a:spLocks noChangeArrowheads="1"/>
            </p:cNvSpPr>
            <p:nvPr/>
          </p:nvSpPr>
          <p:spPr bwMode="auto">
            <a:xfrm>
              <a:off x="3347864" y="1118559"/>
              <a:ext cx="762143" cy="27714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8788" name="Text Box 69"/>
            <p:cNvSpPr txBox="1">
              <a:spLocks noChangeArrowheads="1"/>
            </p:cNvSpPr>
            <p:nvPr/>
          </p:nvSpPr>
          <p:spPr bwMode="auto">
            <a:xfrm>
              <a:off x="5718447" y="1114191"/>
              <a:ext cx="609714" cy="27714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8789" name="Text Box 90"/>
            <p:cNvSpPr txBox="1">
              <a:spLocks noChangeArrowheads="1"/>
            </p:cNvSpPr>
            <p:nvPr/>
          </p:nvSpPr>
          <p:spPr bwMode="auto">
            <a:xfrm>
              <a:off x="4573644" y="1114191"/>
              <a:ext cx="762143" cy="27714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8790" name="Text Box 178"/>
            <p:cNvSpPr txBox="1">
              <a:spLocks noChangeArrowheads="1"/>
            </p:cNvSpPr>
            <p:nvPr/>
          </p:nvSpPr>
          <p:spPr bwMode="auto">
            <a:xfrm>
              <a:off x="6833081" y="1123748"/>
              <a:ext cx="609714" cy="27714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113" name="组合 3"/>
          <p:cNvGrpSpPr/>
          <p:nvPr/>
        </p:nvGrpSpPr>
        <p:grpSpPr>
          <a:xfrm>
            <a:off x="242" y="3185160"/>
            <a:ext cx="2926019" cy="1712177"/>
            <a:chOff x="3235" y="4278"/>
            <a:chExt cx="8107" cy="3512"/>
          </a:xfrm>
        </p:grpSpPr>
        <p:sp>
          <p:nvSpPr>
            <p:cNvPr id="1048791" name="圆角矩形 186"/>
            <p:cNvSpPr/>
            <p:nvPr/>
          </p:nvSpPr>
          <p:spPr>
            <a:xfrm>
              <a:off x="4478" y="4278"/>
              <a:ext cx="3175" cy="223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19050">
              <a:noFill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792" name="Line 61"/>
            <p:cNvSpPr>
              <a:spLocks noChangeShapeType="1"/>
            </p:cNvSpPr>
            <p:nvPr/>
          </p:nvSpPr>
          <p:spPr bwMode="auto">
            <a:xfrm>
              <a:off x="4593" y="4618"/>
              <a:ext cx="0" cy="17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48793" name="Line 62"/>
            <p:cNvSpPr/>
            <p:nvPr/>
          </p:nvSpPr>
          <p:spPr>
            <a:xfrm>
              <a:off x="5328" y="4630"/>
              <a:ext cx="0" cy="17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48794" name="Line 63"/>
            <p:cNvSpPr/>
            <p:nvPr/>
          </p:nvSpPr>
          <p:spPr>
            <a:xfrm>
              <a:off x="6055" y="4623"/>
              <a:ext cx="0" cy="17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48795" name="Line 65"/>
            <p:cNvSpPr/>
            <p:nvPr/>
          </p:nvSpPr>
          <p:spPr>
            <a:xfrm>
              <a:off x="6780" y="4585"/>
              <a:ext cx="0" cy="17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48796" name="Text Box 67"/>
            <p:cNvSpPr txBox="1">
              <a:spLocks noChangeArrowheads="1"/>
            </p:cNvSpPr>
            <p:nvPr/>
          </p:nvSpPr>
          <p:spPr bwMode="auto">
            <a:xfrm>
              <a:off x="3451" y="4374"/>
              <a:ext cx="1476" cy="56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</a:p>
          </p:txBody>
        </p:sp>
        <p:sp>
          <p:nvSpPr>
            <p:cNvPr id="1048797" name="Text Box 68"/>
            <p:cNvSpPr txBox="1">
              <a:spLocks noChangeArrowheads="1"/>
            </p:cNvSpPr>
            <p:nvPr/>
          </p:nvSpPr>
          <p:spPr bwMode="auto">
            <a:xfrm>
              <a:off x="3498" y="4830"/>
              <a:ext cx="1356" cy="73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8798" name="Text Box 69"/>
            <p:cNvSpPr txBox="1">
              <a:spLocks noChangeArrowheads="1"/>
            </p:cNvSpPr>
            <p:nvPr/>
          </p:nvSpPr>
          <p:spPr bwMode="auto">
            <a:xfrm>
              <a:off x="3552" y="5708"/>
              <a:ext cx="1464" cy="73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114" name="Group 70"/>
            <p:cNvGrpSpPr/>
            <p:nvPr/>
          </p:nvGrpSpPr>
          <p:grpSpPr>
            <a:xfrm>
              <a:off x="4235" y="4458"/>
              <a:ext cx="3268" cy="240"/>
              <a:chOff x="480" y="2160"/>
              <a:chExt cx="2160" cy="240"/>
            </a:xfrm>
          </p:grpSpPr>
          <p:sp>
            <p:nvSpPr>
              <p:cNvPr id="1048799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0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1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02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3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4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5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06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7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8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09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10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11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12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13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14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15" name="Line 87"/>
              <p:cNvSpPr/>
              <p:nvPr/>
            </p:nvSpPr>
            <p:spPr>
              <a:xfrm>
                <a:off x="48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8816" name="Text Box 90"/>
            <p:cNvSpPr txBox="1">
              <a:spLocks noChangeArrowheads="1"/>
            </p:cNvSpPr>
            <p:nvPr/>
          </p:nvSpPr>
          <p:spPr bwMode="auto">
            <a:xfrm>
              <a:off x="3523" y="5265"/>
              <a:ext cx="1116" cy="73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8817" name="Text Box 178"/>
            <p:cNvSpPr txBox="1">
              <a:spLocks noChangeArrowheads="1"/>
            </p:cNvSpPr>
            <p:nvPr/>
          </p:nvSpPr>
          <p:spPr bwMode="auto">
            <a:xfrm>
              <a:off x="3513" y="6124"/>
              <a:ext cx="1323" cy="73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grpSp>
          <p:nvGrpSpPr>
            <p:cNvPr id="115" name="Group 70"/>
            <p:cNvGrpSpPr/>
            <p:nvPr/>
          </p:nvGrpSpPr>
          <p:grpSpPr>
            <a:xfrm>
              <a:off x="7495" y="4453"/>
              <a:ext cx="2903" cy="240"/>
              <a:chOff x="720" y="2160"/>
              <a:chExt cx="1920" cy="240"/>
            </a:xfrm>
          </p:grpSpPr>
          <p:sp>
            <p:nvSpPr>
              <p:cNvPr id="1048818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19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0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21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2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3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4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25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6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7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28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29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30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31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8832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48833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16" name="组合 168"/>
            <p:cNvGrpSpPr/>
            <p:nvPr/>
          </p:nvGrpSpPr>
          <p:grpSpPr>
            <a:xfrm>
              <a:off x="4185" y="4930"/>
              <a:ext cx="6213" cy="195"/>
              <a:chOff x="482154" y="2605653"/>
              <a:chExt cx="3945812" cy="124529"/>
            </a:xfrm>
          </p:grpSpPr>
          <p:grpSp>
            <p:nvGrpSpPr>
              <p:cNvPr id="117" name="Group 91"/>
              <p:cNvGrpSpPr/>
              <p:nvPr/>
            </p:nvGrpSpPr>
            <p:grpSpPr>
              <a:xfrm>
                <a:off x="482154" y="2606671"/>
                <a:ext cx="1634704" cy="123511"/>
                <a:chOff x="448" y="2592"/>
                <a:chExt cx="1702" cy="194"/>
              </a:xfrm>
            </p:grpSpPr>
            <p:sp>
              <p:nvSpPr>
                <p:cNvPr id="1048834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35" name="Line 93"/>
                <p:cNvSpPr/>
                <p:nvPr/>
              </p:nvSpPr>
              <p:spPr>
                <a:xfrm>
                  <a:off x="1203" y="2784"/>
                  <a:ext cx="49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36" name="Line 94"/>
                <p:cNvSpPr/>
                <p:nvPr/>
              </p:nvSpPr>
              <p:spPr>
                <a:xfrm>
                  <a:off x="72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37" name="Line 95"/>
                <p:cNvSpPr/>
                <p:nvPr/>
              </p:nvSpPr>
              <p:spPr>
                <a:xfrm flipH="1">
                  <a:off x="448" y="278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38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39" name="Line 98"/>
                <p:cNvSpPr/>
                <p:nvPr/>
              </p:nvSpPr>
              <p:spPr>
                <a:xfrm flipH="1">
                  <a:off x="1678" y="2786"/>
                  <a:ext cx="47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8" name="Group 91"/>
              <p:cNvGrpSpPr/>
              <p:nvPr/>
            </p:nvGrpSpPr>
            <p:grpSpPr>
              <a:xfrm>
                <a:off x="2123828" y="2605653"/>
                <a:ext cx="2304138" cy="122238"/>
                <a:chOff x="448" y="2592"/>
                <a:chExt cx="2399" cy="192"/>
              </a:xfrm>
            </p:grpSpPr>
            <p:sp>
              <p:nvSpPr>
                <p:cNvPr id="1048840" name="Line 92"/>
                <p:cNvSpPr/>
                <p:nvPr/>
              </p:nvSpPr>
              <p:spPr>
                <a:xfrm>
                  <a:off x="93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41" name="Line 93"/>
                <p:cNvSpPr/>
                <p:nvPr/>
              </p:nvSpPr>
              <p:spPr>
                <a:xfrm>
                  <a:off x="1423" y="2784"/>
                  <a:ext cx="1424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42" name="Line 94"/>
                <p:cNvSpPr/>
                <p:nvPr/>
              </p:nvSpPr>
              <p:spPr>
                <a:xfrm>
                  <a:off x="93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43" name="Line 95"/>
                <p:cNvSpPr/>
                <p:nvPr/>
              </p:nvSpPr>
              <p:spPr>
                <a:xfrm flipH="1">
                  <a:off x="448" y="2784"/>
                  <a:ext cx="487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44" name="Line 96"/>
                <p:cNvSpPr/>
                <p:nvPr/>
              </p:nvSpPr>
              <p:spPr>
                <a:xfrm>
                  <a:off x="141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19" name="组合 188"/>
            <p:cNvGrpSpPr/>
            <p:nvPr/>
          </p:nvGrpSpPr>
          <p:grpSpPr>
            <a:xfrm>
              <a:off x="4190" y="5353"/>
              <a:ext cx="6230" cy="195"/>
              <a:chOff x="16329" y="2605654"/>
              <a:chExt cx="3956381" cy="124528"/>
            </a:xfrm>
          </p:grpSpPr>
          <p:grpSp>
            <p:nvGrpSpPr>
              <p:cNvPr id="120" name="Group 91"/>
              <p:cNvGrpSpPr/>
              <p:nvPr/>
            </p:nvGrpSpPr>
            <p:grpSpPr>
              <a:xfrm>
                <a:off x="16329" y="2606671"/>
                <a:ext cx="2583645" cy="123511"/>
                <a:chOff x="-37" y="2592"/>
                <a:chExt cx="2690" cy="194"/>
              </a:xfrm>
            </p:grpSpPr>
            <p:sp>
              <p:nvSpPr>
                <p:cNvPr id="1048845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46" name="Line 93"/>
                <p:cNvSpPr/>
                <p:nvPr/>
              </p:nvSpPr>
              <p:spPr>
                <a:xfrm>
                  <a:off x="1203" y="2784"/>
                  <a:ext cx="49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47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48" name="Line 95"/>
                <p:cNvSpPr/>
                <p:nvPr/>
              </p:nvSpPr>
              <p:spPr>
                <a:xfrm flipH="1">
                  <a:off x="-37" y="2784"/>
                  <a:ext cx="75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49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50" name="Line 98"/>
                <p:cNvSpPr/>
                <p:nvPr/>
              </p:nvSpPr>
              <p:spPr>
                <a:xfrm flipH="1">
                  <a:off x="1678" y="2786"/>
                  <a:ext cx="975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1" name="Group 91"/>
              <p:cNvGrpSpPr/>
              <p:nvPr/>
            </p:nvGrpSpPr>
            <p:grpSpPr>
              <a:xfrm>
                <a:off x="2593493" y="2605654"/>
                <a:ext cx="1379217" cy="122238"/>
                <a:chOff x="937" y="2592"/>
                <a:chExt cx="1436" cy="192"/>
              </a:xfrm>
            </p:grpSpPr>
            <p:sp>
              <p:nvSpPr>
                <p:cNvPr id="1048851" name="Line 92"/>
                <p:cNvSpPr/>
                <p:nvPr/>
              </p:nvSpPr>
              <p:spPr>
                <a:xfrm>
                  <a:off x="937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52" name="Line 93"/>
                <p:cNvSpPr/>
                <p:nvPr/>
              </p:nvSpPr>
              <p:spPr>
                <a:xfrm>
                  <a:off x="1413" y="2784"/>
                  <a:ext cx="96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122" name="组合 206"/>
            <p:cNvGrpSpPr/>
            <p:nvPr/>
          </p:nvGrpSpPr>
          <p:grpSpPr>
            <a:xfrm>
              <a:off x="4205" y="5715"/>
              <a:ext cx="6208" cy="195"/>
              <a:chOff x="-428368" y="2604377"/>
              <a:chExt cx="3941981" cy="124536"/>
            </a:xfrm>
          </p:grpSpPr>
          <p:grpSp>
            <p:nvGrpSpPr>
              <p:cNvPr id="123" name="Group 91"/>
              <p:cNvGrpSpPr/>
              <p:nvPr/>
            </p:nvGrpSpPr>
            <p:grpSpPr>
              <a:xfrm>
                <a:off x="-428368" y="2606675"/>
                <a:ext cx="3025462" cy="122238"/>
                <a:chOff x="-500" y="2592"/>
                <a:chExt cx="3150" cy="192"/>
              </a:xfrm>
            </p:grpSpPr>
            <p:sp>
              <p:nvSpPr>
                <p:cNvPr id="1048853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54" name="Line 93"/>
                <p:cNvSpPr/>
                <p:nvPr/>
              </p:nvSpPr>
              <p:spPr>
                <a:xfrm>
                  <a:off x="1203" y="2784"/>
                  <a:ext cx="1447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55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56" name="Line 95"/>
                <p:cNvSpPr/>
                <p:nvPr/>
              </p:nvSpPr>
              <p:spPr>
                <a:xfrm flipH="1">
                  <a:off x="-500" y="2784"/>
                  <a:ext cx="122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57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4" name="Group 91"/>
              <p:cNvGrpSpPr/>
              <p:nvPr/>
            </p:nvGrpSpPr>
            <p:grpSpPr>
              <a:xfrm>
                <a:off x="2588690" y="2604377"/>
                <a:ext cx="924923" cy="123511"/>
                <a:chOff x="932" y="2590"/>
                <a:chExt cx="963" cy="194"/>
              </a:xfrm>
            </p:grpSpPr>
            <p:sp>
              <p:nvSpPr>
                <p:cNvPr id="1048858" name="Line 92"/>
                <p:cNvSpPr/>
                <p:nvPr/>
              </p:nvSpPr>
              <p:spPr>
                <a:xfrm>
                  <a:off x="932" y="2590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59" name="Line 93"/>
                <p:cNvSpPr/>
                <p:nvPr/>
              </p:nvSpPr>
              <p:spPr>
                <a:xfrm>
                  <a:off x="1423" y="2784"/>
                  <a:ext cx="472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60" name="Line 96"/>
                <p:cNvSpPr/>
                <p:nvPr/>
              </p:nvSpPr>
              <p:spPr>
                <a:xfrm>
                  <a:off x="940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125" name="组合 222"/>
            <p:cNvGrpSpPr/>
            <p:nvPr/>
          </p:nvGrpSpPr>
          <p:grpSpPr>
            <a:xfrm>
              <a:off x="4233" y="6140"/>
              <a:ext cx="6185" cy="195"/>
              <a:chOff x="-881707" y="2605654"/>
              <a:chExt cx="3927577" cy="123259"/>
            </a:xfrm>
          </p:grpSpPr>
          <p:grpSp>
            <p:nvGrpSpPr>
              <p:cNvPr id="126" name="Group 91"/>
              <p:cNvGrpSpPr/>
              <p:nvPr/>
            </p:nvGrpSpPr>
            <p:grpSpPr>
              <a:xfrm>
                <a:off x="-881707" y="2606675"/>
                <a:ext cx="3468235" cy="122238"/>
                <a:chOff x="-972" y="2592"/>
                <a:chExt cx="3611" cy="192"/>
              </a:xfrm>
            </p:grpSpPr>
            <p:sp>
              <p:nvSpPr>
                <p:cNvPr id="1048861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62" name="Line 93"/>
                <p:cNvSpPr/>
                <p:nvPr/>
              </p:nvSpPr>
              <p:spPr>
                <a:xfrm>
                  <a:off x="1203" y="2784"/>
                  <a:ext cx="143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63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64" name="Line 95"/>
                <p:cNvSpPr/>
                <p:nvPr/>
              </p:nvSpPr>
              <p:spPr>
                <a:xfrm flipH="1">
                  <a:off x="-972" y="2784"/>
                  <a:ext cx="1687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48865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7" name="Group 91"/>
              <p:cNvGrpSpPr/>
              <p:nvPr/>
            </p:nvGrpSpPr>
            <p:grpSpPr>
              <a:xfrm>
                <a:off x="2588691" y="2605654"/>
                <a:ext cx="457179" cy="122238"/>
                <a:chOff x="932" y="2592"/>
                <a:chExt cx="476" cy="192"/>
              </a:xfrm>
            </p:grpSpPr>
            <p:sp>
              <p:nvSpPr>
                <p:cNvPr id="1048866" name="Line 92"/>
                <p:cNvSpPr/>
                <p:nvPr/>
              </p:nvSpPr>
              <p:spPr>
                <a:xfrm>
                  <a:off x="93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48867" name="Line 94"/>
                <p:cNvSpPr/>
                <p:nvPr/>
              </p:nvSpPr>
              <p:spPr>
                <a:xfrm>
                  <a:off x="93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048868" name="Line 97"/>
            <p:cNvSpPr/>
            <p:nvPr/>
          </p:nvSpPr>
          <p:spPr>
            <a:xfrm>
              <a:off x="8245" y="5368"/>
              <a:ext cx="0" cy="17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869" name="Line 97"/>
            <p:cNvSpPr/>
            <p:nvPr/>
          </p:nvSpPr>
          <p:spPr>
            <a:xfrm>
              <a:off x="8970" y="5360"/>
              <a:ext cx="0" cy="17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870" name="Line 96"/>
            <p:cNvSpPr/>
            <p:nvPr/>
          </p:nvSpPr>
          <p:spPr>
            <a:xfrm>
              <a:off x="9703" y="5715"/>
              <a:ext cx="0" cy="193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871" name="Line 61"/>
            <p:cNvSpPr>
              <a:spLocks noChangeShapeType="1"/>
            </p:cNvSpPr>
            <p:nvPr/>
          </p:nvSpPr>
          <p:spPr bwMode="auto">
            <a:xfrm>
              <a:off x="7508" y="4593"/>
              <a:ext cx="0" cy="17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48872" name="Line 62"/>
            <p:cNvSpPr/>
            <p:nvPr/>
          </p:nvSpPr>
          <p:spPr>
            <a:xfrm>
              <a:off x="8243" y="4605"/>
              <a:ext cx="0" cy="17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48873" name="Line 63"/>
            <p:cNvSpPr/>
            <p:nvPr/>
          </p:nvSpPr>
          <p:spPr>
            <a:xfrm>
              <a:off x="8970" y="4598"/>
              <a:ext cx="0" cy="17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48874" name="Line 65"/>
            <p:cNvSpPr/>
            <p:nvPr/>
          </p:nvSpPr>
          <p:spPr>
            <a:xfrm>
              <a:off x="9695" y="4560"/>
              <a:ext cx="0" cy="17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48875" name="Text Box 34"/>
            <p:cNvSpPr txBox="1"/>
            <p:nvPr/>
          </p:nvSpPr>
          <p:spPr>
            <a:xfrm>
              <a:off x="3235" y="6593"/>
              <a:ext cx="8107" cy="11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优点：电路简单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/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输出具有二进制译码器的特点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1" grpId="0"/>
      <p:bldP spid="10487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双向移位寄存器</a:t>
            </a:r>
            <a:endParaRPr lang="zh-CN" altLang="en-US"/>
          </a:p>
        </p:txBody>
      </p:sp>
      <p:sp>
        <p:nvSpPr>
          <p:cNvPr id="1048888" name="Text Box 163"/>
          <p:cNvSpPr txBox="1">
            <a:spLocks noChangeArrowheads="1"/>
          </p:cNvSpPr>
          <p:nvPr/>
        </p:nvSpPr>
        <p:spPr bwMode="auto">
          <a:xfrm>
            <a:off x="304800" y="4371975"/>
            <a:ext cx="5309235" cy="6324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10000"/>
              </a:lnSpc>
              <a:spcBef>
                <a:spcPts val="0"/>
              </a:spcBef>
              <a:buClrTx/>
              <a:buSzTx/>
              <a:buFontTx/>
            </a:pP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R</a:t>
            </a:r>
            <a:r>
              <a:rPr kumimoji="0" lang="en-US" altLang="zh-CN" sz="16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rPr>
              <a:t>d 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——</a:t>
            </a:r>
            <a:r>
              <a:rPr kumimoji="1" lang="zh-CN" altLang="en-US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异步清零； 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W</a:t>
            </a:r>
            <a:r>
              <a:rPr kumimoji="1" lang="en-US" altLang="zh-CN" sz="16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rPr>
              <a:t>L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——</a:t>
            </a:r>
            <a:r>
              <a:rPr kumimoji="1" lang="zh-CN" altLang="en-US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写入使能；</a:t>
            </a:r>
            <a:r>
              <a:rPr kumimoji="1" lang="en-US" altLang="zh-CN" sz="1600" b="1" noProof="0" dirty="0">
                <a:latin typeface="+mj-lt"/>
                <a:ea typeface="黑体" panose="02010609060101010101" pitchFamily="49" charset="-122"/>
                <a:sym typeface="+mn-ea"/>
              </a:rPr>
              <a:t>En</a:t>
            </a:r>
            <a:r>
              <a:rPr lang="en-US" altLang="zh-CN" sz="1600" b="1" baseline="-25000" noProof="0" dirty="0">
                <a:latin typeface="+mj-lt"/>
                <a:ea typeface="黑体" panose="02010609060101010101" pitchFamily="49" charset="-122"/>
                <a:sym typeface="+mn-ea"/>
              </a:rPr>
              <a:t> </a:t>
            </a:r>
            <a:r>
              <a:rPr kumimoji="1" lang="en-US" altLang="zh-CN" sz="1600" b="1" noProof="0" dirty="0">
                <a:latin typeface="+mj-lt"/>
                <a:ea typeface="黑体" panose="02010609060101010101" pitchFamily="49" charset="-122"/>
                <a:sym typeface="+mn-ea"/>
              </a:rPr>
              <a:t>——</a:t>
            </a:r>
            <a:r>
              <a:rPr kumimoji="1" lang="zh-CN" altLang="en-US" sz="1600" b="1" noProof="0" dirty="0">
                <a:latin typeface="+mj-lt"/>
                <a:ea typeface="黑体" panose="02010609060101010101" pitchFamily="49" charset="-122"/>
                <a:sym typeface="+mn-ea"/>
              </a:rPr>
              <a:t>输出使能</a:t>
            </a:r>
            <a:endParaRPr kumimoji="1" lang="zh-CN" altLang="en-US" sz="1600" b="1" kern="1200" cap="none" spc="0" normalizeH="0" baseline="0" noProof="0" dirty="0">
              <a:latin typeface="+mj-lt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lnSpc>
                <a:spcPct val="110000"/>
              </a:lnSpc>
              <a:spcBef>
                <a:spcPts val="0"/>
              </a:spcBef>
              <a:buClrTx/>
              <a:buSzTx/>
              <a:buFontTx/>
            </a:pP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S</a:t>
            </a:r>
            <a:r>
              <a:rPr kumimoji="0" lang="en-US" altLang="zh-CN" sz="16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rPr>
              <a:t>R 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——</a:t>
            </a:r>
            <a:r>
              <a:rPr kumimoji="1" lang="zh-CN" altLang="en-US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右移使能；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 S</a:t>
            </a:r>
            <a:r>
              <a:rPr kumimoji="0" lang="en-US" altLang="zh-CN" sz="16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rPr>
              <a:t>L 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——</a:t>
            </a:r>
            <a:r>
              <a:rPr kumimoji="1" lang="zh-CN" altLang="en-US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左移使能</a:t>
            </a:r>
          </a:p>
        </p:txBody>
      </p:sp>
      <p:grpSp>
        <p:nvGrpSpPr>
          <p:cNvPr id="133" name="组合 186"/>
          <p:cNvGrpSpPr/>
          <p:nvPr/>
        </p:nvGrpSpPr>
        <p:grpSpPr>
          <a:xfrm>
            <a:off x="182563" y="756599"/>
            <a:ext cx="5262562" cy="3624265"/>
            <a:chOff x="182603" y="813223"/>
            <a:chExt cx="5263018" cy="3624899"/>
          </a:xfrm>
        </p:grpSpPr>
        <p:sp>
          <p:nvSpPr>
            <p:cNvPr id="1048889" name="椭圆 93"/>
            <p:cNvSpPr/>
            <p:nvPr/>
          </p:nvSpPr>
          <p:spPr>
            <a:xfrm>
              <a:off x="935450" y="1139205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890" name="椭圆 93"/>
            <p:cNvSpPr/>
            <p:nvPr/>
          </p:nvSpPr>
          <p:spPr>
            <a:xfrm>
              <a:off x="2379231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891" name="椭圆 93"/>
            <p:cNvSpPr/>
            <p:nvPr/>
          </p:nvSpPr>
          <p:spPr>
            <a:xfrm>
              <a:off x="3818052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134" name="组合 33"/>
            <p:cNvGrpSpPr/>
            <p:nvPr/>
          </p:nvGrpSpPr>
          <p:grpSpPr>
            <a:xfrm>
              <a:off x="758915" y="1367809"/>
              <a:ext cx="708086" cy="969738"/>
              <a:chOff x="6090769" y="3016910"/>
              <a:chExt cx="708086" cy="969789"/>
            </a:xfrm>
          </p:grpSpPr>
          <p:cxnSp>
            <p:nvCxnSpPr>
              <p:cNvPr id="3145771" name="直接连接符 34"/>
              <p:cNvCxnSpPr/>
              <p:nvPr/>
            </p:nvCxnSpPr>
            <p:spPr>
              <a:xfrm rot="5400000">
                <a:off x="6217848" y="3737447"/>
                <a:ext cx="396021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grpSp>
            <p:nvGrpSpPr>
              <p:cNvPr id="135" name="组合 16"/>
              <p:cNvGrpSpPr/>
              <p:nvPr/>
            </p:nvGrpSpPr>
            <p:grpSpPr>
              <a:xfrm>
                <a:off x="6090769" y="3016910"/>
                <a:ext cx="708086" cy="969789"/>
                <a:chOff x="1863954" y="2178874"/>
                <a:chExt cx="708090" cy="969942"/>
              </a:xfrm>
            </p:grpSpPr>
            <p:cxnSp>
              <p:nvCxnSpPr>
                <p:cNvPr id="3145772" name="直接连接符 17"/>
                <p:cNvCxnSpPr/>
                <p:nvPr/>
              </p:nvCxnSpPr>
              <p:spPr>
                <a:xfrm rot="5400000">
                  <a:off x="2050510" y="2841904"/>
                  <a:ext cx="61223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773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8892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8893" name="TextBox 18"/>
                <p:cNvSpPr txBox="1">
                  <a:spLocks noChangeArrowheads="1"/>
                </p:cNvSpPr>
                <p:nvPr/>
              </p:nvSpPr>
              <p:spPr bwMode="auto">
                <a:xfrm>
                  <a:off x="2214824" y="2809542"/>
                  <a:ext cx="357220" cy="246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8894" name="TextBox 19"/>
                <p:cNvSpPr txBox="1">
                  <a:spLocks noChangeArrowheads="1"/>
                </p:cNvSpPr>
                <p:nvPr/>
              </p:nvSpPr>
              <p:spPr bwMode="auto">
                <a:xfrm>
                  <a:off x="1863954" y="2618968"/>
                  <a:ext cx="357221" cy="246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8895" name="TextBox 20"/>
                <p:cNvSpPr txBox="1">
                  <a:spLocks noChangeArrowheads="1"/>
                </p:cNvSpPr>
                <p:nvPr/>
              </p:nvSpPr>
              <p:spPr bwMode="auto">
                <a:xfrm>
                  <a:off x="2211649" y="2628497"/>
                  <a:ext cx="357220" cy="246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774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8896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8897" name="TextBox 14"/>
              <p:cNvSpPr txBox="1">
                <a:spLocks noChangeArrowheads="1"/>
              </p:cNvSpPr>
              <p:nvPr/>
            </p:nvSpPr>
            <p:spPr bwMode="auto">
              <a:xfrm>
                <a:off x="6252708" y="3587140"/>
                <a:ext cx="422311" cy="2143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8898" name="椭圆 93"/>
            <p:cNvSpPr/>
            <p:nvPr/>
          </p:nvSpPr>
          <p:spPr>
            <a:xfrm>
              <a:off x="686659" y="1987302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136" name="组合 33"/>
            <p:cNvGrpSpPr/>
            <p:nvPr/>
          </p:nvGrpSpPr>
          <p:grpSpPr>
            <a:xfrm>
              <a:off x="2208429" y="1367804"/>
              <a:ext cx="708086" cy="960452"/>
              <a:chOff x="6090598" y="3016910"/>
              <a:chExt cx="708086" cy="960505"/>
            </a:xfrm>
          </p:grpSpPr>
          <p:cxnSp>
            <p:nvCxnSpPr>
              <p:cNvPr id="3145775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137" name="组合 16"/>
              <p:cNvGrpSpPr/>
              <p:nvPr/>
            </p:nvGrpSpPr>
            <p:grpSpPr>
              <a:xfrm>
                <a:off x="6090598" y="3016910"/>
                <a:ext cx="708086" cy="960505"/>
                <a:chOff x="1863783" y="2178874"/>
                <a:chExt cx="708090" cy="960656"/>
              </a:xfrm>
            </p:grpSpPr>
            <p:cxnSp>
              <p:nvCxnSpPr>
                <p:cNvPr id="3145776" name="直接连接符 17"/>
                <p:cNvCxnSpPr/>
                <p:nvPr/>
              </p:nvCxnSpPr>
              <p:spPr>
                <a:xfrm rot="5400000">
                  <a:off x="2060896" y="2850624"/>
                  <a:ext cx="576223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777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8899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8900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2214652" y="2809548"/>
                  <a:ext cx="357221" cy="246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8901" name="TextBox 32"/>
                <p:cNvSpPr txBox="1">
                  <a:spLocks noChangeArrowheads="1"/>
                </p:cNvSpPr>
                <p:nvPr/>
              </p:nvSpPr>
              <p:spPr bwMode="auto">
                <a:xfrm>
                  <a:off x="1863783" y="2618974"/>
                  <a:ext cx="357220" cy="246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8902" name="TextBox 33"/>
                <p:cNvSpPr txBox="1">
                  <a:spLocks noChangeArrowheads="1"/>
                </p:cNvSpPr>
                <p:nvPr/>
              </p:nvSpPr>
              <p:spPr bwMode="auto">
                <a:xfrm>
                  <a:off x="2211477" y="2628503"/>
                  <a:ext cx="357221" cy="2461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778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8903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8904" name="TextBox 27"/>
              <p:cNvSpPr txBox="1">
                <a:spLocks noChangeArrowheads="1"/>
              </p:cNvSpPr>
              <p:nvPr/>
            </p:nvSpPr>
            <p:spPr bwMode="auto">
              <a:xfrm>
                <a:off x="6252537" y="3587146"/>
                <a:ext cx="422311" cy="2143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8905" name="椭圆 93"/>
            <p:cNvSpPr/>
            <p:nvPr/>
          </p:nvSpPr>
          <p:spPr>
            <a:xfrm>
              <a:off x="2141108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138" name="组合 33"/>
            <p:cNvGrpSpPr/>
            <p:nvPr/>
          </p:nvGrpSpPr>
          <p:grpSpPr>
            <a:xfrm>
              <a:off x="3638987" y="1367803"/>
              <a:ext cx="708026" cy="972024"/>
              <a:chOff x="6090521" y="3016909"/>
              <a:chExt cx="708026" cy="972077"/>
            </a:xfrm>
          </p:grpSpPr>
          <p:cxnSp>
            <p:nvCxnSpPr>
              <p:cNvPr id="3145779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139" name="组合 16"/>
              <p:cNvGrpSpPr/>
              <p:nvPr/>
            </p:nvGrpSpPr>
            <p:grpSpPr>
              <a:xfrm>
                <a:off x="6090521" y="3016909"/>
                <a:ext cx="708026" cy="972077"/>
                <a:chOff x="1863706" y="2178882"/>
                <a:chExt cx="708030" cy="972234"/>
              </a:xfrm>
            </p:grpSpPr>
            <p:cxnSp>
              <p:nvCxnSpPr>
                <p:cNvPr id="3145780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781" name="直接连接符 18"/>
                <p:cNvCxnSpPr/>
                <p:nvPr/>
              </p:nvCxnSpPr>
              <p:spPr>
                <a:xfrm rot="5400000">
                  <a:off x="1640154" y="2538165"/>
                  <a:ext cx="72015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8906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8907" name="TextBox 44"/>
                <p:cNvSpPr txBox="1">
                  <a:spLocks noChangeArrowheads="1"/>
                </p:cNvSpPr>
                <p:nvPr/>
              </p:nvSpPr>
              <p:spPr bwMode="auto">
                <a:xfrm>
                  <a:off x="2214478" y="2809560"/>
                  <a:ext cx="357220" cy="2461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8908" name="TextBox 45"/>
                <p:cNvSpPr txBox="1">
                  <a:spLocks noChangeArrowheads="1"/>
                </p:cNvSpPr>
                <p:nvPr/>
              </p:nvSpPr>
              <p:spPr bwMode="auto">
                <a:xfrm>
                  <a:off x="1863608" y="2618985"/>
                  <a:ext cx="357221" cy="2461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8909" name="TextBox 46"/>
                <p:cNvSpPr txBox="1">
                  <a:spLocks noChangeArrowheads="1"/>
                </p:cNvSpPr>
                <p:nvPr/>
              </p:nvSpPr>
              <p:spPr bwMode="auto">
                <a:xfrm>
                  <a:off x="2211303" y="2628514"/>
                  <a:ext cx="357220" cy="2461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782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8910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8911" name="TextBox 40"/>
              <p:cNvSpPr txBox="1">
                <a:spLocks noChangeArrowheads="1"/>
              </p:cNvSpPr>
              <p:nvPr/>
            </p:nvSpPr>
            <p:spPr bwMode="auto">
              <a:xfrm>
                <a:off x="6252362" y="3587146"/>
                <a:ext cx="422311" cy="2143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8912" name="椭圆 93"/>
            <p:cNvSpPr/>
            <p:nvPr/>
          </p:nvSpPr>
          <p:spPr>
            <a:xfrm>
              <a:off x="3566979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913" name="Line 25"/>
            <p:cNvSpPr/>
            <p:nvPr/>
          </p:nvSpPr>
          <p:spPr>
            <a:xfrm rot="-5400000">
              <a:off x="843509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14" name="Line 26"/>
            <p:cNvSpPr/>
            <p:nvPr/>
          </p:nvSpPr>
          <p:spPr>
            <a:xfrm rot="-5400000">
              <a:off x="1474156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15" name="Line 27"/>
            <p:cNvSpPr/>
            <p:nvPr/>
          </p:nvSpPr>
          <p:spPr>
            <a:xfrm rot="-5400000">
              <a:off x="1055994" y="3065479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16" name="Line 28"/>
            <p:cNvSpPr/>
            <p:nvPr/>
          </p:nvSpPr>
          <p:spPr>
            <a:xfrm rot="-5400000" flipV="1">
              <a:off x="1467466" y="3049986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17" name="Line 29"/>
            <p:cNvSpPr/>
            <p:nvPr/>
          </p:nvSpPr>
          <p:spPr>
            <a:xfrm rot="-5400000">
              <a:off x="653281" y="3849442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18" name="Line 30"/>
            <p:cNvSpPr/>
            <p:nvPr/>
          </p:nvSpPr>
          <p:spPr>
            <a:xfrm rot="-5400000">
              <a:off x="907617" y="3782582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19" name="Line 31"/>
            <p:cNvSpPr/>
            <p:nvPr/>
          </p:nvSpPr>
          <p:spPr>
            <a:xfrm rot="-5400000">
              <a:off x="1273766" y="384047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20" name="Line 32"/>
            <p:cNvSpPr/>
            <p:nvPr/>
          </p:nvSpPr>
          <p:spPr>
            <a:xfrm rot="-5400000">
              <a:off x="1594953" y="3672069"/>
              <a:ext cx="144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21" name="AutoShape 29"/>
            <p:cNvSpPr>
              <a:spLocks noChangeAspect="1" noTextEdit="1"/>
            </p:cNvSpPr>
            <p:nvPr/>
          </p:nvSpPr>
          <p:spPr>
            <a:xfrm rot="-5400000">
              <a:off x="909378" y="2501021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22" name="Freeform 32"/>
            <p:cNvSpPr/>
            <p:nvPr/>
          </p:nvSpPr>
          <p:spPr>
            <a:xfrm rot="-5400000">
              <a:off x="948107" y="2644965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23" name="Freeform 33"/>
            <p:cNvSpPr/>
            <p:nvPr/>
          </p:nvSpPr>
          <p:spPr>
            <a:xfrm rot="-5400000">
              <a:off x="1120918" y="2664377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24" name="Freeform 34"/>
            <p:cNvSpPr/>
            <p:nvPr/>
          </p:nvSpPr>
          <p:spPr>
            <a:xfrm rot="-5400000">
              <a:off x="1223716" y="2767173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25" name="Oval 35"/>
            <p:cNvSpPr/>
            <p:nvPr/>
          </p:nvSpPr>
          <p:spPr>
            <a:xfrm rot="-5400000">
              <a:off x="1230091" y="2469710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8926" name="流程图: 延期 92"/>
            <p:cNvSpPr>
              <a:spLocks noChangeArrowheads="1"/>
            </p:cNvSpPr>
            <p:nvPr/>
          </p:nvSpPr>
          <p:spPr bwMode="auto">
            <a:xfrm rot="16200000">
              <a:off x="808120" y="3360671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8927" name="流程图: 延期 92"/>
            <p:cNvSpPr>
              <a:spLocks noChangeArrowheads="1"/>
            </p:cNvSpPr>
            <p:nvPr/>
          </p:nvSpPr>
          <p:spPr bwMode="auto">
            <a:xfrm rot="16200000">
              <a:off x="1436824" y="3360671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8928" name="Line 38"/>
            <p:cNvSpPr/>
            <p:nvPr/>
          </p:nvSpPr>
          <p:spPr>
            <a:xfrm rot="-5400000">
              <a:off x="1039835" y="3050388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29" name="Line 39"/>
            <p:cNvSpPr/>
            <p:nvPr/>
          </p:nvSpPr>
          <p:spPr>
            <a:xfrm rot="-5400000">
              <a:off x="1212243" y="3037032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0" name="Line 31"/>
            <p:cNvSpPr/>
            <p:nvPr/>
          </p:nvSpPr>
          <p:spPr>
            <a:xfrm rot="-5400000">
              <a:off x="952396" y="384544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1" name="Line 32"/>
            <p:cNvSpPr/>
            <p:nvPr/>
          </p:nvSpPr>
          <p:spPr>
            <a:xfrm rot="-5400000">
              <a:off x="1242346" y="3743706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2" name="流程图: 延期 92"/>
            <p:cNvSpPr>
              <a:spLocks noChangeArrowheads="1"/>
            </p:cNvSpPr>
            <p:nvPr/>
          </p:nvSpPr>
          <p:spPr bwMode="auto">
            <a:xfrm rot="16200000">
              <a:off x="1119297" y="3360671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783" name="直接连接符 79"/>
            <p:cNvCxnSpPr>
              <a:stCxn id="1048924" idx="1"/>
              <a:endCxn id="1048932" idx="3"/>
            </p:cNvCxnSpPr>
            <p:nvPr/>
          </p:nvCxnSpPr>
          <p:spPr>
            <a:xfrm flipH="1">
              <a:off x="1262723" y="2879973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8933" name="Line 40"/>
            <p:cNvSpPr/>
            <p:nvPr/>
          </p:nvSpPr>
          <p:spPr>
            <a:xfrm rot="-5400000">
              <a:off x="1173768" y="2386357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4" name="Line 25"/>
            <p:cNvSpPr/>
            <p:nvPr/>
          </p:nvSpPr>
          <p:spPr>
            <a:xfrm rot="-5400000">
              <a:off x="2287861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5" name="Line 26"/>
            <p:cNvSpPr/>
            <p:nvPr/>
          </p:nvSpPr>
          <p:spPr>
            <a:xfrm rot="-5400000">
              <a:off x="2918508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6" name="Line 27"/>
            <p:cNvSpPr/>
            <p:nvPr/>
          </p:nvSpPr>
          <p:spPr>
            <a:xfrm rot="-5400000">
              <a:off x="2500346" y="306316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7" name="Line 28"/>
            <p:cNvSpPr/>
            <p:nvPr/>
          </p:nvSpPr>
          <p:spPr>
            <a:xfrm rot="-5400000" flipV="1">
              <a:off x="2911818" y="3047670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8" name="Line 29"/>
            <p:cNvSpPr/>
            <p:nvPr/>
          </p:nvSpPr>
          <p:spPr>
            <a:xfrm rot="-5400000">
              <a:off x="2102396" y="384712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39" name="Line 30"/>
            <p:cNvSpPr/>
            <p:nvPr/>
          </p:nvSpPr>
          <p:spPr>
            <a:xfrm rot="-5400000">
              <a:off x="2351969" y="3780266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8940" name="Line 31"/>
            <p:cNvSpPr/>
            <p:nvPr/>
          </p:nvSpPr>
          <p:spPr>
            <a:xfrm rot="-5400000">
              <a:off x="2713355" y="383816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41" name="Line 32"/>
            <p:cNvSpPr/>
            <p:nvPr/>
          </p:nvSpPr>
          <p:spPr>
            <a:xfrm rot="-5400000">
              <a:off x="3057305" y="3682059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8942" name="AutoShape 29"/>
            <p:cNvSpPr>
              <a:spLocks noChangeAspect="1" noTextEdit="1"/>
            </p:cNvSpPr>
            <p:nvPr/>
          </p:nvSpPr>
          <p:spPr>
            <a:xfrm rot="-5400000">
              <a:off x="2353730" y="2498705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43" name="Freeform 32"/>
            <p:cNvSpPr/>
            <p:nvPr/>
          </p:nvSpPr>
          <p:spPr>
            <a:xfrm rot="-5400000">
              <a:off x="2392459" y="2642649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44" name="Freeform 33"/>
            <p:cNvSpPr/>
            <p:nvPr/>
          </p:nvSpPr>
          <p:spPr>
            <a:xfrm rot="-5400000">
              <a:off x="2565270" y="2662061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45" name="Freeform 34"/>
            <p:cNvSpPr/>
            <p:nvPr/>
          </p:nvSpPr>
          <p:spPr>
            <a:xfrm rot="-5400000">
              <a:off x="2668068" y="2764857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46" name="Oval 35"/>
            <p:cNvSpPr/>
            <p:nvPr/>
          </p:nvSpPr>
          <p:spPr>
            <a:xfrm rot="-5400000">
              <a:off x="2674443" y="2467394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8947" name="流程图: 延期 92"/>
            <p:cNvSpPr>
              <a:spLocks noChangeArrowheads="1"/>
            </p:cNvSpPr>
            <p:nvPr/>
          </p:nvSpPr>
          <p:spPr bwMode="auto">
            <a:xfrm rot="16200000">
              <a:off x="2251282" y="3357495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8948" name="流程图: 延期 92"/>
            <p:cNvSpPr>
              <a:spLocks noChangeArrowheads="1"/>
            </p:cNvSpPr>
            <p:nvPr/>
          </p:nvSpPr>
          <p:spPr bwMode="auto">
            <a:xfrm rot="16200000">
              <a:off x="2880780" y="3358289"/>
              <a:ext cx="285800" cy="284187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8949" name="Line 38"/>
            <p:cNvSpPr/>
            <p:nvPr/>
          </p:nvSpPr>
          <p:spPr>
            <a:xfrm rot="-5400000">
              <a:off x="2484187" y="3048072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0" name="Line 39"/>
            <p:cNvSpPr/>
            <p:nvPr/>
          </p:nvSpPr>
          <p:spPr>
            <a:xfrm rot="-5400000">
              <a:off x="2656595" y="3034716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1" name="Line 31"/>
            <p:cNvSpPr/>
            <p:nvPr/>
          </p:nvSpPr>
          <p:spPr>
            <a:xfrm rot="-5400000">
              <a:off x="2396748" y="3843127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2" name="Line 32"/>
            <p:cNvSpPr/>
            <p:nvPr/>
          </p:nvSpPr>
          <p:spPr>
            <a:xfrm rot="-5400000">
              <a:off x="2677172" y="3731864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8953" name="流程图: 延期 92"/>
            <p:cNvSpPr>
              <a:spLocks noChangeArrowheads="1"/>
            </p:cNvSpPr>
            <p:nvPr/>
          </p:nvSpPr>
          <p:spPr bwMode="auto">
            <a:xfrm rot="16200000">
              <a:off x="2564047" y="3357495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784" name="直接连接符 100"/>
            <p:cNvCxnSpPr>
              <a:stCxn id="1048945" idx="1"/>
              <a:endCxn id="1048953" idx="3"/>
            </p:cNvCxnSpPr>
            <p:nvPr/>
          </p:nvCxnSpPr>
          <p:spPr>
            <a:xfrm flipH="1">
              <a:off x="2707075" y="2877657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8954" name="Line 40"/>
            <p:cNvSpPr/>
            <p:nvPr/>
          </p:nvSpPr>
          <p:spPr>
            <a:xfrm rot="-5400000">
              <a:off x="2618120" y="2384041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5" name="Line 25"/>
            <p:cNvSpPr/>
            <p:nvPr/>
          </p:nvSpPr>
          <p:spPr>
            <a:xfrm rot="-5400000">
              <a:off x="3724970" y="327145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6" name="Line 26"/>
            <p:cNvSpPr/>
            <p:nvPr/>
          </p:nvSpPr>
          <p:spPr>
            <a:xfrm rot="-5400000">
              <a:off x="4355617" y="3266694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7" name="Line 27"/>
            <p:cNvSpPr/>
            <p:nvPr/>
          </p:nvSpPr>
          <p:spPr>
            <a:xfrm rot="-5400000">
              <a:off x="3937455" y="305897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8" name="Line 28"/>
            <p:cNvSpPr/>
            <p:nvPr/>
          </p:nvSpPr>
          <p:spPr>
            <a:xfrm rot="-5400000" flipV="1">
              <a:off x="4348927" y="3038717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59" name="Line 29"/>
            <p:cNvSpPr/>
            <p:nvPr/>
          </p:nvSpPr>
          <p:spPr>
            <a:xfrm rot="-5400000">
              <a:off x="3563320" y="384293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60" name="Line 30"/>
            <p:cNvSpPr/>
            <p:nvPr/>
          </p:nvSpPr>
          <p:spPr>
            <a:xfrm rot="-5400000">
              <a:off x="3793841" y="3780839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8961" name="Line 31"/>
            <p:cNvSpPr/>
            <p:nvPr/>
          </p:nvSpPr>
          <p:spPr>
            <a:xfrm rot="-5400000">
              <a:off x="4159990" y="3829210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62" name="Line 32"/>
            <p:cNvSpPr/>
            <p:nvPr/>
          </p:nvSpPr>
          <p:spPr>
            <a:xfrm rot="-5400000">
              <a:off x="4494414" y="3687395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8963" name="AutoShape 29"/>
            <p:cNvSpPr>
              <a:spLocks noChangeAspect="1" noTextEdit="1"/>
            </p:cNvSpPr>
            <p:nvPr/>
          </p:nvSpPr>
          <p:spPr>
            <a:xfrm rot="-5400000">
              <a:off x="3781314" y="2489752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64" name="Freeform 32"/>
            <p:cNvSpPr/>
            <p:nvPr/>
          </p:nvSpPr>
          <p:spPr>
            <a:xfrm rot="-5400000">
              <a:off x="3829568" y="2633696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65" name="Freeform 33"/>
            <p:cNvSpPr/>
            <p:nvPr/>
          </p:nvSpPr>
          <p:spPr>
            <a:xfrm rot="-5400000">
              <a:off x="4002379" y="2653108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66" name="Freeform 34"/>
            <p:cNvSpPr/>
            <p:nvPr/>
          </p:nvSpPr>
          <p:spPr>
            <a:xfrm rot="-5400000">
              <a:off x="4105177" y="2755904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967" name="Oval 35"/>
            <p:cNvSpPr/>
            <p:nvPr/>
          </p:nvSpPr>
          <p:spPr>
            <a:xfrm rot="-5400000">
              <a:off x="4111552" y="2458441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8968" name="流程图: 延期 92"/>
            <p:cNvSpPr>
              <a:spLocks noChangeArrowheads="1"/>
            </p:cNvSpPr>
            <p:nvPr/>
          </p:nvSpPr>
          <p:spPr bwMode="auto">
            <a:xfrm rot="16200000">
              <a:off x="3688094" y="3354320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8969" name="流程图: 延期 92"/>
            <p:cNvSpPr>
              <a:spLocks noChangeArrowheads="1"/>
            </p:cNvSpPr>
            <p:nvPr/>
          </p:nvSpPr>
          <p:spPr bwMode="auto">
            <a:xfrm rot="16200000">
              <a:off x="4318386" y="3349556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8970" name="Line 38"/>
            <p:cNvSpPr/>
            <p:nvPr/>
          </p:nvSpPr>
          <p:spPr>
            <a:xfrm rot="-5400000">
              <a:off x="3921296" y="3048646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71" name="Line 39"/>
            <p:cNvSpPr/>
            <p:nvPr/>
          </p:nvSpPr>
          <p:spPr>
            <a:xfrm rot="-5400000">
              <a:off x="4093704" y="3025763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72" name="Line 31"/>
            <p:cNvSpPr/>
            <p:nvPr/>
          </p:nvSpPr>
          <p:spPr>
            <a:xfrm rot="-5400000">
              <a:off x="3843383" y="383986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8973" name="Line 32"/>
            <p:cNvSpPr/>
            <p:nvPr/>
          </p:nvSpPr>
          <p:spPr>
            <a:xfrm rot="-5400000">
              <a:off x="4123807" y="3732437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8974" name="流程图: 延期 92"/>
            <p:cNvSpPr>
              <a:spLocks noChangeArrowheads="1"/>
            </p:cNvSpPr>
            <p:nvPr/>
          </p:nvSpPr>
          <p:spPr bwMode="auto">
            <a:xfrm rot="16200000">
              <a:off x="4000858" y="3349556"/>
              <a:ext cx="285800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785" name="直接连接符 122"/>
            <p:cNvCxnSpPr>
              <a:stCxn id="1048966" idx="1"/>
              <a:endCxn id="1048974" idx="3"/>
            </p:cNvCxnSpPr>
            <p:nvPr/>
          </p:nvCxnSpPr>
          <p:spPr>
            <a:xfrm flipH="1">
              <a:off x="4144184" y="2868704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8975" name="Line 40"/>
            <p:cNvSpPr/>
            <p:nvPr/>
          </p:nvSpPr>
          <p:spPr>
            <a:xfrm rot="-5400000">
              <a:off x="4055229" y="2375088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5786" name="直接连接符 125"/>
            <p:cNvCxnSpPr/>
            <p:nvPr/>
          </p:nvCxnSpPr>
          <p:spPr>
            <a:xfrm>
              <a:off x="106574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787" name="直接连接符 126"/>
            <p:cNvCxnSpPr/>
            <p:nvPr/>
          </p:nvCxnSpPr>
          <p:spPr>
            <a:xfrm>
              <a:off x="248685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788" name="直接连接符 127"/>
            <p:cNvCxnSpPr/>
            <p:nvPr/>
          </p:nvCxnSpPr>
          <p:spPr>
            <a:xfrm>
              <a:off x="392701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89" name="直接连接符 129"/>
            <p:cNvCxnSpPr/>
            <p:nvPr/>
          </p:nvCxnSpPr>
          <p:spPr>
            <a:xfrm flipH="1">
              <a:off x="615019" y="1635646"/>
              <a:ext cx="3312000" cy="0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8976" name="Text Box 69"/>
            <p:cNvSpPr txBox="1"/>
            <p:nvPr/>
          </p:nvSpPr>
          <p:spPr>
            <a:xfrm>
              <a:off x="268650" y="1438672"/>
              <a:ext cx="346001" cy="3200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rgbClr val="660033"/>
                  </a:solidFill>
                  <a:latin typeface="Arial" panose="020B0604020202090204" pitchFamily="34" charset="0"/>
                </a:rPr>
                <a:t>En</a:t>
              </a:r>
            </a:p>
          </p:txBody>
        </p:sp>
        <p:sp>
          <p:nvSpPr>
            <p:cNvPr id="1048977" name="Line 70"/>
            <p:cNvSpPr/>
            <p:nvPr/>
          </p:nvSpPr>
          <p:spPr>
            <a:xfrm flipV="1">
              <a:off x="974691" y="932135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978" name="Line 70"/>
            <p:cNvSpPr/>
            <p:nvPr/>
          </p:nvSpPr>
          <p:spPr>
            <a:xfrm flipV="1">
              <a:off x="2414851" y="922610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979" name="Line 70"/>
            <p:cNvSpPr/>
            <p:nvPr/>
          </p:nvSpPr>
          <p:spPr>
            <a:xfrm flipV="1">
              <a:off x="3855011" y="915566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8980" name="Text Box 75"/>
            <p:cNvSpPr txBox="1">
              <a:spLocks noChangeArrowheads="1"/>
            </p:cNvSpPr>
            <p:nvPr/>
          </p:nvSpPr>
          <p:spPr bwMode="auto">
            <a:xfrm>
              <a:off x="614440" y="813223"/>
              <a:ext cx="431837" cy="3836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8981" name="Text Box 75"/>
            <p:cNvSpPr txBox="1">
              <a:spLocks noChangeArrowheads="1"/>
            </p:cNvSpPr>
            <p:nvPr/>
          </p:nvSpPr>
          <p:spPr bwMode="auto">
            <a:xfrm>
              <a:off x="2054427" y="820844"/>
              <a:ext cx="431837" cy="3836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8982" name="Text Box 75"/>
            <p:cNvSpPr txBox="1">
              <a:spLocks noChangeArrowheads="1"/>
            </p:cNvSpPr>
            <p:nvPr/>
          </p:nvSpPr>
          <p:spPr bwMode="auto">
            <a:xfrm>
              <a:off x="3494415" y="813857"/>
              <a:ext cx="431837" cy="3836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8983" name="流程图: 延期 92"/>
            <p:cNvSpPr/>
            <p:nvPr/>
          </p:nvSpPr>
          <p:spPr>
            <a:xfrm rot="-5400000">
              <a:off x="830675" y="1205880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984" name="流程图: 延期 92"/>
            <p:cNvSpPr/>
            <p:nvPr/>
          </p:nvSpPr>
          <p:spPr>
            <a:xfrm rot="-5400000">
              <a:off x="2274456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8985" name="流程图: 延期 92"/>
            <p:cNvSpPr/>
            <p:nvPr/>
          </p:nvSpPr>
          <p:spPr>
            <a:xfrm rot="-5400000">
              <a:off x="3713277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790" name="直接连接符 137"/>
            <p:cNvCxnSpPr/>
            <p:nvPr/>
          </p:nvCxnSpPr>
          <p:spPr>
            <a:xfrm flipH="1">
              <a:off x="478449" y="2290192"/>
              <a:ext cx="349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8986" name="Text Box 69"/>
            <p:cNvSpPr txBox="1"/>
            <p:nvPr/>
          </p:nvSpPr>
          <p:spPr>
            <a:xfrm>
              <a:off x="182603" y="2130429"/>
              <a:ext cx="374329" cy="3200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CP </a:t>
              </a:r>
            </a:p>
          </p:txBody>
        </p:sp>
        <p:cxnSp>
          <p:nvCxnSpPr>
            <p:cNvPr id="3145791" name="直接连接符 140"/>
            <p:cNvCxnSpPr/>
            <p:nvPr/>
          </p:nvCxnSpPr>
          <p:spPr>
            <a:xfrm>
              <a:off x="614651" y="2015877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92" name="直接连接符 142"/>
            <p:cNvCxnSpPr/>
            <p:nvPr/>
          </p:nvCxnSpPr>
          <p:spPr>
            <a:xfrm>
              <a:off x="619414" y="2011114"/>
              <a:ext cx="0" cy="3816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93" name="直接连接符 143"/>
            <p:cNvCxnSpPr/>
            <p:nvPr/>
          </p:nvCxnSpPr>
          <p:spPr>
            <a:xfrm flipH="1">
              <a:off x="621323" y="2390199"/>
              <a:ext cx="385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94" name="直接连接符 144"/>
            <p:cNvCxnSpPr/>
            <p:nvPr/>
          </p:nvCxnSpPr>
          <p:spPr>
            <a:xfrm>
              <a:off x="2059574" y="1996825"/>
              <a:ext cx="720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95" name="直接连接符 145"/>
            <p:cNvCxnSpPr/>
            <p:nvPr/>
          </p:nvCxnSpPr>
          <p:spPr>
            <a:xfrm>
              <a:off x="2064337" y="1992062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796" name="直接连接符 146"/>
            <p:cNvCxnSpPr/>
            <p:nvPr/>
          </p:nvCxnSpPr>
          <p:spPr>
            <a:xfrm>
              <a:off x="3494971" y="1998969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797" name="直接连接符 147"/>
            <p:cNvCxnSpPr/>
            <p:nvPr/>
          </p:nvCxnSpPr>
          <p:spPr>
            <a:xfrm>
              <a:off x="3499734" y="1994206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48987" name="Text Box 69"/>
            <p:cNvSpPr txBox="1"/>
            <p:nvPr/>
          </p:nvSpPr>
          <p:spPr>
            <a:xfrm>
              <a:off x="4441164" y="2222375"/>
              <a:ext cx="418868" cy="3582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5798" name="直接连接符 150"/>
            <p:cNvCxnSpPr/>
            <p:nvPr/>
          </p:nvCxnSpPr>
          <p:spPr>
            <a:xfrm flipH="1">
              <a:off x="1656104" y="3744069"/>
              <a:ext cx="3096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140" name="组合 153"/>
            <p:cNvGrpSpPr/>
            <p:nvPr/>
          </p:nvGrpSpPr>
          <p:grpSpPr>
            <a:xfrm>
              <a:off x="1349516" y="4079920"/>
              <a:ext cx="411199" cy="358202"/>
              <a:chOff x="2267671" y="4227682"/>
              <a:chExt cx="411199" cy="358202"/>
            </a:xfrm>
          </p:grpSpPr>
          <p:sp>
            <p:nvSpPr>
              <p:cNvPr id="1048988" name="Text Box 116"/>
              <p:cNvSpPr txBox="1">
                <a:spLocks noChangeArrowheads="1"/>
              </p:cNvSpPr>
              <p:nvPr/>
            </p:nvSpPr>
            <p:spPr bwMode="auto">
              <a:xfrm>
                <a:off x="2267671" y="4227682"/>
                <a:ext cx="411199" cy="35820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8989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1" name="组合 154"/>
            <p:cNvGrpSpPr/>
            <p:nvPr/>
          </p:nvGrpSpPr>
          <p:grpSpPr>
            <a:xfrm>
              <a:off x="2794266" y="4065631"/>
              <a:ext cx="411199" cy="358202"/>
              <a:chOff x="2268069" y="4227556"/>
              <a:chExt cx="411199" cy="358202"/>
            </a:xfrm>
          </p:grpSpPr>
          <p:sp>
            <p:nvSpPr>
              <p:cNvPr id="1048990" name="Text Box 116"/>
              <p:cNvSpPr txBox="1">
                <a:spLocks noChangeArrowheads="1"/>
              </p:cNvSpPr>
              <p:nvPr/>
            </p:nvSpPr>
            <p:spPr bwMode="auto">
              <a:xfrm>
                <a:off x="2268069" y="4227556"/>
                <a:ext cx="411199" cy="35820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8991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2" name="组合 157"/>
            <p:cNvGrpSpPr/>
            <p:nvPr/>
          </p:nvGrpSpPr>
          <p:grpSpPr>
            <a:xfrm>
              <a:off x="4234254" y="4065631"/>
              <a:ext cx="411198" cy="358202"/>
              <a:chOff x="2267897" y="4227556"/>
              <a:chExt cx="411198" cy="358202"/>
            </a:xfrm>
          </p:grpSpPr>
          <p:sp>
            <p:nvSpPr>
              <p:cNvPr id="1048992" name="Text Box 116"/>
              <p:cNvSpPr txBox="1">
                <a:spLocks noChangeArrowheads="1"/>
              </p:cNvSpPr>
              <p:nvPr/>
            </p:nvSpPr>
            <p:spPr bwMode="auto">
              <a:xfrm>
                <a:off x="2267897" y="4227556"/>
                <a:ext cx="411198" cy="35820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8993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cxnSp>
          <p:nvCxnSpPr>
            <p:cNvPr id="3145799" name="直接连接符 160"/>
            <p:cNvCxnSpPr/>
            <p:nvPr/>
          </p:nvCxnSpPr>
          <p:spPr>
            <a:xfrm flipH="1">
              <a:off x="1352112" y="3839319"/>
              <a:ext cx="3384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00" name="直接连接符 161"/>
            <p:cNvCxnSpPr/>
            <p:nvPr/>
          </p:nvCxnSpPr>
          <p:spPr>
            <a:xfrm flipH="1">
              <a:off x="1034938" y="3921426"/>
              <a:ext cx="370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143" name="组合 162"/>
            <p:cNvGrpSpPr/>
            <p:nvPr/>
          </p:nvGrpSpPr>
          <p:grpSpPr>
            <a:xfrm>
              <a:off x="685884" y="4086271"/>
              <a:ext cx="360394" cy="275638"/>
              <a:chOff x="2266969" y="4227638"/>
              <a:chExt cx="360394" cy="275638"/>
            </a:xfrm>
          </p:grpSpPr>
          <p:sp>
            <p:nvSpPr>
              <p:cNvPr id="1048994" name="Text Box 116"/>
              <p:cNvSpPr txBox="1">
                <a:spLocks noChangeArrowheads="1"/>
              </p:cNvSpPr>
              <p:nvPr/>
            </p:nvSpPr>
            <p:spPr bwMode="auto">
              <a:xfrm>
                <a:off x="2266969" y="4227638"/>
                <a:ext cx="360394" cy="275638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8995" name="Line 117"/>
              <p:cNvSpPr/>
              <p:nvPr/>
            </p:nvSpPr>
            <p:spPr>
              <a:xfrm>
                <a:off x="2373107" y="4290417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4" name="组合 165"/>
            <p:cNvGrpSpPr/>
            <p:nvPr/>
          </p:nvGrpSpPr>
          <p:grpSpPr>
            <a:xfrm>
              <a:off x="1003411" y="4084684"/>
              <a:ext cx="360394" cy="307394"/>
              <a:chOff x="2267890" y="4227559"/>
              <a:chExt cx="360394" cy="307394"/>
            </a:xfrm>
          </p:grpSpPr>
          <p:sp>
            <p:nvSpPr>
              <p:cNvPr id="1048996" name="Text Box 116"/>
              <p:cNvSpPr txBox="1">
                <a:spLocks noChangeArrowheads="1"/>
              </p:cNvSpPr>
              <p:nvPr/>
            </p:nvSpPr>
            <p:spPr bwMode="auto">
              <a:xfrm>
                <a:off x="2267890" y="4227559"/>
                <a:ext cx="360394" cy="30739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048997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5" name="组合 168"/>
            <p:cNvGrpSpPr/>
            <p:nvPr/>
          </p:nvGrpSpPr>
          <p:grpSpPr>
            <a:xfrm>
              <a:off x="2486265" y="4075157"/>
              <a:ext cx="360394" cy="307394"/>
              <a:chOff x="2267151" y="4227557"/>
              <a:chExt cx="360394" cy="307394"/>
            </a:xfrm>
          </p:grpSpPr>
          <p:sp>
            <p:nvSpPr>
              <p:cNvPr id="1048998" name="Text Box 116"/>
              <p:cNvSpPr txBox="1">
                <a:spLocks noChangeArrowheads="1"/>
              </p:cNvSpPr>
              <p:nvPr/>
            </p:nvSpPr>
            <p:spPr bwMode="auto">
              <a:xfrm>
                <a:off x="2267151" y="4227557"/>
                <a:ext cx="360394" cy="30739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8999" name="Line 117"/>
              <p:cNvSpPr/>
              <p:nvPr/>
            </p:nvSpPr>
            <p:spPr>
              <a:xfrm>
                <a:off x="2363582" y="4288365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6" name="组合 171"/>
            <p:cNvGrpSpPr/>
            <p:nvPr/>
          </p:nvGrpSpPr>
          <p:grpSpPr>
            <a:xfrm>
              <a:off x="2127459" y="4075157"/>
              <a:ext cx="428662" cy="307394"/>
              <a:chOff x="2268385" y="4227557"/>
              <a:chExt cx="428662" cy="307394"/>
            </a:xfrm>
          </p:grpSpPr>
          <p:sp>
            <p:nvSpPr>
              <p:cNvPr id="1049000" name="Text Box 116"/>
              <p:cNvSpPr txBox="1">
                <a:spLocks noChangeArrowheads="1"/>
              </p:cNvSpPr>
              <p:nvPr/>
            </p:nvSpPr>
            <p:spPr bwMode="auto">
              <a:xfrm>
                <a:off x="2268385" y="4227557"/>
                <a:ext cx="428662" cy="30739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001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7" name="组合 177"/>
            <p:cNvGrpSpPr/>
            <p:nvPr/>
          </p:nvGrpSpPr>
          <p:grpSpPr>
            <a:xfrm>
              <a:off x="3915138" y="4075157"/>
              <a:ext cx="441239" cy="282028"/>
              <a:chOff x="2268480" y="4228698"/>
              <a:chExt cx="441239" cy="282028"/>
            </a:xfrm>
          </p:grpSpPr>
          <p:sp>
            <p:nvSpPr>
              <p:cNvPr id="1049002" name="Text Box 116"/>
              <p:cNvSpPr txBox="1">
                <a:spLocks noChangeArrowheads="1"/>
              </p:cNvSpPr>
              <p:nvPr/>
            </p:nvSpPr>
            <p:spPr bwMode="auto">
              <a:xfrm>
                <a:off x="2268480" y="4228698"/>
                <a:ext cx="441363" cy="28262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003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48" name="组合 180"/>
            <p:cNvGrpSpPr/>
            <p:nvPr/>
          </p:nvGrpSpPr>
          <p:grpSpPr>
            <a:xfrm>
              <a:off x="3630952" y="4075157"/>
              <a:ext cx="360393" cy="307394"/>
              <a:chOff x="2268134" y="4228698"/>
              <a:chExt cx="360393" cy="307394"/>
            </a:xfrm>
          </p:grpSpPr>
          <p:sp>
            <p:nvSpPr>
              <p:cNvPr id="1049004" name="Text Box 116"/>
              <p:cNvSpPr txBox="1">
                <a:spLocks noChangeArrowheads="1"/>
              </p:cNvSpPr>
              <p:nvPr/>
            </p:nvSpPr>
            <p:spPr bwMode="auto">
              <a:xfrm>
                <a:off x="2268134" y="4228698"/>
                <a:ext cx="360393" cy="30739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49005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006" name="Text Box 69"/>
            <p:cNvSpPr txBox="1"/>
            <p:nvPr/>
          </p:nvSpPr>
          <p:spPr>
            <a:xfrm>
              <a:off x="4716016" y="3536429"/>
              <a:ext cx="720080" cy="3582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W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  <p:sp>
          <p:nvSpPr>
            <p:cNvPr id="1049007" name="Text Box 69"/>
            <p:cNvSpPr txBox="1"/>
            <p:nvPr/>
          </p:nvSpPr>
          <p:spPr>
            <a:xfrm>
              <a:off x="4725541" y="3707879"/>
              <a:ext cx="720080" cy="3582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8000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rgbClr val="008000"/>
                  </a:solidFill>
                  <a:latin typeface="Arial" panose="020B0604020202090204" pitchFamily="34" charset="0"/>
                </a:rPr>
                <a:t>R </a:t>
              </a:r>
            </a:p>
          </p:txBody>
        </p:sp>
        <p:sp>
          <p:nvSpPr>
            <p:cNvPr id="1049008" name="Text Box 69"/>
            <p:cNvSpPr txBox="1"/>
            <p:nvPr/>
          </p:nvSpPr>
          <p:spPr>
            <a:xfrm>
              <a:off x="4725541" y="3860279"/>
              <a:ext cx="494531" cy="3582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</p:grpSp>
      <p:sp>
        <p:nvSpPr>
          <p:cNvPr id="1049009" name="Text Box 373"/>
          <p:cNvSpPr txBox="1"/>
          <p:nvPr/>
        </p:nvSpPr>
        <p:spPr>
          <a:xfrm>
            <a:off x="4859020" y="1335405"/>
            <a:ext cx="1261110" cy="58356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激励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驱动方程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149" name="Group 182"/>
          <p:cNvGrpSpPr/>
          <p:nvPr/>
        </p:nvGrpSpPr>
        <p:grpSpPr>
          <a:xfrm>
            <a:off x="6421438" y="976313"/>
            <a:ext cx="2398712" cy="358639"/>
            <a:chOff x="1152" y="3456"/>
            <a:chExt cx="1511" cy="302"/>
          </a:xfrm>
        </p:grpSpPr>
        <p:sp>
          <p:nvSpPr>
            <p:cNvPr id="1049010" name="Text Box 183"/>
            <p:cNvSpPr txBox="1"/>
            <p:nvPr/>
          </p:nvSpPr>
          <p:spPr>
            <a:xfrm>
              <a:off x="1152" y="3456"/>
              <a:ext cx="1511" cy="30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3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A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3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W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L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＋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4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S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R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＋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S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L</a:t>
              </a:r>
            </a:p>
          </p:txBody>
        </p:sp>
        <p:sp>
          <p:nvSpPr>
            <p:cNvPr id="1049011" name="Line 184"/>
            <p:cNvSpPr/>
            <p:nvPr/>
          </p:nvSpPr>
          <p:spPr>
            <a:xfrm>
              <a:off x="1472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12" name="Line 185"/>
            <p:cNvSpPr/>
            <p:nvPr/>
          </p:nvSpPr>
          <p:spPr>
            <a:xfrm>
              <a:off x="1932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13" name="Line 186"/>
            <p:cNvSpPr/>
            <p:nvPr/>
          </p:nvSpPr>
          <p:spPr>
            <a:xfrm>
              <a:off x="2355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14" name="Line 187"/>
            <p:cNvSpPr/>
            <p:nvPr/>
          </p:nvSpPr>
          <p:spPr>
            <a:xfrm>
              <a:off x="1484" y="3456"/>
              <a:ext cx="111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50" name="Group 188"/>
          <p:cNvGrpSpPr/>
          <p:nvPr/>
        </p:nvGrpSpPr>
        <p:grpSpPr>
          <a:xfrm>
            <a:off x="6421438" y="1376363"/>
            <a:ext cx="2398712" cy="358639"/>
            <a:chOff x="1152" y="3456"/>
            <a:chExt cx="1511" cy="302"/>
          </a:xfrm>
        </p:grpSpPr>
        <p:sp>
          <p:nvSpPr>
            <p:cNvPr id="1049015" name="Text Box 189"/>
            <p:cNvSpPr txBox="1"/>
            <p:nvPr/>
          </p:nvSpPr>
          <p:spPr>
            <a:xfrm>
              <a:off x="1152" y="3456"/>
              <a:ext cx="1511" cy="30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A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W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L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＋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3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S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R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＋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1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S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L</a:t>
              </a:r>
            </a:p>
          </p:txBody>
        </p:sp>
        <p:sp>
          <p:nvSpPr>
            <p:cNvPr id="1049016" name="Line 190"/>
            <p:cNvSpPr/>
            <p:nvPr/>
          </p:nvSpPr>
          <p:spPr>
            <a:xfrm>
              <a:off x="1484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17" name="Line 191"/>
            <p:cNvSpPr/>
            <p:nvPr/>
          </p:nvSpPr>
          <p:spPr>
            <a:xfrm>
              <a:off x="1926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18" name="Line 192"/>
            <p:cNvSpPr/>
            <p:nvPr/>
          </p:nvSpPr>
          <p:spPr>
            <a:xfrm>
              <a:off x="2346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19" name="Line 193"/>
            <p:cNvSpPr/>
            <p:nvPr/>
          </p:nvSpPr>
          <p:spPr>
            <a:xfrm>
              <a:off x="1484" y="3456"/>
              <a:ext cx="111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51" name="Group 194"/>
          <p:cNvGrpSpPr/>
          <p:nvPr/>
        </p:nvGrpSpPr>
        <p:grpSpPr>
          <a:xfrm>
            <a:off x="6421438" y="1776413"/>
            <a:ext cx="2327275" cy="358639"/>
            <a:chOff x="1152" y="3456"/>
            <a:chExt cx="1466" cy="302"/>
          </a:xfrm>
        </p:grpSpPr>
        <p:sp>
          <p:nvSpPr>
            <p:cNvPr id="1049020" name="Text Box 195"/>
            <p:cNvSpPr txBox="1"/>
            <p:nvPr/>
          </p:nvSpPr>
          <p:spPr>
            <a:xfrm>
              <a:off x="1152" y="3456"/>
              <a:ext cx="1466" cy="30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1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A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1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W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L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＋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S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R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＋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0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S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L</a:t>
              </a:r>
            </a:p>
          </p:txBody>
        </p:sp>
        <p:sp>
          <p:nvSpPr>
            <p:cNvPr id="1049021" name="Line 196"/>
            <p:cNvSpPr/>
            <p:nvPr/>
          </p:nvSpPr>
          <p:spPr>
            <a:xfrm>
              <a:off x="1484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22" name="Line 197"/>
            <p:cNvSpPr/>
            <p:nvPr/>
          </p:nvSpPr>
          <p:spPr>
            <a:xfrm>
              <a:off x="1914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23" name="Line 198"/>
            <p:cNvSpPr/>
            <p:nvPr/>
          </p:nvSpPr>
          <p:spPr>
            <a:xfrm>
              <a:off x="2312" y="3504"/>
              <a:ext cx="91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024" name="Line 199"/>
            <p:cNvSpPr/>
            <p:nvPr/>
          </p:nvSpPr>
          <p:spPr>
            <a:xfrm>
              <a:off x="1490" y="3456"/>
              <a:ext cx="1066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49025" name="AutoShape 202"/>
          <p:cNvSpPr/>
          <p:nvPr/>
        </p:nvSpPr>
        <p:spPr>
          <a:xfrm>
            <a:off x="6192838" y="1147763"/>
            <a:ext cx="228600" cy="742950"/>
          </a:xfrm>
          <a:prstGeom prst="leftBrace">
            <a:avLst>
              <a:gd name="adj1" fmla="val 36111"/>
              <a:gd name="adj2" fmla="val 50000"/>
            </a:avLst>
          </a:prstGeom>
          <a:noFill/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49026" name="Text Box 373"/>
          <p:cNvSpPr txBox="1"/>
          <p:nvPr/>
        </p:nvSpPr>
        <p:spPr>
          <a:xfrm>
            <a:off x="5580063" y="2646363"/>
            <a:ext cx="1081087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输出方程</a:t>
            </a:r>
          </a:p>
        </p:txBody>
      </p:sp>
      <p:grpSp>
        <p:nvGrpSpPr>
          <p:cNvPr id="152" name="Group 162"/>
          <p:cNvGrpSpPr/>
          <p:nvPr/>
        </p:nvGrpSpPr>
        <p:grpSpPr>
          <a:xfrm>
            <a:off x="6907213" y="2333625"/>
            <a:ext cx="1349374" cy="358567"/>
            <a:chOff x="360" y="3504"/>
            <a:chExt cx="850" cy="300"/>
          </a:xfrm>
        </p:grpSpPr>
        <p:grpSp>
          <p:nvGrpSpPr>
            <p:cNvPr id="153" name="Group 163"/>
            <p:cNvGrpSpPr/>
            <p:nvPr/>
          </p:nvGrpSpPr>
          <p:grpSpPr>
            <a:xfrm>
              <a:off x="360" y="3504"/>
              <a:ext cx="337" cy="300"/>
              <a:chOff x="1224" y="3936"/>
              <a:chExt cx="337" cy="300"/>
            </a:xfrm>
          </p:grpSpPr>
          <p:sp>
            <p:nvSpPr>
              <p:cNvPr id="1049027" name="Text Box 164"/>
              <p:cNvSpPr txBox="1"/>
              <p:nvPr/>
            </p:nvSpPr>
            <p:spPr>
              <a:xfrm>
                <a:off x="1225" y="3936"/>
                <a:ext cx="336" cy="300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</a:t>
                </a:r>
              </a:p>
            </p:txBody>
          </p:sp>
          <p:sp>
            <p:nvSpPr>
              <p:cNvPr id="1049028" name="Line 165"/>
              <p:cNvSpPr/>
              <p:nvPr/>
            </p:nvSpPr>
            <p:spPr>
              <a:xfrm>
                <a:off x="1224" y="398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029" name="Text Box 166"/>
            <p:cNvSpPr txBox="1"/>
            <p:nvPr/>
          </p:nvSpPr>
          <p:spPr>
            <a:xfrm>
              <a:off x="543" y="3504"/>
              <a:ext cx="667" cy="30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3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E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n</a:t>
              </a:r>
            </a:p>
          </p:txBody>
        </p:sp>
        <p:sp>
          <p:nvSpPr>
            <p:cNvPr id="1049030" name="Line 167"/>
            <p:cNvSpPr/>
            <p:nvPr/>
          </p:nvSpPr>
          <p:spPr>
            <a:xfrm>
              <a:off x="732" y="3552"/>
              <a:ext cx="227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54" name="Group 169"/>
          <p:cNvGrpSpPr/>
          <p:nvPr/>
        </p:nvGrpSpPr>
        <p:grpSpPr>
          <a:xfrm>
            <a:off x="6907213" y="2676525"/>
            <a:ext cx="1214437" cy="358567"/>
            <a:chOff x="360" y="3504"/>
            <a:chExt cx="765" cy="300"/>
          </a:xfrm>
        </p:grpSpPr>
        <p:grpSp>
          <p:nvGrpSpPr>
            <p:cNvPr id="155" name="Group 170"/>
            <p:cNvGrpSpPr/>
            <p:nvPr/>
          </p:nvGrpSpPr>
          <p:grpSpPr>
            <a:xfrm>
              <a:off x="360" y="3504"/>
              <a:ext cx="337" cy="300"/>
              <a:chOff x="1224" y="3936"/>
              <a:chExt cx="337" cy="300"/>
            </a:xfrm>
          </p:grpSpPr>
          <p:sp>
            <p:nvSpPr>
              <p:cNvPr id="1049031" name="Text Box 171"/>
              <p:cNvSpPr txBox="1"/>
              <p:nvPr/>
            </p:nvSpPr>
            <p:spPr>
              <a:xfrm>
                <a:off x="1225" y="3936"/>
                <a:ext cx="336" cy="300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</a:p>
            </p:txBody>
          </p:sp>
          <p:sp>
            <p:nvSpPr>
              <p:cNvPr id="1049032" name="Line 172"/>
              <p:cNvSpPr/>
              <p:nvPr/>
            </p:nvSpPr>
            <p:spPr>
              <a:xfrm>
                <a:off x="1224" y="398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033" name="Text Box 173"/>
            <p:cNvSpPr txBox="1"/>
            <p:nvPr/>
          </p:nvSpPr>
          <p:spPr>
            <a:xfrm>
              <a:off x="548" y="3504"/>
              <a:ext cx="577" cy="30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E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n</a:t>
              </a:r>
            </a:p>
          </p:txBody>
        </p:sp>
        <p:sp>
          <p:nvSpPr>
            <p:cNvPr id="1049034" name="Line 174"/>
            <p:cNvSpPr/>
            <p:nvPr/>
          </p:nvSpPr>
          <p:spPr>
            <a:xfrm>
              <a:off x="732" y="3552"/>
              <a:ext cx="227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56" name="Group 175"/>
          <p:cNvGrpSpPr/>
          <p:nvPr/>
        </p:nvGrpSpPr>
        <p:grpSpPr>
          <a:xfrm>
            <a:off x="6907213" y="3019425"/>
            <a:ext cx="1182687" cy="358567"/>
            <a:chOff x="360" y="3504"/>
            <a:chExt cx="745" cy="300"/>
          </a:xfrm>
        </p:grpSpPr>
        <p:grpSp>
          <p:nvGrpSpPr>
            <p:cNvPr id="157" name="Group 176"/>
            <p:cNvGrpSpPr/>
            <p:nvPr/>
          </p:nvGrpSpPr>
          <p:grpSpPr>
            <a:xfrm>
              <a:off x="360" y="3504"/>
              <a:ext cx="337" cy="300"/>
              <a:chOff x="1224" y="3936"/>
              <a:chExt cx="337" cy="300"/>
            </a:xfrm>
          </p:grpSpPr>
          <p:sp>
            <p:nvSpPr>
              <p:cNvPr id="1049035" name="Text Box 177"/>
              <p:cNvSpPr txBox="1"/>
              <p:nvPr/>
            </p:nvSpPr>
            <p:spPr>
              <a:xfrm>
                <a:off x="1225" y="3936"/>
                <a:ext cx="336" cy="300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B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</a:p>
            </p:txBody>
          </p:sp>
          <p:sp>
            <p:nvSpPr>
              <p:cNvPr id="1049036" name="Line 178"/>
              <p:cNvSpPr/>
              <p:nvPr/>
            </p:nvSpPr>
            <p:spPr>
              <a:xfrm>
                <a:off x="1224" y="398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037" name="Text Box 179"/>
            <p:cNvSpPr txBox="1"/>
            <p:nvPr/>
          </p:nvSpPr>
          <p:spPr>
            <a:xfrm>
              <a:off x="528" y="3504"/>
              <a:ext cx="577" cy="30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1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E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n</a:t>
              </a:r>
            </a:p>
          </p:txBody>
        </p:sp>
        <p:sp>
          <p:nvSpPr>
            <p:cNvPr id="1049038" name="Line 180"/>
            <p:cNvSpPr/>
            <p:nvPr/>
          </p:nvSpPr>
          <p:spPr>
            <a:xfrm>
              <a:off x="734" y="3552"/>
              <a:ext cx="227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49039" name="AutoShape 204"/>
          <p:cNvSpPr/>
          <p:nvPr/>
        </p:nvSpPr>
        <p:spPr>
          <a:xfrm>
            <a:off x="6731000" y="2447925"/>
            <a:ext cx="215900" cy="742950"/>
          </a:xfrm>
          <a:prstGeom prst="leftBrace">
            <a:avLst>
              <a:gd name="adj1" fmla="val 27099"/>
              <a:gd name="adj2" fmla="val 50000"/>
            </a:avLst>
          </a:prstGeom>
          <a:noFill/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endParaRPr lang="zh-CN" altLang="en-US" sz="1400" dirty="0">
              <a:latin typeface="Arial" panose="020B0604020202090204" pitchFamily="34" charset="0"/>
            </a:endParaRPr>
          </a:p>
        </p:txBody>
      </p:sp>
      <p:grpSp>
        <p:nvGrpSpPr>
          <p:cNvPr id="158" name="Group 375"/>
          <p:cNvGrpSpPr/>
          <p:nvPr/>
        </p:nvGrpSpPr>
        <p:grpSpPr>
          <a:xfrm>
            <a:off x="6794500" y="3633788"/>
            <a:ext cx="1220788" cy="1981931"/>
            <a:chOff x="4263" y="3448"/>
            <a:chExt cx="769" cy="1666"/>
          </a:xfrm>
        </p:grpSpPr>
        <p:sp>
          <p:nvSpPr>
            <p:cNvPr id="1049040" name="Text Box 201"/>
            <p:cNvSpPr txBox="1"/>
            <p:nvPr/>
          </p:nvSpPr>
          <p:spPr>
            <a:xfrm>
              <a:off x="4360" y="3448"/>
              <a:ext cx="672" cy="16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Times New Roman" panose="02020503050405090304" pitchFamily="18" charset="0"/>
                </a:rPr>
                <a:t>3</a:t>
              </a:r>
              <a:r>
                <a:rPr lang="en-US" altLang="zh-CN" sz="1400" b="1" baseline="30000" dirty="0">
                  <a:latin typeface="Times New Roman" panose="02020503050405090304" pitchFamily="18" charset="0"/>
                </a:rPr>
                <a:t>n+1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Times New Roman" panose="02020503050405090304" pitchFamily="18" charset="0"/>
                </a:rPr>
                <a:t>2</a:t>
              </a:r>
              <a:r>
                <a:rPr lang="en-US" altLang="zh-CN" sz="1400" b="1" baseline="30000" dirty="0">
                  <a:latin typeface="Times New Roman" panose="02020503050405090304" pitchFamily="18" charset="0"/>
                </a:rPr>
                <a:t>n+1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400" b="1" baseline="-25000" dirty="0">
                  <a:latin typeface="Times New Roman" panose="02020503050405090304" pitchFamily="18" charset="0"/>
                </a:rPr>
                <a:t>1</a:t>
              </a:r>
              <a:r>
                <a:rPr lang="en-US" altLang="zh-CN" sz="1400" b="1" baseline="30000" dirty="0">
                  <a:latin typeface="Times New Roman" panose="02020503050405090304" pitchFamily="18" charset="0"/>
                </a:rPr>
                <a:t>n+1 </a:t>
              </a:r>
              <a:r>
                <a:rPr lang="zh-CN" altLang="en-US" sz="14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4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1</a:t>
              </a:r>
            </a:p>
          </p:txBody>
        </p:sp>
        <p:sp>
          <p:nvSpPr>
            <p:cNvPr id="1049041" name="AutoShape 203"/>
            <p:cNvSpPr/>
            <p:nvPr/>
          </p:nvSpPr>
          <p:spPr>
            <a:xfrm>
              <a:off x="4263" y="3591"/>
              <a:ext cx="136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1400" dirty="0">
                <a:latin typeface="Arial" panose="020B0604020202090204" pitchFamily="34" charset="0"/>
              </a:endParaRPr>
            </a:p>
          </p:txBody>
        </p:sp>
      </p:grpSp>
      <p:sp>
        <p:nvSpPr>
          <p:cNvPr id="1049042" name="Text Box 373"/>
          <p:cNvSpPr txBox="1"/>
          <p:nvPr/>
        </p:nvSpPr>
        <p:spPr>
          <a:xfrm>
            <a:off x="5634038" y="4003675"/>
            <a:ext cx="1081087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次态方程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47870" y="1760855"/>
            <a:ext cx="487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215" y="1649095"/>
            <a:ext cx="487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4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4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4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88" grpId="0" bldLvl="0" animBg="1"/>
      <p:bldP spid="1049009" grpId="0"/>
      <p:bldP spid="1049025" grpId="0" animBg="1"/>
      <p:bldP spid="1049026" grpId="0"/>
      <p:bldP spid="1049039" grpId="0" animBg="1"/>
      <p:bldP spid="10490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双向移位寄存器</a:t>
            </a:r>
            <a:r>
              <a:rPr kumimoji="1" lang="en-US" altLang="zh-CN" kern="1200" noProof="0" dirty="0">
                <a:cs typeface="+mn-cs"/>
                <a:sym typeface="+mn-ea"/>
              </a:rPr>
              <a:t>——</a:t>
            </a:r>
            <a:r>
              <a:rPr kumimoji="1" lang="zh-CN" altLang="en-US" kern="1200" noProof="0" dirty="0">
                <a:cs typeface="+mn-cs"/>
                <a:sym typeface="+mn-ea"/>
              </a:rPr>
              <a:t>写入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当</a:t>
            </a:r>
            <a:r>
              <a:rPr lang="en-US" altLang="zh-CN" sz="2800" b="1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CP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上升沿到来时，将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A</a:t>
            </a:r>
            <a:r>
              <a:rPr lang="en-US" altLang="zh-CN" sz="2800" b="1" baseline="-25000" dirty="0">
                <a:latin typeface="Arial" panose="020B0604020202090204" pitchFamily="34" charset="0"/>
                <a:sym typeface="+mn-ea"/>
              </a:rPr>
              <a:t>1 </a:t>
            </a:r>
            <a:r>
              <a:rPr lang="zh-CN" altLang="en-US" sz="2800" b="1" dirty="0">
                <a:latin typeface="Arial" panose="020B0604020202090204" pitchFamily="34" charset="0"/>
                <a:sym typeface="+mn-ea"/>
              </a:rPr>
              <a:t>～ 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A</a:t>
            </a:r>
            <a:r>
              <a:rPr lang="en-US" altLang="zh-CN" sz="2800" b="1" baseline="-25000" dirty="0">
                <a:latin typeface="Arial" panose="020B0604020202090204" pitchFamily="34" charset="0"/>
                <a:sym typeface="+mn-ea"/>
              </a:rPr>
              <a:t>3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写入寄存器中</a:t>
            </a:r>
          </a:p>
        </p:txBody>
      </p:sp>
      <p:sp>
        <p:nvSpPr>
          <p:cNvPr id="1049217" name="Text Box 5"/>
          <p:cNvSpPr txBox="1"/>
          <p:nvPr/>
        </p:nvSpPr>
        <p:spPr>
          <a:xfrm>
            <a:off x="5436871" y="1537970"/>
            <a:ext cx="29724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latin typeface="Arial" panose="020B0604020202090204" pitchFamily="34" charset="0"/>
              </a:rPr>
              <a:t>W</a:t>
            </a:r>
            <a:r>
              <a:rPr lang="en-US" altLang="zh-CN" b="1" baseline="-25000" dirty="0">
                <a:solidFill>
                  <a:srgbClr val="C00000"/>
                </a:solidFill>
                <a:latin typeface="Arial" panose="020B0604020202090204" pitchFamily="34" charset="0"/>
              </a:rPr>
              <a:t>L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90204" pitchFamily="34" charset="0"/>
              </a:rPr>
              <a:t> =</a:t>
            </a:r>
            <a:r>
              <a:rPr lang="en-US" altLang="zh-CN" b="1" baseline="-25000" dirty="0">
                <a:solidFill>
                  <a:srgbClr val="C00000"/>
                </a:solidFill>
                <a:latin typeface="Arial" panose="020B0604020202090204" pitchFamily="34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90204" pitchFamily="34" charset="0"/>
              </a:rPr>
              <a:t>1</a:t>
            </a:r>
            <a:r>
              <a:rPr lang="en-US" altLang="zh-CN" b="1" dirty="0">
                <a:latin typeface="Arial" panose="020B0604020202090204" pitchFamily="34" charset="0"/>
              </a:rPr>
              <a:t>, S</a:t>
            </a:r>
            <a:r>
              <a:rPr lang="en-US" altLang="zh-CN" b="1" baseline="-25000" dirty="0">
                <a:latin typeface="Arial" panose="020B0604020202090204" pitchFamily="34" charset="0"/>
              </a:rPr>
              <a:t>R </a:t>
            </a:r>
            <a:r>
              <a:rPr lang="en-US" altLang="zh-CN" b="1" dirty="0">
                <a:latin typeface="Arial" panose="020B0604020202090204" pitchFamily="34" charset="0"/>
              </a:rPr>
              <a:t>=</a:t>
            </a:r>
            <a:r>
              <a:rPr lang="zh-CN" altLang="en-US" b="1" baseline="-25000" dirty="0">
                <a:latin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</a:rPr>
              <a:t>S</a:t>
            </a:r>
            <a:r>
              <a:rPr lang="en-US" altLang="zh-CN" b="1" baseline="-25000" dirty="0">
                <a:latin typeface="Arial" panose="020B0604020202090204" pitchFamily="34" charset="0"/>
              </a:rPr>
              <a:t>L </a:t>
            </a:r>
            <a:r>
              <a:rPr lang="en-US" altLang="zh-CN" b="1" dirty="0">
                <a:latin typeface="Arial" panose="020B0604020202090204" pitchFamily="34" charset="0"/>
              </a:rPr>
              <a:t>= 0</a:t>
            </a:r>
          </a:p>
        </p:txBody>
      </p:sp>
      <p:grpSp>
        <p:nvGrpSpPr>
          <p:cNvPr id="227" name="组合 258"/>
          <p:cNvGrpSpPr/>
          <p:nvPr/>
        </p:nvGrpSpPr>
        <p:grpSpPr>
          <a:xfrm>
            <a:off x="5387341" y="3413125"/>
            <a:ext cx="3302051" cy="1032603"/>
            <a:chOff x="5378958" y="2273391"/>
            <a:chExt cx="3301420" cy="1033178"/>
          </a:xfrm>
        </p:grpSpPr>
        <p:grpSp>
          <p:nvGrpSpPr>
            <p:cNvPr id="228" name="Group 375"/>
            <p:cNvGrpSpPr/>
            <p:nvPr/>
          </p:nvGrpSpPr>
          <p:grpSpPr>
            <a:xfrm>
              <a:off x="6595990" y="2273391"/>
              <a:ext cx="2084388" cy="1033178"/>
              <a:chOff x="4263" y="3448"/>
              <a:chExt cx="1313" cy="868"/>
            </a:xfrm>
          </p:grpSpPr>
          <p:sp>
            <p:nvSpPr>
              <p:cNvPr id="1049220" name="Text Box 201"/>
              <p:cNvSpPr txBox="1"/>
              <p:nvPr/>
            </p:nvSpPr>
            <p:spPr>
              <a:xfrm>
                <a:off x="4360" y="3448"/>
                <a:ext cx="1216" cy="8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Times New Roman" panose="02020503050405090304" pitchFamily="18" charset="0"/>
                  </a:rPr>
                  <a:t>3</a:t>
                </a:r>
                <a:r>
                  <a:rPr lang="en-US" altLang="zh-CN" sz="1800" b="1" baseline="30000" dirty="0">
                    <a:latin typeface="Times New Roman" panose="02020503050405090304" pitchFamily="18" charset="0"/>
                  </a:rPr>
                  <a:t>n+1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3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Times New Roman" panose="02020503050405090304" pitchFamily="18" charset="0"/>
                  </a:rPr>
                  <a:t>2</a:t>
                </a:r>
                <a:r>
                  <a:rPr lang="en-US" altLang="zh-CN" sz="1800" b="1" baseline="30000" dirty="0">
                    <a:latin typeface="Times New Roman" panose="02020503050405090304" pitchFamily="18" charset="0"/>
                  </a:rPr>
                  <a:t>n+1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2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Times New Roman" panose="02020503050405090304" pitchFamily="18" charset="0"/>
                  </a:rPr>
                  <a:t>1</a:t>
                </a:r>
                <a:r>
                  <a:rPr lang="en-US" altLang="zh-CN" sz="1800" b="1" baseline="30000" dirty="0">
                    <a:latin typeface="Times New Roman" panose="02020503050405090304" pitchFamily="18" charset="0"/>
                  </a:rPr>
                  <a:t>n+1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1</a:t>
                </a:r>
              </a:p>
            </p:txBody>
          </p:sp>
          <p:sp>
            <p:nvSpPr>
              <p:cNvPr id="1049221" name="AutoShape 203"/>
              <p:cNvSpPr/>
              <p:nvPr/>
            </p:nvSpPr>
            <p:spPr>
              <a:xfrm>
                <a:off x="4263" y="3591"/>
                <a:ext cx="136" cy="576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spcBef>
                    <a:spcPct val="50000"/>
                  </a:spcBef>
                </a:pPr>
                <a:endParaRPr lang="zh-CN" altLang="en-US" sz="1400" dirty="0"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1049222" name="Text Box 373"/>
            <p:cNvSpPr txBox="1"/>
            <p:nvPr/>
          </p:nvSpPr>
          <p:spPr>
            <a:xfrm>
              <a:off x="5378958" y="2615212"/>
              <a:ext cx="1328166" cy="39900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次态方程</a:t>
              </a:r>
            </a:p>
          </p:txBody>
        </p:sp>
      </p:grpSp>
      <p:grpSp>
        <p:nvGrpSpPr>
          <p:cNvPr id="229" name="组合 186"/>
          <p:cNvGrpSpPr/>
          <p:nvPr/>
        </p:nvGrpSpPr>
        <p:grpSpPr>
          <a:xfrm>
            <a:off x="98425" y="1336675"/>
            <a:ext cx="5262563" cy="3680778"/>
            <a:chOff x="182603" y="756156"/>
            <a:chExt cx="5263018" cy="3681975"/>
          </a:xfrm>
        </p:grpSpPr>
        <p:sp>
          <p:nvSpPr>
            <p:cNvPr id="1049223" name="椭圆 93"/>
            <p:cNvSpPr/>
            <p:nvPr/>
          </p:nvSpPr>
          <p:spPr>
            <a:xfrm>
              <a:off x="935450" y="1139205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224" name="椭圆 93"/>
            <p:cNvSpPr/>
            <p:nvPr/>
          </p:nvSpPr>
          <p:spPr>
            <a:xfrm>
              <a:off x="2379231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225" name="椭圆 93"/>
            <p:cNvSpPr/>
            <p:nvPr/>
          </p:nvSpPr>
          <p:spPr>
            <a:xfrm>
              <a:off x="3818052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30" name="组合 33"/>
            <p:cNvGrpSpPr/>
            <p:nvPr/>
          </p:nvGrpSpPr>
          <p:grpSpPr>
            <a:xfrm>
              <a:off x="758667" y="1367809"/>
              <a:ext cx="708026" cy="972038"/>
              <a:chOff x="6090521" y="3016910"/>
              <a:chExt cx="708026" cy="972089"/>
            </a:xfrm>
          </p:grpSpPr>
          <p:cxnSp>
            <p:nvCxnSpPr>
              <p:cNvPr id="3145831" name="直接连接符 34"/>
              <p:cNvCxnSpPr/>
              <p:nvPr/>
            </p:nvCxnSpPr>
            <p:spPr>
              <a:xfrm rot="5400000">
                <a:off x="6217848" y="3737447"/>
                <a:ext cx="396021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grpSp>
            <p:nvGrpSpPr>
              <p:cNvPr id="231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832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33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226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227" name="TextBox 253"/>
                <p:cNvSpPr txBox="1">
                  <a:spLocks noChangeArrowheads="1"/>
                </p:cNvSpPr>
                <p:nvPr/>
              </p:nvSpPr>
              <p:spPr bwMode="auto">
                <a:xfrm>
                  <a:off x="2214824" y="2809182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228" name="TextBox 254"/>
                <p:cNvSpPr txBox="1">
                  <a:spLocks noChangeArrowheads="1"/>
                </p:cNvSpPr>
                <p:nvPr/>
              </p:nvSpPr>
              <p:spPr bwMode="auto">
                <a:xfrm>
                  <a:off x="1863955" y="2618580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229" name="TextBox 255"/>
                <p:cNvSpPr txBox="1">
                  <a:spLocks noChangeArrowheads="1"/>
                </p:cNvSpPr>
                <p:nvPr/>
              </p:nvSpPr>
              <p:spPr bwMode="auto">
                <a:xfrm>
                  <a:off x="2211649" y="2628110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34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230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231" name="TextBox 249"/>
              <p:cNvSpPr txBox="1">
                <a:spLocks noChangeArrowheads="1"/>
              </p:cNvSpPr>
              <p:nvPr/>
            </p:nvSpPr>
            <p:spPr bwMode="auto">
              <a:xfrm>
                <a:off x="6252709" y="3586771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232" name="椭圆 93"/>
            <p:cNvSpPr/>
            <p:nvPr/>
          </p:nvSpPr>
          <p:spPr>
            <a:xfrm>
              <a:off x="686659" y="1987302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32" name="组合 33"/>
            <p:cNvGrpSpPr/>
            <p:nvPr/>
          </p:nvGrpSpPr>
          <p:grpSpPr>
            <a:xfrm>
              <a:off x="2208352" y="1367804"/>
              <a:ext cx="708026" cy="972036"/>
              <a:chOff x="6090521" y="3016910"/>
              <a:chExt cx="708026" cy="972089"/>
            </a:xfrm>
          </p:grpSpPr>
          <p:cxnSp>
            <p:nvCxnSpPr>
              <p:cNvPr id="3145835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233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836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37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233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234" name="TextBox 242"/>
                <p:cNvSpPr txBox="1">
                  <a:spLocks noChangeArrowheads="1"/>
                </p:cNvSpPr>
                <p:nvPr/>
              </p:nvSpPr>
              <p:spPr bwMode="auto">
                <a:xfrm>
                  <a:off x="2214652" y="2809188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235" name="TextBox 243"/>
                <p:cNvSpPr txBox="1">
                  <a:spLocks noChangeArrowheads="1"/>
                </p:cNvSpPr>
                <p:nvPr/>
              </p:nvSpPr>
              <p:spPr bwMode="auto">
                <a:xfrm>
                  <a:off x="1863782" y="2618586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236" name="TextBox 244"/>
                <p:cNvSpPr txBox="1">
                  <a:spLocks noChangeArrowheads="1"/>
                </p:cNvSpPr>
                <p:nvPr/>
              </p:nvSpPr>
              <p:spPr bwMode="auto">
                <a:xfrm>
                  <a:off x="2211477" y="2628116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38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237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238" name="TextBox 238"/>
              <p:cNvSpPr txBox="1">
                <a:spLocks noChangeArrowheads="1"/>
              </p:cNvSpPr>
              <p:nvPr/>
            </p:nvSpPr>
            <p:spPr bwMode="auto">
              <a:xfrm>
                <a:off x="6252536" y="3586777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239" name="椭圆 93"/>
            <p:cNvSpPr/>
            <p:nvPr/>
          </p:nvSpPr>
          <p:spPr>
            <a:xfrm>
              <a:off x="2141108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34" name="组合 33"/>
            <p:cNvGrpSpPr/>
            <p:nvPr/>
          </p:nvGrpSpPr>
          <p:grpSpPr>
            <a:xfrm>
              <a:off x="3638987" y="1367803"/>
              <a:ext cx="708026" cy="972024"/>
              <a:chOff x="6090521" y="3016909"/>
              <a:chExt cx="708026" cy="972077"/>
            </a:xfrm>
          </p:grpSpPr>
          <p:cxnSp>
            <p:nvCxnSpPr>
              <p:cNvPr id="3145839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235" name="组合 16"/>
              <p:cNvGrpSpPr/>
              <p:nvPr/>
            </p:nvGrpSpPr>
            <p:grpSpPr>
              <a:xfrm>
                <a:off x="6090521" y="3016909"/>
                <a:ext cx="708026" cy="972077"/>
                <a:chOff x="1863706" y="2178882"/>
                <a:chExt cx="708030" cy="972234"/>
              </a:xfrm>
            </p:grpSpPr>
            <p:cxnSp>
              <p:nvCxnSpPr>
                <p:cNvPr id="3145840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41" name="直接连接符 18"/>
                <p:cNvCxnSpPr/>
                <p:nvPr/>
              </p:nvCxnSpPr>
              <p:spPr>
                <a:xfrm rot="5400000">
                  <a:off x="1640154" y="2538165"/>
                  <a:ext cx="72015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240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241" name="TextBox 231"/>
                <p:cNvSpPr txBox="1">
                  <a:spLocks noChangeArrowheads="1"/>
                </p:cNvSpPr>
                <p:nvPr/>
              </p:nvSpPr>
              <p:spPr bwMode="auto">
                <a:xfrm>
                  <a:off x="2214478" y="2809200"/>
                  <a:ext cx="357221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242" name="TextBox 232"/>
                <p:cNvSpPr txBox="1">
                  <a:spLocks noChangeArrowheads="1"/>
                </p:cNvSpPr>
                <p:nvPr/>
              </p:nvSpPr>
              <p:spPr bwMode="auto">
                <a:xfrm>
                  <a:off x="1863609" y="2618597"/>
                  <a:ext cx="357220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243" name="TextBox 233"/>
                <p:cNvSpPr txBox="1">
                  <a:spLocks noChangeArrowheads="1"/>
                </p:cNvSpPr>
                <p:nvPr/>
              </p:nvSpPr>
              <p:spPr bwMode="auto">
                <a:xfrm>
                  <a:off x="2211303" y="2628127"/>
                  <a:ext cx="357221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42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244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245" name="TextBox 227"/>
              <p:cNvSpPr txBox="1">
                <a:spLocks noChangeArrowheads="1"/>
              </p:cNvSpPr>
              <p:nvPr/>
            </p:nvSpPr>
            <p:spPr bwMode="auto">
              <a:xfrm>
                <a:off x="6252363" y="3586777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246" name="椭圆 93"/>
            <p:cNvSpPr/>
            <p:nvPr/>
          </p:nvSpPr>
          <p:spPr>
            <a:xfrm>
              <a:off x="3566979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247" name="Line 25"/>
            <p:cNvSpPr/>
            <p:nvPr/>
          </p:nvSpPr>
          <p:spPr>
            <a:xfrm rot="-5400000">
              <a:off x="843509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48" name="Line 26"/>
            <p:cNvSpPr/>
            <p:nvPr/>
          </p:nvSpPr>
          <p:spPr>
            <a:xfrm rot="-5400000">
              <a:off x="1474156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49" name="Line 27"/>
            <p:cNvSpPr/>
            <p:nvPr/>
          </p:nvSpPr>
          <p:spPr>
            <a:xfrm rot="-5400000">
              <a:off x="1055994" y="3065479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50" name="Line 28"/>
            <p:cNvSpPr/>
            <p:nvPr/>
          </p:nvSpPr>
          <p:spPr>
            <a:xfrm rot="-5400000" flipV="1">
              <a:off x="1467466" y="3049986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51" name="Line 29"/>
            <p:cNvSpPr/>
            <p:nvPr/>
          </p:nvSpPr>
          <p:spPr>
            <a:xfrm rot="-5400000">
              <a:off x="653281" y="3849442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52" name="Line 30"/>
            <p:cNvSpPr/>
            <p:nvPr/>
          </p:nvSpPr>
          <p:spPr>
            <a:xfrm rot="-5400000">
              <a:off x="907617" y="3782582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53" name="Line 31"/>
            <p:cNvSpPr/>
            <p:nvPr/>
          </p:nvSpPr>
          <p:spPr>
            <a:xfrm rot="-5400000">
              <a:off x="1273766" y="384047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54" name="Line 32"/>
            <p:cNvSpPr/>
            <p:nvPr/>
          </p:nvSpPr>
          <p:spPr>
            <a:xfrm rot="-5400000">
              <a:off x="1594953" y="3672069"/>
              <a:ext cx="144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55" name="AutoShape 29"/>
            <p:cNvSpPr>
              <a:spLocks noChangeAspect="1" noTextEdit="1"/>
            </p:cNvSpPr>
            <p:nvPr/>
          </p:nvSpPr>
          <p:spPr>
            <a:xfrm rot="-5400000">
              <a:off x="909378" y="2501021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56" name="Freeform 32"/>
            <p:cNvSpPr/>
            <p:nvPr/>
          </p:nvSpPr>
          <p:spPr>
            <a:xfrm rot="-5400000">
              <a:off x="948107" y="2644965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57" name="Freeform 33"/>
            <p:cNvSpPr/>
            <p:nvPr/>
          </p:nvSpPr>
          <p:spPr>
            <a:xfrm rot="-5400000">
              <a:off x="1120918" y="2664377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58" name="Freeform 34"/>
            <p:cNvSpPr/>
            <p:nvPr/>
          </p:nvSpPr>
          <p:spPr>
            <a:xfrm rot="-5400000">
              <a:off x="1223716" y="2767173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59" name="Oval 35"/>
            <p:cNvSpPr/>
            <p:nvPr/>
          </p:nvSpPr>
          <p:spPr>
            <a:xfrm rot="-5400000">
              <a:off x="1230091" y="2469710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260" name="流程图: 延期 92"/>
            <p:cNvSpPr>
              <a:spLocks noChangeArrowheads="1"/>
            </p:cNvSpPr>
            <p:nvPr/>
          </p:nvSpPr>
          <p:spPr bwMode="auto">
            <a:xfrm rot="16200000">
              <a:off x="808098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261" name="流程图: 延期 92"/>
            <p:cNvSpPr>
              <a:spLocks noChangeArrowheads="1"/>
            </p:cNvSpPr>
            <p:nvPr/>
          </p:nvSpPr>
          <p:spPr bwMode="auto">
            <a:xfrm rot="16200000">
              <a:off x="1436802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262" name="Line 38"/>
            <p:cNvSpPr/>
            <p:nvPr/>
          </p:nvSpPr>
          <p:spPr>
            <a:xfrm rot="-5400000">
              <a:off x="1039835" y="3050388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63" name="Line 39"/>
            <p:cNvSpPr/>
            <p:nvPr/>
          </p:nvSpPr>
          <p:spPr>
            <a:xfrm rot="-5400000">
              <a:off x="1212243" y="3037032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64" name="Line 31"/>
            <p:cNvSpPr/>
            <p:nvPr/>
          </p:nvSpPr>
          <p:spPr>
            <a:xfrm rot="-5400000">
              <a:off x="952396" y="384544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65" name="Line 32"/>
            <p:cNvSpPr/>
            <p:nvPr/>
          </p:nvSpPr>
          <p:spPr>
            <a:xfrm rot="-5400000">
              <a:off x="1242346" y="3743706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66" name="流程图: 延期 92"/>
            <p:cNvSpPr>
              <a:spLocks noChangeArrowheads="1"/>
            </p:cNvSpPr>
            <p:nvPr/>
          </p:nvSpPr>
          <p:spPr bwMode="auto">
            <a:xfrm rot="16200000">
              <a:off x="1119275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843" name="直接连接符 79"/>
            <p:cNvCxnSpPr>
              <a:stCxn id="1049258" idx="1"/>
              <a:endCxn id="1049266" idx="3"/>
            </p:cNvCxnSpPr>
            <p:nvPr/>
          </p:nvCxnSpPr>
          <p:spPr>
            <a:xfrm flipH="1">
              <a:off x="1262723" y="2879973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267" name="Line 40"/>
            <p:cNvSpPr/>
            <p:nvPr/>
          </p:nvSpPr>
          <p:spPr>
            <a:xfrm rot="-5400000">
              <a:off x="1173768" y="2386357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68" name="Line 25"/>
            <p:cNvSpPr/>
            <p:nvPr/>
          </p:nvSpPr>
          <p:spPr>
            <a:xfrm rot="-5400000">
              <a:off x="2287861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69" name="Line 26"/>
            <p:cNvSpPr/>
            <p:nvPr/>
          </p:nvSpPr>
          <p:spPr>
            <a:xfrm rot="-5400000">
              <a:off x="2918508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70" name="Line 27"/>
            <p:cNvSpPr/>
            <p:nvPr/>
          </p:nvSpPr>
          <p:spPr>
            <a:xfrm rot="-5400000">
              <a:off x="2500346" y="306316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71" name="Line 28"/>
            <p:cNvSpPr/>
            <p:nvPr/>
          </p:nvSpPr>
          <p:spPr>
            <a:xfrm rot="-5400000" flipV="1">
              <a:off x="2911818" y="3047670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72" name="Line 29"/>
            <p:cNvSpPr/>
            <p:nvPr/>
          </p:nvSpPr>
          <p:spPr>
            <a:xfrm rot="-5400000">
              <a:off x="2102396" y="384712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73" name="Line 30"/>
            <p:cNvSpPr/>
            <p:nvPr/>
          </p:nvSpPr>
          <p:spPr>
            <a:xfrm rot="-5400000">
              <a:off x="2351969" y="3780266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274" name="Line 31"/>
            <p:cNvSpPr/>
            <p:nvPr/>
          </p:nvSpPr>
          <p:spPr>
            <a:xfrm rot="-5400000">
              <a:off x="2713355" y="383816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75" name="Line 32"/>
            <p:cNvSpPr/>
            <p:nvPr/>
          </p:nvSpPr>
          <p:spPr>
            <a:xfrm rot="-5400000">
              <a:off x="3057305" y="3682059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276" name="AutoShape 29"/>
            <p:cNvSpPr>
              <a:spLocks noChangeAspect="1" noTextEdit="1"/>
            </p:cNvSpPr>
            <p:nvPr/>
          </p:nvSpPr>
          <p:spPr>
            <a:xfrm rot="-5400000">
              <a:off x="2353730" y="2498705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77" name="Freeform 32"/>
            <p:cNvSpPr/>
            <p:nvPr/>
          </p:nvSpPr>
          <p:spPr>
            <a:xfrm rot="-5400000">
              <a:off x="2392459" y="2642649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78" name="Freeform 33"/>
            <p:cNvSpPr/>
            <p:nvPr/>
          </p:nvSpPr>
          <p:spPr>
            <a:xfrm rot="-5400000">
              <a:off x="2565270" y="2662061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79" name="Freeform 34"/>
            <p:cNvSpPr/>
            <p:nvPr/>
          </p:nvSpPr>
          <p:spPr>
            <a:xfrm rot="-5400000">
              <a:off x="2668068" y="2764857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80" name="Oval 35"/>
            <p:cNvSpPr/>
            <p:nvPr/>
          </p:nvSpPr>
          <p:spPr>
            <a:xfrm rot="-5400000">
              <a:off x="2674443" y="2467394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281" name="流程图: 延期 92"/>
            <p:cNvSpPr>
              <a:spLocks noChangeArrowheads="1"/>
            </p:cNvSpPr>
            <p:nvPr/>
          </p:nvSpPr>
          <p:spPr bwMode="auto">
            <a:xfrm rot="16200000">
              <a:off x="2251261" y="3357360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282" name="流程图: 延期 92"/>
            <p:cNvSpPr>
              <a:spLocks noChangeArrowheads="1"/>
            </p:cNvSpPr>
            <p:nvPr/>
          </p:nvSpPr>
          <p:spPr bwMode="auto">
            <a:xfrm rot="16200000">
              <a:off x="2880760" y="3358153"/>
              <a:ext cx="285843" cy="28418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283" name="Line 38"/>
            <p:cNvSpPr/>
            <p:nvPr/>
          </p:nvSpPr>
          <p:spPr>
            <a:xfrm rot="-5400000">
              <a:off x="2484187" y="3048072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84" name="Line 39"/>
            <p:cNvSpPr/>
            <p:nvPr/>
          </p:nvSpPr>
          <p:spPr>
            <a:xfrm rot="-5400000">
              <a:off x="2656595" y="3034716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85" name="Line 31"/>
            <p:cNvSpPr/>
            <p:nvPr/>
          </p:nvSpPr>
          <p:spPr>
            <a:xfrm rot="-5400000">
              <a:off x="2396748" y="3843127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86" name="Line 32"/>
            <p:cNvSpPr/>
            <p:nvPr/>
          </p:nvSpPr>
          <p:spPr>
            <a:xfrm rot="-5400000">
              <a:off x="2677172" y="3731864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287" name="流程图: 延期 92"/>
            <p:cNvSpPr>
              <a:spLocks noChangeArrowheads="1"/>
            </p:cNvSpPr>
            <p:nvPr/>
          </p:nvSpPr>
          <p:spPr bwMode="auto">
            <a:xfrm rot="16200000">
              <a:off x="2564025" y="3357360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844" name="直接连接符 100"/>
            <p:cNvCxnSpPr>
              <a:stCxn id="1049279" idx="1"/>
              <a:endCxn id="1049287" idx="3"/>
            </p:cNvCxnSpPr>
            <p:nvPr/>
          </p:nvCxnSpPr>
          <p:spPr>
            <a:xfrm flipH="1">
              <a:off x="2707075" y="2877657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288" name="Line 40"/>
            <p:cNvSpPr/>
            <p:nvPr/>
          </p:nvSpPr>
          <p:spPr>
            <a:xfrm rot="-5400000">
              <a:off x="2618120" y="2384041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89" name="Line 25"/>
            <p:cNvSpPr/>
            <p:nvPr/>
          </p:nvSpPr>
          <p:spPr>
            <a:xfrm rot="-5400000">
              <a:off x="3724970" y="327145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90" name="Line 26"/>
            <p:cNvSpPr/>
            <p:nvPr/>
          </p:nvSpPr>
          <p:spPr>
            <a:xfrm rot="-5400000">
              <a:off x="4355617" y="3266694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91" name="Line 27"/>
            <p:cNvSpPr/>
            <p:nvPr/>
          </p:nvSpPr>
          <p:spPr>
            <a:xfrm rot="-5400000">
              <a:off x="3937455" y="305897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92" name="Line 28"/>
            <p:cNvSpPr/>
            <p:nvPr/>
          </p:nvSpPr>
          <p:spPr>
            <a:xfrm rot="-5400000" flipV="1">
              <a:off x="4348927" y="3038717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93" name="Line 29"/>
            <p:cNvSpPr/>
            <p:nvPr/>
          </p:nvSpPr>
          <p:spPr>
            <a:xfrm rot="-5400000">
              <a:off x="3563320" y="384293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94" name="Line 30"/>
            <p:cNvSpPr/>
            <p:nvPr/>
          </p:nvSpPr>
          <p:spPr>
            <a:xfrm rot="-5400000">
              <a:off x="3793841" y="3780839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295" name="Line 31"/>
            <p:cNvSpPr/>
            <p:nvPr/>
          </p:nvSpPr>
          <p:spPr>
            <a:xfrm rot="-5400000">
              <a:off x="4159990" y="3829210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296" name="Line 32"/>
            <p:cNvSpPr/>
            <p:nvPr/>
          </p:nvSpPr>
          <p:spPr>
            <a:xfrm rot="-5400000">
              <a:off x="4494414" y="3687395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297" name="AutoShape 29"/>
            <p:cNvSpPr>
              <a:spLocks noChangeAspect="1" noTextEdit="1"/>
            </p:cNvSpPr>
            <p:nvPr/>
          </p:nvSpPr>
          <p:spPr>
            <a:xfrm rot="-5400000">
              <a:off x="3781314" y="2489752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98" name="Freeform 32"/>
            <p:cNvSpPr/>
            <p:nvPr/>
          </p:nvSpPr>
          <p:spPr>
            <a:xfrm rot="-5400000">
              <a:off x="3829568" y="2633696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299" name="Freeform 33"/>
            <p:cNvSpPr/>
            <p:nvPr/>
          </p:nvSpPr>
          <p:spPr>
            <a:xfrm rot="-5400000">
              <a:off x="4002379" y="2653108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300" name="Freeform 34"/>
            <p:cNvSpPr/>
            <p:nvPr/>
          </p:nvSpPr>
          <p:spPr>
            <a:xfrm rot="-5400000">
              <a:off x="4105177" y="2755904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301" name="Oval 35"/>
            <p:cNvSpPr/>
            <p:nvPr/>
          </p:nvSpPr>
          <p:spPr>
            <a:xfrm rot="-5400000">
              <a:off x="4111552" y="2458441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302" name="流程图: 延期 92"/>
            <p:cNvSpPr>
              <a:spLocks noChangeArrowheads="1"/>
            </p:cNvSpPr>
            <p:nvPr/>
          </p:nvSpPr>
          <p:spPr bwMode="auto">
            <a:xfrm rot="16200000">
              <a:off x="3688072" y="3354184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303" name="流程图: 延期 92"/>
            <p:cNvSpPr>
              <a:spLocks noChangeArrowheads="1"/>
            </p:cNvSpPr>
            <p:nvPr/>
          </p:nvSpPr>
          <p:spPr bwMode="auto">
            <a:xfrm rot="16200000">
              <a:off x="4318364" y="3349421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304" name="Line 38"/>
            <p:cNvSpPr/>
            <p:nvPr/>
          </p:nvSpPr>
          <p:spPr>
            <a:xfrm rot="-5400000">
              <a:off x="3921296" y="3048646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305" name="Line 39"/>
            <p:cNvSpPr/>
            <p:nvPr/>
          </p:nvSpPr>
          <p:spPr>
            <a:xfrm rot="-5400000">
              <a:off x="4093704" y="3025763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306" name="Line 31"/>
            <p:cNvSpPr/>
            <p:nvPr/>
          </p:nvSpPr>
          <p:spPr>
            <a:xfrm rot="-5400000">
              <a:off x="3843383" y="383986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307" name="Line 32"/>
            <p:cNvSpPr/>
            <p:nvPr/>
          </p:nvSpPr>
          <p:spPr>
            <a:xfrm rot="-5400000">
              <a:off x="4123807" y="3732437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308" name="流程图: 延期 92"/>
            <p:cNvSpPr>
              <a:spLocks noChangeArrowheads="1"/>
            </p:cNvSpPr>
            <p:nvPr/>
          </p:nvSpPr>
          <p:spPr bwMode="auto">
            <a:xfrm rot="16200000">
              <a:off x="4000837" y="3349421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845" name="直接连接符 122"/>
            <p:cNvCxnSpPr>
              <a:stCxn id="1049300" idx="1"/>
              <a:endCxn id="1049308" idx="3"/>
            </p:cNvCxnSpPr>
            <p:nvPr/>
          </p:nvCxnSpPr>
          <p:spPr>
            <a:xfrm flipH="1">
              <a:off x="4144184" y="2868704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309" name="Line 40"/>
            <p:cNvSpPr/>
            <p:nvPr/>
          </p:nvSpPr>
          <p:spPr>
            <a:xfrm rot="-5400000">
              <a:off x="4055229" y="2375088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5846" name="直接连接符 125"/>
            <p:cNvCxnSpPr/>
            <p:nvPr/>
          </p:nvCxnSpPr>
          <p:spPr>
            <a:xfrm>
              <a:off x="106574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847" name="直接连接符 126"/>
            <p:cNvCxnSpPr/>
            <p:nvPr/>
          </p:nvCxnSpPr>
          <p:spPr>
            <a:xfrm>
              <a:off x="248685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848" name="直接连接符 127"/>
            <p:cNvCxnSpPr/>
            <p:nvPr/>
          </p:nvCxnSpPr>
          <p:spPr>
            <a:xfrm>
              <a:off x="392701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49" name="直接连接符 129"/>
            <p:cNvCxnSpPr/>
            <p:nvPr/>
          </p:nvCxnSpPr>
          <p:spPr>
            <a:xfrm flipH="1">
              <a:off x="615019" y="1635646"/>
              <a:ext cx="3312000" cy="0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310" name="Text Box 69"/>
            <p:cNvSpPr txBox="1"/>
            <p:nvPr/>
          </p:nvSpPr>
          <p:spPr>
            <a:xfrm>
              <a:off x="268650" y="1438672"/>
              <a:ext cx="346001" cy="32014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rgbClr val="660033"/>
                  </a:solidFill>
                  <a:latin typeface="Arial" panose="020B0604020202090204" pitchFamily="34" charset="0"/>
                </a:rPr>
                <a:t>En</a:t>
              </a:r>
            </a:p>
          </p:txBody>
        </p:sp>
        <p:sp>
          <p:nvSpPr>
            <p:cNvPr id="1049311" name="Line 70"/>
            <p:cNvSpPr/>
            <p:nvPr/>
          </p:nvSpPr>
          <p:spPr>
            <a:xfrm flipV="1">
              <a:off x="974691" y="932135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312" name="Line 70"/>
            <p:cNvSpPr/>
            <p:nvPr/>
          </p:nvSpPr>
          <p:spPr>
            <a:xfrm flipV="1">
              <a:off x="2414851" y="922610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313" name="Line 70"/>
            <p:cNvSpPr/>
            <p:nvPr/>
          </p:nvSpPr>
          <p:spPr>
            <a:xfrm flipV="1">
              <a:off x="3855011" y="915566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314" name="Text Box 75"/>
            <p:cNvSpPr txBox="1">
              <a:spLocks noChangeArrowheads="1"/>
            </p:cNvSpPr>
            <p:nvPr/>
          </p:nvSpPr>
          <p:spPr bwMode="auto">
            <a:xfrm>
              <a:off x="614440" y="756156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9315" name="Text Box 75"/>
            <p:cNvSpPr txBox="1">
              <a:spLocks noChangeArrowheads="1"/>
            </p:cNvSpPr>
            <p:nvPr/>
          </p:nvSpPr>
          <p:spPr bwMode="auto">
            <a:xfrm>
              <a:off x="2054428" y="779977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9316" name="Text Box 75"/>
            <p:cNvSpPr txBox="1">
              <a:spLocks noChangeArrowheads="1"/>
            </p:cNvSpPr>
            <p:nvPr/>
          </p:nvSpPr>
          <p:spPr bwMode="auto">
            <a:xfrm>
              <a:off x="3505528" y="757745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9317" name="流程图: 延期 92"/>
            <p:cNvSpPr/>
            <p:nvPr/>
          </p:nvSpPr>
          <p:spPr>
            <a:xfrm rot="-5400000">
              <a:off x="830675" y="1205880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318" name="流程图: 延期 92"/>
            <p:cNvSpPr/>
            <p:nvPr/>
          </p:nvSpPr>
          <p:spPr>
            <a:xfrm rot="-5400000">
              <a:off x="2274456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319" name="流程图: 延期 92"/>
            <p:cNvSpPr/>
            <p:nvPr/>
          </p:nvSpPr>
          <p:spPr>
            <a:xfrm rot="-5400000">
              <a:off x="3713277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850" name="直接连接符 137"/>
            <p:cNvCxnSpPr/>
            <p:nvPr/>
          </p:nvCxnSpPr>
          <p:spPr>
            <a:xfrm flipH="1">
              <a:off x="478449" y="2290192"/>
              <a:ext cx="349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320" name="Text Box 69"/>
            <p:cNvSpPr txBox="1"/>
            <p:nvPr/>
          </p:nvSpPr>
          <p:spPr>
            <a:xfrm>
              <a:off x="182603" y="2130429"/>
              <a:ext cx="374329" cy="32014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CP </a:t>
              </a:r>
            </a:p>
          </p:txBody>
        </p:sp>
        <p:cxnSp>
          <p:nvCxnSpPr>
            <p:cNvPr id="3145851" name="直接连接符 140"/>
            <p:cNvCxnSpPr/>
            <p:nvPr/>
          </p:nvCxnSpPr>
          <p:spPr>
            <a:xfrm>
              <a:off x="614651" y="2015877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52" name="直接连接符 142"/>
            <p:cNvCxnSpPr/>
            <p:nvPr/>
          </p:nvCxnSpPr>
          <p:spPr>
            <a:xfrm>
              <a:off x="619414" y="2011114"/>
              <a:ext cx="0" cy="3816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53" name="直接连接符 143"/>
            <p:cNvCxnSpPr/>
            <p:nvPr/>
          </p:nvCxnSpPr>
          <p:spPr>
            <a:xfrm flipH="1">
              <a:off x="621323" y="2390199"/>
              <a:ext cx="385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54" name="直接连接符 144"/>
            <p:cNvCxnSpPr/>
            <p:nvPr/>
          </p:nvCxnSpPr>
          <p:spPr>
            <a:xfrm>
              <a:off x="2059574" y="1996825"/>
              <a:ext cx="720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55" name="直接连接符 145"/>
            <p:cNvCxnSpPr/>
            <p:nvPr/>
          </p:nvCxnSpPr>
          <p:spPr>
            <a:xfrm>
              <a:off x="2064337" y="1992062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856" name="直接连接符 146"/>
            <p:cNvCxnSpPr/>
            <p:nvPr/>
          </p:nvCxnSpPr>
          <p:spPr>
            <a:xfrm>
              <a:off x="3494971" y="1998969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57" name="直接连接符 147"/>
            <p:cNvCxnSpPr/>
            <p:nvPr/>
          </p:nvCxnSpPr>
          <p:spPr>
            <a:xfrm>
              <a:off x="3499734" y="1994206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49321" name="Text Box 69"/>
            <p:cNvSpPr txBox="1"/>
            <p:nvPr/>
          </p:nvSpPr>
          <p:spPr>
            <a:xfrm>
              <a:off x="4441164" y="2222375"/>
              <a:ext cx="418868" cy="358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5858" name="直接连接符 150"/>
            <p:cNvCxnSpPr/>
            <p:nvPr/>
          </p:nvCxnSpPr>
          <p:spPr>
            <a:xfrm flipH="1">
              <a:off x="1656104" y="3744069"/>
              <a:ext cx="3096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236" name="组合 153"/>
            <p:cNvGrpSpPr/>
            <p:nvPr/>
          </p:nvGrpSpPr>
          <p:grpSpPr>
            <a:xfrm>
              <a:off x="1349517" y="4079874"/>
              <a:ext cx="411198" cy="358257"/>
              <a:chOff x="2267672" y="4227636"/>
              <a:chExt cx="411198" cy="358257"/>
            </a:xfrm>
          </p:grpSpPr>
          <p:sp>
            <p:nvSpPr>
              <p:cNvPr id="1049322" name="Text Box 116"/>
              <p:cNvSpPr txBox="1">
                <a:spLocks noChangeArrowheads="1"/>
              </p:cNvSpPr>
              <p:nvPr/>
            </p:nvSpPr>
            <p:spPr bwMode="auto">
              <a:xfrm>
                <a:off x="2267672" y="4227636"/>
                <a:ext cx="411198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323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37" name="组合 154"/>
            <p:cNvGrpSpPr/>
            <p:nvPr/>
          </p:nvGrpSpPr>
          <p:grpSpPr>
            <a:xfrm>
              <a:off x="2794267" y="4065581"/>
              <a:ext cx="411198" cy="358257"/>
              <a:chOff x="2268070" y="4227506"/>
              <a:chExt cx="411198" cy="358257"/>
            </a:xfrm>
          </p:grpSpPr>
          <p:sp>
            <p:nvSpPr>
              <p:cNvPr id="1049324" name="Text Box 116"/>
              <p:cNvSpPr txBox="1">
                <a:spLocks noChangeArrowheads="1"/>
              </p:cNvSpPr>
              <p:nvPr/>
            </p:nvSpPr>
            <p:spPr bwMode="auto">
              <a:xfrm>
                <a:off x="2268070" y="4227506"/>
                <a:ext cx="411198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325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38" name="组合 157"/>
            <p:cNvGrpSpPr/>
            <p:nvPr/>
          </p:nvGrpSpPr>
          <p:grpSpPr>
            <a:xfrm>
              <a:off x="4234253" y="4065581"/>
              <a:ext cx="411199" cy="358257"/>
              <a:chOff x="2267896" y="4227506"/>
              <a:chExt cx="411199" cy="358257"/>
            </a:xfrm>
          </p:grpSpPr>
          <p:sp>
            <p:nvSpPr>
              <p:cNvPr id="1049326" name="Text Box 116"/>
              <p:cNvSpPr txBox="1">
                <a:spLocks noChangeArrowheads="1"/>
              </p:cNvSpPr>
              <p:nvPr/>
            </p:nvSpPr>
            <p:spPr bwMode="auto">
              <a:xfrm>
                <a:off x="2267896" y="4227506"/>
                <a:ext cx="411199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327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cxnSp>
          <p:nvCxnSpPr>
            <p:cNvPr id="3145859" name="直接连接符 160"/>
            <p:cNvCxnSpPr/>
            <p:nvPr/>
          </p:nvCxnSpPr>
          <p:spPr>
            <a:xfrm flipH="1">
              <a:off x="1352112" y="3839319"/>
              <a:ext cx="3384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60" name="直接连接符 161"/>
            <p:cNvCxnSpPr/>
            <p:nvPr/>
          </p:nvCxnSpPr>
          <p:spPr>
            <a:xfrm flipH="1">
              <a:off x="1034938" y="3921426"/>
              <a:ext cx="370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239" name="组合 162"/>
            <p:cNvGrpSpPr/>
            <p:nvPr/>
          </p:nvGrpSpPr>
          <p:grpSpPr>
            <a:xfrm>
              <a:off x="685885" y="4086226"/>
              <a:ext cx="360393" cy="275680"/>
              <a:chOff x="2266970" y="4227593"/>
              <a:chExt cx="360393" cy="275680"/>
            </a:xfrm>
          </p:grpSpPr>
          <p:sp>
            <p:nvSpPr>
              <p:cNvPr id="1049328" name="Text Box 116"/>
              <p:cNvSpPr txBox="1">
                <a:spLocks noChangeArrowheads="1"/>
              </p:cNvSpPr>
              <p:nvPr/>
            </p:nvSpPr>
            <p:spPr bwMode="auto">
              <a:xfrm>
                <a:off x="2266970" y="4227593"/>
                <a:ext cx="360393" cy="2756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329" name="Line 117"/>
              <p:cNvSpPr/>
              <p:nvPr/>
            </p:nvSpPr>
            <p:spPr>
              <a:xfrm>
                <a:off x="2373107" y="4290417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0" name="组合 165"/>
            <p:cNvGrpSpPr/>
            <p:nvPr/>
          </p:nvGrpSpPr>
          <p:grpSpPr>
            <a:xfrm>
              <a:off x="1003412" y="4084637"/>
              <a:ext cx="360393" cy="307440"/>
              <a:chOff x="2267891" y="4227512"/>
              <a:chExt cx="360393" cy="307440"/>
            </a:xfrm>
          </p:grpSpPr>
          <p:sp>
            <p:nvSpPr>
              <p:cNvPr id="1049330" name="Text Box 116"/>
              <p:cNvSpPr txBox="1">
                <a:spLocks noChangeArrowheads="1"/>
              </p:cNvSpPr>
              <p:nvPr/>
            </p:nvSpPr>
            <p:spPr bwMode="auto">
              <a:xfrm>
                <a:off x="2267891" y="4227512"/>
                <a:ext cx="360393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049331" name="Line 117"/>
              <p:cNvSpPr/>
              <p:nvPr/>
            </p:nvSpPr>
            <p:spPr>
              <a:xfrm>
                <a:off x="2363582" y="4288365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1" name="组合 168"/>
            <p:cNvGrpSpPr/>
            <p:nvPr/>
          </p:nvGrpSpPr>
          <p:grpSpPr>
            <a:xfrm>
              <a:off x="2486265" y="4075109"/>
              <a:ext cx="360393" cy="307440"/>
              <a:chOff x="2267151" y="4227509"/>
              <a:chExt cx="360393" cy="307440"/>
            </a:xfrm>
          </p:grpSpPr>
          <p:sp>
            <p:nvSpPr>
              <p:cNvPr id="1049332" name="Text Box 116"/>
              <p:cNvSpPr txBox="1">
                <a:spLocks noChangeArrowheads="1"/>
              </p:cNvSpPr>
              <p:nvPr/>
            </p:nvSpPr>
            <p:spPr bwMode="auto">
              <a:xfrm>
                <a:off x="2267151" y="4227509"/>
                <a:ext cx="360393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333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2" name="组合 171"/>
            <p:cNvGrpSpPr/>
            <p:nvPr/>
          </p:nvGrpSpPr>
          <p:grpSpPr>
            <a:xfrm>
              <a:off x="2054428" y="4075109"/>
              <a:ext cx="431837" cy="307440"/>
              <a:chOff x="2195354" y="4227509"/>
              <a:chExt cx="431837" cy="307440"/>
            </a:xfrm>
          </p:grpSpPr>
          <p:sp>
            <p:nvSpPr>
              <p:cNvPr id="1049334" name="Text Box 116"/>
              <p:cNvSpPr txBox="1">
                <a:spLocks noChangeArrowheads="1"/>
              </p:cNvSpPr>
              <p:nvPr/>
            </p:nvSpPr>
            <p:spPr bwMode="auto">
              <a:xfrm>
                <a:off x="2195354" y="4227509"/>
                <a:ext cx="431837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335" name="Line 117"/>
              <p:cNvSpPr/>
              <p:nvPr/>
            </p:nvSpPr>
            <p:spPr>
              <a:xfrm>
                <a:off x="2305702" y="4276789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3" name="组合 177"/>
            <p:cNvGrpSpPr/>
            <p:nvPr/>
          </p:nvGrpSpPr>
          <p:grpSpPr>
            <a:xfrm>
              <a:off x="3915139" y="4075109"/>
              <a:ext cx="444538" cy="307440"/>
              <a:chOff x="2268481" y="4228650"/>
              <a:chExt cx="444538" cy="307440"/>
            </a:xfrm>
          </p:grpSpPr>
          <p:sp>
            <p:nvSpPr>
              <p:cNvPr id="1049336" name="Text Box 116"/>
              <p:cNvSpPr txBox="1">
                <a:spLocks noChangeArrowheads="1"/>
              </p:cNvSpPr>
              <p:nvPr/>
            </p:nvSpPr>
            <p:spPr bwMode="auto">
              <a:xfrm>
                <a:off x="2268481" y="4228650"/>
                <a:ext cx="444538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337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44" name="组合 180"/>
            <p:cNvGrpSpPr/>
            <p:nvPr/>
          </p:nvGrpSpPr>
          <p:grpSpPr>
            <a:xfrm>
              <a:off x="3630951" y="4075109"/>
              <a:ext cx="360394" cy="307440"/>
              <a:chOff x="2268133" y="4228650"/>
              <a:chExt cx="360394" cy="307440"/>
            </a:xfrm>
          </p:grpSpPr>
          <p:sp>
            <p:nvSpPr>
              <p:cNvPr id="1049338" name="Text Box 116"/>
              <p:cNvSpPr txBox="1">
                <a:spLocks noChangeArrowheads="1"/>
              </p:cNvSpPr>
              <p:nvPr/>
            </p:nvSpPr>
            <p:spPr bwMode="auto">
              <a:xfrm>
                <a:off x="2268133" y="4228650"/>
                <a:ext cx="360394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49339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340" name="Text Box 69"/>
            <p:cNvSpPr txBox="1"/>
            <p:nvPr/>
          </p:nvSpPr>
          <p:spPr>
            <a:xfrm>
              <a:off x="4716016" y="3536429"/>
              <a:ext cx="720080" cy="35825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W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  <p:sp>
          <p:nvSpPr>
            <p:cNvPr id="1049341" name="Text Box 69"/>
            <p:cNvSpPr txBox="1"/>
            <p:nvPr/>
          </p:nvSpPr>
          <p:spPr>
            <a:xfrm>
              <a:off x="4725541" y="3707879"/>
              <a:ext cx="720080" cy="358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8000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rgbClr val="008000"/>
                  </a:solidFill>
                  <a:latin typeface="Arial" panose="020B0604020202090204" pitchFamily="34" charset="0"/>
                </a:rPr>
                <a:t>R </a:t>
              </a:r>
            </a:p>
          </p:txBody>
        </p:sp>
        <p:sp>
          <p:nvSpPr>
            <p:cNvPr id="1049342" name="Text Box 69"/>
            <p:cNvSpPr txBox="1"/>
            <p:nvPr/>
          </p:nvSpPr>
          <p:spPr>
            <a:xfrm>
              <a:off x="4725541" y="3860279"/>
              <a:ext cx="494531" cy="35825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</p:grpSp>
      <p:grpSp>
        <p:nvGrpSpPr>
          <p:cNvPr id="3" name="组合 257"/>
          <p:cNvGrpSpPr/>
          <p:nvPr/>
        </p:nvGrpSpPr>
        <p:grpSpPr>
          <a:xfrm>
            <a:off x="4908551" y="2103120"/>
            <a:ext cx="4012839" cy="1106617"/>
            <a:chOff x="3072779" y="3841527"/>
            <a:chExt cx="4013177" cy="1106487"/>
          </a:xfrm>
        </p:grpSpPr>
        <p:sp>
          <p:nvSpPr>
            <p:cNvPr id="4" name="Text Box 373"/>
            <p:cNvSpPr txBox="1"/>
            <p:nvPr/>
          </p:nvSpPr>
          <p:spPr>
            <a:xfrm>
              <a:off x="3072779" y="4200302"/>
              <a:ext cx="1079500" cy="33972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输入方程</a:t>
              </a:r>
            </a:p>
          </p:txBody>
        </p:sp>
        <p:grpSp>
          <p:nvGrpSpPr>
            <p:cNvPr id="5" name="Group 182"/>
            <p:cNvGrpSpPr/>
            <p:nvPr/>
          </p:nvGrpSpPr>
          <p:grpSpPr>
            <a:xfrm>
              <a:off x="4225280" y="3841527"/>
              <a:ext cx="2860676" cy="306387"/>
              <a:chOff x="1152" y="3456"/>
              <a:chExt cx="1802" cy="258"/>
            </a:xfrm>
          </p:grpSpPr>
          <p:sp>
            <p:nvSpPr>
              <p:cNvPr id="6" name="Text Box 183"/>
              <p:cNvSpPr txBox="1"/>
              <p:nvPr/>
            </p:nvSpPr>
            <p:spPr>
              <a:xfrm>
                <a:off x="1152" y="3456"/>
                <a:ext cx="1802" cy="258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solidFill>
                      <a:srgbClr val="FF0000"/>
                    </a:solidFill>
                    <a:latin typeface="Arial" panose="020B0604020202090204" pitchFamily="34" charset="0"/>
                  </a:rPr>
                  <a:t>L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4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A</a:t>
                </a:r>
                <a:r>
                  <a:rPr lang="en-US" altLang="zh-CN" sz="1400" b="1" baseline="-25000" dirty="0">
                    <a:sym typeface="+mn-ea"/>
                  </a:rPr>
                  <a:t>3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7" name="Line 184"/>
              <p:cNvSpPr/>
              <p:nvPr/>
            </p:nvSpPr>
            <p:spPr>
              <a:xfrm>
                <a:off x="147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8" name="Line 185"/>
              <p:cNvSpPr/>
              <p:nvPr/>
            </p:nvSpPr>
            <p:spPr>
              <a:xfrm>
                <a:off x="193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" name="Line 186"/>
              <p:cNvSpPr/>
              <p:nvPr/>
            </p:nvSpPr>
            <p:spPr>
              <a:xfrm>
                <a:off x="2355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" name="Line 187"/>
              <p:cNvSpPr/>
              <p:nvPr/>
            </p:nvSpPr>
            <p:spPr>
              <a:xfrm>
                <a:off x="1484" y="3456"/>
                <a:ext cx="111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1" name="Group 188"/>
            <p:cNvGrpSpPr/>
            <p:nvPr/>
          </p:nvGrpSpPr>
          <p:grpSpPr>
            <a:xfrm>
              <a:off x="4225280" y="4241577"/>
              <a:ext cx="2860676" cy="306387"/>
              <a:chOff x="1152" y="3456"/>
              <a:chExt cx="1802" cy="258"/>
            </a:xfrm>
          </p:grpSpPr>
          <p:sp>
            <p:nvSpPr>
              <p:cNvPr id="12" name="Text Box 189"/>
              <p:cNvSpPr txBox="1"/>
              <p:nvPr/>
            </p:nvSpPr>
            <p:spPr>
              <a:xfrm>
                <a:off x="1152" y="3456"/>
                <a:ext cx="1802" cy="258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 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solidFill>
                      <a:srgbClr val="FF0000"/>
                    </a:solidFill>
                    <a:latin typeface="Arial" panose="020B0604020202090204" pitchFamily="34" charset="0"/>
                  </a:rPr>
                  <a:t>L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A</a:t>
                </a:r>
                <a:r>
                  <a:rPr lang="en-US" altLang="zh-CN" sz="1400" b="1" baseline="-25000" dirty="0">
                    <a:sym typeface="+mn-ea"/>
                  </a:rPr>
                  <a:t>2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13" name="Line 190"/>
              <p:cNvSpPr/>
              <p:nvPr/>
            </p:nvSpPr>
            <p:spPr>
              <a:xfrm>
                <a:off x="148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4" name="Line 191"/>
              <p:cNvSpPr/>
              <p:nvPr/>
            </p:nvSpPr>
            <p:spPr>
              <a:xfrm>
                <a:off x="1926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5" name="Line 192"/>
              <p:cNvSpPr/>
              <p:nvPr/>
            </p:nvSpPr>
            <p:spPr>
              <a:xfrm>
                <a:off x="2346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" name="Line 193"/>
              <p:cNvSpPr/>
              <p:nvPr/>
            </p:nvSpPr>
            <p:spPr>
              <a:xfrm>
                <a:off x="1484" y="3456"/>
                <a:ext cx="111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7" name="Group 194"/>
            <p:cNvGrpSpPr/>
            <p:nvPr/>
          </p:nvGrpSpPr>
          <p:grpSpPr>
            <a:xfrm>
              <a:off x="4225280" y="4641627"/>
              <a:ext cx="2860675" cy="306387"/>
              <a:chOff x="1152" y="3456"/>
              <a:chExt cx="1802" cy="258"/>
            </a:xfrm>
          </p:grpSpPr>
          <p:sp>
            <p:nvSpPr>
              <p:cNvPr id="18" name="Text Box 195"/>
              <p:cNvSpPr txBox="1"/>
              <p:nvPr/>
            </p:nvSpPr>
            <p:spPr>
              <a:xfrm>
                <a:off x="1152" y="3456"/>
                <a:ext cx="1802" cy="258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solidFill>
                      <a:srgbClr val="FF0000"/>
                    </a:solidFill>
                    <a:latin typeface="Arial" panose="020B0604020202090204" pitchFamily="34" charset="0"/>
                  </a:rPr>
                  <a:t>L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0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  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A</a:t>
                </a:r>
                <a:r>
                  <a:rPr lang="en-US" altLang="zh-CN" sz="1400" b="1" baseline="-25000" dirty="0">
                    <a:sym typeface="+mn-ea"/>
                  </a:rPr>
                  <a:t>1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19" name="Line 196"/>
              <p:cNvSpPr/>
              <p:nvPr/>
            </p:nvSpPr>
            <p:spPr>
              <a:xfrm>
                <a:off x="148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0" name="Line 197"/>
              <p:cNvSpPr/>
              <p:nvPr/>
            </p:nvSpPr>
            <p:spPr>
              <a:xfrm>
                <a:off x="191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" name="Line 198"/>
              <p:cNvSpPr/>
              <p:nvPr/>
            </p:nvSpPr>
            <p:spPr>
              <a:xfrm>
                <a:off x="231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2" name="Line 199"/>
              <p:cNvSpPr/>
              <p:nvPr/>
            </p:nvSpPr>
            <p:spPr>
              <a:xfrm>
                <a:off x="1490" y="3456"/>
                <a:ext cx="106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3" name="AutoShape 202"/>
            <p:cNvSpPr/>
            <p:nvPr/>
          </p:nvSpPr>
          <p:spPr>
            <a:xfrm>
              <a:off x="4053836" y="4012977"/>
              <a:ext cx="228600" cy="742950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492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双向移位寄存器</a:t>
            </a:r>
            <a:r>
              <a:rPr kumimoji="1" lang="en-US" altLang="zh-CN" kern="1200" noProof="0" dirty="0">
                <a:cs typeface="+mn-cs"/>
                <a:sym typeface="+mn-ea"/>
              </a:rPr>
              <a:t>——</a:t>
            </a:r>
            <a:r>
              <a:rPr kumimoji="1" lang="zh-CN" altLang="en-US" kern="1200" noProof="0" dirty="0">
                <a:cs typeface="+mn-cs"/>
                <a:sym typeface="+mn-ea"/>
              </a:rPr>
              <a:t>右移</a:t>
            </a:r>
          </a:p>
        </p:txBody>
      </p:sp>
      <p:sp>
        <p:nvSpPr>
          <p:cNvPr id="1049380" name="Text Box 5"/>
          <p:cNvSpPr txBox="1"/>
          <p:nvPr/>
        </p:nvSpPr>
        <p:spPr>
          <a:xfrm>
            <a:off x="5157470" y="648970"/>
            <a:ext cx="33845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Arial" panose="020B0604020202090204" pitchFamily="34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Arial" panose="020B0604020202090204" pitchFamily="34" charset="0"/>
              </a:rPr>
              <a:t>S</a:t>
            </a:r>
            <a:r>
              <a:rPr lang="en-US" altLang="zh-CN" b="1" baseline="-25000" dirty="0">
                <a:solidFill>
                  <a:srgbClr val="008000"/>
                </a:solidFill>
                <a:latin typeface="Arial" panose="020B0604020202090204" pitchFamily="34" charset="0"/>
              </a:rPr>
              <a:t>R</a:t>
            </a:r>
            <a:r>
              <a:rPr lang="en-US" altLang="zh-CN" b="1" dirty="0">
                <a:solidFill>
                  <a:srgbClr val="008000"/>
                </a:solidFill>
                <a:latin typeface="Arial" panose="020B0604020202090204" pitchFamily="34" charset="0"/>
              </a:rPr>
              <a:t> =</a:t>
            </a:r>
            <a:r>
              <a:rPr lang="en-US" altLang="zh-CN" b="1" baseline="-25000" dirty="0">
                <a:solidFill>
                  <a:srgbClr val="008000"/>
                </a:solidFill>
                <a:latin typeface="Arial" panose="020B0604020202090204" pitchFamily="34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Arial" panose="020B0604020202090204" pitchFamily="34" charset="0"/>
              </a:rPr>
              <a:t>1</a:t>
            </a:r>
            <a:r>
              <a:rPr lang="en-US" altLang="zh-CN" b="1" dirty="0">
                <a:latin typeface="Arial" panose="020B0604020202090204" pitchFamily="34" charset="0"/>
              </a:rPr>
              <a:t>, W</a:t>
            </a:r>
            <a:r>
              <a:rPr lang="en-US" altLang="zh-CN" b="1" baseline="-25000" dirty="0">
                <a:latin typeface="Arial" panose="020B0604020202090204" pitchFamily="34" charset="0"/>
              </a:rPr>
              <a:t>L </a:t>
            </a:r>
            <a:r>
              <a:rPr lang="en-US" altLang="zh-CN" b="1" dirty="0">
                <a:latin typeface="Arial" panose="020B0604020202090204" pitchFamily="34" charset="0"/>
              </a:rPr>
              <a:t>=</a:t>
            </a:r>
            <a:r>
              <a:rPr lang="zh-CN" altLang="en-US" b="1" baseline="-25000" dirty="0">
                <a:latin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</a:rPr>
              <a:t>S</a:t>
            </a:r>
            <a:r>
              <a:rPr lang="en-US" altLang="zh-CN" b="1" baseline="-25000" dirty="0">
                <a:latin typeface="Arial" panose="020B0604020202090204" pitchFamily="34" charset="0"/>
              </a:rPr>
              <a:t>L </a:t>
            </a:r>
            <a:r>
              <a:rPr lang="en-US" altLang="zh-CN" b="1" dirty="0">
                <a:latin typeface="Arial" panose="020B0604020202090204" pitchFamily="34" charset="0"/>
              </a:rPr>
              <a:t>= 0</a:t>
            </a:r>
          </a:p>
        </p:txBody>
      </p:sp>
      <p:sp>
        <p:nvSpPr>
          <p:cNvPr id="1049381" name="Text Box 42"/>
          <p:cNvSpPr txBox="1"/>
          <p:nvPr/>
        </p:nvSpPr>
        <p:spPr>
          <a:xfrm>
            <a:off x="5396865" y="4023360"/>
            <a:ext cx="3460750" cy="4603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b="1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CP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上升沿到来时右移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256" name="Group 375"/>
          <p:cNvGrpSpPr/>
          <p:nvPr/>
        </p:nvGrpSpPr>
        <p:grpSpPr>
          <a:xfrm>
            <a:off x="6654792" y="2526030"/>
            <a:ext cx="2202823" cy="1198880"/>
            <a:chOff x="4248" y="3448"/>
            <a:chExt cx="1156" cy="1008"/>
          </a:xfrm>
        </p:grpSpPr>
        <p:sp>
          <p:nvSpPr>
            <p:cNvPr id="1049382" name="Text Box 201"/>
            <p:cNvSpPr txBox="1"/>
            <p:nvPr/>
          </p:nvSpPr>
          <p:spPr>
            <a:xfrm>
              <a:off x="4360" y="3448"/>
              <a:ext cx="1044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800" b="1" baseline="-25000" dirty="0">
                  <a:latin typeface="Times New Roman" panose="02020503050405090304" pitchFamily="18" charset="0"/>
                </a:rPr>
                <a:t>3</a:t>
              </a:r>
              <a:r>
                <a:rPr lang="en-US" altLang="zh-CN" sz="1800" b="1" baseline="30000" dirty="0">
                  <a:latin typeface="Times New Roman" panose="02020503050405090304" pitchFamily="18" charset="0"/>
                </a:rPr>
                <a:t>n+1 </a:t>
              </a:r>
              <a:r>
                <a:rPr lang="zh-CN" altLang="en-US" sz="18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8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800" b="1" baseline="-25000" dirty="0">
                  <a:latin typeface="Arial" panose="020B0604020202090204" pitchFamily="34" charset="0"/>
                </a:rPr>
                <a:t>3</a:t>
              </a:r>
              <a:r>
                <a:rPr lang="zh-CN" altLang="en-US" sz="18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8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800" b="1" baseline="-25000" dirty="0">
                  <a:latin typeface="Arial" panose="020B0604020202090204" pitchFamily="34" charset="0"/>
                </a:rPr>
                <a:t>4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800" b="1" baseline="-25000" dirty="0">
                  <a:latin typeface="Times New Roman" panose="02020503050405090304" pitchFamily="18" charset="0"/>
                </a:rPr>
                <a:t>2</a:t>
              </a:r>
              <a:r>
                <a:rPr lang="en-US" altLang="zh-CN" sz="1800" b="1" baseline="30000" dirty="0">
                  <a:latin typeface="Times New Roman" panose="02020503050405090304" pitchFamily="18" charset="0"/>
                </a:rPr>
                <a:t>n+1 </a:t>
              </a:r>
              <a:r>
                <a:rPr lang="zh-CN" altLang="en-US" sz="18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8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800" b="1" baseline="-25000" dirty="0">
                  <a:latin typeface="Arial" panose="020B0604020202090204" pitchFamily="34" charset="0"/>
                </a:rPr>
                <a:t>2 </a:t>
              </a:r>
              <a:r>
                <a:rPr lang="zh-CN" altLang="en-US" sz="18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8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800" b="1" baseline="-25000" dirty="0">
                  <a:latin typeface="Arial" panose="020B0604020202090204" pitchFamily="34" charset="0"/>
                </a:rPr>
                <a:t>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800" b="1" baseline="-25000" dirty="0">
                  <a:latin typeface="Times New Roman" panose="02020503050405090304" pitchFamily="18" charset="0"/>
                </a:rPr>
                <a:t>1</a:t>
              </a:r>
              <a:r>
                <a:rPr lang="en-US" altLang="zh-CN" sz="1800" b="1" baseline="30000" dirty="0">
                  <a:latin typeface="Times New Roman" panose="02020503050405090304" pitchFamily="18" charset="0"/>
                </a:rPr>
                <a:t>n+1 </a:t>
              </a:r>
              <a:r>
                <a:rPr lang="zh-CN" altLang="en-US" sz="18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800" b="1" dirty="0">
                  <a:latin typeface="Times New Roman" panose="02020503050405090304" pitchFamily="18" charset="0"/>
                </a:rPr>
                <a:t>D</a:t>
              </a:r>
              <a:r>
                <a:rPr lang="en-US" altLang="zh-CN" sz="1800" b="1" baseline="-25000" dirty="0">
                  <a:latin typeface="Arial" panose="020B0604020202090204" pitchFamily="34" charset="0"/>
                </a:rPr>
                <a:t>1 </a:t>
              </a:r>
              <a:r>
                <a:rPr lang="zh-CN" altLang="en-US" sz="1800" b="1" dirty="0">
                  <a:latin typeface="Times New Roman" panose="02020503050405090304" pitchFamily="18" charset="0"/>
                </a:rPr>
                <a:t>＝ </a:t>
              </a:r>
              <a:r>
                <a:rPr lang="en-US" altLang="zh-CN" sz="1800" b="1" dirty="0">
                  <a:latin typeface="Times New Roman" panose="02020503050405090304" pitchFamily="18" charset="0"/>
                </a:rPr>
                <a:t>Q</a:t>
              </a:r>
              <a:r>
                <a:rPr lang="en-US" altLang="zh-CN" sz="1800" b="1" baseline="-25000" dirty="0">
                  <a:latin typeface="Arial" panose="020B0604020202090204" pitchFamily="34" charset="0"/>
                </a:rPr>
                <a:t>2</a:t>
              </a:r>
            </a:p>
          </p:txBody>
        </p:sp>
        <p:sp>
          <p:nvSpPr>
            <p:cNvPr id="1049383" name="AutoShape 203"/>
            <p:cNvSpPr/>
            <p:nvPr/>
          </p:nvSpPr>
          <p:spPr>
            <a:xfrm>
              <a:off x="4248" y="3591"/>
              <a:ext cx="136" cy="738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1800" dirty="0">
                <a:latin typeface="Arial" panose="020B0604020202090204" pitchFamily="34" charset="0"/>
              </a:endParaRPr>
            </a:p>
          </p:txBody>
        </p:sp>
      </p:grpSp>
      <p:sp>
        <p:nvSpPr>
          <p:cNvPr id="1049384" name="Text Box 373"/>
          <p:cNvSpPr txBox="1"/>
          <p:nvPr/>
        </p:nvSpPr>
        <p:spPr>
          <a:xfrm>
            <a:off x="5454015" y="2914650"/>
            <a:ext cx="1226185" cy="36830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次态方程</a:t>
            </a:r>
          </a:p>
        </p:txBody>
      </p:sp>
      <p:grpSp>
        <p:nvGrpSpPr>
          <p:cNvPr id="257" name="组合 186"/>
          <p:cNvGrpSpPr/>
          <p:nvPr/>
        </p:nvGrpSpPr>
        <p:grpSpPr>
          <a:xfrm>
            <a:off x="120650" y="1333500"/>
            <a:ext cx="5262563" cy="3680778"/>
            <a:chOff x="182603" y="756156"/>
            <a:chExt cx="5263018" cy="3681975"/>
          </a:xfrm>
        </p:grpSpPr>
        <p:sp>
          <p:nvSpPr>
            <p:cNvPr id="1049385" name="椭圆 93"/>
            <p:cNvSpPr/>
            <p:nvPr/>
          </p:nvSpPr>
          <p:spPr>
            <a:xfrm>
              <a:off x="935450" y="1139205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386" name="椭圆 80"/>
            <p:cNvSpPr/>
            <p:nvPr/>
          </p:nvSpPr>
          <p:spPr>
            <a:xfrm>
              <a:off x="2379231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387" name="椭圆 93"/>
            <p:cNvSpPr/>
            <p:nvPr/>
          </p:nvSpPr>
          <p:spPr>
            <a:xfrm>
              <a:off x="3818052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58" name="组合 33"/>
            <p:cNvGrpSpPr/>
            <p:nvPr/>
          </p:nvGrpSpPr>
          <p:grpSpPr>
            <a:xfrm>
              <a:off x="758667" y="1367809"/>
              <a:ext cx="708026" cy="972038"/>
              <a:chOff x="6090521" y="3016910"/>
              <a:chExt cx="708026" cy="972089"/>
            </a:xfrm>
          </p:grpSpPr>
          <p:cxnSp>
            <p:nvCxnSpPr>
              <p:cNvPr id="3145861" name="直接连接符 34"/>
              <p:cNvCxnSpPr/>
              <p:nvPr/>
            </p:nvCxnSpPr>
            <p:spPr>
              <a:xfrm rot="5400000">
                <a:off x="6217848" y="3737447"/>
                <a:ext cx="396021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grpSp>
            <p:nvGrpSpPr>
              <p:cNvPr id="259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862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63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388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389" name="TextBox 240"/>
                <p:cNvSpPr txBox="1">
                  <a:spLocks noChangeArrowheads="1"/>
                </p:cNvSpPr>
                <p:nvPr/>
              </p:nvSpPr>
              <p:spPr bwMode="auto">
                <a:xfrm>
                  <a:off x="2214824" y="2809182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390" name="TextBox 241"/>
                <p:cNvSpPr txBox="1">
                  <a:spLocks noChangeArrowheads="1"/>
                </p:cNvSpPr>
                <p:nvPr/>
              </p:nvSpPr>
              <p:spPr bwMode="auto">
                <a:xfrm>
                  <a:off x="1863955" y="2618580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391" name="TextBox 242"/>
                <p:cNvSpPr txBox="1">
                  <a:spLocks noChangeArrowheads="1"/>
                </p:cNvSpPr>
                <p:nvPr/>
              </p:nvSpPr>
              <p:spPr bwMode="auto">
                <a:xfrm>
                  <a:off x="2211649" y="2628110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64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392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393" name="TextBox 236"/>
              <p:cNvSpPr txBox="1">
                <a:spLocks noChangeArrowheads="1"/>
              </p:cNvSpPr>
              <p:nvPr/>
            </p:nvSpPr>
            <p:spPr bwMode="auto">
              <a:xfrm>
                <a:off x="6252709" y="3586771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394" name="椭圆 93"/>
            <p:cNvSpPr/>
            <p:nvPr/>
          </p:nvSpPr>
          <p:spPr>
            <a:xfrm>
              <a:off x="686659" y="1987302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60" name="组合 33"/>
            <p:cNvGrpSpPr/>
            <p:nvPr/>
          </p:nvGrpSpPr>
          <p:grpSpPr>
            <a:xfrm>
              <a:off x="2208352" y="1367804"/>
              <a:ext cx="708026" cy="972036"/>
              <a:chOff x="6090521" y="3016910"/>
              <a:chExt cx="708026" cy="972089"/>
            </a:xfrm>
          </p:grpSpPr>
          <p:cxnSp>
            <p:nvCxnSpPr>
              <p:cNvPr id="3145865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261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866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67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395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396" name="TextBox 229"/>
                <p:cNvSpPr txBox="1">
                  <a:spLocks noChangeArrowheads="1"/>
                </p:cNvSpPr>
                <p:nvPr/>
              </p:nvSpPr>
              <p:spPr bwMode="auto">
                <a:xfrm>
                  <a:off x="2214652" y="2809188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397" name="TextBox 230"/>
                <p:cNvSpPr txBox="1">
                  <a:spLocks noChangeArrowheads="1"/>
                </p:cNvSpPr>
                <p:nvPr/>
              </p:nvSpPr>
              <p:spPr bwMode="auto">
                <a:xfrm>
                  <a:off x="1863782" y="2618586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398" name="TextBox 231"/>
                <p:cNvSpPr txBox="1">
                  <a:spLocks noChangeArrowheads="1"/>
                </p:cNvSpPr>
                <p:nvPr/>
              </p:nvSpPr>
              <p:spPr bwMode="auto">
                <a:xfrm>
                  <a:off x="2211477" y="2628116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68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399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400" name="TextBox 225"/>
              <p:cNvSpPr txBox="1">
                <a:spLocks noChangeArrowheads="1"/>
              </p:cNvSpPr>
              <p:nvPr/>
            </p:nvSpPr>
            <p:spPr bwMode="auto">
              <a:xfrm>
                <a:off x="6252536" y="3586777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401" name="椭圆 93"/>
            <p:cNvSpPr/>
            <p:nvPr/>
          </p:nvSpPr>
          <p:spPr>
            <a:xfrm>
              <a:off x="2141108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62" name="组合 33"/>
            <p:cNvGrpSpPr/>
            <p:nvPr/>
          </p:nvGrpSpPr>
          <p:grpSpPr>
            <a:xfrm>
              <a:off x="3638987" y="1367803"/>
              <a:ext cx="708026" cy="972024"/>
              <a:chOff x="6090521" y="3016909"/>
              <a:chExt cx="708026" cy="972077"/>
            </a:xfrm>
          </p:grpSpPr>
          <p:cxnSp>
            <p:nvCxnSpPr>
              <p:cNvPr id="3145869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263" name="组合 16"/>
              <p:cNvGrpSpPr/>
              <p:nvPr/>
            </p:nvGrpSpPr>
            <p:grpSpPr>
              <a:xfrm>
                <a:off x="6090521" y="3016909"/>
                <a:ext cx="708026" cy="972077"/>
                <a:chOff x="1863706" y="2178882"/>
                <a:chExt cx="708030" cy="972234"/>
              </a:xfrm>
            </p:grpSpPr>
            <p:cxnSp>
              <p:nvCxnSpPr>
                <p:cNvPr id="3145870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71" name="直接连接符 18"/>
                <p:cNvCxnSpPr/>
                <p:nvPr/>
              </p:nvCxnSpPr>
              <p:spPr>
                <a:xfrm rot="5400000">
                  <a:off x="1640154" y="2538165"/>
                  <a:ext cx="72015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402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403" name="TextBox 218"/>
                <p:cNvSpPr txBox="1">
                  <a:spLocks noChangeArrowheads="1"/>
                </p:cNvSpPr>
                <p:nvPr/>
              </p:nvSpPr>
              <p:spPr bwMode="auto">
                <a:xfrm>
                  <a:off x="2214478" y="2809200"/>
                  <a:ext cx="357221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404" name="TextBox 219"/>
                <p:cNvSpPr txBox="1">
                  <a:spLocks noChangeArrowheads="1"/>
                </p:cNvSpPr>
                <p:nvPr/>
              </p:nvSpPr>
              <p:spPr bwMode="auto">
                <a:xfrm>
                  <a:off x="1863609" y="2618597"/>
                  <a:ext cx="357220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405" name="TextBox 220"/>
                <p:cNvSpPr txBox="1">
                  <a:spLocks noChangeArrowheads="1"/>
                </p:cNvSpPr>
                <p:nvPr/>
              </p:nvSpPr>
              <p:spPr bwMode="auto">
                <a:xfrm>
                  <a:off x="2211303" y="2628127"/>
                  <a:ext cx="357221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72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406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407" name="TextBox 214"/>
              <p:cNvSpPr txBox="1">
                <a:spLocks noChangeArrowheads="1"/>
              </p:cNvSpPr>
              <p:nvPr/>
            </p:nvSpPr>
            <p:spPr bwMode="auto">
              <a:xfrm>
                <a:off x="6252363" y="3586777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408" name="椭圆 93"/>
            <p:cNvSpPr/>
            <p:nvPr/>
          </p:nvSpPr>
          <p:spPr>
            <a:xfrm>
              <a:off x="3566979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409" name="Line 25"/>
            <p:cNvSpPr/>
            <p:nvPr/>
          </p:nvSpPr>
          <p:spPr>
            <a:xfrm rot="-5400000">
              <a:off x="843509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0" name="Line 26"/>
            <p:cNvSpPr/>
            <p:nvPr/>
          </p:nvSpPr>
          <p:spPr>
            <a:xfrm rot="-5400000">
              <a:off x="1474156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1" name="Line 27"/>
            <p:cNvSpPr/>
            <p:nvPr/>
          </p:nvSpPr>
          <p:spPr>
            <a:xfrm rot="-5400000">
              <a:off x="1055994" y="3065479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2" name="Line 28"/>
            <p:cNvSpPr/>
            <p:nvPr/>
          </p:nvSpPr>
          <p:spPr>
            <a:xfrm rot="-5400000" flipV="1">
              <a:off x="1467466" y="3049986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3" name="Line 29"/>
            <p:cNvSpPr/>
            <p:nvPr/>
          </p:nvSpPr>
          <p:spPr>
            <a:xfrm rot="-5400000">
              <a:off x="653281" y="3849442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4" name="Line 30"/>
            <p:cNvSpPr/>
            <p:nvPr/>
          </p:nvSpPr>
          <p:spPr>
            <a:xfrm rot="-5400000">
              <a:off x="907617" y="3782582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5" name="Line 31"/>
            <p:cNvSpPr/>
            <p:nvPr/>
          </p:nvSpPr>
          <p:spPr>
            <a:xfrm rot="-5400000">
              <a:off x="1273766" y="384047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6" name="Line 32"/>
            <p:cNvSpPr/>
            <p:nvPr/>
          </p:nvSpPr>
          <p:spPr>
            <a:xfrm rot="-5400000">
              <a:off x="1594953" y="3672069"/>
              <a:ext cx="144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17" name="AutoShape 29"/>
            <p:cNvSpPr>
              <a:spLocks noChangeAspect="1" noTextEdit="1"/>
            </p:cNvSpPr>
            <p:nvPr/>
          </p:nvSpPr>
          <p:spPr>
            <a:xfrm rot="-5400000">
              <a:off x="909378" y="2501021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18" name="Freeform 32"/>
            <p:cNvSpPr/>
            <p:nvPr/>
          </p:nvSpPr>
          <p:spPr>
            <a:xfrm rot="-5400000">
              <a:off x="948107" y="2644965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19" name="Freeform 33"/>
            <p:cNvSpPr/>
            <p:nvPr/>
          </p:nvSpPr>
          <p:spPr>
            <a:xfrm rot="-5400000">
              <a:off x="1120918" y="2664377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20" name="Freeform 34"/>
            <p:cNvSpPr/>
            <p:nvPr/>
          </p:nvSpPr>
          <p:spPr>
            <a:xfrm rot="-5400000">
              <a:off x="1223716" y="2767173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21" name="Oval 35"/>
            <p:cNvSpPr/>
            <p:nvPr/>
          </p:nvSpPr>
          <p:spPr>
            <a:xfrm rot="-5400000">
              <a:off x="1230091" y="2469710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422" name="流程图: 延期 92"/>
            <p:cNvSpPr>
              <a:spLocks noChangeArrowheads="1"/>
            </p:cNvSpPr>
            <p:nvPr/>
          </p:nvSpPr>
          <p:spPr bwMode="auto">
            <a:xfrm rot="16200000">
              <a:off x="808098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423" name="流程图: 延期 92"/>
            <p:cNvSpPr>
              <a:spLocks noChangeArrowheads="1"/>
            </p:cNvSpPr>
            <p:nvPr/>
          </p:nvSpPr>
          <p:spPr bwMode="auto">
            <a:xfrm rot="16200000">
              <a:off x="1436802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424" name="Line 38"/>
            <p:cNvSpPr/>
            <p:nvPr/>
          </p:nvSpPr>
          <p:spPr>
            <a:xfrm rot="-5400000">
              <a:off x="1039835" y="3050388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25" name="Line 39"/>
            <p:cNvSpPr/>
            <p:nvPr/>
          </p:nvSpPr>
          <p:spPr>
            <a:xfrm rot="-5400000">
              <a:off x="1212243" y="3037032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26" name="Line 31"/>
            <p:cNvSpPr/>
            <p:nvPr/>
          </p:nvSpPr>
          <p:spPr>
            <a:xfrm rot="-5400000">
              <a:off x="952396" y="384544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27" name="Line 32"/>
            <p:cNvSpPr/>
            <p:nvPr/>
          </p:nvSpPr>
          <p:spPr>
            <a:xfrm rot="-5400000">
              <a:off x="1242346" y="3743706"/>
              <a:ext cx="216000" cy="0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28" name="流程图: 延期 92"/>
            <p:cNvSpPr>
              <a:spLocks noChangeArrowheads="1"/>
            </p:cNvSpPr>
            <p:nvPr/>
          </p:nvSpPr>
          <p:spPr bwMode="auto">
            <a:xfrm rot="16200000">
              <a:off x="1119275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873" name="直接连接符 79"/>
            <p:cNvCxnSpPr>
              <a:stCxn id="1049420" idx="1"/>
              <a:endCxn id="1049428" idx="3"/>
            </p:cNvCxnSpPr>
            <p:nvPr/>
          </p:nvCxnSpPr>
          <p:spPr>
            <a:xfrm flipH="1">
              <a:off x="1262723" y="2879973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429" name="Line 40"/>
            <p:cNvSpPr/>
            <p:nvPr/>
          </p:nvSpPr>
          <p:spPr>
            <a:xfrm rot="-5400000">
              <a:off x="1173768" y="2386357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0" name="Line 25"/>
            <p:cNvSpPr/>
            <p:nvPr/>
          </p:nvSpPr>
          <p:spPr>
            <a:xfrm rot="-5400000">
              <a:off x="2287861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1" name="Line 26"/>
            <p:cNvSpPr/>
            <p:nvPr/>
          </p:nvSpPr>
          <p:spPr>
            <a:xfrm rot="-5400000">
              <a:off x="2918508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2" name="Line 27"/>
            <p:cNvSpPr/>
            <p:nvPr/>
          </p:nvSpPr>
          <p:spPr>
            <a:xfrm rot="-5400000">
              <a:off x="2500346" y="306316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3" name="Line 28"/>
            <p:cNvSpPr/>
            <p:nvPr/>
          </p:nvSpPr>
          <p:spPr>
            <a:xfrm rot="-5400000" flipV="1">
              <a:off x="2911818" y="3047670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4" name="Line 29"/>
            <p:cNvSpPr/>
            <p:nvPr/>
          </p:nvSpPr>
          <p:spPr>
            <a:xfrm rot="-5400000">
              <a:off x="2102396" y="384712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5" name="Line 30"/>
            <p:cNvSpPr/>
            <p:nvPr/>
          </p:nvSpPr>
          <p:spPr>
            <a:xfrm rot="-5400000">
              <a:off x="2351969" y="3780266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436" name="Line 31"/>
            <p:cNvSpPr/>
            <p:nvPr/>
          </p:nvSpPr>
          <p:spPr>
            <a:xfrm rot="-5400000">
              <a:off x="2713355" y="383816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37" name="Line 32"/>
            <p:cNvSpPr/>
            <p:nvPr/>
          </p:nvSpPr>
          <p:spPr>
            <a:xfrm rot="-5400000">
              <a:off x="3057305" y="3682059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438" name="AutoShape 29"/>
            <p:cNvSpPr>
              <a:spLocks noChangeAspect="1" noTextEdit="1"/>
            </p:cNvSpPr>
            <p:nvPr/>
          </p:nvSpPr>
          <p:spPr>
            <a:xfrm rot="-5400000">
              <a:off x="2353730" y="2498705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39" name="Freeform 32"/>
            <p:cNvSpPr/>
            <p:nvPr/>
          </p:nvSpPr>
          <p:spPr>
            <a:xfrm rot="-5400000">
              <a:off x="2392459" y="2642649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40" name="Freeform 33"/>
            <p:cNvSpPr/>
            <p:nvPr/>
          </p:nvSpPr>
          <p:spPr>
            <a:xfrm rot="-5400000">
              <a:off x="2565270" y="2662061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41" name="Freeform 34"/>
            <p:cNvSpPr/>
            <p:nvPr/>
          </p:nvSpPr>
          <p:spPr>
            <a:xfrm rot="-5400000">
              <a:off x="2668068" y="2764857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42" name="Oval 35"/>
            <p:cNvSpPr/>
            <p:nvPr/>
          </p:nvSpPr>
          <p:spPr>
            <a:xfrm rot="-5400000">
              <a:off x="2674443" y="2467394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443" name="流程图: 延期 92"/>
            <p:cNvSpPr>
              <a:spLocks noChangeArrowheads="1"/>
            </p:cNvSpPr>
            <p:nvPr/>
          </p:nvSpPr>
          <p:spPr bwMode="auto">
            <a:xfrm rot="16200000">
              <a:off x="2251261" y="3357360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444" name="流程图: 延期 92"/>
            <p:cNvSpPr>
              <a:spLocks noChangeArrowheads="1"/>
            </p:cNvSpPr>
            <p:nvPr/>
          </p:nvSpPr>
          <p:spPr bwMode="auto">
            <a:xfrm rot="16200000">
              <a:off x="2880760" y="3358153"/>
              <a:ext cx="285843" cy="28418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445" name="Line 38"/>
            <p:cNvSpPr/>
            <p:nvPr/>
          </p:nvSpPr>
          <p:spPr>
            <a:xfrm rot="-5400000">
              <a:off x="2484187" y="3048072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46" name="Line 39"/>
            <p:cNvSpPr/>
            <p:nvPr/>
          </p:nvSpPr>
          <p:spPr>
            <a:xfrm rot="-5400000">
              <a:off x="2656595" y="3034716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47" name="Line 31"/>
            <p:cNvSpPr/>
            <p:nvPr/>
          </p:nvSpPr>
          <p:spPr>
            <a:xfrm rot="-5400000">
              <a:off x="2396748" y="3843127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48" name="Line 32"/>
            <p:cNvSpPr/>
            <p:nvPr/>
          </p:nvSpPr>
          <p:spPr>
            <a:xfrm rot="-5400000">
              <a:off x="2677172" y="3731864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449" name="流程图: 延期 92"/>
            <p:cNvSpPr>
              <a:spLocks noChangeArrowheads="1"/>
            </p:cNvSpPr>
            <p:nvPr/>
          </p:nvSpPr>
          <p:spPr bwMode="auto">
            <a:xfrm rot="16200000">
              <a:off x="2564025" y="3357360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874" name="直接连接符 100"/>
            <p:cNvCxnSpPr>
              <a:stCxn id="1049441" idx="1"/>
              <a:endCxn id="1049449" idx="3"/>
            </p:cNvCxnSpPr>
            <p:nvPr/>
          </p:nvCxnSpPr>
          <p:spPr>
            <a:xfrm flipH="1">
              <a:off x="2707075" y="2877657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450" name="Line 40"/>
            <p:cNvSpPr/>
            <p:nvPr/>
          </p:nvSpPr>
          <p:spPr>
            <a:xfrm rot="-5400000">
              <a:off x="2618120" y="2384041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1" name="Line 25"/>
            <p:cNvSpPr/>
            <p:nvPr/>
          </p:nvSpPr>
          <p:spPr>
            <a:xfrm rot="-5400000">
              <a:off x="3724970" y="327145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2" name="Line 26"/>
            <p:cNvSpPr/>
            <p:nvPr/>
          </p:nvSpPr>
          <p:spPr>
            <a:xfrm rot="-5400000">
              <a:off x="4355617" y="3266694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3" name="Line 27"/>
            <p:cNvSpPr/>
            <p:nvPr/>
          </p:nvSpPr>
          <p:spPr>
            <a:xfrm rot="-5400000">
              <a:off x="3937455" y="305897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4" name="Line 28"/>
            <p:cNvSpPr/>
            <p:nvPr/>
          </p:nvSpPr>
          <p:spPr>
            <a:xfrm rot="-5400000" flipV="1">
              <a:off x="4348927" y="3038717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5" name="Line 29"/>
            <p:cNvSpPr/>
            <p:nvPr/>
          </p:nvSpPr>
          <p:spPr>
            <a:xfrm rot="-5400000">
              <a:off x="3563320" y="384293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6" name="Line 30"/>
            <p:cNvSpPr/>
            <p:nvPr/>
          </p:nvSpPr>
          <p:spPr>
            <a:xfrm rot="-5400000">
              <a:off x="3793841" y="3780839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457" name="Line 31"/>
            <p:cNvSpPr/>
            <p:nvPr/>
          </p:nvSpPr>
          <p:spPr>
            <a:xfrm rot="-5400000">
              <a:off x="4159990" y="3829210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58" name="Line 32"/>
            <p:cNvSpPr/>
            <p:nvPr/>
          </p:nvSpPr>
          <p:spPr>
            <a:xfrm rot="-5400000">
              <a:off x="4494414" y="3687395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459" name="AutoShape 29"/>
            <p:cNvSpPr>
              <a:spLocks noChangeAspect="1" noTextEdit="1"/>
            </p:cNvSpPr>
            <p:nvPr/>
          </p:nvSpPr>
          <p:spPr>
            <a:xfrm rot="-5400000">
              <a:off x="3781314" y="2489752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60" name="Freeform 32"/>
            <p:cNvSpPr/>
            <p:nvPr/>
          </p:nvSpPr>
          <p:spPr>
            <a:xfrm rot="-5400000">
              <a:off x="3829568" y="2633696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61" name="Freeform 33"/>
            <p:cNvSpPr/>
            <p:nvPr/>
          </p:nvSpPr>
          <p:spPr>
            <a:xfrm rot="-5400000">
              <a:off x="4002379" y="2653108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62" name="Freeform 34"/>
            <p:cNvSpPr/>
            <p:nvPr/>
          </p:nvSpPr>
          <p:spPr>
            <a:xfrm rot="-5400000">
              <a:off x="4105177" y="2755904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463" name="Oval 35"/>
            <p:cNvSpPr/>
            <p:nvPr/>
          </p:nvSpPr>
          <p:spPr>
            <a:xfrm rot="-5400000">
              <a:off x="4111552" y="2458441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464" name="流程图: 延期 92"/>
            <p:cNvSpPr>
              <a:spLocks noChangeArrowheads="1"/>
            </p:cNvSpPr>
            <p:nvPr/>
          </p:nvSpPr>
          <p:spPr bwMode="auto">
            <a:xfrm rot="16200000">
              <a:off x="3688072" y="3354184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465" name="流程图: 延期 92"/>
            <p:cNvSpPr>
              <a:spLocks noChangeArrowheads="1"/>
            </p:cNvSpPr>
            <p:nvPr/>
          </p:nvSpPr>
          <p:spPr bwMode="auto">
            <a:xfrm rot="16200000">
              <a:off x="4318364" y="3349421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466" name="Line 38"/>
            <p:cNvSpPr/>
            <p:nvPr/>
          </p:nvSpPr>
          <p:spPr>
            <a:xfrm rot="-5400000">
              <a:off x="3921296" y="3048646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67" name="Line 39"/>
            <p:cNvSpPr/>
            <p:nvPr/>
          </p:nvSpPr>
          <p:spPr>
            <a:xfrm rot="-5400000">
              <a:off x="4093704" y="3025763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68" name="Line 31"/>
            <p:cNvSpPr/>
            <p:nvPr/>
          </p:nvSpPr>
          <p:spPr>
            <a:xfrm rot="-5400000">
              <a:off x="3843383" y="383986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469" name="Line 32"/>
            <p:cNvSpPr/>
            <p:nvPr/>
          </p:nvSpPr>
          <p:spPr>
            <a:xfrm rot="-5400000">
              <a:off x="4123807" y="3732437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470" name="流程图: 延期 92"/>
            <p:cNvSpPr>
              <a:spLocks noChangeArrowheads="1"/>
            </p:cNvSpPr>
            <p:nvPr/>
          </p:nvSpPr>
          <p:spPr bwMode="auto">
            <a:xfrm rot="16200000">
              <a:off x="4000837" y="3349421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875" name="直接连接符 122"/>
            <p:cNvCxnSpPr>
              <a:stCxn id="1049462" idx="1"/>
              <a:endCxn id="1049470" idx="3"/>
            </p:cNvCxnSpPr>
            <p:nvPr/>
          </p:nvCxnSpPr>
          <p:spPr>
            <a:xfrm flipH="1">
              <a:off x="4144184" y="2868704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471" name="Line 40"/>
            <p:cNvSpPr/>
            <p:nvPr/>
          </p:nvSpPr>
          <p:spPr>
            <a:xfrm rot="-5400000">
              <a:off x="4055229" y="2375088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5876" name="直接连接符 125"/>
            <p:cNvCxnSpPr/>
            <p:nvPr/>
          </p:nvCxnSpPr>
          <p:spPr>
            <a:xfrm>
              <a:off x="106574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877" name="直接连接符 126"/>
            <p:cNvCxnSpPr/>
            <p:nvPr/>
          </p:nvCxnSpPr>
          <p:spPr>
            <a:xfrm>
              <a:off x="248685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878" name="直接连接符 127"/>
            <p:cNvCxnSpPr/>
            <p:nvPr/>
          </p:nvCxnSpPr>
          <p:spPr>
            <a:xfrm>
              <a:off x="392701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79" name="直接连接符 129"/>
            <p:cNvCxnSpPr/>
            <p:nvPr/>
          </p:nvCxnSpPr>
          <p:spPr>
            <a:xfrm flipH="1">
              <a:off x="615019" y="1635646"/>
              <a:ext cx="3312000" cy="0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472" name="Text Box 69"/>
            <p:cNvSpPr txBox="1"/>
            <p:nvPr/>
          </p:nvSpPr>
          <p:spPr>
            <a:xfrm>
              <a:off x="268650" y="1438672"/>
              <a:ext cx="346001" cy="32014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rgbClr val="660033"/>
                  </a:solidFill>
                  <a:latin typeface="Arial" panose="020B0604020202090204" pitchFamily="34" charset="0"/>
                </a:rPr>
                <a:t>En</a:t>
              </a:r>
            </a:p>
          </p:txBody>
        </p:sp>
        <p:sp>
          <p:nvSpPr>
            <p:cNvPr id="1049473" name="Line 70"/>
            <p:cNvSpPr/>
            <p:nvPr/>
          </p:nvSpPr>
          <p:spPr>
            <a:xfrm flipV="1">
              <a:off x="974691" y="932135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474" name="Line 70"/>
            <p:cNvSpPr/>
            <p:nvPr/>
          </p:nvSpPr>
          <p:spPr>
            <a:xfrm flipV="1">
              <a:off x="2414851" y="922610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475" name="Line 70"/>
            <p:cNvSpPr/>
            <p:nvPr/>
          </p:nvSpPr>
          <p:spPr>
            <a:xfrm flipV="1">
              <a:off x="3855011" y="915566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476" name="Text Box 75"/>
            <p:cNvSpPr txBox="1">
              <a:spLocks noChangeArrowheads="1"/>
            </p:cNvSpPr>
            <p:nvPr/>
          </p:nvSpPr>
          <p:spPr bwMode="auto">
            <a:xfrm>
              <a:off x="614440" y="756156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9477" name="Text Box 75"/>
            <p:cNvSpPr txBox="1">
              <a:spLocks noChangeArrowheads="1"/>
            </p:cNvSpPr>
            <p:nvPr/>
          </p:nvSpPr>
          <p:spPr bwMode="auto">
            <a:xfrm>
              <a:off x="2054428" y="779977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9478" name="Text Box 75"/>
            <p:cNvSpPr txBox="1">
              <a:spLocks noChangeArrowheads="1"/>
            </p:cNvSpPr>
            <p:nvPr/>
          </p:nvSpPr>
          <p:spPr bwMode="auto">
            <a:xfrm>
              <a:off x="3505528" y="757745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9479" name="流程图: 延期 92"/>
            <p:cNvSpPr/>
            <p:nvPr/>
          </p:nvSpPr>
          <p:spPr>
            <a:xfrm rot="-5400000">
              <a:off x="830675" y="1205880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480" name="流程图: 延期 92"/>
            <p:cNvSpPr/>
            <p:nvPr/>
          </p:nvSpPr>
          <p:spPr>
            <a:xfrm rot="-5400000">
              <a:off x="2274456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481" name="流程图: 延期 92"/>
            <p:cNvSpPr/>
            <p:nvPr/>
          </p:nvSpPr>
          <p:spPr>
            <a:xfrm rot="-5400000">
              <a:off x="3713277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880" name="直接连接符 137"/>
            <p:cNvCxnSpPr/>
            <p:nvPr/>
          </p:nvCxnSpPr>
          <p:spPr>
            <a:xfrm flipH="1">
              <a:off x="478449" y="2290192"/>
              <a:ext cx="349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482" name="Text Box 69"/>
            <p:cNvSpPr txBox="1"/>
            <p:nvPr/>
          </p:nvSpPr>
          <p:spPr>
            <a:xfrm>
              <a:off x="182603" y="2130429"/>
              <a:ext cx="374329" cy="32014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CP </a:t>
              </a:r>
            </a:p>
          </p:txBody>
        </p:sp>
        <p:cxnSp>
          <p:nvCxnSpPr>
            <p:cNvPr id="3145881" name="直接连接符 140"/>
            <p:cNvCxnSpPr/>
            <p:nvPr/>
          </p:nvCxnSpPr>
          <p:spPr>
            <a:xfrm>
              <a:off x="614651" y="2015877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82" name="直接连接符 142"/>
            <p:cNvCxnSpPr/>
            <p:nvPr/>
          </p:nvCxnSpPr>
          <p:spPr>
            <a:xfrm>
              <a:off x="619414" y="2011114"/>
              <a:ext cx="0" cy="3816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83" name="直接连接符 143"/>
            <p:cNvCxnSpPr/>
            <p:nvPr/>
          </p:nvCxnSpPr>
          <p:spPr>
            <a:xfrm flipH="1">
              <a:off x="621323" y="2390199"/>
              <a:ext cx="385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84" name="直接连接符 144"/>
            <p:cNvCxnSpPr/>
            <p:nvPr/>
          </p:nvCxnSpPr>
          <p:spPr>
            <a:xfrm>
              <a:off x="2059574" y="1996825"/>
              <a:ext cx="720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85" name="直接连接符 145"/>
            <p:cNvCxnSpPr/>
            <p:nvPr/>
          </p:nvCxnSpPr>
          <p:spPr>
            <a:xfrm>
              <a:off x="2064337" y="1992062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886" name="直接连接符 146"/>
            <p:cNvCxnSpPr/>
            <p:nvPr/>
          </p:nvCxnSpPr>
          <p:spPr>
            <a:xfrm>
              <a:off x="3494971" y="1998969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87" name="直接连接符 147"/>
            <p:cNvCxnSpPr/>
            <p:nvPr/>
          </p:nvCxnSpPr>
          <p:spPr>
            <a:xfrm>
              <a:off x="3499734" y="1994206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49483" name="Text Box 69"/>
            <p:cNvSpPr txBox="1"/>
            <p:nvPr/>
          </p:nvSpPr>
          <p:spPr>
            <a:xfrm>
              <a:off x="4441164" y="2222375"/>
              <a:ext cx="418868" cy="358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5888" name="直接连接符 150"/>
            <p:cNvCxnSpPr/>
            <p:nvPr/>
          </p:nvCxnSpPr>
          <p:spPr>
            <a:xfrm flipH="1">
              <a:off x="1656104" y="3744069"/>
              <a:ext cx="3096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264" name="组合 153"/>
            <p:cNvGrpSpPr/>
            <p:nvPr/>
          </p:nvGrpSpPr>
          <p:grpSpPr>
            <a:xfrm>
              <a:off x="1349517" y="4079874"/>
              <a:ext cx="411198" cy="358257"/>
              <a:chOff x="2267672" y="4227636"/>
              <a:chExt cx="411198" cy="358257"/>
            </a:xfrm>
          </p:grpSpPr>
          <p:sp>
            <p:nvSpPr>
              <p:cNvPr id="1049484" name="Text Box 116"/>
              <p:cNvSpPr txBox="1">
                <a:spLocks noChangeArrowheads="1"/>
              </p:cNvSpPr>
              <p:nvPr/>
            </p:nvSpPr>
            <p:spPr bwMode="auto">
              <a:xfrm>
                <a:off x="2267672" y="4227636"/>
                <a:ext cx="411198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485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65" name="组合 154"/>
            <p:cNvGrpSpPr/>
            <p:nvPr/>
          </p:nvGrpSpPr>
          <p:grpSpPr>
            <a:xfrm>
              <a:off x="2794267" y="4065581"/>
              <a:ext cx="411198" cy="358257"/>
              <a:chOff x="2268070" y="4227506"/>
              <a:chExt cx="411198" cy="358257"/>
            </a:xfrm>
          </p:grpSpPr>
          <p:sp>
            <p:nvSpPr>
              <p:cNvPr id="1049486" name="Text Box 116"/>
              <p:cNvSpPr txBox="1">
                <a:spLocks noChangeArrowheads="1"/>
              </p:cNvSpPr>
              <p:nvPr/>
            </p:nvSpPr>
            <p:spPr bwMode="auto">
              <a:xfrm>
                <a:off x="2268070" y="4227506"/>
                <a:ext cx="411198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487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66" name="组合 157"/>
            <p:cNvGrpSpPr/>
            <p:nvPr/>
          </p:nvGrpSpPr>
          <p:grpSpPr>
            <a:xfrm>
              <a:off x="4234253" y="4065581"/>
              <a:ext cx="411199" cy="358257"/>
              <a:chOff x="2267896" y="4227506"/>
              <a:chExt cx="411199" cy="358257"/>
            </a:xfrm>
          </p:grpSpPr>
          <p:sp>
            <p:nvSpPr>
              <p:cNvPr id="1049488" name="Text Box 116"/>
              <p:cNvSpPr txBox="1">
                <a:spLocks noChangeArrowheads="1"/>
              </p:cNvSpPr>
              <p:nvPr/>
            </p:nvSpPr>
            <p:spPr bwMode="auto">
              <a:xfrm>
                <a:off x="2267896" y="4227506"/>
                <a:ext cx="411199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489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cxnSp>
          <p:nvCxnSpPr>
            <p:cNvPr id="3145889" name="直接连接符 160"/>
            <p:cNvCxnSpPr/>
            <p:nvPr/>
          </p:nvCxnSpPr>
          <p:spPr>
            <a:xfrm flipH="1">
              <a:off x="1352112" y="3839319"/>
              <a:ext cx="3384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890" name="直接连接符 161"/>
            <p:cNvCxnSpPr/>
            <p:nvPr/>
          </p:nvCxnSpPr>
          <p:spPr>
            <a:xfrm flipH="1">
              <a:off x="1034938" y="3921426"/>
              <a:ext cx="370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267" name="组合 162"/>
            <p:cNvGrpSpPr/>
            <p:nvPr/>
          </p:nvGrpSpPr>
          <p:grpSpPr>
            <a:xfrm>
              <a:off x="685885" y="4086226"/>
              <a:ext cx="360393" cy="275680"/>
              <a:chOff x="2266970" y="4227593"/>
              <a:chExt cx="360393" cy="275680"/>
            </a:xfrm>
          </p:grpSpPr>
          <p:sp>
            <p:nvSpPr>
              <p:cNvPr id="1049490" name="Text Box 116"/>
              <p:cNvSpPr txBox="1">
                <a:spLocks noChangeArrowheads="1"/>
              </p:cNvSpPr>
              <p:nvPr/>
            </p:nvSpPr>
            <p:spPr bwMode="auto">
              <a:xfrm>
                <a:off x="2266970" y="4227593"/>
                <a:ext cx="360393" cy="2756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491" name="Line 117"/>
              <p:cNvSpPr/>
              <p:nvPr/>
            </p:nvSpPr>
            <p:spPr>
              <a:xfrm>
                <a:off x="2373107" y="4290417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68" name="组合 165"/>
            <p:cNvGrpSpPr/>
            <p:nvPr/>
          </p:nvGrpSpPr>
          <p:grpSpPr>
            <a:xfrm>
              <a:off x="1003412" y="4084637"/>
              <a:ext cx="360393" cy="307440"/>
              <a:chOff x="2267891" y="4227512"/>
              <a:chExt cx="360393" cy="307440"/>
            </a:xfrm>
          </p:grpSpPr>
          <p:sp>
            <p:nvSpPr>
              <p:cNvPr id="1049492" name="Text Box 116"/>
              <p:cNvSpPr txBox="1">
                <a:spLocks noChangeArrowheads="1"/>
              </p:cNvSpPr>
              <p:nvPr/>
            </p:nvSpPr>
            <p:spPr bwMode="auto">
              <a:xfrm>
                <a:off x="2267891" y="4227512"/>
                <a:ext cx="360393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049493" name="Line 117"/>
              <p:cNvSpPr/>
              <p:nvPr/>
            </p:nvSpPr>
            <p:spPr>
              <a:xfrm>
                <a:off x="2363582" y="4288365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69" name="组合 168"/>
            <p:cNvGrpSpPr/>
            <p:nvPr/>
          </p:nvGrpSpPr>
          <p:grpSpPr>
            <a:xfrm>
              <a:off x="2486265" y="4075109"/>
              <a:ext cx="360393" cy="307440"/>
              <a:chOff x="2267151" y="4227509"/>
              <a:chExt cx="360393" cy="307440"/>
            </a:xfrm>
          </p:grpSpPr>
          <p:sp>
            <p:nvSpPr>
              <p:cNvPr id="1049494" name="Text Box 116"/>
              <p:cNvSpPr txBox="1">
                <a:spLocks noChangeArrowheads="1"/>
              </p:cNvSpPr>
              <p:nvPr/>
            </p:nvSpPr>
            <p:spPr bwMode="auto">
              <a:xfrm>
                <a:off x="2267151" y="4227509"/>
                <a:ext cx="360393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495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70" name="组合 171"/>
            <p:cNvGrpSpPr/>
            <p:nvPr/>
          </p:nvGrpSpPr>
          <p:grpSpPr>
            <a:xfrm>
              <a:off x="2054428" y="4075109"/>
              <a:ext cx="431837" cy="307440"/>
              <a:chOff x="2195354" y="4227509"/>
              <a:chExt cx="431837" cy="307440"/>
            </a:xfrm>
          </p:grpSpPr>
          <p:sp>
            <p:nvSpPr>
              <p:cNvPr id="1049496" name="Text Box 116"/>
              <p:cNvSpPr txBox="1">
                <a:spLocks noChangeArrowheads="1"/>
              </p:cNvSpPr>
              <p:nvPr/>
            </p:nvSpPr>
            <p:spPr bwMode="auto">
              <a:xfrm>
                <a:off x="2195354" y="4227509"/>
                <a:ext cx="431837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497" name="Line 117"/>
              <p:cNvSpPr/>
              <p:nvPr/>
            </p:nvSpPr>
            <p:spPr>
              <a:xfrm>
                <a:off x="2305702" y="4276789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71" name="组合 177"/>
            <p:cNvGrpSpPr/>
            <p:nvPr/>
          </p:nvGrpSpPr>
          <p:grpSpPr>
            <a:xfrm>
              <a:off x="3915139" y="4075109"/>
              <a:ext cx="479466" cy="307440"/>
              <a:chOff x="2268481" y="4228650"/>
              <a:chExt cx="479466" cy="307440"/>
            </a:xfrm>
          </p:grpSpPr>
          <p:sp>
            <p:nvSpPr>
              <p:cNvPr id="1049498" name="Text Box 116"/>
              <p:cNvSpPr txBox="1">
                <a:spLocks noChangeArrowheads="1"/>
              </p:cNvSpPr>
              <p:nvPr/>
            </p:nvSpPr>
            <p:spPr bwMode="auto">
              <a:xfrm>
                <a:off x="2268481" y="4228650"/>
                <a:ext cx="479466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499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72" name="组合 180"/>
            <p:cNvGrpSpPr/>
            <p:nvPr/>
          </p:nvGrpSpPr>
          <p:grpSpPr>
            <a:xfrm>
              <a:off x="3630951" y="4075109"/>
              <a:ext cx="360394" cy="307440"/>
              <a:chOff x="2268133" y="4228650"/>
              <a:chExt cx="360394" cy="307440"/>
            </a:xfrm>
          </p:grpSpPr>
          <p:sp>
            <p:nvSpPr>
              <p:cNvPr id="1049500" name="Text Box 116"/>
              <p:cNvSpPr txBox="1">
                <a:spLocks noChangeArrowheads="1"/>
              </p:cNvSpPr>
              <p:nvPr/>
            </p:nvSpPr>
            <p:spPr bwMode="auto">
              <a:xfrm>
                <a:off x="2268133" y="4228650"/>
                <a:ext cx="360394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49501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502" name="Text Box 69"/>
            <p:cNvSpPr txBox="1"/>
            <p:nvPr/>
          </p:nvSpPr>
          <p:spPr>
            <a:xfrm>
              <a:off x="4716016" y="3536429"/>
              <a:ext cx="720080" cy="35825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W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  <p:sp>
          <p:nvSpPr>
            <p:cNvPr id="1049503" name="Text Box 69"/>
            <p:cNvSpPr txBox="1"/>
            <p:nvPr/>
          </p:nvSpPr>
          <p:spPr>
            <a:xfrm>
              <a:off x="4725541" y="3707879"/>
              <a:ext cx="720080" cy="358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8000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rgbClr val="008000"/>
                  </a:solidFill>
                  <a:latin typeface="Arial" panose="020B0604020202090204" pitchFamily="34" charset="0"/>
                </a:rPr>
                <a:t>R </a:t>
              </a:r>
            </a:p>
          </p:txBody>
        </p:sp>
        <p:sp>
          <p:nvSpPr>
            <p:cNvPr id="1049504" name="Text Box 69"/>
            <p:cNvSpPr txBox="1"/>
            <p:nvPr/>
          </p:nvSpPr>
          <p:spPr>
            <a:xfrm>
              <a:off x="4725541" y="3860279"/>
              <a:ext cx="494531" cy="35825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</p:grpSp>
      <p:grpSp>
        <p:nvGrpSpPr>
          <p:cNvPr id="275" name="组合 18"/>
          <p:cNvGrpSpPr/>
          <p:nvPr/>
        </p:nvGrpSpPr>
        <p:grpSpPr>
          <a:xfrm>
            <a:off x="4758690" y="1177290"/>
            <a:ext cx="3977726" cy="1129779"/>
            <a:chOff x="4740" y="5968"/>
            <a:chExt cx="6216" cy="1779"/>
          </a:xfrm>
        </p:grpSpPr>
        <p:sp>
          <p:nvSpPr>
            <p:cNvPr id="1049507" name="Text Box 373"/>
            <p:cNvSpPr txBox="1"/>
            <p:nvPr/>
          </p:nvSpPr>
          <p:spPr>
            <a:xfrm>
              <a:off x="4740" y="6533"/>
              <a:ext cx="1700" cy="5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输入方程</a:t>
              </a:r>
            </a:p>
          </p:txBody>
        </p:sp>
        <p:grpSp>
          <p:nvGrpSpPr>
            <p:cNvPr id="276" name="Group 182"/>
            <p:cNvGrpSpPr/>
            <p:nvPr/>
          </p:nvGrpSpPr>
          <p:grpSpPr>
            <a:xfrm>
              <a:off x="6540" y="5968"/>
              <a:ext cx="4416" cy="484"/>
              <a:chOff x="1152" y="3456"/>
              <a:chExt cx="1766" cy="259"/>
            </a:xfrm>
          </p:grpSpPr>
          <p:sp>
            <p:nvSpPr>
              <p:cNvPr id="1049508" name="Text Box 183"/>
              <p:cNvSpPr txBox="1"/>
              <p:nvPr/>
            </p:nvSpPr>
            <p:spPr>
              <a:xfrm>
                <a:off x="1152" y="3456"/>
                <a:ext cx="1766" cy="259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4 </a:t>
                </a:r>
                <a:r>
                  <a:rPr lang="en-US" altLang="zh-CN" sz="1400" b="1" dirty="0">
                    <a:solidFill>
                      <a:srgbClr val="008000"/>
                    </a:solidFill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solidFill>
                      <a:srgbClr val="008000"/>
                    </a:solidFill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Q</a:t>
                </a:r>
                <a:r>
                  <a:rPr lang="en-US" altLang="zh-CN" sz="1400" b="1" baseline="-25000" dirty="0">
                    <a:sym typeface="+mn-ea"/>
                  </a:rPr>
                  <a:t>4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1049509" name="Line 184"/>
              <p:cNvSpPr/>
              <p:nvPr/>
            </p:nvSpPr>
            <p:spPr>
              <a:xfrm>
                <a:off x="147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10" name="Line 185"/>
              <p:cNvSpPr/>
              <p:nvPr/>
            </p:nvSpPr>
            <p:spPr>
              <a:xfrm>
                <a:off x="193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11" name="Line 186"/>
              <p:cNvSpPr/>
              <p:nvPr/>
            </p:nvSpPr>
            <p:spPr>
              <a:xfrm>
                <a:off x="2355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12" name="Line 187"/>
              <p:cNvSpPr/>
              <p:nvPr/>
            </p:nvSpPr>
            <p:spPr>
              <a:xfrm>
                <a:off x="1484" y="3456"/>
                <a:ext cx="111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77" name="Group 188"/>
            <p:cNvGrpSpPr/>
            <p:nvPr/>
          </p:nvGrpSpPr>
          <p:grpSpPr>
            <a:xfrm>
              <a:off x="6540" y="6598"/>
              <a:ext cx="4416" cy="484"/>
              <a:chOff x="1152" y="3456"/>
              <a:chExt cx="1766" cy="259"/>
            </a:xfrm>
          </p:grpSpPr>
          <p:sp>
            <p:nvSpPr>
              <p:cNvPr id="1049513" name="Text Box 189"/>
              <p:cNvSpPr txBox="1"/>
              <p:nvPr/>
            </p:nvSpPr>
            <p:spPr>
              <a:xfrm>
                <a:off x="1152" y="3456"/>
                <a:ext cx="1766" cy="259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solidFill>
                      <a:srgbClr val="008000"/>
                    </a:solidFill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solidFill>
                      <a:srgbClr val="008000"/>
                    </a:solidFill>
                    <a:latin typeface="Arial" panose="020B0604020202090204" pitchFamily="34" charset="0"/>
                  </a:rPr>
                  <a:t>R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Q</a:t>
                </a:r>
                <a:r>
                  <a:rPr lang="en-US" altLang="zh-CN" sz="1400" b="1" baseline="-25000" dirty="0">
                    <a:sym typeface="+mn-ea"/>
                  </a:rPr>
                  <a:t>3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1049514" name="Line 190"/>
              <p:cNvSpPr/>
              <p:nvPr/>
            </p:nvSpPr>
            <p:spPr>
              <a:xfrm>
                <a:off x="148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15" name="Line 191"/>
              <p:cNvSpPr/>
              <p:nvPr/>
            </p:nvSpPr>
            <p:spPr>
              <a:xfrm>
                <a:off x="1926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16" name="Line 192"/>
              <p:cNvSpPr/>
              <p:nvPr/>
            </p:nvSpPr>
            <p:spPr>
              <a:xfrm>
                <a:off x="2346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17" name="Line 193"/>
              <p:cNvSpPr/>
              <p:nvPr/>
            </p:nvSpPr>
            <p:spPr>
              <a:xfrm>
                <a:off x="1484" y="3456"/>
                <a:ext cx="111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78" name="Group 194"/>
            <p:cNvGrpSpPr/>
            <p:nvPr/>
          </p:nvGrpSpPr>
          <p:grpSpPr>
            <a:xfrm>
              <a:off x="6570" y="7228"/>
              <a:ext cx="4385" cy="519"/>
              <a:chOff x="1164" y="3456"/>
              <a:chExt cx="1754" cy="278"/>
            </a:xfrm>
          </p:grpSpPr>
          <p:sp>
            <p:nvSpPr>
              <p:cNvPr id="1049518" name="Text Box 195"/>
              <p:cNvSpPr txBox="1"/>
              <p:nvPr/>
            </p:nvSpPr>
            <p:spPr>
              <a:xfrm>
                <a:off x="1164" y="3456"/>
                <a:ext cx="1754" cy="278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no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en-US" altLang="zh-CN" sz="1400" b="1" dirty="0">
                    <a:solidFill>
                      <a:srgbClr val="008000"/>
                    </a:solidFill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solidFill>
                      <a:srgbClr val="008000"/>
                    </a:solidFill>
                    <a:latin typeface="Arial" panose="020B0604020202090204" pitchFamily="34" charset="0"/>
                  </a:rPr>
                  <a:t>R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0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Q</a:t>
                </a:r>
                <a:r>
                  <a:rPr lang="en-US" altLang="zh-CN" sz="1400" b="1" baseline="-25000" dirty="0">
                    <a:sym typeface="+mn-ea"/>
                  </a:rPr>
                  <a:t>2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</p:txBody>
          </p:sp>
          <p:sp>
            <p:nvSpPr>
              <p:cNvPr id="1049519" name="Line 196"/>
              <p:cNvSpPr/>
              <p:nvPr/>
            </p:nvSpPr>
            <p:spPr>
              <a:xfrm>
                <a:off x="148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20" name="Line 197"/>
              <p:cNvSpPr/>
              <p:nvPr/>
            </p:nvSpPr>
            <p:spPr>
              <a:xfrm>
                <a:off x="191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21" name="Line 198"/>
              <p:cNvSpPr/>
              <p:nvPr/>
            </p:nvSpPr>
            <p:spPr>
              <a:xfrm>
                <a:off x="231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522" name="Line 199"/>
              <p:cNvSpPr/>
              <p:nvPr/>
            </p:nvSpPr>
            <p:spPr>
              <a:xfrm>
                <a:off x="1490" y="3456"/>
                <a:ext cx="106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523" name="AutoShape 202"/>
            <p:cNvSpPr/>
            <p:nvPr/>
          </p:nvSpPr>
          <p:spPr>
            <a:xfrm>
              <a:off x="6330" y="6238"/>
              <a:ext cx="360" cy="1170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380" grpId="0"/>
      <p:bldP spid="1049381" grpId="0"/>
      <p:bldP spid="10493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双向移位寄存器</a:t>
            </a:r>
            <a:r>
              <a:rPr kumimoji="1" lang="en-US" altLang="zh-CN" kern="1200" noProof="0" dirty="0">
                <a:cs typeface="+mn-cs"/>
                <a:sym typeface="+mn-ea"/>
              </a:rPr>
              <a:t>——</a:t>
            </a:r>
            <a:r>
              <a:rPr kumimoji="1" lang="zh-CN" altLang="en-US" kern="1200" noProof="0" dirty="0">
                <a:cs typeface="+mn-cs"/>
                <a:sym typeface="+mn-ea"/>
              </a:rPr>
              <a:t>左移</a:t>
            </a:r>
            <a:endParaRPr lang="zh-CN" altLang="en-US"/>
          </a:p>
        </p:txBody>
      </p:sp>
      <p:sp>
        <p:nvSpPr>
          <p:cNvPr id="1049539" name="Text Box 5"/>
          <p:cNvSpPr txBox="1"/>
          <p:nvPr/>
        </p:nvSpPr>
        <p:spPr>
          <a:xfrm>
            <a:off x="4922520" y="677545"/>
            <a:ext cx="33534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</a:rPr>
              <a:t>S</a:t>
            </a:r>
            <a:r>
              <a:rPr lang="en-US" altLang="zh-CN" b="1" baseline="-25000" dirty="0">
                <a:solidFill>
                  <a:schemeClr val="bg1"/>
                </a:solidFill>
                <a:latin typeface="Arial" panose="020B0604020202090204" pitchFamily="34" charset="0"/>
              </a:rPr>
              <a:t>L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</a:rPr>
              <a:t> =</a:t>
            </a:r>
            <a:r>
              <a:rPr lang="en-US" altLang="zh-CN" b="1" baseline="-25000" dirty="0">
                <a:solidFill>
                  <a:schemeClr val="bg1"/>
                </a:solidFill>
                <a:latin typeface="Arial" panose="020B0604020202090204" pitchFamily="34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</a:rPr>
              <a:t>1</a:t>
            </a:r>
            <a:r>
              <a:rPr lang="en-US" altLang="zh-CN" b="1" dirty="0">
                <a:latin typeface="Arial" panose="020B0604020202090204" pitchFamily="34" charset="0"/>
              </a:rPr>
              <a:t>, W</a:t>
            </a:r>
            <a:r>
              <a:rPr lang="en-US" altLang="zh-CN" b="1" baseline="-25000" dirty="0">
                <a:latin typeface="Arial" panose="020B0604020202090204" pitchFamily="34" charset="0"/>
              </a:rPr>
              <a:t>L </a:t>
            </a:r>
            <a:r>
              <a:rPr lang="en-US" altLang="zh-CN" b="1" dirty="0">
                <a:latin typeface="Arial" panose="020B0604020202090204" pitchFamily="34" charset="0"/>
              </a:rPr>
              <a:t>=</a:t>
            </a:r>
            <a:r>
              <a:rPr lang="zh-CN" altLang="en-US" b="1" baseline="-25000" dirty="0">
                <a:latin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</a:rPr>
              <a:t>S</a:t>
            </a:r>
            <a:r>
              <a:rPr lang="en-US" altLang="zh-CN" b="1" baseline="-25000" dirty="0">
                <a:latin typeface="Arial" panose="020B0604020202090204" pitchFamily="34" charset="0"/>
              </a:rPr>
              <a:t>R </a:t>
            </a:r>
            <a:r>
              <a:rPr lang="en-US" altLang="zh-CN" b="1" dirty="0">
                <a:latin typeface="Arial" panose="020B0604020202090204" pitchFamily="34" charset="0"/>
              </a:rPr>
              <a:t>= 0</a:t>
            </a:r>
          </a:p>
        </p:txBody>
      </p:sp>
      <p:sp>
        <p:nvSpPr>
          <p:cNvPr id="1049540" name="Text Box 42"/>
          <p:cNvSpPr txBox="1"/>
          <p:nvPr/>
        </p:nvSpPr>
        <p:spPr>
          <a:xfrm>
            <a:off x="5325745" y="4058920"/>
            <a:ext cx="3630295" cy="4603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CP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上升沿到来时左移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282" name="组合 244"/>
          <p:cNvGrpSpPr/>
          <p:nvPr/>
        </p:nvGrpSpPr>
        <p:grpSpPr>
          <a:xfrm>
            <a:off x="5409883" y="2645093"/>
            <a:ext cx="3268723" cy="1199151"/>
            <a:chOff x="5447376" y="2283718"/>
            <a:chExt cx="3268099" cy="1199819"/>
          </a:xfrm>
        </p:grpSpPr>
        <p:grpSp>
          <p:nvGrpSpPr>
            <p:cNvPr id="283" name="Group 375"/>
            <p:cNvGrpSpPr/>
            <p:nvPr/>
          </p:nvGrpSpPr>
          <p:grpSpPr>
            <a:xfrm>
              <a:off x="6588224" y="2283718"/>
              <a:ext cx="2127251" cy="1199819"/>
              <a:chOff x="4263" y="3448"/>
              <a:chExt cx="1340" cy="1008"/>
            </a:xfrm>
          </p:grpSpPr>
          <p:sp>
            <p:nvSpPr>
              <p:cNvPr id="1049541" name="Text Box 201"/>
              <p:cNvSpPr txBox="1"/>
              <p:nvPr/>
            </p:nvSpPr>
            <p:spPr>
              <a:xfrm>
                <a:off x="4360" y="3448"/>
                <a:ext cx="1243" cy="10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Times New Roman" panose="02020503050405090304" pitchFamily="18" charset="0"/>
                  </a:rPr>
                  <a:t>3</a:t>
                </a:r>
                <a:r>
                  <a:rPr lang="en-US" altLang="zh-CN" sz="1800" b="1" baseline="30000" dirty="0">
                    <a:latin typeface="Times New Roman" panose="02020503050405090304" pitchFamily="18" charset="0"/>
                  </a:rPr>
                  <a:t>n+1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2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Times New Roman" panose="02020503050405090304" pitchFamily="18" charset="0"/>
                  </a:rPr>
                  <a:t>2</a:t>
                </a:r>
                <a:r>
                  <a:rPr lang="en-US" altLang="zh-CN" sz="1800" b="1" baseline="30000" dirty="0">
                    <a:latin typeface="Times New Roman" panose="02020503050405090304" pitchFamily="18" charset="0"/>
                  </a:rPr>
                  <a:t>n+1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2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1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Times New Roman" panose="02020503050405090304" pitchFamily="18" charset="0"/>
                  </a:rPr>
                  <a:t>1</a:t>
                </a:r>
                <a:r>
                  <a:rPr lang="en-US" altLang="zh-CN" sz="1800" b="1" baseline="30000" dirty="0">
                    <a:latin typeface="Times New Roman" panose="02020503050405090304" pitchFamily="18" charset="0"/>
                  </a:rPr>
                  <a:t>n+1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1 </a:t>
                </a:r>
                <a:r>
                  <a:rPr lang="zh-CN" altLang="en-US" sz="18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8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800" b="1" baseline="-25000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49542" name="AutoShape 203"/>
              <p:cNvSpPr/>
              <p:nvPr/>
            </p:nvSpPr>
            <p:spPr>
              <a:xfrm>
                <a:off x="4263" y="3591"/>
                <a:ext cx="136" cy="576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spcBef>
                    <a:spcPct val="50000"/>
                  </a:spcBef>
                </a:pPr>
                <a:endParaRPr lang="zh-CN" altLang="en-US" sz="1600" dirty="0">
                  <a:latin typeface="Arial" panose="020B0604020202090204" pitchFamily="34" charset="0"/>
                </a:endParaRPr>
              </a:p>
            </p:txBody>
          </p:sp>
        </p:grpSp>
        <p:sp>
          <p:nvSpPr>
            <p:cNvPr id="1049543" name="Text Box 373"/>
            <p:cNvSpPr txBox="1"/>
            <p:nvPr/>
          </p:nvSpPr>
          <p:spPr>
            <a:xfrm>
              <a:off x="5447376" y="2604572"/>
              <a:ext cx="1301501" cy="36850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次态方程</a:t>
              </a:r>
            </a:p>
          </p:txBody>
        </p:sp>
      </p:grpSp>
      <p:grpSp>
        <p:nvGrpSpPr>
          <p:cNvPr id="284" name="组合 186"/>
          <p:cNvGrpSpPr/>
          <p:nvPr/>
        </p:nvGrpSpPr>
        <p:grpSpPr>
          <a:xfrm>
            <a:off x="73025" y="1314450"/>
            <a:ext cx="5262563" cy="3680778"/>
            <a:chOff x="182603" y="756156"/>
            <a:chExt cx="5263018" cy="3681975"/>
          </a:xfrm>
        </p:grpSpPr>
        <p:sp>
          <p:nvSpPr>
            <p:cNvPr id="1049544" name="椭圆 93"/>
            <p:cNvSpPr/>
            <p:nvPr/>
          </p:nvSpPr>
          <p:spPr>
            <a:xfrm>
              <a:off x="935450" y="1139205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545" name="椭圆 80"/>
            <p:cNvSpPr/>
            <p:nvPr/>
          </p:nvSpPr>
          <p:spPr>
            <a:xfrm>
              <a:off x="2379231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546" name="椭圆 93"/>
            <p:cNvSpPr/>
            <p:nvPr/>
          </p:nvSpPr>
          <p:spPr>
            <a:xfrm>
              <a:off x="3818052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85" name="组合 33"/>
            <p:cNvGrpSpPr/>
            <p:nvPr/>
          </p:nvGrpSpPr>
          <p:grpSpPr>
            <a:xfrm>
              <a:off x="758667" y="1367809"/>
              <a:ext cx="708026" cy="972038"/>
              <a:chOff x="6090521" y="3016910"/>
              <a:chExt cx="708026" cy="972089"/>
            </a:xfrm>
          </p:grpSpPr>
          <p:cxnSp>
            <p:nvCxnSpPr>
              <p:cNvPr id="3145891" name="直接连接符 34"/>
              <p:cNvCxnSpPr/>
              <p:nvPr/>
            </p:nvCxnSpPr>
            <p:spPr>
              <a:xfrm rot="5400000">
                <a:off x="6217848" y="3737447"/>
                <a:ext cx="396021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grpSp>
            <p:nvGrpSpPr>
              <p:cNvPr id="286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892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93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547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548" name="TextBox 240"/>
                <p:cNvSpPr txBox="1">
                  <a:spLocks noChangeArrowheads="1"/>
                </p:cNvSpPr>
                <p:nvPr/>
              </p:nvSpPr>
              <p:spPr bwMode="auto">
                <a:xfrm>
                  <a:off x="2214824" y="2809182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549" name="TextBox 241"/>
                <p:cNvSpPr txBox="1">
                  <a:spLocks noChangeArrowheads="1"/>
                </p:cNvSpPr>
                <p:nvPr/>
              </p:nvSpPr>
              <p:spPr bwMode="auto">
                <a:xfrm>
                  <a:off x="1863955" y="2618580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550" name="TextBox 242"/>
                <p:cNvSpPr txBox="1">
                  <a:spLocks noChangeArrowheads="1"/>
                </p:cNvSpPr>
                <p:nvPr/>
              </p:nvSpPr>
              <p:spPr bwMode="auto">
                <a:xfrm>
                  <a:off x="2211649" y="2628110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94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551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552" name="TextBox 236"/>
              <p:cNvSpPr txBox="1">
                <a:spLocks noChangeArrowheads="1"/>
              </p:cNvSpPr>
              <p:nvPr/>
            </p:nvSpPr>
            <p:spPr bwMode="auto">
              <a:xfrm>
                <a:off x="6252709" y="3586771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553" name="椭圆 93"/>
            <p:cNvSpPr/>
            <p:nvPr/>
          </p:nvSpPr>
          <p:spPr>
            <a:xfrm>
              <a:off x="686659" y="1987302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87" name="组合 33"/>
            <p:cNvGrpSpPr/>
            <p:nvPr/>
          </p:nvGrpSpPr>
          <p:grpSpPr>
            <a:xfrm>
              <a:off x="2208352" y="1367804"/>
              <a:ext cx="708026" cy="972036"/>
              <a:chOff x="6090521" y="3016910"/>
              <a:chExt cx="708026" cy="972089"/>
            </a:xfrm>
          </p:grpSpPr>
          <p:cxnSp>
            <p:nvCxnSpPr>
              <p:cNvPr id="3145895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288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896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897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554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555" name="TextBox 229"/>
                <p:cNvSpPr txBox="1">
                  <a:spLocks noChangeArrowheads="1"/>
                </p:cNvSpPr>
                <p:nvPr/>
              </p:nvSpPr>
              <p:spPr bwMode="auto">
                <a:xfrm>
                  <a:off x="2214652" y="2809188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556" name="TextBox 230"/>
                <p:cNvSpPr txBox="1">
                  <a:spLocks noChangeArrowheads="1"/>
                </p:cNvSpPr>
                <p:nvPr/>
              </p:nvSpPr>
              <p:spPr bwMode="auto">
                <a:xfrm>
                  <a:off x="1863782" y="2618586"/>
                  <a:ext cx="357221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557" name="TextBox 231"/>
                <p:cNvSpPr txBox="1">
                  <a:spLocks noChangeArrowheads="1"/>
                </p:cNvSpPr>
                <p:nvPr/>
              </p:nvSpPr>
              <p:spPr bwMode="auto">
                <a:xfrm>
                  <a:off x="2211477" y="2628116"/>
                  <a:ext cx="357220" cy="2461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898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558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559" name="TextBox 225"/>
              <p:cNvSpPr txBox="1">
                <a:spLocks noChangeArrowheads="1"/>
              </p:cNvSpPr>
              <p:nvPr/>
            </p:nvSpPr>
            <p:spPr bwMode="auto">
              <a:xfrm>
                <a:off x="6252536" y="3586777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560" name="椭圆 93"/>
            <p:cNvSpPr/>
            <p:nvPr/>
          </p:nvSpPr>
          <p:spPr>
            <a:xfrm>
              <a:off x="2141108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289" name="组合 33"/>
            <p:cNvGrpSpPr/>
            <p:nvPr/>
          </p:nvGrpSpPr>
          <p:grpSpPr>
            <a:xfrm>
              <a:off x="3638987" y="1367803"/>
              <a:ext cx="708026" cy="972024"/>
              <a:chOff x="6090521" y="3016909"/>
              <a:chExt cx="708026" cy="972077"/>
            </a:xfrm>
          </p:grpSpPr>
          <p:cxnSp>
            <p:nvCxnSpPr>
              <p:cNvPr id="3145899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290" name="组合 16"/>
              <p:cNvGrpSpPr/>
              <p:nvPr/>
            </p:nvGrpSpPr>
            <p:grpSpPr>
              <a:xfrm>
                <a:off x="6090521" y="3016909"/>
                <a:ext cx="708026" cy="972077"/>
                <a:chOff x="1863706" y="2178882"/>
                <a:chExt cx="708030" cy="972234"/>
              </a:xfrm>
            </p:grpSpPr>
            <p:cxnSp>
              <p:nvCxnSpPr>
                <p:cNvPr id="3145900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01" name="直接连接符 18"/>
                <p:cNvCxnSpPr/>
                <p:nvPr/>
              </p:nvCxnSpPr>
              <p:spPr>
                <a:xfrm rot="5400000">
                  <a:off x="1640154" y="2538165"/>
                  <a:ext cx="72015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561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562" name="TextBox 218"/>
                <p:cNvSpPr txBox="1">
                  <a:spLocks noChangeArrowheads="1"/>
                </p:cNvSpPr>
                <p:nvPr/>
              </p:nvSpPr>
              <p:spPr bwMode="auto">
                <a:xfrm>
                  <a:off x="2214478" y="2809200"/>
                  <a:ext cx="357221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563" name="TextBox 219"/>
                <p:cNvSpPr txBox="1">
                  <a:spLocks noChangeArrowheads="1"/>
                </p:cNvSpPr>
                <p:nvPr/>
              </p:nvSpPr>
              <p:spPr bwMode="auto">
                <a:xfrm>
                  <a:off x="1863609" y="2618597"/>
                  <a:ext cx="357220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564" name="TextBox 220"/>
                <p:cNvSpPr txBox="1">
                  <a:spLocks noChangeArrowheads="1"/>
                </p:cNvSpPr>
                <p:nvPr/>
              </p:nvSpPr>
              <p:spPr bwMode="auto">
                <a:xfrm>
                  <a:off x="2211303" y="2628127"/>
                  <a:ext cx="357221" cy="2461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02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565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566" name="TextBox 214"/>
              <p:cNvSpPr txBox="1">
                <a:spLocks noChangeArrowheads="1"/>
              </p:cNvSpPr>
              <p:nvPr/>
            </p:nvSpPr>
            <p:spPr bwMode="auto">
              <a:xfrm>
                <a:off x="6252363" y="3586777"/>
                <a:ext cx="422311" cy="2143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567" name="椭圆 93"/>
            <p:cNvSpPr/>
            <p:nvPr/>
          </p:nvSpPr>
          <p:spPr>
            <a:xfrm>
              <a:off x="3566979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568" name="Line 25"/>
            <p:cNvSpPr/>
            <p:nvPr/>
          </p:nvSpPr>
          <p:spPr>
            <a:xfrm rot="-5400000">
              <a:off x="843509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69" name="Line 26"/>
            <p:cNvSpPr/>
            <p:nvPr/>
          </p:nvSpPr>
          <p:spPr>
            <a:xfrm rot="-5400000">
              <a:off x="1474156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0" name="Line 27"/>
            <p:cNvSpPr/>
            <p:nvPr/>
          </p:nvSpPr>
          <p:spPr>
            <a:xfrm rot="-5400000">
              <a:off x="1055994" y="3065479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1" name="Line 28"/>
            <p:cNvSpPr/>
            <p:nvPr/>
          </p:nvSpPr>
          <p:spPr>
            <a:xfrm rot="-5400000" flipV="1">
              <a:off x="1467466" y="3049986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2" name="Line 29"/>
            <p:cNvSpPr/>
            <p:nvPr/>
          </p:nvSpPr>
          <p:spPr>
            <a:xfrm rot="-5400000">
              <a:off x="653281" y="3849442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3" name="Line 30"/>
            <p:cNvSpPr/>
            <p:nvPr/>
          </p:nvSpPr>
          <p:spPr>
            <a:xfrm rot="-5400000">
              <a:off x="907617" y="3782582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4" name="Line 31"/>
            <p:cNvSpPr/>
            <p:nvPr/>
          </p:nvSpPr>
          <p:spPr>
            <a:xfrm rot="-5400000">
              <a:off x="1273766" y="384047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5" name="Line 32"/>
            <p:cNvSpPr/>
            <p:nvPr/>
          </p:nvSpPr>
          <p:spPr>
            <a:xfrm rot="-5400000">
              <a:off x="1594953" y="3672069"/>
              <a:ext cx="144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76" name="AutoShape 29"/>
            <p:cNvSpPr>
              <a:spLocks noChangeAspect="1" noTextEdit="1"/>
            </p:cNvSpPr>
            <p:nvPr/>
          </p:nvSpPr>
          <p:spPr>
            <a:xfrm rot="-5400000">
              <a:off x="909378" y="2501021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577" name="Freeform 32"/>
            <p:cNvSpPr/>
            <p:nvPr/>
          </p:nvSpPr>
          <p:spPr>
            <a:xfrm rot="-5400000">
              <a:off x="948107" y="2644965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578" name="Freeform 33"/>
            <p:cNvSpPr/>
            <p:nvPr/>
          </p:nvSpPr>
          <p:spPr>
            <a:xfrm rot="-5400000">
              <a:off x="1120918" y="2664377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579" name="Freeform 34"/>
            <p:cNvSpPr/>
            <p:nvPr/>
          </p:nvSpPr>
          <p:spPr>
            <a:xfrm rot="-5400000">
              <a:off x="1223716" y="2767173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580" name="Oval 35"/>
            <p:cNvSpPr/>
            <p:nvPr/>
          </p:nvSpPr>
          <p:spPr>
            <a:xfrm rot="-5400000">
              <a:off x="1230091" y="2469710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581" name="流程图: 延期 92"/>
            <p:cNvSpPr>
              <a:spLocks noChangeArrowheads="1"/>
            </p:cNvSpPr>
            <p:nvPr/>
          </p:nvSpPr>
          <p:spPr bwMode="auto">
            <a:xfrm rot="16200000">
              <a:off x="808098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582" name="流程图: 延期 92"/>
            <p:cNvSpPr>
              <a:spLocks noChangeArrowheads="1"/>
            </p:cNvSpPr>
            <p:nvPr/>
          </p:nvSpPr>
          <p:spPr bwMode="auto">
            <a:xfrm rot="16200000">
              <a:off x="1436802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583" name="Line 38"/>
            <p:cNvSpPr/>
            <p:nvPr/>
          </p:nvSpPr>
          <p:spPr>
            <a:xfrm rot="-5400000">
              <a:off x="1039835" y="3050388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84" name="Line 39"/>
            <p:cNvSpPr/>
            <p:nvPr/>
          </p:nvSpPr>
          <p:spPr>
            <a:xfrm rot="-5400000">
              <a:off x="1212243" y="3037032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85" name="Line 31"/>
            <p:cNvSpPr/>
            <p:nvPr/>
          </p:nvSpPr>
          <p:spPr>
            <a:xfrm rot="-5400000">
              <a:off x="952396" y="384544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86" name="Line 32"/>
            <p:cNvSpPr/>
            <p:nvPr/>
          </p:nvSpPr>
          <p:spPr>
            <a:xfrm rot="-5400000">
              <a:off x="1242346" y="3743706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87" name="流程图: 延期 92"/>
            <p:cNvSpPr>
              <a:spLocks noChangeArrowheads="1"/>
            </p:cNvSpPr>
            <p:nvPr/>
          </p:nvSpPr>
          <p:spPr bwMode="auto">
            <a:xfrm rot="16200000">
              <a:off x="1119275" y="3360536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03" name="直接连接符 79"/>
            <p:cNvCxnSpPr>
              <a:stCxn id="1049579" idx="1"/>
              <a:endCxn id="1049587" idx="3"/>
            </p:cNvCxnSpPr>
            <p:nvPr/>
          </p:nvCxnSpPr>
          <p:spPr>
            <a:xfrm flipH="1">
              <a:off x="1262723" y="2879973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588" name="Line 40"/>
            <p:cNvSpPr/>
            <p:nvPr/>
          </p:nvSpPr>
          <p:spPr>
            <a:xfrm rot="-5400000">
              <a:off x="1173768" y="2386357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89" name="Line 25"/>
            <p:cNvSpPr/>
            <p:nvPr/>
          </p:nvSpPr>
          <p:spPr>
            <a:xfrm rot="-5400000">
              <a:off x="2287861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90" name="Line 26"/>
            <p:cNvSpPr/>
            <p:nvPr/>
          </p:nvSpPr>
          <p:spPr>
            <a:xfrm rot="-5400000">
              <a:off x="2918508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91" name="Line 27"/>
            <p:cNvSpPr/>
            <p:nvPr/>
          </p:nvSpPr>
          <p:spPr>
            <a:xfrm rot="-5400000">
              <a:off x="2500346" y="306316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92" name="Line 28"/>
            <p:cNvSpPr/>
            <p:nvPr/>
          </p:nvSpPr>
          <p:spPr>
            <a:xfrm rot="-5400000" flipV="1">
              <a:off x="2911818" y="3047670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93" name="Line 29"/>
            <p:cNvSpPr/>
            <p:nvPr/>
          </p:nvSpPr>
          <p:spPr>
            <a:xfrm rot="-5400000">
              <a:off x="2102396" y="384712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94" name="Line 30"/>
            <p:cNvSpPr/>
            <p:nvPr/>
          </p:nvSpPr>
          <p:spPr>
            <a:xfrm rot="-5400000">
              <a:off x="2351969" y="3780266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595" name="Line 31"/>
            <p:cNvSpPr/>
            <p:nvPr/>
          </p:nvSpPr>
          <p:spPr>
            <a:xfrm rot="-5400000">
              <a:off x="2713355" y="383816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596" name="Line 32"/>
            <p:cNvSpPr/>
            <p:nvPr/>
          </p:nvSpPr>
          <p:spPr>
            <a:xfrm rot="-5400000">
              <a:off x="3057305" y="3682059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597" name="AutoShape 29"/>
            <p:cNvSpPr>
              <a:spLocks noChangeAspect="1" noTextEdit="1"/>
            </p:cNvSpPr>
            <p:nvPr/>
          </p:nvSpPr>
          <p:spPr>
            <a:xfrm rot="-5400000">
              <a:off x="2353730" y="2498705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598" name="Freeform 32"/>
            <p:cNvSpPr/>
            <p:nvPr/>
          </p:nvSpPr>
          <p:spPr>
            <a:xfrm rot="-5400000">
              <a:off x="2392459" y="2642649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599" name="Freeform 33"/>
            <p:cNvSpPr/>
            <p:nvPr/>
          </p:nvSpPr>
          <p:spPr>
            <a:xfrm rot="-5400000">
              <a:off x="2565270" y="2662061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600" name="Freeform 34"/>
            <p:cNvSpPr/>
            <p:nvPr/>
          </p:nvSpPr>
          <p:spPr>
            <a:xfrm rot="-5400000">
              <a:off x="2668068" y="2764857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601" name="Oval 35"/>
            <p:cNvSpPr/>
            <p:nvPr/>
          </p:nvSpPr>
          <p:spPr>
            <a:xfrm rot="-5400000">
              <a:off x="2674443" y="2467394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602" name="流程图: 延期 92"/>
            <p:cNvSpPr>
              <a:spLocks noChangeArrowheads="1"/>
            </p:cNvSpPr>
            <p:nvPr/>
          </p:nvSpPr>
          <p:spPr bwMode="auto">
            <a:xfrm rot="16200000">
              <a:off x="2251261" y="3357360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603" name="流程图: 延期 92"/>
            <p:cNvSpPr>
              <a:spLocks noChangeArrowheads="1"/>
            </p:cNvSpPr>
            <p:nvPr/>
          </p:nvSpPr>
          <p:spPr bwMode="auto">
            <a:xfrm rot="16200000">
              <a:off x="2880760" y="3358153"/>
              <a:ext cx="285843" cy="28418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604" name="Line 38"/>
            <p:cNvSpPr/>
            <p:nvPr/>
          </p:nvSpPr>
          <p:spPr>
            <a:xfrm rot="-5400000">
              <a:off x="2484187" y="3048072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05" name="Line 39"/>
            <p:cNvSpPr/>
            <p:nvPr/>
          </p:nvSpPr>
          <p:spPr>
            <a:xfrm rot="-5400000">
              <a:off x="2656595" y="3034716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06" name="Line 31"/>
            <p:cNvSpPr/>
            <p:nvPr/>
          </p:nvSpPr>
          <p:spPr>
            <a:xfrm rot="-5400000">
              <a:off x="2396748" y="3843127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07" name="Line 32"/>
            <p:cNvSpPr/>
            <p:nvPr/>
          </p:nvSpPr>
          <p:spPr>
            <a:xfrm rot="-5400000">
              <a:off x="2677172" y="3731864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608" name="流程图: 延期 92"/>
            <p:cNvSpPr>
              <a:spLocks noChangeArrowheads="1"/>
            </p:cNvSpPr>
            <p:nvPr/>
          </p:nvSpPr>
          <p:spPr bwMode="auto">
            <a:xfrm rot="16200000">
              <a:off x="2564025" y="3357360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04" name="直接连接符 100"/>
            <p:cNvCxnSpPr>
              <a:stCxn id="1049600" idx="1"/>
              <a:endCxn id="1049608" idx="3"/>
            </p:cNvCxnSpPr>
            <p:nvPr/>
          </p:nvCxnSpPr>
          <p:spPr>
            <a:xfrm flipH="1">
              <a:off x="2707075" y="2877657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609" name="Line 40"/>
            <p:cNvSpPr/>
            <p:nvPr/>
          </p:nvSpPr>
          <p:spPr>
            <a:xfrm rot="-5400000">
              <a:off x="2618120" y="2384041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0" name="Line 25"/>
            <p:cNvSpPr/>
            <p:nvPr/>
          </p:nvSpPr>
          <p:spPr>
            <a:xfrm rot="-5400000">
              <a:off x="3724970" y="327145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1" name="Line 26"/>
            <p:cNvSpPr/>
            <p:nvPr/>
          </p:nvSpPr>
          <p:spPr>
            <a:xfrm rot="-5400000">
              <a:off x="4355617" y="3266694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2" name="Line 27"/>
            <p:cNvSpPr/>
            <p:nvPr/>
          </p:nvSpPr>
          <p:spPr>
            <a:xfrm rot="-5400000">
              <a:off x="3937455" y="305897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3" name="Line 28"/>
            <p:cNvSpPr/>
            <p:nvPr/>
          </p:nvSpPr>
          <p:spPr>
            <a:xfrm rot="-5400000" flipV="1">
              <a:off x="4348927" y="3038717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4" name="Line 29"/>
            <p:cNvSpPr/>
            <p:nvPr/>
          </p:nvSpPr>
          <p:spPr>
            <a:xfrm rot="-5400000">
              <a:off x="3563320" y="384293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5" name="Line 30"/>
            <p:cNvSpPr/>
            <p:nvPr/>
          </p:nvSpPr>
          <p:spPr>
            <a:xfrm rot="-5400000">
              <a:off x="3793841" y="3780839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616" name="Line 31"/>
            <p:cNvSpPr/>
            <p:nvPr/>
          </p:nvSpPr>
          <p:spPr>
            <a:xfrm rot="-5400000">
              <a:off x="4159990" y="3829210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17" name="Line 32"/>
            <p:cNvSpPr/>
            <p:nvPr/>
          </p:nvSpPr>
          <p:spPr>
            <a:xfrm rot="-5400000">
              <a:off x="4494414" y="3687395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618" name="AutoShape 29"/>
            <p:cNvSpPr>
              <a:spLocks noChangeAspect="1" noTextEdit="1"/>
            </p:cNvSpPr>
            <p:nvPr/>
          </p:nvSpPr>
          <p:spPr>
            <a:xfrm rot="-5400000">
              <a:off x="3781314" y="2489752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619" name="Freeform 32"/>
            <p:cNvSpPr/>
            <p:nvPr/>
          </p:nvSpPr>
          <p:spPr>
            <a:xfrm rot="-5400000">
              <a:off x="3829568" y="2633696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620" name="Freeform 33"/>
            <p:cNvSpPr/>
            <p:nvPr/>
          </p:nvSpPr>
          <p:spPr>
            <a:xfrm rot="-5400000">
              <a:off x="4002379" y="2653108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621" name="Freeform 34"/>
            <p:cNvSpPr/>
            <p:nvPr/>
          </p:nvSpPr>
          <p:spPr>
            <a:xfrm rot="-5400000">
              <a:off x="4105177" y="2755904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622" name="Oval 35"/>
            <p:cNvSpPr/>
            <p:nvPr/>
          </p:nvSpPr>
          <p:spPr>
            <a:xfrm rot="-5400000">
              <a:off x="4111552" y="2458441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623" name="流程图: 延期 92"/>
            <p:cNvSpPr>
              <a:spLocks noChangeArrowheads="1"/>
            </p:cNvSpPr>
            <p:nvPr/>
          </p:nvSpPr>
          <p:spPr bwMode="auto">
            <a:xfrm rot="16200000">
              <a:off x="3688072" y="3354184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624" name="流程图: 延期 92"/>
            <p:cNvSpPr>
              <a:spLocks noChangeArrowheads="1"/>
            </p:cNvSpPr>
            <p:nvPr/>
          </p:nvSpPr>
          <p:spPr bwMode="auto">
            <a:xfrm rot="16200000">
              <a:off x="4318364" y="3349421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625" name="Line 38"/>
            <p:cNvSpPr/>
            <p:nvPr/>
          </p:nvSpPr>
          <p:spPr>
            <a:xfrm rot="-5400000">
              <a:off x="3921296" y="3048646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26" name="Line 39"/>
            <p:cNvSpPr/>
            <p:nvPr/>
          </p:nvSpPr>
          <p:spPr>
            <a:xfrm rot="-5400000">
              <a:off x="4093704" y="3025763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27" name="Line 31"/>
            <p:cNvSpPr/>
            <p:nvPr/>
          </p:nvSpPr>
          <p:spPr>
            <a:xfrm rot="-5400000">
              <a:off x="3843383" y="383986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628" name="Line 32"/>
            <p:cNvSpPr/>
            <p:nvPr/>
          </p:nvSpPr>
          <p:spPr>
            <a:xfrm rot="-5400000">
              <a:off x="4123807" y="3732437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629" name="流程图: 延期 92"/>
            <p:cNvSpPr>
              <a:spLocks noChangeArrowheads="1"/>
            </p:cNvSpPr>
            <p:nvPr/>
          </p:nvSpPr>
          <p:spPr bwMode="auto">
            <a:xfrm rot="16200000">
              <a:off x="4000837" y="3349421"/>
              <a:ext cx="285843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05" name="直接连接符 122"/>
            <p:cNvCxnSpPr>
              <a:stCxn id="1049621" idx="1"/>
              <a:endCxn id="1049629" idx="3"/>
            </p:cNvCxnSpPr>
            <p:nvPr/>
          </p:nvCxnSpPr>
          <p:spPr>
            <a:xfrm flipH="1">
              <a:off x="4144184" y="2868704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630" name="Line 40"/>
            <p:cNvSpPr/>
            <p:nvPr/>
          </p:nvSpPr>
          <p:spPr>
            <a:xfrm rot="-5400000">
              <a:off x="4055229" y="2375088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5906" name="直接连接符 125"/>
            <p:cNvCxnSpPr/>
            <p:nvPr/>
          </p:nvCxnSpPr>
          <p:spPr>
            <a:xfrm>
              <a:off x="106574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907" name="直接连接符 126"/>
            <p:cNvCxnSpPr/>
            <p:nvPr/>
          </p:nvCxnSpPr>
          <p:spPr>
            <a:xfrm>
              <a:off x="248685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908" name="直接连接符 127"/>
            <p:cNvCxnSpPr/>
            <p:nvPr/>
          </p:nvCxnSpPr>
          <p:spPr>
            <a:xfrm>
              <a:off x="392701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09" name="直接连接符 129"/>
            <p:cNvCxnSpPr/>
            <p:nvPr/>
          </p:nvCxnSpPr>
          <p:spPr>
            <a:xfrm flipH="1">
              <a:off x="615019" y="1635646"/>
              <a:ext cx="3312000" cy="0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631" name="Text Box 69"/>
            <p:cNvSpPr txBox="1"/>
            <p:nvPr/>
          </p:nvSpPr>
          <p:spPr>
            <a:xfrm>
              <a:off x="268650" y="1438672"/>
              <a:ext cx="346001" cy="32014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rgbClr val="660033"/>
                  </a:solidFill>
                  <a:latin typeface="Arial" panose="020B0604020202090204" pitchFamily="34" charset="0"/>
                </a:rPr>
                <a:t>En</a:t>
              </a:r>
            </a:p>
          </p:txBody>
        </p:sp>
        <p:sp>
          <p:nvSpPr>
            <p:cNvPr id="1049632" name="Line 70"/>
            <p:cNvSpPr/>
            <p:nvPr/>
          </p:nvSpPr>
          <p:spPr>
            <a:xfrm flipV="1">
              <a:off x="974691" y="932135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633" name="Line 70"/>
            <p:cNvSpPr/>
            <p:nvPr/>
          </p:nvSpPr>
          <p:spPr>
            <a:xfrm flipV="1">
              <a:off x="2414851" y="922610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634" name="Line 70"/>
            <p:cNvSpPr/>
            <p:nvPr/>
          </p:nvSpPr>
          <p:spPr>
            <a:xfrm flipV="1">
              <a:off x="3855011" y="915566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635" name="Text Box 75"/>
            <p:cNvSpPr txBox="1">
              <a:spLocks noChangeArrowheads="1"/>
            </p:cNvSpPr>
            <p:nvPr/>
          </p:nvSpPr>
          <p:spPr bwMode="auto">
            <a:xfrm>
              <a:off x="614440" y="756156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9636" name="Text Box 75"/>
            <p:cNvSpPr txBox="1">
              <a:spLocks noChangeArrowheads="1"/>
            </p:cNvSpPr>
            <p:nvPr/>
          </p:nvSpPr>
          <p:spPr bwMode="auto">
            <a:xfrm>
              <a:off x="2054428" y="779977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9637" name="Text Box 75"/>
            <p:cNvSpPr txBox="1">
              <a:spLocks noChangeArrowheads="1"/>
            </p:cNvSpPr>
            <p:nvPr/>
          </p:nvSpPr>
          <p:spPr bwMode="auto">
            <a:xfrm>
              <a:off x="3505528" y="757745"/>
              <a:ext cx="431837" cy="3074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9638" name="流程图: 延期 92"/>
            <p:cNvSpPr/>
            <p:nvPr/>
          </p:nvSpPr>
          <p:spPr>
            <a:xfrm rot="-5400000">
              <a:off x="830675" y="1205880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639" name="流程图: 延期 92"/>
            <p:cNvSpPr/>
            <p:nvPr/>
          </p:nvSpPr>
          <p:spPr>
            <a:xfrm rot="-5400000">
              <a:off x="2274456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640" name="流程图: 延期 92"/>
            <p:cNvSpPr/>
            <p:nvPr/>
          </p:nvSpPr>
          <p:spPr>
            <a:xfrm rot="-5400000">
              <a:off x="3713277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910" name="直接连接符 137"/>
            <p:cNvCxnSpPr/>
            <p:nvPr/>
          </p:nvCxnSpPr>
          <p:spPr>
            <a:xfrm flipH="1">
              <a:off x="478449" y="2290192"/>
              <a:ext cx="349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641" name="Text Box 69"/>
            <p:cNvSpPr txBox="1"/>
            <p:nvPr/>
          </p:nvSpPr>
          <p:spPr>
            <a:xfrm>
              <a:off x="182603" y="2130429"/>
              <a:ext cx="374329" cy="32014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CP </a:t>
              </a:r>
            </a:p>
          </p:txBody>
        </p:sp>
        <p:cxnSp>
          <p:nvCxnSpPr>
            <p:cNvPr id="3145911" name="直接连接符 140"/>
            <p:cNvCxnSpPr/>
            <p:nvPr/>
          </p:nvCxnSpPr>
          <p:spPr>
            <a:xfrm>
              <a:off x="614651" y="2015877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12" name="直接连接符 142"/>
            <p:cNvCxnSpPr/>
            <p:nvPr/>
          </p:nvCxnSpPr>
          <p:spPr>
            <a:xfrm>
              <a:off x="619414" y="2011114"/>
              <a:ext cx="0" cy="3816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13" name="直接连接符 143"/>
            <p:cNvCxnSpPr/>
            <p:nvPr/>
          </p:nvCxnSpPr>
          <p:spPr>
            <a:xfrm flipH="1">
              <a:off x="621323" y="2390199"/>
              <a:ext cx="385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14" name="直接连接符 144"/>
            <p:cNvCxnSpPr/>
            <p:nvPr/>
          </p:nvCxnSpPr>
          <p:spPr>
            <a:xfrm>
              <a:off x="2059574" y="1996825"/>
              <a:ext cx="720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15" name="直接连接符 145"/>
            <p:cNvCxnSpPr/>
            <p:nvPr/>
          </p:nvCxnSpPr>
          <p:spPr>
            <a:xfrm>
              <a:off x="2064337" y="1992062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916" name="直接连接符 146"/>
            <p:cNvCxnSpPr/>
            <p:nvPr/>
          </p:nvCxnSpPr>
          <p:spPr>
            <a:xfrm>
              <a:off x="3494971" y="1998969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17" name="直接连接符 147"/>
            <p:cNvCxnSpPr/>
            <p:nvPr/>
          </p:nvCxnSpPr>
          <p:spPr>
            <a:xfrm>
              <a:off x="3499734" y="1994206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49642" name="Text Box 69"/>
            <p:cNvSpPr txBox="1"/>
            <p:nvPr/>
          </p:nvSpPr>
          <p:spPr>
            <a:xfrm>
              <a:off x="4441164" y="2222375"/>
              <a:ext cx="418868" cy="358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5918" name="直接连接符 150"/>
            <p:cNvCxnSpPr/>
            <p:nvPr/>
          </p:nvCxnSpPr>
          <p:spPr>
            <a:xfrm flipH="1">
              <a:off x="1656104" y="3744069"/>
              <a:ext cx="3096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291" name="组合 153"/>
            <p:cNvGrpSpPr/>
            <p:nvPr/>
          </p:nvGrpSpPr>
          <p:grpSpPr>
            <a:xfrm>
              <a:off x="1349517" y="4079874"/>
              <a:ext cx="411198" cy="358257"/>
              <a:chOff x="2267672" y="4227636"/>
              <a:chExt cx="411198" cy="358257"/>
            </a:xfrm>
          </p:grpSpPr>
          <p:sp>
            <p:nvSpPr>
              <p:cNvPr id="1049643" name="Text Box 116"/>
              <p:cNvSpPr txBox="1">
                <a:spLocks noChangeArrowheads="1"/>
              </p:cNvSpPr>
              <p:nvPr/>
            </p:nvSpPr>
            <p:spPr bwMode="auto">
              <a:xfrm>
                <a:off x="2267672" y="4227636"/>
                <a:ext cx="411198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644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2" name="组合 154"/>
            <p:cNvGrpSpPr/>
            <p:nvPr/>
          </p:nvGrpSpPr>
          <p:grpSpPr>
            <a:xfrm>
              <a:off x="2794267" y="4065581"/>
              <a:ext cx="411198" cy="358257"/>
              <a:chOff x="2268070" y="4227506"/>
              <a:chExt cx="411198" cy="358257"/>
            </a:xfrm>
          </p:grpSpPr>
          <p:sp>
            <p:nvSpPr>
              <p:cNvPr id="1049645" name="Text Box 116"/>
              <p:cNvSpPr txBox="1">
                <a:spLocks noChangeArrowheads="1"/>
              </p:cNvSpPr>
              <p:nvPr/>
            </p:nvSpPr>
            <p:spPr bwMode="auto">
              <a:xfrm>
                <a:off x="2268070" y="4227506"/>
                <a:ext cx="411198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646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3" name="组合 157"/>
            <p:cNvGrpSpPr/>
            <p:nvPr/>
          </p:nvGrpSpPr>
          <p:grpSpPr>
            <a:xfrm>
              <a:off x="4234253" y="4065581"/>
              <a:ext cx="411199" cy="358257"/>
              <a:chOff x="2267896" y="4227506"/>
              <a:chExt cx="411199" cy="358257"/>
            </a:xfrm>
          </p:grpSpPr>
          <p:sp>
            <p:nvSpPr>
              <p:cNvPr id="1049647" name="Text Box 116"/>
              <p:cNvSpPr txBox="1">
                <a:spLocks noChangeArrowheads="1"/>
              </p:cNvSpPr>
              <p:nvPr/>
            </p:nvSpPr>
            <p:spPr bwMode="auto">
              <a:xfrm>
                <a:off x="2267896" y="4227506"/>
                <a:ext cx="411199" cy="35825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648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cxnSp>
          <p:nvCxnSpPr>
            <p:cNvPr id="3145919" name="直接连接符 160"/>
            <p:cNvCxnSpPr/>
            <p:nvPr/>
          </p:nvCxnSpPr>
          <p:spPr>
            <a:xfrm flipH="1">
              <a:off x="1352112" y="3839319"/>
              <a:ext cx="3384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20" name="直接连接符 161"/>
            <p:cNvCxnSpPr/>
            <p:nvPr/>
          </p:nvCxnSpPr>
          <p:spPr>
            <a:xfrm flipH="1">
              <a:off x="1034938" y="3921426"/>
              <a:ext cx="370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294" name="组合 162"/>
            <p:cNvGrpSpPr/>
            <p:nvPr/>
          </p:nvGrpSpPr>
          <p:grpSpPr>
            <a:xfrm>
              <a:off x="685885" y="4086226"/>
              <a:ext cx="360393" cy="275680"/>
              <a:chOff x="2266970" y="4227593"/>
              <a:chExt cx="360393" cy="275680"/>
            </a:xfrm>
          </p:grpSpPr>
          <p:sp>
            <p:nvSpPr>
              <p:cNvPr id="1049649" name="Text Box 116"/>
              <p:cNvSpPr txBox="1">
                <a:spLocks noChangeArrowheads="1"/>
              </p:cNvSpPr>
              <p:nvPr/>
            </p:nvSpPr>
            <p:spPr bwMode="auto">
              <a:xfrm>
                <a:off x="2266970" y="4227593"/>
                <a:ext cx="360393" cy="2756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650" name="Line 117"/>
              <p:cNvSpPr/>
              <p:nvPr/>
            </p:nvSpPr>
            <p:spPr>
              <a:xfrm>
                <a:off x="2373107" y="4290417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5" name="组合 165"/>
            <p:cNvGrpSpPr/>
            <p:nvPr/>
          </p:nvGrpSpPr>
          <p:grpSpPr>
            <a:xfrm>
              <a:off x="1003412" y="4084637"/>
              <a:ext cx="360393" cy="307440"/>
              <a:chOff x="2267891" y="4227512"/>
              <a:chExt cx="360393" cy="307440"/>
            </a:xfrm>
          </p:grpSpPr>
          <p:sp>
            <p:nvSpPr>
              <p:cNvPr id="1049651" name="Text Box 116"/>
              <p:cNvSpPr txBox="1">
                <a:spLocks noChangeArrowheads="1"/>
              </p:cNvSpPr>
              <p:nvPr/>
            </p:nvSpPr>
            <p:spPr bwMode="auto">
              <a:xfrm>
                <a:off x="2267891" y="4227512"/>
                <a:ext cx="360393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049652" name="Line 117"/>
              <p:cNvSpPr/>
              <p:nvPr/>
            </p:nvSpPr>
            <p:spPr>
              <a:xfrm>
                <a:off x="2363582" y="4288365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6" name="组合 168"/>
            <p:cNvGrpSpPr/>
            <p:nvPr/>
          </p:nvGrpSpPr>
          <p:grpSpPr>
            <a:xfrm>
              <a:off x="2486265" y="4075109"/>
              <a:ext cx="360393" cy="307440"/>
              <a:chOff x="2267151" y="4227509"/>
              <a:chExt cx="360393" cy="307440"/>
            </a:xfrm>
          </p:grpSpPr>
          <p:sp>
            <p:nvSpPr>
              <p:cNvPr id="1049653" name="Text Box 116"/>
              <p:cNvSpPr txBox="1">
                <a:spLocks noChangeArrowheads="1"/>
              </p:cNvSpPr>
              <p:nvPr/>
            </p:nvSpPr>
            <p:spPr bwMode="auto">
              <a:xfrm>
                <a:off x="2267151" y="4227509"/>
                <a:ext cx="360393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654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7" name="组合 171"/>
            <p:cNvGrpSpPr/>
            <p:nvPr/>
          </p:nvGrpSpPr>
          <p:grpSpPr>
            <a:xfrm>
              <a:off x="2054428" y="4075109"/>
              <a:ext cx="431837" cy="307440"/>
              <a:chOff x="2195354" y="4227509"/>
              <a:chExt cx="431837" cy="307440"/>
            </a:xfrm>
          </p:grpSpPr>
          <p:sp>
            <p:nvSpPr>
              <p:cNvPr id="1049655" name="Text Box 116"/>
              <p:cNvSpPr txBox="1">
                <a:spLocks noChangeArrowheads="1"/>
              </p:cNvSpPr>
              <p:nvPr/>
            </p:nvSpPr>
            <p:spPr bwMode="auto">
              <a:xfrm>
                <a:off x="2195354" y="4227509"/>
                <a:ext cx="431837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656" name="Line 117"/>
              <p:cNvSpPr/>
              <p:nvPr/>
            </p:nvSpPr>
            <p:spPr>
              <a:xfrm>
                <a:off x="2305702" y="4276789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8" name="组合 177"/>
            <p:cNvGrpSpPr/>
            <p:nvPr/>
          </p:nvGrpSpPr>
          <p:grpSpPr>
            <a:xfrm>
              <a:off x="3915139" y="4075109"/>
              <a:ext cx="622354" cy="307440"/>
              <a:chOff x="2268481" y="4228650"/>
              <a:chExt cx="622354" cy="307440"/>
            </a:xfrm>
          </p:grpSpPr>
          <p:sp>
            <p:nvSpPr>
              <p:cNvPr id="1049657" name="Text Box 116"/>
              <p:cNvSpPr txBox="1">
                <a:spLocks noChangeArrowheads="1"/>
              </p:cNvSpPr>
              <p:nvPr/>
            </p:nvSpPr>
            <p:spPr bwMode="auto">
              <a:xfrm>
                <a:off x="2268481" y="4228650"/>
                <a:ext cx="622354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658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299" name="组合 180"/>
            <p:cNvGrpSpPr/>
            <p:nvPr/>
          </p:nvGrpSpPr>
          <p:grpSpPr>
            <a:xfrm>
              <a:off x="3630951" y="4075109"/>
              <a:ext cx="360394" cy="307440"/>
              <a:chOff x="2268133" y="4228650"/>
              <a:chExt cx="360394" cy="307440"/>
            </a:xfrm>
          </p:grpSpPr>
          <p:sp>
            <p:nvSpPr>
              <p:cNvPr id="1049659" name="Text Box 116"/>
              <p:cNvSpPr txBox="1">
                <a:spLocks noChangeArrowheads="1"/>
              </p:cNvSpPr>
              <p:nvPr/>
            </p:nvSpPr>
            <p:spPr bwMode="auto">
              <a:xfrm>
                <a:off x="2268133" y="4228650"/>
                <a:ext cx="360394" cy="3074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49660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661" name="Text Box 69"/>
            <p:cNvSpPr txBox="1"/>
            <p:nvPr/>
          </p:nvSpPr>
          <p:spPr>
            <a:xfrm>
              <a:off x="4716016" y="3536429"/>
              <a:ext cx="720080" cy="35825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W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  <p:sp>
          <p:nvSpPr>
            <p:cNvPr id="1049662" name="Text Box 69"/>
            <p:cNvSpPr txBox="1"/>
            <p:nvPr/>
          </p:nvSpPr>
          <p:spPr>
            <a:xfrm>
              <a:off x="4725541" y="3707879"/>
              <a:ext cx="720080" cy="358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8000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rgbClr val="008000"/>
                  </a:solidFill>
                  <a:latin typeface="Arial" panose="020B0604020202090204" pitchFamily="34" charset="0"/>
                </a:rPr>
                <a:t>R </a:t>
              </a:r>
            </a:p>
          </p:txBody>
        </p:sp>
        <p:sp>
          <p:nvSpPr>
            <p:cNvPr id="1049663" name="Text Box 69"/>
            <p:cNvSpPr txBox="1"/>
            <p:nvPr/>
          </p:nvSpPr>
          <p:spPr>
            <a:xfrm>
              <a:off x="4725541" y="3860279"/>
              <a:ext cx="494531" cy="35825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</p:grpSp>
      <p:grpSp>
        <p:nvGrpSpPr>
          <p:cNvPr id="3" name="组合 245"/>
          <p:cNvGrpSpPr/>
          <p:nvPr/>
        </p:nvGrpSpPr>
        <p:grpSpPr>
          <a:xfrm>
            <a:off x="4753614" y="1318895"/>
            <a:ext cx="4046860" cy="1148186"/>
            <a:chOff x="3260225" y="3841527"/>
            <a:chExt cx="4011592" cy="1148051"/>
          </a:xfrm>
        </p:grpSpPr>
        <p:sp>
          <p:nvSpPr>
            <p:cNvPr id="4" name="Text Box 373"/>
            <p:cNvSpPr txBox="1"/>
            <p:nvPr/>
          </p:nvSpPr>
          <p:spPr>
            <a:xfrm>
              <a:off x="3260225" y="4209826"/>
              <a:ext cx="1079500" cy="33972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输入方程</a:t>
              </a:r>
            </a:p>
          </p:txBody>
        </p:sp>
        <p:grpSp>
          <p:nvGrpSpPr>
            <p:cNvPr id="5" name="Group 182"/>
            <p:cNvGrpSpPr/>
            <p:nvPr/>
          </p:nvGrpSpPr>
          <p:grpSpPr>
            <a:xfrm>
              <a:off x="4441304" y="3841527"/>
              <a:ext cx="2801938" cy="368139"/>
              <a:chOff x="1152" y="3456"/>
              <a:chExt cx="1765" cy="310"/>
            </a:xfrm>
          </p:grpSpPr>
          <p:sp>
            <p:nvSpPr>
              <p:cNvPr id="6" name="Text Box 183"/>
              <p:cNvSpPr txBox="1"/>
              <p:nvPr/>
            </p:nvSpPr>
            <p:spPr>
              <a:xfrm>
                <a:off x="1152" y="3456"/>
                <a:ext cx="1765" cy="310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no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4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Arial" panose="020B0604020202090204" pitchFamily="34" charset="0"/>
                  </a:rPr>
                  <a:t>L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Q</a:t>
                </a:r>
                <a:r>
                  <a:rPr lang="en-US" altLang="zh-CN" sz="1400" b="1" baseline="-25000" dirty="0">
                    <a:sym typeface="+mn-ea"/>
                  </a:rPr>
                  <a:t>2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7" name="Line 184"/>
              <p:cNvSpPr/>
              <p:nvPr/>
            </p:nvSpPr>
            <p:spPr>
              <a:xfrm>
                <a:off x="147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8" name="Line 185"/>
              <p:cNvSpPr/>
              <p:nvPr/>
            </p:nvSpPr>
            <p:spPr>
              <a:xfrm>
                <a:off x="193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" name="Line 186"/>
              <p:cNvSpPr/>
              <p:nvPr/>
            </p:nvSpPr>
            <p:spPr>
              <a:xfrm>
                <a:off x="2355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" name="Line 187"/>
              <p:cNvSpPr/>
              <p:nvPr/>
            </p:nvSpPr>
            <p:spPr>
              <a:xfrm>
                <a:off x="1484" y="3456"/>
                <a:ext cx="111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1" name="Group 188"/>
            <p:cNvGrpSpPr/>
            <p:nvPr/>
          </p:nvGrpSpPr>
          <p:grpSpPr>
            <a:xfrm>
              <a:off x="4441304" y="4241577"/>
              <a:ext cx="2801938" cy="298074"/>
              <a:chOff x="1152" y="3456"/>
              <a:chExt cx="1765" cy="251"/>
            </a:xfrm>
          </p:grpSpPr>
          <p:sp>
            <p:nvSpPr>
              <p:cNvPr id="12" name="Text Box 189"/>
              <p:cNvSpPr txBox="1"/>
              <p:nvPr/>
            </p:nvSpPr>
            <p:spPr>
              <a:xfrm>
                <a:off x="1152" y="3456"/>
                <a:ext cx="1765" cy="251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no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Arial" panose="020B0604020202090204" pitchFamily="34" charset="0"/>
                  </a:rPr>
                  <a:t>L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Q</a:t>
                </a:r>
                <a:r>
                  <a:rPr lang="en-US" altLang="zh-CN" sz="1400" b="1" baseline="-25000" dirty="0">
                    <a:sym typeface="+mn-ea"/>
                  </a:rPr>
                  <a:t>1</a:t>
                </a:r>
                <a:endParaRPr lang="en-US" altLang="zh-CN" sz="1400" b="1" baseline="-25000" dirty="0">
                  <a:latin typeface="Arial" panose="020B060402020209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13" name="Line 190"/>
              <p:cNvSpPr/>
              <p:nvPr/>
            </p:nvSpPr>
            <p:spPr>
              <a:xfrm>
                <a:off x="148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4" name="Line 191"/>
              <p:cNvSpPr/>
              <p:nvPr/>
            </p:nvSpPr>
            <p:spPr>
              <a:xfrm>
                <a:off x="1926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5" name="Line 192"/>
              <p:cNvSpPr/>
              <p:nvPr/>
            </p:nvSpPr>
            <p:spPr>
              <a:xfrm>
                <a:off x="2346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6" name="Line 193"/>
              <p:cNvSpPr/>
              <p:nvPr/>
            </p:nvSpPr>
            <p:spPr>
              <a:xfrm>
                <a:off x="1484" y="3456"/>
                <a:ext cx="111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17" name="Group 194"/>
            <p:cNvGrpSpPr/>
            <p:nvPr/>
          </p:nvGrpSpPr>
          <p:grpSpPr>
            <a:xfrm>
              <a:off x="4469879" y="4641627"/>
              <a:ext cx="2801938" cy="347951"/>
              <a:chOff x="1170" y="3456"/>
              <a:chExt cx="1765" cy="293"/>
            </a:xfrm>
          </p:grpSpPr>
          <p:sp>
            <p:nvSpPr>
              <p:cNvPr id="18" name="Text Box 195"/>
              <p:cNvSpPr txBox="1"/>
              <p:nvPr/>
            </p:nvSpPr>
            <p:spPr>
              <a:xfrm>
                <a:off x="1170" y="3456"/>
                <a:ext cx="1765" cy="293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square">
                <a:no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Times New Roman" panose="02020503050405090304" pitchFamily="18" charset="0"/>
                  </a:rPr>
                  <a:t>D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A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W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L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R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＋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0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Times New Roman" panose="02020503050405090304" pitchFamily="18" charset="0"/>
                  </a:rPr>
                  <a:t>S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Arial" panose="020B0604020202090204" pitchFamily="34" charset="0"/>
                  </a:rPr>
                  <a:t>L</a:t>
                </a:r>
                <a:r>
                  <a:rPr lang="zh-CN" altLang="en-US" sz="1400" b="1" dirty="0">
                    <a:latin typeface="Times New Roman" panose="02020503050405090304" pitchFamily="18" charset="0"/>
                    <a:sym typeface="+mn-ea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  <a:sym typeface="+mn-ea"/>
                  </a:rPr>
                  <a:t>Q</a:t>
                </a:r>
                <a:r>
                  <a:rPr lang="en-US" altLang="zh-CN" sz="1400" b="1" baseline="-25000" dirty="0">
                    <a:sym typeface="+mn-ea"/>
                  </a:rPr>
                  <a:t>0</a:t>
                </a:r>
                <a:endPara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19" name="Line 196"/>
              <p:cNvSpPr/>
              <p:nvPr/>
            </p:nvSpPr>
            <p:spPr>
              <a:xfrm>
                <a:off x="148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0" name="Line 197"/>
              <p:cNvSpPr/>
              <p:nvPr/>
            </p:nvSpPr>
            <p:spPr>
              <a:xfrm>
                <a:off x="1914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1" name="Line 198"/>
              <p:cNvSpPr/>
              <p:nvPr/>
            </p:nvSpPr>
            <p:spPr>
              <a:xfrm>
                <a:off x="2312" y="3504"/>
                <a:ext cx="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22" name="Line 199"/>
              <p:cNvSpPr/>
              <p:nvPr/>
            </p:nvSpPr>
            <p:spPr>
              <a:xfrm>
                <a:off x="1490" y="3456"/>
                <a:ext cx="106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23" name="AutoShape 202"/>
            <p:cNvSpPr/>
            <p:nvPr/>
          </p:nvSpPr>
          <p:spPr>
            <a:xfrm>
              <a:off x="4260334" y="4012977"/>
              <a:ext cx="228600" cy="742950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39" grpId="0"/>
      <p:bldP spid="10495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6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双向移位寄存器</a:t>
            </a:r>
            <a:r>
              <a:rPr kumimoji="1" lang="en-US" altLang="zh-CN" kern="1200" noProof="0" dirty="0">
                <a:cs typeface="+mn-cs"/>
                <a:sym typeface="+mn-ea"/>
              </a:rPr>
              <a:t>——</a:t>
            </a:r>
            <a:r>
              <a:rPr kumimoji="1" lang="zh-CN" altLang="en-US" kern="1200" noProof="0" dirty="0">
                <a:cs typeface="+mn-cs"/>
                <a:sym typeface="+mn-ea"/>
              </a:rPr>
              <a:t>读出</a:t>
            </a:r>
            <a:endParaRPr kumimoji="1" lang="en-US" altLang="zh-CN" kern="1200" noProof="0" dirty="0">
              <a:cs typeface="+mn-cs"/>
              <a:sym typeface="+mn-ea"/>
            </a:endParaRPr>
          </a:p>
        </p:txBody>
      </p:sp>
      <p:sp>
        <p:nvSpPr>
          <p:cNvPr id="1049697" name="Text Box 5"/>
          <p:cNvSpPr txBox="1"/>
          <p:nvPr/>
        </p:nvSpPr>
        <p:spPr>
          <a:xfrm>
            <a:off x="5687695" y="790258"/>
            <a:ext cx="20161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Arial" panose="020B0604020202090204" pitchFamily="34" charset="0"/>
              </a:rPr>
              <a:t>E</a:t>
            </a:r>
            <a:r>
              <a:rPr lang="en-US" altLang="zh-CN" b="1" baseline="-25000" dirty="0">
                <a:latin typeface="Arial" panose="020B0604020202090204" pitchFamily="34" charset="0"/>
              </a:rPr>
              <a:t>n </a:t>
            </a:r>
            <a:r>
              <a:rPr lang="en-US" altLang="zh-CN" b="1" dirty="0">
                <a:latin typeface="Arial" panose="020B0604020202090204" pitchFamily="34" charset="0"/>
              </a:rPr>
              <a:t>=1 </a:t>
            </a:r>
          </a:p>
        </p:txBody>
      </p:sp>
      <p:grpSp>
        <p:nvGrpSpPr>
          <p:cNvPr id="309" name="组合 186"/>
          <p:cNvGrpSpPr/>
          <p:nvPr/>
        </p:nvGrpSpPr>
        <p:grpSpPr>
          <a:xfrm>
            <a:off x="107950" y="842963"/>
            <a:ext cx="5262563" cy="3682364"/>
            <a:chOff x="182603" y="756156"/>
            <a:chExt cx="5263018" cy="3681952"/>
          </a:xfrm>
        </p:grpSpPr>
        <p:sp>
          <p:nvSpPr>
            <p:cNvPr id="1049699" name="椭圆 93"/>
            <p:cNvSpPr/>
            <p:nvPr/>
          </p:nvSpPr>
          <p:spPr>
            <a:xfrm>
              <a:off x="935450" y="1139205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700" name="椭圆 38"/>
            <p:cNvSpPr/>
            <p:nvPr/>
          </p:nvSpPr>
          <p:spPr>
            <a:xfrm>
              <a:off x="2379231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701" name="椭圆 93"/>
            <p:cNvSpPr/>
            <p:nvPr/>
          </p:nvSpPr>
          <p:spPr>
            <a:xfrm>
              <a:off x="3818052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310" name="组合 33"/>
            <p:cNvGrpSpPr/>
            <p:nvPr/>
          </p:nvGrpSpPr>
          <p:grpSpPr>
            <a:xfrm>
              <a:off x="758916" y="1367809"/>
              <a:ext cx="708086" cy="938191"/>
              <a:chOff x="6090770" y="3016910"/>
              <a:chExt cx="708086" cy="938240"/>
            </a:xfrm>
          </p:grpSpPr>
          <p:cxnSp>
            <p:nvCxnSpPr>
              <p:cNvPr id="3145921" name="直接连接符 34"/>
              <p:cNvCxnSpPr/>
              <p:nvPr/>
            </p:nvCxnSpPr>
            <p:spPr>
              <a:xfrm rot="5400000">
                <a:off x="6217848" y="3737447"/>
                <a:ext cx="396021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grpSp>
            <p:nvGrpSpPr>
              <p:cNvPr id="311" name="组合 16"/>
              <p:cNvGrpSpPr/>
              <p:nvPr/>
            </p:nvGrpSpPr>
            <p:grpSpPr>
              <a:xfrm>
                <a:off x="6090770" y="3016910"/>
                <a:ext cx="708086" cy="938240"/>
                <a:chOff x="1863955" y="2178874"/>
                <a:chExt cx="708090" cy="938388"/>
              </a:xfrm>
            </p:grpSpPr>
            <p:cxnSp>
              <p:nvCxnSpPr>
                <p:cNvPr id="3145922" name="直接连接符 17"/>
                <p:cNvCxnSpPr/>
                <p:nvPr/>
              </p:nvCxnSpPr>
              <p:spPr>
                <a:xfrm rot="5400000">
                  <a:off x="2050598" y="2810438"/>
                  <a:ext cx="61206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23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702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703" name="TextBox 198"/>
                <p:cNvSpPr txBox="1">
                  <a:spLocks noChangeArrowheads="1"/>
                </p:cNvSpPr>
                <p:nvPr/>
              </p:nvSpPr>
              <p:spPr bwMode="auto">
                <a:xfrm>
                  <a:off x="2214824" y="2810226"/>
                  <a:ext cx="357221" cy="2460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704" name="TextBox 199"/>
                <p:cNvSpPr txBox="1">
                  <a:spLocks noChangeArrowheads="1"/>
                </p:cNvSpPr>
                <p:nvPr/>
              </p:nvSpPr>
              <p:spPr bwMode="auto">
                <a:xfrm>
                  <a:off x="1863955" y="2618120"/>
                  <a:ext cx="357220" cy="2476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705" name="TextBox 200"/>
                <p:cNvSpPr txBox="1">
                  <a:spLocks noChangeArrowheads="1"/>
                </p:cNvSpPr>
                <p:nvPr/>
              </p:nvSpPr>
              <p:spPr bwMode="auto">
                <a:xfrm>
                  <a:off x="2211649" y="2627646"/>
                  <a:ext cx="357221" cy="2476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24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706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707" name="TextBox 194"/>
              <p:cNvSpPr txBox="1">
                <a:spLocks noChangeArrowheads="1"/>
              </p:cNvSpPr>
              <p:nvPr/>
            </p:nvSpPr>
            <p:spPr bwMode="auto">
              <a:xfrm>
                <a:off x="6252709" y="3587841"/>
                <a:ext cx="422311" cy="2143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708" name="椭圆 93"/>
            <p:cNvSpPr/>
            <p:nvPr/>
          </p:nvSpPr>
          <p:spPr>
            <a:xfrm>
              <a:off x="686659" y="1987302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312" name="组合 33"/>
            <p:cNvGrpSpPr/>
            <p:nvPr/>
          </p:nvGrpSpPr>
          <p:grpSpPr>
            <a:xfrm>
              <a:off x="2208428" y="1367804"/>
              <a:ext cx="708086" cy="954013"/>
              <a:chOff x="6090597" y="3016910"/>
              <a:chExt cx="708086" cy="954065"/>
            </a:xfrm>
          </p:grpSpPr>
          <p:cxnSp>
            <p:nvCxnSpPr>
              <p:cNvPr id="3145925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313" name="组合 16"/>
              <p:cNvGrpSpPr/>
              <p:nvPr/>
            </p:nvGrpSpPr>
            <p:grpSpPr>
              <a:xfrm>
                <a:off x="6090597" y="3016910"/>
                <a:ext cx="708086" cy="954065"/>
                <a:chOff x="1863782" y="2178874"/>
                <a:chExt cx="708090" cy="954215"/>
              </a:xfrm>
            </p:grpSpPr>
            <p:cxnSp>
              <p:nvCxnSpPr>
                <p:cNvPr id="3145926" name="直接连接符 17"/>
                <p:cNvCxnSpPr/>
                <p:nvPr/>
              </p:nvCxnSpPr>
              <p:spPr>
                <a:xfrm rot="5400000">
                  <a:off x="2050598" y="2826264"/>
                  <a:ext cx="612061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27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709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710" name="TextBox 187"/>
                <p:cNvSpPr txBox="1">
                  <a:spLocks noChangeArrowheads="1"/>
                </p:cNvSpPr>
                <p:nvPr/>
              </p:nvSpPr>
              <p:spPr bwMode="auto">
                <a:xfrm>
                  <a:off x="2214652" y="2810232"/>
                  <a:ext cx="357220" cy="2460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711" name="TextBox 188"/>
                <p:cNvSpPr txBox="1">
                  <a:spLocks noChangeArrowheads="1"/>
                </p:cNvSpPr>
                <p:nvPr/>
              </p:nvSpPr>
              <p:spPr bwMode="auto">
                <a:xfrm>
                  <a:off x="1863782" y="2618126"/>
                  <a:ext cx="357221" cy="2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712" name="TextBox 189"/>
                <p:cNvSpPr txBox="1">
                  <a:spLocks noChangeArrowheads="1"/>
                </p:cNvSpPr>
                <p:nvPr/>
              </p:nvSpPr>
              <p:spPr bwMode="auto">
                <a:xfrm>
                  <a:off x="2211477" y="2627652"/>
                  <a:ext cx="357220" cy="2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28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713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714" name="TextBox 183"/>
              <p:cNvSpPr txBox="1">
                <a:spLocks noChangeArrowheads="1"/>
              </p:cNvSpPr>
              <p:nvPr/>
            </p:nvSpPr>
            <p:spPr bwMode="auto">
              <a:xfrm>
                <a:off x="6252536" y="3587847"/>
                <a:ext cx="422311" cy="214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715" name="椭圆 93"/>
            <p:cNvSpPr/>
            <p:nvPr/>
          </p:nvSpPr>
          <p:spPr>
            <a:xfrm>
              <a:off x="2141108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314" name="组合 33"/>
            <p:cNvGrpSpPr/>
            <p:nvPr/>
          </p:nvGrpSpPr>
          <p:grpSpPr>
            <a:xfrm>
              <a:off x="3638987" y="1367803"/>
              <a:ext cx="708026" cy="972024"/>
              <a:chOff x="6090521" y="3016909"/>
              <a:chExt cx="708026" cy="972077"/>
            </a:xfrm>
          </p:grpSpPr>
          <p:cxnSp>
            <p:nvCxnSpPr>
              <p:cNvPr id="3145929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315" name="组合 16"/>
              <p:cNvGrpSpPr/>
              <p:nvPr/>
            </p:nvGrpSpPr>
            <p:grpSpPr>
              <a:xfrm>
                <a:off x="6090521" y="3016909"/>
                <a:ext cx="708026" cy="972077"/>
                <a:chOff x="1863706" y="2178882"/>
                <a:chExt cx="708030" cy="972234"/>
              </a:xfrm>
            </p:grpSpPr>
            <p:cxnSp>
              <p:nvCxnSpPr>
                <p:cNvPr id="3145930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31" name="直接连接符 18"/>
                <p:cNvCxnSpPr/>
                <p:nvPr/>
              </p:nvCxnSpPr>
              <p:spPr>
                <a:xfrm rot="5400000">
                  <a:off x="1640154" y="2538165"/>
                  <a:ext cx="72015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716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717" name="TextBox 176"/>
                <p:cNvSpPr txBox="1">
                  <a:spLocks noChangeArrowheads="1"/>
                </p:cNvSpPr>
                <p:nvPr/>
              </p:nvSpPr>
              <p:spPr bwMode="auto">
                <a:xfrm>
                  <a:off x="2214478" y="2810244"/>
                  <a:ext cx="357221" cy="2460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718" name="TextBox 177"/>
                <p:cNvSpPr txBox="1">
                  <a:spLocks noChangeArrowheads="1"/>
                </p:cNvSpPr>
                <p:nvPr/>
              </p:nvSpPr>
              <p:spPr bwMode="auto">
                <a:xfrm>
                  <a:off x="1863609" y="2618137"/>
                  <a:ext cx="357220" cy="2476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719" name="TextBox 178"/>
                <p:cNvSpPr txBox="1">
                  <a:spLocks noChangeArrowheads="1"/>
                </p:cNvSpPr>
                <p:nvPr/>
              </p:nvSpPr>
              <p:spPr bwMode="auto">
                <a:xfrm>
                  <a:off x="2211303" y="2627663"/>
                  <a:ext cx="357221" cy="2476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32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720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721" name="TextBox 172"/>
              <p:cNvSpPr txBox="1">
                <a:spLocks noChangeArrowheads="1"/>
              </p:cNvSpPr>
              <p:nvPr/>
            </p:nvSpPr>
            <p:spPr bwMode="auto">
              <a:xfrm>
                <a:off x="6252363" y="3587847"/>
                <a:ext cx="422311" cy="214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722" name="椭圆 93"/>
            <p:cNvSpPr/>
            <p:nvPr/>
          </p:nvSpPr>
          <p:spPr>
            <a:xfrm>
              <a:off x="3566979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723" name="Line 25"/>
            <p:cNvSpPr/>
            <p:nvPr/>
          </p:nvSpPr>
          <p:spPr>
            <a:xfrm rot="-5400000">
              <a:off x="843509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24" name="Line 26"/>
            <p:cNvSpPr/>
            <p:nvPr/>
          </p:nvSpPr>
          <p:spPr>
            <a:xfrm rot="-5400000">
              <a:off x="1474156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25" name="Line 27"/>
            <p:cNvSpPr/>
            <p:nvPr/>
          </p:nvSpPr>
          <p:spPr>
            <a:xfrm rot="-5400000">
              <a:off x="1055994" y="3065479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26" name="Line 28"/>
            <p:cNvSpPr/>
            <p:nvPr/>
          </p:nvSpPr>
          <p:spPr>
            <a:xfrm rot="-5400000" flipV="1">
              <a:off x="1467466" y="3049986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27" name="Line 29"/>
            <p:cNvSpPr/>
            <p:nvPr/>
          </p:nvSpPr>
          <p:spPr>
            <a:xfrm rot="-5400000">
              <a:off x="653281" y="3849442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28" name="Line 30"/>
            <p:cNvSpPr/>
            <p:nvPr/>
          </p:nvSpPr>
          <p:spPr>
            <a:xfrm rot="-5400000">
              <a:off x="907617" y="3782582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29" name="Line 31"/>
            <p:cNvSpPr/>
            <p:nvPr/>
          </p:nvSpPr>
          <p:spPr>
            <a:xfrm rot="-5400000">
              <a:off x="1273766" y="384047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30" name="Line 32"/>
            <p:cNvSpPr/>
            <p:nvPr/>
          </p:nvSpPr>
          <p:spPr>
            <a:xfrm rot="-5400000">
              <a:off x="1594953" y="3672069"/>
              <a:ext cx="144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31" name="AutoShape 29"/>
            <p:cNvSpPr>
              <a:spLocks noChangeAspect="1" noTextEdit="1"/>
            </p:cNvSpPr>
            <p:nvPr/>
          </p:nvSpPr>
          <p:spPr>
            <a:xfrm rot="-5400000">
              <a:off x="909378" y="2501021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32" name="Freeform 32"/>
            <p:cNvSpPr/>
            <p:nvPr/>
          </p:nvSpPr>
          <p:spPr>
            <a:xfrm rot="-5400000">
              <a:off x="948107" y="2644965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33" name="Freeform 33"/>
            <p:cNvSpPr/>
            <p:nvPr/>
          </p:nvSpPr>
          <p:spPr>
            <a:xfrm rot="-5400000">
              <a:off x="1120918" y="2664377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34" name="Freeform 34"/>
            <p:cNvSpPr/>
            <p:nvPr/>
          </p:nvSpPr>
          <p:spPr>
            <a:xfrm rot="-5400000">
              <a:off x="1223716" y="2767173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35" name="Oval 35"/>
            <p:cNvSpPr/>
            <p:nvPr/>
          </p:nvSpPr>
          <p:spPr>
            <a:xfrm rot="-5400000">
              <a:off x="1230091" y="2469710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736" name="流程图: 延期 92"/>
            <p:cNvSpPr>
              <a:spLocks noChangeArrowheads="1"/>
            </p:cNvSpPr>
            <p:nvPr/>
          </p:nvSpPr>
          <p:spPr bwMode="auto">
            <a:xfrm rot="16200000">
              <a:off x="808160" y="336092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737" name="流程图: 延期 92"/>
            <p:cNvSpPr>
              <a:spLocks noChangeArrowheads="1"/>
            </p:cNvSpPr>
            <p:nvPr/>
          </p:nvSpPr>
          <p:spPr bwMode="auto">
            <a:xfrm rot="16200000">
              <a:off x="1436865" y="336092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738" name="Line 38"/>
            <p:cNvSpPr/>
            <p:nvPr/>
          </p:nvSpPr>
          <p:spPr>
            <a:xfrm rot="-5400000">
              <a:off x="1039835" y="3050388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39" name="Line 39"/>
            <p:cNvSpPr/>
            <p:nvPr/>
          </p:nvSpPr>
          <p:spPr>
            <a:xfrm rot="-5400000">
              <a:off x="1212243" y="3037032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0" name="Line 31"/>
            <p:cNvSpPr/>
            <p:nvPr/>
          </p:nvSpPr>
          <p:spPr>
            <a:xfrm rot="-5400000">
              <a:off x="952396" y="384544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1" name="Line 32"/>
            <p:cNvSpPr/>
            <p:nvPr/>
          </p:nvSpPr>
          <p:spPr>
            <a:xfrm rot="-5400000">
              <a:off x="1242346" y="3743706"/>
              <a:ext cx="216000" cy="0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2" name="流程图: 延期 92"/>
            <p:cNvSpPr>
              <a:spLocks noChangeArrowheads="1"/>
            </p:cNvSpPr>
            <p:nvPr/>
          </p:nvSpPr>
          <p:spPr bwMode="auto">
            <a:xfrm rot="16200000">
              <a:off x="1119337" y="336092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33" name="直接连接符 79"/>
            <p:cNvCxnSpPr>
              <a:stCxn id="1049734" idx="1"/>
              <a:endCxn id="1049742" idx="3"/>
            </p:cNvCxnSpPr>
            <p:nvPr/>
          </p:nvCxnSpPr>
          <p:spPr>
            <a:xfrm flipH="1">
              <a:off x="1262723" y="2879973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743" name="Line 40"/>
            <p:cNvSpPr/>
            <p:nvPr/>
          </p:nvSpPr>
          <p:spPr>
            <a:xfrm rot="-5400000">
              <a:off x="1173768" y="2386357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4" name="Line 25"/>
            <p:cNvSpPr/>
            <p:nvPr/>
          </p:nvSpPr>
          <p:spPr>
            <a:xfrm rot="-5400000">
              <a:off x="2287861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5" name="Line 26"/>
            <p:cNvSpPr/>
            <p:nvPr/>
          </p:nvSpPr>
          <p:spPr>
            <a:xfrm rot="-5400000">
              <a:off x="2918508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6" name="Line 27"/>
            <p:cNvSpPr/>
            <p:nvPr/>
          </p:nvSpPr>
          <p:spPr>
            <a:xfrm rot="-5400000">
              <a:off x="2500346" y="306316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7" name="Line 28"/>
            <p:cNvSpPr/>
            <p:nvPr/>
          </p:nvSpPr>
          <p:spPr>
            <a:xfrm rot="-5400000" flipV="1">
              <a:off x="2911818" y="3047670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8" name="Line 29"/>
            <p:cNvSpPr/>
            <p:nvPr/>
          </p:nvSpPr>
          <p:spPr>
            <a:xfrm rot="-5400000">
              <a:off x="2102396" y="384712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49" name="Line 30"/>
            <p:cNvSpPr/>
            <p:nvPr/>
          </p:nvSpPr>
          <p:spPr>
            <a:xfrm rot="-5400000">
              <a:off x="2351969" y="3780266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750" name="Line 31"/>
            <p:cNvSpPr/>
            <p:nvPr/>
          </p:nvSpPr>
          <p:spPr>
            <a:xfrm rot="-5400000">
              <a:off x="2713355" y="383816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51" name="Line 32"/>
            <p:cNvSpPr/>
            <p:nvPr/>
          </p:nvSpPr>
          <p:spPr>
            <a:xfrm rot="-5400000">
              <a:off x="3057305" y="3682059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752" name="AutoShape 29"/>
            <p:cNvSpPr>
              <a:spLocks noChangeAspect="1" noTextEdit="1"/>
            </p:cNvSpPr>
            <p:nvPr/>
          </p:nvSpPr>
          <p:spPr>
            <a:xfrm rot="-5400000">
              <a:off x="2353730" y="2498705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53" name="Freeform 32"/>
            <p:cNvSpPr/>
            <p:nvPr/>
          </p:nvSpPr>
          <p:spPr>
            <a:xfrm rot="-5400000">
              <a:off x="2392459" y="2642649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54" name="Freeform 33"/>
            <p:cNvSpPr/>
            <p:nvPr/>
          </p:nvSpPr>
          <p:spPr>
            <a:xfrm rot="-5400000">
              <a:off x="2565270" y="2662061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55" name="Freeform 34"/>
            <p:cNvSpPr/>
            <p:nvPr/>
          </p:nvSpPr>
          <p:spPr>
            <a:xfrm rot="-5400000">
              <a:off x="2668068" y="2764857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56" name="Oval 35"/>
            <p:cNvSpPr/>
            <p:nvPr/>
          </p:nvSpPr>
          <p:spPr>
            <a:xfrm rot="-5400000">
              <a:off x="2674443" y="2467394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757" name="流程图: 延期 92"/>
            <p:cNvSpPr>
              <a:spLocks noChangeArrowheads="1"/>
            </p:cNvSpPr>
            <p:nvPr/>
          </p:nvSpPr>
          <p:spPr bwMode="auto">
            <a:xfrm rot="16200000">
              <a:off x="2251323" y="3357749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758" name="流程图: 延期 92"/>
            <p:cNvSpPr>
              <a:spLocks noChangeArrowheads="1"/>
            </p:cNvSpPr>
            <p:nvPr/>
          </p:nvSpPr>
          <p:spPr bwMode="auto">
            <a:xfrm rot="16200000">
              <a:off x="2880822" y="3358541"/>
              <a:ext cx="285718" cy="28418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759" name="Line 38"/>
            <p:cNvSpPr/>
            <p:nvPr/>
          </p:nvSpPr>
          <p:spPr>
            <a:xfrm rot="-5400000">
              <a:off x="2484187" y="3048072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0" name="Line 39"/>
            <p:cNvSpPr/>
            <p:nvPr/>
          </p:nvSpPr>
          <p:spPr>
            <a:xfrm rot="-5400000">
              <a:off x="2656595" y="3034716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1" name="Line 31"/>
            <p:cNvSpPr/>
            <p:nvPr/>
          </p:nvSpPr>
          <p:spPr>
            <a:xfrm rot="-5400000">
              <a:off x="2396748" y="3843127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2" name="Line 32"/>
            <p:cNvSpPr/>
            <p:nvPr/>
          </p:nvSpPr>
          <p:spPr>
            <a:xfrm rot="-5400000">
              <a:off x="2677172" y="3731864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763" name="流程图: 延期 92"/>
            <p:cNvSpPr>
              <a:spLocks noChangeArrowheads="1"/>
            </p:cNvSpPr>
            <p:nvPr/>
          </p:nvSpPr>
          <p:spPr bwMode="auto">
            <a:xfrm rot="16200000">
              <a:off x="2564087" y="3357749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34" name="直接连接符 100"/>
            <p:cNvCxnSpPr>
              <a:stCxn id="1049755" idx="1"/>
              <a:endCxn id="1049763" idx="3"/>
            </p:cNvCxnSpPr>
            <p:nvPr/>
          </p:nvCxnSpPr>
          <p:spPr>
            <a:xfrm flipH="1">
              <a:off x="2707075" y="2877657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764" name="Line 40"/>
            <p:cNvSpPr/>
            <p:nvPr/>
          </p:nvSpPr>
          <p:spPr>
            <a:xfrm rot="-5400000">
              <a:off x="2618120" y="2384041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5" name="Line 25"/>
            <p:cNvSpPr/>
            <p:nvPr/>
          </p:nvSpPr>
          <p:spPr>
            <a:xfrm rot="-5400000">
              <a:off x="3724970" y="327145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6" name="Line 26"/>
            <p:cNvSpPr/>
            <p:nvPr/>
          </p:nvSpPr>
          <p:spPr>
            <a:xfrm rot="-5400000">
              <a:off x="4355617" y="3266694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7" name="Line 27"/>
            <p:cNvSpPr/>
            <p:nvPr/>
          </p:nvSpPr>
          <p:spPr>
            <a:xfrm rot="-5400000">
              <a:off x="3937455" y="305897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8" name="Line 28"/>
            <p:cNvSpPr/>
            <p:nvPr/>
          </p:nvSpPr>
          <p:spPr>
            <a:xfrm rot="-5400000" flipV="1">
              <a:off x="4348927" y="3038717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69" name="Line 29"/>
            <p:cNvSpPr/>
            <p:nvPr/>
          </p:nvSpPr>
          <p:spPr>
            <a:xfrm rot="-5400000">
              <a:off x="3563320" y="384293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70" name="Line 30"/>
            <p:cNvSpPr/>
            <p:nvPr/>
          </p:nvSpPr>
          <p:spPr>
            <a:xfrm rot="-5400000">
              <a:off x="3793841" y="3780839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771" name="Line 31"/>
            <p:cNvSpPr/>
            <p:nvPr/>
          </p:nvSpPr>
          <p:spPr>
            <a:xfrm rot="-5400000">
              <a:off x="4159990" y="3829210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72" name="Line 32"/>
            <p:cNvSpPr/>
            <p:nvPr/>
          </p:nvSpPr>
          <p:spPr>
            <a:xfrm rot="-5400000">
              <a:off x="4494414" y="3687395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773" name="AutoShape 29"/>
            <p:cNvSpPr>
              <a:spLocks noChangeAspect="1" noTextEdit="1"/>
            </p:cNvSpPr>
            <p:nvPr/>
          </p:nvSpPr>
          <p:spPr>
            <a:xfrm rot="-5400000">
              <a:off x="3781314" y="2489752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74" name="Freeform 32"/>
            <p:cNvSpPr/>
            <p:nvPr/>
          </p:nvSpPr>
          <p:spPr>
            <a:xfrm rot="-5400000">
              <a:off x="3829568" y="2633696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75" name="Freeform 33"/>
            <p:cNvSpPr/>
            <p:nvPr/>
          </p:nvSpPr>
          <p:spPr>
            <a:xfrm rot="-5400000">
              <a:off x="4002379" y="2653108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76" name="Freeform 34"/>
            <p:cNvSpPr/>
            <p:nvPr/>
          </p:nvSpPr>
          <p:spPr>
            <a:xfrm rot="-5400000">
              <a:off x="4105177" y="2755904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777" name="Oval 35"/>
            <p:cNvSpPr/>
            <p:nvPr/>
          </p:nvSpPr>
          <p:spPr>
            <a:xfrm rot="-5400000">
              <a:off x="4111552" y="2458441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778" name="流程图: 延期 92"/>
            <p:cNvSpPr>
              <a:spLocks noChangeArrowheads="1"/>
            </p:cNvSpPr>
            <p:nvPr/>
          </p:nvSpPr>
          <p:spPr bwMode="auto">
            <a:xfrm rot="16200000">
              <a:off x="3688134" y="335457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779" name="流程图: 延期 92"/>
            <p:cNvSpPr>
              <a:spLocks noChangeArrowheads="1"/>
            </p:cNvSpPr>
            <p:nvPr/>
          </p:nvSpPr>
          <p:spPr bwMode="auto">
            <a:xfrm rot="16200000">
              <a:off x="4318427" y="3349813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780" name="Line 38"/>
            <p:cNvSpPr/>
            <p:nvPr/>
          </p:nvSpPr>
          <p:spPr>
            <a:xfrm rot="-5400000">
              <a:off x="3921296" y="3048646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81" name="Line 39"/>
            <p:cNvSpPr/>
            <p:nvPr/>
          </p:nvSpPr>
          <p:spPr>
            <a:xfrm rot="-5400000">
              <a:off x="4093704" y="3025763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82" name="Line 31"/>
            <p:cNvSpPr/>
            <p:nvPr/>
          </p:nvSpPr>
          <p:spPr>
            <a:xfrm rot="-5400000">
              <a:off x="3843383" y="383986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783" name="Line 32"/>
            <p:cNvSpPr/>
            <p:nvPr/>
          </p:nvSpPr>
          <p:spPr>
            <a:xfrm rot="-5400000">
              <a:off x="4123807" y="3732437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784" name="流程图: 延期 92"/>
            <p:cNvSpPr>
              <a:spLocks noChangeArrowheads="1"/>
            </p:cNvSpPr>
            <p:nvPr/>
          </p:nvSpPr>
          <p:spPr bwMode="auto">
            <a:xfrm rot="16200000">
              <a:off x="4000899" y="3349813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35" name="直接连接符 122"/>
            <p:cNvCxnSpPr>
              <a:stCxn id="1049776" idx="1"/>
              <a:endCxn id="1049784" idx="3"/>
            </p:cNvCxnSpPr>
            <p:nvPr/>
          </p:nvCxnSpPr>
          <p:spPr>
            <a:xfrm flipH="1">
              <a:off x="4144184" y="2868704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785" name="Line 40"/>
            <p:cNvSpPr/>
            <p:nvPr/>
          </p:nvSpPr>
          <p:spPr>
            <a:xfrm rot="-5400000">
              <a:off x="4055229" y="2375088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5936" name="直接连接符 125"/>
            <p:cNvCxnSpPr/>
            <p:nvPr/>
          </p:nvCxnSpPr>
          <p:spPr>
            <a:xfrm>
              <a:off x="106574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937" name="直接连接符 126"/>
            <p:cNvCxnSpPr/>
            <p:nvPr/>
          </p:nvCxnSpPr>
          <p:spPr>
            <a:xfrm>
              <a:off x="248685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938" name="直接连接符 127"/>
            <p:cNvCxnSpPr/>
            <p:nvPr/>
          </p:nvCxnSpPr>
          <p:spPr>
            <a:xfrm>
              <a:off x="392701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39" name="直接连接符 129"/>
            <p:cNvCxnSpPr/>
            <p:nvPr/>
          </p:nvCxnSpPr>
          <p:spPr>
            <a:xfrm flipH="1">
              <a:off x="615019" y="1635646"/>
              <a:ext cx="3312000" cy="0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786" name="Text Box 69"/>
            <p:cNvSpPr txBox="1"/>
            <p:nvPr/>
          </p:nvSpPr>
          <p:spPr>
            <a:xfrm>
              <a:off x="268650" y="1438672"/>
              <a:ext cx="346001" cy="32000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rgbClr val="660033"/>
                  </a:solidFill>
                  <a:latin typeface="Arial" panose="020B0604020202090204" pitchFamily="34" charset="0"/>
                </a:rPr>
                <a:t>En</a:t>
              </a:r>
            </a:p>
          </p:txBody>
        </p:sp>
        <p:sp>
          <p:nvSpPr>
            <p:cNvPr id="1049787" name="Line 70"/>
            <p:cNvSpPr/>
            <p:nvPr/>
          </p:nvSpPr>
          <p:spPr>
            <a:xfrm flipV="1">
              <a:off x="974691" y="932135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788" name="Line 70"/>
            <p:cNvSpPr/>
            <p:nvPr/>
          </p:nvSpPr>
          <p:spPr>
            <a:xfrm flipV="1">
              <a:off x="2414851" y="922610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789" name="Line 70"/>
            <p:cNvSpPr/>
            <p:nvPr/>
          </p:nvSpPr>
          <p:spPr>
            <a:xfrm flipV="1">
              <a:off x="3855011" y="915566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790" name="Text Box 75"/>
            <p:cNvSpPr txBox="1">
              <a:spLocks noChangeArrowheads="1"/>
            </p:cNvSpPr>
            <p:nvPr/>
          </p:nvSpPr>
          <p:spPr bwMode="auto">
            <a:xfrm>
              <a:off x="614440" y="756156"/>
              <a:ext cx="431837" cy="3073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9791" name="Text Box 75"/>
            <p:cNvSpPr txBox="1">
              <a:spLocks noChangeArrowheads="1"/>
            </p:cNvSpPr>
            <p:nvPr/>
          </p:nvSpPr>
          <p:spPr bwMode="auto">
            <a:xfrm>
              <a:off x="2054428" y="779965"/>
              <a:ext cx="431837" cy="3073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9792" name="Text Box 75"/>
            <p:cNvSpPr txBox="1">
              <a:spLocks noChangeArrowheads="1"/>
            </p:cNvSpPr>
            <p:nvPr/>
          </p:nvSpPr>
          <p:spPr bwMode="auto">
            <a:xfrm>
              <a:off x="3505528" y="757743"/>
              <a:ext cx="431837" cy="3073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9793" name="流程图: 延期 92"/>
            <p:cNvSpPr/>
            <p:nvPr/>
          </p:nvSpPr>
          <p:spPr>
            <a:xfrm rot="-5400000">
              <a:off x="830675" y="1205880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794" name="流程图: 延期 92"/>
            <p:cNvSpPr/>
            <p:nvPr/>
          </p:nvSpPr>
          <p:spPr>
            <a:xfrm rot="-5400000">
              <a:off x="2274456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795" name="流程图: 延期 92"/>
            <p:cNvSpPr/>
            <p:nvPr/>
          </p:nvSpPr>
          <p:spPr>
            <a:xfrm rot="-5400000">
              <a:off x="3713277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940" name="直接连接符 137"/>
            <p:cNvCxnSpPr/>
            <p:nvPr/>
          </p:nvCxnSpPr>
          <p:spPr>
            <a:xfrm flipH="1">
              <a:off x="478449" y="2290192"/>
              <a:ext cx="349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796" name="Text Box 69"/>
            <p:cNvSpPr txBox="1"/>
            <p:nvPr/>
          </p:nvSpPr>
          <p:spPr>
            <a:xfrm>
              <a:off x="182603" y="2130429"/>
              <a:ext cx="374329" cy="32000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CP </a:t>
              </a:r>
            </a:p>
          </p:txBody>
        </p:sp>
        <p:cxnSp>
          <p:nvCxnSpPr>
            <p:cNvPr id="3145941" name="直接连接符 140"/>
            <p:cNvCxnSpPr/>
            <p:nvPr/>
          </p:nvCxnSpPr>
          <p:spPr>
            <a:xfrm>
              <a:off x="614651" y="2015877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42" name="直接连接符 142"/>
            <p:cNvCxnSpPr/>
            <p:nvPr/>
          </p:nvCxnSpPr>
          <p:spPr>
            <a:xfrm>
              <a:off x="619414" y="2011114"/>
              <a:ext cx="0" cy="3816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43" name="直接连接符 143"/>
            <p:cNvCxnSpPr/>
            <p:nvPr/>
          </p:nvCxnSpPr>
          <p:spPr>
            <a:xfrm flipH="1">
              <a:off x="621323" y="2390199"/>
              <a:ext cx="385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44" name="直接连接符 144"/>
            <p:cNvCxnSpPr/>
            <p:nvPr/>
          </p:nvCxnSpPr>
          <p:spPr>
            <a:xfrm>
              <a:off x="2059574" y="1996825"/>
              <a:ext cx="720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45" name="直接连接符 145"/>
            <p:cNvCxnSpPr/>
            <p:nvPr/>
          </p:nvCxnSpPr>
          <p:spPr>
            <a:xfrm>
              <a:off x="2064337" y="1992062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946" name="直接连接符 146"/>
            <p:cNvCxnSpPr/>
            <p:nvPr/>
          </p:nvCxnSpPr>
          <p:spPr>
            <a:xfrm>
              <a:off x="3494971" y="1998969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47" name="直接连接符 147"/>
            <p:cNvCxnSpPr/>
            <p:nvPr/>
          </p:nvCxnSpPr>
          <p:spPr>
            <a:xfrm>
              <a:off x="3499734" y="1994206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49797" name="Text Box 69"/>
            <p:cNvSpPr txBox="1"/>
            <p:nvPr/>
          </p:nvSpPr>
          <p:spPr>
            <a:xfrm>
              <a:off x="4441164" y="2222375"/>
              <a:ext cx="418868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5948" name="直接连接符 150"/>
            <p:cNvCxnSpPr/>
            <p:nvPr/>
          </p:nvCxnSpPr>
          <p:spPr>
            <a:xfrm flipH="1">
              <a:off x="1656104" y="3744069"/>
              <a:ext cx="3096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316" name="组合 153"/>
            <p:cNvGrpSpPr/>
            <p:nvPr/>
          </p:nvGrpSpPr>
          <p:grpSpPr>
            <a:xfrm>
              <a:off x="1349517" y="4080008"/>
              <a:ext cx="411198" cy="358100"/>
              <a:chOff x="2267672" y="4227770"/>
              <a:chExt cx="411198" cy="358100"/>
            </a:xfrm>
          </p:grpSpPr>
          <p:sp>
            <p:nvSpPr>
              <p:cNvPr id="1049798" name="Text Box 116"/>
              <p:cNvSpPr txBox="1">
                <a:spLocks noChangeArrowheads="1"/>
              </p:cNvSpPr>
              <p:nvPr/>
            </p:nvSpPr>
            <p:spPr bwMode="auto">
              <a:xfrm>
                <a:off x="2267672" y="4227770"/>
                <a:ext cx="411198" cy="3581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799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17" name="组合 154"/>
            <p:cNvGrpSpPr/>
            <p:nvPr/>
          </p:nvGrpSpPr>
          <p:grpSpPr>
            <a:xfrm>
              <a:off x="2794267" y="4065722"/>
              <a:ext cx="411198" cy="358100"/>
              <a:chOff x="2268070" y="4227647"/>
              <a:chExt cx="411198" cy="358100"/>
            </a:xfrm>
          </p:grpSpPr>
          <p:sp>
            <p:nvSpPr>
              <p:cNvPr id="1049800" name="Text Box 116"/>
              <p:cNvSpPr txBox="1">
                <a:spLocks noChangeArrowheads="1"/>
              </p:cNvSpPr>
              <p:nvPr/>
            </p:nvSpPr>
            <p:spPr bwMode="auto">
              <a:xfrm>
                <a:off x="2268070" y="4227647"/>
                <a:ext cx="411198" cy="3581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801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18" name="组合 157"/>
            <p:cNvGrpSpPr/>
            <p:nvPr/>
          </p:nvGrpSpPr>
          <p:grpSpPr>
            <a:xfrm>
              <a:off x="4234253" y="4065722"/>
              <a:ext cx="411199" cy="358100"/>
              <a:chOff x="2267896" y="4227647"/>
              <a:chExt cx="411199" cy="358100"/>
            </a:xfrm>
          </p:grpSpPr>
          <p:sp>
            <p:nvSpPr>
              <p:cNvPr id="1049802" name="Text Box 116"/>
              <p:cNvSpPr txBox="1">
                <a:spLocks noChangeArrowheads="1"/>
              </p:cNvSpPr>
              <p:nvPr/>
            </p:nvSpPr>
            <p:spPr bwMode="auto">
              <a:xfrm>
                <a:off x="2267896" y="4227647"/>
                <a:ext cx="411199" cy="3581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803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cxnSp>
          <p:nvCxnSpPr>
            <p:cNvPr id="3145949" name="直接连接符 160"/>
            <p:cNvCxnSpPr/>
            <p:nvPr/>
          </p:nvCxnSpPr>
          <p:spPr>
            <a:xfrm flipH="1">
              <a:off x="1352112" y="3839319"/>
              <a:ext cx="3384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50" name="直接连接符 161"/>
            <p:cNvCxnSpPr/>
            <p:nvPr/>
          </p:nvCxnSpPr>
          <p:spPr>
            <a:xfrm flipH="1">
              <a:off x="1034938" y="3921426"/>
              <a:ext cx="370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319" name="组合 162"/>
            <p:cNvGrpSpPr/>
            <p:nvPr/>
          </p:nvGrpSpPr>
          <p:grpSpPr>
            <a:xfrm>
              <a:off x="685885" y="4086358"/>
              <a:ext cx="360393" cy="275559"/>
              <a:chOff x="2266970" y="4227725"/>
              <a:chExt cx="360393" cy="275559"/>
            </a:xfrm>
          </p:grpSpPr>
          <p:sp>
            <p:nvSpPr>
              <p:cNvPr id="1049804" name="Text Box 116"/>
              <p:cNvSpPr txBox="1">
                <a:spLocks noChangeArrowheads="1"/>
              </p:cNvSpPr>
              <p:nvPr/>
            </p:nvSpPr>
            <p:spPr bwMode="auto">
              <a:xfrm>
                <a:off x="2266970" y="4227725"/>
                <a:ext cx="360393" cy="275559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805" name="Line 117"/>
              <p:cNvSpPr/>
              <p:nvPr/>
            </p:nvSpPr>
            <p:spPr>
              <a:xfrm>
                <a:off x="2373107" y="4290417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20" name="组合 165"/>
            <p:cNvGrpSpPr/>
            <p:nvPr/>
          </p:nvGrpSpPr>
          <p:grpSpPr>
            <a:xfrm>
              <a:off x="1003412" y="4084770"/>
              <a:ext cx="360393" cy="307306"/>
              <a:chOff x="2267891" y="4227645"/>
              <a:chExt cx="360393" cy="307306"/>
            </a:xfrm>
          </p:grpSpPr>
          <p:sp>
            <p:nvSpPr>
              <p:cNvPr id="1049806" name="Text Box 116"/>
              <p:cNvSpPr txBox="1">
                <a:spLocks noChangeArrowheads="1"/>
              </p:cNvSpPr>
              <p:nvPr/>
            </p:nvSpPr>
            <p:spPr bwMode="auto">
              <a:xfrm>
                <a:off x="2267891" y="4227645"/>
                <a:ext cx="360393" cy="30730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049807" name="Line 117"/>
              <p:cNvSpPr/>
              <p:nvPr/>
            </p:nvSpPr>
            <p:spPr>
              <a:xfrm>
                <a:off x="2363582" y="4288365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21" name="组合 168"/>
            <p:cNvGrpSpPr/>
            <p:nvPr/>
          </p:nvGrpSpPr>
          <p:grpSpPr>
            <a:xfrm>
              <a:off x="2486265" y="4075246"/>
              <a:ext cx="360393" cy="307305"/>
              <a:chOff x="2267151" y="4227646"/>
              <a:chExt cx="360393" cy="307305"/>
            </a:xfrm>
          </p:grpSpPr>
          <p:sp>
            <p:nvSpPr>
              <p:cNvPr id="1049808" name="Text Box 116"/>
              <p:cNvSpPr txBox="1">
                <a:spLocks noChangeArrowheads="1"/>
              </p:cNvSpPr>
              <p:nvPr/>
            </p:nvSpPr>
            <p:spPr bwMode="auto">
              <a:xfrm>
                <a:off x="2267151" y="4227646"/>
                <a:ext cx="360393" cy="3073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809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22" name="组合 171"/>
            <p:cNvGrpSpPr/>
            <p:nvPr/>
          </p:nvGrpSpPr>
          <p:grpSpPr>
            <a:xfrm>
              <a:off x="2054428" y="4075246"/>
              <a:ext cx="431837" cy="307306"/>
              <a:chOff x="2195354" y="4227646"/>
              <a:chExt cx="431837" cy="307306"/>
            </a:xfrm>
          </p:grpSpPr>
          <p:sp>
            <p:nvSpPr>
              <p:cNvPr id="1049810" name="Text Box 116"/>
              <p:cNvSpPr txBox="1">
                <a:spLocks noChangeArrowheads="1"/>
              </p:cNvSpPr>
              <p:nvPr/>
            </p:nvSpPr>
            <p:spPr bwMode="auto">
              <a:xfrm>
                <a:off x="2195354" y="4227646"/>
                <a:ext cx="431837" cy="30730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811" name="Line 117"/>
              <p:cNvSpPr/>
              <p:nvPr/>
            </p:nvSpPr>
            <p:spPr>
              <a:xfrm>
                <a:off x="2305702" y="4276789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23" name="组合 177"/>
            <p:cNvGrpSpPr/>
            <p:nvPr/>
          </p:nvGrpSpPr>
          <p:grpSpPr>
            <a:xfrm>
              <a:off x="3915139" y="4073659"/>
              <a:ext cx="515857" cy="283088"/>
              <a:chOff x="2268481" y="4227200"/>
              <a:chExt cx="515857" cy="283088"/>
            </a:xfrm>
          </p:grpSpPr>
          <p:sp>
            <p:nvSpPr>
              <p:cNvPr id="1049812" name="Text Box 116"/>
              <p:cNvSpPr txBox="1">
                <a:spLocks noChangeArrowheads="1"/>
              </p:cNvSpPr>
              <p:nvPr/>
            </p:nvSpPr>
            <p:spPr bwMode="auto">
              <a:xfrm>
                <a:off x="2268481" y="4227200"/>
                <a:ext cx="515982" cy="28254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813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24" name="组合 180"/>
            <p:cNvGrpSpPr/>
            <p:nvPr/>
          </p:nvGrpSpPr>
          <p:grpSpPr>
            <a:xfrm>
              <a:off x="3630951" y="4073659"/>
              <a:ext cx="360394" cy="307305"/>
              <a:chOff x="2268133" y="4227200"/>
              <a:chExt cx="360394" cy="307305"/>
            </a:xfrm>
          </p:grpSpPr>
          <p:sp>
            <p:nvSpPr>
              <p:cNvPr id="1049814" name="Text Box 116"/>
              <p:cNvSpPr txBox="1">
                <a:spLocks noChangeArrowheads="1"/>
              </p:cNvSpPr>
              <p:nvPr/>
            </p:nvSpPr>
            <p:spPr bwMode="auto">
              <a:xfrm>
                <a:off x="2268133" y="4227200"/>
                <a:ext cx="360394" cy="3073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49815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816" name="Text Box 69"/>
            <p:cNvSpPr txBox="1"/>
            <p:nvPr/>
          </p:nvSpPr>
          <p:spPr>
            <a:xfrm>
              <a:off x="4716016" y="3536429"/>
              <a:ext cx="720080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W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  <p:sp>
          <p:nvSpPr>
            <p:cNvPr id="1049817" name="Text Box 69"/>
            <p:cNvSpPr txBox="1"/>
            <p:nvPr/>
          </p:nvSpPr>
          <p:spPr>
            <a:xfrm>
              <a:off x="4725541" y="3707879"/>
              <a:ext cx="720080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8000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rgbClr val="008000"/>
                  </a:solidFill>
                  <a:latin typeface="Arial" panose="020B0604020202090204" pitchFamily="34" charset="0"/>
                </a:rPr>
                <a:t>R </a:t>
              </a:r>
            </a:p>
          </p:txBody>
        </p:sp>
        <p:sp>
          <p:nvSpPr>
            <p:cNvPr id="1049818" name="Text Box 69"/>
            <p:cNvSpPr txBox="1"/>
            <p:nvPr/>
          </p:nvSpPr>
          <p:spPr>
            <a:xfrm>
              <a:off x="4725541" y="3860279"/>
              <a:ext cx="494531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</p:grpSp>
      <p:grpSp>
        <p:nvGrpSpPr>
          <p:cNvPr id="325" name="组合 225"/>
          <p:cNvGrpSpPr/>
          <p:nvPr/>
        </p:nvGrpSpPr>
        <p:grpSpPr>
          <a:xfrm>
            <a:off x="5360988" y="1654175"/>
            <a:ext cx="3343275" cy="1043761"/>
            <a:chOff x="5117645" y="2245990"/>
            <a:chExt cx="3342687" cy="1044178"/>
          </a:xfrm>
        </p:grpSpPr>
        <p:sp>
          <p:nvSpPr>
            <p:cNvPr id="1049819" name="Text Box 373"/>
            <p:cNvSpPr txBox="1"/>
            <p:nvPr/>
          </p:nvSpPr>
          <p:spPr>
            <a:xfrm>
              <a:off x="5117645" y="2559054"/>
              <a:ext cx="1081088" cy="3381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输出方程</a:t>
              </a:r>
            </a:p>
          </p:txBody>
        </p:sp>
        <p:grpSp>
          <p:nvGrpSpPr>
            <p:cNvPr id="326" name="Group 162"/>
            <p:cNvGrpSpPr/>
            <p:nvPr/>
          </p:nvGrpSpPr>
          <p:grpSpPr>
            <a:xfrm>
              <a:off x="6421981" y="2245990"/>
              <a:ext cx="2038351" cy="358378"/>
              <a:chOff x="346" y="3504"/>
              <a:chExt cx="1284" cy="301"/>
            </a:xfrm>
          </p:grpSpPr>
          <p:grpSp>
            <p:nvGrpSpPr>
              <p:cNvPr id="327" name="Group 163"/>
              <p:cNvGrpSpPr/>
              <p:nvPr/>
            </p:nvGrpSpPr>
            <p:grpSpPr>
              <a:xfrm>
                <a:off x="346" y="3504"/>
                <a:ext cx="336" cy="301"/>
                <a:chOff x="1210" y="3936"/>
                <a:chExt cx="336" cy="301"/>
              </a:xfrm>
            </p:grpSpPr>
            <p:sp>
              <p:nvSpPr>
                <p:cNvPr id="1049820" name="Text Box 164"/>
                <p:cNvSpPr txBox="1"/>
                <p:nvPr/>
              </p:nvSpPr>
              <p:spPr>
                <a:xfrm>
                  <a:off x="1210" y="3936"/>
                  <a:ext cx="336" cy="301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Times New Roman" panose="02020503050405090304" pitchFamily="18" charset="0"/>
                    </a:rPr>
                    <a:t>B</a:t>
                  </a:r>
                  <a:r>
                    <a:rPr lang="en-US" altLang="zh-CN" sz="1400" b="1" baseline="-25000" dirty="0">
                      <a:latin typeface="Arial" panose="020B0604020202090204" pitchFamily="34" charset="0"/>
                    </a:rPr>
                    <a:t>3</a:t>
                  </a:r>
                </a:p>
              </p:txBody>
            </p:sp>
            <p:sp>
              <p:nvSpPr>
                <p:cNvPr id="1049821" name="Line 165"/>
                <p:cNvSpPr/>
                <p:nvPr/>
              </p:nvSpPr>
              <p:spPr>
                <a:xfrm>
                  <a:off x="1224" y="398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49822" name="Text Box 166"/>
              <p:cNvSpPr txBox="1"/>
              <p:nvPr/>
            </p:nvSpPr>
            <p:spPr>
              <a:xfrm>
                <a:off x="528" y="3504"/>
                <a:ext cx="1102" cy="301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E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n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3</a:t>
                </a:r>
              </a:p>
            </p:txBody>
          </p:sp>
          <p:sp>
            <p:nvSpPr>
              <p:cNvPr id="1049823" name="Line 167"/>
              <p:cNvSpPr/>
              <p:nvPr/>
            </p:nvSpPr>
            <p:spPr>
              <a:xfrm>
                <a:off x="732" y="3552"/>
                <a:ext cx="22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28" name="Group 169"/>
            <p:cNvGrpSpPr/>
            <p:nvPr/>
          </p:nvGrpSpPr>
          <p:grpSpPr>
            <a:xfrm>
              <a:off x="6421983" y="2588890"/>
              <a:ext cx="1606551" cy="358378"/>
              <a:chOff x="346" y="3504"/>
              <a:chExt cx="1012" cy="301"/>
            </a:xfrm>
          </p:grpSpPr>
          <p:grpSp>
            <p:nvGrpSpPr>
              <p:cNvPr id="329" name="Group 170"/>
              <p:cNvGrpSpPr/>
              <p:nvPr/>
            </p:nvGrpSpPr>
            <p:grpSpPr>
              <a:xfrm>
                <a:off x="346" y="3504"/>
                <a:ext cx="336" cy="301"/>
                <a:chOff x="1210" y="3936"/>
                <a:chExt cx="336" cy="301"/>
              </a:xfrm>
            </p:grpSpPr>
            <p:sp>
              <p:nvSpPr>
                <p:cNvPr id="1049824" name="Text Box 171"/>
                <p:cNvSpPr txBox="1"/>
                <p:nvPr/>
              </p:nvSpPr>
              <p:spPr>
                <a:xfrm>
                  <a:off x="1210" y="3936"/>
                  <a:ext cx="336" cy="301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Times New Roman" panose="02020503050405090304" pitchFamily="18" charset="0"/>
                    </a:rPr>
                    <a:t>B</a:t>
                  </a:r>
                  <a:r>
                    <a:rPr lang="en-US" altLang="zh-CN" sz="1400" b="1" baseline="-25000" dirty="0">
                      <a:latin typeface="Arial" panose="020B0604020202090204" pitchFamily="34" charset="0"/>
                    </a:rPr>
                    <a:t>2</a:t>
                  </a:r>
                </a:p>
              </p:txBody>
            </p:sp>
            <p:sp>
              <p:nvSpPr>
                <p:cNvPr id="1049825" name="Line 172"/>
                <p:cNvSpPr/>
                <p:nvPr/>
              </p:nvSpPr>
              <p:spPr>
                <a:xfrm>
                  <a:off x="1224" y="398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49826" name="Text Box 173"/>
              <p:cNvSpPr txBox="1"/>
              <p:nvPr/>
            </p:nvSpPr>
            <p:spPr>
              <a:xfrm>
                <a:off x="528" y="3504"/>
                <a:ext cx="830" cy="301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E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n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2</a:t>
                </a:r>
              </a:p>
            </p:txBody>
          </p:sp>
          <p:sp>
            <p:nvSpPr>
              <p:cNvPr id="1049827" name="Line 174"/>
              <p:cNvSpPr/>
              <p:nvPr/>
            </p:nvSpPr>
            <p:spPr>
              <a:xfrm>
                <a:off x="732" y="3552"/>
                <a:ext cx="22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30" name="Group 175"/>
            <p:cNvGrpSpPr/>
            <p:nvPr/>
          </p:nvGrpSpPr>
          <p:grpSpPr>
            <a:xfrm>
              <a:off x="6421983" y="2931790"/>
              <a:ext cx="1751013" cy="358378"/>
              <a:chOff x="346" y="3504"/>
              <a:chExt cx="1103" cy="301"/>
            </a:xfrm>
          </p:grpSpPr>
          <p:grpSp>
            <p:nvGrpSpPr>
              <p:cNvPr id="331" name="Group 176"/>
              <p:cNvGrpSpPr/>
              <p:nvPr/>
            </p:nvGrpSpPr>
            <p:grpSpPr>
              <a:xfrm>
                <a:off x="346" y="3504"/>
                <a:ext cx="336" cy="301"/>
                <a:chOff x="1210" y="3936"/>
                <a:chExt cx="336" cy="301"/>
              </a:xfrm>
            </p:grpSpPr>
            <p:sp>
              <p:nvSpPr>
                <p:cNvPr id="1049828" name="Text Box 177"/>
                <p:cNvSpPr txBox="1"/>
                <p:nvPr/>
              </p:nvSpPr>
              <p:spPr>
                <a:xfrm>
                  <a:off x="1210" y="3936"/>
                  <a:ext cx="336" cy="301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Times New Roman" panose="02020503050405090304" pitchFamily="18" charset="0"/>
                    </a:rPr>
                    <a:t>B</a:t>
                  </a:r>
                  <a:r>
                    <a:rPr lang="en-US" altLang="zh-CN" sz="1400" b="1" baseline="-25000" dirty="0">
                      <a:latin typeface="Arial" panose="020B0604020202090204" pitchFamily="34" charset="0"/>
                    </a:rPr>
                    <a:t>1</a:t>
                  </a:r>
                </a:p>
              </p:txBody>
            </p:sp>
            <p:sp>
              <p:nvSpPr>
                <p:cNvPr id="1049829" name="Line 178"/>
                <p:cNvSpPr/>
                <p:nvPr/>
              </p:nvSpPr>
              <p:spPr>
                <a:xfrm>
                  <a:off x="1224" y="398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49830" name="Text Box 179"/>
              <p:cNvSpPr txBox="1"/>
              <p:nvPr/>
            </p:nvSpPr>
            <p:spPr>
              <a:xfrm>
                <a:off x="528" y="3504"/>
                <a:ext cx="921" cy="301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E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n  </a:t>
                </a:r>
                <a:r>
                  <a:rPr lang="zh-CN" altLang="en-US" sz="1400" b="1" dirty="0">
                    <a:latin typeface="Times New Roman" panose="02020503050405090304" pitchFamily="18" charset="0"/>
                  </a:rPr>
                  <a:t>＝ </a:t>
                </a:r>
                <a:r>
                  <a:rPr lang="en-US" altLang="zh-CN" sz="1400" b="1" dirty="0">
                    <a:latin typeface="Times New Roman" panose="02020503050405090304" pitchFamily="18" charset="0"/>
                  </a:rPr>
                  <a:t>Q</a:t>
                </a:r>
                <a:r>
                  <a:rPr lang="en-US" altLang="zh-CN" sz="1400" b="1" baseline="-25000" dirty="0">
                    <a:latin typeface="Arial" panose="020B0604020202090204" pitchFamily="34" charset="0"/>
                  </a:rPr>
                  <a:t>1</a:t>
                </a:r>
              </a:p>
            </p:txBody>
          </p:sp>
          <p:sp>
            <p:nvSpPr>
              <p:cNvPr id="1049831" name="Line 180"/>
              <p:cNvSpPr/>
              <p:nvPr/>
            </p:nvSpPr>
            <p:spPr>
              <a:xfrm>
                <a:off x="734" y="3552"/>
                <a:ext cx="22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832" name="AutoShape 204"/>
            <p:cNvSpPr/>
            <p:nvPr/>
          </p:nvSpPr>
          <p:spPr>
            <a:xfrm>
              <a:off x="6268183" y="2360293"/>
              <a:ext cx="216000" cy="742950"/>
            </a:xfrm>
            <a:prstGeom prst="leftBrace">
              <a:avLst>
                <a:gd name="adj1" fmla="val 27086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1400" dirty="0">
                <a:latin typeface="Arial" panose="020B0604020202090204" pitchFamily="34" charset="0"/>
              </a:endParaRPr>
            </a:p>
          </p:txBody>
        </p:sp>
        <p:sp>
          <p:nvSpPr>
            <p:cNvPr id="1049833" name="Line 167"/>
            <p:cNvSpPr/>
            <p:nvPr/>
          </p:nvSpPr>
          <p:spPr>
            <a:xfrm>
              <a:off x="7702746" y="2306868"/>
              <a:ext cx="14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834" name="Line 167"/>
            <p:cNvSpPr/>
            <p:nvPr/>
          </p:nvSpPr>
          <p:spPr>
            <a:xfrm>
              <a:off x="7691494" y="2657891"/>
              <a:ext cx="14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835" name="Line 167"/>
            <p:cNvSpPr/>
            <p:nvPr/>
          </p:nvSpPr>
          <p:spPr>
            <a:xfrm>
              <a:off x="7694052" y="2992223"/>
              <a:ext cx="14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36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双向移位寄存器小结</a:t>
            </a:r>
            <a:endParaRPr lang="zh-CN" altLang="en-US"/>
          </a:p>
        </p:txBody>
      </p:sp>
      <p:sp>
        <p:nvSpPr>
          <p:cNvPr id="1049837" name="Text Box 6"/>
          <p:cNvSpPr txBox="1"/>
          <p:nvPr/>
        </p:nvSpPr>
        <p:spPr>
          <a:xfrm>
            <a:off x="4427855" y="669290"/>
            <a:ext cx="4500245" cy="1332865"/>
          </a:xfrm>
          <a:prstGeom prst="rect">
            <a:avLst/>
          </a:prstGeom>
          <a:noFill/>
          <a:ln w="28575">
            <a:noFill/>
          </a:ln>
        </p:spPr>
        <p:txBody>
          <a:bodyPr>
            <a:noAutofit/>
          </a:bodyPr>
          <a:lstStyle/>
          <a:p>
            <a:pPr marL="173355" indent="-173355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寄存器的每一个操作（写入、读出、左移、右移）都是在</a:t>
            </a:r>
            <a:r>
              <a: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节拍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的控制下完成的。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3355" indent="-173355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1600" b="1" dirty="0">
                <a:solidFill>
                  <a:srgbClr val="00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不改变触发器状态的操作（读出），只需要节拍电位。</a:t>
            </a:r>
          </a:p>
        </p:txBody>
      </p:sp>
      <p:grpSp>
        <p:nvGrpSpPr>
          <p:cNvPr id="333" name="组合 197"/>
          <p:cNvGrpSpPr/>
          <p:nvPr/>
        </p:nvGrpSpPr>
        <p:grpSpPr>
          <a:xfrm>
            <a:off x="5184775" y="2870200"/>
            <a:ext cx="3673475" cy="914400"/>
            <a:chOff x="5185347" y="2869693"/>
            <a:chExt cx="3672408" cy="914618"/>
          </a:xfrm>
        </p:grpSpPr>
        <p:grpSp>
          <p:nvGrpSpPr>
            <p:cNvPr id="334" name="Group 8"/>
            <p:cNvGrpSpPr/>
            <p:nvPr/>
          </p:nvGrpSpPr>
          <p:grpSpPr>
            <a:xfrm>
              <a:off x="5185347" y="2869693"/>
              <a:ext cx="1440160" cy="288032"/>
              <a:chOff x="624" y="1968"/>
              <a:chExt cx="1536" cy="480"/>
            </a:xfrm>
          </p:grpSpPr>
          <p:sp>
            <p:nvSpPr>
              <p:cNvPr id="1049838" name="Line 9"/>
              <p:cNvSpPr/>
              <p:nvPr/>
            </p:nvSpPr>
            <p:spPr>
              <a:xfrm>
                <a:off x="624" y="2448"/>
                <a:ext cx="432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839" name="Line 10"/>
              <p:cNvSpPr/>
              <p:nvPr/>
            </p:nvSpPr>
            <p:spPr>
              <a:xfrm flipV="1">
                <a:off x="1056" y="1968"/>
                <a:ext cx="0" cy="48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840" name="Line 11"/>
              <p:cNvSpPr/>
              <p:nvPr/>
            </p:nvSpPr>
            <p:spPr>
              <a:xfrm>
                <a:off x="1056" y="1968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841" name="Line 12"/>
              <p:cNvSpPr/>
              <p:nvPr/>
            </p:nvSpPr>
            <p:spPr>
              <a:xfrm>
                <a:off x="1680" y="1968"/>
                <a:ext cx="0" cy="48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842" name="Line 13"/>
              <p:cNvSpPr/>
              <p:nvPr/>
            </p:nvSpPr>
            <p:spPr>
              <a:xfrm>
                <a:off x="1680" y="2448"/>
                <a:ext cx="48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35" name="Group 14"/>
            <p:cNvGrpSpPr/>
            <p:nvPr/>
          </p:nvGrpSpPr>
          <p:grpSpPr>
            <a:xfrm>
              <a:off x="5568537" y="3301741"/>
              <a:ext cx="650395" cy="288032"/>
              <a:chOff x="624" y="1968"/>
              <a:chExt cx="1536" cy="480"/>
            </a:xfrm>
          </p:grpSpPr>
          <p:sp>
            <p:nvSpPr>
              <p:cNvPr id="1049843" name="Line 15"/>
              <p:cNvSpPr/>
              <p:nvPr/>
            </p:nvSpPr>
            <p:spPr>
              <a:xfrm>
                <a:off x="624" y="2448"/>
                <a:ext cx="432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844" name="Line 16"/>
              <p:cNvSpPr/>
              <p:nvPr/>
            </p:nvSpPr>
            <p:spPr>
              <a:xfrm flipV="1">
                <a:off x="1056" y="1968"/>
                <a:ext cx="0" cy="48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49845" name="Line 17"/>
              <p:cNvSpPr/>
              <p:nvPr/>
            </p:nvSpPr>
            <p:spPr>
              <a:xfrm>
                <a:off x="1056" y="1968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49846" name="Line 18"/>
              <p:cNvSpPr/>
              <p:nvPr/>
            </p:nvSpPr>
            <p:spPr>
              <a:xfrm>
                <a:off x="1680" y="1968"/>
                <a:ext cx="0" cy="48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49847" name="Line 19"/>
              <p:cNvSpPr/>
              <p:nvPr/>
            </p:nvSpPr>
            <p:spPr>
              <a:xfrm>
                <a:off x="1680" y="2448"/>
                <a:ext cx="48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848" name="AutoShape 22"/>
            <p:cNvSpPr/>
            <p:nvPr/>
          </p:nvSpPr>
          <p:spPr>
            <a:xfrm>
              <a:off x="7791768" y="3085717"/>
              <a:ext cx="144000" cy="576000"/>
            </a:xfrm>
            <a:prstGeom prst="rightBrace">
              <a:avLst>
                <a:gd name="adj1" fmla="val 29166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1600" dirty="0">
                <a:latin typeface="Arial" panose="020B0604020202090204" pitchFamily="34" charset="0"/>
              </a:endParaRPr>
            </a:p>
          </p:txBody>
        </p:sp>
        <p:sp>
          <p:nvSpPr>
            <p:cNvPr id="1049849" name="Text Box 23"/>
            <p:cNvSpPr txBox="1">
              <a:spLocks noChangeArrowheads="1"/>
            </p:cNvSpPr>
            <p:nvPr/>
          </p:nvSpPr>
          <p:spPr bwMode="auto">
            <a:xfrm>
              <a:off x="8065823" y="3157100"/>
              <a:ext cx="791932" cy="33980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zh-CN" altLang="en-US" sz="1600" b="1" kern="1200" cap="none" spc="0" normalizeH="0" baseline="0" noProof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节拍</a:t>
              </a:r>
              <a:endParaRPr kumimoji="1" lang="zh-CN" altLang="en-US" sz="16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9850" name="Text Box 24"/>
            <p:cNvSpPr txBox="1"/>
            <p:nvPr/>
          </p:nvSpPr>
          <p:spPr>
            <a:xfrm>
              <a:off x="6723223" y="2941701"/>
              <a:ext cx="1152128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节拍电位</a:t>
              </a:r>
            </a:p>
          </p:txBody>
        </p:sp>
        <p:sp>
          <p:nvSpPr>
            <p:cNvPr id="1049851" name="Text Box 25"/>
            <p:cNvSpPr txBox="1"/>
            <p:nvPr/>
          </p:nvSpPr>
          <p:spPr>
            <a:xfrm>
              <a:off x="6746373" y="3445757"/>
              <a:ext cx="1152128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节拍脉冲</a:t>
              </a:r>
            </a:p>
          </p:txBody>
        </p:sp>
      </p:grpSp>
      <p:grpSp>
        <p:nvGrpSpPr>
          <p:cNvPr id="336" name="组合 186"/>
          <p:cNvGrpSpPr/>
          <p:nvPr/>
        </p:nvGrpSpPr>
        <p:grpSpPr>
          <a:xfrm>
            <a:off x="34925" y="842963"/>
            <a:ext cx="5262563" cy="3682364"/>
            <a:chOff x="182603" y="756156"/>
            <a:chExt cx="5263018" cy="3681952"/>
          </a:xfrm>
        </p:grpSpPr>
        <p:sp>
          <p:nvSpPr>
            <p:cNvPr id="1049852" name="椭圆 93"/>
            <p:cNvSpPr/>
            <p:nvPr/>
          </p:nvSpPr>
          <p:spPr>
            <a:xfrm>
              <a:off x="935450" y="1139205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853" name="椭圆 26"/>
            <p:cNvSpPr/>
            <p:nvPr/>
          </p:nvSpPr>
          <p:spPr>
            <a:xfrm>
              <a:off x="2379231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854" name="椭圆 93"/>
            <p:cNvSpPr/>
            <p:nvPr/>
          </p:nvSpPr>
          <p:spPr>
            <a:xfrm>
              <a:off x="3818052" y="1129308"/>
              <a:ext cx="71437" cy="71438"/>
            </a:xfrm>
            <a:prstGeom prst="ellipse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337" name="组合 33"/>
            <p:cNvGrpSpPr/>
            <p:nvPr/>
          </p:nvGrpSpPr>
          <p:grpSpPr>
            <a:xfrm>
              <a:off x="758667" y="1367809"/>
              <a:ext cx="708026" cy="972038"/>
              <a:chOff x="6090521" y="3016910"/>
              <a:chExt cx="708026" cy="972089"/>
            </a:xfrm>
          </p:grpSpPr>
          <p:cxnSp>
            <p:nvCxnSpPr>
              <p:cNvPr id="3145951" name="直接连接符 34"/>
              <p:cNvCxnSpPr/>
              <p:nvPr/>
            </p:nvCxnSpPr>
            <p:spPr>
              <a:xfrm rot="5400000">
                <a:off x="6217848" y="3737447"/>
                <a:ext cx="396021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grpSp>
            <p:nvGrpSpPr>
              <p:cNvPr id="338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952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53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855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856" name="TextBox 186"/>
                <p:cNvSpPr txBox="1">
                  <a:spLocks noChangeArrowheads="1"/>
                </p:cNvSpPr>
                <p:nvPr/>
              </p:nvSpPr>
              <p:spPr bwMode="auto">
                <a:xfrm>
                  <a:off x="2214824" y="2810226"/>
                  <a:ext cx="357221" cy="2460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857" name="TextBox 187"/>
                <p:cNvSpPr txBox="1">
                  <a:spLocks noChangeArrowheads="1"/>
                </p:cNvSpPr>
                <p:nvPr/>
              </p:nvSpPr>
              <p:spPr bwMode="auto">
                <a:xfrm>
                  <a:off x="1863955" y="2618120"/>
                  <a:ext cx="357220" cy="2476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858" name="TextBox 188"/>
                <p:cNvSpPr txBox="1">
                  <a:spLocks noChangeArrowheads="1"/>
                </p:cNvSpPr>
                <p:nvPr/>
              </p:nvSpPr>
              <p:spPr bwMode="auto">
                <a:xfrm>
                  <a:off x="2211649" y="2627646"/>
                  <a:ext cx="357221" cy="2476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3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54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859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860" name="TextBox 182"/>
              <p:cNvSpPr txBox="1">
                <a:spLocks noChangeArrowheads="1"/>
              </p:cNvSpPr>
              <p:nvPr/>
            </p:nvSpPr>
            <p:spPr bwMode="auto">
              <a:xfrm>
                <a:off x="6252709" y="3587841"/>
                <a:ext cx="422311" cy="2143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861" name="椭圆 93"/>
            <p:cNvSpPr/>
            <p:nvPr/>
          </p:nvSpPr>
          <p:spPr>
            <a:xfrm>
              <a:off x="686659" y="1987302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339" name="组合 33"/>
            <p:cNvGrpSpPr/>
            <p:nvPr/>
          </p:nvGrpSpPr>
          <p:grpSpPr>
            <a:xfrm>
              <a:off x="2208352" y="1367804"/>
              <a:ext cx="708026" cy="972036"/>
              <a:chOff x="6090521" y="3016910"/>
              <a:chExt cx="708026" cy="972089"/>
            </a:xfrm>
          </p:grpSpPr>
          <p:cxnSp>
            <p:nvCxnSpPr>
              <p:cNvPr id="3145955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340" name="组合 16"/>
              <p:cNvGrpSpPr/>
              <p:nvPr/>
            </p:nvGrpSpPr>
            <p:grpSpPr>
              <a:xfrm>
                <a:off x="6090521" y="3016910"/>
                <a:ext cx="708026" cy="972089"/>
                <a:chOff x="1863706" y="2178874"/>
                <a:chExt cx="708030" cy="972242"/>
              </a:xfrm>
            </p:grpSpPr>
            <p:cxnSp>
              <p:nvCxnSpPr>
                <p:cNvPr id="3145956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57" name="直接连接符 18"/>
                <p:cNvCxnSpPr/>
                <p:nvPr/>
              </p:nvCxnSpPr>
              <p:spPr>
                <a:xfrm rot="5400000">
                  <a:off x="1658159" y="2520152"/>
                  <a:ext cx="68414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862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863" name="TextBox 175"/>
                <p:cNvSpPr txBox="1">
                  <a:spLocks noChangeArrowheads="1"/>
                </p:cNvSpPr>
                <p:nvPr/>
              </p:nvSpPr>
              <p:spPr bwMode="auto">
                <a:xfrm>
                  <a:off x="2214652" y="2810232"/>
                  <a:ext cx="357220" cy="2460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864" name="TextBox 176"/>
                <p:cNvSpPr txBox="1">
                  <a:spLocks noChangeArrowheads="1"/>
                </p:cNvSpPr>
                <p:nvPr/>
              </p:nvSpPr>
              <p:spPr bwMode="auto">
                <a:xfrm>
                  <a:off x="1863782" y="2618126"/>
                  <a:ext cx="357221" cy="2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865" name="TextBox 177"/>
                <p:cNvSpPr txBox="1">
                  <a:spLocks noChangeArrowheads="1"/>
                </p:cNvSpPr>
                <p:nvPr/>
              </p:nvSpPr>
              <p:spPr bwMode="auto">
                <a:xfrm>
                  <a:off x="2211477" y="2627652"/>
                  <a:ext cx="357220" cy="247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58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866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867" name="TextBox 171"/>
              <p:cNvSpPr txBox="1">
                <a:spLocks noChangeArrowheads="1"/>
              </p:cNvSpPr>
              <p:nvPr/>
            </p:nvSpPr>
            <p:spPr bwMode="auto">
              <a:xfrm>
                <a:off x="6252536" y="3587847"/>
                <a:ext cx="422311" cy="214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868" name="椭圆 93"/>
            <p:cNvSpPr/>
            <p:nvPr/>
          </p:nvSpPr>
          <p:spPr>
            <a:xfrm>
              <a:off x="2141108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grpSp>
          <p:nvGrpSpPr>
            <p:cNvPr id="341" name="组合 33"/>
            <p:cNvGrpSpPr/>
            <p:nvPr/>
          </p:nvGrpSpPr>
          <p:grpSpPr>
            <a:xfrm>
              <a:off x="3638987" y="1367803"/>
              <a:ext cx="708026" cy="972024"/>
              <a:chOff x="6090521" y="3016909"/>
              <a:chExt cx="708026" cy="972077"/>
            </a:xfrm>
          </p:grpSpPr>
          <p:cxnSp>
            <p:nvCxnSpPr>
              <p:cNvPr id="3145959" name="直接连接符 34"/>
              <p:cNvCxnSpPr/>
              <p:nvPr/>
            </p:nvCxnSpPr>
            <p:spPr>
              <a:xfrm rot="5400000">
                <a:off x="6217847" y="3737264"/>
                <a:ext cx="396022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342" name="组合 16"/>
              <p:cNvGrpSpPr/>
              <p:nvPr/>
            </p:nvGrpSpPr>
            <p:grpSpPr>
              <a:xfrm>
                <a:off x="6090521" y="3016909"/>
                <a:ext cx="708026" cy="972077"/>
                <a:chOff x="1863706" y="2178882"/>
                <a:chExt cx="708030" cy="972234"/>
              </a:xfrm>
            </p:grpSpPr>
            <p:cxnSp>
              <p:nvCxnSpPr>
                <p:cNvPr id="3145960" name="直接连接符 17"/>
                <p:cNvCxnSpPr/>
                <p:nvPr/>
              </p:nvCxnSpPr>
              <p:spPr>
                <a:xfrm rot="5400000">
                  <a:off x="2014555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5961" name="直接连接符 18"/>
                <p:cNvCxnSpPr/>
                <p:nvPr/>
              </p:nvCxnSpPr>
              <p:spPr>
                <a:xfrm rot="5400000">
                  <a:off x="1640154" y="2538165"/>
                  <a:ext cx="720155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9869" name="矩形 19"/>
                <p:cNvSpPr/>
                <p:nvPr/>
              </p:nvSpPr>
              <p:spPr>
                <a:xfrm>
                  <a:off x="1876406" y="2643188"/>
                  <a:ext cx="648005" cy="360076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49870" name="TextBox 164"/>
                <p:cNvSpPr txBox="1">
                  <a:spLocks noChangeArrowheads="1"/>
                </p:cNvSpPr>
                <p:nvPr/>
              </p:nvSpPr>
              <p:spPr bwMode="auto">
                <a:xfrm>
                  <a:off x="2214478" y="2810244"/>
                  <a:ext cx="357221" cy="2460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871" name="TextBox 165"/>
                <p:cNvSpPr txBox="1">
                  <a:spLocks noChangeArrowheads="1"/>
                </p:cNvSpPr>
                <p:nvPr/>
              </p:nvSpPr>
              <p:spPr bwMode="auto">
                <a:xfrm>
                  <a:off x="1863609" y="2618137"/>
                  <a:ext cx="357220" cy="2476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49872" name="TextBox 166"/>
                <p:cNvSpPr txBox="1">
                  <a:spLocks noChangeArrowheads="1"/>
                </p:cNvSpPr>
                <p:nvPr/>
              </p:nvSpPr>
              <p:spPr bwMode="auto">
                <a:xfrm>
                  <a:off x="2211303" y="2627663"/>
                  <a:ext cx="357221" cy="2476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5962" name="直接连接符 25"/>
                <p:cNvCxnSpPr/>
                <p:nvPr/>
              </p:nvCxnSpPr>
              <p:spPr>
                <a:xfrm>
                  <a:off x="230185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9873" name="等腰三角形 36"/>
              <p:cNvSpPr/>
              <p:nvPr/>
            </p:nvSpPr>
            <p:spPr>
              <a:xfrm>
                <a:off x="6381725" y="3765031"/>
                <a:ext cx="72008" cy="72008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49874" name="TextBox 160"/>
              <p:cNvSpPr txBox="1">
                <a:spLocks noChangeArrowheads="1"/>
              </p:cNvSpPr>
              <p:nvPr/>
            </p:nvSpPr>
            <p:spPr bwMode="auto">
              <a:xfrm>
                <a:off x="6252363" y="3587847"/>
                <a:ext cx="422311" cy="21430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49875" name="椭圆 93"/>
            <p:cNvSpPr/>
            <p:nvPr/>
          </p:nvSpPr>
          <p:spPr>
            <a:xfrm>
              <a:off x="3566979" y="1968250"/>
              <a:ext cx="71437" cy="7143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876" name="Line 25"/>
            <p:cNvSpPr/>
            <p:nvPr/>
          </p:nvSpPr>
          <p:spPr>
            <a:xfrm rot="-5400000">
              <a:off x="843509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77" name="Line 26"/>
            <p:cNvSpPr/>
            <p:nvPr/>
          </p:nvSpPr>
          <p:spPr>
            <a:xfrm rot="-5400000">
              <a:off x="1474156" y="3277963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78" name="Line 27"/>
            <p:cNvSpPr/>
            <p:nvPr/>
          </p:nvSpPr>
          <p:spPr>
            <a:xfrm rot="-5400000">
              <a:off x="1055994" y="3065479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79" name="Line 28"/>
            <p:cNvSpPr/>
            <p:nvPr/>
          </p:nvSpPr>
          <p:spPr>
            <a:xfrm rot="-5400000" flipV="1">
              <a:off x="1467466" y="3049986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80" name="Line 29"/>
            <p:cNvSpPr/>
            <p:nvPr/>
          </p:nvSpPr>
          <p:spPr>
            <a:xfrm rot="-5400000">
              <a:off x="653281" y="3849442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81" name="Line 30"/>
            <p:cNvSpPr/>
            <p:nvPr/>
          </p:nvSpPr>
          <p:spPr>
            <a:xfrm rot="-5400000">
              <a:off x="907617" y="3782582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82" name="Line 31"/>
            <p:cNvSpPr/>
            <p:nvPr/>
          </p:nvSpPr>
          <p:spPr>
            <a:xfrm rot="-5400000">
              <a:off x="1273766" y="384047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83" name="Line 32"/>
            <p:cNvSpPr/>
            <p:nvPr/>
          </p:nvSpPr>
          <p:spPr>
            <a:xfrm rot="-5400000">
              <a:off x="1594953" y="3672069"/>
              <a:ext cx="144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84" name="AutoShape 29"/>
            <p:cNvSpPr>
              <a:spLocks noChangeAspect="1" noTextEdit="1"/>
            </p:cNvSpPr>
            <p:nvPr/>
          </p:nvSpPr>
          <p:spPr>
            <a:xfrm rot="-5400000">
              <a:off x="909378" y="2501021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885" name="Freeform 32"/>
            <p:cNvSpPr/>
            <p:nvPr/>
          </p:nvSpPr>
          <p:spPr>
            <a:xfrm rot="-5400000">
              <a:off x="948107" y="2644965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886" name="Freeform 33"/>
            <p:cNvSpPr/>
            <p:nvPr/>
          </p:nvSpPr>
          <p:spPr>
            <a:xfrm rot="-5400000">
              <a:off x="1120918" y="2664377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887" name="Freeform 34"/>
            <p:cNvSpPr/>
            <p:nvPr/>
          </p:nvSpPr>
          <p:spPr>
            <a:xfrm rot="-5400000">
              <a:off x="1223716" y="2767173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888" name="Oval 35"/>
            <p:cNvSpPr/>
            <p:nvPr/>
          </p:nvSpPr>
          <p:spPr>
            <a:xfrm rot="-5400000">
              <a:off x="1230091" y="2469710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889" name="流程图: 延期 92"/>
            <p:cNvSpPr>
              <a:spLocks noChangeArrowheads="1"/>
            </p:cNvSpPr>
            <p:nvPr/>
          </p:nvSpPr>
          <p:spPr bwMode="auto">
            <a:xfrm rot="16200000">
              <a:off x="808160" y="336092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890" name="流程图: 延期 92"/>
            <p:cNvSpPr>
              <a:spLocks noChangeArrowheads="1"/>
            </p:cNvSpPr>
            <p:nvPr/>
          </p:nvSpPr>
          <p:spPr bwMode="auto">
            <a:xfrm rot="16200000">
              <a:off x="1436865" y="336092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891" name="Line 38"/>
            <p:cNvSpPr/>
            <p:nvPr/>
          </p:nvSpPr>
          <p:spPr>
            <a:xfrm rot="-5400000">
              <a:off x="1039835" y="3050388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2" name="Line 39"/>
            <p:cNvSpPr/>
            <p:nvPr/>
          </p:nvSpPr>
          <p:spPr>
            <a:xfrm rot="-5400000">
              <a:off x="1212243" y="3037032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3" name="Line 31"/>
            <p:cNvSpPr/>
            <p:nvPr/>
          </p:nvSpPr>
          <p:spPr>
            <a:xfrm rot="-5400000">
              <a:off x="952396" y="384544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4" name="Line 32"/>
            <p:cNvSpPr/>
            <p:nvPr/>
          </p:nvSpPr>
          <p:spPr>
            <a:xfrm rot="-5400000">
              <a:off x="1242346" y="3743706"/>
              <a:ext cx="216000" cy="0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5" name="流程图: 延期 92"/>
            <p:cNvSpPr>
              <a:spLocks noChangeArrowheads="1"/>
            </p:cNvSpPr>
            <p:nvPr/>
          </p:nvSpPr>
          <p:spPr bwMode="auto">
            <a:xfrm rot="16200000">
              <a:off x="1119337" y="336092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63" name="直接连接符 79"/>
            <p:cNvCxnSpPr>
              <a:stCxn id="1049887" idx="1"/>
              <a:endCxn id="1049895" idx="3"/>
            </p:cNvCxnSpPr>
            <p:nvPr/>
          </p:nvCxnSpPr>
          <p:spPr>
            <a:xfrm flipH="1">
              <a:off x="1262723" y="2879973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896" name="Line 40"/>
            <p:cNvSpPr/>
            <p:nvPr/>
          </p:nvSpPr>
          <p:spPr>
            <a:xfrm rot="-5400000">
              <a:off x="1173768" y="2386357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7" name="Line 25"/>
            <p:cNvSpPr/>
            <p:nvPr/>
          </p:nvSpPr>
          <p:spPr>
            <a:xfrm rot="-5400000">
              <a:off x="2287861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8" name="Line 26"/>
            <p:cNvSpPr/>
            <p:nvPr/>
          </p:nvSpPr>
          <p:spPr>
            <a:xfrm rot="-5400000">
              <a:off x="2918508" y="327564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899" name="Line 27"/>
            <p:cNvSpPr/>
            <p:nvPr/>
          </p:nvSpPr>
          <p:spPr>
            <a:xfrm rot="-5400000">
              <a:off x="2500346" y="306316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00" name="Line 28"/>
            <p:cNvSpPr/>
            <p:nvPr/>
          </p:nvSpPr>
          <p:spPr>
            <a:xfrm rot="-5400000" flipV="1">
              <a:off x="2911818" y="3047670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01" name="Line 29"/>
            <p:cNvSpPr/>
            <p:nvPr/>
          </p:nvSpPr>
          <p:spPr>
            <a:xfrm rot="-5400000">
              <a:off x="2102396" y="384712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02" name="Line 30"/>
            <p:cNvSpPr/>
            <p:nvPr/>
          </p:nvSpPr>
          <p:spPr>
            <a:xfrm rot="-5400000">
              <a:off x="2351969" y="3780266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903" name="Line 31"/>
            <p:cNvSpPr/>
            <p:nvPr/>
          </p:nvSpPr>
          <p:spPr>
            <a:xfrm rot="-5400000">
              <a:off x="2713355" y="3838163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04" name="Line 32"/>
            <p:cNvSpPr/>
            <p:nvPr/>
          </p:nvSpPr>
          <p:spPr>
            <a:xfrm rot="-5400000">
              <a:off x="3057305" y="3682059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905" name="AutoShape 29"/>
            <p:cNvSpPr>
              <a:spLocks noChangeAspect="1" noTextEdit="1"/>
            </p:cNvSpPr>
            <p:nvPr/>
          </p:nvSpPr>
          <p:spPr>
            <a:xfrm rot="-5400000">
              <a:off x="2353730" y="2498705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06" name="Freeform 32"/>
            <p:cNvSpPr/>
            <p:nvPr/>
          </p:nvSpPr>
          <p:spPr>
            <a:xfrm rot="-5400000">
              <a:off x="2392459" y="2642649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07" name="Freeform 33"/>
            <p:cNvSpPr/>
            <p:nvPr/>
          </p:nvSpPr>
          <p:spPr>
            <a:xfrm rot="-5400000">
              <a:off x="2565270" y="2662061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08" name="Freeform 34"/>
            <p:cNvSpPr/>
            <p:nvPr/>
          </p:nvSpPr>
          <p:spPr>
            <a:xfrm rot="-5400000">
              <a:off x="2668068" y="2764857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09" name="Oval 35"/>
            <p:cNvSpPr/>
            <p:nvPr/>
          </p:nvSpPr>
          <p:spPr>
            <a:xfrm rot="-5400000">
              <a:off x="2674443" y="2467394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910" name="流程图: 延期 92"/>
            <p:cNvSpPr>
              <a:spLocks noChangeArrowheads="1"/>
            </p:cNvSpPr>
            <p:nvPr/>
          </p:nvSpPr>
          <p:spPr bwMode="auto">
            <a:xfrm rot="16200000">
              <a:off x="2251323" y="3357749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911" name="流程图: 延期 92"/>
            <p:cNvSpPr>
              <a:spLocks noChangeArrowheads="1"/>
            </p:cNvSpPr>
            <p:nvPr/>
          </p:nvSpPr>
          <p:spPr bwMode="auto">
            <a:xfrm rot="16200000">
              <a:off x="2880822" y="3358541"/>
              <a:ext cx="285718" cy="284188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912" name="Line 38"/>
            <p:cNvSpPr/>
            <p:nvPr/>
          </p:nvSpPr>
          <p:spPr>
            <a:xfrm rot="-5400000">
              <a:off x="2484187" y="3048072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13" name="Line 39"/>
            <p:cNvSpPr/>
            <p:nvPr/>
          </p:nvSpPr>
          <p:spPr>
            <a:xfrm rot="-5400000">
              <a:off x="2656595" y="3034716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14" name="Line 31"/>
            <p:cNvSpPr/>
            <p:nvPr/>
          </p:nvSpPr>
          <p:spPr>
            <a:xfrm rot="-5400000">
              <a:off x="2396748" y="3843127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15" name="Line 32"/>
            <p:cNvSpPr/>
            <p:nvPr/>
          </p:nvSpPr>
          <p:spPr>
            <a:xfrm rot="-5400000">
              <a:off x="2677172" y="3731864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916" name="流程图: 延期 92"/>
            <p:cNvSpPr>
              <a:spLocks noChangeArrowheads="1"/>
            </p:cNvSpPr>
            <p:nvPr/>
          </p:nvSpPr>
          <p:spPr bwMode="auto">
            <a:xfrm rot="16200000">
              <a:off x="2564087" y="3357749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64" name="直接连接符 100"/>
            <p:cNvCxnSpPr>
              <a:stCxn id="1049908" idx="1"/>
              <a:endCxn id="1049916" idx="3"/>
            </p:cNvCxnSpPr>
            <p:nvPr/>
          </p:nvCxnSpPr>
          <p:spPr>
            <a:xfrm flipH="1">
              <a:off x="2707075" y="2877657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917" name="Line 40"/>
            <p:cNvSpPr/>
            <p:nvPr/>
          </p:nvSpPr>
          <p:spPr>
            <a:xfrm rot="-5400000">
              <a:off x="2618120" y="2384041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18" name="Line 25"/>
            <p:cNvSpPr/>
            <p:nvPr/>
          </p:nvSpPr>
          <p:spPr>
            <a:xfrm rot="-5400000">
              <a:off x="3724970" y="3271457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19" name="Line 26"/>
            <p:cNvSpPr/>
            <p:nvPr/>
          </p:nvSpPr>
          <p:spPr>
            <a:xfrm rot="-5400000">
              <a:off x="4355617" y="3266694"/>
              <a:ext cx="21475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20" name="Line 27"/>
            <p:cNvSpPr/>
            <p:nvPr/>
          </p:nvSpPr>
          <p:spPr>
            <a:xfrm rot="-5400000">
              <a:off x="3937455" y="3058973"/>
              <a:ext cx="0" cy="210216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21" name="Line 28"/>
            <p:cNvSpPr/>
            <p:nvPr/>
          </p:nvSpPr>
          <p:spPr>
            <a:xfrm rot="-5400000" flipV="1">
              <a:off x="4348927" y="3038717"/>
              <a:ext cx="0" cy="2412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22" name="Line 29"/>
            <p:cNvSpPr/>
            <p:nvPr/>
          </p:nvSpPr>
          <p:spPr>
            <a:xfrm rot="-5400000">
              <a:off x="3563320" y="3842936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23" name="Line 30"/>
            <p:cNvSpPr/>
            <p:nvPr/>
          </p:nvSpPr>
          <p:spPr>
            <a:xfrm rot="-5400000">
              <a:off x="3793841" y="3780839"/>
              <a:ext cx="2681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924" name="Line 31"/>
            <p:cNvSpPr/>
            <p:nvPr/>
          </p:nvSpPr>
          <p:spPr>
            <a:xfrm rot="-5400000">
              <a:off x="4159990" y="3829210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25" name="Line 32"/>
            <p:cNvSpPr/>
            <p:nvPr/>
          </p:nvSpPr>
          <p:spPr>
            <a:xfrm rot="-5400000">
              <a:off x="4494414" y="3687395"/>
              <a:ext cx="108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49926" name="AutoShape 29"/>
            <p:cNvSpPr>
              <a:spLocks noChangeAspect="1" noTextEdit="1"/>
            </p:cNvSpPr>
            <p:nvPr/>
          </p:nvSpPr>
          <p:spPr>
            <a:xfrm rot="-5400000">
              <a:off x="3781314" y="2489752"/>
              <a:ext cx="696618" cy="47156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27" name="Freeform 32"/>
            <p:cNvSpPr/>
            <p:nvPr/>
          </p:nvSpPr>
          <p:spPr>
            <a:xfrm rot="-5400000">
              <a:off x="3829568" y="2633696"/>
              <a:ext cx="440194" cy="192224"/>
            </a:xfrm>
            <a:custGeom>
              <a:avLst/>
              <a:gdLst>
                <a:gd name="txL" fmla="*/ 0 w 412"/>
                <a:gd name="txT" fmla="*/ 0 h 203"/>
                <a:gd name="txR" fmla="*/ 412 w 412"/>
                <a:gd name="txB" fmla="*/ 203 h 203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412" h="203">
                  <a:moveTo>
                    <a:pt x="0" y="29"/>
                  </a:moveTo>
                  <a:cubicBezTo>
                    <a:pt x="80" y="15"/>
                    <a:pt x="161" y="0"/>
                    <a:pt x="230" y="29"/>
                  </a:cubicBezTo>
                  <a:cubicBezTo>
                    <a:pt x="298" y="58"/>
                    <a:pt x="382" y="174"/>
                    <a:pt x="412" y="203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28" name="Freeform 33"/>
            <p:cNvSpPr/>
            <p:nvPr/>
          </p:nvSpPr>
          <p:spPr>
            <a:xfrm rot="-5400000">
              <a:off x="4002379" y="2653108"/>
              <a:ext cx="440194" cy="153401"/>
            </a:xfrm>
            <a:custGeom>
              <a:avLst/>
              <a:gdLst>
                <a:gd name="txL" fmla="*/ 0 w 412"/>
                <a:gd name="txT" fmla="*/ 0 h 162"/>
                <a:gd name="txR" fmla="*/ 412 w 412"/>
                <a:gd name="txB" fmla="*/ 162 h 162"/>
              </a:gdLst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txL" t="txT" r="txR" b="txB"/>
              <a:pathLst>
                <a:path w="412" h="162">
                  <a:moveTo>
                    <a:pt x="0" y="139"/>
                  </a:moveTo>
                  <a:cubicBezTo>
                    <a:pt x="80" y="151"/>
                    <a:pt x="161" y="162"/>
                    <a:pt x="230" y="139"/>
                  </a:cubicBezTo>
                  <a:cubicBezTo>
                    <a:pt x="298" y="116"/>
                    <a:pt x="382" y="23"/>
                    <a:pt x="412" y="0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29" name="Freeform 34"/>
            <p:cNvSpPr/>
            <p:nvPr/>
          </p:nvSpPr>
          <p:spPr>
            <a:xfrm rot="-5400000">
              <a:off x="4105177" y="2755904"/>
              <a:ext cx="81201" cy="306801"/>
            </a:xfrm>
            <a:custGeom>
              <a:avLst/>
              <a:gdLst>
                <a:gd name="txL" fmla="*/ 0 w 76"/>
                <a:gd name="txT" fmla="*/ 0 h 324"/>
                <a:gd name="txR" fmla="*/ 76 w 76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rect l="txL" t="txT" r="txR" b="txB"/>
              <a:pathLst>
                <a:path w="76" h="324">
                  <a:moveTo>
                    <a:pt x="0" y="0"/>
                  </a:moveTo>
                  <a:cubicBezTo>
                    <a:pt x="38" y="54"/>
                    <a:pt x="76" y="108"/>
                    <a:pt x="76" y="161"/>
                  </a:cubicBezTo>
                  <a:cubicBezTo>
                    <a:pt x="76" y="215"/>
                    <a:pt x="13" y="297"/>
                    <a:pt x="0" y="324"/>
                  </a:cubicBezTo>
                </a:path>
              </a:pathLst>
            </a:custGeom>
            <a:noFill/>
            <a:ln w="19050" cap="flat" cmpd="sng">
              <a:solidFill>
                <a:schemeClr val="bg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930" name="Oval 35"/>
            <p:cNvSpPr/>
            <p:nvPr/>
          </p:nvSpPr>
          <p:spPr>
            <a:xfrm rot="-5400000">
              <a:off x="4111552" y="2458441"/>
              <a:ext cx="52353" cy="50187"/>
            </a:xfrm>
            <a:prstGeom prst="ellipse">
              <a:avLst/>
            </a:prstGeom>
            <a:noFill/>
            <a:ln w="19050" cap="rnd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800" dirty="0">
                <a:latin typeface="Arial" panose="020B0604020202090204" pitchFamily="34" charset="0"/>
              </a:endParaRPr>
            </a:p>
          </p:txBody>
        </p:sp>
        <p:sp>
          <p:nvSpPr>
            <p:cNvPr id="1049931" name="流程图: 延期 92"/>
            <p:cNvSpPr>
              <a:spLocks noChangeArrowheads="1"/>
            </p:cNvSpPr>
            <p:nvPr/>
          </p:nvSpPr>
          <p:spPr bwMode="auto">
            <a:xfrm rot="16200000">
              <a:off x="3688134" y="3354574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932" name="流程图: 延期 92"/>
            <p:cNvSpPr>
              <a:spLocks noChangeArrowheads="1"/>
            </p:cNvSpPr>
            <p:nvPr/>
          </p:nvSpPr>
          <p:spPr bwMode="auto">
            <a:xfrm rot="16200000">
              <a:off x="4318427" y="3349813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9933" name="Line 38"/>
            <p:cNvSpPr/>
            <p:nvPr/>
          </p:nvSpPr>
          <p:spPr>
            <a:xfrm rot="-5400000">
              <a:off x="3921296" y="3048646"/>
              <a:ext cx="242534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34" name="Line 39"/>
            <p:cNvSpPr/>
            <p:nvPr/>
          </p:nvSpPr>
          <p:spPr>
            <a:xfrm rot="-5400000">
              <a:off x="4093704" y="3025763"/>
              <a:ext cx="26924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35" name="Line 31"/>
            <p:cNvSpPr/>
            <p:nvPr/>
          </p:nvSpPr>
          <p:spPr>
            <a:xfrm rot="-5400000">
              <a:off x="3843383" y="3839869"/>
              <a:ext cx="43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936" name="Line 32"/>
            <p:cNvSpPr/>
            <p:nvPr/>
          </p:nvSpPr>
          <p:spPr>
            <a:xfrm rot="-5400000">
              <a:off x="4123807" y="3732437"/>
              <a:ext cx="216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049937" name="流程图: 延期 92"/>
            <p:cNvSpPr>
              <a:spLocks noChangeArrowheads="1"/>
            </p:cNvSpPr>
            <p:nvPr/>
          </p:nvSpPr>
          <p:spPr bwMode="auto">
            <a:xfrm rot="16200000">
              <a:off x="4000899" y="3349813"/>
              <a:ext cx="285718" cy="285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5965" name="直接连接符 122"/>
            <p:cNvCxnSpPr>
              <a:stCxn id="1049929" idx="1"/>
              <a:endCxn id="1049937" idx="3"/>
            </p:cNvCxnSpPr>
            <p:nvPr/>
          </p:nvCxnSpPr>
          <p:spPr>
            <a:xfrm flipH="1">
              <a:off x="4144184" y="2868704"/>
              <a:ext cx="647" cy="480489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938" name="Line 40"/>
            <p:cNvSpPr/>
            <p:nvPr/>
          </p:nvSpPr>
          <p:spPr>
            <a:xfrm rot="-5400000">
              <a:off x="4055229" y="2375088"/>
              <a:ext cx="160265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5966" name="直接连接符 125"/>
            <p:cNvCxnSpPr/>
            <p:nvPr/>
          </p:nvCxnSpPr>
          <p:spPr>
            <a:xfrm>
              <a:off x="106574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967" name="直接连接符 126"/>
            <p:cNvCxnSpPr/>
            <p:nvPr/>
          </p:nvCxnSpPr>
          <p:spPr>
            <a:xfrm>
              <a:off x="248685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oval" w="med" len="med"/>
            </a:ln>
          </p:spPr>
        </p:cxnSp>
        <p:cxnSp>
          <p:nvCxnSpPr>
            <p:cNvPr id="3145968" name="直接连接符 127"/>
            <p:cNvCxnSpPr/>
            <p:nvPr/>
          </p:nvCxnSpPr>
          <p:spPr>
            <a:xfrm>
              <a:off x="3927019" y="1491630"/>
              <a:ext cx="0" cy="144016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69" name="直接连接符 129"/>
            <p:cNvCxnSpPr/>
            <p:nvPr/>
          </p:nvCxnSpPr>
          <p:spPr>
            <a:xfrm flipH="1">
              <a:off x="615019" y="1635646"/>
              <a:ext cx="3312000" cy="0"/>
            </a:xfrm>
            <a:prstGeom prst="line">
              <a:avLst/>
            </a:prstGeom>
            <a:ln w="1905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939" name="Text Box 69"/>
            <p:cNvSpPr txBox="1"/>
            <p:nvPr/>
          </p:nvSpPr>
          <p:spPr>
            <a:xfrm>
              <a:off x="268650" y="1438672"/>
              <a:ext cx="346001" cy="32000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rgbClr val="660033"/>
                  </a:solidFill>
                  <a:latin typeface="Arial" panose="020B0604020202090204" pitchFamily="34" charset="0"/>
                </a:rPr>
                <a:t>En</a:t>
              </a:r>
            </a:p>
          </p:txBody>
        </p:sp>
        <p:sp>
          <p:nvSpPr>
            <p:cNvPr id="1049940" name="Line 70"/>
            <p:cNvSpPr/>
            <p:nvPr/>
          </p:nvSpPr>
          <p:spPr>
            <a:xfrm flipV="1">
              <a:off x="974691" y="932135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941" name="Line 70"/>
            <p:cNvSpPr/>
            <p:nvPr/>
          </p:nvSpPr>
          <p:spPr>
            <a:xfrm flipV="1">
              <a:off x="2414851" y="922610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942" name="Line 70"/>
            <p:cNvSpPr/>
            <p:nvPr/>
          </p:nvSpPr>
          <p:spPr>
            <a:xfrm flipV="1">
              <a:off x="3855011" y="915566"/>
              <a:ext cx="0" cy="20597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49943" name="Text Box 75"/>
            <p:cNvSpPr txBox="1">
              <a:spLocks noChangeArrowheads="1"/>
            </p:cNvSpPr>
            <p:nvPr/>
          </p:nvSpPr>
          <p:spPr bwMode="auto">
            <a:xfrm>
              <a:off x="614440" y="756156"/>
              <a:ext cx="431837" cy="3073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49944" name="Text Box 75"/>
            <p:cNvSpPr txBox="1">
              <a:spLocks noChangeArrowheads="1"/>
            </p:cNvSpPr>
            <p:nvPr/>
          </p:nvSpPr>
          <p:spPr bwMode="auto">
            <a:xfrm>
              <a:off x="2054428" y="779965"/>
              <a:ext cx="431837" cy="3073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49945" name="Text Box 75"/>
            <p:cNvSpPr txBox="1">
              <a:spLocks noChangeArrowheads="1"/>
            </p:cNvSpPr>
            <p:nvPr/>
          </p:nvSpPr>
          <p:spPr bwMode="auto">
            <a:xfrm>
              <a:off x="3505528" y="757743"/>
              <a:ext cx="431837" cy="3073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B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49946" name="流程图: 延期 92"/>
            <p:cNvSpPr/>
            <p:nvPr/>
          </p:nvSpPr>
          <p:spPr>
            <a:xfrm rot="-5400000">
              <a:off x="830675" y="1205880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947" name="流程图: 延期 92"/>
            <p:cNvSpPr/>
            <p:nvPr/>
          </p:nvSpPr>
          <p:spPr>
            <a:xfrm rot="-5400000">
              <a:off x="2274456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49948" name="流程图: 延期 92"/>
            <p:cNvSpPr/>
            <p:nvPr/>
          </p:nvSpPr>
          <p:spPr>
            <a:xfrm rot="-5400000">
              <a:off x="3713277" y="1195983"/>
              <a:ext cx="285750" cy="285750"/>
            </a:xfrm>
            <a:prstGeom prst="flowChartDelay">
              <a:avLst/>
            </a:prstGeom>
            <a:solidFill>
              <a:srgbClr val="92D05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970" name="直接连接符 137"/>
            <p:cNvCxnSpPr/>
            <p:nvPr/>
          </p:nvCxnSpPr>
          <p:spPr>
            <a:xfrm flipH="1">
              <a:off x="478449" y="2290192"/>
              <a:ext cx="349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49949" name="Text Box 69"/>
            <p:cNvSpPr txBox="1"/>
            <p:nvPr/>
          </p:nvSpPr>
          <p:spPr>
            <a:xfrm>
              <a:off x="182603" y="2130429"/>
              <a:ext cx="374329" cy="32000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CP </a:t>
              </a:r>
            </a:p>
          </p:txBody>
        </p:sp>
        <p:cxnSp>
          <p:nvCxnSpPr>
            <p:cNvPr id="3145971" name="直接连接符 140"/>
            <p:cNvCxnSpPr/>
            <p:nvPr/>
          </p:nvCxnSpPr>
          <p:spPr>
            <a:xfrm>
              <a:off x="614651" y="2015877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72" name="直接连接符 142"/>
            <p:cNvCxnSpPr/>
            <p:nvPr/>
          </p:nvCxnSpPr>
          <p:spPr>
            <a:xfrm>
              <a:off x="619414" y="2011114"/>
              <a:ext cx="0" cy="3816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73" name="直接连接符 143"/>
            <p:cNvCxnSpPr/>
            <p:nvPr/>
          </p:nvCxnSpPr>
          <p:spPr>
            <a:xfrm flipH="1">
              <a:off x="621323" y="2390199"/>
              <a:ext cx="385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74" name="直接连接符 144"/>
            <p:cNvCxnSpPr/>
            <p:nvPr/>
          </p:nvCxnSpPr>
          <p:spPr>
            <a:xfrm>
              <a:off x="2059574" y="1996825"/>
              <a:ext cx="72008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75" name="直接连接符 145"/>
            <p:cNvCxnSpPr/>
            <p:nvPr/>
          </p:nvCxnSpPr>
          <p:spPr>
            <a:xfrm>
              <a:off x="2064337" y="1992062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976" name="直接连接符 146"/>
            <p:cNvCxnSpPr/>
            <p:nvPr/>
          </p:nvCxnSpPr>
          <p:spPr>
            <a:xfrm>
              <a:off x="3494971" y="1998969"/>
              <a:ext cx="7200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77" name="直接连接符 147"/>
            <p:cNvCxnSpPr/>
            <p:nvPr/>
          </p:nvCxnSpPr>
          <p:spPr>
            <a:xfrm>
              <a:off x="3499734" y="1994206"/>
              <a:ext cx="0" cy="396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49950" name="Text Box 69"/>
            <p:cNvSpPr txBox="1"/>
            <p:nvPr/>
          </p:nvSpPr>
          <p:spPr>
            <a:xfrm>
              <a:off x="4441164" y="2222375"/>
              <a:ext cx="418868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5978" name="直接连接符 150"/>
            <p:cNvCxnSpPr/>
            <p:nvPr/>
          </p:nvCxnSpPr>
          <p:spPr>
            <a:xfrm flipH="1">
              <a:off x="1656104" y="3744069"/>
              <a:ext cx="3096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343" name="组合 153"/>
            <p:cNvGrpSpPr/>
            <p:nvPr/>
          </p:nvGrpSpPr>
          <p:grpSpPr>
            <a:xfrm>
              <a:off x="1349517" y="4080008"/>
              <a:ext cx="411198" cy="358100"/>
              <a:chOff x="2267672" y="4227770"/>
              <a:chExt cx="411198" cy="358100"/>
            </a:xfrm>
          </p:grpSpPr>
          <p:sp>
            <p:nvSpPr>
              <p:cNvPr id="1049951" name="Text Box 116"/>
              <p:cNvSpPr txBox="1">
                <a:spLocks noChangeArrowheads="1"/>
              </p:cNvSpPr>
              <p:nvPr/>
            </p:nvSpPr>
            <p:spPr bwMode="auto">
              <a:xfrm>
                <a:off x="2267672" y="4227770"/>
                <a:ext cx="411198" cy="3581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952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44" name="组合 154"/>
            <p:cNvGrpSpPr/>
            <p:nvPr/>
          </p:nvGrpSpPr>
          <p:grpSpPr>
            <a:xfrm>
              <a:off x="2794267" y="4065722"/>
              <a:ext cx="411198" cy="358100"/>
              <a:chOff x="2268070" y="4227647"/>
              <a:chExt cx="411198" cy="358100"/>
            </a:xfrm>
          </p:grpSpPr>
          <p:sp>
            <p:nvSpPr>
              <p:cNvPr id="1049953" name="Text Box 116"/>
              <p:cNvSpPr txBox="1">
                <a:spLocks noChangeArrowheads="1"/>
              </p:cNvSpPr>
              <p:nvPr/>
            </p:nvSpPr>
            <p:spPr bwMode="auto">
              <a:xfrm>
                <a:off x="2268070" y="4227647"/>
                <a:ext cx="411198" cy="3581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954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45" name="组合 157"/>
            <p:cNvGrpSpPr/>
            <p:nvPr/>
          </p:nvGrpSpPr>
          <p:grpSpPr>
            <a:xfrm>
              <a:off x="4234253" y="4065722"/>
              <a:ext cx="411199" cy="358100"/>
              <a:chOff x="2267896" y="4227647"/>
              <a:chExt cx="411199" cy="358100"/>
            </a:xfrm>
          </p:grpSpPr>
          <p:sp>
            <p:nvSpPr>
              <p:cNvPr id="1049955" name="Text Box 116"/>
              <p:cNvSpPr txBox="1">
                <a:spLocks noChangeArrowheads="1"/>
              </p:cNvSpPr>
              <p:nvPr/>
            </p:nvSpPr>
            <p:spPr bwMode="auto">
              <a:xfrm>
                <a:off x="2267896" y="4227647"/>
                <a:ext cx="411199" cy="3581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A</a:t>
                </a:r>
                <a:r>
                  <a:rPr kumimoji="0" lang="en-US" altLang="zh-CN" sz="14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956" name="Line 117"/>
              <p:cNvSpPr/>
              <p:nvPr/>
            </p:nvSpPr>
            <p:spPr>
              <a:xfrm>
                <a:off x="2349293" y="4299942"/>
                <a:ext cx="144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cxnSp>
          <p:nvCxnSpPr>
            <p:cNvPr id="3145979" name="直接连接符 160"/>
            <p:cNvCxnSpPr/>
            <p:nvPr/>
          </p:nvCxnSpPr>
          <p:spPr>
            <a:xfrm flipH="1">
              <a:off x="1352112" y="3839319"/>
              <a:ext cx="3384000" cy="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80" name="直接连接符 161"/>
            <p:cNvCxnSpPr/>
            <p:nvPr/>
          </p:nvCxnSpPr>
          <p:spPr>
            <a:xfrm flipH="1">
              <a:off x="1034938" y="3921426"/>
              <a:ext cx="370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346" name="组合 162"/>
            <p:cNvGrpSpPr/>
            <p:nvPr/>
          </p:nvGrpSpPr>
          <p:grpSpPr>
            <a:xfrm>
              <a:off x="685885" y="4086358"/>
              <a:ext cx="360393" cy="275559"/>
              <a:chOff x="2266970" y="4227725"/>
              <a:chExt cx="360393" cy="275559"/>
            </a:xfrm>
          </p:grpSpPr>
          <p:sp>
            <p:nvSpPr>
              <p:cNvPr id="1049957" name="Text Box 116"/>
              <p:cNvSpPr txBox="1">
                <a:spLocks noChangeArrowheads="1"/>
              </p:cNvSpPr>
              <p:nvPr/>
            </p:nvSpPr>
            <p:spPr bwMode="auto">
              <a:xfrm>
                <a:off x="2266970" y="4227725"/>
                <a:ext cx="360393" cy="275559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958" name="Line 117"/>
              <p:cNvSpPr/>
              <p:nvPr/>
            </p:nvSpPr>
            <p:spPr>
              <a:xfrm>
                <a:off x="2373107" y="4290417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47" name="组合 165"/>
            <p:cNvGrpSpPr/>
            <p:nvPr/>
          </p:nvGrpSpPr>
          <p:grpSpPr>
            <a:xfrm>
              <a:off x="1003412" y="4084770"/>
              <a:ext cx="360393" cy="307306"/>
              <a:chOff x="2267891" y="4227645"/>
              <a:chExt cx="360393" cy="307306"/>
            </a:xfrm>
          </p:grpSpPr>
          <p:sp>
            <p:nvSpPr>
              <p:cNvPr id="1049959" name="Text Box 116"/>
              <p:cNvSpPr txBox="1">
                <a:spLocks noChangeArrowheads="1"/>
              </p:cNvSpPr>
              <p:nvPr/>
            </p:nvSpPr>
            <p:spPr bwMode="auto">
              <a:xfrm>
                <a:off x="2267891" y="4227645"/>
                <a:ext cx="360393" cy="30730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049960" name="Line 117"/>
              <p:cNvSpPr/>
              <p:nvPr/>
            </p:nvSpPr>
            <p:spPr>
              <a:xfrm>
                <a:off x="2363582" y="4288365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48" name="组合 168"/>
            <p:cNvGrpSpPr/>
            <p:nvPr/>
          </p:nvGrpSpPr>
          <p:grpSpPr>
            <a:xfrm>
              <a:off x="2486265" y="4075246"/>
              <a:ext cx="360393" cy="307305"/>
              <a:chOff x="2267151" y="4227646"/>
              <a:chExt cx="360393" cy="307305"/>
            </a:xfrm>
          </p:grpSpPr>
          <p:sp>
            <p:nvSpPr>
              <p:cNvPr id="1049961" name="Text Box 116"/>
              <p:cNvSpPr txBox="1">
                <a:spLocks noChangeArrowheads="1"/>
              </p:cNvSpPr>
              <p:nvPr/>
            </p:nvSpPr>
            <p:spPr bwMode="auto">
              <a:xfrm>
                <a:off x="2267151" y="4227646"/>
                <a:ext cx="360393" cy="3073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49962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49" name="组合 171"/>
            <p:cNvGrpSpPr/>
            <p:nvPr/>
          </p:nvGrpSpPr>
          <p:grpSpPr>
            <a:xfrm>
              <a:off x="2054428" y="4075246"/>
              <a:ext cx="431837" cy="307306"/>
              <a:chOff x="2195354" y="4227646"/>
              <a:chExt cx="431837" cy="307306"/>
            </a:xfrm>
          </p:grpSpPr>
          <p:sp>
            <p:nvSpPr>
              <p:cNvPr id="1049963" name="Text Box 116"/>
              <p:cNvSpPr txBox="1">
                <a:spLocks noChangeArrowheads="1"/>
              </p:cNvSpPr>
              <p:nvPr/>
            </p:nvSpPr>
            <p:spPr bwMode="auto">
              <a:xfrm>
                <a:off x="2195354" y="4227646"/>
                <a:ext cx="431837" cy="30730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49964" name="Line 117"/>
              <p:cNvSpPr/>
              <p:nvPr/>
            </p:nvSpPr>
            <p:spPr>
              <a:xfrm>
                <a:off x="2305702" y="4276789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50" name="组合 177"/>
            <p:cNvGrpSpPr/>
            <p:nvPr/>
          </p:nvGrpSpPr>
          <p:grpSpPr>
            <a:xfrm>
              <a:off x="3915139" y="4073659"/>
              <a:ext cx="516875" cy="283088"/>
              <a:chOff x="2268481" y="4227200"/>
              <a:chExt cx="516875" cy="283088"/>
            </a:xfrm>
          </p:grpSpPr>
          <p:sp>
            <p:nvSpPr>
              <p:cNvPr id="1049965" name="Text Box 116"/>
              <p:cNvSpPr txBox="1">
                <a:spLocks noChangeArrowheads="1"/>
              </p:cNvSpPr>
              <p:nvPr/>
            </p:nvSpPr>
            <p:spPr bwMode="auto">
              <a:xfrm>
                <a:off x="2268481" y="4227200"/>
                <a:ext cx="517570" cy="28254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49966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351" name="组合 180"/>
            <p:cNvGrpSpPr/>
            <p:nvPr/>
          </p:nvGrpSpPr>
          <p:grpSpPr>
            <a:xfrm>
              <a:off x="3630951" y="4073659"/>
              <a:ext cx="360394" cy="307305"/>
              <a:chOff x="2268133" y="4227200"/>
              <a:chExt cx="360394" cy="307305"/>
            </a:xfrm>
          </p:grpSpPr>
          <p:sp>
            <p:nvSpPr>
              <p:cNvPr id="1049967" name="Text Box 116"/>
              <p:cNvSpPr txBox="1">
                <a:spLocks noChangeArrowheads="1"/>
              </p:cNvSpPr>
              <p:nvPr/>
            </p:nvSpPr>
            <p:spPr bwMode="auto">
              <a:xfrm>
                <a:off x="2268133" y="4227200"/>
                <a:ext cx="360394" cy="3073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2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bg1"/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1049968" name="Line 117"/>
              <p:cNvSpPr/>
              <p:nvPr/>
            </p:nvSpPr>
            <p:spPr>
              <a:xfrm>
                <a:off x="2363582" y="4299942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49969" name="Text Box 69"/>
            <p:cNvSpPr txBox="1"/>
            <p:nvPr/>
          </p:nvSpPr>
          <p:spPr>
            <a:xfrm>
              <a:off x="4716016" y="3536429"/>
              <a:ext cx="720080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W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  <p:sp>
          <p:nvSpPr>
            <p:cNvPr id="1049970" name="Text Box 69"/>
            <p:cNvSpPr txBox="1"/>
            <p:nvPr/>
          </p:nvSpPr>
          <p:spPr>
            <a:xfrm>
              <a:off x="4725541" y="3707879"/>
              <a:ext cx="720080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8000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rgbClr val="008000"/>
                  </a:solidFill>
                  <a:latin typeface="Arial" panose="020B0604020202090204" pitchFamily="34" charset="0"/>
                </a:rPr>
                <a:t>R </a:t>
              </a:r>
            </a:p>
          </p:txBody>
        </p:sp>
        <p:sp>
          <p:nvSpPr>
            <p:cNvPr id="1049971" name="Text Box 69"/>
            <p:cNvSpPr txBox="1"/>
            <p:nvPr/>
          </p:nvSpPr>
          <p:spPr>
            <a:xfrm>
              <a:off x="4725541" y="3860279"/>
              <a:ext cx="494531" cy="3581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S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L </a:t>
              </a:r>
            </a:p>
          </p:txBody>
        </p:sp>
      </p:grpSp>
      <p:sp>
        <p:nvSpPr>
          <p:cNvPr id="1049972" name="圆角矩形标注 13"/>
          <p:cNvSpPr/>
          <p:nvPr/>
        </p:nvSpPr>
        <p:spPr>
          <a:xfrm>
            <a:off x="8082280" y="2379345"/>
            <a:ext cx="881380" cy="646697"/>
          </a:xfrm>
          <a:prstGeom prst="wedgeRoundRectCallout">
            <a:avLst>
              <a:gd name="adj1" fmla="val -8556"/>
              <a:gd name="adj2" fmla="val 70481"/>
              <a:gd name="adj3" fmla="val 16667"/>
            </a:avLst>
          </a:prstGeom>
          <a:solidFill>
            <a:schemeClr val="tx1"/>
          </a:solidFill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一种控制信号</a:t>
            </a:r>
          </a:p>
        </p:txBody>
      </p:sp>
      <p:sp>
        <p:nvSpPr>
          <p:cNvPr id="1049974" name="圆角矩形标注 13"/>
          <p:cNvSpPr>
            <a:spLocks noChangeArrowheads="1"/>
          </p:cNvSpPr>
          <p:nvPr/>
        </p:nvSpPr>
        <p:spPr bwMode="auto">
          <a:xfrm>
            <a:off x="4774565" y="1863725"/>
            <a:ext cx="3248025" cy="714960"/>
          </a:xfrm>
          <a:prstGeom prst="wedgeRoundRectCallout">
            <a:avLst>
              <a:gd name="adj1" fmla="val -14926"/>
              <a:gd name="adj2" fmla="val 77535"/>
              <a:gd name="adj3" fmla="val 16667"/>
            </a:avLst>
          </a:prstGeom>
          <a:solidFill>
            <a:schemeClr val="tx1"/>
          </a:solidFill>
          <a:ln w="19050" algn="ctr">
            <a:solidFill>
              <a:schemeClr val="accent2">
                <a:lumMod val="75000"/>
              </a:schemeClr>
            </a:solidFill>
            <a:round/>
          </a:ln>
        </p:spPr>
        <p:txBody>
          <a:bodyPr wrap="square" lIns="0" rIns="0">
            <a:spAutoFit/>
          </a:bodyPr>
          <a:lstStyle/>
          <a:p>
            <a:pPr algn="ctr"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必须保证节拍脉冲的</a:t>
            </a: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边沿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被节拍电位的有效电平</a:t>
            </a: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完全覆盖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1049976" name="Text Box 6"/>
          <p:cNvSpPr txBox="1">
            <a:spLocks noChangeArrowheads="1"/>
          </p:cNvSpPr>
          <p:nvPr/>
        </p:nvSpPr>
        <p:spPr bwMode="auto">
          <a:xfrm>
            <a:off x="5292725" y="3827463"/>
            <a:ext cx="3743325" cy="119126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 marL="173355" marR="0" indent="-173355" defTabSz="914400" eaLnBrk="1" hangingPunct="1">
              <a:spcBef>
                <a:spcPts val="300"/>
              </a:spcBef>
              <a:buClrTx/>
              <a:buSzTx/>
              <a:buFontTx/>
            </a:pP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例如：</a:t>
            </a:r>
            <a:endParaRPr kumimoji="1" lang="en-US" altLang="zh-CN" sz="16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173355" marR="0" indent="-173355" defTabSz="914400" eaLnBrk="1" hangingPunct="1"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写入操作，需要</a:t>
            </a:r>
            <a:r>
              <a:rPr kumimoji="1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W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L</a:t>
            </a:r>
            <a:r>
              <a:rPr kumimoji="1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 =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，</a:t>
            </a: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同时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CP</a:t>
            </a:r>
            <a:r>
              <a:rPr kumimoji="1" lang="en-US" altLang="zh-CN" sz="1600" b="1" kern="1200" cap="none" spc="0" normalizeH="0" baseline="0" noProof="0" dirty="0">
                <a:latin typeface="宋体" pitchFamily="2" charset="-122"/>
                <a:ea typeface="宋体" pitchFamily="2" charset="-122"/>
                <a:cs typeface="+mn-cs"/>
              </a:rPr>
              <a:t>↑</a:t>
            </a:r>
            <a:endParaRPr kumimoji="1" lang="en-US" altLang="zh-CN" sz="16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173355" marR="0" indent="-173355" defTabSz="914400" eaLnBrk="1" hangingPunct="1"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左移操作，需要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S</a:t>
            </a:r>
            <a:r>
              <a:rPr kumimoji="0" lang="en-US" altLang="zh-CN" sz="16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L</a:t>
            </a:r>
            <a:r>
              <a:rPr kumimoji="1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 =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，</a:t>
            </a: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同时</a:t>
            </a:r>
            <a:r>
              <a:rPr kumimoji="1" lang="en-US" altLang="zh-CN" sz="1600" b="1" kern="1200" cap="none" spc="0" normalizeH="0" baseline="0" noProof="0" dirty="0"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CP</a:t>
            </a:r>
            <a:r>
              <a:rPr kumimoji="1" lang="en-US" altLang="zh-CN" sz="1600" b="1" kern="1200" cap="none" spc="0" normalizeH="0" baseline="0" noProof="0" dirty="0">
                <a:latin typeface="宋体" pitchFamily="2" charset="-122"/>
                <a:ea typeface="宋体" pitchFamily="2" charset="-122"/>
                <a:cs typeface="+mn-cs"/>
              </a:rPr>
              <a:t>↑</a:t>
            </a:r>
            <a:endParaRPr kumimoji="1" lang="en-US" altLang="zh-CN" sz="1600" b="1" kern="1200" cap="none" spc="0" normalizeH="0" baseline="0" noProof="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173355" marR="0" indent="-173355" defTabSz="914400" eaLnBrk="1" hangingPunct="1"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读出操作，只需要</a:t>
            </a:r>
            <a:r>
              <a:rPr kumimoji="1" lang="en-US" altLang="zh-CN" sz="1600" b="1" kern="1200" cap="none" spc="0" normalizeH="0" baseline="0" noProof="0" dirty="0" err="1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En</a:t>
            </a:r>
            <a:r>
              <a:rPr kumimoji="1" lang="en-US" altLang="zh-CN" sz="16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=1</a:t>
            </a:r>
            <a:endParaRPr kumimoji="1" lang="zh-CN" altLang="en-US" sz="1600" b="1" kern="1200" cap="none" spc="0" normalizeH="0" baseline="0" noProof="0" dirty="0">
              <a:latin typeface="+mj-lt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9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49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499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49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499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49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837" grpId="0" uiExpand="1" build="p"/>
      <p:bldP spid="1049972" grpId="0" animBg="1"/>
      <p:bldP spid="1049974" grpId="0" animBg="1"/>
      <p:bldP spid="104997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200" kern="1200" noProof="0" dirty="0">
                <a:cs typeface="+mn-cs"/>
                <a:sym typeface="+mn-ea"/>
              </a:rPr>
              <a:t>寄存器总结</a:t>
            </a:r>
          </a:p>
        </p:txBody>
      </p:sp>
      <p:sp>
        <p:nvSpPr>
          <p:cNvPr id="1049978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algn="just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charset="0"/>
              <a:buChar char="l"/>
            </a:pP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寄存器主要功能</a:t>
            </a:r>
            <a:r>
              <a:rPr kumimoji="1" lang="en-US" altLang="zh-CN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: </a:t>
            </a: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存放二进制数据（存储位数由触发器的数量决定）</a:t>
            </a:r>
            <a:endParaRPr kumimoji="1" lang="en-US" altLang="zh-CN" kern="1200" cap="none" spc="0" normalizeH="0" baseline="0" noProof="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R="0" algn="just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charset="0"/>
              <a:buChar char="l"/>
            </a:pP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寄存器操作：写入、读出、保持、清零</a:t>
            </a:r>
            <a:endParaRPr kumimoji="1" lang="en-US" altLang="zh-CN" kern="1200" cap="none" spc="0" normalizeH="0" baseline="0" noProof="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R="0" algn="just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charset="0"/>
              <a:buChar char="l"/>
            </a:pP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移位寄存器还可以将数据左移或右移</a:t>
            </a:r>
            <a:r>
              <a:rPr kumimoji="1" lang="en-US" altLang="zh-CN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1</a:t>
            </a: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位</a:t>
            </a:r>
            <a:endParaRPr kumimoji="1" lang="en-US" altLang="zh-CN" kern="1200" cap="none" spc="0" normalizeH="0" baseline="0" noProof="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R="0" algn="just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charset="0"/>
              <a:buChar char="l"/>
            </a:pP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特点：寄存器的每一个操作（写入、读出、左移、右移）都是在</a:t>
            </a:r>
            <a:r>
              <a:rPr kumimoji="1" lang="zh-CN" altLang="en-US" b="1" kern="1200" noProof="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节拍</a:t>
            </a:r>
            <a:r>
              <a:rPr kumimoji="1" lang="zh-CN" altLang="en-US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的控制下完成的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97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600" kern="12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用</a:t>
            </a:r>
            <a:r>
              <a:rPr kumimoji="1" lang="en-US" altLang="zh-CN" sz="3600" kern="12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Verilog</a:t>
            </a:r>
            <a:r>
              <a:rPr kumimoji="1" lang="zh-CN" altLang="en-US" sz="3600" kern="12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实现</a:t>
            </a:r>
            <a:r>
              <a:rPr kumimoji="1" lang="zh-CN" altLang="en-US" sz="3600" kern="1200" noProof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串入并出</a:t>
            </a:r>
            <a:r>
              <a:rPr kumimoji="1" lang="en-US" altLang="zh-CN" sz="3600" kern="12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8</a:t>
            </a:r>
            <a:r>
              <a:rPr kumimoji="1" lang="zh-CN" altLang="en-US" sz="3600" kern="12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位移位寄存器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600" y="629920"/>
            <a:ext cx="8726400" cy="4046855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module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Vr8bitSRparout (</a:t>
            </a:r>
          </a:p>
          <a:p>
            <a:pPr marL="0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CLK,CLR,</a:t>
            </a:r>
            <a:r>
              <a:rPr lang="en-US" altLang="zh-CN" sz="2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SERIN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, </a:t>
            </a:r>
          </a:p>
          <a:p>
            <a:pPr marL="0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[7:0] Q );</a:t>
            </a:r>
            <a:endParaRPr lang="en-US" altLang="zh-CN" sz="2800" dirty="0">
              <a:latin typeface="Arial" panose="020B060402020209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(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posedge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CLK)</a:t>
            </a:r>
          </a:p>
          <a:p>
            <a:pPr marL="457200" lvl="1"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(CLR == 1) Q &lt;= 0;       </a:t>
            </a:r>
            <a:endParaRPr lang="en-US" altLang="zh-CN" sz="2800" dirty="0">
              <a:latin typeface="Arial" panose="020B060402020209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       	</a:t>
            </a: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  Q &lt;= {</a:t>
            </a:r>
            <a:r>
              <a:rPr lang="en-US" altLang="zh-CN" sz="2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SERIN</a:t>
            </a:r>
            <a:r>
              <a:rPr lang="en-US" altLang="zh-CN" sz="2800" dirty="0">
                <a:latin typeface="Arial" panose="020B0604020202090204" pitchFamily="34" charset="0"/>
                <a:sym typeface="+mn-ea"/>
              </a:rPr>
              <a:t>, Q[7:1]};  // </a:t>
            </a:r>
            <a:r>
              <a:rPr lang="zh-CN" altLang="en-US" sz="1400" dirty="0">
                <a:latin typeface="Arial" panose="020B0604020202090204" pitchFamily="34" charset="0"/>
                <a:sym typeface="+mn-ea"/>
              </a:rPr>
              <a:t>右移，新最高位 </a:t>
            </a:r>
            <a:r>
              <a:rPr lang="en-US" altLang="zh-CN" sz="1400" dirty="0">
                <a:latin typeface="Arial" panose="020B0604020202090204" pitchFamily="34" charset="0"/>
                <a:sym typeface="+mn-ea"/>
              </a:rPr>
              <a:t>Q[7] ← SERIN</a:t>
            </a:r>
            <a:endParaRPr lang="en-US" altLang="zh-CN" sz="2800" dirty="0">
              <a:latin typeface="Arial" panose="020B060402020209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latin typeface="Arial" panose="020B0604020202090204" pitchFamily="34" charset="0"/>
                <a:sym typeface="+mn-ea"/>
              </a:rPr>
              <a:t>endmodule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49520" y="2954020"/>
            <a:ext cx="20345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dirty="0">
                <a:sym typeface="+mn-ea"/>
              </a:rPr>
              <a:t> // 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同步清零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kern="1200" noProof="0" dirty="0">
                <a:cs typeface="+mn-cs"/>
                <a:sym typeface="+mn-ea"/>
              </a:rPr>
              <a:t>用</a:t>
            </a:r>
            <a:r>
              <a:rPr kumimoji="1" lang="en-US" altLang="zh-CN" sz="3600" kern="1200" noProof="0" dirty="0">
                <a:latin typeface="+mj-lt"/>
                <a:cs typeface="+mn-cs"/>
                <a:sym typeface="+mn-ea"/>
              </a:rPr>
              <a:t>Verilog</a:t>
            </a:r>
            <a:r>
              <a:rPr kumimoji="1" lang="zh-CN" altLang="en-US" sz="3600" kern="1200" noProof="0" dirty="0">
                <a:cs typeface="+mn-cs"/>
                <a:sym typeface="+mn-ea"/>
              </a:rPr>
              <a:t>实现</a:t>
            </a:r>
            <a:r>
              <a:rPr kumimoji="1" lang="zh-CN" altLang="en-US" sz="3600" kern="1200" noProof="0" dirty="0">
                <a:solidFill>
                  <a:srgbClr val="FF0000"/>
                </a:solidFill>
                <a:cs typeface="+mn-cs"/>
                <a:sym typeface="+mn-ea"/>
              </a:rPr>
              <a:t>通用</a:t>
            </a:r>
            <a:r>
              <a:rPr kumimoji="1" lang="en-US" altLang="zh-CN" sz="3600" kern="1200" noProof="0" dirty="0">
                <a:solidFill>
                  <a:srgbClr val="FF0000"/>
                </a:solidFill>
                <a:cs typeface="+mn-cs"/>
                <a:sym typeface="+mn-ea"/>
              </a:rPr>
              <a:t>4</a:t>
            </a:r>
            <a:r>
              <a:rPr kumimoji="1" lang="zh-CN" altLang="en-US" sz="3600" kern="1200" noProof="0" dirty="0">
                <a:solidFill>
                  <a:srgbClr val="FF0000"/>
                </a:solidFill>
                <a:cs typeface="+mn-cs"/>
                <a:sym typeface="+mn-ea"/>
              </a:rPr>
              <a:t>位</a:t>
            </a:r>
            <a:r>
              <a:rPr kumimoji="1" lang="zh-CN" altLang="en-US" sz="3600" kern="1200" noProof="0" dirty="0">
                <a:cs typeface="+mn-cs"/>
                <a:sym typeface="+mn-ea"/>
              </a:rPr>
              <a:t>移位寄存器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module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Vrshrg4u (</a:t>
            </a: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CLK, CLR, RIN, LIN, S0, S1, A, B, C, D,   //S0,S1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功能选择端</a:t>
            </a:r>
            <a:endParaRPr lang="en-US" altLang="zh-CN" sz="1800" dirty="0">
              <a:latin typeface="Arial" panose="020B0604020202090204" pitchFamily="34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QA,QB,QC,QD);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posedge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CLK)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(CLR == 1'b1) {QA,QB,QC,QD} &lt;= 4'd0;	//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同步清零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case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({S1,S0})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2'b00: {QA,QB,QC,QD} &lt;= {QA,QB,QC,QD} ; 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保持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2'b01: {</a:t>
            </a:r>
            <a:r>
              <a:rPr lang="en-US" altLang="zh-CN" sz="1800" b="1" dirty="0">
                <a:solidFill>
                  <a:schemeClr val="bg1"/>
                </a:solidFill>
                <a:latin typeface="Arial" panose="020B0604020202090204" pitchFamily="34" charset="0"/>
                <a:sym typeface="+mn-ea"/>
              </a:rPr>
              <a:t>QA,QB,QC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,QD} &lt;= {RIN,</a:t>
            </a:r>
            <a:r>
              <a:rPr lang="en-US" altLang="zh-CN" sz="1800" b="1" dirty="0">
                <a:solidFill>
                  <a:schemeClr val="bg1"/>
                </a:solidFill>
                <a:latin typeface="Arial" panose="020B0604020202090204" pitchFamily="34" charset="0"/>
                <a:sym typeface="+mn-ea"/>
              </a:rPr>
              <a:t>QA,QB,QC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}; 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右移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2'b10: {QA,</a:t>
            </a:r>
            <a:r>
              <a:rPr lang="en-US" altLang="zh-CN" sz="1800" b="1" dirty="0">
                <a:solidFill>
                  <a:schemeClr val="bg1"/>
                </a:solidFill>
                <a:latin typeface="Arial" panose="020B0604020202090204" pitchFamily="34" charset="0"/>
                <a:sym typeface="+mn-ea"/>
              </a:rPr>
              <a:t>QB,QC,QD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} &lt;= {</a:t>
            </a:r>
            <a:r>
              <a:rPr lang="en-US" altLang="zh-CN" sz="1800" b="1" dirty="0">
                <a:solidFill>
                  <a:schemeClr val="bg1"/>
                </a:solidFill>
                <a:latin typeface="Arial" panose="020B0604020202090204" pitchFamily="34" charset="0"/>
                <a:sym typeface="+mn-ea"/>
              </a:rPr>
              <a:t>QB,QC,QD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,LIN}; 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左移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2'b11: {QA,QB,QC,QD} &lt;= {A,B,C,D};             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载入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default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: {QA,QB,QC,QD} &lt;= 4'd0;                  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不会发生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endcase</a:t>
            </a:r>
            <a:endParaRPr lang="en-US" altLang="zh-CN" sz="1800" b="1" dirty="0">
              <a:latin typeface="Arial" panose="020B060402020209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endmodule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寄存器和计数器</a:t>
            </a:r>
          </a:p>
        </p:txBody>
      </p:sp>
      <p:sp>
        <p:nvSpPr>
          <p:cNvPr id="104907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寄存器（Registers） 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移位寄存器（Shift Registers）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计数器（Counters）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kumimoji="1" lang="en-US" altLang="zh-CN" sz="36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节拍发生器（Beat Generator）</a:t>
            </a:r>
            <a:r>
              <a:rPr kumimoji="1" lang="en-US" altLang="zh-CN" b="1" kern="120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kumimoji="1" lang="zh-CN" altLang="en-US" b="1" kern="12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自学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49073" name="灯片编号占位符 4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2075" tIns="46038" rIns="92075" bIns="46038" numCol="1" anchor="ctr" anchorCtr="0" compatLnSpc="1"/>
          <a:lstStyle/>
          <a:p>
            <a:pPr marL="0" indent="0" algn="r" defTabSz="68580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25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585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92" name="Text Box 5"/>
          <p:cNvSpPr txBox="1"/>
          <p:nvPr/>
        </p:nvSpPr>
        <p:spPr>
          <a:xfrm>
            <a:off x="2843213" y="60325"/>
            <a:ext cx="36734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时序逻辑电路的分类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94305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842963"/>
          <a:ext cx="8640763" cy="403224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41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分类方式</a:t>
                      </a:r>
                    </a:p>
                  </a:txBody>
                  <a:tcPr marL="91438" marR="91438" marT="45716" marB="45716" anchor="ctr" anchorCtr="1"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种类</a:t>
                      </a:r>
                    </a:p>
                  </a:txBody>
                  <a:tcPr marL="91438" marR="91438" marT="45716" marB="45716" anchor="ctr" anchorCtr="1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特点</a:t>
                      </a:r>
                    </a:p>
                  </a:txBody>
                  <a:tcPr marL="91438" marR="91438" marT="45716" marB="45716" anchor="ctr" anchorCtr="1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电路示例</a:t>
                      </a:r>
                    </a:p>
                  </a:txBody>
                  <a:tcPr marL="91438" marR="91438" marT="45716" marB="45716" anchor="ctr" anchorCtr="1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02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时序</a:t>
                      </a: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逻</a:t>
                      </a: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辑</a:t>
                      </a: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电</a:t>
                      </a: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路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400" dirty="0"/>
                    </a:p>
                  </a:txBody>
                  <a:tcPr marL="91438" marR="91438" marT="45716" marB="45716" anchor="ctr" anchorCtr="1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按照</a:t>
                      </a:r>
                      <a:r>
                        <a:rPr lang="zh-CN" altLang="en-US" sz="1400" b="1" kern="12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时钟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信号的连接方式</a:t>
                      </a:r>
                    </a:p>
                  </a:txBody>
                  <a:tcPr marL="91438" marR="91438" marT="45716" marB="45716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58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4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 anchorCtr="1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按照电路</a:t>
                      </a:r>
                      <a:r>
                        <a:rPr lang="zh-CN" altLang="en-US" sz="1400" b="1" kern="12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输出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与</a:t>
                      </a:r>
                      <a:r>
                        <a:rPr lang="zh-CN" altLang="en-US" sz="1400" b="1" kern="12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及电路</a:t>
                      </a:r>
                      <a:r>
                        <a:rPr lang="zh-CN" altLang="en-US" sz="1400" b="1" kern="12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状态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的关系</a:t>
                      </a:r>
                    </a:p>
                  </a:txBody>
                  <a:tcPr marL="91438" marR="91438" marT="45716" marB="45716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02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kern="1200" dirty="0">
                        <a:solidFill>
                          <a:schemeClr val="dk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8" marR="91438" marT="45716" marB="45716" anchor="ctr" anchorCtr="1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9993" name="Text Box 2"/>
          <p:cNvSpPr txBox="1"/>
          <p:nvPr/>
        </p:nvSpPr>
        <p:spPr>
          <a:xfrm>
            <a:off x="2079625" y="1343025"/>
            <a:ext cx="1038225" cy="71945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同步时序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逻辑电路</a:t>
            </a:r>
          </a:p>
        </p:txBody>
      </p:sp>
      <p:sp>
        <p:nvSpPr>
          <p:cNvPr id="1049994" name="Text Box 2"/>
          <p:cNvSpPr txBox="1"/>
          <p:nvPr/>
        </p:nvSpPr>
        <p:spPr>
          <a:xfrm>
            <a:off x="2032000" y="3178175"/>
            <a:ext cx="1152525" cy="58737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摩尔型电路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90204" pitchFamily="34" charset="0"/>
              </a:rPr>
              <a:t>（</a:t>
            </a:r>
            <a:r>
              <a:rPr lang="en-US" altLang="zh-CN" sz="1400" b="1" i="1" dirty="0">
                <a:solidFill>
                  <a:schemeClr val="bg1"/>
                </a:solidFill>
                <a:latin typeface="Arial" panose="020B0604020202090204" pitchFamily="34" charset="0"/>
              </a:rPr>
              <a:t>Moore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90204" pitchFamily="34" charset="0"/>
              </a:rPr>
              <a:t>）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9995" name="Text Box 8"/>
          <p:cNvSpPr txBox="1"/>
          <p:nvPr/>
        </p:nvSpPr>
        <p:spPr>
          <a:xfrm>
            <a:off x="3440113" y="1203325"/>
            <a:ext cx="2644775" cy="902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所有的时钟端连接在一起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，状态的改变</a:t>
            </a:r>
            <a:r>
              <a: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同时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发生（数字系统中用到的最多）</a:t>
            </a:r>
          </a:p>
        </p:txBody>
      </p:sp>
      <p:sp>
        <p:nvSpPr>
          <p:cNvPr id="1049996" name="Text Box 8"/>
          <p:cNvSpPr txBox="1"/>
          <p:nvPr/>
        </p:nvSpPr>
        <p:spPr>
          <a:xfrm>
            <a:off x="3430588" y="2105025"/>
            <a:ext cx="2797175" cy="8661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没有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统一的时钟脉冲同步，状态的改变有先有后，</a:t>
            </a:r>
            <a:r>
              <a:rPr lang="zh-CN" altLang="en-US" sz="1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不同时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发生</a:t>
            </a:r>
            <a:endParaRPr lang="en-US" altLang="zh-CN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容易产生毛刺（有不利影响）</a:t>
            </a:r>
            <a:endParaRPr lang="en-US" altLang="zh-CN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9997" name="Text Box 2"/>
          <p:cNvSpPr txBox="1"/>
          <p:nvPr/>
        </p:nvSpPr>
        <p:spPr>
          <a:xfrm>
            <a:off x="2098675" y="2211705"/>
            <a:ext cx="1153795" cy="68135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异步时序逻辑电路 </a:t>
            </a:r>
          </a:p>
        </p:txBody>
      </p:sp>
      <p:sp>
        <p:nvSpPr>
          <p:cNvPr id="1049998" name="Text Box 2"/>
          <p:cNvSpPr txBox="1"/>
          <p:nvPr/>
        </p:nvSpPr>
        <p:spPr>
          <a:xfrm>
            <a:off x="2046288" y="4110038"/>
            <a:ext cx="1152525" cy="58737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米里型电路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90204" pitchFamily="34" charset="0"/>
              </a:rPr>
              <a:t>（</a:t>
            </a:r>
            <a:r>
              <a:rPr lang="en-US" altLang="zh-CN" sz="1400" b="1" i="1" dirty="0">
                <a:solidFill>
                  <a:schemeClr val="bg1"/>
                </a:solidFill>
                <a:latin typeface="Arial" panose="020B0604020202090204" pitchFamily="34" charset="0"/>
              </a:rPr>
              <a:t> Mealy 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90204" pitchFamily="34" charset="0"/>
              </a:rPr>
              <a:t>）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9999" name="Text Box 8"/>
          <p:cNvSpPr txBox="1"/>
          <p:nvPr/>
        </p:nvSpPr>
        <p:spPr>
          <a:xfrm>
            <a:off x="3394075" y="3072130"/>
            <a:ext cx="264350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Pct val="70000"/>
              <a:buFont typeface="Wingdings" panose="05000000000000000000" pitchFamily="2" charset="2"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电路的</a:t>
            </a:r>
            <a:r>
              <a: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zh-CN" altLang="en-US" sz="1600" b="1" dirty="0">
                <a:solidFill>
                  <a:srgbClr val="00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仅与现态有关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与电路的</a:t>
            </a:r>
            <a:r>
              <a: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输入无关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直接以电路状态作为输出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50000" name="Text Box 8"/>
          <p:cNvSpPr txBox="1"/>
          <p:nvPr/>
        </p:nvSpPr>
        <p:spPr>
          <a:xfrm>
            <a:off x="3444875" y="3998913"/>
            <a:ext cx="2500313" cy="810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Clr>
                <a:srgbClr val="C00000"/>
              </a:buClr>
              <a:buSzPct val="70000"/>
              <a:buFont typeface="Wingdings" panose="05000000000000000000" pitchFamily="2" charset="2"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电路</a:t>
            </a: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与电路的</a:t>
            </a: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及电路的</a:t>
            </a: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输入均有关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97177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438" y="2211388"/>
            <a:ext cx="2254250" cy="720725"/>
          </a:xfrm>
          <a:prstGeom prst="rect">
            <a:avLst/>
          </a:prstGeom>
          <a:noFill/>
          <a:ln w="19050">
            <a:noFill/>
          </a:ln>
        </p:spPr>
      </p:pic>
      <p:pic>
        <p:nvPicPr>
          <p:cNvPr id="2097178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788" y="1276350"/>
            <a:ext cx="2303462" cy="757238"/>
          </a:xfrm>
          <a:prstGeom prst="rect">
            <a:avLst/>
          </a:prstGeom>
          <a:noFill/>
          <a:ln w="19050">
            <a:noFill/>
          </a:ln>
        </p:spPr>
      </p:pic>
      <p:pic>
        <p:nvPicPr>
          <p:cNvPr id="2097179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013" y="3995738"/>
            <a:ext cx="1989137" cy="808037"/>
          </a:xfrm>
          <a:prstGeom prst="rect">
            <a:avLst/>
          </a:prstGeom>
          <a:noFill/>
          <a:ln w="19050">
            <a:noFill/>
          </a:ln>
        </p:spPr>
      </p:pic>
      <p:pic>
        <p:nvPicPr>
          <p:cNvPr id="2097180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325" y="3040063"/>
            <a:ext cx="2524125" cy="827087"/>
          </a:xfrm>
          <a:prstGeom prst="rect">
            <a:avLst/>
          </a:prstGeom>
          <a:noFill/>
          <a:ln w="1905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4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9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4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9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4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4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4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9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5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9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993" grpId="0"/>
      <p:bldP spid="1049994" grpId="0"/>
      <p:bldP spid="1049995" grpId="0"/>
      <p:bldP spid="1049996" grpId="0"/>
      <p:bldP spid="1049997" grpId="0"/>
      <p:bldP spid="1049998" grpId="0"/>
      <p:bldP spid="1049999" grpId="0"/>
      <p:bldP spid="105000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时序逻辑电路的分析方法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altLang="zh-CN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zh-CN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6156325" y="3651885"/>
            <a:ext cx="2778125" cy="992505"/>
          </a:xfrm>
          <a:prstGeom prst="roundRect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342900" indent="-342900" algn="l" eaLnBrk="1" hangingPunct="1"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同步时序电路</a:t>
            </a: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l" eaLnBrk="1" hangingPunct="1"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异步时序电路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</a:p>
        </p:txBody>
      </p:sp>
      <p:sp>
        <p:nvSpPr>
          <p:cNvPr id="23" name="右箭头 22"/>
          <p:cNvSpPr/>
          <p:nvPr/>
        </p:nvSpPr>
        <p:spPr bwMode="auto">
          <a:xfrm rot="2880000">
            <a:off x="5716905" y="3209925"/>
            <a:ext cx="667385" cy="215900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>
              <a:solidFill>
                <a:srgbClr val="FFFFFF"/>
              </a:solidFill>
              <a:latin typeface="Times New Roman" panose="0202050305040509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815123-F1CA-4C05-83E2-7824B17C6E4F}"/>
              </a:ext>
            </a:extLst>
          </p:cNvPr>
          <p:cNvSpPr txBox="1"/>
          <p:nvPr/>
        </p:nvSpPr>
        <p:spPr>
          <a:xfrm>
            <a:off x="752474" y="907324"/>
            <a:ext cx="6943725" cy="328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zh-CN" altLang="en-US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确定系统变量</a:t>
            </a:r>
            <a:r>
              <a:rPr kumimoji="0" lang="en-US" altLang="zh-CN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(</a:t>
            </a:r>
            <a:r>
              <a:rPr kumimoji="0" lang="zh-CN" altLang="en-US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输入变量、输出变量、状态变量</a:t>
            </a:r>
            <a:r>
              <a:rPr kumimoji="0" lang="en-US" altLang="zh-CN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)</a:t>
            </a:r>
            <a:endParaRPr lang="zh-CN" altLang="en-US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①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 列驱动方程（控制函数）</a:t>
            </a:r>
            <a:endParaRPr lang="zh-CN" altLang="en-US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② 列输出方程（输出函数）</a:t>
            </a:r>
            <a:endParaRPr lang="zh-CN" altLang="en-US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③ 列状态方程（次态方程）</a:t>
            </a:r>
            <a:endParaRPr lang="zh-CN" altLang="en-US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④ 列写状态转换表</a:t>
            </a:r>
            <a:endParaRPr lang="zh-CN" altLang="en-US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⑤ 画出状态图</a:t>
            </a:r>
            <a:endParaRPr lang="en-US" altLang="zh-CN" sz="280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⑥ 画出波形图（如必要）</a:t>
            </a:r>
            <a:endParaRPr lang="zh-CN" altLang="en-US" sz="28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典型时序逻辑部件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计数器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latin typeface="华文楷体" panose="02010600040101010101" charset="-122"/>
                <a:ea typeface="华文楷体" panose="02010600040101010101" charset="-122"/>
                <a:cs typeface="宋体" pitchFamily="2" charset="-122"/>
                <a:sym typeface="+mn-ea"/>
              </a:rPr>
              <a:t>一种能在输入信号作用下依次通过预定状态的时序逻辑电路，可用于计数、分频、定时、控制、产生节拍脉冲（顺序脉冲）和序列脉冲等。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charset="-122"/>
              <a:ea typeface="华文楷体" panose="02010600040101010101" charset="-122"/>
              <a:cs typeface="宋体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1" dirty="0">
              <a:solidFill>
                <a:schemeClr val="tx2"/>
              </a:solidFill>
              <a:latin typeface="华文楷体" panose="02010600040101010101" charset="-122"/>
              <a:ea typeface="华文楷体" panose="02010600040101010101" charset="-122"/>
              <a:cs typeface="宋体" pitchFamily="2" charset="-122"/>
            </a:endParaRPr>
          </a:p>
        </p:txBody>
      </p:sp>
      <p:sp>
        <p:nvSpPr>
          <p:cNvPr id="1050005" name="圆角矩形 34"/>
          <p:cNvSpPr/>
          <p:nvPr/>
        </p:nvSpPr>
        <p:spPr>
          <a:xfrm>
            <a:off x="497205" y="3219450"/>
            <a:ext cx="8461375" cy="1767205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9050" cap="flat" cmpd="sng">
            <a:solidFill>
              <a:srgbClr val="669900"/>
            </a:solidFill>
            <a:prstDash val="solid"/>
            <a:headEnd type="none" w="med" len="med"/>
            <a:tailEnd type="none" w="med" len="med"/>
          </a:ln>
        </p:spPr>
        <p:txBody>
          <a:bodyPr wrap="none"/>
          <a:lstStyle/>
          <a:p>
            <a:pPr marL="180975" marR="0" indent="-180975" algn="l" defTabSz="914400">
              <a:lnSpc>
                <a:spcPct val="11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由一组触发器构成，计数器中的“</a:t>
            </a:r>
            <a:r>
              <a:rPr kumimoji="1" lang="zh-CN" altLang="en-US" sz="2000" b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数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”是用</a:t>
            </a:r>
            <a:r>
              <a:rPr kumimoji="1" lang="zh-CN" altLang="en-US" sz="2000" b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触发器的状态组合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来表示的。</a:t>
            </a:r>
            <a:endParaRPr kumimoji="1" lang="zh-CN" altLang="en-US" sz="2000" kern="1200" cap="none" spc="0" normalizeH="0" baseline="0" noProof="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0975" marR="0" indent="-180975" algn="l" defTabSz="914400">
              <a:lnSpc>
                <a:spcPct val="11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计数器在运行时，所经历的状态是</a:t>
            </a:r>
            <a:r>
              <a:rPr kumimoji="1" lang="zh-CN" altLang="en-US" sz="2000" b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周期性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的，总是在有限个状态中</a:t>
            </a:r>
            <a:r>
              <a:rPr kumimoji="1" lang="zh-CN" altLang="en-US" sz="2000" b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循环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kumimoji="1" lang="zh-CN" altLang="en-US" sz="2000" kern="1200" cap="none" spc="0" normalizeH="0" baseline="0" noProof="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0975" marR="0" indent="-180975" algn="l" defTabSz="914400">
              <a:lnSpc>
                <a:spcPct val="11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将一次循环所包含的</a:t>
            </a:r>
            <a:r>
              <a:rPr kumimoji="1" lang="zh-CN" altLang="en-US" sz="2000" b="1" noProof="0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状态总数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称为计数器的</a:t>
            </a:r>
            <a:r>
              <a:rPr kumimoji="1" lang="zh-CN" altLang="en-US" sz="2000" noProof="0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</a:t>
            </a:r>
            <a:r>
              <a:rPr kumimoji="1" lang="zh-CN" altLang="en-US" sz="2000" b="1" noProof="0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模</a:t>
            </a:r>
            <a:r>
              <a:rPr kumimoji="1" lang="zh-CN" altLang="en-US" sz="2000" noProof="0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，记为</a:t>
            </a:r>
            <a:r>
              <a:rPr kumimoji="1" lang="en-US" altLang="zh-CN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kumimoji="1"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kumimoji="1" lang="en-US" altLang="zh-CN" sz="2000" noProof="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638175" marR="0" lvl="1" indent="-180975" algn="l" defTabSz="914400">
              <a:lnSpc>
                <a:spcPct val="11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18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包含</a:t>
            </a:r>
            <a:r>
              <a:rPr kumimoji="1" lang="en-US" altLang="zh-CN" sz="18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kumimoji="1" lang="zh-CN" altLang="en-US" sz="18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个触发器的计数器的</a:t>
            </a:r>
            <a:r>
              <a:rPr kumimoji="1" lang="zh-CN" altLang="en-US" sz="1800" b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最大模值</a:t>
            </a:r>
            <a:r>
              <a:rPr kumimoji="1" lang="zh-CN" altLang="en-US" sz="18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kumimoji="1" lang="en-US" altLang="zh-CN" sz="18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 =2</a:t>
            </a:r>
            <a:r>
              <a:rPr kumimoji="1" lang="en-US" altLang="zh-CN" sz="1800" baseline="30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endParaRPr kumimoji="1" lang="en-US" altLang="zh-CN" sz="1800" kern="1200" cap="none" spc="0" normalizeH="0" baseline="0" noProof="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0975" marR="0" indent="-180975" algn="l" defTabSz="914400">
              <a:lnSpc>
                <a:spcPct val="11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作用于计数器的时钟脉冲称为计数脉冲，用 </a:t>
            </a:r>
            <a:r>
              <a:rPr kumimoji="1" lang="en-US" altLang="zh-CN" sz="2000" i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CP </a:t>
            </a:r>
            <a:r>
              <a:rPr kumimoji="1" lang="en-US" altLang="zh-CN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或</a:t>
            </a:r>
            <a:r>
              <a:rPr kumimoji="1" lang="en-US" altLang="zh-CN" sz="2000" i="1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CLK</a:t>
            </a:r>
            <a:r>
              <a:rPr kumimoji="1" lang="en-US" altLang="zh-CN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kumimoji="1" lang="zh-CN" altLang="en-US" sz="2000" noProof="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表示。</a:t>
            </a:r>
            <a:endParaRPr kumimoji="1" lang="zh-CN" altLang="en-US" sz="2000" noProof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367" name="组合 92"/>
          <p:cNvGrpSpPr/>
          <p:nvPr/>
        </p:nvGrpSpPr>
        <p:grpSpPr>
          <a:xfrm>
            <a:off x="3275013" y="2130425"/>
            <a:ext cx="2592387" cy="936625"/>
            <a:chOff x="4436693" y="1217173"/>
            <a:chExt cx="2592000" cy="935473"/>
          </a:xfrm>
        </p:grpSpPr>
        <p:sp>
          <p:nvSpPr>
            <p:cNvPr id="1050007" name="Oval 5"/>
            <p:cNvSpPr/>
            <p:nvPr/>
          </p:nvSpPr>
          <p:spPr>
            <a:xfrm>
              <a:off x="4568534" y="1306869"/>
              <a:ext cx="580480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000</a:t>
              </a:r>
            </a:p>
          </p:txBody>
        </p:sp>
        <p:sp>
          <p:nvSpPr>
            <p:cNvPr id="1050008" name="Oval 6"/>
            <p:cNvSpPr/>
            <p:nvPr/>
          </p:nvSpPr>
          <p:spPr>
            <a:xfrm>
              <a:off x="5436742" y="1330485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001</a:t>
              </a:r>
            </a:p>
          </p:txBody>
        </p:sp>
        <p:sp>
          <p:nvSpPr>
            <p:cNvPr id="1050009" name="Oval 7"/>
            <p:cNvSpPr/>
            <p:nvPr/>
          </p:nvSpPr>
          <p:spPr>
            <a:xfrm>
              <a:off x="5436742" y="1778249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100</a:t>
              </a:r>
            </a:p>
          </p:txBody>
        </p:sp>
        <p:sp>
          <p:nvSpPr>
            <p:cNvPr id="1050010" name="Oval 8"/>
            <p:cNvSpPr/>
            <p:nvPr/>
          </p:nvSpPr>
          <p:spPr>
            <a:xfrm>
              <a:off x="4572303" y="1778249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101</a:t>
              </a:r>
            </a:p>
          </p:txBody>
        </p:sp>
        <p:sp>
          <p:nvSpPr>
            <p:cNvPr id="1050011" name="Line 9"/>
            <p:cNvSpPr>
              <a:spLocks noChangeShapeType="1"/>
            </p:cNvSpPr>
            <p:nvPr/>
          </p:nvSpPr>
          <p:spPr bwMode="auto">
            <a:xfrm>
              <a:off x="5182707" y="1445492"/>
              <a:ext cx="25237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012" name="Line 11"/>
            <p:cNvSpPr>
              <a:spLocks noChangeShapeType="1"/>
            </p:cNvSpPr>
            <p:nvPr/>
          </p:nvSpPr>
          <p:spPr bwMode="auto">
            <a:xfrm flipH="1">
              <a:off x="5157310" y="1922742"/>
              <a:ext cx="25237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013" name="Line 12"/>
            <p:cNvSpPr>
              <a:spLocks noChangeShapeType="1"/>
            </p:cNvSpPr>
            <p:nvPr/>
          </p:nvSpPr>
          <p:spPr bwMode="auto">
            <a:xfrm flipV="1">
              <a:off x="4852556" y="1592948"/>
              <a:ext cx="0" cy="17916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014" name="圆角矩形 131"/>
            <p:cNvSpPr/>
            <p:nvPr/>
          </p:nvSpPr>
          <p:spPr>
            <a:xfrm>
              <a:off x="4436693" y="1217173"/>
              <a:ext cx="2592000" cy="935473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2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015" name="Oval 6"/>
            <p:cNvSpPr/>
            <p:nvPr/>
          </p:nvSpPr>
          <p:spPr>
            <a:xfrm>
              <a:off x="6300802" y="1338905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010</a:t>
              </a:r>
            </a:p>
          </p:txBody>
        </p:sp>
        <p:sp>
          <p:nvSpPr>
            <p:cNvPr id="1050016" name="Oval 7"/>
            <p:cNvSpPr/>
            <p:nvPr/>
          </p:nvSpPr>
          <p:spPr>
            <a:xfrm>
              <a:off x="6300802" y="1786669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011</a:t>
              </a:r>
            </a:p>
          </p:txBody>
        </p:sp>
        <p:sp>
          <p:nvSpPr>
            <p:cNvPr id="1050017" name="Line 9"/>
            <p:cNvSpPr>
              <a:spLocks noChangeShapeType="1"/>
            </p:cNvSpPr>
            <p:nvPr/>
          </p:nvSpPr>
          <p:spPr bwMode="auto">
            <a:xfrm>
              <a:off x="6047764" y="1453420"/>
              <a:ext cx="2523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018" name="Line 11"/>
            <p:cNvSpPr>
              <a:spLocks noChangeShapeType="1"/>
            </p:cNvSpPr>
            <p:nvPr/>
          </p:nvSpPr>
          <p:spPr bwMode="auto">
            <a:xfrm flipH="1">
              <a:off x="6022368" y="1930669"/>
              <a:ext cx="2523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019" name="Line 12"/>
            <p:cNvSpPr/>
            <p:nvPr/>
          </p:nvSpPr>
          <p:spPr>
            <a:xfrm flipV="1">
              <a:off x="6588577" y="1600518"/>
              <a:ext cx="0" cy="17993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368" name="组合 52"/>
          <p:cNvGrpSpPr/>
          <p:nvPr/>
        </p:nvGrpSpPr>
        <p:grpSpPr>
          <a:xfrm>
            <a:off x="2124075" y="2346325"/>
            <a:ext cx="996950" cy="523875"/>
            <a:chOff x="3102704" y="2257316"/>
            <a:chExt cx="1111372" cy="523915"/>
          </a:xfrm>
        </p:grpSpPr>
        <p:sp>
          <p:nvSpPr>
            <p:cNvPr id="1050020" name="圆角矩形标注 13"/>
            <p:cNvSpPr/>
            <p:nvPr/>
          </p:nvSpPr>
          <p:spPr>
            <a:xfrm>
              <a:off x="3134077" y="2262080"/>
              <a:ext cx="1079999" cy="510778"/>
            </a:xfrm>
            <a:prstGeom prst="wedgeRoundRectCallout">
              <a:avLst>
                <a:gd name="adj1" fmla="val 63417"/>
                <a:gd name="adj2" fmla="val -35273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0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b="1" dirty="0">
                <a:latin typeface="Arial" panose="020B0604020202090204" pitchFamily="34" charset="0"/>
              </a:endParaRPr>
            </a:p>
          </p:txBody>
        </p:sp>
        <p:sp>
          <p:nvSpPr>
            <p:cNvPr id="1050021" name="Text Box 34"/>
            <p:cNvSpPr txBox="1">
              <a:spLocks noChangeArrowheads="1"/>
            </p:cNvSpPr>
            <p:nvPr/>
          </p:nvSpPr>
          <p:spPr bwMode="auto">
            <a:xfrm>
              <a:off x="3102704" y="2257316"/>
              <a:ext cx="1079517" cy="523915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</a:pPr>
              <a:r>
                <a:rPr kumimoji="1" lang="zh-CN" altLang="en-US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模</a:t>
              </a:r>
              <a:r>
                <a:rPr kumimoji="1" lang="en-US" altLang="zh-CN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1" lang="zh-CN" altLang="en-US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加法计数器</a:t>
              </a:r>
              <a:endParaRPr kumimoji="1" lang="zh-CN" altLang="en-US" sz="14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69" name="组合 43"/>
          <p:cNvGrpSpPr/>
          <p:nvPr/>
        </p:nvGrpSpPr>
        <p:grpSpPr>
          <a:xfrm>
            <a:off x="6205539" y="2125663"/>
            <a:ext cx="2363770" cy="755650"/>
            <a:chOff x="6205473" y="1990927"/>
            <a:chExt cx="2363286" cy="756000"/>
          </a:xfrm>
        </p:grpSpPr>
        <p:sp>
          <p:nvSpPr>
            <p:cNvPr id="1050023" name="圆角矩形标注 13"/>
            <p:cNvSpPr/>
            <p:nvPr/>
          </p:nvSpPr>
          <p:spPr>
            <a:xfrm>
              <a:off x="6205473" y="1990927"/>
              <a:ext cx="2340575" cy="756000"/>
            </a:xfrm>
            <a:prstGeom prst="wedgeRoundRectCallout">
              <a:avLst>
                <a:gd name="adj1" fmla="val -60329"/>
                <a:gd name="adj2" fmla="val 1569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0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endParaRPr lang="zh-CN" altLang="en-US" b="1" dirty="0">
                <a:latin typeface="Arial" panose="020B0604020202090204" pitchFamily="34" charset="0"/>
              </a:endParaRPr>
            </a:p>
          </p:txBody>
        </p:sp>
        <p:sp>
          <p:nvSpPr>
            <p:cNvPr id="1050024" name="Text Box 34"/>
            <p:cNvSpPr txBox="1"/>
            <p:nvPr/>
          </p:nvSpPr>
          <p:spPr>
            <a:xfrm>
              <a:off x="6228184" y="1995686"/>
              <a:ext cx="2340575" cy="7390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特点：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只要连续提供时钟脉冲，计数器就能自动运行，而无需人工干预。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005" grpId="0" uiExpand="1" build="allAtOnce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Picture 3" descr="The state diagram for a counter is a loop of states S 1 to S m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15" y="1380916"/>
            <a:ext cx="2145665" cy="1127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计数器及分类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600" y="672255"/>
            <a:ext cx="8320405" cy="4046855"/>
          </a:xfrm>
        </p:spPr>
        <p:txBody>
          <a:bodyPr/>
          <a:lstStyle/>
          <a:p>
            <a:pPr marL="358775" lvl="0" indent="-45720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dirty="0">
                <a:latin typeface="宋体" pitchFamily="2" charset="-122"/>
                <a:sym typeface="+mn-ea"/>
              </a:rPr>
              <a:t>状态图中包含一个循环的任何时序电路；</a:t>
            </a:r>
            <a:endParaRPr lang="en-US" altLang="zh-CN" dirty="0">
              <a:latin typeface="宋体" pitchFamily="2" charset="-122"/>
            </a:endParaRPr>
          </a:p>
          <a:p>
            <a:pPr marL="358775" lvl="0" indent="-45720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dirty="0">
                <a:latin typeface="宋体" pitchFamily="2" charset="-122"/>
                <a:sym typeface="+mn-ea"/>
              </a:rPr>
              <a:t>计数器的模是循环中的状态个数；</a:t>
            </a:r>
          </a:p>
          <a:p>
            <a:pPr marL="358775" lvl="0" indent="-45720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最常用的是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位二进制计数器；</a:t>
            </a:r>
          </a:p>
          <a:p>
            <a:pPr marL="815975" lvl="1" indent="-45720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个触发器</a:t>
            </a:r>
          </a:p>
          <a:p>
            <a:pPr marL="815975" lvl="1" indent="-45720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最多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个状态，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-1, 0, 1</a:t>
            </a:r>
            <a:r>
              <a:rPr lang="zh-CN" alt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  <a:p>
            <a:pPr marR="0" algn="just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800" b="1" kern="12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按时钟连接方式：同步、异步计数器</a:t>
            </a:r>
            <a:r>
              <a:rPr kumimoji="1" lang="en-US" altLang="zh-CN" sz="2800" b="1" kern="12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kumimoji="1" lang="zh-CN" altLang="en-US" sz="2800" b="1" kern="12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行波计数器 </a:t>
            </a:r>
            <a:r>
              <a:rPr kumimoji="1" lang="en-US" altLang="zh-CN" sz="2800" b="1" kern="12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ripple counter)</a:t>
            </a:r>
            <a:r>
              <a:rPr kumimoji="1" lang="zh-CN" altLang="en-US" sz="2800" b="1" kern="12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 </a:t>
            </a:r>
            <a:endParaRPr kumimoji="1" lang="zh-CN" altLang="en-US" sz="2800" b="1" kern="1200" cap="none" spc="0" normalizeH="0" baseline="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R="0" algn="just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800" b="1" kern="1200" noProof="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按功能：加法、减法和可逆计数器等；</a:t>
            </a:r>
            <a:endParaRPr kumimoji="1" lang="en-US" altLang="zh-CN" sz="2800" b="1" kern="1200" noProof="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R="0" algn="just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8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按计数方式：二进制、十进制、</a:t>
            </a:r>
            <a:r>
              <a:rPr kumimoji="1" lang="en-US" altLang="zh-CN" sz="28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</a:t>
            </a:r>
            <a:r>
              <a:rPr kumimoji="1" lang="zh-CN" altLang="en-US" sz="2800" b="1" kern="12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进制计数器。</a:t>
            </a:r>
            <a:endParaRPr kumimoji="1" lang="zh-CN" altLang="en-US" sz="2800" b="1" i="1" kern="1200" noProof="0" dirty="0">
              <a:ln>
                <a:noFill/>
              </a:ln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异步计数器分析</a:t>
            </a:r>
          </a:p>
        </p:txBody>
      </p:sp>
      <p:grpSp>
        <p:nvGrpSpPr>
          <p:cNvPr id="383" name="组合 239"/>
          <p:cNvGrpSpPr/>
          <p:nvPr/>
        </p:nvGrpSpPr>
        <p:grpSpPr>
          <a:xfrm>
            <a:off x="6002338" y="4240213"/>
            <a:ext cx="2468562" cy="374650"/>
            <a:chOff x="6002213" y="4095526"/>
            <a:chExt cx="2468562" cy="374650"/>
          </a:xfrm>
        </p:grpSpPr>
        <p:sp>
          <p:nvSpPr>
            <p:cNvPr id="1050048" name="Line 74"/>
            <p:cNvSpPr/>
            <p:nvPr/>
          </p:nvSpPr>
          <p:spPr>
            <a:xfrm>
              <a:off x="6002213" y="4101876"/>
              <a:ext cx="0" cy="360363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49" name="Line 74"/>
            <p:cNvSpPr/>
            <p:nvPr/>
          </p:nvSpPr>
          <p:spPr>
            <a:xfrm>
              <a:off x="6822950" y="4109814"/>
              <a:ext cx="0" cy="360362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0" name="Line 74"/>
            <p:cNvSpPr/>
            <p:nvPr/>
          </p:nvSpPr>
          <p:spPr>
            <a:xfrm>
              <a:off x="7646863" y="4103464"/>
              <a:ext cx="0" cy="360362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1" name="Line 74"/>
            <p:cNvSpPr/>
            <p:nvPr/>
          </p:nvSpPr>
          <p:spPr>
            <a:xfrm>
              <a:off x="8470775" y="4095526"/>
              <a:ext cx="0" cy="360363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ysDash"/>
              <a:miter/>
              <a:headEnd type="none" w="med" len="med"/>
              <a:tailEnd type="none" w="med" len="med"/>
            </a:ln>
          </p:spPr>
        </p:sp>
      </p:grpSp>
      <p:grpSp>
        <p:nvGrpSpPr>
          <p:cNvPr id="384" name="组合 238"/>
          <p:cNvGrpSpPr/>
          <p:nvPr/>
        </p:nvGrpSpPr>
        <p:grpSpPr>
          <a:xfrm>
            <a:off x="5588000" y="3865563"/>
            <a:ext cx="2873375" cy="382587"/>
            <a:chOff x="5587413" y="3720876"/>
            <a:chExt cx="2873837" cy="382588"/>
          </a:xfrm>
        </p:grpSpPr>
        <p:sp>
          <p:nvSpPr>
            <p:cNvPr id="1050052" name="Line 74"/>
            <p:cNvSpPr/>
            <p:nvPr/>
          </p:nvSpPr>
          <p:spPr>
            <a:xfrm>
              <a:off x="5587413" y="3735164"/>
              <a:ext cx="0" cy="360362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3" name="Line 74"/>
            <p:cNvSpPr/>
            <p:nvPr/>
          </p:nvSpPr>
          <p:spPr>
            <a:xfrm>
              <a:off x="6002213" y="3727226"/>
              <a:ext cx="0" cy="358775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4" name="Line 74"/>
            <p:cNvSpPr/>
            <p:nvPr/>
          </p:nvSpPr>
          <p:spPr>
            <a:xfrm>
              <a:off x="6419725" y="3744689"/>
              <a:ext cx="0" cy="358775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5" name="Line 74"/>
            <p:cNvSpPr/>
            <p:nvPr/>
          </p:nvSpPr>
          <p:spPr>
            <a:xfrm>
              <a:off x="6832475" y="3735164"/>
              <a:ext cx="0" cy="360362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6" name="Line 74"/>
            <p:cNvSpPr/>
            <p:nvPr/>
          </p:nvSpPr>
          <p:spPr>
            <a:xfrm>
              <a:off x="7235700" y="3738339"/>
              <a:ext cx="0" cy="358775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7" name="Line 74"/>
            <p:cNvSpPr/>
            <p:nvPr/>
          </p:nvSpPr>
          <p:spPr>
            <a:xfrm>
              <a:off x="7646863" y="3728814"/>
              <a:ext cx="0" cy="360362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8" name="Line 74"/>
            <p:cNvSpPr/>
            <p:nvPr/>
          </p:nvSpPr>
          <p:spPr>
            <a:xfrm>
              <a:off x="8050088" y="3728814"/>
              <a:ext cx="0" cy="360362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059" name="Line 74"/>
            <p:cNvSpPr/>
            <p:nvPr/>
          </p:nvSpPr>
          <p:spPr>
            <a:xfrm>
              <a:off x="8461250" y="3720876"/>
              <a:ext cx="0" cy="358775"/>
            </a:xfrm>
            <a:prstGeom prst="line">
              <a:avLst/>
            </a:prstGeom>
            <a:ln w="19050" cap="flat" cmpd="sng">
              <a:solidFill>
                <a:srgbClr val="C00000"/>
              </a:solidFill>
              <a:prstDash val="sysDash"/>
              <a:miter/>
              <a:headEnd type="none" w="med" len="med"/>
              <a:tailEnd type="none" w="med" len="med"/>
            </a:ln>
          </p:spPr>
        </p:sp>
      </p:grpSp>
      <p:sp>
        <p:nvSpPr>
          <p:cNvPr id="1050060" name="矩形 146"/>
          <p:cNvSpPr/>
          <p:nvPr/>
        </p:nvSpPr>
        <p:spPr>
          <a:xfrm>
            <a:off x="4791075" y="2163763"/>
            <a:ext cx="4032250" cy="2159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50061" name="矩形 145"/>
          <p:cNvSpPr/>
          <p:nvPr/>
        </p:nvSpPr>
        <p:spPr>
          <a:xfrm>
            <a:off x="4791075" y="1911350"/>
            <a:ext cx="4032250" cy="2524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50062" name="矩形 144"/>
          <p:cNvSpPr/>
          <p:nvPr/>
        </p:nvSpPr>
        <p:spPr>
          <a:xfrm>
            <a:off x="4784725" y="1700213"/>
            <a:ext cx="4032250" cy="2159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50063" name="矩形 143"/>
          <p:cNvSpPr/>
          <p:nvPr/>
        </p:nvSpPr>
        <p:spPr>
          <a:xfrm>
            <a:off x="4784725" y="1452563"/>
            <a:ext cx="4032250" cy="2524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4194306" name="表格 13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5357996"/>
              </p:ext>
            </p:extLst>
          </p:nvPr>
        </p:nvGraphicFramePr>
        <p:xfrm>
          <a:off x="4787900" y="1070928"/>
          <a:ext cx="4032251" cy="228570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599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时钟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3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2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86" name="Group 59"/>
          <p:cNvGrpSpPr/>
          <p:nvPr/>
        </p:nvGrpSpPr>
        <p:grpSpPr>
          <a:xfrm>
            <a:off x="539750" y="3867150"/>
            <a:ext cx="2808605" cy="338455"/>
            <a:chOff x="144" y="2976"/>
            <a:chExt cx="1769" cy="284"/>
          </a:xfrm>
        </p:grpSpPr>
        <p:sp>
          <p:nvSpPr>
            <p:cNvPr id="1050065" name="Text Box 60"/>
            <p:cNvSpPr txBox="1">
              <a:spLocks noChangeArrowheads="1"/>
            </p:cNvSpPr>
            <p:nvPr/>
          </p:nvSpPr>
          <p:spPr bwMode="auto">
            <a:xfrm>
              <a:off x="144" y="2976"/>
              <a:ext cx="1769" cy="2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J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+ K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 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</a:t>
              </a:r>
              <a:r>
                <a:rPr kumimoji="0" lang="zh-CN" altLang="en-US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</a:p>
          </p:txBody>
        </p:sp>
        <p:sp>
          <p:nvSpPr>
            <p:cNvPr id="1050066" name="Line 61"/>
            <p:cNvSpPr>
              <a:spLocks noChangeShapeType="1"/>
            </p:cNvSpPr>
            <p:nvPr/>
          </p:nvSpPr>
          <p:spPr bwMode="auto">
            <a:xfrm>
              <a:off x="802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67" name="Line 62"/>
            <p:cNvSpPr>
              <a:spLocks noChangeShapeType="1"/>
            </p:cNvSpPr>
            <p:nvPr/>
          </p:nvSpPr>
          <p:spPr bwMode="auto">
            <a:xfrm>
              <a:off x="1550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68" name="Line 63"/>
            <p:cNvSpPr>
              <a:spLocks noChangeShapeType="1"/>
            </p:cNvSpPr>
            <p:nvPr/>
          </p:nvSpPr>
          <p:spPr bwMode="auto">
            <a:xfrm>
              <a:off x="1069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87" name="Group 64"/>
          <p:cNvGrpSpPr/>
          <p:nvPr/>
        </p:nvGrpSpPr>
        <p:grpSpPr>
          <a:xfrm>
            <a:off x="539750" y="4654550"/>
            <a:ext cx="2663825" cy="338455"/>
            <a:chOff x="144" y="2976"/>
            <a:chExt cx="1678" cy="284"/>
          </a:xfrm>
        </p:grpSpPr>
        <p:sp>
          <p:nvSpPr>
            <p:cNvPr id="1050069" name="Text Box 65"/>
            <p:cNvSpPr txBox="1">
              <a:spLocks noChangeArrowheads="1"/>
            </p:cNvSpPr>
            <p:nvPr/>
          </p:nvSpPr>
          <p:spPr bwMode="auto">
            <a:xfrm>
              <a:off x="144" y="2976"/>
              <a:ext cx="1678" cy="2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J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+ K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 </a:t>
              </a:r>
              <a:r>
                <a:rPr kumimoji="0" lang="zh-CN" altLang="en-US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  <a:endParaRPr kumimoji="0" lang="en-US" altLang="zh-CN" sz="1600" b="1" kern="1200" cap="none" spc="0" normalizeH="0" baseline="-25000" noProof="0" dirty="0"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70" name="Line 66"/>
            <p:cNvSpPr>
              <a:spLocks noChangeShapeType="1"/>
            </p:cNvSpPr>
            <p:nvPr/>
          </p:nvSpPr>
          <p:spPr bwMode="auto">
            <a:xfrm>
              <a:off x="806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71" name="Line 67"/>
            <p:cNvSpPr>
              <a:spLocks noChangeShapeType="1"/>
            </p:cNvSpPr>
            <p:nvPr/>
          </p:nvSpPr>
          <p:spPr bwMode="auto">
            <a:xfrm>
              <a:off x="1564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72" name="Line 68"/>
            <p:cNvSpPr>
              <a:spLocks noChangeShapeType="1"/>
            </p:cNvSpPr>
            <p:nvPr/>
          </p:nvSpPr>
          <p:spPr bwMode="auto">
            <a:xfrm>
              <a:off x="1078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88" name="Group 69"/>
          <p:cNvGrpSpPr/>
          <p:nvPr/>
        </p:nvGrpSpPr>
        <p:grpSpPr>
          <a:xfrm>
            <a:off x="539750" y="4243705"/>
            <a:ext cx="2735580" cy="338455"/>
            <a:chOff x="144" y="2976"/>
            <a:chExt cx="1723" cy="284"/>
          </a:xfrm>
        </p:grpSpPr>
        <p:sp>
          <p:nvSpPr>
            <p:cNvPr id="1050073" name="Text Box 70"/>
            <p:cNvSpPr txBox="1">
              <a:spLocks noChangeArrowheads="1"/>
            </p:cNvSpPr>
            <p:nvPr/>
          </p:nvSpPr>
          <p:spPr bwMode="auto">
            <a:xfrm>
              <a:off x="144" y="2976"/>
              <a:ext cx="1723" cy="2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J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+ K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 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</a:t>
              </a:r>
              <a:r>
                <a:rPr kumimoji="0" lang="zh-CN" altLang="en-US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</a:p>
          </p:txBody>
        </p:sp>
        <p:sp>
          <p:nvSpPr>
            <p:cNvPr id="1050074" name="Line 71"/>
            <p:cNvSpPr>
              <a:spLocks noChangeShapeType="1"/>
            </p:cNvSpPr>
            <p:nvPr/>
          </p:nvSpPr>
          <p:spPr bwMode="auto">
            <a:xfrm>
              <a:off x="802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75" name="Line 72"/>
            <p:cNvSpPr>
              <a:spLocks noChangeShapeType="1"/>
            </p:cNvSpPr>
            <p:nvPr/>
          </p:nvSpPr>
          <p:spPr bwMode="auto">
            <a:xfrm>
              <a:off x="1573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076" name="Line 73"/>
            <p:cNvSpPr>
              <a:spLocks noChangeShapeType="1"/>
            </p:cNvSpPr>
            <p:nvPr/>
          </p:nvSpPr>
          <p:spPr bwMode="auto">
            <a:xfrm>
              <a:off x="1074" y="3024"/>
              <a:ext cx="9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50077" name="Text Box 58"/>
          <p:cNvSpPr txBox="1">
            <a:spLocks noChangeArrowheads="1"/>
          </p:cNvSpPr>
          <p:nvPr/>
        </p:nvSpPr>
        <p:spPr bwMode="auto">
          <a:xfrm>
            <a:off x="539750" y="2490788"/>
            <a:ext cx="2447925" cy="8718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85000"/>
              </a:lnSpc>
              <a:spcBef>
                <a:spcPts val="6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J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K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=1     CP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↓</a:t>
            </a:r>
            <a:endParaRPr kumimoji="0" lang="zh-CN" altLang="en-US" sz="16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85000"/>
              </a:lnSpc>
              <a:spcBef>
                <a:spcPts val="6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J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K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=1     CP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Y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1600" b="1" kern="1200" cap="none" spc="0" normalizeH="0" baseline="0" noProof="0" dirty="0">
                <a:latin typeface="+mn-ea"/>
                <a:ea typeface="宋体" pitchFamily="2" charset="-122"/>
                <a:cs typeface="+mn-cs"/>
              </a:rPr>
              <a:t>↓</a:t>
            </a:r>
            <a:endParaRPr kumimoji="0" lang="zh-CN" altLang="en-US" sz="1600" b="1" kern="1200" cap="none" spc="0" normalizeH="0" baseline="0" noProof="0" dirty="0"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R="0" defTabSz="914400" eaLnBrk="1" hangingPunct="1">
              <a:lnSpc>
                <a:spcPct val="85000"/>
              </a:lnSpc>
              <a:spcBef>
                <a:spcPts val="6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J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3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K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3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=1     CP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3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Y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</a:t>
            </a:r>
            <a:r>
              <a:rPr kumimoji="0" lang="en-US" altLang="zh-CN" sz="1600" b="1" kern="1200" cap="none" spc="0" normalizeH="0" baseline="0" noProof="0" dirty="0">
                <a:latin typeface="+mn-ea"/>
                <a:ea typeface="宋体" pitchFamily="2" charset="-122"/>
                <a:cs typeface="+mn-cs"/>
              </a:rPr>
              <a:t>↓</a:t>
            </a:r>
            <a:endParaRPr kumimoji="0" lang="zh-CN" altLang="en-US" sz="1600" b="1" kern="1200" cap="none" spc="0" normalizeH="0" baseline="0" noProof="0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50078" name="Text Box 81"/>
          <p:cNvSpPr txBox="1"/>
          <p:nvPr/>
        </p:nvSpPr>
        <p:spPr>
          <a:xfrm>
            <a:off x="250825" y="1995488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AutoNum type="circleNumDbPlain"/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</a:p>
        </p:txBody>
      </p:sp>
      <p:sp>
        <p:nvSpPr>
          <p:cNvPr id="1050079" name="Text Box 83"/>
          <p:cNvSpPr txBox="1"/>
          <p:nvPr/>
        </p:nvSpPr>
        <p:spPr>
          <a:xfrm>
            <a:off x="250825" y="3435350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AutoNum type="circleNumDbPlain" startAt="2"/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</a:p>
        </p:txBody>
      </p:sp>
      <p:grpSp>
        <p:nvGrpSpPr>
          <p:cNvPr id="389" name="组合 76"/>
          <p:cNvGrpSpPr/>
          <p:nvPr/>
        </p:nvGrpSpPr>
        <p:grpSpPr>
          <a:xfrm>
            <a:off x="352425" y="771525"/>
            <a:ext cx="4279900" cy="1341438"/>
            <a:chOff x="505036" y="823813"/>
            <a:chExt cx="4280325" cy="1341602"/>
          </a:xfrm>
        </p:grpSpPr>
        <p:cxnSp>
          <p:nvCxnSpPr>
            <p:cNvPr id="3145981" name="直接连接符 34"/>
            <p:cNvCxnSpPr/>
            <p:nvPr/>
          </p:nvCxnSpPr>
          <p:spPr>
            <a:xfrm rot="5400000">
              <a:off x="796733" y="1580931"/>
              <a:ext cx="395871" cy="15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med" len="med"/>
              <a:tailEnd type="none" w="sm" len="sm"/>
            </a:ln>
          </p:spPr>
        </p:cxnSp>
        <p:grpSp>
          <p:nvGrpSpPr>
            <p:cNvPr id="390" name="组合 16"/>
            <p:cNvGrpSpPr/>
            <p:nvPr/>
          </p:nvGrpSpPr>
          <p:grpSpPr>
            <a:xfrm>
              <a:off x="639138" y="956734"/>
              <a:ext cx="799457" cy="756000"/>
              <a:chOff x="1853777" y="2429036"/>
              <a:chExt cx="799525" cy="756403"/>
            </a:xfrm>
          </p:grpSpPr>
          <p:cxnSp>
            <p:nvCxnSpPr>
              <p:cNvPr id="3145982" name="直接连接符 17"/>
              <p:cNvCxnSpPr/>
              <p:nvPr/>
            </p:nvCxnSpPr>
            <p:spPr>
              <a:xfrm rot="5400000">
                <a:off x="2202954" y="2945439"/>
                <a:ext cx="46825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5983" name="直接连接符 18"/>
              <p:cNvCxnSpPr/>
              <p:nvPr/>
            </p:nvCxnSpPr>
            <p:spPr>
              <a:xfrm rot="5400000">
                <a:off x="1628380" y="2806443"/>
                <a:ext cx="756403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080" name="矩形 19"/>
              <p:cNvSpPr/>
              <p:nvPr/>
            </p:nvSpPr>
            <p:spPr>
              <a:xfrm>
                <a:off x="1876394" y="2643187"/>
                <a:ext cx="720065" cy="432231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081" name="TextBox 132"/>
              <p:cNvSpPr txBox="1">
                <a:spLocks noChangeArrowheads="1"/>
              </p:cNvSpPr>
              <p:nvPr/>
            </p:nvSpPr>
            <p:spPr bwMode="auto">
              <a:xfrm>
                <a:off x="2296032" y="2863153"/>
                <a:ext cx="357253" cy="2446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K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082" name="TextBox 133"/>
              <p:cNvSpPr txBox="1">
                <a:spLocks noChangeArrowheads="1"/>
              </p:cNvSpPr>
              <p:nvPr/>
            </p:nvSpPr>
            <p:spPr bwMode="auto">
              <a:xfrm>
                <a:off x="1853038" y="2608987"/>
                <a:ext cx="357254" cy="246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3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083" name="TextBox 134"/>
              <p:cNvSpPr txBox="1">
                <a:spLocks noChangeArrowheads="1"/>
              </p:cNvSpPr>
              <p:nvPr/>
            </p:nvSpPr>
            <p:spPr bwMode="auto">
              <a:xfrm>
                <a:off x="2261101" y="2628049"/>
                <a:ext cx="357253" cy="2462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3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5984" name="直接连接符 25"/>
              <p:cNvCxnSpPr/>
              <p:nvPr/>
            </p:nvCxnSpPr>
            <p:spPr>
              <a:xfrm>
                <a:off x="2357727" y="2681298"/>
                <a:ext cx="93599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0084" name="等腰三角形 36"/>
            <p:cNvSpPr/>
            <p:nvPr/>
          </p:nvSpPr>
          <p:spPr>
            <a:xfrm>
              <a:off x="940218" y="1495182"/>
              <a:ext cx="108000" cy="108000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085" name="TextBox 80"/>
            <p:cNvSpPr txBox="1">
              <a:spLocks noChangeArrowheads="1"/>
            </p:cNvSpPr>
            <p:nvPr/>
          </p:nvSpPr>
          <p:spPr bwMode="auto">
            <a:xfrm>
              <a:off x="846383" y="1331875"/>
              <a:ext cx="422317" cy="214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086" name="椭圆 93"/>
            <p:cNvSpPr/>
            <p:nvPr/>
          </p:nvSpPr>
          <p:spPr>
            <a:xfrm>
              <a:off x="577037" y="1325996"/>
              <a:ext cx="71431" cy="7141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985" name="直接连接符 34"/>
            <p:cNvCxnSpPr/>
            <p:nvPr/>
          </p:nvCxnSpPr>
          <p:spPr>
            <a:xfrm rot="5400000">
              <a:off x="2251372" y="1580932"/>
              <a:ext cx="395872" cy="15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sm" len="sm"/>
            </a:ln>
          </p:spPr>
        </p:cxnSp>
        <p:grpSp>
          <p:nvGrpSpPr>
            <p:cNvPr id="391" name="组合 16"/>
            <p:cNvGrpSpPr/>
            <p:nvPr/>
          </p:nvGrpSpPr>
          <p:grpSpPr>
            <a:xfrm>
              <a:off x="2098687" y="930801"/>
              <a:ext cx="789295" cy="791999"/>
              <a:chOff x="1863782" y="2403094"/>
              <a:chExt cx="789362" cy="792423"/>
            </a:xfrm>
          </p:grpSpPr>
          <p:cxnSp>
            <p:nvCxnSpPr>
              <p:cNvPr id="3145986" name="直接连接符 17"/>
              <p:cNvCxnSpPr/>
              <p:nvPr/>
            </p:nvCxnSpPr>
            <p:spPr>
              <a:xfrm rot="5400000">
                <a:off x="2163516" y="2908983"/>
                <a:ext cx="540289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5987" name="直接连接符 18"/>
              <p:cNvCxnSpPr/>
              <p:nvPr/>
            </p:nvCxnSpPr>
            <p:spPr>
              <a:xfrm rot="5400000">
                <a:off x="1624329" y="2798511"/>
                <a:ext cx="792423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087" name="矩形 19"/>
              <p:cNvSpPr/>
              <p:nvPr/>
            </p:nvSpPr>
            <p:spPr>
              <a:xfrm>
                <a:off x="1876406" y="2643187"/>
                <a:ext cx="720066" cy="432232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088" name="TextBox 125"/>
              <p:cNvSpPr txBox="1">
                <a:spLocks noChangeArrowheads="1"/>
              </p:cNvSpPr>
              <p:nvPr/>
            </p:nvSpPr>
            <p:spPr bwMode="auto">
              <a:xfrm>
                <a:off x="2296018" y="2877456"/>
                <a:ext cx="357254" cy="24622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K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089" name="TextBox 126"/>
              <p:cNvSpPr txBox="1">
                <a:spLocks noChangeArrowheads="1"/>
              </p:cNvSpPr>
              <p:nvPr/>
            </p:nvSpPr>
            <p:spPr bwMode="auto">
              <a:xfrm>
                <a:off x="1864139" y="2618524"/>
                <a:ext cx="357254" cy="24622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090" name="TextBox 127"/>
              <p:cNvSpPr txBox="1">
                <a:spLocks noChangeArrowheads="1"/>
              </p:cNvSpPr>
              <p:nvPr/>
            </p:nvSpPr>
            <p:spPr bwMode="auto">
              <a:xfrm>
                <a:off x="2251560" y="2628055"/>
                <a:ext cx="357254" cy="24622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5988" name="直接连接符 25"/>
              <p:cNvCxnSpPr/>
              <p:nvPr/>
            </p:nvCxnSpPr>
            <p:spPr>
              <a:xfrm>
                <a:off x="2361181" y="2681298"/>
                <a:ext cx="93599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0091" name="等腰三角形 36"/>
            <p:cNvSpPr/>
            <p:nvPr/>
          </p:nvSpPr>
          <p:spPr>
            <a:xfrm>
              <a:off x="2394858" y="1489546"/>
              <a:ext cx="108000" cy="108000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092" name="TextBox 85"/>
            <p:cNvSpPr txBox="1">
              <a:spLocks noChangeArrowheads="1"/>
            </p:cNvSpPr>
            <p:nvPr/>
          </p:nvSpPr>
          <p:spPr bwMode="auto">
            <a:xfrm>
              <a:off x="2275275" y="1347752"/>
              <a:ext cx="368337" cy="214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093" name="椭圆 93"/>
            <p:cNvSpPr/>
            <p:nvPr/>
          </p:nvSpPr>
          <p:spPr>
            <a:xfrm>
              <a:off x="2031361" y="1347590"/>
              <a:ext cx="71431" cy="7141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989" name="直接连接符 34"/>
            <p:cNvCxnSpPr/>
            <p:nvPr/>
          </p:nvCxnSpPr>
          <p:spPr>
            <a:xfrm rot="5400000">
              <a:off x="3689638" y="1832516"/>
              <a:ext cx="395872" cy="15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90" name="直接连接符 17"/>
            <p:cNvCxnSpPr/>
            <p:nvPr/>
          </p:nvCxnSpPr>
          <p:spPr>
            <a:xfrm rot="5400000">
              <a:off x="3884947" y="1555468"/>
              <a:ext cx="396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91" name="直接连接符 18"/>
            <p:cNvCxnSpPr/>
            <p:nvPr/>
          </p:nvCxnSpPr>
          <p:spPr>
            <a:xfrm rot="5400000">
              <a:off x="3269622" y="1351412"/>
              <a:ext cx="792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094" name="矩形 19"/>
            <p:cNvSpPr/>
            <p:nvPr/>
          </p:nvSpPr>
          <p:spPr>
            <a:xfrm>
              <a:off x="3541809" y="1203646"/>
              <a:ext cx="720000" cy="432000"/>
            </a:xfrm>
            <a:prstGeom prst="rect">
              <a:avLst/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095" name="TextBox 91"/>
            <p:cNvSpPr txBox="1">
              <a:spLocks noChangeArrowheads="1"/>
            </p:cNvSpPr>
            <p:nvPr/>
          </p:nvSpPr>
          <p:spPr bwMode="auto">
            <a:xfrm>
              <a:off x="3953428" y="1446189"/>
              <a:ext cx="357223" cy="2460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K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096" name="TextBox 92"/>
            <p:cNvSpPr txBox="1">
              <a:spLocks noChangeArrowheads="1"/>
            </p:cNvSpPr>
            <p:nvPr/>
          </p:nvSpPr>
          <p:spPr bwMode="auto">
            <a:xfrm>
              <a:off x="3529524" y="1176281"/>
              <a:ext cx="357222" cy="2460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rPr>
                <a:t>1</a:t>
              </a:r>
              <a:endParaRPr kumimoji="1" lang="zh-CN" altLang="en-US" sz="10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097" name="TextBox 93"/>
            <p:cNvSpPr txBox="1">
              <a:spLocks noChangeArrowheads="1"/>
            </p:cNvSpPr>
            <p:nvPr/>
          </p:nvSpPr>
          <p:spPr bwMode="auto">
            <a:xfrm>
              <a:off x="3928026" y="1176281"/>
              <a:ext cx="357223" cy="24609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rPr>
                <a:t>1</a:t>
              </a:r>
              <a:endParaRPr kumimoji="1" lang="zh-CN" altLang="en-US" sz="10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3145992" name="直接连接符 25"/>
            <p:cNvCxnSpPr/>
            <p:nvPr/>
          </p:nvCxnSpPr>
          <p:spPr>
            <a:xfrm>
              <a:off x="4023103" y="1234242"/>
              <a:ext cx="93591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098" name="等腰三角形 36"/>
            <p:cNvSpPr/>
            <p:nvPr/>
          </p:nvSpPr>
          <p:spPr>
            <a:xfrm>
              <a:off x="3825369" y="1527646"/>
              <a:ext cx="108000" cy="108000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099" name="TextBox 96"/>
            <p:cNvSpPr txBox="1">
              <a:spLocks noChangeArrowheads="1"/>
            </p:cNvSpPr>
            <p:nvPr/>
          </p:nvSpPr>
          <p:spPr bwMode="auto">
            <a:xfrm>
              <a:off x="3721630" y="1352516"/>
              <a:ext cx="422317" cy="214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100" name="椭圆 93"/>
            <p:cNvSpPr/>
            <p:nvPr/>
          </p:nvSpPr>
          <p:spPr>
            <a:xfrm>
              <a:off x="3457108" y="1383150"/>
              <a:ext cx="71431" cy="7141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5993" name="直接连接符 137"/>
            <p:cNvCxnSpPr/>
            <p:nvPr/>
          </p:nvCxnSpPr>
          <p:spPr>
            <a:xfrm flipH="1">
              <a:off x="997000" y="1779662"/>
              <a:ext cx="64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101" name="Text Box 69"/>
            <p:cNvSpPr txBox="1"/>
            <p:nvPr/>
          </p:nvSpPr>
          <p:spPr>
            <a:xfrm>
              <a:off x="4281305" y="1857638"/>
              <a:ext cx="504056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CP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1 </a:t>
              </a:r>
            </a:p>
          </p:txBody>
        </p:sp>
        <p:cxnSp>
          <p:nvCxnSpPr>
            <p:cNvPr id="3145994" name="直接连接符 140"/>
            <p:cNvCxnSpPr/>
            <p:nvPr/>
          </p:nvCxnSpPr>
          <p:spPr>
            <a:xfrm>
              <a:off x="505036" y="1354562"/>
              <a:ext cx="72002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95" name="直接连接符 142"/>
            <p:cNvCxnSpPr/>
            <p:nvPr/>
          </p:nvCxnSpPr>
          <p:spPr>
            <a:xfrm>
              <a:off x="509798" y="1349800"/>
              <a:ext cx="0" cy="504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96" name="直接连接符 143"/>
            <p:cNvCxnSpPr/>
            <p:nvPr/>
          </p:nvCxnSpPr>
          <p:spPr>
            <a:xfrm flipH="1">
              <a:off x="511707" y="1841510"/>
              <a:ext cx="3851667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97" name="直接连接符 144"/>
            <p:cNvCxnSpPr/>
            <p:nvPr/>
          </p:nvCxnSpPr>
          <p:spPr>
            <a:xfrm>
              <a:off x="1949834" y="1378982"/>
              <a:ext cx="72002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5998" name="直接连接符 145"/>
            <p:cNvCxnSpPr/>
            <p:nvPr/>
          </p:nvCxnSpPr>
          <p:spPr>
            <a:xfrm>
              <a:off x="1954596" y="1378574"/>
              <a:ext cx="0" cy="468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5999" name="直接连接符 146"/>
            <p:cNvCxnSpPr/>
            <p:nvPr/>
          </p:nvCxnSpPr>
          <p:spPr>
            <a:xfrm>
              <a:off x="3385107" y="1413859"/>
              <a:ext cx="72002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00" name="直接连接符 147"/>
            <p:cNvCxnSpPr/>
            <p:nvPr/>
          </p:nvCxnSpPr>
          <p:spPr>
            <a:xfrm>
              <a:off x="3389869" y="1409097"/>
              <a:ext cx="0" cy="432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0102" name="Text Box 69"/>
            <p:cNvSpPr txBox="1"/>
            <p:nvPr/>
          </p:nvSpPr>
          <p:spPr>
            <a:xfrm>
              <a:off x="4295658" y="1635646"/>
              <a:ext cx="418832" cy="3076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sp>
          <p:nvSpPr>
            <p:cNvPr id="1050103" name="Text Box 11"/>
            <p:cNvSpPr txBox="1"/>
            <p:nvPr/>
          </p:nvSpPr>
          <p:spPr>
            <a:xfrm>
              <a:off x="3635896" y="843558"/>
              <a:ext cx="678516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Arial" panose="020B0604020202090204" pitchFamily="34" charset="0"/>
                </a:rPr>
                <a:t>Y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1</a:t>
              </a:r>
              <a:endParaRPr lang="en-US" altLang="zh-CN" sz="1400" b="1" dirty="0">
                <a:latin typeface="Arial" panose="020B0604020202090204" pitchFamily="34" charset="0"/>
              </a:endParaRPr>
            </a:p>
          </p:txBody>
        </p:sp>
        <p:sp>
          <p:nvSpPr>
            <p:cNvPr id="1050104" name="Text Box 36"/>
            <p:cNvSpPr txBox="1"/>
            <p:nvPr/>
          </p:nvSpPr>
          <p:spPr>
            <a:xfrm>
              <a:off x="2252504" y="823813"/>
              <a:ext cx="504056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Arial" panose="020B0604020202090204" pitchFamily="34" charset="0"/>
                </a:rPr>
                <a:t>Y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2</a:t>
              </a:r>
              <a:endParaRPr lang="en-US" altLang="zh-CN" sz="1400" b="1" dirty="0">
                <a:latin typeface="Arial" panose="020B0604020202090204" pitchFamily="34" charset="0"/>
              </a:endParaRPr>
            </a:p>
          </p:txBody>
        </p:sp>
        <p:sp>
          <p:nvSpPr>
            <p:cNvPr id="1050105" name="Text Box 37"/>
            <p:cNvSpPr txBox="1"/>
            <p:nvPr/>
          </p:nvSpPr>
          <p:spPr>
            <a:xfrm>
              <a:off x="755576" y="823813"/>
              <a:ext cx="432048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Arial" panose="020B0604020202090204" pitchFamily="34" charset="0"/>
                </a:rPr>
                <a:t>Y</a:t>
              </a:r>
              <a:r>
                <a:rPr lang="en-US" altLang="zh-CN" sz="1400" b="1" baseline="-25000" dirty="0">
                  <a:latin typeface="Arial" panose="020B0604020202090204" pitchFamily="34" charset="0"/>
                </a:rPr>
                <a:t>3</a:t>
              </a:r>
              <a:endParaRPr lang="en-US" altLang="zh-CN" sz="1400" b="1" dirty="0">
                <a:latin typeface="Arial" panose="020B0604020202090204" pitchFamily="34" charset="0"/>
              </a:endParaRPr>
            </a:p>
          </p:txBody>
        </p:sp>
        <p:sp>
          <p:nvSpPr>
            <p:cNvPr id="1050106" name="TextBox 111"/>
            <p:cNvSpPr txBox="1">
              <a:spLocks noChangeArrowheads="1"/>
            </p:cNvSpPr>
            <p:nvPr/>
          </p:nvSpPr>
          <p:spPr bwMode="auto">
            <a:xfrm>
              <a:off x="652689" y="1400146"/>
              <a:ext cx="247675" cy="2460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J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107" name="TextBox 112"/>
            <p:cNvSpPr txBox="1">
              <a:spLocks noChangeArrowheads="1"/>
            </p:cNvSpPr>
            <p:nvPr/>
          </p:nvSpPr>
          <p:spPr bwMode="auto">
            <a:xfrm>
              <a:off x="2111746" y="1419199"/>
              <a:ext cx="300068" cy="2460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J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108" name="椭圆 93"/>
            <p:cNvSpPr/>
            <p:nvPr/>
          </p:nvSpPr>
          <p:spPr>
            <a:xfrm>
              <a:off x="962017" y="1605759"/>
              <a:ext cx="71431" cy="7141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109" name="椭圆 93"/>
            <p:cNvSpPr/>
            <p:nvPr/>
          </p:nvSpPr>
          <p:spPr>
            <a:xfrm>
              <a:off x="2412337" y="1610246"/>
              <a:ext cx="71431" cy="7141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110" name="椭圆 93"/>
            <p:cNvSpPr/>
            <p:nvPr/>
          </p:nvSpPr>
          <p:spPr>
            <a:xfrm>
              <a:off x="3851920" y="1630566"/>
              <a:ext cx="71431" cy="7141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001" name="直接连接符 137"/>
            <p:cNvCxnSpPr/>
            <p:nvPr/>
          </p:nvCxnSpPr>
          <p:spPr>
            <a:xfrm flipH="1">
              <a:off x="1629832" y="1059582"/>
              <a:ext cx="6264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cxnSp>
        <p:cxnSp>
          <p:nvCxnSpPr>
            <p:cNvPr id="3146002" name="直接连接符 142"/>
            <p:cNvCxnSpPr/>
            <p:nvPr/>
          </p:nvCxnSpPr>
          <p:spPr>
            <a:xfrm>
              <a:off x="1634912" y="1059582"/>
              <a:ext cx="0" cy="72000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03" name="直接连接符 137"/>
            <p:cNvCxnSpPr/>
            <p:nvPr/>
          </p:nvCxnSpPr>
          <p:spPr>
            <a:xfrm flipH="1">
              <a:off x="3039512" y="1059582"/>
              <a:ext cx="6264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cxnSp>
        <p:cxnSp>
          <p:nvCxnSpPr>
            <p:cNvPr id="3146004" name="直接连接符 142"/>
            <p:cNvCxnSpPr/>
            <p:nvPr/>
          </p:nvCxnSpPr>
          <p:spPr>
            <a:xfrm>
              <a:off x="3044592" y="1059582"/>
              <a:ext cx="0" cy="72000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05" name="直接连接符 137"/>
            <p:cNvCxnSpPr/>
            <p:nvPr/>
          </p:nvCxnSpPr>
          <p:spPr>
            <a:xfrm flipH="1">
              <a:off x="2447320" y="1774582"/>
              <a:ext cx="5904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06" name="直接连接符 137"/>
            <p:cNvCxnSpPr/>
            <p:nvPr/>
          </p:nvCxnSpPr>
          <p:spPr>
            <a:xfrm flipH="1">
              <a:off x="3887480" y="2021086"/>
              <a:ext cx="468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050111" name="TextBox 139"/>
          <p:cNvSpPr txBox="1">
            <a:spLocks noChangeArrowheads="1"/>
          </p:cNvSpPr>
          <p:nvPr/>
        </p:nvSpPr>
        <p:spPr bwMode="auto">
          <a:xfrm>
            <a:off x="3376613" y="1389063"/>
            <a:ext cx="357188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</a:pPr>
            <a:r>
              <a:rPr kumimoji="1" lang="en-US" altLang="zh-CN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rPr>
              <a:t>J</a:t>
            </a:r>
            <a:endParaRPr kumimoji="1" lang="zh-CN" altLang="en-US" sz="1000" b="1" kern="1200" cap="none" spc="0" normalizeH="0" baseline="0" noProof="0" dirty="0">
              <a:latin typeface="+mj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50112" name="Text Box 58"/>
          <p:cNvSpPr txBox="1">
            <a:spLocks noChangeArrowheads="1"/>
          </p:cNvSpPr>
          <p:nvPr/>
        </p:nvSpPr>
        <p:spPr bwMode="auto">
          <a:xfrm>
            <a:off x="3215958" y="3884613"/>
            <a:ext cx="855663" cy="11283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85000"/>
              </a:lnSpc>
              <a:spcBef>
                <a:spcPts val="16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solidFill>
                  <a:srgbClr val="C00000"/>
                </a:solidFill>
                <a:latin typeface="Arial" panose="020B0604020202090204" pitchFamily="34" charset="0"/>
                <a:ea typeface="宋体" pitchFamily="2" charset="-122"/>
                <a:cs typeface="+mn-cs"/>
              </a:rPr>
              <a:t>CP</a:t>
            </a:r>
            <a:r>
              <a:rPr kumimoji="0" lang="en-US" altLang="zh-CN" sz="1600" b="1" kern="1200" cap="none" spc="0" normalizeH="0" baseline="-25000" noProof="0" dirty="0">
                <a:solidFill>
                  <a:srgbClr val="C00000"/>
                </a:solidFill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1600" b="1" kern="1200" cap="none" spc="0" normalizeH="0" baseline="0" noProof="0" dirty="0">
                <a:solidFill>
                  <a:srgbClr val="C00000"/>
                </a:solidFill>
                <a:latin typeface="+mn-ea"/>
                <a:ea typeface="+mn-ea"/>
                <a:cs typeface="+mn-cs"/>
              </a:rPr>
              <a:t>↓</a:t>
            </a:r>
            <a:endParaRPr kumimoji="0" lang="zh-CN" altLang="en-US" sz="1600" b="1" kern="1200" cap="none" spc="0" normalizeH="0" baseline="0" noProof="0" dirty="0">
              <a:solidFill>
                <a:srgbClr val="C00000"/>
              </a:solidFill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85000"/>
              </a:lnSpc>
              <a:spcBef>
                <a:spcPts val="16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solidFill>
                  <a:srgbClr val="C00000"/>
                </a:solidFill>
                <a:latin typeface="Arial" panose="020B0604020202090204" pitchFamily="34" charset="0"/>
                <a:ea typeface="宋体" pitchFamily="2" charset="-122"/>
                <a:cs typeface="+mn-cs"/>
              </a:rPr>
              <a:t>Y</a:t>
            </a:r>
            <a:r>
              <a:rPr kumimoji="0" lang="en-US" altLang="zh-CN" sz="1600" b="1" kern="1200" cap="none" spc="0" normalizeH="0" baseline="-25000" noProof="0" dirty="0">
                <a:solidFill>
                  <a:srgbClr val="C00000"/>
                </a:solidFill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1600" b="1" kern="1200" cap="none" spc="0" normalizeH="0" baseline="0" noProof="0" dirty="0">
                <a:solidFill>
                  <a:srgbClr val="C00000"/>
                </a:solidFill>
                <a:latin typeface="+mn-ea"/>
                <a:ea typeface="宋体" pitchFamily="2" charset="-122"/>
                <a:cs typeface="+mn-cs"/>
              </a:rPr>
              <a:t>↓</a:t>
            </a:r>
            <a:endParaRPr kumimoji="0" lang="zh-CN" altLang="en-US" sz="1600" b="1" kern="1200" cap="none" spc="0" normalizeH="0" baseline="0" noProof="0" dirty="0">
              <a:solidFill>
                <a:srgbClr val="C00000"/>
              </a:solidFill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R="0" defTabSz="914400" eaLnBrk="1" hangingPunct="1">
              <a:lnSpc>
                <a:spcPct val="85000"/>
              </a:lnSpc>
              <a:spcBef>
                <a:spcPts val="16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solidFill>
                  <a:srgbClr val="C00000"/>
                </a:solidFill>
                <a:latin typeface="Arial" panose="020B0604020202090204" pitchFamily="34" charset="0"/>
                <a:ea typeface="宋体" pitchFamily="2" charset="-122"/>
                <a:cs typeface="+mn-cs"/>
              </a:rPr>
              <a:t>Y</a:t>
            </a:r>
            <a:r>
              <a:rPr kumimoji="0" lang="en-US" altLang="zh-CN" sz="1600" b="1" kern="1200" cap="none" spc="0" normalizeH="0" baseline="-25000" noProof="0" dirty="0">
                <a:solidFill>
                  <a:srgbClr val="C00000"/>
                </a:solidFill>
                <a:latin typeface="Arial" panose="020B0604020202090204" pitchFamily="34" charset="0"/>
                <a:ea typeface="宋体" pitchFamily="2" charset="-122"/>
                <a:cs typeface="+mn-cs"/>
              </a:rPr>
              <a:t>2</a:t>
            </a:r>
            <a:r>
              <a:rPr kumimoji="0" lang="en-US" altLang="zh-CN" sz="1600" b="1" kern="1200" cap="none" spc="0" normalizeH="0" baseline="0" noProof="0" dirty="0">
                <a:solidFill>
                  <a:srgbClr val="C00000"/>
                </a:solidFill>
                <a:latin typeface="+mn-ea"/>
                <a:ea typeface="宋体" pitchFamily="2" charset="-122"/>
                <a:cs typeface="+mn-cs"/>
              </a:rPr>
              <a:t>↓</a:t>
            </a:r>
            <a:endParaRPr kumimoji="0" lang="zh-CN" altLang="en-US" sz="1600" b="1" kern="1200" cap="none" spc="0" normalizeH="0" baseline="0" noProof="0" dirty="0">
              <a:solidFill>
                <a:srgbClr val="C00000"/>
              </a:solidFill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392" name="Group 4"/>
          <p:cNvGrpSpPr/>
          <p:nvPr/>
        </p:nvGrpSpPr>
        <p:grpSpPr>
          <a:xfrm>
            <a:off x="5186363" y="3752850"/>
            <a:ext cx="3482975" cy="165100"/>
            <a:chOff x="864" y="768"/>
            <a:chExt cx="4080" cy="240"/>
          </a:xfrm>
        </p:grpSpPr>
        <p:sp>
          <p:nvSpPr>
            <p:cNvPr id="1050113" name="Line 5"/>
            <p:cNvSpPr/>
            <p:nvPr/>
          </p:nvSpPr>
          <p:spPr>
            <a:xfrm>
              <a:off x="110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14" name="Line 6"/>
            <p:cNvSpPr/>
            <p:nvPr/>
          </p:nvSpPr>
          <p:spPr>
            <a:xfrm>
              <a:off x="134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15" name="Line 7"/>
            <p:cNvSpPr/>
            <p:nvPr/>
          </p:nvSpPr>
          <p:spPr>
            <a:xfrm>
              <a:off x="110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16" name="Line 8"/>
            <p:cNvSpPr/>
            <p:nvPr/>
          </p:nvSpPr>
          <p:spPr>
            <a:xfrm>
              <a:off x="134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17" name="Line 9"/>
            <p:cNvSpPr/>
            <p:nvPr/>
          </p:nvSpPr>
          <p:spPr>
            <a:xfrm>
              <a:off x="158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18" name="Line 10"/>
            <p:cNvSpPr/>
            <p:nvPr/>
          </p:nvSpPr>
          <p:spPr>
            <a:xfrm>
              <a:off x="182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19" name="Line 11"/>
            <p:cNvSpPr/>
            <p:nvPr/>
          </p:nvSpPr>
          <p:spPr>
            <a:xfrm>
              <a:off x="158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0" name="Line 12"/>
            <p:cNvSpPr/>
            <p:nvPr/>
          </p:nvSpPr>
          <p:spPr>
            <a:xfrm>
              <a:off x="182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1" name="Line 13"/>
            <p:cNvSpPr/>
            <p:nvPr/>
          </p:nvSpPr>
          <p:spPr>
            <a:xfrm>
              <a:off x="206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2" name="Line 14"/>
            <p:cNvSpPr/>
            <p:nvPr/>
          </p:nvSpPr>
          <p:spPr>
            <a:xfrm>
              <a:off x="230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23" name="Line 15"/>
            <p:cNvSpPr/>
            <p:nvPr/>
          </p:nvSpPr>
          <p:spPr>
            <a:xfrm>
              <a:off x="206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4" name="Line 16"/>
            <p:cNvSpPr/>
            <p:nvPr/>
          </p:nvSpPr>
          <p:spPr>
            <a:xfrm>
              <a:off x="230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5" name="Line 17"/>
            <p:cNvSpPr/>
            <p:nvPr/>
          </p:nvSpPr>
          <p:spPr>
            <a:xfrm>
              <a:off x="254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6" name="Line 18"/>
            <p:cNvSpPr/>
            <p:nvPr/>
          </p:nvSpPr>
          <p:spPr>
            <a:xfrm>
              <a:off x="278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27" name="Line 19"/>
            <p:cNvSpPr/>
            <p:nvPr/>
          </p:nvSpPr>
          <p:spPr>
            <a:xfrm>
              <a:off x="254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8" name="Line 20"/>
            <p:cNvSpPr/>
            <p:nvPr/>
          </p:nvSpPr>
          <p:spPr>
            <a:xfrm>
              <a:off x="278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29" name="Line 21"/>
            <p:cNvSpPr/>
            <p:nvPr/>
          </p:nvSpPr>
          <p:spPr>
            <a:xfrm>
              <a:off x="86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0" name="Line 22"/>
            <p:cNvSpPr/>
            <p:nvPr/>
          </p:nvSpPr>
          <p:spPr>
            <a:xfrm>
              <a:off x="302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1" name="Line 23"/>
            <p:cNvSpPr/>
            <p:nvPr/>
          </p:nvSpPr>
          <p:spPr>
            <a:xfrm>
              <a:off x="326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32" name="Line 24"/>
            <p:cNvSpPr/>
            <p:nvPr/>
          </p:nvSpPr>
          <p:spPr>
            <a:xfrm>
              <a:off x="302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3" name="Line 25"/>
            <p:cNvSpPr/>
            <p:nvPr/>
          </p:nvSpPr>
          <p:spPr>
            <a:xfrm>
              <a:off x="326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4" name="Line 26"/>
            <p:cNvSpPr/>
            <p:nvPr/>
          </p:nvSpPr>
          <p:spPr>
            <a:xfrm>
              <a:off x="350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5" name="Line 27"/>
            <p:cNvSpPr/>
            <p:nvPr/>
          </p:nvSpPr>
          <p:spPr>
            <a:xfrm>
              <a:off x="374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36" name="Line 28"/>
            <p:cNvSpPr/>
            <p:nvPr/>
          </p:nvSpPr>
          <p:spPr>
            <a:xfrm>
              <a:off x="350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7" name="Line 29"/>
            <p:cNvSpPr/>
            <p:nvPr/>
          </p:nvSpPr>
          <p:spPr>
            <a:xfrm>
              <a:off x="374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8" name="Line 30"/>
            <p:cNvSpPr/>
            <p:nvPr/>
          </p:nvSpPr>
          <p:spPr>
            <a:xfrm>
              <a:off x="398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39" name="Line 31"/>
            <p:cNvSpPr/>
            <p:nvPr/>
          </p:nvSpPr>
          <p:spPr>
            <a:xfrm>
              <a:off x="422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40" name="Line 32"/>
            <p:cNvSpPr/>
            <p:nvPr/>
          </p:nvSpPr>
          <p:spPr>
            <a:xfrm>
              <a:off x="398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1" name="Line 33"/>
            <p:cNvSpPr/>
            <p:nvPr/>
          </p:nvSpPr>
          <p:spPr>
            <a:xfrm>
              <a:off x="422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2" name="Line 34"/>
            <p:cNvSpPr/>
            <p:nvPr/>
          </p:nvSpPr>
          <p:spPr>
            <a:xfrm>
              <a:off x="4464" y="76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3" name="Line 35"/>
            <p:cNvSpPr/>
            <p:nvPr/>
          </p:nvSpPr>
          <p:spPr>
            <a:xfrm>
              <a:off x="470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44" name="Line 36"/>
            <p:cNvSpPr/>
            <p:nvPr/>
          </p:nvSpPr>
          <p:spPr>
            <a:xfrm>
              <a:off x="4464" y="768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5" name="Line 37"/>
            <p:cNvSpPr/>
            <p:nvPr/>
          </p:nvSpPr>
          <p:spPr>
            <a:xfrm>
              <a:off x="470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6" name="Line 38"/>
            <p:cNvSpPr/>
            <p:nvPr/>
          </p:nvSpPr>
          <p:spPr>
            <a:xfrm>
              <a:off x="2784" y="1008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93" name="组合 91"/>
          <p:cNvGrpSpPr/>
          <p:nvPr/>
        </p:nvGrpSpPr>
        <p:grpSpPr>
          <a:xfrm>
            <a:off x="5186363" y="4095750"/>
            <a:ext cx="3687762" cy="166688"/>
            <a:chOff x="1892300" y="1819275"/>
            <a:chExt cx="6858000" cy="285750"/>
          </a:xfrm>
        </p:grpSpPr>
        <p:sp>
          <p:nvSpPr>
            <p:cNvPr id="1050147" name="Line 39"/>
            <p:cNvSpPr/>
            <p:nvPr/>
          </p:nvSpPr>
          <p:spPr>
            <a:xfrm>
              <a:off x="1892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8" name="Line 40"/>
            <p:cNvSpPr/>
            <p:nvPr/>
          </p:nvSpPr>
          <p:spPr>
            <a:xfrm flipV="1">
              <a:off x="2654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49" name="Line 41"/>
            <p:cNvSpPr/>
            <p:nvPr/>
          </p:nvSpPr>
          <p:spPr>
            <a:xfrm>
              <a:off x="2654300" y="181927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0" name="Line 42"/>
            <p:cNvSpPr/>
            <p:nvPr/>
          </p:nvSpPr>
          <p:spPr>
            <a:xfrm>
              <a:off x="3416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51" name="Line 43"/>
            <p:cNvSpPr/>
            <p:nvPr/>
          </p:nvSpPr>
          <p:spPr>
            <a:xfrm>
              <a:off x="3416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2" name="Line 44"/>
            <p:cNvSpPr/>
            <p:nvPr/>
          </p:nvSpPr>
          <p:spPr>
            <a:xfrm>
              <a:off x="3416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3" name="Line 45"/>
            <p:cNvSpPr/>
            <p:nvPr/>
          </p:nvSpPr>
          <p:spPr>
            <a:xfrm flipV="1">
              <a:off x="4178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4" name="Line 46"/>
            <p:cNvSpPr/>
            <p:nvPr/>
          </p:nvSpPr>
          <p:spPr>
            <a:xfrm>
              <a:off x="4178300" y="181927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5" name="Line 47"/>
            <p:cNvSpPr/>
            <p:nvPr/>
          </p:nvSpPr>
          <p:spPr>
            <a:xfrm>
              <a:off x="4940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56" name="Line 48"/>
            <p:cNvSpPr/>
            <p:nvPr/>
          </p:nvSpPr>
          <p:spPr>
            <a:xfrm>
              <a:off x="4940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7" name="Line 49"/>
            <p:cNvSpPr/>
            <p:nvPr/>
          </p:nvSpPr>
          <p:spPr>
            <a:xfrm>
              <a:off x="4940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8" name="Line 50"/>
            <p:cNvSpPr/>
            <p:nvPr/>
          </p:nvSpPr>
          <p:spPr>
            <a:xfrm flipV="1">
              <a:off x="5702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59" name="Line 51"/>
            <p:cNvSpPr/>
            <p:nvPr/>
          </p:nvSpPr>
          <p:spPr>
            <a:xfrm>
              <a:off x="5702300" y="181927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0" name="Line 52"/>
            <p:cNvSpPr/>
            <p:nvPr/>
          </p:nvSpPr>
          <p:spPr>
            <a:xfrm>
              <a:off x="6464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61" name="Line 53"/>
            <p:cNvSpPr/>
            <p:nvPr/>
          </p:nvSpPr>
          <p:spPr>
            <a:xfrm>
              <a:off x="6464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2" name="Line 54"/>
            <p:cNvSpPr/>
            <p:nvPr/>
          </p:nvSpPr>
          <p:spPr>
            <a:xfrm>
              <a:off x="6464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3" name="Line 55"/>
            <p:cNvSpPr/>
            <p:nvPr/>
          </p:nvSpPr>
          <p:spPr>
            <a:xfrm flipV="1">
              <a:off x="7226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4" name="Line 56"/>
            <p:cNvSpPr/>
            <p:nvPr/>
          </p:nvSpPr>
          <p:spPr>
            <a:xfrm>
              <a:off x="7226300" y="181927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5" name="Line 57"/>
            <p:cNvSpPr/>
            <p:nvPr/>
          </p:nvSpPr>
          <p:spPr>
            <a:xfrm>
              <a:off x="7988300" y="1819275"/>
              <a:ext cx="0" cy="2857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66" name="Line 58"/>
            <p:cNvSpPr/>
            <p:nvPr/>
          </p:nvSpPr>
          <p:spPr>
            <a:xfrm>
              <a:off x="7988300" y="2105025"/>
              <a:ext cx="762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94" name="组合 92"/>
          <p:cNvGrpSpPr/>
          <p:nvPr/>
        </p:nvGrpSpPr>
        <p:grpSpPr>
          <a:xfrm>
            <a:off x="5186363" y="4456113"/>
            <a:ext cx="3729037" cy="165100"/>
            <a:chOff x="1892300" y="2505075"/>
            <a:chExt cx="6934200" cy="342900"/>
          </a:xfrm>
        </p:grpSpPr>
        <p:sp>
          <p:nvSpPr>
            <p:cNvPr id="1050167" name="Line 59"/>
            <p:cNvSpPr/>
            <p:nvPr/>
          </p:nvSpPr>
          <p:spPr>
            <a:xfrm>
              <a:off x="1892300" y="2847975"/>
              <a:ext cx="15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8" name="Line 60"/>
            <p:cNvSpPr/>
            <p:nvPr/>
          </p:nvSpPr>
          <p:spPr>
            <a:xfrm flipV="1">
              <a:off x="3416300" y="2505075"/>
              <a:ext cx="0" cy="3429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69" name="Line 61"/>
            <p:cNvSpPr/>
            <p:nvPr/>
          </p:nvSpPr>
          <p:spPr>
            <a:xfrm>
              <a:off x="3416300" y="2505075"/>
              <a:ext cx="15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0" name="Line 62"/>
            <p:cNvSpPr/>
            <p:nvPr/>
          </p:nvSpPr>
          <p:spPr>
            <a:xfrm>
              <a:off x="4940300" y="2505075"/>
              <a:ext cx="0" cy="3429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71" name="Line 63"/>
            <p:cNvSpPr/>
            <p:nvPr/>
          </p:nvSpPr>
          <p:spPr>
            <a:xfrm>
              <a:off x="4940300" y="2847975"/>
              <a:ext cx="15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2" name="Line 64"/>
            <p:cNvSpPr/>
            <p:nvPr/>
          </p:nvSpPr>
          <p:spPr>
            <a:xfrm>
              <a:off x="4940300" y="2847975"/>
              <a:ext cx="15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3" name="Line 65"/>
            <p:cNvSpPr/>
            <p:nvPr/>
          </p:nvSpPr>
          <p:spPr>
            <a:xfrm flipV="1">
              <a:off x="6464300" y="2505075"/>
              <a:ext cx="0" cy="3429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4" name="Line 66"/>
            <p:cNvSpPr/>
            <p:nvPr/>
          </p:nvSpPr>
          <p:spPr>
            <a:xfrm>
              <a:off x="6464300" y="2505075"/>
              <a:ext cx="15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5" name="Line 67"/>
            <p:cNvSpPr/>
            <p:nvPr/>
          </p:nvSpPr>
          <p:spPr>
            <a:xfrm>
              <a:off x="7988300" y="2505075"/>
              <a:ext cx="0" cy="3429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050176" name="Line 68"/>
            <p:cNvSpPr/>
            <p:nvPr/>
          </p:nvSpPr>
          <p:spPr>
            <a:xfrm>
              <a:off x="7988300" y="2847975"/>
              <a:ext cx="8382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95" name="组合 93"/>
          <p:cNvGrpSpPr/>
          <p:nvPr/>
        </p:nvGrpSpPr>
        <p:grpSpPr>
          <a:xfrm>
            <a:off x="5194300" y="4816475"/>
            <a:ext cx="3770313" cy="165100"/>
            <a:chOff x="1892300" y="3305175"/>
            <a:chExt cx="7010400" cy="342900"/>
          </a:xfrm>
        </p:grpSpPr>
        <p:sp>
          <p:nvSpPr>
            <p:cNvPr id="1050177" name="Line 69"/>
            <p:cNvSpPr/>
            <p:nvPr/>
          </p:nvSpPr>
          <p:spPr>
            <a:xfrm>
              <a:off x="1892300" y="3648075"/>
              <a:ext cx="3048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8" name="Line 70"/>
            <p:cNvSpPr/>
            <p:nvPr/>
          </p:nvSpPr>
          <p:spPr>
            <a:xfrm flipV="1">
              <a:off x="4940300" y="3305175"/>
              <a:ext cx="0" cy="3429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79" name="Line 71"/>
            <p:cNvSpPr/>
            <p:nvPr/>
          </p:nvSpPr>
          <p:spPr>
            <a:xfrm>
              <a:off x="4940300" y="3305175"/>
              <a:ext cx="3048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80" name="Line 72"/>
            <p:cNvSpPr/>
            <p:nvPr/>
          </p:nvSpPr>
          <p:spPr>
            <a:xfrm>
              <a:off x="7988300" y="3305175"/>
              <a:ext cx="0" cy="3429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181" name="Line 73"/>
            <p:cNvSpPr/>
            <p:nvPr/>
          </p:nvSpPr>
          <p:spPr>
            <a:xfrm>
              <a:off x="7988300" y="3648075"/>
              <a:ext cx="9144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50182" name="Text Box 88"/>
          <p:cNvSpPr txBox="1">
            <a:spLocks noChangeArrowheads="1"/>
          </p:cNvSpPr>
          <p:nvPr/>
        </p:nvSpPr>
        <p:spPr bwMode="auto">
          <a:xfrm>
            <a:off x="4725988" y="3746500"/>
            <a:ext cx="514350" cy="275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CP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50183" name="Text Box 89"/>
          <p:cNvSpPr txBox="1">
            <a:spLocks noChangeArrowheads="1"/>
          </p:cNvSpPr>
          <p:nvPr/>
        </p:nvSpPr>
        <p:spPr bwMode="auto">
          <a:xfrm>
            <a:off x="4167188" y="3951288"/>
            <a:ext cx="1106488" cy="275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     </a:t>
            </a: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1</a:t>
            </a: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 (CP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2 </a:t>
            </a: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)</a:t>
            </a:r>
            <a:endParaRPr kumimoji="1" lang="zh-CN" altLang="en-US" sz="1200" b="1" kern="1200" cap="none" spc="0" normalizeH="0" baseline="0" noProof="0" dirty="0"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1050184" name="Text Box 90"/>
          <p:cNvSpPr txBox="1">
            <a:spLocks noChangeArrowheads="1"/>
          </p:cNvSpPr>
          <p:nvPr/>
        </p:nvSpPr>
        <p:spPr bwMode="auto">
          <a:xfrm>
            <a:off x="4221163" y="4311650"/>
            <a:ext cx="954088" cy="275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15000"/>
              </a:spcBef>
              <a:buClrTx/>
              <a:buSzTx/>
              <a:buFontTx/>
            </a:pP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    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2</a:t>
            </a: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(CP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3 </a:t>
            </a: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)</a:t>
            </a:r>
            <a:endParaRPr kumimoji="1" lang="zh-CN" altLang="en-US" sz="1200" b="1" kern="1200" cap="none" spc="0" normalizeH="0" baseline="0" noProof="0" dirty="0"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1050185" name="Text Box 91"/>
          <p:cNvSpPr txBox="1">
            <a:spLocks noChangeArrowheads="1"/>
          </p:cNvSpPr>
          <p:nvPr/>
        </p:nvSpPr>
        <p:spPr bwMode="auto">
          <a:xfrm>
            <a:off x="4787900" y="4816475"/>
            <a:ext cx="438150" cy="275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3</a:t>
            </a:r>
          </a:p>
        </p:txBody>
      </p:sp>
      <p:grpSp>
        <p:nvGrpSpPr>
          <p:cNvPr id="396" name="组合 240"/>
          <p:cNvGrpSpPr/>
          <p:nvPr/>
        </p:nvGrpSpPr>
        <p:grpSpPr>
          <a:xfrm>
            <a:off x="6832600" y="4584700"/>
            <a:ext cx="1638300" cy="376238"/>
            <a:chOff x="6832475" y="4440014"/>
            <a:chExt cx="1638300" cy="376237"/>
          </a:xfrm>
        </p:grpSpPr>
        <p:sp>
          <p:nvSpPr>
            <p:cNvPr id="1050186" name="Line 74"/>
            <p:cNvSpPr/>
            <p:nvPr/>
          </p:nvSpPr>
          <p:spPr>
            <a:xfrm>
              <a:off x="6832475" y="4455889"/>
              <a:ext cx="0" cy="360362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ysDash"/>
              <a:miter/>
              <a:headEnd type="none" w="med" len="med"/>
              <a:tailEnd type="none" w="med" len="med"/>
            </a:ln>
          </p:spPr>
        </p:sp>
        <p:sp>
          <p:nvSpPr>
            <p:cNvPr id="1050187" name="Line 74"/>
            <p:cNvSpPr/>
            <p:nvPr/>
          </p:nvSpPr>
          <p:spPr>
            <a:xfrm>
              <a:off x="8470775" y="4440014"/>
              <a:ext cx="0" cy="360362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ysDash"/>
              <a:miter/>
              <a:headEnd type="none" w="med" len="med"/>
              <a:tailEnd type="none" w="med" len="med"/>
            </a:ln>
          </p:spPr>
        </p:sp>
      </p:grpSp>
      <p:sp>
        <p:nvSpPr>
          <p:cNvPr id="1050188" name="Text Box 83"/>
          <p:cNvSpPr txBox="1"/>
          <p:nvPr/>
        </p:nvSpPr>
        <p:spPr>
          <a:xfrm>
            <a:off x="4724400" y="764223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状态转换表</a:t>
            </a:r>
          </a:p>
        </p:txBody>
      </p:sp>
      <p:sp>
        <p:nvSpPr>
          <p:cNvPr id="1050189" name="Text Box 83"/>
          <p:cNvSpPr txBox="1"/>
          <p:nvPr/>
        </p:nvSpPr>
        <p:spPr>
          <a:xfrm>
            <a:off x="4670425" y="3386138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波形图</a:t>
            </a:r>
          </a:p>
        </p:txBody>
      </p:sp>
      <p:grpSp>
        <p:nvGrpSpPr>
          <p:cNvPr id="397" name="组合 247"/>
          <p:cNvGrpSpPr/>
          <p:nvPr/>
        </p:nvGrpSpPr>
        <p:grpSpPr>
          <a:xfrm>
            <a:off x="2547938" y="1957388"/>
            <a:ext cx="1087437" cy="542925"/>
            <a:chOff x="3059832" y="2211711"/>
            <a:chExt cx="1087885" cy="542095"/>
          </a:xfrm>
        </p:grpSpPr>
        <p:sp>
          <p:nvSpPr>
            <p:cNvPr id="1050190" name="圆角矩形标注 13"/>
            <p:cNvSpPr/>
            <p:nvPr/>
          </p:nvSpPr>
          <p:spPr>
            <a:xfrm>
              <a:off x="3059832" y="2243028"/>
              <a:ext cx="1080000" cy="510778"/>
            </a:xfrm>
            <a:prstGeom prst="wedgeRoundRectCallout">
              <a:avLst>
                <a:gd name="adj1" fmla="val -46699"/>
                <a:gd name="adj2" fmla="val -73894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99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b="1" dirty="0">
                <a:latin typeface="Arial" panose="020B0604020202090204" pitchFamily="34" charset="0"/>
              </a:endParaRPr>
            </a:p>
          </p:txBody>
        </p:sp>
        <p:sp>
          <p:nvSpPr>
            <p:cNvPr id="1050191" name="Text Box 34"/>
            <p:cNvSpPr txBox="1">
              <a:spLocks noChangeArrowheads="1"/>
            </p:cNvSpPr>
            <p:nvPr/>
          </p:nvSpPr>
          <p:spPr bwMode="auto">
            <a:xfrm>
              <a:off x="3067772" y="2211711"/>
              <a:ext cx="1079945" cy="52117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zh-CN" altLang="en-US" sz="14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异步</a:t>
              </a:r>
              <a:r>
                <a:rPr kumimoji="1" lang="en-US" altLang="zh-CN" sz="1400" b="1" i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Moore</a:t>
              </a:r>
              <a:r>
                <a:rPr kumimoji="1" lang="zh-CN" altLang="en-US" sz="14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型时序电路</a:t>
              </a:r>
            </a:p>
          </p:txBody>
        </p:sp>
      </p:grpSp>
      <p:grpSp>
        <p:nvGrpSpPr>
          <p:cNvPr id="398" name="组合 248"/>
          <p:cNvGrpSpPr/>
          <p:nvPr/>
        </p:nvGrpSpPr>
        <p:grpSpPr>
          <a:xfrm>
            <a:off x="3556000" y="2890838"/>
            <a:ext cx="1122363" cy="538162"/>
            <a:chOff x="3059832" y="2243028"/>
            <a:chExt cx="1122610" cy="538203"/>
          </a:xfrm>
        </p:grpSpPr>
        <p:sp>
          <p:nvSpPr>
            <p:cNvPr id="1050192" name="圆角矩形标注 13"/>
            <p:cNvSpPr/>
            <p:nvPr/>
          </p:nvSpPr>
          <p:spPr>
            <a:xfrm>
              <a:off x="3059832" y="2243028"/>
              <a:ext cx="1080000" cy="510778"/>
            </a:xfrm>
            <a:prstGeom prst="wedgeRoundRectCallout">
              <a:avLst>
                <a:gd name="adj1" fmla="val 60472"/>
                <a:gd name="adj2" fmla="val -87491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66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b="1" dirty="0">
                <a:latin typeface="Arial" panose="020B0604020202090204" pitchFamily="34" charset="0"/>
              </a:endParaRPr>
            </a:p>
          </p:txBody>
        </p:sp>
        <p:sp>
          <p:nvSpPr>
            <p:cNvPr id="1050193" name="Text Box 34"/>
            <p:cNvSpPr txBox="1">
              <a:spLocks noChangeArrowheads="1"/>
            </p:cNvSpPr>
            <p:nvPr/>
          </p:nvSpPr>
          <p:spPr bwMode="auto">
            <a:xfrm>
              <a:off x="3102704" y="2257316"/>
              <a:ext cx="1079738" cy="523915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zh-CN" altLang="en-US" sz="14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异步</a:t>
              </a:r>
              <a:r>
                <a:rPr kumimoji="1" lang="zh-CN" altLang="en-US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模</a:t>
              </a:r>
              <a:r>
                <a:rPr kumimoji="1" lang="en-US" altLang="zh-CN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8</a:t>
              </a:r>
              <a:r>
                <a:rPr kumimoji="1" lang="zh-CN" altLang="en-US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加法计数器</a:t>
              </a:r>
              <a:endParaRPr kumimoji="1" lang="zh-CN" altLang="en-US" sz="14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99" name="组合 191"/>
          <p:cNvGrpSpPr/>
          <p:nvPr/>
        </p:nvGrpSpPr>
        <p:grpSpPr>
          <a:xfrm>
            <a:off x="3759200" y="4117975"/>
            <a:ext cx="1120775" cy="315913"/>
            <a:chOff x="5526865" y="3916666"/>
            <a:chExt cx="621868" cy="176741"/>
          </a:xfrm>
        </p:grpSpPr>
        <p:sp>
          <p:nvSpPr>
            <p:cNvPr id="1050194" name="圆角矩形标注 13"/>
            <p:cNvSpPr/>
            <p:nvPr/>
          </p:nvSpPr>
          <p:spPr>
            <a:xfrm>
              <a:off x="5548574" y="3932507"/>
              <a:ext cx="379350" cy="160900"/>
            </a:xfrm>
            <a:prstGeom prst="wedgeRoundRectCallout">
              <a:avLst>
                <a:gd name="adj1" fmla="val 75037"/>
                <a:gd name="adj2" fmla="val -31083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/>
              <a:endParaRPr lang="zh-CN" altLang="en-US" sz="1600" dirty="0">
                <a:latin typeface="Arial" panose="020B0604020202090204" pitchFamily="34" charset="0"/>
              </a:endParaRPr>
            </a:p>
          </p:txBody>
        </p:sp>
        <p:sp>
          <p:nvSpPr>
            <p:cNvPr id="1050195" name="Text Box 34"/>
            <p:cNvSpPr txBox="1"/>
            <p:nvPr/>
          </p:nvSpPr>
          <p:spPr>
            <a:xfrm>
              <a:off x="5526865" y="3916666"/>
              <a:ext cx="621868" cy="1719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</a:pP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二分频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5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19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5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5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05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05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0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0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0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0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0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060" grpId="0" animBg="1"/>
      <p:bldP spid="1050061" grpId="0" animBg="1"/>
      <p:bldP spid="1050062" grpId="0" animBg="1"/>
      <p:bldP spid="1050063" grpId="0" animBg="1"/>
      <p:bldP spid="1050077" grpId="0"/>
      <p:bldP spid="1050078" grpId="0"/>
      <p:bldP spid="1050079" grpId="0"/>
      <p:bldP spid="1050182" grpId="0" bldLvl="0" animBg="1"/>
      <p:bldP spid="1050183" grpId="0" bldLvl="0" animBg="1"/>
      <p:bldP spid="1050184" grpId="0" bldLvl="0" animBg="1"/>
      <p:bldP spid="1050185" grpId="0" bldLvl="0" animBg="1"/>
      <p:bldP spid="1050188" grpId="0"/>
      <p:bldP spid="105018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异步计数器总结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600" y="790789"/>
            <a:ext cx="8320405" cy="40468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</a:rPr>
              <a:t>外接时钟源只作用于最低位触发器。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</a:rPr>
              <a:t>高位触发器的时钟通常由低位触发器的输出提供。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</a:rPr>
              <a:t>高位触发器的翻转需要等待低位翻转后才能进行。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</a:rPr>
              <a:t>每一级触发器都存在传输延迟，位数越多计数器工作速度越慢，在大型数字设备中较少采用。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</a:rPr>
              <a:t>对计数器状态进行译码时，由于触发器不同步，译码器输出会出现尖峰脉冲（位数越多，尖峰信号越宽），使设备产生误动作。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</a:rPr>
              <a:t>优点：结构比较简单，所用元件较少。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roup 117"/>
          <p:cNvGrpSpPr/>
          <p:nvPr/>
        </p:nvGrpSpPr>
        <p:grpSpPr>
          <a:xfrm>
            <a:off x="4643755" y="1883410"/>
            <a:ext cx="1802130" cy="338455"/>
            <a:chOff x="3552" y="816"/>
            <a:chExt cx="1135" cy="284"/>
          </a:xfrm>
        </p:grpSpPr>
        <p:sp>
          <p:nvSpPr>
            <p:cNvPr id="1050246" name="Text Box 118"/>
            <p:cNvSpPr txBox="1"/>
            <p:nvPr/>
          </p:nvSpPr>
          <p:spPr>
            <a:xfrm>
              <a:off x="3552" y="816"/>
              <a:ext cx="1135" cy="28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Arial" panose="020B0604020202090204" pitchFamily="34" charset="0"/>
                </a:rPr>
                <a:t> </a:t>
              </a:r>
              <a:r>
                <a:rPr lang="en-US" altLang="zh-CN" sz="1600" b="1" dirty="0">
                  <a:latin typeface="Arial" panose="020B0604020202090204" pitchFamily="34" charset="0"/>
                </a:rPr>
                <a:t>D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3 </a:t>
              </a:r>
              <a:r>
                <a:rPr lang="en-US" altLang="zh-CN" sz="1600" b="1" dirty="0">
                  <a:latin typeface="Arial" panose="020B0604020202090204" pitchFamily="34" charset="0"/>
                </a:rPr>
                <a:t>= 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3</a:t>
              </a:r>
              <a:r>
                <a:rPr lang="en-US" altLang="zh-CN" sz="1600" b="1" dirty="0">
                  <a:latin typeface="Arial" panose="020B0604020202090204" pitchFamily="34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1 </a:t>
              </a:r>
              <a:r>
                <a:rPr lang="en-US" altLang="zh-CN" sz="1600" b="1" dirty="0">
                  <a:latin typeface="Arial" panose="020B0604020202090204" pitchFamily="34" charset="0"/>
                </a:rPr>
                <a:t>+</a:t>
              </a:r>
              <a:r>
                <a:rPr lang="en-US" altLang="zh-CN" sz="1600" b="1" dirty="0">
                  <a:latin typeface="Times New Roman" panose="02020503050405090304" pitchFamily="18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2</a:t>
              </a:r>
              <a:r>
                <a:rPr lang="en-US" altLang="zh-CN" sz="1600" b="1" dirty="0">
                  <a:latin typeface="Times New Roman" panose="02020503050405090304" pitchFamily="18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1      </a:t>
              </a:r>
            </a:p>
          </p:txBody>
        </p:sp>
        <p:sp>
          <p:nvSpPr>
            <p:cNvPr id="1050247" name="Line 119"/>
            <p:cNvSpPr/>
            <p:nvPr/>
          </p:nvSpPr>
          <p:spPr>
            <a:xfrm>
              <a:off x="4049" y="841"/>
              <a:ext cx="96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17" name="Group 123"/>
          <p:cNvGrpSpPr/>
          <p:nvPr/>
        </p:nvGrpSpPr>
        <p:grpSpPr>
          <a:xfrm>
            <a:off x="4642485" y="1454150"/>
            <a:ext cx="2089150" cy="338455"/>
            <a:chOff x="3696" y="1296"/>
            <a:chExt cx="1316" cy="284"/>
          </a:xfrm>
        </p:grpSpPr>
        <p:sp>
          <p:nvSpPr>
            <p:cNvPr id="1050250" name="Text Box 124"/>
            <p:cNvSpPr txBox="1"/>
            <p:nvPr/>
          </p:nvSpPr>
          <p:spPr>
            <a:xfrm>
              <a:off x="3696" y="1296"/>
              <a:ext cx="1316" cy="28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Arial" panose="020B0604020202090204" pitchFamily="34" charset="0"/>
                </a:rPr>
                <a:t> </a:t>
              </a:r>
              <a:r>
                <a:rPr lang="en-US" altLang="zh-CN" sz="1600" b="1" dirty="0">
                  <a:latin typeface="Arial" panose="020B0604020202090204" pitchFamily="34" charset="0"/>
                </a:rPr>
                <a:t>D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2 </a:t>
              </a:r>
              <a:r>
                <a:rPr lang="en-US" altLang="zh-CN" sz="1600" b="1" dirty="0">
                  <a:latin typeface="Arial" panose="020B0604020202090204" pitchFamily="34" charset="0"/>
                </a:rPr>
                <a:t>= 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2</a:t>
              </a:r>
              <a:r>
                <a:rPr lang="en-US" altLang="zh-CN" sz="1600" b="1" dirty="0">
                  <a:latin typeface="Arial" panose="020B0604020202090204" pitchFamily="34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1 </a:t>
              </a:r>
              <a:r>
                <a:rPr lang="en-US" altLang="zh-CN" sz="1600" b="1" dirty="0">
                  <a:latin typeface="Arial" panose="020B0604020202090204" pitchFamily="34" charset="0"/>
                </a:rPr>
                <a:t>+</a:t>
              </a:r>
              <a:r>
                <a:rPr lang="en-US" altLang="zh-CN" sz="1600" b="1" dirty="0">
                  <a:latin typeface="Times New Roman" panose="02020503050405090304" pitchFamily="18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3</a:t>
              </a:r>
              <a:r>
                <a:rPr lang="en-US" altLang="zh-CN" sz="1600" b="1" dirty="0">
                  <a:latin typeface="Times New Roman" panose="02020503050405090304" pitchFamily="18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2</a:t>
              </a:r>
              <a:r>
                <a:rPr lang="en-US" altLang="zh-CN" sz="1600" b="1" dirty="0">
                  <a:latin typeface="Times New Roman" panose="02020503050405090304" pitchFamily="18" charset="0"/>
                </a:rPr>
                <a:t>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1</a:t>
              </a:r>
            </a:p>
          </p:txBody>
        </p:sp>
        <p:sp>
          <p:nvSpPr>
            <p:cNvPr id="1050251" name="Line 125"/>
            <p:cNvSpPr/>
            <p:nvPr/>
          </p:nvSpPr>
          <p:spPr>
            <a:xfrm flipV="1">
              <a:off x="4189" y="1328"/>
              <a:ext cx="89" cy="1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252" name="Line 126"/>
            <p:cNvSpPr/>
            <p:nvPr/>
          </p:nvSpPr>
          <p:spPr>
            <a:xfrm>
              <a:off x="4557" y="1325"/>
              <a:ext cx="96" cy="1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253" name="Line 127"/>
            <p:cNvSpPr/>
            <p:nvPr/>
          </p:nvSpPr>
          <p:spPr>
            <a:xfrm>
              <a:off x="4412" y="1325"/>
              <a:ext cx="96" cy="1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50254" name="Text Box 81"/>
          <p:cNvSpPr txBox="1"/>
          <p:nvPr/>
        </p:nvSpPr>
        <p:spPr>
          <a:xfrm>
            <a:off x="4356100" y="771525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AutoNum type="circleNumDbPlain"/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</a:p>
        </p:txBody>
      </p:sp>
      <p:sp>
        <p:nvSpPr>
          <p:cNvPr id="1050255" name="Text Box 83"/>
          <p:cNvSpPr txBox="1"/>
          <p:nvPr/>
        </p:nvSpPr>
        <p:spPr>
          <a:xfrm>
            <a:off x="7038975" y="776288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AutoNum type="circleNumDbPlain" startAt="2"/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</a:p>
        </p:txBody>
      </p:sp>
      <p:grpSp>
        <p:nvGrpSpPr>
          <p:cNvPr id="419" name="Group 80"/>
          <p:cNvGrpSpPr/>
          <p:nvPr/>
        </p:nvGrpSpPr>
        <p:grpSpPr>
          <a:xfrm>
            <a:off x="7181850" y="1184275"/>
            <a:ext cx="1413510" cy="1031875"/>
            <a:chOff x="4320" y="934"/>
            <a:chExt cx="771" cy="866"/>
          </a:xfrm>
        </p:grpSpPr>
        <p:sp>
          <p:nvSpPr>
            <p:cNvPr id="1050256" name="Text Box 8"/>
            <p:cNvSpPr txBox="1">
              <a:spLocks noChangeArrowheads="1"/>
            </p:cNvSpPr>
            <p:nvPr/>
          </p:nvSpPr>
          <p:spPr bwMode="auto">
            <a:xfrm>
              <a:off x="4320" y="934"/>
              <a:ext cx="771" cy="30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8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8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8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8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D</a:t>
              </a:r>
              <a:r>
                <a:rPr kumimoji="0" lang="en-US" altLang="zh-CN" sz="18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 </a:t>
              </a:r>
              <a:r>
                <a:rPr kumimoji="0" lang="en-US" altLang="zh-CN" sz="18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 </a:t>
              </a:r>
            </a:p>
          </p:txBody>
        </p:sp>
        <p:sp>
          <p:nvSpPr>
            <p:cNvPr id="1050257" name="Text Box 9"/>
            <p:cNvSpPr txBox="1">
              <a:spLocks noChangeArrowheads="1"/>
            </p:cNvSpPr>
            <p:nvPr/>
          </p:nvSpPr>
          <p:spPr bwMode="auto">
            <a:xfrm>
              <a:off x="4320" y="1217"/>
              <a:ext cx="726" cy="30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8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8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8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8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D</a:t>
              </a:r>
              <a:r>
                <a:rPr kumimoji="0" lang="en-US" altLang="zh-CN" sz="18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8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 </a:t>
              </a:r>
            </a:p>
          </p:txBody>
        </p:sp>
        <p:sp>
          <p:nvSpPr>
            <p:cNvPr id="1050258" name="Text Box 10"/>
            <p:cNvSpPr txBox="1">
              <a:spLocks noChangeArrowheads="1"/>
            </p:cNvSpPr>
            <p:nvPr/>
          </p:nvSpPr>
          <p:spPr bwMode="auto">
            <a:xfrm>
              <a:off x="4335" y="1491"/>
              <a:ext cx="723" cy="30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800" b="1" kern="1200" cap="none" spc="0" normalizeH="0" baseline="0" noProof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800" b="1" kern="1200" cap="none" spc="0" normalizeH="0" baseline="-25000" noProof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0" lang="en-US" altLang="zh-CN" sz="1800" b="1" kern="1200" cap="none" spc="0" normalizeH="0" baseline="30000" noProof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800" b="1" kern="1200" cap="none" spc="0" normalizeH="0" baseline="0" noProof="0">
                  <a:latin typeface="+mj-lt"/>
                  <a:ea typeface="宋体" pitchFamily="2" charset="-122"/>
                  <a:cs typeface="+mn-cs"/>
                </a:rPr>
                <a:t>=  D</a:t>
              </a:r>
              <a:r>
                <a:rPr kumimoji="0" lang="en-US" altLang="zh-CN" sz="1800" b="1" kern="1200" cap="none" spc="0" normalizeH="0" baseline="-25000" noProof="0">
                  <a:latin typeface="+mj-lt"/>
                  <a:ea typeface="宋体" pitchFamily="2" charset="-122"/>
                  <a:cs typeface="+mn-cs"/>
                </a:rPr>
                <a:t>3 </a:t>
              </a:r>
              <a:r>
                <a:rPr kumimoji="0" lang="en-US" altLang="zh-CN" sz="1800" b="1" kern="1200" cap="none" spc="0" normalizeH="0" baseline="0" noProof="0">
                  <a:latin typeface="+mj-lt"/>
                  <a:ea typeface="宋体" pitchFamily="2" charset="-122"/>
                  <a:cs typeface="+mn-cs"/>
                </a:rPr>
                <a:t>  </a:t>
              </a:r>
            </a:p>
          </p:txBody>
        </p:sp>
      </p:grpSp>
      <p:grpSp>
        <p:nvGrpSpPr>
          <p:cNvPr id="420" name="组合 133"/>
          <p:cNvGrpSpPr/>
          <p:nvPr/>
        </p:nvGrpSpPr>
        <p:grpSpPr>
          <a:xfrm>
            <a:off x="84138" y="723900"/>
            <a:ext cx="3797300" cy="2711450"/>
            <a:chOff x="56009" y="483518"/>
            <a:chExt cx="3797052" cy="2711827"/>
          </a:xfrm>
        </p:grpSpPr>
        <p:sp>
          <p:nvSpPr>
            <p:cNvPr id="1050260" name="Line 32"/>
            <p:cNvSpPr/>
            <p:nvPr/>
          </p:nvSpPr>
          <p:spPr>
            <a:xfrm rot="-5400000">
              <a:off x="2561033" y="2739640"/>
              <a:ext cx="3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pic>
          <p:nvPicPr>
            <p:cNvPr id="2097186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5400000">
              <a:off x="2178682" y="1754780"/>
              <a:ext cx="491335" cy="30708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97187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5400000">
              <a:off x="1001587" y="1751585"/>
              <a:ext cx="491335" cy="307084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3146033" name="直接连接符 34"/>
            <p:cNvCxnSpPr/>
            <p:nvPr/>
          </p:nvCxnSpPr>
          <p:spPr>
            <a:xfrm rot="5400000">
              <a:off x="845000" y="1297955"/>
              <a:ext cx="395288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med" len="med"/>
              <a:tailEnd type="oval" w="sm" len="sm"/>
            </a:ln>
          </p:spPr>
        </p:cxnSp>
        <p:cxnSp>
          <p:nvCxnSpPr>
            <p:cNvPr id="3146034" name="直接连接符 17"/>
            <p:cNvCxnSpPr/>
            <p:nvPr/>
          </p:nvCxnSpPr>
          <p:spPr>
            <a:xfrm rot="5400000">
              <a:off x="778458" y="1239286"/>
              <a:ext cx="936000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35" name="直接连接符 18"/>
            <p:cNvCxnSpPr/>
            <p:nvPr/>
          </p:nvCxnSpPr>
          <p:spPr>
            <a:xfrm rot="5400000">
              <a:off x="618046" y="970896"/>
              <a:ext cx="396000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261" name="矩形 19"/>
            <p:cNvSpPr/>
            <p:nvPr/>
          </p:nvSpPr>
          <p:spPr>
            <a:xfrm>
              <a:off x="692335" y="939381"/>
              <a:ext cx="719399" cy="431923"/>
            </a:xfrm>
            <a:prstGeom prst="rect">
              <a:avLst/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262" name="TextBox 145"/>
            <p:cNvSpPr txBox="1">
              <a:spLocks noChangeArrowheads="1"/>
            </p:cNvSpPr>
            <p:nvPr/>
          </p:nvSpPr>
          <p:spPr bwMode="auto">
            <a:xfrm>
              <a:off x="1111627" y="1174177"/>
              <a:ext cx="357165" cy="24609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D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263" name="TextBox 146"/>
            <p:cNvSpPr txBox="1">
              <a:spLocks noChangeArrowheads="1"/>
            </p:cNvSpPr>
            <p:nvPr/>
          </p:nvSpPr>
          <p:spPr bwMode="auto">
            <a:xfrm>
              <a:off x="679855" y="923317"/>
              <a:ext cx="357165" cy="24609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rPr>
                <a:t>3</a:t>
              </a:r>
              <a:endParaRPr kumimoji="1" lang="zh-CN" altLang="en-US" sz="10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264" name="TextBox 147"/>
            <p:cNvSpPr txBox="1">
              <a:spLocks noChangeArrowheads="1"/>
            </p:cNvSpPr>
            <p:nvPr/>
          </p:nvSpPr>
          <p:spPr bwMode="auto">
            <a:xfrm>
              <a:off x="1076704" y="932843"/>
              <a:ext cx="357165" cy="24609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rPr>
                <a:t>3</a:t>
              </a:r>
              <a:endParaRPr kumimoji="1" lang="zh-CN" altLang="en-US" sz="10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3146036" name="直接连接符 25"/>
            <p:cNvCxnSpPr/>
            <p:nvPr/>
          </p:nvCxnSpPr>
          <p:spPr>
            <a:xfrm>
              <a:off x="1182318" y="986001"/>
              <a:ext cx="93513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265" name="等腰三角形 36"/>
            <p:cNvSpPr/>
            <p:nvPr/>
          </p:nvSpPr>
          <p:spPr>
            <a:xfrm>
              <a:off x="984698" y="1263429"/>
              <a:ext cx="108000" cy="108000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266" name="TextBox 150"/>
            <p:cNvSpPr txBox="1">
              <a:spLocks noChangeArrowheads="1"/>
            </p:cNvSpPr>
            <p:nvPr/>
          </p:nvSpPr>
          <p:spPr bwMode="auto">
            <a:xfrm>
              <a:off x="870343" y="1099554"/>
              <a:ext cx="422247" cy="2143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267" name="椭圆 93"/>
            <p:cNvSpPr/>
            <p:nvPr/>
          </p:nvSpPr>
          <p:spPr>
            <a:xfrm>
              <a:off x="606872" y="1103313"/>
              <a:ext cx="71437" cy="7143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037" name="直接连接符 34"/>
            <p:cNvCxnSpPr/>
            <p:nvPr/>
          </p:nvCxnSpPr>
          <p:spPr>
            <a:xfrm rot="5400000">
              <a:off x="2039591" y="1295099"/>
              <a:ext cx="395288" cy="15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oval" w="sm" len="sm"/>
            </a:ln>
          </p:spPr>
        </p:cxnSp>
        <p:grpSp>
          <p:nvGrpSpPr>
            <p:cNvPr id="421" name="组合 16"/>
            <p:cNvGrpSpPr/>
            <p:nvPr/>
          </p:nvGrpSpPr>
          <p:grpSpPr>
            <a:xfrm>
              <a:off x="1872109" y="772088"/>
              <a:ext cx="793759" cy="936002"/>
              <a:chOff x="1863706" y="2466975"/>
              <a:chExt cx="793764" cy="936668"/>
            </a:xfrm>
          </p:grpSpPr>
          <p:cxnSp>
            <p:nvCxnSpPr>
              <p:cNvPr id="3146038" name="直接连接符 17"/>
              <p:cNvCxnSpPr/>
              <p:nvPr/>
            </p:nvCxnSpPr>
            <p:spPr>
              <a:xfrm rot="5400000">
                <a:off x="1952709" y="2934515"/>
                <a:ext cx="936668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039" name="直接连接符 18"/>
              <p:cNvCxnSpPr/>
              <p:nvPr/>
            </p:nvCxnSpPr>
            <p:spPr>
              <a:xfrm rot="5400000">
                <a:off x="1766065" y="2706153"/>
                <a:ext cx="468333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268" name="矩形 19"/>
              <p:cNvSpPr/>
              <p:nvPr/>
            </p:nvSpPr>
            <p:spPr>
              <a:xfrm>
                <a:off x="1876406" y="2643188"/>
                <a:ext cx="720005" cy="432308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269" name="TextBox 229"/>
              <p:cNvSpPr txBox="1">
                <a:spLocks noChangeArrowheads="1"/>
              </p:cNvSpPr>
              <p:nvPr/>
            </p:nvSpPr>
            <p:spPr bwMode="auto">
              <a:xfrm>
                <a:off x="2300123" y="2869350"/>
                <a:ext cx="357167" cy="2446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D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270" name="TextBox 230"/>
              <p:cNvSpPr txBox="1">
                <a:spLocks noChangeArrowheads="1"/>
              </p:cNvSpPr>
              <p:nvPr/>
            </p:nvSpPr>
            <p:spPr bwMode="auto">
              <a:xfrm>
                <a:off x="1863587" y="2619900"/>
                <a:ext cx="357166" cy="2446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271" name="TextBox 231"/>
              <p:cNvSpPr txBox="1">
                <a:spLocks noChangeArrowheads="1"/>
              </p:cNvSpPr>
              <p:nvPr/>
            </p:nvSpPr>
            <p:spPr bwMode="auto">
              <a:xfrm>
                <a:off x="2277899" y="2629433"/>
                <a:ext cx="355579" cy="2446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040" name="直接连接符 25"/>
              <p:cNvCxnSpPr/>
              <p:nvPr/>
            </p:nvCxnSpPr>
            <p:spPr>
              <a:xfrm>
                <a:off x="2373304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0272" name="等腰三角形 36"/>
            <p:cNvSpPr/>
            <p:nvPr/>
          </p:nvSpPr>
          <p:spPr>
            <a:xfrm>
              <a:off x="2181673" y="1274767"/>
              <a:ext cx="108000" cy="108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273" name="TextBox 155"/>
            <p:cNvSpPr txBox="1">
              <a:spLocks noChangeArrowheads="1"/>
            </p:cNvSpPr>
            <p:nvPr/>
          </p:nvSpPr>
          <p:spPr bwMode="auto">
            <a:xfrm>
              <a:off x="2067240" y="1113844"/>
              <a:ext cx="422247" cy="2143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274" name="椭圆 93"/>
            <p:cNvSpPr/>
            <p:nvPr/>
          </p:nvSpPr>
          <p:spPr>
            <a:xfrm>
              <a:off x="1803847" y="1084263"/>
              <a:ext cx="71437" cy="7143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041" name="直接连接符 34"/>
            <p:cNvCxnSpPr/>
            <p:nvPr/>
          </p:nvCxnSpPr>
          <p:spPr>
            <a:xfrm rot="5400000">
              <a:off x="3203524" y="1297955"/>
              <a:ext cx="395288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422" name="组合 16"/>
            <p:cNvGrpSpPr/>
            <p:nvPr/>
          </p:nvGrpSpPr>
          <p:grpSpPr>
            <a:xfrm>
              <a:off x="3035748" y="750455"/>
              <a:ext cx="803026" cy="705286"/>
              <a:chOff x="1863706" y="2445334"/>
              <a:chExt cx="803031" cy="705782"/>
            </a:xfrm>
          </p:grpSpPr>
          <p:cxnSp>
            <p:nvCxnSpPr>
              <p:cNvPr id="3146042" name="直接连接符 17"/>
              <p:cNvCxnSpPr/>
              <p:nvPr/>
            </p:nvCxnSpPr>
            <p:spPr>
              <a:xfrm rot="5400000">
                <a:off x="2098318" y="2808249"/>
                <a:ext cx="684146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043" name="直接连接符 18"/>
              <p:cNvCxnSpPr/>
              <p:nvPr/>
            </p:nvCxnSpPr>
            <p:spPr>
              <a:xfrm rot="5400000">
                <a:off x="1766065" y="2678704"/>
                <a:ext cx="468329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275" name="矩形 19"/>
              <p:cNvSpPr/>
              <p:nvPr/>
            </p:nvSpPr>
            <p:spPr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276" name="TextBox 222"/>
              <p:cNvSpPr txBox="1">
                <a:spLocks noChangeArrowheads="1"/>
              </p:cNvSpPr>
              <p:nvPr/>
            </p:nvSpPr>
            <p:spPr bwMode="auto">
              <a:xfrm>
                <a:off x="2309571" y="2877298"/>
                <a:ext cx="357166" cy="2462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D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277" name="TextBox 223"/>
              <p:cNvSpPr txBox="1">
                <a:spLocks noChangeArrowheads="1"/>
              </p:cNvSpPr>
              <p:nvPr/>
            </p:nvSpPr>
            <p:spPr bwMode="auto">
              <a:xfrm>
                <a:off x="1863509" y="2618318"/>
                <a:ext cx="357167" cy="24626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1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278" name="TextBox 224"/>
              <p:cNvSpPr txBox="1">
                <a:spLocks noChangeArrowheads="1"/>
              </p:cNvSpPr>
              <p:nvPr/>
            </p:nvSpPr>
            <p:spPr bwMode="auto">
              <a:xfrm>
                <a:off x="2268298" y="2627851"/>
                <a:ext cx="357166" cy="24626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1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044" name="直接连接符 25"/>
              <p:cNvCxnSpPr/>
              <p:nvPr/>
            </p:nvCxnSpPr>
            <p:spPr>
              <a:xfrm>
                <a:off x="2366639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0279" name="等腰三角形 36"/>
            <p:cNvSpPr/>
            <p:nvPr/>
          </p:nvSpPr>
          <p:spPr>
            <a:xfrm>
              <a:off x="3351682" y="1270843"/>
              <a:ext cx="108000" cy="108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280" name="TextBox 160"/>
            <p:cNvSpPr txBox="1">
              <a:spLocks noChangeArrowheads="1"/>
            </p:cNvSpPr>
            <p:nvPr/>
          </p:nvSpPr>
          <p:spPr bwMode="auto">
            <a:xfrm>
              <a:off x="3243501" y="1113844"/>
              <a:ext cx="422247" cy="2143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281" name="椭圆 93"/>
            <p:cNvSpPr/>
            <p:nvPr/>
          </p:nvSpPr>
          <p:spPr>
            <a:xfrm>
              <a:off x="2964309" y="1084263"/>
              <a:ext cx="71438" cy="7143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282" name="Line 25"/>
            <p:cNvSpPr/>
            <p:nvPr/>
          </p:nvSpPr>
          <p:spPr>
            <a:xfrm rot="-5400000">
              <a:off x="868431" y="2302659"/>
              <a:ext cx="214313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3" name="Line 26"/>
            <p:cNvSpPr/>
            <p:nvPr/>
          </p:nvSpPr>
          <p:spPr>
            <a:xfrm rot="-5400000">
              <a:off x="1446276" y="2307422"/>
              <a:ext cx="214313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4" name="Line 27"/>
            <p:cNvSpPr/>
            <p:nvPr/>
          </p:nvSpPr>
          <p:spPr>
            <a:xfrm rot="-5400000">
              <a:off x="1080363" y="2095491"/>
              <a:ext cx="0" cy="2095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5" name="Line 28"/>
            <p:cNvSpPr/>
            <p:nvPr/>
          </p:nvSpPr>
          <p:spPr>
            <a:xfrm rot="-5400000" flipV="1">
              <a:off x="1439133" y="2079616"/>
              <a:ext cx="0" cy="2413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6" name="Line 29"/>
            <p:cNvSpPr/>
            <p:nvPr/>
          </p:nvSpPr>
          <p:spPr>
            <a:xfrm rot="-5400000">
              <a:off x="785038" y="2760826"/>
              <a:ext cx="216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7" name="Line 30"/>
            <p:cNvSpPr/>
            <p:nvPr/>
          </p:nvSpPr>
          <p:spPr>
            <a:xfrm rot="-5400000">
              <a:off x="931932" y="2726519"/>
              <a:ext cx="268287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8" name="Line 31"/>
            <p:cNvSpPr/>
            <p:nvPr/>
          </p:nvSpPr>
          <p:spPr>
            <a:xfrm rot="-5400000">
              <a:off x="1353358" y="2748126"/>
              <a:ext cx="216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89" name="Line 32"/>
            <p:cNvSpPr/>
            <p:nvPr/>
          </p:nvSpPr>
          <p:spPr>
            <a:xfrm rot="-5400000">
              <a:off x="1459157" y="2690439"/>
              <a:ext cx="360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0" name="流程图: 延期 92"/>
            <p:cNvSpPr>
              <a:spLocks noChangeArrowheads="1"/>
            </p:cNvSpPr>
            <p:nvPr/>
          </p:nvSpPr>
          <p:spPr bwMode="auto">
            <a:xfrm rot="16200000">
              <a:off x="832216" y="2384050"/>
              <a:ext cx="285790" cy="285731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291" name="流程图: 延期 92"/>
            <p:cNvSpPr>
              <a:spLocks noChangeArrowheads="1"/>
            </p:cNvSpPr>
            <p:nvPr/>
          </p:nvSpPr>
          <p:spPr bwMode="auto">
            <a:xfrm rot="16200000">
              <a:off x="1408441" y="2388813"/>
              <a:ext cx="285790" cy="285731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292" name="Line 38"/>
            <p:cNvSpPr/>
            <p:nvPr/>
          </p:nvSpPr>
          <p:spPr>
            <a:xfrm rot="-5400000">
              <a:off x="1095138" y="2119792"/>
              <a:ext cx="180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3" name="Line 39"/>
            <p:cNvSpPr/>
            <p:nvPr/>
          </p:nvSpPr>
          <p:spPr>
            <a:xfrm rot="-5400000">
              <a:off x="1224497" y="2119792"/>
              <a:ext cx="180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4" name="Line 25"/>
            <p:cNvSpPr/>
            <p:nvPr/>
          </p:nvSpPr>
          <p:spPr>
            <a:xfrm rot="-5400000">
              <a:off x="2046744" y="2338382"/>
              <a:ext cx="2159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5" name="Line 26"/>
            <p:cNvSpPr/>
            <p:nvPr/>
          </p:nvSpPr>
          <p:spPr>
            <a:xfrm rot="-5400000">
              <a:off x="2619826" y="2338382"/>
              <a:ext cx="2159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6" name="Line 27"/>
            <p:cNvSpPr/>
            <p:nvPr/>
          </p:nvSpPr>
          <p:spPr>
            <a:xfrm rot="-5400000">
              <a:off x="2259469" y="2125657"/>
              <a:ext cx="0" cy="20955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7" name="Line 28"/>
            <p:cNvSpPr/>
            <p:nvPr/>
          </p:nvSpPr>
          <p:spPr>
            <a:xfrm rot="-5400000" flipV="1">
              <a:off x="2613476" y="2109782"/>
              <a:ext cx="0" cy="2413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8" name="Line 29"/>
            <p:cNvSpPr/>
            <p:nvPr/>
          </p:nvSpPr>
          <p:spPr>
            <a:xfrm rot="-5400000">
              <a:off x="1968907" y="2792579"/>
              <a:ext cx="216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299" name="Line 30"/>
            <p:cNvSpPr/>
            <p:nvPr/>
          </p:nvSpPr>
          <p:spPr>
            <a:xfrm rot="-5400000">
              <a:off x="2111038" y="2764175"/>
              <a:ext cx="268287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1050300" name="Line 31"/>
            <p:cNvSpPr/>
            <p:nvPr/>
          </p:nvSpPr>
          <p:spPr>
            <a:xfrm rot="-5400000">
              <a:off x="2518175" y="2797343"/>
              <a:ext cx="216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301" name="Line 32"/>
            <p:cNvSpPr/>
            <p:nvPr/>
          </p:nvSpPr>
          <p:spPr>
            <a:xfrm rot="-5400000">
              <a:off x="2661027" y="2732249"/>
              <a:ext cx="3240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0302" name="流程图: 延期 92"/>
            <p:cNvSpPr>
              <a:spLocks noChangeArrowheads="1"/>
            </p:cNvSpPr>
            <p:nvPr/>
          </p:nvSpPr>
          <p:spPr bwMode="auto">
            <a:xfrm rot="16200000">
              <a:off x="2010064" y="2418980"/>
              <a:ext cx="285790" cy="285731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03" name="流程图: 延期 92"/>
            <p:cNvSpPr>
              <a:spLocks noChangeArrowheads="1"/>
            </p:cNvSpPr>
            <p:nvPr/>
          </p:nvSpPr>
          <p:spPr bwMode="auto">
            <a:xfrm rot="16200000">
              <a:off x="2582321" y="2419774"/>
              <a:ext cx="285790" cy="284143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04" name="Line 38"/>
            <p:cNvSpPr/>
            <p:nvPr/>
          </p:nvSpPr>
          <p:spPr>
            <a:xfrm rot="-5400000">
              <a:off x="2263444" y="2131220"/>
              <a:ext cx="2016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305" name="Line 39"/>
            <p:cNvSpPr/>
            <p:nvPr/>
          </p:nvSpPr>
          <p:spPr>
            <a:xfrm rot="-5400000">
              <a:off x="2392025" y="2131220"/>
              <a:ext cx="20160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306" name="Text Box 69"/>
            <p:cNvSpPr txBox="1"/>
            <p:nvPr/>
          </p:nvSpPr>
          <p:spPr>
            <a:xfrm>
              <a:off x="56009" y="1284288"/>
              <a:ext cx="437828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CP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 </a:t>
              </a:r>
            </a:p>
          </p:txBody>
        </p:sp>
        <p:cxnSp>
          <p:nvCxnSpPr>
            <p:cNvPr id="3146045" name="直接连接符 140"/>
            <p:cNvCxnSpPr/>
            <p:nvPr/>
          </p:nvCxnSpPr>
          <p:spPr>
            <a:xfrm>
              <a:off x="535434" y="1131888"/>
              <a:ext cx="7143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46" name="直接连接符 142"/>
            <p:cNvCxnSpPr/>
            <p:nvPr/>
          </p:nvCxnSpPr>
          <p:spPr>
            <a:xfrm>
              <a:off x="540197" y="1127125"/>
              <a:ext cx="0" cy="504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47" name="直接连接符 143"/>
            <p:cNvCxnSpPr/>
            <p:nvPr/>
          </p:nvCxnSpPr>
          <p:spPr>
            <a:xfrm flipH="1">
              <a:off x="541784" y="1630883"/>
              <a:ext cx="2844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48" name="直接连接符 144"/>
            <p:cNvCxnSpPr/>
            <p:nvPr/>
          </p:nvCxnSpPr>
          <p:spPr>
            <a:xfrm>
              <a:off x="1722884" y="1112838"/>
              <a:ext cx="7143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49" name="直接连接符 145"/>
            <p:cNvCxnSpPr/>
            <p:nvPr/>
          </p:nvCxnSpPr>
          <p:spPr>
            <a:xfrm>
              <a:off x="1727647" y="1108075"/>
              <a:ext cx="0" cy="504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6050" name="直接连接符 146"/>
            <p:cNvCxnSpPr/>
            <p:nvPr/>
          </p:nvCxnSpPr>
          <p:spPr>
            <a:xfrm>
              <a:off x="2891284" y="1114425"/>
              <a:ext cx="73025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051" name="直接连接符 147"/>
            <p:cNvCxnSpPr/>
            <p:nvPr/>
          </p:nvCxnSpPr>
          <p:spPr>
            <a:xfrm>
              <a:off x="2896047" y="1109663"/>
              <a:ext cx="0" cy="50400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0307" name="Text Box 69"/>
            <p:cNvSpPr txBox="1"/>
            <p:nvPr/>
          </p:nvSpPr>
          <p:spPr>
            <a:xfrm>
              <a:off x="3389759" y="1519312"/>
              <a:ext cx="419100" cy="30797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sp>
          <p:nvSpPr>
            <p:cNvPr id="1050308" name="Text Box 116"/>
            <p:cNvSpPr txBox="1">
              <a:spLocks noChangeArrowheads="1"/>
            </p:cNvSpPr>
            <p:nvPr/>
          </p:nvSpPr>
          <p:spPr bwMode="auto">
            <a:xfrm>
              <a:off x="729065" y="2880976"/>
              <a:ext cx="360338" cy="2762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cxnSp>
          <p:nvCxnSpPr>
            <p:cNvPr id="3146052" name="直接连接符 137"/>
            <p:cNvCxnSpPr/>
            <p:nvPr/>
          </p:nvCxnSpPr>
          <p:spPr>
            <a:xfrm flipH="1">
              <a:off x="442863" y="1496393"/>
              <a:ext cx="295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309" name="Text Box 64"/>
            <p:cNvSpPr txBox="1">
              <a:spLocks noChangeArrowheads="1"/>
            </p:cNvSpPr>
            <p:nvPr/>
          </p:nvSpPr>
          <p:spPr bwMode="auto">
            <a:xfrm>
              <a:off x="2970469" y="502571"/>
              <a:ext cx="395261" cy="30801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0310" name="Text Box 65"/>
            <p:cNvSpPr txBox="1">
              <a:spLocks noChangeArrowheads="1"/>
            </p:cNvSpPr>
            <p:nvPr/>
          </p:nvSpPr>
          <p:spPr bwMode="auto">
            <a:xfrm>
              <a:off x="1905325" y="493044"/>
              <a:ext cx="380975" cy="30801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311" name="Text Box 66"/>
            <p:cNvSpPr txBox="1">
              <a:spLocks noChangeArrowheads="1"/>
            </p:cNvSpPr>
            <p:nvPr/>
          </p:nvSpPr>
          <p:spPr bwMode="auto">
            <a:xfrm>
              <a:off x="643346" y="483518"/>
              <a:ext cx="401611" cy="30801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0312" name="Line 28"/>
            <p:cNvSpPr/>
            <p:nvPr/>
          </p:nvSpPr>
          <p:spPr>
            <a:xfrm rot="-5400000" flipV="1">
              <a:off x="3732411" y="650900"/>
              <a:ext cx="0" cy="2413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3146053" name="直接连接符 17"/>
            <p:cNvCxnSpPr/>
            <p:nvPr/>
          </p:nvCxnSpPr>
          <p:spPr>
            <a:xfrm rot="5400000">
              <a:off x="3510434" y="1112588"/>
              <a:ext cx="683665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0313" name="Line 28"/>
            <p:cNvSpPr/>
            <p:nvPr/>
          </p:nvSpPr>
          <p:spPr>
            <a:xfrm rot="-5400000" flipV="1">
              <a:off x="3729112" y="1332880"/>
              <a:ext cx="0" cy="2413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3" name="组合 162"/>
            <p:cNvGrpSpPr/>
            <p:nvPr/>
          </p:nvGrpSpPr>
          <p:grpSpPr>
            <a:xfrm>
              <a:off x="935088" y="2879964"/>
              <a:ext cx="360362" cy="276999"/>
              <a:chOff x="2267745" y="4227936"/>
              <a:chExt cx="360040" cy="277776"/>
            </a:xfrm>
          </p:grpSpPr>
          <p:sp>
            <p:nvSpPr>
              <p:cNvPr id="1050314" name="Text Box 116"/>
              <p:cNvSpPr txBox="1">
                <a:spLocks noChangeArrowheads="1"/>
              </p:cNvSpPr>
              <p:nvPr/>
            </p:nvSpPr>
            <p:spPr bwMode="auto">
              <a:xfrm>
                <a:off x="2268084" y="4227359"/>
                <a:ext cx="360016" cy="278631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50315" name="Line 117"/>
              <p:cNvSpPr/>
              <p:nvPr/>
            </p:nvSpPr>
            <p:spPr>
              <a:xfrm>
                <a:off x="2358832" y="4285640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316" name="Text Box 116"/>
            <p:cNvSpPr txBox="1">
              <a:spLocks noChangeArrowheads="1"/>
            </p:cNvSpPr>
            <p:nvPr/>
          </p:nvSpPr>
          <p:spPr bwMode="auto">
            <a:xfrm>
              <a:off x="1305289" y="2895266"/>
              <a:ext cx="360339" cy="2762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317" name="Text Box 116"/>
            <p:cNvSpPr txBox="1">
              <a:spLocks noChangeArrowheads="1"/>
            </p:cNvSpPr>
            <p:nvPr/>
          </p:nvSpPr>
          <p:spPr bwMode="auto">
            <a:xfrm>
              <a:off x="1495777" y="2898442"/>
              <a:ext cx="360339" cy="27785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0318" name="Text Box 116"/>
            <p:cNvSpPr txBox="1">
              <a:spLocks noChangeArrowheads="1"/>
            </p:cNvSpPr>
            <p:nvPr/>
          </p:nvSpPr>
          <p:spPr bwMode="auto">
            <a:xfrm>
              <a:off x="1932311" y="2919082"/>
              <a:ext cx="360338" cy="2762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grpSp>
          <p:nvGrpSpPr>
            <p:cNvPr id="424" name="组合 162"/>
            <p:cNvGrpSpPr/>
            <p:nvPr/>
          </p:nvGrpSpPr>
          <p:grpSpPr>
            <a:xfrm>
              <a:off x="2137123" y="2918064"/>
              <a:ext cx="360362" cy="276999"/>
              <a:chOff x="2267745" y="4227936"/>
              <a:chExt cx="360040" cy="277776"/>
            </a:xfrm>
          </p:grpSpPr>
          <p:sp>
            <p:nvSpPr>
              <p:cNvPr id="1050319" name="Text Box 116"/>
              <p:cNvSpPr txBox="1">
                <a:spLocks noChangeArrowheads="1"/>
              </p:cNvSpPr>
              <p:nvPr/>
            </p:nvSpPr>
            <p:spPr bwMode="auto">
              <a:xfrm>
                <a:off x="2267707" y="4227364"/>
                <a:ext cx="360017" cy="278631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50320" name="Line 117"/>
              <p:cNvSpPr/>
              <p:nvPr/>
            </p:nvSpPr>
            <p:spPr>
              <a:xfrm>
                <a:off x="2358832" y="4285640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425" name="组合 162"/>
            <p:cNvGrpSpPr/>
            <p:nvPr/>
          </p:nvGrpSpPr>
          <p:grpSpPr>
            <a:xfrm>
              <a:off x="2439442" y="2903771"/>
              <a:ext cx="360362" cy="276999"/>
              <a:chOff x="2267745" y="4227932"/>
              <a:chExt cx="360040" cy="277776"/>
            </a:xfrm>
          </p:grpSpPr>
          <p:sp>
            <p:nvSpPr>
              <p:cNvPr id="1050321" name="Text Box 116"/>
              <p:cNvSpPr txBox="1">
                <a:spLocks noChangeArrowheads="1"/>
              </p:cNvSpPr>
              <p:nvPr/>
            </p:nvSpPr>
            <p:spPr bwMode="auto">
              <a:xfrm>
                <a:off x="2266994" y="4227363"/>
                <a:ext cx="360017" cy="27863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50322" name="Line 117"/>
              <p:cNvSpPr/>
              <p:nvPr/>
            </p:nvSpPr>
            <p:spPr>
              <a:xfrm>
                <a:off x="2358832" y="4285640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426" name="组合 162"/>
            <p:cNvGrpSpPr/>
            <p:nvPr/>
          </p:nvGrpSpPr>
          <p:grpSpPr>
            <a:xfrm>
              <a:off x="2588221" y="2903771"/>
              <a:ext cx="360362" cy="276999"/>
              <a:chOff x="2267745" y="4227932"/>
              <a:chExt cx="360040" cy="277776"/>
            </a:xfrm>
          </p:grpSpPr>
          <p:sp>
            <p:nvSpPr>
              <p:cNvPr id="1050323" name="Text Box 116"/>
              <p:cNvSpPr txBox="1">
                <a:spLocks noChangeArrowheads="1"/>
              </p:cNvSpPr>
              <p:nvPr/>
            </p:nvSpPr>
            <p:spPr bwMode="auto">
              <a:xfrm>
                <a:off x="2267430" y="4227363"/>
                <a:ext cx="360017" cy="27863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0324" name="Line 117"/>
              <p:cNvSpPr/>
              <p:nvPr/>
            </p:nvSpPr>
            <p:spPr>
              <a:xfrm>
                <a:off x="2358832" y="4285640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325" name="Text Box 116"/>
            <p:cNvSpPr txBox="1">
              <a:spLocks noChangeArrowheads="1"/>
            </p:cNvSpPr>
            <p:nvPr/>
          </p:nvSpPr>
          <p:spPr bwMode="auto">
            <a:xfrm>
              <a:off x="2751408" y="2890503"/>
              <a:ext cx="360338" cy="2778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1050326" name="矩形 111"/>
          <p:cNvSpPr/>
          <p:nvPr/>
        </p:nvSpPr>
        <p:spPr>
          <a:xfrm>
            <a:off x="6094413" y="4570413"/>
            <a:ext cx="2519362" cy="4603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50327" name="矩形 112"/>
          <p:cNvSpPr/>
          <p:nvPr/>
        </p:nvSpPr>
        <p:spPr>
          <a:xfrm>
            <a:off x="6094413" y="3167063"/>
            <a:ext cx="2519362" cy="1404937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4194307" name="表格 235"/>
          <p:cNvGraphicFramePr>
            <a:graphicFrameLocks noGrp="1"/>
          </p:cNvGraphicFramePr>
          <p:nvPr/>
        </p:nvGraphicFramePr>
        <p:xfrm>
          <a:off x="6103938" y="2716213"/>
          <a:ext cx="2952750" cy="228600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4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</a:p>
                  </a:txBody>
                  <a:tcPr marL="0" marR="0" marT="0" marB="0"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时钟</a:t>
                      </a:r>
                    </a:p>
                  </a:txBody>
                  <a:tcPr marL="0" marR="0" marT="0" marB="0"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endParaRPr lang="zh-CN" altLang="en-US" sz="1200" b="1" baseline="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latin typeface="+mj-lt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1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50328" name="Text Box 98"/>
          <p:cNvSpPr txBox="1"/>
          <p:nvPr/>
        </p:nvSpPr>
        <p:spPr>
          <a:xfrm>
            <a:off x="4932363" y="4567238"/>
            <a:ext cx="1150937" cy="30670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能自启动</a:t>
            </a:r>
          </a:p>
        </p:txBody>
      </p:sp>
      <p:grpSp>
        <p:nvGrpSpPr>
          <p:cNvPr id="427" name="组合 92"/>
          <p:cNvGrpSpPr/>
          <p:nvPr/>
        </p:nvGrpSpPr>
        <p:grpSpPr>
          <a:xfrm>
            <a:off x="3290888" y="3321050"/>
            <a:ext cx="2592387" cy="1535113"/>
            <a:chOff x="4436693" y="965493"/>
            <a:chExt cx="2592000" cy="1534249"/>
          </a:xfrm>
        </p:grpSpPr>
        <p:sp>
          <p:nvSpPr>
            <p:cNvPr id="1050329" name="Oval 7"/>
            <p:cNvSpPr/>
            <p:nvPr/>
          </p:nvSpPr>
          <p:spPr>
            <a:xfrm>
              <a:off x="5436096" y="2239964"/>
              <a:ext cx="575454" cy="259778"/>
            </a:xfrm>
            <a:prstGeom prst="ellipse">
              <a:avLst/>
            </a:prstGeom>
            <a:solidFill>
              <a:srgbClr val="FFFFCC"/>
            </a:solidFill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111</a:t>
              </a:r>
            </a:p>
          </p:txBody>
        </p:sp>
        <p:sp>
          <p:nvSpPr>
            <p:cNvPr id="1050330" name="Oval 8"/>
            <p:cNvSpPr/>
            <p:nvPr/>
          </p:nvSpPr>
          <p:spPr>
            <a:xfrm>
              <a:off x="4589075" y="2239964"/>
              <a:ext cx="575454" cy="259778"/>
            </a:xfrm>
            <a:prstGeom prst="ellipse">
              <a:avLst/>
            </a:prstGeom>
            <a:solidFill>
              <a:srgbClr val="FFFFCC"/>
            </a:solidFill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110</a:t>
              </a:r>
            </a:p>
          </p:txBody>
        </p:sp>
        <p:sp>
          <p:nvSpPr>
            <p:cNvPr id="1050331" name="Line 11"/>
            <p:cNvSpPr>
              <a:spLocks noChangeShapeType="1"/>
            </p:cNvSpPr>
            <p:nvPr/>
          </p:nvSpPr>
          <p:spPr bwMode="auto">
            <a:xfrm flipH="1">
              <a:off x="5174770" y="2383919"/>
              <a:ext cx="252375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miter lim="800000"/>
              <a:headEnd type="triangle"/>
              <a:tailEnd type="non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32" name="Oval 5"/>
            <p:cNvSpPr/>
            <p:nvPr/>
          </p:nvSpPr>
          <p:spPr>
            <a:xfrm>
              <a:off x="4568534" y="1306869"/>
              <a:ext cx="580480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000</a:t>
              </a:r>
            </a:p>
          </p:txBody>
        </p:sp>
        <p:sp>
          <p:nvSpPr>
            <p:cNvPr id="1050333" name="Oval 6"/>
            <p:cNvSpPr/>
            <p:nvPr/>
          </p:nvSpPr>
          <p:spPr>
            <a:xfrm>
              <a:off x="5436742" y="1330485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001</a:t>
              </a:r>
            </a:p>
          </p:txBody>
        </p:sp>
        <p:sp>
          <p:nvSpPr>
            <p:cNvPr id="1050334" name="Oval 7"/>
            <p:cNvSpPr/>
            <p:nvPr/>
          </p:nvSpPr>
          <p:spPr>
            <a:xfrm>
              <a:off x="5436742" y="1778249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100</a:t>
              </a:r>
            </a:p>
          </p:txBody>
        </p:sp>
        <p:sp>
          <p:nvSpPr>
            <p:cNvPr id="1050335" name="Oval 8"/>
            <p:cNvSpPr/>
            <p:nvPr/>
          </p:nvSpPr>
          <p:spPr>
            <a:xfrm>
              <a:off x="4572303" y="1778249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101</a:t>
              </a:r>
            </a:p>
          </p:txBody>
        </p:sp>
        <p:sp>
          <p:nvSpPr>
            <p:cNvPr id="1050336" name="Line 9"/>
            <p:cNvSpPr>
              <a:spLocks noChangeShapeType="1"/>
            </p:cNvSpPr>
            <p:nvPr/>
          </p:nvSpPr>
          <p:spPr bwMode="auto">
            <a:xfrm>
              <a:off x="5182707" y="1446235"/>
              <a:ext cx="25237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37" name="Line 11"/>
            <p:cNvSpPr>
              <a:spLocks noChangeShapeType="1"/>
            </p:cNvSpPr>
            <p:nvPr/>
          </p:nvSpPr>
          <p:spPr bwMode="auto">
            <a:xfrm flipH="1">
              <a:off x="5157310" y="1922217"/>
              <a:ext cx="25237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38" name="Line 12"/>
            <p:cNvSpPr>
              <a:spLocks noChangeShapeType="1"/>
            </p:cNvSpPr>
            <p:nvPr/>
          </p:nvSpPr>
          <p:spPr bwMode="auto">
            <a:xfrm flipV="1">
              <a:off x="4852556" y="1592203"/>
              <a:ext cx="0" cy="17928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39" name="圆角矩形 131"/>
            <p:cNvSpPr/>
            <p:nvPr/>
          </p:nvSpPr>
          <p:spPr>
            <a:xfrm>
              <a:off x="4436693" y="1160053"/>
              <a:ext cx="2592000" cy="972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2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340" name="Text Box 13"/>
            <p:cNvSpPr txBox="1"/>
            <p:nvPr/>
          </p:nvSpPr>
          <p:spPr>
            <a:xfrm>
              <a:off x="5148064" y="965493"/>
              <a:ext cx="1296144" cy="30777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有效循环状态</a:t>
              </a:r>
            </a:p>
          </p:txBody>
        </p:sp>
        <p:sp>
          <p:nvSpPr>
            <p:cNvPr id="1050341" name="Oval 6"/>
            <p:cNvSpPr/>
            <p:nvPr/>
          </p:nvSpPr>
          <p:spPr>
            <a:xfrm>
              <a:off x="6300802" y="1338905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010</a:t>
              </a:r>
            </a:p>
          </p:txBody>
        </p:sp>
        <p:sp>
          <p:nvSpPr>
            <p:cNvPr id="1050342" name="Oval 7"/>
            <p:cNvSpPr/>
            <p:nvPr/>
          </p:nvSpPr>
          <p:spPr>
            <a:xfrm>
              <a:off x="6300802" y="1786669"/>
              <a:ext cx="575454" cy="259778"/>
            </a:xfrm>
            <a:prstGeom prst="ellipse">
              <a:avLst/>
            </a:prstGeom>
            <a:solidFill>
              <a:srgbClr val="99FF99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011</a:t>
              </a:r>
            </a:p>
          </p:txBody>
        </p:sp>
        <p:sp>
          <p:nvSpPr>
            <p:cNvPr id="1050343" name="Line 9"/>
            <p:cNvSpPr>
              <a:spLocks noChangeShapeType="1"/>
            </p:cNvSpPr>
            <p:nvPr/>
          </p:nvSpPr>
          <p:spPr bwMode="auto">
            <a:xfrm>
              <a:off x="6047764" y="1454168"/>
              <a:ext cx="2523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44" name="Line 11"/>
            <p:cNvSpPr>
              <a:spLocks noChangeShapeType="1"/>
            </p:cNvSpPr>
            <p:nvPr/>
          </p:nvSpPr>
          <p:spPr bwMode="auto">
            <a:xfrm flipH="1">
              <a:off x="6022368" y="1930150"/>
              <a:ext cx="25237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0345" name="Line 12"/>
            <p:cNvSpPr/>
            <p:nvPr/>
          </p:nvSpPr>
          <p:spPr>
            <a:xfrm flipV="1">
              <a:off x="6588577" y="1600518"/>
              <a:ext cx="0" cy="17993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0346" name="Line 12"/>
            <p:cNvSpPr>
              <a:spLocks noChangeShapeType="1"/>
            </p:cNvSpPr>
            <p:nvPr/>
          </p:nvSpPr>
          <p:spPr bwMode="auto">
            <a:xfrm flipV="1">
              <a:off x="5730312" y="2031693"/>
              <a:ext cx="0" cy="21577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428" name="组合 52"/>
          <p:cNvGrpSpPr/>
          <p:nvPr/>
        </p:nvGrpSpPr>
        <p:grpSpPr>
          <a:xfrm>
            <a:off x="1835150" y="3651250"/>
            <a:ext cx="1122363" cy="538163"/>
            <a:chOff x="3059832" y="2243028"/>
            <a:chExt cx="1122610" cy="538203"/>
          </a:xfrm>
        </p:grpSpPr>
        <p:sp>
          <p:nvSpPr>
            <p:cNvPr id="1050347" name="圆角矩形标注 13"/>
            <p:cNvSpPr/>
            <p:nvPr/>
          </p:nvSpPr>
          <p:spPr>
            <a:xfrm>
              <a:off x="3059832" y="2243028"/>
              <a:ext cx="1080000" cy="510778"/>
            </a:xfrm>
            <a:prstGeom prst="wedgeRoundRectCallout">
              <a:avLst>
                <a:gd name="adj1" fmla="val 82981"/>
                <a:gd name="adj2" fmla="val -1375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66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b="1" dirty="0">
                <a:latin typeface="Arial" panose="020B0604020202090204" pitchFamily="34" charset="0"/>
              </a:endParaRPr>
            </a:p>
          </p:txBody>
        </p:sp>
        <p:sp>
          <p:nvSpPr>
            <p:cNvPr id="1050348" name="Text Box 34"/>
            <p:cNvSpPr txBox="1">
              <a:spLocks noChangeArrowheads="1"/>
            </p:cNvSpPr>
            <p:nvPr/>
          </p:nvSpPr>
          <p:spPr bwMode="auto">
            <a:xfrm>
              <a:off x="3102704" y="2257317"/>
              <a:ext cx="1079738" cy="52391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zh-CN" altLang="en-US" sz="14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同步</a:t>
              </a:r>
              <a:r>
                <a:rPr kumimoji="1" lang="zh-CN" altLang="en-US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模</a:t>
              </a:r>
              <a:r>
                <a:rPr kumimoji="1" lang="en-US" altLang="zh-CN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1" lang="zh-CN" altLang="en-US" sz="14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加法计数器</a:t>
              </a:r>
              <a:endParaRPr kumimoji="1" lang="zh-CN" altLang="en-US" sz="14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050349" name="Text Box 83"/>
          <p:cNvSpPr txBox="1"/>
          <p:nvPr/>
        </p:nvSpPr>
        <p:spPr>
          <a:xfrm>
            <a:off x="6011863" y="2376488"/>
            <a:ext cx="1728787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状态转换表</a:t>
            </a:r>
          </a:p>
        </p:txBody>
      </p:sp>
      <p:sp>
        <p:nvSpPr>
          <p:cNvPr id="1050350" name="Text Box 83"/>
          <p:cNvSpPr txBox="1"/>
          <p:nvPr/>
        </p:nvSpPr>
        <p:spPr>
          <a:xfrm>
            <a:off x="3276600" y="2952750"/>
            <a:ext cx="17287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状态图</a:t>
            </a:r>
          </a:p>
        </p:txBody>
      </p:sp>
      <p:grpSp>
        <p:nvGrpSpPr>
          <p:cNvPr id="429" name="组合 247"/>
          <p:cNvGrpSpPr/>
          <p:nvPr/>
        </p:nvGrpSpPr>
        <p:grpSpPr>
          <a:xfrm>
            <a:off x="3203575" y="2244725"/>
            <a:ext cx="1087438" cy="542925"/>
            <a:chOff x="3059832" y="2211711"/>
            <a:chExt cx="1087885" cy="542095"/>
          </a:xfrm>
        </p:grpSpPr>
        <p:sp>
          <p:nvSpPr>
            <p:cNvPr id="1050351" name="圆角矩形标注 13"/>
            <p:cNvSpPr/>
            <p:nvPr/>
          </p:nvSpPr>
          <p:spPr>
            <a:xfrm>
              <a:off x="3059832" y="2243028"/>
              <a:ext cx="1080000" cy="510778"/>
            </a:xfrm>
            <a:prstGeom prst="wedgeRoundRectCallout">
              <a:avLst>
                <a:gd name="adj1" fmla="val -46699"/>
                <a:gd name="adj2" fmla="val -73894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99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b="1" dirty="0">
                <a:latin typeface="Arial" panose="020B0604020202090204" pitchFamily="34" charset="0"/>
              </a:endParaRPr>
            </a:p>
          </p:txBody>
        </p:sp>
        <p:sp>
          <p:nvSpPr>
            <p:cNvPr id="1050352" name="Text Box 34"/>
            <p:cNvSpPr txBox="1">
              <a:spLocks noChangeArrowheads="1"/>
            </p:cNvSpPr>
            <p:nvPr/>
          </p:nvSpPr>
          <p:spPr bwMode="auto">
            <a:xfrm>
              <a:off x="3067773" y="2211711"/>
              <a:ext cx="1079944" cy="52117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zh-CN" altLang="en-US" sz="14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同步</a:t>
              </a:r>
              <a:r>
                <a:rPr kumimoji="1" lang="en-US" altLang="zh-CN" sz="1400" b="1" i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Moore</a:t>
              </a:r>
              <a:r>
                <a:rPr kumimoji="1" lang="zh-CN" altLang="en-US" sz="14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型时序电路</a:t>
              </a:r>
            </a:p>
          </p:txBody>
        </p:sp>
      </p:grpSp>
      <p:sp>
        <p:nvSpPr>
          <p:cNvPr id="1050353" name="标题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kumimoji="1" lang="zh-CN" altLang="en-US" kern="1200" noProof="0" dirty="0">
                <a:ln>
                  <a:noFill/>
                </a:ln>
                <a:effectLst/>
                <a:uLnTx/>
                <a:uFillTx/>
                <a:cs typeface="+mn-cs"/>
                <a:sym typeface="+mn-ea"/>
              </a:rPr>
              <a:t>同步计数器</a:t>
            </a:r>
            <a:endParaRPr kumimoji="1" lang="en-US" altLang="zh-CN" kern="1200" noProof="0" dirty="0">
              <a:ln>
                <a:noFill/>
              </a:ln>
              <a:effectLst/>
              <a:uLnTx/>
              <a:uFillTx/>
              <a:cs typeface="+mn-cs"/>
              <a:sym typeface="+mn-ea"/>
            </a:endParaRPr>
          </a:p>
        </p:txBody>
      </p:sp>
      <p:grpSp>
        <p:nvGrpSpPr>
          <p:cNvPr id="4" name="Group 120"/>
          <p:cNvGrpSpPr/>
          <p:nvPr/>
        </p:nvGrpSpPr>
        <p:grpSpPr>
          <a:xfrm>
            <a:off x="4655185" y="1080770"/>
            <a:ext cx="936625" cy="338455"/>
            <a:chOff x="3648" y="1968"/>
            <a:chExt cx="590" cy="284"/>
          </a:xfrm>
        </p:grpSpPr>
        <p:sp>
          <p:nvSpPr>
            <p:cNvPr id="2" name="Text Box 121"/>
            <p:cNvSpPr txBox="1"/>
            <p:nvPr/>
          </p:nvSpPr>
          <p:spPr>
            <a:xfrm>
              <a:off x="3648" y="1968"/>
              <a:ext cx="590" cy="28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Arial" panose="020B0604020202090204" pitchFamily="34" charset="0"/>
                </a:rPr>
                <a:t> </a:t>
              </a:r>
              <a:r>
                <a:rPr lang="en-US" altLang="zh-CN" sz="1600" b="1" dirty="0">
                  <a:latin typeface="Arial" panose="020B0604020202090204" pitchFamily="34" charset="0"/>
                </a:rPr>
                <a:t>D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1 </a:t>
              </a:r>
              <a:r>
                <a:rPr lang="en-US" altLang="zh-CN" sz="1600" b="1" dirty="0">
                  <a:latin typeface="Arial" panose="020B0604020202090204" pitchFamily="34" charset="0"/>
                </a:rPr>
                <a:t>= Y</a:t>
              </a:r>
              <a:r>
                <a:rPr lang="en-US" altLang="zh-CN" sz="1600" b="1" baseline="-25000" dirty="0">
                  <a:latin typeface="Arial" panose="020B0604020202090204" pitchFamily="34" charset="0"/>
                </a:rPr>
                <a:t>1</a:t>
              </a:r>
            </a:p>
          </p:txBody>
        </p:sp>
        <p:sp>
          <p:nvSpPr>
            <p:cNvPr id="3" name="Line 122"/>
            <p:cNvSpPr/>
            <p:nvPr/>
          </p:nvSpPr>
          <p:spPr>
            <a:xfrm>
              <a:off x="4004" y="1997"/>
              <a:ext cx="96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5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5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9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5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5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5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5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254" grpId="0"/>
      <p:bldP spid="1050255" grpId="0"/>
      <p:bldP spid="1050326" grpId="0" animBg="1"/>
      <p:bldP spid="1050327" grpId="0" animBg="1"/>
      <p:bldP spid="1050328" grpId="0"/>
      <p:bldP spid="1050349" grpId="0"/>
      <p:bldP spid="105035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latin typeface="+mn-lt"/>
                <a:cs typeface="+mn-cs"/>
                <a:sym typeface="+mn-ea"/>
              </a:rPr>
              <a:t>同步计数器</a:t>
            </a:r>
            <a:r>
              <a:rPr kumimoji="1" lang="en-US" altLang="zh-CN" kern="1200" noProof="0" dirty="0">
                <a:latin typeface="+mn-lt"/>
                <a:cs typeface="+mn-cs"/>
                <a:sym typeface="+mn-ea"/>
              </a:rPr>
              <a:t>——</a:t>
            </a:r>
            <a:r>
              <a:rPr kumimoji="1" lang="zh-CN" altLang="en-US" kern="1200" noProof="0" dirty="0">
                <a:latin typeface="+mn-lt"/>
                <a:cs typeface="+mn-cs"/>
                <a:sym typeface="+mn-ea"/>
              </a:rPr>
              <a:t>环形计数器</a:t>
            </a:r>
            <a:endParaRPr lang="zh-CN" altLang="en-US"/>
          </a:p>
        </p:txBody>
      </p:sp>
      <p:grpSp>
        <p:nvGrpSpPr>
          <p:cNvPr id="431" name="组合 76"/>
          <p:cNvGrpSpPr/>
          <p:nvPr/>
        </p:nvGrpSpPr>
        <p:grpSpPr>
          <a:xfrm>
            <a:off x="1619250" y="1294448"/>
            <a:ext cx="6048375" cy="1423987"/>
            <a:chOff x="1619250" y="1652588"/>
            <a:chExt cx="6048375" cy="1423987"/>
          </a:xfrm>
        </p:grpSpPr>
        <p:pic>
          <p:nvPicPr>
            <p:cNvPr id="2097188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0" y="1652588"/>
              <a:ext cx="6048375" cy="1423987"/>
            </a:xfrm>
            <a:prstGeom prst="rect">
              <a:avLst/>
            </a:prstGeom>
            <a:noFill/>
            <a:ln w="19050">
              <a:noFill/>
            </a:ln>
          </p:spPr>
        </p:pic>
        <p:grpSp>
          <p:nvGrpSpPr>
            <p:cNvPr id="432" name="组合 65"/>
            <p:cNvGrpSpPr/>
            <p:nvPr/>
          </p:nvGrpSpPr>
          <p:grpSpPr>
            <a:xfrm>
              <a:off x="6305550" y="2287588"/>
              <a:ext cx="377825" cy="276999"/>
              <a:chOff x="6343650" y="2287588"/>
              <a:chExt cx="377825" cy="276999"/>
            </a:xfrm>
          </p:grpSpPr>
          <p:sp>
            <p:nvSpPr>
              <p:cNvPr id="1050354" name="Text Box 178"/>
              <p:cNvSpPr txBox="1">
                <a:spLocks noChangeArrowheads="1"/>
              </p:cNvSpPr>
              <p:nvPr/>
            </p:nvSpPr>
            <p:spPr bwMode="auto">
              <a:xfrm>
                <a:off x="6343650" y="2287588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cxnSp>
            <p:nvCxnSpPr>
              <p:cNvPr id="3146054" name="直接连接符 64"/>
              <p:cNvCxnSpPr/>
              <p:nvPr/>
            </p:nvCxnSpPr>
            <p:spPr bwMode="auto">
              <a:xfrm>
                <a:off x="6453188" y="2346325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33" name="组合 66"/>
            <p:cNvGrpSpPr/>
            <p:nvPr/>
          </p:nvGrpSpPr>
          <p:grpSpPr>
            <a:xfrm>
              <a:off x="5172447" y="2302768"/>
              <a:ext cx="377825" cy="276999"/>
              <a:chOff x="6343650" y="2287588"/>
              <a:chExt cx="377825" cy="276999"/>
            </a:xfrm>
          </p:grpSpPr>
          <p:sp>
            <p:nvSpPr>
              <p:cNvPr id="1050355" name="Text Box 178"/>
              <p:cNvSpPr txBox="1">
                <a:spLocks noChangeArrowheads="1"/>
              </p:cNvSpPr>
              <p:nvPr/>
            </p:nvSpPr>
            <p:spPr bwMode="auto">
              <a:xfrm>
                <a:off x="6343278" y="2288283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cxnSp>
            <p:nvCxnSpPr>
              <p:cNvPr id="3146055" name="直接连接符 68"/>
              <p:cNvCxnSpPr/>
              <p:nvPr/>
            </p:nvCxnSpPr>
            <p:spPr bwMode="auto">
              <a:xfrm>
                <a:off x="6452816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34" name="组合 69"/>
            <p:cNvGrpSpPr/>
            <p:nvPr/>
          </p:nvGrpSpPr>
          <p:grpSpPr>
            <a:xfrm>
              <a:off x="4058419" y="2302768"/>
              <a:ext cx="377825" cy="276999"/>
              <a:chOff x="6343650" y="2287588"/>
              <a:chExt cx="377825" cy="276999"/>
            </a:xfrm>
          </p:grpSpPr>
          <p:sp>
            <p:nvSpPr>
              <p:cNvPr id="1050356" name="Text Box 178"/>
              <p:cNvSpPr txBox="1">
                <a:spLocks noChangeArrowheads="1"/>
              </p:cNvSpPr>
              <p:nvPr/>
            </p:nvSpPr>
            <p:spPr bwMode="auto">
              <a:xfrm>
                <a:off x="6342881" y="2288283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cxnSp>
            <p:nvCxnSpPr>
              <p:cNvPr id="3146056" name="直接连接符 71"/>
              <p:cNvCxnSpPr/>
              <p:nvPr/>
            </p:nvCxnSpPr>
            <p:spPr bwMode="auto">
              <a:xfrm>
                <a:off x="6452419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35" name="组合 72"/>
            <p:cNvGrpSpPr/>
            <p:nvPr/>
          </p:nvGrpSpPr>
          <p:grpSpPr>
            <a:xfrm>
              <a:off x="2925341" y="2293243"/>
              <a:ext cx="377825" cy="276999"/>
              <a:chOff x="6343650" y="2287588"/>
              <a:chExt cx="377825" cy="276999"/>
            </a:xfrm>
          </p:grpSpPr>
          <p:sp>
            <p:nvSpPr>
              <p:cNvPr id="1050357" name="Text Box 178"/>
              <p:cNvSpPr txBox="1">
                <a:spLocks noChangeArrowheads="1"/>
              </p:cNvSpPr>
              <p:nvPr/>
            </p:nvSpPr>
            <p:spPr bwMode="auto">
              <a:xfrm>
                <a:off x="6344072" y="2288283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cxnSp>
            <p:nvCxnSpPr>
              <p:cNvPr id="3146057" name="直接连接符 75"/>
              <p:cNvCxnSpPr/>
              <p:nvPr/>
            </p:nvCxnSpPr>
            <p:spPr bwMode="auto">
              <a:xfrm>
                <a:off x="6453609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50358" name="Line 80"/>
          <p:cNvSpPr/>
          <p:nvPr/>
        </p:nvSpPr>
        <p:spPr>
          <a:xfrm flipH="1">
            <a:off x="2376488" y="1161098"/>
            <a:ext cx="4392612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sp>
      <p:cxnSp>
        <p:nvCxnSpPr>
          <p:cNvPr id="3146058" name="直接连接符 76"/>
          <p:cNvCxnSpPr/>
          <p:nvPr/>
        </p:nvCxnSpPr>
        <p:spPr>
          <a:xfrm flipV="1">
            <a:off x="6770688" y="1173798"/>
            <a:ext cx="0" cy="32385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oval" w="sm" len="sm"/>
            <a:tailEnd type="none" w="med" len="med"/>
          </a:ln>
        </p:spPr>
      </p:cxnSp>
      <p:cxnSp>
        <p:nvCxnSpPr>
          <p:cNvPr id="3146059" name="直接连接符 77"/>
          <p:cNvCxnSpPr/>
          <p:nvPr/>
        </p:nvCxnSpPr>
        <p:spPr>
          <a:xfrm flipV="1">
            <a:off x="2378075" y="1151573"/>
            <a:ext cx="0" cy="358775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oval" w="sm" len="sm"/>
            <a:tailEnd type="none" w="med" len="med"/>
          </a:ln>
        </p:spPr>
      </p:cxnSp>
      <p:grpSp>
        <p:nvGrpSpPr>
          <p:cNvPr id="436" name="组合 79"/>
          <p:cNvGrpSpPr/>
          <p:nvPr/>
        </p:nvGrpSpPr>
        <p:grpSpPr>
          <a:xfrm>
            <a:off x="968375" y="3906838"/>
            <a:ext cx="1444625" cy="774700"/>
            <a:chOff x="2627784" y="449207"/>
            <a:chExt cx="1444030" cy="813447"/>
          </a:xfrm>
        </p:grpSpPr>
        <p:grpSp>
          <p:nvGrpSpPr>
            <p:cNvPr id="437" name="Group 4"/>
            <p:cNvGrpSpPr/>
            <p:nvPr/>
          </p:nvGrpSpPr>
          <p:grpSpPr>
            <a:xfrm>
              <a:off x="2627784" y="449207"/>
              <a:ext cx="1444030" cy="813447"/>
              <a:chOff x="528" y="504"/>
              <a:chExt cx="1149" cy="820"/>
            </a:xfrm>
          </p:grpSpPr>
          <p:sp>
            <p:nvSpPr>
              <p:cNvPr id="1050359" name="Oval 5"/>
              <p:cNvSpPr/>
              <p:nvPr/>
            </p:nvSpPr>
            <p:spPr>
              <a:xfrm>
                <a:off x="528" y="504"/>
                <a:ext cx="462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1000</a:t>
                </a:r>
              </a:p>
            </p:txBody>
          </p:sp>
          <p:sp>
            <p:nvSpPr>
              <p:cNvPr id="1050360" name="Oval 6"/>
              <p:cNvSpPr/>
              <p:nvPr/>
            </p:nvSpPr>
            <p:spPr>
              <a:xfrm>
                <a:off x="1219" y="529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0100</a:t>
                </a:r>
              </a:p>
            </p:txBody>
          </p:sp>
          <p:sp>
            <p:nvSpPr>
              <p:cNvPr id="1050361" name="Oval 7"/>
              <p:cNvSpPr/>
              <p:nvPr/>
            </p:nvSpPr>
            <p:spPr>
              <a:xfrm>
                <a:off x="1219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0010</a:t>
                </a:r>
              </a:p>
            </p:txBody>
          </p:sp>
          <p:sp>
            <p:nvSpPr>
              <p:cNvPr id="1050362" name="Oval 8"/>
              <p:cNvSpPr/>
              <p:nvPr/>
            </p:nvSpPr>
            <p:spPr>
              <a:xfrm>
                <a:off x="531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0001</a:t>
                </a:r>
              </a:p>
            </p:txBody>
          </p:sp>
          <p:sp>
            <p:nvSpPr>
              <p:cNvPr id="1050363" name="Line 9"/>
              <p:cNvSpPr>
                <a:spLocks noChangeShapeType="1"/>
              </p:cNvSpPr>
              <p:nvPr/>
            </p:nvSpPr>
            <p:spPr bwMode="auto">
              <a:xfrm>
                <a:off x="1017" y="674"/>
                <a:ext cx="20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364" name="Line 11"/>
              <p:cNvSpPr>
                <a:spLocks noChangeShapeType="1"/>
              </p:cNvSpPr>
              <p:nvPr/>
            </p:nvSpPr>
            <p:spPr bwMode="auto">
              <a:xfrm flipH="1">
                <a:off x="996" y="1178"/>
                <a:ext cx="20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365" name="Line 12"/>
              <p:cNvSpPr>
                <a:spLocks noChangeShapeType="1"/>
              </p:cNvSpPr>
              <p:nvPr/>
            </p:nvSpPr>
            <p:spPr bwMode="auto">
              <a:xfrm flipV="1">
                <a:off x="754" y="828"/>
                <a:ext cx="0" cy="19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0366" name="Line 12"/>
            <p:cNvSpPr/>
            <p:nvPr/>
          </p:nvSpPr>
          <p:spPr>
            <a:xfrm flipV="1">
              <a:off x="3784062" y="771552"/>
              <a:ext cx="0" cy="188955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438" name="组合 99"/>
          <p:cNvGrpSpPr/>
          <p:nvPr/>
        </p:nvGrpSpPr>
        <p:grpSpPr>
          <a:xfrm>
            <a:off x="2624138" y="3906838"/>
            <a:ext cx="1444625" cy="774700"/>
            <a:chOff x="2627784" y="449207"/>
            <a:chExt cx="1444030" cy="813447"/>
          </a:xfrm>
        </p:grpSpPr>
        <p:grpSp>
          <p:nvGrpSpPr>
            <p:cNvPr id="439" name="Group 4"/>
            <p:cNvGrpSpPr/>
            <p:nvPr/>
          </p:nvGrpSpPr>
          <p:grpSpPr>
            <a:xfrm>
              <a:off x="2627784" y="449207"/>
              <a:ext cx="1444030" cy="813447"/>
              <a:chOff x="528" y="504"/>
              <a:chExt cx="1149" cy="820"/>
            </a:xfrm>
          </p:grpSpPr>
          <p:sp>
            <p:nvSpPr>
              <p:cNvPr id="1050367" name="Oval 5"/>
              <p:cNvSpPr/>
              <p:nvPr/>
            </p:nvSpPr>
            <p:spPr>
              <a:xfrm>
                <a:off x="528" y="504"/>
                <a:ext cx="462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1101</a:t>
                </a:r>
              </a:p>
            </p:txBody>
          </p:sp>
          <p:sp>
            <p:nvSpPr>
              <p:cNvPr id="1050368" name="Oval 6"/>
              <p:cNvSpPr/>
              <p:nvPr/>
            </p:nvSpPr>
            <p:spPr>
              <a:xfrm>
                <a:off x="1219" y="529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1110</a:t>
                </a:r>
              </a:p>
            </p:txBody>
          </p:sp>
          <p:sp>
            <p:nvSpPr>
              <p:cNvPr id="1050369" name="Oval 7"/>
              <p:cNvSpPr/>
              <p:nvPr/>
            </p:nvSpPr>
            <p:spPr>
              <a:xfrm>
                <a:off x="1219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0111</a:t>
                </a:r>
              </a:p>
            </p:txBody>
          </p:sp>
          <p:sp>
            <p:nvSpPr>
              <p:cNvPr id="1050370" name="Oval 8"/>
              <p:cNvSpPr/>
              <p:nvPr/>
            </p:nvSpPr>
            <p:spPr>
              <a:xfrm>
                <a:off x="531" y="1003"/>
                <a:ext cx="458" cy="321"/>
              </a:xfrm>
              <a:prstGeom prst="ellipse">
                <a:avLst/>
              </a:prstGeom>
              <a:solidFill>
                <a:srgbClr val="99FF99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1011</a:t>
                </a:r>
              </a:p>
            </p:txBody>
          </p:sp>
          <p:sp>
            <p:nvSpPr>
              <p:cNvPr id="1050371" name="Line 9"/>
              <p:cNvSpPr>
                <a:spLocks noChangeShapeType="1"/>
              </p:cNvSpPr>
              <p:nvPr/>
            </p:nvSpPr>
            <p:spPr bwMode="auto">
              <a:xfrm>
                <a:off x="1017" y="674"/>
                <a:ext cx="20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372" name="Line 11"/>
              <p:cNvSpPr>
                <a:spLocks noChangeShapeType="1"/>
              </p:cNvSpPr>
              <p:nvPr/>
            </p:nvSpPr>
            <p:spPr bwMode="auto">
              <a:xfrm flipH="1">
                <a:off x="996" y="1178"/>
                <a:ext cx="20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373" name="Line 12"/>
              <p:cNvSpPr>
                <a:spLocks noChangeShapeType="1"/>
              </p:cNvSpPr>
              <p:nvPr/>
            </p:nvSpPr>
            <p:spPr bwMode="auto">
              <a:xfrm flipV="1">
                <a:off x="754" y="828"/>
                <a:ext cx="0" cy="19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0374" name="Line 12"/>
            <p:cNvSpPr/>
            <p:nvPr/>
          </p:nvSpPr>
          <p:spPr>
            <a:xfrm flipV="1">
              <a:off x="3784062" y="771552"/>
              <a:ext cx="0" cy="188955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</p:grpSp>
      <p:grpSp>
        <p:nvGrpSpPr>
          <p:cNvPr id="440" name="组合 90"/>
          <p:cNvGrpSpPr/>
          <p:nvPr/>
        </p:nvGrpSpPr>
        <p:grpSpPr>
          <a:xfrm>
            <a:off x="900113" y="3424238"/>
            <a:ext cx="3311525" cy="1450975"/>
            <a:chOff x="900435" y="3424238"/>
            <a:chExt cx="3311525" cy="1450975"/>
          </a:xfrm>
        </p:grpSpPr>
        <p:sp>
          <p:nvSpPr>
            <p:cNvPr id="1050375" name="圆角矩形 131"/>
            <p:cNvSpPr/>
            <p:nvPr/>
          </p:nvSpPr>
          <p:spPr>
            <a:xfrm>
              <a:off x="900435" y="3579542"/>
              <a:ext cx="3311525" cy="1295671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376" name="Text Box 13"/>
            <p:cNvSpPr txBox="1"/>
            <p:nvPr/>
          </p:nvSpPr>
          <p:spPr>
            <a:xfrm>
              <a:off x="1851476" y="3424238"/>
              <a:ext cx="1352371" cy="33855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常用状态图</a:t>
              </a:r>
            </a:p>
          </p:txBody>
        </p:sp>
      </p:grpSp>
      <p:grpSp>
        <p:nvGrpSpPr>
          <p:cNvPr id="441" name="组合 133"/>
          <p:cNvGrpSpPr/>
          <p:nvPr/>
        </p:nvGrpSpPr>
        <p:grpSpPr>
          <a:xfrm>
            <a:off x="5292725" y="3430588"/>
            <a:ext cx="3384550" cy="1430337"/>
            <a:chOff x="4499992" y="3373363"/>
            <a:chExt cx="3384376" cy="1430635"/>
          </a:xfrm>
        </p:grpSpPr>
        <p:grpSp>
          <p:nvGrpSpPr>
            <p:cNvPr id="442" name="Group 15"/>
            <p:cNvGrpSpPr/>
            <p:nvPr/>
          </p:nvGrpSpPr>
          <p:grpSpPr>
            <a:xfrm>
              <a:off x="6300192" y="3809980"/>
              <a:ext cx="1458518" cy="799559"/>
              <a:chOff x="528" y="475"/>
              <a:chExt cx="1240" cy="964"/>
            </a:xfrm>
          </p:grpSpPr>
          <p:sp>
            <p:nvSpPr>
              <p:cNvPr id="1050377" name="Oval 16"/>
              <p:cNvSpPr/>
              <p:nvPr/>
            </p:nvSpPr>
            <p:spPr>
              <a:xfrm>
                <a:off x="528" y="475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1100</a:t>
                </a:r>
              </a:p>
            </p:txBody>
          </p:sp>
          <p:sp>
            <p:nvSpPr>
              <p:cNvPr id="1050378" name="Oval 17"/>
              <p:cNvSpPr/>
              <p:nvPr/>
            </p:nvSpPr>
            <p:spPr>
              <a:xfrm>
                <a:off x="1263" y="475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0110</a:t>
                </a:r>
              </a:p>
            </p:txBody>
          </p:sp>
          <p:sp>
            <p:nvSpPr>
              <p:cNvPr id="1050379" name="Oval 18"/>
              <p:cNvSpPr/>
              <p:nvPr/>
            </p:nvSpPr>
            <p:spPr>
              <a:xfrm>
                <a:off x="1278" y="1060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0011</a:t>
                </a:r>
              </a:p>
            </p:txBody>
          </p:sp>
          <p:sp>
            <p:nvSpPr>
              <p:cNvPr id="1050380" name="Oval 19"/>
              <p:cNvSpPr/>
              <p:nvPr/>
            </p:nvSpPr>
            <p:spPr>
              <a:xfrm>
                <a:off x="552" y="1074"/>
                <a:ext cx="490" cy="365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1001</a:t>
                </a:r>
              </a:p>
            </p:txBody>
          </p:sp>
          <p:sp>
            <p:nvSpPr>
              <p:cNvPr id="1050381" name="Line 20"/>
              <p:cNvSpPr/>
              <p:nvPr/>
            </p:nvSpPr>
            <p:spPr>
              <a:xfrm>
                <a:off x="1055" y="647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0382" name="Line 21"/>
              <p:cNvSpPr/>
              <p:nvPr/>
            </p:nvSpPr>
            <p:spPr>
              <a:xfrm>
                <a:off x="1544" y="850"/>
                <a:ext cx="0" cy="21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0383" name="Line 22"/>
              <p:cNvSpPr/>
              <p:nvPr/>
            </p:nvSpPr>
            <p:spPr>
              <a:xfrm flipH="1">
                <a:off x="1062" y="1268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0384" name="Line 23"/>
              <p:cNvSpPr/>
              <p:nvPr/>
            </p:nvSpPr>
            <p:spPr>
              <a:xfrm flipV="1">
                <a:off x="773" y="841"/>
                <a:ext cx="0" cy="21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grpSp>
          <p:nvGrpSpPr>
            <p:cNvPr id="443" name="Group 33"/>
            <p:cNvGrpSpPr/>
            <p:nvPr/>
          </p:nvGrpSpPr>
          <p:grpSpPr>
            <a:xfrm>
              <a:off x="4571747" y="3723928"/>
              <a:ext cx="682225" cy="405588"/>
              <a:chOff x="4129" y="3148"/>
              <a:chExt cx="618" cy="439"/>
            </a:xfrm>
          </p:grpSpPr>
          <p:sp>
            <p:nvSpPr>
              <p:cNvPr id="1050385" name="Oval 34"/>
              <p:cNvSpPr/>
              <p:nvPr/>
            </p:nvSpPr>
            <p:spPr>
              <a:xfrm>
                <a:off x="4225" y="3259"/>
                <a:ext cx="522" cy="328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0000</a:t>
                </a:r>
              </a:p>
            </p:txBody>
          </p:sp>
          <p:sp>
            <p:nvSpPr>
              <p:cNvPr id="1050386" name="Freeform 35"/>
              <p:cNvSpPr/>
              <p:nvPr/>
            </p:nvSpPr>
            <p:spPr>
              <a:xfrm>
                <a:off x="4129" y="3148"/>
                <a:ext cx="335" cy="354"/>
              </a:xfrm>
              <a:custGeom>
                <a:avLst/>
                <a:gdLst>
                  <a:gd name="txL" fmla="*/ 0 w 400"/>
                  <a:gd name="txT" fmla="*/ 0 h 432"/>
                  <a:gd name="txR" fmla="*/ 400 w 400"/>
                  <a:gd name="txB" fmla="*/ 432 h 432"/>
                </a:gdLst>
                <a:ahLst/>
                <a:cxnLst>
                  <a:cxn ang="0">
                    <a:pos x="165" y="65"/>
                  </a:cxn>
                  <a:cxn ang="0">
                    <a:pos x="27" y="11"/>
                  </a:cxn>
                  <a:cxn ang="0">
                    <a:pos x="7" y="136"/>
                  </a:cxn>
                  <a:cxn ang="0">
                    <a:pos x="66" y="154"/>
                  </a:cxn>
                </a:cxnLst>
                <a:rect l="txL" t="txT" r="txR" b="txB"/>
                <a:pathLst>
                  <a:path w="400" h="432">
                    <a:moveTo>
                      <a:pt x="400" y="176"/>
                    </a:moveTo>
                    <a:cubicBezTo>
                      <a:pt x="264" y="88"/>
                      <a:pt x="128" y="0"/>
                      <a:pt x="64" y="32"/>
                    </a:cubicBezTo>
                    <a:cubicBezTo>
                      <a:pt x="0" y="64"/>
                      <a:pt x="0" y="304"/>
                      <a:pt x="16" y="368"/>
                    </a:cubicBezTo>
                    <a:cubicBezTo>
                      <a:pt x="32" y="432"/>
                      <a:pt x="136" y="416"/>
                      <a:pt x="160" y="416"/>
                    </a:cubicBezTo>
                  </a:path>
                </a:pathLst>
              </a:custGeom>
              <a:noFill/>
              <a:ln w="19050" cap="flat" cmpd="sng">
                <a:solidFill>
                  <a:schemeClr val="bg2">
                    <a:alpha val="100000"/>
                  </a:schemeClr>
                </a:solidFill>
                <a:prstDash val="solid"/>
                <a:miter lim="800000"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4" name="Group 36"/>
            <p:cNvGrpSpPr/>
            <p:nvPr/>
          </p:nvGrpSpPr>
          <p:grpSpPr>
            <a:xfrm>
              <a:off x="5466702" y="3751796"/>
              <a:ext cx="669639" cy="378082"/>
              <a:chOff x="4183" y="2261"/>
              <a:chExt cx="634" cy="410"/>
            </a:xfrm>
          </p:grpSpPr>
          <p:sp>
            <p:nvSpPr>
              <p:cNvPr id="1050387" name="Oval 37"/>
              <p:cNvSpPr/>
              <p:nvPr/>
            </p:nvSpPr>
            <p:spPr>
              <a:xfrm>
                <a:off x="4272" y="2342"/>
                <a:ext cx="545" cy="329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1111</a:t>
                </a:r>
              </a:p>
            </p:txBody>
          </p:sp>
          <p:sp>
            <p:nvSpPr>
              <p:cNvPr id="1050388" name="Freeform 38"/>
              <p:cNvSpPr/>
              <p:nvPr/>
            </p:nvSpPr>
            <p:spPr>
              <a:xfrm rot="4861775">
                <a:off x="4199" y="2245"/>
                <a:ext cx="261" cy="293"/>
              </a:xfrm>
              <a:custGeom>
                <a:avLst/>
                <a:gdLst>
                  <a:gd name="txL" fmla="*/ 0 w 336"/>
                  <a:gd name="txT" fmla="*/ 0 h 360"/>
                  <a:gd name="txR" fmla="*/ 336 w 336"/>
                  <a:gd name="txB" fmla="*/ 360 h 360"/>
                </a:gdLst>
                <a:ahLst/>
                <a:cxnLst>
                  <a:cxn ang="0">
                    <a:pos x="37" y="0"/>
                  </a:cxn>
                  <a:cxn ang="0">
                    <a:pos x="0" y="54"/>
                  </a:cxn>
                  <a:cxn ang="0">
                    <a:pos x="37" y="126"/>
                  </a:cxn>
                  <a:cxn ang="0">
                    <a:pos x="85" y="108"/>
                  </a:cxn>
                </a:cxnLst>
                <a:rect l="txL" t="txT" r="txR" b="txB"/>
                <a:pathLst>
                  <a:path w="336" h="360">
                    <a:moveTo>
                      <a:pt x="144" y="0"/>
                    </a:moveTo>
                    <a:cubicBezTo>
                      <a:pt x="72" y="44"/>
                      <a:pt x="0" y="88"/>
                      <a:pt x="0" y="144"/>
                    </a:cubicBezTo>
                    <a:cubicBezTo>
                      <a:pt x="0" y="200"/>
                      <a:pt x="88" y="312"/>
                      <a:pt x="144" y="336"/>
                    </a:cubicBezTo>
                    <a:cubicBezTo>
                      <a:pt x="200" y="360"/>
                      <a:pt x="268" y="324"/>
                      <a:pt x="336" y="288"/>
                    </a:cubicBezTo>
                  </a:path>
                </a:pathLst>
              </a:custGeom>
              <a:noFill/>
              <a:ln w="19050" cap="flat" cmpd="sng">
                <a:solidFill>
                  <a:schemeClr val="bg2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5" name="Group 40"/>
            <p:cNvGrpSpPr/>
            <p:nvPr/>
          </p:nvGrpSpPr>
          <p:grpSpPr>
            <a:xfrm>
              <a:off x="4716016" y="4277677"/>
              <a:ext cx="1410488" cy="311730"/>
              <a:chOff x="1584" y="2603"/>
              <a:chExt cx="1279" cy="322"/>
            </a:xfrm>
          </p:grpSpPr>
          <p:sp>
            <p:nvSpPr>
              <p:cNvPr id="1050389" name="Oval 41"/>
              <p:cNvSpPr/>
              <p:nvPr/>
            </p:nvSpPr>
            <p:spPr>
              <a:xfrm>
                <a:off x="1584" y="2612"/>
                <a:ext cx="522" cy="313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0101</a:t>
                </a:r>
              </a:p>
            </p:txBody>
          </p:sp>
          <p:sp>
            <p:nvSpPr>
              <p:cNvPr id="1050390" name="Oval 42"/>
              <p:cNvSpPr/>
              <p:nvPr/>
            </p:nvSpPr>
            <p:spPr>
              <a:xfrm>
                <a:off x="2341" y="2603"/>
                <a:ext cx="522" cy="313"/>
              </a:xfrm>
              <a:prstGeom prst="ellipse">
                <a:avLst/>
              </a:prstGeom>
              <a:solidFill>
                <a:schemeClr val="folHlink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latin typeface="Arial" panose="020B0604020202090204" pitchFamily="34" charset="0"/>
                  </a:rPr>
                  <a:t>1010</a:t>
                </a:r>
              </a:p>
            </p:txBody>
          </p:sp>
          <p:sp>
            <p:nvSpPr>
              <p:cNvPr id="1050391" name="Line 43"/>
              <p:cNvSpPr/>
              <p:nvPr/>
            </p:nvSpPr>
            <p:spPr>
              <a:xfrm>
                <a:off x="2115" y="2718"/>
                <a:ext cx="19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0392" name="Line 44"/>
              <p:cNvSpPr/>
              <p:nvPr/>
            </p:nvSpPr>
            <p:spPr>
              <a:xfrm flipH="1">
                <a:off x="2115" y="2814"/>
                <a:ext cx="196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</p:grpSp>
        <p:sp>
          <p:nvSpPr>
            <p:cNvPr id="1050393" name="圆角矩形 132"/>
            <p:cNvSpPr/>
            <p:nvPr/>
          </p:nvSpPr>
          <p:spPr>
            <a:xfrm>
              <a:off x="4499992" y="3507854"/>
              <a:ext cx="3384376" cy="1296144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394" name="Text Box 14"/>
            <p:cNvSpPr txBox="1"/>
            <p:nvPr/>
          </p:nvSpPr>
          <p:spPr>
            <a:xfrm>
              <a:off x="5561063" y="3373363"/>
              <a:ext cx="1531083" cy="338625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不常用状态图</a:t>
              </a:r>
            </a:p>
          </p:txBody>
        </p:sp>
      </p:grpSp>
      <p:grpSp>
        <p:nvGrpSpPr>
          <p:cNvPr id="446" name="组合 12"/>
          <p:cNvGrpSpPr/>
          <p:nvPr/>
        </p:nvGrpSpPr>
        <p:grpSpPr>
          <a:xfrm>
            <a:off x="250825" y="2789238"/>
            <a:ext cx="1584325" cy="954087"/>
            <a:chOff x="4413445" y="1000113"/>
            <a:chExt cx="2730323" cy="916718"/>
          </a:xfrm>
        </p:grpSpPr>
        <p:sp>
          <p:nvSpPr>
            <p:cNvPr id="1050395" name="圆角矩形标注 13"/>
            <p:cNvSpPr/>
            <p:nvPr/>
          </p:nvSpPr>
          <p:spPr>
            <a:xfrm>
              <a:off x="4413445" y="1030197"/>
              <a:ext cx="2544165" cy="657196"/>
            </a:xfrm>
            <a:prstGeom prst="wedgeRoundRectCallout">
              <a:avLst>
                <a:gd name="adj1" fmla="val 35824"/>
                <a:gd name="adj2" fmla="val 77935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50396" name="Text Box 34"/>
            <p:cNvSpPr txBox="1"/>
            <p:nvPr/>
          </p:nvSpPr>
          <p:spPr>
            <a:xfrm>
              <a:off x="4429125" y="1000113"/>
              <a:ext cx="2714643" cy="9167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优点：电路简单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输出具有二进制译码器的特点</a:t>
              </a:r>
            </a:p>
          </p:txBody>
        </p:sp>
      </p:grpSp>
      <p:grpSp>
        <p:nvGrpSpPr>
          <p:cNvPr id="447" name="组合 12"/>
          <p:cNvGrpSpPr/>
          <p:nvPr/>
        </p:nvGrpSpPr>
        <p:grpSpPr>
          <a:xfrm>
            <a:off x="3644265" y="3016882"/>
            <a:ext cx="2552701" cy="535940"/>
            <a:chOff x="4429233" y="942727"/>
            <a:chExt cx="4533974" cy="515228"/>
          </a:xfrm>
        </p:grpSpPr>
        <p:sp>
          <p:nvSpPr>
            <p:cNvPr id="1050397" name="圆角矩形标注 13"/>
            <p:cNvSpPr/>
            <p:nvPr/>
          </p:nvSpPr>
          <p:spPr>
            <a:xfrm>
              <a:off x="4439385" y="942727"/>
              <a:ext cx="4523822" cy="490486"/>
            </a:xfrm>
            <a:prstGeom prst="wedgeRoundRectCallout">
              <a:avLst>
                <a:gd name="adj1" fmla="val -69670"/>
                <a:gd name="adj2" fmla="val 55750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50398" name="Text Box 34"/>
            <p:cNvSpPr txBox="1"/>
            <p:nvPr/>
          </p:nvSpPr>
          <p:spPr>
            <a:xfrm>
              <a:off x="4429233" y="956157"/>
              <a:ext cx="4509159" cy="5017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缺点：</a:t>
              </a:r>
              <a:r>
                <a:rPr lang="en-US" altLang="zh-CN" sz="1400" b="1" dirty="0">
                  <a:latin typeface="Arial" panose="020B0604020202090204" pitchFamily="34" charset="0"/>
                </a:rPr>
                <a:t>2</a:t>
              </a:r>
              <a:r>
                <a:rPr lang="en-US" altLang="zh-CN" sz="1400" b="1" baseline="30000" dirty="0">
                  <a:latin typeface="Arial" panose="020B0604020202090204" pitchFamily="34" charset="0"/>
                </a:rPr>
                <a:t>n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个状态只使用了</a:t>
              </a:r>
              <a:r>
                <a:rPr lang="en-US" altLang="zh-CN" sz="1400" b="1" i="1" dirty="0">
                  <a:latin typeface="Arial" panose="020B0604020202090204" pitchFamily="34" charset="0"/>
                </a:rPr>
                <a:t>n 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</a:t>
              </a:r>
              <a:r>
                <a:rPr lang="zh-CN" altLang="en-US" sz="1400" b="1" dirty="0">
                  <a:latin typeface="Arial" panose="020B0604020202090204" pitchFamily="34" charset="0"/>
                </a:rPr>
                <a:t>；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不能自启动，需要</a:t>
              </a:r>
              <a:r>
                <a:rPr lang="zh-CN" altLang="en-US" sz="1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预置</a:t>
              </a:r>
            </a:p>
          </p:txBody>
        </p:sp>
      </p:grpSp>
      <p:grpSp>
        <p:nvGrpSpPr>
          <p:cNvPr id="448" name="Group 204"/>
          <p:cNvGrpSpPr/>
          <p:nvPr/>
        </p:nvGrpSpPr>
        <p:grpSpPr>
          <a:xfrm>
            <a:off x="3205163" y="1257935"/>
            <a:ext cx="3887787" cy="307975"/>
            <a:chOff x="2064" y="73"/>
            <a:chExt cx="2449" cy="259"/>
          </a:xfrm>
        </p:grpSpPr>
        <p:sp>
          <p:nvSpPr>
            <p:cNvPr id="1050399" name="Text Box 205"/>
            <p:cNvSpPr txBox="1">
              <a:spLocks noChangeArrowheads="1"/>
            </p:cNvSpPr>
            <p:nvPr/>
          </p:nvSpPr>
          <p:spPr bwMode="auto">
            <a:xfrm>
              <a:off x="2064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0400" name="Text Box 206"/>
            <p:cNvSpPr txBox="1">
              <a:spLocks noChangeArrowheads="1"/>
            </p:cNvSpPr>
            <p:nvPr/>
          </p:nvSpPr>
          <p:spPr bwMode="auto">
            <a:xfrm>
              <a:off x="2835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50401" name="Text Box 207"/>
            <p:cNvSpPr txBox="1">
              <a:spLocks noChangeArrowheads="1"/>
            </p:cNvSpPr>
            <p:nvPr/>
          </p:nvSpPr>
          <p:spPr bwMode="auto">
            <a:xfrm>
              <a:off x="356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50402" name="Text Box 208"/>
            <p:cNvSpPr txBox="1">
              <a:spLocks noChangeArrowheads="1"/>
            </p:cNvSpPr>
            <p:nvPr/>
          </p:nvSpPr>
          <p:spPr bwMode="auto">
            <a:xfrm>
              <a:off x="424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  <p:sp>
        <p:nvSpPr>
          <p:cNvPr id="1050403" name="Text Box 257"/>
          <p:cNvSpPr txBox="1"/>
          <p:nvPr/>
        </p:nvSpPr>
        <p:spPr>
          <a:xfrm>
            <a:off x="6588125" y="1637348"/>
            <a:ext cx="2160588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带反馈的右移寄存器</a:t>
            </a:r>
          </a:p>
        </p:txBody>
      </p:sp>
      <p:grpSp>
        <p:nvGrpSpPr>
          <p:cNvPr id="449" name="组合 218"/>
          <p:cNvGrpSpPr/>
          <p:nvPr/>
        </p:nvGrpSpPr>
        <p:grpSpPr>
          <a:xfrm>
            <a:off x="3286125" y="845185"/>
            <a:ext cx="4094163" cy="647700"/>
            <a:chOff x="3347864" y="1059582"/>
            <a:chExt cx="4094931" cy="557014"/>
          </a:xfrm>
        </p:grpSpPr>
        <p:cxnSp>
          <p:nvCxnSpPr>
            <p:cNvPr id="3146060" name="直接箭头连接符 212"/>
            <p:cNvCxnSpPr/>
            <p:nvPr/>
          </p:nvCxnSpPr>
          <p:spPr>
            <a:xfrm flipV="1">
              <a:off x="6836104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6061" name="直接箭头连接符 209"/>
            <p:cNvCxnSpPr/>
            <p:nvPr/>
          </p:nvCxnSpPr>
          <p:spPr>
            <a:xfrm flipV="1">
              <a:off x="3419872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6062" name="直接箭头连接符 210"/>
            <p:cNvCxnSpPr/>
            <p:nvPr/>
          </p:nvCxnSpPr>
          <p:spPr>
            <a:xfrm flipV="1">
              <a:off x="4577333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cxnSp>
          <p:nvCxnSpPr>
            <p:cNvPr id="3146063" name="直接箭头连接符 211"/>
            <p:cNvCxnSpPr/>
            <p:nvPr/>
          </p:nvCxnSpPr>
          <p:spPr>
            <a:xfrm flipV="1">
              <a:off x="5737845" y="1184548"/>
              <a:ext cx="0" cy="432048"/>
            </a:xfrm>
            <a:prstGeom prst="straightConnector1">
              <a:avLst/>
            </a:prstGeom>
            <a:ln w="28575" cap="flat" cmpd="sng">
              <a:solidFill>
                <a:schemeClr val="bg2"/>
              </a:solidFill>
              <a:prstDash val="solid"/>
              <a:headEnd type="oval" w="sm" len="sm"/>
              <a:tailEnd type="triangle" w="med" len="med"/>
            </a:ln>
          </p:spPr>
        </p:cxnSp>
        <p:sp>
          <p:nvSpPr>
            <p:cNvPr id="1050404" name="Text Box 68"/>
            <p:cNvSpPr txBox="1">
              <a:spLocks noChangeArrowheads="1"/>
            </p:cNvSpPr>
            <p:nvPr/>
          </p:nvSpPr>
          <p:spPr bwMode="auto">
            <a:xfrm>
              <a:off x="3347864" y="1059582"/>
              <a:ext cx="762143" cy="27714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0405" name="Text Box 69"/>
            <p:cNvSpPr txBox="1">
              <a:spLocks noChangeArrowheads="1"/>
            </p:cNvSpPr>
            <p:nvPr/>
          </p:nvSpPr>
          <p:spPr bwMode="auto">
            <a:xfrm>
              <a:off x="5718447" y="1114191"/>
              <a:ext cx="609714" cy="27714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0406" name="Text Box 90"/>
            <p:cNvSpPr txBox="1">
              <a:spLocks noChangeArrowheads="1"/>
            </p:cNvSpPr>
            <p:nvPr/>
          </p:nvSpPr>
          <p:spPr bwMode="auto">
            <a:xfrm>
              <a:off x="4573644" y="1114191"/>
              <a:ext cx="762143" cy="27714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407" name="Text Box 178"/>
            <p:cNvSpPr txBox="1">
              <a:spLocks noChangeArrowheads="1"/>
            </p:cNvSpPr>
            <p:nvPr/>
          </p:nvSpPr>
          <p:spPr bwMode="auto">
            <a:xfrm>
              <a:off x="6833081" y="1123748"/>
              <a:ext cx="609714" cy="27714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40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组合 81"/>
          <p:cNvGrpSpPr/>
          <p:nvPr/>
        </p:nvGrpSpPr>
        <p:grpSpPr>
          <a:xfrm>
            <a:off x="1299210" y="992823"/>
            <a:ext cx="6048375" cy="1423987"/>
            <a:chOff x="1619250" y="1652588"/>
            <a:chExt cx="6048375" cy="1423987"/>
          </a:xfrm>
        </p:grpSpPr>
        <p:pic>
          <p:nvPicPr>
            <p:cNvPr id="2097189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0" y="1652588"/>
              <a:ext cx="6048375" cy="1423987"/>
            </a:xfrm>
            <a:prstGeom prst="rect">
              <a:avLst/>
            </a:prstGeom>
            <a:noFill/>
            <a:ln w="19050">
              <a:noFill/>
            </a:ln>
          </p:spPr>
        </p:pic>
        <p:grpSp>
          <p:nvGrpSpPr>
            <p:cNvPr id="454" name="组合 65"/>
            <p:cNvGrpSpPr/>
            <p:nvPr/>
          </p:nvGrpSpPr>
          <p:grpSpPr>
            <a:xfrm>
              <a:off x="6305550" y="2287588"/>
              <a:ext cx="377825" cy="276999"/>
              <a:chOff x="6343650" y="2287588"/>
              <a:chExt cx="377825" cy="276999"/>
            </a:xfrm>
          </p:grpSpPr>
          <p:sp>
            <p:nvSpPr>
              <p:cNvPr id="1050412" name="Text Box 178"/>
              <p:cNvSpPr txBox="1">
                <a:spLocks noChangeArrowheads="1"/>
              </p:cNvSpPr>
              <p:nvPr/>
            </p:nvSpPr>
            <p:spPr bwMode="auto">
              <a:xfrm>
                <a:off x="6343650" y="2287588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  <p:cxnSp>
            <p:nvCxnSpPr>
              <p:cNvPr id="3146064" name="直接连接符 94"/>
              <p:cNvCxnSpPr/>
              <p:nvPr/>
            </p:nvCxnSpPr>
            <p:spPr bwMode="auto">
              <a:xfrm>
                <a:off x="6453188" y="2346325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55" name="组合 66"/>
            <p:cNvGrpSpPr/>
            <p:nvPr/>
          </p:nvGrpSpPr>
          <p:grpSpPr>
            <a:xfrm>
              <a:off x="5172447" y="2302768"/>
              <a:ext cx="377825" cy="276999"/>
              <a:chOff x="6343650" y="2287588"/>
              <a:chExt cx="377825" cy="276999"/>
            </a:xfrm>
          </p:grpSpPr>
          <p:sp>
            <p:nvSpPr>
              <p:cNvPr id="1050413" name="Text Box 178"/>
              <p:cNvSpPr txBox="1">
                <a:spLocks noChangeArrowheads="1"/>
              </p:cNvSpPr>
              <p:nvPr/>
            </p:nvSpPr>
            <p:spPr bwMode="auto">
              <a:xfrm>
                <a:off x="6343278" y="2288283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cxnSp>
            <p:nvCxnSpPr>
              <p:cNvPr id="3146065" name="直接连接符 92"/>
              <p:cNvCxnSpPr/>
              <p:nvPr/>
            </p:nvCxnSpPr>
            <p:spPr bwMode="auto">
              <a:xfrm>
                <a:off x="6452816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56" name="组合 69"/>
            <p:cNvGrpSpPr/>
            <p:nvPr/>
          </p:nvGrpSpPr>
          <p:grpSpPr>
            <a:xfrm>
              <a:off x="4058419" y="2302768"/>
              <a:ext cx="377825" cy="276999"/>
              <a:chOff x="6343650" y="2287588"/>
              <a:chExt cx="377825" cy="276999"/>
            </a:xfrm>
          </p:grpSpPr>
          <p:sp>
            <p:nvSpPr>
              <p:cNvPr id="1050414" name="Text Box 178"/>
              <p:cNvSpPr txBox="1">
                <a:spLocks noChangeArrowheads="1"/>
              </p:cNvSpPr>
              <p:nvPr/>
            </p:nvSpPr>
            <p:spPr bwMode="auto">
              <a:xfrm>
                <a:off x="6342881" y="2288283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cxnSp>
            <p:nvCxnSpPr>
              <p:cNvPr id="3146066" name="直接连接符 90"/>
              <p:cNvCxnSpPr/>
              <p:nvPr/>
            </p:nvCxnSpPr>
            <p:spPr bwMode="auto">
              <a:xfrm>
                <a:off x="6452419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57" name="组合 72"/>
            <p:cNvGrpSpPr/>
            <p:nvPr/>
          </p:nvGrpSpPr>
          <p:grpSpPr>
            <a:xfrm>
              <a:off x="2925341" y="2293243"/>
              <a:ext cx="377825" cy="276999"/>
              <a:chOff x="6343650" y="2287588"/>
              <a:chExt cx="377825" cy="276999"/>
            </a:xfrm>
          </p:grpSpPr>
          <p:sp>
            <p:nvSpPr>
              <p:cNvPr id="1050415" name="Text Box 178"/>
              <p:cNvSpPr txBox="1">
                <a:spLocks noChangeArrowheads="1"/>
              </p:cNvSpPr>
              <p:nvPr/>
            </p:nvSpPr>
            <p:spPr bwMode="auto">
              <a:xfrm>
                <a:off x="6344072" y="2288283"/>
                <a:ext cx="377825" cy="27622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i="1" kern="1200" cap="none" spc="0" normalizeH="0" baseline="0" noProof="0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200" b="1" kern="1200" cap="none" spc="0" normalizeH="0" baseline="-25000" noProof="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cxnSp>
            <p:nvCxnSpPr>
              <p:cNvPr id="3146067" name="直接连接符 88"/>
              <p:cNvCxnSpPr/>
              <p:nvPr/>
            </p:nvCxnSpPr>
            <p:spPr bwMode="auto">
              <a:xfrm>
                <a:off x="6453609" y="2347020"/>
                <a:ext cx="10795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50416" name="Line 80"/>
          <p:cNvSpPr/>
          <p:nvPr/>
        </p:nvSpPr>
        <p:spPr>
          <a:xfrm flipH="1">
            <a:off x="2056448" y="859473"/>
            <a:ext cx="4392612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sp>
      <p:cxnSp>
        <p:nvCxnSpPr>
          <p:cNvPr id="3146068" name="直接连接符 76"/>
          <p:cNvCxnSpPr/>
          <p:nvPr/>
        </p:nvCxnSpPr>
        <p:spPr>
          <a:xfrm flipV="1">
            <a:off x="6450648" y="862648"/>
            <a:ext cx="0" cy="914400"/>
          </a:xfrm>
          <a:prstGeom prst="line">
            <a:avLst/>
          </a:prstGeom>
          <a:ln w="19050" cap="rnd" cmpd="sng">
            <a:solidFill>
              <a:schemeClr val="bg1"/>
            </a:solidFill>
            <a:prstDash val="solid"/>
            <a:headEnd type="oval" w="lg" len="lg"/>
            <a:tailEnd type="none" w="lg" len="lg"/>
          </a:ln>
        </p:spPr>
      </p:cxnSp>
      <p:cxnSp>
        <p:nvCxnSpPr>
          <p:cNvPr id="3146069" name="直接连接符 77"/>
          <p:cNvCxnSpPr/>
          <p:nvPr/>
        </p:nvCxnSpPr>
        <p:spPr>
          <a:xfrm flipV="1">
            <a:off x="2058035" y="849948"/>
            <a:ext cx="0" cy="358775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oval" w="sm" len="sm"/>
            <a:tailEnd type="none" w="med" len="med"/>
          </a:ln>
        </p:spPr>
      </p:cxnSp>
      <p:cxnSp>
        <p:nvCxnSpPr>
          <p:cNvPr id="3146070" name="直接箭头连接符 98"/>
          <p:cNvCxnSpPr/>
          <p:nvPr/>
        </p:nvCxnSpPr>
        <p:spPr>
          <a:xfrm>
            <a:off x="6306185" y="1767523"/>
            <a:ext cx="431800" cy="0"/>
          </a:xfrm>
          <a:prstGeom prst="straightConnector1">
            <a:avLst/>
          </a:prstGeom>
          <a:ln w="12700" cap="flat" cmpd="sng">
            <a:solidFill>
              <a:schemeClr val="bg2"/>
            </a:solidFill>
            <a:prstDash val="solid"/>
            <a:headEnd type="none" w="med" len="med"/>
            <a:tailEnd type="stealth" w="med" len="med"/>
          </a:ln>
        </p:spPr>
      </p:cxnSp>
      <p:grpSp>
        <p:nvGrpSpPr>
          <p:cNvPr id="458" name="组合 101"/>
          <p:cNvGrpSpPr/>
          <p:nvPr/>
        </p:nvGrpSpPr>
        <p:grpSpPr>
          <a:xfrm>
            <a:off x="684213" y="3251835"/>
            <a:ext cx="3419475" cy="1314450"/>
            <a:chOff x="902966" y="3017931"/>
            <a:chExt cx="3420000" cy="1315074"/>
          </a:xfrm>
        </p:grpSpPr>
        <p:grpSp>
          <p:nvGrpSpPr>
            <p:cNvPr id="459" name="Group 19"/>
            <p:cNvGrpSpPr/>
            <p:nvPr/>
          </p:nvGrpSpPr>
          <p:grpSpPr bwMode="auto">
            <a:xfrm>
              <a:off x="971600" y="3399089"/>
              <a:ext cx="3248865" cy="850641"/>
              <a:chOff x="576" y="784"/>
              <a:chExt cx="3951" cy="810"/>
            </a:xfrm>
            <a:solidFill>
              <a:srgbClr val="99FF99"/>
            </a:solidFill>
          </p:grpSpPr>
          <p:sp>
            <p:nvSpPr>
              <p:cNvPr id="1050417" name="Oval 20"/>
              <p:cNvSpPr>
                <a:spLocks noChangeArrowheads="1"/>
              </p:cNvSpPr>
              <p:nvPr/>
            </p:nvSpPr>
            <p:spPr bwMode="auto">
              <a:xfrm>
                <a:off x="576" y="800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0000</a:t>
                </a:r>
              </a:p>
            </p:txBody>
          </p:sp>
          <p:sp>
            <p:nvSpPr>
              <p:cNvPr id="1050418" name="Oval 21"/>
              <p:cNvSpPr>
                <a:spLocks noChangeArrowheads="1"/>
              </p:cNvSpPr>
              <p:nvPr/>
            </p:nvSpPr>
            <p:spPr bwMode="auto">
              <a:xfrm>
                <a:off x="1662" y="803"/>
                <a:ext cx="705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1000</a:t>
                </a:r>
              </a:p>
            </p:txBody>
          </p:sp>
          <p:sp>
            <p:nvSpPr>
              <p:cNvPr id="1050419" name="Oval 22"/>
              <p:cNvSpPr>
                <a:spLocks noChangeArrowheads="1"/>
              </p:cNvSpPr>
              <p:nvPr/>
            </p:nvSpPr>
            <p:spPr bwMode="auto">
              <a:xfrm>
                <a:off x="1675" y="1280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0011</a:t>
                </a:r>
              </a:p>
            </p:txBody>
          </p:sp>
          <p:sp>
            <p:nvSpPr>
              <p:cNvPr id="1050420" name="Oval 23"/>
              <p:cNvSpPr>
                <a:spLocks noChangeArrowheads="1"/>
              </p:cNvSpPr>
              <p:nvPr/>
            </p:nvSpPr>
            <p:spPr bwMode="auto">
              <a:xfrm>
                <a:off x="591" y="1295"/>
                <a:ext cx="737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0001</a:t>
                </a:r>
              </a:p>
            </p:txBody>
          </p:sp>
          <p:sp>
            <p:nvSpPr>
              <p:cNvPr id="1050421" name="Line 24"/>
              <p:cNvSpPr>
                <a:spLocks noChangeShapeType="1"/>
              </p:cNvSpPr>
              <p:nvPr/>
            </p:nvSpPr>
            <p:spPr bwMode="auto">
              <a:xfrm>
                <a:off x="1301" y="9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22" name="Line 25"/>
              <p:cNvSpPr>
                <a:spLocks noChangeShapeType="1"/>
              </p:cNvSpPr>
              <p:nvPr/>
            </p:nvSpPr>
            <p:spPr bwMode="auto">
              <a:xfrm flipH="1">
                <a:off x="1330" y="145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23" name="Line 26"/>
              <p:cNvSpPr>
                <a:spLocks noChangeShapeType="1"/>
              </p:cNvSpPr>
              <p:nvPr/>
            </p:nvSpPr>
            <p:spPr bwMode="auto">
              <a:xfrm flipV="1">
                <a:off x="921" y="1124"/>
                <a:ext cx="0" cy="155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24" name="Oval 27"/>
              <p:cNvSpPr>
                <a:spLocks noChangeArrowheads="1"/>
              </p:cNvSpPr>
              <p:nvPr/>
            </p:nvSpPr>
            <p:spPr bwMode="auto">
              <a:xfrm>
                <a:off x="2736" y="784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1100</a:t>
                </a:r>
              </a:p>
            </p:txBody>
          </p:sp>
          <p:sp>
            <p:nvSpPr>
              <p:cNvPr id="1050425" name="Oval 28"/>
              <p:cNvSpPr>
                <a:spLocks noChangeArrowheads="1"/>
              </p:cNvSpPr>
              <p:nvPr/>
            </p:nvSpPr>
            <p:spPr bwMode="auto">
              <a:xfrm>
                <a:off x="3822" y="787"/>
                <a:ext cx="705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1110</a:t>
                </a:r>
              </a:p>
            </p:txBody>
          </p:sp>
          <p:sp>
            <p:nvSpPr>
              <p:cNvPr id="1050426" name="Oval 29"/>
              <p:cNvSpPr>
                <a:spLocks noChangeArrowheads="1"/>
              </p:cNvSpPr>
              <p:nvPr/>
            </p:nvSpPr>
            <p:spPr bwMode="auto">
              <a:xfrm>
                <a:off x="3824" y="1291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1111</a:t>
                </a:r>
              </a:p>
            </p:txBody>
          </p:sp>
          <p:sp>
            <p:nvSpPr>
              <p:cNvPr id="1050427" name="Oval 30"/>
              <p:cNvSpPr>
                <a:spLocks noChangeArrowheads="1"/>
              </p:cNvSpPr>
              <p:nvPr/>
            </p:nvSpPr>
            <p:spPr bwMode="auto">
              <a:xfrm>
                <a:off x="2751" y="1306"/>
                <a:ext cx="737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0111</a:t>
                </a:r>
              </a:p>
            </p:txBody>
          </p:sp>
          <p:sp>
            <p:nvSpPr>
              <p:cNvPr id="1050428" name="Line 31"/>
              <p:cNvSpPr>
                <a:spLocks noChangeShapeType="1"/>
              </p:cNvSpPr>
              <p:nvPr/>
            </p:nvSpPr>
            <p:spPr bwMode="auto">
              <a:xfrm>
                <a:off x="3472" y="919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29" name="Line 32"/>
              <p:cNvSpPr>
                <a:spLocks noChangeShapeType="1"/>
              </p:cNvSpPr>
              <p:nvPr/>
            </p:nvSpPr>
            <p:spPr bwMode="auto">
              <a:xfrm>
                <a:off x="4166" y="1067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30" name="Line 33"/>
              <p:cNvSpPr>
                <a:spLocks noChangeShapeType="1"/>
              </p:cNvSpPr>
              <p:nvPr/>
            </p:nvSpPr>
            <p:spPr bwMode="auto">
              <a:xfrm flipH="1">
                <a:off x="3490" y="14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31" name="Line 34"/>
              <p:cNvSpPr>
                <a:spLocks noChangeShapeType="1"/>
              </p:cNvSpPr>
              <p:nvPr/>
            </p:nvSpPr>
            <p:spPr bwMode="auto">
              <a:xfrm>
                <a:off x="2387" y="9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32" name="Line 35"/>
              <p:cNvSpPr>
                <a:spLocks noChangeShapeType="1"/>
              </p:cNvSpPr>
              <p:nvPr/>
            </p:nvSpPr>
            <p:spPr bwMode="auto">
              <a:xfrm flipH="1">
                <a:off x="2390" y="14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0433" name="圆角矩形 131"/>
            <p:cNvSpPr/>
            <p:nvPr/>
          </p:nvSpPr>
          <p:spPr>
            <a:xfrm>
              <a:off x="902966" y="3253005"/>
              <a:ext cx="3420000" cy="1080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434" name="Text Box 13"/>
            <p:cNvSpPr txBox="1"/>
            <p:nvPr/>
          </p:nvSpPr>
          <p:spPr>
            <a:xfrm>
              <a:off x="1963021" y="3017931"/>
              <a:ext cx="1224136" cy="33855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常用状态图</a:t>
              </a:r>
            </a:p>
          </p:txBody>
        </p:sp>
      </p:grpSp>
      <p:grpSp>
        <p:nvGrpSpPr>
          <p:cNvPr id="460" name="组合 121"/>
          <p:cNvGrpSpPr/>
          <p:nvPr/>
        </p:nvGrpSpPr>
        <p:grpSpPr>
          <a:xfrm>
            <a:off x="5219700" y="3286760"/>
            <a:ext cx="3455988" cy="1255713"/>
            <a:chOff x="4986322" y="2342101"/>
            <a:chExt cx="3456000" cy="1255924"/>
          </a:xfrm>
        </p:grpSpPr>
        <p:grpSp>
          <p:nvGrpSpPr>
            <p:cNvPr id="461" name="Group 19"/>
            <p:cNvGrpSpPr/>
            <p:nvPr/>
          </p:nvGrpSpPr>
          <p:grpSpPr bwMode="auto">
            <a:xfrm>
              <a:off x="5076056" y="2693712"/>
              <a:ext cx="3248865" cy="850641"/>
              <a:chOff x="576" y="783"/>
              <a:chExt cx="3951" cy="810"/>
            </a:xfrm>
            <a:solidFill>
              <a:schemeClr val="tx1"/>
            </a:solidFill>
          </p:grpSpPr>
          <p:sp>
            <p:nvSpPr>
              <p:cNvPr id="1050435" name="Oval 20"/>
              <p:cNvSpPr>
                <a:spLocks noChangeArrowheads="1"/>
              </p:cNvSpPr>
              <p:nvPr/>
            </p:nvSpPr>
            <p:spPr bwMode="auto">
              <a:xfrm>
                <a:off x="576" y="799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0100</a:t>
                </a:r>
              </a:p>
            </p:txBody>
          </p:sp>
          <p:sp>
            <p:nvSpPr>
              <p:cNvPr id="1050436" name="Oval 21"/>
              <p:cNvSpPr>
                <a:spLocks noChangeArrowheads="1"/>
              </p:cNvSpPr>
              <p:nvPr/>
            </p:nvSpPr>
            <p:spPr bwMode="auto">
              <a:xfrm>
                <a:off x="1662" y="802"/>
                <a:ext cx="705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1010</a:t>
                </a:r>
              </a:p>
            </p:txBody>
          </p:sp>
          <p:sp>
            <p:nvSpPr>
              <p:cNvPr id="1050437" name="Oval 22"/>
              <p:cNvSpPr>
                <a:spLocks noChangeArrowheads="1"/>
              </p:cNvSpPr>
              <p:nvPr/>
            </p:nvSpPr>
            <p:spPr bwMode="auto">
              <a:xfrm>
                <a:off x="1675" y="1279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0010</a:t>
                </a:r>
              </a:p>
            </p:txBody>
          </p:sp>
          <p:sp>
            <p:nvSpPr>
              <p:cNvPr id="1050438" name="Oval 23"/>
              <p:cNvSpPr>
                <a:spLocks noChangeArrowheads="1"/>
              </p:cNvSpPr>
              <p:nvPr/>
            </p:nvSpPr>
            <p:spPr bwMode="auto">
              <a:xfrm>
                <a:off x="591" y="1294"/>
                <a:ext cx="737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1001</a:t>
                </a:r>
              </a:p>
            </p:txBody>
          </p:sp>
          <p:sp>
            <p:nvSpPr>
              <p:cNvPr id="1050439" name="Line 24"/>
              <p:cNvSpPr>
                <a:spLocks noChangeShapeType="1"/>
              </p:cNvSpPr>
              <p:nvPr/>
            </p:nvSpPr>
            <p:spPr bwMode="auto">
              <a:xfrm>
                <a:off x="1301" y="9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40" name="Line 25"/>
              <p:cNvSpPr>
                <a:spLocks noChangeShapeType="1"/>
              </p:cNvSpPr>
              <p:nvPr/>
            </p:nvSpPr>
            <p:spPr bwMode="auto">
              <a:xfrm flipH="1">
                <a:off x="1330" y="145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41" name="Line 26"/>
              <p:cNvSpPr>
                <a:spLocks noChangeShapeType="1"/>
              </p:cNvSpPr>
              <p:nvPr/>
            </p:nvSpPr>
            <p:spPr bwMode="auto">
              <a:xfrm flipV="1">
                <a:off x="921" y="1124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42" name="Oval 27"/>
              <p:cNvSpPr>
                <a:spLocks noChangeArrowheads="1"/>
              </p:cNvSpPr>
              <p:nvPr/>
            </p:nvSpPr>
            <p:spPr bwMode="auto">
              <a:xfrm>
                <a:off x="2736" y="783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1101</a:t>
                </a:r>
              </a:p>
            </p:txBody>
          </p:sp>
          <p:sp>
            <p:nvSpPr>
              <p:cNvPr id="1050443" name="Oval 28"/>
              <p:cNvSpPr>
                <a:spLocks noChangeArrowheads="1"/>
              </p:cNvSpPr>
              <p:nvPr/>
            </p:nvSpPr>
            <p:spPr bwMode="auto">
              <a:xfrm>
                <a:off x="3822" y="786"/>
                <a:ext cx="705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0110</a:t>
                </a:r>
              </a:p>
            </p:txBody>
          </p:sp>
          <p:sp>
            <p:nvSpPr>
              <p:cNvPr id="1050444" name="Oval 29"/>
              <p:cNvSpPr>
                <a:spLocks noChangeArrowheads="1"/>
              </p:cNvSpPr>
              <p:nvPr/>
            </p:nvSpPr>
            <p:spPr bwMode="auto">
              <a:xfrm>
                <a:off x="3824" y="1290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1011</a:t>
                </a:r>
              </a:p>
            </p:txBody>
          </p:sp>
          <p:sp>
            <p:nvSpPr>
              <p:cNvPr id="1050445" name="Oval 30"/>
              <p:cNvSpPr>
                <a:spLocks noChangeArrowheads="1"/>
              </p:cNvSpPr>
              <p:nvPr/>
            </p:nvSpPr>
            <p:spPr bwMode="auto">
              <a:xfrm>
                <a:off x="2751" y="1305"/>
                <a:ext cx="737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0101</a:t>
                </a:r>
              </a:p>
            </p:txBody>
          </p:sp>
          <p:sp>
            <p:nvSpPr>
              <p:cNvPr id="1050446" name="Line 31"/>
              <p:cNvSpPr>
                <a:spLocks noChangeShapeType="1"/>
              </p:cNvSpPr>
              <p:nvPr/>
            </p:nvSpPr>
            <p:spPr bwMode="auto">
              <a:xfrm>
                <a:off x="3472" y="919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47" name="Line 32"/>
              <p:cNvSpPr>
                <a:spLocks noChangeShapeType="1"/>
              </p:cNvSpPr>
              <p:nvPr/>
            </p:nvSpPr>
            <p:spPr bwMode="auto">
              <a:xfrm>
                <a:off x="4166" y="1067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48" name="Line 33"/>
              <p:cNvSpPr>
                <a:spLocks noChangeShapeType="1"/>
              </p:cNvSpPr>
              <p:nvPr/>
            </p:nvSpPr>
            <p:spPr bwMode="auto">
              <a:xfrm flipH="1">
                <a:off x="3490" y="14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49" name="Line 34"/>
              <p:cNvSpPr>
                <a:spLocks noChangeShapeType="1"/>
              </p:cNvSpPr>
              <p:nvPr/>
            </p:nvSpPr>
            <p:spPr bwMode="auto">
              <a:xfrm>
                <a:off x="2387" y="9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50" name="Line 35"/>
              <p:cNvSpPr>
                <a:spLocks noChangeShapeType="1"/>
              </p:cNvSpPr>
              <p:nvPr/>
            </p:nvSpPr>
            <p:spPr bwMode="auto">
              <a:xfrm flipH="1">
                <a:off x="2390" y="14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0451" name="圆角矩形 131"/>
            <p:cNvSpPr/>
            <p:nvPr/>
          </p:nvSpPr>
          <p:spPr>
            <a:xfrm>
              <a:off x="4986322" y="2554025"/>
              <a:ext cx="3456000" cy="1044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452" name="Text Box 14"/>
            <p:cNvSpPr txBox="1"/>
            <p:nvPr/>
          </p:nvSpPr>
          <p:spPr>
            <a:xfrm>
              <a:off x="5954101" y="2342101"/>
              <a:ext cx="1530325" cy="33855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不常用状态图</a:t>
              </a:r>
            </a:p>
          </p:txBody>
        </p:sp>
      </p:grpSp>
      <p:sp>
        <p:nvSpPr>
          <p:cNvPr id="1050453" name="Text Box 257"/>
          <p:cNvSpPr txBox="1"/>
          <p:nvPr/>
        </p:nvSpPr>
        <p:spPr>
          <a:xfrm>
            <a:off x="5691823" y="2056448"/>
            <a:ext cx="2160587" cy="33718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带反馈的右移寄存器</a:t>
            </a:r>
          </a:p>
        </p:txBody>
      </p:sp>
      <p:grpSp>
        <p:nvGrpSpPr>
          <p:cNvPr id="462" name="组合 12"/>
          <p:cNvGrpSpPr/>
          <p:nvPr/>
        </p:nvGrpSpPr>
        <p:grpSpPr>
          <a:xfrm>
            <a:off x="3644265" y="2890838"/>
            <a:ext cx="2124075" cy="539776"/>
            <a:chOff x="4429181" y="1000113"/>
            <a:chExt cx="3760325" cy="518634"/>
          </a:xfrm>
        </p:grpSpPr>
        <p:sp>
          <p:nvSpPr>
            <p:cNvPr id="1050454" name="圆角矩形标注 13"/>
            <p:cNvSpPr/>
            <p:nvPr/>
          </p:nvSpPr>
          <p:spPr>
            <a:xfrm>
              <a:off x="4429181" y="1026958"/>
              <a:ext cx="3760325" cy="491789"/>
            </a:xfrm>
            <a:prstGeom prst="wedgeRoundRectCallout">
              <a:avLst>
                <a:gd name="adj1" fmla="val -40074"/>
                <a:gd name="adj2" fmla="val 66305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50455" name="Text Box 34"/>
            <p:cNvSpPr txBox="1"/>
            <p:nvPr/>
          </p:nvSpPr>
          <p:spPr>
            <a:xfrm>
              <a:off x="4429181" y="1000113"/>
              <a:ext cx="3625425" cy="50152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400" b="1" dirty="0">
                  <a:latin typeface="Arial" panose="020B0604020202090204" pitchFamily="34" charset="0"/>
                </a:rPr>
                <a:t>2</a:t>
              </a:r>
              <a:r>
                <a:rPr lang="en-US" altLang="zh-CN" sz="1400" b="1" baseline="30000" dirty="0">
                  <a:latin typeface="Arial" panose="020B0604020202090204" pitchFamily="34" charset="0"/>
                </a:rPr>
                <a:t>n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个状态使用了</a:t>
              </a:r>
              <a:r>
                <a:rPr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400" b="1" i="1" dirty="0">
                  <a:latin typeface="Arial" panose="020B0604020202090204" pitchFamily="34" charset="0"/>
                </a:rPr>
                <a:t>n 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个</a:t>
              </a:r>
              <a:r>
                <a:rPr lang="zh-CN" altLang="en-US" sz="1400" b="1" dirty="0">
                  <a:latin typeface="Arial" panose="020B0604020202090204" pitchFamily="34" charset="0"/>
                </a:rPr>
                <a:t>；</a:t>
              </a: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不能自启动，</a:t>
              </a:r>
              <a:r>
                <a:rPr lang="zh-CN" altLang="en-US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需要预置</a:t>
              </a:r>
            </a:p>
          </p:txBody>
        </p:sp>
      </p:grpSp>
      <p:grpSp>
        <p:nvGrpSpPr>
          <p:cNvPr id="463" name="Group 204"/>
          <p:cNvGrpSpPr/>
          <p:nvPr/>
        </p:nvGrpSpPr>
        <p:grpSpPr>
          <a:xfrm>
            <a:off x="2883535" y="956310"/>
            <a:ext cx="3887788" cy="307975"/>
            <a:chOff x="2064" y="73"/>
            <a:chExt cx="2449" cy="259"/>
          </a:xfrm>
        </p:grpSpPr>
        <p:sp>
          <p:nvSpPr>
            <p:cNvPr id="1050456" name="Text Box 205"/>
            <p:cNvSpPr txBox="1">
              <a:spLocks noChangeArrowheads="1"/>
            </p:cNvSpPr>
            <p:nvPr/>
          </p:nvSpPr>
          <p:spPr bwMode="auto">
            <a:xfrm>
              <a:off x="2064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50457" name="Text Box 206"/>
            <p:cNvSpPr txBox="1">
              <a:spLocks noChangeArrowheads="1"/>
            </p:cNvSpPr>
            <p:nvPr/>
          </p:nvSpPr>
          <p:spPr bwMode="auto">
            <a:xfrm>
              <a:off x="2756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50458" name="Text Box 207"/>
            <p:cNvSpPr txBox="1">
              <a:spLocks noChangeArrowheads="1"/>
            </p:cNvSpPr>
            <p:nvPr/>
          </p:nvSpPr>
          <p:spPr bwMode="auto">
            <a:xfrm>
              <a:off x="3470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sp>
          <p:nvSpPr>
            <p:cNvPr id="1050459" name="Text Box 208"/>
            <p:cNvSpPr txBox="1">
              <a:spLocks noChangeArrowheads="1"/>
            </p:cNvSpPr>
            <p:nvPr/>
          </p:nvSpPr>
          <p:spPr bwMode="auto">
            <a:xfrm>
              <a:off x="4241" y="73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464" name="组合 12"/>
          <p:cNvGrpSpPr/>
          <p:nvPr/>
        </p:nvGrpSpPr>
        <p:grpSpPr>
          <a:xfrm>
            <a:off x="107950" y="2832735"/>
            <a:ext cx="1331913" cy="539750"/>
            <a:chOff x="4413445" y="1000114"/>
            <a:chExt cx="2730323" cy="687279"/>
          </a:xfrm>
        </p:grpSpPr>
        <p:sp>
          <p:nvSpPr>
            <p:cNvPr id="1050460" name="圆角矩形标注 13"/>
            <p:cNvSpPr/>
            <p:nvPr/>
          </p:nvSpPr>
          <p:spPr>
            <a:xfrm>
              <a:off x="4413445" y="1030196"/>
              <a:ext cx="2544165" cy="657197"/>
            </a:xfrm>
            <a:prstGeom prst="wedgeRoundRectCallout">
              <a:avLst>
                <a:gd name="adj1" fmla="val 42116"/>
                <a:gd name="adj2" fmla="val 67079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50461" name="Text Box 34"/>
            <p:cNvSpPr txBox="1"/>
            <p:nvPr/>
          </p:nvSpPr>
          <p:spPr>
            <a:xfrm>
              <a:off x="4429125" y="1000114"/>
              <a:ext cx="2714643" cy="50271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电路具有格雷码输出的特点</a:t>
              </a:r>
            </a:p>
          </p:txBody>
        </p:sp>
      </p:grpSp>
      <p:sp>
        <p:nvSpPr>
          <p:cNvPr id="1050462" name="Text Box 15"/>
          <p:cNvSpPr txBox="1">
            <a:spLocks noChangeArrowheads="1"/>
          </p:cNvSpPr>
          <p:nvPr/>
        </p:nvSpPr>
        <p:spPr bwMode="auto">
          <a:xfrm>
            <a:off x="422275" y="109855"/>
            <a:ext cx="829945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algn="ctr" defTabSz="914400" eaLnBrk="1" hangingPunct="1">
              <a:spcBef>
                <a:spcPct val="20000"/>
              </a:spcBef>
              <a:buClrTx/>
              <a:buSzTx/>
              <a:buFont typeface="Wingdings" panose="05000000000000000000" pitchFamily="2" charset="2"/>
            </a:pPr>
            <a:r>
              <a:rPr kumimoji="1" lang="zh-CN" altLang="en-US" sz="28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同步计数器</a:t>
            </a:r>
            <a:r>
              <a:rPr kumimoji="1" lang="en-US" altLang="zh-CN" sz="28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——</a:t>
            </a:r>
            <a:r>
              <a:rPr kumimoji="1" lang="zh-CN" altLang="en-US" sz="28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扭环形计数器</a:t>
            </a:r>
            <a:r>
              <a:rPr kumimoji="1" lang="en-US" altLang="zh-CN" sz="2800" b="1" kern="1200" cap="none" spc="0" normalizeH="0" baseline="0" noProof="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Johnson Counter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5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4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4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4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扭环形计数器应用</a:t>
            </a:r>
          </a:p>
        </p:txBody>
      </p:sp>
      <p:grpSp>
        <p:nvGrpSpPr>
          <p:cNvPr id="468" name="组合 62"/>
          <p:cNvGrpSpPr/>
          <p:nvPr/>
        </p:nvGrpSpPr>
        <p:grpSpPr>
          <a:xfrm>
            <a:off x="288925" y="990600"/>
            <a:ext cx="3384550" cy="1350963"/>
            <a:chOff x="902966" y="3006356"/>
            <a:chExt cx="3384000" cy="1351074"/>
          </a:xfrm>
        </p:grpSpPr>
        <p:grpSp>
          <p:nvGrpSpPr>
            <p:cNvPr id="469" name="Group 19"/>
            <p:cNvGrpSpPr/>
            <p:nvPr/>
          </p:nvGrpSpPr>
          <p:grpSpPr bwMode="auto">
            <a:xfrm>
              <a:off x="971600" y="3399089"/>
              <a:ext cx="3248865" cy="850641"/>
              <a:chOff x="576" y="784"/>
              <a:chExt cx="3951" cy="810"/>
            </a:xfrm>
            <a:solidFill>
              <a:srgbClr val="99FF99"/>
            </a:solidFill>
          </p:grpSpPr>
          <p:sp>
            <p:nvSpPr>
              <p:cNvPr id="1050468" name="Oval 20"/>
              <p:cNvSpPr>
                <a:spLocks noChangeArrowheads="1"/>
              </p:cNvSpPr>
              <p:nvPr/>
            </p:nvSpPr>
            <p:spPr bwMode="auto">
              <a:xfrm>
                <a:off x="576" y="800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0000</a:t>
                </a:r>
              </a:p>
            </p:txBody>
          </p:sp>
          <p:sp>
            <p:nvSpPr>
              <p:cNvPr id="1050469" name="Oval 21"/>
              <p:cNvSpPr>
                <a:spLocks noChangeArrowheads="1"/>
              </p:cNvSpPr>
              <p:nvPr/>
            </p:nvSpPr>
            <p:spPr bwMode="auto">
              <a:xfrm>
                <a:off x="1662" y="803"/>
                <a:ext cx="705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1000</a:t>
                </a:r>
              </a:p>
            </p:txBody>
          </p:sp>
          <p:sp>
            <p:nvSpPr>
              <p:cNvPr id="1050470" name="Oval 22"/>
              <p:cNvSpPr>
                <a:spLocks noChangeArrowheads="1"/>
              </p:cNvSpPr>
              <p:nvPr/>
            </p:nvSpPr>
            <p:spPr bwMode="auto">
              <a:xfrm>
                <a:off x="1675" y="1280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0011</a:t>
                </a:r>
              </a:p>
            </p:txBody>
          </p:sp>
          <p:sp>
            <p:nvSpPr>
              <p:cNvPr id="1050471" name="Oval 23"/>
              <p:cNvSpPr>
                <a:spLocks noChangeArrowheads="1"/>
              </p:cNvSpPr>
              <p:nvPr/>
            </p:nvSpPr>
            <p:spPr bwMode="auto">
              <a:xfrm>
                <a:off x="591" y="1295"/>
                <a:ext cx="737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0001</a:t>
                </a:r>
              </a:p>
            </p:txBody>
          </p:sp>
          <p:sp>
            <p:nvSpPr>
              <p:cNvPr id="1050472" name="Line 24"/>
              <p:cNvSpPr>
                <a:spLocks noChangeShapeType="1"/>
              </p:cNvSpPr>
              <p:nvPr/>
            </p:nvSpPr>
            <p:spPr bwMode="auto">
              <a:xfrm>
                <a:off x="1301" y="9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73" name="Line 25"/>
              <p:cNvSpPr>
                <a:spLocks noChangeShapeType="1"/>
              </p:cNvSpPr>
              <p:nvPr/>
            </p:nvSpPr>
            <p:spPr bwMode="auto">
              <a:xfrm flipH="1">
                <a:off x="1330" y="145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74" name="Line 26"/>
              <p:cNvSpPr>
                <a:spLocks noChangeShapeType="1"/>
              </p:cNvSpPr>
              <p:nvPr/>
            </p:nvSpPr>
            <p:spPr bwMode="auto">
              <a:xfrm flipV="1">
                <a:off x="921" y="1124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75" name="Oval 27"/>
              <p:cNvSpPr>
                <a:spLocks noChangeArrowheads="1"/>
              </p:cNvSpPr>
              <p:nvPr/>
            </p:nvSpPr>
            <p:spPr bwMode="auto">
              <a:xfrm>
                <a:off x="2736" y="784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1100</a:t>
                </a:r>
              </a:p>
            </p:txBody>
          </p:sp>
          <p:sp>
            <p:nvSpPr>
              <p:cNvPr id="1050476" name="Oval 28"/>
              <p:cNvSpPr>
                <a:spLocks noChangeArrowheads="1"/>
              </p:cNvSpPr>
              <p:nvPr/>
            </p:nvSpPr>
            <p:spPr bwMode="auto">
              <a:xfrm>
                <a:off x="3822" y="787"/>
                <a:ext cx="705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1110</a:t>
                </a:r>
              </a:p>
            </p:txBody>
          </p:sp>
          <p:sp>
            <p:nvSpPr>
              <p:cNvPr id="1050477" name="Oval 29"/>
              <p:cNvSpPr>
                <a:spLocks noChangeArrowheads="1"/>
              </p:cNvSpPr>
              <p:nvPr/>
            </p:nvSpPr>
            <p:spPr bwMode="auto">
              <a:xfrm>
                <a:off x="3824" y="1291"/>
                <a:ext cx="690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1111</a:t>
                </a:r>
              </a:p>
            </p:txBody>
          </p:sp>
          <p:sp>
            <p:nvSpPr>
              <p:cNvPr id="1050478" name="Oval 30"/>
              <p:cNvSpPr>
                <a:spLocks noChangeArrowheads="1"/>
              </p:cNvSpPr>
              <p:nvPr/>
            </p:nvSpPr>
            <p:spPr bwMode="auto">
              <a:xfrm>
                <a:off x="2751" y="1306"/>
                <a:ext cx="737" cy="28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0111</a:t>
                </a:r>
              </a:p>
            </p:txBody>
          </p:sp>
          <p:sp>
            <p:nvSpPr>
              <p:cNvPr id="1050479" name="Line 31"/>
              <p:cNvSpPr>
                <a:spLocks noChangeShapeType="1"/>
              </p:cNvSpPr>
              <p:nvPr/>
            </p:nvSpPr>
            <p:spPr bwMode="auto">
              <a:xfrm>
                <a:off x="3472" y="919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80" name="Line 32"/>
              <p:cNvSpPr>
                <a:spLocks noChangeShapeType="1"/>
              </p:cNvSpPr>
              <p:nvPr/>
            </p:nvSpPr>
            <p:spPr bwMode="auto">
              <a:xfrm>
                <a:off x="4166" y="1067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81" name="Line 33"/>
              <p:cNvSpPr>
                <a:spLocks noChangeShapeType="1"/>
              </p:cNvSpPr>
              <p:nvPr/>
            </p:nvSpPr>
            <p:spPr bwMode="auto">
              <a:xfrm flipH="1">
                <a:off x="3490" y="14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82" name="Line 34"/>
              <p:cNvSpPr>
                <a:spLocks noChangeShapeType="1"/>
              </p:cNvSpPr>
              <p:nvPr/>
            </p:nvSpPr>
            <p:spPr bwMode="auto">
              <a:xfrm>
                <a:off x="2387" y="9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483" name="Line 35"/>
              <p:cNvSpPr>
                <a:spLocks noChangeShapeType="1"/>
              </p:cNvSpPr>
              <p:nvPr/>
            </p:nvSpPr>
            <p:spPr bwMode="auto">
              <a:xfrm flipH="1">
                <a:off x="2390" y="14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0484" name="圆角矩形 131"/>
            <p:cNvSpPr/>
            <p:nvPr/>
          </p:nvSpPr>
          <p:spPr>
            <a:xfrm>
              <a:off x="902966" y="3241430"/>
              <a:ext cx="3384000" cy="1116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485" name="Text Box 13"/>
            <p:cNvSpPr txBox="1"/>
            <p:nvPr/>
          </p:nvSpPr>
          <p:spPr>
            <a:xfrm>
              <a:off x="1916721" y="3006356"/>
              <a:ext cx="1224136" cy="33855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常用状态图</a:t>
              </a:r>
            </a:p>
          </p:txBody>
        </p:sp>
      </p:grpSp>
      <p:sp>
        <p:nvSpPr>
          <p:cNvPr id="1050486" name="圆角矩形标注 13"/>
          <p:cNvSpPr/>
          <p:nvPr/>
        </p:nvSpPr>
        <p:spPr>
          <a:xfrm>
            <a:off x="3793315" y="703003"/>
            <a:ext cx="1788160" cy="1973937"/>
          </a:xfrm>
          <a:prstGeom prst="wedgeRoundRectCallout">
            <a:avLst>
              <a:gd name="adj1" fmla="val 57279"/>
              <a:gd name="adj2" fmla="val 72830"/>
              <a:gd name="adj3" fmla="val 16667"/>
            </a:avLst>
          </a:prstGeom>
          <a:solidFill>
            <a:schemeClr val="tx1"/>
          </a:solidFill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优点</a:t>
            </a:r>
            <a:r>
              <a:rPr lang="zh-CN" altLang="en-US" sz="1600" b="1" dirty="0">
                <a:sym typeface="+mn-ea"/>
              </a:rPr>
              <a:t>：</a:t>
            </a:r>
            <a:endParaRPr lang="en-US" altLang="zh-CN" sz="1600" b="1" dirty="0">
              <a:sym typeface="+mn-ea"/>
            </a:endParaRPr>
          </a:p>
          <a:p>
            <a:pPr algn="just"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①每次仅一位翻转，无险象。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②后级每个译码门只需要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个输入端。</a:t>
            </a:r>
          </a:p>
          <a:p>
            <a:pPr algn="just" eaLnBrk="1" hangingPunct="1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③模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8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计数器。</a:t>
            </a:r>
          </a:p>
        </p:txBody>
      </p:sp>
      <p:graphicFrame>
        <p:nvGraphicFramePr>
          <p:cNvPr id="4194308" name="表格 88"/>
          <p:cNvGraphicFramePr>
            <a:graphicFrameLocks noGrp="1"/>
          </p:cNvGraphicFramePr>
          <p:nvPr/>
        </p:nvGraphicFramePr>
        <p:xfrm>
          <a:off x="5724525" y="760413"/>
          <a:ext cx="3095627" cy="18764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9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97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5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16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4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0544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>
                    <a:solidFill>
                      <a:srgbClr val="C5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altLang="en-US" sz="1400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译码输出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>
                    <a:solidFill>
                      <a:srgbClr val="C5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3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2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Q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2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3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4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5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6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2"/>
                          </a:solidFill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7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5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n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1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+mn-lt"/>
                        </a:rPr>
                        <a:t>0</a:t>
                      </a:r>
                      <a:endParaRPr lang="zh-CN" altLang="en-US" sz="1200" b="1" dirty="0"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+mn-lt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1" name="组合 191"/>
          <p:cNvGrpSpPr/>
          <p:nvPr/>
        </p:nvGrpSpPr>
        <p:grpSpPr>
          <a:xfrm>
            <a:off x="4886325" y="3005138"/>
            <a:ext cx="4006850" cy="1727200"/>
            <a:chOff x="5175051" y="2572501"/>
            <a:chExt cx="4005461" cy="1727441"/>
          </a:xfrm>
        </p:grpSpPr>
        <p:grpSp>
          <p:nvGrpSpPr>
            <p:cNvPr id="472" name="组合 15"/>
            <p:cNvGrpSpPr/>
            <p:nvPr/>
          </p:nvGrpSpPr>
          <p:grpSpPr>
            <a:xfrm>
              <a:off x="5175051" y="2572501"/>
              <a:ext cx="2060922" cy="1365870"/>
              <a:chOff x="331210" y="2499742"/>
              <a:chExt cx="2944646" cy="1993900"/>
            </a:xfrm>
          </p:grpSpPr>
          <p:sp>
            <p:nvSpPr>
              <p:cNvPr id="1050488" name="Rectangle 6"/>
              <p:cNvSpPr/>
              <p:nvPr/>
            </p:nvSpPr>
            <p:spPr>
              <a:xfrm>
                <a:off x="2552428" y="3373815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489" name="Rectangle 7"/>
              <p:cNvSpPr/>
              <p:nvPr/>
            </p:nvSpPr>
            <p:spPr>
              <a:xfrm>
                <a:off x="2033273" y="3373815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490" name="Rectangle 8"/>
              <p:cNvSpPr/>
              <p:nvPr/>
            </p:nvSpPr>
            <p:spPr>
              <a:xfrm>
                <a:off x="1515705" y="3373815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491" name="Rectangle 9"/>
              <p:cNvSpPr/>
              <p:nvPr/>
            </p:nvSpPr>
            <p:spPr>
              <a:xfrm>
                <a:off x="996549" y="3373815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492" name="Rectangle 10"/>
              <p:cNvSpPr/>
              <p:nvPr/>
            </p:nvSpPr>
            <p:spPr>
              <a:xfrm>
                <a:off x="2552428" y="3000453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493" name="Rectangle 11"/>
              <p:cNvSpPr/>
              <p:nvPr/>
            </p:nvSpPr>
            <p:spPr>
              <a:xfrm>
                <a:off x="2033273" y="3000453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494" name="Rectangle 12"/>
              <p:cNvSpPr/>
              <p:nvPr/>
            </p:nvSpPr>
            <p:spPr>
              <a:xfrm>
                <a:off x="1515705" y="3000453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495" name="Rectangle 13"/>
              <p:cNvSpPr/>
              <p:nvPr/>
            </p:nvSpPr>
            <p:spPr>
              <a:xfrm>
                <a:off x="996549" y="3000453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1</a:t>
                </a:r>
              </a:p>
            </p:txBody>
          </p:sp>
          <p:sp>
            <p:nvSpPr>
              <p:cNvPr id="1050496" name="Line 14"/>
              <p:cNvSpPr/>
              <p:nvPr/>
            </p:nvSpPr>
            <p:spPr>
              <a:xfrm>
                <a:off x="996549" y="3000453"/>
                <a:ext cx="207344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497" name="Line 15"/>
              <p:cNvSpPr/>
              <p:nvPr/>
            </p:nvSpPr>
            <p:spPr>
              <a:xfrm>
                <a:off x="996549" y="3373815"/>
                <a:ext cx="207344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498" name="Line 17"/>
              <p:cNvSpPr/>
              <p:nvPr/>
            </p:nvSpPr>
            <p:spPr>
              <a:xfrm>
                <a:off x="996549" y="3000453"/>
                <a:ext cx="0" cy="746723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499" name="Line 18"/>
              <p:cNvSpPr/>
              <p:nvPr/>
            </p:nvSpPr>
            <p:spPr>
              <a:xfrm>
                <a:off x="1515705" y="3000453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00" name="Line 19"/>
              <p:cNvSpPr/>
              <p:nvPr/>
            </p:nvSpPr>
            <p:spPr>
              <a:xfrm>
                <a:off x="2033273" y="3000453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01" name="Line 20"/>
              <p:cNvSpPr/>
              <p:nvPr/>
            </p:nvSpPr>
            <p:spPr>
              <a:xfrm>
                <a:off x="2552428" y="3000453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02" name="Line 21"/>
              <p:cNvSpPr/>
              <p:nvPr/>
            </p:nvSpPr>
            <p:spPr>
              <a:xfrm>
                <a:off x="3069996" y="3373815"/>
                <a:ext cx="0" cy="37336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03" name="Line 22"/>
              <p:cNvSpPr/>
              <p:nvPr/>
            </p:nvSpPr>
            <p:spPr>
              <a:xfrm>
                <a:off x="3069996" y="3000453"/>
                <a:ext cx="0" cy="373362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04" name="Line 23"/>
              <p:cNvSpPr/>
              <p:nvPr/>
            </p:nvSpPr>
            <p:spPr>
              <a:xfrm>
                <a:off x="721889" y="2723596"/>
                <a:ext cx="274661" cy="276857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05" name="Text Box 24"/>
              <p:cNvSpPr txBox="1"/>
              <p:nvPr/>
            </p:nvSpPr>
            <p:spPr>
              <a:xfrm>
                <a:off x="1055292" y="2672969"/>
                <a:ext cx="2220564" cy="3594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000" b="1" dirty="0">
                    <a:latin typeface="Arial" panose="020B0604020202090204" pitchFamily="34" charset="0"/>
                  </a:rPr>
                  <a:t>00       01      11      10</a:t>
                </a:r>
              </a:p>
            </p:txBody>
          </p:sp>
          <p:sp>
            <p:nvSpPr>
              <p:cNvPr id="1050506" name="Text Box 25"/>
              <p:cNvSpPr txBox="1"/>
              <p:nvPr/>
            </p:nvSpPr>
            <p:spPr>
              <a:xfrm>
                <a:off x="623009" y="3109613"/>
                <a:ext cx="504098" cy="103105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00</a:t>
                </a:r>
              </a:p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01</a:t>
                </a:r>
              </a:p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11</a:t>
                </a:r>
              </a:p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10</a:t>
                </a:r>
              </a:p>
            </p:txBody>
          </p:sp>
          <p:sp>
            <p:nvSpPr>
              <p:cNvPr id="1050507" name="Text Box 26"/>
              <p:cNvSpPr txBox="1"/>
              <p:nvPr/>
            </p:nvSpPr>
            <p:spPr>
              <a:xfrm>
                <a:off x="331210" y="2730513"/>
                <a:ext cx="770912" cy="3594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2</a:t>
                </a:r>
              </a:p>
            </p:txBody>
          </p:sp>
          <p:sp>
            <p:nvSpPr>
              <p:cNvPr id="1050508" name="Text Box 27"/>
              <p:cNvSpPr txBox="1"/>
              <p:nvPr/>
            </p:nvSpPr>
            <p:spPr>
              <a:xfrm>
                <a:off x="667275" y="2499742"/>
                <a:ext cx="757111" cy="3594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09" name="Rectangle 6"/>
              <p:cNvSpPr/>
              <p:nvPr/>
            </p:nvSpPr>
            <p:spPr>
              <a:xfrm>
                <a:off x="2554489" y="4120280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10" name="Rectangle 7"/>
              <p:cNvSpPr/>
              <p:nvPr/>
            </p:nvSpPr>
            <p:spPr>
              <a:xfrm>
                <a:off x="2035334" y="4120280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11" name="Rectangle 8"/>
              <p:cNvSpPr/>
              <p:nvPr/>
            </p:nvSpPr>
            <p:spPr>
              <a:xfrm>
                <a:off x="1517766" y="4120280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12" name="Rectangle 9"/>
              <p:cNvSpPr/>
              <p:nvPr/>
            </p:nvSpPr>
            <p:spPr>
              <a:xfrm>
                <a:off x="998610" y="4120280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13" name="Rectangle 10"/>
              <p:cNvSpPr/>
              <p:nvPr/>
            </p:nvSpPr>
            <p:spPr>
              <a:xfrm>
                <a:off x="2554489" y="3746919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14" name="Rectangle 11"/>
              <p:cNvSpPr/>
              <p:nvPr/>
            </p:nvSpPr>
            <p:spPr>
              <a:xfrm>
                <a:off x="2035334" y="3746919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15" name="Rectangle 12"/>
              <p:cNvSpPr/>
              <p:nvPr/>
            </p:nvSpPr>
            <p:spPr>
              <a:xfrm>
                <a:off x="1517766" y="3746919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16" name="Rectangle 13"/>
              <p:cNvSpPr/>
              <p:nvPr/>
            </p:nvSpPr>
            <p:spPr>
              <a:xfrm>
                <a:off x="998610" y="3746919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17" name="Line 15"/>
              <p:cNvSpPr/>
              <p:nvPr/>
            </p:nvSpPr>
            <p:spPr>
              <a:xfrm>
                <a:off x="998610" y="4120280"/>
                <a:ext cx="207344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18" name="Line 17"/>
              <p:cNvSpPr/>
              <p:nvPr/>
            </p:nvSpPr>
            <p:spPr>
              <a:xfrm>
                <a:off x="998610" y="3746919"/>
                <a:ext cx="0" cy="746723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19" name="Line 18"/>
              <p:cNvSpPr/>
              <p:nvPr/>
            </p:nvSpPr>
            <p:spPr>
              <a:xfrm>
                <a:off x="1517766" y="3746919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20" name="Line 19"/>
              <p:cNvSpPr/>
              <p:nvPr/>
            </p:nvSpPr>
            <p:spPr>
              <a:xfrm>
                <a:off x="2035334" y="3746919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21" name="Line 20"/>
              <p:cNvSpPr/>
              <p:nvPr/>
            </p:nvSpPr>
            <p:spPr>
              <a:xfrm>
                <a:off x="2554489" y="3746919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22" name="Line 21"/>
              <p:cNvSpPr/>
              <p:nvPr/>
            </p:nvSpPr>
            <p:spPr>
              <a:xfrm>
                <a:off x="3072057" y="4120280"/>
                <a:ext cx="0" cy="37336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23" name="Line 22"/>
              <p:cNvSpPr/>
              <p:nvPr/>
            </p:nvSpPr>
            <p:spPr>
              <a:xfrm>
                <a:off x="3072057" y="3746919"/>
                <a:ext cx="0" cy="373362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050524" name="AutoShape 39"/>
            <p:cNvSpPr/>
            <p:nvPr/>
          </p:nvSpPr>
          <p:spPr>
            <a:xfrm>
              <a:off x="5686028" y="2932541"/>
              <a:ext cx="259249" cy="457572"/>
            </a:xfrm>
            <a:prstGeom prst="rightBracket">
              <a:avLst>
                <a:gd name="adj" fmla="val 51339"/>
              </a:avLst>
            </a:prstGeom>
            <a:noFill/>
            <a:ln w="19050" cap="sq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50525" name="AutoShape 40"/>
            <p:cNvSpPr/>
            <p:nvPr/>
          </p:nvSpPr>
          <p:spPr>
            <a:xfrm>
              <a:off x="6804248" y="2932541"/>
              <a:ext cx="216272" cy="457572"/>
            </a:xfrm>
            <a:prstGeom prst="leftBracket">
              <a:avLst>
                <a:gd name="adj" fmla="val 60680"/>
              </a:avLst>
            </a:prstGeom>
            <a:noFill/>
            <a:ln w="19050" cap="sq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grpSp>
          <p:nvGrpSpPr>
            <p:cNvPr id="473" name="组合 15"/>
            <p:cNvGrpSpPr/>
            <p:nvPr/>
          </p:nvGrpSpPr>
          <p:grpSpPr>
            <a:xfrm>
              <a:off x="7119590" y="2572501"/>
              <a:ext cx="2060922" cy="1365870"/>
              <a:chOff x="331210" y="2499742"/>
              <a:chExt cx="2944646" cy="1993900"/>
            </a:xfrm>
          </p:grpSpPr>
          <p:sp>
            <p:nvSpPr>
              <p:cNvPr id="1050526" name="Rectangle 6"/>
              <p:cNvSpPr/>
              <p:nvPr/>
            </p:nvSpPr>
            <p:spPr>
              <a:xfrm>
                <a:off x="2552428" y="3373815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27" name="Rectangle 7"/>
              <p:cNvSpPr/>
              <p:nvPr/>
            </p:nvSpPr>
            <p:spPr>
              <a:xfrm>
                <a:off x="2033273" y="3373815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28" name="Rectangle 8"/>
              <p:cNvSpPr/>
              <p:nvPr/>
            </p:nvSpPr>
            <p:spPr>
              <a:xfrm>
                <a:off x="1515705" y="3373815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29" name="Rectangle 9"/>
              <p:cNvSpPr/>
              <p:nvPr/>
            </p:nvSpPr>
            <p:spPr>
              <a:xfrm>
                <a:off x="996549" y="3373815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30" name="Rectangle 10"/>
              <p:cNvSpPr/>
              <p:nvPr/>
            </p:nvSpPr>
            <p:spPr>
              <a:xfrm>
                <a:off x="2552428" y="3000453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31" name="Rectangle 11"/>
              <p:cNvSpPr/>
              <p:nvPr/>
            </p:nvSpPr>
            <p:spPr>
              <a:xfrm>
                <a:off x="2033273" y="3000453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32" name="Rectangle 12"/>
              <p:cNvSpPr/>
              <p:nvPr/>
            </p:nvSpPr>
            <p:spPr>
              <a:xfrm>
                <a:off x="1515705" y="3000453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33" name="Rectangle 13"/>
              <p:cNvSpPr/>
              <p:nvPr/>
            </p:nvSpPr>
            <p:spPr>
              <a:xfrm>
                <a:off x="996549" y="3000453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34" name="Line 14"/>
              <p:cNvSpPr/>
              <p:nvPr/>
            </p:nvSpPr>
            <p:spPr>
              <a:xfrm>
                <a:off x="996549" y="3000453"/>
                <a:ext cx="207344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35" name="Line 15"/>
              <p:cNvSpPr/>
              <p:nvPr/>
            </p:nvSpPr>
            <p:spPr>
              <a:xfrm>
                <a:off x="996549" y="3373815"/>
                <a:ext cx="207344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36" name="Line 17"/>
              <p:cNvSpPr/>
              <p:nvPr/>
            </p:nvSpPr>
            <p:spPr>
              <a:xfrm>
                <a:off x="996549" y="3000453"/>
                <a:ext cx="0" cy="746723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37" name="Line 18"/>
              <p:cNvSpPr/>
              <p:nvPr/>
            </p:nvSpPr>
            <p:spPr>
              <a:xfrm>
                <a:off x="1515705" y="3000453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38" name="Line 19"/>
              <p:cNvSpPr/>
              <p:nvPr/>
            </p:nvSpPr>
            <p:spPr>
              <a:xfrm>
                <a:off x="2033273" y="3000453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39" name="Line 20"/>
              <p:cNvSpPr/>
              <p:nvPr/>
            </p:nvSpPr>
            <p:spPr>
              <a:xfrm>
                <a:off x="2552428" y="3000453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40" name="Line 21"/>
              <p:cNvSpPr/>
              <p:nvPr/>
            </p:nvSpPr>
            <p:spPr>
              <a:xfrm>
                <a:off x="3069996" y="3373815"/>
                <a:ext cx="0" cy="37336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41" name="Line 22"/>
              <p:cNvSpPr/>
              <p:nvPr/>
            </p:nvSpPr>
            <p:spPr>
              <a:xfrm>
                <a:off x="3069996" y="3000453"/>
                <a:ext cx="0" cy="373362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42" name="Line 23"/>
              <p:cNvSpPr/>
              <p:nvPr/>
            </p:nvSpPr>
            <p:spPr>
              <a:xfrm>
                <a:off x="721889" y="2723596"/>
                <a:ext cx="274661" cy="276857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43" name="Text Box 24"/>
              <p:cNvSpPr txBox="1"/>
              <p:nvPr/>
            </p:nvSpPr>
            <p:spPr>
              <a:xfrm>
                <a:off x="1055292" y="2672969"/>
                <a:ext cx="2220564" cy="3594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000" b="1" dirty="0">
                    <a:latin typeface="Arial" panose="020B0604020202090204" pitchFamily="34" charset="0"/>
                  </a:rPr>
                  <a:t>00       01      11      10</a:t>
                </a:r>
              </a:p>
            </p:txBody>
          </p:sp>
          <p:sp>
            <p:nvSpPr>
              <p:cNvPr id="1050544" name="Text Box 25"/>
              <p:cNvSpPr txBox="1"/>
              <p:nvPr/>
            </p:nvSpPr>
            <p:spPr>
              <a:xfrm>
                <a:off x="623009" y="3109613"/>
                <a:ext cx="504098" cy="103105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00</a:t>
                </a:r>
              </a:p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01</a:t>
                </a:r>
              </a:p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11</a:t>
                </a:r>
              </a:p>
              <a:p>
                <a:pPr>
                  <a:lnSpc>
                    <a:spcPct val="65000"/>
                  </a:lnSpc>
                  <a:spcBef>
                    <a:spcPts val="1400"/>
                  </a:spcBef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10</a:t>
                </a:r>
              </a:p>
            </p:txBody>
          </p:sp>
          <p:sp>
            <p:nvSpPr>
              <p:cNvPr id="1050545" name="Text Box 26"/>
              <p:cNvSpPr txBox="1"/>
              <p:nvPr/>
            </p:nvSpPr>
            <p:spPr>
              <a:xfrm>
                <a:off x="331210" y="2730513"/>
                <a:ext cx="770912" cy="3594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3</a:t>
                </a:r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2</a:t>
                </a:r>
              </a:p>
            </p:txBody>
          </p:sp>
          <p:sp>
            <p:nvSpPr>
              <p:cNvPr id="1050546" name="Text Box 27"/>
              <p:cNvSpPr txBox="1"/>
              <p:nvPr/>
            </p:nvSpPr>
            <p:spPr>
              <a:xfrm>
                <a:off x="667275" y="2499742"/>
                <a:ext cx="757111" cy="3594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000" b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000" b="1" baseline="-25000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47" name="Rectangle 6"/>
              <p:cNvSpPr/>
              <p:nvPr/>
            </p:nvSpPr>
            <p:spPr>
              <a:xfrm>
                <a:off x="2554489" y="4120280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48" name="Rectangle 7"/>
              <p:cNvSpPr/>
              <p:nvPr/>
            </p:nvSpPr>
            <p:spPr>
              <a:xfrm>
                <a:off x="2035334" y="4120280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49" name="Rectangle 8"/>
              <p:cNvSpPr/>
              <p:nvPr/>
            </p:nvSpPr>
            <p:spPr>
              <a:xfrm>
                <a:off x="1517766" y="4120280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50" name="Rectangle 9"/>
              <p:cNvSpPr/>
              <p:nvPr/>
            </p:nvSpPr>
            <p:spPr>
              <a:xfrm>
                <a:off x="998610" y="4120280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1</a:t>
                </a:r>
              </a:p>
            </p:txBody>
          </p:sp>
          <p:sp>
            <p:nvSpPr>
              <p:cNvPr id="1050551" name="Rectangle 10"/>
              <p:cNvSpPr/>
              <p:nvPr/>
            </p:nvSpPr>
            <p:spPr>
              <a:xfrm>
                <a:off x="2554489" y="3746919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52" name="Rectangle 11"/>
              <p:cNvSpPr/>
              <p:nvPr/>
            </p:nvSpPr>
            <p:spPr>
              <a:xfrm>
                <a:off x="2035334" y="3746919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53" name="Rectangle 12"/>
              <p:cNvSpPr/>
              <p:nvPr/>
            </p:nvSpPr>
            <p:spPr>
              <a:xfrm>
                <a:off x="1517766" y="3746919"/>
                <a:ext cx="517568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X</a:t>
                </a:r>
              </a:p>
            </p:txBody>
          </p:sp>
          <p:sp>
            <p:nvSpPr>
              <p:cNvPr id="1050554" name="Rectangle 13"/>
              <p:cNvSpPr/>
              <p:nvPr/>
            </p:nvSpPr>
            <p:spPr>
              <a:xfrm>
                <a:off x="998610" y="3746919"/>
                <a:ext cx="519156" cy="373362"/>
              </a:xfrm>
              <a:prstGeom prst="rect">
                <a:avLst/>
              </a:prstGeom>
              <a:noFill/>
              <a:ln w="19050" cap="sq" cmpd="sng">
                <a:solidFill>
                  <a:schemeClr val="bg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1000" b="1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55" name="Line 15"/>
              <p:cNvSpPr/>
              <p:nvPr/>
            </p:nvSpPr>
            <p:spPr>
              <a:xfrm>
                <a:off x="998610" y="4120280"/>
                <a:ext cx="207344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56" name="Line 17"/>
              <p:cNvSpPr/>
              <p:nvPr/>
            </p:nvSpPr>
            <p:spPr>
              <a:xfrm>
                <a:off x="998610" y="3746919"/>
                <a:ext cx="0" cy="746723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57" name="Line 18"/>
              <p:cNvSpPr/>
              <p:nvPr/>
            </p:nvSpPr>
            <p:spPr>
              <a:xfrm>
                <a:off x="1517766" y="3746919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58" name="Line 19"/>
              <p:cNvSpPr/>
              <p:nvPr/>
            </p:nvSpPr>
            <p:spPr>
              <a:xfrm>
                <a:off x="2035334" y="3746919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59" name="Line 20"/>
              <p:cNvSpPr/>
              <p:nvPr/>
            </p:nvSpPr>
            <p:spPr>
              <a:xfrm>
                <a:off x="2554489" y="3746919"/>
                <a:ext cx="0" cy="746723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60" name="Line 21"/>
              <p:cNvSpPr/>
              <p:nvPr/>
            </p:nvSpPr>
            <p:spPr>
              <a:xfrm>
                <a:off x="3072057" y="4120280"/>
                <a:ext cx="0" cy="37336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61" name="Line 22"/>
              <p:cNvSpPr/>
              <p:nvPr/>
            </p:nvSpPr>
            <p:spPr>
              <a:xfrm>
                <a:off x="3072057" y="3746919"/>
                <a:ext cx="0" cy="373362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050562" name="AutoShape 43"/>
            <p:cNvSpPr/>
            <p:nvPr/>
          </p:nvSpPr>
          <p:spPr>
            <a:xfrm>
              <a:off x="7624911" y="3700246"/>
              <a:ext cx="1404000" cy="216000"/>
            </a:xfrm>
            <a:prstGeom prst="roundRect">
              <a:avLst>
                <a:gd name="adj" fmla="val 16667"/>
              </a:avLst>
            </a:prstGeom>
            <a:noFill/>
            <a:ln w="19050" cap="sq" cmpd="sng">
              <a:solidFill>
                <a:srgbClr val="99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grpSp>
          <p:nvGrpSpPr>
            <p:cNvPr id="474" name="Group 50"/>
            <p:cNvGrpSpPr/>
            <p:nvPr/>
          </p:nvGrpSpPr>
          <p:grpSpPr>
            <a:xfrm>
              <a:off x="5784329" y="3959703"/>
              <a:ext cx="1079500" cy="339098"/>
              <a:chOff x="576" y="2784"/>
              <a:chExt cx="680" cy="285"/>
            </a:xfrm>
          </p:grpSpPr>
          <p:sp>
            <p:nvSpPr>
              <p:cNvPr id="1050563" name="Text Box 45"/>
              <p:cNvSpPr txBox="1"/>
              <p:nvPr/>
            </p:nvSpPr>
            <p:spPr>
              <a:xfrm>
                <a:off x="576" y="2784"/>
                <a:ext cx="680" cy="285"/>
              </a:xfrm>
              <a:prstGeom prst="rect">
                <a:avLst/>
              </a:prstGeom>
              <a:noFill/>
              <a:ln w="1905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600" b="1" i="1" dirty="0">
                    <a:latin typeface="Arial" panose="020B0604020202090204" pitchFamily="34" charset="0"/>
                  </a:rPr>
                  <a:t>Y</a:t>
                </a:r>
                <a:r>
                  <a:rPr lang="en-US" altLang="zh-CN" sz="1600" b="1" i="1" baseline="-25000" dirty="0">
                    <a:latin typeface="Arial" panose="020B0604020202090204" pitchFamily="34" charset="0"/>
                  </a:rPr>
                  <a:t>0</a:t>
                </a:r>
                <a:r>
                  <a:rPr lang="en-US" altLang="zh-CN" sz="1600" b="1" i="1" dirty="0">
                    <a:latin typeface="Arial" panose="020B0604020202090204" pitchFamily="34" charset="0"/>
                  </a:rPr>
                  <a:t>= Q</a:t>
                </a:r>
                <a:r>
                  <a:rPr lang="en-US" altLang="zh-CN" sz="1600" b="1" i="1" baseline="-25000" dirty="0">
                    <a:latin typeface="Arial" panose="020B0604020202090204" pitchFamily="34" charset="0"/>
                  </a:rPr>
                  <a:t>3</a:t>
                </a:r>
                <a:r>
                  <a:rPr lang="en-US" altLang="zh-CN" sz="1600" b="1" i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600" b="1" i="1" baseline="-25000" dirty="0"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0564" name="Line 48"/>
              <p:cNvSpPr/>
              <p:nvPr/>
            </p:nvSpPr>
            <p:spPr>
              <a:xfrm>
                <a:off x="1038" y="2840"/>
                <a:ext cx="68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565" name="Line 49"/>
              <p:cNvSpPr/>
              <p:nvPr/>
            </p:nvSpPr>
            <p:spPr>
              <a:xfrm>
                <a:off x="888" y="2840"/>
                <a:ext cx="68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75" name="Group 50"/>
            <p:cNvGrpSpPr/>
            <p:nvPr/>
          </p:nvGrpSpPr>
          <p:grpSpPr>
            <a:xfrm>
              <a:off x="7819603" y="3960844"/>
              <a:ext cx="1079500" cy="339098"/>
              <a:chOff x="576" y="2784"/>
              <a:chExt cx="680" cy="285"/>
            </a:xfrm>
          </p:grpSpPr>
          <p:sp>
            <p:nvSpPr>
              <p:cNvPr id="1050566" name="Text Box 45"/>
              <p:cNvSpPr txBox="1"/>
              <p:nvPr/>
            </p:nvSpPr>
            <p:spPr>
              <a:xfrm>
                <a:off x="576" y="2784"/>
                <a:ext cx="680" cy="285"/>
              </a:xfrm>
              <a:prstGeom prst="rect">
                <a:avLst/>
              </a:prstGeom>
              <a:noFill/>
              <a:ln w="1905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600" b="1" i="1" dirty="0">
                    <a:latin typeface="Arial" panose="020B0604020202090204" pitchFamily="34" charset="0"/>
                  </a:rPr>
                  <a:t>Y</a:t>
                </a:r>
                <a:r>
                  <a:rPr lang="en-US" altLang="zh-CN" sz="1600" b="1" i="1" baseline="-25000" dirty="0">
                    <a:latin typeface="Arial" panose="020B0604020202090204" pitchFamily="34" charset="0"/>
                  </a:rPr>
                  <a:t>1</a:t>
                </a:r>
                <a:r>
                  <a:rPr lang="en-US" altLang="zh-CN" sz="1600" b="1" i="1" dirty="0">
                    <a:latin typeface="Arial" panose="020B0604020202090204" pitchFamily="34" charset="0"/>
                  </a:rPr>
                  <a:t>= Q</a:t>
                </a:r>
                <a:r>
                  <a:rPr lang="en-US" altLang="zh-CN" sz="1600" b="1" i="1" baseline="-25000" dirty="0">
                    <a:latin typeface="Arial" panose="020B0604020202090204" pitchFamily="34" charset="0"/>
                  </a:rPr>
                  <a:t>3</a:t>
                </a:r>
                <a:r>
                  <a:rPr lang="en-US" altLang="zh-CN" sz="1600" b="1" i="1" dirty="0">
                    <a:latin typeface="Arial" panose="020B0604020202090204" pitchFamily="34" charset="0"/>
                  </a:rPr>
                  <a:t>Q</a:t>
                </a:r>
                <a:r>
                  <a:rPr lang="en-US" altLang="zh-CN" sz="1600" b="1" i="1" baseline="-25000" dirty="0">
                    <a:latin typeface="Arial" panose="020B0604020202090204" pitchFamily="34" charset="0"/>
                  </a:rPr>
                  <a:t>2</a:t>
                </a:r>
              </a:p>
            </p:txBody>
          </p:sp>
          <p:sp>
            <p:nvSpPr>
              <p:cNvPr id="1050567" name="Line 48"/>
              <p:cNvSpPr/>
              <p:nvPr/>
            </p:nvSpPr>
            <p:spPr>
              <a:xfrm>
                <a:off x="1038" y="2840"/>
                <a:ext cx="68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grpSp>
        <p:nvGrpSpPr>
          <p:cNvPr id="476" name="组合 591"/>
          <p:cNvGrpSpPr/>
          <p:nvPr/>
        </p:nvGrpSpPr>
        <p:grpSpPr>
          <a:xfrm>
            <a:off x="323850" y="3076575"/>
            <a:ext cx="4354513" cy="1417638"/>
            <a:chOff x="395536" y="2427734"/>
            <a:chExt cx="4354056" cy="1418085"/>
          </a:xfrm>
        </p:grpSpPr>
        <p:sp>
          <p:nvSpPr>
            <p:cNvPr id="1050568" name="Text Box 67"/>
            <p:cNvSpPr txBox="1">
              <a:spLocks noChangeArrowheads="1"/>
            </p:cNvSpPr>
            <p:nvPr/>
          </p:nvSpPr>
          <p:spPr bwMode="auto">
            <a:xfrm>
              <a:off x="395536" y="2427734"/>
              <a:ext cx="431755" cy="3080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</a:p>
          </p:txBody>
        </p:sp>
        <p:sp>
          <p:nvSpPr>
            <p:cNvPr id="1050569" name="Text Box 68"/>
            <p:cNvSpPr txBox="1">
              <a:spLocks noChangeArrowheads="1"/>
            </p:cNvSpPr>
            <p:nvPr/>
          </p:nvSpPr>
          <p:spPr bwMode="auto">
            <a:xfrm>
              <a:off x="401885" y="2716750"/>
              <a:ext cx="450803" cy="3080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0570" name="Text Box 69"/>
            <p:cNvSpPr txBox="1">
              <a:spLocks noChangeArrowheads="1"/>
            </p:cNvSpPr>
            <p:nvPr/>
          </p:nvSpPr>
          <p:spPr bwMode="auto">
            <a:xfrm>
              <a:off x="425696" y="3274139"/>
              <a:ext cx="450803" cy="3080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477" name="Group 70"/>
            <p:cNvGrpSpPr/>
            <p:nvPr/>
          </p:nvGrpSpPr>
          <p:grpSpPr>
            <a:xfrm>
              <a:off x="801935" y="2480122"/>
              <a:ext cx="2074863" cy="152400"/>
              <a:chOff x="480" y="2160"/>
              <a:chExt cx="2160" cy="240"/>
            </a:xfrm>
          </p:grpSpPr>
          <p:sp>
            <p:nvSpPr>
              <p:cNvPr id="1050571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72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73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574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75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76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77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578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79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80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81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582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83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84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85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586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87" name="Line 87"/>
              <p:cNvSpPr/>
              <p:nvPr/>
            </p:nvSpPr>
            <p:spPr>
              <a:xfrm>
                <a:off x="48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588" name="Text Box 90"/>
            <p:cNvSpPr txBox="1">
              <a:spLocks noChangeArrowheads="1"/>
            </p:cNvSpPr>
            <p:nvPr/>
          </p:nvSpPr>
          <p:spPr bwMode="auto">
            <a:xfrm>
              <a:off x="406648" y="2993062"/>
              <a:ext cx="450803" cy="3080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589" name="Text Box 178"/>
            <p:cNvSpPr txBox="1">
              <a:spLocks noChangeArrowheads="1"/>
            </p:cNvSpPr>
            <p:nvPr/>
          </p:nvSpPr>
          <p:spPr bwMode="auto">
            <a:xfrm>
              <a:off x="424108" y="3537747"/>
              <a:ext cx="403183" cy="3080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grpSp>
          <p:nvGrpSpPr>
            <p:cNvPr id="478" name="Group 70"/>
            <p:cNvGrpSpPr/>
            <p:nvPr/>
          </p:nvGrpSpPr>
          <p:grpSpPr>
            <a:xfrm>
              <a:off x="2871692" y="2476972"/>
              <a:ext cx="1844323" cy="152400"/>
              <a:chOff x="720" y="2160"/>
              <a:chExt cx="1920" cy="240"/>
            </a:xfrm>
          </p:grpSpPr>
          <p:sp>
            <p:nvSpPr>
              <p:cNvPr id="1050590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1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2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593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4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5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6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597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8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599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00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601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02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03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04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605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479" name="组合 557"/>
            <p:cNvGrpSpPr/>
            <p:nvPr/>
          </p:nvGrpSpPr>
          <p:grpSpPr>
            <a:xfrm>
              <a:off x="794016" y="2779270"/>
              <a:ext cx="3922736" cy="133468"/>
              <a:chOff x="794016" y="2779270"/>
              <a:chExt cx="3922736" cy="133468"/>
            </a:xfrm>
          </p:grpSpPr>
          <p:grpSp>
            <p:nvGrpSpPr>
              <p:cNvPr id="480" name="Group 91"/>
              <p:cNvGrpSpPr/>
              <p:nvPr/>
            </p:nvGrpSpPr>
            <p:grpSpPr>
              <a:xfrm>
                <a:off x="1030491" y="2779270"/>
                <a:ext cx="3686261" cy="122238"/>
                <a:chOff x="-733" y="2592"/>
                <a:chExt cx="3838" cy="192"/>
              </a:xfrm>
            </p:grpSpPr>
            <p:sp>
              <p:nvSpPr>
                <p:cNvPr id="1050606" name="Line 92"/>
                <p:cNvSpPr/>
                <p:nvPr/>
              </p:nvSpPr>
              <p:spPr>
                <a:xfrm>
                  <a:off x="1193" y="2780"/>
                  <a:ext cx="1912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607" name="Line 94"/>
                <p:cNvSpPr/>
                <p:nvPr/>
              </p:nvSpPr>
              <p:spPr>
                <a:xfrm>
                  <a:off x="1190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608" name="Line 95"/>
                <p:cNvSpPr/>
                <p:nvPr/>
              </p:nvSpPr>
              <p:spPr>
                <a:xfrm flipH="1">
                  <a:off x="-733" y="2605"/>
                  <a:ext cx="191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609" name="Line 74"/>
              <p:cNvSpPr/>
              <p:nvPr/>
            </p:nvSpPr>
            <p:spPr>
              <a:xfrm>
                <a:off x="794016" y="2912738"/>
                <a:ext cx="252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10" name="Line 94"/>
              <p:cNvSpPr/>
              <p:nvPr/>
            </p:nvSpPr>
            <p:spPr>
              <a:xfrm>
                <a:off x="1038845" y="2787774"/>
                <a:ext cx="0" cy="12223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611" name="Line 61"/>
            <p:cNvSpPr>
              <a:spLocks noChangeShapeType="1"/>
            </p:cNvSpPr>
            <p:nvPr/>
          </p:nvSpPr>
          <p:spPr bwMode="auto">
            <a:xfrm>
              <a:off x="1038407" y="2489667"/>
              <a:ext cx="0" cy="122434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grpSp>
          <p:nvGrpSpPr>
            <p:cNvPr id="481" name="组合 567"/>
            <p:cNvGrpSpPr/>
            <p:nvPr/>
          </p:nvGrpSpPr>
          <p:grpSpPr>
            <a:xfrm>
              <a:off x="798043" y="3028635"/>
              <a:ext cx="3951549" cy="133468"/>
              <a:chOff x="798043" y="3028635"/>
              <a:chExt cx="3951549" cy="133468"/>
            </a:xfrm>
          </p:grpSpPr>
          <p:grpSp>
            <p:nvGrpSpPr>
              <p:cNvPr id="482" name="组合 558"/>
              <p:cNvGrpSpPr/>
              <p:nvPr/>
            </p:nvGrpSpPr>
            <p:grpSpPr>
              <a:xfrm>
                <a:off x="798043" y="3028635"/>
                <a:ext cx="3951549" cy="133468"/>
                <a:chOff x="794016" y="2779270"/>
                <a:chExt cx="3951549" cy="133468"/>
              </a:xfrm>
            </p:grpSpPr>
            <p:grpSp>
              <p:nvGrpSpPr>
                <p:cNvPr id="483" name="Group 91"/>
                <p:cNvGrpSpPr/>
                <p:nvPr/>
              </p:nvGrpSpPr>
              <p:grpSpPr>
                <a:xfrm>
                  <a:off x="3334644" y="2779270"/>
                  <a:ext cx="1410921" cy="122238"/>
                  <a:chOff x="1666" y="2592"/>
                  <a:chExt cx="1469" cy="192"/>
                </a:xfrm>
              </p:grpSpPr>
              <p:sp>
                <p:nvSpPr>
                  <p:cNvPr id="1050612" name="Line 92"/>
                  <p:cNvSpPr/>
                  <p:nvPr/>
                </p:nvSpPr>
                <p:spPr>
                  <a:xfrm>
                    <a:off x="1673" y="2780"/>
                    <a:ext cx="1462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50613" name="Line 94"/>
                  <p:cNvSpPr/>
                  <p:nvPr/>
                </p:nvSpPr>
                <p:spPr>
                  <a:xfrm>
                    <a:off x="1666" y="2592"/>
                    <a:ext cx="0" cy="192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50614" name="Line 74"/>
                <p:cNvSpPr/>
                <p:nvPr/>
              </p:nvSpPr>
              <p:spPr>
                <a:xfrm>
                  <a:off x="794016" y="2912738"/>
                  <a:ext cx="7056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615" name="Line 94"/>
                <p:cNvSpPr/>
                <p:nvPr/>
              </p:nvSpPr>
              <p:spPr>
                <a:xfrm>
                  <a:off x="1490681" y="2787774"/>
                  <a:ext cx="0" cy="12223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616" name="Line 92"/>
              <p:cNvSpPr/>
              <p:nvPr/>
            </p:nvSpPr>
            <p:spPr>
              <a:xfrm>
                <a:off x="1500034" y="3037139"/>
                <a:ext cx="183640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4" name="组合 568"/>
            <p:cNvGrpSpPr/>
            <p:nvPr/>
          </p:nvGrpSpPr>
          <p:grpSpPr>
            <a:xfrm>
              <a:off x="802571" y="3321993"/>
              <a:ext cx="3935216" cy="133468"/>
              <a:chOff x="798043" y="3028635"/>
              <a:chExt cx="3935216" cy="133468"/>
            </a:xfrm>
          </p:grpSpPr>
          <p:grpSp>
            <p:nvGrpSpPr>
              <p:cNvPr id="485" name="组合 558"/>
              <p:cNvGrpSpPr/>
              <p:nvPr/>
            </p:nvGrpSpPr>
            <p:grpSpPr>
              <a:xfrm>
                <a:off x="798043" y="3028635"/>
                <a:ext cx="3935216" cy="133468"/>
                <a:chOff x="794016" y="2779270"/>
                <a:chExt cx="3935216" cy="133468"/>
              </a:xfrm>
            </p:grpSpPr>
            <p:grpSp>
              <p:nvGrpSpPr>
                <p:cNvPr id="486" name="Group 91"/>
                <p:cNvGrpSpPr/>
                <p:nvPr/>
              </p:nvGrpSpPr>
              <p:grpSpPr>
                <a:xfrm>
                  <a:off x="3786057" y="2779270"/>
                  <a:ext cx="943175" cy="122238"/>
                  <a:chOff x="2136" y="2592"/>
                  <a:chExt cx="982" cy="192"/>
                </a:xfrm>
              </p:grpSpPr>
              <p:sp>
                <p:nvSpPr>
                  <p:cNvPr id="1050617" name="Line 92"/>
                  <p:cNvSpPr/>
                  <p:nvPr/>
                </p:nvSpPr>
                <p:spPr>
                  <a:xfrm>
                    <a:off x="2143" y="2780"/>
                    <a:ext cx="975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50618" name="Line 94"/>
                  <p:cNvSpPr/>
                  <p:nvPr/>
                </p:nvSpPr>
                <p:spPr>
                  <a:xfrm>
                    <a:off x="2136" y="2592"/>
                    <a:ext cx="0" cy="192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50619" name="Line 74"/>
                <p:cNvSpPr/>
                <p:nvPr/>
              </p:nvSpPr>
              <p:spPr>
                <a:xfrm>
                  <a:off x="794016" y="2912738"/>
                  <a:ext cx="1152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620" name="Line 94"/>
                <p:cNvSpPr/>
                <p:nvPr/>
              </p:nvSpPr>
              <p:spPr>
                <a:xfrm>
                  <a:off x="1937253" y="2783011"/>
                  <a:ext cx="0" cy="12960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621" name="Line 92"/>
              <p:cNvSpPr/>
              <p:nvPr/>
            </p:nvSpPr>
            <p:spPr>
              <a:xfrm>
                <a:off x="1958029" y="3037139"/>
                <a:ext cx="183640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7" name="组合 576"/>
            <p:cNvGrpSpPr/>
            <p:nvPr/>
          </p:nvGrpSpPr>
          <p:grpSpPr>
            <a:xfrm>
              <a:off x="799006" y="3576399"/>
              <a:ext cx="3947619" cy="147479"/>
              <a:chOff x="788517" y="3014624"/>
              <a:chExt cx="3947619" cy="147479"/>
            </a:xfrm>
          </p:grpSpPr>
          <p:grpSp>
            <p:nvGrpSpPr>
              <p:cNvPr id="488" name="组合 558"/>
              <p:cNvGrpSpPr/>
              <p:nvPr/>
            </p:nvGrpSpPr>
            <p:grpSpPr>
              <a:xfrm>
                <a:off x="788517" y="3014624"/>
                <a:ext cx="3947619" cy="147479"/>
                <a:chOff x="784490" y="2765259"/>
                <a:chExt cx="3947619" cy="147479"/>
              </a:xfrm>
            </p:grpSpPr>
            <p:grpSp>
              <p:nvGrpSpPr>
                <p:cNvPr id="489" name="Group 91"/>
                <p:cNvGrpSpPr/>
                <p:nvPr/>
              </p:nvGrpSpPr>
              <p:grpSpPr>
                <a:xfrm>
                  <a:off x="4259562" y="2765259"/>
                  <a:ext cx="472547" cy="143884"/>
                  <a:chOff x="2629" y="2570"/>
                  <a:chExt cx="492" cy="226"/>
                </a:xfrm>
              </p:grpSpPr>
              <p:sp>
                <p:nvSpPr>
                  <p:cNvPr id="1050622" name="Line 92"/>
                  <p:cNvSpPr/>
                  <p:nvPr/>
                </p:nvSpPr>
                <p:spPr>
                  <a:xfrm>
                    <a:off x="2634" y="2780"/>
                    <a:ext cx="487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50623" name="Line 94"/>
                  <p:cNvSpPr/>
                  <p:nvPr/>
                </p:nvSpPr>
                <p:spPr>
                  <a:xfrm>
                    <a:off x="2629" y="2570"/>
                    <a:ext cx="0" cy="226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50624" name="Line 74"/>
                <p:cNvSpPr/>
                <p:nvPr/>
              </p:nvSpPr>
              <p:spPr>
                <a:xfrm>
                  <a:off x="784490" y="2912738"/>
                  <a:ext cx="1620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625" name="Line 94"/>
                <p:cNvSpPr/>
                <p:nvPr/>
              </p:nvSpPr>
              <p:spPr>
                <a:xfrm>
                  <a:off x="2402007" y="2773485"/>
                  <a:ext cx="0" cy="13680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626" name="Line 92"/>
              <p:cNvSpPr/>
              <p:nvPr/>
            </p:nvSpPr>
            <p:spPr>
              <a:xfrm>
                <a:off x="2403730" y="3018087"/>
                <a:ext cx="18576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050627" name="Line 61"/>
            <p:cNvSpPr>
              <a:spLocks noChangeShapeType="1"/>
            </p:cNvSpPr>
            <p:nvPr/>
          </p:nvSpPr>
          <p:spPr bwMode="auto">
            <a:xfrm>
              <a:off x="1498733" y="2527779"/>
              <a:ext cx="0" cy="122434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28" name="Line 61"/>
            <p:cNvSpPr>
              <a:spLocks noChangeShapeType="1"/>
            </p:cNvSpPr>
            <p:nvPr/>
          </p:nvSpPr>
          <p:spPr bwMode="auto">
            <a:xfrm>
              <a:off x="1955885" y="2491254"/>
              <a:ext cx="0" cy="122276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29" name="Line 61"/>
            <p:cNvSpPr>
              <a:spLocks noChangeShapeType="1"/>
            </p:cNvSpPr>
            <p:nvPr/>
          </p:nvSpPr>
          <p:spPr bwMode="auto">
            <a:xfrm>
              <a:off x="2416212" y="2529366"/>
              <a:ext cx="0" cy="122276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30" name="Line 61"/>
            <p:cNvSpPr>
              <a:spLocks noChangeShapeType="1"/>
            </p:cNvSpPr>
            <p:nvPr/>
          </p:nvSpPr>
          <p:spPr bwMode="auto">
            <a:xfrm>
              <a:off x="2871776" y="2596062"/>
              <a:ext cx="0" cy="9718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31" name="Line 61"/>
            <p:cNvSpPr>
              <a:spLocks noChangeShapeType="1"/>
            </p:cNvSpPr>
            <p:nvPr/>
          </p:nvSpPr>
          <p:spPr bwMode="auto">
            <a:xfrm>
              <a:off x="3333691" y="2600827"/>
              <a:ext cx="0" cy="9718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32" name="Line 61"/>
            <p:cNvSpPr>
              <a:spLocks noChangeShapeType="1"/>
            </p:cNvSpPr>
            <p:nvPr/>
          </p:nvSpPr>
          <p:spPr bwMode="auto">
            <a:xfrm>
              <a:off x="3794017" y="2605590"/>
              <a:ext cx="0" cy="9718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33" name="Line 61"/>
            <p:cNvSpPr>
              <a:spLocks noChangeShapeType="1"/>
            </p:cNvSpPr>
            <p:nvPr/>
          </p:nvSpPr>
          <p:spPr bwMode="auto">
            <a:xfrm>
              <a:off x="4254344" y="2610355"/>
              <a:ext cx="0" cy="9718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9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486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环形、扭环形</a:t>
            </a:r>
            <a:r>
              <a:rPr kumimoji="1" lang="zh-CN" kern="1200" noProof="0" dirty="0">
                <a:cs typeface="+mn-cs"/>
                <a:sym typeface="+mn-ea"/>
              </a:rPr>
              <a:t>计数器总结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8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特点</a:t>
            </a:r>
            <a:r>
              <a:rPr kumimoji="1" lang="en-US" altLang="zh-CN" sz="28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:</a:t>
            </a:r>
            <a:r>
              <a:rPr kumimoji="1" lang="zh-CN" altLang="en-US" sz="28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在移位寄存器的基础上，增加反馈逻辑电路</a:t>
            </a:r>
          </a:p>
          <a:p>
            <a:pPr marR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8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用途：</a:t>
            </a:r>
          </a:p>
          <a:p>
            <a:pPr marR="0" lvl="1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4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构成</a:t>
            </a:r>
            <a:r>
              <a:rPr kumimoji="1" lang="zh-CN" altLang="en-US" sz="2400" b="1" kern="1200" noProof="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特殊编码</a:t>
            </a:r>
            <a:r>
              <a:rPr kumimoji="1" lang="zh-CN" altLang="en-US" sz="24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的计数器（非二进制计数器）</a:t>
            </a:r>
          </a:p>
          <a:p>
            <a:pPr marR="0" lvl="1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1" lang="zh-CN" altLang="en-US" sz="2400" kern="1200" noProof="0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在计算机中可用于组成时序信号发生器（节拍发生器）</a:t>
            </a:r>
          </a:p>
        </p:txBody>
      </p:sp>
      <p:grpSp>
        <p:nvGrpSpPr>
          <p:cNvPr id="491" name="组合 5"/>
          <p:cNvGrpSpPr/>
          <p:nvPr/>
        </p:nvGrpSpPr>
        <p:grpSpPr>
          <a:xfrm>
            <a:off x="5076825" y="2243455"/>
            <a:ext cx="3311525" cy="1184275"/>
            <a:chOff x="937692" y="3047231"/>
            <a:chExt cx="3311525" cy="1183824"/>
          </a:xfrm>
        </p:grpSpPr>
        <p:grpSp>
          <p:nvGrpSpPr>
            <p:cNvPr id="492" name="Group 19"/>
            <p:cNvGrpSpPr/>
            <p:nvPr/>
          </p:nvGrpSpPr>
          <p:grpSpPr bwMode="auto">
            <a:xfrm>
              <a:off x="971600" y="3435846"/>
              <a:ext cx="3248865" cy="748773"/>
              <a:chOff x="576" y="819"/>
              <a:chExt cx="3951" cy="713"/>
            </a:xfrm>
            <a:solidFill>
              <a:srgbClr val="99FF99"/>
            </a:solidFill>
          </p:grpSpPr>
          <p:sp>
            <p:nvSpPr>
              <p:cNvPr id="1050635" name="Oval 20"/>
              <p:cNvSpPr>
                <a:spLocks noChangeArrowheads="1"/>
              </p:cNvSpPr>
              <p:nvPr/>
            </p:nvSpPr>
            <p:spPr bwMode="auto">
              <a:xfrm>
                <a:off x="576" y="835"/>
                <a:ext cx="690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0000</a:t>
                </a:r>
              </a:p>
            </p:txBody>
          </p:sp>
          <p:sp>
            <p:nvSpPr>
              <p:cNvPr id="1050636" name="Oval 21"/>
              <p:cNvSpPr>
                <a:spLocks noChangeArrowheads="1"/>
              </p:cNvSpPr>
              <p:nvPr/>
            </p:nvSpPr>
            <p:spPr bwMode="auto">
              <a:xfrm>
                <a:off x="1662" y="838"/>
                <a:ext cx="705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1000</a:t>
                </a:r>
              </a:p>
            </p:txBody>
          </p:sp>
          <p:sp>
            <p:nvSpPr>
              <p:cNvPr id="1050637" name="Oval 22"/>
              <p:cNvSpPr>
                <a:spLocks noChangeArrowheads="1"/>
              </p:cNvSpPr>
              <p:nvPr/>
            </p:nvSpPr>
            <p:spPr bwMode="auto">
              <a:xfrm>
                <a:off x="1675" y="1288"/>
                <a:ext cx="690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0011</a:t>
                </a:r>
              </a:p>
            </p:txBody>
          </p:sp>
          <p:sp>
            <p:nvSpPr>
              <p:cNvPr id="1050638" name="Oval 23"/>
              <p:cNvSpPr>
                <a:spLocks noChangeArrowheads="1"/>
              </p:cNvSpPr>
              <p:nvPr/>
            </p:nvSpPr>
            <p:spPr bwMode="auto">
              <a:xfrm>
                <a:off x="591" y="1303"/>
                <a:ext cx="737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0001</a:t>
                </a:r>
              </a:p>
            </p:txBody>
          </p:sp>
          <p:sp>
            <p:nvSpPr>
              <p:cNvPr id="1050639" name="Line 24"/>
              <p:cNvSpPr>
                <a:spLocks noChangeShapeType="1"/>
              </p:cNvSpPr>
              <p:nvPr/>
            </p:nvSpPr>
            <p:spPr bwMode="auto">
              <a:xfrm>
                <a:off x="1301" y="935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40" name="Line 25"/>
              <p:cNvSpPr>
                <a:spLocks noChangeShapeType="1"/>
              </p:cNvSpPr>
              <p:nvPr/>
            </p:nvSpPr>
            <p:spPr bwMode="auto">
              <a:xfrm flipH="1">
                <a:off x="1330" y="1428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41" name="Line 26"/>
              <p:cNvSpPr>
                <a:spLocks noChangeShapeType="1"/>
              </p:cNvSpPr>
              <p:nvPr/>
            </p:nvSpPr>
            <p:spPr bwMode="auto">
              <a:xfrm flipV="1">
                <a:off x="921" y="1083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42" name="Oval 27"/>
              <p:cNvSpPr>
                <a:spLocks noChangeArrowheads="1"/>
              </p:cNvSpPr>
              <p:nvPr/>
            </p:nvSpPr>
            <p:spPr bwMode="auto">
              <a:xfrm>
                <a:off x="2736" y="819"/>
                <a:ext cx="690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1100</a:t>
                </a:r>
              </a:p>
            </p:txBody>
          </p:sp>
          <p:sp>
            <p:nvSpPr>
              <p:cNvPr id="1050643" name="Oval 28"/>
              <p:cNvSpPr>
                <a:spLocks noChangeArrowheads="1"/>
              </p:cNvSpPr>
              <p:nvPr/>
            </p:nvSpPr>
            <p:spPr bwMode="auto">
              <a:xfrm>
                <a:off x="3822" y="822"/>
                <a:ext cx="705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1110</a:t>
                </a:r>
              </a:p>
            </p:txBody>
          </p:sp>
          <p:sp>
            <p:nvSpPr>
              <p:cNvPr id="1050644" name="Oval 29"/>
              <p:cNvSpPr>
                <a:spLocks noChangeArrowheads="1"/>
              </p:cNvSpPr>
              <p:nvPr/>
            </p:nvSpPr>
            <p:spPr bwMode="auto">
              <a:xfrm>
                <a:off x="3824" y="1288"/>
                <a:ext cx="690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1111</a:t>
                </a:r>
              </a:p>
            </p:txBody>
          </p:sp>
          <p:sp>
            <p:nvSpPr>
              <p:cNvPr id="1050645" name="Oval 30"/>
              <p:cNvSpPr>
                <a:spLocks noChangeArrowheads="1"/>
              </p:cNvSpPr>
              <p:nvPr/>
            </p:nvSpPr>
            <p:spPr bwMode="auto">
              <a:xfrm>
                <a:off x="2751" y="1314"/>
                <a:ext cx="737" cy="218"/>
              </a:xfrm>
              <a:prstGeom prst="ellipse">
                <a:avLst/>
              </a:prstGeom>
              <a:grpFill/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rPr>
                  <a:t>0111</a:t>
                </a:r>
              </a:p>
            </p:txBody>
          </p:sp>
          <p:sp>
            <p:nvSpPr>
              <p:cNvPr id="1050646" name="Line 31"/>
              <p:cNvSpPr>
                <a:spLocks noChangeShapeType="1"/>
              </p:cNvSpPr>
              <p:nvPr/>
            </p:nvSpPr>
            <p:spPr bwMode="auto">
              <a:xfrm>
                <a:off x="3472" y="919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47" name="Line 32"/>
              <p:cNvSpPr>
                <a:spLocks noChangeShapeType="1"/>
              </p:cNvSpPr>
              <p:nvPr/>
            </p:nvSpPr>
            <p:spPr bwMode="auto">
              <a:xfrm>
                <a:off x="4166" y="1058"/>
                <a:ext cx="0" cy="206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48" name="Line 33"/>
              <p:cNvSpPr>
                <a:spLocks noChangeShapeType="1"/>
              </p:cNvSpPr>
              <p:nvPr/>
            </p:nvSpPr>
            <p:spPr bwMode="auto">
              <a:xfrm flipH="1">
                <a:off x="3490" y="1394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49" name="Line 34"/>
              <p:cNvSpPr>
                <a:spLocks noChangeShapeType="1"/>
              </p:cNvSpPr>
              <p:nvPr/>
            </p:nvSpPr>
            <p:spPr bwMode="auto">
              <a:xfrm>
                <a:off x="2387" y="921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650" name="Line 35"/>
              <p:cNvSpPr>
                <a:spLocks noChangeShapeType="1"/>
              </p:cNvSpPr>
              <p:nvPr/>
            </p:nvSpPr>
            <p:spPr bwMode="auto">
              <a:xfrm flipH="1">
                <a:off x="2390" y="1408"/>
                <a:ext cx="306" cy="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0651" name="圆角矩形 131"/>
            <p:cNvSpPr/>
            <p:nvPr/>
          </p:nvSpPr>
          <p:spPr>
            <a:xfrm>
              <a:off x="937692" y="3187055"/>
              <a:ext cx="3311525" cy="1044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652" name="Text Box 13"/>
            <p:cNvSpPr txBox="1"/>
            <p:nvPr/>
          </p:nvSpPr>
          <p:spPr>
            <a:xfrm>
              <a:off x="1353741" y="3047231"/>
              <a:ext cx="2319412" cy="30777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扭环形计数器常用状态图</a:t>
              </a:r>
            </a:p>
          </p:txBody>
        </p:sp>
      </p:grpSp>
      <p:grpSp>
        <p:nvGrpSpPr>
          <p:cNvPr id="493" name="组合 134"/>
          <p:cNvGrpSpPr/>
          <p:nvPr/>
        </p:nvGrpSpPr>
        <p:grpSpPr>
          <a:xfrm>
            <a:off x="971550" y="2246630"/>
            <a:ext cx="3311525" cy="1181100"/>
            <a:chOff x="539552" y="3529750"/>
            <a:chExt cx="3312368" cy="1180237"/>
          </a:xfrm>
        </p:grpSpPr>
        <p:grpSp>
          <p:nvGrpSpPr>
            <p:cNvPr id="494" name="组合 79"/>
            <p:cNvGrpSpPr/>
            <p:nvPr/>
          </p:nvGrpSpPr>
          <p:grpSpPr>
            <a:xfrm>
              <a:off x="607690" y="3928557"/>
              <a:ext cx="1444030" cy="731425"/>
              <a:chOff x="2627784" y="472023"/>
              <a:chExt cx="1444030" cy="767815"/>
            </a:xfrm>
          </p:grpSpPr>
          <p:grpSp>
            <p:nvGrpSpPr>
              <p:cNvPr id="495" name="Group 4"/>
              <p:cNvGrpSpPr/>
              <p:nvPr/>
            </p:nvGrpSpPr>
            <p:grpSpPr>
              <a:xfrm>
                <a:off x="2627784" y="472023"/>
                <a:ext cx="1444030" cy="767815"/>
                <a:chOff x="528" y="527"/>
                <a:chExt cx="1149" cy="774"/>
              </a:xfrm>
            </p:grpSpPr>
            <p:sp>
              <p:nvSpPr>
                <p:cNvPr id="1050653" name="Oval 5"/>
                <p:cNvSpPr/>
                <p:nvPr/>
              </p:nvSpPr>
              <p:spPr>
                <a:xfrm>
                  <a:off x="528" y="527"/>
                  <a:ext cx="462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1000</a:t>
                  </a:r>
                </a:p>
              </p:txBody>
            </p:sp>
            <p:sp>
              <p:nvSpPr>
                <p:cNvPr id="1050654" name="Oval 6"/>
                <p:cNvSpPr/>
                <p:nvPr/>
              </p:nvSpPr>
              <p:spPr>
                <a:xfrm>
                  <a:off x="1219" y="552"/>
                  <a:ext cx="458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0100</a:t>
                  </a:r>
                </a:p>
              </p:txBody>
            </p:sp>
            <p:sp>
              <p:nvSpPr>
                <p:cNvPr id="1050655" name="Oval 7"/>
                <p:cNvSpPr/>
                <p:nvPr/>
              </p:nvSpPr>
              <p:spPr>
                <a:xfrm>
                  <a:off x="1219" y="1026"/>
                  <a:ext cx="458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0010</a:t>
                  </a:r>
                </a:p>
              </p:txBody>
            </p:sp>
            <p:sp>
              <p:nvSpPr>
                <p:cNvPr id="1050656" name="Oval 8"/>
                <p:cNvSpPr/>
                <p:nvPr/>
              </p:nvSpPr>
              <p:spPr>
                <a:xfrm>
                  <a:off x="531" y="1026"/>
                  <a:ext cx="458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0001</a:t>
                  </a:r>
                </a:p>
              </p:txBody>
            </p:sp>
            <p:sp>
              <p:nvSpPr>
                <p:cNvPr id="1050657" name="Line 9"/>
                <p:cNvSpPr>
                  <a:spLocks noChangeShapeType="1"/>
                </p:cNvSpPr>
                <p:nvPr/>
              </p:nvSpPr>
              <p:spPr bwMode="auto">
                <a:xfrm>
                  <a:off x="1017" y="674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0658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997" y="1178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0659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754" y="827"/>
                  <a:ext cx="0" cy="19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050660" name="Line 12"/>
              <p:cNvSpPr/>
              <p:nvPr/>
            </p:nvSpPr>
            <p:spPr>
              <a:xfrm flipV="1">
                <a:off x="3784062" y="771552"/>
                <a:ext cx="0" cy="188955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</p:grpSp>
        <p:grpSp>
          <p:nvGrpSpPr>
            <p:cNvPr id="496" name="组合 99"/>
            <p:cNvGrpSpPr/>
            <p:nvPr/>
          </p:nvGrpSpPr>
          <p:grpSpPr>
            <a:xfrm>
              <a:off x="2263874" y="3928557"/>
              <a:ext cx="1444030" cy="731425"/>
              <a:chOff x="2627784" y="472023"/>
              <a:chExt cx="1444030" cy="767815"/>
            </a:xfrm>
          </p:grpSpPr>
          <p:grpSp>
            <p:nvGrpSpPr>
              <p:cNvPr id="497" name="Group 4"/>
              <p:cNvGrpSpPr/>
              <p:nvPr/>
            </p:nvGrpSpPr>
            <p:grpSpPr>
              <a:xfrm>
                <a:off x="2627784" y="472023"/>
                <a:ext cx="1444030" cy="767815"/>
                <a:chOff x="528" y="527"/>
                <a:chExt cx="1149" cy="774"/>
              </a:xfrm>
            </p:grpSpPr>
            <p:sp>
              <p:nvSpPr>
                <p:cNvPr id="1050661" name="Oval 5"/>
                <p:cNvSpPr/>
                <p:nvPr/>
              </p:nvSpPr>
              <p:spPr>
                <a:xfrm>
                  <a:off x="528" y="527"/>
                  <a:ext cx="462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1101</a:t>
                  </a:r>
                </a:p>
              </p:txBody>
            </p:sp>
            <p:sp>
              <p:nvSpPr>
                <p:cNvPr id="1050662" name="Oval 6"/>
                <p:cNvSpPr/>
                <p:nvPr/>
              </p:nvSpPr>
              <p:spPr>
                <a:xfrm>
                  <a:off x="1219" y="552"/>
                  <a:ext cx="458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1110</a:t>
                  </a:r>
                </a:p>
              </p:txBody>
            </p:sp>
            <p:sp>
              <p:nvSpPr>
                <p:cNvPr id="1050663" name="Oval 7"/>
                <p:cNvSpPr/>
                <p:nvPr/>
              </p:nvSpPr>
              <p:spPr>
                <a:xfrm>
                  <a:off x="1219" y="1026"/>
                  <a:ext cx="458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0111</a:t>
                  </a:r>
                </a:p>
              </p:txBody>
            </p:sp>
            <p:sp>
              <p:nvSpPr>
                <p:cNvPr id="1050664" name="Oval 8"/>
                <p:cNvSpPr/>
                <p:nvPr/>
              </p:nvSpPr>
              <p:spPr>
                <a:xfrm>
                  <a:off x="531" y="1026"/>
                  <a:ext cx="458" cy="275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200" b="1" dirty="0">
                      <a:latin typeface="Arial" panose="020B0604020202090204" pitchFamily="34" charset="0"/>
                    </a:rPr>
                    <a:t>1011</a:t>
                  </a:r>
                </a:p>
              </p:txBody>
            </p:sp>
            <p:sp>
              <p:nvSpPr>
                <p:cNvPr id="1050665" name="Line 9"/>
                <p:cNvSpPr>
                  <a:spLocks noChangeShapeType="1"/>
                </p:cNvSpPr>
                <p:nvPr/>
              </p:nvSpPr>
              <p:spPr bwMode="auto">
                <a:xfrm>
                  <a:off x="1017" y="674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0666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997" y="1178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0667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754" y="827"/>
                  <a:ext cx="0" cy="19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050668" name="Line 12"/>
              <p:cNvSpPr/>
              <p:nvPr/>
            </p:nvSpPr>
            <p:spPr>
              <a:xfrm flipV="1">
                <a:off x="3784062" y="771552"/>
                <a:ext cx="0" cy="188955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</p:grpSp>
        <p:sp>
          <p:nvSpPr>
            <p:cNvPr id="1050669" name="圆角矩形 131"/>
            <p:cNvSpPr/>
            <p:nvPr/>
          </p:nvSpPr>
          <p:spPr>
            <a:xfrm>
              <a:off x="539552" y="3665609"/>
              <a:ext cx="3312368" cy="1044378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670" name="Text Box 13"/>
            <p:cNvSpPr txBox="1"/>
            <p:nvPr/>
          </p:nvSpPr>
          <p:spPr>
            <a:xfrm>
              <a:off x="1095567" y="3529750"/>
              <a:ext cx="2088764" cy="307888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环形计数器常用状态图</a:t>
              </a:r>
            </a:p>
          </p:txBody>
        </p:sp>
      </p:grpSp>
      <p:grpSp>
        <p:nvGrpSpPr>
          <p:cNvPr id="498" name="组合 226"/>
          <p:cNvGrpSpPr/>
          <p:nvPr/>
        </p:nvGrpSpPr>
        <p:grpSpPr>
          <a:xfrm>
            <a:off x="277813" y="3581718"/>
            <a:ext cx="4333875" cy="1387475"/>
            <a:chOff x="277169" y="2519362"/>
            <a:chExt cx="4335036" cy="1387307"/>
          </a:xfrm>
        </p:grpSpPr>
        <p:sp>
          <p:nvSpPr>
            <p:cNvPr id="1050671" name="Line 61"/>
            <p:cNvSpPr>
              <a:spLocks noChangeShapeType="1"/>
            </p:cNvSpPr>
            <p:nvPr/>
          </p:nvSpPr>
          <p:spPr bwMode="auto">
            <a:xfrm>
              <a:off x="910751" y="2673330"/>
              <a:ext cx="0" cy="1079369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672" name="Line 62"/>
            <p:cNvSpPr/>
            <p:nvPr/>
          </p:nvSpPr>
          <p:spPr>
            <a:xfrm>
              <a:off x="1377306" y="2681287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673" name="Line 63"/>
            <p:cNvSpPr/>
            <p:nvPr/>
          </p:nvSpPr>
          <p:spPr>
            <a:xfrm>
              <a:off x="1839268" y="2676525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674" name="Line 65"/>
            <p:cNvSpPr/>
            <p:nvPr/>
          </p:nvSpPr>
          <p:spPr>
            <a:xfrm>
              <a:off x="2299643" y="2652712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675" name="Text Box 67"/>
            <p:cNvSpPr txBox="1">
              <a:spLocks noChangeArrowheads="1"/>
            </p:cNvSpPr>
            <p:nvPr/>
          </p:nvSpPr>
          <p:spPr bwMode="auto">
            <a:xfrm>
              <a:off x="277169" y="2519362"/>
              <a:ext cx="431916" cy="2777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</a:p>
          </p:txBody>
        </p:sp>
        <p:sp>
          <p:nvSpPr>
            <p:cNvPr id="1050676" name="Text Box 68"/>
            <p:cNvSpPr txBox="1">
              <a:spLocks noChangeArrowheads="1"/>
            </p:cNvSpPr>
            <p:nvPr/>
          </p:nvSpPr>
          <p:spPr bwMode="auto">
            <a:xfrm>
              <a:off x="283521" y="2808252"/>
              <a:ext cx="450971" cy="2777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0677" name="Text Box 69"/>
            <p:cNvSpPr txBox="1">
              <a:spLocks noChangeArrowheads="1"/>
            </p:cNvSpPr>
            <p:nvPr/>
          </p:nvSpPr>
          <p:spPr bwMode="auto">
            <a:xfrm>
              <a:off x="307339" y="3366984"/>
              <a:ext cx="450971" cy="27619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499" name="Group 70"/>
            <p:cNvGrpSpPr/>
            <p:nvPr/>
          </p:nvGrpSpPr>
          <p:grpSpPr>
            <a:xfrm>
              <a:off x="683568" y="2571750"/>
              <a:ext cx="2074863" cy="152400"/>
              <a:chOff x="480" y="2160"/>
              <a:chExt cx="2160" cy="240"/>
            </a:xfrm>
          </p:grpSpPr>
          <p:sp>
            <p:nvSpPr>
              <p:cNvPr id="1050678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79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0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681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2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3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4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685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6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7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88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689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90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91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92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693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94" name="Line 87"/>
              <p:cNvSpPr/>
              <p:nvPr/>
            </p:nvSpPr>
            <p:spPr>
              <a:xfrm>
                <a:off x="48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695" name="Text Box 90"/>
            <p:cNvSpPr txBox="1">
              <a:spLocks noChangeArrowheads="1"/>
            </p:cNvSpPr>
            <p:nvPr/>
          </p:nvSpPr>
          <p:spPr bwMode="auto">
            <a:xfrm>
              <a:off x="288284" y="3084444"/>
              <a:ext cx="450971" cy="2777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696" name="Text Box 178"/>
            <p:cNvSpPr txBox="1">
              <a:spLocks noChangeArrowheads="1"/>
            </p:cNvSpPr>
            <p:nvPr/>
          </p:nvSpPr>
          <p:spPr bwMode="auto">
            <a:xfrm>
              <a:off x="305752" y="3628890"/>
              <a:ext cx="377926" cy="27777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grpSp>
          <p:nvGrpSpPr>
            <p:cNvPr id="500" name="Group 70"/>
            <p:cNvGrpSpPr/>
            <p:nvPr/>
          </p:nvGrpSpPr>
          <p:grpSpPr>
            <a:xfrm>
              <a:off x="2753325" y="2568600"/>
              <a:ext cx="1844323" cy="152400"/>
              <a:chOff x="720" y="2160"/>
              <a:chExt cx="1920" cy="240"/>
            </a:xfrm>
          </p:grpSpPr>
          <p:sp>
            <p:nvSpPr>
              <p:cNvPr id="1050697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98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699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00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1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2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3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04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5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6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7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08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09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10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11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12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01" name="组合 93"/>
            <p:cNvGrpSpPr/>
            <p:nvPr/>
          </p:nvGrpSpPr>
          <p:grpSpPr>
            <a:xfrm>
              <a:off x="651818" y="2871485"/>
              <a:ext cx="3945812" cy="124529"/>
              <a:chOff x="482154" y="2605653"/>
              <a:chExt cx="3945812" cy="124529"/>
            </a:xfrm>
          </p:grpSpPr>
          <p:grpSp>
            <p:nvGrpSpPr>
              <p:cNvPr id="502" name="Group 91"/>
              <p:cNvGrpSpPr/>
              <p:nvPr/>
            </p:nvGrpSpPr>
            <p:grpSpPr>
              <a:xfrm>
                <a:off x="482154" y="2606671"/>
                <a:ext cx="1634704" cy="123511"/>
                <a:chOff x="448" y="2592"/>
                <a:chExt cx="1702" cy="194"/>
              </a:xfrm>
            </p:grpSpPr>
            <p:sp>
              <p:nvSpPr>
                <p:cNvPr id="1050713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14" name="Line 93"/>
                <p:cNvSpPr/>
                <p:nvPr/>
              </p:nvSpPr>
              <p:spPr>
                <a:xfrm>
                  <a:off x="1203" y="2784"/>
                  <a:ext cx="49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15" name="Line 94"/>
                <p:cNvSpPr/>
                <p:nvPr/>
              </p:nvSpPr>
              <p:spPr>
                <a:xfrm>
                  <a:off x="72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16" name="Line 95"/>
                <p:cNvSpPr/>
                <p:nvPr/>
              </p:nvSpPr>
              <p:spPr>
                <a:xfrm flipH="1">
                  <a:off x="448" y="278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17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18" name="Line 98"/>
                <p:cNvSpPr/>
                <p:nvPr/>
              </p:nvSpPr>
              <p:spPr>
                <a:xfrm flipH="1">
                  <a:off x="1678" y="2786"/>
                  <a:ext cx="47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03" name="Group 91"/>
              <p:cNvGrpSpPr/>
              <p:nvPr/>
            </p:nvGrpSpPr>
            <p:grpSpPr>
              <a:xfrm>
                <a:off x="2123828" y="2605653"/>
                <a:ext cx="2304138" cy="122238"/>
                <a:chOff x="448" y="2592"/>
                <a:chExt cx="2399" cy="192"/>
              </a:xfrm>
            </p:grpSpPr>
            <p:sp>
              <p:nvSpPr>
                <p:cNvPr id="1050719" name="Line 92"/>
                <p:cNvSpPr/>
                <p:nvPr/>
              </p:nvSpPr>
              <p:spPr>
                <a:xfrm>
                  <a:off x="93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20" name="Line 93"/>
                <p:cNvSpPr/>
                <p:nvPr/>
              </p:nvSpPr>
              <p:spPr>
                <a:xfrm>
                  <a:off x="1423" y="2784"/>
                  <a:ext cx="1424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21" name="Line 94"/>
                <p:cNvSpPr/>
                <p:nvPr/>
              </p:nvSpPr>
              <p:spPr>
                <a:xfrm>
                  <a:off x="93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22" name="Line 95"/>
                <p:cNvSpPr/>
                <p:nvPr/>
              </p:nvSpPr>
              <p:spPr>
                <a:xfrm flipH="1">
                  <a:off x="448" y="2784"/>
                  <a:ext cx="487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23" name="Line 96"/>
                <p:cNvSpPr/>
                <p:nvPr/>
              </p:nvSpPr>
              <p:spPr>
                <a:xfrm>
                  <a:off x="141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04" name="组合 107"/>
            <p:cNvGrpSpPr/>
            <p:nvPr/>
          </p:nvGrpSpPr>
          <p:grpSpPr>
            <a:xfrm>
              <a:off x="655824" y="3140463"/>
              <a:ext cx="3956381" cy="124528"/>
              <a:chOff x="16329" y="2605654"/>
              <a:chExt cx="3956381" cy="124528"/>
            </a:xfrm>
          </p:grpSpPr>
          <p:grpSp>
            <p:nvGrpSpPr>
              <p:cNvPr id="505" name="Group 91"/>
              <p:cNvGrpSpPr/>
              <p:nvPr/>
            </p:nvGrpSpPr>
            <p:grpSpPr>
              <a:xfrm>
                <a:off x="16329" y="2606671"/>
                <a:ext cx="2583645" cy="123511"/>
                <a:chOff x="-37" y="2592"/>
                <a:chExt cx="2690" cy="194"/>
              </a:xfrm>
            </p:grpSpPr>
            <p:sp>
              <p:nvSpPr>
                <p:cNvPr id="1050724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25" name="Line 93"/>
                <p:cNvSpPr/>
                <p:nvPr/>
              </p:nvSpPr>
              <p:spPr>
                <a:xfrm>
                  <a:off x="1203" y="2784"/>
                  <a:ext cx="49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26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27" name="Line 95"/>
                <p:cNvSpPr/>
                <p:nvPr/>
              </p:nvSpPr>
              <p:spPr>
                <a:xfrm flipH="1">
                  <a:off x="-37" y="2784"/>
                  <a:ext cx="75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28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29" name="Line 98"/>
                <p:cNvSpPr/>
                <p:nvPr/>
              </p:nvSpPr>
              <p:spPr>
                <a:xfrm flipH="1">
                  <a:off x="1678" y="2786"/>
                  <a:ext cx="975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06" name="Group 91"/>
              <p:cNvGrpSpPr/>
              <p:nvPr/>
            </p:nvGrpSpPr>
            <p:grpSpPr>
              <a:xfrm>
                <a:off x="2593493" y="2605654"/>
                <a:ext cx="1379217" cy="122238"/>
                <a:chOff x="937" y="2592"/>
                <a:chExt cx="1436" cy="192"/>
              </a:xfrm>
            </p:grpSpPr>
            <p:sp>
              <p:nvSpPr>
                <p:cNvPr id="1050730" name="Line 92"/>
                <p:cNvSpPr/>
                <p:nvPr/>
              </p:nvSpPr>
              <p:spPr>
                <a:xfrm>
                  <a:off x="937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31" name="Line 93"/>
                <p:cNvSpPr/>
                <p:nvPr/>
              </p:nvSpPr>
              <p:spPr>
                <a:xfrm>
                  <a:off x="1413" y="2784"/>
                  <a:ext cx="96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507" name="组合 118"/>
            <p:cNvGrpSpPr/>
            <p:nvPr/>
          </p:nvGrpSpPr>
          <p:grpSpPr>
            <a:xfrm>
              <a:off x="665360" y="3370644"/>
              <a:ext cx="3941981" cy="124536"/>
              <a:chOff x="-428368" y="2604377"/>
              <a:chExt cx="3941981" cy="124536"/>
            </a:xfrm>
          </p:grpSpPr>
          <p:grpSp>
            <p:nvGrpSpPr>
              <p:cNvPr id="508" name="Group 91"/>
              <p:cNvGrpSpPr/>
              <p:nvPr/>
            </p:nvGrpSpPr>
            <p:grpSpPr>
              <a:xfrm>
                <a:off x="-428368" y="2606675"/>
                <a:ext cx="3025462" cy="122238"/>
                <a:chOff x="-500" y="2592"/>
                <a:chExt cx="3150" cy="192"/>
              </a:xfrm>
            </p:grpSpPr>
            <p:sp>
              <p:nvSpPr>
                <p:cNvPr id="1050732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33" name="Line 93"/>
                <p:cNvSpPr/>
                <p:nvPr/>
              </p:nvSpPr>
              <p:spPr>
                <a:xfrm>
                  <a:off x="1203" y="2784"/>
                  <a:ext cx="1447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34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35" name="Line 95"/>
                <p:cNvSpPr/>
                <p:nvPr/>
              </p:nvSpPr>
              <p:spPr>
                <a:xfrm flipH="1">
                  <a:off x="-500" y="2784"/>
                  <a:ext cx="122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36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09" name="Group 91"/>
              <p:cNvGrpSpPr/>
              <p:nvPr/>
            </p:nvGrpSpPr>
            <p:grpSpPr>
              <a:xfrm>
                <a:off x="2588690" y="2604377"/>
                <a:ext cx="924923" cy="123511"/>
                <a:chOff x="932" y="2590"/>
                <a:chExt cx="963" cy="194"/>
              </a:xfrm>
            </p:grpSpPr>
            <p:sp>
              <p:nvSpPr>
                <p:cNvPr id="1050737" name="Line 92"/>
                <p:cNvSpPr/>
                <p:nvPr/>
              </p:nvSpPr>
              <p:spPr>
                <a:xfrm>
                  <a:off x="932" y="2590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38" name="Line 93"/>
                <p:cNvSpPr/>
                <p:nvPr/>
              </p:nvSpPr>
              <p:spPr>
                <a:xfrm>
                  <a:off x="1423" y="2784"/>
                  <a:ext cx="472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39" name="Line 96"/>
                <p:cNvSpPr/>
                <p:nvPr/>
              </p:nvSpPr>
              <p:spPr>
                <a:xfrm>
                  <a:off x="940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10" name="组合 129"/>
            <p:cNvGrpSpPr/>
            <p:nvPr/>
          </p:nvGrpSpPr>
          <p:grpSpPr>
            <a:xfrm>
              <a:off x="682567" y="3640901"/>
              <a:ext cx="3927577" cy="123259"/>
              <a:chOff x="-881707" y="2605654"/>
              <a:chExt cx="3927577" cy="123259"/>
            </a:xfrm>
          </p:grpSpPr>
          <p:grpSp>
            <p:nvGrpSpPr>
              <p:cNvPr id="511" name="Group 91"/>
              <p:cNvGrpSpPr/>
              <p:nvPr/>
            </p:nvGrpSpPr>
            <p:grpSpPr>
              <a:xfrm>
                <a:off x="-881707" y="2606675"/>
                <a:ext cx="3468235" cy="122238"/>
                <a:chOff x="-972" y="2592"/>
                <a:chExt cx="3611" cy="192"/>
              </a:xfrm>
            </p:grpSpPr>
            <p:sp>
              <p:nvSpPr>
                <p:cNvPr id="1050740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41" name="Line 93"/>
                <p:cNvSpPr/>
                <p:nvPr/>
              </p:nvSpPr>
              <p:spPr>
                <a:xfrm>
                  <a:off x="1203" y="2784"/>
                  <a:ext cx="143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42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43" name="Line 95"/>
                <p:cNvSpPr/>
                <p:nvPr/>
              </p:nvSpPr>
              <p:spPr>
                <a:xfrm flipH="1">
                  <a:off x="-972" y="2784"/>
                  <a:ext cx="1687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44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12" name="Group 91"/>
              <p:cNvGrpSpPr/>
              <p:nvPr/>
            </p:nvGrpSpPr>
            <p:grpSpPr>
              <a:xfrm>
                <a:off x="2588691" y="2605654"/>
                <a:ext cx="457179" cy="122238"/>
                <a:chOff x="932" y="2592"/>
                <a:chExt cx="476" cy="192"/>
              </a:xfrm>
            </p:grpSpPr>
            <p:sp>
              <p:nvSpPr>
                <p:cNvPr id="1050745" name="Line 92"/>
                <p:cNvSpPr/>
                <p:nvPr/>
              </p:nvSpPr>
              <p:spPr>
                <a:xfrm>
                  <a:off x="93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46" name="Line 94"/>
                <p:cNvSpPr/>
                <p:nvPr/>
              </p:nvSpPr>
              <p:spPr>
                <a:xfrm>
                  <a:off x="93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050747" name="Line 97"/>
            <p:cNvSpPr/>
            <p:nvPr/>
          </p:nvSpPr>
          <p:spPr>
            <a:xfrm>
              <a:off x="3229818" y="3149998"/>
              <a:ext cx="0" cy="108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748" name="Line 97"/>
            <p:cNvSpPr/>
            <p:nvPr/>
          </p:nvSpPr>
          <p:spPr>
            <a:xfrm>
              <a:off x="3690443" y="3144669"/>
              <a:ext cx="0" cy="108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749" name="Line 96"/>
            <p:cNvSpPr/>
            <p:nvPr/>
          </p:nvSpPr>
          <p:spPr>
            <a:xfrm>
              <a:off x="4156395" y="3370782"/>
              <a:ext cx="0" cy="12223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0750" name="Line 61"/>
            <p:cNvSpPr>
              <a:spLocks noChangeShapeType="1"/>
            </p:cNvSpPr>
            <p:nvPr/>
          </p:nvSpPr>
          <p:spPr bwMode="auto">
            <a:xfrm>
              <a:off x="2762272" y="2657457"/>
              <a:ext cx="0" cy="108095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751" name="Line 62"/>
            <p:cNvSpPr/>
            <p:nvPr/>
          </p:nvSpPr>
          <p:spPr>
            <a:xfrm>
              <a:off x="3229298" y="2665560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752" name="Line 63"/>
            <p:cNvSpPr/>
            <p:nvPr/>
          </p:nvSpPr>
          <p:spPr>
            <a:xfrm>
              <a:off x="3691260" y="2660798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753" name="Line 65"/>
            <p:cNvSpPr/>
            <p:nvPr/>
          </p:nvSpPr>
          <p:spPr>
            <a:xfrm>
              <a:off x="4151635" y="2636985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</p:grpSp>
      <p:grpSp>
        <p:nvGrpSpPr>
          <p:cNvPr id="513" name="组合 146"/>
          <p:cNvGrpSpPr/>
          <p:nvPr/>
        </p:nvGrpSpPr>
        <p:grpSpPr>
          <a:xfrm>
            <a:off x="4678363" y="3562668"/>
            <a:ext cx="4352925" cy="1387475"/>
            <a:chOff x="395536" y="2427734"/>
            <a:chExt cx="4354056" cy="1387307"/>
          </a:xfrm>
        </p:grpSpPr>
        <p:sp>
          <p:nvSpPr>
            <p:cNvPr id="1050754" name="Text Box 67"/>
            <p:cNvSpPr txBox="1">
              <a:spLocks noChangeArrowheads="1"/>
            </p:cNvSpPr>
            <p:nvPr/>
          </p:nvSpPr>
          <p:spPr bwMode="auto">
            <a:xfrm>
              <a:off x="395536" y="2427734"/>
              <a:ext cx="431912" cy="2777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</a:p>
          </p:txBody>
        </p:sp>
        <p:sp>
          <p:nvSpPr>
            <p:cNvPr id="1050755" name="Text Box 68"/>
            <p:cNvSpPr txBox="1">
              <a:spLocks noChangeArrowheads="1"/>
            </p:cNvSpPr>
            <p:nvPr/>
          </p:nvSpPr>
          <p:spPr bwMode="auto">
            <a:xfrm>
              <a:off x="401888" y="2716624"/>
              <a:ext cx="450967" cy="2777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0756" name="Text Box 69"/>
            <p:cNvSpPr txBox="1">
              <a:spLocks noChangeArrowheads="1"/>
            </p:cNvSpPr>
            <p:nvPr/>
          </p:nvSpPr>
          <p:spPr bwMode="auto">
            <a:xfrm>
              <a:off x="425706" y="3275356"/>
              <a:ext cx="450967" cy="27619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514" name="Group 70"/>
            <p:cNvGrpSpPr/>
            <p:nvPr/>
          </p:nvGrpSpPr>
          <p:grpSpPr>
            <a:xfrm>
              <a:off x="801935" y="2480122"/>
              <a:ext cx="2074863" cy="152400"/>
              <a:chOff x="480" y="2160"/>
              <a:chExt cx="2160" cy="240"/>
            </a:xfrm>
          </p:grpSpPr>
          <p:sp>
            <p:nvSpPr>
              <p:cNvPr id="1050757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58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59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60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1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2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3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64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5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6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7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68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69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70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71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72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73" name="Line 87"/>
              <p:cNvSpPr/>
              <p:nvPr/>
            </p:nvSpPr>
            <p:spPr>
              <a:xfrm>
                <a:off x="48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774" name="Text Box 90"/>
            <p:cNvSpPr txBox="1">
              <a:spLocks noChangeArrowheads="1"/>
            </p:cNvSpPr>
            <p:nvPr/>
          </p:nvSpPr>
          <p:spPr bwMode="auto">
            <a:xfrm>
              <a:off x="406651" y="2992816"/>
              <a:ext cx="450967" cy="2777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775" name="Text Box 178"/>
            <p:cNvSpPr txBox="1">
              <a:spLocks noChangeArrowheads="1"/>
            </p:cNvSpPr>
            <p:nvPr/>
          </p:nvSpPr>
          <p:spPr bwMode="auto">
            <a:xfrm>
              <a:off x="424118" y="3537262"/>
              <a:ext cx="377923" cy="27777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grpSp>
          <p:nvGrpSpPr>
            <p:cNvPr id="515" name="Group 70"/>
            <p:cNvGrpSpPr/>
            <p:nvPr/>
          </p:nvGrpSpPr>
          <p:grpSpPr>
            <a:xfrm>
              <a:off x="2871692" y="2476972"/>
              <a:ext cx="1844323" cy="152400"/>
              <a:chOff x="720" y="2160"/>
              <a:chExt cx="1920" cy="240"/>
            </a:xfrm>
          </p:grpSpPr>
          <p:sp>
            <p:nvSpPr>
              <p:cNvPr id="1050776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77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78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79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0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1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2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83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4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5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6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87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8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89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90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791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16" name="组合 557"/>
            <p:cNvGrpSpPr/>
            <p:nvPr/>
          </p:nvGrpSpPr>
          <p:grpSpPr>
            <a:xfrm>
              <a:off x="794016" y="2779270"/>
              <a:ext cx="3922736" cy="133468"/>
              <a:chOff x="794016" y="2779270"/>
              <a:chExt cx="3922736" cy="133468"/>
            </a:xfrm>
          </p:grpSpPr>
          <p:grpSp>
            <p:nvGrpSpPr>
              <p:cNvPr id="517" name="Group 91"/>
              <p:cNvGrpSpPr/>
              <p:nvPr/>
            </p:nvGrpSpPr>
            <p:grpSpPr>
              <a:xfrm>
                <a:off x="1030491" y="2779270"/>
                <a:ext cx="3686261" cy="122238"/>
                <a:chOff x="-733" y="2592"/>
                <a:chExt cx="3838" cy="192"/>
              </a:xfrm>
            </p:grpSpPr>
            <p:sp>
              <p:nvSpPr>
                <p:cNvPr id="1050792" name="Line 92"/>
                <p:cNvSpPr/>
                <p:nvPr/>
              </p:nvSpPr>
              <p:spPr>
                <a:xfrm>
                  <a:off x="1193" y="2780"/>
                  <a:ext cx="1912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793" name="Line 94"/>
                <p:cNvSpPr/>
                <p:nvPr/>
              </p:nvSpPr>
              <p:spPr>
                <a:xfrm>
                  <a:off x="1190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794" name="Line 95"/>
                <p:cNvSpPr/>
                <p:nvPr/>
              </p:nvSpPr>
              <p:spPr>
                <a:xfrm flipH="1">
                  <a:off x="-733" y="2605"/>
                  <a:ext cx="191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795" name="Line 74"/>
              <p:cNvSpPr/>
              <p:nvPr/>
            </p:nvSpPr>
            <p:spPr>
              <a:xfrm>
                <a:off x="794016" y="2912738"/>
                <a:ext cx="252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796" name="Line 94"/>
              <p:cNvSpPr/>
              <p:nvPr/>
            </p:nvSpPr>
            <p:spPr>
              <a:xfrm>
                <a:off x="1038845" y="2787774"/>
                <a:ext cx="0" cy="12223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797" name="Line 61"/>
            <p:cNvSpPr>
              <a:spLocks noChangeShapeType="1"/>
            </p:cNvSpPr>
            <p:nvPr/>
          </p:nvSpPr>
          <p:spPr bwMode="auto">
            <a:xfrm>
              <a:off x="1038640" y="2489639"/>
              <a:ext cx="0" cy="122381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grpSp>
          <p:nvGrpSpPr>
            <p:cNvPr id="518" name="组合 567"/>
            <p:cNvGrpSpPr/>
            <p:nvPr/>
          </p:nvGrpSpPr>
          <p:grpSpPr>
            <a:xfrm>
              <a:off x="798043" y="3028635"/>
              <a:ext cx="3951549" cy="133468"/>
              <a:chOff x="798043" y="3028635"/>
              <a:chExt cx="3951549" cy="133468"/>
            </a:xfrm>
          </p:grpSpPr>
          <p:grpSp>
            <p:nvGrpSpPr>
              <p:cNvPr id="519" name="组合 558"/>
              <p:cNvGrpSpPr/>
              <p:nvPr/>
            </p:nvGrpSpPr>
            <p:grpSpPr>
              <a:xfrm>
                <a:off x="798043" y="3028635"/>
                <a:ext cx="3951549" cy="133468"/>
                <a:chOff x="794016" y="2779270"/>
                <a:chExt cx="3951549" cy="133468"/>
              </a:xfrm>
            </p:grpSpPr>
            <p:grpSp>
              <p:nvGrpSpPr>
                <p:cNvPr id="520" name="Group 91"/>
                <p:cNvGrpSpPr/>
                <p:nvPr/>
              </p:nvGrpSpPr>
              <p:grpSpPr>
                <a:xfrm>
                  <a:off x="3334644" y="2779270"/>
                  <a:ext cx="1410921" cy="122238"/>
                  <a:chOff x="1666" y="2592"/>
                  <a:chExt cx="1469" cy="192"/>
                </a:xfrm>
              </p:grpSpPr>
              <p:sp>
                <p:nvSpPr>
                  <p:cNvPr id="1050798" name="Line 92"/>
                  <p:cNvSpPr/>
                  <p:nvPr/>
                </p:nvSpPr>
                <p:spPr>
                  <a:xfrm>
                    <a:off x="1673" y="2780"/>
                    <a:ext cx="1462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50799" name="Line 94"/>
                  <p:cNvSpPr/>
                  <p:nvPr/>
                </p:nvSpPr>
                <p:spPr>
                  <a:xfrm>
                    <a:off x="1666" y="2592"/>
                    <a:ext cx="0" cy="192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50800" name="Line 74"/>
                <p:cNvSpPr/>
                <p:nvPr/>
              </p:nvSpPr>
              <p:spPr>
                <a:xfrm>
                  <a:off x="794016" y="2912738"/>
                  <a:ext cx="7056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801" name="Line 94"/>
                <p:cNvSpPr/>
                <p:nvPr/>
              </p:nvSpPr>
              <p:spPr>
                <a:xfrm>
                  <a:off x="1490681" y="2787774"/>
                  <a:ext cx="0" cy="12223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802" name="Line 92"/>
              <p:cNvSpPr/>
              <p:nvPr/>
            </p:nvSpPr>
            <p:spPr>
              <a:xfrm>
                <a:off x="1500034" y="3037139"/>
                <a:ext cx="183640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521" name="组合 568"/>
            <p:cNvGrpSpPr/>
            <p:nvPr/>
          </p:nvGrpSpPr>
          <p:grpSpPr>
            <a:xfrm>
              <a:off x="802571" y="3321993"/>
              <a:ext cx="3935216" cy="133468"/>
              <a:chOff x="798043" y="3028635"/>
              <a:chExt cx="3935216" cy="133468"/>
            </a:xfrm>
          </p:grpSpPr>
          <p:grpSp>
            <p:nvGrpSpPr>
              <p:cNvPr id="522" name="组合 558"/>
              <p:cNvGrpSpPr/>
              <p:nvPr/>
            </p:nvGrpSpPr>
            <p:grpSpPr>
              <a:xfrm>
                <a:off x="798043" y="3028635"/>
                <a:ext cx="3935216" cy="133468"/>
                <a:chOff x="794016" y="2779270"/>
                <a:chExt cx="3935216" cy="133468"/>
              </a:xfrm>
            </p:grpSpPr>
            <p:grpSp>
              <p:nvGrpSpPr>
                <p:cNvPr id="523" name="Group 91"/>
                <p:cNvGrpSpPr/>
                <p:nvPr/>
              </p:nvGrpSpPr>
              <p:grpSpPr>
                <a:xfrm>
                  <a:off x="3786057" y="2779270"/>
                  <a:ext cx="943175" cy="122238"/>
                  <a:chOff x="2136" y="2592"/>
                  <a:chExt cx="982" cy="192"/>
                </a:xfrm>
              </p:grpSpPr>
              <p:sp>
                <p:nvSpPr>
                  <p:cNvPr id="1050803" name="Line 92"/>
                  <p:cNvSpPr/>
                  <p:nvPr/>
                </p:nvSpPr>
                <p:spPr>
                  <a:xfrm>
                    <a:off x="2143" y="2780"/>
                    <a:ext cx="975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50804" name="Line 94"/>
                  <p:cNvSpPr/>
                  <p:nvPr/>
                </p:nvSpPr>
                <p:spPr>
                  <a:xfrm>
                    <a:off x="2136" y="2592"/>
                    <a:ext cx="0" cy="192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50805" name="Line 74"/>
                <p:cNvSpPr/>
                <p:nvPr/>
              </p:nvSpPr>
              <p:spPr>
                <a:xfrm>
                  <a:off x="794016" y="2912738"/>
                  <a:ext cx="1152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806" name="Line 94"/>
                <p:cNvSpPr/>
                <p:nvPr/>
              </p:nvSpPr>
              <p:spPr>
                <a:xfrm>
                  <a:off x="1937253" y="2783011"/>
                  <a:ext cx="0" cy="12960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807" name="Line 92"/>
              <p:cNvSpPr/>
              <p:nvPr/>
            </p:nvSpPr>
            <p:spPr>
              <a:xfrm>
                <a:off x="1958029" y="3037139"/>
                <a:ext cx="183640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524" name="组合 576"/>
            <p:cNvGrpSpPr/>
            <p:nvPr/>
          </p:nvGrpSpPr>
          <p:grpSpPr>
            <a:xfrm>
              <a:off x="799006" y="3576399"/>
              <a:ext cx="3947619" cy="147479"/>
              <a:chOff x="788517" y="3014624"/>
              <a:chExt cx="3947619" cy="147479"/>
            </a:xfrm>
          </p:grpSpPr>
          <p:grpSp>
            <p:nvGrpSpPr>
              <p:cNvPr id="525" name="组合 558"/>
              <p:cNvGrpSpPr/>
              <p:nvPr/>
            </p:nvGrpSpPr>
            <p:grpSpPr>
              <a:xfrm>
                <a:off x="788517" y="3014624"/>
                <a:ext cx="3947619" cy="147479"/>
                <a:chOff x="784490" y="2765259"/>
                <a:chExt cx="3947619" cy="147479"/>
              </a:xfrm>
            </p:grpSpPr>
            <p:grpSp>
              <p:nvGrpSpPr>
                <p:cNvPr id="526" name="Group 91"/>
                <p:cNvGrpSpPr/>
                <p:nvPr/>
              </p:nvGrpSpPr>
              <p:grpSpPr>
                <a:xfrm>
                  <a:off x="4259562" y="2765259"/>
                  <a:ext cx="472547" cy="143884"/>
                  <a:chOff x="2629" y="2570"/>
                  <a:chExt cx="492" cy="226"/>
                </a:xfrm>
              </p:grpSpPr>
              <p:sp>
                <p:nvSpPr>
                  <p:cNvPr id="1050808" name="Line 92"/>
                  <p:cNvSpPr/>
                  <p:nvPr/>
                </p:nvSpPr>
                <p:spPr>
                  <a:xfrm>
                    <a:off x="2634" y="2780"/>
                    <a:ext cx="487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50809" name="Line 94"/>
                  <p:cNvSpPr/>
                  <p:nvPr/>
                </p:nvSpPr>
                <p:spPr>
                  <a:xfrm>
                    <a:off x="2629" y="2570"/>
                    <a:ext cx="0" cy="226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050810" name="Line 74"/>
                <p:cNvSpPr/>
                <p:nvPr/>
              </p:nvSpPr>
              <p:spPr>
                <a:xfrm>
                  <a:off x="784490" y="2912738"/>
                  <a:ext cx="1620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811" name="Line 94"/>
                <p:cNvSpPr/>
                <p:nvPr/>
              </p:nvSpPr>
              <p:spPr>
                <a:xfrm>
                  <a:off x="2402007" y="2773485"/>
                  <a:ext cx="0" cy="13680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812" name="Line 92"/>
              <p:cNvSpPr/>
              <p:nvPr/>
            </p:nvSpPr>
            <p:spPr>
              <a:xfrm>
                <a:off x="2403730" y="3018087"/>
                <a:ext cx="18576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050813" name="Line 61"/>
            <p:cNvSpPr>
              <a:spLocks noChangeShapeType="1"/>
            </p:cNvSpPr>
            <p:nvPr/>
          </p:nvSpPr>
          <p:spPr bwMode="auto">
            <a:xfrm>
              <a:off x="1499135" y="2527734"/>
              <a:ext cx="0" cy="122381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814" name="Line 61"/>
            <p:cNvSpPr>
              <a:spLocks noChangeShapeType="1"/>
            </p:cNvSpPr>
            <p:nvPr/>
          </p:nvSpPr>
          <p:spPr bwMode="auto">
            <a:xfrm>
              <a:off x="1954866" y="2491226"/>
              <a:ext cx="0" cy="1223814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815" name="Line 61"/>
            <p:cNvSpPr>
              <a:spLocks noChangeShapeType="1"/>
            </p:cNvSpPr>
            <p:nvPr/>
          </p:nvSpPr>
          <p:spPr bwMode="auto">
            <a:xfrm>
              <a:off x="2415361" y="2529322"/>
              <a:ext cx="0" cy="1223814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816" name="Line 61"/>
            <p:cNvSpPr>
              <a:spLocks noChangeShapeType="1"/>
            </p:cNvSpPr>
            <p:nvPr/>
          </p:nvSpPr>
          <p:spPr bwMode="auto">
            <a:xfrm>
              <a:off x="2872679" y="2595989"/>
              <a:ext cx="0" cy="971432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817" name="Line 61"/>
            <p:cNvSpPr>
              <a:spLocks noChangeShapeType="1"/>
            </p:cNvSpPr>
            <p:nvPr/>
          </p:nvSpPr>
          <p:spPr bwMode="auto">
            <a:xfrm>
              <a:off x="3333174" y="2600750"/>
              <a:ext cx="0" cy="971432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818" name="Line 61"/>
            <p:cNvSpPr>
              <a:spLocks noChangeShapeType="1"/>
            </p:cNvSpPr>
            <p:nvPr/>
          </p:nvSpPr>
          <p:spPr bwMode="auto">
            <a:xfrm>
              <a:off x="3793669" y="2605512"/>
              <a:ext cx="0" cy="971432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819" name="Line 61"/>
            <p:cNvSpPr>
              <a:spLocks noChangeShapeType="1"/>
            </p:cNvSpPr>
            <p:nvPr/>
          </p:nvSpPr>
          <p:spPr bwMode="auto">
            <a:xfrm>
              <a:off x="4254163" y="2610274"/>
              <a:ext cx="0" cy="971432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同步计数器小结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600" y="629920"/>
            <a:ext cx="8498854" cy="4046855"/>
          </a:xfrm>
        </p:spPr>
        <p:txBody>
          <a:bodyPr/>
          <a:lstStyle/>
          <a:p>
            <a:pPr marL="266700" marR="0" indent="-26670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所有触发器的时钟端并联在一起，受控于</a:t>
            </a:r>
            <a:r>
              <a:rPr kumimoji="1" lang="zh-CN" altLang="en-US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同一个外接时钟源；</a:t>
            </a:r>
            <a:endParaRPr kumimoji="1" lang="en-US" altLang="zh-CN" sz="2000" kern="0" cap="none" spc="0" normalizeH="0" baseline="0" noProof="0" dirty="0">
              <a:latin typeface="宋体" pitchFamily="2" charset="-122"/>
              <a:cs typeface="宋体" pitchFamily="2" charset="-122"/>
            </a:endParaRPr>
          </a:p>
          <a:p>
            <a:pPr marL="266700" marR="0" indent="-26670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所有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触发器</a:t>
            </a:r>
            <a:r>
              <a:rPr kumimoji="1" lang="zh-CN" altLang="zh-CN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同时翻转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，</a:t>
            </a:r>
            <a:r>
              <a:rPr kumimoji="1" lang="zh-CN" altLang="zh-CN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不存在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时钟到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各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触发器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输出的</a:t>
            </a:r>
            <a:r>
              <a:rPr kumimoji="1" lang="zh-CN" altLang="zh-CN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传输延迟积累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；</a:t>
            </a:r>
            <a:endParaRPr kumimoji="1" lang="en-US" altLang="zh-CN" sz="2000" kern="0" cap="none" spc="0" normalizeH="0" baseline="0" noProof="0" dirty="0">
              <a:latin typeface="宋体" pitchFamily="2" charset="-122"/>
              <a:cs typeface="宋体" pitchFamily="2" charset="-122"/>
            </a:endParaRPr>
          </a:p>
          <a:p>
            <a:pPr marL="266700" marR="0" indent="-26670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工作频率只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与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一个触发器的时钟到输出的传输延迟有关，所以</a:t>
            </a:r>
            <a:r>
              <a:rPr kumimoji="1" lang="zh-CN" altLang="zh-CN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工作频率比异步计数器高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；</a:t>
            </a:r>
            <a:endParaRPr kumimoji="1" lang="en-US" altLang="zh-CN" sz="2000" kern="0" cap="none" spc="0" normalizeH="0" baseline="0" noProof="0" dirty="0">
              <a:latin typeface="宋体" pitchFamily="2" charset="-122"/>
              <a:cs typeface="宋体" pitchFamily="2" charset="-122"/>
            </a:endParaRPr>
          </a:p>
          <a:p>
            <a:pPr marL="266700" marR="0" indent="-26670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由于各触发器同时翻转，因此，同步计数器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的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输出</a:t>
            </a:r>
            <a:r>
              <a:rPr kumimoji="1" lang="zh-CN" altLang="en-US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不会产生毛刺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；</a:t>
            </a:r>
            <a:endParaRPr kumimoji="1" lang="en-US" altLang="zh-CN" sz="2000" kern="0" cap="none" spc="0" normalizeH="0" baseline="0" noProof="0" dirty="0">
              <a:latin typeface="宋体" pitchFamily="2" charset="-122"/>
              <a:cs typeface="宋体" pitchFamily="2" charset="-122"/>
            </a:endParaRPr>
          </a:p>
          <a:p>
            <a:pPr marL="266700" marR="0" indent="-26670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Char char="p"/>
            </a:pP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缺点：</a:t>
            </a:r>
            <a:r>
              <a:rPr kumimoji="1" lang="zh-CN" altLang="zh-CN" sz="2000" b="1" noProof="0" dirty="0">
                <a:solidFill>
                  <a:srgbClr val="FF0000"/>
                </a:solidFill>
                <a:latin typeface="宋体" pitchFamily="2" charset="-122"/>
                <a:cs typeface="宋体" pitchFamily="2" charset="-122"/>
                <a:sym typeface="+mn-ea"/>
              </a:rPr>
              <a:t>结构比较复杂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（</a:t>
            </a:r>
            <a:r>
              <a:rPr kumimoji="1" lang="zh-CN" altLang="en-US" sz="2000" b="1" noProof="0" dirty="0">
                <a:latin typeface="宋体" pitchFamily="2" charset="-122"/>
                <a:cs typeface="宋体" pitchFamily="2" charset="-122"/>
                <a:sym typeface="+mn-ea"/>
              </a:rPr>
              <a:t>各触发器的输入由多个</a:t>
            </a:r>
            <a:r>
              <a:rPr kumimoji="1" lang="en-US" altLang="zh-CN" sz="2000" b="1" noProof="0" dirty="0">
                <a:latin typeface="宋体" pitchFamily="2" charset="-122"/>
                <a:cs typeface="宋体" pitchFamily="2" charset="-122"/>
                <a:sym typeface="+mn-ea"/>
              </a:rPr>
              <a:t>Q</a:t>
            </a:r>
            <a:r>
              <a:rPr kumimoji="1" lang="zh-CN" altLang="en-US" sz="2000" b="1" noProof="0" dirty="0">
                <a:latin typeface="宋体" pitchFamily="2" charset="-122"/>
                <a:cs typeface="宋体" pitchFamily="2" charset="-122"/>
                <a:sym typeface="+mn-ea"/>
              </a:rPr>
              <a:t>输出的组合逻辑得到</a:t>
            </a:r>
            <a:r>
              <a:rPr kumimoji="1" lang="zh-CN" altLang="en-US" sz="2000" noProof="0" dirty="0">
                <a:latin typeface="宋体" pitchFamily="2" charset="-122"/>
                <a:cs typeface="宋体" pitchFamily="2" charset="-122"/>
                <a:sym typeface="+mn-ea"/>
              </a:rPr>
              <a:t>）</a:t>
            </a:r>
            <a:r>
              <a:rPr kumimoji="1" lang="zh-CN" altLang="zh-CN" sz="2000" noProof="0" dirty="0">
                <a:latin typeface="宋体" pitchFamily="2" charset="-122"/>
                <a:cs typeface="宋体" pitchFamily="2" charset="-122"/>
                <a:sym typeface="+mn-ea"/>
              </a:rPr>
              <a:t>，所用元件较多。</a:t>
            </a:r>
          </a:p>
        </p:txBody>
      </p:sp>
      <p:grpSp>
        <p:nvGrpSpPr>
          <p:cNvPr id="528" name="组合 169"/>
          <p:cNvGrpSpPr/>
          <p:nvPr/>
        </p:nvGrpSpPr>
        <p:grpSpPr>
          <a:xfrm>
            <a:off x="136525" y="3072448"/>
            <a:ext cx="4364038" cy="1873250"/>
            <a:chOff x="95158" y="2859782"/>
            <a:chExt cx="4364254" cy="1872208"/>
          </a:xfrm>
        </p:grpSpPr>
        <p:grpSp>
          <p:nvGrpSpPr>
            <p:cNvPr id="529" name="组合 101"/>
            <p:cNvGrpSpPr/>
            <p:nvPr/>
          </p:nvGrpSpPr>
          <p:grpSpPr>
            <a:xfrm>
              <a:off x="179512" y="3147814"/>
              <a:ext cx="4279900" cy="1341438"/>
              <a:chOff x="2123728" y="3435846"/>
              <a:chExt cx="4279900" cy="1341438"/>
            </a:xfrm>
          </p:grpSpPr>
          <p:grpSp>
            <p:nvGrpSpPr>
              <p:cNvPr id="530" name="组合 76"/>
              <p:cNvGrpSpPr/>
              <p:nvPr/>
            </p:nvGrpSpPr>
            <p:grpSpPr>
              <a:xfrm>
                <a:off x="2123728" y="3435846"/>
                <a:ext cx="4279900" cy="1341438"/>
                <a:chOff x="505036" y="823813"/>
                <a:chExt cx="4280325" cy="1341602"/>
              </a:xfrm>
            </p:grpSpPr>
            <p:cxnSp>
              <p:nvCxnSpPr>
                <p:cNvPr id="3146071" name="直接连接符 34"/>
                <p:cNvCxnSpPr/>
                <p:nvPr/>
              </p:nvCxnSpPr>
              <p:spPr>
                <a:xfrm rot="5400000">
                  <a:off x="796733" y="1580931"/>
                  <a:ext cx="395871" cy="1588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oval" w="med" len="med"/>
                  <a:tailEnd type="none" w="sm" len="sm"/>
                </a:ln>
              </p:spPr>
            </p:cxnSp>
            <p:grpSp>
              <p:nvGrpSpPr>
                <p:cNvPr id="531" name="组合 16"/>
                <p:cNvGrpSpPr/>
                <p:nvPr/>
              </p:nvGrpSpPr>
              <p:grpSpPr>
                <a:xfrm>
                  <a:off x="638399" y="829394"/>
                  <a:ext cx="800179" cy="900110"/>
                  <a:chOff x="1853038" y="2301628"/>
                  <a:chExt cx="800247" cy="900589"/>
                </a:xfrm>
              </p:grpSpPr>
              <p:cxnSp>
                <p:nvCxnSpPr>
                  <p:cNvPr id="3146072" name="直接连接符 17"/>
                  <p:cNvCxnSpPr/>
                  <p:nvPr/>
                </p:nvCxnSpPr>
                <p:spPr>
                  <a:xfrm rot="5400000">
                    <a:off x="2202954" y="2945439"/>
                    <a:ext cx="468250" cy="1588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46073" name="直接连接符 18"/>
                  <p:cNvCxnSpPr/>
                  <p:nvPr/>
                </p:nvCxnSpPr>
                <p:spPr>
                  <a:xfrm rot="5400000">
                    <a:off x="1556287" y="2751128"/>
                    <a:ext cx="900589" cy="1588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headEnd type="triangle" w="med" len="med"/>
                    <a:tailEnd type="none" w="med" len="med"/>
                  </a:ln>
                </p:spPr>
              </p:cxnSp>
              <p:sp>
                <p:nvSpPr>
                  <p:cNvPr id="1050823" name="矩形 19"/>
                  <p:cNvSpPr/>
                  <p:nvPr/>
                </p:nvSpPr>
                <p:spPr>
                  <a:xfrm>
                    <a:off x="1876394" y="2643187"/>
                    <a:ext cx="720065" cy="43223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/>
                  <a:lstStyle/>
                  <a:p>
                    <a:pPr algn="ctr" eaLnBrk="1" hangingPunct="1"/>
                    <a:endParaRPr lang="zh-CN" altLang="en-US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  <p:sp>
                <p:nvSpPr>
                  <p:cNvPr id="1050824" name="TextBox 1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95848" y="2863570"/>
                    <a:ext cx="357271" cy="24449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</a:pPr>
                    <a:r>
                      <a:rPr kumimoji="1" lang="en-US" altLang="zh-CN" sz="1000" b="1" kern="1200" cap="none" spc="0" normalizeH="0" baseline="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K</a:t>
                    </a:r>
                    <a:endParaRPr kumimoji="1" lang="zh-CN" altLang="en-US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  <p:sp>
                <p:nvSpPr>
                  <p:cNvPr id="1050825" name="TextBox 1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52833" y="2619071"/>
                    <a:ext cx="357270" cy="23656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</a:pPr>
                    <a:r>
                      <a:rPr kumimoji="1" lang="en-US" altLang="zh-CN" sz="1000" b="1" kern="1200" cap="none" spc="0" normalizeH="0" baseline="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Q</a:t>
                    </a:r>
                    <a:r>
                      <a:rPr kumimoji="1" lang="en-US" altLang="zh-CN" sz="1000" b="1" kern="1200" cap="none" spc="0" normalizeH="0" baseline="-2500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3</a:t>
                    </a:r>
                    <a:endParaRPr kumimoji="1" lang="zh-CN" altLang="en-US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  <p:sp>
                <p:nvSpPr>
                  <p:cNvPr id="1050826" name="TextBox 1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60915" y="2628597"/>
                    <a:ext cx="357271" cy="2460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</a:pPr>
                    <a:r>
                      <a:rPr kumimoji="1" lang="en-US" altLang="zh-CN" sz="1000" b="1" kern="1200" cap="none" spc="0" normalizeH="0" baseline="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Q</a:t>
                    </a:r>
                    <a:r>
                      <a:rPr kumimoji="1" lang="en-US" altLang="zh-CN" sz="1000" b="1" kern="1200" cap="none" spc="0" normalizeH="0" baseline="-2500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3</a:t>
                    </a:r>
                    <a:endParaRPr kumimoji="1" lang="zh-CN" altLang="en-US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  <p:cxnSp>
                <p:nvCxnSpPr>
                  <p:cNvPr id="3146074" name="直接连接符 25"/>
                  <p:cNvCxnSpPr/>
                  <p:nvPr/>
                </p:nvCxnSpPr>
                <p:spPr>
                  <a:xfrm>
                    <a:off x="2357727" y="2681298"/>
                    <a:ext cx="93599" cy="1588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050827" name="等腰三角形 36"/>
                <p:cNvSpPr/>
                <p:nvPr/>
              </p:nvSpPr>
              <p:spPr>
                <a:xfrm>
                  <a:off x="940218" y="1495182"/>
                  <a:ext cx="108000" cy="1080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28" name="TextBox 107"/>
                <p:cNvSpPr txBox="1">
                  <a:spLocks noChangeArrowheads="1"/>
                </p:cNvSpPr>
                <p:nvPr/>
              </p:nvSpPr>
              <p:spPr bwMode="auto">
                <a:xfrm>
                  <a:off x="846187" y="1332325"/>
                  <a:ext cx="422338" cy="214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800" b="1" kern="1200" cap="none" spc="0" normalizeH="0" baseline="0" noProof="0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  <a:cs typeface="+mn-cs"/>
                    </a:rPr>
                    <a:t>CK</a:t>
                  </a:r>
                  <a:endParaRPr kumimoji="1" lang="zh-CN" altLang="en-US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29" name="椭圆 93"/>
                <p:cNvSpPr/>
                <p:nvPr/>
              </p:nvSpPr>
              <p:spPr>
                <a:xfrm>
                  <a:off x="577037" y="1325996"/>
                  <a:ext cx="71431" cy="71415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3146075" name="直接连接符 34"/>
                <p:cNvCxnSpPr/>
                <p:nvPr/>
              </p:nvCxnSpPr>
              <p:spPr>
                <a:xfrm rot="5400000">
                  <a:off x="2251372" y="1580932"/>
                  <a:ext cx="395872" cy="1588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sm" len="sm"/>
                </a:ln>
              </p:spPr>
            </p:cxnSp>
            <p:grpSp>
              <p:nvGrpSpPr>
                <p:cNvPr id="532" name="组合 16"/>
                <p:cNvGrpSpPr/>
                <p:nvPr/>
              </p:nvGrpSpPr>
              <p:grpSpPr>
                <a:xfrm>
                  <a:off x="2099044" y="826614"/>
                  <a:ext cx="789066" cy="900110"/>
                  <a:chOff x="1864139" y="2298850"/>
                  <a:chExt cx="789133" cy="900591"/>
                </a:xfrm>
              </p:grpSpPr>
              <p:cxnSp>
                <p:nvCxnSpPr>
                  <p:cNvPr id="3146076" name="直接连接符 17"/>
                  <p:cNvCxnSpPr/>
                  <p:nvPr/>
                </p:nvCxnSpPr>
                <p:spPr>
                  <a:xfrm rot="5400000">
                    <a:off x="2163516" y="2908983"/>
                    <a:ext cx="540289" cy="1588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46077" name="直接连接符 18"/>
                  <p:cNvCxnSpPr/>
                  <p:nvPr/>
                </p:nvCxnSpPr>
                <p:spPr>
                  <a:xfrm rot="5400000">
                    <a:off x="1570245" y="2748351"/>
                    <a:ext cx="900591" cy="1588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headEnd type="triangle" w="med" len="med"/>
                    <a:tailEnd type="none" w="med" len="med"/>
                  </a:ln>
                </p:spPr>
              </p:cxnSp>
              <p:sp>
                <p:nvSpPr>
                  <p:cNvPr id="1050830" name="矩形 19"/>
                  <p:cNvSpPr/>
                  <p:nvPr/>
                </p:nvSpPr>
                <p:spPr>
                  <a:xfrm>
                    <a:off x="1876406" y="2643187"/>
                    <a:ext cx="720066" cy="432232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/>
                  <a:lstStyle/>
                  <a:p>
                    <a:pPr algn="ctr" eaLnBrk="1" hangingPunct="1"/>
                    <a:endParaRPr lang="zh-CN" altLang="en-US" dirty="0">
                      <a:solidFill>
                        <a:schemeClr val="tx1"/>
                      </a:solidFill>
                      <a:latin typeface="Times New Roman" panose="02020503050405090304" pitchFamily="18" charset="0"/>
                    </a:endParaRPr>
                  </a:p>
                </p:txBody>
              </p:sp>
              <p:sp>
                <p:nvSpPr>
                  <p:cNvPr id="1050831" name="TextBox 1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95907" y="2887390"/>
                    <a:ext cx="357270" cy="23656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</a:pPr>
                    <a:r>
                      <a:rPr kumimoji="1" lang="en-US" altLang="zh-CN" sz="1000" b="1" kern="1200" cap="none" spc="0" normalizeH="0" baseline="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K</a:t>
                    </a:r>
                    <a:endParaRPr kumimoji="1" lang="zh-CN" altLang="en-US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  <p:sp>
                <p:nvSpPr>
                  <p:cNvPr id="1050832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64006" y="2628601"/>
                    <a:ext cx="357270" cy="2460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</a:pPr>
                    <a:r>
                      <a:rPr kumimoji="1" lang="en-US" altLang="zh-CN" sz="1000" b="1" kern="1200" cap="none" spc="0" normalizeH="0" baseline="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Q</a:t>
                    </a:r>
                    <a:r>
                      <a:rPr kumimoji="1" lang="en-US" altLang="zh-CN" sz="1000" b="1" kern="1200" cap="none" spc="0" normalizeH="0" baseline="-2500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2</a:t>
                    </a:r>
                    <a:endParaRPr kumimoji="1" lang="zh-CN" altLang="en-US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  <p:sp>
                <p:nvSpPr>
                  <p:cNvPr id="1050833" name="TextBox 1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1446" y="2638127"/>
                    <a:ext cx="357270" cy="2460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</a:pPr>
                    <a:r>
                      <a:rPr kumimoji="1" lang="en-US" altLang="zh-CN" sz="1000" b="1" kern="1200" cap="none" spc="0" normalizeH="0" baseline="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Q</a:t>
                    </a:r>
                    <a:r>
                      <a:rPr kumimoji="1" lang="en-US" altLang="zh-CN" sz="1000" b="1" kern="1200" cap="none" spc="0" normalizeH="0" baseline="-25000" noProof="0" dirty="0">
                        <a:latin typeface="+mj-lt"/>
                        <a:ea typeface="黑体" panose="02010609060101010101" pitchFamily="49" charset="-122"/>
                        <a:cs typeface="+mn-cs"/>
                      </a:rPr>
                      <a:t>2</a:t>
                    </a:r>
                    <a:endParaRPr kumimoji="1" lang="zh-CN" altLang="en-US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  <p:cxnSp>
                <p:nvCxnSpPr>
                  <p:cNvPr id="3146078" name="直接连接符 25"/>
                  <p:cNvCxnSpPr/>
                  <p:nvPr/>
                </p:nvCxnSpPr>
                <p:spPr>
                  <a:xfrm>
                    <a:off x="2361181" y="2681298"/>
                    <a:ext cx="93599" cy="1588"/>
                  </a:xfrm>
                  <a:prstGeom prst="line">
                    <a:avLst/>
                  </a:prstGeom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050834" name="等腰三角形 36"/>
                <p:cNvSpPr/>
                <p:nvPr/>
              </p:nvSpPr>
              <p:spPr>
                <a:xfrm>
                  <a:off x="2394858" y="1489546"/>
                  <a:ext cx="108000" cy="1080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35" name="TextBox 112"/>
                <p:cNvSpPr txBox="1">
                  <a:spLocks noChangeArrowheads="1"/>
                </p:cNvSpPr>
                <p:nvPr/>
              </p:nvSpPr>
              <p:spPr bwMode="auto">
                <a:xfrm>
                  <a:off x="2275149" y="1348193"/>
                  <a:ext cx="368355" cy="214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800" b="1" kern="1200" cap="none" spc="0" normalizeH="0" baseline="0" noProof="0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  <a:cs typeface="+mn-cs"/>
                    </a:rPr>
                    <a:t>CK</a:t>
                  </a:r>
                  <a:endParaRPr kumimoji="1" lang="zh-CN" altLang="en-US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36" name="椭圆 93"/>
                <p:cNvSpPr/>
                <p:nvPr/>
              </p:nvSpPr>
              <p:spPr>
                <a:xfrm>
                  <a:off x="2031361" y="1347590"/>
                  <a:ext cx="71431" cy="71415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3146079" name="直接连接符 34"/>
                <p:cNvCxnSpPr/>
                <p:nvPr/>
              </p:nvCxnSpPr>
              <p:spPr>
                <a:xfrm rot="5400000">
                  <a:off x="3689638" y="1832516"/>
                  <a:ext cx="395872" cy="1588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80" name="直接连接符 115"/>
                <p:cNvCxnSpPr/>
                <p:nvPr/>
              </p:nvCxnSpPr>
              <p:spPr>
                <a:xfrm rot="5400000">
                  <a:off x="3884947" y="1555468"/>
                  <a:ext cx="3960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81" name="直接连接符 116"/>
                <p:cNvCxnSpPr/>
                <p:nvPr/>
              </p:nvCxnSpPr>
              <p:spPr>
                <a:xfrm rot="5400000">
                  <a:off x="3215567" y="1301279"/>
                  <a:ext cx="90011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triangle" w="med" len="med"/>
                  <a:tailEnd type="none" w="med" len="med"/>
                </a:ln>
              </p:spPr>
            </p:cxnSp>
            <p:sp>
              <p:nvSpPr>
                <p:cNvPr id="1050837" name="矩形 117"/>
                <p:cNvSpPr/>
                <p:nvPr/>
              </p:nvSpPr>
              <p:spPr>
                <a:xfrm>
                  <a:off x="3541809" y="1203646"/>
                  <a:ext cx="720000" cy="4320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38" name="TextBox 118"/>
                <p:cNvSpPr txBox="1">
                  <a:spLocks noChangeArrowheads="1"/>
                </p:cNvSpPr>
                <p:nvPr/>
              </p:nvSpPr>
              <p:spPr bwMode="auto">
                <a:xfrm>
                  <a:off x="3953387" y="1446575"/>
                  <a:ext cx="357240" cy="2459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K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39" name="TextBox 119"/>
                <p:cNvSpPr txBox="1">
                  <a:spLocks noChangeArrowheads="1"/>
                </p:cNvSpPr>
                <p:nvPr/>
              </p:nvSpPr>
              <p:spPr bwMode="auto">
                <a:xfrm>
                  <a:off x="3529461" y="1176818"/>
                  <a:ext cx="357241" cy="2459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40" name="TextBox 120"/>
                <p:cNvSpPr txBox="1">
                  <a:spLocks noChangeArrowheads="1"/>
                </p:cNvSpPr>
                <p:nvPr/>
              </p:nvSpPr>
              <p:spPr bwMode="auto">
                <a:xfrm>
                  <a:off x="3927983" y="1176818"/>
                  <a:ext cx="357240" cy="2459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6082" name="直接连接符 25"/>
                <p:cNvCxnSpPr/>
                <p:nvPr/>
              </p:nvCxnSpPr>
              <p:spPr>
                <a:xfrm>
                  <a:off x="4023103" y="1234242"/>
                  <a:ext cx="93591" cy="1587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50841" name="等腰三角形 36"/>
                <p:cNvSpPr/>
                <p:nvPr/>
              </p:nvSpPr>
              <p:spPr>
                <a:xfrm>
                  <a:off x="3825369" y="1527646"/>
                  <a:ext cx="108000" cy="1080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42" name="TextBox 123"/>
                <p:cNvSpPr txBox="1">
                  <a:spLocks noChangeArrowheads="1"/>
                </p:cNvSpPr>
                <p:nvPr/>
              </p:nvSpPr>
              <p:spPr bwMode="auto">
                <a:xfrm>
                  <a:off x="3721578" y="1352953"/>
                  <a:ext cx="422338" cy="214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800" b="1" kern="1200" cap="none" spc="0" normalizeH="0" baseline="0" noProof="0" dirty="0">
                      <a:solidFill>
                        <a:schemeClr val="bg1"/>
                      </a:solidFill>
                      <a:latin typeface="+mj-lt"/>
                      <a:ea typeface="黑体" panose="02010609060101010101" pitchFamily="49" charset="-122"/>
                      <a:cs typeface="+mn-cs"/>
                    </a:rPr>
                    <a:t>CK</a:t>
                  </a:r>
                  <a:endParaRPr kumimoji="1" lang="zh-CN" altLang="en-US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43" name="椭圆 93"/>
                <p:cNvSpPr/>
                <p:nvPr/>
              </p:nvSpPr>
              <p:spPr>
                <a:xfrm>
                  <a:off x="3457108" y="1383150"/>
                  <a:ext cx="71431" cy="71415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3146083" name="直接连接符 137"/>
                <p:cNvCxnSpPr/>
                <p:nvPr/>
              </p:nvCxnSpPr>
              <p:spPr>
                <a:xfrm flipH="1">
                  <a:off x="997000" y="1779662"/>
                  <a:ext cx="648000" cy="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50844" name="Text Box 69"/>
                <p:cNvSpPr txBox="1"/>
                <p:nvPr/>
              </p:nvSpPr>
              <p:spPr>
                <a:xfrm>
                  <a:off x="4281305" y="1857638"/>
                  <a:ext cx="504056" cy="30777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solidFill>
                        <a:schemeClr val="bg1"/>
                      </a:solidFill>
                      <a:latin typeface="Arial" panose="020B0604020202090204" pitchFamily="34" charset="0"/>
                    </a:rPr>
                    <a:t>CP</a:t>
                  </a:r>
                  <a:r>
                    <a:rPr lang="en-US" altLang="zh-CN" sz="1400" b="1" baseline="-25000" dirty="0">
                      <a:solidFill>
                        <a:schemeClr val="bg1"/>
                      </a:solidFill>
                      <a:latin typeface="Arial" panose="020B0604020202090204" pitchFamily="34" charset="0"/>
                    </a:rPr>
                    <a:t>1 </a:t>
                  </a:r>
                </a:p>
              </p:txBody>
            </p:sp>
            <p:cxnSp>
              <p:nvCxnSpPr>
                <p:cNvPr id="3146084" name="直接连接符 140"/>
                <p:cNvCxnSpPr/>
                <p:nvPr/>
              </p:nvCxnSpPr>
              <p:spPr>
                <a:xfrm>
                  <a:off x="505036" y="1354562"/>
                  <a:ext cx="72002" cy="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85" name="直接连接符 142"/>
                <p:cNvCxnSpPr/>
                <p:nvPr/>
              </p:nvCxnSpPr>
              <p:spPr>
                <a:xfrm>
                  <a:off x="509798" y="1349800"/>
                  <a:ext cx="0" cy="50400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86" name="直接连接符 143"/>
                <p:cNvCxnSpPr/>
                <p:nvPr/>
              </p:nvCxnSpPr>
              <p:spPr>
                <a:xfrm flipH="1">
                  <a:off x="511707" y="1841510"/>
                  <a:ext cx="3851667" cy="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87" name="直接连接符 144"/>
                <p:cNvCxnSpPr/>
                <p:nvPr/>
              </p:nvCxnSpPr>
              <p:spPr>
                <a:xfrm>
                  <a:off x="1949834" y="1378982"/>
                  <a:ext cx="72002" cy="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88" name="直接连接符 145"/>
                <p:cNvCxnSpPr/>
                <p:nvPr/>
              </p:nvCxnSpPr>
              <p:spPr>
                <a:xfrm>
                  <a:off x="1954596" y="1378574"/>
                  <a:ext cx="0" cy="46800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oval" w="sm" len="sm"/>
                </a:ln>
              </p:spPr>
            </p:cxnSp>
            <p:cxnSp>
              <p:nvCxnSpPr>
                <p:cNvPr id="3146089" name="直接连接符 146"/>
                <p:cNvCxnSpPr/>
                <p:nvPr/>
              </p:nvCxnSpPr>
              <p:spPr>
                <a:xfrm>
                  <a:off x="3385107" y="1413859"/>
                  <a:ext cx="72002" cy="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90" name="直接连接符 147"/>
                <p:cNvCxnSpPr/>
                <p:nvPr/>
              </p:nvCxnSpPr>
              <p:spPr>
                <a:xfrm>
                  <a:off x="3389869" y="1409097"/>
                  <a:ext cx="0" cy="43200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solid"/>
                  <a:headEnd type="none" w="med" len="med"/>
                  <a:tailEnd type="oval" w="sm" len="sm"/>
                </a:ln>
              </p:spPr>
            </p:cxnSp>
            <p:sp>
              <p:nvSpPr>
                <p:cNvPr id="1050845" name="Text Box 69"/>
                <p:cNvSpPr txBox="1"/>
                <p:nvPr/>
              </p:nvSpPr>
              <p:spPr>
                <a:xfrm>
                  <a:off x="4295658" y="1635646"/>
                  <a:ext cx="418832" cy="30767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solidFill>
                        <a:srgbClr val="CC00CC"/>
                      </a:solidFill>
                      <a:latin typeface="Arial" panose="020B0604020202090204" pitchFamily="34" charset="0"/>
                    </a:rPr>
                    <a:t>R</a:t>
                  </a:r>
                  <a:r>
                    <a:rPr lang="en-US" altLang="zh-CN" sz="1400" b="1" baseline="-25000" dirty="0">
                      <a:solidFill>
                        <a:srgbClr val="CC00CC"/>
                      </a:solidFill>
                      <a:latin typeface="Arial" panose="020B0604020202090204" pitchFamily="34" charset="0"/>
                    </a:rPr>
                    <a:t>D </a:t>
                  </a:r>
                </a:p>
              </p:txBody>
            </p:sp>
            <p:sp>
              <p:nvSpPr>
                <p:cNvPr id="1050846" name="Text Box 11"/>
                <p:cNvSpPr txBox="1"/>
                <p:nvPr/>
              </p:nvSpPr>
              <p:spPr>
                <a:xfrm>
                  <a:off x="3670405" y="843558"/>
                  <a:ext cx="678516" cy="30777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Y</a:t>
                  </a:r>
                  <a:r>
                    <a:rPr lang="en-US" altLang="zh-CN" sz="1400" b="1" baseline="-25000" dirty="0">
                      <a:latin typeface="Arial" panose="020B0604020202090204" pitchFamily="34" charset="0"/>
                    </a:rPr>
                    <a:t>1</a:t>
                  </a:r>
                  <a:endParaRPr lang="en-US" altLang="zh-CN" sz="1400" b="1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1050847" name="Text Box 36"/>
                <p:cNvSpPr txBox="1"/>
                <p:nvPr/>
              </p:nvSpPr>
              <p:spPr>
                <a:xfrm>
                  <a:off x="2244287" y="823813"/>
                  <a:ext cx="504056" cy="30777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Y</a:t>
                  </a:r>
                  <a:r>
                    <a:rPr lang="en-US" altLang="zh-CN" sz="1400" b="1" baseline="-25000" dirty="0">
                      <a:latin typeface="Arial" panose="020B0604020202090204" pitchFamily="34" charset="0"/>
                    </a:rPr>
                    <a:t>2</a:t>
                  </a:r>
                  <a:endParaRPr lang="en-US" altLang="zh-CN" sz="1400" b="1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1050848" name="Text Box 37"/>
                <p:cNvSpPr txBox="1"/>
                <p:nvPr/>
              </p:nvSpPr>
              <p:spPr>
                <a:xfrm>
                  <a:off x="755576" y="823813"/>
                  <a:ext cx="432048" cy="30777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Y</a:t>
                  </a:r>
                  <a:r>
                    <a:rPr lang="en-US" altLang="zh-CN" sz="1400" b="1" baseline="-25000" dirty="0">
                      <a:latin typeface="Arial" panose="020B0604020202090204" pitchFamily="34" charset="0"/>
                    </a:rPr>
                    <a:t>3</a:t>
                  </a:r>
                  <a:endParaRPr lang="en-US" altLang="zh-CN" sz="1400" b="1" dirty="0">
                    <a:latin typeface="Arial" panose="020B0604020202090204" pitchFamily="34" charset="0"/>
                  </a:endParaRPr>
                </a:p>
              </p:txBody>
            </p:sp>
            <p:sp>
              <p:nvSpPr>
                <p:cNvPr id="1050849" name="TextBox 138"/>
                <p:cNvSpPr txBox="1">
                  <a:spLocks noChangeArrowheads="1"/>
                </p:cNvSpPr>
                <p:nvPr/>
              </p:nvSpPr>
              <p:spPr bwMode="auto">
                <a:xfrm>
                  <a:off x="652483" y="1400557"/>
                  <a:ext cx="247687" cy="2459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J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50" name="TextBox 139"/>
                <p:cNvSpPr txBox="1">
                  <a:spLocks noChangeArrowheads="1"/>
                </p:cNvSpPr>
                <p:nvPr/>
              </p:nvSpPr>
              <p:spPr bwMode="auto">
                <a:xfrm>
                  <a:off x="2111613" y="1419599"/>
                  <a:ext cx="300082" cy="2459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J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51" name="椭圆 93"/>
                <p:cNvSpPr/>
                <p:nvPr/>
              </p:nvSpPr>
              <p:spPr>
                <a:xfrm>
                  <a:off x="962017" y="1605759"/>
                  <a:ext cx="71431" cy="71415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52" name="椭圆 93"/>
                <p:cNvSpPr/>
                <p:nvPr/>
              </p:nvSpPr>
              <p:spPr>
                <a:xfrm>
                  <a:off x="2412337" y="1610246"/>
                  <a:ext cx="71431" cy="71415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53" name="椭圆 93"/>
                <p:cNvSpPr/>
                <p:nvPr/>
              </p:nvSpPr>
              <p:spPr>
                <a:xfrm>
                  <a:off x="3851920" y="1630566"/>
                  <a:ext cx="71431" cy="71415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3146091" name="直接连接符 137"/>
                <p:cNvCxnSpPr/>
                <p:nvPr/>
              </p:nvCxnSpPr>
              <p:spPr>
                <a:xfrm flipH="1">
                  <a:off x="1629832" y="1059582"/>
                  <a:ext cx="626400" cy="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oval" w="sm" len="sm"/>
                  <a:tailEnd type="none" w="med" len="med"/>
                </a:ln>
              </p:spPr>
            </p:cxnSp>
            <p:cxnSp>
              <p:nvCxnSpPr>
                <p:cNvPr id="3146092" name="直接连接符 142"/>
                <p:cNvCxnSpPr/>
                <p:nvPr/>
              </p:nvCxnSpPr>
              <p:spPr>
                <a:xfrm>
                  <a:off x="1634912" y="1059582"/>
                  <a:ext cx="0" cy="72000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93" name="直接连接符 137"/>
                <p:cNvCxnSpPr/>
                <p:nvPr/>
              </p:nvCxnSpPr>
              <p:spPr>
                <a:xfrm flipH="1">
                  <a:off x="3039512" y="1059582"/>
                  <a:ext cx="626400" cy="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oval" w="sm" len="sm"/>
                  <a:tailEnd type="none" w="med" len="med"/>
                </a:ln>
              </p:spPr>
            </p:cxnSp>
            <p:cxnSp>
              <p:nvCxnSpPr>
                <p:cNvPr id="3146094" name="直接连接符 142"/>
                <p:cNvCxnSpPr/>
                <p:nvPr/>
              </p:nvCxnSpPr>
              <p:spPr>
                <a:xfrm>
                  <a:off x="3044592" y="1059582"/>
                  <a:ext cx="0" cy="72000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95" name="直接连接符 137"/>
                <p:cNvCxnSpPr/>
                <p:nvPr/>
              </p:nvCxnSpPr>
              <p:spPr>
                <a:xfrm flipH="1">
                  <a:off x="2447320" y="1774582"/>
                  <a:ext cx="590400" cy="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096" name="直接连接符 137"/>
                <p:cNvCxnSpPr/>
                <p:nvPr/>
              </p:nvCxnSpPr>
              <p:spPr>
                <a:xfrm flipH="1">
                  <a:off x="3887480" y="2021086"/>
                  <a:ext cx="468000" cy="0"/>
                </a:xfrm>
                <a:prstGeom prst="line">
                  <a:avLst/>
                </a:prstGeom>
                <a:ln w="1905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50854" name="TextBox 103"/>
              <p:cNvSpPr txBox="1">
                <a:spLocks noChangeArrowheads="1"/>
              </p:cNvSpPr>
              <p:nvPr/>
            </p:nvSpPr>
            <p:spPr bwMode="auto">
              <a:xfrm>
                <a:off x="5147853" y="4053772"/>
                <a:ext cx="357206" cy="24592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J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050855" name="TextBox 163"/>
            <p:cNvSpPr txBox="1"/>
            <p:nvPr/>
          </p:nvSpPr>
          <p:spPr>
            <a:xfrm>
              <a:off x="1258854" y="4371827"/>
              <a:ext cx="1368493" cy="3379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</a:pPr>
              <a:r>
                <a:rPr kumimoji="1" lang="zh-CN" altLang="en-US" sz="1600" b="1" kern="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异步计数器</a:t>
              </a:r>
            </a:p>
          </p:txBody>
        </p:sp>
        <p:sp>
          <p:nvSpPr>
            <p:cNvPr id="1050856" name="圆角矩形 166"/>
            <p:cNvSpPr/>
            <p:nvPr/>
          </p:nvSpPr>
          <p:spPr>
            <a:xfrm>
              <a:off x="95158" y="2859782"/>
              <a:ext cx="4320000" cy="1872208"/>
            </a:xfrm>
            <a:prstGeom prst="roundRect">
              <a:avLst>
                <a:gd name="adj" fmla="val 14194"/>
              </a:avLst>
            </a:prstGeom>
            <a:noFill/>
            <a:ln w="19050" cap="flat" cmpd="sng">
              <a:solidFill>
                <a:srgbClr val="008080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</p:grpSp>
      <p:grpSp>
        <p:nvGrpSpPr>
          <p:cNvPr id="533" name="组合 168"/>
          <p:cNvGrpSpPr/>
          <p:nvPr/>
        </p:nvGrpSpPr>
        <p:grpSpPr>
          <a:xfrm>
            <a:off x="4591050" y="2578100"/>
            <a:ext cx="4373563" cy="2560638"/>
            <a:chOff x="4591124" y="2578208"/>
            <a:chExt cx="4373364" cy="2560976"/>
          </a:xfrm>
        </p:grpSpPr>
        <p:grpSp>
          <p:nvGrpSpPr>
            <p:cNvPr id="534" name="组合 133"/>
            <p:cNvGrpSpPr/>
            <p:nvPr/>
          </p:nvGrpSpPr>
          <p:grpSpPr>
            <a:xfrm>
              <a:off x="4591124" y="2578208"/>
              <a:ext cx="3797300" cy="2560976"/>
              <a:chOff x="56009" y="634013"/>
              <a:chExt cx="3797052" cy="2561332"/>
            </a:xfrm>
          </p:grpSpPr>
          <p:sp>
            <p:nvSpPr>
              <p:cNvPr id="1050857" name="Line 32"/>
              <p:cNvSpPr/>
              <p:nvPr/>
            </p:nvSpPr>
            <p:spPr>
              <a:xfrm rot="-5400000">
                <a:off x="2561033" y="2739640"/>
                <a:ext cx="324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pic>
            <p:nvPicPr>
              <p:cNvPr id="2097190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-5400000">
                <a:off x="2178682" y="1754780"/>
                <a:ext cx="491335" cy="30708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97191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-5400000">
                <a:off x="1001587" y="1751585"/>
                <a:ext cx="491335" cy="30708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3146097" name="直接连接符 34"/>
              <p:cNvCxnSpPr/>
              <p:nvPr/>
            </p:nvCxnSpPr>
            <p:spPr>
              <a:xfrm rot="5400000">
                <a:off x="845000" y="1297955"/>
                <a:ext cx="395288" cy="1587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oval" w="med" len="med"/>
                <a:tailEnd type="oval" w="sm" len="sm"/>
              </a:ln>
            </p:spPr>
          </p:cxnSp>
          <p:cxnSp>
            <p:nvCxnSpPr>
              <p:cNvPr id="3146098" name="直接连接符 17"/>
              <p:cNvCxnSpPr/>
              <p:nvPr/>
            </p:nvCxnSpPr>
            <p:spPr>
              <a:xfrm rot="5400000">
                <a:off x="778458" y="1239286"/>
                <a:ext cx="936000" cy="158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099" name="直接连接符 18"/>
              <p:cNvCxnSpPr/>
              <p:nvPr/>
            </p:nvCxnSpPr>
            <p:spPr>
              <a:xfrm rot="5400000">
                <a:off x="618046" y="970896"/>
                <a:ext cx="396000" cy="158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triangle" w="med" len="med"/>
                <a:tailEnd type="none" w="med" len="med"/>
              </a:ln>
            </p:spPr>
          </p:cxnSp>
          <p:sp>
            <p:nvSpPr>
              <p:cNvPr id="1050858" name="矩形 19"/>
              <p:cNvSpPr/>
              <p:nvPr/>
            </p:nvSpPr>
            <p:spPr>
              <a:xfrm>
                <a:off x="692335" y="939381"/>
                <a:ext cx="719399" cy="431923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859" name="TextBox 13"/>
              <p:cNvSpPr txBox="1">
                <a:spLocks noChangeArrowheads="1"/>
              </p:cNvSpPr>
              <p:nvPr/>
            </p:nvSpPr>
            <p:spPr bwMode="auto">
              <a:xfrm>
                <a:off x="1111580" y="1173909"/>
                <a:ext cx="357147" cy="2461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D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860" name="TextBox 14"/>
              <p:cNvSpPr txBox="1">
                <a:spLocks noChangeArrowheads="1"/>
              </p:cNvSpPr>
              <p:nvPr/>
            </p:nvSpPr>
            <p:spPr bwMode="auto">
              <a:xfrm>
                <a:off x="679828" y="923016"/>
                <a:ext cx="357147" cy="2461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3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861" name="TextBox 15"/>
              <p:cNvSpPr txBox="1">
                <a:spLocks noChangeArrowheads="1"/>
              </p:cNvSpPr>
              <p:nvPr/>
            </p:nvSpPr>
            <p:spPr bwMode="auto">
              <a:xfrm>
                <a:off x="1076659" y="932544"/>
                <a:ext cx="357147" cy="2461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3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100" name="直接连接符 25"/>
              <p:cNvCxnSpPr/>
              <p:nvPr/>
            </p:nvCxnSpPr>
            <p:spPr>
              <a:xfrm>
                <a:off x="1182318" y="986001"/>
                <a:ext cx="93513" cy="1587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862" name="等腰三角形 36"/>
              <p:cNvSpPr/>
              <p:nvPr/>
            </p:nvSpPr>
            <p:spPr>
              <a:xfrm>
                <a:off x="984698" y="1263429"/>
                <a:ext cx="108000" cy="108000"/>
              </a:xfrm>
              <a:prstGeom prst="triangle">
                <a:avLst>
                  <a:gd name="adj" fmla="val 50000"/>
                </a:avLst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863" name="TextBox 18"/>
              <p:cNvSpPr txBox="1">
                <a:spLocks noChangeArrowheads="1"/>
              </p:cNvSpPr>
              <p:nvPr/>
            </p:nvSpPr>
            <p:spPr bwMode="auto">
              <a:xfrm>
                <a:off x="870307" y="1099277"/>
                <a:ext cx="422228" cy="2143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864" name="椭圆 93"/>
              <p:cNvSpPr/>
              <p:nvPr/>
            </p:nvSpPr>
            <p:spPr>
              <a:xfrm>
                <a:off x="606872" y="1103313"/>
                <a:ext cx="71437" cy="71437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cxnSp>
            <p:nvCxnSpPr>
              <p:cNvPr id="3146101" name="直接连接符 34"/>
              <p:cNvCxnSpPr/>
              <p:nvPr/>
            </p:nvCxnSpPr>
            <p:spPr>
              <a:xfrm rot="5400000">
                <a:off x="2039591" y="1295099"/>
                <a:ext cx="395288" cy="15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oval" w="sm" len="sm"/>
              </a:ln>
            </p:spPr>
          </p:cxnSp>
          <p:grpSp>
            <p:nvGrpSpPr>
              <p:cNvPr id="535" name="组合 16"/>
              <p:cNvGrpSpPr/>
              <p:nvPr/>
            </p:nvGrpSpPr>
            <p:grpSpPr>
              <a:xfrm>
                <a:off x="1872109" y="772088"/>
                <a:ext cx="793759" cy="936002"/>
                <a:chOff x="1863706" y="2466975"/>
                <a:chExt cx="793764" cy="936668"/>
              </a:xfrm>
            </p:grpSpPr>
            <p:cxnSp>
              <p:nvCxnSpPr>
                <p:cNvPr id="3146102" name="直接连接符 17"/>
                <p:cNvCxnSpPr/>
                <p:nvPr/>
              </p:nvCxnSpPr>
              <p:spPr>
                <a:xfrm rot="5400000">
                  <a:off x="1952709" y="2934515"/>
                  <a:ext cx="936668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103" name="直接连接符 18"/>
                <p:cNvCxnSpPr/>
                <p:nvPr/>
              </p:nvCxnSpPr>
              <p:spPr>
                <a:xfrm rot="5400000">
                  <a:off x="1766065" y="2706153"/>
                  <a:ext cx="468333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triangle" w="med" len="med"/>
                  <a:tailEnd type="none" w="med" len="med"/>
                </a:ln>
              </p:spPr>
            </p:cxnSp>
            <p:sp>
              <p:nvSpPr>
                <p:cNvPr id="1050865" name="矩形 19"/>
                <p:cNvSpPr/>
                <p:nvPr/>
              </p:nvSpPr>
              <p:spPr>
                <a:xfrm>
                  <a:off x="1876406" y="2643188"/>
                  <a:ext cx="720005" cy="432308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66" name="TextBox 97"/>
                <p:cNvSpPr txBox="1">
                  <a:spLocks noChangeArrowheads="1"/>
                </p:cNvSpPr>
                <p:nvPr/>
              </p:nvSpPr>
              <p:spPr bwMode="auto">
                <a:xfrm>
                  <a:off x="2300022" y="2869082"/>
                  <a:ext cx="357150" cy="2447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67" name="TextBox 98"/>
                <p:cNvSpPr txBox="1">
                  <a:spLocks noChangeArrowheads="1"/>
                </p:cNvSpPr>
                <p:nvPr/>
              </p:nvSpPr>
              <p:spPr bwMode="auto">
                <a:xfrm>
                  <a:off x="1863505" y="2619600"/>
                  <a:ext cx="357151" cy="2447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68" name="TextBox 99"/>
                <p:cNvSpPr txBox="1">
                  <a:spLocks noChangeArrowheads="1"/>
                </p:cNvSpPr>
                <p:nvPr/>
              </p:nvSpPr>
              <p:spPr bwMode="auto">
                <a:xfrm>
                  <a:off x="2277800" y="2629134"/>
                  <a:ext cx="355563" cy="2447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2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6104" name="直接连接符 25"/>
                <p:cNvCxnSpPr/>
                <p:nvPr/>
              </p:nvCxnSpPr>
              <p:spPr>
                <a:xfrm>
                  <a:off x="2373304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50869" name="等腰三角形 36"/>
              <p:cNvSpPr/>
              <p:nvPr/>
            </p:nvSpPr>
            <p:spPr>
              <a:xfrm>
                <a:off x="2181673" y="1274767"/>
                <a:ext cx="108000" cy="108000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870" name="TextBox 23"/>
              <p:cNvSpPr txBox="1">
                <a:spLocks noChangeArrowheads="1"/>
              </p:cNvSpPr>
              <p:nvPr/>
            </p:nvSpPr>
            <p:spPr bwMode="auto">
              <a:xfrm>
                <a:off x="2067149" y="1113568"/>
                <a:ext cx="422228" cy="2143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871" name="椭圆 93"/>
              <p:cNvSpPr/>
              <p:nvPr/>
            </p:nvSpPr>
            <p:spPr>
              <a:xfrm>
                <a:off x="1803847" y="1084263"/>
                <a:ext cx="71437" cy="71437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cxnSp>
            <p:nvCxnSpPr>
              <p:cNvPr id="3146105" name="直接连接符 34"/>
              <p:cNvCxnSpPr/>
              <p:nvPr/>
            </p:nvCxnSpPr>
            <p:spPr>
              <a:xfrm rot="5400000">
                <a:off x="3203524" y="1297955"/>
                <a:ext cx="395288" cy="1587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536" name="组合 16"/>
              <p:cNvGrpSpPr/>
              <p:nvPr/>
            </p:nvGrpSpPr>
            <p:grpSpPr>
              <a:xfrm>
                <a:off x="3035748" y="750455"/>
                <a:ext cx="803026" cy="705286"/>
                <a:chOff x="1863706" y="2445334"/>
                <a:chExt cx="803031" cy="705782"/>
              </a:xfrm>
            </p:grpSpPr>
            <p:cxnSp>
              <p:nvCxnSpPr>
                <p:cNvPr id="3146106" name="直接连接符 17"/>
                <p:cNvCxnSpPr/>
                <p:nvPr/>
              </p:nvCxnSpPr>
              <p:spPr>
                <a:xfrm rot="5400000">
                  <a:off x="2098318" y="2808249"/>
                  <a:ext cx="684146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3146107" name="直接连接符 18"/>
                <p:cNvCxnSpPr/>
                <p:nvPr/>
              </p:nvCxnSpPr>
              <p:spPr>
                <a:xfrm rot="5400000">
                  <a:off x="1766065" y="2678704"/>
                  <a:ext cx="468329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triangle" w="med" len="med"/>
                  <a:tailEnd type="none" w="med" len="med"/>
                </a:ln>
              </p:spPr>
            </p:cxnSp>
            <p:sp>
              <p:nvSpPr>
                <p:cNvPr id="1050872" name="矩形 19"/>
                <p:cNvSpPr/>
                <p:nvPr/>
              </p:nvSpPr>
              <p:spPr>
                <a:xfrm>
                  <a:off x="1876406" y="2643187"/>
                  <a:ext cx="720005" cy="432304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/>
                  <a:endParaRPr lang="zh-CN" altLang="en-US" dirty="0">
                    <a:solidFill>
                      <a:schemeClr val="tx1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050873" name="TextBox 90"/>
                <p:cNvSpPr txBox="1">
                  <a:spLocks noChangeArrowheads="1"/>
                </p:cNvSpPr>
                <p:nvPr/>
              </p:nvSpPr>
              <p:spPr bwMode="auto">
                <a:xfrm>
                  <a:off x="2309415" y="2877032"/>
                  <a:ext cx="357151" cy="2463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D</a:t>
                  </a:r>
                  <a:endParaRPr kumimoji="1" lang="zh-CN" altLang="en-US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74" name="TextBox 91"/>
                <p:cNvSpPr txBox="1">
                  <a:spLocks noChangeArrowheads="1"/>
                </p:cNvSpPr>
                <p:nvPr/>
              </p:nvSpPr>
              <p:spPr bwMode="auto">
                <a:xfrm>
                  <a:off x="1863375" y="2618017"/>
                  <a:ext cx="357150" cy="2463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050875" name="TextBox 92"/>
                <p:cNvSpPr txBox="1">
                  <a:spLocks noChangeArrowheads="1"/>
                </p:cNvSpPr>
                <p:nvPr/>
              </p:nvSpPr>
              <p:spPr bwMode="auto">
                <a:xfrm>
                  <a:off x="2268145" y="2627551"/>
                  <a:ext cx="357151" cy="2463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</a:pPr>
                  <a:r>
                    <a:rPr kumimoji="1" lang="en-US" altLang="zh-CN" sz="1000" b="1" kern="1200" cap="none" spc="0" normalizeH="0" baseline="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Q</a:t>
                  </a:r>
                  <a:r>
                    <a:rPr kumimoji="1" lang="en-US" altLang="zh-CN" sz="1000" b="1" kern="1200" cap="none" spc="0" normalizeH="0" baseline="-25000" noProof="0" dirty="0">
                      <a:latin typeface="+mj-lt"/>
                      <a:ea typeface="黑体" panose="02010609060101010101" pitchFamily="49" charset="-122"/>
                      <a:cs typeface="+mn-cs"/>
                    </a:rPr>
                    <a:t>1</a:t>
                  </a:r>
                  <a:endParaRPr kumimoji="1" lang="zh-CN" altLang="en-US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endParaRPr>
                </a:p>
              </p:txBody>
            </p:sp>
            <p:cxnSp>
              <p:nvCxnSpPr>
                <p:cNvPr id="3146108" name="直接连接符 25"/>
                <p:cNvCxnSpPr/>
                <p:nvPr/>
              </p:nvCxnSpPr>
              <p:spPr>
                <a:xfrm>
                  <a:off x="2366639" y="2681298"/>
                  <a:ext cx="93600" cy="1588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50876" name="等腰三角形 36"/>
              <p:cNvSpPr/>
              <p:nvPr/>
            </p:nvSpPr>
            <p:spPr>
              <a:xfrm>
                <a:off x="3351682" y="1270843"/>
                <a:ext cx="108000" cy="108000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877" name="TextBox 28"/>
              <p:cNvSpPr txBox="1">
                <a:spLocks noChangeArrowheads="1"/>
              </p:cNvSpPr>
              <p:nvPr/>
            </p:nvSpPr>
            <p:spPr bwMode="auto">
              <a:xfrm>
                <a:off x="3243356" y="1113568"/>
                <a:ext cx="422228" cy="2143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800" b="1" kern="1200" cap="none" spc="0" normalizeH="0" baseline="0" noProof="0" dirty="0">
                    <a:solidFill>
                      <a:schemeClr val="bg1"/>
                    </a:solidFill>
                    <a:latin typeface="+mj-lt"/>
                    <a:ea typeface="黑体" panose="02010609060101010101" pitchFamily="49" charset="-122"/>
                    <a:cs typeface="+mn-cs"/>
                  </a:rPr>
                  <a:t>CK</a:t>
                </a:r>
                <a:endParaRPr kumimoji="1" lang="zh-CN" altLang="en-US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0878" name="椭圆 93"/>
              <p:cNvSpPr/>
              <p:nvPr/>
            </p:nvSpPr>
            <p:spPr>
              <a:xfrm>
                <a:off x="2964309" y="1084263"/>
                <a:ext cx="71438" cy="71437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0879" name="Line 25"/>
              <p:cNvSpPr/>
              <p:nvPr/>
            </p:nvSpPr>
            <p:spPr>
              <a:xfrm rot="-5400000">
                <a:off x="868431" y="2302659"/>
                <a:ext cx="214313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0" name="Line 26"/>
              <p:cNvSpPr/>
              <p:nvPr/>
            </p:nvSpPr>
            <p:spPr>
              <a:xfrm rot="-5400000">
                <a:off x="1446276" y="2307422"/>
                <a:ext cx="214313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1" name="Line 27"/>
              <p:cNvSpPr/>
              <p:nvPr/>
            </p:nvSpPr>
            <p:spPr>
              <a:xfrm rot="-5400000">
                <a:off x="1080363" y="2095491"/>
                <a:ext cx="0" cy="20955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2" name="Line 28"/>
              <p:cNvSpPr/>
              <p:nvPr/>
            </p:nvSpPr>
            <p:spPr>
              <a:xfrm rot="-5400000" flipV="1">
                <a:off x="1439133" y="2079616"/>
                <a:ext cx="0" cy="24130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3" name="Line 29"/>
              <p:cNvSpPr/>
              <p:nvPr/>
            </p:nvSpPr>
            <p:spPr>
              <a:xfrm rot="-5400000">
                <a:off x="785038" y="2760826"/>
                <a:ext cx="216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4" name="Line 30"/>
              <p:cNvSpPr/>
              <p:nvPr/>
            </p:nvSpPr>
            <p:spPr>
              <a:xfrm rot="-5400000">
                <a:off x="931932" y="2726519"/>
                <a:ext cx="26828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5" name="Line 31"/>
              <p:cNvSpPr/>
              <p:nvPr/>
            </p:nvSpPr>
            <p:spPr>
              <a:xfrm rot="-5400000">
                <a:off x="1353358" y="2748126"/>
                <a:ext cx="216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6" name="Line 32"/>
              <p:cNvSpPr/>
              <p:nvPr/>
            </p:nvSpPr>
            <p:spPr>
              <a:xfrm rot="-5400000">
                <a:off x="1459157" y="2690439"/>
                <a:ext cx="360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87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832157" y="2383967"/>
                <a:ext cx="285827" cy="285718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888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1408355" y="2388731"/>
                <a:ext cx="285827" cy="285718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889" name="Line 38"/>
              <p:cNvSpPr/>
              <p:nvPr/>
            </p:nvSpPr>
            <p:spPr>
              <a:xfrm rot="-5400000">
                <a:off x="1095138" y="2119792"/>
                <a:ext cx="180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0" name="Line 39"/>
              <p:cNvSpPr/>
              <p:nvPr/>
            </p:nvSpPr>
            <p:spPr>
              <a:xfrm rot="-5400000">
                <a:off x="1224497" y="2119792"/>
                <a:ext cx="180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1" name="Line 25"/>
              <p:cNvSpPr/>
              <p:nvPr/>
            </p:nvSpPr>
            <p:spPr>
              <a:xfrm rot="-5400000">
                <a:off x="2046744" y="2338382"/>
                <a:ext cx="2159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2" name="Line 26"/>
              <p:cNvSpPr/>
              <p:nvPr/>
            </p:nvSpPr>
            <p:spPr>
              <a:xfrm rot="-5400000">
                <a:off x="2619826" y="2338382"/>
                <a:ext cx="2159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3" name="Line 27"/>
              <p:cNvSpPr/>
              <p:nvPr/>
            </p:nvSpPr>
            <p:spPr>
              <a:xfrm rot="-5400000">
                <a:off x="2259469" y="2125657"/>
                <a:ext cx="0" cy="20955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4" name="Line 28"/>
              <p:cNvSpPr/>
              <p:nvPr/>
            </p:nvSpPr>
            <p:spPr>
              <a:xfrm rot="-5400000" flipV="1">
                <a:off x="2613476" y="2109782"/>
                <a:ext cx="0" cy="24130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5" name="Line 29"/>
              <p:cNvSpPr/>
              <p:nvPr/>
            </p:nvSpPr>
            <p:spPr>
              <a:xfrm rot="-5400000">
                <a:off x="1968907" y="2792579"/>
                <a:ext cx="216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6" name="Line 30"/>
              <p:cNvSpPr/>
              <p:nvPr/>
            </p:nvSpPr>
            <p:spPr>
              <a:xfrm rot="-5400000">
                <a:off x="2111038" y="2764175"/>
                <a:ext cx="26828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1050897" name="Line 31"/>
              <p:cNvSpPr/>
              <p:nvPr/>
            </p:nvSpPr>
            <p:spPr>
              <a:xfrm rot="-5400000">
                <a:off x="2518175" y="2797343"/>
                <a:ext cx="216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898" name="Line 32"/>
              <p:cNvSpPr/>
              <p:nvPr/>
            </p:nvSpPr>
            <p:spPr>
              <a:xfrm rot="-5400000">
                <a:off x="2661027" y="2732249"/>
                <a:ext cx="324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0899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2009952" y="2418901"/>
                <a:ext cx="285827" cy="285718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900" name="流程图: 延期 92"/>
              <p:cNvSpPr>
                <a:spLocks noChangeArrowheads="1"/>
              </p:cNvSpPr>
              <p:nvPr/>
            </p:nvSpPr>
            <p:spPr bwMode="auto">
              <a:xfrm rot="16200000">
                <a:off x="2582181" y="2419694"/>
                <a:ext cx="285827" cy="284131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0901" name="Line 38"/>
              <p:cNvSpPr/>
              <p:nvPr/>
            </p:nvSpPr>
            <p:spPr>
              <a:xfrm rot="-5400000">
                <a:off x="2263444" y="2131220"/>
                <a:ext cx="2016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902" name="Line 39"/>
              <p:cNvSpPr/>
              <p:nvPr/>
            </p:nvSpPr>
            <p:spPr>
              <a:xfrm rot="-5400000">
                <a:off x="2392025" y="2131220"/>
                <a:ext cx="2016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903" name="Text Box 69"/>
              <p:cNvSpPr txBox="1"/>
              <p:nvPr/>
            </p:nvSpPr>
            <p:spPr>
              <a:xfrm>
                <a:off x="56009" y="1284288"/>
                <a:ext cx="437828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chemeClr val="bg1"/>
                    </a:solidFill>
                    <a:latin typeface="Arial" panose="020B0604020202090204" pitchFamily="34" charset="0"/>
                  </a:rPr>
                  <a:t>CP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Arial" panose="020B0604020202090204" pitchFamily="34" charset="0"/>
                  </a:rPr>
                  <a:t> </a:t>
                </a:r>
              </a:p>
            </p:txBody>
          </p:sp>
          <p:cxnSp>
            <p:nvCxnSpPr>
              <p:cNvPr id="3146109" name="直接连接符 140"/>
              <p:cNvCxnSpPr/>
              <p:nvPr/>
            </p:nvCxnSpPr>
            <p:spPr>
              <a:xfrm>
                <a:off x="535434" y="1131888"/>
                <a:ext cx="71438" cy="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10" name="直接连接符 142"/>
              <p:cNvCxnSpPr/>
              <p:nvPr/>
            </p:nvCxnSpPr>
            <p:spPr>
              <a:xfrm>
                <a:off x="540197" y="1127125"/>
                <a:ext cx="0" cy="50400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11" name="直接连接符 143"/>
              <p:cNvCxnSpPr/>
              <p:nvPr/>
            </p:nvCxnSpPr>
            <p:spPr>
              <a:xfrm flipH="1">
                <a:off x="541784" y="1630883"/>
                <a:ext cx="2844000" cy="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12" name="直接连接符 144"/>
              <p:cNvCxnSpPr/>
              <p:nvPr/>
            </p:nvCxnSpPr>
            <p:spPr>
              <a:xfrm>
                <a:off x="1722884" y="1112838"/>
                <a:ext cx="71438" cy="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13" name="直接连接符 145"/>
              <p:cNvCxnSpPr/>
              <p:nvPr/>
            </p:nvCxnSpPr>
            <p:spPr>
              <a:xfrm>
                <a:off x="1727647" y="1108075"/>
                <a:ext cx="0" cy="50400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oval" w="sm" len="sm"/>
              </a:ln>
            </p:spPr>
          </p:cxnSp>
          <p:cxnSp>
            <p:nvCxnSpPr>
              <p:cNvPr id="3146114" name="直接连接符 146"/>
              <p:cNvCxnSpPr/>
              <p:nvPr/>
            </p:nvCxnSpPr>
            <p:spPr>
              <a:xfrm>
                <a:off x="2891284" y="1114425"/>
                <a:ext cx="73025" cy="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15" name="直接连接符 147"/>
              <p:cNvCxnSpPr/>
              <p:nvPr/>
            </p:nvCxnSpPr>
            <p:spPr>
              <a:xfrm>
                <a:off x="2896047" y="1109663"/>
                <a:ext cx="0" cy="504000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solid"/>
                <a:headEnd type="none" w="med" len="med"/>
                <a:tailEnd type="oval" w="sm" len="sm"/>
              </a:ln>
            </p:spPr>
          </p:cxnSp>
          <p:sp>
            <p:nvSpPr>
              <p:cNvPr id="1050904" name="Text Box 69"/>
              <p:cNvSpPr txBox="1"/>
              <p:nvPr/>
            </p:nvSpPr>
            <p:spPr>
              <a:xfrm>
                <a:off x="3389759" y="1519312"/>
                <a:ext cx="419100" cy="3079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rgbClr val="CC00CC"/>
                    </a:solidFill>
                    <a:latin typeface="Arial" panose="020B0604020202090204" pitchFamily="34" charset="0"/>
                  </a:rPr>
                  <a:t>R</a:t>
                </a:r>
                <a:r>
                  <a:rPr lang="en-US" altLang="zh-CN" sz="1400" b="1" baseline="-25000" dirty="0">
                    <a:solidFill>
                      <a:srgbClr val="CC00CC"/>
                    </a:solidFill>
                    <a:latin typeface="Arial" panose="020B0604020202090204" pitchFamily="34" charset="0"/>
                  </a:rPr>
                  <a:t>D </a:t>
                </a:r>
              </a:p>
            </p:txBody>
          </p:sp>
          <p:sp>
            <p:nvSpPr>
              <p:cNvPr id="1050905" name="Text Box 116"/>
              <p:cNvSpPr txBox="1">
                <a:spLocks noChangeArrowheads="1"/>
              </p:cNvSpPr>
              <p:nvPr/>
            </p:nvSpPr>
            <p:spPr bwMode="auto">
              <a:xfrm>
                <a:off x="729034" y="2880935"/>
                <a:ext cx="360323" cy="2763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cxnSp>
            <p:nvCxnSpPr>
              <p:cNvPr id="3146116" name="直接连接符 137"/>
              <p:cNvCxnSpPr/>
              <p:nvPr/>
            </p:nvCxnSpPr>
            <p:spPr>
              <a:xfrm flipH="1">
                <a:off x="442863" y="1496393"/>
                <a:ext cx="295200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906" name="Text Box 64"/>
              <p:cNvSpPr txBox="1">
                <a:spLocks noChangeArrowheads="1"/>
              </p:cNvSpPr>
              <p:nvPr/>
            </p:nvSpPr>
            <p:spPr bwMode="auto">
              <a:xfrm>
                <a:off x="2844938" y="645129"/>
                <a:ext cx="395243" cy="30805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4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50907" name="Text Box 65"/>
              <p:cNvSpPr txBox="1">
                <a:spLocks noChangeArrowheads="1"/>
              </p:cNvSpPr>
              <p:nvPr/>
            </p:nvSpPr>
            <p:spPr bwMode="auto">
              <a:xfrm>
                <a:off x="1670318" y="645129"/>
                <a:ext cx="380958" cy="30805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4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0908" name="Text Box 66"/>
              <p:cNvSpPr txBox="1">
                <a:spLocks noChangeArrowheads="1"/>
              </p:cNvSpPr>
              <p:nvPr/>
            </p:nvSpPr>
            <p:spPr bwMode="auto">
              <a:xfrm>
                <a:off x="479825" y="634013"/>
                <a:ext cx="401592" cy="30805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4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4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50909" name="Line 28"/>
              <p:cNvSpPr/>
              <p:nvPr/>
            </p:nvSpPr>
            <p:spPr>
              <a:xfrm rot="-5400000" flipV="1">
                <a:off x="3732411" y="650900"/>
                <a:ext cx="0" cy="24130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cxnSp>
            <p:nvCxnSpPr>
              <p:cNvPr id="3146117" name="直接连接符 17"/>
              <p:cNvCxnSpPr/>
              <p:nvPr/>
            </p:nvCxnSpPr>
            <p:spPr>
              <a:xfrm rot="5400000">
                <a:off x="3510434" y="1112588"/>
                <a:ext cx="683665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0910" name="Line 28"/>
              <p:cNvSpPr/>
              <p:nvPr/>
            </p:nvSpPr>
            <p:spPr>
              <a:xfrm rot="-5400000" flipV="1">
                <a:off x="3729112" y="1332880"/>
                <a:ext cx="0" cy="24130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37" name="组合 162"/>
              <p:cNvGrpSpPr/>
              <p:nvPr/>
            </p:nvGrpSpPr>
            <p:grpSpPr>
              <a:xfrm>
                <a:off x="935088" y="2879964"/>
                <a:ext cx="360362" cy="276999"/>
                <a:chOff x="2267745" y="4227936"/>
                <a:chExt cx="360040" cy="277776"/>
              </a:xfrm>
            </p:grpSpPr>
            <p:sp>
              <p:nvSpPr>
                <p:cNvPr id="1050911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2268044" y="4227317"/>
                  <a:ext cx="360001" cy="278668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kern="1200" cap="none" spc="0" normalizeH="0" baseline="0" noProof="0" dirty="0">
                      <a:latin typeface="+mj-lt"/>
                      <a:ea typeface="宋体" pitchFamily="2" charset="-122"/>
                      <a:cs typeface="+mn-cs"/>
                    </a:rPr>
                    <a:t>Y</a:t>
                  </a:r>
                  <a:r>
                    <a:rPr kumimoji="0" lang="en-US" altLang="zh-CN" sz="1200" b="1" kern="1200" cap="none" spc="0" normalizeH="0" baseline="-25000" noProof="0" dirty="0">
                      <a:latin typeface="+mj-lt"/>
                      <a:ea typeface="宋体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50912" name="Line 117"/>
                <p:cNvSpPr/>
                <p:nvPr/>
              </p:nvSpPr>
              <p:spPr>
                <a:xfrm>
                  <a:off x="2358832" y="4285640"/>
                  <a:ext cx="108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913" name="Text Box 116"/>
              <p:cNvSpPr txBox="1">
                <a:spLocks noChangeArrowheads="1"/>
              </p:cNvSpPr>
              <p:nvPr/>
            </p:nvSpPr>
            <p:spPr bwMode="auto">
              <a:xfrm>
                <a:off x="1305233" y="2895226"/>
                <a:ext cx="360322" cy="2763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0914" name="Text Box 116"/>
              <p:cNvSpPr txBox="1">
                <a:spLocks noChangeArrowheads="1"/>
              </p:cNvSpPr>
              <p:nvPr/>
            </p:nvSpPr>
            <p:spPr bwMode="auto">
              <a:xfrm>
                <a:off x="1495712" y="2898402"/>
                <a:ext cx="360322" cy="277888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50915" name="Text Box 116"/>
              <p:cNvSpPr txBox="1">
                <a:spLocks noChangeArrowheads="1"/>
              </p:cNvSpPr>
              <p:nvPr/>
            </p:nvSpPr>
            <p:spPr bwMode="auto">
              <a:xfrm>
                <a:off x="1932226" y="2919045"/>
                <a:ext cx="360323" cy="2763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grpSp>
            <p:nvGrpSpPr>
              <p:cNvPr id="538" name="组合 162"/>
              <p:cNvGrpSpPr/>
              <p:nvPr/>
            </p:nvGrpSpPr>
            <p:grpSpPr>
              <a:xfrm>
                <a:off x="2137123" y="2918064"/>
                <a:ext cx="360362" cy="276999"/>
                <a:chOff x="2267745" y="4227936"/>
                <a:chExt cx="360040" cy="277776"/>
              </a:xfrm>
            </p:grpSpPr>
            <p:sp>
              <p:nvSpPr>
                <p:cNvPr id="1050916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2267613" y="4227327"/>
                  <a:ext cx="360000" cy="278668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kern="1200" cap="none" spc="0" normalizeH="0" baseline="0" noProof="0" dirty="0">
                      <a:latin typeface="+mj-lt"/>
                      <a:ea typeface="宋体" pitchFamily="2" charset="-122"/>
                      <a:cs typeface="+mn-cs"/>
                    </a:rPr>
                    <a:t>Y</a:t>
                  </a:r>
                  <a:r>
                    <a:rPr kumimoji="0" lang="en-US" altLang="zh-CN" sz="1200" b="1" kern="1200" cap="none" spc="0" normalizeH="0" baseline="-25000" noProof="0" dirty="0">
                      <a:latin typeface="+mj-lt"/>
                      <a:ea typeface="宋体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50917" name="Line 117"/>
                <p:cNvSpPr/>
                <p:nvPr/>
              </p:nvSpPr>
              <p:spPr>
                <a:xfrm>
                  <a:off x="2358832" y="4285640"/>
                  <a:ext cx="108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39" name="组合 162"/>
              <p:cNvGrpSpPr/>
              <p:nvPr/>
            </p:nvGrpSpPr>
            <p:grpSpPr>
              <a:xfrm>
                <a:off x="2439442" y="2903771"/>
                <a:ext cx="360362" cy="276999"/>
                <a:chOff x="2267745" y="4227932"/>
                <a:chExt cx="360040" cy="277776"/>
              </a:xfrm>
            </p:grpSpPr>
            <p:sp>
              <p:nvSpPr>
                <p:cNvPr id="1050918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2257371" y="4227325"/>
                  <a:ext cx="360000" cy="278667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kern="1200" cap="none" spc="0" normalizeH="0" baseline="0" noProof="0" dirty="0">
                      <a:latin typeface="+mj-lt"/>
                      <a:ea typeface="宋体" pitchFamily="2" charset="-122"/>
                      <a:cs typeface="+mn-cs"/>
                    </a:rPr>
                    <a:t>Y</a:t>
                  </a:r>
                  <a:r>
                    <a:rPr kumimoji="0" lang="en-US" altLang="zh-CN" sz="1200" b="1" kern="1200" cap="none" spc="0" normalizeH="0" baseline="-25000" noProof="0" dirty="0">
                      <a:latin typeface="+mj-lt"/>
                      <a:ea typeface="宋体" pitchFamily="2" charset="-122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50919" name="Line 117"/>
                <p:cNvSpPr/>
                <p:nvPr/>
              </p:nvSpPr>
              <p:spPr>
                <a:xfrm>
                  <a:off x="2358832" y="4285640"/>
                  <a:ext cx="108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0" name="组合 162"/>
              <p:cNvGrpSpPr/>
              <p:nvPr/>
            </p:nvGrpSpPr>
            <p:grpSpPr>
              <a:xfrm>
                <a:off x="2588221" y="2903771"/>
                <a:ext cx="360362" cy="276999"/>
                <a:chOff x="2267745" y="4227932"/>
                <a:chExt cx="360040" cy="277776"/>
              </a:xfrm>
            </p:grpSpPr>
            <p:sp>
              <p:nvSpPr>
                <p:cNvPr id="1050920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2267315" y="4227325"/>
                  <a:ext cx="360000" cy="278667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kern="1200" cap="none" spc="0" normalizeH="0" baseline="0" noProof="0" dirty="0">
                      <a:latin typeface="+mj-lt"/>
                      <a:ea typeface="宋体" pitchFamily="2" charset="-122"/>
                      <a:cs typeface="+mn-cs"/>
                    </a:rPr>
                    <a:t>Y</a:t>
                  </a:r>
                  <a:r>
                    <a:rPr kumimoji="0" lang="en-US" altLang="zh-CN" sz="1200" b="1" kern="1200" cap="none" spc="0" normalizeH="0" baseline="-25000" noProof="0" dirty="0">
                      <a:latin typeface="+mj-lt"/>
                      <a:ea typeface="宋体" pitchFamily="2" charset="-122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50921" name="Line 117"/>
                <p:cNvSpPr/>
                <p:nvPr/>
              </p:nvSpPr>
              <p:spPr>
                <a:xfrm>
                  <a:off x="2358832" y="4285640"/>
                  <a:ext cx="10800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0922" name="Text Box 116"/>
              <p:cNvSpPr txBox="1">
                <a:spLocks noChangeArrowheads="1"/>
              </p:cNvSpPr>
              <p:nvPr/>
            </p:nvSpPr>
            <p:spPr bwMode="auto">
              <a:xfrm>
                <a:off x="2751285" y="2890462"/>
                <a:ext cx="360323" cy="27788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1050923" name="TextBox 164"/>
            <p:cNvSpPr txBox="1"/>
            <p:nvPr/>
          </p:nvSpPr>
          <p:spPr>
            <a:xfrm>
              <a:off x="7596125" y="4372320"/>
              <a:ext cx="1368363" cy="3381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</a:pPr>
              <a:r>
                <a:rPr kumimoji="1" lang="zh-CN" altLang="en-US" sz="1600" b="1" kern="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同步计数器</a:t>
              </a:r>
            </a:p>
          </p:txBody>
        </p:sp>
        <p:sp>
          <p:nvSpPr>
            <p:cNvPr id="1050924" name="圆角矩形 167"/>
            <p:cNvSpPr/>
            <p:nvPr/>
          </p:nvSpPr>
          <p:spPr>
            <a:xfrm>
              <a:off x="4635438" y="2589784"/>
              <a:ext cx="4320000" cy="2520000"/>
            </a:xfrm>
            <a:prstGeom prst="roundRect">
              <a:avLst>
                <a:gd name="adj" fmla="val 11023"/>
              </a:avLst>
            </a:prstGeom>
            <a:noFill/>
            <a:ln w="19050" cap="flat" cmpd="sng">
              <a:solidFill>
                <a:srgbClr val="C00000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用</a:t>
            </a:r>
            <a:r>
              <a:rPr kumimoji="1" lang="en-US" altLang="zh-CN" kern="1200" noProof="0" dirty="0">
                <a:latin typeface="+mj-lt"/>
                <a:cs typeface="+mn-cs"/>
                <a:sym typeface="+mn-ea"/>
              </a:rPr>
              <a:t>Verilog</a:t>
            </a:r>
            <a:r>
              <a:rPr kumimoji="1" lang="zh-CN" altLang="en-US" kern="1200" noProof="0" dirty="0">
                <a:cs typeface="+mn-cs"/>
                <a:sym typeface="+mn-ea"/>
              </a:rPr>
              <a:t>实现</a:t>
            </a:r>
            <a:r>
              <a:rPr kumimoji="1" lang="en-US" altLang="zh-CN" kern="1200" noProof="0" dirty="0">
                <a:cs typeface="+mn-cs"/>
                <a:sym typeface="+mn-ea"/>
              </a:rPr>
              <a:t>4</a:t>
            </a:r>
            <a:r>
              <a:rPr kumimoji="1" lang="zh-CN" altLang="en-US" kern="1200" noProof="0" dirty="0">
                <a:cs typeface="+mn-cs"/>
                <a:sym typeface="+mn-ea"/>
              </a:rPr>
              <a:t>位通用二进制计数器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600" y="629920"/>
            <a:ext cx="8726400" cy="404685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module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Vrcntr4u (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CLK, CLR, LD, ENP, ENT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, 	   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EN</a:t>
            </a:r>
            <a:r>
              <a:rPr lang="en-US" altLang="zh-CN" sz="1800" dirty="0">
                <a:solidFill>
                  <a:srgbClr val="00CC00"/>
                </a:solidFill>
                <a:sym typeface="+mn-ea"/>
              </a:rPr>
              <a:t>P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=1、EN</a:t>
            </a:r>
            <a:r>
              <a:rPr lang="en-US" altLang="zh-CN" sz="1800" dirty="0">
                <a:solidFill>
                  <a:srgbClr val="00CC00"/>
                </a:solidFill>
                <a:sym typeface="+mn-ea"/>
              </a:rPr>
              <a:t>T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=1，同步计数模式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	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		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ENP=</a:t>
            </a:r>
            <a:r>
              <a:rPr lang="en-US" altLang="zh-CN" sz="1800" dirty="0">
                <a:solidFill>
                  <a:srgbClr val="00CC00"/>
                </a:solidFill>
                <a:sym typeface="+mn-ea"/>
              </a:rPr>
              <a:t>0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、ENT=1，保持模式（包括</a:t>
            </a:r>
            <a:r>
              <a:rPr lang="en-US" altLang="zh-CN" sz="1800" dirty="0">
                <a:solidFill>
                  <a:srgbClr val="00CC00"/>
                </a:solidFill>
                <a:sym typeface="+mn-ea"/>
              </a:rPr>
              <a:t>RCO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状态</a:t>
            </a:r>
            <a:r>
              <a:rPr lang="zh-CN" altLang="en-US" sz="2000" dirty="0">
                <a:solidFill>
                  <a:srgbClr val="00CC00"/>
                </a:solidFill>
                <a:sym typeface="+mn-ea"/>
              </a:rPr>
              <a:t>）；其他组合，保持不变</a:t>
            </a:r>
            <a:endParaRPr lang="zh-CN" altLang="en-US" sz="2000" dirty="0">
              <a:solidFill>
                <a:srgbClr val="00CC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[3:0] D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,  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并行装载数据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[3:0] Q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,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RCO); 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solidFill>
                  <a:srgbClr val="00CC00"/>
                </a:solidFill>
                <a:sym typeface="+mn-ea"/>
              </a:rPr>
              <a:t>进位输出，用于级联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posedge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CLK)    // 创建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f-f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计数器的特性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(CLR)                          Q &lt;= 4‘d0;  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同步清零，优先级最高</a:t>
            </a:r>
            <a:endParaRPr lang="en-US" altLang="zh-CN" sz="1800" dirty="0">
              <a:latin typeface="Arial" panose="020B0604020202090204" pitchFamily="34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(LD)                     Q &lt;= D;   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其次，同步装载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(ENT &amp;&amp; ENP)    Q &lt;= Q + 1;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</a:t>
            </a:r>
            <a:r>
              <a:rPr lang="en-US" altLang="zh-CN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//ENP</a:t>
            </a:r>
            <a:r>
              <a:rPr lang="zh-CN" altLang="en-US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和</a:t>
            </a:r>
            <a:r>
              <a:rPr lang="en-US" altLang="zh-CN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ENT</a:t>
            </a:r>
            <a:r>
              <a:rPr lang="zh-CN" altLang="en-US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有效（且</a:t>
            </a:r>
            <a:r>
              <a:rPr lang="en-US" altLang="zh-CN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CLR</a:t>
            </a:r>
            <a:r>
              <a:rPr lang="zh-CN" altLang="en-US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，</a:t>
            </a:r>
            <a:r>
              <a:rPr lang="en-US" altLang="zh-CN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LD</a:t>
            </a:r>
            <a:r>
              <a:rPr lang="zh-CN" altLang="en-US" sz="16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无效），计数</a:t>
            </a:r>
            <a:endParaRPr lang="zh-CN" altLang="en-US" sz="1600" dirty="0">
              <a:solidFill>
                <a:srgbClr val="00CC00"/>
              </a:solidFill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else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Q &lt;= 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Q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;			</a:t>
            </a:r>
            <a:r>
              <a:rPr lang="zh-CN" altLang="en-US" sz="20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</a:t>
            </a:r>
            <a:r>
              <a:rPr lang="zh-CN" altLang="en-US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否则保持不变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*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)                        // 创建组合输出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RCO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，便于级联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(Q == 4‘d15))   RCO = 1;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//ENT=1</a:t>
            </a:r>
            <a:r>
              <a:rPr lang="zh-CN" altLang="en-US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且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Q=1111</a:t>
            </a:r>
            <a:r>
              <a:rPr lang="zh-CN" altLang="en-US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时，</a:t>
            </a:r>
            <a:r>
              <a:rPr lang="en-US" altLang="zh-CN" sz="1800" dirty="0">
                <a:solidFill>
                  <a:srgbClr val="00CC00"/>
                </a:solidFill>
                <a:latin typeface="Arial" panose="020B0604020202090204" pitchFamily="34" charset="0"/>
                <a:sym typeface="+mn-ea"/>
              </a:rPr>
              <a:t>RCO=1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                       RCO = 0;</a:t>
            </a:r>
            <a:endParaRPr lang="zh-CN" altLang="en-US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1800" b="1" dirty="0">
                <a:latin typeface="Arial" panose="020B0604020202090204" pitchFamily="34" charset="0"/>
                <a:sym typeface="+mn-ea"/>
              </a:rPr>
              <a:t>endmodule</a:t>
            </a:r>
            <a:endParaRPr lang="zh-CN" altLang="en-US" sz="18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85">
            <a:extLst>
              <a:ext uri="{FF2B5EF4-FFF2-40B4-BE49-F238E27FC236}">
                <a16:creationId xmlns:a16="http://schemas.microsoft.com/office/drawing/2014/main" id="{D821F2FF-1650-4F2F-83CB-7218743E4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22557"/>
              </p:ext>
            </p:extLst>
          </p:nvPr>
        </p:nvGraphicFramePr>
        <p:xfrm>
          <a:off x="348394" y="159864"/>
          <a:ext cx="6061086" cy="302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Visio" r:id="rId3" imgW="3774948" imgH="2114702" progId="Visio.Drawing.11">
                  <p:embed/>
                </p:oleObj>
              </mc:Choice>
              <mc:Fallback>
                <p:oleObj name="Visio" r:id="rId3" imgW="3774948" imgH="2114702" progId="Visio.Drawing.11">
                  <p:embed/>
                  <p:pic>
                    <p:nvPicPr>
                      <p:cNvPr id="294997" name="Object 85">
                        <a:extLst>
                          <a:ext uri="{FF2B5EF4-FFF2-40B4-BE49-F238E27FC236}">
                            <a16:creationId xmlns:a16="http://schemas.microsoft.com/office/drawing/2014/main" id="{0948B926-AB7F-450C-AFA0-46E390B7C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99" t="9380" r="4842" b="7892"/>
                      <a:stretch>
                        <a:fillRect/>
                      </a:stretch>
                    </p:blipFill>
                    <p:spPr bwMode="auto">
                      <a:xfrm>
                        <a:off x="348394" y="159864"/>
                        <a:ext cx="6061086" cy="302984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7150" cap="sq" cmpd="thickThin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70657">
            <a:extLst>
              <a:ext uri="{FF2B5EF4-FFF2-40B4-BE49-F238E27FC236}">
                <a16:creationId xmlns:a16="http://schemas.microsoft.com/office/drawing/2014/main" id="{5DCC202B-06F6-4236-8ED5-3DC09B3F37B6}"/>
              </a:ext>
            </a:extLst>
          </p:cNvPr>
          <p:cNvSpPr txBox="1">
            <a:spLocks/>
          </p:cNvSpPr>
          <p:nvPr/>
        </p:nvSpPr>
        <p:spPr>
          <a:xfrm>
            <a:off x="4346650" y="3540730"/>
            <a:ext cx="3479800" cy="576262"/>
          </a:xfrm>
          <a:prstGeom prst="rect">
            <a:avLst/>
          </a:prstGeom>
          <a:ln w="57150" cmpd="thickThin">
            <a:miter/>
          </a:ln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800" noProof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R</a:t>
            </a:r>
            <a:r>
              <a:rPr lang="en-US" altLang="zh-CN" sz="1800" baseline="-25000" noProof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D</a:t>
            </a:r>
            <a:r>
              <a:rPr lang="zh-CN" altLang="en-US" sz="1800" noProof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－异步清零端：</a:t>
            </a: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F4EB4315-A40A-482D-A0EF-0AFA30AE5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550" y="3566685"/>
            <a:ext cx="30574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低电平清零，不受时钟控制</a:t>
            </a:r>
          </a:p>
        </p:txBody>
      </p:sp>
      <p:sp>
        <p:nvSpPr>
          <p:cNvPr id="10" name="标题 70657">
            <a:extLst>
              <a:ext uri="{FF2B5EF4-FFF2-40B4-BE49-F238E27FC236}">
                <a16:creationId xmlns:a16="http://schemas.microsoft.com/office/drawing/2014/main" id="{9487A27B-F28A-4E9F-B9D0-A09984243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083" y="4028092"/>
            <a:ext cx="3175876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tx1"/>
              </a:buClr>
            </a:pPr>
            <a:r>
              <a:rPr lang="en-US" altLang="zh-CN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LD</a:t>
            </a: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－同步置数端：</a:t>
            </a:r>
          </a:p>
        </p:txBody>
      </p:sp>
      <p:sp>
        <p:nvSpPr>
          <p:cNvPr id="11" name="文本框 6">
            <a:extLst>
              <a:ext uri="{FF2B5EF4-FFF2-40B4-BE49-F238E27FC236}">
                <a16:creationId xmlns:a16="http://schemas.microsoft.com/office/drawing/2014/main" id="{5BEE7F69-D19A-4FDE-8C23-95BD09E3E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756" y="4029422"/>
            <a:ext cx="29482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低电平置数，受时钟控制。</a:t>
            </a:r>
          </a:p>
        </p:txBody>
      </p:sp>
      <p:sp>
        <p:nvSpPr>
          <p:cNvPr id="12" name="文本框 7">
            <a:extLst>
              <a:ext uri="{FF2B5EF4-FFF2-40B4-BE49-F238E27FC236}">
                <a16:creationId xmlns:a16="http://schemas.microsoft.com/office/drawing/2014/main" id="{DF8EA42E-0EC1-403B-ABC3-581E31BE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909" y="4468485"/>
            <a:ext cx="48960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当时钟来到时置数，即输出</a:t>
            </a:r>
            <a:r>
              <a:rPr lang="en-US" altLang="zh-CN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1800" baseline="-25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～ </a:t>
            </a:r>
            <a:r>
              <a:rPr lang="en-US" altLang="zh-CN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Q</a:t>
            </a:r>
            <a:r>
              <a:rPr lang="en-US" altLang="zh-CN" sz="1800" baseline="-25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en-US" altLang="zh-CN" sz="1800" baseline="-25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～ </a:t>
            </a:r>
            <a:r>
              <a:rPr lang="en-US" altLang="zh-CN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en-US" altLang="zh-CN" sz="1800" baseline="-25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3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13" name="标题 70657">
            <a:extLst>
              <a:ext uri="{FF2B5EF4-FFF2-40B4-BE49-F238E27FC236}">
                <a16:creationId xmlns:a16="http://schemas.microsoft.com/office/drawing/2014/main" id="{F7F2ADE6-5FDD-4B4D-8F92-D1B303ABC60C}"/>
              </a:ext>
            </a:extLst>
          </p:cNvPr>
          <p:cNvSpPr txBox="1">
            <a:spLocks/>
          </p:cNvSpPr>
          <p:nvPr/>
        </p:nvSpPr>
        <p:spPr>
          <a:xfrm>
            <a:off x="68430" y="3572298"/>
            <a:ext cx="4179479" cy="1500569"/>
          </a:xfrm>
          <a:prstGeom prst="rect">
            <a:avLst/>
          </a:prstGeom>
          <a:ln w="57150" cmpd="thickThin">
            <a:solidFill>
              <a:schemeClr val="bg2">
                <a:lumMod val="60000"/>
                <a:lumOff val="40000"/>
              </a:schemeClr>
            </a:solidFill>
            <a:miter/>
          </a:ln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R</a:t>
            </a:r>
            <a:r>
              <a:rPr lang="en-US" altLang="zh-CN" sz="2000" b="0" kern="0" baseline="-2500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－</a:t>
            </a:r>
            <a:r>
              <a:rPr lang="zh-CN" altLang="en-US" sz="2000" b="0" kern="0" noProof="1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异步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清零端；</a:t>
            </a: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LD</a:t>
            </a: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－</a:t>
            </a:r>
            <a:r>
              <a:rPr lang="zh-CN" altLang="en-US" sz="2000" b="0" kern="0" noProof="1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同步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置数；</a:t>
            </a:r>
            <a:br>
              <a:rPr lang="zh-CN" altLang="en-US" sz="2000" b="0" kern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</a:b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EP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、</a:t>
            </a: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ET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－工作状态控制端                      </a:t>
            </a: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000" b="0" kern="0" baseline="-2500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0 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～ </a:t>
            </a: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000" b="0" kern="0" baseline="-2500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3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－预置数输入端；</a:t>
            </a:r>
            <a:br>
              <a:rPr lang="zh-CN" altLang="en-US" sz="2000" b="0" kern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</a:b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Q</a:t>
            </a:r>
            <a:r>
              <a:rPr lang="en-US" altLang="zh-CN" sz="2000" b="0" kern="0" baseline="-2500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0 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～ </a:t>
            </a:r>
            <a:r>
              <a:rPr lang="en-US" altLang="zh-CN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Q</a:t>
            </a:r>
            <a:r>
              <a:rPr lang="en-US" altLang="zh-CN" sz="2000" b="0" kern="0" baseline="-2500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3</a:t>
            </a:r>
            <a:r>
              <a:rPr lang="zh-CN" altLang="en-US" sz="2000" b="0" kern="0" noProof="1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－计数输出端</a:t>
            </a:r>
          </a:p>
        </p:txBody>
      </p:sp>
    </p:spTree>
    <p:extLst>
      <p:ext uri="{BB962C8B-B14F-4D97-AF65-F5344CB8AC3E}">
        <p14:creationId xmlns:p14="http://schemas.microsoft.com/office/powerpoint/2010/main" val="100985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0" grpId="0" bldLvl="0" animBg="1"/>
      <p:bldP spid="11" grpId="0"/>
      <p:bldP spid="12" grpId="0"/>
      <p:bldP spid="13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用</a:t>
            </a:r>
            <a:r>
              <a:rPr kumimoji="1" lang="en-US" altLang="zh-CN" kern="1200" noProof="0" dirty="0">
                <a:latin typeface="+mj-lt"/>
                <a:cs typeface="+mn-cs"/>
                <a:sym typeface="+mn-ea"/>
              </a:rPr>
              <a:t>Verilog</a:t>
            </a:r>
            <a:r>
              <a:rPr kumimoji="1" lang="zh-CN" altLang="en-US" kern="1200" noProof="0" dirty="0">
                <a:cs typeface="+mn-cs"/>
                <a:sym typeface="+mn-ea"/>
              </a:rPr>
              <a:t>实现</a:t>
            </a:r>
            <a:r>
              <a:rPr kumimoji="1" lang="en-US" altLang="zh-CN" kern="1200" noProof="0" dirty="0">
                <a:cs typeface="+mn-cs"/>
                <a:sym typeface="+mn-ea"/>
              </a:rPr>
              <a:t>4</a:t>
            </a:r>
            <a:r>
              <a:rPr kumimoji="1" lang="zh-CN" altLang="en-US" kern="1200" noProof="0" dirty="0">
                <a:cs typeface="+mn-cs"/>
                <a:sym typeface="+mn-ea"/>
              </a:rPr>
              <a:t>位通用十进制计数器</a:t>
            </a:r>
            <a:endParaRPr lang="zh-CN" altLang="en-US"/>
          </a:p>
        </p:txBody>
      </p:sp>
      <p:sp>
        <p:nvSpPr>
          <p:cNvPr id="1050932" name="内容占位符 2"/>
          <p:cNvSpPr>
            <a:spLocks noGrp="1"/>
          </p:cNvSpPr>
          <p:nvPr>
            <p:ph idx="1"/>
          </p:nvPr>
        </p:nvSpPr>
        <p:spPr>
          <a:xfrm>
            <a:off x="417600" y="782322"/>
            <a:ext cx="8320405" cy="404685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module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Vrcntr4udec (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CLK, CLR, LD, ENP, ENT,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[3:0] D,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[3:0] Q,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RCO);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@ (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posedge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CLK)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创建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f-f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计数器的特性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(CLR)                Q &lt;= 4'd0;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(LD)            Q &lt;= D;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ENP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(Q == 4'd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9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))  Q &lt;= 4'd0;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ENP)    Q &lt;= Q + 1;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Q &lt;= 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Q;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					   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    always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@ (*)    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创建组合输出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RCO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(Q == 4'd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9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))    RCO = 1;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    RCO = 0;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endmodule</a:t>
            </a:r>
            <a:endParaRPr lang="zh-CN" altLang="en-US" sz="16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kern="1200" noProof="0" dirty="0">
                <a:cs typeface="+mn-cs"/>
                <a:sym typeface="+mn-ea"/>
              </a:rPr>
              <a:t>用</a:t>
            </a:r>
            <a:r>
              <a:rPr kumimoji="1" lang="en-US" altLang="zh-CN" kern="1200" noProof="0" dirty="0">
                <a:latin typeface="+mj-lt"/>
                <a:cs typeface="+mn-cs"/>
                <a:sym typeface="+mn-ea"/>
              </a:rPr>
              <a:t>Verilog</a:t>
            </a:r>
            <a:r>
              <a:rPr kumimoji="1" lang="zh-CN" altLang="en-US" kern="1200" noProof="0" dirty="0">
                <a:cs typeface="+mn-cs"/>
                <a:sym typeface="+mn-ea"/>
              </a:rPr>
              <a:t>实现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余三</a:t>
            </a:r>
            <a:r>
              <a:rPr lang="zh-CN" altLang="en-US" dirty="0">
                <a:sym typeface="+mn-ea"/>
              </a:rPr>
              <a:t>十进制</a:t>
            </a:r>
            <a:r>
              <a:rPr kumimoji="1" lang="zh-CN" altLang="en-US" kern="1200" noProof="0" dirty="0">
                <a:cs typeface="+mn-cs"/>
                <a:sym typeface="+mn-ea"/>
              </a:rPr>
              <a:t>计数器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module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Vrexcess3 (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CLK, CLR, LD, ENP, ENT,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[3:0] D,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[3:0] Q,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600" dirty="0">
                <a:latin typeface="Arial" panose="020B0604020202090204" pitchFamily="34" charset="0"/>
                <a:sym typeface="+mn-ea"/>
              </a:rPr>
              <a:t> RCO);</a:t>
            </a:r>
            <a:endParaRPr lang="en-US" altLang="zh-CN" sz="16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posedge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CLK)  // </a:t>
            </a:r>
            <a:r>
              <a:rPr lang="zh-CN" altLang="en-US" sz="2000" dirty="0">
                <a:latin typeface="Arial" panose="020B0604020202090204" pitchFamily="34" charset="0"/>
                <a:sym typeface="+mn-ea"/>
              </a:rPr>
              <a:t>创建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f-f</a:t>
            </a:r>
            <a:r>
              <a:rPr lang="zh-CN" altLang="en-US" sz="2000" dirty="0">
                <a:latin typeface="Arial" panose="020B0604020202090204" pitchFamily="34" charset="0"/>
                <a:sym typeface="+mn-ea"/>
              </a:rPr>
              <a:t>计数器的特性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(CLR)                               Q &lt;= 4'd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3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(LD)                          Q &lt;= D;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ENP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(Q == 4'd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12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))  Q &lt;= 4'd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sym typeface="+mn-ea"/>
              </a:rPr>
              <a:t>3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ENP)         Q &lt;= Q + 1;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			</a:t>
            </a:r>
            <a:r>
              <a:rPr lang="zh-CN" altLang="en-US" sz="2000" dirty="0">
                <a:latin typeface="Arial" panose="020B0604020202090204" pitchFamily="34" charset="0"/>
                <a:sym typeface="+mn-ea"/>
              </a:rPr>
              <a:t>Q &lt;= 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Q;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    always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(*)     // </a:t>
            </a:r>
            <a:r>
              <a:rPr lang="zh-CN" altLang="en-US" sz="2000" dirty="0">
                <a:latin typeface="Arial" panose="020B0604020202090204" pitchFamily="34" charset="0"/>
                <a:sym typeface="+mn-ea"/>
              </a:rPr>
              <a:t>创建组合输出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RCO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(Q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==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4'd12))    RCO = 1;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20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2000" dirty="0">
                <a:latin typeface="Arial" panose="020B0604020202090204" pitchFamily="34" charset="0"/>
                <a:sym typeface="+mn-ea"/>
              </a:rPr>
              <a:t>                                     RCO = 0;</a:t>
            </a:r>
            <a:endParaRPr lang="en-US" altLang="zh-CN" sz="2000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1600" b="1" dirty="0">
                <a:latin typeface="Arial" panose="020B0604020202090204" pitchFamily="34" charset="0"/>
                <a:sym typeface="+mn-ea"/>
              </a:rPr>
              <a:t>endmodule</a:t>
            </a:r>
            <a:endParaRPr lang="zh-CN" altLang="en-US" sz="1600" b="1" dirty="0">
              <a:latin typeface="Arial" panose="020B060402020209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zh-CN" altLang="en-US" sz="16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kern="1200" noProof="0" dirty="0">
                <a:cs typeface="+mn-cs"/>
                <a:sym typeface="+mn-ea"/>
              </a:rPr>
              <a:t>用</a:t>
            </a:r>
            <a:r>
              <a:rPr kumimoji="1" lang="en-US" altLang="zh-CN" sz="3600" kern="1200" noProof="0" dirty="0">
                <a:latin typeface="+mj-lt"/>
                <a:cs typeface="+mn-cs"/>
                <a:sym typeface="+mn-ea"/>
              </a:rPr>
              <a:t>Verilog</a:t>
            </a:r>
            <a:r>
              <a:rPr kumimoji="1" lang="zh-CN" altLang="en-US" sz="3600" kern="1200" noProof="0" dirty="0">
                <a:cs typeface="+mn-cs"/>
                <a:sym typeface="+mn-ea"/>
              </a:rPr>
              <a:t>实现</a:t>
            </a:r>
            <a:r>
              <a:rPr lang="en-US" altLang="zh-CN" sz="3600" dirty="0">
                <a:sym typeface="+mn-ea"/>
              </a:rPr>
              <a:t>4</a:t>
            </a:r>
            <a:r>
              <a:rPr lang="zh-CN" altLang="en-US" sz="3600" dirty="0">
                <a:sym typeface="+mn-ea"/>
              </a:rPr>
              <a:t>位</a:t>
            </a:r>
            <a:r>
              <a:rPr lang="zh-CN" altLang="en-US" sz="3600" dirty="0">
                <a:solidFill>
                  <a:srgbClr val="FF0000"/>
                </a:solidFill>
                <a:sym typeface="+mn-ea"/>
              </a:rPr>
              <a:t>递增</a:t>
            </a:r>
            <a:r>
              <a:rPr lang="en-US" altLang="zh-CN" sz="3600" dirty="0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sz="3600" dirty="0">
                <a:solidFill>
                  <a:srgbClr val="FF0000"/>
                </a:solidFill>
                <a:sym typeface="+mn-ea"/>
              </a:rPr>
              <a:t>递减</a:t>
            </a:r>
            <a:r>
              <a:rPr lang="zh-CN" altLang="en-US" sz="3600" dirty="0">
                <a:sym typeface="+mn-ea"/>
              </a:rPr>
              <a:t>的计数器</a:t>
            </a:r>
          </a:p>
        </p:txBody>
      </p:sp>
      <p:sp>
        <p:nvSpPr>
          <p:cNvPr id="1050942" name="内容占位符 2"/>
          <p:cNvSpPr>
            <a:spLocks noGrp="1"/>
          </p:cNvSpPr>
          <p:nvPr>
            <p:ph idx="1"/>
          </p:nvPr>
        </p:nvSpPr>
        <p:spPr>
          <a:xfrm>
            <a:off x="417600" y="756925"/>
            <a:ext cx="8320405" cy="4046855"/>
          </a:xfrm>
        </p:spPr>
        <p:txBody>
          <a:bodyPr/>
          <a:lstStyle/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module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Vrupdn4 (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CLK, CLR, LD, ENP, ENT, UPDN,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input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[3:0] D,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[3:0] Q,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output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reg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RCO);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posedge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CLK)     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(CLR )                 Q &lt;= 4'b0;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(LD)             Q &lt;= D;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ENP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UPDN)         Q &lt;= Q + 1;  //UPDN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1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，递增计数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ENP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!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UPDN)         Q &lt;= Q - 1;   //UPDN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0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，递减计数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				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Q &lt;= 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Q;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always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@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(*) // 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创建组合输出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RCO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UPDN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(Q == 4'd15))    RCO = 1; //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递增计数到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15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进位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if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(ENT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!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UPDN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&amp;&amp;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(Q == 4'd0 ))  RCO = 1; //</a:t>
            </a:r>
            <a:r>
              <a:rPr lang="zh-CN" altLang="en-US" sz="1800" dirty="0">
                <a:latin typeface="Arial" panose="020B0604020202090204" pitchFamily="34" charset="0"/>
                <a:sym typeface="+mn-ea"/>
              </a:rPr>
              <a:t>递减计数到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0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</a:t>
            </a: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else</a:t>
            </a:r>
            <a:r>
              <a:rPr lang="en-US" altLang="zh-CN" sz="1800" dirty="0">
                <a:latin typeface="Arial" panose="020B0604020202090204" pitchFamily="34" charset="0"/>
                <a:sym typeface="+mn-ea"/>
              </a:rPr>
              <a:t>                                    RCO = 0;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sz="1800" b="1" dirty="0">
                <a:latin typeface="Arial" panose="020B0604020202090204" pitchFamily="34" charset="0"/>
                <a:sym typeface="+mn-ea"/>
              </a:rPr>
              <a:t>endmodule</a:t>
            </a:r>
            <a:endParaRPr lang="zh-CN" altLang="en-US" sz="1800" b="1" dirty="0">
              <a:latin typeface="Arial" panose="020B0604020202090204" pitchFamily="34" charset="0"/>
            </a:endParaRPr>
          </a:p>
          <a:p>
            <a:pPr marL="0" indent="0">
              <a:buNone/>
            </a:pPr>
            <a:endParaRPr lang="zh-CN" altLang="en-US" sz="18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寄存器和计数器</a:t>
            </a:r>
          </a:p>
        </p:txBody>
      </p:sp>
      <p:sp>
        <p:nvSpPr>
          <p:cNvPr id="104907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寄存器（Registers） 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移位寄存器（Shift Registers）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计数器（Counters）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节拍发生器（Beat Generator）自学 </a:t>
            </a:r>
            <a:endParaRPr lang="zh-CN" altLang="en-US" sz="3600" b="1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049073" name="灯片编号占位符 4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2075" tIns="46038" rIns="92075" bIns="46038" numCol="1" anchor="ctr" anchorCtr="0" compatLnSpc="1"/>
          <a:lstStyle/>
          <a:p>
            <a:pPr marL="0" indent="0" algn="r" defTabSz="68580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43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49" name="Text Box 4"/>
          <p:cNvSpPr txBox="1"/>
          <p:nvPr/>
        </p:nvSpPr>
        <p:spPr>
          <a:xfrm>
            <a:off x="1338263" y="30480"/>
            <a:ext cx="69056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典型时序逻辑部件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节拍发生器</a:t>
            </a:r>
          </a:p>
        </p:txBody>
      </p:sp>
      <p:grpSp>
        <p:nvGrpSpPr>
          <p:cNvPr id="555" name="组合 246"/>
          <p:cNvGrpSpPr/>
          <p:nvPr/>
        </p:nvGrpSpPr>
        <p:grpSpPr>
          <a:xfrm>
            <a:off x="3924300" y="1203325"/>
            <a:ext cx="4608513" cy="1720850"/>
            <a:chOff x="4442644" y="987574"/>
            <a:chExt cx="4335036" cy="1433954"/>
          </a:xfrm>
        </p:grpSpPr>
        <p:sp>
          <p:nvSpPr>
            <p:cNvPr id="1050950" name="圆角矩形 108"/>
            <p:cNvSpPr/>
            <p:nvPr/>
          </p:nvSpPr>
          <p:spPr>
            <a:xfrm>
              <a:off x="5004048" y="987574"/>
              <a:ext cx="2016224" cy="14211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19050">
              <a:noFill/>
            </a:ln>
          </p:spPr>
          <p:txBody>
            <a:bodyPr wrap="none"/>
            <a:lstStyle/>
            <a:p>
              <a:pPr algn="ctr" eaLnBrk="1" hangingPunct="1"/>
              <a:endPara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0951" name="Line 61"/>
            <p:cNvSpPr>
              <a:spLocks noChangeShapeType="1"/>
            </p:cNvSpPr>
            <p:nvPr/>
          </p:nvSpPr>
          <p:spPr bwMode="auto">
            <a:xfrm>
              <a:off x="5075801" y="1203197"/>
              <a:ext cx="0" cy="10807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0952" name="Line 62"/>
            <p:cNvSpPr/>
            <p:nvPr/>
          </p:nvSpPr>
          <p:spPr>
            <a:xfrm>
              <a:off x="5542781" y="1211535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953" name="Line 63"/>
            <p:cNvSpPr/>
            <p:nvPr/>
          </p:nvSpPr>
          <p:spPr>
            <a:xfrm>
              <a:off x="6004743" y="1206773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954" name="Line 65"/>
            <p:cNvSpPr/>
            <p:nvPr/>
          </p:nvSpPr>
          <p:spPr>
            <a:xfrm>
              <a:off x="6465118" y="1182960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0955" name="Text Box 67"/>
            <p:cNvSpPr txBox="1">
              <a:spLocks noChangeArrowheads="1"/>
            </p:cNvSpPr>
            <p:nvPr/>
          </p:nvSpPr>
          <p:spPr bwMode="auto">
            <a:xfrm>
              <a:off x="4442644" y="1049748"/>
              <a:ext cx="431563" cy="26192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</a:p>
          </p:txBody>
        </p:sp>
        <p:sp>
          <p:nvSpPr>
            <p:cNvPr id="1050956" name="Text Box 68"/>
            <p:cNvSpPr txBox="1">
              <a:spLocks noChangeArrowheads="1"/>
            </p:cNvSpPr>
            <p:nvPr/>
          </p:nvSpPr>
          <p:spPr bwMode="auto">
            <a:xfrm>
              <a:off x="4448617" y="1338126"/>
              <a:ext cx="450975" cy="26192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0957" name="Text Box 69"/>
            <p:cNvSpPr txBox="1">
              <a:spLocks noChangeArrowheads="1"/>
            </p:cNvSpPr>
            <p:nvPr/>
          </p:nvSpPr>
          <p:spPr bwMode="auto">
            <a:xfrm>
              <a:off x="4472510" y="1896363"/>
              <a:ext cx="450975" cy="26192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556" name="Group 70"/>
            <p:cNvGrpSpPr/>
            <p:nvPr/>
          </p:nvGrpSpPr>
          <p:grpSpPr>
            <a:xfrm>
              <a:off x="4849043" y="1101998"/>
              <a:ext cx="2074863" cy="152400"/>
              <a:chOff x="480" y="2160"/>
              <a:chExt cx="2160" cy="240"/>
            </a:xfrm>
          </p:grpSpPr>
          <p:sp>
            <p:nvSpPr>
              <p:cNvPr id="1050958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59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0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61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2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3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4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65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6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7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68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69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70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71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72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73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74" name="Line 87"/>
              <p:cNvSpPr/>
              <p:nvPr/>
            </p:nvSpPr>
            <p:spPr>
              <a:xfrm>
                <a:off x="48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0975" name="Text Box 90"/>
            <p:cNvSpPr txBox="1">
              <a:spLocks noChangeArrowheads="1"/>
            </p:cNvSpPr>
            <p:nvPr/>
          </p:nvSpPr>
          <p:spPr bwMode="auto">
            <a:xfrm>
              <a:off x="4453098" y="1614598"/>
              <a:ext cx="450975" cy="26192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algn="just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0976" name="Text Box 178"/>
            <p:cNvSpPr txBox="1">
              <a:spLocks noChangeArrowheads="1"/>
            </p:cNvSpPr>
            <p:nvPr/>
          </p:nvSpPr>
          <p:spPr bwMode="auto">
            <a:xfrm>
              <a:off x="4471017" y="2159607"/>
              <a:ext cx="377803" cy="26192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grpSp>
          <p:nvGrpSpPr>
            <p:cNvPr id="557" name="Group 70"/>
            <p:cNvGrpSpPr/>
            <p:nvPr/>
          </p:nvGrpSpPr>
          <p:grpSpPr>
            <a:xfrm>
              <a:off x="6918800" y="1098848"/>
              <a:ext cx="1844323" cy="152400"/>
              <a:chOff x="720" y="2160"/>
              <a:chExt cx="1920" cy="240"/>
            </a:xfrm>
          </p:grpSpPr>
          <p:sp>
            <p:nvSpPr>
              <p:cNvPr id="1050977" name="Line 71"/>
              <p:cNvSpPr/>
              <p:nvPr/>
            </p:nvSpPr>
            <p:spPr>
              <a:xfrm>
                <a:off x="72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78" name="Line 72"/>
              <p:cNvSpPr/>
              <p:nvPr/>
            </p:nvSpPr>
            <p:spPr>
              <a:xfrm>
                <a:off x="9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79" name="Line 73"/>
              <p:cNvSpPr/>
              <p:nvPr/>
            </p:nvSpPr>
            <p:spPr>
              <a:xfrm>
                <a:off x="7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80" name="Line 74"/>
              <p:cNvSpPr/>
              <p:nvPr/>
            </p:nvSpPr>
            <p:spPr>
              <a:xfrm>
                <a:off x="96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1" name="Line 75"/>
              <p:cNvSpPr/>
              <p:nvPr/>
            </p:nvSpPr>
            <p:spPr>
              <a:xfrm>
                <a:off x="120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2" name="Line 76"/>
              <p:cNvSpPr/>
              <p:nvPr/>
            </p:nvSpPr>
            <p:spPr>
              <a:xfrm>
                <a:off x="144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3" name="Line 77"/>
              <p:cNvSpPr/>
              <p:nvPr/>
            </p:nvSpPr>
            <p:spPr>
              <a:xfrm>
                <a:off x="12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84" name="Line 78"/>
              <p:cNvSpPr/>
              <p:nvPr/>
            </p:nvSpPr>
            <p:spPr>
              <a:xfrm>
                <a:off x="144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5" name="Line 79"/>
              <p:cNvSpPr/>
              <p:nvPr/>
            </p:nvSpPr>
            <p:spPr>
              <a:xfrm>
                <a:off x="168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6" name="Line 80"/>
              <p:cNvSpPr/>
              <p:nvPr/>
            </p:nvSpPr>
            <p:spPr>
              <a:xfrm>
                <a:off x="192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7" name="Line 81"/>
              <p:cNvSpPr/>
              <p:nvPr/>
            </p:nvSpPr>
            <p:spPr>
              <a:xfrm>
                <a:off x="168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88" name="Line 82"/>
              <p:cNvSpPr/>
              <p:nvPr/>
            </p:nvSpPr>
            <p:spPr>
              <a:xfrm>
                <a:off x="192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89" name="Line 83"/>
              <p:cNvSpPr/>
              <p:nvPr/>
            </p:nvSpPr>
            <p:spPr>
              <a:xfrm>
                <a:off x="2160" y="21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90" name="Line 84"/>
              <p:cNvSpPr/>
              <p:nvPr/>
            </p:nvSpPr>
            <p:spPr>
              <a:xfrm>
                <a:off x="240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0991" name="Line 85"/>
              <p:cNvSpPr/>
              <p:nvPr/>
            </p:nvSpPr>
            <p:spPr>
              <a:xfrm>
                <a:off x="2160" y="2160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  <p:sp>
            <p:nvSpPr>
              <p:cNvPr id="1050992" name="Line 86"/>
              <p:cNvSpPr/>
              <p:nvPr/>
            </p:nvSpPr>
            <p:spPr>
              <a:xfrm>
                <a:off x="2400" y="240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58" name="组合 153"/>
            <p:cNvGrpSpPr/>
            <p:nvPr/>
          </p:nvGrpSpPr>
          <p:grpSpPr>
            <a:xfrm>
              <a:off x="4817293" y="1401733"/>
              <a:ext cx="3945812" cy="124529"/>
              <a:chOff x="482154" y="2605653"/>
              <a:chExt cx="3945812" cy="124529"/>
            </a:xfrm>
          </p:grpSpPr>
          <p:grpSp>
            <p:nvGrpSpPr>
              <p:cNvPr id="559" name="Group 91"/>
              <p:cNvGrpSpPr/>
              <p:nvPr/>
            </p:nvGrpSpPr>
            <p:grpSpPr>
              <a:xfrm>
                <a:off x="482154" y="2606671"/>
                <a:ext cx="1634704" cy="123511"/>
                <a:chOff x="448" y="2592"/>
                <a:chExt cx="1702" cy="194"/>
              </a:xfrm>
            </p:grpSpPr>
            <p:sp>
              <p:nvSpPr>
                <p:cNvPr id="1050993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994" name="Line 93"/>
                <p:cNvSpPr/>
                <p:nvPr/>
              </p:nvSpPr>
              <p:spPr>
                <a:xfrm>
                  <a:off x="1203" y="2784"/>
                  <a:ext cx="49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0995" name="Line 94"/>
                <p:cNvSpPr/>
                <p:nvPr/>
              </p:nvSpPr>
              <p:spPr>
                <a:xfrm>
                  <a:off x="72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996" name="Line 95"/>
                <p:cNvSpPr/>
                <p:nvPr/>
              </p:nvSpPr>
              <p:spPr>
                <a:xfrm flipH="1">
                  <a:off x="448" y="2784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997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0998" name="Line 98"/>
                <p:cNvSpPr/>
                <p:nvPr/>
              </p:nvSpPr>
              <p:spPr>
                <a:xfrm flipH="1">
                  <a:off x="1678" y="2786"/>
                  <a:ext cx="47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60" name="Group 91"/>
              <p:cNvGrpSpPr/>
              <p:nvPr/>
            </p:nvGrpSpPr>
            <p:grpSpPr>
              <a:xfrm>
                <a:off x="2123828" y="2605653"/>
                <a:ext cx="2304138" cy="122238"/>
                <a:chOff x="448" y="2592"/>
                <a:chExt cx="2399" cy="192"/>
              </a:xfrm>
            </p:grpSpPr>
            <p:sp>
              <p:nvSpPr>
                <p:cNvPr id="1050999" name="Line 92"/>
                <p:cNvSpPr/>
                <p:nvPr/>
              </p:nvSpPr>
              <p:spPr>
                <a:xfrm>
                  <a:off x="93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00" name="Line 93"/>
                <p:cNvSpPr/>
                <p:nvPr/>
              </p:nvSpPr>
              <p:spPr>
                <a:xfrm>
                  <a:off x="1423" y="2784"/>
                  <a:ext cx="1424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01" name="Line 94"/>
                <p:cNvSpPr/>
                <p:nvPr/>
              </p:nvSpPr>
              <p:spPr>
                <a:xfrm>
                  <a:off x="93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02" name="Line 95"/>
                <p:cNvSpPr/>
                <p:nvPr/>
              </p:nvSpPr>
              <p:spPr>
                <a:xfrm flipH="1">
                  <a:off x="448" y="2784"/>
                  <a:ext cx="487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03" name="Line 96"/>
                <p:cNvSpPr/>
                <p:nvPr/>
              </p:nvSpPr>
              <p:spPr>
                <a:xfrm>
                  <a:off x="141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61" name="组合 167"/>
            <p:cNvGrpSpPr/>
            <p:nvPr/>
          </p:nvGrpSpPr>
          <p:grpSpPr>
            <a:xfrm>
              <a:off x="4821299" y="1670711"/>
              <a:ext cx="3956381" cy="124528"/>
              <a:chOff x="16329" y="2605654"/>
              <a:chExt cx="3956381" cy="124528"/>
            </a:xfrm>
          </p:grpSpPr>
          <p:grpSp>
            <p:nvGrpSpPr>
              <p:cNvPr id="562" name="Group 91"/>
              <p:cNvGrpSpPr/>
              <p:nvPr/>
            </p:nvGrpSpPr>
            <p:grpSpPr>
              <a:xfrm>
                <a:off x="16329" y="2606671"/>
                <a:ext cx="2583645" cy="123511"/>
                <a:chOff x="-37" y="2592"/>
                <a:chExt cx="2690" cy="194"/>
              </a:xfrm>
            </p:grpSpPr>
            <p:sp>
              <p:nvSpPr>
                <p:cNvPr id="1051004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05" name="Line 93"/>
                <p:cNvSpPr/>
                <p:nvPr/>
              </p:nvSpPr>
              <p:spPr>
                <a:xfrm>
                  <a:off x="1203" y="2784"/>
                  <a:ext cx="49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06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07" name="Line 95"/>
                <p:cNvSpPr/>
                <p:nvPr/>
              </p:nvSpPr>
              <p:spPr>
                <a:xfrm flipH="1">
                  <a:off x="-37" y="2784"/>
                  <a:ext cx="75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08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09" name="Line 98"/>
                <p:cNvSpPr/>
                <p:nvPr/>
              </p:nvSpPr>
              <p:spPr>
                <a:xfrm flipH="1">
                  <a:off x="1678" y="2786"/>
                  <a:ext cx="975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63" name="Group 91"/>
              <p:cNvGrpSpPr/>
              <p:nvPr/>
            </p:nvGrpSpPr>
            <p:grpSpPr>
              <a:xfrm>
                <a:off x="2593493" y="2605654"/>
                <a:ext cx="1379217" cy="122238"/>
                <a:chOff x="937" y="2592"/>
                <a:chExt cx="1436" cy="192"/>
              </a:xfrm>
            </p:grpSpPr>
            <p:sp>
              <p:nvSpPr>
                <p:cNvPr id="1051010" name="Line 92"/>
                <p:cNvSpPr/>
                <p:nvPr/>
              </p:nvSpPr>
              <p:spPr>
                <a:xfrm>
                  <a:off x="937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11" name="Line 93"/>
                <p:cNvSpPr/>
                <p:nvPr/>
              </p:nvSpPr>
              <p:spPr>
                <a:xfrm>
                  <a:off x="1413" y="2784"/>
                  <a:ext cx="960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564" name="组合 178"/>
            <p:cNvGrpSpPr/>
            <p:nvPr/>
          </p:nvGrpSpPr>
          <p:grpSpPr>
            <a:xfrm>
              <a:off x="4830835" y="1900892"/>
              <a:ext cx="3941981" cy="124536"/>
              <a:chOff x="-428368" y="2604377"/>
              <a:chExt cx="3941981" cy="124536"/>
            </a:xfrm>
          </p:grpSpPr>
          <p:grpSp>
            <p:nvGrpSpPr>
              <p:cNvPr id="565" name="Group 91"/>
              <p:cNvGrpSpPr/>
              <p:nvPr/>
            </p:nvGrpSpPr>
            <p:grpSpPr>
              <a:xfrm>
                <a:off x="-428368" y="2606675"/>
                <a:ext cx="3025462" cy="122238"/>
                <a:chOff x="-500" y="2592"/>
                <a:chExt cx="3150" cy="192"/>
              </a:xfrm>
            </p:grpSpPr>
            <p:sp>
              <p:nvSpPr>
                <p:cNvPr id="1051012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13" name="Line 93"/>
                <p:cNvSpPr/>
                <p:nvPr/>
              </p:nvSpPr>
              <p:spPr>
                <a:xfrm>
                  <a:off x="1203" y="2784"/>
                  <a:ext cx="1447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14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15" name="Line 95"/>
                <p:cNvSpPr/>
                <p:nvPr/>
              </p:nvSpPr>
              <p:spPr>
                <a:xfrm flipH="1">
                  <a:off x="-500" y="2784"/>
                  <a:ext cx="1222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16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66" name="Group 91"/>
              <p:cNvGrpSpPr/>
              <p:nvPr/>
            </p:nvGrpSpPr>
            <p:grpSpPr>
              <a:xfrm>
                <a:off x="2588690" y="2604377"/>
                <a:ext cx="924923" cy="123511"/>
                <a:chOff x="932" y="2590"/>
                <a:chExt cx="963" cy="194"/>
              </a:xfrm>
            </p:grpSpPr>
            <p:sp>
              <p:nvSpPr>
                <p:cNvPr id="1051017" name="Line 92"/>
                <p:cNvSpPr/>
                <p:nvPr/>
              </p:nvSpPr>
              <p:spPr>
                <a:xfrm>
                  <a:off x="932" y="2590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18" name="Line 93"/>
                <p:cNvSpPr/>
                <p:nvPr/>
              </p:nvSpPr>
              <p:spPr>
                <a:xfrm>
                  <a:off x="1423" y="2784"/>
                  <a:ext cx="472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19" name="Line 96"/>
                <p:cNvSpPr/>
                <p:nvPr/>
              </p:nvSpPr>
              <p:spPr>
                <a:xfrm>
                  <a:off x="940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567" name="组合 189"/>
            <p:cNvGrpSpPr/>
            <p:nvPr/>
          </p:nvGrpSpPr>
          <p:grpSpPr>
            <a:xfrm>
              <a:off x="4848042" y="2171149"/>
              <a:ext cx="3927577" cy="123259"/>
              <a:chOff x="-881707" y="2605654"/>
              <a:chExt cx="3927577" cy="123259"/>
            </a:xfrm>
          </p:grpSpPr>
          <p:grpSp>
            <p:nvGrpSpPr>
              <p:cNvPr id="568" name="Group 91"/>
              <p:cNvGrpSpPr/>
              <p:nvPr/>
            </p:nvGrpSpPr>
            <p:grpSpPr>
              <a:xfrm>
                <a:off x="-881707" y="2606675"/>
                <a:ext cx="3468235" cy="122238"/>
                <a:chOff x="-972" y="2592"/>
                <a:chExt cx="3611" cy="192"/>
              </a:xfrm>
            </p:grpSpPr>
            <p:sp>
              <p:nvSpPr>
                <p:cNvPr id="1051020" name="Line 92"/>
                <p:cNvSpPr/>
                <p:nvPr/>
              </p:nvSpPr>
              <p:spPr>
                <a:xfrm>
                  <a:off x="72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21" name="Line 93"/>
                <p:cNvSpPr/>
                <p:nvPr/>
              </p:nvSpPr>
              <p:spPr>
                <a:xfrm>
                  <a:off x="1203" y="2784"/>
                  <a:ext cx="143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22" name="Line 94"/>
                <p:cNvSpPr/>
                <p:nvPr/>
              </p:nvSpPr>
              <p:spPr>
                <a:xfrm>
                  <a:off x="717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23" name="Line 95"/>
                <p:cNvSpPr/>
                <p:nvPr/>
              </p:nvSpPr>
              <p:spPr>
                <a:xfrm flipH="1">
                  <a:off x="-972" y="2784"/>
                  <a:ext cx="1687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  <p:sp>
              <p:nvSpPr>
                <p:cNvPr id="1051024" name="Line 96"/>
                <p:cNvSpPr/>
                <p:nvPr/>
              </p:nvSpPr>
              <p:spPr>
                <a:xfrm>
                  <a:off x="1203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69" name="Group 91"/>
              <p:cNvGrpSpPr/>
              <p:nvPr/>
            </p:nvGrpSpPr>
            <p:grpSpPr>
              <a:xfrm>
                <a:off x="2588691" y="2605654"/>
                <a:ext cx="457179" cy="122238"/>
                <a:chOff x="932" y="2592"/>
                <a:chExt cx="476" cy="192"/>
              </a:xfrm>
            </p:grpSpPr>
            <p:sp>
              <p:nvSpPr>
                <p:cNvPr id="1051025" name="Line 92"/>
                <p:cNvSpPr/>
                <p:nvPr/>
              </p:nvSpPr>
              <p:spPr>
                <a:xfrm>
                  <a:off x="932" y="2592"/>
                  <a:ext cx="476" cy="0"/>
                </a:xfrm>
                <a:prstGeom prst="line">
                  <a:avLst/>
                </a:prstGeom>
                <a:ln w="19050" cap="sq" cmpd="sng">
                  <a:solidFill>
                    <a:schemeClr val="bg2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051026" name="Line 94"/>
                <p:cNvSpPr/>
                <p:nvPr/>
              </p:nvSpPr>
              <p:spPr>
                <a:xfrm>
                  <a:off x="932" y="2592"/>
                  <a:ext cx="0" cy="192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051027" name="Line 97"/>
            <p:cNvSpPr/>
            <p:nvPr/>
          </p:nvSpPr>
          <p:spPr>
            <a:xfrm>
              <a:off x="7395293" y="1680246"/>
              <a:ext cx="0" cy="108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028" name="Line 97"/>
            <p:cNvSpPr/>
            <p:nvPr/>
          </p:nvSpPr>
          <p:spPr>
            <a:xfrm>
              <a:off x="7855918" y="1674917"/>
              <a:ext cx="0" cy="108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029" name="Line 96"/>
            <p:cNvSpPr/>
            <p:nvPr/>
          </p:nvSpPr>
          <p:spPr>
            <a:xfrm>
              <a:off x="8321870" y="1901030"/>
              <a:ext cx="0" cy="12223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030" name="Line 61"/>
            <p:cNvSpPr>
              <a:spLocks noChangeShapeType="1"/>
            </p:cNvSpPr>
            <p:nvPr/>
          </p:nvSpPr>
          <p:spPr bwMode="auto">
            <a:xfrm>
              <a:off x="6927487" y="1187323"/>
              <a:ext cx="0" cy="108075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031" name="Line 62"/>
            <p:cNvSpPr/>
            <p:nvPr/>
          </p:nvSpPr>
          <p:spPr>
            <a:xfrm>
              <a:off x="7394773" y="1195808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1032" name="Line 63"/>
            <p:cNvSpPr/>
            <p:nvPr/>
          </p:nvSpPr>
          <p:spPr>
            <a:xfrm>
              <a:off x="7856735" y="1191046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051033" name="Line 65"/>
            <p:cNvSpPr/>
            <p:nvPr/>
          </p:nvSpPr>
          <p:spPr>
            <a:xfrm>
              <a:off x="8317110" y="1167233"/>
              <a:ext cx="0" cy="108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ysDot"/>
              <a:headEnd type="none" w="sm" len="sm"/>
              <a:tailEnd type="none" w="sm" len="sm"/>
            </a:ln>
          </p:spPr>
        </p:sp>
      </p:grpSp>
      <p:sp>
        <p:nvSpPr>
          <p:cNvPr id="1051034" name="圆角矩形 248"/>
          <p:cNvSpPr/>
          <p:nvPr/>
        </p:nvSpPr>
        <p:spPr>
          <a:xfrm>
            <a:off x="4342130" y="3367405"/>
            <a:ext cx="4622800" cy="151003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9050" cap="flat" cmpd="sng">
            <a:solidFill>
              <a:srgbClr val="008000"/>
            </a:solidFill>
            <a:prstDash val="dash"/>
            <a:headEnd type="none" w="med" len="med"/>
            <a:tailEnd type="none" w="med" len="med"/>
          </a:ln>
        </p:spPr>
        <p:txBody>
          <a:bodyPr wrap="none"/>
          <a:lstStyle/>
          <a:p>
            <a:pPr algn="ctr" eaLnBrk="1" hangingPunct="1"/>
            <a:endParaRPr lang="zh-CN" altLang="en-US" sz="160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51035" name="Text Box 199"/>
          <p:cNvSpPr txBox="1"/>
          <p:nvPr/>
        </p:nvSpPr>
        <p:spPr>
          <a:xfrm>
            <a:off x="4422775" y="3439160"/>
            <a:ext cx="4312285" cy="3384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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执行写入操作：写入使能有效（存入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1000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</a:p>
        </p:txBody>
      </p:sp>
      <p:sp>
        <p:nvSpPr>
          <p:cNvPr id="1051036" name="Text Box 200"/>
          <p:cNvSpPr txBox="1"/>
          <p:nvPr/>
        </p:nvSpPr>
        <p:spPr>
          <a:xfrm>
            <a:off x="4443095" y="3829685"/>
            <a:ext cx="4506595" cy="325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/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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执行右移操作：右移使能有效（右移后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0100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</a:p>
          <a:p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051037" name="Text Box 201"/>
          <p:cNvSpPr txBox="1"/>
          <p:nvPr/>
        </p:nvSpPr>
        <p:spPr>
          <a:xfrm>
            <a:off x="4441825" y="4189095"/>
            <a:ext cx="4293870" cy="332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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执行读出操作：读出使能有效</a:t>
            </a:r>
          </a:p>
          <a:p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051038" name="Text Box 202"/>
          <p:cNvSpPr txBox="1"/>
          <p:nvPr/>
        </p:nvSpPr>
        <p:spPr>
          <a:xfrm>
            <a:off x="4443095" y="4521835"/>
            <a:ext cx="4506595" cy="3384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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执行左移操作：左移使能有效（左移后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1000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</a:p>
        </p:txBody>
      </p:sp>
      <p:sp>
        <p:nvSpPr>
          <p:cNvPr id="1051039" name="Text Box 2"/>
          <p:cNvSpPr txBox="1"/>
          <p:nvPr/>
        </p:nvSpPr>
        <p:spPr>
          <a:xfrm>
            <a:off x="458788" y="731838"/>
            <a:ext cx="4618037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节拍发生器（时序发生器）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</a:p>
        </p:txBody>
      </p:sp>
      <p:grpSp>
        <p:nvGrpSpPr>
          <p:cNvPr id="572" name="组合 240"/>
          <p:cNvGrpSpPr/>
          <p:nvPr/>
        </p:nvGrpSpPr>
        <p:grpSpPr>
          <a:xfrm>
            <a:off x="576263" y="1377922"/>
            <a:ext cx="3024187" cy="874741"/>
            <a:chOff x="539552" y="2367014"/>
            <a:chExt cx="2916000" cy="873244"/>
          </a:xfrm>
        </p:grpSpPr>
        <p:sp>
          <p:nvSpPr>
            <p:cNvPr id="1051040" name="圆角矩形 131"/>
            <p:cNvSpPr/>
            <p:nvPr/>
          </p:nvSpPr>
          <p:spPr>
            <a:xfrm>
              <a:off x="539552" y="2367014"/>
              <a:ext cx="2916000" cy="864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5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42" name="Text Box 2"/>
            <p:cNvSpPr txBox="1"/>
            <p:nvPr/>
          </p:nvSpPr>
          <p:spPr>
            <a:xfrm>
              <a:off x="594142" y="2456197"/>
              <a:ext cx="2753722" cy="7840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ts val="600"/>
                </a:spcBef>
              </a:pP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每个循环周期内</a:t>
              </a:r>
              <a:r>
                <a:rPr lang="en-US" altLang="zh-CN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在时钟脉冲的作用下，产生一组在时间上有一定</a:t>
              </a:r>
              <a:r>
                <a:rPr lang="zh-CN" altLang="en-US" sz="15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先后顺序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的脉冲信号</a:t>
              </a:r>
            </a:p>
          </p:txBody>
        </p:sp>
      </p:grpSp>
      <p:grpSp>
        <p:nvGrpSpPr>
          <p:cNvPr id="573" name="组合 241"/>
          <p:cNvGrpSpPr/>
          <p:nvPr/>
        </p:nvGrpSpPr>
        <p:grpSpPr>
          <a:xfrm>
            <a:off x="568325" y="2284413"/>
            <a:ext cx="3060700" cy="1290637"/>
            <a:chOff x="539552" y="2192077"/>
            <a:chExt cx="2916000" cy="1292151"/>
          </a:xfrm>
        </p:grpSpPr>
        <p:sp>
          <p:nvSpPr>
            <p:cNvPr id="1051043" name="圆角矩形 131"/>
            <p:cNvSpPr/>
            <p:nvPr/>
          </p:nvSpPr>
          <p:spPr>
            <a:xfrm>
              <a:off x="539552" y="2367014"/>
              <a:ext cx="2916000" cy="1117214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sz="1500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44" name="Text Box 13"/>
            <p:cNvSpPr txBox="1"/>
            <p:nvPr/>
          </p:nvSpPr>
          <p:spPr>
            <a:xfrm>
              <a:off x="1619672" y="2192077"/>
              <a:ext cx="720080" cy="338922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B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作用</a:t>
              </a:r>
            </a:p>
          </p:txBody>
        </p:sp>
        <p:sp>
          <p:nvSpPr>
            <p:cNvPr id="1051045" name="Text Box 2"/>
            <p:cNvSpPr txBox="1"/>
            <p:nvPr/>
          </p:nvSpPr>
          <p:spPr>
            <a:xfrm>
              <a:off x="594142" y="2456197"/>
              <a:ext cx="2753722" cy="10171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ts val="600"/>
                </a:spcBef>
              </a:pP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数字系统和计算机的控制部件利用顺序脉冲，形成所需要的各种控制信号，使某些设备按照事先规定的顺序进行运算或操作 </a:t>
              </a:r>
            </a:p>
          </p:txBody>
        </p:sp>
      </p:grpSp>
      <p:sp>
        <p:nvSpPr>
          <p:cNvPr id="1051046" name="Text Box 2"/>
          <p:cNvSpPr txBox="1">
            <a:spLocks noChangeArrowheads="1"/>
          </p:cNvSpPr>
          <p:nvPr/>
        </p:nvSpPr>
        <p:spPr bwMode="auto">
          <a:xfrm>
            <a:off x="287338" y="3795713"/>
            <a:ext cx="3563938" cy="1077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>
              <a:spcBef>
                <a:spcPts val="600"/>
              </a:spcBef>
              <a:buClrTx/>
              <a:buSzTx/>
              <a:buFontTx/>
            </a:pP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例：将</a:t>
            </a:r>
            <a:r>
              <a:rPr kumimoji="1" lang="en-US" altLang="zh-CN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位二进制数（如</a:t>
            </a:r>
            <a:r>
              <a:rPr kumimoji="1" lang="en-US" altLang="zh-CN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1000</a:t>
            </a: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）存入某寄存器，然后将数据右移</a:t>
            </a:r>
            <a:r>
              <a:rPr kumimoji="1" lang="en-US" altLang="zh-CN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位，之后将数据读走，再将右移后的数据左移</a:t>
            </a:r>
            <a:r>
              <a:rPr kumimoji="1" lang="en-US" altLang="zh-CN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1600" b="1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位。</a:t>
            </a:r>
            <a:r>
              <a:rPr kumimoji="1" lang="zh-CN" altLang="en-US" sz="1600" b="1" kern="1200" cap="none" spc="0" normalizeH="0" baseline="0" noProof="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以上操作可以自动循环进行。</a:t>
            </a:r>
            <a:endParaRPr kumimoji="1" lang="en-US" altLang="zh-CN" sz="1600" b="1" kern="1200" cap="none" spc="0" normalizeH="0" baseline="0" noProof="0" dirty="0">
              <a:latin typeface="+mj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51047" name="右箭头 250"/>
          <p:cNvSpPr/>
          <p:nvPr/>
        </p:nvSpPr>
        <p:spPr>
          <a:xfrm>
            <a:off x="3960813" y="4156075"/>
            <a:ext cx="323850" cy="180975"/>
          </a:xfrm>
          <a:prstGeom prst="rightArrow">
            <a:avLst>
              <a:gd name="adj1" fmla="val 50000"/>
              <a:gd name="adj2" fmla="val 49707"/>
            </a:avLst>
          </a:prstGeom>
          <a:solidFill>
            <a:schemeClr val="accent1"/>
          </a:solidFill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1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51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5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034" grpId="0" animBg="1"/>
      <p:bldP spid="1051035" grpId="0"/>
      <p:bldP spid="1051036" grpId="0"/>
      <p:bldP spid="1051037" grpId="0"/>
      <p:bldP spid="1051038" grpId="0"/>
      <p:bldP spid="1051039" grpId="0" build="p"/>
      <p:bldP spid="1051046" grpId="0" build="p"/>
      <p:bldP spid="105104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51" name="Text Box 93"/>
          <p:cNvSpPr txBox="1">
            <a:spLocks noChangeArrowheads="1"/>
          </p:cNvSpPr>
          <p:nvPr/>
        </p:nvSpPr>
        <p:spPr bwMode="auto">
          <a:xfrm>
            <a:off x="179388" y="4011613"/>
            <a:ext cx="2454275" cy="658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300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J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K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1, CP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 </a:t>
            </a:r>
            <a:r>
              <a:rPr kumimoji="0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↓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  <a:endParaRPr kumimoji="0" lang="zh-CN" altLang="en-US" sz="1600" b="1" kern="1200" cap="none" spc="0" normalizeH="0" baseline="0" noProof="0" dirty="0"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R="0" defTabSz="914400" eaLnBrk="1" hangingPunct="1">
              <a:spcBef>
                <a:spcPct val="30000"/>
              </a:spcBef>
              <a:buClrTx/>
              <a:buSzTx/>
              <a:buFontTx/>
            </a:pP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J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K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 1, CP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2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=</a:t>
            </a:r>
            <a:r>
              <a:rPr kumimoji="0" lang="zh-CN" altLang="en-US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1600" b="1" kern="1200" cap="none" spc="0" normalizeH="0" baseline="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Q</a:t>
            </a:r>
            <a:r>
              <a:rPr kumimoji="0" lang="en-US" altLang="zh-CN" sz="1600" b="1" kern="1200" cap="none" spc="0" normalizeH="0" baseline="-25000" noProof="0" dirty="0">
                <a:latin typeface="Arial" panose="020B0604020202090204" pitchFamily="34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1600" b="1" kern="1200" cap="none" spc="0" normalizeH="0" baseline="0" noProof="0" dirty="0">
                <a:latin typeface="+mn-ea"/>
                <a:ea typeface="宋体" pitchFamily="2" charset="-122"/>
                <a:cs typeface="+mn-cs"/>
              </a:rPr>
              <a:t>↓</a:t>
            </a:r>
            <a:endParaRPr kumimoji="0" lang="zh-CN" altLang="en-US" sz="1600" b="1" kern="1200" cap="none" spc="0" normalizeH="0" baseline="-25000" noProof="0" dirty="0"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577" name="Group 94"/>
          <p:cNvGrpSpPr/>
          <p:nvPr/>
        </p:nvGrpSpPr>
        <p:grpSpPr>
          <a:xfrm>
            <a:off x="2565400" y="4011613"/>
            <a:ext cx="2592388" cy="339725"/>
            <a:chOff x="144" y="2976"/>
            <a:chExt cx="1633" cy="284"/>
          </a:xfrm>
        </p:grpSpPr>
        <p:sp>
          <p:nvSpPr>
            <p:cNvPr id="1051052" name="Text Box 95"/>
            <p:cNvSpPr txBox="1">
              <a:spLocks noChangeArrowheads="1"/>
            </p:cNvSpPr>
            <p:nvPr/>
          </p:nvSpPr>
          <p:spPr bwMode="auto">
            <a:xfrm>
              <a:off x="144" y="2976"/>
              <a:ext cx="1633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J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+ K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=</a:t>
              </a:r>
              <a:r>
                <a:rPr kumimoji="0" lang="zh-CN" altLang="en-US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</a:p>
          </p:txBody>
        </p:sp>
        <p:sp>
          <p:nvSpPr>
            <p:cNvPr id="1051053" name="Line 96"/>
            <p:cNvSpPr>
              <a:spLocks noChangeShapeType="1"/>
            </p:cNvSpPr>
            <p:nvPr/>
          </p:nvSpPr>
          <p:spPr bwMode="auto">
            <a:xfrm>
              <a:off x="818" y="3024"/>
              <a:ext cx="9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054" name="Line 97"/>
            <p:cNvSpPr>
              <a:spLocks noChangeShapeType="1"/>
            </p:cNvSpPr>
            <p:nvPr/>
          </p:nvSpPr>
          <p:spPr bwMode="auto">
            <a:xfrm>
              <a:off x="1547" y="3032"/>
              <a:ext cx="9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kern="1200" cap="none" spc="0" normalizeH="0" baseline="0" noProof="0">
                <a:ln w="19050">
                  <a:solidFill>
                    <a:schemeClr val="tx1"/>
                  </a:solidFill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055" name="Line 98"/>
            <p:cNvSpPr>
              <a:spLocks noChangeShapeType="1"/>
            </p:cNvSpPr>
            <p:nvPr/>
          </p:nvSpPr>
          <p:spPr bwMode="auto">
            <a:xfrm>
              <a:off x="1080" y="3024"/>
              <a:ext cx="9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78" name="组合 203"/>
          <p:cNvGrpSpPr/>
          <p:nvPr/>
        </p:nvGrpSpPr>
        <p:grpSpPr>
          <a:xfrm>
            <a:off x="3851275" y="1231265"/>
            <a:ext cx="1439863" cy="1273175"/>
            <a:chOff x="4860032" y="1419623"/>
            <a:chExt cx="1439990" cy="1273969"/>
          </a:xfrm>
        </p:grpSpPr>
        <p:grpSp>
          <p:nvGrpSpPr>
            <p:cNvPr id="579" name="Group 106"/>
            <p:cNvGrpSpPr/>
            <p:nvPr/>
          </p:nvGrpSpPr>
          <p:grpSpPr>
            <a:xfrm>
              <a:off x="5076059" y="1419623"/>
              <a:ext cx="1223963" cy="1273969"/>
              <a:chOff x="3888" y="2064"/>
              <a:chExt cx="771" cy="1070"/>
            </a:xfrm>
          </p:grpSpPr>
          <p:sp>
            <p:nvSpPr>
              <p:cNvPr id="1051056" name="Text Box 107"/>
              <p:cNvSpPr txBox="1">
                <a:spLocks noChangeArrowheads="1"/>
              </p:cNvSpPr>
              <p:nvPr/>
            </p:nvSpPr>
            <p:spPr bwMode="auto">
              <a:xfrm>
                <a:off x="3888" y="2064"/>
                <a:ext cx="771" cy="107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12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W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0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  <a:p>
                <a:pPr marR="0" defTabSz="914400" eaLnBrk="1" hangingPunct="1">
                  <a:lnSpc>
                    <a:spcPct val="12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W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  <a:p>
                <a:pPr marR="0" defTabSz="914400" eaLnBrk="1" hangingPunct="1">
                  <a:lnSpc>
                    <a:spcPct val="12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W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  <a:p>
                <a:pPr marR="0" defTabSz="914400" eaLnBrk="1" hangingPunct="1">
                  <a:lnSpc>
                    <a:spcPct val="12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W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r>
                  <a:rPr kumimoji="0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Q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51057" name="Line 108"/>
              <p:cNvSpPr>
                <a:spLocks noChangeShapeType="1"/>
              </p:cNvSpPr>
              <p:nvPr/>
            </p:nvSpPr>
            <p:spPr bwMode="auto">
              <a:xfrm>
                <a:off x="4248" y="2147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058" name="Line 109"/>
              <p:cNvSpPr>
                <a:spLocks noChangeShapeType="1"/>
              </p:cNvSpPr>
              <p:nvPr/>
            </p:nvSpPr>
            <p:spPr bwMode="auto">
              <a:xfrm>
                <a:off x="4428" y="2147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059" name="Line 110"/>
              <p:cNvSpPr>
                <a:spLocks noChangeShapeType="1"/>
              </p:cNvSpPr>
              <p:nvPr/>
            </p:nvSpPr>
            <p:spPr bwMode="auto">
              <a:xfrm>
                <a:off x="4248" y="2390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060" name="Line 111"/>
              <p:cNvSpPr>
                <a:spLocks noChangeShapeType="1"/>
              </p:cNvSpPr>
              <p:nvPr/>
            </p:nvSpPr>
            <p:spPr bwMode="auto">
              <a:xfrm>
                <a:off x="4422" y="2628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061" name="AutoShape 112"/>
            <p:cNvSpPr/>
            <p:nvPr/>
          </p:nvSpPr>
          <p:spPr>
            <a:xfrm>
              <a:off x="4860032" y="1563638"/>
              <a:ext cx="180000" cy="1044000"/>
            </a:xfrm>
            <a:prstGeom prst="leftBrace">
              <a:avLst>
                <a:gd name="adj1" fmla="val 26046"/>
                <a:gd name="adj2" fmla="val 50000"/>
              </a:avLst>
            </a:prstGeom>
            <a:noFill/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Arial" panose="020B0604020202090204" pitchFamily="34" charset="0"/>
              </a:endParaRPr>
            </a:p>
          </p:txBody>
        </p:sp>
      </p:grpSp>
      <p:sp>
        <p:nvSpPr>
          <p:cNvPr id="1051062" name="Text Box 4"/>
          <p:cNvSpPr txBox="1"/>
          <p:nvPr/>
        </p:nvSpPr>
        <p:spPr>
          <a:xfrm>
            <a:off x="1222375" y="22225"/>
            <a:ext cx="7086600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节拍发生器示例</a:t>
            </a:r>
          </a:p>
        </p:txBody>
      </p:sp>
      <p:grpSp>
        <p:nvGrpSpPr>
          <p:cNvPr id="580" name="组合 112"/>
          <p:cNvGrpSpPr/>
          <p:nvPr/>
        </p:nvGrpSpPr>
        <p:grpSpPr>
          <a:xfrm>
            <a:off x="323850" y="771525"/>
            <a:ext cx="2987675" cy="2608263"/>
            <a:chOff x="6156176" y="55662"/>
            <a:chExt cx="2987824" cy="2607732"/>
          </a:xfrm>
        </p:grpSpPr>
        <p:cxnSp>
          <p:nvCxnSpPr>
            <p:cNvPr id="3146118" name="直接连接符 113"/>
            <p:cNvCxnSpPr/>
            <p:nvPr/>
          </p:nvCxnSpPr>
          <p:spPr>
            <a:xfrm>
              <a:off x="8853814" y="608482"/>
              <a:ext cx="0" cy="21602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19" name="直接连接符 114"/>
            <p:cNvCxnSpPr/>
            <p:nvPr/>
          </p:nvCxnSpPr>
          <p:spPr>
            <a:xfrm>
              <a:off x="8417002" y="618577"/>
              <a:ext cx="0" cy="21602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20" name="直接连接符 115"/>
            <p:cNvCxnSpPr/>
            <p:nvPr/>
          </p:nvCxnSpPr>
          <p:spPr>
            <a:xfrm>
              <a:off x="7317830" y="632297"/>
              <a:ext cx="0" cy="21602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21" name="直接连接符 116"/>
            <p:cNvCxnSpPr/>
            <p:nvPr/>
          </p:nvCxnSpPr>
          <p:spPr>
            <a:xfrm>
              <a:off x="6881018" y="642392"/>
              <a:ext cx="0" cy="21602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22" name="直接连接符 34"/>
            <p:cNvCxnSpPr/>
            <p:nvPr/>
          </p:nvCxnSpPr>
          <p:spPr>
            <a:xfrm rot="5400000">
              <a:off x="6983172" y="2157358"/>
              <a:ext cx="395148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sm" len="sm"/>
            </a:ln>
          </p:spPr>
        </p:cxnSp>
        <p:grpSp>
          <p:nvGrpSpPr>
            <p:cNvPr id="581" name="组合 16"/>
            <p:cNvGrpSpPr/>
            <p:nvPr/>
          </p:nvGrpSpPr>
          <p:grpSpPr>
            <a:xfrm>
              <a:off x="6810862" y="1184362"/>
              <a:ext cx="803275" cy="1096875"/>
              <a:chOff x="1863945" y="2086164"/>
              <a:chExt cx="803411" cy="1098028"/>
            </a:xfrm>
          </p:grpSpPr>
          <p:cxnSp>
            <p:nvCxnSpPr>
              <p:cNvPr id="3146123" name="直接连接符 17"/>
              <p:cNvCxnSpPr/>
              <p:nvPr/>
            </p:nvCxnSpPr>
            <p:spPr>
              <a:xfrm rot="5400000">
                <a:off x="1899825" y="2625937"/>
                <a:ext cx="1081135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24" name="直接连接符 18"/>
              <p:cNvCxnSpPr/>
              <p:nvPr/>
            </p:nvCxnSpPr>
            <p:spPr>
              <a:xfrm rot="5400000">
                <a:off x="1549756" y="2732925"/>
                <a:ext cx="900946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1063" name="矩形 19"/>
              <p:cNvSpPr/>
              <p:nvPr/>
            </p:nvSpPr>
            <p:spPr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1064" name="TextBox 191"/>
              <p:cNvSpPr txBox="1">
                <a:spLocks noChangeArrowheads="1"/>
              </p:cNvSpPr>
              <p:nvPr/>
            </p:nvSpPr>
            <p:spPr bwMode="auto">
              <a:xfrm>
                <a:off x="2309528" y="2877192"/>
                <a:ext cx="357265" cy="2462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K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065" name="TextBox 192"/>
              <p:cNvSpPr txBox="1">
                <a:spLocks noChangeArrowheads="1"/>
              </p:cNvSpPr>
              <p:nvPr/>
            </p:nvSpPr>
            <p:spPr bwMode="auto">
              <a:xfrm>
                <a:off x="1863342" y="2618210"/>
                <a:ext cx="357266" cy="2462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066" name="TextBox 193"/>
              <p:cNvSpPr txBox="1">
                <a:spLocks noChangeArrowheads="1"/>
              </p:cNvSpPr>
              <p:nvPr/>
            </p:nvSpPr>
            <p:spPr bwMode="auto">
              <a:xfrm>
                <a:off x="2268244" y="2627743"/>
                <a:ext cx="357265" cy="2462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125" name="直接连接符 25"/>
              <p:cNvCxnSpPr/>
              <p:nvPr/>
            </p:nvCxnSpPr>
            <p:spPr>
              <a:xfrm>
                <a:off x="2366639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1067" name="等腰三角形 36"/>
            <p:cNvSpPr/>
            <p:nvPr/>
          </p:nvSpPr>
          <p:spPr>
            <a:xfrm>
              <a:off x="7126505" y="2063351"/>
              <a:ext cx="107982" cy="10796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68" name="TextBox 120"/>
            <p:cNvSpPr txBox="1">
              <a:spLocks noChangeArrowheads="1"/>
            </p:cNvSpPr>
            <p:nvPr/>
          </p:nvSpPr>
          <p:spPr bwMode="auto">
            <a:xfrm>
              <a:off x="7018232" y="1906310"/>
              <a:ext cx="422296" cy="214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069" name="椭圆 93"/>
            <p:cNvSpPr/>
            <p:nvPr/>
          </p:nvSpPr>
          <p:spPr>
            <a:xfrm>
              <a:off x="6739195" y="1876836"/>
              <a:ext cx="71427" cy="71412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70" name="Text Box 69"/>
            <p:cNvSpPr txBox="1"/>
            <p:nvPr/>
          </p:nvSpPr>
          <p:spPr>
            <a:xfrm>
              <a:off x="8489007" y="2355726"/>
              <a:ext cx="437757" cy="30766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CP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 </a:t>
              </a:r>
            </a:p>
          </p:txBody>
        </p:sp>
        <p:cxnSp>
          <p:nvCxnSpPr>
            <p:cNvPr id="3146126" name="直接连接符 142"/>
            <p:cNvCxnSpPr/>
            <p:nvPr/>
          </p:nvCxnSpPr>
          <p:spPr>
            <a:xfrm>
              <a:off x="7687394" y="1491630"/>
              <a:ext cx="0" cy="86400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cxnSp>
        <p:cxnSp>
          <p:nvCxnSpPr>
            <p:cNvPr id="3146127" name="直接连接符 143"/>
            <p:cNvCxnSpPr/>
            <p:nvPr/>
          </p:nvCxnSpPr>
          <p:spPr>
            <a:xfrm flipH="1">
              <a:off x="6516216" y="2413740"/>
              <a:ext cx="1692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28" name="直接连接符 146"/>
            <p:cNvCxnSpPr/>
            <p:nvPr/>
          </p:nvCxnSpPr>
          <p:spPr>
            <a:xfrm>
              <a:off x="6666182" y="1906987"/>
              <a:ext cx="73013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29" name="直接连接符 147"/>
            <p:cNvCxnSpPr/>
            <p:nvPr/>
          </p:nvCxnSpPr>
          <p:spPr>
            <a:xfrm>
              <a:off x="6670944" y="1902227"/>
              <a:ext cx="0" cy="503822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1071" name="Text Box 69"/>
            <p:cNvSpPr txBox="1"/>
            <p:nvPr/>
          </p:nvSpPr>
          <p:spPr>
            <a:xfrm>
              <a:off x="6156176" y="2283718"/>
              <a:ext cx="419032" cy="3078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sp>
          <p:nvSpPr>
            <p:cNvPr id="1051072" name="Text Box 116"/>
            <p:cNvSpPr txBox="1">
              <a:spLocks noChangeArrowheads="1"/>
            </p:cNvSpPr>
            <p:nvPr/>
          </p:nvSpPr>
          <p:spPr bwMode="auto">
            <a:xfrm>
              <a:off x="6559421" y="55662"/>
              <a:ext cx="504850" cy="2761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cxnSp>
          <p:nvCxnSpPr>
            <p:cNvPr id="3146130" name="直接连接符 34"/>
            <p:cNvCxnSpPr/>
            <p:nvPr/>
          </p:nvCxnSpPr>
          <p:spPr>
            <a:xfrm rot="5400000">
              <a:off x="8518417" y="2192467"/>
              <a:ext cx="395148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582" name="组合 16"/>
            <p:cNvGrpSpPr/>
            <p:nvPr/>
          </p:nvGrpSpPr>
          <p:grpSpPr>
            <a:xfrm>
              <a:off x="8340725" y="1500153"/>
              <a:ext cx="803275" cy="792000"/>
              <a:chOff x="1863326" y="2388140"/>
              <a:chExt cx="803411" cy="792839"/>
            </a:xfrm>
          </p:grpSpPr>
          <p:cxnSp>
            <p:nvCxnSpPr>
              <p:cNvPr id="3146131" name="直接连接符 17"/>
              <p:cNvCxnSpPr/>
              <p:nvPr/>
            </p:nvCxnSpPr>
            <p:spPr>
              <a:xfrm rot="5400000">
                <a:off x="2098028" y="2836738"/>
                <a:ext cx="684725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32" name="直接连接符 18"/>
              <p:cNvCxnSpPr/>
              <p:nvPr/>
            </p:nvCxnSpPr>
            <p:spPr>
              <a:xfrm rot="5400000">
                <a:off x="1603810" y="2783765"/>
                <a:ext cx="792839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oval" w="sm" len="sm"/>
                <a:tailEnd type="none" w="sm" len="sm"/>
              </a:ln>
            </p:spPr>
          </p:cxnSp>
          <p:sp>
            <p:nvSpPr>
              <p:cNvPr id="1051073" name="矩形 19"/>
              <p:cNvSpPr/>
              <p:nvPr/>
            </p:nvSpPr>
            <p:spPr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1074" name="TextBox 184"/>
              <p:cNvSpPr txBox="1">
                <a:spLocks noChangeArrowheads="1"/>
              </p:cNvSpPr>
              <p:nvPr/>
            </p:nvSpPr>
            <p:spPr bwMode="auto">
              <a:xfrm>
                <a:off x="2309472" y="2877348"/>
                <a:ext cx="357265" cy="2462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K 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075" name="TextBox 185"/>
              <p:cNvSpPr txBox="1">
                <a:spLocks noChangeArrowheads="1"/>
              </p:cNvSpPr>
              <p:nvPr/>
            </p:nvSpPr>
            <p:spPr bwMode="auto">
              <a:xfrm>
                <a:off x="1863286" y="2618365"/>
                <a:ext cx="357266" cy="246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1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076" name="TextBox 186"/>
              <p:cNvSpPr txBox="1">
                <a:spLocks noChangeArrowheads="1"/>
              </p:cNvSpPr>
              <p:nvPr/>
            </p:nvSpPr>
            <p:spPr bwMode="auto">
              <a:xfrm>
                <a:off x="2268188" y="2627898"/>
                <a:ext cx="357265" cy="246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1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133" name="直接连接符 25"/>
              <p:cNvCxnSpPr/>
              <p:nvPr/>
            </p:nvCxnSpPr>
            <p:spPr>
              <a:xfrm>
                <a:off x="2366639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1077" name="等腰三角形 36"/>
            <p:cNvSpPr/>
            <p:nvPr/>
          </p:nvSpPr>
          <p:spPr>
            <a:xfrm>
              <a:off x="8656987" y="2077495"/>
              <a:ext cx="107982" cy="10796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78" name="TextBox 132"/>
            <p:cNvSpPr txBox="1">
              <a:spLocks noChangeArrowheads="1"/>
            </p:cNvSpPr>
            <p:nvPr/>
          </p:nvSpPr>
          <p:spPr bwMode="auto">
            <a:xfrm>
              <a:off x="8548658" y="1920595"/>
              <a:ext cx="422296" cy="2142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079" name="椭圆 93"/>
            <p:cNvSpPr/>
            <p:nvPr/>
          </p:nvSpPr>
          <p:spPr>
            <a:xfrm>
              <a:off x="8269677" y="1890980"/>
              <a:ext cx="71427" cy="71412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134" name="直接连接符 146"/>
            <p:cNvCxnSpPr/>
            <p:nvPr/>
          </p:nvCxnSpPr>
          <p:spPr>
            <a:xfrm>
              <a:off x="8196664" y="1921131"/>
              <a:ext cx="73013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35" name="直接连接符 147"/>
            <p:cNvCxnSpPr/>
            <p:nvPr/>
          </p:nvCxnSpPr>
          <p:spPr>
            <a:xfrm>
              <a:off x="8201426" y="1916371"/>
              <a:ext cx="0" cy="503822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sm" len="sm"/>
            </a:ln>
          </p:spPr>
        </p:cxnSp>
        <p:sp>
          <p:nvSpPr>
            <p:cNvPr id="1051080" name="Line 28"/>
            <p:cNvSpPr/>
            <p:nvPr/>
          </p:nvSpPr>
          <p:spPr>
            <a:xfrm rot="-5400000" flipV="1">
              <a:off x="8083346" y="663630"/>
              <a:ext cx="0" cy="1656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081" name="Line 28"/>
            <p:cNvSpPr/>
            <p:nvPr/>
          </p:nvSpPr>
          <p:spPr>
            <a:xfrm rot="-5400000" flipV="1">
              <a:off x="7164264" y="1059606"/>
              <a:ext cx="0" cy="432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51082" name="Line 28"/>
            <p:cNvSpPr/>
            <p:nvPr/>
          </p:nvSpPr>
          <p:spPr>
            <a:xfrm rot="-5400000" flipV="1">
              <a:off x="7882156" y="563071"/>
              <a:ext cx="0" cy="2088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sm" len="sm"/>
            </a:ln>
          </p:spPr>
        </p:sp>
        <p:cxnSp>
          <p:nvCxnSpPr>
            <p:cNvPr id="3146136" name="直接连接符 17"/>
            <p:cNvCxnSpPr/>
            <p:nvPr/>
          </p:nvCxnSpPr>
          <p:spPr>
            <a:xfrm rot="5400000">
              <a:off x="6622950" y="1394074"/>
              <a:ext cx="432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sm" len="sm"/>
            </a:ln>
          </p:spPr>
        </p:cxnSp>
        <p:sp>
          <p:nvSpPr>
            <p:cNvPr id="1051083" name="Line 28"/>
            <p:cNvSpPr/>
            <p:nvPr/>
          </p:nvSpPr>
          <p:spPr>
            <a:xfrm rot="-5400000" flipV="1">
              <a:off x="7871139" y="458648"/>
              <a:ext cx="0" cy="18648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084" name="Text Box 116"/>
            <p:cNvSpPr txBox="1">
              <a:spLocks noChangeArrowheads="1"/>
            </p:cNvSpPr>
            <p:nvPr/>
          </p:nvSpPr>
          <p:spPr bwMode="auto">
            <a:xfrm>
              <a:off x="8513732" y="69947"/>
              <a:ext cx="503262" cy="2761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sp>
          <p:nvSpPr>
            <p:cNvPr id="1051085" name="TextBox 142"/>
            <p:cNvSpPr txBox="1">
              <a:spLocks noChangeArrowheads="1"/>
            </p:cNvSpPr>
            <p:nvPr/>
          </p:nvSpPr>
          <p:spPr bwMode="auto">
            <a:xfrm>
              <a:off x="6821372" y="1976146"/>
              <a:ext cx="357205" cy="2460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J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086" name="TextBox 143"/>
            <p:cNvSpPr txBox="1">
              <a:spLocks noChangeArrowheads="1"/>
            </p:cNvSpPr>
            <p:nvPr/>
          </p:nvSpPr>
          <p:spPr bwMode="auto">
            <a:xfrm>
              <a:off x="8320047" y="1990431"/>
              <a:ext cx="355618" cy="2460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J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087" name="椭圆 93"/>
            <p:cNvSpPr/>
            <p:nvPr/>
          </p:nvSpPr>
          <p:spPr>
            <a:xfrm>
              <a:off x="8677037" y="2183728"/>
              <a:ext cx="71427" cy="71412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88" name="椭圆 93"/>
            <p:cNvSpPr/>
            <p:nvPr/>
          </p:nvSpPr>
          <p:spPr>
            <a:xfrm>
              <a:off x="7145781" y="2173639"/>
              <a:ext cx="71427" cy="71412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089" name="椭圆 96"/>
            <p:cNvSpPr>
              <a:spLocks noChangeArrowheads="1"/>
            </p:cNvSpPr>
            <p:nvPr/>
          </p:nvSpPr>
          <p:spPr bwMode="auto">
            <a:xfrm>
              <a:off x="7283357" y="850838"/>
              <a:ext cx="65091" cy="66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583" name="组合 221"/>
            <p:cNvGrpSpPr/>
            <p:nvPr/>
          </p:nvGrpSpPr>
          <p:grpSpPr>
            <a:xfrm rot="16200000">
              <a:off x="7169301" y="444226"/>
              <a:ext cx="292793" cy="216000"/>
              <a:chOff x="5580112" y="4083918"/>
              <a:chExt cx="292793" cy="216000"/>
            </a:xfrm>
            <a:solidFill>
              <a:srgbClr val="CCFFCC"/>
            </a:solidFill>
          </p:grpSpPr>
          <p:sp>
            <p:nvSpPr>
              <p:cNvPr id="1051090" name="AutoShape 30"/>
              <p:cNvSpPr>
                <a:spLocks noChangeArrowheads="1"/>
              </p:cNvSpPr>
              <p:nvPr/>
            </p:nvSpPr>
            <p:spPr bwMode="auto">
              <a:xfrm rot="5400000">
                <a:off x="5580112" y="4083918"/>
                <a:ext cx="216000" cy="216000"/>
              </a:xfrm>
              <a:prstGeom prst="flowChartExtract">
                <a:avLst/>
              </a:prstGeom>
              <a:grpFill/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091" name="椭圆 180"/>
              <p:cNvSpPr/>
              <p:nvPr/>
            </p:nvSpPr>
            <p:spPr bwMode="auto">
              <a:xfrm>
                <a:off x="5800897" y="4155926"/>
                <a:ext cx="72008" cy="72008"/>
              </a:xfrm>
              <a:prstGeom prst="ellipse">
                <a:avLst/>
              </a:prstGeom>
              <a:grp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092" name="椭圆 96"/>
            <p:cNvSpPr>
              <a:spLocks noChangeArrowheads="1"/>
            </p:cNvSpPr>
            <p:nvPr/>
          </p:nvSpPr>
          <p:spPr bwMode="auto">
            <a:xfrm>
              <a:off x="6846773" y="850838"/>
              <a:ext cx="65090" cy="66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584" name="组合 226"/>
            <p:cNvGrpSpPr/>
            <p:nvPr/>
          </p:nvGrpSpPr>
          <p:grpSpPr>
            <a:xfrm rot="16200000">
              <a:off x="6732615" y="444227"/>
              <a:ext cx="292793" cy="216000"/>
              <a:chOff x="5580112" y="4083918"/>
              <a:chExt cx="292793" cy="216000"/>
            </a:xfrm>
            <a:solidFill>
              <a:srgbClr val="CCFFCC"/>
            </a:solidFill>
          </p:grpSpPr>
          <p:sp>
            <p:nvSpPr>
              <p:cNvPr id="1051093" name="AutoShape 30"/>
              <p:cNvSpPr>
                <a:spLocks noChangeArrowheads="1"/>
              </p:cNvSpPr>
              <p:nvPr/>
            </p:nvSpPr>
            <p:spPr bwMode="auto">
              <a:xfrm rot="5400000">
                <a:off x="5580112" y="4083918"/>
                <a:ext cx="216000" cy="216000"/>
              </a:xfrm>
              <a:prstGeom prst="flowChartExtract">
                <a:avLst/>
              </a:prstGeom>
              <a:grpFill/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094" name="椭圆 178"/>
              <p:cNvSpPr/>
              <p:nvPr/>
            </p:nvSpPr>
            <p:spPr bwMode="auto">
              <a:xfrm>
                <a:off x="5800897" y="4155926"/>
                <a:ext cx="72008" cy="72008"/>
              </a:xfrm>
              <a:prstGeom prst="ellipse">
                <a:avLst/>
              </a:prstGeom>
              <a:grp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095" name="椭圆 96"/>
            <p:cNvSpPr>
              <a:spLocks noChangeArrowheads="1"/>
            </p:cNvSpPr>
            <p:nvPr/>
          </p:nvSpPr>
          <p:spPr bwMode="auto">
            <a:xfrm>
              <a:off x="8820134" y="822269"/>
              <a:ext cx="65091" cy="66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585" name="组合 231"/>
            <p:cNvGrpSpPr/>
            <p:nvPr/>
          </p:nvGrpSpPr>
          <p:grpSpPr>
            <a:xfrm rot="16200000">
              <a:off x="8705181" y="415652"/>
              <a:ext cx="292793" cy="216000"/>
              <a:chOff x="5580112" y="4083918"/>
              <a:chExt cx="292793" cy="216000"/>
            </a:xfrm>
            <a:solidFill>
              <a:srgbClr val="CCFFCC"/>
            </a:solidFill>
          </p:grpSpPr>
          <p:sp>
            <p:nvSpPr>
              <p:cNvPr id="1051096" name="AutoShape 30"/>
              <p:cNvSpPr>
                <a:spLocks noChangeArrowheads="1"/>
              </p:cNvSpPr>
              <p:nvPr/>
            </p:nvSpPr>
            <p:spPr bwMode="auto">
              <a:xfrm rot="5400000">
                <a:off x="5580112" y="4083918"/>
                <a:ext cx="216000" cy="216000"/>
              </a:xfrm>
              <a:prstGeom prst="flowChartExtract">
                <a:avLst/>
              </a:prstGeom>
              <a:grpFill/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097" name="椭圆 176"/>
              <p:cNvSpPr/>
              <p:nvPr/>
            </p:nvSpPr>
            <p:spPr bwMode="auto">
              <a:xfrm>
                <a:off x="5800897" y="4155926"/>
                <a:ext cx="72008" cy="72008"/>
              </a:xfrm>
              <a:prstGeom prst="ellipse">
                <a:avLst/>
              </a:prstGeom>
              <a:grp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098" name="椭圆 96"/>
            <p:cNvSpPr>
              <a:spLocks noChangeArrowheads="1"/>
            </p:cNvSpPr>
            <p:nvPr/>
          </p:nvSpPr>
          <p:spPr bwMode="auto">
            <a:xfrm>
              <a:off x="8383550" y="831792"/>
              <a:ext cx="65090" cy="66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586" name="组合 236"/>
            <p:cNvGrpSpPr/>
            <p:nvPr/>
          </p:nvGrpSpPr>
          <p:grpSpPr>
            <a:xfrm rot="16200000">
              <a:off x="8268495" y="415653"/>
              <a:ext cx="292793" cy="216000"/>
              <a:chOff x="5580112" y="4083918"/>
              <a:chExt cx="292793" cy="216000"/>
            </a:xfrm>
            <a:solidFill>
              <a:srgbClr val="CCFFCC"/>
            </a:solidFill>
          </p:grpSpPr>
          <p:sp>
            <p:nvSpPr>
              <p:cNvPr id="1051099" name="AutoShape 30"/>
              <p:cNvSpPr>
                <a:spLocks noChangeArrowheads="1"/>
              </p:cNvSpPr>
              <p:nvPr/>
            </p:nvSpPr>
            <p:spPr bwMode="auto">
              <a:xfrm rot="5400000">
                <a:off x="5580112" y="4083918"/>
                <a:ext cx="216000" cy="216000"/>
              </a:xfrm>
              <a:prstGeom prst="flowChartExtract">
                <a:avLst/>
              </a:prstGeom>
              <a:grpFill/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100" name="椭圆 174"/>
              <p:cNvSpPr/>
              <p:nvPr/>
            </p:nvSpPr>
            <p:spPr bwMode="auto">
              <a:xfrm>
                <a:off x="5800897" y="4155926"/>
                <a:ext cx="72008" cy="72008"/>
              </a:xfrm>
              <a:prstGeom prst="ellipse">
                <a:avLst/>
              </a:prstGeom>
              <a:grp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cxnSp>
          <p:nvCxnSpPr>
            <p:cNvPr id="3146137" name="直接连接符 154"/>
            <p:cNvCxnSpPr/>
            <p:nvPr/>
          </p:nvCxnSpPr>
          <p:spPr>
            <a:xfrm>
              <a:off x="8911530" y="1093143"/>
              <a:ext cx="0" cy="396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38" name="直接连接符 155"/>
            <p:cNvCxnSpPr/>
            <p:nvPr/>
          </p:nvCxnSpPr>
          <p:spPr>
            <a:xfrm>
              <a:off x="8791897" y="1135435"/>
              <a:ext cx="0" cy="252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sm" len="sm"/>
            </a:ln>
          </p:spPr>
        </p:cxnSp>
        <p:sp>
          <p:nvSpPr>
            <p:cNvPr id="1051101" name="流程图: 延期 95"/>
            <p:cNvSpPr>
              <a:spLocks noChangeArrowheads="1"/>
            </p:cNvSpPr>
            <p:nvPr/>
          </p:nvSpPr>
          <p:spPr bwMode="auto">
            <a:xfrm rot="16200000">
              <a:off x="8720151" y="890484"/>
              <a:ext cx="268232" cy="258776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6139" name="直接连接符 157"/>
            <p:cNvCxnSpPr/>
            <p:nvPr/>
          </p:nvCxnSpPr>
          <p:spPr>
            <a:xfrm>
              <a:off x="7255346" y="1159818"/>
              <a:ext cx="0" cy="32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102" name="流程图: 延期 95"/>
            <p:cNvSpPr>
              <a:spLocks noChangeArrowheads="1"/>
            </p:cNvSpPr>
            <p:nvPr/>
          </p:nvSpPr>
          <p:spPr bwMode="auto">
            <a:xfrm rot="16200000">
              <a:off x="7183374" y="919053"/>
              <a:ext cx="268232" cy="258776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6140" name="直接连接符 17"/>
            <p:cNvCxnSpPr/>
            <p:nvPr/>
          </p:nvCxnSpPr>
          <p:spPr>
            <a:xfrm rot="5400000">
              <a:off x="8252643" y="1276549"/>
              <a:ext cx="216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1103" name="Text Box 116"/>
            <p:cNvSpPr txBox="1">
              <a:spLocks noChangeArrowheads="1"/>
            </p:cNvSpPr>
            <p:nvPr/>
          </p:nvSpPr>
          <p:spPr bwMode="auto">
            <a:xfrm>
              <a:off x="6991243" y="55662"/>
              <a:ext cx="504850" cy="2761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cxnSp>
          <p:nvCxnSpPr>
            <p:cNvPr id="3146141" name="直接连接符 161"/>
            <p:cNvCxnSpPr/>
            <p:nvPr/>
          </p:nvCxnSpPr>
          <p:spPr>
            <a:xfrm>
              <a:off x="6957789" y="1059582"/>
              <a:ext cx="0" cy="21602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104" name="流程图: 延期 95"/>
            <p:cNvSpPr>
              <a:spLocks noChangeArrowheads="1"/>
            </p:cNvSpPr>
            <p:nvPr/>
          </p:nvSpPr>
          <p:spPr bwMode="auto">
            <a:xfrm rot="16200000">
              <a:off x="6746789" y="919055"/>
              <a:ext cx="268232" cy="258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1105" name="Text Box 116"/>
            <p:cNvSpPr txBox="1">
              <a:spLocks noChangeArrowheads="1"/>
            </p:cNvSpPr>
            <p:nvPr/>
          </p:nvSpPr>
          <p:spPr bwMode="auto">
            <a:xfrm>
              <a:off x="8072385" y="69947"/>
              <a:ext cx="503262" cy="2761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cxnSp>
          <p:nvCxnSpPr>
            <p:cNvPr id="3146142" name="直接连接符 17"/>
            <p:cNvCxnSpPr/>
            <p:nvPr/>
          </p:nvCxnSpPr>
          <p:spPr>
            <a:xfrm rot="5400000">
              <a:off x="8081614" y="1434752"/>
              <a:ext cx="324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1106" name="Line 28"/>
            <p:cNvSpPr/>
            <p:nvPr/>
          </p:nvSpPr>
          <p:spPr>
            <a:xfrm rot="-5400000" flipV="1">
              <a:off x="8370408" y="1164464"/>
              <a:ext cx="0" cy="252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cxnSp>
          <p:nvCxnSpPr>
            <p:cNvPr id="3146143" name="直接连接符 166"/>
            <p:cNvCxnSpPr/>
            <p:nvPr/>
          </p:nvCxnSpPr>
          <p:spPr>
            <a:xfrm>
              <a:off x="8484815" y="1069107"/>
              <a:ext cx="0" cy="216024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107" name="流程图: 延期 95"/>
            <p:cNvSpPr>
              <a:spLocks noChangeArrowheads="1"/>
            </p:cNvSpPr>
            <p:nvPr/>
          </p:nvSpPr>
          <p:spPr bwMode="auto">
            <a:xfrm rot="16200000">
              <a:off x="8283566" y="900009"/>
              <a:ext cx="268232" cy="258775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146144" name="直接连接符 168"/>
            <p:cNvCxnSpPr/>
            <p:nvPr/>
          </p:nvCxnSpPr>
          <p:spPr>
            <a:xfrm>
              <a:off x="7317830" y="257968"/>
              <a:ext cx="0" cy="14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45" name="直接连接符 169"/>
            <p:cNvCxnSpPr/>
            <p:nvPr/>
          </p:nvCxnSpPr>
          <p:spPr>
            <a:xfrm>
              <a:off x="6881018" y="268063"/>
              <a:ext cx="0" cy="14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46" name="直接连接符 170"/>
            <p:cNvCxnSpPr/>
            <p:nvPr/>
          </p:nvCxnSpPr>
          <p:spPr>
            <a:xfrm>
              <a:off x="8849051" y="229390"/>
              <a:ext cx="0" cy="14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47" name="直接连接符 171"/>
            <p:cNvCxnSpPr/>
            <p:nvPr/>
          </p:nvCxnSpPr>
          <p:spPr>
            <a:xfrm>
              <a:off x="8412239" y="239485"/>
              <a:ext cx="0" cy="14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108" name="Line 28"/>
            <p:cNvSpPr/>
            <p:nvPr/>
          </p:nvSpPr>
          <p:spPr>
            <a:xfrm rot="-5400000" flipV="1">
              <a:off x="7440719" y="2103726"/>
              <a:ext cx="0" cy="50400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51109" name="Text Box 81"/>
          <p:cNvSpPr txBox="1"/>
          <p:nvPr/>
        </p:nvSpPr>
        <p:spPr>
          <a:xfrm>
            <a:off x="155575" y="3671888"/>
            <a:ext cx="1728788" cy="36988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AutoNum type="circleNumDbPlain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</a:p>
        </p:txBody>
      </p:sp>
      <p:sp>
        <p:nvSpPr>
          <p:cNvPr id="1051110" name="Text Box 83"/>
          <p:cNvSpPr txBox="1"/>
          <p:nvPr/>
        </p:nvSpPr>
        <p:spPr>
          <a:xfrm>
            <a:off x="2555875" y="3671888"/>
            <a:ext cx="1728788" cy="36988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AutoNum type="circleNumDbPlain" startAt="2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</a:p>
        </p:txBody>
      </p:sp>
      <p:grpSp>
        <p:nvGrpSpPr>
          <p:cNvPr id="587" name="Group 94"/>
          <p:cNvGrpSpPr/>
          <p:nvPr/>
        </p:nvGrpSpPr>
        <p:grpSpPr>
          <a:xfrm>
            <a:off x="2574925" y="4344988"/>
            <a:ext cx="2592388" cy="338137"/>
            <a:chOff x="144" y="2976"/>
            <a:chExt cx="1633" cy="284"/>
          </a:xfrm>
        </p:grpSpPr>
        <p:sp>
          <p:nvSpPr>
            <p:cNvPr id="1051111" name="Text Box 95"/>
            <p:cNvSpPr txBox="1">
              <a:spLocks noChangeArrowheads="1"/>
            </p:cNvSpPr>
            <p:nvPr/>
          </p:nvSpPr>
          <p:spPr bwMode="auto">
            <a:xfrm>
              <a:off x="144" y="2976"/>
              <a:ext cx="1633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 J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+ K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=</a:t>
              </a:r>
              <a:r>
                <a:rPr kumimoji="0" lang="zh-CN" altLang="en-US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</a:p>
          </p:txBody>
        </p:sp>
        <p:sp>
          <p:nvSpPr>
            <p:cNvPr id="1051112" name="Line 96"/>
            <p:cNvSpPr>
              <a:spLocks noChangeShapeType="1"/>
            </p:cNvSpPr>
            <p:nvPr/>
          </p:nvSpPr>
          <p:spPr bwMode="auto">
            <a:xfrm>
              <a:off x="812" y="3024"/>
              <a:ext cx="9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113" name="Line 97"/>
            <p:cNvSpPr>
              <a:spLocks noChangeShapeType="1"/>
            </p:cNvSpPr>
            <p:nvPr/>
          </p:nvSpPr>
          <p:spPr bwMode="auto">
            <a:xfrm>
              <a:off x="1547" y="3040"/>
              <a:ext cx="9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114" name="Line 98"/>
            <p:cNvSpPr>
              <a:spLocks noChangeShapeType="1"/>
            </p:cNvSpPr>
            <p:nvPr/>
          </p:nvSpPr>
          <p:spPr bwMode="auto">
            <a:xfrm>
              <a:off x="1084" y="3024"/>
              <a:ext cx="91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51115" name="Text Box 83"/>
          <p:cNvSpPr txBox="1"/>
          <p:nvPr/>
        </p:nvSpPr>
        <p:spPr>
          <a:xfrm>
            <a:off x="3779838" y="870903"/>
            <a:ext cx="1728787" cy="36988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输出方程</a:t>
            </a:r>
          </a:p>
        </p:txBody>
      </p:sp>
      <p:graphicFrame>
        <p:nvGraphicFramePr>
          <p:cNvPr id="4194309" name="表格 20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24525" y="1101725"/>
          <a:ext cx="2951164" cy="151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8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9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05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时钟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4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2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400" b="1" baseline="-25000" dirty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↓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51116" name="Text Box 83"/>
          <p:cNvSpPr txBox="1"/>
          <p:nvPr/>
        </p:nvSpPr>
        <p:spPr>
          <a:xfrm>
            <a:off x="5724525" y="741363"/>
            <a:ext cx="1728788" cy="36988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状态转换表</a:t>
            </a:r>
          </a:p>
        </p:txBody>
      </p:sp>
      <p:grpSp>
        <p:nvGrpSpPr>
          <p:cNvPr id="588" name="组合 210"/>
          <p:cNvGrpSpPr/>
          <p:nvPr/>
        </p:nvGrpSpPr>
        <p:grpSpPr>
          <a:xfrm>
            <a:off x="5207000" y="3363913"/>
            <a:ext cx="3492500" cy="276225"/>
            <a:chOff x="5207000" y="3363913"/>
            <a:chExt cx="3492500" cy="276225"/>
          </a:xfrm>
        </p:grpSpPr>
        <p:sp>
          <p:nvSpPr>
            <p:cNvPr id="1051117" name="Text Box 47"/>
            <p:cNvSpPr txBox="1">
              <a:spLocks noChangeArrowheads="1"/>
            </p:cNvSpPr>
            <p:nvPr/>
          </p:nvSpPr>
          <p:spPr bwMode="auto">
            <a:xfrm>
              <a:off x="5207000" y="3363913"/>
              <a:ext cx="527050" cy="27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zh-CN" altLang="en-US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  </a:t>
              </a: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endParaRPr kumimoji="1" lang="en-US" altLang="zh-CN" sz="1200" b="1" kern="1200" cap="none" spc="0" normalizeH="0" baseline="0" noProof="0" dirty="0">
                <a:latin typeface="+mj-lt"/>
                <a:ea typeface="宋体" pitchFamily="2" charset="-122"/>
                <a:cs typeface="+mn-cs"/>
              </a:endParaRPr>
            </a:p>
          </p:txBody>
        </p:sp>
        <p:grpSp>
          <p:nvGrpSpPr>
            <p:cNvPr id="589" name="Group 49"/>
            <p:cNvGrpSpPr/>
            <p:nvPr/>
          </p:nvGrpSpPr>
          <p:grpSpPr>
            <a:xfrm>
              <a:off x="5789613" y="3390900"/>
              <a:ext cx="2909887" cy="165100"/>
              <a:chOff x="1080" y="1488"/>
              <a:chExt cx="2808" cy="288"/>
            </a:xfrm>
          </p:grpSpPr>
          <p:sp>
            <p:nvSpPr>
              <p:cNvPr id="1051118" name="Line 50"/>
              <p:cNvSpPr/>
              <p:nvPr/>
            </p:nvSpPr>
            <p:spPr>
              <a:xfrm>
                <a:off x="1080" y="1776"/>
                <a:ext cx="89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19" name="Line 51"/>
              <p:cNvSpPr/>
              <p:nvPr/>
            </p:nvSpPr>
            <p:spPr>
              <a:xfrm flipV="1">
                <a:off x="1968" y="1488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0" name="Line 52"/>
              <p:cNvSpPr/>
              <p:nvPr/>
            </p:nvSpPr>
            <p:spPr>
              <a:xfrm>
                <a:off x="1968" y="1488"/>
                <a:ext cx="9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1" name="Line 53"/>
              <p:cNvSpPr/>
              <p:nvPr/>
            </p:nvSpPr>
            <p:spPr>
              <a:xfrm>
                <a:off x="2928" y="1488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2" name="Line 54"/>
              <p:cNvSpPr/>
              <p:nvPr/>
            </p:nvSpPr>
            <p:spPr>
              <a:xfrm>
                <a:off x="2928" y="1776"/>
                <a:ext cx="9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3" name="Line 55"/>
              <p:cNvSpPr/>
              <p:nvPr/>
            </p:nvSpPr>
            <p:spPr>
              <a:xfrm>
                <a:off x="2928" y="1776"/>
                <a:ext cx="9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90" name="组合 209"/>
          <p:cNvGrpSpPr/>
          <p:nvPr/>
        </p:nvGrpSpPr>
        <p:grpSpPr>
          <a:xfrm>
            <a:off x="4810125" y="3057525"/>
            <a:ext cx="3894138" cy="295275"/>
            <a:chOff x="4810125" y="3057525"/>
            <a:chExt cx="3894138" cy="295275"/>
          </a:xfrm>
        </p:grpSpPr>
        <p:grpSp>
          <p:nvGrpSpPr>
            <p:cNvPr id="591" name="Group 28"/>
            <p:cNvGrpSpPr/>
            <p:nvPr/>
          </p:nvGrpSpPr>
          <p:grpSpPr>
            <a:xfrm>
              <a:off x="5768975" y="3057525"/>
              <a:ext cx="2935288" cy="165100"/>
              <a:chOff x="1056" y="912"/>
              <a:chExt cx="2832" cy="240"/>
            </a:xfrm>
          </p:grpSpPr>
          <p:sp>
            <p:nvSpPr>
              <p:cNvPr id="1051124" name="Line 29"/>
              <p:cNvSpPr/>
              <p:nvPr/>
            </p:nvSpPr>
            <p:spPr>
              <a:xfrm>
                <a:off x="1056" y="1152"/>
                <a:ext cx="422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5" name="Line 30"/>
              <p:cNvSpPr/>
              <p:nvPr/>
            </p:nvSpPr>
            <p:spPr>
              <a:xfrm flipV="1">
                <a:off x="1488" y="9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6" name="Line 31"/>
              <p:cNvSpPr/>
              <p:nvPr/>
            </p:nvSpPr>
            <p:spPr>
              <a:xfrm>
                <a:off x="1488" y="91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7" name="Line 32"/>
              <p:cNvSpPr/>
              <p:nvPr/>
            </p:nvSpPr>
            <p:spPr>
              <a:xfrm>
                <a:off x="1968" y="9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28" name="Line 33"/>
              <p:cNvSpPr/>
              <p:nvPr/>
            </p:nvSpPr>
            <p:spPr>
              <a:xfrm>
                <a:off x="1968" y="115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29" name="Line 34"/>
              <p:cNvSpPr/>
              <p:nvPr/>
            </p:nvSpPr>
            <p:spPr>
              <a:xfrm>
                <a:off x="1968" y="115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30" name="Line 35"/>
              <p:cNvSpPr/>
              <p:nvPr/>
            </p:nvSpPr>
            <p:spPr>
              <a:xfrm flipV="1">
                <a:off x="2448" y="9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31" name="Line 36"/>
              <p:cNvSpPr/>
              <p:nvPr/>
            </p:nvSpPr>
            <p:spPr>
              <a:xfrm>
                <a:off x="2448" y="91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32" name="Line 37"/>
              <p:cNvSpPr/>
              <p:nvPr/>
            </p:nvSpPr>
            <p:spPr>
              <a:xfrm>
                <a:off x="2928" y="9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33" name="Line 38"/>
              <p:cNvSpPr/>
              <p:nvPr/>
            </p:nvSpPr>
            <p:spPr>
              <a:xfrm>
                <a:off x="2928" y="115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34" name="Line 39"/>
              <p:cNvSpPr/>
              <p:nvPr/>
            </p:nvSpPr>
            <p:spPr>
              <a:xfrm>
                <a:off x="2928" y="115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35" name="Line 40"/>
              <p:cNvSpPr/>
              <p:nvPr/>
            </p:nvSpPr>
            <p:spPr>
              <a:xfrm flipV="1">
                <a:off x="3408" y="9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36" name="Line 41"/>
              <p:cNvSpPr/>
              <p:nvPr/>
            </p:nvSpPr>
            <p:spPr>
              <a:xfrm>
                <a:off x="3408" y="91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137" name="Text Box 56"/>
            <p:cNvSpPr txBox="1">
              <a:spLocks noChangeArrowheads="1"/>
            </p:cNvSpPr>
            <p:nvPr/>
          </p:nvSpPr>
          <p:spPr bwMode="auto">
            <a:xfrm>
              <a:off x="4810125" y="3074988"/>
              <a:ext cx="1081088" cy="2778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zh-CN" altLang="en-US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  </a:t>
              </a: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Q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(</a:t>
              </a:r>
              <a:r>
                <a:rPr kumimoji="1" lang="zh-CN" altLang="en-US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</a:t>
              </a: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)</a:t>
              </a:r>
              <a:endParaRPr kumimoji="1" lang="zh-CN" altLang="en-US" sz="1200" b="1" kern="1200" cap="none" spc="0" normalizeH="0" baseline="0" noProof="0" dirty="0">
                <a:latin typeface="+mj-lt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92" name="组合 211"/>
          <p:cNvGrpSpPr/>
          <p:nvPr/>
        </p:nvGrpSpPr>
        <p:grpSpPr>
          <a:xfrm>
            <a:off x="5322888" y="3633788"/>
            <a:ext cx="3386137" cy="1303337"/>
            <a:chOff x="5322888" y="3633788"/>
            <a:chExt cx="3386137" cy="1303337"/>
          </a:xfrm>
        </p:grpSpPr>
        <p:sp>
          <p:nvSpPr>
            <p:cNvPr id="1051138" name="Text Box 48"/>
            <p:cNvSpPr txBox="1">
              <a:spLocks noChangeArrowheads="1"/>
            </p:cNvSpPr>
            <p:nvPr/>
          </p:nvSpPr>
          <p:spPr bwMode="auto">
            <a:xfrm>
              <a:off x="5322888" y="3633788"/>
              <a:ext cx="441325" cy="27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0</a:t>
              </a:r>
            </a:p>
          </p:txBody>
        </p:sp>
        <p:grpSp>
          <p:nvGrpSpPr>
            <p:cNvPr id="593" name="Group 57"/>
            <p:cNvGrpSpPr/>
            <p:nvPr/>
          </p:nvGrpSpPr>
          <p:grpSpPr>
            <a:xfrm>
              <a:off x="5768975" y="3732213"/>
              <a:ext cx="2935288" cy="166687"/>
              <a:chOff x="1056" y="2016"/>
              <a:chExt cx="2832" cy="240"/>
            </a:xfrm>
          </p:grpSpPr>
          <p:sp>
            <p:nvSpPr>
              <p:cNvPr id="1051139" name="Line 58"/>
              <p:cNvSpPr/>
              <p:nvPr/>
            </p:nvSpPr>
            <p:spPr>
              <a:xfrm>
                <a:off x="1056" y="201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0" name="Line 59"/>
              <p:cNvSpPr/>
              <p:nvPr/>
            </p:nvSpPr>
            <p:spPr>
              <a:xfrm>
                <a:off x="1488" y="2016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1" name="Line 60"/>
              <p:cNvSpPr/>
              <p:nvPr/>
            </p:nvSpPr>
            <p:spPr>
              <a:xfrm>
                <a:off x="1488" y="2256"/>
                <a:ext cx="144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2" name="Line 61"/>
              <p:cNvSpPr/>
              <p:nvPr/>
            </p:nvSpPr>
            <p:spPr>
              <a:xfrm flipV="1">
                <a:off x="2928" y="2016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3" name="Line 62"/>
              <p:cNvSpPr/>
              <p:nvPr/>
            </p:nvSpPr>
            <p:spPr>
              <a:xfrm>
                <a:off x="2928" y="2016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4" name="Line 63"/>
              <p:cNvSpPr/>
              <p:nvPr/>
            </p:nvSpPr>
            <p:spPr>
              <a:xfrm>
                <a:off x="3408" y="2016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5" name="Line 64"/>
              <p:cNvSpPr/>
              <p:nvPr/>
            </p:nvSpPr>
            <p:spPr>
              <a:xfrm>
                <a:off x="3408" y="2256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94" name="Group 65"/>
            <p:cNvGrpSpPr/>
            <p:nvPr/>
          </p:nvGrpSpPr>
          <p:grpSpPr>
            <a:xfrm>
              <a:off x="5768975" y="4065588"/>
              <a:ext cx="2935288" cy="165100"/>
              <a:chOff x="1056" y="2256"/>
              <a:chExt cx="2832" cy="240"/>
            </a:xfrm>
          </p:grpSpPr>
          <p:sp>
            <p:nvSpPr>
              <p:cNvPr id="1051146" name="Line 66"/>
              <p:cNvSpPr/>
              <p:nvPr/>
            </p:nvSpPr>
            <p:spPr>
              <a:xfrm>
                <a:off x="1056" y="249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7" name="Line 67"/>
              <p:cNvSpPr/>
              <p:nvPr/>
            </p:nvSpPr>
            <p:spPr>
              <a:xfrm flipV="1">
                <a:off x="1488" y="2256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8" name="Line 68"/>
              <p:cNvSpPr/>
              <p:nvPr/>
            </p:nvSpPr>
            <p:spPr>
              <a:xfrm>
                <a:off x="1488" y="2256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49" name="Line 69"/>
              <p:cNvSpPr/>
              <p:nvPr/>
            </p:nvSpPr>
            <p:spPr>
              <a:xfrm>
                <a:off x="1968" y="2256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0" name="Line 70"/>
              <p:cNvSpPr/>
              <p:nvPr/>
            </p:nvSpPr>
            <p:spPr>
              <a:xfrm>
                <a:off x="1968" y="2496"/>
                <a:ext cx="144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1" name="Line 71"/>
              <p:cNvSpPr/>
              <p:nvPr/>
            </p:nvSpPr>
            <p:spPr>
              <a:xfrm flipV="1">
                <a:off x="3408" y="2256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2" name="Line 72"/>
              <p:cNvSpPr/>
              <p:nvPr/>
            </p:nvSpPr>
            <p:spPr>
              <a:xfrm>
                <a:off x="3408" y="2256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153" name="Text Box 73"/>
            <p:cNvSpPr txBox="1">
              <a:spLocks noChangeArrowheads="1"/>
            </p:cNvSpPr>
            <p:nvPr/>
          </p:nvSpPr>
          <p:spPr bwMode="auto">
            <a:xfrm>
              <a:off x="5322888" y="3957638"/>
              <a:ext cx="441325" cy="27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595" name="Group 74"/>
            <p:cNvGrpSpPr/>
            <p:nvPr/>
          </p:nvGrpSpPr>
          <p:grpSpPr>
            <a:xfrm>
              <a:off x="5759450" y="4389438"/>
              <a:ext cx="2935288" cy="165100"/>
              <a:chOff x="1056" y="2784"/>
              <a:chExt cx="2832" cy="288"/>
            </a:xfrm>
          </p:grpSpPr>
          <p:sp>
            <p:nvSpPr>
              <p:cNvPr id="1051154" name="Line 75"/>
              <p:cNvSpPr/>
              <p:nvPr/>
            </p:nvSpPr>
            <p:spPr>
              <a:xfrm>
                <a:off x="1056" y="3072"/>
                <a:ext cx="912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5" name="Line 76"/>
              <p:cNvSpPr/>
              <p:nvPr/>
            </p:nvSpPr>
            <p:spPr>
              <a:xfrm flipV="1">
                <a:off x="1968" y="2784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6" name="Line 77"/>
              <p:cNvSpPr/>
              <p:nvPr/>
            </p:nvSpPr>
            <p:spPr>
              <a:xfrm>
                <a:off x="1968" y="2784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7" name="Line 78"/>
              <p:cNvSpPr/>
              <p:nvPr/>
            </p:nvSpPr>
            <p:spPr>
              <a:xfrm>
                <a:off x="2448" y="2784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58" name="Line 79"/>
              <p:cNvSpPr/>
              <p:nvPr/>
            </p:nvSpPr>
            <p:spPr>
              <a:xfrm>
                <a:off x="2448" y="3072"/>
                <a:ext cx="144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159" name="Text Box 80"/>
            <p:cNvSpPr txBox="1">
              <a:spLocks noChangeArrowheads="1"/>
            </p:cNvSpPr>
            <p:nvPr/>
          </p:nvSpPr>
          <p:spPr bwMode="auto">
            <a:xfrm>
              <a:off x="5322888" y="4300538"/>
              <a:ext cx="441325" cy="27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grpSp>
          <p:nvGrpSpPr>
            <p:cNvPr id="596" name="Group 81"/>
            <p:cNvGrpSpPr/>
            <p:nvPr/>
          </p:nvGrpSpPr>
          <p:grpSpPr>
            <a:xfrm>
              <a:off x="5759450" y="4713288"/>
              <a:ext cx="2949575" cy="166687"/>
              <a:chOff x="1056" y="3072"/>
              <a:chExt cx="2844" cy="240"/>
            </a:xfrm>
          </p:grpSpPr>
          <p:sp>
            <p:nvSpPr>
              <p:cNvPr id="1051160" name="Line 82"/>
              <p:cNvSpPr/>
              <p:nvPr/>
            </p:nvSpPr>
            <p:spPr>
              <a:xfrm>
                <a:off x="1056" y="3312"/>
                <a:ext cx="1392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61" name="Line 83"/>
              <p:cNvSpPr/>
              <p:nvPr/>
            </p:nvSpPr>
            <p:spPr>
              <a:xfrm flipV="1">
                <a:off x="2448" y="307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62" name="Line 84"/>
              <p:cNvSpPr/>
              <p:nvPr/>
            </p:nvSpPr>
            <p:spPr>
              <a:xfrm>
                <a:off x="2448" y="307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63" name="Line 85"/>
              <p:cNvSpPr/>
              <p:nvPr/>
            </p:nvSpPr>
            <p:spPr>
              <a:xfrm>
                <a:off x="2928" y="307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64" name="Line 86"/>
              <p:cNvSpPr/>
              <p:nvPr/>
            </p:nvSpPr>
            <p:spPr>
              <a:xfrm>
                <a:off x="2928" y="3312"/>
                <a:ext cx="972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165" name="Text Box 87"/>
            <p:cNvSpPr txBox="1">
              <a:spLocks noChangeArrowheads="1"/>
            </p:cNvSpPr>
            <p:nvPr/>
          </p:nvSpPr>
          <p:spPr bwMode="auto">
            <a:xfrm>
              <a:off x="5322888" y="4659313"/>
              <a:ext cx="441325" cy="2778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</p:grpSp>
      <p:grpSp>
        <p:nvGrpSpPr>
          <p:cNvPr id="597" name="组合 208"/>
          <p:cNvGrpSpPr/>
          <p:nvPr/>
        </p:nvGrpSpPr>
        <p:grpSpPr>
          <a:xfrm>
            <a:off x="5291138" y="2716213"/>
            <a:ext cx="3375025" cy="2176462"/>
            <a:chOff x="5291138" y="2716213"/>
            <a:chExt cx="3375025" cy="2176462"/>
          </a:xfrm>
        </p:grpSpPr>
        <p:sp>
          <p:nvSpPr>
            <p:cNvPr id="1051166" name="Line 4"/>
            <p:cNvSpPr/>
            <p:nvPr/>
          </p:nvSpPr>
          <p:spPr>
            <a:xfrm>
              <a:off x="7708900" y="2787650"/>
              <a:ext cx="0" cy="2016125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dash"/>
              <a:miter/>
              <a:headEnd type="none" w="med" len="med"/>
              <a:tailEnd type="none" w="med" len="med"/>
            </a:ln>
          </p:spPr>
        </p:sp>
        <p:grpSp>
          <p:nvGrpSpPr>
            <p:cNvPr id="598" name="Group 5"/>
            <p:cNvGrpSpPr/>
            <p:nvPr/>
          </p:nvGrpSpPr>
          <p:grpSpPr>
            <a:xfrm>
              <a:off x="5710238" y="2716213"/>
              <a:ext cx="2955925" cy="165100"/>
              <a:chOff x="1008" y="288"/>
              <a:chExt cx="2851" cy="240"/>
            </a:xfrm>
          </p:grpSpPr>
          <p:sp>
            <p:nvSpPr>
              <p:cNvPr id="1051167" name="Line 6"/>
              <p:cNvSpPr/>
              <p:nvPr/>
            </p:nvSpPr>
            <p:spPr>
              <a:xfrm>
                <a:off x="1248" y="28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68" name="Line 7"/>
              <p:cNvSpPr/>
              <p:nvPr/>
            </p:nvSpPr>
            <p:spPr>
              <a:xfrm>
                <a:off x="148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69" name="Line 8"/>
              <p:cNvSpPr/>
              <p:nvPr/>
            </p:nvSpPr>
            <p:spPr>
              <a:xfrm>
                <a:off x="124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0" name="Line 9"/>
              <p:cNvSpPr/>
              <p:nvPr/>
            </p:nvSpPr>
            <p:spPr>
              <a:xfrm>
                <a:off x="1488" y="52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1" name="Line 10"/>
              <p:cNvSpPr/>
              <p:nvPr/>
            </p:nvSpPr>
            <p:spPr>
              <a:xfrm>
                <a:off x="1728" y="28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2" name="Line 11"/>
              <p:cNvSpPr/>
              <p:nvPr/>
            </p:nvSpPr>
            <p:spPr>
              <a:xfrm>
                <a:off x="196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73" name="Line 12"/>
              <p:cNvSpPr/>
              <p:nvPr/>
            </p:nvSpPr>
            <p:spPr>
              <a:xfrm>
                <a:off x="172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4" name="Line 13"/>
              <p:cNvSpPr/>
              <p:nvPr/>
            </p:nvSpPr>
            <p:spPr>
              <a:xfrm>
                <a:off x="1968" y="52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5" name="Line 14"/>
              <p:cNvSpPr/>
              <p:nvPr/>
            </p:nvSpPr>
            <p:spPr>
              <a:xfrm>
                <a:off x="2208" y="28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6" name="Line 15"/>
              <p:cNvSpPr/>
              <p:nvPr/>
            </p:nvSpPr>
            <p:spPr>
              <a:xfrm>
                <a:off x="244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77" name="Line 16"/>
              <p:cNvSpPr/>
              <p:nvPr/>
            </p:nvSpPr>
            <p:spPr>
              <a:xfrm>
                <a:off x="220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8" name="Line 17"/>
              <p:cNvSpPr/>
              <p:nvPr/>
            </p:nvSpPr>
            <p:spPr>
              <a:xfrm>
                <a:off x="2448" y="52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79" name="Line 18"/>
              <p:cNvSpPr/>
              <p:nvPr/>
            </p:nvSpPr>
            <p:spPr>
              <a:xfrm>
                <a:off x="2688" y="28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0" name="Line 19"/>
              <p:cNvSpPr/>
              <p:nvPr/>
            </p:nvSpPr>
            <p:spPr>
              <a:xfrm>
                <a:off x="292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81" name="Line 20"/>
              <p:cNvSpPr/>
              <p:nvPr/>
            </p:nvSpPr>
            <p:spPr>
              <a:xfrm>
                <a:off x="268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2" name="Line 21"/>
              <p:cNvSpPr/>
              <p:nvPr/>
            </p:nvSpPr>
            <p:spPr>
              <a:xfrm>
                <a:off x="2928" y="52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3" name="Line 22"/>
              <p:cNvSpPr/>
              <p:nvPr/>
            </p:nvSpPr>
            <p:spPr>
              <a:xfrm>
                <a:off x="1008" y="52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4" name="Line 23"/>
              <p:cNvSpPr/>
              <p:nvPr/>
            </p:nvSpPr>
            <p:spPr>
              <a:xfrm>
                <a:off x="3168" y="28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5" name="Line 24"/>
              <p:cNvSpPr/>
              <p:nvPr/>
            </p:nvSpPr>
            <p:spPr>
              <a:xfrm>
                <a:off x="340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1051186" name="Line 25"/>
              <p:cNvSpPr/>
              <p:nvPr/>
            </p:nvSpPr>
            <p:spPr>
              <a:xfrm>
                <a:off x="3168" y="2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7" name="Line 26"/>
              <p:cNvSpPr/>
              <p:nvPr/>
            </p:nvSpPr>
            <p:spPr>
              <a:xfrm>
                <a:off x="3408" y="528"/>
                <a:ext cx="451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188" name="Line 27"/>
              <p:cNvSpPr/>
              <p:nvPr/>
            </p:nvSpPr>
            <p:spPr>
              <a:xfrm>
                <a:off x="2928" y="52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189" name="Line 42"/>
            <p:cNvSpPr/>
            <p:nvPr/>
          </p:nvSpPr>
          <p:spPr>
            <a:xfrm>
              <a:off x="6215063" y="2844800"/>
              <a:ext cx="0" cy="2016125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051190" name="Line 43"/>
            <p:cNvSpPr/>
            <p:nvPr/>
          </p:nvSpPr>
          <p:spPr>
            <a:xfrm>
              <a:off x="6710363" y="2876550"/>
              <a:ext cx="0" cy="2016125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051191" name="Line 44"/>
            <p:cNvSpPr/>
            <p:nvPr/>
          </p:nvSpPr>
          <p:spPr>
            <a:xfrm>
              <a:off x="7196138" y="2867025"/>
              <a:ext cx="0" cy="2016125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1051192" name="Text Box 46"/>
            <p:cNvSpPr txBox="1">
              <a:spLocks noChangeArrowheads="1"/>
            </p:cNvSpPr>
            <p:nvPr/>
          </p:nvSpPr>
          <p:spPr bwMode="auto">
            <a:xfrm>
              <a:off x="5291138" y="2716213"/>
              <a:ext cx="519112" cy="27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1193" name="Line 4"/>
            <p:cNvSpPr/>
            <p:nvPr/>
          </p:nvSpPr>
          <p:spPr>
            <a:xfrm>
              <a:off x="8213725" y="2849563"/>
              <a:ext cx="0" cy="2016125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dash"/>
              <a:miter/>
              <a:headEnd type="none" w="med" len="med"/>
              <a:tailEnd type="none" w="med" len="med"/>
            </a:ln>
          </p:spPr>
        </p:sp>
      </p:grpSp>
      <p:sp>
        <p:nvSpPr>
          <p:cNvPr id="1051194" name="圆角矩形标注 13"/>
          <p:cNvSpPr/>
          <p:nvPr/>
        </p:nvSpPr>
        <p:spPr>
          <a:xfrm>
            <a:off x="3404870" y="2992755"/>
            <a:ext cx="1454150" cy="646727"/>
          </a:xfrm>
          <a:prstGeom prst="wedgeRoundRectCallout">
            <a:avLst>
              <a:gd name="adj1" fmla="val 80074"/>
              <a:gd name="adj2" fmla="val 102683"/>
              <a:gd name="adj3" fmla="val 16667"/>
            </a:avLst>
          </a:prstGeom>
          <a:solidFill>
            <a:schemeClr val="tx1"/>
          </a:solidFill>
          <a:ln w="19050" cap="flat" cmpd="sng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rgbClr val="C00000"/>
              </a:buClr>
              <a:buSzPct val="70000"/>
            </a:pPr>
            <a:r>
              <a:rPr lang="en-US" altLang="zh-CN" sz="1600" b="1" dirty="0">
                <a:sym typeface="+mn-ea"/>
              </a:rPr>
              <a:t>4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节拍发生器</a:t>
            </a:r>
            <a:r>
              <a:rPr lang="en-US" altLang="zh-CN" sz="1600" b="1" dirty="0">
                <a:sym typeface="+mn-ea"/>
              </a:rPr>
              <a:t>(W</a:t>
            </a:r>
            <a:r>
              <a:rPr lang="en-US" altLang="zh-CN" sz="1600" b="1" baseline="-25000" dirty="0">
                <a:sym typeface="+mn-ea"/>
              </a:rPr>
              <a:t>0</a:t>
            </a:r>
            <a:r>
              <a:rPr lang="zh-CN" altLang="en-US" sz="1600" b="1" dirty="0">
                <a:sym typeface="+mn-ea"/>
              </a:rPr>
              <a:t>～</a:t>
            </a:r>
            <a:r>
              <a:rPr lang="en-US" altLang="zh-CN" sz="1600" b="1" dirty="0">
                <a:sym typeface="+mn-ea"/>
              </a:rPr>
              <a:t>W</a:t>
            </a:r>
            <a:r>
              <a:rPr lang="en-US" altLang="zh-CN" sz="1600" b="1" baseline="-25000" dirty="0">
                <a:sym typeface="+mn-ea"/>
              </a:rPr>
              <a:t>3</a:t>
            </a:r>
            <a:r>
              <a:rPr lang="en-US" altLang="zh-CN" sz="1600" b="1" dirty="0">
                <a:sym typeface="+mn-ea"/>
              </a:rPr>
              <a:t>)</a:t>
            </a:r>
            <a:endParaRPr lang="en-US" altLang="zh-CN" sz="1600" b="1" dirty="0">
              <a:latin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5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5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5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19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051" grpId="0"/>
      <p:bldP spid="1051109" grpId="0"/>
      <p:bldP spid="1051110" grpId="0"/>
      <p:bldP spid="1051115" grpId="0"/>
      <p:bldP spid="1051116" grpId="0"/>
      <p:bldP spid="105119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节拍发生器</a:t>
            </a:r>
            <a:r>
              <a:rPr lang="en-US" altLang="zh-CN" dirty="0">
                <a:sym typeface="+mn-ea"/>
              </a:rPr>
              <a:t>1——</a:t>
            </a:r>
            <a:r>
              <a:rPr lang="zh-CN" altLang="en-US" dirty="0">
                <a:sym typeface="+mn-ea"/>
              </a:rPr>
              <a:t>应用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回顾：环形计数器</a:t>
            </a:r>
            <a:r>
              <a:rPr lang="en-US" altLang="zh-CN" b="1" dirty="0">
                <a:latin typeface="Arial" panose="020B0604020202090204" pitchFamily="34" charset="0"/>
                <a:sym typeface="+mn-ea"/>
              </a:rPr>
              <a:t> </a:t>
            </a:r>
            <a:endParaRPr lang="zh-CN" altLang="en-US"/>
          </a:p>
        </p:txBody>
      </p:sp>
      <p:grpSp>
        <p:nvGrpSpPr>
          <p:cNvPr id="601" name="组合 195"/>
          <p:cNvGrpSpPr/>
          <p:nvPr/>
        </p:nvGrpSpPr>
        <p:grpSpPr>
          <a:xfrm>
            <a:off x="6732588" y="1131888"/>
            <a:ext cx="1727200" cy="1450975"/>
            <a:chOff x="1331640" y="3425031"/>
            <a:chExt cx="1728192" cy="1450975"/>
          </a:xfrm>
        </p:grpSpPr>
        <p:grpSp>
          <p:nvGrpSpPr>
            <p:cNvPr id="602" name="组合 79"/>
            <p:cNvGrpSpPr/>
            <p:nvPr/>
          </p:nvGrpSpPr>
          <p:grpSpPr>
            <a:xfrm>
              <a:off x="1469210" y="3918751"/>
              <a:ext cx="1443662" cy="774612"/>
              <a:chOff x="2627784" y="449207"/>
              <a:chExt cx="1444030" cy="813447"/>
            </a:xfrm>
          </p:grpSpPr>
          <p:grpSp>
            <p:nvGrpSpPr>
              <p:cNvPr id="603" name="Group 4"/>
              <p:cNvGrpSpPr/>
              <p:nvPr/>
            </p:nvGrpSpPr>
            <p:grpSpPr>
              <a:xfrm>
                <a:off x="2627784" y="449207"/>
                <a:ext cx="1444030" cy="813447"/>
                <a:chOff x="528" y="504"/>
                <a:chExt cx="1149" cy="820"/>
              </a:xfrm>
            </p:grpSpPr>
            <p:sp>
              <p:nvSpPr>
                <p:cNvPr id="1051198" name="Oval 5"/>
                <p:cNvSpPr/>
                <p:nvPr/>
              </p:nvSpPr>
              <p:spPr>
                <a:xfrm>
                  <a:off x="528" y="504"/>
                  <a:ext cx="462" cy="321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1000</a:t>
                  </a:r>
                </a:p>
              </p:txBody>
            </p:sp>
            <p:sp>
              <p:nvSpPr>
                <p:cNvPr id="1051199" name="Oval 6"/>
                <p:cNvSpPr/>
                <p:nvPr/>
              </p:nvSpPr>
              <p:spPr>
                <a:xfrm>
                  <a:off x="1219" y="529"/>
                  <a:ext cx="458" cy="321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0100</a:t>
                  </a:r>
                </a:p>
              </p:txBody>
            </p:sp>
            <p:sp>
              <p:nvSpPr>
                <p:cNvPr id="1051200" name="Oval 7"/>
                <p:cNvSpPr/>
                <p:nvPr/>
              </p:nvSpPr>
              <p:spPr>
                <a:xfrm>
                  <a:off x="1219" y="1003"/>
                  <a:ext cx="458" cy="321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0010</a:t>
                  </a:r>
                </a:p>
              </p:txBody>
            </p:sp>
            <p:sp>
              <p:nvSpPr>
                <p:cNvPr id="1051201" name="Oval 8"/>
                <p:cNvSpPr/>
                <p:nvPr/>
              </p:nvSpPr>
              <p:spPr>
                <a:xfrm>
                  <a:off x="531" y="1003"/>
                  <a:ext cx="458" cy="321"/>
                </a:xfrm>
                <a:prstGeom prst="ellipse">
                  <a:avLst/>
                </a:prstGeom>
                <a:solidFill>
                  <a:srgbClr val="99FF99"/>
                </a:solidFill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0" tIns="0" rIns="0" bIns="0" anchor="ctr"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latin typeface="Arial" panose="020B0604020202090204" pitchFamily="34" charset="0"/>
                    </a:rPr>
                    <a:t>0001</a:t>
                  </a:r>
                </a:p>
              </p:txBody>
            </p:sp>
            <p:sp>
              <p:nvSpPr>
                <p:cNvPr id="1051202" name="Line 9"/>
                <p:cNvSpPr>
                  <a:spLocks noChangeShapeType="1"/>
                </p:cNvSpPr>
                <p:nvPr/>
              </p:nvSpPr>
              <p:spPr bwMode="auto">
                <a:xfrm>
                  <a:off x="1016" y="674"/>
                  <a:ext cx="200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1203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998" y="1178"/>
                  <a:ext cx="200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120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755" y="828"/>
                  <a:ext cx="0" cy="19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  <a:tailEnd type="triangle" w="med" len="med"/>
                </a:ln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60000"/>
                        <a:lumOff val="4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90204" pitchFamily="34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051205" name="Line 12"/>
              <p:cNvSpPr/>
              <p:nvPr/>
            </p:nvSpPr>
            <p:spPr>
              <a:xfrm flipV="1">
                <a:off x="3784062" y="771552"/>
                <a:ext cx="0" cy="188955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triangle" w="med" len="med"/>
                <a:tailEnd type="none" w="med" len="med"/>
              </a:ln>
            </p:spPr>
          </p:sp>
        </p:grpSp>
        <p:grpSp>
          <p:nvGrpSpPr>
            <p:cNvPr id="604" name="组合 41"/>
            <p:cNvGrpSpPr/>
            <p:nvPr/>
          </p:nvGrpSpPr>
          <p:grpSpPr>
            <a:xfrm>
              <a:off x="1331640" y="3425031"/>
              <a:ext cx="1728192" cy="1450975"/>
              <a:chOff x="900436" y="3424238"/>
              <a:chExt cx="1728192" cy="1450975"/>
            </a:xfrm>
          </p:grpSpPr>
          <p:sp>
            <p:nvSpPr>
              <p:cNvPr id="1051206" name="圆角矩形 131"/>
              <p:cNvSpPr/>
              <p:nvPr/>
            </p:nvSpPr>
            <p:spPr>
              <a:xfrm>
                <a:off x="900436" y="3579542"/>
                <a:ext cx="1728192" cy="1295671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bg1"/>
                </a:solidFill>
                <a:prstDash val="sysDash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1207" name="Text Box 13"/>
              <p:cNvSpPr txBox="1"/>
              <p:nvPr/>
            </p:nvSpPr>
            <p:spPr>
              <a:xfrm>
                <a:off x="1276256" y="3424238"/>
                <a:ext cx="992331" cy="338554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600" b="1" dirty="0">
                    <a:solidFill>
                      <a:srgbClr val="0000B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状态图</a:t>
                </a:r>
              </a:p>
            </p:txBody>
          </p:sp>
        </p:grpSp>
      </p:grpSp>
      <p:grpSp>
        <p:nvGrpSpPr>
          <p:cNvPr id="605" name="组合 186"/>
          <p:cNvGrpSpPr/>
          <p:nvPr/>
        </p:nvGrpSpPr>
        <p:grpSpPr>
          <a:xfrm>
            <a:off x="323850" y="1196975"/>
            <a:ext cx="6048375" cy="1873250"/>
            <a:chOff x="1619250" y="1203598"/>
            <a:chExt cx="6048375" cy="1872977"/>
          </a:xfrm>
        </p:grpSpPr>
        <p:grpSp>
          <p:nvGrpSpPr>
            <p:cNvPr id="606" name="组合 3"/>
            <p:cNvGrpSpPr/>
            <p:nvPr/>
          </p:nvGrpSpPr>
          <p:grpSpPr>
            <a:xfrm>
              <a:off x="1619250" y="1652588"/>
              <a:ext cx="6048375" cy="1423987"/>
              <a:chOff x="1619250" y="1652588"/>
              <a:chExt cx="6048375" cy="1423987"/>
            </a:xfrm>
          </p:grpSpPr>
          <p:pic>
            <p:nvPicPr>
              <p:cNvPr id="2097192" name="Picture 1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9250" y="1652588"/>
                <a:ext cx="6048375" cy="1423987"/>
              </a:xfrm>
              <a:prstGeom prst="rect">
                <a:avLst/>
              </a:prstGeom>
              <a:noFill/>
              <a:ln w="19050">
                <a:noFill/>
              </a:ln>
            </p:spPr>
          </p:pic>
          <p:grpSp>
            <p:nvGrpSpPr>
              <p:cNvPr id="607" name="组合 65"/>
              <p:cNvGrpSpPr/>
              <p:nvPr/>
            </p:nvGrpSpPr>
            <p:grpSpPr>
              <a:xfrm>
                <a:off x="6305550" y="2287588"/>
                <a:ext cx="377825" cy="276999"/>
                <a:chOff x="6343650" y="2287588"/>
                <a:chExt cx="377825" cy="276999"/>
              </a:xfrm>
            </p:grpSpPr>
            <p:sp>
              <p:nvSpPr>
                <p:cNvPr id="1051208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6343650" y="2287703"/>
                  <a:ext cx="377825" cy="276185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i="1" kern="1200" cap="none" spc="0" normalizeH="0" baseline="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n-lt"/>
                      <a:ea typeface="宋体" pitchFamily="2" charset="-122"/>
                      <a:cs typeface="+mn-cs"/>
                    </a:rPr>
                    <a:t>Q</a:t>
                  </a:r>
                  <a:r>
                    <a:rPr kumimoji="0" lang="en-US" altLang="zh-CN" sz="1200" b="1" kern="1200" cap="none" spc="0" normalizeH="0" baseline="-2500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j-lt"/>
                      <a:ea typeface="宋体" pitchFamily="2" charset="-122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3146148" name="直接连接符 16"/>
                <p:cNvCxnSpPr/>
                <p:nvPr/>
              </p:nvCxnSpPr>
              <p:spPr bwMode="auto">
                <a:xfrm>
                  <a:off x="6453188" y="2346432"/>
                  <a:ext cx="10795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08" name="组合 66"/>
              <p:cNvGrpSpPr/>
              <p:nvPr/>
            </p:nvGrpSpPr>
            <p:grpSpPr>
              <a:xfrm>
                <a:off x="5172447" y="2302768"/>
                <a:ext cx="377825" cy="276999"/>
                <a:chOff x="6343650" y="2287588"/>
                <a:chExt cx="377825" cy="276999"/>
              </a:xfrm>
            </p:grpSpPr>
            <p:sp>
              <p:nvSpPr>
                <p:cNvPr id="1051209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6343278" y="2293157"/>
                  <a:ext cx="377825" cy="271424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i="1" kern="1200" cap="none" spc="0" normalizeH="0" baseline="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n-lt"/>
                      <a:ea typeface="宋体" pitchFamily="2" charset="-122"/>
                      <a:cs typeface="+mn-cs"/>
                    </a:rPr>
                    <a:t>Q</a:t>
                  </a:r>
                  <a:r>
                    <a:rPr kumimoji="0" lang="en-US" altLang="zh-CN" sz="1200" b="1" kern="1200" cap="none" spc="0" normalizeH="0" baseline="-2500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j-lt"/>
                      <a:ea typeface="宋体" pitchFamily="2" charset="-122"/>
                      <a:cs typeface="+mn-cs"/>
                    </a:rPr>
                    <a:t>1</a:t>
                  </a:r>
                </a:p>
              </p:txBody>
            </p:sp>
            <p:cxnSp>
              <p:nvCxnSpPr>
                <p:cNvPr id="3146149" name="直接连接符 14"/>
                <p:cNvCxnSpPr/>
                <p:nvPr/>
              </p:nvCxnSpPr>
              <p:spPr bwMode="auto">
                <a:xfrm>
                  <a:off x="6452816" y="2347124"/>
                  <a:ext cx="10795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09" name="组合 69"/>
              <p:cNvGrpSpPr/>
              <p:nvPr/>
            </p:nvGrpSpPr>
            <p:grpSpPr>
              <a:xfrm>
                <a:off x="4058419" y="2302768"/>
                <a:ext cx="377825" cy="276999"/>
                <a:chOff x="6343650" y="2287588"/>
                <a:chExt cx="377825" cy="276999"/>
              </a:xfrm>
            </p:grpSpPr>
            <p:sp>
              <p:nvSpPr>
                <p:cNvPr id="1051210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6342881" y="2293157"/>
                  <a:ext cx="377825" cy="271424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i="1" kern="1200" cap="none" spc="0" normalizeH="0" baseline="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n-lt"/>
                      <a:ea typeface="宋体" pitchFamily="2" charset="-122"/>
                      <a:cs typeface="+mn-cs"/>
                    </a:rPr>
                    <a:t>Q</a:t>
                  </a:r>
                  <a:r>
                    <a:rPr kumimoji="0" lang="en-US" altLang="zh-CN" sz="1200" b="1" kern="1200" cap="none" spc="0" normalizeH="0" baseline="-2500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j-lt"/>
                      <a:ea typeface="宋体" pitchFamily="2" charset="-122"/>
                      <a:cs typeface="+mn-cs"/>
                    </a:rPr>
                    <a:t>2</a:t>
                  </a:r>
                </a:p>
              </p:txBody>
            </p:sp>
            <p:cxnSp>
              <p:nvCxnSpPr>
                <p:cNvPr id="3146150" name="直接连接符 12"/>
                <p:cNvCxnSpPr/>
                <p:nvPr/>
              </p:nvCxnSpPr>
              <p:spPr bwMode="auto">
                <a:xfrm>
                  <a:off x="6452419" y="2347124"/>
                  <a:ext cx="10795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10" name="组合 72"/>
              <p:cNvGrpSpPr/>
              <p:nvPr/>
            </p:nvGrpSpPr>
            <p:grpSpPr>
              <a:xfrm>
                <a:off x="2925341" y="2293243"/>
                <a:ext cx="377825" cy="276999"/>
                <a:chOff x="6343650" y="2287588"/>
                <a:chExt cx="377825" cy="276999"/>
              </a:xfrm>
            </p:grpSpPr>
            <p:sp>
              <p:nvSpPr>
                <p:cNvPr id="1051211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6344072" y="2293158"/>
                  <a:ext cx="377825" cy="271424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kumimoji="0" lang="en-US" altLang="zh-CN" sz="1200" b="1" i="1" kern="1200" cap="none" spc="0" normalizeH="0" baseline="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n-lt"/>
                      <a:ea typeface="宋体" pitchFamily="2" charset="-122"/>
                      <a:cs typeface="+mn-cs"/>
                    </a:rPr>
                    <a:t>Q</a:t>
                  </a:r>
                  <a:r>
                    <a:rPr kumimoji="0" lang="en-US" altLang="zh-CN" sz="1200" b="1" kern="1200" cap="none" spc="0" normalizeH="0" baseline="-25000" noProof="0" dirty="0">
                      <a:solidFill>
                        <a:schemeClr val="accent1">
                          <a:lumMod val="75000"/>
                        </a:schemeClr>
                      </a:solidFill>
                      <a:latin typeface="+mj-lt"/>
                      <a:ea typeface="宋体" pitchFamily="2" charset="-122"/>
                      <a:cs typeface="+mn-cs"/>
                    </a:rPr>
                    <a:t>3</a:t>
                  </a:r>
                </a:p>
              </p:txBody>
            </p:sp>
            <p:cxnSp>
              <p:nvCxnSpPr>
                <p:cNvPr id="3146151" name="直接连接符 10"/>
                <p:cNvCxnSpPr/>
                <p:nvPr/>
              </p:nvCxnSpPr>
              <p:spPr bwMode="auto">
                <a:xfrm>
                  <a:off x="6453609" y="2347125"/>
                  <a:ext cx="10795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1051212" name="Line 80"/>
            <p:cNvSpPr/>
            <p:nvPr/>
          </p:nvSpPr>
          <p:spPr>
            <a:xfrm flipH="1">
              <a:off x="2376488" y="1519238"/>
              <a:ext cx="4392612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3146152" name="直接连接符 76"/>
            <p:cNvCxnSpPr/>
            <p:nvPr/>
          </p:nvCxnSpPr>
          <p:spPr>
            <a:xfrm flipV="1">
              <a:off x="6770688" y="1531938"/>
              <a:ext cx="0" cy="32400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cxnSp>
        <p:cxnSp>
          <p:nvCxnSpPr>
            <p:cNvPr id="3146153" name="直接连接符 77"/>
            <p:cNvCxnSpPr/>
            <p:nvPr/>
          </p:nvCxnSpPr>
          <p:spPr>
            <a:xfrm flipV="1">
              <a:off x="2378075" y="1509713"/>
              <a:ext cx="0" cy="358775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sm" len="sm"/>
              <a:tailEnd type="none" w="med" len="med"/>
            </a:ln>
          </p:spPr>
        </p:cxnSp>
        <p:grpSp>
          <p:nvGrpSpPr>
            <p:cNvPr id="611" name="Group 204"/>
            <p:cNvGrpSpPr/>
            <p:nvPr/>
          </p:nvGrpSpPr>
          <p:grpSpPr>
            <a:xfrm>
              <a:off x="3204492" y="1615703"/>
              <a:ext cx="3887788" cy="307975"/>
              <a:chOff x="2064" y="73"/>
              <a:chExt cx="2449" cy="259"/>
            </a:xfrm>
          </p:grpSpPr>
          <p:sp>
            <p:nvSpPr>
              <p:cNvPr id="1051213" name="Text Box 205"/>
              <p:cNvSpPr txBox="1"/>
              <p:nvPr/>
            </p:nvSpPr>
            <p:spPr>
              <a:xfrm>
                <a:off x="2064" y="73"/>
                <a:ext cx="27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Arial" panose="020B0604020202090204" pitchFamily="34" charset="0"/>
                  </a:rPr>
                  <a:t>1</a:t>
                </a:r>
              </a:p>
            </p:txBody>
          </p:sp>
          <p:sp>
            <p:nvSpPr>
              <p:cNvPr id="1051214" name="Text Box 206"/>
              <p:cNvSpPr txBox="1"/>
              <p:nvPr/>
            </p:nvSpPr>
            <p:spPr>
              <a:xfrm>
                <a:off x="2835" y="73"/>
                <a:ext cx="27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1215" name="Text Box 207"/>
              <p:cNvSpPr txBox="1"/>
              <p:nvPr/>
            </p:nvSpPr>
            <p:spPr>
              <a:xfrm>
                <a:off x="3561" y="73"/>
                <a:ext cx="27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Arial" panose="020B0604020202090204" pitchFamily="34" charset="0"/>
                  </a:rPr>
                  <a:t>0</a:t>
                </a:r>
              </a:p>
            </p:txBody>
          </p:sp>
          <p:sp>
            <p:nvSpPr>
              <p:cNvPr id="1051216" name="Text Box 208"/>
              <p:cNvSpPr txBox="1"/>
              <p:nvPr/>
            </p:nvSpPr>
            <p:spPr>
              <a:xfrm>
                <a:off x="4241" y="73"/>
                <a:ext cx="272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Arial" panose="020B0604020202090204" pitchFamily="34" charset="0"/>
                  </a:rPr>
                  <a:t>0</a:t>
                </a:r>
              </a:p>
            </p:txBody>
          </p:sp>
        </p:grpSp>
        <p:grpSp>
          <p:nvGrpSpPr>
            <p:cNvPr id="612" name="组合 218"/>
            <p:cNvGrpSpPr/>
            <p:nvPr/>
          </p:nvGrpSpPr>
          <p:grpSpPr>
            <a:xfrm>
              <a:off x="3286150" y="1203598"/>
              <a:ext cx="4094162" cy="648072"/>
              <a:chOff x="3347864" y="1059582"/>
              <a:chExt cx="4094931" cy="557014"/>
            </a:xfrm>
          </p:grpSpPr>
          <p:cxnSp>
            <p:nvCxnSpPr>
              <p:cNvPr id="3146154" name="直接箭头连接符 212"/>
              <p:cNvCxnSpPr/>
              <p:nvPr/>
            </p:nvCxnSpPr>
            <p:spPr>
              <a:xfrm flipV="1">
                <a:off x="6836104" y="1184548"/>
                <a:ext cx="0" cy="432048"/>
              </a:xfrm>
              <a:prstGeom prst="straightConnector1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oval" w="sm" len="sm"/>
                <a:tailEnd type="triangle" w="med" len="med"/>
              </a:ln>
            </p:spPr>
          </p:cxnSp>
          <p:cxnSp>
            <p:nvCxnSpPr>
              <p:cNvPr id="3146155" name="直接箭头连接符 209"/>
              <p:cNvCxnSpPr/>
              <p:nvPr/>
            </p:nvCxnSpPr>
            <p:spPr>
              <a:xfrm flipV="1">
                <a:off x="3419872" y="1184548"/>
                <a:ext cx="0" cy="432048"/>
              </a:xfrm>
              <a:prstGeom prst="straightConnector1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oval" w="sm" len="sm"/>
                <a:tailEnd type="triangle" w="med" len="med"/>
              </a:ln>
            </p:spPr>
          </p:cxnSp>
          <p:cxnSp>
            <p:nvCxnSpPr>
              <p:cNvPr id="3146156" name="直接箭头连接符 210"/>
              <p:cNvCxnSpPr/>
              <p:nvPr/>
            </p:nvCxnSpPr>
            <p:spPr>
              <a:xfrm flipV="1">
                <a:off x="4577333" y="1184548"/>
                <a:ext cx="0" cy="432048"/>
              </a:xfrm>
              <a:prstGeom prst="straightConnector1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oval" w="sm" len="sm"/>
                <a:tailEnd type="triangle" w="med" len="med"/>
              </a:ln>
            </p:spPr>
          </p:cxnSp>
          <p:cxnSp>
            <p:nvCxnSpPr>
              <p:cNvPr id="3146157" name="直接箭头连接符 211"/>
              <p:cNvCxnSpPr/>
              <p:nvPr/>
            </p:nvCxnSpPr>
            <p:spPr>
              <a:xfrm flipV="1">
                <a:off x="5737845" y="1184548"/>
                <a:ext cx="0" cy="432048"/>
              </a:xfrm>
              <a:prstGeom prst="straightConnector1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oval" w="sm" len="sm"/>
                <a:tailEnd type="triangle" w="med" len="med"/>
              </a:ln>
            </p:spPr>
          </p:cxnSp>
          <p:sp>
            <p:nvSpPr>
              <p:cNvPr id="1051217" name="Text Box 68"/>
              <p:cNvSpPr txBox="1">
                <a:spLocks noChangeArrowheads="1"/>
              </p:cNvSpPr>
              <p:nvPr/>
            </p:nvSpPr>
            <p:spPr bwMode="auto">
              <a:xfrm>
                <a:off x="3347839" y="1059582"/>
                <a:ext cx="762143" cy="276943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</a:t>
                </a:r>
              </a:p>
            </p:txBody>
          </p:sp>
          <p:sp>
            <p:nvSpPr>
              <p:cNvPr id="1051218" name="Text Box 69"/>
              <p:cNvSpPr txBox="1">
                <a:spLocks noChangeArrowheads="1"/>
              </p:cNvSpPr>
              <p:nvPr/>
            </p:nvSpPr>
            <p:spPr bwMode="auto">
              <a:xfrm>
                <a:off x="5718422" y="1114152"/>
                <a:ext cx="609715" cy="276943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051219" name="Text Box 90"/>
              <p:cNvSpPr txBox="1">
                <a:spLocks noChangeArrowheads="1"/>
              </p:cNvSpPr>
              <p:nvPr/>
            </p:nvSpPr>
            <p:spPr bwMode="auto">
              <a:xfrm>
                <a:off x="4573619" y="1114152"/>
                <a:ext cx="762143" cy="276943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algn="just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1220" name="Text Box 178"/>
              <p:cNvSpPr txBox="1">
                <a:spLocks noChangeArrowheads="1"/>
              </p:cNvSpPr>
              <p:nvPr/>
            </p:nvSpPr>
            <p:spPr bwMode="auto">
              <a:xfrm>
                <a:off x="6833056" y="1123702"/>
                <a:ext cx="609715" cy="27694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0</a:t>
                </a:r>
              </a:p>
            </p:txBody>
          </p:sp>
        </p:grpSp>
      </p:grpSp>
      <p:sp>
        <p:nvSpPr>
          <p:cNvPr id="1051221" name="圆角矩形 88"/>
          <p:cNvSpPr/>
          <p:nvPr/>
        </p:nvSpPr>
        <p:spPr>
          <a:xfrm>
            <a:off x="4484688" y="3540125"/>
            <a:ext cx="2016125" cy="14208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noFill/>
          </a:ln>
        </p:spPr>
        <p:txBody>
          <a:bodyPr wrap="none"/>
          <a:lstStyle/>
          <a:p>
            <a:pPr algn="ctr" eaLnBrk="1" hangingPunct="1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51222" name="Line 61"/>
          <p:cNvSpPr>
            <a:spLocks noChangeShapeType="1"/>
          </p:cNvSpPr>
          <p:nvPr/>
        </p:nvSpPr>
        <p:spPr bwMode="auto">
          <a:xfrm>
            <a:off x="4557713" y="3756025"/>
            <a:ext cx="0" cy="1079500"/>
          </a:xfrm>
          <a:prstGeom prst="line">
            <a:avLst/>
          </a:prstGeom>
          <a:noFill/>
          <a:ln w="19050">
            <a:solidFill>
              <a:schemeClr val="bg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1051223" name="Line 62"/>
          <p:cNvSpPr/>
          <p:nvPr/>
        </p:nvSpPr>
        <p:spPr>
          <a:xfrm>
            <a:off x="5024438" y="3763963"/>
            <a:ext cx="0" cy="1079500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51224" name="Line 63"/>
          <p:cNvSpPr/>
          <p:nvPr/>
        </p:nvSpPr>
        <p:spPr>
          <a:xfrm>
            <a:off x="5486400" y="3759200"/>
            <a:ext cx="0" cy="1079500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51225" name="Line 65"/>
          <p:cNvSpPr/>
          <p:nvPr/>
        </p:nvSpPr>
        <p:spPr>
          <a:xfrm>
            <a:off x="5946775" y="3735388"/>
            <a:ext cx="0" cy="1079500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51226" name="Text Box 67"/>
          <p:cNvSpPr txBox="1">
            <a:spLocks noChangeArrowheads="1"/>
          </p:cNvSpPr>
          <p:nvPr/>
        </p:nvSpPr>
        <p:spPr bwMode="auto">
          <a:xfrm>
            <a:off x="3924300" y="3602038"/>
            <a:ext cx="431800" cy="3067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14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CP</a:t>
            </a:r>
          </a:p>
        </p:txBody>
      </p:sp>
      <p:sp>
        <p:nvSpPr>
          <p:cNvPr id="1051227" name="Text Box 68"/>
          <p:cNvSpPr txBox="1">
            <a:spLocks noChangeArrowheads="1"/>
          </p:cNvSpPr>
          <p:nvPr/>
        </p:nvSpPr>
        <p:spPr bwMode="auto">
          <a:xfrm>
            <a:off x="3930650" y="3890963"/>
            <a:ext cx="450850" cy="3067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4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4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3</a:t>
            </a:r>
          </a:p>
        </p:txBody>
      </p:sp>
      <p:sp>
        <p:nvSpPr>
          <p:cNvPr id="1051228" name="Text Box 69"/>
          <p:cNvSpPr txBox="1">
            <a:spLocks noChangeArrowheads="1"/>
          </p:cNvSpPr>
          <p:nvPr/>
        </p:nvSpPr>
        <p:spPr bwMode="auto">
          <a:xfrm>
            <a:off x="3954463" y="4448175"/>
            <a:ext cx="450850" cy="3067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4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4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1</a:t>
            </a:r>
          </a:p>
        </p:txBody>
      </p:sp>
      <p:grpSp>
        <p:nvGrpSpPr>
          <p:cNvPr id="613" name="Group 70"/>
          <p:cNvGrpSpPr/>
          <p:nvPr/>
        </p:nvGrpSpPr>
        <p:grpSpPr>
          <a:xfrm>
            <a:off x="4330700" y="3654425"/>
            <a:ext cx="2074863" cy="152400"/>
            <a:chOff x="480" y="2160"/>
            <a:chExt cx="2160" cy="240"/>
          </a:xfrm>
        </p:grpSpPr>
        <p:sp>
          <p:nvSpPr>
            <p:cNvPr id="1051229" name="Line 71"/>
            <p:cNvSpPr/>
            <p:nvPr/>
          </p:nvSpPr>
          <p:spPr>
            <a:xfrm>
              <a:off x="72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0" name="Line 72"/>
            <p:cNvSpPr/>
            <p:nvPr/>
          </p:nvSpPr>
          <p:spPr>
            <a:xfrm>
              <a:off x="96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1" name="Line 73"/>
            <p:cNvSpPr/>
            <p:nvPr/>
          </p:nvSpPr>
          <p:spPr>
            <a:xfrm>
              <a:off x="72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32" name="Line 74"/>
            <p:cNvSpPr/>
            <p:nvPr/>
          </p:nvSpPr>
          <p:spPr>
            <a:xfrm>
              <a:off x="96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3" name="Line 75"/>
            <p:cNvSpPr/>
            <p:nvPr/>
          </p:nvSpPr>
          <p:spPr>
            <a:xfrm>
              <a:off x="120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4" name="Line 76"/>
            <p:cNvSpPr/>
            <p:nvPr/>
          </p:nvSpPr>
          <p:spPr>
            <a:xfrm>
              <a:off x="144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5" name="Line 77"/>
            <p:cNvSpPr/>
            <p:nvPr/>
          </p:nvSpPr>
          <p:spPr>
            <a:xfrm>
              <a:off x="120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36" name="Line 78"/>
            <p:cNvSpPr/>
            <p:nvPr/>
          </p:nvSpPr>
          <p:spPr>
            <a:xfrm>
              <a:off x="144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7" name="Line 79"/>
            <p:cNvSpPr/>
            <p:nvPr/>
          </p:nvSpPr>
          <p:spPr>
            <a:xfrm>
              <a:off x="168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8" name="Line 80"/>
            <p:cNvSpPr/>
            <p:nvPr/>
          </p:nvSpPr>
          <p:spPr>
            <a:xfrm>
              <a:off x="192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39" name="Line 81"/>
            <p:cNvSpPr/>
            <p:nvPr/>
          </p:nvSpPr>
          <p:spPr>
            <a:xfrm>
              <a:off x="168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40" name="Line 82"/>
            <p:cNvSpPr/>
            <p:nvPr/>
          </p:nvSpPr>
          <p:spPr>
            <a:xfrm>
              <a:off x="192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41" name="Line 83"/>
            <p:cNvSpPr/>
            <p:nvPr/>
          </p:nvSpPr>
          <p:spPr>
            <a:xfrm>
              <a:off x="216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42" name="Line 84"/>
            <p:cNvSpPr/>
            <p:nvPr/>
          </p:nvSpPr>
          <p:spPr>
            <a:xfrm>
              <a:off x="240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43" name="Line 85"/>
            <p:cNvSpPr/>
            <p:nvPr/>
          </p:nvSpPr>
          <p:spPr>
            <a:xfrm>
              <a:off x="216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44" name="Line 86"/>
            <p:cNvSpPr/>
            <p:nvPr/>
          </p:nvSpPr>
          <p:spPr>
            <a:xfrm>
              <a:off x="240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45" name="Line 87"/>
            <p:cNvSpPr/>
            <p:nvPr/>
          </p:nvSpPr>
          <p:spPr>
            <a:xfrm>
              <a:off x="48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51246" name="Text Box 90"/>
          <p:cNvSpPr txBox="1">
            <a:spLocks noChangeArrowheads="1"/>
          </p:cNvSpPr>
          <p:nvPr/>
        </p:nvSpPr>
        <p:spPr bwMode="auto">
          <a:xfrm>
            <a:off x="3935413" y="4167188"/>
            <a:ext cx="450850" cy="3067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4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4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2</a:t>
            </a:r>
          </a:p>
        </p:txBody>
      </p:sp>
      <p:sp>
        <p:nvSpPr>
          <p:cNvPr id="1051247" name="Text Box 178"/>
          <p:cNvSpPr txBox="1">
            <a:spLocks noChangeArrowheads="1"/>
          </p:cNvSpPr>
          <p:nvPr/>
        </p:nvSpPr>
        <p:spPr bwMode="auto">
          <a:xfrm>
            <a:off x="3952875" y="4711700"/>
            <a:ext cx="377825" cy="3067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kumimoji="0" lang="en-US" altLang="zh-CN" sz="1400" b="1" kern="1200" cap="none" spc="0" normalizeH="0" baseline="0" noProof="0" dirty="0">
                <a:latin typeface="+mj-lt"/>
                <a:ea typeface="宋体" pitchFamily="2" charset="-122"/>
                <a:cs typeface="+mn-cs"/>
              </a:rPr>
              <a:t>Y</a:t>
            </a:r>
            <a:r>
              <a:rPr kumimoji="0" lang="en-US" altLang="zh-CN" sz="1400" b="1" kern="1200" cap="none" spc="0" normalizeH="0" baseline="-25000" noProof="0" dirty="0">
                <a:latin typeface="+mj-lt"/>
                <a:ea typeface="宋体" pitchFamily="2" charset="-122"/>
                <a:cs typeface="+mn-cs"/>
              </a:rPr>
              <a:t>0</a:t>
            </a:r>
          </a:p>
        </p:txBody>
      </p:sp>
      <p:grpSp>
        <p:nvGrpSpPr>
          <p:cNvPr id="614" name="Group 70"/>
          <p:cNvGrpSpPr/>
          <p:nvPr/>
        </p:nvGrpSpPr>
        <p:grpSpPr>
          <a:xfrm>
            <a:off x="6400800" y="3651250"/>
            <a:ext cx="1843088" cy="152400"/>
            <a:chOff x="720" y="2160"/>
            <a:chExt cx="1920" cy="240"/>
          </a:xfrm>
        </p:grpSpPr>
        <p:sp>
          <p:nvSpPr>
            <p:cNvPr id="1051248" name="Line 71"/>
            <p:cNvSpPr/>
            <p:nvPr/>
          </p:nvSpPr>
          <p:spPr>
            <a:xfrm>
              <a:off x="72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49" name="Line 72"/>
            <p:cNvSpPr/>
            <p:nvPr/>
          </p:nvSpPr>
          <p:spPr>
            <a:xfrm>
              <a:off x="96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0" name="Line 73"/>
            <p:cNvSpPr/>
            <p:nvPr/>
          </p:nvSpPr>
          <p:spPr>
            <a:xfrm>
              <a:off x="72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51" name="Line 74"/>
            <p:cNvSpPr/>
            <p:nvPr/>
          </p:nvSpPr>
          <p:spPr>
            <a:xfrm>
              <a:off x="96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2" name="Line 75"/>
            <p:cNvSpPr/>
            <p:nvPr/>
          </p:nvSpPr>
          <p:spPr>
            <a:xfrm>
              <a:off x="120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3" name="Line 76"/>
            <p:cNvSpPr/>
            <p:nvPr/>
          </p:nvSpPr>
          <p:spPr>
            <a:xfrm>
              <a:off x="144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4" name="Line 77"/>
            <p:cNvSpPr/>
            <p:nvPr/>
          </p:nvSpPr>
          <p:spPr>
            <a:xfrm>
              <a:off x="120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55" name="Line 78"/>
            <p:cNvSpPr/>
            <p:nvPr/>
          </p:nvSpPr>
          <p:spPr>
            <a:xfrm>
              <a:off x="144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6" name="Line 79"/>
            <p:cNvSpPr/>
            <p:nvPr/>
          </p:nvSpPr>
          <p:spPr>
            <a:xfrm>
              <a:off x="168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7" name="Line 80"/>
            <p:cNvSpPr/>
            <p:nvPr/>
          </p:nvSpPr>
          <p:spPr>
            <a:xfrm>
              <a:off x="192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58" name="Line 81"/>
            <p:cNvSpPr/>
            <p:nvPr/>
          </p:nvSpPr>
          <p:spPr>
            <a:xfrm>
              <a:off x="168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59" name="Line 82"/>
            <p:cNvSpPr/>
            <p:nvPr/>
          </p:nvSpPr>
          <p:spPr>
            <a:xfrm>
              <a:off x="192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60" name="Line 83"/>
            <p:cNvSpPr/>
            <p:nvPr/>
          </p:nvSpPr>
          <p:spPr>
            <a:xfrm>
              <a:off x="2160" y="216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61" name="Line 84"/>
            <p:cNvSpPr/>
            <p:nvPr/>
          </p:nvSpPr>
          <p:spPr>
            <a:xfrm>
              <a:off x="240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51262" name="Line 85"/>
            <p:cNvSpPr/>
            <p:nvPr/>
          </p:nvSpPr>
          <p:spPr>
            <a:xfrm>
              <a:off x="2160" y="2160"/>
              <a:ext cx="0" cy="24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triangle" w="med" len="med"/>
              <a:tailEnd type="none" w="med" len="med"/>
            </a:ln>
          </p:spPr>
        </p:sp>
        <p:sp>
          <p:nvSpPr>
            <p:cNvPr id="1051263" name="Line 86"/>
            <p:cNvSpPr/>
            <p:nvPr/>
          </p:nvSpPr>
          <p:spPr>
            <a:xfrm>
              <a:off x="2400" y="2400"/>
              <a:ext cx="240" cy="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615" name="组合 133"/>
          <p:cNvGrpSpPr/>
          <p:nvPr/>
        </p:nvGrpSpPr>
        <p:grpSpPr>
          <a:xfrm>
            <a:off x="4298950" y="3954463"/>
            <a:ext cx="3944938" cy="123825"/>
            <a:chOff x="482154" y="2605653"/>
            <a:chExt cx="3945812" cy="124529"/>
          </a:xfrm>
        </p:grpSpPr>
        <p:grpSp>
          <p:nvGrpSpPr>
            <p:cNvPr id="616" name="Group 91"/>
            <p:cNvGrpSpPr/>
            <p:nvPr/>
          </p:nvGrpSpPr>
          <p:grpSpPr>
            <a:xfrm>
              <a:off x="482154" y="2606671"/>
              <a:ext cx="1634704" cy="123511"/>
              <a:chOff x="448" y="2592"/>
              <a:chExt cx="1702" cy="194"/>
            </a:xfrm>
          </p:grpSpPr>
          <p:sp>
            <p:nvSpPr>
              <p:cNvPr id="1051264" name="Line 92"/>
              <p:cNvSpPr/>
              <p:nvPr/>
            </p:nvSpPr>
            <p:spPr>
              <a:xfrm>
                <a:off x="72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65" name="Line 93"/>
              <p:cNvSpPr/>
              <p:nvPr/>
            </p:nvSpPr>
            <p:spPr>
              <a:xfrm>
                <a:off x="1203" y="2784"/>
                <a:ext cx="49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66" name="Line 94"/>
              <p:cNvSpPr/>
              <p:nvPr/>
            </p:nvSpPr>
            <p:spPr>
              <a:xfrm>
                <a:off x="722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67" name="Line 95"/>
              <p:cNvSpPr/>
              <p:nvPr/>
            </p:nvSpPr>
            <p:spPr>
              <a:xfrm flipH="1">
                <a:off x="448" y="2784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68" name="Line 96"/>
              <p:cNvSpPr/>
              <p:nvPr/>
            </p:nvSpPr>
            <p:spPr>
              <a:xfrm>
                <a:off x="1203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69" name="Line 98"/>
              <p:cNvSpPr/>
              <p:nvPr/>
            </p:nvSpPr>
            <p:spPr>
              <a:xfrm flipH="1">
                <a:off x="1678" y="2786"/>
                <a:ext cx="472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617" name="Group 91"/>
            <p:cNvGrpSpPr/>
            <p:nvPr/>
          </p:nvGrpSpPr>
          <p:grpSpPr>
            <a:xfrm>
              <a:off x="2123828" y="2605653"/>
              <a:ext cx="2304138" cy="122238"/>
              <a:chOff x="448" y="2592"/>
              <a:chExt cx="2399" cy="192"/>
            </a:xfrm>
          </p:grpSpPr>
          <p:sp>
            <p:nvSpPr>
              <p:cNvPr id="1051270" name="Line 92"/>
              <p:cNvSpPr/>
              <p:nvPr/>
            </p:nvSpPr>
            <p:spPr>
              <a:xfrm>
                <a:off x="93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71" name="Line 93"/>
              <p:cNvSpPr/>
              <p:nvPr/>
            </p:nvSpPr>
            <p:spPr>
              <a:xfrm>
                <a:off x="1423" y="2784"/>
                <a:ext cx="1424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72" name="Line 94"/>
              <p:cNvSpPr/>
              <p:nvPr/>
            </p:nvSpPr>
            <p:spPr>
              <a:xfrm>
                <a:off x="932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73" name="Line 95"/>
              <p:cNvSpPr/>
              <p:nvPr/>
            </p:nvSpPr>
            <p:spPr>
              <a:xfrm flipH="1">
                <a:off x="448" y="2784"/>
                <a:ext cx="48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74" name="Line 96"/>
              <p:cNvSpPr/>
              <p:nvPr/>
            </p:nvSpPr>
            <p:spPr>
              <a:xfrm>
                <a:off x="1413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8" name="组合 147"/>
          <p:cNvGrpSpPr/>
          <p:nvPr/>
        </p:nvGrpSpPr>
        <p:grpSpPr>
          <a:xfrm>
            <a:off x="4302125" y="4222750"/>
            <a:ext cx="3956050" cy="125413"/>
            <a:chOff x="16329" y="2605654"/>
            <a:chExt cx="3956381" cy="124528"/>
          </a:xfrm>
        </p:grpSpPr>
        <p:grpSp>
          <p:nvGrpSpPr>
            <p:cNvPr id="619" name="Group 91"/>
            <p:cNvGrpSpPr/>
            <p:nvPr/>
          </p:nvGrpSpPr>
          <p:grpSpPr>
            <a:xfrm>
              <a:off x="16329" y="2606671"/>
              <a:ext cx="2583645" cy="123511"/>
              <a:chOff x="-37" y="2592"/>
              <a:chExt cx="2690" cy="194"/>
            </a:xfrm>
          </p:grpSpPr>
          <p:sp>
            <p:nvSpPr>
              <p:cNvPr id="1051275" name="Line 92"/>
              <p:cNvSpPr/>
              <p:nvPr/>
            </p:nvSpPr>
            <p:spPr>
              <a:xfrm>
                <a:off x="72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76" name="Line 93"/>
              <p:cNvSpPr/>
              <p:nvPr/>
            </p:nvSpPr>
            <p:spPr>
              <a:xfrm>
                <a:off x="1203" y="2784"/>
                <a:ext cx="49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77" name="Line 94"/>
              <p:cNvSpPr/>
              <p:nvPr/>
            </p:nvSpPr>
            <p:spPr>
              <a:xfrm>
                <a:off x="717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78" name="Line 95"/>
              <p:cNvSpPr/>
              <p:nvPr/>
            </p:nvSpPr>
            <p:spPr>
              <a:xfrm flipH="1">
                <a:off x="-37" y="2784"/>
                <a:ext cx="75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79" name="Line 96"/>
              <p:cNvSpPr/>
              <p:nvPr/>
            </p:nvSpPr>
            <p:spPr>
              <a:xfrm>
                <a:off x="1203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80" name="Line 98"/>
              <p:cNvSpPr/>
              <p:nvPr/>
            </p:nvSpPr>
            <p:spPr>
              <a:xfrm flipH="1">
                <a:off x="1678" y="2786"/>
                <a:ext cx="975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620" name="Group 91"/>
            <p:cNvGrpSpPr/>
            <p:nvPr/>
          </p:nvGrpSpPr>
          <p:grpSpPr>
            <a:xfrm>
              <a:off x="2593493" y="2605654"/>
              <a:ext cx="1379217" cy="122238"/>
              <a:chOff x="937" y="2592"/>
              <a:chExt cx="1436" cy="192"/>
            </a:xfrm>
          </p:grpSpPr>
          <p:sp>
            <p:nvSpPr>
              <p:cNvPr id="1051281" name="Line 92"/>
              <p:cNvSpPr/>
              <p:nvPr/>
            </p:nvSpPr>
            <p:spPr>
              <a:xfrm>
                <a:off x="937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82" name="Line 93"/>
              <p:cNvSpPr/>
              <p:nvPr/>
            </p:nvSpPr>
            <p:spPr>
              <a:xfrm>
                <a:off x="1413" y="2784"/>
                <a:ext cx="96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grpSp>
        <p:nvGrpSpPr>
          <p:cNvPr id="621" name="组合 158"/>
          <p:cNvGrpSpPr/>
          <p:nvPr/>
        </p:nvGrpSpPr>
        <p:grpSpPr>
          <a:xfrm>
            <a:off x="4311650" y="4452938"/>
            <a:ext cx="3941763" cy="125412"/>
            <a:chOff x="-428368" y="2604377"/>
            <a:chExt cx="3941981" cy="124536"/>
          </a:xfrm>
        </p:grpSpPr>
        <p:grpSp>
          <p:nvGrpSpPr>
            <p:cNvPr id="622" name="Group 91"/>
            <p:cNvGrpSpPr/>
            <p:nvPr/>
          </p:nvGrpSpPr>
          <p:grpSpPr>
            <a:xfrm>
              <a:off x="-428368" y="2606675"/>
              <a:ext cx="3025462" cy="122238"/>
              <a:chOff x="-500" y="2592"/>
              <a:chExt cx="3150" cy="192"/>
            </a:xfrm>
          </p:grpSpPr>
          <p:sp>
            <p:nvSpPr>
              <p:cNvPr id="1051283" name="Line 92"/>
              <p:cNvSpPr/>
              <p:nvPr/>
            </p:nvSpPr>
            <p:spPr>
              <a:xfrm>
                <a:off x="72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84" name="Line 93"/>
              <p:cNvSpPr/>
              <p:nvPr/>
            </p:nvSpPr>
            <p:spPr>
              <a:xfrm>
                <a:off x="1203" y="2784"/>
                <a:ext cx="144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85" name="Line 94"/>
              <p:cNvSpPr/>
              <p:nvPr/>
            </p:nvSpPr>
            <p:spPr>
              <a:xfrm>
                <a:off x="717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86" name="Line 95"/>
              <p:cNvSpPr/>
              <p:nvPr/>
            </p:nvSpPr>
            <p:spPr>
              <a:xfrm flipH="1">
                <a:off x="-500" y="2784"/>
                <a:ext cx="1222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87" name="Line 96"/>
              <p:cNvSpPr/>
              <p:nvPr/>
            </p:nvSpPr>
            <p:spPr>
              <a:xfrm>
                <a:off x="1203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623" name="Group 91"/>
            <p:cNvGrpSpPr/>
            <p:nvPr/>
          </p:nvGrpSpPr>
          <p:grpSpPr>
            <a:xfrm>
              <a:off x="2588690" y="2604377"/>
              <a:ext cx="924923" cy="123511"/>
              <a:chOff x="932" y="2590"/>
              <a:chExt cx="963" cy="194"/>
            </a:xfrm>
          </p:grpSpPr>
          <p:sp>
            <p:nvSpPr>
              <p:cNvPr id="1051288" name="Line 92"/>
              <p:cNvSpPr/>
              <p:nvPr/>
            </p:nvSpPr>
            <p:spPr>
              <a:xfrm>
                <a:off x="932" y="2590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89" name="Line 93"/>
              <p:cNvSpPr/>
              <p:nvPr/>
            </p:nvSpPr>
            <p:spPr>
              <a:xfrm>
                <a:off x="1423" y="2784"/>
                <a:ext cx="472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90" name="Line 96"/>
              <p:cNvSpPr/>
              <p:nvPr/>
            </p:nvSpPr>
            <p:spPr>
              <a:xfrm>
                <a:off x="940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24" name="组合 169"/>
          <p:cNvGrpSpPr/>
          <p:nvPr/>
        </p:nvGrpSpPr>
        <p:grpSpPr>
          <a:xfrm>
            <a:off x="4329113" y="4722813"/>
            <a:ext cx="3927475" cy="123825"/>
            <a:chOff x="-881707" y="2605654"/>
            <a:chExt cx="3927577" cy="123259"/>
          </a:xfrm>
        </p:grpSpPr>
        <p:grpSp>
          <p:nvGrpSpPr>
            <p:cNvPr id="625" name="Group 91"/>
            <p:cNvGrpSpPr/>
            <p:nvPr/>
          </p:nvGrpSpPr>
          <p:grpSpPr>
            <a:xfrm>
              <a:off x="-881707" y="2606675"/>
              <a:ext cx="3468235" cy="122238"/>
              <a:chOff x="-972" y="2592"/>
              <a:chExt cx="3611" cy="192"/>
            </a:xfrm>
          </p:grpSpPr>
          <p:sp>
            <p:nvSpPr>
              <p:cNvPr id="1051291" name="Line 92"/>
              <p:cNvSpPr/>
              <p:nvPr/>
            </p:nvSpPr>
            <p:spPr>
              <a:xfrm>
                <a:off x="72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92" name="Line 93"/>
              <p:cNvSpPr/>
              <p:nvPr/>
            </p:nvSpPr>
            <p:spPr>
              <a:xfrm>
                <a:off x="1203" y="2784"/>
                <a:ext cx="143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93" name="Line 94"/>
              <p:cNvSpPr/>
              <p:nvPr/>
            </p:nvSpPr>
            <p:spPr>
              <a:xfrm>
                <a:off x="717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94" name="Line 95"/>
              <p:cNvSpPr/>
              <p:nvPr/>
            </p:nvSpPr>
            <p:spPr>
              <a:xfrm flipH="1">
                <a:off x="-972" y="2784"/>
                <a:ext cx="1687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51295" name="Line 96"/>
              <p:cNvSpPr/>
              <p:nvPr/>
            </p:nvSpPr>
            <p:spPr>
              <a:xfrm>
                <a:off x="1203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626" name="Group 91"/>
            <p:cNvGrpSpPr/>
            <p:nvPr/>
          </p:nvGrpSpPr>
          <p:grpSpPr>
            <a:xfrm>
              <a:off x="2588691" y="2605654"/>
              <a:ext cx="457179" cy="122238"/>
              <a:chOff x="932" y="2592"/>
              <a:chExt cx="476" cy="192"/>
            </a:xfrm>
          </p:grpSpPr>
          <p:sp>
            <p:nvSpPr>
              <p:cNvPr id="1051296" name="Line 92"/>
              <p:cNvSpPr/>
              <p:nvPr/>
            </p:nvSpPr>
            <p:spPr>
              <a:xfrm>
                <a:off x="932" y="2592"/>
                <a:ext cx="476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297" name="Line 94"/>
              <p:cNvSpPr/>
              <p:nvPr/>
            </p:nvSpPr>
            <p:spPr>
              <a:xfrm>
                <a:off x="932" y="259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1051298" name="Line 97"/>
          <p:cNvSpPr/>
          <p:nvPr/>
        </p:nvSpPr>
        <p:spPr>
          <a:xfrm>
            <a:off x="6877050" y="4232275"/>
            <a:ext cx="0" cy="107950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51299" name="Line 97"/>
          <p:cNvSpPr/>
          <p:nvPr/>
        </p:nvSpPr>
        <p:spPr>
          <a:xfrm>
            <a:off x="7337425" y="4227513"/>
            <a:ext cx="0" cy="107950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51300" name="Line 96"/>
          <p:cNvSpPr/>
          <p:nvPr/>
        </p:nvSpPr>
        <p:spPr>
          <a:xfrm>
            <a:off x="7802563" y="4452938"/>
            <a:ext cx="0" cy="122237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51301" name="Line 61"/>
          <p:cNvSpPr>
            <a:spLocks noChangeShapeType="1"/>
          </p:cNvSpPr>
          <p:nvPr/>
        </p:nvSpPr>
        <p:spPr bwMode="auto">
          <a:xfrm>
            <a:off x="6408738" y="3740150"/>
            <a:ext cx="0" cy="1079500"/>
          </a:xfrm>
          <a:prstGeom prst="line">
            <a:avLst/>
          </a:prstGeom>
          <a:noFill/>
          <a:ln w="19050">
            <a:solidFill>
              <a:schemeClr val="bg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1051302" name="Line 62"/>
          <p:cNvSpPr/>
          <p:nvPr/>
        </p:nvSpPr>
        <p:spPr>
          <a:xfrm>
            <a:off x="6875463" y="3748088"/>
            <a:ext cx="0" cy="1079500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51303" name="Line 63"/>
          <p:cNvSpPr/>
          <p:nvPr/>
        </p:nvSpPr>
        <p:spPr>
          <a:xfrm>
            <a:off x="7337425" y="3743325"/>
            <a:ext cx="0" cy="1079500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51304" name="Line 65"/>
          <p:cNvSpPr/>
          <p:nvPr/>
        </p:nvSpPr>
        <p:spPr>
          <a:xfrm>
            <a:off x="7797800" y="3719513"/>
            <a:ext cx="0" cy="1079500"/>
          </a:xfrm>
          <a:prstGeom prst="line">
            <a:avLst/>
          </a:prstGeom>
          <a:ln w="19050" cap="flat" cmpd="sng">
            <a:solidFill>
              <a:schemeClr val="bg2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27" name="组合 12"/>
          <p:cNvGrpSpPr/>
          <p:nvPr/>
        </p:nvGrpSpPr>
        <p:grpSpPr>
          <a:xfrm>
            <a:off x="6096000" y="2822575"/>
            <a:ext cx="1079500" cy="576263"/>
            <a:chOff x="4429124" y="984438"/>
            <a:chExt cx="2723788" cy="708967"/>
          </a:xfrm>
        </p:grpSpPr>
        <p:sp>
          <p:nvSpPr>
            <p:cNvPr id="1051305" name="圆角矩形标注 13"/>
            <p:cNvSpPr/>
            <p:nvPr/>
          </p:nvSpPr>
          <p:spPr>
            <a:xfrm>
              <a:off x="4451351" y="984438"/>
              <a:ext cx="2699998" cy="708967"/>
            </a:xfrm>
            <a:prstGeom prst="wedgeRoundRectCallout">
              <a:avLst>
                <a:gd name="adj1" fmla="val -45315"/>
                <a:gd name="adj2" fmla="val 80588"/>
                <a:gd name="adj3" fmla="val 16667"/>
              </a:avLst>
            </a:prstGeom>
            <a:solidFill>
              <a:schemeClr val="tx1"/>
            </a:solidFill>
            <a:ln w="19050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zh-CN" altLang="en-US" dirty="0">
                <a:latin typeface="Arial" panose="020B0604020202090204" pitchFamily="34" charset="0"/>
              </a:endParaRPr>
            </a:p>
          </p:txBody>
        </p:sp>
        <p:sp>
          <p:nvSpPr>
            <p:cNvPr id="1051306" name="Text Box 34"/>
            <p:cNvSpPr txBox="1"/>
            <p:nvPr/>
          </p:nvSpPr>
          <p:spPr>
            <a:xfrm>
              <a:off x="4429124" y="1000065"/>
              <a:ext cx="2723788" cy="64400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C00000"/>
                </a:buClr>
                <a:buSzPct val="70000"/>
              </a:pPr>
              <a:r>
                <a:rPr lang="zh-CN" altLang="en-US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顺序脉冲发生器的波形</a:t>
              </a:r>
            </a:p>
          </p:txBody>
        </p:sp>
      </p:grpSp>
      <p:grpSp>
        <p:nvGrpSpPr>
          <p:cNvPr id="628" name="组合 194"/>
          <p:cNvGrpSpPr/>
          <p:nvPr/>
        </p:nvGrpSpPr>
        <p:grpSpPr>
          <a:xfrm>
            <a:off x="611188" y="3508375"/>
            <a:ext cx="3060700" cy="1439863"/>
            <a:chOff x="6400466" y="771550"/>
            <a:chExt cx="2636030" cy="1656184"/>
          </a:xfrm>
        </p:grpSpPr>
        <p:sp>
          <p:nvSpPr>
            <p:cNvPr id="1051307" name="竖卷形 193"/>
            <p:cNvSpPr/>
            <p:nvPr/>
          </p:nvSpPr>
          <p:spPr bwMode="auto">
            <a:xfrm>
              <a:off x="6400466" y="771550"/>
              <a:ext cx="2636030" cy="1656184"/>
            </a:xfrm>
            <a:prstGeom prst="verticalScroll">
              <a:avLst>
                <a:gd name="adj" fmla="val 647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1308" name="TextBox 191"/>
            <p:cNvSpPr txBox="1"/>
            <p:nvPr/>
          </p:nvSpPr>
          <p:spPr>
            <a:xfrm>
              <a:off x="6444218" y="842765"/>
              <a:ext cx="2448718" cy="15557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173355" indent="-173355" algn="just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</a:pP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应用：电话响铃控制</a:t>
              </a:r>
              <a:endParaRPr lang="en-US" altLang="zh-CN" sz="15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73355" indent="-173355" algn="just">
                <a:spcBef>
                  <a:spcPts val="600"/>
                </a:spcBef>
                <a:buClr>
                  <a:srgbClr val="C00000"/>
                </a:buClr>
                <a:buSzPct val="70000"/>
                <a:buFont typeface="Wingdings" panose="05000000000000000000" pitchFamily="2" charset="2"/>
                <a:buChar char="p"/>
              </a:pP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用</a:t>
              </a:r>
              <a:r>
                <a:rPr lang="en-US" altLang="zh-CN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位顺序脉冲发生器的某一个输出作为响铃控制信号，若时钟</a:t>
              </a:r>
              <a:r>
                <a:rPr lang="en-US" altLang="zh-CN" sz="1500" b="1" dirty="0">
                  <a:latin typeface="Arial" panose="020B0604020202090204" pitchFamily="34" charset="0"/>
                  <a:ea typeface="黑体" panose="02010609060101010101" pitchFamily="49" charset="-122"/>
                </a:rPr>
                <a:t>CP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周期为</a:t>
              </a:r>
              <a:r>
                <a:rPr lang="en-US" altLang="zh-CN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秒，电话铃声就是响</a:t>
              </a:r>
              <a:r>
                <a:rPr lang="en-US" altLang="zh-CN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秒停</a:t>
              </a:r>
              <a:r>
                <a:rPr lang="en-US" altLang="zh-CN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5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秒的节奏。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节拍发生器</a:t>
            </a:r>
            <a:r>
              <a:rPr lang="en-US" altLang="zh-CN" dirty="0">
                <a:sym typeface="+mn-ea"/>
              </a:rPr>
              <a:t>2</a:t>
            </a:r>
            <a:endParaRPr lang="zh-CN" altLang="en-US"/>
          </a:p>
        </p:txBody>
      </p:sp>
      <p:grpSp>
        <p:nvGrpSpPr>
          <p:cNvPr id="630" name="组合 336"/>
          <p:cNvGrpSpPr/>
          <p:nvPr/>
        </p:nvGrpSpPr>
        <p:grpSpPr>
          <a:xfrm>
            <a:off x="107950" y="824237"/>
            <a:ext cx="5065713" cy="2592063"/>
            <a:chOff x="88454" y="666444"/>
            <a:chExt cx="5066866" cy="2592618"/>
          </a:xfrm>
        </p:grpSpPr>
        <p:cxnSp>
          <p:nvCxnSpPr>
            <p:cNvPr id="3146158" name="直接连接符 34"/>
            <p:cNvCxnSpPr/>
            <p:nvPr/>
          </p:nvCxnSpPr>
          <p:spPr>
            <a:xfrm rot="5400000">
              <a:off x="1085773" y="2234844"/>
              <a:ext cx="395233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oval" w="med" len="med"/>
              <a:tailEnd type="oval" w="sm" len="sm"/>
            </a:ln>
          </p:spPr>
        </p:cxnSp>
        <p:cxnSp>
          <p:nvCxnSpPr>
            <p:cNvPr id="3146159" name="直接连接符 17"/>
            <p:cNvCxnSpPr/>
            <p:nvPr/>
          </p:nvCxnSpPr>
          <p:spPr>
            <a:xfrm rot="5400000">
              <a:off x="821216" y="2374248"/>
              <a:ext cx="1332000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60" name="直接连接符 18"/>
            <p:cNvCxnSpPr/>
            <p:nvPr/>
          </p:nvCxnSpPr>
          <p:spPr>
            <a:xfrm rot="5400000">
              <a:off x="858804" y="1796920"/>
              <a:ext cx="395945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309" name="矩形 19"/>
            <p:cNvSpPr/>
            <p:nvPr/>
          </p:nvSpPr>
          <p:spPr>
            <a:xfrm>
              <a:off x="933057" y="1876320"/>
              <a:ext cx="719446" cy="431863"/>
            </a:xfrm>
            <a:prstGeom prst="rect">
              <a:avLst/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310" name="TextBox 9"/>
            <p:cNvSpPr txBox="1">
              <a:spLocks noChangeArrowheads="1"/>
            </p:cNvSpPr>
            <p:nvPr/>
          </p:nvSpPr>
          <p:spPr bwMode="auto">
            <a:xfrm>
              <a:off x="1352392" y="2111054"/>
              <a:ext cx="357269" cy="2461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D</a:t>
              </a:r>
              <a:endParaRPr kumimoji="1" lang="zh-CN" altLang="en-US" sz="1000" b="1" kern="1200" cap="none" spc="0" normalizeH="0" baseline="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311" name="TextBox 10"/>
            <p:cNvSpPr txBox="1">
              <a:spLocks noChangeArrowheads="1"/>
            </p:cNvSpPr>
            <p:nvPr/>
          </p:nvSpPr>
          <p:spPr bwMode="auto">
            <a:xfrm>
              <a:off x="920493" y="1860176"/>
              <a:ext cx="357269" cy="2461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rPr>
                <a:t>4</a:t>
              </a:r>
              <a:endParaRPr kumimoji="1" lang="zh-CN" altLang="en-US" sz="10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312" name="TextBox 11"/>
            <p:cNvSpPr txBox="1">
              <a:spLocks noChangeArrowheads="1"/>
            </p:cNvSpPr>
            <p:nvPr/>
          </p:nvSpPr>
          <p:spPr bwMode="auto">
            <a:xfrm>
              <a:off x="1317459" y="1869703"/>
              <a:ext cx="357269" cy="2461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rPr>
                <a:t>4</a:t>
              </a:r>
              <a:endParaRPr kumimoji="1" lang="zh-CN" altLang="en-US" sz="1000" b="1" kern="1200" cap="none" spc="0" normalizeH="0" baseline="-25000" noProof="0" dirty="0"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3146161" name="直接连接符 25"/>
            <p:cNvCxnSpPr/>
            <p:nvPr/>
          </p:nvCxnSpPr>
          <p:spPr>
            <a:xfrm>
              <a:off x="1423072" y="1922933"/>
              <a:ext cx="93519" cy="1587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313" name="等腰三角形 36"/>
            <p:cNvSpPr/>
            <p:nvPr/>
          </p:nvSpPr>
          <p:spPr>
            <a:xfrm>
              <a:off x="1225439" y="2200323"/>
              <a:ext cx="108007" cy="107985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314" name="TextBox 14"/>
            <p:cNvSpPr txBox="1">
              <a:spLocks noChangeArrowheads="1"/>
            </p:cNvSpPr>
            <p:nvPr/>
          </p:nvSpPr>
          <p:spPr bwMode="auto">
            <a:xfrm>
              <a:off x="1111037" y="2036425"/>
              <a:ext cx="422371" cy="21435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315" name="椭圆 93"/>
            <p:cNvSpPr/>
            <p:nvPr/>
          </p:nvSpPr>
          <p:spPr>
            <a:xfrm>
              <a:off x="847588" y="2040229"/>
              <a:ext cx="71442" cy="7142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162" name="直接连接符 34"/>
            <p:cNvCxnSpPr/>
            <p:nvPr/>
          </p:nvCxnSpPr>
          <p:spPr>
            <a:xfrm rot="5400000">
              <a:off x="2242341" y="2231987"/>
              <a:ext cx="395233" cy="15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oval" w="sm" len="sm"/>
            </a:ln>
          </p:spPr>
        </p:cxnSp>
        <p:grpSp>
          <p:nvGrpSpPr>
            <p:cNvPr id="631" name="组合 16"/>
            <p:cNvGrpSpPr/>
            <p:nvPr/>
          </p:nvGrpSpPr>
          <p:grpSpPr>
            <a:xfrm>
              <a:off x="2074689" y="1635646"/>
              <a:ext cx="793750" cy="1319387"/>
              <a:chOff x="1863587" y="2393510"/>
              <a:chExt cx="793703" cy="1320508"/>
            </a:xfrm>
          </p:grpSpPr>
          <p:cxnSp>
            <p:nvCxnSpPr>
              <p:cNvPr id="3146163" name="直接连接符 17"/>
              <p:cNvCxnSpPr/>
              <p:nvPr/>
            </p:nvCxnSpPr>
            <p:spPr>
              <a:xfrm rot="5400000">
                <a:off x="1880584" y="3172765"/>
                <a:ext cx="1080918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64" name="直接连接符 18"/>
              <p:cNvCxnSpPr/>
              <p:nvPr/>
            </p:nvCxnSpPr>
            <p:spPr>
              <a:xfrm rot="5400000">
                <a:off x="1766065" y="2626882"/>
                <a:ext cx="468332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1316" name="矩形 19"/>
              <p:cNvSpPr/>
              <p:nvPr/>
            </p:nvSpPr>
            <p:spPr>
              <a:xfrm>
                <a:off x="1876406" y="2643188"/>
                <a:ext cx="720005" cy="432308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1317" name="TextBox 93"/>
              <p:cNvSpPr txBox="1">
                <a:spLocks noChangeArrowheads="1"/>
              </p:cNvSpPr>
              <p:nvPr/>
            </p:nvSpPr>
            <p:spPr bwMode="auto">
              <a:xfrm>
                <a:off x="2300403" y="2869323"/>
                <a:ext cx="357248" cy="2447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D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318" name="TextBox 94"/>
              <p:cNvSpPr txBox="1">
                <a:spLocks noChangeArrowheads="1"/>
              </p:cNvSpPr>
              <p:nvPr/>
            </p:nvSpPr>
            <p:spPr bwMode="auto">
              <a:xfrm>
                <a:off x="1863767" y="2619819"/>
                <a:ext cx="357247" cy="2479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3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319" name="TextBox 95"/>
              <p:cNvSpPr txBox="1">
                <a:spLocks noChangeArrowheads="1"/>
              </p:cNvSpPr>
              <p:nvPr/>
            </p:nvSpPr>
            <p:spPr bwMode="auto">
              <a:xfrm>
                <a:off x="2278174" y="2629355"/>
                <a:ext cx="355660" cy="2479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3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165" name="直接连接符 25"/>
              <p:cNvCxnSpPr/>
              <p:nvPr/>
            </p:nvCxnSpPr>
            <p:spPr>
              <a:xfrm>
                <a:off x="2373304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1320" name="等腰三角形 36"/>
            <p:cNvSpPr/>
            <p:nvPr/>
          </p:nvSpPr>
          <p:spPr>
            <a:xfrm>
              <a:off x="2384392" y="2202134"/>
              <a:ext cx="108007" cy="107985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321" name="TextBox 19"/>
            <p:cNvSpPr txBox="1">
              <a:spLocks noChangeArrowheads="1"/>
            </p:cNvSpPr>
            <p:nvPr/>
          </p:nvSpPr>
          <p:spPr bwMode="auto">
            <a:xfrm>
              <a:off x="2270175" y="2050716"/>
              <a:ext cx="422371" cy="21435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322" name="椭圆 93"/>
            <p:cNvSpPr/>
            <p:nvPr/>
          </p:nvSpPr>
          <p:spPr>
            <a:xfrm>
              <a:off x="2006541" y="2021181"/>
              <a:ext cx="71442" cy="7142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166" name="直接连接符 34"/>
            <p:cNvCxnSpPr/>
            <p:nvPr/>
          </p:nvCxnSpPr>
          <p:spPr>
            <a:xfrm rot="5400000">
              <a:off x="3368251" y="2234844"/>
              <a:ext cx="395233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oval" w="sm" len="sm"/>
            </a:ln>
          </p:spPr>
        </p:cxnSp>
        <p:grpSp>
          <p:nvGrpSpPr>
            <p:cNvPr id="632" name="组合 16"/>
            <p:cNvGrpSpPr/>
            <p:nvPr/>
          </p:nvGrpSpPr>
          <p:grpSpPr>
            <a:xfrm>
              <a:off x="3200226" y="1347614"/>
              <a:ext cx="803275" cy="1360800"/>
              <a:chOff x="1863509" y="2105234"/>
              <a:chExt cx="803228" cy="1361940"/>
            </a:xfrm>
          </p:grpSpPr>
          <p:cxnSp>
            <p:nvCxnSpPr>
              <p:cNvPr id="3146167" name="直接连接符 17"/>
              <p:cNvCxnSpPr/>
              <p:nvPr/>
            </p:nvCxnSpPr>
            <p:spPr>
              <a:xfrm rot="5400000">
                <a:off x="1749897" y="2785410"/>
                <a:ext cx="136194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68" name="直接连接符 18"/>
              <p:cNvCxnSpPr/>
              <p:nvPr/>
            </p:nvCxnSpPr>
            <p:spPr>
              <a:xfrm rot="5400000">
                <a:off x="1766066" y="2602430"/>
                <a:ext cx="468327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1323" name="矩形 19"/>
              <p:cNvSpPr/>
              <p:nvPr/>
            </p:nvSpPr>
            <p:spPr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1324" name="TextBox 86"/>
              <p:cNvSpPr txBox="1">
                <a:spLocks noChangeArrowheads="1"/>
              </p:cNvSpPr>
              <p:nvPr/>
            </p:nvSpPr>
            <p:spPr bwMode="auto">
              <a:xfrm>
                <a:off x="2310109" y="2877259"/>
                <a:ext cx="357247" cy="24632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D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325" name="TextBox 87"/>
              <p:cNvSpPr txBox="1">
                <a:spLocks noChangeArrowheads="1"/>
              </p:cNvSpPr>
              <p:nvPr/>
            </p:nvSpPr>
            <p:spPr bwMode="auto">
              <a:xfrm>
                <a:off x="1863945" y="2618225"/>
                <a:ext cx="357248" cy="24632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326" name="TextBox 88"/>
              <p:cNvSpPr txBox="1">
                <a:spLocks noChangeArrowheads="1"/>
              </p:cNvSpPr>
              <p:nvPr/>
            </p:nvSpPr>
            <p:spPr bwMode="auto">
              <a:xfrm>
                <a:off x="2268827" y="2627760"/>
                <a:ext cx="357247" cy="24632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2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169" name="直接连接符 25"/>
              <p:cNvCxnSpPr/>
              <p:nvPr/>
            </p:nvCxnSpPr>
            <p:spPr>
              <a:xfrm>
                <a:off x="2366639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1327" name="等腰三角形 36"/>
            <p:cNvSpPr/>
            <p:nvPr/>
          </p:nvSpPr>
          <p:spPr>
            <a:xfrm>
              <a:off x="3516377" y="2207736"/>
              <a:ext cx="108007" cy="107985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328" name="TextBox 24"/>
            <p:cNvSpPr txBox="1">
              <a:spLocks noChangeArrowheads="1"/>
            </p:cNvSpPr>
            <p:nvPr/>
          </p:nvSpPr>
          <p:spPr bwMode="auto">
            <a:xfrm>
              <a:off x="3408673" y="2050716"/>
              <a:ext cx="422371" cy="21435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329" name="椭圆 93"/>
            <p:cNvSpPr/>
            <p:nvPr/>
          </p:nvSpPr>
          <p:spPr>
            <a:xfrm>
              <a:off x="3128979" y="2021181"/>
              <a:ext cx="71443" cy="7142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330" name="Text Box 69"/>
            <p:cNvSpPr txBox="1"/>
            <p:nvPr/>
          </p:nvSpPr>
          <p:spPr>
            <a:xfrm>
              <a:off x="296689" y="2221179"/>
              <a:ext cx="437857" cy="3077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Arial" panose="020B0604020202090204" pitchFamily="34" charset="0"/>
                </a:rPr>
                <a:t>CP</a:t>
              </a:r>
              <a:r>
                <a:rPr lang="en-US" altLang="zh-CN" sz="1400" b="1" baseline="-25000" dirty="0">
                  <a:solidFill>
                    <a:schemeClr val="bg1"/>
                  </a:solidFill>
                  <a:latin typeface="Arial" panose="020B0604020202090204" pitchFamily="34" charset="0"/>
                </a:rPr>
                <a:t> </a:t>
              </a:r>
            </a:p>
          </p:txBody>
        </p:sp>
        <p:cxnSp>
          <p:nvCxnSpPr>
            <p:cNvPr id="3146170" name="直接连接符 140"/>
            <p:cNvCxnSpPr/>
            <p:nvPr/>
          </p:nvCxnSpPr>
          <p:spPr>
            <a:xfrm>
              <a:off x="626418" y="2068800"/>
              <a:ext cx="216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71" name="直接连接符 142"/>
            <p:cNvCxnSpPr/>
            <p:nvPr/>
          </p:nvCxnSpPr>
          <p:spPr>
            <a:xfrm>
              <a:off x="780909" y="2064038"/>
              <a:ext cx="0" cy="50393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oval" w="sm" len="sm"/>
              <a:tailEnd type="none" w="med" len="med"/>
            </a:ln>
          </p:spPr>
        </p:cxnSp>
        <p:cxnSp>
          <p:nvCxnSpPr>
            <p:cNvPr id="3146172" name="直接连接符 143"/>
            <p:cNvCxnSpPr/>
            <p:nvPr/>
          </p:nvCxnSpPr>
          <p:spPr>
            <a:xfrm flipH="1">
              <a:off x="782496" y="2558200"/>
              <a:ext cx="342000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73" name="直接连接符 144"/>
            <p:cNvCxnSpPr/>
            <p:nvPr/>
          </p:nvCxnSpPr>
          <p:spPr>
            <a:xfrm>
              <a:off x="1925573" y="2049753"/>
              <a:ext cx="71443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74" name="直接连接符 145"/>
            <p:cNvCxnSpPr/>
            <p:nvPr/>
          </p:nvCxnSpPr>
          <p:spPr>
            <a:xfrm>
              <a:off x="1930336" y="2044990"/>
              <a:ext cx="0" cy="50393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cxnSp>
          <p:nvCxnSpPr>
            <p:cNvPr id="3146175" name="直接连接符 146"/>
            <p:cNvCxnSpPr/>
            <p:nvPr/>
          </p:nvCxnSpPr>
          <p:spPr>
            <a:xfrm>
              <a:off x="3055949" y="2051339"/>
              <a:ext cx="7303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76" name="直接连接符 147"/>
            <p:cNvCxnSpPr/>
            <p:nvPr/>
          </p:nvCxnSpPr>
          <p:spPr>
            <a:xfrm>
              <a:off x="3060712" y="2046578"/>
              <a:ext cx="0" cy="50393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1331" name="Text Box 69"/>
            <p:cNvSpPr txBox="1"/>
            <p:nvPr/>
          </p:nvSpPr>
          <p:spPr>
            <a:xfrm>
              <a:off x="303337" y="1903487"/>
              <a:ext cx="419127" cy="3079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CC00CC"/>
                  </a:solidFill>
                  <a:latin typeface="Arial" panose="020B0604020202090204" pitchFamily="34" charset="0"/>
                </a:rPr>
                <a:t>R</a:t>
              </a:r>
              <a:r>
                <a:rPr lang="en-US" altLang="zh-CN" sz="1400" b="1" baseline="-25000" dirty="0">
                  <a:solidFill>
                    <a:srgbClr val="CC00CC"/>
                  </a:solidFill>
                  <a:latin typeface="Arial" panose="020B0604020202090204" pitchFamily="34" charset="0"/>
                </a:rPr>
                <a:t>D </a:t>
              </a:r>
            </a:p>
          </p:txBody>
        </p:sp>
        <p:cxnSp>
          <p:nvCxnSpPr>
            <p:cNvPr id="3146177" name="直接连接符 137"/>
            <p:cNvCxnSpPr/>
            <p:nvPr/>
          </p:nvCxnSpPr>
          <p:spPr>
            <a:xfrm flipH="1">
              <a:off x="683567" y="2433254"/>
              <a:ext cx="4032000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332" name="Text Box 64"/>
            <p:cNvSpPr txBox="1">
              <a:spLocks noChangeArrowheads="1"/>
            </p:cNvSpPr>
            <p:nvPr/>
          </p:nvSpPr>
          <p:spPr bwMode="auto">
            <a:xfrm>
              <a:off x="4174022" y="1563249"/>
              <a:ext cx="395377" cy="3080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1333" name="Text Box 65"/>
            <p:cNvSpPr txBox="1">
              <a:spLocks noChangeArrowheads="1"/>
            </p:cNvSpPr>
            <p:nvPr/>
          </p:nvSpPr>
          <p:spPr bwMode="auto">
            <a:xfrm>
              <a:off x="3006943" y="1553722"/>
              <a:ext cx="381087" cy="3080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1334" name="Text Box 66"/>
            <p:cNvSpPr txBox="1">
              <a:spLocks noChangeArrowheads="1"/>
            </p:cNvSpPr>
            <p:nvPr/>
          </p:nvSpPr>
          <p:spPr bwMode="auto">
            <a:xfrm>
              <a:off x="1860507" y="1563249"/>
              <a:ext cx="401729" cy="3080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grpSp>
          <p:nvGrpSpPr>
            <p:cNvPr id="633" name="组合 162"/>
            <p:cNvGrpSpPr/>
            <p:nvPr/>
          </p:nvGrpSpPr>
          <p:grpSpPr>
            <a:xfrm>
              <a:off x="88454" y="1640979"/>
              <a:ext cx="360363" cy="277813"/>
              <a:chOff x="2267430" y="4227371"/>
              <a:chExt cx="360017" cy="278632"/>
            </a:xfrm>
          </p:grpSpPr>
          <p:sp>
            <p:nvSpPr>
              <p:cNvPr id="1051335" name="Text Box 116"/>
              <p:cNvSpPr txBox="1">
                <a:spLocks noChangeArrowheads="1"/>
              </p:cNvSpPr>
              <p:nvPr/>
            </p:nvSpPr>
            <p:spPr bwMode="auto">
              <a:xfrm>
                <a:off x="2267430" y="4227446"/>
                <a:ext cx="360099" cy="27869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0" lang="en-US" altLang="zh-CN" sz="12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Y</a:t>
                </a:r>
                <a:r>
                  <a:rPr kumimoji="0" lang="en-US" altLang="zh-CN" sz="12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1336" name="Line 117"/>
              <p:cNvSpPr/>
              <p:nvPr/>
            </p:nvSpPr>
            <p:spPr>
              <a:xfrm>
                <a:off x="2358832" y="4285640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337" name="Text Box 116"/>
            <p:cNvSpPr txBox="1">
              <a:spLocks noChangeArrowheads="1"/>
            </p:cNvSpPr>
            <p:nvPr/>
          </p:nvSpPr>
          <p:spPr bwMode="auto">
            <a:xfrm>
              <a:off x="1347316" y="666444"/>
              <a:ext cx="504940" cy="27628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634" name="组合 296"/>
            <p:cNvGrpSpPr/>
            <p:nvPr/>
          </p:nvGrpSpPr>
          <p:grpSpPr>
            <a:xfrm rot="-5400000">
              <a:off x="1672804" y="2792934"/>
              <a:ext cx="432046" cy="500209"/>
              <a:chOff x="3563890" y="3642927"/>
              <a:chExt cx="432046" cy="500209"/>
            </a:xfrm>
          </p:grpSpPr>
          <p:pic>
            <p:nvPicPr>
              <p:cNvPr id="2097193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-5400000">
                <a:off x="3534279" y="3681479"/>
                <a:ext cx="491267" cy="43204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051338" name="椭圆 93"/>
              <p:cNvSpPr/>
              <p:nvPr/>
            </p:nvSpPr>
            <p:spPr>
              <a:xfrm>
                <a:off x="3751337" y="3642927"/>
                <a:ext cx="71442" cy="71427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</p:grpSp>
        <p:grpSp>
          <p:nvGrpSpPr>
            <p:cNvPr id="635" name="组合 228"/>
            <p:cNvGrpSpPr/>
            <p:nvPr/>
          </p:nvGrpSpPr>
          <p:grpSpPr>
            <a:xfrm>
              <a:off x="170554" y="779649"/>
              <a:ext cx="1474513" cy="981238"/>
              <a:chOff x="6937126" y="496387"/>
              <a:chExt cx="1624013" cy="1039668"/>
            </a:xfrm>
          </p:grpSpPr>
          <p:sp>
            <p:nvSpPr>
              <p:cNvPr id="1051339" name="Line 45"/>
              <p:cNvSpPr/>
              <p:nvPr/>
            </p:nvSpPr>
            <p:spPr>
              <a:xfrm rot="-5400000">
                <a:off x="8042026" y="1125314"/>
                <a:ext cx="342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0" name="Line 52"/>
              <p:cNvSpPr/>
              <p:nvPr/>
            </p:nvSpPr>
            <p:spPr>
              <a:xfrm>
                <a:off x="7989639" y="1306289"/>
                <a:ext cx="215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1" name="Line 45"/>
              <p:cNvSpPr/>
              <p:nvPr/>
            </p:nvSpPr>
            <p:spPr>
              <a:xfrm rot="-5400000">
                <a:off x="6917406" y="1205379"/>
                <a:ext cx="190718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2" name="Line 45"/>
              <p:cNvSpPr/>
              <p:nvPr/>
            </p:nvSpPr>
            <p:spPr>
              <a:xfrm rot="-5400000">
                <a:off x="7008564" y="1149127"/>
                <a:ext cx="342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3" name="Line 52"/>
              <p:cNvSpPr/>
              <p:nvPr/>
            </p:nvSpPr>
            <p:spPr>
              <a:xfrm>
                <a:off x="7181601" y="1320577"/>
                <a:ext cx="215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4" name="Line 55"/>
              <p:cNvSpPr/>
              <p:nvPr/>
            </p:nvSpPr>
            <p:spPr>
              <a:xfrm flipH="1">
                <a:off x="7408614" y="658589"/>
                <a:ext cx="647700" cy="649288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5" name="Line 56"/>
              <p:cNvSpPr/>
              <p:nvPr/>
            </p:nvSpPr>
            <p:spPr>
              <a:xfrm flipV="1">
                <a:off x="7091114" y="501620"/>
                <a:ext cx="0" cy="25200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6" name="Line 57"/>
              <p:cNvSpPr/>
              <p:nvPr/>
            </p:nvSpPr>
            <p:spPr>
              <a:xfrm>
                <a:off x="7094289" y="653827"/>
                <a:ext cx="22383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oval" w="sm" len="sm"/>
                <a:tailEnd type="none" w="sm" len="sm"/>
              </a:ln>
            </p:spPr>
          </p:sp>
          <p:sp>
            <p:nvSpPr>
              <p:cNvPr id="1051347" name="Line 59"/>
              <p:cNvSpPr/>
              <p:nvPr/>
            </p:nvSpPr>
            <p:spPr>
              <a:xfrm flipH="1" flipV="1">
                <a:off x="7322889" y="658589"/>
                <a:ext cx="661987" cy="649288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48" name="流程图: 延期 92"/>
              <p:cNvSpPr>
                <a:spLocks noChangeArrowheads="1"/>
              </p:cNvSpPr>
              <p:nvPr/>
            </p:nvSpPr>
            <p:spPr bwMode="auto">
              <a:xfrm rot="-5400000">
                <a:off x="6951163" y="829131"/>
                <a:ext cx="286007" cy="285064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349" name="椭圆 93"/>
              <p:cNvSpPr>
                <a:spLocks noChangeArrowheads="1"/>
              </p:cNvSpPr>
              <p:nvPr/>
            </p:nvSpPr>
            <p:spPr bwMode="auto">
              <a:xfrm>
                <a:off x="7056565" y="763047"/>
                <a:ext cx="71704" cy="7066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636" name="组合 100"/>
              <p:cNvGrpSpPr/>
              <p:nvPr/>
            </p:nvGrpSpPr>
            <p:grpSpPr>
              <a:xfrm>
                <a:off x="8151564" y="758602"/>
                <a:ext cx="285750" cy="352425"/>
                <a:chOff x="2357422" y="2147884"/>
                <a:chExt cx="285752" cy="352428"/>
              </a:xfrm>
            </p:grpSpPr>
            <p:sp>
              <p:nvSpPr>
                <p:cNvPr id="1051350" name="流程图: 延期 95"/>
                <p:cNvSpPr>
                  <a:spLocks noChangeArrowheads="1"/>
                </p:cNvSpPr>
                <p:nvPr/>
              </p:nvSpPr>
              <p:spPr bwMode="auto">
                <a:xfrm rot="-5400000">
                  <a:off x="2359864" y="2211919"/>
                  <a:ext cx="267503" cy="272823"/>
                </a:xfrm>
                <a:prstGeom prst="flowChartDelay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1351" name="椭圆 96"/>
                <p:cNvSpPr>
                  <a:spLocks noChangeArrowheads="1"/>
                </p:cNvSpPr>
                <p:nvPr/>
              </p:nvSpPr>
              <p:spPr bwMode="auto">
                <a:xfrm>
                  <a:off x="2462137" y="2147282"/>
                  <a:ext cx="71704" cy="70661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051352" name="Line 56"/>
              <p:cNvSpPr/>
              <p:nvPr/>
            </p:nvSpPr>
            <p:spPr>
              <a:xfrm flipV="1">
                <a:off x="8300789" y="496387"/>
                <a:ext cx="0" cy="25200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53" name="Line 57"/>
              <p:cNvSpPr/>
              <p:nvPr/>
            </p:nvSpPr>
            <p:spPr>
              <a:xfrm>
                <a:off x="8056314" y="655414"/>
                <a:ext cx="244475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oval" w="sm" len="sm"/>
              </a:ln>
            </p:spPr>
          </p:sp>
          <p:sp>
            <p:nvSpPr>
              <p:cNvPr id="1051354" name="Text Box 69"/>
              <p:cNvSpPr txBox="1"/>
              <p:nvPr/>
            </p:nvSpPr>
            <p:spPr>
              <a:xfrm>
                <a:off x="8132514" y="849089"/>
                <a:ext cx="428625" cy="27781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latin typeface="Times New Roman" panose="02020503050405090304" pitchFamily="18" charset="0"/>
                  </a:rPr>
                  <a:t> 2</a:t>
                </a:r>
              </a:p>
            </p:txBody>
          </p:sp>
          <p:sp>
            <p:nvSpPr>
              <p:cNvPr id="1051355" name="Text Box 68"/>
              <p:cNvSpPr txBox="1"/>
              <p:nvPr/>
            </p:nvSpPr>
            <p:spPr>
              <a:xfrm>
                <a:off x="6937126" y="844327"/>
                <a:ext cx="428625" cy="2762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latin typeface="Times New Roman" panose="02020503050405090304" pitchFamily="18" charset="0"/>
                  </a:rPr>
                  <a:t> 1</a:t>
                </a:r>
              </a:p>
            </p:txBody>
          </p:sp>
          <p:sp>
            <p:nvSpPr>
              <p:cNvPr id="1051356" name="Line 45"/>
              <p:cNvSpPr/>
              <p:nvPr/>
            </p:nvSpPr>
            <p:spPr>
              <a:xfrm rot="-5400000">
                <a:off x="8175135" y="1326264"/>
                <a:ext cx="419581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cxnSp>
          <p:nvCxnSpPr>
            <p:cNvPr id="3146178" name="直接连接符 34"/>
            <p:cNvCxnSpPr/>
            <p:nvPr/>
          </p:nvCxnSpPr>
          <p:spPr>
            <a:xfrm rot="5400000">
              <a:off x="4520070" y="2248991"/>
              <a:ext cx="395233" cy="1587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637" name="组合 16"/>
            <p:cNvGrpSpPr/>
            <p:nvPr/>
          </p:nvGrpSpPr>
          <p:grpSpPr>
            <a:xfrm>
              <a:off x="4352045" y="1644417"/>
              <a:ext cx="803275" cy="1507726"/>
              <a:chOff x="1863509" y="2388138"/>
              <a:chExt cx="803228" cy="1508997"/>
            </a:xfrm>
          </p:grpSpPr>
          <p:cxnSp>
            <p:nvCxnSpPr>
              <p:cNvPr id="3146179" name="直接连接符 17"/>
              <p:cNvCxnSpPr/>
              <p:nvPr/>
            </p:nvCxnSpPr>
            <p:spPr>
              <a:xfrm rot="5400000">
                <a:off x="2029645" y="3485595"/>
                <a:ext cx="821492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3146180" name="直接连接符 18"/>
              <p:cNvCxnSpPr/>
              <p:nvPr/>
            </p:nvCxnSpPr>
            <p:spPr>
              <a:xfrm rot="5400000">
                <a:off x="1766065" y="2621508"/>
                <a:ext cx="468329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1357" name="矩形 19"/>
              <p:cNvSpPr/>
              <p:nvPr/>
            </p:nvSpPr>
            <p:spPr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dirty="0">
                  <a:solidFill>
                    <a:schemeClr val="tx1"/>
                  </a:solidFill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51358" name="TextBox 278"/>
              <p:cNvSpPr txBox="1">
                <a:spLocks noChangeArrowheads="1"/>
              </p:cNvSpPr>
              <p:nvPr/>
            </p:nvSpPr>
            <p:spPr bwMode="auto">
              <a:xfrm>
                <a:off x="2309489" y="2877417"/>
                <a:ext cx="357248" cy="24632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D</a:t>
                </a:r>
                <a:endParaRPr kumimoji="1" lang="zh-CN" altLang="en-US" sz="1000" b="1" kern="1200" cap="none" spc="0" normalizeH="0" baseline="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359" name="TextBox 279"/>
              <p:cNvSpPr txBox="1">
                <a:spLocks noChangeArrowheads="1"/>
              </p:cNvSpPr>
              <p:nvPr/>
            </p:nvSpPr>
            <p:spPr bwMode="auto">
              <a:xfrm>
                <a:off x="1863326" y="2618380"/>
                <a:ext cx="357247" cy="2463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1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51360" name="TextBox 280"/>
              <p:cNvSpPr txBox="1">
                <a:spLocks noChangeArrowheads="1"/>
              </p:cNvSpPr>
              <p:nvPr/>
            </p:nvSpPr>
            <p:spPr bwMode="auto">
              <a:xfrm>
                <a:off x="2268207" y="2627915"/>
                <a:ext cx="357248" cy="24632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defTabSz="914400" eaLnBrk="1" hangingPunct="1">
                  <a:buClrTx/>
                  <a:buSzTx/>
                  <a:buFontTx/>
                </a:pPr>
                <a:r>
                  <a:rPr kumimoji="1" lang="en-US" altLang="zh-CN" sz="1000" b="1" kern="1200" cap="none" spc="0" normalizeH="0" baseline="0" noProof="0" dirty="0">
                    <a:latin typeface="+mj-lt"/>
                    <a:ea typeface="黑体" panose="02010609060101010101" pitchFamily="49" charset="-122"/>
                    <a:cs typeface="+mn-cs"/>
                  </a:rPr>
                  <a:t>Q</a:t>
                </a:r>
                <a:r>
                  <a:rPr kumimoji="1" lang="en-US" altLang="zh-CN" sz="1000" b="1" kern="1200" cap="none" spc="0" normalizeH="0" baseline="-25000" noProof="0" dirty="0">
                    <a:latin typeface="+mj-lt"/>
                    <a:ea typeface="黑体" panose="02010609060101010101" pitchFamily="49" charset="-122"/>
                    <a:cs typeface="+mn-cs"/>
                  </a:rPr>
                  <a:t>1</a:t>
                </a:r>
                <a:endParaRPr kumimoji="1" lang="zh-CN" altLang="en-US" sz="1000" b="1" kern="1200" cap="none" spc="0" normalizeH="0" baseline="-25000" noProof="0" dirty="0">
                  <a:latin typeface="+mj-lt"/>
                  <a:ea typeface="黑体" panose="02010609060101010101" pitchFamily="49" charset="-122"/>
                  <a:cs typeface="+mn-cs"/>
                </a:endParaRPr>
              </a:p>
            </p:txBody>
          </p:sp>
          <p:cxnSp>
            <p:nvCxnSpPr>
              <p:cNvPr id="3146181" name="直接连接符 25"/>
              <p:cNvCxnSpPr/>
              <p:nvPr/>
            </p:nvCxnSpPr>
            <p:spPr>
              <a:xfrm>
                <a:off x="2366639" y="2681298"/>
                <a:ext cx="93600" cy="1588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1361" name="等腰三角形 36"/>
            <p:cNvSpPr/>
            <p:nvPr/>
          </p:nvSpPr>
          <p:spPr>
            <a:xfrm>
              <a:off x="4668196" y="2221883"/>
              <a:ext cx="108007" cy="107985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362" name="TextBox 283"/>
            <p:cNvSpPr txBox="1">
              <a:spLocks noChangeArrowheads="1"/>
            </p:cNvSpPr>
            <p:nvPr/>
          </p:nvSpPr>
          <p:spPr bwMode="auto">
            <a:xfrm>
              <a:off x="4559872" y="2065006"/>
              <a:ext cx="422371" cy="21435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</a:pPr>
              <a:r>
                <a:rPr kumimoji="1" lang="en-US" altLang="zh-CN" sz="8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CK</a:t>
              </a:r>
              <a:endParaRPr kumimoji="1" lang="zh-CN" altLang="en-US" sz="800" b="1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363" name="椭圆 93"/>
            <p:cNvSpPr/>
            <p:nvPr/>
          </p:nvSpPr>
          <p:spPr>
            <a:xfrm>
              <a:off x="4280798" y="2035328"/>
              <a:ext cx="71443" cy="71427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3146182" name="直接连接符 146"/>
            <p:cNvCxnSpPr/>
            <p:nvPr/>
          </p:nvCxnSpPr>
          <p:spPr>
            <a:xfrm>
              <a:off x="4207768" y="2065486"/>
              <a:ext cx="73030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146183" name="直接连接符 147"/>
            <p:cNvCxnSpPr/>
            <p:nvPr/>
          </p:nvCxnSpPr>
          <p:spPr>
            <a:xfrm>
              <a:off x="4212531" y="2060725"/>
              <a:ext cx="0" cy="50393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headEnd type="none" w="med" len="med"/>
              <a:tailEnd type="none" w="sm" len="sm"/>
            </a:ln>
          </p:spPr>
        </p:cxnSp>
        <p:sp>
          <p:nvSpPr>
            <p:cNvPr id="1051364" name="Text Box 64"/>
            <p:cNvSpPr txBox="1">
              <a:spLocks noChangeArrowheads="1"/>
            </p:cNvSpPr>
            <p:nvPr/>
          </p:nvSpPr>
          <p:spPr bwMode="auto">
            <a:xfrm>
              <a:off x="755356" y="1563249"/>
              <a:ext cx="395378" cy="3080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4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4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4</a:t>
              </a:r>
            </a:p>
          </p:txBody>
        </p:sp>
        <p:sp>
          <p:nvSpPr>
            <p:cNvPr id="1051365" name="Line 28"/>
            <p:cNvSpPr/>
            <p:nvPr/>
          </p:nvSpPr>
          <p:spPr>
            <a:xfrm rot="-5400000" flipV="1">
              <a:off x="1570898" y="2961514"/>
              <a:ext cx="0" cy="14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366" name="Line 28"/>
            <p:cNvSpPr/>
            <p:nvPr/>
          </p:nvSpPr>
          <p:spPr>
            <a:xfrm rot="-5400000" flipV="1">
              <a:off x="1416416" y="1366704"/>
              <a:ext cx="0" cy="72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oval" w="sm" len="sm"/>
            </a:ln>
          </p:spPr>
        </p:sp>
        <p:cxnSp>
          <p:nvCxnSpPr>
            <p:cNvPr id="3146184" name="直接连接符 17"/>
            <p:cNvCxnSpPr/>
            <p:nvPr/>
          </p:nvCxnSpPr>
          <p:spPr>
            <a:xfrm rot="5400000">
              <a:off x="1288007" y="2221435"/>
              <a:ext cx="972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367" name="Line 28"/>
            <p:cNvSpPr/>
            <p:nvPr/>
          </p:nvSpPr>
          <p:spPr>
            <a:xfrm rot="-5400000" flipV="1">
              <a:off x="2198093" y="2271916"/>
              <a:ext cx="0" cy="8496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51368" name="Line 28"/>
            <p:cNvSpPr/>
            <p:nvPr/>
          </p:nvSpPr>
          <p:spPr>
            <a:xfrm rot="-5400000" flipV="1">
              <a:off x="2335070" y="2649581"/>
              <a:ext cx="0" cy="6048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38" name="组合 228"/>
            <p:cNvGrpSpPr/>
            <p:nvPr/>
          </p:nvGrpSpPr>
          <p:grpSpPr>
            <a:xfrm>
              <a:off x="2468465" y="751073"/>
              <a:ext cx="1474513" cy="777872"/>
              <a:chOff x="6937126" y="496387"/>
              <a:chExt cx="1624013" cy="824190"/>
            </a:xfrm>
          </p:grpSpPr>
          <p:sp>
            <p:nvSpPr>
              <p:cNvPr id="1051369" name="Line 45"/>
              <p:cNvSpPr/>
              <p:nvPr/>
            </p:nvSpPr>
            <p:spPr>
              <a:xfrm rot="-5400000">
                <a:off x="8042026" y="1125314"/>
                <a:ext cx="342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0" name="Line 52"/>
              <p:cNvSpPr/>
              <p:nvPr/>
            </p:nvSpPr>
            <p:spPr>
              <a:xfrm>
                <a:off x="7989639" y="1306289"/>
                <a:ext cx="215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1" name="Line 45"/>
              <p:cNvSpPr/>
              <p:nvPr/>
            </p:nvSpPr>
            <p:spPr>
              <a:xfrm rot="-5400000">
                <a:off x="6917406" y="1205379"/>
                <a:ext cx="190718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2" name="Line 45"/>
              <p:cNvSpPr/>
              <p:nvPr/>
            </p:nvSpPr>
            <p:spPr>
              <a:xfrm rot="-5400000">
                <a:off x="7008564" y="1149127"/>
                <a:ext cx="342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3" name="Line 52"/>
              <p:cNvSpPr/>
              <p:nvPr/>
            </p:nvSpPr>
            <p:spPr>
              <a:xfrm>
                <a:off x="7181601" y="1320577"/>
                <a:ext cx="215900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4" name="Line 55"/>
              <p:cNvSpPr/>
              <p:nvPr/>
            </p:nvSpPr>
            <p:spPr>
              <a:xfrm flipH="1">
                <a:off x="7408614" y="658589"/>
                <a:ext cx="647700" cy="649288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5" name="Line 56"/>
              <p:cNvSpPr/>
              <p:nvPr/>
            </p:nvSpPr>
            <p:spPr>
              <a:xfrm flipV="1">
                <a:off x="7091114" y="501620"/>
                <a:ext cx="0" cy="25200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6" name="Line 57"/>
              <p:cNvSpPr/>
              <p:nvPr/>
            </p:nvSpPr>
            <p:spPr>
              <a:xfrm>
                <a:off x="7094289" y="653827"/>
                <a:ext cx="223837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oval" w="sm" len="sm"/>
                <a:tailEnd type="none" w="sm" len="sm"/>
              </a:ln>
            </p:spPr>
          </p:sp>
          <p:sp>
            <p:nvSpPr>
              <p:cNvPr id="1051377" name="Line 59"/>
              <p:cNvSpPr/>
              <p:nvPr/>
            </p:nvSpPr>
            <p:spPr>
              <a:xfrm flipH="1" flipV="1">
                <a:off x="7322889" y="658589"/>
                <a:ext cx="661987" cy="649288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78" name="流程图: 延期 92"/>
              <p:cNvSpPr>
                <a:spLocks noChangeArrowheads="1"/>
              </p:cNvSpPr>
              <p:nvPr/>
            </p:nvSpPr>
            <p:spPr bwMode="auto">
              <a:xfrm rot="-5400000">
                <a:off x="6951700" y="829967"/>
                <a:ext cx="284323" cy="285063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379" name="椭圆 93"/>
              <p:cNvSpPr>
                <a:spLocks noChangeArrowheads="1"/>
              </p:cNvSpPr>
              <p:nvPr/>
            </p:nvSpPr>
            <p:spPr bwMode="auto">
              <a:xfrm>
                <a:off x="7056262" y="763041"/>
                <a:ext cx="71702" cy="7234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639" name="组合 100"/>
              <p:cNvGrpSpPr/>
              <p:nvPr/>
            </p:nvGrpSpPr>
            <p:grpSpPr>
              <a:xfrm>
                <a:off x="8151564" y="758602"/>
                <a:ext cx="285750" cy="352425"/>
                <a:chOff x="2357422" y="2147884"/>
                <a:chExt cx="285752" cy="352428"/>
              </a:xfrm>
            </p:grpSpPr>
            <p:sp>
              <p:nvSpPr>
                <p:cNvPr id="1051380" name="流程图: 延期 95"/>
                <p:cNvSpPr>
                  <a:spLocks noChangeArrowheads="1"/>
                </p:cNvSpPr>
                <p:nvPr/>
              </p:nvSpPr>
              <p:spPr bwMode="auto">
                <a:xfrm rot="-5400000">
                  <a:off x="2356941" y="2233041"/>
                  <a:ext cx="267501" cy="267576"/>
                </a:xfrm>
                <a:prstGeom prst="flowChartDelay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051381" name="椭圆 96"/>
                <p:cNvSpPr>
                  <a:spLocks noChangeArrowheads="1"/>
                </p:cNvSpPr>
                <p:nvPr/>
              </p:nvSpPr>
              <p:spPr bwMode="auto">
                <a:xfrm>
                  <a:off x="2461834" y="2165783"/>
                  <a:ext cx="54214" cy="70661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 algn="ctr">
                  <a:solidFill>
                    <a:schemeClr val="bg2"/>
                  </a:solidFill>
                  <a:round/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pitchFamily="18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051382" name="Line 56"/>
              <p:cNvSpPr/>
              <p:nvPr/>
            </p:nvSpPr>
            <p:spPr>
              <a:xfrm flipV="1">
                <a:off x="8300789" y="496387"/>
                <a:ext cx="0" cy="25200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51383" name="Line 57"/>
              <p:cNvSpPr/>
              <p:nvPr/>
            </p:nvSpPr>
            <p:spPr>
              <a:xfrm>
                <a:off x="8056314" y="655414"/>
                <a:ext cx="244475" cy="0"/>
              </a:xfrm>
              <a:prstGeom prst="line">
                <a:avLst/>
              </a:prstGeom>
              <a:ln w="19050" cap="sq" cmpd="sng">
                <a:solidFill>
                  <a:schemeClr val="bg2"/>
                </a:solidFill>
                <a:prstDash val="solid"/>
                <a:headEnd type="none" w="sm" len="sm"/>
                <a:tailEnd type="oval" w="sm" len="sm"/>
              </a:ln>
            </p:spPr>
          </p:sp>
          <p:sp>
            <p:nvSpPr>
              <p:cNvPr id="1051384" name="Text Box 69"/>
              <p:cNvSpPr txBox="1"/>
              <p:nvPr/>
            </p:nvSpPr>
            <p:spPr>
              <a:xfrm>
                <a:off x="8132514" y="849089"/>
                <a:ext cx="428625" cy="27781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latin typeface="Times New Roman" panose="02020503050405090304" pitchFamily="18" charset="0"/>
                  </a:rPr>
                  <a:t> 2</a:t>
                </a:r>
              </a:p>
            </p:txBody>
          </p:sp>
          <p:sp>
            <p:nvSpPr>
              <p:cNvPr id="1051385" name="Text Box 68"/>
              <p:cNvSpPr txBox="1"/>
              <p:nvPr/>
            </p:nvSpPr>
            <p:spPr>
              <a:xfrm>
                <a:off x="6937126" y="844327"/>
                <a:ext cx="428625" cy="2762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latin typeface="Times New Roman" panose="02020503050405090304" pitchFamily="18" charset="0"/>
                  </a:rPr>
                  <a:t> 1</a:t>
                </a:r>
              </a:p>
            </p:txBody>
          </p:sp>
        </p:grpSp>
        <p:sp>
          <p:nvSpPr>
            <p:cNvPr id="1051386" name="Line 28"/>
            <p:cNvSpPr/>
            <p:nvPr/>
          </p:nvSpPr>
          <p:spPr>
            <a:xfrm rot="-5400000" flipV="1">
              <a:off x="2012514" y="988680"/>
              <a:ext cx="0" cy="1044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oval" w="sm" len="sm"/>
            </a:ln>
          </p:spPr>
        </p:sp>
        <p:sp>
          <p:nvSpPr>
            <p:cNvPr id="1051387" name="Line 28"/>
            <p:cNvSpPr/>
            <p:nvPr/>
          </p:nvSpPr>
          <p:spPr>
            <a:xfrm rot="-5400000" flipV="1">
              <a:off x="2570674" y="1366705"/>
              <a:ext cx="0" cy="72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sm" len="sm"/>
            </a:ln>
          </p:spPr>
        </p:sp>
        <p:cxnSp>
          <p:nvCxnSpPr>
            <p:cNvPr id="3146185" name="直接连接符 17"/>
            <p:cNvCxnSpPr/>
            <p:nvPr/>
          </p:nvCxnSpPr>
          <p:spPr>
            <a:xfrm rot="5400000">
              <a:off x="2262147" y="2397835"/>
              <a:ext cx="13248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1388" name="Line 28"/>
            <p:cNvSpPr/>
            <p:nvPr/>
          </p:nvSpPr>
          <p:spPr>
            <a:xfrm rot="-5400000" flipV="1">
              <a:off x="2473145" y="2597231"/>
              <a:ext cx="0" cy="90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389" name="Line 28"/>
            <p:cNvSpPr/>
            <p:nvPr/>
          </p:nvSpPr>
          <p:spPr>
            <a:xfrm rot="-5400000" flipV="1">
              <a:off x="3345587" y="2281442"/>
              <a:ext cx="0" cy="8496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sm" len="sm"/>
              <a:tailEnd type="oval" w="sm" len="sm"/>
            </a:ln>
          </p:spPr>
        </p:sp>
        <p:sp>
          <p:nvSpPr>
            <p:cNvPr id="1051390" name="Line 28"/>
            <p:cNvSpPr/>
            <p:nvPr/>
          </p:nvSpPr>
          <p:spPr>
            <a:xfrm rot="-5400000" flipV="1">
              <a:off x="3698339" y="1338130"/>
              <a:ext cx="0" cy="7200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sm" len="sm"/>
            </a:ln>
          </p:spPr>
        </p:sp>
        <p:cxnSp>
          <p:nvCxnSpPr>
            <p:cNvPr id="3146186" name="直接连接符 17"/>
            <p:cNvCxnSpPr/>
            <p:nvPr/>
          </p:nvCxnSpPr>
          <p:spPr>
            <a:xfrm rot="5400000">
              <a:off x="3332212" y="2426860"/>
              <a:ext cx="1440000" cy="1588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oval" w="sm" len="sm"/>
            </a:ln>
          </p:spPr>
        </p:cxnSp>
        <p:sp>
          <p:nvSpPr>
            <p:cNvPr id="1051391" name="Line 28"/>
            <p:cNvSpPr/>
            <p:nvPr/>
          </p:nvSpPr>
          <p:spPr>
            <a:xfrm rot="-5400000" flipV="1">
              <a:off x="3482878" y="1688081"/>
              <a:ext cx="0" cy="2908800"/>
            </a:xfrm>
            <a:prstGeom prst="line">
              <a:avLst/>
            </a:prstGeom>
            <a:ln w="1905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392" name="Text Box 116"/>
            <p:cNvSpPr txBox="1">
              <a:spLocks noChangeArrowheads="1"/>
            </p:cNvSpPr>
            <p:nvPr/>
          </p:nvSpPr>
          <p:spPr bwMode="auto">
            <a:xfrm>
              <a:off x="3717045" y="674068"/>
              <a:ext cx="503353" cy="27628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1393" name="Text Box 116"/>
            <p:cNvSpPr txBox="1">
              <a:spLocks noChangeArrowheads="1"/>
            </p:cNvSpPr>
            <p:nvPr/>
          </p:nvSpPr>
          <p:spPr bwMode="auto">
            <a:xfrm>
              <a:off x="2157438" y="1483857"/>
              <a:ext cx="504940" cy="27628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m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1394" name="Text Box 116"/>
            <p:cNvSpPr txBox="1">
              <a:spLocks noChangeArrowheads="1"/>
            </p:cNvSpPr>
            <p:nvPr/>
          </p:nvSpPr>
          <p:spPr bwMode="auto">
            <a:xfrm>
              <a:off x="4428080" y="1563249"/>
              <a:ext cx="503352" cy="2778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m</a:t>
              </a:r>
              <a:r>
                <a:rPr kumimoji="0" lang="en-US" altLang="zh-CN" sz="1200" b="1" kern="1200" cap="none" spc="0" normalizeH="0" baseline="-25000" noProof="0" dirty="0">
                  <a:solidFill>
                    <a:srgbClr val="FF0000"/>
                  </a:solidFill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</p:grpSp>
      <p:sp>
        <p:nvSpPr>
          <p:cNvPr id="1051418" name="Text Box 81"/>
          <p:cNvSpPr txBox="1"/>
          <p:nvPr/>
        </p:nvSpPr>
        <p:spPr>
          <a:xfrm>
            <a:off x="466725" y="3435350"/>
            <a:ext cx="1728788" cy="3683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AutoNum type="circleNumDbPlain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</a:p>
        </p:txBody>
      </p:sp>
      <p:sp>
        <p:nvSpPr>
          <p:cNvPr id="1051419" name="Text Box 83"/>
          <p:cNvSpPr txBox="1"/>
          <p:nvPr/>
        </p:nvSpPr>
        <p:spPr>
          <a:xfrm>
            <a:off x="2411413" y="3455988"/>
            <a:ext cx="1728787" cy="3683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AutoNum type="circleNumDbPlain" startAt="2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</a:p>
        </p:txBody>
      </p:sp>
      <p:grpSp>
        <p:nvGrpSpPr>
          <p:cNvPr id="643" name="组合 369"/>
          <p:cNvGrpSpPr/>
          <p:nvPr/>
        </p:nvGrpSpPr>
        <p:grpSpPr>
          <a:xfrm>
            <a:off x="900113" y="3789363"/>
            <a:ext cx="1584325" cy="1250950"/>
            <a:chOff x="1403648" y="3651870"/>
            <a:chExt cx="1584896" cy="1249687"/>
          </a:xfrm>
        </p:grpSpPr>
        <p:grpSp>
          <p:nvGrpSpPr>
            <p:cNvPr id="644" name="Group 152"/>
            <p:cNvGrpSpPr/>
            <p:nvPr/>
          </p:nvGrpSpPr>
          <p:grpSpPr>
            <a:xfrm>
              <a:off x="1475656" y="3651870"/>
              <a:ext cx="1512888" cy="1249687"/>
              <a:chOff x="4272" y="192"/>
              <a:chExt cx="953" cy="1050"/>
            </a:xfrm>
          </p:grpSpPr>
          <p:sp>
            <p:nvSpPr>
              <p:cNvPr id="1051420" name="Text Box 153"/>
              <p:cNvSpPr txBox="1">
                <a:spLocks noChangeArrowheads="1"/>
              </p:cNvSpPr>
              <p:nvPr/>
            </p:nvSpPr>
            <p:spPr bwMode="auto">
              <a:xfrm>
                <a:off x="4272" y="192"/>
                <a:ext cx="953" cy="10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8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D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1 </a:t>
                </a: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Y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endPara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endParaRPr>
              </a:p>
              <a:p>
                <a:pPr marR="0" defTabSz="914400" eaLnBrk="1" hangingPunct="1">
                  <a:lnSpc>
                    <a:spcPct val="8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D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 </a:t>
                </a: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Y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 </a:t>
                </a:r>
                <a:endPara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endParaRPr>
              </a:p>
              <a:p>
                <a:pPr marR="0" defTabSz="914400" eaLnBrk="1" hangingPunct="1">
                  <a:lnSpc>
                    <a:spcPct val="8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D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 </a:t>
                </a: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Y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4 </a:t>
                </a:r>
                <a:endPara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endParaRPr>
              </a:p>
              <a:p>
                <a:pPr marR="0" defTabSz="914400" eaLnBrk="1" hangingPunct="1">
                  <a:lnSpc>
                    <a:spcPct val="8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D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4 </a:t>
                </a: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= Y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4</a:t>
                </a: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+Y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3</a:t>
                </a:r>
                <a:r>
                  <a:rPr kumimoji="1" lang="en-US" altLang="zh-CN" sz="1600" b="1" kern="1200" cap="none" spc="0" normalizeH="0" baseline="0" noProof="0" dirty="0">
                    <a:latin typeface="+mj-lt"/>
                    <a:ea typeface="宋体" pitchFamily="2" charset="-122"/>
                    <a:cs typeface="+mn-cs"/>
                  </a:rPr>
                  <a:t>+Y</a:t>
                </a:r>
                <a:r>
                  <a:rPr kumimoji="0" lang="en-US" altLang="zh-CN" sz="1600" b="1" kern="1200" cap="none" spc="0" normalizeH="0" baseline="-25000" noProof="0" dirty="0">
                    <a:latin typeface="+mj-lt"/>
                    <a:ea typeface="宋体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051421" name="Line 154"/>
              <p:cNvSpPr>
                <a:spLocks noChangeShapeType="1"/>
              </p:cNvSpPr>
              <p:nvPr/>
            </p:nvSpPr>
            <p:spPr bwMode="auto">
              <a:xfrm>
                <a:off x="4605" y="995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422" name="AutoShape 20"/>
            <p:cNvSpPr/>
            <p:nvPr/>
          </p:nvSpPr>
          <p:spPr bwMode="auto">
            <a:xfrm>
              <a:off x="1403648" y="3723235"/>
              <a:ext cx="142926" cy="1045107"/>
            </a:xfrm>
            <a:prstGeom prst="leftBrace">
              <a:avLst>
                <a:gd name="adj1" fmla="val 44840"/>
                <a:gd name="adj2" fmla="val 50000"/>
              </a:avLst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645" name="Group 155"/>
          <p:cNvGrpSpPr/>
          <p:nvPr/>
        </p:nvGrpSpPr>
        <p:grpSpPr>
          <a:xfrm>
            <a:off x="2824163" y="3779838"/>
            <a:ext cx="1944687" cy="1308100"/>
            <a:chOff x="240" y="3696"/>
            <a:chExt cx="1225" cy="1100"/>
          </a:xfrm>
        </p:grpSpPr>
        <p:sp>
          <p:nvSpPr>
            <p:cNvPr id="1051423" name="Text Box 156"/>
            <p:cNvSpPr txBox="1">
              <a:spLocks noChangeArrowheads="1"/>
            </p:cNvSpPr>
            <p:nvPr/>
          </p:nvSpPr>
          <p:spPr bwMode="auto">
            <a:xfrm>
              <a:off x="240" y="3696"/>
              <a:ext cx="1225" cy="11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ts val="6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</a:t>
              </a: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 </a:t>
              </a:r>
            </a:p>
            <a:p>
              <a:pPr marR="0" defTabSz="914400" eaLnBrk="1" hangingPunct="1">
                <a:spcBef>
                  <a:spcPts val="6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</a:t>
              </a: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  </a:t>
              </a:r>
            </a:p>
            <a:p>
              <a:pPr marR="0" defTabSz="914400" eaLnBrk="1" hangingPunct="1">
                <a:spcBef>
                  <a:spcPts val="6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</a:t>
              </a: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4  </a:t>
              </a:r>
            </a:p>
            <a:p>
              <a:pPr marR="0" defTabSz="914400" eaLnBrk="1" hangingPunct="1">
                <a:spcBef>
                  <a:spcPts val="600"/>
                </a:spcBef>
                <a:buClrTx/>
                <a:buSzTx/>
                <a:buFontTx/>
              </a:pP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4</a:t>
              </a:r>
              <a:r>
                <a:rPr kumimoji="0" lang="en-US" altLang="zh-CN" sz="1600" b="1" kern="1200" cap="none" spc="0" normalizeH="0" baseline="30000" noProof="0" dirty="0">
                  <a:latin typeface="+mj-lt"/>
                  <a:ea typeface="宋体" pitchFamily="2" charset="-122"/>
                  <a:cs typeface="+mn-cs"/>
                </a:rPr>
                <a:t>n+1 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= </a:t>
              </a: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4 </a:t>
              </a: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+ 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  <a:r>
                <a:rPr kumimoji="1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+ Y</a:t>
              </a:r>
              <a:r>
                <a:rPr kumimoji="0" lang="en-US" altLang="zh-CN" sz="16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  <a:r>
                <a:rPr kumimoji="0" lang="en-US" altLang="zh-CN" sz="16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 </a:t>
              </a:r>
            </a:p>
          </p:txBody>
        </p:sp>
        <p:sp>
          <p:nvSpPr>
            <p:cNvPr id="1051424" name="Line 157"/>
            <p:cNvSpPr>
              <a:spLocks noChangeShapeType="1"/>
            </p:cNvSpPr>
            <p:nvPr/>
          </p:nvSpPr>
          <p:spPr bwMode="auto">
            <a:xfrm>
              <a:off x="694" y="4560"/>
              <a:ext cx="63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</p:grpSp>
      <p:graphicFrame>
        <p:nvGraphicFramePr>
          <p:cNvPr id="4194310" name="表格 402"/>
          <p:cNvGraphicFramePr>
            <a:graphicFrameLocks noGrp="1"/>
          </p:cNvGraphicFramePr>
          <p:nvPr/>
        </p:nvGraphicFramePr>
        <p:xfrm>
          <a:off x="5148263" y="3219450"/>
          <a:ext cx="3743324" cy="175894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8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7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0185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chemeClr val="tx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时钟</a:t>
                      </a: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altLang="zh-CN" sz="14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400" b="1" kern="1200" baseline="300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4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altLang="zh-CN" sz="14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n+1</a:t>
                      </a:r>
                      <a:endParaRPr lang="zh-CN" altLang="en-US" sz="1400" b="1" kern="1200" baseline="300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endParaRPr lang="zh-CN" altLang="en-US" sz="1400" b="1" baseline="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latin typeface="+mj-lt"/>
                        </a:rPr>
                        <a:t>1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1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+mj-lt"/>
                        </a:rPr>
                        <a:t>↑</a:t>
                      </a: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51425" name="Text Box 83"/>
          <p:cNvSpPr txBox="1"/>
          <p:nvPr/>
        </p:nvSpPr>
        <p:spPr>
          <a:xfrm>
            <a:off x="5194300" y="2859088"/>
            <a:ext cx="1728788" cy="3683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状态转换表</a:t>
            </a:r>
          </a:p>
        </p:txBody>
      </p:sp>
      <p:grpSp>
        <p:nvGrpSpPr>
          <p:cNvPr id="646" name="组合 183"/>
          <p:cNvGrpSpPr/>
          <p:nvPr/>
        </p:nvGrpSpPr>
        <p:grpSpPr>
          <a:xfrm>
            <a:off x="6300788" y="1874838"/>
            <a:ext cx="2433637" cy="863600"/>
            <a:chOff x="6243041" y="2288866"/>
            <a:chExt cx="2433447" cy="863537"/>
          </a:xfrm>
        </p:grpSpPr>
        <p:grpSp>
          <p:nvGrpSpPr>
            <p:cNvPr id="647" name="组合 399"/>
            <p:cNvGrpSpPr/>
            <p:nvPr/>
          </p:nvGrpSpPr>
          <p:grpSpPr>
            <a:xfrm>
              <a:off x="6243041" y="2360644"/>
              <a:ext cx="2299629" cy="730767"/>
              <a:chOff x="4359837" y="3291646"/>
              <a:chExt cx="2300010" cy="731158"/>
            </a:xfrm>
          </p:grpSpPr>
          <p:grpSp>
            <p:nvGrpSpPr>
              <p:cNvPr id="648" name="组合 79"/>
              <p:cNvGrpSpPr/>
              <p:nvPr/>
            </p:nvGrpSpPr>
            <p:grpSpPr>
              <a:xfrm>
                <a:off x="5216185" y="3291646"/>
                <a:ext cx="1443662" cy="731158"/>
                <a:chOff x="2627784" y="472023"/>
                <a:chExt cx="1444030" cy="767815"/>
              </a:xfrm>
            </p:grpSpPr>
            <p:grpSp>
              <p:nvGrpSpPr>
                <p:cNvPr id="649" name="Group 4"/>
                <p:cNvGrpSpPr/>
                <p:nvPr/>
              </p:nvGrpSpPr>
              <p:grpSpPr>
                <a:xfrm>
                  <a:off x="2627784" y="472023"/>
                  <a:ext cx="1444030" cy="767815"/>
                  <a:chOff x="528" y="527"/>
                  <a:chExt cx="1149" cy="774"/>
                </a:xfrm>
              </p:grpSpPr>
              <p:sp>
                <p:nvSpPr>
                  <p:cNvPr id="1051426" name="Oval 5"/>
                  <p:cNvSpPr/>
                  <p:nvPr/>
                </p:nvSpPr>
                <p:spPr>
                  <a:xfrm>
                    <a:off x="528" y="527"/>
                    <a:ext cx="462" cy="275"/>
                  </a:xfrm>
                  <a:prstGeom prst="ellipse">
                    <a:avLst/>
                  </a:prstGeom>
                  <a:solidFill>
                    <a:srgbClr val="99FF99"/>
                  </a:solidFill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lIns="0" tIns="0" rIns="0" bIns="0" anchor="ctr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200" b="1" dirty="0">
                        <a:latin typeface="Arial" panose="020B0604020202090204" pitchFamily="34" charset="0"/>
                      </a:rPr>
                      <a:t>1000</a:t>
                    </a:r>
                  </a:p>
                </p:txBody>
              </p:sp>
              <p:sp>
                <p:nvSpPr>
                  <p:cNvPr id="1051427" name="Oval 6"/>
                  <p:cNvSpPr/>
                  <p:nvPr/>
                </p:nvSpPr>
                <p:spPr>
                  <a:xfrm>
                    <a:off x="1219" y="552"/>
                    <a:ext cx="458" cy="275"/>
                  </a:xfrm>
                  <a:prstGeom prst="ellipse">
                    <a:avLst/>
                  </a:prstGeom>
                  <a:solidFill>
                    <a:srgbClr val="99FF99"/>
                  </a:solidFill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lIns="0" tIns="0" rIns="0" bIns="0" anchor="ctr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200" b="1" dirty="0">
                        <a:latin typeface="Arial" panose="020B0604020202090204" pitchFamily="34" charset="0"/>
                      </a:rPr>
                      <a:t>0100</a:t>
                    </a:r>
                  </a:p>
                </p:txBody>
              </p:sp>
              <p:sp>
                <p:nvSpPr>
                  <p:cNvPr id="1051428" name="Oval 7"/>
                  <p:cNvSpPr/>
                  <p:nvPr/>
                </p:nvSpPr>
                <p:spPr>
                  <a:xfrm>
                    <a:off x="1219" y="1026"/>
                    <a:ext cx="458" cy="275"/>
                  </a:xfrm>
                  <a:prstGeom prst="ellipse">
                    <a:avLst/>
                  </a:prstGeom>
                  <a:solidFill>
                    <a:srgbClr val="99FF99"/>
                  </a:solidFill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lIns="0" tIns="0" rIns="0" bIns="0" anchor="ctr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200" b="1" dirty="0">
                        <a:latin typeface="Arial" panose="020B0604020202090204" pitchFamily="34" charset="0"/>
                      </a:rPr>
                      <a:t>0010</a:t>
                    </a:r>
                  </a:p>
                </p:txBody>
              </p:sp>
              <p:sp>
                <p:nvSpPr>
                  <p:cNvPr id="1051429" name="Oval 8"/>
                  <p:cNvSpPr/>
                  <p:nvPr/>
                </p:nvSpPr>
                <p:spPr>
                  <a:xfrm>
                    <a:off x="531" y="1026"/>
                    <a:ext cx="458" cy="275"/>
                  </a:xfrm>
                  <a:prstGeom prst="ellipse">
                    <a:avLst/>
                  </a:prstGeom>
                  <a:solidFill>
                    <a:srgbClr val="99FF99"/>
                  </a:solidFill>
                  <a:ln w="1905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lIns="0" tIns="0" rIns="0" bIns="0" anchor="ctr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200" b="1" dirty="0">
                        <a:latin typeface="Arial" panose="020B0604020202090204" pitchFamily="34" charset="0"/>
                      </a:rPr>
                      <a:t>0001</a:t>
                    </a:r>
                  </a:p>
                </p:txBody>
              </p:sp>
              <p:sp>
                <p:nvSpPr>
                  <p:cNvPr id="1051430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017" y="675"/>
                    <a:ext cx="20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  <a:tailEnd type="triangle" w="med" len="med"/>
                  </a:ln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51431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96" y="1179"/>
                    <a:ext cx="20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  <a:tailEnd type="triangle" w="med" len="med"/>
                  </a:ln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51432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54" y="829"/>
                    <a:ext cx="0" cy="19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  <a:tailEnd type="triangle" w="med" len="med"/>
                  </a:ln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1">
                          <a:lumMod val="60000"/>
                          <a:lumOff val="40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Arial" panose="020B0604020202090204" pitchFamily="34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1051433" name="Line 12"/>
                <p:cNvSpPr/>
                <p:nvPr/>
              </p:nvSpPr>
              <p:spPr>
                <a:xfrm flipV="1">
                  <a:off x="3784062" y="771552"/>
                  <a:ext cx="0" cy="188955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miter/>
                  <a:headEnd type="triangle" w="med" len="med"/>
                  <a:tailEnd type="none" w="med" len="med"/>
                </a:ln>
              </p:spPr>
            </p:sp>
          </p:grpSp>
          <p:sp>
            <p:nvSpPr>
              <p:cNvPr id="1051434" name="Oval 5"/>
              <p:cNvSpPr/>
              <p:nvPr/>
            </p:nvSpPr>
            <p:spPr>
              <a:xfrm>
                <a:off x="4359837" y="3315134"/>
                <a:ext cx="580481" cy="259778"/>
              </a:xfrm>
              <a:prstGeom prst="ellipse">
                <a:avLst/>
              </a:prstGeom>
              <a:solidFill>
                <a:srgbClr val="FFFF00"/>
              </a:solidFill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200" b="1" dirty="0">
                    <a:latin typeface="Arial" panose="020B0604020202090204" pitchFamily="34" charset="0"/>
                  </a:rPr>
                  <a:t>0000</a:t>
                </a:r>
              </a:p>
            </p:txBody>
          </p:sp>
        </p:grpSp>
        <p:sp>
          <p:nvSpPr>
            <p:cNvPr id="1051435" name="圆角矩形 132"/>
            <p:cNvSpPr/>
            <p:nvPr/>
          </p:nvSpPr>
          <p:spPr>
            <a:xfrm>
              <a:off x="6948488" y="2288866"/>
              <a:ext cx="1728000" cy="863537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1051436" name="Line 9"/>
            <p:cNvSpPr>
              <a:spLocks noChangeShapeType="1"/>
            </p:cNvSpPr>
            <p:nvPr/>
          </p:nvSpPr>
          <p:spPr bwMode="auto">
            <a:xfrm>
              <a:off x="6839894" y="2499988"/>
              <a:ext cx="25239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51437" name="Text Box 83"/>
          <p:cNvSpPr txBox="1"/>
          <p:nvPr/>
        </p:nvSpPr>
        <p:spPr>
          <a:xfrm>
            <a:off x="7307263" y="1443038"/>
            <a:ext cx="1225550" cy="3683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5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19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5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418" grpId="0"/>
      <p:bldP spid="1051419" grpId="0"/>
      <p:bldP spid="1051425" grpId="0"/>
      <p:bldP spid="105143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节拍发生器</a:t>
            </a:r>
            <a:r>
              <a:rPr lang="en-US" altLang="zh-CN" dirty="0">
                <a:sym typeface="+mn-ea"/>
              </a:rPr>
              <a:t>2——</a:t>
            </a:r>
            <a:r>
              <a:rPr lang="zh-CN" altLang="en-US" dirty="0">
                <a:sym typeface="+mn-ea"/>
              </a:rPr>
              <a:t>续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194" name="Picture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8" y="852488"/>
            <a:ext cx="3806825" cy="2089150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1051442" name="Text Box 71"/>
          <p:cNvSpPr txBox="1"/>
          <p:nvPr/>
        </p:nvSpPr>
        <p:spPr>
          <a:xfrm>
            <a:off x="6296025" y="823913"/>
            <a:ext cx="2016125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sz="1600" b="1" dirty="0">
                <a:latin typeface="Arial" panose="020B0604020202090204" pitchFamily="34" charset="0"/>
              </a:rPr>
              <a:t>2-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节拍发生器</a:t>
            </a:r>
          </a:p>
        </p:txBody>
      </p:sp>
      <p:grpSp>
        <p:nvGrpSpPr>
          <p:cNvPr id="653" name="组合 146"/>
          <p:cNvGrpSpPr/>
          <p:nvPr/>
        </p:nvGrpSpPr>
        <p:grpSpPr>
          <a:xfrm>
            <a:off x="4630738" y="2211388"/>
            <a:ext cx="4405312" cy="2746375"/>
            <a:chOff x="539750" y="483518"/>
            <a:chExt cx="4405313" cy="2745457"/>
          </a:xfrm>
        </p:grpSpPr>
        <p:sp>
          <p:nvSpPr>
            <p:cNvPr id="1051443" name="Text Box 90"/>
            <p:cNvSpPr txBox="1">
              <a:spLocks noChangeArrowheads="1"/>
            </p:cNvSpPr>
            <p:nvPr/>
          </p:nvSpPr>
          <p:spPr bwMode="auto">
            <a:xfrm>
              <a:off x="4335463" y="2213315"/>
              <a:ext cx="609600" cy="2761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chemeClr val="hlink"/>
                  </a:solidFill>
                  <a:latin typeface="+mj-lt"/>
                  <a:ea typeface="宋体" pitchFamily="2" charset="-122"/>
                  <a:cs typeface="+mn-cs"/>
                </a:rPr>
                <a:t>m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hlink"/>
                  </a:solidFill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1444" name="Line 4"/>
            <p:cNvSpPr>
              <a:spLocks noChangeShapeType="1"/>
            </p:cNvSpPr>
            <p:nvPr/>
          </p:nvSpPr>
          <p:spPr bwMode="auto">
            <a:xfrm>
              <a:off x="3684588" y="537475"/>
              <a:ext cx="0" cy="244869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ash"/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grpSp>
          <p:nvGrpSpPr>
            <p:cNvPr id="654" name="Group 5"/>
            <p:cNvGrpSpPr/>
            <p:nvPr/>
          </p:nvGrpSpPr>
          <p:grpSpPr>
            <a:xfrm>
              <a:off x="1038225" y="484188"/>
              <a:ext cx="3233738" cy="161925"/>
              <a:chOff x="1008" y="288"/>
              <a:chExt cx="2640" cy="240"/>
            </a:xfrm>
          </p:grpSpPr>
          <p:sp>
            <p:nvSpPr>
              <p:cNvPr id="1051445" name="Line 6"/>
              <p:cNvSpPr>
                <a:spLocks noChangeShapeType="1"/>
              </p:cNvSpPr>
              <p:nvPr/>
            </p:nvSpPr>
            <p:spPr bwMode="auto">
              <a:xfrm>
                <a:off x="1248" y="28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46" name="Line 7"/>
              <p:cNvSpPr>
                <a:spLocks noChangeShapeType="1"/>
              </p:cNvSpPr>
              <p:nvPr/>
            </p:nvSpPr>
            <p:spPr bwMode="auto">
              <a:xfrm>
                <a:off x="148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47" name="Line 8"/>
              <p:cNvSpPr>
                <a:spLocks noChangeShapeType="1"/>
              </p:cNvSpPr>
              <p:nvPr/>
            </p:nvSpPr>
            <p:spPr bwMode="auto">
              <a:xfrm>
                <a:off x="124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48" name="Line 9"/>
              <p:cNvSpPr>
                <a:spLocks noChangeShapeType="1"/>
              </p:cNvSpPr>
              <p:nvPr/>
            </p:nvSpPr>
            <p:spPr bwMode="auto">
              <a:xfrm>
                <a:off x="1488" y="527"/>
                <a:ext cx="24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49" name="Line 10"/>
              <p:cNvSpPr>
                <a:spLocks noChangeShapeType="1"/>
              </p:cNvSpPr>
              <p:nvPr/>
            </p:nvSpPr>
            <p:spPr bwMode="auto">
              <a:xfrm>
                <a:off x="1729" y="28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0" name="Line 11"/>
              <p:cNvSpPr>
                <a:spLocks noChangeShapeType="1"/>
              </p:cNvSpPr>
              <p:nvPr/>
            </p:nvSpPr>
            <p:spPr bwMode="auto">
              <a:xfrm>
                <a:off x="196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1" name="Line 12"/>
              <p:cNvSpPr>
                <a:spLocks noChangeShapeType="1"/>
              </p:cNvSpPr>
              <p:nvPr/>
            </p:nvSpPr>
            <p:spPr bwMode="auto">
              <a:xfrm>
                <a:off x="1729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2" name="Line 13"/>
              <p:cNvSpPr>
                <a:spLocks noChangeShapeType="1"/>
              </p:cNvSpPr>
              <p:nvPr/>
            </p:nvSpPr>
            <p:spPr bwMode="auto">
              <a:xfrm>
                <a:off x="1968" y="52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3" name="Line 14"/>
              <p:cNvSpPr>
                <a:spLocks noChangeShapeType="1"/>
              </p:cNvSpPr>
              <p:nvPr/>
            </p:nvSpPr>
            <p:spPr bwMode="auto">
              <a:xfrm>
                <a:off x="2208" y="28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4" name="Line 15"/>
              <p:cNvSpPr>
                <a:spLocks noChangeShapeType="1"/>
              </p:cNvSpPr>
              <p:nvPr/>
            </p:nvSpPr>
            <p:spPr bwMode="auto">
              <a:xfrm>
                <a:off x="244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5" name="Line 16"/>
              <p:cNvSpPr>
                <a:spLocks noChangeShapeType="1"/>
              </p:cNvSpPr>
              <p:nvPr/>
            </p:nvSpPr>
            <p:spPr bwMode="auto">
              <a:xfrm>
                <a:off x="220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6" name="Line 17"/>
              <p:cNvSpPr>
                <a:spLocks noChangeShapeType="1"/>
              </p:cNvSpPr>
              <p:nvPr/>
            </p:nvSpPr>
            <p:spPr bwMode="auto">
              <a:xfrm>
                <a:off x="2448" y="52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7" name="Line 18"/>
              <p:cNvSpPr>
                <a:spLocks noChangeShapeType="1"/>
              </p:cNvSpPr>
              <p:nvPr/>
            </p:nvSpPr>
            <p:spPr bwMode="auto">
              <a:xfrm>
                <a:off x="2688" y="28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8" name="Line 19"/>
              <p:cNvSpPr>
                <a:spLocks noChangeShapeType="1"/>
              </p:cNvSpPr>
              <p:nvPr/>
            </p:nvSpPr>
            <p:spPr bwMode="auto">
              <a:xfrm>
                <a:off x="2927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59" name="Line 20"/>
              <p:cNvSpPr>
                <a:spLocks noChangeShapeType="1"/>
              </p:cNvSpPr>
              <p:nvPr/>
            </p:nvSpPr>
            <p:spPr bwMode="auto">
              <a:xfrm>
                <a:off x="268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0" name="Line 21"/>
              <p:cNvSpPr>
                <a:spLocks noChangeShapeType="1"/>
              </p:cNvSpPr>
              <p:nvPr/>
            </p:nvSpPr>
            <p:spPr bwMode="auto">
              <a:xfrm>
                <a:off x="2927" y="527"/>
                <a:ext cx="24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1" name="Line 22"/>
              <p:cNvSpPr>
                <a:spLocks noChangeShapeType="1"/>
              </p:cNvSpPr>
              <p:nvPr/>
            </p:nvSpPr>
            <p:spPr bwMode="auto">
              <a:xfrm>
                <a:off x="1008" y="52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2" name="Line 23"/>
              <p:cNvSpPr>
                <a:spLocks noChangeShapeType="1"/>
              </p:cNvSpPr>
              <p:nvPr/>
            </p:nvSpPr>
            <p:spPr bwMode="auto">
              <a:xfrm>
                <a:off x="3168" y="28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3" name="Line 24"/>
              <p:cNvSpPr>
                <a:spLocks noChangeShapeType="1"/>
              </p:cNvSpPr>
              <p:nvPr/>
            </p:nvSpPr>
            <p:spPr bwMode="auto">
              <a:xfrm>
                <a:off x="340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4" name="Line 25"/>
              <p:cNvSpPr>
                <a:spLocks noChangeShapeType="1"/>
              </p:cNvSpPr>
              <p:nvPr/>
            </p:nvSpPr>
            <p:spPr bwMode="auto">
              <a:xfrm>
                <a:off x="3168" y="28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5" name="Line 26"/>
              <p:cNvSpPr>
                <a:spLocks noChangeShapeType="1"/>
              </p:cNvSpPr>
              <p:nvPr/>
            </p:nvSpPr>
            <p:spPr bwMode="auto">
              <a:xfrm>
                <a:off x="3408" y="52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66" name="Line 27"/>
              <p:cNvSpPr>
                <a:spLocks noChangeShapeType="1"/>
              </p:cNvSpPr>
              <p:nvPr/>
            </p:nvSpPr>
            <p:spPr bwMode="auto">
              <a:xfrm>
                <a:off x="2927" y="527"/>
                <a:ext cx="24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467" name="Line 28"/>
            <p:cNvSpPr>
              <a:spLocks noChangeShapeType="1"/>
            </p:cNvSpPr>
            <p:nvPr/>
          </p:nvSpPr>
          <p:spPr bwMode="auto">
            <a:xfrm>
              <a:off x="1330325" y="623171"/>
              <a:ext cx="0" cy="244869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ash"/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468" name="Line 29"/>
            <p:cNvSpPr>
              <a:spLocks noChangeShapeType="1"/>
            </p:cNvSpPr>
            <p:nvPr/>
          </p:nvSpPr>
          <p:spPr bwMode="auto">
            <a:xfrm>
              <a:off x="1911350" y="608888"/>
              <a:ext cx="0" cy="2448694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ash"/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469" name="Line 30"/>
            <p:cNvSpPr>
              <a:spLocks noChangeShapeType="1"/>
            </p:cNvSpPr>
            <p:nvPr/>
          </p:nvSpPr>
          <p:spPr bwMode="auto">
            <a:xfrm>
              <a:off x="2506662" y="608888"/>
              <a:ext cx="0" cy="2448694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ash"/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470" name="Line 31"/>
            <p:cNvSpPr>
              <a:spLocks noChangeShapeType="1"/>
            </p:cNvSpPr>
            <p:nvPr/>
          </p:nvSpPr>
          <p:spPr bwMode="auto">
            <a:xfrm>
              <a:off x="3100388" y="483518"/>
              <a:ext cx="0" cy="244869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prstDash val="sysDash"/>
              <a:miter lim="800000"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471" name="Text Box 32"/>
            <p:cNvSpPr txBox="1">
              <a:spLocks noChangeArrowheads="1"/>
            </p:cNvSpPr>
            <p:nvPr/>
          </p:nvSpPr>
          <p:spPr bwMode="auto">
            <a:xfrm>
              <a:off x="539750" y="515257"/>
              <a:ext cx="463550" cy="27771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CP</a:t>
              </a:r>
              <a:endParaRPr kumimoji="0" lang="en-US" altLang="zh-CN" sz="1200" b="1" kern="1200" cap="none" spc="0" normalizeH="0" baseline="-25000" noProof="0" dirty="0">
                <a:latin typeface="+mj-lt"/>
                <a:ea typeface="宋体" pitchFamily="2" charset="-122"/>
                <a:cs typeface="+mn-cs"/>
              </a:endParaRPr>
            </a:p>
          </p:txBody>
        </p:sp>
        <p:sp>
          <p:nvSpPr>
            <p:cNvPr id="1051472" name="Text Box 33"/>
            <p:cNvSpPr txBox="1">
              <a:spLocks noChangeArrowheads="1"/>
            </p:cNvSpPr>
            <p:nvPr/>
          </p:nvSpPr>
          <p:spPr bwMode="auto">
            <a:xfrm>
              <a:off x="571500" y="1277003"/>
              <a:ext cx="385762" cy="27771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4</a:t>
              </a:r>
            </a:p>
          </p:txBody>
        </p:sp>
        <p:grpSp>
          <p:nvGrpSpPr>
            <p:cNvPr id="655" name="Group 34"/>
            <p:cNvGrpSpPr/>
            <p:nvPr/>
          </p:nvGrpSpPr>
          <p:grpSpPr>
            <a:xfrm>
              <a:off x="1057275" y="2911475"/>
              <a:ext cx="3197225" cy="163513"/>
              <a:chOff x="1028" y="3216"/>
              <a:chExt cx="2610" cy="240"/>
            </a:xfrm>
          </p:grpSpPr>
          <p:sp>
            <p:nvSpPr>
              <p:cNvPr id="1051473" name="Line 35"/>
              <p:cNvSpPr>
                <a:spLocks noChangeShapeType="1"/>
              </p:cNvSpPr>
              <p:nvPr/>
            </p:nvSpPr>
            <p:spPr bwMode="auto">
              <a:xfrm>
                <a:off x="1028" y="3456"/>
                <a:ext cx="117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74" name="Line 36"/>
              <p:cNvSpPr>
                <a:spLocks noChangeShapeType="1"/>
              </p:cNvSpPr>
              <p:nvPr/>
            </p:nvSpPr>
            <p:spPr bwMode="auto">
              <a:xfrm flipV="1">
                <a:off x="2209" y="3216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75" name="Line 37"/>
              <p:cNvSpPr>
                <a:spLocks noChangeShapeType="1"/>
              </p:cNvSpPr>
              <p:nvPr/>
            </p:nvSpPr>
            <p:spPr bwMode="auto">
              <a:xfrm>
                <a:off x="2209" y="3216"/>
                <a:ext cx="95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76" name="Line 38"/>
              <p:cNvSpPr>
                <a:spLocks noChangeShapeType="1"/>
              </p:cNvSpPr>
              <p:nvPr/>
            </p:nvSpPr>
            <p:spPr bwMode="auto">
              <a:xfrm>
                <a:off x="3168" y="3216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77" name="Line 39"/>
              <p:cNvSpPr>
                <a:spLocks noChangeShapeType="1"/>
              </p:cNvSpPr>
              <p:nvPr/>
            </p:nvSpPr>
            <p:spPr bwMode="auto">
              <a:xfrm>
                <a:off x="3168" y="3456"/>
                <a:ext cx="47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656" name="Group 41"/>
            <p:cNvGrpSpPr/>
            <p:nvPr/>
          </p:nvGrpSpPr>
          <p:grpSpPr>
            <a:xfrm>
              <a:off x="1049338" y="2212975"/>
              <a:ext cx="3224212" cy="163513"/>
              <a:chOff x="1015" y="2304"/>
              <a:chExt cx="2633" cy="240"/>
            </a:xfrm>
          </p:grpSpPr>
          <p:sp>
            <p:nvSpPr>
              <p:cNvPr id="1051478" name="Line 42"/>
              <p:cNvSpPr>
                <a:spLocks noChangeShapeType="1"/>
              </p:cNvSpPr>
              <p:nvPr/>
            </p:nvSpPr>
            <p:spPr bwMode="auto">
              <a:xfrm>
                <a:off x="1015" y="2544"/>
                <a:ext cx="235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79" name="Line 43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1439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0" name="Line 44"/>
              <p:cNvSpPr>
                <a:spLocks noChangeShapeType="1"/>
              </p:cNvSpPr>
              <p:nvPr/>
            </p:nvSpPr>
            <p:spPr bwMode="auto">
              <a:xfrm flipV="1">
                <a:off x="2687" y="2304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tailEnd type="triangle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1" name="Line 45"/>
              <p:cNvSpPr>
                <a:spLocks noChangeShapeType="1"/>
              </p:cNvSpPr>
              <p:nvPr/>
            </p:nvSpPr>
            <p:spPr bwMode="auto">
              <a:xfrm>
                <a:off x="2687" y="2304"/>
                <a:ext cx="481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2" name="Line 46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3" name="Line 47"/>
              <p:cNvSpPr>
                <a:spLocks noChangeShapeType="1"/>
              </p:cNvSpPr>
              <p:nvPr/>
            </p:nvSpPr>
            <p:spPr bwMode="auto">
              <a:xfrm>
                <a:off x="3168" y="254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657" name="Group 48"/>
            <p:cNvGrpSpPr/>
            <p:nvPr/>
          </p:nvGrpSpPr>
          <p:grpSpPr>
            <a:xfrm>
              <a:off x="1041400" y="1276350"/>
              <a:ext cx="3225800" cy="161925"/>
              <a:chOff x="1014" y="2256"/>
              <a:chExt cx="2634" cy="240"/>
            </a:xfrm>
          </p:grpSpPr>
          <p:sp>
            <p:nvSpPr>
              <p:cNvPr id="1051484" name="Line 49"/>
              <p:cNvSpPr>
                <a:spLocks noChangeShapeType="1"/>
              </p:cNvSpPr>
              <p:nvPr/>
            </p:nvSpPr>
            <p:spPr bwMode="auto">
              <a:xfrm>
                <a:off x="1014" y="2497"/>
                <a:ext cx="23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5" name="Line 50"/>
              <p:cNvSpPr>
                <a:spLocks noChangeShapeType="1"/>
              </p:cNvSpPr>
              <p:nvPr/>
            </p:nvSpPr>
            <p:spPr bwMode="auto">
              <a:xfrm flipV="1">
                <a:off x="1249" y="225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6" name="Line 51"/>
              <p:cNvSpPr>
                <a:spLocks noChangeShapeType="1"/>
              </p:cNvSpPr>
              <p:nvPr/>
            </p:nvSpPr>
            <p:spPr bwMode="auto">
              <a:xfrm>
                <a:off x="1249" y="2257"/>
                <a:ext cx="48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7" name="Line 52"/>
              <p:cNvSpPr>
                <a:spLocks noChangeShapeType="1"/>
              </p:cNvSpPr>
              <p:nvPr/>
            </p:nvSpPr>
            <p:spPr bwMode="auto">
              <a:xfrm>
                <a:off x="1728" y="225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8" name="Line 53"/>
              <p:cNvSpPr>
                <a:spLocks noChangeShapeType="1"/>
              </p:cNvSpPr>
              <p:nvPr/>
            </p:nvSpPr>
            <p:spPr bwMode="auto">
              <a:xfrm>
                <a:off x="1728" y="2497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89" name="Line 54"/>
              <p:cNvSpPr>
                <a:spLocks noChangeShapeType="1"/>
              </p:cNvSpPr>
              <p:nvPr/>
            </p:nvSpPr>
            <p:spPr bwMode="auto">
              <a:xfrm flipV="1">
                <a:off x="3168" y="225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90" name="Line 55"/>
              <p:cNvSpPr>
                <a:spLocks noChangeShapeType="1"/>
              </p:cNvSpPr>
              <p:nvPr/>
            </p:nvSpPr>
            <p:spPr bwMode="auto">
              <a:xfrm>
                <a:off x="3168" y="2257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491" name="Text Box 56"/>
            <p:cNvSpPr txBox="1">
              <a:spLocks noChangeArrowheads="1"/>
            </p:cNvSpPr>
            <p:nvPr/>
          </p:nvSpPr>
          <p:spPr bwMode="auto">
            <a:xfrm>
              <a:off x="571500" y="1565831"/>
              <a:ext cx="385762" cy="2761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3</a:t>
              </a:r>
            </a:p>
          </p:txBody>
        </p:sp>
        <p:grpSp>
          <p:nvGrpSpPr>
            <p:cNvPr id="658" name="Group 57"/>
            <p:cNvGrpSpPr/>
            <p:nvPr/>
          </p:nvGrpSpPr>
          <p:grpSpPr>
            <a:xfrm>
              <a:off x="1047750" y="1565275"/>
              <a:ext cx="3217863" cy="163513"/>
              <a:chOff x="1021" y="1488"/>
              <a:chExt cx="2627" cy="240"/>
            </a:xfrm>
          </p:grpSpPr>
          <p:sp>
            <p:nvSpPr>
              <p:cNvPr id="1051492" name="Line 58"/>
              <p:cNvSpPr>
                <a:spLocks noChangeShapeType="1"/>
              </p:cNvSpPr>
              <p:nvPr/>
            </p:nvSpPr>
            <p:spPr bwMode="auto">
              <a:xfrm>
                <a:off x="1021" y="1729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93" name="Line 59"/>
              <p:cNvSpPr>
                <a:spLocks noChangeShapeType="1"/>
              </p:cNvSpPr>
              <p:nvPr/>
            </p:nvSpPr>
            <p:spPr bwMode="auto">
              <a:xfrm flipV="1">
                <a:off x="1729" y="1489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94" name="Line 60"/>
              <p:cNvSpPr>
                <a:spLocks noChangeShapeType="1"/>
              </p:cNvSpPr>
              <p:nvPr/>
            </p:nvSpPr>
            <p:spPr bwMode="auto">
              <a:xfrm>
                <a:off x="1729" y="1489"/>
                <a:ext cx="481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95" name="Line 61"/>
              <p:cNvSpPr>
                <a:spLocks noChangeShapeType="1"/>
              </p:cNvSpPr>
              <p:nvPr/>
            </p:nvSpPr>
            <p:spPr bwMode="auto">
              <a:xfrm>
                <a:off x="2208" y="1489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96" name="Line 62"/>
              <p:cNvSpPr>
                <a:spLocks noChangeShapeType="1"/>
              </p:cNvSpPr>
              <p:nvPr/>
            </p:nvSpPr>
            <p:spPr bwMode="auto">
              <a:xfrm>
                <a:off x="2208" y="1729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497" name="Text Box 63"/>
            <p:cNvSpPr txBox="1">
              <a:spLocks noChangeArrowheads="1"/>
            </p:cNvSpPr>
            <p:nvPr/>
          </p:nvSpPr>
          <p:spPr bwMode="auto">
            <a:xfrm>
              <a:off x="581025" y="1864181"/>
              <a:ext cx="387350" cy="27771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grpSp>
          <p:nvGrpSpPr>
            <p:cNvPr id="659" name="Group 64"/>
            <p:cNvGrpSpPr/>
            <p:nvPr/>
          </p:nvGrpSpPr>
          <p:grpSpPr>
            <a:xfrm>
              <a:off x="1055688" y="1889125"/>
              <a:ext cx="3224212" cy="163513"/>
              <a:chOff x="1025" y="3072"/>
              <a:chExt cx="2633" cy="240"/>
            </a:xfrm>
          </p:grpSpPr>
          <p:sp>
            <p:nvSpPr>
              <p:cNvPr id="1051498" name="Line 65"/>
              <p:cNvSpPr>
                <a:spLocks noChangeShapeType="1"/>
              </p:cNvSpPr>
              <p:nvPr/>
            </p:nvSpPr>
            <p:spPr bwMode="auto">
              <a:xfrm>
                <a:off x="1025" y="3313"/>
                <a:ext cx="117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499" name="Line 66"/>
              <p:cNvSpPr>
                <a:spLocks noChangeShapeType="1"/>
              </p:cNvSpPr>
              <p:nvPr/>
            </p:nvSpPr>
            <p:spPr bwMode="auto">
              <a:xfrm flipV="1">
                <a:off x="2209" y="3073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0" name="Line 67"/>
              <p:cNvSpPr>
                <a:spLocks noChangeShapeType="1"/>
              </p:cNvSpPr>
              <p:nvPr/>
            </p:nvSpPr>
            <p:spPr bwMode="auto">
              <a:xfrm>
                <a:off x="2209" y="3073"/>
                <a:ext cx="48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1" name="Line 68"/>
              <p:cNvSpPr>
                <a:spLocks noChangeShapeType="1"/>
              </p:cNvSpPr>
              <p:nvPr/>
            </p:nvSpPr>
            <p:spPr bwMode="auto">
              <a:xfrm>
                <a:off x="2688" y="3073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2" name="Line 69"/>
              <p:cNvSpPr>
                <a:spLocks noChangeShapeType="1"/>
              </p:cNvSpPr>
              <p:nvPr/>
            </p:nvSpPr>
            <p:spPr bwMode="auto">
              <a:xfrm>
                <a:off x="2688" y="3313"/>
                <a:ext cx="97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503" name="Text Box 70"/>
            <p:cNvSpPr txBox="1">
              <a:spLocks noChangeArrowheads="1"/>
            </p:cNvSpPr>
            <p:nvPr/>
          </p:nvSpPr>
          <p:spPr bwMode="auto">
            <a:xfrm>
              <a:off x="598487" y="2168879"/>
              <a:ext cx="387350" cy="27771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Y</a:t>
              </a:r>
              <a:r>
                <a:rPr kumimoji="0" lang="en-US" altLang="zh-CN" sz="1200" b="1" kern="1200" cap="none" spc="0" normalizeH="0" baseline="-25000" noProof="0" dirty="0"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grpSp>
          <p:nvGrpSpPr>
            <p:cNvPr id="660" name="Group 73"/>
            <p:cNvGrpSpPr/>
            <p:nvPr/>
          </p:nvGrpSpPr>
          <p:grpSpPr>
            <a:xfrm>
              <a:off x="962025" y="941388"/>
              <a:ext cx="3292475" cy="161925"/>
              <a:chOff x="960" y="672"/>
              <a:chExt cx="2688" cy="240"/>
            </a:xfrm>
          </p:grpSpPr>
          <p:sp>
            <p:nvSpPr>
              <p:cNvPr id="1051504" name="Line 74"/>
              <p:cNvSpPr>
                <a:spLocks noChangeShapeType="1"/>
              </p:cNvSpPr>
              <p:nvPr/>
            </p:nvSpPr>
            <p:spPr bwMode="auto">
              <a:xfrm>
                <a:off x="960" y="673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5" name="Line 75"/>
              <p:cNvSpPr>
                <a:spLocks noChangeShapeType="1"/>
              </p:cNvSpPr>
              <p:nvPr/>
            </p:nvSpPr>
            <p:spPr bwMode="auto">
              <a:xfrm>
                <a:off x="1056" y="673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6" name="Line 76"/>
              <p:cNvSpPr>
                <a:spLocks noChangeShapeType="1"/>
              </p:cNvSpPr>
              <p:nvPr/>
            </p:nvSpPr>
            <p:spPr bwMode="auto">
              <a:xfrm>
                <a:off x="1056" y="913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7" name="Line 77"/>
              <p:cNvSpPr>
                <a:spLocks noChangeShapeType="1"/>
              </p:cNvSpPr>
              <p:nvPr/>
            </p:nvSpPr>
            <p:spPr bwMode="auto">
              <a:xfrm flipV="1">
                <a:off x="1152" y="673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08" name="Line 78"/>
              <p:cNvSpPr>
                <a:spLocks noChangeShapeType="1"/>
              </p:cNvSpPr>
              <p:nvPr/>
            </p:nvSpPr>
            <p:spPr bwMode="auto">
              <a:xfrm>
                <a:off x="1152" y="673"/>
                <a:ext cx="249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509" name="Text Box 79"/>
            <p:cNvSpPr txBox="1">
              <a:spLocks noChangeArrowheads="1"/>
            </p:cNvSpPr>
            <p:nvPr/>
          </p:nvSpPr>
          <p:spPr bwMode="auto">
            <a:xfrm>
              <a:off x="547687" y="853281"/>
              <a:ext cx="382588" cy="27930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altLang="zh-CN" sz="1200" b="1" kern="1200" cap="none" spc="0" normalizeH="0" baseline="0" noProof="0" dirty="0">
                  <a:latin typeface="+mj-lt"/>
                  <a:ea typeface="宋体" pitchFamily="2" charset="-122"/>
                  <a:cs typeface="+mn-cs"/>
                </a:rPr>
                <a:t>R</a:t>
              </a:r>
              <a:r>
                <a:rPr kumimoji="1" lang="en-US" altLang="zh-CN" sz="1200" b="1" kern="1200" cap="none" spc="0" normalizeH="0" baseline="-30000" noProof="0" dirty="0">
                  <a:latin typeface="+mj-lt"/>
                  <a:ea typeface="宋体" pitchFamily="2" charset="-122"/>
                  <a:cs typeface="+mn-cs"/>
                </a:rPr>
                <a:t>d</a:t>
              </a:r>
            </a:p>
          </p:txBody>
        </p:sp>
        <p:grpSp>
          <p:nvGrpSpPr>
            <p:cNvPr id="661" name="Group 80"/>
            <p:cNvGrpSpPr/>
            <p:nvPr/>
          </p:nvGrpSpPr>
          <p:grpSpPr>
            <a:xfrm>
              <a:off x="1031875" y="2573338"/>
              <a:ext cx="3235325" cy="163512"/>
              <a:chOff x="1006" y="2832"/>
              <a:chExt cx="2642" cy="192"/>
            </a:xfrm>
          </p:grpSpPr>
          <p:sp>
            <p:nvSpPr>
              <p:cNvPr id="1051510" name="Line 81"/>
              <p:cNvSpPr>
                <a:spLocks noChangeShapeType="1"/>
              </p:cNvSpPr>
              <p:nvPr/>
            </p:nvSpPr>
            <p:spPr bwMode="auto">
              <a:xfrm>
                <a:off x="1006" y="3024"/>
                <a:ext cx="23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11" name="Line 82"/>
              <p:cNvSpPr>
                <a:spLocks noChangeShapeType="1"/>
              </p:cNvSpPr>
              <p:nvPr/>
            </p:nvSpPr>
            <p:spPr bwMode="auto">
              <a:xfrm flipV="1">
                <a:off x="1248" y="28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12" name="Line 83"/>
              <p:cNvSpPr>
                <a:spLocks noChangeShapeType="1"/>
              </p:cNvSpPr>
              <p:nvPr/>
            </p:nvSpPr>
            <p:spPr bwMode="auto">
              <a:xfrm>
                <a:off x="1248" y="2832"/>
                <a:ext cx="95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13" name="Line 84"/>
              <p:cNvSpPr>
                <a:spLocks noChangeShapeType="1"/>
              </p:cNvSpPr>
              <p:nvPr/>
            </p:nvSpPr>
            <p:spPr bwMode="auto">
              <a:xfrm>
                <a:off x="2208" y="28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14" name="Line 85"/>
              <p:cNvSpPr>
                <a:spLocks noChangeShapeType="1"/>
              </p:cNvSpPr>
              <p:nvPr/>
            </p:nvSpPr>
            <p:spPr bwMode="auto">
              <a:xfrm>
                <a:off x="2208" y="3024"/>
                <a:ext cx="962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15" name="Line 86"/>
              <p:cNvSpPr>
                <a:spLocks noChangeShapeType="1"/>
              </p:cNvSpPr>
              <p:nvPr/>
            </p:nvSpPr>
            <p:spPr bwMode="auto">
              <a:xfrm flipV="1">
                <a:off x="3168" y="28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16" name="Line 87"/>
              <p:cNvSpPr>
                <a:spLocks noChangeShapeType="1"/>
              </p:cNvSpPr>
              <p:nvPr/>
            </p:nvSpPr>
            <p:spPr bwMode="auto">
              <a:xfrm>
                <a:off x="3168" y="2832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miter lim="800000"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517" name="Text Box 88"/>
            <p:cNvSpPr txBox="1">
              <a:spLocks noChangeArrowheads="1"/>
            </p:cNvSpPr>
            <p:nvPr/>
          </p:nvSpPr>
          <p:spPr bwMode="auto">
            <a:xfrm>
              <a:off x="620712" y="2573556"/>
              <a:ext cx="454025" cy="2761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1051518" name="Text Box 89"/>
            <p:cNvSpPr txBox="1">
              <a:spLocks noChangeArrowheads="1"/>
            </p:cNvSpPr>
            <p:nvPr/>
          </p:nvSpPr>
          <p:spPr bwMode="auto">
            <a:xfrm>
              <a:off x="620712" y="2952842"/>
              <a:ext cx="454025" cy="2761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W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+mj-lt"/>
                  <a:ea typeface="宋体" pitchFamily="2" charset="-122"/>
                  <a:cs typeface="+mn-cs"/>
                </a:rPr>
                <a:t>2</a:t>
              </a:r>
            </a:p>
          </p:txBody>
        </p:sp>
        <p:sp>
          <p:nvSpPr>
            <p:cNvPr id="1051519" name="Text Box 91"/>
            <p:cNvSpPr txBox="1">
              <a:spLocks noChangeArrowheads="1"/>
            </p:cNvSpPr>
            <p:nvPr/>
          </p:nvSpPr>
          <p:spPr bwMode="auto">
            <a:xfrm>
              <a:off x="4314826" y="1565831"/>
              <a:ext cx="504825" cy="2761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0" lang="en-US" altLang="zh-CN" sz="1200" b="1" kern="1200" cap="none" spc="0" normalizeH="0" baseline="0" noProof="0" dirty="0">
                  <a:solidFill>
                    <a:schemeClr val="hlink"/>
                  </a:solidFill>
                  <a:latin typeface="+mj-lt"/>
                  <a:ea typeface="宋体" pitchFamily="2" charset="-122"/>
                  <a:cs typeface="+mn-cs"/>
                </a:rPr>
                <a:t>m</a:t>
              </a:r>
              <a:r>
                <a:rPr kumimoji="0" lang="en-US" altLang="zh-CN" sz="1200" b="1" kern="1200" cap="none" spc="0" normalizeH="0" baseline="-25000" noProof="0" dirty="0">
                  <a:solidFill>
                    <a:schemeClr val="hlink"/>
                  </a:solidFill>
                  <a:latin typeface="+mj-lt"/>
                  <a:ea typeface="宋体" pitchFamily="2" charset="-122"/>
                  <a:cs typeface="+mn-cs"/>
                </a:rPr>
                <a:t>1</a:t>
              </a:r>
            </a:p>
          </p:txBody>
        </p:sp>
      </p:grpSp>
      <p:graphicFrame>
        <p:nvGraphicFramePr>
          <p:cNvPr id="4194311" name="表格 1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5288" y="3254375"/>
          <a:ext cx="1944687" cy="1662114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1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1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n+1      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n+1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    (W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=Q)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_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_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146187" name="直接连接符 112"/>
          <p:cNvCxnSpPr/>
          <p:nvPr/>
        </p:nvCxnSpPr>
        <p:spPr>
          <a:xfrm>
            <a:off x="1014413" y="3613150"/>
            <a:ext cx="10795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88" name="直接连接符 113"/>
          <p:cNvCxnSpPr/>
          <p:nvPr/>
        </p:nvCxnSpPr>
        <p:spPr>
          <a:xfrm>
            <a:off x="544513" y="3603625"/>
            <a:ext cx="10795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89" name="直接连接符 114"/>
          <p:cNvCxnSpPr/>
          <p:nvPr/>
        </p:nvCxnSpPr>
        <p:spPr>
          <a:xfrm>
            <a:off x="1990725" y="3613150"/>
            <a:ext cx="107950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cxnSp>
      <p:graphicFrame>
        <p:nvGraphicFramePr>
          <p:cNvPr id="4194312" name="表格 11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484438" y="3254375"/>
          <a:ext cx="1944687" cy="1662114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3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1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1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n+1       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n+1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    (W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=Q)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1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_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_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146190" name="直接连接符 116"/>
          <p:cNvCxnSpPr/>
          <p:nvPr/>
        </p:nvCxnSpPr>
        <p:spPr>
          <a:xfrm>
            <a:off x="3103563" y="3613150"/>
            <a:ext cx="10795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91" name="直接连接符 117"/>
          <p:cNvCxnSpPr/>
          <p:nvPr/>
        </p:nvCxnSpPr>
        <p:spPr>
          <a:xfrm>
            <a:off x="2633663" y="3603625"/>
            <a:ext cx="10795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92" name="直接连接符 118"/>
          <p:cNvCxnSpPr/>
          <p:nvPr/>
        </p:nvCxnSpPr>
        <p:spPr>
          <a:xfrm>
            <a:off x="4079875" y="3613150"/>
            <a:ext cx="107950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62" name="组合 228"/>
          <p:cNvGrpSpPr/>
          <p:nvPr/>
        </p:nvGrpSpPr>
        <p:grpSpPr>
          <a:xfrm>
            <a:off x="4284663" y="842963"/>
            <a:ext cx="1565275" cy="1152525"/>
            <a:chOff x="6794251" y="411510"/>
            <a:chExt cx="1869288" cy="1222234"/>
          </a:xfrm>
        </p:grpSpPr>
        <p:sp>
          <p:nvSpPr>
            <p:cNvPr id="1051520" name="Line 45"/>
            <p:cNvSpPr/>
            <p:nvPr/>
          </p:nvSpPr>
          <p:spPr>
            <a:xfrm rot="-5400000">
              <a:off x="8240926" y="1248407"/>
              <a:ext cx="288000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1" name="Line 45"/>
            <p:cNvSpPr/>
            <p:nvPr/>
          </p:nvSpPr>
          <p:spPr>
            <a:xfrm rot="-5400000">
              <a:off x="8042026" y="1125314"/>
              <a:ext cx="342900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2" name="Line 52"/>
            <p:cNvSpPr/>
            <p:nvPr/>
          </p:nvSpPr>
          <p:spPr>
            <a:xfrm>
              <a:off x="7989639" y="1306289"/>
              <a:ext cx="215900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3" name="Line 45"/>
            <p:cNvSpPr/>
            <p:nvPr/>
          </p:nvSpPr>
          <p:spPr>
            <a:xfrm rot="-5400000">
              <a:off x="6868766" y="1257660"/>
              <a:ext cx="288000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4" name="Line 45"/>
            <p:cNvSpPr/>
            <p:nvPr/>
          </p:nvSpPr>
          <p:spPr>
            <a:xfrm rot="-5400000">
              <a:off x="7008564" y="1149127"/>
              <a:ext cx="342900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5" name="Line 52"/>
            <p:cNvSpPr/>
            <p:nvPr/>
          </p:nvSpPr>
          <p:spPr>
            <a:xfrm>
              <a:off x="7181601" y="1320577"/>
              <a:ext cx="215900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6" name="Line 55"/>
            <p:cNvSpPr/>
            <p:nvPr/>
          </p:nvSpPr>
          <p:spPr>
            <a:xfrm flipH="1">
              <a:off x="7408614" y="658589"/>
              <a:ext cx="647700" cy="649288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7" name="Line 56"/>
            <p:cNvSpPr/>
            <p:nvPr/>
          </p:nvSpPr>
          <p:spPr>
            <a:xfrm flipV="1">
              <a:off x="7091114" y="501620"/>
              <a:ext cx="0" cy="25200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28" name="Line 57"/>
            <p:cNvSpPr/>
            <p:nvPr/>
          </p:nvSpPr>
          <p:spPr>
            <a:xfrm>
              <a:off x="7094289" y="653827"/>
              <a:ext cx="223837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oval" w="sm" len="sm"/>
              <a:tailEnd type="none" w="sm" len="sm"/>
            </a:ln>
          </p:spPr>
        </p:sp>
        <p:sp>
          <p:nvSpPr>
            <p:cNvPr id="1051529" name="Line 59"/>
            <p:cNvSpPr/>
            <p:nvPr/>
          </p:nvSpPr>
          <p:spPr>
            <a:xfrm flipH="1" flipV="1">
              <a:off x="7322889" y="658589"/>
              <a:ext cx="661987" cy="649288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30" name="Text Box 63"/>
            <p:cNvSpPr txBox="1"/>
            <p:nvPr/>
          </p:nvSpPr>
          <p:spPr>
            <a:xfrm>
              <a:off x="6794251" y="411510"/>
              <a:ext cx="428625" cy="27622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latin typeface="Times New Roman" panose="02020503050405090304" pitchFamily="18" charset="0"/>
                </a:rPr>
                <a:t>Q</a:t>
              </a:r>
            </a:p>
          </p:txBody>
        </p:sp>
        <p:sp>
          <p:nvSpPr>
            <p:cNvPr id="1051531" name="Text Box 66"/>
            <p:cNvSpPr txBox="1"/>
            <p:nvPr/>
          </p:nvSpPr>
          <p:spPr>
            <a:xfrm>
              <a:off x="6843543" y="1355963"/>
              <a:ext cx="392436" cy="27778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1200" b="1" dirty="0">
                  <a:latin typeface="Arial" panose="020B0604020202090204" pitchFamily="34" charset="0"/>
                </a:rPr>
                <a:t>S</a:t>
              </a:r>
            </a:p>
          </p:txBody>
        </p:sp>
        <p:sp>
          <p:nvSpPr>
            <p:cNvPr id="1051532" name="Text Box 67"/>
            <p:cNvSpPr txBox="1"/>
            <p:nvPr/>
          </p:nvSpPr>
          <p:spPr>
            <a:xfrm>
              <a:off x="8244408" y="1341915"/>
              <a:ext cx="368301" cy="2778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latin typeface="Times New Roman" panose="02020503050405090304" pitchFamily="18" charset="0"/>
                </a:rPr>
                <a:t>R</a:t>
              </a:r>
              <a:endParaRPr lang="en-US" altLang="zh-CN" sz="1200" b="1" baseline="-30000" dirty="0">
                <a:latin typeface="Times New Roman" panose="02020503050405090304" pitchFamily="18" charset="0"/>
              </a:endParaRPr>
            </a:p>
          </p:txBody>
        </p:sp>
        <p:grpSp>
          <p:nvGrpSpPr>
            <p:cNvPr id="663" name="组合 106"/>
            <p:cNvGrpSpPr/>
            <p:nvPr/>
          </p:nvGrpSpPr>
          <p:grpSpPr>
            <a:xfrm>
              <a:off x="8259727" y="440130"/>
              <a:ext cx="403812" cy="276097"/>
              <a:chOff x="3133938" y="1403687"/>
              <a:chExt cx="403805" cy="276871"/>
            </a:xfrm>
          </p:grpSpPr>
          <p:sp>
            <p:nvSpPr>
              <p:cNvPr id="1051533" name="Text Box 65"/>
              <p:cNvSpPr txBox="1">
                <a:spLocks noChangeArrowheads="1"/>
              </p:cNvSpPr>
              <p:nvPr/>
            </p:nvSpPr>
            <p:spPr bwMode="auto">
              <a:xfrm>
                <a:off x="3133938" y="1403686"/>
                <a:ext cx="403805" cy="276871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2"/>
                    </a:solidFill>
                    <a:latin typeface="Arial" panose="020B060402020209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503050405090304" pitchFamily="18" charset="0"/>
                    <a:ea typeface="宋体" pitchFamily="2" charset="-122"/>
                    <a:cs typeface="+mn-cs"/>
                  </a:rPr>
                  <a:t>Q</a:t>
                </a:r>
              </a:p>
            </p:txBody>
          </p:sp>
          <p:sp>
            <p:nvSpPr>
              <p:cNvPr id="1051534" name="Line 93"/>
              <p:cNvSpPr/>
              <p:nvPr/>
            </p:nvSpPr>
            <p:spPr>
              <a:xfrm>
                <a:off x="3270250" y="1460503"/>
                <a:ext cx="10800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051535" name="流程图: 延期 92"/>
            <p:cNvSpPr>
              <a:spLocks noChangeArrowheads="1"/>
            </p:cNvSpPr>
            <p:nvPr/>
          </p:nvSpPr>
          <p:spPr bwMode="auto">
            <a:xfrm rot="-5400000">
              <a:off x="6952483" y="829827"/>
              <a:ext cx="284515" cy="286271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51536" name="椭圆 93"/>
            <p:cNvSpPr>
              <a:spLocks noChangeArrowheads="1"/>
            </p:cNvSpPr>
            <p:nvPr/>
          </p:nvSpPr>
          <p:spPr bwMode="auto">
            <a:xfrm>
              <a:off x="7055875" y="763365"/>
              <a:ext cx="72042" cy="707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664" name="组合 100"/>
            <p:cNvGrpSpPr/>
            <p:nvPr/>
          </p:nvGrpSpPr>
          <p:grpSpPr>
            <a:xfrm>
              <a:off x="8151564" y="758602"/>
              <a:ext cx="285750" cy="352425"/>
              <a:chOff x="2357422" y="2147884"/>
              <a:chExt cx="285752" cy="352428"/>
            </a:xfrm>
          </p:grpSpPr>
          <p:sp>
            <p:nvSpPr>
              <p:cNvPr id="1051537" name="流程图: 延期 95"/>
              <p:cNvSpPr>
                <a:spLocks noChangeArrowheads="1"/>
              </p:cNvSpPr>
              <p:nvPr/>
            </p:nvSpPr>
            <p:spPr bwMode="auto">
              <a:xfrm rot="-5400000">
                <a:off x="2357559" y="2214904"/>
                <a:ext cx="286200" cy="286271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51538" name="椭圆 96"/>
              <p:cNvSpPr>
                <a:spLocks noChangeArrowheads="1"/>
              </p:cNvSpPr>
              <p:nvPr/>
            </p:nvSpPr>
            <p:spPr bwMode="auto">
              <a:xfrm>
                <a:off x="2461794" y="2147597"/>
                <a:ext cx="72042" cy="7239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051539" name="Line 56"/>
            <p:cNvSpPr/>
            <p:nvPr/>
          </p:nvSpPr>
          <p:spPr>
            <a:xfrm flipV="1">
              <a:off x="8300789" y="496387"/>
              <a:ext cx="0" cy="25200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1540" name="Line 57"/>
            <p:cNvSpPr/>
            <p:nvPr/>
          </p:nvSpPr>
          <p:spPr>
            <a:xfrm>
              <a:off x="8056314" y="655414"/>
              <a:ext cx="244475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sm" len="sm"/>
              <a:tailEnd type="oval" w="sm" len="sm"/>
            </a:ln>
          </p:spPr>
        </p:sp>
        <p:sp>
          <p:nvSpPr>
            <p:cNvPr id="1051541" name="Text Box 69"/>
            <p:cNvSpPr txBox="1"/>
            <p:nvPr/>
          </p:nvSpPr>
          <p:spPr>
            <a:xfrm>
              <a:off x="8132514" y="849089"/>
              <a:ext cx="428625" cy="2778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latin typeface="Times New Roman" panose="02020503050405090304" pitchFamily="18" charset="0"/>
                </a:rPr>
                <a:t> 2</a:t>
              </a:r>
            </a:p>
          </p:txBody>
        </p:sp>
        <p:sp>
          <p:nvSpPr>
            <p:cNvPr id="1051542" name="Text Box 68"/>
            <p:cNvSpPr txBox="1"/>
            <p:nvPr/>
          </p:nvSpPr>
          <p:spPr>
            <a:xfrm>
              <a:off x="6903003" y="844327"/>
              <a:ext cx="428625" cy="27622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latin typeface="Times New Roman" panose="02020503050405090304" pitchFamily="18" charset="0"/>
                </a:rPr>
                <a:t> 1</a:t>
              </a:r>
            </a:p>
          </p:txBody>
        </p:sp>
      </p:grpSp>
      <p:sp>
        <p:nvSpPr>
          <p:cNvPr id="1051543" name="Text Box 83"/>
          <p:cNvSpPr txBox="1"/>
          <p:nvPr/>
        </p:nvSpPr>
        <p:spPr>
          <a:xfrm>
            <a:off x="323850" y="2820988"/>
            <a:ext cx="1584325" cy="3683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⑤ 确定输出</a:t>
            </a:r>
          </a:p>
        </p:txBody>
      </p:sp>
      <p:grpSp>
        <p:nvGrpSpPr>
          <p:cNvPr id="665" name="组合 115"/>
          <p:cNvGrpSpPr/>
          <p:nvPr/>
        </p:nvGrpSpPr>
        <p:grpSpPr>
          <a:xfrm>
            <a:off x="6156325" y="1131888"/>
            <a:ext cx="2238375" cy="719137"/>
            <a:chOff x="6529406" y="3571888"/>
            <a:chExt cx="2238879" cy="720210"/>
          </a:xfrm>
        </p:grpSpPr>
        <p:sp>
          <p:nvSpPr>
            <p:cNvPr id="1051544" name="Text Box 3"/>
            <p:cNvSpPr txBox="1">
              <a:spLocks noChangeArrowheads="1"/>
            </p:cNvSpPr>
            <p:nvPr/>
          </p:nvSpPr>
          <p:spPr bwMode="auto">
            <a:xfrm>
              <a:off x="6529406" y="3610045"/>
              <a:ext cx="2232528" cy="66456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180975" marR="0" indent="-180975" defTabSz="914400">
                <a:lnSpc>
                  <a:spcPct val="130000"/>
                </a:lnSpc>
                <a:spcBef>
                  <a:spcPct val="50000"/>
                </a:spcBef>
                <a:buClr>
                  <a:schemeClr val="bg1">
                    <a:lumMod val="75000"/>
                  </a:schemeClr>
                </a:buClr>
                <a:buSzTx/>
                <a:buFont typeface="Wingdings" panose="05000000000000000000" pitchFamily="2" charset="2"/>
                <a:buChar char="§"/>
              </a:pPr>
              <a:r>
                <a:rPr kumimoji="1" lang="en-US" altLang="zh-CN" sz="1200" b="1" kern="1200" cap="none" spc="0" normalizeH="0" baseline="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W</a:t>
              </a:r>
              <a:r>
                <a:rPr kumimoji="1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1</a:t>
              </a:r>
              <a:r>
                <a:rPr kumimoji="1" lang="en-US" altLang="zh-CN" sz="1200" b="1" kern="1200" cap="none" spc="0" normalizeH="0" baseline="0" noProof="0" dirty="0">
                  <a:solidFill>
                    <a:srgbClr val="C00000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_m</a:t>
              </a:r>
              <a:r>
                <a:rPr kumimoji="1" lang="en-US" altLang="zh-CN" sz="1200" b="1" kern="1200" cap="none" spc="0" normalizeH="0" baseline="-25000" noProof="0" dirty="0">
                  <a:solidFill>
                    <a:srgbClr val="C00000"/>
                  </a:solidFill>
                  <a:latin typeface="+mj-lt"/>
                  <a:ea typeface="黑体" panose="02010609060101010101" pitchFamily="49" charset="-122"/>
                  <a:cs typeface="+mn-cs"/>
                </a:rPr>
                <a:t>1</a:t>
              </a:r>
              <a:r>
                <a:rPr kumimoji="1" lang="en-US" altLang="zh-CN" sz="1200" b="1" kern="1200" cap="none" spc="0" normalizeH="0" baseline="0" noProof="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:</a:t>
              </a:r>
              <a:r>
                <a:rPr kumimoji="1" lang="zh-CN" altLang="en-US" sz="1200" b="1" kern="1200" cap="none" spc="0" normalizeH="0" baseline="0" noProof="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节拍电位</a:t>
              </a:r>
              <a:r>
                <a:rPr kumimoji="1" lang="en-US" altLang="zh-CN" sz="12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_</a:t>
              </a:r>
              <a:r>
                <a:rPr kumimoji="1" lang="zh-CN" altLang="en-US" sz="1200" b="1" kern="1200" cap="none" spc="0" normalizeH="0" baseline="0" noProof="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节拍脉冲</a:t>
              </a:r>
            </a:p>
            <a:p>
              <a:pPr marL="180975" marR="0" indent="-180975" defTabSz="914400">
                <a:lnSpc>
                  <a:spcPct val="130000"/>
                </a:lnSpc>
                <a:spcBef>
                  <a:spcPct val="50000"/>
                </a:spcBef>
                <a:buClr>
                  <a:schemeClr val="bg1">
                    <a:lumMod val="75000"/>
                  </a:schemeClr>
                </a:buClr>
                <a:buSzTx/>
                <a:buFont typeface="Wingdings" panose="05000000000000000000" pitchFamily="2" charset="2"/>
                <a:buChar char="§"/>
              </a:pPr>
              <a:r>
                <a:rPr kumimoji="1" lang="en-US" altLang="zh-CN" sz="1200" b="1" kern="1200" cap="none" spc="0" normalizeH="0" baseline="0" noProof="0" dirty="0">
                  <a:solidFill>
                    <a:schemeClr val="bg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+mn-cs"/>
                </a:rPr>
                <a:t>W</a:t>
              </a:r>
              <a:r>
                <a:rPr kumimoji="1" lang="en-US" altLang="zh-CN" sz="1200" b="1" kern="1200" cap="none" spc="0" normalizeH="0" baseline="-25000" noProof="0" dirty="0">
                  <a:solidFill>
                    <a:schemeClr val="bg1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1" lang="en-US" altLang="zh-CN" sz="1200" b="1" kern="1200" cap="none" spc="0" normalizeH="0" baseline="0" noProof="0" dirty="0">
                  <a:solidFill>
                    <a:srgbClr val="C00000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+mn-cs"/>
                </a:rPr>
                <a:t>_m</a:t>
              </a:r>
              <a:r>
                <a:rPr kumimoji="1" lang="en-US" altLang="zh-CN" sz="1200" b="1" kern="1200" cap="none" spc="0" normalizeH="0" baseline="-25000" noProof="0" dirty="0">
                  <a:solidFill>
                    <a:srgbClr val="C00000"/>
                  </a:solidFill>
                  <a:latin typeface="Arial" panose="020B0604020202090204" pitchFamily="34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1" lang="en-US" altLang="zh-CN" sz="1200" b="1" kern="1200" cap="none" spc="0" normalizeH="0" baseline="0" noProof="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:</a:t>
              </a:r>
              <a:r>
                <a:rPr kumimoji="1" lang="zh-CN" altLang="en-US" sz="1200" b="1" kern="1200" cap="none" spc="0" normalizeH="0" baseline="0" noProof="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节拍电位</a:t>
              </a:r>
              <a:r>
                <a:rPr kumimoji="1" lang="en-US" altLang="zh-CN" sz="1200" b="1" kern="1200" cap="none" spc="0" normalizeH="0" baseline="0" noProof="0" dirty="0"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_</a:t>
              </a:r>
              <a:r>
                <a:rPr kumimoji="1" lang="zh-CN" altLang="en-US" sz="1200" b="1" kern="1200" cap="none" spc="0" normalizeH="0" baseline="0" noProof="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节拍脉冲</a:t>
              </a:r>
            </a:p>
          </p:txBody>
        </p:sp>
        <p:sp>
          <p:nvSpPr>
            <p:cNvPr id="1051545" name="圆角矩形 154"/>
            <p:cNvSpPr/>
            <p:nvPr/>
          </p:nvSpPr>
          <p:spPr bwMode="auto">
            <a:xfrm>
              <a:off x="6572279" y="3571888"/>
              <a:ext cx="2196006" cy="720210"/>
            </a:xfrm>
            <a:prstGeom prst="roundRect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3146193" name="直接连接符 114"/>
          <p:cNvCxnSpPr/>
          <p:nvPr/>
        </p:nvCxnSpPr>
        <p:spPr>
          <a:xfrm>
            <a:off x="1908175" y="3363913"/>
            <a:ext cx="107950" cy="0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94" name="直接连接符 114"/>
          <p:cNvCxnSpPr/>
          <p:nvPr/>
        </p:nvCxnSpPr>
        <p:spPr>
          <a:xfrm>
            <a:off x="4008438" y="3352800"/>
            <a:ext cx="107950" cy="0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95" name="直接连接符 114"/>
          <p:cNvCxnSpPr/>
          <p:nvPr/>
        </p:nvCxnSpPr>
        <p:spPr>
          <a:xfrm>
            <a:off x="2039938" y="3902075"/>
            <a:ext cx="107950" cy="0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6196" name="直接连接符 114"/>
          <p:cNvCxnSpPr/>
          <p:nvPr/>
        </p:nvCxnSpPr>
        <p:spPr>
          <a:xfrm>
            <a:off x="4137025" y="3902075"/>
            <a:ext cx="107950" cy="0"/>
          </a:xfrm>
          <a:prstGeom prst="line">
            <a:avLst/>
          </a:prstGeom>
          <a:ln w="190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19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19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4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4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4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4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4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5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44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寄存器和计数器</a:t>
            </a:r>
          </a:p>
        </p:txBody>
      </p:sp>
      <p:sp>
        <p:nvSpPr>
          <p:cNvPr id="104907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寄存器（Registers） 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移位寄存器（Shift Registers）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计数器（Counters）</a:t>
            </a:r>
          </a:p>
          <a:p>
            <a:pPr marR="0" lvl="0" algn="l" defTabSz="914400" rtl="0" eaLnBrk="1" fontAlgn="base" latinLnBrk="0" hangingPunct="1">
              <a:lnSpc>
                <a:spcPct val="160000"/>
              </a:lnSpc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3600" b="1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节拍发生器（Beat Generator）</a:t>
            </a:r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3600" b="1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1049073" name="灯片编号占位符 4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2075" tIns="46038" rIns="92075" bIns="46038" numCol="1" anchor="ctr" anchorCtr="0" compatLnSpc="1"/>
          <a:lstStyle/>
          <a:p>
            <a:pPr marL="0" indent="0" algn="r" defTabSz="68580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49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9d1b9d-1061-474b-a7d7-b3aa972b058e"/>
  <p:tag name="COMMONDATA" val="eyJoZGlkIjoiODRhMzUyZWU5MDQ3YmZmNTZkNzFhOGE4N2UwZTYyN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cdc7071-5c8f-47bc-aff4-7f32e6a7867f}"/>
  <p:tag name="TABLE_ENDDRAG_ORIGIN_RECT" val="497*123"/>
  <p:tag name="TABLE_ENDDRAG_RECT" val="75*269*497*12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079a072-5485-494a-8c89-bad62680a13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ac726a0-fc91-4a5b-8c70-1045a21198b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f425ff1-f571-46e0-acd8-f25d3f99eda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32f5dd9-2b8a-4c84-ba92-c06fe45ec20e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7c36397-e41b-4cc8-89a8-edbfb425bff7}"/>
</p:tagLst>
</file>

<file path=ppt/theme/theme1.xml><?xml version="1.0" encoding="utf-8"?>
<a:theme xmlns:a="http://schemas.openxmlformats.org/drawingml/2006/main" name="主题1">
  <a:themeElements>
    <a:clrScheme name="Soaring 5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5643</Words>
  <Application>Microsoft Office PowerPoint</Application>
  <PresentationFormat>全屏显示(16:9)</PresentationFormat>
  <Paragraphs>1571</Paragraphs>
  <Slides>49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黑体</vt:lpstr>
      <vt:lpstr>华文楷体</vt:lpstr>
      <vt:lpstr>楷体</vt:lpstr>
      <vt:lpstr>宋体</vt:lpstr>
      <vt:lpstr>Arial</vt:lpstr>
      <vt:lpstr>Calibri</vt:lpstr>
      <vt:lpstr>Lucida Sans Unicode</vt:lpstr>
      <vt:lpstr>Segoe UI Black</vt:lpstr>
      <vt:lpstr>Times New Roman</vt:lpstr>
      <vt:lpstr>Wingdings</vt:lpstr>
      <vt:lpstr>主题1</vt:lpstr>
      <vt:lpstr>Visio</vt:lpstr>
      <vt:lpstr>PowerPoint 演示文稿</vt:lpstr>
      <vt:lpstr>寄存器和计数器</vt:lpstr>
      <vt:lpstr>寄存器的定义、分类等</vt:lpstr>
      <vt:lpstr>基本寄存器</vt:lpstr>
      <vt:lpstr>寄存器的应用——利用三态总线进行数据传送</vt:lpstr>
      <vt:lpstr>寄存器的应用——具有累加功能的并行加法器1</vt:lpstr>
      <vt:lpstr>寄存器的应用——具有累加功能的并行加法器2</vt:lpstr>
      <vt:lpstr>寄存器的应用——具有累加功能的并行加法器2</vt:lpstr>
      <vt:lpstr>寄存器的应用——计算机并行输入/输出接口</vt:lpstr>
      <vt:lpstr>寄存器和计数器</vt:lpstr>
      <vt:lpstr>移位寄存器(Shift Register)</vt:lpstr>
      <vt:lpstr>右移寄存器(Right-Shift Register)</vt:lpstr>
      <vt:lpstr>右移寄存器(Right-Shift Register)</vt:lpstr>
      <vt:lpstr>右移寄存器</vt:lpstr>
      <vt:lpstr>右移寄存器的应用——环形计数器</vt:lpstr>
      <vt:lpstr>双向移位寄存器</vt:lpstr>
      <vt:lpstr>双向移位寄存器——写入</vt:lpstr>
      <vt:lpstr>双向移位寄存器——右移</vt:lpstr>
      <vt:lpstr>双向移位寄存器——左移</vt:lpstr>
      <vt:lpstr>双向移位寄存器——读出</vt:lpstr>
      <vt:lpstr>双向移位寄存器小结</vt:lpstr>
      <vt:lpstr>寄存器总结</vt:lpstr>
      <vt:lpstr>用Verilog实现串入并出8位移位寄存器</vt:lpstr>
      <vt:lpstr>用Verilog实现通用4位移位寄存器</vt:lpstr>
      <vt:lpstr>寄存器和计数器</vt:lpstr>
      <vt:lpstr>PowerPoint 演示文稿</vt:lpstr>
      <vt:lpstr>时序逻辑电路的分析方法</vt:lpstr>
      <vt:lpstr>典型时序逻辑部件——计数器</vt:lpstr>
      <vt:lpstr>计数器及分类</vt:lpstr>
      <vt:lpstr>异步计数器分析</vt:lpstr>
      <vt:lpstr>异步计数器总结</vt:lpstr>
      <vt:lpstr>同步计数器</vt:lpstr>
      <vt:lpstr>同步计数器——环形计数器</vt:lpstr>
      <vt:lpstr>PowerPoint 演示文稿</vt:lpstr>
      <vt:lpstr>扭环形计数器应用</vt:lpstr>
      <vt:lpstr>环形、扭环形计数器总结</vt:lpstr>
      <vt:lpstr>同步计数器小结</vt:lpstr>
      <vt:lpstr>用Verilog实现4位通用二进制计数器</vt:lpstr>
      <vt:lpstr>PowerPoint 演示文稿</vt:lpstr>
      <vt:lpstr>用Verilog实现4位通用十进制计数器</vt:lpstr>
      <vt:lpstr>用Verilog实现余三十进制计数器</vt:lpstr>
      <vt:lpstr>用Verilog实现4位递增/递减的计数器</vt:lpstr>
      <vt:lpstr>寄存器和计数器</vt:lpstr>
      <vt:lpstr>PowerPoint 演示文稿</vt:lpstr>
      <vt:lpstr>PowerPoint 演示文稿</vt:lpstr>
      <vt:lpstr>节拍发生器1——应用</vt:lpstr>
      <vt:lpstr>节拍发生器2</vt:lpstr>
      <vt:lpstr>节拍发生器2——续</vt:lpstr>
      <vt:lpstr>寄存器和计数器</vt:lpstr>
    </vt:vector>
  </TitlesOfParts>
  <Company>niuyv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lina</dc:creator>
  <cp:lastModifiedBy>Longyue Qu</cp:lastModifiedBy>
  <cp:revision>432</cp:revision>
  <dcterms:created xsi:type="dcterms:W3CDTF">2025-10-16T09:27:55Z</dcterms:created>
  <dcterms:modified xsi:type="dcterms:W3CDTF">2026-10-18T13:41:21Z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1BE744BA1E5C4566AF32FF71F6E9F946</vt:lpwstr>
  </property>
</Properties>
</file>