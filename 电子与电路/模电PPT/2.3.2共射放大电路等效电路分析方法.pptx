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  <p:sldMasterId id="2147483718" r:id="rId2"/>
    <p:sldMasterId id="2147483680" r:id="rId3"/>
    <p:sldMasterId id="2147483706" r:id="rId4"/>
  </p:sldMasterIdLst>
  <p:notesMasterIdLst>
    <p:notesMasterId r:id="rId12"/>
  </p:notesMasterIdLst>
  <p:handoutMasterIdLst>
    <p:handoutMasterId r:id="rId13"/>
  </p:handoutMasterIdLst>
  <p:sldIdLst>
    <p:sldId id="337" r:id="rId5"/>
    <p:sldId id="338" r:id="rId6"/>
    <p:sldId id="339" r:id="rId7"/>
    <p:sldId id="340" r:id="rId8"/>
    <p:sldId id="341" r:id="rId9"/>
    <p:sldId id="285" r:id="rId10"/>
    <p:sldId id="342" r:id="rId1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CCFFFF"/>
    <a:srgbClr val="FFFFCC"/>
    <a:srgbClr val="FF0000"/>
    <a:srgbClr val="A50021"/>
    <a:srgbClr val="333399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2" autoAdjust="0"/>
    <p:restoredTop sz="95918" autoAdjust="0"/>
  </p:normalViewPr>
  <p:slideViewPr>
    <p:cSldViewPr>
      <p:cViewPr varScale="1">
        <p:scale>
          <a:sx n="109" d="100"/>
          <a:sy n="109" d="100"/>
        </p:scale>
        <p:origin x="1134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0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F4941-67AF-4CA6-A2F2-67CAE0411884}" type="datetimeFigureOut">
              <a:rPr lang="zh-CN" altLang="en-US" smtClean="0"/>
              <a:pPr/>
              <a:t>2026-05-28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9DBEA-E1BC-4C76-9E72-D7929D76207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C793159-0570-449D-966A-C31E68F7A55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板书，计算过程：</a:t>
            </a:r>
            <a:r>
              <a:rPr lang="en-US" altLang="zh-CN" dirty="0"/>
              <a:t>IB=22.2uA</a:t>
            </a:r>
            <a:r>
              <a:rPr lang="zh-CN" altLang="en-US" dirty="0"/>
              <a:t>，</a:t>
            </a:r>
            <a:r>
              <a:rPr lang="en-US" altLang="zh-CN" dirty="0"/>
              <a:t>IC=1.77mA</a:t>
            </a:r>
            <a:r>
              <a:rPr lang="zh-CN" altLang="en-US" dirty="0"/>
              <a:t>，</a:t>
            </a:r>
            <a:r>
              <a:rPr lang="en-US" altLang="zh-CN" dirty="0"/>
              <a:t>UCE=6.7V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75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A1E938-1AED-489B-A561-D1E61F5A310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022830"/>
            <a:ext cx="5029200" cy="3811103"/>
          </a:xfrm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034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第四次课讲到这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73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F444E-CC2D-45E8-A1BC-7866AEC1E12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022830"/>
            <a:ext cx="5029200" cy="3811103"/>
          </a:xfrm>
          <a:noFill/>
          <a:ln/>
        </p:spPr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 err="1"/>
              <a:t>rbe</a:t>
            </a:r>
            <a:r>
              <a:rPr lang="zh-CN" altLang="en-US" dirty="0"/>
              <a:t>的求法，直接给结果，板书推导。按教材修改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板书，计算过程：</a:t>
            </a:r>
            <a:r>
              <a:rPr lang="en-US" altLang="zh-CN" dirty="0"/>
              <a:t>IB=22.2uA</a:t>
            </a:r>
            <a:r>
              <a:rPr lang="zh-CN" altLang="en-US" dirty="0"/>
              <a:t>，</a:t>
            </a:r>
            <a:r>
              <a:rPr lang="en-US" altLang="zh-CN" dirty="0"/>
              <a:t>IC=1.77mA</a:t>
            </a:r>
            <a:r>
              <a:rPr lang="zh-CN" altLang="en-US" dirty="0"/>
              <a:t>，</a:t>
            </a:r>
            <a:r>
              <a:rPr lang="en-US" altLang="zh-CN" dirty="0"/>
              <a:t>UCE=6.7V</a:t>
            </a:r>
            <a:endParaRPr lang="zh-CN" altLang="en-US" dirty="0"/>
          </a:p>
          <a:p>
            <a:r>
              <a:rPr lang="zh-CN" altLang="en-US" dirty="0"/>
              <a:t>题目按教材来，板书求解，难点（</a:t>
            </a:r>
            <a:r>
              <a:rPr lang="en-US" altLang="zh-CN" dirty="0"/>
              <a:t>1)</a:t>
            </a:r>
            <a:r>
              <a:rPr lang="zh-CN" altLang="en-US" dirty="0"/>
              <a:t>输出电阻、（</a:t>
            </a:r>
            <a:r>
              <a:rPr lang="en-US" altLang="zh-CN" dirty="0"/>
              <a:t>2</a:t>
            </a:r>
            <a:r>
              <a:rPr lang="zh-CN" altLang="en-US" dirty="0"/>
              <a:t>）电容</a:t>
            </a:r>
            <a:r>
              <a:rPr lang="en-US" altLang="zh-CN" dirty="0"/>
              <a:t>C2</a:t>
            </a:r>
            <a:r>
              <a:rPr lang="zh-CN" altLang="en-US" dirty="0"/>
              <a:t>短路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93159-0570-449D-966A-C31E68F7A55D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07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AA41611-3101-2CEF-8E36-7D796F246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8860497-CFA0-45E3-C4CC-CE3776AFB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185D03E-B12C-59F6-BCDE-8B193622E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D71EF-6778-46AB-A0D5-75E4E47598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8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0651" y="1557338"/>
            <a:ext cx="103632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06B035-7430-1BE6-1097-7205F51723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0814EB1-7033-3303-A69B-6B927C382B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6D0DD2D-A673-14EE-93A4-C00FF01E14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B18AC9-7EE5-48E1-A10E-59972008708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52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AA88E9B-9706-38C1-444E-164FF3BE2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3280232-90E4-63E3-23F6-6CE68F9462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073A97E-2B58-B783-1D36-8C8DA33AF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460EE-031D-47D7-9E55-B4D550769DB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18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557338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557338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252FFF6-FD2F-A5D5-B2CA-3297B5911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E327F60-2313-C45B-8473-14B4950AAC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41796EE-25E1-2706-05B2-AC453E07FA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AC619C-057D-4C23-8D70-CD93C1ADEC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52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70D42DB-965A-00F8-7A32-BF7E01F9E5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DB55724-AB04-6427-AFED-3DDD7A133E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741B841-86D3-D86B-B086-1E6015596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8F7B49-CE63-443D-8B2A-2B4489FA384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74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09EEB2A-A3E2-1AD5-8ABC-A906690DA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DD7CEB9-7EAB-9E47-1706-8CA66F9826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06A94C1-5EB8-4BC2-6C03-B9A711BAFB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4ED921-A278-4A83-9F7C-1B4B0D13E4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060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6A54CF0-28C6-4948-37E5-2BE4EDEC9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5614758-F7D8-F178-05DD-4A334F5B10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28538F0-0A2A-C33B-4E1B-8692084256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35D81-B97E-4F71-B6DC-3E291529B8A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6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14696C7-E974-D0E2-4957-3CA1EAD3D2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4AE7B97-1C74-08FD-C8F7-E523388DEC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360561-ED37-E367-6BBB-C40BF28A0E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16436A-6CF7-41A2-A454-FFDF7BDF347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72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10EE482-B705-7E05-219D-A9A8342814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2713D4D-457F-430C-D9B5-C99F3CF602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0AA6D83-4F8A-A3AF-8C37-9E162DFA04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2FF50B-E6B1-4281-A2ED-8A9CDBE1533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72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1557338"/>
            <a:ext cx="103632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9918761-ED29-3733-5666-DB72C038A9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4F52C9-2FCC-40DA-9A3B-EF8D7D2F3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710E57E-1DAA-7420-8A3C-C49B104DC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F26BD2-6F49-453F-9FF8-83F4DAD9F60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23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2167" y="44450"/>
            <a:ext cx="2633133" cy="56276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44450"/>
            <a:ext cx="7698316" cy="56276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6DC3396-D067-11F9-6A0F-A180381439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44AF8E0-8C4D-B785-330F-1ADE4232A2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2867B26-B6F9-EDEF-51DD-242DCAC1A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890FE-894B-457E-9DA6-25D8C1A1A4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263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557338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673851" y="15573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673851" y="36909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016151F-56CC-B2A7-8B2C-EE3686FC2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13E42AC-BF81-5EE8-EBF1-E212415677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74FEE74-FFFB-4691-7B05-24ED0F7763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890FE-894B-457E-9DA6-25D8C1A1A4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4897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5" y="44450"/>
            <a:ext cx="10390716" cy="7683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390651" y="15573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673851" y="15573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390651" y="36909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73851" y="3690938"/>
            <a:ext cx="50800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48C44F5-0C0C-9E57-C0C6-1ECB9B8CFC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6801811-C3BD-C694-5A6F-A385C4DFE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633D549-CFB5-E79A-9627-77C90AD72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CDFD60-C2AA-420E-BD38-F41CCF2103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0849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502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0C0FC80-6DB1-446E-BB84-F3FCAF0301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002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B0E05-9E8E-746D-6881-6FC8B4A10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7F9BC2-74DA-DDE3-6055-20BECC09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25620-1693-E445-835D-EB5E4B7E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1BC6E-5084-9BE8-02C0-18C67B55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8153E9-2F0B-65B7-B5F8-3F196B53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5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6BD86-B52E-5D46-9912-6BDC4403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154FC-1B5A-34BD-CD3F-3095E128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33529-5D04-A55A-6E99-7240F2BE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7687A-3DFD-1053-B37B-56D75C80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10C48-1627-FCB5-49C4-95C4A144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86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3B1EA-EAE7-F891-17CF-A3AAEDB4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50E2DE-9C40-D545-E849-C099F630F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5828F-41E4-0534-753D-FFF2B81A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2F3B1-107A-3B50-43D1-3B56B27F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9E2DB-41B1-3352-F1A6-4EEDC610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332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FBE71-6A00-527E-D002-835977AF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353BA-E304-4993-15FE-CDF34159D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E30856-DB4E-9B16-D1BE-ABBE025C2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9021EF-2C55-7E11-3ECC-2DC42055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C66697-5C8B-8B0D-478D-E851516D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A8393-638C-C3D7-FB57-93965AB9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73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A5322-D46D-1CC8-BFD9-3DCAC964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8CED80-63B5-7A55-A30F-0B7BD5ABA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6F1B25-3BBD-84F3-EBFB-0EF79CFF6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602DC3-CE66-D97E-3991-B062041CF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12D5D7-051E-262A-39E5-D03C37B4D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B48420-478C-31C9-E1C9-8F6B1176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181F75-95EF-A3D4-B548-77638ACA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F1D3D8-8E9B-90C9-D984-55AD6DAB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2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0921D-95FD-1E9D-B76F-FF7EB21B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2D095A-071C-6F8E-9AE5-54C62206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15C24A-1689-0898-C2BF-B8719601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1EE4C-9141-4177-C21C-919E7D5F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219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9B9BA0-F6C5-E99E-921D-9DC17A39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4AAB68-EDA4-03BF-9664-A7E1AD39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81427F-7C10-4199-136F-0C89AD46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9019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3099E-3669-596F-6120-514354675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D1336-0B6B-D717-6CFB-459F8A8D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CD380-7E8B-2910-587A-3C8BA22C6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9AD18-0208-9254-5527-C5ADD926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4E79B3-3EB5-5D54-C394-F242C911D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69326A-ECC3-6677-0AC1-AA246806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340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C29CF-E403-F11A-0E4B-DB1B3DD2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297BD8-1A60-9594-2617-410871AC7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8DF06D-A4FE-FA78-F7D7-0A7A26489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2B245-B2D3-4858-0944-3E595527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FE74DD-AEF8-CEB7-5811-C50A60EC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EE114-F8E9-C578-0BAA-C62B3907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7760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4E1C6-A27C-DE0B-E048-37A53C34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FF0E3E-3285-EB96-09F5-475F9758E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D3D26-C5C6-C107-34A9-66C4DD97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F2F8C3-5F55-7CB9-98D0-51176160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17718F-AAF5-97BA-7203-2F5A6BE0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1533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660EED-B190-2618-9ED5-ADB0E0EDF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803CCF-6B12-8DAC-4A15-E8BD55E7E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52B3C-CC32-0720-3CA9-A74EC0DE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9A983-992B-9A5C-D0D8-338DDD98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C6783F-8311-8725-942F-708A85A0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410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959E95CD-27CB-68F8-D234-E3E4D5C96D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744C10DB-574C-F763-6BA8-D2CA06AD46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13080FC-C6DC-FF0F-B54A-9069899D75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6E300-DD9C-4CD8-AEBB-B30545B42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0738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2E267C6A-136F-78C9-6FF1-91A00CDB73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7CE06211-7998-E0C8-FE58-DE78A84FCE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E4239DC3-A095-749D-8465-E9765A311D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AB239-3E55-4CC4-83AF-3DE6D06832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7244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8E154D8-4C7C-C458-9B23-51C11673B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7744876D-BD1E-3C8B-B859-60D1D0F77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089B336-CD37-9513-2338-584224B11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DBD1D-E034-4CDD-A647-1AF15A394C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0758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557338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557338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E3320A0-A3E9-8124-B95C-B7575B68C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74535F01-54C2-EBA0-68E0-2B3CFFF29A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FF04CA4-E571-7C62-AB9C-C64F36398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01156-BD90-4648-A378-D99D910A9E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2866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2105BF8-F901-D0EC-1DE8-60F794C80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80079BC9-E49D-5051-21BF-1F8EBCD32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E1DD6A25-03CD-FFE7-D6F1-BE5805B8CE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2ED87-FBBB-4E20-942D-275A9499FC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3670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A40E8667-7802-F219-E4CB-852A0CB2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8E0A547C-9F9F-1E44-3E5F-B8A3A9B77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30D5347-1941-D8FA-3F24-587EC1AC45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15C87-A7DF-4D33-B26F-D5041EFF8A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077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F11CF095-8532-B9CE-E49A-94B2CFA9A7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6246C8B0-5ED0-2385-CFB4-1ABF48628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D7D7F51-39BD-A644-F680-39A4B68D5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31ACD-5A2B-4D86-B6B5-9AC27B3171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1076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22D4269F-6C55-C37D-E764-3D1B2B87CA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5C30C0C-D664-CEC8-8E3C-D983B7B96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8840E6B-671A-AE1F-C504-5B204C33E6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9AC67-C8E3-47FB-9862-988E477EE1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82630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29ECFCB-9067-2504-386E-BB996BC835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ED41EBD-29D8-F35A-7E35-5C3AD597BC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08F5407A-4648-504D-40B0-DE3BB11361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3202C-9506-46D6-AB40-67F1CC413B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0481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6A43E075-ACD5-92AA-0B79-D597AD28F0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9D857E1-99FC-DE5C-EF4A-01EDCEF48D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E8E0407-AF3F-F40A-EE9E-19B48B531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C276D-BCD3-4828-9AA0-B5AD657178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5475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2167" y="44450"/>
            <a:ext cx="2633133" cy="56276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44450"/>
            <a:ext cx="7698316" cy="56276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3760C91E-55D7-4B7C-5A2E-3B5D9E74D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81AAE751-59A6-8F75-F66D-72FFC832F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BB9CF66-F92B-B7A4-B2CD-6197824BD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C016B-4FFC-4210-B8DC-3746D31F75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122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534585" y="44450"/>
            <a:ext cx="10390716" cy="7683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390651" y="1557338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673851" y="1557338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390651" y="3690938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73851" y="3690938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48C44F5-0C0C-9E57-C0C6-1ECB9B8CFC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6801811-C3BD-C694-5A6F-A385C4DFE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633D549-CFB5-E79A-9627-77C90AD72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CDFD60-C2AA-420E-BD38-F41CCF2103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93954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0C0FC80-6DB1-446E-BB84-F3FCAF0301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5163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6E300-DD9C-4CD8-AEBB-B30545B42F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768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8639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EDBD1D-E034-4CDD-A647-1AF15A394CC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1510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01156-BD90-4648-A378-D99D910A9E2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3486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2ED87-FBBB-4E20-942D-275A9499FCA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3187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B15C87-A7DF-4D33-B26F-D5041EFF8AC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1213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031ACD-5A2B-4D86-B6B5-9AC27B3171A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80360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D9AC67-C8E3-47FB-9862-988E477EE19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4806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23202C-9506-46D6-AB40-67F1CC413BC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1287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1C276D-BCD3-4828-9AA0-B5AD657178E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1259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BC016B-4FFC-4210-B8DC-3746D31F75B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523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>
            <a:extLst>
              <a:ext uri="{FF2B5EF4-FFF2-40B4-BE49-F238E27FC236}">
                <a16:creationId xmlns:a16="http://schemas.microsoft.com/office/drawing/2014/main" id="{C2D78BF1-7AC3-7BC6-BFE6-2E3E382AF0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endParaRPr lang="en-US" altLang="zh-CN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DA902EFF-F275-0915-AAB1-8FDB2AC060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CF045E01-1B4F-6790-6AD2-A9A26D2973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fld id="{672890FE-894B-457E-9DA6-25D8C1A1A40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8B52AD9-4007-0A7F-DD07-867B0B351EB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0F6190-01F6-C173-D419-5274772063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C57414A-F354-0A10-7E16-D7DEC8AD4CB3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2E1F3B2-299D-D4F0-9A72-193C3442F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标题占位符 7">
            <a:extLst>
              <a:ext uri="{FF2B5EF4-FFF2-40B4-BE49-F238E27FC236}">
                <a16:creationId xmlns:a16="http://schemas.microsoft.com/office/drawing/2014/main" id="{51537934-A892-186E-484F-D87E6679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-5503"/>
            <a:ext cx="5184576" cy="99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5225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EBE91-2932-F4D8-251D-81BDF3DDD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1632F-EE33-4D2E-B5E4-A16D7A556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6E169-3E40-43F8-B38E-E622D2CADB79}" type="datetimeFigureOut">
              <a:rPr lang="zh-CN" altLang="en-US" smtClean="0"/>
              <a:t>2026-05-28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119A4-25E2-C8F8-6280-D790A7AB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680E5-DC66-E89E-6F88-44DB672D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1D7AE-2BB0-4EFA-A4F4-A7EC7A0491B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26960B-85EB-FC90-4240-2B92C4193D6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EF2065-F247-B19B-7690-DFE9AD5999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4FA389C-F0F5-61D0-1F65-494A4DB3B43C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CFDED42-9025-FD70-4FD0-FFFD2DF5E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标题占位符 7">
            <a:extLst>
              <a:ext uri="{FF2B5EF4-FFF2-40B4-BE49-F238E27FC236}">
                <a16:creationId xmlns:a16="http://schemas.microsoft.com/office/drawing/2014/main" id="{B29E1BE0-BEAF-11B5-8FE2-DEDC3E49B7DF}"/>
              </a:ext>
            </a:extLst>
          </p:cNvPr>
          <p:cNvSpPr txBox="1">
            <a:spLocks/>
          </p:cNvSpPr>
          <p:nvPr userDrawn="1"/>
        </p:nvSpPr>
        <p:spPr>
          <a:xfrm>
            <a:off x="263352" y="-5503"/>
            <a:ext cx="5184576" cy="99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842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4A0228A2-31F8-E0F7-813B-3FD7D232352D}"/>
              </a:ext>
            </a:extLst>
          </p:cNvPr>
          <p:cNvGrpSpPr>
            <a:grpSpLocks/>
          </p:cNvGrpSpPr>
          <p:nvPr/>
        </p:nvGrpSpPr>
        <p:grpSpPr bwMode="auto">
          <a:xfrm>
            <a:off x="1" y="73026"/>
            <a:ext cx="12012084" cy="1052513"/>
            <a:chOff x="0" y="0"/>
            <a:chExt cx="5675" cy="663"/>
          </a:xfrm>
        </p:grpSpPr>
        <p:grpSp>
          <p:nvGrpSpPr>
            <p:cNvPr id="2056" name="Group 3">
              <a:extLst>
                <a:ext uri="{FF2B5EF4-FFF2-40B4-BE49-F238E27FC236}">
                  <a16:creationId xmlns:a16="http://schemas.microsoft.com/office/drawing/2014/main" id="{4B249737-91C3-1D5C-D5DC-94BD5A930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68"/>
              <a:ext cx="449" cy="299"/>
              <a:chOff x="0" y="0"/>
              <a:chExt cx="624" cy="432"/>
            </a:xfrm>
          </p:grpSpPr>
          <p:sp>
            <p:nvSpPr>
              <p:cNvPr id="2" name="Rectangle 4">
                <a:extLst>
                  <a:ext uri="{FF2B5EF4-FFF2-40B4-BE49-F238E27FC236}">
                    <a16:creationId xmlns:a16="http://schemas.microsoft.com/office/drawing/2014/main" id="{9CCD6DBC-95E7-9AAC-1FFA-DE3BCE0E6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2053" name="Rectangle 5">
                <a:extLst>
                  <a:ext uri="{FF2B5EF4-FFF2-40B4-BE49-F238E27FC236}">
                    <a16:creationId xmlns:a16="http://schemas.microsoft.com/office/drawing/2014/main" id="{D93D4022-7026-7B11-6998-ECF9DD4DE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2057" name="Group 6">
              <a:extLst>
                <a:ext uri="{FF2B5EF4-FFF2-40B4-BE49-F238E27FC236}">
                  <a16:creationId xmlns:a16="http://schemas.microsoft.com/office/drawing/2014/main" id="{D8DA74BE-6B84-F601-30E1-B3B2F2D92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334"/>
              <a:ext cx="466" cy="299"/>
              <a:chOff x="0" y="0"/>
              <a:chExt cx="672" cy="432"/>
            </a:xfrm>
          </p:grpSpPr>
          <p:sp>
            <p:nvSpPr>
              <p:cNvPr id="2055" name="Rectangle 7">
                <a:extLst>
                  <a:ext uri="{FF2B5EF4-FFF2-40B4-BE49-F238E27FC236}">
                    <a16:creationId xmlns:a16="http://schemas.microsoft.com/office/drawing/2014/main" id="{DF186AD0-8F99-9CCD-4ADB-C593A18C6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3" name="Rectangle 8">
                <a:extLst>
                  <a:ext uri="{FF2B5EF4-FFF2-40B4-BE49-F238E27FC236}">
                    <a16:creationId xmlns:a16="http://schemas.microsoft.com/office/drawing/2014/main" id="{6AD0FAAC-4B1F-76BC-E3B4-6CE283C52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256084FF-35A7-C310-F9C9-790BE15D3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58" name="Rectangle 10">
              <a:extLst>
                <a:ext uri="{FF2B5EF4-FFF2-40B4-BE49-F238E27FC236}">
                  <a16:creationId xmlns:a16="http://schemas.microsoft.com/office/drawing/2014/main" id="{998FC473-65AE-E4CE-F04F-4D57AF1EF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59" name="Rectangle 11">
              <a:extLst>
                <a:ext uri="{FF2B5EF4-FFF2-40B4-BE49-F238E27FC236}">
                  <a16:creationId xmlns:a16="http://schemas.microsoft.com/office/drawing/2014/main" id="{710DF1EC-6209-D05E-2660-318A0E38B8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2051" name="Rectangle 9">
            <a:extLst>
              <a:ext uri="{FF2B5EF4-FFF2-40B4-BE49-F238E27FC236}">
                <a16:creationId xmlns:a16="http://schemas.microsoft.com/office/drawing/2014/main" id="{B9DC6DFF-60E4-F178-5B37-6000D4E50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44450"/>
            <a:ext cx="10390716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2" name="Rectangle 10">
            <a:extLst>
              <a:ext uri="{FF2B5EF4-FFF2-40B4-BE49-F238E27FC236}">
                <a16:creationId xmlns:a16="http://schemas.microsoft.com/office/drawing/2014/main" id="{FDFA9082-E62F-8011-8E78-B0C6A7D82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557338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C16E1E50-18F6-6775-D426-A70E2F1672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20ABD90-6511-F9F9-6FEB-C583D831DE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D3BAC6EC-77F0-FE02-0EED-D75E9D06D5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54B6EAA-E9D4-4C3F-BD96-B989484856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61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336" y="54025"/>
            <a:ext cx="5544616" cy="535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90FE-894B-457E-9DA6-25D8C1A1A40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B52AD9-4007-0A7F-DD07-867B0B351EB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620688"/>
            <a:ext cx="12192000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80F6190-01F6-C173-D419-52747720630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336360" y="109670"/>
            <a:ext cx="2611437" cy="384175"/>
            <a:chOff x="4318608" y="5559022"/>
            <a:chExt cx="1957389" cy="385747"/>
          </a:xfrm>
        </p:grpSpPr>
        <p:sp>
          <p:nvSpPr>
            <p:cNvPr id="9" name="文本框 4">
              <a:extLst>
                <a:ext uri="{FF2B5EF4-FFF2-40B4-BE49-F238E27FC236}">
                  <a16:creationId xmlns:a16="http://schemas.microsoft.com/office/drawing/2014/main" id="{0C57414A-F354-0A10-7E16-D7DEC8AD4CB3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2E1F3B2-299D-D4F0-9A72-193C3442F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5952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.png"/><Relationship Id="rId4" Type="http://schemas.openxmlformats.org/officeDocument/2006/relationships/image" Target="../media/image8.wmf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11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3.png"/><Relationship Id="rId11" Type="http://schemas.openxmlformats.org/officeDocument/2006/relationships/image" Target="../media/image16.wmf"/><Relationship Id="rId5" Type="http://schemas.openxmlformats.org/officeDocument/2006/relationships/image" Target="../media/image12.wmf"/><Relationship Id="rId15" Type="http://schemas.openxmlformats.org/officeDocument/2006/relationships/image" Target="../media/image10.png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5.png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4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z02031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105" t="7144" b="28554"/>
          <a:stretch>
            <a:fillRect/>
          </a:stretch>
        </p:blipFill>
        <p:spPr bwMode="auto">
          <a:xfrm>
            <a:off x="1518712" y="4475505"/>
            <a:ext cx="4038600" cy="2057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-168696" y="879648"/>
            <a:ext cx="43148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（一） 静态分析</a:t>
            </a:r>
          </a:p>
        </p:txBody>
      </p:sp>
      <p:sp>
        <p:nvSpPr>
          <p:cNvPr id="16388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35360" y="156669"/>
            <a:ext cx="4572006" cy="53553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2.3.2</a:t>
            </a:r>
            <a:r>
              <a:rPr lang="en-US" altLang="zh-CN" sz="2800" b="1" dirty="0">
                <a:solidFill>
                  <a:srgbClr val="FF0000"/>
                </a:solidFill>
                <a:ea typeface="华文中宋" pitchFamily="2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ea typeface="华文中宋" pitchFamily="2" charset="-122"/>
              </a:rPr>
              <a:t>等效电路法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5608848" y="2838314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651395"/>
              </p:ext>
            </p:extLst>
          </p:nvPr>
        </p:nvGraphicFramePr>
        <p:xfrm>
          <a:off x="1631504" y="1574970"/>
          <a:ext cx="3419475" cy="263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44268" imgH="1654150" progId="Visio.Drawing.11">
                  <p:embed/>
                </p:oleObj>
              </mc:Choice>
              <mc:Fallback>
                <p:oleObj name="Visio" r:id="rId4" imgW="2144268" imgH="1654150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574970"/>
                        <a:ext cx="3419475" cy="263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300069"/>
              </p:ext>
            </p:extLst>
          </p:nvPr>
        </p:nvGraphicFramePr>
        <p:xfrm>
          <a:off x="7461436" y="1574970"/>
          <a:ext cx="2501900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552042" imgH="1654150" progId="Visio.Drawing.11">
                  <p:embed/>
                </p:oleObj>
              </mc:Choice>
              <mc:Fallback>
                <p:oleObj name="Visio" r:id="rId6" imgW="1552042" imgH="1654150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436" y="1574970"/>
                        <a:ext cx="2501900" cy="266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7176120" y="4653136"/>
            <a:ext cx="3816424" cy="1270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12V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510kΩ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3kΩ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DC520D-8052-5CD5-B93B-ACF98E9271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2877B-1D6C-0019-A17C-F8F5EF2D51C6}"/>
              </a:ext>
            </a:extLst>
          </p:cNvPr>
          <p:cNvGrpSpPr>
            <a:grpSpLocks/>
          </p:cNvGrpSpPr>
          <p:nvPr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EC44A13-4A67-4184-8A59-FC657A639708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F7D4D17-E01C-BFF7-726F-E14D7CFA24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25" grpId="0" animBg="1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21894" y="144496"/>
            <a:ext cx="8280920" cy="6413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+mn-ea"/>
                <a:ea typeface="+mn-ea"/>
              </a:rPr>
              <a:t>（二） 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zh-CN" sz="3200" dirty="0">
                <a:solidFill>
                  <a:srgbClr val="C00000"/>
                </a:solidFill>
                <a:latin typeface="+mn-ea"/>
                <a:ea typeface="+mn-ea"/>
              </a:rPr>
              <a:t>参数模型（</a:t>
            </a:r>
            <a:r>
              <a:rPr lang="zh-CN" altLang="en-US" sz="3200" b="1" dirty="0">
                <a:solidFill>
                  <a:srgbClr val="0070C0"/>
                </a:solidFill>
              </a:rPr>
              <a:t>低频小信号模型</a:t>
            </a:r>
            <a:r>
              <a:rPr lang="zh-CN" altLang="zh-CN" sz="3200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  <a:endParaRPr lang="zh-CN" altLang="en-US" sz="32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82948" name="Picture 4" descr="Dz02031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583" t="44037" r="29283" b="32111"/>
          <a:stretch>
            <a:fillRect/>
          </a:stretch>
        </p:blipFill>
        <p:spPr bwMode="auto">
          <a:xfrm>
            <a:off x="1441004" y="1050399"/>
            <a:ext cx="3048000" cy="1687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82949" name="Picture 5" descr="Dz0203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0550"/>
          <a:stretch>
            <a:fillRect/>
          </a:stretch>
        </p:blipFill>
        <p:spPr bwMode="auto">
          <a:xfrm>
            <a:off x="2135560" y="3276842"/>
            <a:ext cx="5982344" cy="279840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graphicFrame>
        <p:nvGraphicFramePr>
          <p:cNvPr id="8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872931"/>
              </p:ext>
            </p:extLst>
          </p:nvPr>
        </p:nvGraphicFramePr>
        <p:xfrm>
          <a:off x="6055611" y="1375222"/>
          <a:ext cx="2362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993600" imgH="11582400" progId="Equation.3">
                  <p:embed/>
                </p:oleObj>
              </mc:Choice>
              <mc:Fallback>
                <p:oleObj name="公式" r:id="rId5" imgW="24993600" imgH="115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611" y="1375222"/>
                        <a:ext cx="2362200" cy="10922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2B8E61A-A963-092A-6901-270FC035C5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976B50-AB3F-3FB4-5581-19EFCD42EEA3}"/>
              </a:ext>
            </a:extLst>
          </p:cNvPr>
          <p:cNvGrpSpPr>
            <a:grpSpLocks/>
          </p:cNvGrpSpPr>
          <p:nvPr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3829295-06A6-E3BE-4648-9CFC72BF89C0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CFAD21E-CD5A-9843-4781-0D803AC56ED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263AA98-7F09-D9BA-EFA5-57E128E8E0B4}"/>
              </a:ext>
            </a:extLst>
          </p:cNvPr>
          <p:cNvSpPr txBox="1"/>
          <p:nvPr/>
        </p:nvSpPr>
        <p:spPr>
          <a:xfrm>
            <a:off x="2295590" y="2737912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双端口网络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99CE6C-49C9-F2D9-FC43-B51B60D3C25F}"/>
              </a:ext>
            </a:extLst>
          </p:cNvPr>
          <p:cNvSpPr txBox="1"/>
          <p:nvPr/>
        </p:nvSpPr>
        <p:spPr>
          <a:xfrm>
            <a:off x="6456040" y="2687466"/>
            <a:ext cx="11079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特性方程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257B4E-01C4-7A81-C71F-35EA659C6603}"/>
              </a:ext>
            </a:extLst>
          </p:cNvPr>
          <p:cNvSpPr txBox="1"/>
          <p:nvPr/>
        </p:nvSpPr>
        <p:spPr>
          <a:xfrm>
            <a:off x="2564522" y="6162684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输入特性曲线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2675F3-FC11-9256-AFFA-76D26444F426}"/>
              </a:ext>
            </a:extLst>
          </p:cNvPr>
          <p:cNvSpPr txBox="1"/>
          <p:nvPr/>
        </p:nvSpPr>
        <p:spPr>
          <a:xfrm>
            <a:off x="5671210" y="6214742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输出特性曲线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170667"/>
              </p:ext>
            </p:extLst>
          </p:nvPr>
        </p:nvGraphicFramePr>
        <p:xfrm>
          <a:off x="8583464" y="1868476"/>
          <a:ext cx="26638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0" imgH="12192000" progId="Equation.3">
                  <p:embed/>
                </p:oleObj>
              </mc:Choice>
              <mc:Fallback>
                <p:oleObj name="Equation" r:id="rId3" imgW="30480000" imgH="121920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3464" y="1868476"/>
                        <a:ext cx="2663825" cy="10636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AutoShape 4"/>
          <p:cNvSpPr>
            <a:spLocks noChangeArrowheads="1"/>
          </p:cNvSpPr>
          <p:nvPr/>
        </p:nvSpPr>
        <p:spPr bwMode="auto">
          <a:xfrm>
            <a:off x="7526189" y="219747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651200"/>
              </p:ext>
            </p:extLst>
          </p:nvPr>
        </p:nvGraphicFramePr>
        <p:xfrm>
          <a:off x="3258989" y="1413657"/>
          <a:ext cx="4191000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730400" imgH="21945600" progId="Equation.3">
                  <p:embed/>
                </p:oleObj>
              </mc:Choice>
              <mc:Fallback>
                <p:oleObj name="Equation" r:id="rId5" imgW="52730400" imgH="21945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8989" y="1413657"/>
                        <a:ext cx="4191000" cy="174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4999" name="Picture 7" descr="Dz02031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24000"/>
          </a:blip>
          <a:srcRect l="14812" t="67703" r="15804" b="5997"/>
          <a:stretch>
            <a:fillRect/>
          </a:stretch>
        </p:blipFill>
        <p:spPr bwMode="auto">
          <a:xfrm>
            <a:off x="3732213" y="4151314"/>
            <a:ext cx="5283776" cy="237403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335360" y="3753722"/>
            <a:ext cx="4032448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/>
              <a:t>参数等效模型（等效电路）</a:t>
            </a:r>
          </a:p>
        </p:txBody>
      </p:sp>
      <p:sp>
        <p:nvSpPr>
          <p:cNvPr id="85001" name="AutoShape 9"/>
          <p:cNvSpPr>
            <a:spLocks/>
          </p:cNvSpPr>
          <p:nvPr/>
        </p:nvSpPr>
        <p:spPr bwMode="auto">
          <a:xfrm>
            <a:off x="8211989" y="1284276"/>
            <a:ext cx="990600" cy="509587"/>
          </a:xfrm>
          <a:prstGeom prst="borderCallout2">
            <a:avLst>
              <a:gd name="adj1" fmla="val 22431"/>
              <a:gd name="adj2" fmla="val 107694"/>
              <a:gd name="adj3" fmla="val 22431"/>
              <a:gd name="adj4" fmla="val 126282"/>
              <a:gd name="adj5" fmla="val 141120"/>
              <a:gd name="adj6" fmla="val 145671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电阻</a:t>
            </a:r>
          </a:p>
        </p:txBody>
      </p:sp>
      <p:sp>
        <p:nvSpPr>
          <p:cNvPr id="85002" name="AutoShape 10"/>
          <p:cNvSpPr>
            <a:spLocks/>
          </p:cNvSpPr>
          <p:nvPr/>
        </p:nvSpPr>
        <p:spPr bwMode="auto">
          <a:xfrm>
            <a:off x="10726589" y="1360475"/>
            <a:ext cx="1219200" cy="457200"/>
          </a:xfrm>
          <a:prstGeom prst="borderCallout2">
            <a:avLst>
              <a:gd name="adj1" fmla="val 25000"/>
              <a:gd name="adj2" fmla="val -6250"/>
              <a:gd name="adj3" fmla="val 25000"/>
              <a:gd name="adj4" fmla="val -11458"/>
              <a:gd name="adj5" fmla="val 137500"/>
              <a:gd name="adj6" fmla="val -16667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无量纲</a:t>
            </a:r>
          </a:p>
        </p:txBody>
      </p:sp>
      <p:sp>
        <p:nvSpPr>
          <p:cNvPr id="85003" name="AutoShape 11"/>
          <p:cNvSpPr>
            <a:spLocks/>
          </p:cNvSpPr>
          <p:nvPr/>
        </p:nvSpPr>
        <p:spPr bwMode="auto">
          <a:xfrm>
            <a:off x="8059589" y="3036875"/>
            <a:ext cx="1219200" cy="457200"/>
          </a:xfrm>
          <a:prstGeom prst="borderCallout2">
            <a:avLst>
              <a:gd name="adj1" fmla="val 25000"/>
              <a:gd name="adj2" fmla="val 106250"/>
              <a:gd name="adj3" fmla="val 25000"/>
              <a:gd name="adj4" fmla="val 117056"/>
              <a:gd name="adj5" fmla="val -51042"/>
              <a:gd name="adj6" fmla="val 128384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无量纲</a:t>
            </a:r>
          </a:p>
        </p:txBody>
      </p:sp>
      <p:sp>
        <p:nvSpPr>
          <p:cNvPr id="85004" name="AutoShape 12"/>
          <p:cNvSpPr>
            <a:spLocks/>
          </p:cNvSpPr>
          <p:nvPr/>
        </p:nvSpPr>
        <p:spPr bwMode="auto">
          <a:xfrm>
            <a:off x="10726589" y="3036876"/>
            <a:ext cx="990600" cy="509587"/>
          </a:xfrm>
          <a:prstGeom prst="borderCallout2">
            <a:avLst>
              <a:gd name="adj1" fmla="val 22431"/>
              <a:gd name="adj2" fmla="val -7694"/>
              <a:gd name="adj3" fmla="val 22431"/>
              <a:gd name="adj4" fmla="val -13620"/>
              <a:gd name="adj5" fmla="val -50778"/>
              <a:gd name="adj6" fmla="val -20032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电导</a:t>
            </a:r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801146"/>
              </p:ext>
            </p:extLst>
          </p:nvPr>
        </p:nvGraphicFramePr>
        <p:xfrm>
          <a:off x="221159" y="1856219"/>
          <a:ext cx="2362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993600" imgH="11582400" progId="Equation.3">
                  <p:embed/>
                </p:oleObj>
              </mc:Choice>
              <mc:Fallback>
                <p:oleObj name="公式" r:id="rId8" imgW="24993600" imgH="11582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59" y="1856219"/>
                        <a:ext cx="2362200" cy="10922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z="1800">
                <a:solidFill>
                  <a:srgbClr val="C00000"/>
                </a:solidFill>
              </a:rPr>
              <a:pPr>
                <a:defRPr/>
              </a:pPr>
              <a:t>3</a:t>
            </a:fld>
            <a:endParaRPr lang="en-US" altLang="zh-CN" sz="1800" dirty="0">
              <a:solidFill>
                <a:srgbClr val="C00000"/>
              </a:solidFill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CF3F0490-6BC3-954C-7C7D-73332DD63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589" y="2176361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4592ED5-F801-69DD-D439-D5DA142BD0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764704"/>
            <a:ext cx="12111223" cy="0"/>
          </a:xfrm>
          <a:prstGeom prst="line">
            <a:avLst/>
          </a:prstGeom>
          <a:noFill/>
          <a:ln w="38100" cmpd="dbl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770243-03E4-0DB3-0228-ABB6B1D536F2}"/>
              </a:ext>
            </a:extLst>
          </p:cNvPr>
          <p:cNvGrpSpPr>
            <a:grpSpLocks/>
          </p:cNvGrpSpPr>
          <p:nvPr/>
        </p:nvGrpSpPr>
        <p:grpSpPr bwMode="auto">
          <a:xfrm>
            <a:off x="9153711" y="236066"/>
            <a:ext cx="2611437" cy="384175"/>
            <a:chOff x="4318608" y="5559022"/>
            <a:chExt cx="1957389" cy="38574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74B4299-FED2-A17D-B70B-187112CF2E7E}"/>
                </a:ext>
              </a:extLst>
            </p:cNvPr>
            <p:cNvSpPr txBox="1"/>
            <p:nvPr userDrawn="1"/>
          </p:nvSpPr>
          <p:spPr>
            <a:xfrm>
              <a:off x="4925458" y="5559022"/>
              <a:ext cx="1350539" cy="3857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defRPr/>
              </a:pPr>
              <a:r>
                <a:rPr lang="zh-CN" altLang="en-US" sz="140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哈尔滨工业大学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(</a:t>
              </a:r>
              <a:r>
                <a:rPr lang="zh-CN" altLang="en-US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深圳</a:t>
              </a:r>
              <a:r>
                <a:rPr lang="en-US" altLang="zh-CN" sz="1050" dirty="0">
                  <a:solidFill>
                    <a:srgbClr val="0E668C"/>
                  </a:solidFill>
                  <a:ea typeface="华文楷体" panose="02010600040101010101" pitchFamily="2" charset="-122"/>
                </a:rPr>
                <a:t>)</a:t>
              </a:r>
            </a:p>
            <a:p>
              <a:pPr algn="just">
                <a:defRPr/>
              </a:pPr>
              <a:r>
                <a:rPr lang="en-US" altLang="zh-CN" sz="500" dirty="0">
                  <a:solidFill>
                    <a:srgbClr val="0E668C"/>
                  </a:solidFill>
                  <a:ea typeface="华光报宋_CNKI" panose="02000500000000000000" pitchFamily="2" charset="-122"/>
                </a:rPr>
                <a:t>HARBIN INSTITUTE OF TECHNOLOGY, SHENZHEN</a:t>
              </a:r>
              <a:endParaRPr lang="zh-CN" altLang="en-US" sz="500" dirty="0">
                <a:solidFill>
                  <a:srgbClr val="0E668C"/>
                </a:solidFill>
                <a:ea typeface="华光报宋_CNKI" panose="02000500000000000000" pitchFamily="2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53F3C20-5DED-5628-446C-456C9114CF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8608" y="5559022"/>
              <a:ext cx="436762" cy="38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5FB11757-1FF8-B1CE-5909-A651CEB27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21894" y="144496"/>
            <a:ext cx="8280920" cy="6413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+mn-ea"/>
                <a:ea typeface="+mn-ea"/>
              </a:rPr>
              <a:t>（二） 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zh-CN" sz="3200" dirty="0">
                <a:solidFill>
                  <a:srgbClr val="C00000"/>
                </a:solidFill>
                <a:latin typeface="+mn-ea"/>
                <a:ea typeface="+mn-ea"/>
              </a:rPr>
              <a:t>参数模型（</a:t>
            </a:r>
            <a:r>
              <a:rPr lang="zh-CN" altLang="en-US" sz="3200" b="1" dirty="0">
                <a:solidFill>
                  <a:srgbClr val="0070C0"/>
                </a:solidFill>
              </a:rPr>
              <a:t>低频小信号模型</a:t>
            </a:r>
            <a:r>
              <a:rPr lang="zh-CN" altLang="zh-CN" sz="3200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  <a:endParaRPr lang="zh-CN" altLang="en-US" sz="32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766C82-51D6-7D3A-0DC7-DE54AE31512C}"/>
              </a:ext>
            </a:extLst>
          </p:cNvPr>
          <p:cNvSpPr txBox="1"/>
          <p:nvPr/>
        </p:nvSpPr>
        <p:spPr>
          <a:xfrm>
            <a:off x="9143484" y="3560264"/>
            <a:ext cx="122341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dirty="0"/>
              <a:t>参数方程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8" grpId="0" animBg="1"/>
      <p:bldP spid="85000" grpId="0" build="p" autoUpdateAnimBg="0"/>
      <p:bldP spid="85001" grpId="0" animBg="1" autoUpdateAnimBg="0"/>
      <p:bldP spid="85002" grpId="0" animBg="1" autoUpdateAnimBg="0"/>
      <p:bldP spid="85003" grpId="0" animBg="1" autoUpdateAnimBg="0"/>
      <p:bldP spid="85004" grpId="0" animBg="1" autoUpdateAnimBg="0"/>
      <p:bldP spid="2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1344" y="134916"/>
            <a:ext cx="2612767" cy="609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sz="2400" b="1" dirty="0"/>
              <a:t>参数的物理意义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4</a:t>
            </a:fld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019" name="Picture 3" descr="Dz020313"/>
          <p:cNvPicPr>
            <a:picLocks noChangeAspect="1" noChangeArrowheads="1"/>
          </p:cNvPicPr>
          <p:nvPr/>
        </p:nvPicPr>
        <p:blipFill>
          <a:blip r:embed="rId3"/>
          <a:srcRect r="54794" b="53064"/>
          <a:stretch>
            <a:fillRect/>
          </a:stretch>
        </p:blipFill>
        <p:spPr bwMode="auto">
          <a:xfrm>
            <a:off x="208294" y="823891"/>
            <a:ext cx="2514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071824"/>
              </p:ext>
            </p:extLst>
          </p:nvPr>
        </p:nvGraphicFramePr>
        <p:xfrm>
          <a:off x="431800" y="2951805"/>
          <a:ext cx="1854200" cy="666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651200" imgH="10363200" progId="Equation.3">
                  <p:embed/>
                </p:oleObj>
              </mc:Choice>
              <mc:Fallback>
                <p:oleObj name="公式" r:id="rId4" imgW="28651200" imgH="10363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951805"/>
                        <a:ext cx="1854200" cy="666711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021" name="Picture 5" descr="Dz020313"/>
          <p:cNvPicPr>
            <a:picLocks noChangeAspect="1" noChangeArrowheads="1"/>
          </p:cNvPicPr>
          <p:nvPr/>
        </p:nvPicPr>
        <p:blipFill>
          <a:blip r:embed="rId6"/>
          <a:srcRect l="58904" b="53064"/>
          <a:stretch>
            <a:fillRect/>
          </a:stretch>
        </p:blipFill>
        <p:spPr bwMode="auto">
          <a:xfrm>
            <a:off x="3863752" y="741341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432838"/>
              </p:ext>
            </p:extLst>
          </p:nvPr>
        </p:nvGraphicFramePr>
        <p:xfrm>
          <a:off x="4106640" y="2951805"/>
          <a:ext cx="14478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116800" imgH="10363200" progId="Equation.3">
                  <p:embed/>
                </p:oleObj>
              </mc:Choice>
              <mc:Fallback>
                <p:oleObj name="公式" r:id="rId7" imgW="20116800" imgH="10363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640" y="2951805"/>
                        <a:ext cx="1447800" cy="7429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023" name="Picture 7" descr="Dz020313"/>
          <p:cNvPicPr>
            <a:picLocks noChangeAspect="1" noChangeArrowheads="1"/>
          </p:cNvPicPr>
          <p:nvPr/>
        </p:nvPicPr>
        <p:blipFill>
          <a:blip r:embed="rId9"/>
          <a:srcRect t="51630" r="54794" b="9258"/>
          <a:stretch>
            <a:fillRect/>
          </a:stretch>
        </p:blipFill>
        <p:spPr bwMode="auto">
          <a:xfrm>
            <a:off x="0" y="3663008"/>
            <a:ext cx="2819400" cy="213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26698"/>
              </p:ext>
            </p:extLst>
          </p:nvPr>
        </p:nvGraphicFramePr>
        <p:xfrm>
          <a:off x="551194" y="5844275"/>
          <a:ext cx="18288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908000" imgH="10363200" progId="Equation.3">
                  <p:embed/>
                </p:oleObj>
              </mc:Choice>
              <mc:Fallback>
                <p:oleObj name="公式" r:id="rId10" imgW="25908000" imgH="103632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94" y="5844275"/>
                        <a:ext cx="1828800" cy="72866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025" name="Picture 9" descr="Dz020313"/>
          <p:cNvPicPr>
            <a:picLocks noChangeAspect="1" noChangeArrowheads="1"/>
          </p:cNvPicPr>
          <p:nvPr/>
        </p:nvPicPr>
        <p:blipFill>
          <a:blip r:embed="rId12"/>
          <a:srcRect l="52055" t="51630" b="4564"/>
          <a:stretch>
            <a:fillRect/>
          </a:stretch>
        </p:blipFill>
        <p:spPr bwMode="auto">
          <a:xfrm>
            <a:off x="3367088" y="3769822"/>
            <a:ext cx="2743200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6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43116"/>
              </p:ext>
            </p:extLst>
          </p:nvPr>
        </p:nvGraphicFramePr>
        <p:xfrm>
          <a:off x="4235256" y="6006463"/>
          <a:ext cx="19954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736800" imgH="10363200" progId="Equation.3">
                  <p:embed/>
                </p:oleObj>
              </mc:Choice>
              <mc:Fallback>
                <p:oleObj name="Equation" r:id="rId13" imgW="27736800" imgH="10363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256" y="6006463"/>
                        <a:ext cx="1995487" cy="7429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AutoShape 11"/>
          <p:cNvSpPr>
            <a:spLocks/>
          </p:cNvSpPr>
          <p:nvPr/>
        </p:nvSpPr>
        <p:spPr bwMode="auto">
          <a:xfrm>
            <a:off x="2155417" y="1966891"/>
            <a:ext cx="1828800" cy="381000"/>
          </a:xfrm>
          <a:prstGeom prst="borderCallout2">
            <a:avLst>
              <a:gd name="adj1" fmla="val 43798"/>
              <a:gd name="adj2" fmla="val 806"/>
              <a:gd name="adj3" fmla="val 27645"/>
              <a:gd name="adj4" fmla="val -9238"/>
              <a:gd name="adj5" fmla="val -2225"/>
              <a:gd name="adj6" fmla="val -16852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00"/>
                </a:solidFill>
              </a:rPr>
              <a:t>发射结动态电阻</a:t>
            </a:r>
          </a:p>
        </p:txBody>
      </p:sp>
      <p:sp>
        <p:nvSpPr>
          <p:cNvPr id="86028" name="AutoShape 12"/>
          <p:cNvSpPr>
            <a:spLocks/>
          </p:cNvSpPr>
          <p:nvPr/>
        </p:nvSpPr>
        <p:spPr bwMode="auto">
          <a:xfrm>
            <a:off x="5737742" y="1537643"/>
            <a:ext cx="1309687" cy="634829"/>
          </a:xfrm>
          <a:prstGeom prst="borderCallout2">
            <a:avLst>
              <a:gd name="adj1" fmla="val 59811"/>
              <a:gd name="adj2" fmla="val 1473"/>
              <a:gd name="adj3" fmla="val 50241"/>
              <a:gd name="adj4" fmla="val -9842"/>
              <a:gd name="adj5" fmla="val 33829"/>
              <a:gd name="adj6" fmla="val -27606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/>
              <a:t>内部电压反馈系数</a:t>
            </a:r>
          </a:p>
        </p:txBody>
      </p:sp>
      <p:sp>
        <p:nvSpPr>
          <p:cNvPr id="86029" name="AutoShape 13"/>
          <p:cNvSpPr>
            <a:spLocks/>
          </p:cNvSpPr>
          <p:nvPr/>
        </p:nvSpPr>
        <p:spPr bwMode="auto">
          <a:xfrm>
            <a:off x="2423592" y="6325641"/>
            <a:ext cx="1649760" cy="381000"/>
          </a:xfrm>
          <a:prstGeom prst="borderCallout2">
            <a:avLst>
              <a:gd name="adj1" fmla="val 30000"/>
              <a:gd name="adj2" fmla="val -3847"/>
              <a:gd name="adj3" fmla="val 30000"/>
              <a:gd name="adj4" fmla="val -5690"/>
              <a:gd name="adj5" fmla="val -4872"/>
              <a:gd name="adj6" fmla="val -16754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/>
              <a:t>电流放大系数</a:t>
            </a:r>
          </a:p>
        </p:txBody>
      </p:sp>
      <p:sp>
        <p:nvSpPr>
          <p:cNvPr id="86030" name="AutoShape 14"/>
          <p:cNvSpPr>
            <a:spLocks/>
          </p:cNvSpPr>
          <p:nvPr/>
        </p:nvSpPr>
        <p:spPr bwMode="auto">
          <a:xfrm>
            <a:off x="6458000" y="6287862"/>
            <a:ext cx="1724025" cy="381000"/>
          </a:xfrm>
          <a:prstGeom prst="borderCallout2">
            <a:avLst>
              <a:gd name="adj1" fmla="val 30000"/>
              <a:gd name="adj2" fmla="val -4421"/>
              <a:gd name="adj3" fmla="val 30000"/>
              <a:gd name="adj4" fmla="val -9759"/>
              <a:gd name="adj5" fmla="val 19327"/>
              <a:gd name="adj6" fmla="val -13340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2000" dirty="0"/>
              <a:t>c-e</a:t>
            </a:r>
            <a:r>
              <a:rPr lang="zh-CN" altLang="en-US" sz="2000" dirty="0"/>
              <a:t>间的电导</a:t>
            </a:r>
          </a:p>
        </p:txBody>
      </p:sp>
      <p:pic>
        <p:nvPicPr>
          <p:cNvPr id="16" name="Picture 7" descr="Dz020312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24000"/>
          </a:blip>
          <a:srcRect l="14812" t="67703" r="15804" b="5997"/>
          <a:stretch>
            <a:fillRect/>
          </a:stretch>
        </p:blipFill>
        <p:spPr bwMode="auto">
          <a:xfrm>
            <a:off x="7428430" y="1625357"/>
            <a:ext cx="4572000" cy="2054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17" name="Picture 3" descr="Dz020314"/>
          <p:cNvPicPr>
            <a:picLocks noChangeAspect="1" noChangeArrowheads="1"/>
          </p:cNvPicPr>
          <p:nvPr/>
        </p:nvPicPr>
        <p:blipFill>
          <a:blip r:embed="rId16"/>
          <a:srcRect b="-6210"/>
          <a:stretch>
            <a:fillRect/>
          </a:stretch>
        </p:blipFill>
        <p:spPr bwMode="auto">
          <a:xfrm>
            <a:off x="8234654" y="4378475"/>
            <a:ext cx="3124200" cy="18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7" grpId="0" animBg="1" autoUpdateAnimBg="0"/>
      <p:bldP spid="86028" grpId="0" animBg="1" autoUpdateAnimBg="0"/>
      <p:bldP spid="86029" grpId="0" animBg="1" autoUpdateAnimBg="0"/>
      <p:bldP spid="86030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399" y="351611"/>
            <a:ext cx="7073900" cy="609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zh-CN" altLang="zh-CN" sz="2800" b="1" dirty="0">
                <a:latin typeface="宋体" pitchFamily="2" charset="-122"/>
              </a:rPr>
              <a:t>简化的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sz="2800" b="1" dirty="0">
                <a:latin typeface="宋体" pitchFamily="2" charset="-122"/>
              </a:rPr>
              <a:t>参数等效电路－</a:t>
            </a:r>
            <a:r>
              <a:rPr lang="zh-CN" altLang="en-US" sz="2800" b="1" dirty="0">
                <a:latin typeface="宋体" pitchFamily="2" charset="-122"/>
              </a:rPr>
              <a:t>微变等效电路</a:t>
            </a:r>
            <a:endParaRPr lang="zh-CN" altLang="zh-CN" sz="2800" b="1" dirty="0">
              <a:latin typeface="宋体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87043" name="Picture 3" descr="Dz020314"/>
          <p:cNvPicPr>
            <a:picLocks noChangeAspect="1" noChangeArrowheads="1"/>
          </p:cNvPicPr>
          <p:nvPr/>
        </p:nvPicPr>
        <p:blipFill>
          <a:blip r:embed="rId3"/>
          <a:srcRect b="-6210"/>
          <a:stretch>
            <a:fillRect/>
          </a:stretch>
        </p:blipFill>
        <p:spPr bwMode="auto">
          <a:xfrm>
            <a:off x="1415480" y="1317748"/>
            <a:ext cx="3124200" cy="18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159945"/>
              </p:ext>
            </p:extLst>
          </p:nvPr>
        </p:nvGraphicFramePr>
        <p:xfrm>
          <a:off x="1476724" y="4970685"/>
          <a:ext cx="56165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560" imgH="444240" progId="Equation.DSMT4">
                  <p:embed/>
                </p:oleObj>
              </mc:Choice>
              <mc:Fallback>
                <p:oleObj name="Equation" r:id="rId4" imgW="2590560" imgH="4442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24" y="4970685"/>
                        <a:ext cx="5616575" cy="11938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480214"/>
              </p:ext>
            </p:extLst>
          </p:nvPr>
        </p:nvGraphicFramePr>
        <p:xfrm>
          <a:off x="5638800" y="1104035"/>
          <a:ext cx="2343150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8276190" imgH="9057143" progId="">
                  <p:embed/>
                </p:oleObj>
              </mc:Choice>
              <mc:Fallback>
                <p:oleObj name="Photo Editor 照片" r:id="rId6" imgW="8276190" imgH="9057143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104035"/>
                        <a:ext cx="2343150" cy="256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151814" y="980728"/>
            <a:ext cx="2079625" cy="1800225"/>
            <a:chOff x="4162" y="720"/>
            <a:chExt cx="1310" cy="1134"/>
          </a:xfrm>
        </p:grpSpPr>
        <p:sp>
          <p:nvSpPr>
            <p:cNvPr id="21517" name="AutoShape 8"/>
            <p:cNvSpPr>
              <a:spLocks/>
            </p:cNvSpPr>
            <p:nvPr/>
          </p:nvSpPr>
          <p:spPr bwMode="auto">
            <a:xfrm>
              <a:off x="4176" y="720"/>
              <a:ext cx="868" cy="212"/>
            </a:xfrm>
            <a:prstGeom prst="borderCallout1">
              <a:avLst>
                <a:gd name="adj1" fmla="val 24324"/>
                <a:gd name="adj2" fmla="val -4329"/>
                <a:gd name="adj3" fmla="val 240268"/>
                <a:gd name="adj4" fmla="val -94970"/>
              </a:avLst>
            </a:prstGeom>
            <a:solidFill>
              <a:srgbClr val="FFFFCC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b="1" dirty="0"/>
                <a:t>基区体电阻</a:t>
              </a:r>
            </a:p>
          </p:txBody>
        </p:sp>
        <p:sp>
          <p:nvSpPr>
            <p:cNvPr id="21518" name="AutoShape 9"/>
            <p:cNvSpPr>
              <a:spLocks/>
            </p:cNvSpPr>
            <p:nvPr/>
          </p:nvSpPr>
          <p:spPr bwMode="auto">
            <a:xfrm>
              <a:off x="4162" y="1080"/>
              <a:ext cx="868" cy="212"/>
            </a:xfrm>
            <a:prstGeom prst="borderCallout1">
              <a:avLst>
                <a:gd name="adj1" fmla="val 23079"/>
                <a:gd name="adj2" fmla="val -4292"/>
                <a:gd name="adj3" fmla="val 180115"/>
                <a:gd name="adj4" fmla="val -62917"/>
              </a:avLst>
            </a:prstGeom>
            <a:solidFill>
              <a:srgbClr val="FFFFCC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b="1" dirty="0"/>
                <a:t>发射结电阻</a:t>
              </a:r>
            </a:p>
          </p:txBody>
        </p:sp>
        <p:sp>
          <p:nvSpPr>
            <p:cNvPr id="21519" name="AutoShape 10"/>
            <p:cNvSpPr>
              <a:spLocks/>
            </p:cNvSpPr>
            <p:nvPr/>
          </p:nvSpPr>
          <p:spPr bwMode="auto">
            <a:xfrm>
              <a:off x="4171" y="1446"/>
              <a:ext cx="1301" cy="408"/>
            </a:xfrm>
            <a:prstGeom prst="borderCallout1">
              <a:avLst>
                <a:gd name="adj1" fmla="val 13792"/>
                <a:gd name="adj2" fmla="val -3690"/>
                <a:gd name="adj3" fmla="val 80269"/>
                <a:gd name="adj4" fmla="val -31051"/>
              </a:avLst>
            </a:prstGeom>
            <a:solidFill>
              <a:srgbClr val="FFFFCC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zh-CN" altLang="en-US" b="1" dirty="0"/>
                <a:t>发射区体电阻</a:t>
              </a:r>
              <a:endParaRPr lang="en-US" altLang="zh-CN" b="1" dirty="0"/>
            </a:p>
            <a:p>
              <a:r>
                <a:rPr lang="zh-CN" altLang="en-US" b="1" dirty="0">
                  <a:solidFill>
                    <a:srgbClr val="C00000"/>
                  </a:solidFill>
                </a:rPr>
                <a:t>数值小可忽略</a:t>
              </a:r>
            </a:p>
          </p:txBody>
        </p:sp>
      </p:grp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690B6DD-3297-90EB-52B1-8B6D55CEC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127299"/>
              </p:ext>
            </p:extLst>
          </p:nvPr>
        </p:nvGraphicFramePr>
        <p:xfrm>
          <a:off x="1559496" y="3853746"/>
          <a:ext cx="22574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1120" imgH="368280" progId="Equation.DSMT4">
                  <p:embed/>
                </p:oleObj>
              </mc:Choice>
              <mc:Fallback>
                <p:oleObj name="Equation" r:id="rId8" imgW="1041120" imgH="368280" progId="Equation.DSMT4">
                  <p:embed/>
                  <p:pic>
                    <p:nvPicPr>
                      <p:cNvPr id="870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3853746"/>
                        <a:ext cx="2257425" cy="9906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51CC7A-E89C-9CC0-BD66-28DE49728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160629"/>
              </p:ext>
            </p:extLst>
          </p:nvPr>
        </p:nvGraphicFramePr>
        <p:xfrm>
          <a:off x="4257337" y="3853746"/>
          <a:ext cx="3580432" cy="895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0320" imgH="482400" progId="Equation.DSMT4">
                  <p:embed/>
                </p:oleObj>
              </mc:Choice>
              <mc:Fallback>
                <p:oleObj name="Equation" r:id="rId10" imgW="19303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57337" y="3853746"/>
                        <a:ext cx="3580432" cy="895108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E9025FD0-06E2-F66D-9DDB-6AEEE26964AA}"/>
              </a:ext>
            </a:extLst>
          </p:cNvPr>
          <p:cNvSpPr/>
          <p:nvPr/>
        </p:nvSpPr>
        <p:spPr>
          <a:xfrm>
            <a:off x="7608168" y="5805263"/>
            <a:ext cx="3580432" cy="916211"/>
          </a:xfrm>
          <a:prstGeom prst="wedgeRoundRectCallout">
            <a:avLst>
              <a:gd name="adj1" fmla="val -66130"/>
              <a:gd name="adj2" fmla="val -3801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先求出静态值，再求动态参数；动态参数与静态工作点有关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 descr="Dz020205"/>
          <p:cNvPicPr>
            <a:picLocks noChangeAspect="1" noChangeArrowheads="1"/>
          </p:cNvPicPr>
          <p:nvPr/>
        </p:nvPicPr>
        <p:blipFill>
          <a:blip r:embed="rId3" cstate="print"/>
          <a:srcRect l="-2573" r="40826" b="12106"/>
          <a:stretch>
            <a:fillRect/>
          </a:stretch>
        </p:blipFill>
        <p:spPr bwMode="auto">
          <a:xfrm>
            <a:off x="2063750" y="1000108"/>
            <a:ext cx="3797300" cy="2724150"/>
          </a:xfrm>
          <a:prstGeom prst="rect">
            <a:avLst/>
          </a:prstGeom>
          <a:noFill/>
        </p:spPr>
      </p:pic>
      <p:sp>
        <p:nvSpPr>
          <p:cNvPr id="90115" name="Rectangle 3"/>
          <p:cNvSpPr>
            <a:spLocks noGrp="1" noChangeArrowheads="1"/>
          </p:cNvSpPr>
          <p:nvPr>
            <p:ph type="title"/>
          </p:nvPr>
        </p:nvSpPr>
        <p:spPr>
          <a:xfrm>
            <a:off x="263352" y="234712"/>
            <a:ext cx="7772400" cy="63817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 b="1" dirty="0">
                <a:latin typeface="宋体" panose="02010600030101010101" pitchFamily="2" charset="-122"/>
              </a:rPr>
              <a:t>（三）</a:t>
            </a:r>
            <a:r>
              <a:rPr lang="zh-CN" altLang="zh-CN" sz="2800" b="1" dirty="0">
                <a:latin typeface="宋体" panose="02010600030101010101" pitchFamily="2" charset="-122"/>
              </a:rPr>
              <a:t>共射放大电路的动态分析</a:t>
            </a:r>
            <a:r>
              <a:rPr lang="zh-CN" altLang="en-US" sz="2800" b="1" dirty="0">
                <a:latin typeface="宋体" panose="02010600030101010101" pitchFamily="2" charset="-122"/>
              </a:rPr>
              <a:t>（微变等效电路法）</a:t>
            </a:r>
          </a:p>
        </p:txBody>
      </p:sp>
      <p:graphicFrame>
        <p:nvGraphicFramePr>
          <p:cNvPr id="90123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1524000" y="2262188"/>
          <a:ext cx="622300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2314286" imgH="4544059" progId="">
                  <p:embed/>
                </p:oleObj>
              </mc:Choice>
              <mc:Fallback>
                <p:oleObj name="Photo Editor 照片" r:id="rId4" imgW="2314286" imgH="4544059" progId="">
                  <p:embed/>
                  <p:pic>
                    <p:nvPicPr>
                      <p:cNvPr id="0" name="Picture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62188"/>
                        <a:ext cx="622300" cy="1220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90116" name="Picture 4" descr="Dz0203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89737" y="3908187"/>
            <a:ext cx="4571998" cy="1304846"/>
          </a:xfrm>
          <a:prstGeom prst="rect">
            <a:avLst/>
          </a:prstGeom>
          <a:blipFill dpi="0" rotWithShape="0">
            <a:blip r:embed="rId7"/>
            <a:srcRect/>
            <a:tile tx="0" ty="0" sx="100000" sy="100000" flip="none" algn="tl"/>
          </a:blipFill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981674" y="2643174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Arial" charset="0"/>
              </a:rPr>
              <a:t>交流通路</a:t>
            </a: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6269012" y="2355835"/>
            <a:ext cx="720725" cy="287338"/>
          </a:xfrm>
          <a:prstGeom prst="rightArrow">
            <a:avLst>
              <a:gd name="adj1" fmla="val 50000"/>
              <a:gd name="adj2" fmla="val 100389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0765"/>
              </p:ext>
            </p:extLst>
          </p:nvPr>
        </p:nvGraphicFramePr>
        <p:xfrm>
          <a:off x="7498246" y="1203325"/>
          <a:ext cx="3203575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055330" imgH="1356956" progId="Visio.Drawing.11">
                  <p:embed/>
                </p:oleObj>
              </mc:Choice>
              <mc:Fallback>
                <p:oleObj name="Visio" r:id="rId8" imgW="2055330" imgH="1356956" progId="Visio.Drawing.1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246" y="1203325"/>
                        <a:ext cx="3203575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119336" y="3962611"/>
            <a:ext cx="6264696" cy="141891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2.3.3】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P82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页）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12V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510kΩ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=3kΩ 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2kΩ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=150Ω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80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计算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 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om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D89D96-CD1D-1043-9645-13345989F505}"/>
              </a:ext>
            </a:extLst>
          </p:cNvPr>
          <p:cNvSpPr txBox="1"/>
          <p:nvPr/>
        </p:nvSpPr>
        <p:spPr>
          <a:xfrm>
            <a:off x="263352" y="5857892"/>
            <a:ext cx="4615960" cy="3721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=1.33kΩ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90,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36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，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om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=2.66V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8FE2C064-2027-EDFF-E1CB-B462495CD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1313" y="5384581"/>
            <a:ext cx="21174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Arial" charset="0"/>
              </a:rPr>
              <a:t>微变等效电路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FF339CA0-BFE6-450F-54EA-5B321C6276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37941" y="3408303"/>
            <a:ext cx="474140" cy="287338"/>
          </a:xfrm>
          <a:prstGeom prst="rightArrow">
            <a:avLst>
              <a:gd name="adj1" fmla="val 50000"/>
              <a:gd name="adj2" fmla="val 100389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33" grpId="0" animBg="1"/>
      <p:bldP spid="4" grpId="0" animBg="1"/>
      <p:bldP spid="3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692B9-39FD-D64D-F043-7C89A9E4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D9847-5154-7F78-0C0D-94411BCC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1AB239-3E55-4CC4-83AF-3DE6D068320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0C7657-B68D-2A44-C5C8-03A081D296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-54025"/>
            <a:ext cx="51435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0D795A-1ABB-B76C-73FB-39F3C798E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14413" y="1576379"/>
            <a:ext cx="4527104" cy="6036138"/>
          </a:xfrm>
          <a:prstGeom prst="rect">
            <a:avLst/>
          </a:prstGeom>
        </p:spPr>
      </p:pic>
      <p:pic>
        <p:nvPicPr>
          <p:cNvPr id="9" name="Picture 2" descr="Dz020205">
            <a:extLst>
              <a:ext uri="{FF2B5EF4-FFF2-40B4-BE49-F238E27FC236}">
                <a16:creationId xmlns:a16="http://schemas.microsoft.com/office/drawing/2014/main" id="{8533E331-8EB2-713E-0919-B870F8B7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-2573" r="40826" b="12106"/>
          <a:stretch>
            <a:fillRect/>
          </a:stretch>
        </p:blipFill>
        <p:spPr bwMode="auto">
          <a:xfrm>
            <a:off x="5951984" y="321994"/>
            <a:ext cx="3150981" cy="22604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001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主题1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2B376645-9447-4859-B719-1F60EAF3598F}" vid="{8885B226-991D-4068-B006-D29740B13458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1523</TotalTime>
  <Words>324</Words>
  <Application>Microsoft Office PowerPoint</Application>
  <PresentationFormat>宽屏</PresentationFormat>
  <Paragraphs>59</Paragraphs>
  <Slides>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等线</vt:lpstr>
      <vt:lpstr>等线 Light</vt:lpstr>
      <vt:lpstr>黑体</vt:lpstr>
      <vt:lpstr>华光报宋_CNKI</vt:lpstr>
      <vt:lpstr>华文楷体</vt:lpstr>
      <vt:lpstr>华文中宋</vt:lpstr>
      <vt:lpstr>宋体</vt:lpstr>
      <vt:lpstr>Arial</vt:lpstr>
      <vt:lpstr>Calibri</vt:lpstr>
      <vt:lpstr>Calibri Light</vt:lpstr>
      <vt:lpstr>Tahoma</vt:lpstr>
      <vt:lpstr>Times New Roman</vt:lpstr>
      <vt:lpstr>Wingdings</vt:lpstr>
      <vt:lpstr>主题1</vt:lpstr>
      <vt:lpstr>自定义设计方案</vt:lpstr>
      <vt:lpstr>1_Blends</vt:lpstr>
      <vt:lpstr>Office 主题​​</vt:lpstr>
      <vt:lpstr>Visio</vt:lpstr>
      <vt:lpstr>公式</vt:lpstr>
      <vt:lpstr>Equation</vt:lpstr>
      <vt:lpstr>Photo Editor 照片</vt:lpstr>
      <vt:lpstr>2.3.2 等效电路法 </vt:lpstr>
      <vt:lpstr>（二） h参数模型（低频小信号模型）</vt:lpstr>
      <vt:lpstr>（二） h参数模型（低频小信号模型）</vt:lpstr>
      <vt:lpstr>h参数的物理意义</vt:lpstr>
      <vt:lpstr>简化的h参数等效电路－微变等效电路</vt:lpstr>
      <vt:lpstr>（三）共射放大电路的动态分析（微变等效电路法）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模拟电子技术基础</dc:title>
  <dc:creator>hua</dc:creator>
  <cp:lastModifiedBy>立欣 王</cp:lastModifiedBy>
  <cp:revision>133</cp:revision>
  <dcterms:created xsi:type="dcterms:W3CDTF">2007-07-18T09:03:00Z</dcterms:created>
  <dcterms:modified xsi:type="dcterms:W3CDTF">2026-05-28T03:36:41Z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2052-10.1.0.6690</vt:lpwstr>
  </property>
</Properties>
</file>