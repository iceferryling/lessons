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13" r:id="rId2"/>
    <p:sldId id="319" r:id="rId3"/>
    <p:sldId id="314" r:id="rId4"/>
    <p:sldId id="315" r:id="rId5"/>
    <p:sldId id="316" r:id="rId6"/>
    <p:sldId id="31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4" clrIdx="0">
    <p:extLst>
      <p:ext uri="{19B8F6BF-5375-455C-9EA6-DF929625EA0E}">
        <p15:presenceInfo xmlns:p15="http://schemas.microsoft.com/office/powerpoint/2012/main" userId="781d9005747906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72450" autoAdjust="0"/>
  </p:normalViewPr>
  <p:slideViewPr>
    <p:cSldViewPr snapToGrid="0">
      <p:cViewPr varScale="1">
        <p:scale>
          <a:sx n="71" d="100"/>
          <a:sy n="71" d="100"/>
        </p:scale>
        <p:origin x="5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11T21:03:44.868" idx="1">
    <p:pos x="5265" y="1379"/>
    <p:text>填上IC1，多一个IS，重新梳理清晰一些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0-11T21:30:17.305" idx="2">
    <p:pos x="10" y="10"/>
    <p:text>给出公式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75605-5D95-4772-9C9A-7DE972F8E088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E0F94-1E86-4BCB-9CDA-57DC9EDFB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193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AA48D6-C24F-4EDA-9482-99AFD11C8FA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静态时：如有</a:t>
            </a:r>
            <a:r>
              <a:rPr lang="en-US" altLang="zh-CN" dirty="0"/>
              <a:t>RL</a:t>
            </a:r>
            <a:r>
              <a:rPr lang="zh-CN" altLang="en-US" dirty="0"/>
              <a:t>，</a:t>
            </a:r>
            <a:r>
              <a:rPr lang="en-US" altLang="zh-CN" dirty="0"/>
              <a:t>ICQ1</a:t>
            </a:r>
            <a:r>
              <a:rPr lang="zh-CN" altLang="en-US" dirty="0"/>
              <a:t>不等于</a:t>
            </a:r>
            <a:r>
              <a:rPr lang="en-US" altLang="zh-CN" dirty="0"/>
              <a:t>ICQ2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0F94-1E86-4BCB-9CDA-57DC9EDFBB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63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1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537" y="103386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13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30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60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93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729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86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39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34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1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812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4EEA4-C747-4679-A31C-8B9BDD2602E6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707A1-323C-4A1A-989E-F80B6ACA517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17">
            <a:extLst>
              <a:ext uri="{FF2B5EF4-FFF2-40B4-BE49-F238E27FC236}">
                <a16:creationId xmlns:a16="http://schemas.microsoft.com/office/drawing/2014/main" id="{FD960E84-5302-450E-8DF2-565A8F9FCD8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30188"/>
            <a:ext cx="12192000" cy="457200"/>
            <a:chOff x="0" y="235488"/>
            <a:chExt cx="9144000" cy="457208"/>
          </a:xfrm>
        </p:grpSpPr>
        <p:cxnSp>
          <p:nvCxnSpPr>
            <p:cNvPr id="8" name="直接连接符 13">
              <a:extLst>
                <a:ext uri="{FF2B5EF4-FFF2-40B4-BE49-F238E27FC236}">
                  <a16:creationId xmlns:a16="http://schemas.microsoft.com/office/drawing/2014/main" id="{989DD46F-6E78-4715-814C-0E1F1E88B4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0" y="692696"/>
              <a:ext cx="9144000" cy="0"/>
            </a:xfrm>
            <a:prstGeom prst="line">
              <a:avLst/>
            </a:prstGeom>
            <a:noFill/>
            <a:ln w="38100" cmpd="dbl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9" name="组合 14">
              <a:extLst>
                <a:ext uri="{FF2B5EF4-FFF2-40B4-BE49-F238E27FC236}">
                  <a16:creationId xmlns:a16="http://schemas.microsoft.com/office/drawing/2014/main" id="{BD83DBA0-24AE-4A48-BE71-0303FDC0A0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26244" y="235488"/>
              <a:ext cx="1954296" cy="385200"/>
              <a:chOff x="4318608" y="5559022"/>
              <a:chExt cx="1954296" cy="385200"/>
            </a:xfrm>
          </p:grpSpPr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6204703-AADD-45FD-B3F8-07E775B3231D}"/>
                  </a:ext>
                </a:extLst>
              </p:cNvPr>
              <p:cNvSpPr txBox="1"/>
              <p:nvPr/>
            </p:nvSpPr>
            <p:spPr>
              <a:xfrm>
                <a:off x="4929748" y="5559022"/>
                <a:ext cx="1343156" cy="38472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just">
                  <a:defRPr/>
                </a:pPr>
                <a:r>
                  <a:rPr lang="zh-CN" altLang="en-US" sz="1400" dirty="0">
                    <a:solidFill>
                      <a:srgbClr val="0E668C"/>
                    </a:solidFill>
                    <a:ea typeface="华文楷体" panose="02010600040101010101" pitchFamily="2" charset="-122"/>
                  </a:rPr>
                  <a:t>哈尔滨工业大学</a:t>
                </a:r>
                <a:r>
                  <a:rPr lang="en-US" altLang="zh-CN" sz="1050" dirty="0">
                    <a:solidFill>
                      <a:srgbClr val="0E668C"/>
                    </a:solidFill>
                    <a:ea typeface="华文楷体" panose="02010600040101010101" pitchFamily="2" charset="-122"/>
                  </a:rPr>
                  <a:t>(</a:t>
                </a:r>
                <a:r>
                  <a:rPr lang="zh-CN" altLang="en-US" sz="1050" dirty="0">
                    <a:solidFill>
                      <a:srgbClr val="0E668C"/>
                    </a:solidFill>
                    <a:ea typeface="华文楷体" panose="02010600040101010101" pitchFamily="2" charset="-122"/>
                  </a:rPr>
                  <a:t>深圳</a:t>
                </a:r>
                <a:r>
                  <a:rPr lang="en-US" altLang="zh-CN" sz="1050" dirty="0">
                    <a:solidFill>
                      <a:srgbClr val="0E668C"/>
                    </a:solidFill>
                    <a:ea typeface="华文楷体" panose="02010600040101010101" pitchFamily="2" charset="-122"/>
                  </a:rPr>
                  <a:t>)</a:t>
                </a:r>
              </a:p>
              <a:p>
                <a:pPr algn="just">
                  <a:defRPr/>
                </a:pPr>
                <a:r>
                  <a:rPr lang="en-US" altLang="zh-CN" sz="500" dirty="0">
                    <a:solidFill>
                      <a:srgbClr val="0E668C"/>
                    </a:solidFill>
                    <a:ea typeface="华光报宋_CNKI" panose="02000500000000000000" pitchFamily="2" charset="-122"/>
                  </a:rPr>
                  <a:t>HARBIN INSTITUTE OF TECHNOLOGY, SHENZHEN</a:t>
                </a:r>
                <a:endParaRPr lang="zh-CN" altLang="en-US" sz="500" dirty="0">
                  <a:solidFill>
                    <a:srgbClr val="0E668C"/>
                  </a:solidFill>
                  <a:ea typeface="华光报宋_CNKI" panose="02000500000000000000" pitchFamily="2" charset="-122"/>
                </a:endParaRPr>
              </a:p>
            </p:txBody>
          </p:sp>
          <p:pic>
            <p:nvPicPr>
              <p:cNvPr id="11" name="图片 16">
                <a:extLst>
                  <a:ext uri="{FF2B5EF4-FFF2-40B4-BE49-F238E27FC236}">
                    <a16:creationId xmlns:a16="http://schemas.microsoft.com/office/drawing/2014/main" id="{09A558D2-559C-44E0-8749-6530A8C72E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8608" y="5559022"/>
                <a:ext cx="436762" cy="385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35195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oleObject" Target="../embeddings/oleObject7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12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oleObject" Target="../embeddings/oleObject6.bin"/><Relationship Id="rId5" Type="http://schemas.openxmlformats.org/officeDocument/2006/relationships/image" Target="../media/image4.wmf"/><Relationship Id="rId10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comments" Target="../comments/comment1.xml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png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comments" Target="../comments/comment2.xml"/><Relationship Id="rId3" Type="http://schemas.openxmlformats.org/officeDocument/2006/relationships/image" Target="../media/image18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7668" y="135837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3.4  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集成运放中的电流源</a:t>
            </a:r>
          </a:p>
        </p:txBody>
      </p:sp>
      <p:sp>
        <p:nvSpPr>
          <p:cNvPr id="24585" name="Text Box 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1966" y="1713631"/>
            <a:ext cx="3168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  <a:ea typeface="华文楷体" pitchFamily="2" charset="-122"/>
              </a:rPr>
              <a:t>3.4.1 </a:t>
            </a:r>
            <a:r>
              <a:rPr kumimoji="1" lang="zh-CN" altLang="en-US" sz="2800" b="1" dirty="0">
                <a:latin typeface="Times New Roman" pitchFamily="18" charset="0"/>
                <a:ea typeface="华文楷体" pitchFamily="2" charset="-122"/>
              </a:rPr>
              <a:t>镜像电流源</a:t>
            </a:r>
          </a:p>
        </p:txBody>
      </p:sp>
      <p:sp>
        <p:nvSpPr>
          <p:cNvPr id="24586" name="Text Box 10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1966" y="2260768"/>
            <a:ext cx="26654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  <a:ea typeface="华文楷体" pitchFamily="2" charset="-122"/>
              </a:rPr>
              <a:t>3.4.2 </a:t>
            </a:r>
            <a:r>
              <a:rPr kumimoji="1" lang="zh-CN" altLang="en-US" sz="2800" b="1" dirty="0">
                <a:latin typeface="Times New Roman" pitchFamily="18" charset="0"/>
                <a:ea typeface="华文楷体" pitchFamily="2" charset="-122"/>
              </a:rPr>
              <a:t>微电流源</a:t>
            </a:r>
          </a:p>
        </p:txBody>
      </p:sp>
      <p:sp>
        <p:nvSpPr>
          <p:cNvPr id="24587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1966" y="2807906"/>
            <a:ext cx="3168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  <a:ea typeface="华文楷体" pitchFamily="2" charset="-122"/>
              </a:rPr>
              <a:t>3.4.3 </a:t>
            </a:r>
            <a:r>
              <a:rPr kumimoji="1" lang="zh-CN" altLang="en-US" sz="2800" b="1" dirty="0">
                <a:latin typeface="Times New Roman" pitchFamily="18" charset="0"/>
                <a:ea typeface="华文楷体" pitchFamily="2" charset="-122"/>
              </a:rPr>
              <a:t>多路电流源</a:t>
            </a:r>
          </a:p>
        </p:txBody>
      </p:sp>
      <p:sp>
        <p:nvSpPr>
          <p:cNvPr id="24588" name="Text Box 12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1966" y="3355044"/>
            <a:ext cx="2736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itchFamily="18" charset="0"/>
                <a:ea typeface="华文楷体" pitchFamily="2" charset="-122"/>
              </a:rPr>
              <a:t>3.4.4 </a:t>
            </a:r>
            <a:r>
              <a:rPr kumimoji="1" lang="zh-CN" altLang="en-US" sz="2800" b="1" dirty="0">
                <a:latin typeface="Times New Roman" pitchFamily="18" charset="0"/>
                <a:ea typeface="华文楷体" pitchFamily="2" charset="-122"/>
              </a:rPr>
              <a:t>有源负载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567532E-2042-959A-DC4F-9B2D718C7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962267"/>
              </p:ext>
            </p:extLst>
          </p:nvPr>
        </p:nvGraphicFramePr>
        <p:xfrm>
          <a:off x="2965961" y="1224471"/>
          <a:ext cx="5857875" cy="411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995790" imgH="2105152" progId="Visio.Drawing.11">
                  <p:embed/>
                </p:oleObj>
              </mc:Choice>
              <mc:Fallback>
                <p:oleObj name="Visio" r:id="rId2" imgW="2995790" imgH="2105152" progId="Visio.Drawing.11">
                  <p:embed/>
                  <p:pic>
                    <p:nvPicPr>
                      <p:cNvPr id="29700" name="Object 4">
                        <a:extLst>
                          <a:ext uri="{FF2B5EF4-FFF2-40B4-BE49-F238E27FC236}">
                            <a16:creationId xmlns:a16="http://schemas.microsoft.com/office/drawing/2014/main" id="{7BB118F3-AE47-0365-A6D5-A9CF8F209B26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961" y="1224471"/>
                        <a:ext cx="5857875" cy="411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6E6EBA2-2BF8-A10D-F8A3-C7FA5782B8E0}"/>
              </a:ext>
            </a:extLst>
          </p:cNvPr>
          <p:cNvSpPr/>
          <p:nvPr/>
        </p:nvSpPr>
        <p:spPr>
          <a:xfrm>
            <a:off x="4275827" y="1311216"/>
            <a:ext cx="2894419" cy="3648974"/>
          </a:xfrm>
          <a:custGeom>
            <a:avLst/>
            <a:gdLst>
              <a:gd name="connsiteX0" fmla="*/ 86265 w 2894419"/>
              <a:gd name="connsiteY0" fmla="*/ 0 h 3709359"/>
              <a:gd name="connsiteX1" fmla="*/ 836763 w 2894419"/>
              <a:gd name="connsiteY1" fmla="*/ 25879 h 3709359"/>
              <a:gd name="connsiteX2" fmla="*/ 862642 w 2894419"/>
              <a:gd name="connsiteY2" fmla="*/ 34506 h 3709359"/>
              <a:gd name="connsiteX3" fmla="*/ 905774 w 2894419"/>
              <a:gd name="connsiteY3" fmla="*/ 112143 h 3709359"/>
              <a:gd name="connsiteX4" fmla="*/ 905774 w 2894419"/>
              <a:gd name="connsiteY4" fmla="*/ 414068 h 3709359"/>
              <a:gd name="connsiteX5" fmla="*/ 888521 w 2894419"/>
              <a:gd name="connsiteY5" fmla="*/ 517585 h 3709359"/>
              <a:gd name="connsiteX6" fmla="*/ 879895 w 2894419"/>
              <a:gd name="connsiteY6" fmla="*/ 595223 h 3709359"/>
              <a:gd name="connsiteX7" fmla="*/ 862642 w 2894419"/>
              <a:gd name="connsiteY7" fmla="*/ 698740 h 3709359"/>
              <a:gd name="connsiteX8" fmla="*/ 836763 w 2894419"/>
              <a:gd name="connsiteY8" fmla="*/ 836762 h 3709359"/>
              <a:gd name="connsiteX9" fmla="*/ 819510 w 2894419"/>
              <a:gd name="connsiteY9" fmla="*/ 974785 h 3709359"/>
              <a:gd name="connsiteX10" fmla="*/ 793631 w 2894419"/>
              <a:gd name="connsiteY10" fmla="*/ 1147313 h 3709359"/>
              <a:gd name="connsiteX11" fmla="*/ 802257 w 2894419"/>
              <a:gd name="connsiteY11" fmla="*/ 1466491 h 3709359"/>
              <a:gd name="connsiteX12" fmla="*/ 810883 w 2894419"/>
              <a:gd name="connsiteY12" fmla="*/ 1958196 h 3709359"/>
              <a:gd name="connsiteX13" fmla="*/ 836763 w 2894419"/>
              <a:gd name="connsiteY13" fmla="*/ 2035834 h 3709359"/>
              <a:gd name="connsiteX14" fmla="*/ 923027 w 2894419"/>
              <a:gd name="connsiteY14" fmla="*/ 2078966 h 3709359"/>
              <a:gd name="connsiteX15" fmla="*/ 1009291 w 2894419"/>
              <a:gd name="connsiteY15" fmla="*/ 2104845 h 3709359"/>
              <a:gd name="connsiteX16" fmla="*/ 1362974 w 2894419"/>
              <a:gd name="connsiteY16" fmla="*/ 2096219 h 3709359"/>
              <a:gd name="connsiteX17" fmla="*/ 1492370 w 2894419"/>
              <a:gd name="connsiteY17" fmla="*/ 2087593 h 3709359"/>
              <a:gd name="connsiteX18" fmla="*/ 2234242 w 2894419"/>
              <a:gd name="connsiteY18" fmla="*/ 2096219 h 3709359"/>
              <a:gd name="connsiteX19" fmla="*/ 2380891 w 2894419"/>
              <a:gd name="connsiteY19" fmla="*/ 2113472 h 3709359"/>
              <a:gd name="connsiteX20" fmla="*/ 2501661 w 2894419"/>
              <a:gd name="connsiteY20" fmla="*/ 2139351 h 3709359"/>
              <a:gd name="connsiteX21" fmla="*/ 2631057 w 2894419"/>
              <a:gd name="connsiteY21" fmla="*/ 2147977 h 3709359"/>
              <a:gd name="connsiteX22" fmla="*/ 2777706 w 2894419"/>
              <a:gd name="connsiteY22" fmla="*/ 2191110 h 3709359"/>
              <a:gd name="connsiteX23" fmla="*/ 2812212 w 2894419"/>
              <a:gd name="connsiteY23" fmla="*/ 2208362 h 3709359"/>
              <a:gd name="connsiteX24" fmla="*/ 2820838 w 2894419"/>
              <a:gd name="connsiteY24" fmla="*/ 2234242 h 3709359"/>
              <a:gd name="connsiteX25" fmla="*/ 2855344 w 2894419"/>
              <a:gd name="connsiteY25" fmla="*/ 2303253 h 3709359"/>
              <a:gd name="connsiteX26" fmla="*/ 2846717 w 2894419"/>
              <a:gd name="connsiteY26" fmla="*/ 3303917 h 3709359"/>
              <a:gd name="connsiteX27" fmla="*/ 2838091 w 2894419"/>
              <a:gd name="connsiteY27" fmla="*/ 3424687 h 3709359"/>
              <a:gd name="connsiteX28" fmla="*/ 2812212 w 2894419"/>
              <a:gd name="connsiteY28" fmla="*/ 3545457 h 3709359"/>
              <a:gd name="connsiteX29" fmla="*/ 2820838 w 2894419"/>
              <a:gd name="connsiteY29" fmla="*/ 3588589 h 3709359"/>
              <a:gd name="connsiteX30" fmla="*/ 2794959 w 2894419"/>
              <a:gd name="connsiteY30" fmla="*/ 3614468 h 3709359"/>
              <a:gd name="connsiteX31" fmla="*/ 2725948 w 2894419"/>
              <a:gd name="connsiteY31" fmla="*/ 3631721 h 3709359"/>
              <a:gd name="connsiteX32" fmla="*/ 2700068 w 2894419"/>
              <a:gd name="connsiteY32" fmla="*/ 3640347 h 3709359"/>
              <a:gd name="connsiteX33" fmla="*/ 2596551 w 2894419"/>
              <a:gd name="connsiteY33" fmla="*/ 3657600 h 3709359"/>
              <a:gd name="connsiteX34" fmla="*/ 2562046 w 2894419"/>
              <a:gd name="connsiteY34" fmla="*/ 3666227 h 3709359"/>
              <a:gd name="connsiteX35" fmla="*/ 2018582 w 2894419"/>
              <a:gd name="connsiteY35" fmla="*/ 3683479 h 3709359"/>
              <a:gd name="connsiteX36" fmla="*/ 1949570 w 2894419"/>
              <a:gd name="connsiteY36" fmla="*/ 3692106 h 3709359"/>
              <a:gd name="connsiteX37" fmla="*/ 1828800 w 2894419"/>
              <a:gd name="connsiteY37" fmla="*/ 3709359 h 3709359"/>
              <a:gd name="connsiteX38" fmla="*/ 1285336 w 2894419"/>
              <a:gd name="connsiteY38" fmla="*/ 3700732 h 3709359"/>
              <a:gd name="connsiteX39" fmla="*/ 1181819 w 2894419"/>
              <a:gd name="connsiteY39" fmla="*/ 3674853 h 3709359"/>
              <a:gd name="connsiteX40" fmla="*/ 1121434 w 2894419"/>
              <a:gd name="connsiteY40" fmla="*/ 3648974 h 3709359"/>
              <a:gd name="connsiteX41" fmla="*/ 1043797 w 2894419"/>
              <a:gd name="connsiteY41" fmla="*/ 3640347 h 3709359"/>
              <a:gd name="connsiteX42" fmla="*/ 966159 w 2894419"/>
              <a:gd name="connsiteY42" fmla="*/ 3623094 h 3709359"/>
              <a:gd name="connsiteX43" fmla="*/ 819510 w 2894419"/>
              <a:gd name="connsiteY43" fmla="*/ 3605842 h 3709359"/>
              <a:gd name="connsiteX44" fmla="*/ 741872 w 2894419"/>
              <a:gd name="connsiteY44" fmla="*/ 3579962 h 3709359"/>
              <a:gd name="connsiteX45" fmla="*/ 698740 w 2894419"/>
              <a:gd name="connsiteY45" fmla="*/ 3571336 h 3709359"/>
              <a:gd name="connsiteX46" fmla="*/ 577970 w 2894419"/>
              <a:gd name="connsiteY46" fmla="*/ 3554083 h 3709359"/>
              <a:gd name="connsiteX47" fmla="*/ 474453 w 2894419"/>
              <a:gd name="connsiteY47" fmla="*/ 3536830 h 3709359"/>
              <a:gd name="connsiteX48" fmla="*/ 405442 w 2894419"/>
              <a:gd name="connsiteY48" fmla="*/ 3519577 h 3709359"/>
              <a:gd name="connsiteX49" fmla="*/ 276046 w 2894419"/>
              <a:gd name="connsiteY49" fmla="*/ 3476445 h 3709359"/>
              <a:gd name="connsiteX50" fmla="*/ 241540 w 2894419"/>
              <a:gd name="connsiteY50" fmla="*/ 3459193 h 3709359"/>
              <a:gd name="connsiteX51" fmla="*/ 189782 w 2894419"/>
              <a:gd name="connsiteY51" fmla="*/ 3407434 h 3709359"/>
              <a:gd name="connsiteX52" fmla="*/ 129397 w 2894419"/>
              <a:gd name="connsiteY52" fmla="*/ 3321170 h 3709359"/>
              <a:gd name="connsiteX53" fmla="*/ 103517 w 2894419"/>
              <a:gd name="connsiteY53" fmla="*/ 3303917 h 3709359"/>
              <a:gd name="connsiteX54" fmla="*/ 77638 w 2894419"/>
              <a:gd name="connsiteY54" fmla="*/ 3260785 h 3709359"/>
              <a:gd name="connsiteX55" fmla="*/ 69012 w 2894419"/>
              <a:gd name="connsiteY55" fmla="*/ 3234906 h 3709359"/>
              <a:gd name="connsiteX56" fmla="*/ 51759 w 2894419"/>
              <a:gd name="connsiteY56" fmla="*/ 3200400 h 3709359"/>
              <a:gd name="connsiteX57" fmla="*/ 43132 w 2894419"/>
              <a:gd name="connsiteY57" fmla="*/ 3140015 h 3709359"/>
              <a:gd name="connsiteX58" fmla="*/ 25880 w 2894419"/>
              <a:gd name="connsiteY58" fmla="*/ 3045125 h 3709359"/>
              <a:gd name="connsiteX59" fmla="*/ 17253 w 2894419"/>
              <a:gd name="connsiteY59" fmla="*/ 2950234 h 3709359"/>
              <a:gd name="connsiteX60" fmla="*/ 0 w 2894419"/>
              <a:gd name="connsiteY60" fmla="*/ 2838091 h 3709359"/>
              <a:gd name="connsiteX61" fmla="*/ 17253 w 2894419"/>
              <a:gd name="connsiteY61" fmla="*/ 2484408 h 3709359"/>
              <a:gd name="connsiteX62" fmla="*/ 51759 w 2894419"/>
              <a:gd name="connsiteY62" fmla="*/ 2415396 h 3709359"/>
              <a:gd name="connsiteX63" fmla="*/ 120770 w 2894419"/>
              <a:gd name="connsiteY63" fmla="*/ 2286000 h 3709359"/>
              <a:gd name="connsiteX64" fmla="*/ 232914 w 2894419"/>
              <a:gd name="connsiteY64" fmla="*/ 2147977 h 3709359"/>
              <a:gd name="connsiteX65" fmla="*/ 258793 w 2894419"/>
              <a:gd name="connsiteY65" fmla="*/ 2104845 h 3709359"/>
              <a:gd name="connsiteX66" fmla="*/ 293299 w 2894419"/>
              <a:gd name="connsiteY66" fmla="*/ 2078966 h 3709359"/>
              <a:gd name="connsiteX67" fmla="*/ 362310 w 2894419"/>
              <a:gd name="connsiteY67" fmla="*/ 1992702 h 3709359"/>
              <a:gd name="connsiteX68" fmla="*/ 457200 w 2894419"/>
              <a:gd name="connsiteY68" fmla="*/ 1889185 h 3709359"/>
              <a:gd name="connsiteX69" fmla="*/ 474453 w 2894419"/>
              <a:gd name="connsiteY69" fmla="*/ 1811547 h 3709359"/>
              <a:gd name="connsiteX70" fmla="*/ 439948 w 2894419"/>
              <a:gd name="connsiteY70" fmla="*/ 1552755 h 3709359"/>
              <a:gd name="connsiteX71" fmla="*/ 422695 w 2894419"/>
              <a:gd name="connsiteY71" fmla="*/ 1492370 h 3709359"/>
              <a:gd name="connsiteX72" fmla="*/ 388189 w 2894419"/>
              <a:gd name="connsiteY72" fmla="*/ 1380227 h 3709359"/>
              <a:gd name="connsiteX73" fmla="*/ 379563 w 2894419"/>
              <a:gd name="connsiteY73" fmla="*/ 1337094 h 3709359"/>
              <a:gd name="connsiteX74" fmla="*/ 362310 w 2894419"/>
              <a:gd name="connsiteY74" fmla="*/ 1285336 h 3709359"/>
              <a:gd name="connsiteX75" fmla="*/ 336431 w 2894419"/>
              <a:gd name="connsiteY75" fmla="*/ 1190445 h 3709359"/>
              <a:gd name="connsiteX76" fmla="*/ 319178 w 2894419"/>
              <a:gd name="connsiteY76" fmla="*/ 1086928 h 3709359"/>
              <a:gd name="connsiteX77" fmla="*/ 301925 w 2894419"/>
              <a:gd name="connsiteY77" fmla="*/ 1009291 h 3709359"/>
              <a:gd name="connsiteX78" fmla="*/ 293299 w 2894419"/>
              <a:gd name="connsiteY78" fmla="*/ 931653 h 3709359"/>
              <a:gd name="connsiteX79" fmla="*/ 267419 w 2894419"/>
              <a:gd name="connsiteY79" fmla="*/ 836762 h 3709359"/>
              <a:gd name="connsiteX80" fmla="*/ 250166 w 2894419"/>
              <a:gd name="connsiteY80" fmla="*/ 681487 h 3709359"/>
              <a:gd name="connsiteX81" fmla="*/ 232914 w 2894419"/>
              <a:gd name="connsiteY81" fmla="*/ 310551 h 3709359"/>
              <a:gd name="connsiteX82" fmla="*/ 224287 w 2894419"/>
              <a:gd name="connsiteY82" fmla="*/ 250166 h 3709359"/>
              <a:gd name="connsiteX83" fmla="*/ 198408 w 2894419"/>
              <a:gd name="connsiteY83" fmla="*/ 86264 h 3709359"/>
              <a:gd name="connsiteX84" fmla="*/ 189782 w 2894419"/>
              <a:gd name="connsiteY84" fmla="*/ 51759 h 3709359"/>
              <a:gd name="connsiteX85" fmla="*/ 155276 w 2894419"/>
              <a:gd name="connsiteY85" fmla="*/ 8627 h 3709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2894419" h="3709359">
                <a:moveTo>
                  <a:pt x="86265" y="0"/>
                </a:moveTo>
                <a:lnTo>
                  <a:pt x="836763" y="25879"/>
                </a:lnTo>
                <a:cubicBezTo>
                  <a:pt x="845847" y="26283"/>
                  <a:pt x="856962" y="27406"/>
                  <a:pt x="862642" y="34506"/>
                </a:cubicBezTo>
                <a:cubicBezTo>
                  <a:pt x="881136" y="57623"/>
                  <a:pt x="891397" y="86264"/>
                  <a:pt x="905774" y="112143"/>
                </a:cubicBezTo>
                <a:cubicBezTo>
                  <a:pt x="917360" y="251179"/>
                  <a:pt x="920755" y="239285"/>
                  <a:pt x="905774" y="414068"/>
                </a:cubicBezTo>
                <a:cubicBezTo>
                  <a:pt x="902787" y="448922"/>
                  <a:pt x="893468" y="482955"/>
                  <a:pt x="888521" y="517585"/>
                </a:cubicBezTo>
                <a:cubicBezTo>
                  <a:pt x="884839" y="543362"/>
                  <a:pt x="883577" y="569446"/>
                  <a:pt x="879895" y="595223"/>
                </a:cubicBezTo>
                <a:cubicBezTo>
                  <a:pt x="874948" y="629853"/>
                  <a:pt x="867166" y="664052"/>
                  <a:pt x="862642" y="698740"/>
                </a:cubicBezTo>
                <a:cubicBezTo>
                  <a:pt x="846144" y="825227"/>
                  <a:pt x="868966" y="756255"/>
                  <a:pt x="836763" y="836762"/>
                </a:cubicBezTo>
                <a:cubicBezTo>
                  <a:pt x="831012" y="882770"/>
                  <a:pt x="825444" y="928801"/>
                  <a:pt x="819510" y="974785"/>
                </a:cubicBezTo>
                <a:cubicBezTo>
                  <a:pt x="802064" y="1109989"/>
                  <a:pt x="810202" y="1064452"/>
                  <a:pt x="793631" y="1147313"/>
                </a:cubicBezTo>
                <a:cubicBezTo>
                  <a:pt x="796506" y="1253706"/>
                  <a:pt x="799993" y="1360084"/>
                  <a:pt x="802257" y="1466491"/>
                </a:cubicBezTo>
                <a:cubicBezTo>
                  <a:pt x="805744" y="1630381"/>
                  <a:pt x="800966" y="1794569"/>
                  <a:pt x="810883" y="1958196"/>
                </a:cubicBezTo>
                <a:cubicBezTo>
                  <a:pt x="812533" y="1985425"/>
                  <a:pt x="818201" y="2015844"/>
                  <a:pt x="836763" y="2035834"/>
                </a:cubicBezTo>
                <a:cubicBezTo>
                  <a:pt x="858639" y="2059392"/>
                  <a:pt x="894272" y="2064589"/>
                  <a:pt x="923027" y="2078966"/>
                </a:cubicBezTo>
                <a:cubicBezTo>
                  <a:pt x="973178" y="2104042"/>
                  <a:pt x="944845" y="2094105"/>
                  <a:pt x="1009291" y="2104845"/>
                </a:cubicBezTo>
                <a:lnTo>
                  <a:pt x="1362974" y="2096219"/>
                </a:lnTo>
                <a:cubicBezTo>
                  <a:pt x="1406174" y="2094676"/>
                  <a:pt x="1449142" y="2087593"/>
                  <a:pt x="1492370" y="2087593"/>
                </a:cubicBezTo>
                <a:cubicBezTo>
                  <a:pt x="1739677" y="2087593"/>
                  <a:pt x="1986951" y="2093344"/>
                  <a:pt x="2234242" y="2096219"/>
                </a:cubicBezTo>
                <a:lnTo>
                  <a:pt x="2380891" y="2113472"/>
                </a:lnTo>
                <a:cubicBezTo>
                  <a:pt x="2401985" y="2116348"/>
                  <a:pt x="2496561" y="2138714"/>
                  <a:pt x="2501661" y="2139351"/>
                </a:cubicBezTo>
                <a:cubicBezTo>
                  <a:pt x="2544555" y="2144713"/>
                  <a:pt x="2587925" y="2145102"/>
                  <a:pt x="2631057" y="2147977"/>
                </a:cubicBezTo>
                <a:cubicBezTo>
                  <a:pt x="2679940" y="2162355"/>
                  <a:pt x="2729367" y="2174997"/>
                  <a:pt x="2777706" y="2191110"/>
                </a:cubicBezTo>
                <a:cubicBezTo>
                  <a:pt x="2789906" y="2195177"/>
                  <a:pt x="2803119" y="2199269"/>
                  <a:pt x="2812212" y="2208362"/>
                </a:cubicBezTo>
                <a:cubicBezTo>
                  <a:pt x="2818642" y="2214792"/>
                  <a:pt x="2817075" y="2225964"/>
                  <a:pt x="2820838" y="2234242"/>
                </a:cubicBezTo>
                <a:cubicBezTo>
                  <a:pt x="2831481" y="2257656"/>
                  <a:pt x="2843842" y="2280249"/>
                  <a:pt x="2855344" y="2303253"/>
                </a:cubicBezTo>
                <a:cubicBezTo>
                  <a:pt x="2932006" y="2686561"/>
                  <a:pt x="2877496" y="2380552"/>
                  <a:pt x="2846717" y="3303917"/>
                </a:cubicBezTo>
                <a:cubicBezTo>
                  <a:pt x="2845372" y="3344254"/>
                  <a:pt x="2841442" y="3384467"/>
                  <a:pt x="2838091" y="3424687"/>
                </a:cubicBezTo>
                <a:cubicBezTo>
                  <a:pt x="2830167" y="3519785"/>
                  <a:pt x="2841507" y="3486867"/>
                  <a:pt x="2812212" y="3545457"/>
                </a:cubicBezTo>
                <a:cubicBezTo>
                  <a:pt x="2815087" y="3559834"/>
                  <a:pt x="2824394" y="3574365"/>
                  <a:pt x="2820838" y="3588589"/>
                </a:cubicBezTo>
                <a:cubicBezTo>
                  <a:pt x="2817879" y="3600424"/>
                  <a:pt x="2806065" y="3609420"/>
                  <a:pt x="2794959" y="3614468"/>
                </a:cubicBezTo>
                <a:cubicBezTo>
                  <a:pt x="2773373" y="3624280"/>
                  <a:pt x="2748824" y="3625482"/>
                  <a:pt x="2725948" y="3631721"/>
                </a:cubicBezTo>
                <a:cubicBezTo>
                  <a:pt x="2717175" y="3634114"/>
                  <a:pt x="2708890" y="3638142"/>
                  <a:pt x="2700068" y="3640347"/>
                </a:cubicBezTo>
                <a:cubicBezTo>
                  <a:pt x="2652366" y="3652273"/>
                  <a:pt x="2650140" y="3647856"/>
                  <a:pt x="2596551" y="3657600"/>
                </a:cubicBezTo>
                <a:cubicBezTo>
                  <a:pt x="2584887" y="3659721"/>
                  <a:pt x="2573890" y="3665697"/>
                  <a:pt x="2562046" y="3666227"/>
                </a:cubicBezTo>
                <a:cubicBezTo>
                  <a:pt x="2380981" y="3674334"/>
                  <a:pt x="2199737" y="3677728"/>
                  <a:pt x="2018582" y="3683479"/>
                </a:cubicBezTo>
                <a:lnTo>
                  <a:pt x="1949570" y="3692106"/>
                </a:lnTo>
                <a:cubicBezTo>
                  <a:pt x="1909278" y="3697601"/>
                  <a:pt x="1869462" y="3708831"/>
                  <a:pt x="1828800" y="3709359"/>
                </a:cubicBezTo>
                <a:lnTo>
                  <a:pt x="1285336" y="3700732"/>
                </a:lnTo>
                <a:cubicBezTo>
                  <a:pt x="1250830" y="3692106"/>
                  <a:pt x="1215736" y="3685563"/>
                  <a:pt x="1181819" y="3674853"/>
                </a:cubicBezTo>
                <a:cubicBezTo>
                  <a:pt x="1160937" y="3668259"/>
                  <a:pt x="1142679" y="3654285"/>
                  <a:pt x="1121434" y="3648974"/>
                </a:cubicBezTo>
                <a:cubicBezTo>
                  <a:pt x="1096173" y="3642659"/>
                  <a:pt x="1069481" y="3644628"/>
                  <a:pt x="1043797" y="3640347"/>
                </a:cubicBezTo>
                <a:cubicBezTo>
                  <a:pt x="1017647" y="3635989"/>
                  <a:pt x="992361" y="3627125"/>
                  <a:pt x="966159" y="3623094"/>
                </a:cubicBezTo>
                <a:cubicBezTo>
                  <a:pt x="917511" y="3615610"/>
                  <a:pt x="868393" y="3611593"/>
                  <a:pt x="819510" y="3605842"/>
                </a:cubicBezTo>
                <a:cubicBezTo>
                  <a:pt x="793631" y="3597215"/>
                  <a:pt x="768102" y="3587456"/>
                  <a:pt x="741872" y="3579962"/>
                </a:cubicBezTo>
                <a:cubicBezTo>
                  <a:pt x="727774" y="3575934"/>
                  <a:pt x="713223" y="3573623"/>
                  <a:pt x="698740" y="3571336"/>
                </a:cubicBezTo>
                <a:cubicBezTo>
                  <a:pt x="658572" y="3564994"/>
                  <a:pt x="618082" y="3560768"/>
                  <a:pt x="577970" y="3554083"/>
                </a:cubicBezTo>
                <a:cubicBezTo>
                  <a:pt x="543464" y="3548332"/>
                  <a:pt x="508755" y="3543691"/>
                  <a:pt x="474453" y="3536830"/>
                </a:cubicBezTo>
                <a:cubicBezTo>
                  <a:pt x="451202" y="3532180"/>
                  <a:pt x="428353" y="3525687"/>
                  <a:pt x="405442" y="3519577"/>
                </a:cubicBezTo>
                <a:cubicBezTo>
                  <a:pt x="361203" y="3507780"/>
                  <a:pt x="317927" y="3495059"/>
                  <a:pt x="276046" y="3476445"/>
                </a:cubicBezTo>
                <a:cubicBezTo>
                  <a:pt x="264295" y="3471222"/>
                  <a:pt x="253042" y="3464944"/>
                  <a:pt x="241540" y="3459193"/>
                </a:cubicBezTo>
                <a:cubicBezTo>
                  <a:pt x="200881" y="3398204"/>
                  <a:pt x="253979" y="3471631"/>
                  <a:pt x="189782" y="3407434"/>
                </a:cubicBezTo>
                <a:cubicBezTo>
                  <a:pt x="167227" y="3384879"/>
                  <a:pt x="149139" y="3343732"/>
                  <a:pt x="129397" y="3321170"/>
                </a:cubicBezTo>
                <a:cubicBezTo>
                  <a:pt x="122570" y="3313367"/>
                  <a:pt x="112144" y="3309668"/>
                  <a:pt x="103517" y="3303917"/>
                </a:cubicBezTo>
                <a:cubicBezTo>
                  <a:pt x="94891" y="3289540"/>
                  <a:pt x="85136" y="3275782"/>
                  <a:pt x="77638" y="3260785"/>
                </a:cubicBezTo>
                <a:cubicBezTo>
                  <a:pt x="73572" y="3252652"/>
                  <a:pt x="72594" y="3243264"/>
                  <a:pt x="69012" y="3234906"/>
                </a:cubicBezTo>
                <a:cubicBezTo>
                  <a:pt x="63946" y="3223086"/>
                  <a:pt x="57510" y="3211902"/>
                  <a:pt x="51759" y="3200400"/>
                </a:cubicBezTo>
                <a:cubicBezTo>
                  <a:pt x="48883" y="3180272"/>
                  <a:pt x="46475" y="3160071"/>
                  <a:pt x="43132" y="3140015"/>
                </a:cubicBezTo>
                <a:cubicBezTo>
                  <a:pt x="37847" y="3108304"/>
                  <a:pt x="30224" y="3076979"/>
                  <a:pt x="25880" y="3045125"/>
                </a:cubicBezTo>
                <a:cubicBezTo>
                  <a:pt x="21589" y="3013655"/>
                  <a:pt x="21193" y="2981750"/>
                  <a:pt x="17253" y="2950234"/>
                </a:cubicBezTo>
                <a:cubicBezTo>
                  <a:pt x="12562" y="2912705"/>
                  <a:pt x="5751" y="2875472"/>
                  <a:pt x="0" y="2838091"/>
                </a:cubicBezTo>
                <a:cubicBezTo>
                  <a:pt x="5751" y="2720197"/>
                  <a:pt x="2907" y="2601567"/>
                  <a:pt x="17253" y="2484408"/>
                </a:cubicBezTo>
                <a:cubicBezTo>
                  <a:pt x="20379" y="2458879"/>
                  <a:pt x="41628" y="2439036"/>
                  <a:pt x="51759" y="2415396"/>
                </a:cubicBezTo>
                <a:cubicBezTo>
                  <a:pt x="90048" y="2326056"/>
                  <a:pt x="39769" y="2392580"/>
                  <a:pt x="120770" y="2286000"/>
                </a:cubicBezTo>
                <a:cubicBezTo>
                  <a:pt x="156639" y="2238804"/>
                  <a:pt x="202415" y="2198809"/>
                  <a:pt x="232914" y="2147977"/>
                </a:cubicBezTo>
                <a:cubicBezTo>
                  <a:pt x="241540" y="2133600"/>
                  <a:pt x="247752" y="2117463"/>
                  <a:pt x="258793" y="2104845"/>
                </a:cubicBezTo>
                <a:cubicBezTo>
                  <a:pt x="268261" y="2094025"/>
                  <a:pt x="282553" y="2088518"/>
                  <a:pt x="293299" y="2078966"/>
                </a:cubicBezTo>
                <a:cubicBezTo>
                  <a:pt x="437629" y="1950674"/>
                  <a:pt x="252297" y="2113718"/>
                  <a:pt x="362310" y="1992702"/>
                </a:cubicBezTo>
                <a:cubicBezTo>
                  <a:pt x="484658" y="1858118"/>
                  <a:pt x="371839" y="2017227"/>
                  <a:pt x="457200" y="1889185"/>
                </a:cubicBezTo>
                <a:cubicBezTo>
                  <a:pt x="462951" y="1863306"/>
                  <a:pt x="475811" y="1838023"/>
                  <a:pt x="474453" y="1811547"/>
                </a:cubicBezTo>
                <a:cubicBezTo>
                  <a:pt x="469996" y="1724634"/>
                  <a:pt x="453878" y="1638660"/>
                  <a:pt x="439948" y="1552755"/>
                </a:cubicBezTo>
                <a:cubicBezTo>
                  <a:pt x="436597" y="1532091"/>
                  <a:pt x="428851" y="1512378"/>
                  <a:pt x="422695" y="1492370"/>
                </a:cubicBezTo>
                <a:cubicBezTo>
                  <a:pt x="403754" y="1430813"/>
                  <a:pt x="404761" y="1446517"/>
                  <a:pt x="388189" y="1380227"/>
                </a:cubicBezTo>
                <a:cubicBezTo>
                  <a:pt x="384633" y="1366002"/>
                  <a:pt x="383421" y="1351240"/>
                  <a:pt x="379563" y="1337094"/>
                </a:cubicBezTo>
                <a:cubicBezTo>
                  <a:pt x="374778" y="1319549"/>
                  <a:pt x="366721" y="1302979"/>
                  <a:pt x="362310" y="1285336"/>
                </a:cubicBezTo>
                <a:cubicBezTo>
                  <a:pt x="336240" y="1181057"/>
                  <a:pt x="373368" y="1282791"/>
                  <a:pt x="336431" y="1190445"/>
                </a:cubicBezTo>
                <a:cubicBezTo>
                  <a:pt x="330680" y="1155939"/>
                  <a:pt x="325724" y="1121292"/>
                  <a:pt x="319178" y="1086928"/>
                </a:cubicBezTo>
                <a:cubicBezTo>
                  <a:pt x="314218" y="1060886"/>
                  <a:pt x="306283" y="1035441"/>
                  <a:pt x="301925" y="1009291"/>
                </a:cubicBezTo>
                <a:cubicBezTo>
                  <a:pt x="297644" y="983607"/>
                  <a:pt x="298406" y="957186"/>
                  <a:pt x="293299" y="931653"/>
                </a:cubicBezTo>
                <a:cubicBezTo>
                  <a:pt x="270117" y="815740"/>
                  <a:pt x="280655" y="938235"/>
                  <a:pt x="267419" y="836762"/>
                </a:cubicBezTo>
                <a:cubicBezTo>
                  <a:pt x="260683" y="785123"/>
                  <a:pt x="255917" y="733245"/>
                  <a:pt x="250166" y="681487"/>
                </a:cubicBezTo>
                <a:cubicBezTo>
                  <a:pt x="244415" y="557842"/>
                  <a:pt x="240327" y="434108"/>
                  <a:pt x="232914" y="310551"/>
                </a:cubicBezTo>
                <a:cubicBezTo>
                  <a:pt x="231696" y="290255"/>
                  <a:pt x="226048" y="270422"/>
                  <a:pt x="224287" y="250166"/>
                </a:cubicBezTo>
                <a:cubicBezTo>
                  <a:pt x="210841" y="95535"/>
                  <a:pt x="242170" y="151906"/>
                  <a:pt x="198408" y="86264"/>
                </a:cubicBezTo>
                <a:cubicBezTo>
                  <a:pt x="195533" y="74762"/>
                  <a:pt x="194452" y="62656"/>
                  <a:pt x="189782" y="51759"/>
                </a:cubicBezTo>
                <a:cubicBezTo>
                  <a:pt x="181619" y="32713"/>
                  <a:pt x="169191" y="22541"/>
                  <a:pt x="155276" y="8627"/>
                </a:cubicBezTo>
              </a:path>
            </a:pathLst>
          </a:cu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98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94142" y="1362197"/>
            <a:ext cx="403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T</a:t>
            </a:r>
            <a:r>
              <a:rPr kumimoji="1" lang="en-US" altLang="zh-CN" sz="2400" b="1" baseline="-25000" dirty="0">
                <a:latin typeface="Times New Roman" pitchFamily="18" charset="0"/>
              </a:rPr>
              <a:t>0  </a:t>
            </a:r>
            <a:r>
              <a:rPr kumimoji="1" lang="zh-CN" altLang="zh-CN" sz="2400" b="1" dirty="0">
                <a:latin typeface="Times New Roman" pitchFamily="18" charset="0"/>
              </a:rPr>
              <a:t>和 T</a:t>
            </a:r>
            <a:r>
              <a:rPr kumimoji="1" lang="zh-CN" altLang="zh-CN" sz="2400" b="1" baseline="-25000" dirty="0">
                <a:latin typeface="Times New Roman" pitchFamily="18" charset="0"/>
              </a:rPr>
              <a:t>1 </a:t>
            </a:r>
            <a:r>
              <a:rPr kumimoji="1" lang="zh-CN" altLang="zh-CN" sz="2400" b="1" dirty="0">
                <a:latin typeface="Times New Roman" pitchFamily="18" charset="0"/>
              </a:rPr>
              <a:t>特性完全相同。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77768"/>
              </p:ext>
            </p:extLst>
          </p:nvPr>
        </p:nvGraphicFramePr>
        <p:xfrm>
          <a:off x="5176959" y="2622916"/>
          <a:ext cx="29670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228600" progId="Equation.3">
                  <p:embed/>
                </p:oleObj>
              </mc:Choice>
              <mc:Fallback>
                <p:oleObj name="Equation" r:id="rId2" imgW="1384200" imgH="228600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959" y="2622916"/>
                        <a:ext cx="296703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093088"/>
              </p:ext>
            </p:extLst>
          </p:nvPr>
        </p:nvGraphicFramePr>
        <p:xfrm>
          <a:off x="5176962" y="3537316"/>
          <a:ext cx="398621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419040" progId="Equation.3">
                  <p:embed/>
                </p:oleObj>
              </mc:Choice>
              <mc:Fallback>
                <p:oleObj name="Equation" r:id="rId4" imgW="1854000" imgH="419040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962" y="3537316"/>
                        <a:ext cx="3986213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63124"/>
              </p:ext>
            </p:extLst>
          </p:nvPr>
        </p:nvGraphicFramePr>
        <p:xfrm>
          <a:off x="5875459" y="5248644"/>
          <a:ext cx="28082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58640" imgH="228600" progId="Equation.3">
                  <p:embed/>
                </p:oleObj>
              </mc:Choice>
              <mc:Fallback>
                <p:oleObj name="Equation" r:id="rId6" imgW="1358640" imgH="228600" progId="Equation.3">
                  <p:embed/>
                  <p:pic>
                    <p:nvPicPr>
                      <p:cNvPr id="26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459" y="5248644"/>
                        <a:ext cx="2808288" cy="471487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520379" y="795703"/>
            <a:ext cx="830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/>
              <a:t>在电流源电路中充分利用集成运放中晶体管性能的一致性。</a:t>
            </a:r>
          </a:p>
        </p:txBody>
      </p:sp>
      <p:pic>
        <p:nvPicPr>
          <p:cNvPr id="26632" name="Picture 8" descr="Dz04020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342153" y="2458111"/>
            <a:ext cx="2398713" cy="2590800"/>
          </a:xfrm>
          <a:prstGeom prst="rect">
            <a:avLst/>
          </a:prstGeom>
          <a:noFill/>
        </p:spPr>
      </p:pic>
      <p:sp>
        <p:nvSpPr>
          <p:cNvPr id="26634" name="AutoShape 10"/>
          <p:cNvSpPr>
            <a:spLocks/>
          </p:cNvSpPr>
          <p:nvPr/>
        </p:nvSpPr>
        <p:spPr bwMode="auto">
          <a:xfrm>
            <a:off x="2180353" y="2381911"/>
            <a:ext cx="1535113" cy="457200"/>
          </a:xfrm>
          <a:prstGeom prst="borderCallout1">
            <a:avLst>
              <a:gd name="adj1" fmla="val 25000"/>
              <a:gd name="adj2" fmla="val -4963"/>
              <a:gd name="adj3" fmla="val 131250"/>
              <a:gd name="adj4" fmla="val -14787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基准电流</a:t>
            </a:r>
          </a:p>
        </p:txBody>
      </p:sp>
      <p:graphicFrame>
        <p:nvGraphicFramePr>
          <p:cNvPr id="26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523569"/>
              </p:ext>
            </p:extLst>
          </p:nvPr>
        </p:nvGraphicFramePr>
        <p:xfrm>
          <a:off x="5164259" y="2089516"/>
          <a:ext cx="24384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18960" imgH="228600" progId="Equation.3">
                  <p:embed/>
                </p:oleObj>
              </mc:Choice>
              <mc:Fallback>
                <p:oleObj name="Equation" r:id="rId9" imgW="1218960" imgH="228600" progId="Equation.3">
                  <p:embed/>
                  <p:pic>
                    <p:nvPicPr>
                      <p:cNvPr id="266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259" y="2089516"/>
                        <a:ext cx="2438400" cy="45561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29964"/>
              </p:ext>
            </p:extLst>
          </p:nvPr>
        </p:nvGraphicFramePr>
        <p:xfrm>
          <a:off x="6235822" y="4312016"/>
          <a:ext cx="1801812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8840" imgH="419040" progId="Equation.3">
                  <p:embed/>
                </p:oleObj>
              </mc:Choice>
              <mc:Fallback>
                <p:oleObj name="Equation" r:id="rId11" imgW="888840" imgH="419040" progId="Equation.3">
                  <p:embed/>
                  <p:pic>
                    <p:nvPicPr>
                      <p:cNvPr id="26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822" y="4312016"/>
                        <a:ext cx="1801812" cy="849312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152347"/>
              </p:ext>
            </p:extLst>
          </p:nvPr>
        </p:nvGraphicFramePr>
        <p:xfrm>
          <a:off x="5176959" y="3156316"/>
          <a:ext cx="182403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50680" imgH="228600" progId="Equation.3">
                  <p:embed/>
                </p:oleObj>
              </mc:Choice>
              <mc:Fallback>
                <p:oleObj name="Equation" r:id="rId13" imgW="850680" imgH="228600" progId="Equation.3">
                  <p:embed/>
                  <p:pic>
                    <p:nvPicPr>
                      <p:cNvPr id="266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959" y="3156316"/>
                        <a:ext cx="1824038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5923" y="108534"/>
            <a:ext cx="31598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680"/>
              </a:spcBef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3.4.1 </a:t>
            </a:r>
            <a:r>
              <a:rPr kumimoji="1" lang="zh-CN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镜像电流源</a:t>
            </a:r>
            <a:endParaRPr lang="zh-CN" altLang="zh-CN" sz="3200" dirty="0">
              <a:solidFill>
                <a:srgbClr val="FF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autoUpdateAnimBg="0"/>
      <p:bldP spid="2663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311043"/>
              </p:ext>
            </p:extLst>
          </p:nvPr>
        </p:nvGraphicFramePr>
        <p:xfrm>
          <a:off x="3526183" y="1617966"/>
          <a:ext cx="3278188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28600" progId="Equation.DSMT4">
                  <p:embed/>
                </p:oleObj>
              </mc:Choice>
              <mc:Fallback>
                <p:oleObj name="Equation" r:id="rId2" imgW="1714320" imgH="228600" progId="Equation.DSMT4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183" y="1617966"/>
                        <a:ext cx="3278188" cy="4349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503503"/>
              </p:ext>
            </p:extLst>
          </p:nvPr>
        </p:nvGraphicFramePr>
        <p:xfrm>
          <a:off x="3526183" y="2625288"/>
          <a:ext cx="3476625" cy="156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787320" progId="Equation.DSMT4">
                  <p:embed/>
                </p:oleObj>
              </mc:Choice>
              <mc:Fallback>
                <p:oleObj name="Equation" r:id="rId4" imgW="1752480" imgH="787320" progId="Equation.DSMT4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183" y="2625288"/>
                        <a:ext cx="3476625" cy="156051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468781"/>
              </p:ext>
            </p:extLst>
          </p:nvPr>
        </p:nvGraphicFramePr>
        <p:xfrm>
          <a:off x="7483885" y="2514996"/>
          <a:ext cx="3282950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66600" imgH="888840" progId="Equation.DSMT4">
                  <p:embed/>
                </p:oleObj>
              </mc:Choice>
              <mc:Fallback>
                <p:oleObj name="Equation" r:id="rId6" imgW="1866600" imgH="888840" progId="Equation.DSMT4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3885" y="2514996"/>
                        <a:ext cx="3282950" cy="155892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163005"/>
              </p:ext>
            </p:extLst>
          </p:nvPr>
        </p:nvGraphicFramePr>
        <p:xfrm>
          <a:off x="3567458" y="4746760"/>
          <a:ext cx="3236913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393480" progId="Equation.DSMT4">
                  <p:embed/>
                </p:oleObj>
              </mc:Choice>
              <mc:Fallback>
                <p:oleObj name="Equation" r:id="rId8" imgW="1701720" imgH="393480" progId="Equation.DSMT4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458" y="4746760"/>
                        <a:ext cx="3236913" cy="7477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/>
          <p:cNvSpPr txBox="1">
            <a:spLocks noChangeArrowheads="1"/>
          </p:cNvSpPr>
          <p:nvPr/>
        </p:nvSpPr>
        <p:spPr bwMode="auto">
          <a:xfrm>
            <a:off x="7483885" y="4836077"/>
            <a:ext cx="45076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</a:rPr>
              <a:t>给定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Times New Roman" pitchFamily="18" charset="0"/>
              </a:rPr>
              <a:t>和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baseline="-25000" dirty="0">
                <a:latin typeface="Times New Roman" pitchFamily="18" charset="0"/>
              </a:rPr>
              <a:t>C1</a:t>
            </a:r>
            <a:r>
              <a:rPr lang="zh-CN" altLang="en-US" sz="2400" b="1" dirty="0">
                <a:latin typeface="Times New Roman" pitchFamily="18" charset="0"/>
              </a:rPr>
              <a:t>，可以计算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Times New Roman" pitchFamily="18" charset="0"/>
              </a:rPr>
              <a:t>和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e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  <a:endParaRPr lang="zh-CN" altLang="en-US" sz="2400" b="1" baseline="-25000" dirty="0">
              <a:latin typeface="Times New Roman" pitchFamily="18" charset="0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66282"/>
              </p:ext>
            </p:extLst>
          </p:nvPr>
        </p:nvGraphicFramePr>
        <p:xfrm>
          <a:off x="335970" y="1864277"/>
          <a:ext cx="278765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10" imgW="8183117" imgH="9400000" progId="">
                  <p:embed/>
                </p:oleObj>
              </mc:Choice>
              <mc:Fallback>
                <p:oleObj name="Photo Editor 照片" r:id="rId10" imgW="8183117" imgH="9400000" progId="">
                  <p:embed/>
                  <p:pic>
                    <p:nvPicPr>
                      <p:cNvPr id="276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0" y="1864277"/>
                        <a:ext cx="278765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164770" y="4226480"/>
            <a:ext cx="573088" cy="396875"/>
            <a:chOff x="1584" y="2736"/>
            <a:chExt cx="361" cy="250"/>
          </a:xfrm>
        </p:grpSpPr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1872" y="2736"/>
              <a:ext cx="73" cy="2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0" name="Text Box 12"/>
            <p:cNvSpPr txBox="1">
              <a:spLocks noChangeArrowheads="1"/>
            </p:cNvSpPr>
            <p:nvPr/>
          </p:nvSpPr>
          <p:spPr bwMode="auto">
            <a:xfrm>
              <a:off x="1584" y="2736"/>
              <a:ext cx="3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FF3300"/>
                  </a:solidFill>
                  <a:latin typeface="Times New Roman" pitchFamily="18" charset="0"/>
                </a:rPr>
                <a:t>R</a:t>
              </a:r>
              <a:r>
                <a:rPr kumimoji="1" lang="en-US" altLang="zh-CN" sz="2000" b="1" baseline="-25000">
                  <a:solidFill>
                    <a:srgbClr val="FF3300"/>
                  </a:solidFill>
                  <a:latin typeface="Times New Roman" pitchFamily="18" charset="0"/>
                </a:rPr>
                <a:t>e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166588" y="891159"/>
            <a:ext cx="7056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</a:rPr>
              <a:t>要求提供很小的静态电流，又不能用大电阻。</a:t>
            </a:r>
          </a:p>
        </p:txBody>
      </p:sp>
      <p:sp>
        <p:nvSpPr>
          <p:cNvPr id="3" name="矩形 2"/>
          <p:cNvSpPr/>
          <p:nvPr/>
        </p:nvSpPr>
        <p:spPr>
          <a:xfrm>
            <a:off x="219928" y="36777"/>
            <a:ext cx="27494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latin typeface="Times New Roman" pitchFamily="18" charset="0"/>
                <a:ea typeface="华文楷体" pitchFamily="2" charset="-122"/>
              </a:rPr>
              <a:t>3.4.2 </a:t>
            </a:r>
            <a:r>
              <a:rPr kumimoji="1" lang="zh-CN" altLang="en-US" sz="3200" b="1" dirty="0">
                <a:latin typeface="Times New Roman" pitchFamily="18" charset="0"/>
                <a:ea typeface="华文楷体" pitchFamily="2" charset="-122"/>
              </a:rPr>
              <a:t>微电流源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8912" y="224815"/>
            <a:ext cx="6691313" cy="423862"/>
          </a:xfrm>
          <a:ln/>
        </p:spPr>
        <p:txBody>
          <a:bodyPr>
            <a:normAutofit fontScale="90000"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3200" b="1" dirty="0">
                <a:latin typeface="Times New Roman" pitchFamily="18" charset="0"/>
                <a:ea typeface="华文楷体" pitchFamily="2" charset="-122"/>
              </a:rPr>
              <a:t>3.4.3 </a:t>
            </a:r>
            <a:r>
              <a:rPr kumimoji="1" lang="zh-CN" altLang="en-US" sz="3200" b="1" dirty="0">
                <a:latin typeface="Times New Roman" pitchFamily="18" charset="0"/>
                <a:ea typeface="华文楷体" pitchFamily="2" charset="-122"/>
              </a:rPr>
              <a:t>多路电流源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862359" y="3725885"/>
            <a:ext cx="3733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根据所需静态电流，来选取发射极电阻的数值。</a:t>
            </a:r>
          </a:p>
        </p:txBody>
      </p:sp>
      <p:pic>
        <p:nvPicPr>
          <p:cNvPr id="28676" name="Picture 4" descr="Dz04020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3308" b="-2550"/>
          <a:stretch>
            <a:fillRect/>
          </a:stretch>
        </p:blipFill>
        <p:spPr bwMode="auto">
          <a:xfrm>
            <a:off x="7195563" y="441393"/>
            <a:ext cx="3161245" cy="29742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7287616" y="3654755"/>
            <a:ext cx="3733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根据所需静态电流，来确定集电结面积。</a:t>
            </a:r>
          </a:p>
        </p:txBody>
      </p:sp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462678"/>
              </p:ext>
            </p:extLst>
          </p:nvPr>
        </p:nvGraphicFramePr>
        <p:xfrm>
          <a:off x="595281" y="984496"/>
          <a:ext cx="4267956" cy="25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13857143" imgH="7819048" progId="">
                  <p:embed/>
                </p:oleObj>
              </mc:Choice>
              <mc:Fallback>
                <p:oleObj name="Photo Editor 照片" r:id="rId3" imgW="13857143" imgH="7819048" progId="">
                  <p:embed/>
                  <p:pic>
                    <p:nvPicPr>
                      <p:cNvPr id="286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-4416"/>
                      <a:stretch>
                        <a:fillRect/>
                      </a:stretch>
                    </p:blipFill>
                    <p:spPr bwMode="auto">
                      <a:xfrm>
                        <a:off x="595281" y="984496"/>
                        <a:ext cx="4267956" cy="25145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79" name="Picture 7" descr="Dz04020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-2856"/>
          <a:stretch>
            <a:fillRect/>
          </a:stretch>
        </p:blipFill>
        <p:spPr bwMode="auto">
          <a:xfrm>
            <a:off x="1330142" y="4657118"/>
            <a:ext cx="4530609" cy="219811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333805" y="5411958"/>
            <a:ext cx="327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根据所需静态电流，来确定沟道尺寸。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539DC1-7600-4472-A729-C364C955060E}"/>
              </a:ext>
            </a:extLst>
          </p:cNvPr>
          <p:cNvSpPr/>
          <p:nvPr/>
        </p:nvSpPr>
        <p:spPr>
          <a:xfrm>
            <a:off x="944660" y="2722591"/>
            <a:ext cx="112034" cy="307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  <p:bldP spid="28677" grpId="0" build="p" autoUpdateAnimBg="0"/>
      <p:bldP spid="2868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70503" y="166274"/>
            <a:ext cx="5327650" cy="43180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楷体" pitchFamily="2" charset="-122"/>
              </a:rPr>
              <a:t>3.4.4 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itchFamily="18" charset="0"/>
                <a:ea typeface="华文楷体" pitchFamily="2" charset="-122"/>
              </a:rPr>
              <a:t>有源负载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29699" name="Picture 3" descr="Dz040210"/>
          <p:cNvPicPr>
            <a:picLocks noChangeAspect="1" noChangeArrowheads="1"/>
          </p:cNvPicPr>
          <p:nvPr/>
        </p:nvPicPr>
        <p:blipFill>
          <a:blip r:embed="rId3" cstate="print"/>
          <a:srcRect r="55882" b="10847"/>
          <a:stretch>
            <a:fillRect/>
          </a:stretch>
        </p:blipFill>
        <p:spPr bwMode="auto">
          <a:xfrm>
            <a:off x="1050296" y="1834347"/>
            <a:ext cx="3276600" cy="2730500"/>
          </a:xfrm>
          <a:prstGeom prst="rect">
            <a:avLst/>
          </a:prstGeom>
          <a:noFill/>
        </p:spPr>
      </p:pic>
      <p:pic>
        <p:nvPicPr>
          <p:cNvPr id="29700" name="Picture 4" descr="Dz040210"/>
          <p:cNvPicPr>
            <a:picLocks noChangeAspect="1" noChangeArrowheads="1"/>
          </p:cNvPicPr>
          <p:nvPr/>
        </p:nvPicPr>
        <p:blipFill>
          <a:blip r:embed="rId4" cstate="print"/>
          <a:srcRect l="44118" t="14264" b="25111"/>
          <a:stretch>
            <a:fillRect/>
          </a:stretch>
        </p:blipFill>
        <p:spPr bwMode="auto">
          <a:xfrm>
            <a:off x="1257976" y="4748954"/>
            <a:ext cx="4038600" cy="1806575"/>
          </a:xfrm>
          <a:prstGeom prst="rect">
            <a:avLst/>
          </a:prstGeom>
          <a:noFill/>
        </p:spPr>
      </p:pic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090060"/>
              </p:ext>
            </p:extLst>
          </p:nvPr>
        </p:nvGraphicFramePr>
        <p:xfrm>
          <a:off x="6306993" y="4944551"/>
          <a:ext cx="32766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650960" imgH="431640" progId="Equation.3">
                  <p:embed/>
                </p:oleObj>
              </mc:Choice>
              <mc:Fallback>
                <p:oleObj name="公式" r:id="rId5" imgW="1650960" imgH="431640" progId="Equation.3">
                  <p:embed/>
                  <p:pic>
                    <p:nvPicPr>
                      <p:cNvPr id="297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6993" y="4944551"/>
                        <a:ext cx="3276600" cy="85407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CC33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381245" y="949446"/>
            <a:ext cx="49672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+mn-ea"/>
              </a:rPr>
              <a:t>有源负载共射放大电路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740524"/>
              </p:ext>
            </p:extLst>
          </p:nvPr>
        </p:nvGraphicFramePr>
        <p:xfrm>
          <a:off x="6038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38850" y="3340100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391AC853-8DDD-042C-13DC-A72BC85BDB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98636"/>
              </p:ext>
            </p:extLst>
          </p:nvPr>
        </p:nvGraphicFramePr>
        <p:xfrm>
          <a:off x="5386893" y="1762286"/>
          <a:ext cx="2598588" cy="1004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5920" imgH="393480" progId="Equation.DSMT4">
                  <p:embed/>
                </p:oleObj>
              </mc:Choice>
              <mc:Fallback>
                <p:oleObj name="Equation" r:id="rId9" imgW="1015920" imgH="393480" progId="Equation.DSMT4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893" y="1762286"/>
                        <a:ext cx="2598588" cy="1004872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29DA7F53-98DB-D35E-3229-468A1692B1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794560"/>
              </p:ext>
            </p:extLst>
          </p:nvPr>
        </p:nvGraphicFramePr>
        <p:xfrm>
          <a:off x="5455948" y="3003551"/>
          <a:ext cx="4978690" cy="960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71520" imgH="419040" progId="Equation.DSMT4">
                  <p:embed/>
                </p:oleObj>
              </mc:Choice>
              <mc:Fallback>
                <p:oleObj name="Equation" r:id="rId11" imgW="2171520" imgH="419040" progId="Equation.DSMT4">
                  <p:embed/>
                  <p:pic>
                    <p:nvPicPr>
                      <p:cNvPr id="26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5948" y="3003551"/>
                        <a:ext cx="4978690" cy="960895"/>
                      </a:xfrm>
                      <a:prstGeom prst="rect">
                        <a:avLst/>
                      </a:prstGeom>
                      <a:solidFill>
                        <a:srgbClr val="66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</TotalTime>
  <Words>141</Words>
  <Application>Microsoft Office PowerPoint</Application>
  <PresentationFormat>宽屏</PresentationFormat>
  <Paragraphs>22</Paragraphs>
  <Slides>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等线</vt:lpstr>
      <vt:lpstr>宋体</vt:lpstr>
      <vt:lpstr>Arial</vt:lpstr>
      <vt:lpstr>Calibri</vt:lpstr>
      <vt:lpstr>Calibri Light</vt:lpstr>
      <vt:lpstr>Times New Roman</vt:lpstr>
      <vt:lpstr>Office 主题​​</vt:lpstr>
      <vt:lpstr>Visio</vt:lpstr>
      <vt:lpstr>Equation</vt:lpstr>
      <vt:lpstr>Photo Editor 照片</vt:lpstr>
      <vt:lpstr>公式</vt:lpstr>
      <vt:lpstr>3.4  集成运放中的电流源</vt:lpstr>
      <vt:lpstr>PowerPoint 演示文稿</vt:lpstr>
      <vt:lpstr>PowerPoint 演示文稿</vt:lpstr>
      <vt:lpstr>PowerPoint 演示文稿</vt:lpstr>
      <vt:lpstr>3.4.3 多路电流源</vt:lpstr>
      <vt:lpstr>3.4.4 有源负载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立欣</dc:creator>
  <cp:lastModifiedBy>xp Lee</cp:lastModifiedBy>
  <cp:revision>20</cp:revision>
  <dcterms:created xsi:type="dcterms:W3CDTF">2019-03-19T11:28:25Z</dcterms:created>
  <dcterms:modified xsi:type="dcterms:W3CDTF">2026-06-10T04:48:58Z</dcterms:modified>
</cp:coreProperties>
</file>