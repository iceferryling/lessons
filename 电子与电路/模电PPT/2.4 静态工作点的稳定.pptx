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7"/>
  </p:notes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1" autoAdjust="0"/>
    <p:restoredTop sz="69582" autoAdjust="0"/>
  </p:normalViewPr>
  <p:slideViewPr>
    <p:cSldViewPr snapToGrid="0">
      <p:cViewPr varScale="1">
        <p:scale>
          <a:sx n="50" d="100"/>
          <a:sy n="50" d="100"/>
        </p:scale>
        <p:origin x="128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png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4.wmf"/><Relationship Id="rId1" Type="http://schemas.openxmlformats.org/officeDocument/2006/relationships/image" Target="../media/image17.png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5.png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E930F-1927-4980-8783-722C4F5D2C8B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B0B07-1157-4493-B879-6B32C5CD6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68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93159-0570-449D-966A-C31E68F7A55D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6987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RB1</a:t>
            </a:r>
            <a:r>
              <a:rPr lang="zh-CN" altLang="en-US" dirty="0"/>
              <a:t>开路，讨论，两个切入点。</a:t>
            </a:r>
            <a:endParaRPr lang="en-US" altLang="zh-CN" dirty="0"/>
          </a:p>
          <a:p>
            <a:r>
              <a:rPr lang="zh-CN" altLang="en-US" dirty="0"/>
              <a:t>第五次</a:t>
            </a:r>
            <a:r>
              <a:rPr lang="zh-CN" altLang="en-US" dirty="0" smtClean="0"/>
              <a:t>课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93159-0570-449D-966A-C31E68F7A55D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069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682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1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41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30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976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05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6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908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2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1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256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534587" y="44450"/>
            <a:ext cx="10390716" cy="7683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390651" y="15573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673851" y="15573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390651" y="36909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673851" y="36909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48C44F5-0C0C-9E57-C0C6-1ECB9B8CFC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6801811-C3BD-C694-5A6F-A385C4DFEF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633D549-CFB5-E79A-9627-77C90AD72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CDFD60-C2AA-420E-BD38-F41CCF2103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361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527F-85C6-4307-9FC6-E91190FF9D7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FE61-DF91-4CF4-89B5-695F7F36808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8B52AD9-4007-0A7F-DD07-867B0B351EB2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0" y="748792"/>
            <a:ext cx="12192000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980F6190-01F6-C173-D419-52747720630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336360" y="109670"/>
            <a:ext cx="2611437" cy="384175"/>
            <a:chOff x="4318608" y="5559022"/>
            <a:chExt cx="1957389" cy="385747"/>
          </a:xfrm>
        </p:grpSpPr>
        <p:sp>
          <p:nvSpPr>
            <p:cNvPr id="10" name="文本框 4">
              <a:extLst>
                <a:ext uri="{FF2B5EF4-FFF2-40B4-BE49-F238E27FC236}">
                  <a16:creationId xmlns:a16="http://schemas.microsoft.com/office/drawing/2014/main" id="{0C57414A-F354-0A10-7E16-D7DEC8AD4CB3}"/>
                </a:ext>
              </a:extLst>
            </p:cNvPr>
            <p:cNvSpPr txBox="1"/>
            <p:nvPr userDrawn="1"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2E1F3B2-299D-D4F0-9A72-193C3442F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0658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7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3.wmf"/><Relationship Id="rId18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0.bin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2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oleObject" Target="../embeddings/oleObject14.bin"/><Relationship Id="rId7" Type="http://schemas.openxmlformats.org/officeDocument/2006/relationships/image" Target="../media/image14.wmf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oleObject" Target="../embeddings/oleObject16.bin"/><Relationship Id="rId5" Type="http://schemas.openxmlformats.org/officeDocument/2006/relationships/image" Target="../media/image16.png"/><Relationship Id="rId10" Type="http://schemas.openxmlformats.org/officeDocument/2006/relationships/image" Target="../media/image18.wmf"/><Relationship Id="rId4" Type="http://schemas.openxmlformats.org/officeDocument/2006/relationships/image" Target="../media/image17.png"/><Relationship Id="rId9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3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8.bin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image" Target="../media/image27.png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24.wmf"/><Relationship Id="rId10" Type="http://schemas.openxmlformats.org/officeDocument/2006/relationships/image" Target="../media/image22.wmf"/><Relationship Id="rId19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oleObject" Target="../embeddings/oleObject19.bin"/><Relationship Id="rId1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226875"/>
              </p:ext>
            </p:extLst>
          </p:nvPr>
        </p:nvGraphicFramePr>
        <p:xfrm>
          <a:off x="5048627" y="1799520"/>
          <a:ext cx="3353984" cy="253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Photo Editor 照片" r:id="rId3" imgW="14428571" imgH="10926700" progId="">
                  <p:embed/>
                </p:oleObj>
              </mc:Choice>
              <mc:Fallback>
                <p:oleObj name="Photo Editor 照片" r:id="rId3" imgW="14428571" imgH="10926700" progId="">
                  <p:embed/>
                  <p:pic>
                    <p:nvPicPr>
                      <p:cNvPr id="983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627" y="1799520"/>
                        <a:ext cx="3353984" cy="2539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7" name="Rectangle 3"/>
          <p:cNvSpPr>
            <a:spLocks noGrp="1" noChangeArrowheads="1"/>
          </p:cNvSpPr>
          <p:nvPr>
            <p:ph type="title"/>
          </p:nvPr>
        </p:nvSpPr>
        <p:spPr>
          <a:xfrm>
            <a:off x="284274" y="1049679"/>
            <a:ext cx="4500627" cy="609600"/>
          </a:xfrm>
        </p:spPr>
        <p:txBody>
          <a:bodyPr/>
          <a:lstStyle/>
          <a:p>
            <a:pPr algn="l"/>
            <a:r>
              <a:rPr lang="en-US" altLang="zh-CN" sz="2400" dirty="0" smtClean="0">
                <a:latin typeface="隶书" pitchFamily="49" charset="-122"/>
                <a:ea typeface="华文行楷" pitchFamily="2" charset="-122"/>
              </a:rPr>
              <a:t>2.4.1 </a:t>
            </a:r>
            <a:r>
              <a:rPr lang="zh-CN" altLang="en-US" sz="2400" dirty="0">
                <a:latin typeface="隶书" pitchFamily="49" charset="-122"/>
                <a:ea typeface="华文行楷" pitchFamily="2" charset="-122"/>
              </a:rPr>
              <a:t>温度对</a:t>
            </a:r>
            <a:r>
              <a:rPr lang="zh-CN" altLang="en-US" sz="2400" dirty="0">
                <a:ea typeface="华文行楷" pitchFamily="2" charset="-122"/>
              </a:rPr>
              <a:t>静态工作</a:t>
            </a:r>
            <a:r>
              <a:rPr lang="zh-CN" altLang="zh-CN" sz="2400" dirty="0">
                <a:latin typeface="隶书" pitchFamily="49" charset="-122"/>
                <a:ea typeface="华文行楷" pitchFamily="2" charset="-122"/>
              </a:rPr>
              <a:t>点的影响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620250" y="6365879"/>
            <a:ext cx="2057400" cy="365125"/>
          </a:xfrm>
        </p:spPr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grpSp>
        <p:nvGrpSpPr>
          <p:cNvPr id="2" name="Group 6"/>
          <p:cNvGrpSpPr/>
          <p:nvPr/>
        </p:nvGrpSpPr>
        <p:grpSpPr bwMode="auto">
          <a:xfrm>
            <a:off x="5591240" y="4749558"/>
            <a:ext cx="4134352" cy="1966747"/>
            <a:chOff x="2812" y="1052"/>
            <a:chExt cx="2832" cy="1343"/>
          </a:xfrm>
        </p:grpSpPr>
        <p:sp>
          <p:nvSpPr>
            <p:cNvPr id="98311" name="Text Box 7"/>
            <p:cNvSpPr txBox="1">
              <a:spLocks noChangeArrowheads="1"/>
            </p:cNvSpPr>
            <p:nvPr/>
          </p:nvSpPr>
          <p:spPr bwMode="auto">
            <a:xfrm>
              <a:off x="2812" y="1052"/>
              <a:ext cx="2832" cy="3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（℃）</a:t>
              </a:r>
              <a:r>
                <a:rPr kumimoji="1" lang="zh-CN" altLang="en-US" sz="2400" b="1" dirty="0">
                  <a:latin typeface="Times New Roman" panose="02020603050405020304" pitchFamily="18" charset="0"/>
                </a:rPr>
                <a:t>→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↑→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CQ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98312" name="Text Box 8"/>
            <p:cNvSpPr txBox="1">
              <a:spLocks noChangeArrowheads="1"/>
            </p:cNvSpPr>
            <p:nvPr/>
          </p:nvSpPr>
          <p:spPr bwMode="auto">
            <a:xfrm>
              <a:off x="4590" y="1117"/>
              <a:ext cx="624" cy="31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anose="02020603050405020304" pitchFamily="18" charset="0"/>
                </a:rPr>
                <a:t>→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Q</a:t>
              </a:r>
              <a:r>
                <a:rPr kumimoji="1" lang="en-US" altLang="zh-CN" sz="2400" b="1" baseline="30000" dirty="0">
                  <a:latin typeface="Times New Roman" panose="02020603050405020304" pitchFamily="18" charset="0"/>
                </a:rPr>
                <a:t>’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" name="Group 9"/>
            <p:cNvGrpSpPr/>
            <p:nvPr/>
          </p:nvGrpSpPr>
          <p:grpSpPr bwMode="auto">
            <a:xfrm>
              <a:off x="3257" y="1498"/>
              <a:ext cx="1200" cy="391"/>
              <a:chOff x="3120" y="1392"/>
              <a:chExt cx="1200" cy="391"/>
            </a:xfrm>
          </p:grpSpPr>
          <p:sp>
            <p:nvSpPr>
              <p:cNvPr id="98314" name="Line 10"/>
              <p:cNvSpPr>
                <a:spLocks noChangeShapeType="1"/>
              </p:cNvSpPr>
              <p:nvPr/>
            </p:nvSpPr>
            <p:spPr bwMode="auto">
              <a:xfrm flipV="1">
                <a:off x="4128" y="1440"/>
                <a:ext cx="19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15" name="Text Box 11"/>
              <p:cNvSpPr txBox="1">
                <a:spLocks noChangeArrowheads="1"/>
              </p:cNvSpPr>
              <p:nvPr/>
            </p:nvSpPr>
            <p:spPr bwMode="auto">
              <a:xfrm>
                <a:off x="3504" y="1392"/>
                <a:ext cx="768" cy="3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kumimoji="1" lang="en-US" altLang="zh-CN" sz="2400" b="1" i="1" dirty="0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</a:rPr>
                  <a:t>CEO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98316" name="Line 12"/>
              <p:cNvSpPr>
                <a:spLocks noChangeShapeType="1"/>
              </p:cNvSpPr>
              <p:nvPr/>
            </p:nvSpPr>
            <p:spPr bwMode="auto">
              <a:xfrm>
                <a:off x="3120" y="1392"/>
                <a:ext cx="384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319" name="Text Box 15"/>
            <p:cNvSpPr txBox="1">
              <a:spLocks noChangeArrowheads="1"/>
            </p:cNvSpPr>
            <p:nvPr/>
          </p:nvSpPr>
          <p:spPr bwMode="auto">
            <a:xfrm>
              <a:off x="3232" y="2004"/>
              <a:ext cx="1883" cy="3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>
                <a:lnSpc>
                  <a:spcPct val="130000"/>
                </a:lnSpc>
              </a:pP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8322" name="Line 18"/>
          <p:cNvSpPr>
            <a:spLocks noChangeShapeType="1"/>
          </p:cNvSpPr>
          <p:nvPr/>
        </p:nvSpPr>
        <p:spPr bwMode="auto">
          <a:xfrm flipH="1" flipV="1">
            <a:off x="6436887" y="2888645"/>
            <a:ext cx="242428" cy="1577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19"/>
          <p:cNvGrpSpPr/>
          <p:nvPr/>
        </p:nvGrpSpPr>
        <p:grpSpPr bwMode="auto">
          <a:xfrm>
            <a:off x="6423861" y="2587379"/>
            <a:ext cx="417282" cy="369306"/>
            <a:chOff x="1269" y="1465"/>
            <a:chExt cx="315" cy="377"/>
          </a:xfrm>
        </p:grpSpPr>
        <p:sp>
          <p:nvSpPr>
            <p:cNvPr id="98324" name="Oval 20"/>
            <p:cNvSpPr>
              <a:spLocks noChangeArrowheads="1"/>
            </p:cNvSpPr>
            <p:nvPr/>
          </p:nvSpPr>
          <p:spPr bwMode="auto">
            <a:xfrm>
              <a:off x="1269" y="1738"/>
              <a:ext cx="57" cy="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5" name="Text Box 21"/>
            <p:cNvSpPr txBox="1">
              <a:spLocks noChangeArrowheads="1"/>
            </p:cNvSpPr>
            <p:nvPr/>
          </p:nvSpPr>
          <p:spPr bwMode="auto">
            <a:xfrm>
              <a:off x="1296" y="1465"/>
              <a:ext cx="288" cy="3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Q</a:t>
              </a:r>
              <a:r>
                <a:rPr kumimoji="1" lang="en-US" altLang="zh-CN" baseline="30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’</a:t>
              </a:r>
              <a:endPara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2" name="Rectangle 2"/>
          <p:cNvSpPr txBox="1">
            <a:spLocks noChangeArrowheads="1"/>
          </p:cNvSpPr>
          <p:nvPr/>
        </p:nvSpPr>
        <p:spPr bwMode="auto">
          <a:xfrm>
            <a:off x="113817" y="-115419"/>
            <a:ext cx="7772400" cy="7858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kern="0" dirty="0" smtClean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2.4  </a:t>
            </a:r>
            <a:r>
              <a:rPr lang="zh-CN" altLang="en-US" sz="3200" kern="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静态工作点的稳定</a:t>
            </a:r>
          </a:p>
        </p:txBody>
      </p:sp>
      <p:pic>
        <p:nvPicPr>
          <p:cNvPr id="23" name="Picture 2" descr="Dz020205"/>
          <p:cNvPicPr>
            <a:picLocks noChangeAspect="1" noChangeArrowheads="1"/>
          </p:cNvPicPr>
          <p:nvPr/>
        </p:nvPicPr>
        <p:blipFill>
          <a:blip r:embed="rId5" cstate="print"/>
          <a:srcRect l="-2573" r="40826" b="12106"/>
          <a:stretch>
            <a:fillRect/>
          </a:stretch>
        </p:blipFill>
        <p:spPr bwMode="auto">
          <a:xfrm>
            <a:off x="1021065" y="1992383"/>
            <a:ext cx="3257146" cy="2336648"/>
          </a:xfrm>
          <a:prstGeom prst="rect">
            <a:avLst/>
          </a:prstGeom>
          <a:noFill/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31996DD-8245-C1CF-8DEB-DCA80C7BE6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132496"/>
              </p:ext>
            </p:extLst>
          </p:nvPr>
        </p:nvGraphicFramePr>
        <p:xfrm>
          <a:off x="1606771" y="4564982"/>
          <a:ext cx="2011408" cy="1376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6" imgW="965160" imgH="660240" progId="Equation.DSMT4">
                  <p:embed/>
                </p:oleObj>
              </mc:Choice>
              <mc:Fallback>
                <p:oleObj name="Equation" r:id="rId6" imgW="96516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06771" y="4564982"/>
                        <a:ext cx="2011408" cy="1376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0601808-CDF9-D6B3-9969-84D18355A9E5}"/>
              </a:ext>
            </a:extLst>
          </p:cNvPr>
          <p:cNvSpPr txBox="1"/>
          <p:nvPr/>
        </p:nvSpPr>
        <p:spPr>
          <a:xfrm>
            <a:off x="1091821" y="1478506"/>
            <a:ext cx="3806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固定偏置共射放大电路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8100959" y="1013654"/>
            <a:ext cx="3786241" cy="9787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i="1" dirty="0">
                <a:solidFill>
                  <a:srgbClr val="A5002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点稳定，是指</a:t>
            </a:r>
            <a:r>
              <a:rPr lang="en-US" altLang="zh-CN" sz="2400" b="1" i="1" dirty="0">
                <a:solidFill>
                  <a:srgbClr val="A5002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CQ</a:t>
            </a:r>
            <a:r>
              <a:rPr lang="zh-CN" altLang="en-US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solidFill>
                  <a:srgbClr val="A5002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CEQ</a:t>
            </a:r>
            <a:r>
              <a:rPr lang="zh-CN" altLang="en-US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在温度变化时基本不变。</a:t>
            </a:r>
            <a:endParaRPr lang="zh-CN" altLang="en-US" sz="2400" b="1" baseline="-25000" dirty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52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22" grpId="0" animBg="1"/>
      <p:bldP spid="24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7" name="Object 1" descr="image1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410183"/>
              </p:ext>
            </p:extLst>
          </p:nvPr>
        </p:nvGraphicFramePr>
        <p:xfrm>
          <a:off x="1214121" y="1543383"/>
          <a:ext cx="3380246" cy="297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Photo Editor 照片" r:id="rId4" imgW="10945753" imgH="9647619" progId="">
                  <p:embed/>
                </p:oleObj>
              </mc:Choice>
              <mc:Fallback>
                <p:oleObj name="Photo Editor 照片" r:id="rId4" imgW="10945753" imgH="9647619" progId="">
                  <p:embed/>
                  <p:pic>
                    <p:nvPicPr>
                      <p:cNvPr id="86017" name="Object 1" descr="image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121" y="1543383"/>
                        <a:ext cx="3380246" cy="2979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-27314" y="82898"/>
            <a:ext cx="7131050" cy="668338"/>
          </a:xfrm>
        </p:spPr>
        <p:txBody>
          <a:bodyPr/>
          <a:lstStyle/>
          <a:p>
            <a:pPr algn="l">
              <a:lnSpc>
                <a:spcPct val="115000"/>
              </a:lnSpc>
            </a:pPr>
            <a:r>
              <a:rPr lang="en-US" altLang="zh-CN" sz="3200" dirty="0" smtClean="0">
                <a:ea typeface="华文行楷" pitchFamily="2" charset="-122"/>
              </a:rPr>
              <a:t>2.4.2 </a:t>
            </a:r>
            <a:r>
              <a:rPr lang="zh-CN" altLang="en-US" sz="3200" dirty="0">
                <a:ea typeface="华文行楷" pitchFamily="2" charset="-122"/>
              </a:rPr>
              <a:t>静态工作点稳定的</a:t>
            </a:r>
            <a:r>
              <a:rPr lang="zh-CN" altLang="zh-CN" sz="3200" dirty="0">
                <a:ea typeface="华文行楷" pitchFamily="2" charset="-122"/>
              </a:rPr>
              <a:t>典型电路</a:t>
            </a:r>
            <a:r>
              <a:rPr lang="zh-CN" altLang="zh-CN" sz="3200" b="1" dirty="0"/>
              <a:t> </a:t>
            </a:r>
            <a:endParaRPr lang="zh-CN" altLang="en-US" sz="28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grpSp>
        <p:nvGrpSpPr>
          <p:cNvPr id="3" name="Group 7"/>
          <p:cNvGrpSpPr/>
          <p:nvPr/>
        </p:nvGrpSpPr>
        <p:grpSpPr bwMode="auto">
          <a:xfrm>
            <a:off x="6249893" y="1397940"/>
            <a:ext cx="3816424" cy="3096344"/>
            <a:chOff x="3792" y="1392"/>
            <a:chExt cx="1651" cy="1584"/>
          </a:xfrm>
        </p:grpSpPr>
        <p:pic>
          <p:nvPicPr>
            <p:cNvPr id="99336" name="Picture 8" descr="Dz020402"/>
            <p:cNvPicPr>
              <a:picLocks noChangeAspect="1" noChangeArrowheads="1"/>
            </p:cNvPicPr>
            <p:nvPr/>
          </p:nvPicPr>
          <p:blipFill>
            <a:blip r:embed="rId6" cstate="print"/>
            <a:srcRect l="70410" r="-354" b="13460"/>
            <a:stretch>
              <a:fillRect/>
            </a:stretch>
          </p:blipFill>
          <p:spPr bwMode="auto">
            <a:xfrm>
              <a:off x="4080" y="1392"/>
              <a:ext cx="1363" cy="158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</p:pic>
        <p:sp>
          <p:nvSpPr>
            <p:cNvPr id="99337" name="AutoShape 9"/>
            <p:cNvSpPr>
              <a:spLocks noChangeArrowheads="1"/>
            </p:cNvSpPr>
            <p:nvPr/>
          </p:nvSpPr>
          <p:spPr bwMode="auto">
            <a:xfrm>
              <a:off x="3792" y="2064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66FFFF"/>
            </a:solidFill>
            <a:ln w="2857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9338" name="AutoShape 10"/>
          <p:cNvSpPr/>
          <p:nvPr/>
        </p:nvSpPr>
        <p:spPr bwMode="auto">
          <a:xfrm>
            <a:off x="2270229" y="4574628"/>
            <a:ext cx="3360738" cy="427349"/>
          </a:xfrm>
          <a:prstGeom prst="borderCallout1">
            <a:avLst>
              <a:gd name="adj1" fmla="val -1"/>
              <a:gd name="adj2" fmla="val 53804"/>
              <a:gd name="adj3" fmla="val -140731"/>
              <a:gd name="adj4" fmla="val 40890"/>
            </a:avLst>
          </a:prstGeom>
          <a:solidFill>
            <a:srgbClr val="FFFF00"/>
          </a:solidFill>
          <a:ln w="19050">
            <a:solidFill>
              <a:srgbClr val="C0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旁路电容，交流短路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95859"/>
              </p:ext>
            </p:extLst>
          </p:nvPr>
        </p:nvGraphicFramePr>
        <p:xfrm>
          <a:off x="1154272" y="5133435"/>
          <a:ext cx="28844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7" imgW="30480000" imgH="10363200" progId="Equation.3">
                  <p:embed/>
                </p:oleObj>
              </mc:Choice>
              <mc:Fallback>
                <p:oleObj name="Equation" r:id="rId7" imgW="30480000" imgH="10363200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272" y="5133435"/>
                        <a:ext cx="2884487" cy="8636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370490"/>
              </p:ext>
            </p:extLst>
          </p:nvPr>
        </p:nvGraphicFramePr>
        <p:xfrm>
          <a:off x="5258420" y="5104741"/>
          <a:ext cx="27432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9" imgW="27736800" imgH="10668000" progId="Equation.3">
                  <p:embed/>
                </p:oleObj>
              </mc:Choice>
              <mc:Fallback>
                <p:oleObj name="Equation" r:id="rId9" imgW="27736800" imgH="10668000" progId="Equation.3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8420" y="5104741"/>
                        <a:ext cx="2743200" cy="92868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100587" y="6135715"/>
            <a:ext cx="7704856" cy="466725"/>
          </a:xfrm>
          <a:prstGeom prst="rect">
            <a:avLst/>
          </a:prstGeom>
          <a:solidFill>
            <a:srgbClr val="00FFFF"/>
          </a:solidFill>
          <a:ln w="9525">
            <a:solidFill>
              <a:srgbClr val="FF3300"/>
            </a:solidFill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(℃)↑→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↑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E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↑→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↓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基本不变）→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↓→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↓ </a:t>
            </a:r>
          </a:p>
        </p:txBody>
      </p:sp>
      <p:sp>
        <p:nvSpPr>
          <p:cNvPr id="12" name="AutoShape 10"/>
          <p:cNvSpPr/>
          <p:nvPr/>
        </p:nvSpPr>
        <p:spPr bwMode="auto">
          <a:xfrm>
            <a:off x="8674776" y="5384374"/>
            <a:ext cx="2112417" cy="427349"/>
          </a:xfrm>
          <a:prstGeom prst="borderCallout1">
            <a:avLst>
              <a:gd name="adj1" fmla="val 105858"/>
              <a:gd name="adj2" fmla="val 61778"/>
              <a:gd name="adj3" fmla="val 201621"/>
              <a:gd name="adj4" fmla="val 53876"/>
            </a:avLst>
          </a:prstGeom>
          <a:solidFill>
            <a:srgbClr val="FFFF00"/>
          </a:solidFill>
          <a:ln w="19050">
            <a:solidFill>
              <a:srgbClr val="C0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反馈调整过程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B76851-A553-738C-06EE-E22573085587}"/>
              </a:ext>
            </a:extLst>
          </p:cNvPr>
          <p:cNvSpPr txBox="1"/>
          <p:nvPr/>
        </p:nvSpPr>
        <p:spPr>
          <a:xfrm>
            <a:off x="394547" y="975831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分压偏置共射放大电路</a:t>
            </a:r>
          </a:p>
        </p:txBody>
      </p:sp>
    </p:spTree>
    <p:extLst>
      <p:ext uri="{BB962C8B-B14F-4D97-AF65-F5344CB8AC3E}">
        <p14:creationId xmlns:p14="http://schemas.microsoft.com/office/powerpoint/2010/main" val="285541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8" grpId="0" animBg="1" autoUpdateAnimBg="0"/>
      <p:bldP spid="11" grpId="0" animBg="1" autoUpdateAnimBg="0"/>
      <p:bldP spid="12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 descr="Dz02040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78000"/>
          </a:blip>
          <a:srcRect l="70410" r="-354" b="13460"/>
          <a:stretch>
            <a:fillRect/>
          </a:stretch>
        </p:blipFill>
        <p:spPr bwMode="auto">
          <a:xfrm>
            <a:off x="769905" y="891515"/>
            <a:ext cx="2651905" cy="308076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2403" name="Rectangle 3"/>
          <p:cNvSpPr>
            <a:spLocks noGrp="1" noChangeArrowheads="1"/>
          </p:cNvSpPr>
          <p:nvPr>
            <p:ph type="title" sz="quarter"/>
          </p:nvPr>
        </p:nvSpPr>
        <p:spPr>
          <a:xfrm>
            <a:off x="173038" y="227162"/>
            <a:ext cx="7772400" cy="36036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2800" dirty="0" smtClean="0">
                <a:latin typeface="华文行楷" pitchFamily="2" charset="-122"/>
                <a:ea typeface="华文行楷" pitchFamily="2" charset="-122"/>
              </a:rPr>
              <a:t>2.4.3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静态分析</a:t>
            </a:r>
            <a:endParaRPr lang="zh-CN" altLang="en-US" sz="2800" dirty="0">
              <a:ea typeface="华文行楷" pitchFamily="2" charset="-122"/>
            </a:endParaRPr>
          </a:p>
        </p:txBody>
      </p:sp>
      <p:graphicFrame>
        <p:nvGraphicFramePr>
          <p:cNvPr id="102416" name="Object 16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240057820"/>
              </p:ext>
            </p:extLst>
          </p:nvPr>
        </p:nvGraphicFramePr>
        <p:xfrm>
          <a:off x="4945397" y="5764849"/>
          <a:ext cx="3665203" cy="1024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Equation" r:id="rId4" imgW="1726920" imgH="482400" progId="Equation.DSMT4">
                  <p:embed/>
                </p:oleObj>
              </mc:Choice>
              <mc:Fallback>
                <p:oleObj name="Equation" r:id="rId4" imgW="1726920" imgH="482400" progId="Equation.DSMT4">
                  <p:embed/>
                  <p:pic>
                    <p:nvPicPr>
                      <p:cNvPr id="102416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397" y="5764849"/>
                        <a:ext cx="3665203" cy="1024009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37000" y="5240338"/>
          <a:ext cx="122238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公式" r:id="rId6" imgW="2743200" imgH="5181600" progId="Equation.3">
                  <p:embed/>
                </p:oleObj>
              </mc:Choice>
              <mc:Fallback>
                <p:oleObj name="公式" r:id="rId6" imgW="2743200" imgH="5181600" progId="Equation.3">
                  <p:embed/>
                  <p:pic>
                    <p:nvPicPr>
                      <p:cNvPr id="102404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0" y="5240338"/>
                        <a:ext cx="122238" cy="230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5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026010725"/>
              </p:ext>
            </p:extLst>
          </p:nvPr>
        </p:nvGraphicFramePr>
        <p:xfrm>
          <a:off x="4950300" y="4148179"/>
          <a:ext cx="2447925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8" imgW="29565600" imgH="15849600" progId="Equation.3">
                  <p:embed/>
                </p:oleObj>
              </mc:Choice>
              <mc:Fallback>
                <p:oleObj name="Equation" r:id="rId8" imgW="29565600" imgH="15849600" progId="Equation.3">
                  <p:embed/>
                  <p:pic>
                    <p:nvPicPr>
                      <p:cNvPr id="102405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0300" y="4148179"/>
                        <a:ext cx="2447925" cy="13128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DFD60-C2AA-420E-BD38-F41CCF210397}" type="slidenum">
              <a:rPr lang="en-US" altLang="zh-CN" smtClean="0"/>
              <a:pPr/>
              <a:t>3</a:t>
            </a:fld>
            <a:endParaRPr lang="en-US" altLang="zh-CN"/>
          </a:p>
        </p:txBody>
      </p:sp>
      <p:graphicFrame>
        <p:nvGraphicFramePr>
          <p:cNvPr id="1024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476548"/>
              </p:ext>
            </p:extLst>
          </p:nvPr>
        </p:nvGraphicFramePr>
        <p:xfrm>
          <a:off x="941481" y="4115921"/>
          <a:ext cx="2822965" cy="1675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10" imgW="1536480" imgH="914400" progId="Equation.DSMT4">
                  <p:embed/>
                </p:oleObj>
              </mc:Choice>
              <mc:Fallback>
                <p:oleObj name="Equation" r:id="rId10" imgW="1536480" imgH="914400" progId="Equation.DSMT4">
                  <p:embed/>
                  <p:pic>
                    <p:nvPicPr>
                      <p:cNvPr id="1024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481" y="4115921"/>
                        <a:ext cx="2822965" cy="1675036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342333"/>
              </p:ext>
            </p:extLst>
          </p:nvPr>
        </p:nvGraphicFramePr>
        <p:xfrm>
          <a:off x="941481" y="5923841"/>
          <a:ext cx="2988892" cy="865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Equation" r:id="rId12" imgW="39928800" imgH="11582400" progId="Equation.DSMT4">
                  <p:embed/>
                </p:oleObj>
              </mc:Choice>
              <mc:Fallback>
                <p:oleObj name="Equation" r:id="rId12" imgW="39928800" imgH="11582400" progId="Equation.DSMT4">
                  <p:embed/>
                  <p:pic>
                    <p:nvPicPr>
                      <p:cNvPr id="1024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481" y="5923841"/>
                        <a:ext cx="2988892" cy="86501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9" name="Object 9"/>
          <p:cNvGraphicFramePr>
            <a:graphicFrameLocks noChangeAspect="1"/>
          </p:cNvGraphicFramePr>
          <p:nvPr/>
        </p:nvGraphicFramePr>
        <p:xfrm>
          <a:off x="5755387" y="3450296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公式" r:id="rId14" imgW="2743200" imgH="5181600" progId="Equation.3">
                  <p:embed/>
                </p:oleObj>
              </mc:Choice>
              <mc:Fallback>
                <p:oleObj name="公式" r:id="rId14" imgW="2743200" imgH="5181600" progId="Equation.3">
                  <p:embed/>
                  <p:pic>
                    <p:nvPicPr>
                      <p:cNvPr id="1024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5387" y="3450296"/>
                        <a:ext cx="112713" cy="214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0" name="Object 10"/>
          <p:cNvGraphicFramePr>
            <a:graphicFrameLocks noChangeAspect="1"/>
          </p:cNvGraphicFramePr>
          <p:nvPr/>
        </p:nvGraphicFramePr>
        <p:xfrm>
          <a:off x="5755387" y="3450296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公式" r:id="rId16" imgW="2743200" imgH="5181600" progId="Equation.3">
                  <p:embed/>
                </p:oleObj>
              </mc:Choice>
              <mc:Fallback>
                <p:oleObj name="公式" r:id="rId16" imgW="2743200" imgH="5181600" progId="Equation.3">
                  <p:embed/>
                  <p:pic>
                    <p:nvPicPr>
                      <p:cNvPr id="1024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5387" y="3450296"/>
                        <a:ext cx="112713" cy="214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/>
          <p:nvPr/>
        </p:nvGrpSpPr>
        <p:grpSpPr bwMode="auto">
          <a:xfrm>
            <a:off x="3764446" y="994588"/>
            <a:ext cx="2614613" cy="2794000"/>
            <a:chOff x="1625" y="677"/>
            <a:chExt cx="1647" cy="1760"/>
          </a:xfrm>
        </p:grpSpPr>
        <p:graphicFrame>
          <p:nvGraphicFramePr>
            <p:cNvPr id="102414" name="Object 14"/>
            <p:cNvGraphicFramePr>
              <a:graphicFrameLocks noChangeAspect="1"/>
            </p:cNvGraphicFramePr>
            <p:nvPr/>
          </p:nvGraphicFramePr>
          <p:xfrm>
            <a:off x="2138" y="677"/>
            <a:ext cx="1134" cy="1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Photo Editor 照片" r:id="rId17" imgW="6066667" imgH="9419048" progId="">
                    <p:embed/>
                  </p:oleObj>
                </mc:Choice>
                <mc:Fallback>
                  <p:oleObj name="Photo Editor 照片" r:id="rId17" imgW="6066667" imgH="9419048" progId="">
                    <p:embed/>
                    <p:pic>
                      <p:nvPicPr>
                        <p:cNvPr id="10241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8" y="677"/>
                          <a:ext cx="1134" cy="17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13" name="AutoShape 13"/>
            <p:cNvSpPr>
              <a:spLocks noChangeArrowheads="1"/>
            </p:cNvSpPr>
            <p:nvPr/>
          </p:nvSpPr>
          <p:spPr bwMode="auto">
            <a:xfrm>
              <a:off x="1625" y="1435"/>
              <a:ext cx="314" cy="284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rgbClr val="66FFFF"/>
            </a:solidFill>
            <a:ln w="2857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6777998" y="885912"/>
            <a:ext cx="5544616" cy="147732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【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2.4.1 】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CC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12V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b1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b2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15kΩ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2.3kΩ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 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=5.1kΩ 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i="1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=1.5kΩ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，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50, 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=0.7V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23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044723"/>
              </p:ext>
            </p:extLst>
          </p:nvPr>
        </p:nvGraphicFramePr>
        <p:xfrm>
          <a:off x="5107386" y="4101333"/>
          <a:ext cx="3285103" cy="2695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Photo Editor 照片" r:id="rId3" imgW="11780952" imgH="9666667" progId="">
                  <p:embed/>
                </p:oleObj>
              </mc:Choice>
              <mc:Fallback>
                <p:oleObj name="Photo Editor 照片" r:id="rId3" imgW="11780952" imgH="9666667" progId="">
                  <p:embed/>
                  <p:pic>
                    <p:nvPicPr>
                      <p:cNvPr id="3584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7386" y="4101333"/>
                        <a:ext cx="3285103" cy="2695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 descr="Dz020402">
            <a:extLst>
              <a:ext uri="{FF2B5EF4-FFF2-40B4-BE49-F238E27FC236}">
                <a16:creationId xmlns:a16="http://schemas.microsoft.com/office/drawing/2014/main" id="{9D191910-6AA8-6864-E37B-31AB07E8A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78000"/>
          </a:blip>
          <a:srcRect l="70410" r="-354" b="13460"/>
          <a:stretch>
            <a:fillRect/>
          </a:stretch>
        </p:blipFill>
        <p:spPr bwMode="auto">
          <a:xfrm>
            <a:off x="1842200" y="622958"/>
            <a:ext cx="2886075" cy="3352800"/>
          </a:xfrm>
          <a:prstGeom prst="rect">
            <a:avLst/>
          </a:prstGeom>
          <a:solidFill>
            <a:srgbClr val="FFFFFF"/>
          </a:solidFill>
        </p:spPr>
      </p:pic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3597DD57-EA43-678F-BDEB-CC6C047959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55387" y="3450296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公式" r:id="rId6" imgW="2743200" imgH="5181600" progId="Equation.3">
                  <p:embed/>
                </p:oleObj>
              </mc:Choice>
              <mc:Fallback>
                <p:oleObj name="公式" r:id="rId6" imgW="2743200" imgH="5181600" progId="Equation.3">
                  <p:embed/>
                  <p:pic>
                    <p:nvPicPr>
                      <p:cNvPr id="1024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5387" y="3450296"/>
                        <a:ext cx="112713" cy="214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7B03613F-D7B3-6201-D118-542FED9E28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55387" y="3450296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公式" r:id="rId8" imgW="2743200" imgH="5181600" progId="Equation.3">
                  <p:embed/>
                </p:oleObj>
              </mc:Choice>
              <mc:Fallback>
                <p:oleObj name="公式" r:id="rId8" imgW="2743200" imgH="5181600" progId="Equation.3">
                  <p:embed/>
                  <p:pic>
                    <p:nvPicPr>
                      <p:cNvPr id="1024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5387" y="3450296"/>
                        <a:ext cx="112713" cy="214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0E758FF2-4DCA-999C-4955-B2A652356FBE}"/>
              </a:ext>
            </a:extLst>
          </p:cNvPr>
          <p:cNvSpPr txBox="1"/>
          <p:nvPr/>
        </p:nvSpPr>
        <p:spPr>
          <a:xfrm>
            <a:off x="5356595" y="483529"/>
            <a:ext cx="4608512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讨论：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开路，会有何现象？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B13561A-497B-326B-FCD5-D8A443E383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539054"/>
              </p:ext>
            </p:extLst>
          </p:nvPr>
        </p:nvGraphicFramePr>
        <p:xfrm>
          <a:off x="5356598" y="1104753"/>
          <a:ext cx="3975905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Equation" r:id="rId9" imgW="2158920" imgH="901440" progId="Equation.DSMT4">
                  <p:embed/>
                </p:oleObj>
              </mc:Choice>
              <mc:Fallback>
                <p:oleObj name="Equation" r:id="rId9" imgW="215892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56598" y="1104753"/>
                        <a:ext cx="3975905" cy="166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61786CC-29D8-04A4-A03C-D08C143CAE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573741"/>
              </p:ext>
            </p:extLst>
          </p:nvPr>
        </p:nvGraphicFramePr>
        <p:xfrm>
          <a:off x="5288659" y="2968492"/>
          <a:ext cx="3007616" cy="929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Equation" r:id="rId11" imgW="1396800" imgH="431640" progId="Equation.DSMT4">
                  <p:embed/>
                </p:oleObj>
              </mc:Choice>
              <mc:Fallback>
                <p:oleObj name="Equation" r:id="rId11" imgW="1396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88659" y="2968492"/>
                        <a:ext cx="3007616" cy="929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5403890" y="5683266"/>
            <a:ext cx="2513211" cy="8672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6391154" y="5978324"/>
            <a:ext cx="75236" cy="1099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403887" y="5628283"/>
            <a:ext cx="75236" cy="1099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391157" y="5624819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b1</a:t>
            </a:r>
            <a:r>
              <a:rPr lang="zh-CN" alt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未开路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394475" y="5368911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b1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开路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83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animBg="1"/>
      <p:bldP spid="11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02910" y="254670"/>
            <a:ext cx="4598988" cy="579438"/>
          </a:xfrm>
        </p:spPr>
        <p:txBody>
          <a:bodyPr/>
          <a:lstStyle/>
          <a:p>
            <a:pPr algn="l"/>
            <a:r>
              <a:rPr lang="en-US" altLang="zh-CN" sz="2800" dirty="0" smtClean="0">
                <a:latin typeface="华文行楷" pitchFamily="2" charset="-122"/>
                <a:ea typeface="华文行楷" pitchFamily="2" charset="-122"/>
              </a:rPr>
              <a:t>2.4.4 </a:t>
            </a:r>
            <a:r>
              <a:rPr lang="zh-CN" altLang="en-US" sz="2800" dirty="0">
                <a:latin typeface="华文行楷" pitchFamily="2" charset="-122"/>
                <a:ea typeface="华文行楷" pitchFamily="2" charset="-122"/>
              </a:rPr>
              <a:t>动态分析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103427" name="Picture 3" descr="Dz020404"/>
          <p:cNvPicPr>
            <a:picLocks noChangeAspect="1" noChangeArrowheads="1"/>
          </p:cNvPicPr>
          <p:nvPr/>
        </p:nvPicPr>
        <p:blipFill>
          <a:blip r:embed="rId4" cstate="print"/>
          <a:srcRect b="59172"/>
          <a:stretch>
            <a:fillRect/>
          </a:stretch>
        </p:blipFill>
        <p:spPr bwMode="auto">
          <a:xfrm>
            <a:off x="1814565" y="2871546"/>
            <a:ext cx="3816474" cy="1441485"/>
          </a:xfrm>
          <a:prstGeom prst="rect">
            <a:avLst/>
          </a:prstGeom>
          <a:noFill/>
        </p:spPr>
      </p:pic>
      <p:graphicFrame>
        <p:nvGraphicFramePr>
          <p:cNvPr id="103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347498"/>
              </p:ext>
            </p:extLst>
          </p:nvPr>
        </p:nvGraphicFramePr>
        <p:xfrm>
          <a:off x="1722791" y="4520480"/>
          <a:ext cx="20986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公式" r:id="rId5" imgW="27432000" imgH="10972800" progId="Equation.3">
                  <p:embed/>
                </p:oleObj>
              </mc:Choice>
              <mc:Fallback>
                <p:oleObj name="公式" r:id="rId5" imgW="27432000" imgH="10972800" progId="Equation.3">
                  <p:embed/>
                  <p:pic>
                    <p:nvPicPr>
                      <p:cNvPr id="1034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791" y="4520480"/>
                        <a:ext cx="2098675" cy="8382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352786"/>
              </p:ext>
            </p:extLst>
          </p:nvPr>
        </p:nvGraphicFramePr>
        <p:xfrm>
          <a:off x="1730597" y="5528767"/>
          <a:ext cx="23622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公式" r:id="rId7" imgW="29260800" imgH="5486400" progId="Equation.3">
                  <p:embed/>
                </p:oleObj>
              </mc:Choice>
              <mc:Fallback>
                <p:oleObj name="公式" r:id="rId7" imgW="29260800" imgH="5486400" progId="Equation.3">
                  <p:embed/>
                  <p:pic>
                    <p:nvPicPr>
                      <p:cNvPr id="1034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597" y="5528767"/>
                        <a:ext cx="2362200" cy="4413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135125"/>
              </p:ext>
            </p:extLst>
          </p:nvPr>
        </p:nvGraphicFramePr>
        <p:xfrm>
          <a:off x="1702910" y="6139681"/>
          <a:ext cx="9144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公式" r:id="rId9" imgW="11887200" imgH="5486400" progId="Equation.3">
                  <p:embed/>
                </p:oleObj>
              </mc:Choice>
              <mc:Fallback>
                <p:oleObj name="公式" r:id="rId9" imgW="11887200" imgH="5486400" progId="Equation.3">
                  <p:embed/>
                  <p:pic>
                    <p:nvPicPr>
                      <p:cNvPr id="1034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910" y="6139681"/>
                        <a:ext cx="914400" cy="4238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431" name="Picture 7" descr="Dz020404"/>
          <p:cNvPicPr>
            <a:picLocks noChangeAspect="1" noChangeArrowheads="1"/>
          </p:cNvPicPr>
          <p:nvPr/>
        </p:nvPicPr>
        <p:blipFill>
          <a:blip r:embed="rId11" cstate="print"/>
          <a:srcRect t="46962" b="7501"/>
          <a:stretch>
            <a:fillRect/>
          </a:stretch>
        </p:blipFill>
        <p:spPr bwMode="auto">
          <a:xfrm>
            <a:off x="6560963" y="2979448"/>
            <a:ext cx="3816474" cy="1606100"/>
          </a:xfrm>
          <a:prstGeom prst="rect">
            <a:avLst/>
          </a:prstGeom>
          <a:noFill/>
        </p:spPr>
      </p:pic>
      <p:graphicFrame>
        <p:nvGraphicFramePr>
          <p:cNvPr id="1034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271121"/>
              </p:ext>
            </p:extLst>
          </p:nvPr>
        </p:nvGraphicFramePr>
        <p:xfrm>
          <a:off x="5086411" y="4597402"/>
          <a:ext cx="2089144" cy="2124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公式" r:id="rId12" imgW="33528000" imgH="34137600" progId="Equation.3">
                  <p:embed/>
                </p:oleObj>
              </mc:Choice>
              <mc:Fallback>
                <p:oleObj name="公式" r:id="rId12" imgW="33528000" imgH="34137600" progId="Equation.3">
                  <p:embed/>
                  <p:pic>
                    <p:nvPicPr>
                      <p:cNvPr id="1034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411" y="4597402"/>
                        <a:ext cx="2089144" cy="2124074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734055"/>
              </p:ext>
            </p:extLst>
          </p:nvPr>
        </p:nvGraphicFramePr>
        <p:xfrm>
          <a:off x="7322434" y="4773376"/>
          <a:ext cx="3221742" cy="36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公式" r:id="rId14" imgW="48463200" imgH="5486400" progId="Equation.3">
                  <p:embed/>
                </p:oleObj>
              </mc:Choice>
              <mc:Fallback>
                <p:oleObj name="公式" r:id="rId14" imgW="48463200" imgH="5486400" progId="Equation.3">
                  <p:embed/>
                  <p:pic>
                    <p:nvPicPr>
                      <p:cNvPr id="1034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2434" y="4773376"/>
                        <a:ext cx="3221742" cy="363459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717840"/>
              </p:ext>
            </p:extLst>
          </p:nvPr>
        </p:nvGraphicFramePr>
        <p:xfrm>
          <a:off x="7322434" y="5484597"/>
          <a:ext cx="2812166" cy="640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16" imgW="48158400" imgH="10972800" progId="Equation.3">
                  <p:embed/>
                </p:oleObj>
              </mc:Choice>
              <mc:Fallback>
                <p:oleObj name="Equation" r:id="rId16" imgW="48158400" imgH="10972800" progId="Equation.3">
                  <p:embed/>
                  <p:pic>
                    <p:nvPicPr>
                      <p:cNvPr id="1034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2434" y="5484597"/>
                        <a:ext cx="2812166" cy="64094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6" name="Text Box 12"/>
          <p:cNvSpPr txBox="1">
            <a:spLocks noChangeArrowheads="1"/>
          </p:cNvSpPr>
          <p:nvPr/>
        </p:nvSpPr>
        <p:spPr bwMode="auto">
          <a:xfrm>
            <a:off x="6394509" y="2686877"/>
            <a:ext cx="34290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无旁路电容</a:t>
            </a:r>
            <a:r>
              <a:rPr kumimoji="1"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时：</a:t>
            </a:r>
          </a:p>
        </p:txBody>
      </p:sp>
      <p:graphicFrame>
        <p:nvGraphicFramePr>
          <p:cNvPr id="13" name="Object 1" descr="image145">
            <a:extLst>
              <a:ext uri="{FF2B5EF4-FFF2-40B4-BE49-F238E27FC236}">
                <a16:creationId xmlns:a16="http://schemas.microsoft.com/office/drawing/2014/main" id="{67DC2B0B-D742-4446-AC8E-D1BA1CEC8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108892"/>
              </p:ext>
            </p:extLst>
          </p:nvPr>
        </p:nvGraphicFramePr>
        <p:xfrm>
          <a:off x="7088482" y="517572"/>
          <a:ext cx="2393887" cy="21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Photo Editor 照片" r:id="rId18" imgW="10945753" imgH="9647619" progId="">
                  <p:embed/>
                </p:oleObj>
              </mc:Choice>
              <mc:Fallback>
                <p:oleObj name="Photo Editor 照片" r:id="rId18" imgW="10945753" imgH="9647619" progId="">
                  <p:embed/>
                  <p:pic>
                    <p:nvPicPr>
                      <p:cNvPr id="13" name="Object 1" descr="image145">
                        <a:extLst>
                          <a:ext uri="{FF2B5EF4-FFF2-40B4-BE49-F238E27FC236}">
                            <a16:creationId xmlns:a16="http://schemas.microsoft.com/office/drawing/2014/main" id="{67DC2B0B-D742-4446-AC8E-D1BA1CEC85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8482" y="517572"/>
                        <a:ext cx="2393887" cy="211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730600" y="855244"/>
            <a:ext cx="4414869" cy="1631216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【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2.4.1 】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CC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12V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b1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b2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15kΩ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2.3kΩ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 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5.1kΩ 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=5.1kΩ 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=1.5kΩ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，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50, 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=0.7V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04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6" grpId="0" build="p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531</TotalTime>
  <Words>202</Words>
  <Application>Microsoft Office PowerPoint</Application>
  <PresentationFormat>宽屏</PresentationFormat>
  <Paragraphs>30</Paragraphs>
  <Slides>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等线</vt:lpstr>
      <vt:lpstr>等线 Light</vt:lpstr>
      <vt:lpstr>华光报宋_CNKI</vt:lpstr>
      <vt:lpstr>华文楷体</vt:lpstr>
      <vt:lpstr>华文行楷</vt:lpstr>
      <vt:lpstr>华文中宋</vt:lpstr>
      <vt:lpstr>隶书</vt:lpstr>
      <vt:lpstr>宋体</vt:lpstr>
      <vt:lpstr>Arial</vt:lpstr>
      <vt:lpstr>Calibri</vt:lpstr>
      <vt:lpstr>Calibri Light</vt:lpstr>
      <vt:lpstr>Times New Roman</vt:lpstr>
      <vt:lpstr>Office 主题​​</vt:lpstr>
      <vt:lpstr>Photo Editor 照片</vt:lpstr>
      <vt:lpstr>Equation</vt:lpstr>
      <vt:lpstr>公式</vt:lpstr>
      <vt:lpstr>2.4.1 温度对静态工作点的影响</vt:lpstr>
      <vt:lpstr>2.4.2 静态工作点稳定的典型电路 </vt:lpstr>
      <vt:lpstr>2.4.3 静态分析</vt:lpstr>
      <vt:lpstr>PowerPoint 演示文稿</vt:lpstr>
      <vt:lpstr>2.4.4 动态分析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4.4.1 温度对静态工作点的影响</dc:title>
  <dc:creator>admin</dc:creator>
  <cp:lastModifiedBy>admin</cp:lastModifiedBy>
  <cp:revision>15</cp:revision>
  <dcterms:created xsi:type="dcterms:W3CDTF">2024-10-26T01:00:07Z</dcterms:created>
  <dcterms:modified xsi:type="dcterms:W3CDTF">2026-06-01T01:46:58Z</dcterms:modified>
</cp:coreProperties>
</file>