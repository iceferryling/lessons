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6" autoAdjust="0"/>
    <p:restoredTop sz="94660"/>
  </p:normalViewPr>
  <p:slideViewPr>
    <p:cSldViewPr>
      <p:cViewPr varScale="1">
        <p:scale>
          <a:sx n="108" d="100"/>
          <a:sy n="108" d="100"/>
        </p:scale>
        <p:origin x="54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1F1CF-86F5-4402-AA95-28004135B6A1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677A9-8751-4BEF-B2C6-723189CCDB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C707701-8E98-4599-A7B0-E97755061EF3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第六次课讲到这里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677A9-8751-4BEF-B2C6-723189CCDBD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858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AF25DD5-F970-4DA3-8B2F-F0E630DB1572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 sz="2400" baseline="-25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与晶体管的对比：</a:t>
            </a:r>
            <a:r>
              <a:rPr lang="en-US" altLang="zh-CN" dirty="0"/>
              <a:t>IG=0</a:t>
            </a:r>
            <a:r>
              <a:rPr lang="zh-CN" altLang="en-US" dirty="0"/>
              <a:t>，一种载流子参与导电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9677A9-8751-4BEF-B2C6-723189CCDBD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30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C7A39-8E6F-4573-9791-91215A5C9AB7}" type="datetimeFigureOut">
              <a:rPr lang="zh-CN" altLang="en-US" smtClean="0"/>
              <a:t>2026-05-25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656C4-2434-42D8-B7B8-7B7102479F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png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1.wmf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0.wmf"/><Relationship Id="rId5" Type="http://schemas.openxmlformats.org/officeDocument/2006/relationships/image" Target="../media/image7.png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png"/><Relationship Id="rId7" Type="http://schemas.openxmlformats.org/officeDocument/2006/relationships/oleObject" Target="../embeddings/oleObject15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22.bin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0.png"/><Relationship Id="rId5" Type="http://schemas.openxmlformats.org/officeDocument/2006/relationships/image" Target="../media/image22.png"/><Relationship Id="rId10" Type="http://schemas.openxmlformats.org/officeDocument/2006/relationships/oleObject" Target="../embeddings/oleObject21.bin"/><Relationship Id="rId4" Type="http://schemas.openxmlformats.org/officeDocument/2006/relationships/image" Target="../media/image21.wmf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344" y="332656"/>
            <a:ext cx="4104506" cy="114300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1.4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场效应管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ED9FA1-48D7-DCA6-1207-07F814E2C699}"/>
              </a:ext>
            </a:extLst>
          </p:cNvPr>
          <p:cNvSpPr txBox="1"/>
          <p:nvPr/>
        </p:nvSpPr>
        <p:spPr>
          <a:xfrm>
            <a:off x="2423592" y="1700808"/>
            <a:ext cx="6408712" cy="191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1.4.1 </a:t>
            </a:r>
            <a:r>
              <a:rPr lang="zh-CN" altLang="en-US" sz="3200" b="1" dirty="0">
                <a:solidFill>
                  <a:srgbClr val="0000FF"/>
                </a:solidFill>
              </a:rPr>
              <a:t>结型场效应管</a:t>
            </a:r>
            <a:r>
              <a:rPr lang="en-US" altLang="zh-CN" sz="3200" b="1" dirty="0">
                <a:solidFill>
                  <a:srgbClr val="0000FF"/>
                </a:solidFill>
              </a:rPr>
              <a:t>JFET</a:t>
            </a:r>
            <a:endParaRPr lang="en-US" altLang="zh-CN" sz="3200" b="1" dirty="0"/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1.4.2 </a:t>
            </a:r>
            <a:r>
              <a:rPr lang="zh-CN" altLang="en-US" sz="3200" b="1" dirty="0">
                <a:solidFill>
                  <a:srgbClr val="0000FF"/>
                </a:solidFill>
              </a:rPr>
              <a:t>绝缘栅型场效应管</a:t>
            </a:r>
            <a:r>
              <a:rPr lang="en-US" altLang="zh-CN" sz="3200" b="1" dirty="0">
                <a:solidFill>
                  <a:srgbClr val="0000FF"/>
                </a:solidFill>
              </a:rPr>
              <a:t>MOSFET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33" name="Picture 9" descr="Dz0104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88288" y="1892027"/>
            <a:ext cx="2278062" cy="2438400"/>
          </a:xfrm>
          <a:prstGeom prst="rect">
            <a:avLst/>
          </a:prstGeom>
          <a:noFill/>
        </p:spPr>
      </p:pic>
      <p:grpSp>
        <p:nvGrpSpPr>
          <p:cNvPr id="4" name="Group 15"/>
          <p:cNvGrpSpPr/>
          <p:nvPr/>
        </p:nvGrpSpPr>
        <p:grpSpPr bwMode="auto">
          <a:xfrm>
            <a:off x="7891363" y="1769615"/>
            <a:ext cx="3074987" cy="2760663"/>
            <a:chOff x="2653" y="1979"/>
            <a:chExt cx="1937" cy="1739"/>
          </a:xfrm>
        </p:grpSpPr>
        <p:sp>
          <p:nvSpPr>
            <p:cNvPr id="129040" name="Text Box 16"/>
            <p:cNvSpPr txBox="1">
              <a:spLocks noChangeArrowheads="1"/>
            </p:cNvSpPr>
            <p:nvPr/>
          </p:nvSpPr>
          <p:spPr bwMode="auto">
            <a:xfrm>
              <a:off x="2653" y="2659"/>
              <a:ext cx="591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栅极</a:t>
              </a:r>
            </a:p>
          </p:txBody>
        </p:sp>
        <p:sp>
          <p:nvSpPr>
            <p:cNvPr id="129041" name="Text Box 17"/>
            <p:cNvSpPr txBox="1">
              <a:spLocks noChangeArrowheads="1"/>
            </p:cNvSpPr>
            <p:nvPr/>
          </p:nvSpPr>
          <p:spPr bwMode="auto">
            <a:xfrm>
              <a:off x="4014" y="1979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漏极</a:t>
              </a:r>
            </a:p>
          </p:txBody>
        </p:sp>
        <p:sp>
          <p:nvSpPr>
            <p:cNvPr id="129042" name="Text Box 18"/>
            <p:cNvSpPr txBox="1">
              <a:spLocks noChangeArrowheads="1"/>
            </p:cNvSpPr>
            <p:nvPr/>
          </p:nvSpPr>
          <p:spPr bwMode="auto">
            <a:xfrm>
              <a:off x="3969" y="3430"/>
              <a:ext cx="576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</a:rPr>
                <a:t>源极</a:t>
              </a:r>
            </a:p>
          </p:txBody>
        </p:sp>
      </p:grpSp>
      <p:sp>
        <p:nvSpPr>
          <p:cNvPr id="129043" name="AutoShape 19"/>
          <p:cNvSpPr/>
          <p:nvPr/>
        </p:nvSpPr>
        <p:spPr bwMode="auto">
          <a:xfrm>
            <a:off x="7661595" y="4370114"/>
            <a:ext cx="1548630" cy="457200"/>
          </a:xfrm>
          <a:prstGeom prst="borderCallout2">
            <a:avLst>
              <a:gd name="adj1" fmla="val 13634"/>
              <a:gd name="adj2" fmla="val 104320"/>
              <a:gd name="adj3" fmla="val 11692"/>
              <a:gd name="adj4" fmla="val 112416"/>
              <a:gd name="adj5" fmla="val -155746"/>
              <a:gd name="adj6" fmla="val 128151"/>
            </a:avLst>
          </a:prstGeom>
          <a:solidFill>
            <a:srgbClr val="66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400" b="1" dirty="0">
                <a:latin typeface="Verdana" panose="020B0604030504040204" pitchFamily="34" charset="0"/>
              </a:rPr>
              <a:t>导电沟道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80B7564-E4F0-4140-2442-A0186D41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b="1" dirty="0">
                <a:solidFill>
                  <a:srgbClr val="0000FF"/>
                </a:solidFill>
              </a:rPr>
              <a:t>1.4.1 </a:t>
            </a:r>
            <a:r>
              <a:rPr lang="zh-CN" altLang="en-US" b="1" dirty="0">
                <a:solidFill>
                  <a:srgbClr val="0000FF"/>
                </a:solidFill>
              </a:rPr>
              <a:t>结型场效应管</a:t>
            </a:r>
            <a:r>
              <a:rPr lang="en-US" altLang="zh-CN" b="1" dirty="0">
                <a:solidFill>
                  <a:srgbClr val="0000FF"/>
                </a:solidFill>
              </a:rPr>
              <a:t>JFET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9815D8-30A1-6081-460A-2DAB9C5CB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06" y="1799953"/>
            <a:ext cx="6695813" cy="3215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43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050" name="Object 2"/>
          <p:cNvGraphicFramePr>
            <a:graphicFrameLocks noChangeAspect="1"/>
          </p:cNvGraphicFramePr>
          <p:nvPr/>
        </p:nvGraphicFramePr>
        <p:xfrm>
          <a:off x="2605088" y="1920875"/>
          <a:ext cx="1649412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6144483" imgH="8238095" progId="">
                  <p:embed/>
                </p:oleObj>
              </mc:Choice>
              <mc:Fallback>
                <p:oleObj name="Photo Editor 照片" r:id="rId2" imgW="6144483" imgH="8238095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1920875"/>
                        <a:ext cx="1649412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1" name="Rectangle 3"/>
          <p:cNvSpPr>
            <a:spLocks noGrp="1" noChangeArrowheads="1"/>
          </p:cNvSpPr>
          <p:nvPr>
            <p:ph type="title"/>
          </p:nvPr>
        </p:nvSpPr>
        <p:spPr>
          <a:xfrm>
            <a:off x="566738" y="452860"/>
            <a:ext cx="80772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栅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源电压</a:t>
            </a:r>
            <a:r>
              <a:rPr kumimoji="1"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对导电沟道宽度的控制作用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224338" y="1844676"/>
            <a:ext cx="2743200" cy="2081213"/>
            <a:chOff x="1680" y="1056"/>
            <a:chExt cx="1728" cy="1311"/>
          </a:xfrm>
        </p:grpSpPr>
        <p:graphicFrame>
          <p:nvGraphicFramePr>
            <p:cNvPr id="130053" name="Object 5"/>
            <p:cNvGraphicFramePr>
              <a:graphicFrameLocks noChangeAspect="1"/>
            </p:cNvGraphicFramePr>
            <p:nvPr/>
          </p:nvGraphicFramePr>
          <p:xfrm>
            <a:off x="1920" y="1056"/>
            <a:ext cx="1488" cy="1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照片" r:id="rId4" imgW="9307224" imgH="8202170" progId="">
                    <p:embed/>
                  </p:oleObj>
                </mc:Choice>
                <mc:Fallback>
                  <p:oleObj name="Photo Editor 照片" r:id="rId4" imgW="9307224" imgH="8202170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056"/>
                          <a:ext cx="1488" cy="13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0054" name="AutoShape 6"/>
            <p:cNvSpPr>
              <a:spLocks noChangeArrowheads="1"/>
            </p:cNvSpPr>
            <p:nvPr/>
          </p:nvSpPr>
          <p:spPr bwMode="auto">
            <a:xfrm>
              <a:off x="1680" y="1680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CCFFFF"/>
            </a:solidFill>
            <a:ln w="28575">
              <a:solidFill>
                <a:srgbClr val="FF66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6967538" y="1844675"/>
            <a:ext cx="2743200" cy="2154238"/>
            <a:chOff x="3408" y="1056"/>
            <a:chExt cx="1728" cy="1357"/>
          </a:xfrm>
        </p:grpSpPr>
        <p:graphicFrame>
          <p:nvGraphicFramePr>
            <p:cNvPr id="130056" name="Object 8"/>
            <p:cNvGraphicFramePr>
              <a:graphicFrameLocks noChangeAspect="1"/>
            </p:cNvGraphicFramePr>
            <p:nvPr/>
          </p:nvGraphicFramePr>
          <p:xfrm>
            <a:off x="3648" y="1056"/>
            <a:ext cx="1488" cy="1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照片" r:id="rId6" imgW="9038095" imgH="8238095" progId="">
                    <p:embed/>
                  </p:oleObj>
                </mc:Choice>
                <mc:Fallback>
                  <p:oleObj name="Photo Editor 照片" r:id="rId6" imgW="9038095" imgH="8238095" progId="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056"/>
                          <a:ext cx="1488" cy="1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0057" name="AutoShape 9"/>
            <p:cNvSpPr>
              <a:spLocks noChangeArrowheads="1"/>
            </p:cNvSpPr>
            <p:nvPr/>
          </p:nvSpPr>
          <p:spPr bwMode="auto">
            <a:xfrm>
              <a:off x="3408" y="1680"/>
              <a:ext cx="240" cy="144"/>
            </a:xfrm>
            <a:prstGeom prst="rightArrow">
              <a:avLst>
                <a:gd name="adj1" fmla="val 50000"/>
                <a:gd name="adj2" fmla="val 41667"/>
              </a:avLst>
            </a:prstGeom>
            <a:solidFill>
              <a:srgbClr val="CCFFFF"/>
            </a:solidFill>
            <a:ln w="28575">
              <a:solidFill>
                <a:srgbClr val="FF66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0058" name="Text Box 10"/>
          <p:cNvSpPr txBox="1">
            <a:spLocks noChangeArrowheads="1"/>
          </p:cNvSpPr>
          <p:nvPr/>
        </p:nvSpPr>
        <p:spPr bwMode="auto">
          <a:xfrm>
            <a:off x="2624138" y="4979144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沟道最宽</a:t>
            </a:r>
          </a:p>
        </p:txBody>
      </p:sp>
      <p:grpSp>
        <p:nvGrpSpPr>
          <p:cNvPr id="4" name="Group 11"/>
          <p:cNvGrpSpPr/>
          <p:nvPr/>
        </p:nvGrpSpPr>
        <p:grpSpPr bwMode="auto">
          <a:xfrm>
            <a:off x="4071938" y="4979145"/>
            <a:ext cx="2743200" cy="466725"/>
            <a:chOff x="1584" y="2592"/>
            <a:chExt cx="1728" cy="294"/>
          </a:xfrm>
        </p:grpSpPr>
        <p:sp>
          <p:nvSpPr>
            <p:cNvPr id="130060" name="AutoShape 12"/>
            <p:cNvSpPr>
              <a:spLocks noChangeArrowheads="1"/>
            </p:cNvSpPr>
            <p:nvPr/>
          </p:nvSpPr>
          <p:spPr bwMode="auto">
            <a:xfrm>
              <a:off x="1584" y="2688"/>
              <a:ext cx="720" cy="144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00FFFF"/>
            </a:solidFill>
            <a:ln w="2857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30061" name="Text Box 13"/>
            <p:cNvSpPr txBox="1">
              <a:spLocks noChangeArrowheads="1"/>
            </p:cNvSpPr>
            <p:nvPr/>
          </p:nvSpPr>
          <p:spPr bwMode="auto">
            <a:xfrm>
              <a:off x="2352" y="2592"/>
              <a:ext cx="960" cy="294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FF0000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沟道变窄</a:t>
              </a:r>
            </a:p>
          </p:txBody>
        </p:sp>
      </p:grpSp>
      <p:grpSp>
        <p:nvGrpSpPr>
          <p:cNvPr id="5" name="Group 14"/>
          <p:cNvGrpSpPr/>
          <p:nvPr/>
        </p:nvGrpSpPr>
        <p:grpSpPr bwMode="auto">
          <a:xfrm>
            <a:off x="6921500" y="4725144"/>
            <a:ext cx="2895600" cy="831850"/>
            <a:chOff x="3216" y="2448"/>
            <a:chExt cx="1824" cy="524"/>
          </a:xfrm>
        </p:grpSpPr>
        <p:sp>
          <p:nvSpPr>
            <p:cNvPr id="130063" name="AutoShape 15"/>
            <p:cNvSpPr>
              <a:spLocks noChangeArrowheads="1"/>
            </p:cNvSpPr>
            <p:nvPr/>
          </p:nvSpPr>
          <p:spPr bwMode="auto">
            <a:xfrm>
              <a:off x="3216" y="2688"/>
              <a:ext cx="720" cy="144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00FFFF"/>
            </a:solidFill>
            <a:ln w="2857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30064" name="Text Box 16"/>
            <p:cNvSpPr txBox="1">
              <a:spLocks noChangeArrowheads="1"/>
            </p:cNvSpPr>
            <p:nvPr/>
          </p:nvSpPr>
          <p:spPr bwMode="auto">
            <a:xfrm>
              <a:off x="4080" y="2448"/>
              <a:ext cx="960" cy="524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FF0000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沟道消失称为夹断</a:t>
              </a:r>
            </a:p>
          </p:txBody>
        </p:sp>
      </p:grpSp>
      <p:sp>
        <p:nvSpPr>
          <p:cNvPr id="130066" name="AutoShape 18"/>
          <p:cNvSpPr/>
          <p:nvPr/>
        </p:nvSpPr>
        <p:spPr bwMode="auto">
          <a:xfrm>
            <a:off x="7274974" y="4010769"/>
            <a:ext cx="1219200" cy="466725"/>
          </a:xfrm>
          <a:prstGeom prst="borderCallout1">
            <a:avLst>
              <a:gd name="adj1" fmla="val 3568"/>
              <a:gd name="adj2" fmla="val 74212"/>
              <a:gd name="adj3" fmla="val -138642"/>
              <a:gd name="adj4" fmla="val 51880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 algn="l"/>
            <a:r>
              <a:rPr kumimoji="1"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GS</a:t>
            </a:r>
            <a:r>
              <a:rPr kumimoji="1" lang="zh-CN" altLang="en-US" sz="2000" b="1" baseline="-25000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off</a:t>
            </a:r>
            <a:r>
              <a:rPr kumimoji="1" lang="zh-CN" altLang="en-US" sz="2000" b="1" baseline="-25000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8" grpId="0" build="p" autoUpdateAnimBg="0"/>
      <p:bldP spid="130066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83604"/>
              </p:ext>
            </p:extLst>
          </p:nvPr>
        </p:nvGraphicFramePr>
        <p:xfrm>
          <a:off x="4164154" y="4043477"/>
          <a:ext cx="2971800" cy="225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10980952" imgH="8352381" progId="">
                  <p:embed/>
                </p:oleObj>
              </mc:Choice>
              <mc:Fallback>
                <p:oleObj name="Photo Editor 照片" r:id="rId2" imgW="10980952" imgH="835238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154" y="4043477"/>
                        <a:ext cx="2971800" cy="225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5" name="Rectangle 3"/>
          <p:cNvSpPr>
            <a:spLocks noGrp="1" noChangeArrowheads="1"/>
          </p:cNvSpPr>
          <p:nvPr>
            <p:ph type="title"/>
          </p:nvPr>
        </p:nvSpPr>
        <p:spPr>
          <a:xfrm>
            <a:off x="482903" y="475868"/>
            <a:ext cx="8229600" cy="5334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zh-CN" altLang="en-US" sz="3200" dirty="0">
                <a:latin typeface="+mj-ea"/>
              </a:rPr>
              <a:t>漏</a:t>
            </a:r>
            <a:r>
              <a:rPr lang="en-US" altLang="zh-CN" sz="3200" dirty="0">
                <a:latin typeface="+mj-ea"/>
              </a:rPr>
              <a:t>-</a:t>
            </a:r>
            <a:r>
              <a:rPr lang="zh-CN" altLang="en-US" sz="3200" dirty="0">
                <a:latin typeface="+mj-ea"/>
              </a:rPr>
              <a:t>源电压</a:t>
            </a:r>
            <a:r>
              <a:rPr kumimoji="1"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lang="zh-CN" altLang="en-US" sz="3200" dirty="0">
                <a:latin typeface="+mj-ea"/>
              </a:rPr>
              <a:t>对漏极电流的影响</a:t>
            </a:r>
          </a:p>
        </p:txBody>
      </p:sp>
      <p:graphicFrame>
        <p:nvGraphicFramePr>
          <p:cNvPr id="131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602890"/>
              </p:ext>
            </p:extLst>
          </p:nvPr>
        </p:nvGraphicFramePr>
        <p:xfrm>
          <a:off x="1734865" y="1538423"/>
          <a:ext cx="30480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4" imgW="13380952" imgH="9573961" progId="">
                  <p:embed/>
                </p:oleObj>
              </mc:Choice>
              <mc:Fallback>
                <p:oleObj name="Photo Editor 照片" r:id="rId4" imgW="13380952" imgH="9573961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97" t="5000" r="8411" b="6876"/>
                      <a:stretch>
                        <a:fillRect/>
                      </a:stretch>
                    </p:blipFill>
                    <p:spPr bwMode="auto">
                      <a:xfrm>
                        <a:off x="1734865" y="1538423"/>
                        <a:ext cx="3048000" cy="227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7" name="AutoShape 5"/>
          <p:cNvSpPr/>
          <p:nvPr/>
        </p:nvSpPr>
        <p:spPr bwMode="auto">
          <a:xfrm>
            <a:off x="2246454" y="3823453"/>
            <a:ext cx="1917700" cy="450856"/>
          </a:xfrm>
          <a:prstGeom prst="borderCallout1">
            <a:avLst>
              <a:gd name="adj1" fmla="val 3709"/>
              <a:gd name="adj2" fmla="val 15591"/>
              <a:gd name="adj3" fmla="val -182776"/>
              <a:gd name="adj4" fmla="val 36144"/>
            </a:avLst>
          </a:prstGeom>
          <a:solidFill>
            <a:srgbClr val="FFFFCC"/>
          </a:solidFill>
          <a:ln w="19050">
            <a:solidFill>
              <a:srgbClr val="FF6600"/>
            </a:solidFill>
            <a:miter lim="800000"/>
          </a:ln>
          <a:effectLst/>
        </p:spPr>
        <p:txBody>
          <a:bodyPr/>
          <a:lstStyle/>
          <a:p>
            <a:pPr algn="l" eaLnBrk="0" hangingPunct="0"/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增大，</a:t>
            </a:r>
            <a:r>
              <a:rPr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增大</a:t>
            </a:r>
            <a:endParaRPr kumimoji="1" lang="zh-CN" altLang="en-US" sz="2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10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958280"/>
              </p:ext>
            </p:extLst>
          </p:nvPr>
        </p:nvGraphicFramePr>
        <p:xfrm>
          <a:off x="6637337" y="1675939"/>
          <a:ext cx="2971800" cy="225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6" imgW="10904762" imgH="8276190" progId="">
                  <p:embed/>
                </p:oleObj>
              </mc:Choice>
              <mc:Fallback>
                <p:oleObj name="Photo Editor 照片" r:id="rId6" imgW="10904762" imgH="827619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337" y="1675939"/>
                        <a:ext cx="2971800" cy="2255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9" name="AutoShape 7"/>
          <p:cNvSpPr/>
          <p:nvPr/>
        </p:nvSpPr>
        <p:spPr bwMode="auto">
          <a:xfrm>
            <a:off x="9336361" y="1542106"/>
            <a:ext cx="1120775" cy="444500"/>
          </a:xfrm>
          <a:prstGeom prst="borderCallout1">
            <a:avLst>
              <a:gd name="adj1" fmla="val 25713"/>
              <a:gd name="adj2" fmla="val -6801"/>
              <a:gd name="adj3" fmla="val 114287"/>
              <a:gd name="adj4" fmla="val -108782"/>
            </a:avLst>
          </a:prstGeom>
          <a:solidFill>
            <a:srgbClr val="FFFFCC"/>
          </a:solidFill>
          <a:ln w="19050">
            <a:solidFill>
              <a:srgbClr val="FF6600"/>
            </a:solidFill>
            <a:miter lim="800000"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anose="02020603050405020304" pitchFamily="18" charset="0"/>
              </a:rPr>
              <a:t>预夹断</a:t>
            </a:r>
          </a:p>
        </p:txBody>
      </p:sp>
      <p:sp>
        <p:nvSpPr>
          <p:cNvPr id="131080" name="Text Box 8"/>
          <p:cNvSpPr txBox="1">
            <a:spLocks noChangeArrowheads="1"/>
          </p:cNvSpPr>
          <p:nvPr/>
        </p:nvSpPr>
        <p:spPr bwMode="auto">
          <a:xfrm>
            <a:off x="5866607" y="1088718"/>
            <a:ext cx="1917700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31081" name="AutoShape 9"/>
          <p:cNvSpPr/>
          <p:nvPr/>
        </p:nvSpPr>
        <p:spPr bwMode="auto">
          <a:xfrm>
            <a:off x="7135955" y="5468959"/>
            <a:ext cx="4288637" cy="955911"/>
          </a:xfrm>
          <a:prstGeom prst="borderCallout1">
            <a:avLst>
              <a:gd name="adj1" fmla="val 11537"/>
              <a:gd name="adj2" fmla="val -1616"/>
              <a:gd name="adj3" fmla="val 22131"/>
              <a:gd name="adj4" fmla="val -49332"/>
            </a:avLst>
          </a:prstGeom>
          <a:solidFill>
            <a:srgbClr val="FFFFCC"/>
          </a:solidFill>
          <a:ln w="19050">
            <a:solidFill>
              <a:srgbClr val="FF6600"/>
            </a:solidFill>
            <a:miter lim="800000"/>
          </a:ln>
          <a:effectLst/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的增大，全部用来克服沟道电阻，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不变，进入恒流区。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决定。</a:t>
            </a:r>
          </a:p>
        </p:txBody>
      </p:sp>
      <p:sp>
        <p:nvSpPr>
          <p:cNvPr id="131083" name="Text Box 11"/>
          <p:cNvSpPr txBox="1">
            <a:spLocks noChangeArrowheads="1"/>
          </p:cNvSpPr>
          <p:nvPr/>
        </p:nvSpPr>
        <p:spPr bwMode="auto">
          <a:xfrm>
            <a:off x="627453" y="1169893"/>
            <a:ext cx="1981184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31084" name="Text Box 12"/>
          <p:cNvSpPr txBox="1">
            <a:spLocks noChangeArrowheads="1"/>
          </p:cNvSpPr>
          <p:nvPr/>
        </p:nvSpPr>
        <p:spPr bwMode="auto">
          <a:xfrm>
            <a:off x="1707731" y="5393058"/>
            <a:ext cx="1801813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7" grpId="0" animBg="1" autoUpdateAnimBg="0"/>
      <p:bldP spid="131079" grpId="0" animBg="1" autoUpdateAnimBg="0"/>
      <p:bldP spid="131080" grpId="0" animBg="1" autoUpdateAnimBg="0"/>
      <p:bldP spid="131081" grpId="0" animBg="1" autoUpdateAnimBg="0"/>
      <p:bldP spid="131083" grpId="0" animBg="1" autoUpdateAnimBg="0"/>
      <p:bldP spid="131084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074" name="Object 2"/>
          <p:cNvGraphicFramePr>
            <a:graphicFrameLocks noChangeAspect="1"/>
          </p:cNvGraphicFramePr>
          <p:nvPr/>
        </p:nvGraphicFramePr>
        <p:xfrm>
          <a:off x="7839108" y="642919"/>
          <a:ext cx="2828892" cy="215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10980952" imgH="8352381" progId="">
                  <p:embed/>
                </p:oleObj>
              </mc:Choice>
              <mc:Fallback>
                <p:oleObj name="Photo Editor 照片" r:id="rId2" imgW="10980952" imgH="835238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9108" y="642919"/>
                        <a:ext cx="2828892" cy="21503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1619240" y="571480"/>
          <a:ext cx="30480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4" imgW="13380952" imgH="9573961" progId="">
                  <p:embed/>
                </p:oleObj>
              </mc:Choice>
              <mc:Fallback>
                <p:oleObj name="Photo Editor 照片" r:id="rId4" imgW="13380952" imgH="9573961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97" t="5000" r="8411" b="6876"/>
                      <a:stretch>
                        <a:fillRect/>
                      </a:stretch>
                    </p:blipFill>
                    <p:spPr bwMode="auto">
                      <a:xfrm>
                        <a:off x="1619240" y="571480"/>
                        <a:ext cx="3048000" cy="227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4738678" y="642918"/>
          <a:ext cx="2857520" cy="2169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6" imgW="10904762" imgH="8276190" progId="">
                  <p:embed/>
                </p:oleObj>
              </mc:Choice>
              <mc:Fallback>
                <p:oleObj name="Photo Editor 照片" r:id="rId6" imgW="10904762" imgH="827619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78" y="642918"/>
                        <a:ext cx="2857520" cy="21690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80" name="Text Box 8"/>
          <p:cNvSpPr txBox="1">
            <a:spLocks noChangeArrowheads="1"/>
          </p:cNvSpPr>
          <p:nvPr/>
        </p:nvSpPr>
        <p:spPr bwMode="auto">
          <a:xfrm>
            <a:off x="5024430" y="71415"/>
            <a:ext cx="1917700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31083" name="Text Box 11"/>
          <p:cNvSpPr txBox="1">
            <a:spLocks noChangeArrowheads="1"/>
          </p:cNvSpPr>
          <p:nvPr/>
        </p:nvSpPr>
        <p:spPr bwMode="auto">
          <a:xfrm>
            <a:off x="2095472" y="71415"/>
            <a:ext cx="1981184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31084" name="Text Box 12"/>
          <p:cNvSpPr txBox="1">
            <a:spLocks noChangeArrowheads="1"/>
          </p:cNvSpPr>
          <p:nvPr/>
        </p:nvSpPr>
        <p:spPr bwMode="auto">
          <a:xfrm>
            <a:off x="8167703" y="71415"/>
            <a:ext cx="1801813" cy="461665"/>
          </a:xfrm>
          <a:prstGeom prst="rect">
            <a:avLst/>
          </a:prstGeom>
          <a:solidFill>
            <a:srgbClr val="00FF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GS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off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4295775" y="3515615"/>
          <a:ext cx="3886200" cy="277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8" imgW="12546176" imgH="8961905" progId="">
                  <p:embed/>
                </p:oleObj>
              </mc:Choice>
              <mc:Fallback>
                <p:oleObj name="Photo Editor 照片" r:id="rId8" imgW="12546176" imgH="8961905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3515615"/>
                        <a:ext cx="3886200" cy="277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467730"/>
              </p:ext>
            </p:extLst>
          </p:nvPr>
        </p:nvGraphicFramePr>
        <p:xfrm>
          <a:off x="931499" y="2961469"/>
          <a:ext cx="2286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346400" imgH="7315200" progId="Equation.3">
                  <p:embed/>
                </p:oleObj>
              </mc:Choice>
              <mc:Fallback>
                <p:oleObj name="Equation" r:id="rId10" imgW="28346400" imgH="7315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499" y="2961469"/>
                        <a:ext cx="2286000" cy="5905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4"/>
          <p:cNvSpPr>
            <a:spLocks noChangeShapeType="1"/>
          </p:cNvSpPr>
          <p:nvPr/>
        </p:nvSpPr>
        <p:spPr bwMode="auto">
          <a:xfrm flipV="1">
            <a:off x="6124575" y="3668015"/>
            <a:ext cx="0" cy="24384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16" name="AutoShape 5"/>
          <p:cNvSpPr/>
          <p:nvPr/>
        </p:nvSpPr>
        <p:spPr bwMode="auto">
          <a:xfrm>
            <a:off x="1341375" y="4122316"/>
            <a:ext cx="2600024" cy="404538"/>
          </a:xfrm>
          <a:prstGeom prst="borderCallout1">
            <a:avLst>
              <a:gd name="adj1" fmla="val 11537"/>
              <a:gd name="adj2" fmla="val 105264"/>
              <a:gd name="adj3" fmla="val 77840"/>
              <a:gd name="adj4" fmla="val 143732"/>
            </a:avLst>
          </a:prstGeom>
          <a:solidFill>
            <a:srgbClr val="FFFFCC"/>
          </a:solidFill>
          <a:ln w="19050">
            <a:solidFill>
              <a:srgbClr val="FF6600"/>
            </a:solidFill>
            <a:miter lim="800000"/>
          </a:ln>
          <a:effectLst/>
        </p:spPr>
        <p:txBody>
          <a:bodyPr/>
          <a:lstStyle/>
          <a:p>
            <a:r>
              <a:rPr lang="zh-CN" altLang="en-US" sz="2000" b="1" dirty="0">
                <a:latin typeface="Times New Roman" panose="02020603050405020304" pitchFamily="18" charset="0"/>
              </a:rPr>
              <a:t>沟道电阻受</a:t>
            </a:r>
            <a:r>
              <a:rPr kumimoji="1"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GS</a:t>
            </a:r>
            <a:r>
              <a:rPr lang="zh-CN" altLang="en-US" sz="2000" b="1" dirty="0">
                <a:latin typeface="Times New Roman" panose="02020603050405020304" pitchFamily="18" charset="0"/>
              </a:rPr>
              <a:t>控制</a:t>
            </a:r>
          </a:p>
        </p:txBody>
      </p: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867117"/>
              </p:ext>
            </p:extLst>
          </p:nvPr>
        </p:nvGraphicFramePr>
        <p:xfrm>
          <a:off x="8992425" y="5242815"/>
          <a:ext cx="2133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041600" imgH="10363200" progId="Equation.DSMT4">
                  <p:embed/>
                </p:oleObj>
              </mc:Choice>
              <mc:Fallback>
                <p:oleObj name="Equation" r:id="rId12" imgW="28041600" imgH="10363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2425" y="5242815"/>
                        <a:ext cx="2133600" cy="7874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Freeform 8"/>
          <p:cNvSpPr/>
          <p:nvPr/>
        </p:nvSpPr>
        <p:spPr bwMode="auto">
          <a:xfrm>
            <a:off x="4600575" y="3668015"/>
            <a:ext cx="838200" cy="2362200"/>
          </a:xfrm>
          <a:custGeom>
            <a:avLst/>
            <a:gdLst/>
            <a:ahLst/>
            <a:cxnLst>
              <a:cxn ang="0">
                <a:pos x="0" y="1488"/>
              </a:cxn>
              <a:cxn ang="0">
                <a:pos x="336" y="1200"/>
              </a:cxn>
              <a:cxn ang="0">
                <a:pos x="528" y="0"/>
              </a:cxn>
            </a:cxnLst>
            <a:rect l="0" t="0" r="r" b="b"/>
            <a:pathLst>
              <a:path w="528" h="1488">
                <a:moveTo>
                  <a:pt x="0" y="1488"/>
                </a:moveTo>
                <a:cubicBezTo>
                  <a:pt x="124" y="1468"/>
                  <a:pt x="248" y="1448"/>
                  <a:pt x="336" y="1200"/>
                </a:cubicBezTo>
                <a:cubicBezTo>
                  <a:pt x="424" y="952"/>
                  <a:pt x="496" y="200"/>
                  <a:pt x="528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19" name="AutoShape 9"/>
          <p:cNvSpPr/>
          <p:nvPr/>
        </p:nvSpPr>
        <p:spPr bwMode="auto">
          <a:xfrm>
            <a:off x="4226005" y="2922445"/>
            <a:ext cx="1711129" cy="457200"/>
          </a:xfrm>
          <a:prstGeom prst="borderCallout1">
            <a:avLst>
              <a:gd name="adj1" fmla="val 191991"/>
              <a:gd name="adj2" fmla="val 68795"/>
              <a:gd name="adj3" fmla="val 101511"/>
              <a:gd name="adj4" fmla="val 61991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 dirty="0">
                <a:latin typeface="Times New Roman" panose="02020603050405020304" pitchFamily="18" charset="0"/>
              </a:rPr>
              <a:t>预夹断轨迹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4584306" y="3586578"/>
            <a:ext cx="569109" cy="7386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1400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可变电阻区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6429375" y="4277616"/>
            <a:ext cx="381000" cy="1192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>
                <a:solidFill>
                  <a:srgbClr val="CC0066"/>
                </a:solidFill>
                <a:latin typeface="Times New Roman" panose="02020603050405020304" pitchFamily="18" charset="0"/>
              </a:rPr>
              <a:t>恒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>
                <a:solidFill>
                  <a:srgbClr val="CC0066"/>
                </a:solidFill>
                <a:latin typeface="Times New Roman" panose="02020603050405020304" pitchFamily="18" charset="0"/>
              </a:rPr>
              <a:t>流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>
                <a:solidFill>
                  <a:srgbClr val="CC0066"/>
                </a:solidFill>
                <a:latin typeface="Times New Roman" panose="02020603050405020304" pitchFamily="18" charset="0"/>
              </a:rPr>
              <a:t>区</a:t>
            </a:r>
          </a:p>
        </p:txBody>
      </p:sp>
      <p:sp>
        <p:nvSpPr>
          <p:cNvPr id="22" name="AutoShape 12"/>
          <p:cNvSpPr/>
          <p:nvPr/>
        </p:nvSpPr>
        <p:spPr bwMode="auto">
          <a:xfrm>
            <a:off x="8890378" y="3934715"/>
            <a:ext cx="2542281" cy="457200"/>
          </a:xfrm>
          <a:prstGeom prst="borderCallout1">
            <a:avLst>
              <a:gd name="adj1" fmla="val 16551"/>
              <a:gd name="adj2" fmla="val -5722"/>
              <a:gd name="adj3" fmla="val 118504"/>
              <a:gd name="adj4" fmla="val -77319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D</a:t>
            </a:r>
            <a:r>
              <a:rPr lang="zh-CN" altLang="en-US" sz="2000" b="1" dirty="0">
                <a:latin typeface="Times New Roman" panose="02020603050405020304" pitchFamily="18" charset="0"/>
              </a:rPr>
              <a:t>仅由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000" b="1" baseline="-25000" dirty="0" err="1">
                <a:latin typeface="Times New Roman" panose="02020603050405020304" pitchFamily="18" charset="0"/>
              </a:rPr>
              <a:t>GS</a:t>
            </a:r>
            <a:r>
              <a:rPr lang="zh-CN" altLang="en-US" sz="2000" b="1" dirty="0">
                <a:latin typeface="Times New Roman" panose="02020603050405020304" pitchFamily="18" charset="0"/>
              </a:rPr>
              <a:t>决定</a:t>
            </a:r>
            <a:endParaRPr kumimoji="1"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8105775" y="4658616"/>
            <a:ext cx="457200" cy="1192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击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穿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区</a:t>
            </a: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5286375" y="6106416"/>
            <a:ext cx="20574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夹断区（截止区）</a:t>
            </a: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7105651" y="5724623"/>
            <a:ext cx="1741488" cy="1076326"/>
            <a:chOff x="4002" y="2327"/>
            <a:chExt cx="1097" cy="678"/>
          </a:xfrm>
        </p:grpSpPr>
        <p:sp>
          <p:nvSpPr>
            <p:cNvPr id="26" name="Oval 16"/>
            <p:cNvSpPr>
              <a:spLocks noChangeArrowheads="1"/>
            </p:cNvSpPr>
            <p:nvPr/>
          </p:nvSpPr>
          <p:spPr bwMode="auto">
            <a:xfrm>
              <a:off x="4002" y="2327"/>
              <a:ext cx="336" cy="24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7" name="AutoShape 17"/>
            <p:cNvSpPr/>
            <p:nvPr/>
          </p:nvSpPr>
          <p:spPr bwMode="auto">
            <a:xfrm>
              <a:off x="4272" y="2736"/>
              <a:ext cx="827" cy="269"/>
            </a:xfrm>
            <a:prstGeom prst="borderCallout1">
              <a:avLst>
                <a:gd name="adj1" fmla="val 26764"/>
                <a:gd name="adj2" fmla="val -5806"/>
                <a:gd name="adj3" fmla="val -59480"/>
                <a:gd name="adj4" fmla="val -10760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</a:ln>
            <a:effectLst/>
          </p:spPr>
          <p:txBody>
            <a:bodyPr/>
            <a:lstStyle/>
            <a:p>
              <a:r>
                <a:rPr kumimoji="1" lang="zh-CN" altLang="en-US" sz="2000" b="1">
                  <a:latin typeface="Times New Roman" panose="02020603050405020304" pitchFamily="18" charset="0"/>
                </a:rPr>
                <a:t>夹断电压</a:t>
              </a:r>
            </a:p>
          </p:txBody>
        </p:sp>
      </p:grpSp>
      <p:grpSp>
        <p:nvGrpSpPr>
          <p:cNvPr id="3" name="Group 18"/>
          <p:cNvGrpSpPr/>
          <p:nvPr/>
        </p:nvGrpSpPr>
        <p:grpSpPr bwMode="auto">
          <a:xfrm>
            <a:off x="3990975" y="3668018"/>
            <a:ext cx="1828800" cy="369888"/>
            <a:chOff x="1536" y="1344"/>
            <a:chExt cx="1152" cy="233"/>
          </a:xfrm>
        </p:grpSpPr>
        <p:sp>
          <p:nvSpPr>
            <p:cNvPr id="29" name="Line 19"/>
            <p:cNvSpPr>
              <a:spLocks noChangeShapeType="1"/>
            </p:cNvSpPr>
            <p:nvPr/>
          </p:nvSpPr>
          <p:spPr bwMode="auto">
            <a:xfrm flipH="1">
              <a:off x="1872" y="1488"/>
              <a:ext cx="816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0" name="Text Box 20"/>
            <p:cNvSpPr txBox="1">
              <a:spLocks noChangeArrowheads="1"/>
            </p:cNvSpPr>
            <p:nvPr/>
          </p:nvSpPr>
          <p:spPr bwMode="auto">
            <a:xfrm>
              <a:off x="1536" y="1344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b="1" baseline="-25000">
                  <a:latin typeface="Times New Roman" panose="02020603050405020304" pitchFamily="18" charset="0"/>
                </a:rPr>
                <a:t>DSS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21"/>
          <p:cNvGrpSpPr/>
          <p:nvPr/>
        </p:nvGrpSpPr>
        <p:grpSpPr bwMode="auto">
          <a:xfrm>
            <a:off x="3963989" y="4412553"/>
            <a:ext cx="1474787" cy="1066800"/>
            <a:chOff x="1519" y="1813"/>
            <a:chExt cx="929" cy="672"/>
          </a:xfrm>
        </p:grpSpPr>
        <p:sp>
          <p:nvSpPr>
            <p:cNvPr id="32" name="Line 22"/>
            <p:cNvSpPr>
              <a:spLocks noChangeShapeType="1"/>
            </p:cNvSpPr>
            <p:nvPr/>
          </p:nvSpPr>
          <p:spPr bwMode="auto">
            <a:xfrm flipH="1">
              <a:off x="1872" y="1956"/>
              <a:ext cx="5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3" name="Line 23"/>
            <p:cNvSpPr>
              <a:spLocks noChangeShapeType="1"/>
            </p:cNvSpPr>
            <p:nvPr/>
          </p:nvSpPr>
          <p:spPr bwMode="auto">
            <a:xfrm flipH="1">
              <a:off x="1872" y="2352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4" name="Line 24"/>
            <p:cNvSpPr>
              <a:spLocks noChangeShapeType="1"/>
            </p:cNvSpPr>
            <p:nvPr/>
          </p:nvSpPr>
          <p:spPr bwMode="auto">
            <a:xfrm flipH="1">
              <a:off x="1557" y="1950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5" name="Line 25"/>
            <p:cNvSpPr>
              <a:spLocks noChangeShapeType="1"/>
            </p:cNvSpPr>
            <p:nvPr/>
          </p:nvSpPr>
          <p:spPr bwMode="auto">
            <a:xfrm flipH="1">
              <a:off x="1559" y="2341"/>
              <a:ext cx="2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>
              <a:off x="1647" y="1813"/>
              <a:ext cx="0" cy="1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7" name="Line 27"/>
            <p:cNvSpPr>
              <a:spLocks noChangeShapeType="1"/>
            </p:cNvSpPr>
            <p:nvPr/>
          </p:nvSpPr>
          <p:spPr bwMode="auto">
            <a:xfrm flipV="1">
              <a:off x="1655" y="2341"/>
              <a:ext cx="0" cy="1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8" name="Text Box 28"/>
            <p:cNvSpPr txBox="1">
              <a:spLocks noChangeArrowheads="1"/>
            </p:cNvSpPr>
            <p:nvPr/>
          </p:nvSpPr>
          <p:spPr bwMode="auto">
            <a:xfrm>
              <a:off x="1519" y="2034"/>
              <a:ext cx="545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40" name="Text Box 30"/>
          <p:cNvSpPr txBox="1">
            <a:spLocks noChangeArrowheads="1"/>
          </p:cNvSpPr>
          <p:nvPr/>
        </p:nvSpPr>
        <p:spPr bwMode="auto">
          <a:xfrm>
            <a:off x="8826669" y="4719735"/>
            <a:ext cx="1828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低频跨导：</a:t>
            </a:r>
          </a:p>
        </p:txBody>
      </p:sp>
      <p:sp>
        <p:nvSpPr>
          <p:cNvPr id="41" name="矩形 40"/>
          <p:cNvSpPr/>
          <p:nvPr/>
        </p:nvSpPr>
        <p:spPr>
          <a:xfrm>
            <a:off x="317136" y="3387629"/>
            <a:ext cx="69245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ea typeface="华文行楷" pitchFamily="2" charset="-122"/>
              </a:rPr>
              <a:t>漏极输出特性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80" grpId="0" animBg="1" autoUpdateAnimBg="0"/>
      <p:bldP spid="131083" grpId="0" animBg="1" autoUpdateAnimBg="0"/>
      <p:bldP spid="131084" grpId="0" animBg="1" autoUpdateAnimBg="0"/>
      <p:bldP spid="15" grpId="0" animBg="1"/>
      <p:bldP spid="16" grpId="0" animBg="1" autoUpdateAnimBg="0"/>
      <p:bldP spid="18" grpId="0" animBg="1"/>
      <p:bldP spid="19" grpId="0" animBg="1" autoUpdateAnimBg="0"/>
      <p:bldP spid="20" grpId="0" build="p" autoUpdateAnimBg="0"/>
      <p:bldP spid="21" grpId="0" autoUpdateAnimBg="0"/>
      <p:bldP spid="22" grpId="0" animBg="1" autoUpdateAnimBg="0"/>
      <p:bldP spid="23" grpId="0" autoUpdateAnimBg="0"/>
      <p:bldP spid="24" grpId="0" build="p" autoUpdateAnimBg="0"/>
      <p:bldP spid="40" grpId="0" build="p" autoUpdateAnimBg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134695"/>
              </p:ext>
            </p:extLst>
          </p:nvPr>
        </p:nvGraphicFramePr>
        <p:xfrm>
          <a:off x="1852610" y="2328119"/>
          <a:ext cx="3886200" cy="277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2" imgW="12546176" imgH="8961905" progId="">
                  <p:embed/>
                </p:oleObj>
              </mc:Choice>
              <mc:Fallback>
                <p:oleObj name="Photo Editor 照片" r:id="rId2" imgW="12546176" imgH="8961905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10" y="2328119"/>
                        <a:ext cx="3886200" cy="277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4"/>
          <p:cNvSpPr>
            <a:spLocks noChangeShapeType="1"/>
          </p:cNvSpPr>
          <p:nvPr/>
        </p:nvSpPr>
        <p:spPr bwMode="auto">
          <a:xfrm flipV="1">
            <a:off x="3681410" y="2480519"/>
            <a:ext cx="0" cy="243840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9" name="Freeform 8"/>
          <p:cNvSpPr/>
          <p:nvPr/>
        </p:nvSpPr>
        <p:spPr bwMode="auto">
          <a:xfrm>
            <a:off x="2157410" y="2480519"/>
            <a:ext cx="838200" cy="2362200"/>
          </a:xfrm>
          <a:custGeom>
            <a:avLst/>
            <a:gdLst/>
            <a:ahLst/>
            <a:cxnLst>
              <a:cxn ang="0">
                <a:pos x="0" y="1488"/>
              </a:cxn>
              <a:cxn ang="0">
                <a:pos x="336" y="1200"/>
              </a:cxn>
              <a:cxn ang="0">
                <a:pos x="528" y="0"/>
              </a:cxn>
            </a:cxnLst>
            <a:rect l="0" t="0" r="r" b="b"/>
            <a:pathLst>
              <a:path w="528" h="1488">
                <a:moveTo>
                  <a:pt x="0" y="1488"/>
                </a:moveTo>
                <a:cubicBezTo>
                  <a:pt x="124" y="1468"/>
                  <a:pt x="248" y="1448"/>
                  <a:pt x="336" y="1200"/>
                </a:cubicBezTo>
                <a:cubicBezTo>
                  <a:pt x="424" y="952"/>
                  <a:pt x="496" y="200"/>
                  <a:pt x="528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lgDash"/>
            <a:round/>
          </a:ln>
          <a:effectLst/>
        </p:spPr>
        <p:txBody>
          <a:bodyPr/>
          <a:lstStyle/>
          <a:p>
            <a:endParaRPr lang="zh-CN" altLang="en-US" b="1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107406" y="2418609"/>
            <a:ext cx="457200" cy="1465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可变电阻区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986210" y="3090120"/>
            <a:ext cx="381000" cy="1192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恒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流</a:t>
            </a:r>
          </a:p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区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843210" y="4918920"/>
            <a:ext cx="20574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夹断区（截止区）</a:t>
            </a:r>
          </a:p>
        </p:txBody>
      </p:sp>
      <p:grpSp>
        <p:nvGrpSpPr>
          <p:cNvPr id="2" name="Group 18"/>
          <p:cNvGrpSpPr/>
          <p:nvPr/>
        </p:nvGrpSpPr>
        <p:grpSpPr bwMode="auto">
          <a:xfrm>
            <a:off x="1547810" y="2480522"/>
            <a:ext cx="1828800" cy="369888"/>
            <a:chOff x="1536" y="1344"/>
            <a:chExt cx="1152" cy="233"/>
          </a:xfrm>
        </p:grpSpPr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>
              <a:off x="1872" y="1488"/>
              <a:ext cx="816" cy="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1536" y="1344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b="1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b="1" baseline="-25000">
                  <a:latin typeface="Times New Roman" panose="02020603050405020304" pitchFamily="18" charset="0"/>
                </a:rPr>
                <a:t>DSS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1"/>
          <p:cNvGrpSpPr/>
          <p:nvPr/>
        </p:nvGrpSpPr>
        <p:grpSpPr bwMode="auto">
          <a:xfrm>
            <a:off x="1520824" y="3225057"/>
            <a:ext cx="1474787" cy="1066800"/>
            <a:chOff x="1519" y="1813"/>
            <a:chExt cx="929" cy="672"/>
          </a:xfrm>
        </p:grpSpPr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H="1">
              <a:off x="1872" y="1956"/>
              <a:ext cx="5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1872" y="2352"/>
              <a:ext cx="57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flipH="1">
              <a:off x="1557" y="1950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H="1">
              <a:off x="1559" y="2341"/>
              <a:ext cx="288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1647" y="1813"/>
              <a:ext cx="0" cy="1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V="1">
              <a:off x="1655" y="2341"/>
              <a:ext cx="0" cy="1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1519" y="2034"/>
              <a:ext cx="545" cy="23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Δ</a:t>
              </a:r>
              <a:r>
                <a:rPr kumimoji="1" lang="en-US" altLang="zh-CN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en-US" altLang="zh-CN" b="1">
                <a:latin typeface="Times New Roman" panose="02020603050405020304" pitchFamily="18" charset="0"/>
              </a:endParaRPr>
            </a:p>
          </p:txBody>
        </p:sp>
      </p:grpSp>
      <p:pic>
        <p:nvPicPr>
          <p:cNvPr id="32" name="Picture 2" descr="Dz010413"/>
          <p:cNvPicPr>
            <a:picLocks noChangeAspect="1" noChangeArrowheads="1"/>
          </p:cNvPicPr>
          <p:nvPr/>
        </p:nvPicPr>
        <p:blipFill>
          <a:blip r:embed="rId4" cstate="print"/>
          <a:srcRect l="33928" r="44804" b="88428"/>
          <a:stretch>
            <a:fillRect/>
          </a:stretch>
        </p:blipFill>
        <p:spPr bwMode="auto">
          <a:xfrm>
            <a:off x="6096000" y="1700808"/>
            <a:ext cx="4214842" cy="3584824"/>
          </a:xfrm>
          <a:prstGeom prst="rect">
            <a:avLst/>
          </a:prstGeom>
          <a:noFill/>
        </p:spPr>
      </p:pic>
      <p:sp>
        <p:nvSpPr>
          <p:cNvPr id="33" name="AutoShape 4"/>
          <p:cNvSpPr/>
          <p:nvPr/>
        </p:nvSpPr>
        <p:spPr bwMode="auto">
          <a:xfrm>
            <a:off x="5623744" y="5496563"/>
            <a:ext cx="1234258" cy="366713"/>
          </a:xfrm>
          <a:prstGeom prst="borderCallout2">
            <a:avLst>
              <a:gd name="adj1" fmla="val -14502"/>
              <a:gd name="adj2" fmla="val 56494"/>
              <a:gd name="adj3" fmla="val -59524"/>
              <a:gd name="adj4" fmla="val 85307"/>
              <a:gd name="adj5" fmla="val -61162"/>
              <a:gd name="adj6" fmla="val 137502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 eaLnBrk="0" hangingPunct="0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夹断电压</a:t>
            </a:r>
          </a:p>
        </p:txBody>
      </p:sp>
      <p:graphicFrame>
        <p:nvGraphicFramePr>
          <p:cNvPr id="1822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184809"/>
              </p:ext>
            </p:extLst>
          </p:nvPr>
        </p:nvGraphicFramePr>
        <p:xfrm>
          <a:off x="2765420" y="371480"/>
          <a:ext cx="2590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346400" imgH="7315200" progId="Equation.DSMT4">
                  <p:embed/>
                </p:oleObj>
              </mc:Choice>
              <mc:Fallback>
                <p:oleObj name="Equation" r:id="rId5" imgW="28346400" imgH="7315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0" y="371480"/>
                        <a:ext cx="2590800" cy="66040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549817"/>
              </p:ext>
            </p:extLst>
          </p:nvPr>
        </p:nvGraphicFramePr>
        <p:xfrm>
          <a:off x="6835782" y="376245"/>
          <a:ext cx="27527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394400" imgH="10668000" progId="Equation.DSMT4">
                  <p:embed/>
                </p:oleObj>
              </mc:Choice>
              <mc:Fallback>
                <p:oleObj name="Equation" r:id="rId7" imgW="31394400" imgH="106680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782" y="376245"/>
                        <a:ext cx="2752725" cy="9302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Rectangle 6"/>
          <p:cNvSpPr>
            <a:spLocks noGrp="1" noChangeArrowheads="1"/>
          </p:cNvSpPr>
          <p:nvPr>
            <p:ph type="title"/>
          </p:nvPr>
        </p:nvSpPr>
        <p:spPr>
          <a:xfrm>
            <a:off x="792963" y="587383"/>
            <a:ext cx="2033572" cy="50800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solidFill>
                  <a:srgbClr val="FF0000"/>
                </a:solidFill>
                <a:latin typeface="Verdana" panose="020B0604030504040204" pitchFamily="34" charset="0"/>
                <a:ea typeface="华文行楷" pitchFamily="2" charset="-122"/>
              </a:rPr>
              <a:t>转移特性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C6CB84-78AB-1039-28A5-76E6E73A3BE8}"/>
              </a:ext>
            </a:extLst>
          </p:cNvPr>
          <p:cNvSpPr txBox="1"/>
          <p:nvPr/>
        </p:nvSpPr>
        <p:spPr>
          <a:xfrm>
            <a:off x="9721236" y="2524456"/>
            <a:ext cx="1607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漏极饱和电流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build="p" autoUpdateAnimBg="0"/>
      <p:bldP spid="12" grpId="0" autoUpdateAnimBg="0"/>
      <p:bldP spid="15" grpId="0" build="p" autoUpdateAnimBg="0"/>
      <p:bldP spid="33" grpId="0" animBg="1" autoUpdateAnimBg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81158" y="285728"/>
            <a:ext cx="7315200" cy="579438"/>
          </a:xfrm>
        </p:spPr>
        <p:txBody>
          <a:bodyPr/>
          <a:lstStyle/>
          <a:p>
            <a:pPr algn="l"/>
            <a:r>
              <a:rPr lang="en-US" altLang="zh-CN" sz="3200" dirty="0">
                <a:latin typeface="+mn-ea"/>
                <a:ea typeface="+mn-ea"/>
              </a:rPr>
              <a:t>1.4.2 </a:t>
            </a:r>
            <a:r>
              <a:rPr lang="zh-CN" altLang="en-US" sz="3200" dirty="0">
                <a:latin typeface="+mn-ea"/>
                <a:ea typeface="+mn-ea"/>
              </a:rPr>
              <a:t>绝缘栅型场效应管</a:t>
            </a:r>
            <a:r>
              <a:rPr lang="en-US" altLang="zh-CN" sz="3200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  <a:cs typeface="Times New Roman" pitchFamily="18" charset="0"/>
              </a:rPr>
              <a:t>MOSFET</a:t>
            </a:r>
            <a:endParaRPr lang="zh-CN" altLang="en-US" sz="3200" dirty="0">
              <a:solidFill>
                <a:srgbClr val="FF0000"/>
              </a:solidFill>
              <a:latin typeface="Times New Roman" pitchFamily="18" charset="0"/>
              <a:ea typeface="华文行楷" pitchFamily="2" charset="-122"/>
              <a:cs typeface="Times New Roman" pitchFamily="18" charset="0"/>
            </a:endParaRPr>
          </a:p>
        </p:txBody>
      </p:sp>
      <p:sp>
        <p:nvSpPr>
          <p:cNvPr id="135171" name="Text Box 3"/>
          <p:cNvSpPr txBox="1">
            <a:spLocks noChangeArrowheads="1"/>
          </p:cNvSpPr>
          <p:nvPr/>
        </p:nvSpPr>
        <p:spPr bwMode="auto">
          <a:xfrm>
            <a:off x="839416" y="5406315"/>
            <a:ext cx="10873208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GS</a:t>
            </a:r>
            <a:r>
              <a:rPr lang="zh-CN" altLang="en-US" sz="2400" b="1" dirty="0">
                <a:latin typeface="Times New Roman" panose="02020603050405020304" pitchFamily="18" charset="0"/>
              </a:rPr>
              <a:t>增大，反型层将变厚。当反型层将两个</a:t>
            </a:r>
            <a:r>
              <a:rPr lang="en-US" altLang="zh-CN" sz="2400" b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</a:rPr>
              <a:t>区相接时，形成导电沟道。</a:t>
            </a:r>
          </a:p>
        </p:txBody>
      </p:sp>
      <p:graphicFrame>
        <p:nvGraphicFramePr>
          <p:cNvPr id="1351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435721"/>
              </p:ext>
            </p:extLst>
          </p:nvPr>
        </p:nvGraphicFramePr>
        <p:xfrm>
          <a:off x="3719514" y="2086825"/>
          <a:ext cx="2770187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8942857" imgH="7857143" progId="">
                  <p:embed/>
                </p:oleObj>
              </mc:Choice>
              <mc:Fallback>
                <p:oleObj name="Photo Editor 照片" r:id="rId3" imgW="8942857" imgH="785714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2086825"/>
                        <a:ext cx="2770187" cy="2433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3" name="AutoShape 5"/>
          <p:cNvSpPr/>
          <p:nvPr/>
        </p:nvSpPr>
        <p:spPr bwMode="auto">
          <a:xfrm>
            <a:off x="2262261" y="2058922"/>
            <a:ext cx="1524000" cy="381000"/>
          </a:xfrm>
          <a:prstGeom prst="borderCallout1">
            <a:avLst>
              <a:gd name="adj1" fmla="val 107052"/>
              <a:gd name="adj2" fmla="val 26895"/>
              <a:gd name="adj3" fmla="val 278681"/>
              <a:gd name="adj4" fmla="val 115831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 eaLnBrk="0" hangingPunct="0"/>
            <a:r>
              <a:rPr lang="en-US" altLang="zh-CN" sz="2000" b="1" dirty="0">
                <a:latin typeface="Times New Roman" panose="02020603050405020304" pitchFamily="18" charset="0"/>
              </a:rPr>
              <a:t>SiO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</a:rPr>
              <a:t>绝缘层</a:t>
            </a:r>
          </a:p>
        </p:txBody>
      </p:sp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5591945" y="3906116"/>
            <a:ext cx="952872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16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1600" b="1" dirty="0">
                <a:solidFill>
                  <a:srgbClr val="A50021"/>
                </a:solidFill>
                <a:latin typeface="Times New Roman" panose="02020603050405020304" pitchFamily="18" charset="0"/>
              </a:rPr>
              <a:t>型衬底</a:t>
            </a:r>
          </a:p>
        </p:txBody>
      </p:sp>
      <p:graphicFrame>
        <p:nvGraphicFramePr>
          <p:cNvPr id="135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011698"/>
              </p:ext>
            </p:extLst>
          </p:nvPr>
        </p:nvGraphicFramePr>
        <p:xfrm>
          <a:off x="7608168" y="2026811"/>
          <a:ext cx="2644775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5" imgW="8733333" imgH="7838095" progId="">
                  <p:embed/>
                </p:oleObj>
              </mc:Choice>
              <mc:Fallback>
                <p:oleObj name="Photo Editor 照片" r:id="rId5" imgW="8733333" imgH="7838095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168" y="2026811"/>
                        <a:ext cx="2644775" cy="237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7" name="AutoShape 9"/>
          <p:cNvSpPr/>
          <p:nvPr/>
        </p:nvSpPr>
        <p:spPr bwMode="auto">
          <a:xfrm>
            <a:off x="2587928" y="3831559"/>
            <a:ext cx="1107352" cy="381000"/>
          </a:xfrm>
          <a:prstGeom prst="borderCallout1">
            <a:avLst>
              <a:gd name="adj1" fmla="val 46421"/>
              <a:gd name="adj2" fmla="val 100463"/>
              <a:gd name="adj3" fmla="val -48912"/>
              <a:gd name="adj4" fmla="val 140400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 dirty="0">
                <a:latin typeface="Times New Roman" panose="02020603050405020304" pitchFamily="18" charset="0"/>
              </a:rPr>
              <a:t>耗尽层</a:t>
            </a:r>
          </a:p>
        </p:txBody>
      </p:sp>
      <p:sp>
        <p:nvSpPr>
          <p:cNvPr id="135179" name="AutoShape 11"/>
          <p:cNvSpPr/>
          <p:nvPr/>
        </p:nvSpPr>
        <p:spPr bwMode="auto">
          <a:xfrm>
            <a:off x="2567117" y="3140968"/>
            <a:ext cx="1103929" cy="457200"/>
          </a:xfrm>
          <a:prstGeom prst="borderCallout1">
            <a:avLst>
              <a:gd name="adj1" fmla="val 50263"/>
              <a:gd name="adj2" fmla="val 102208"/>
              <a:gd name="adj3" fmla="val 42014"/>
              <a:gd name="adj4" fmla="val 151777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000" b="1">
                <a:latin typeface="Times New Roman" panose="02020603050405020304" pitchFamily="18" charset="0"/>
              </a:rPr>
              <a:t>高掺杂</a:t>
            </a:r>
          </a:p>
        </p:txBody>
      </p:sp>
      <p:sp>
        <p:nvSpPr>
          <p:cNvPr id="135180" name="AutoShape 12"/>
          <p:cNvSpPr/>
          <p:nvPr/>
        </p:nvSpPr>
        <p:spPr bwMode="auto">
          <a:xfrm>
            <a:off x="8975004" y="4465212"/>
            <a:ext cx="1138238" cy="485775"/>
          </a:xfrm>
          <a:prstGeom prst="borderCallout2">
            <a:avLst>
              <a:gd name="adj1" fmla="val -2616"/>
              <a:gd name="adj2" fmla="val 59136"/>
              <a:gd name="adj3" fmla="val -7845"/>
              <a:gd name="adj4" fmla="val 54256"/>
              <a:gd name="adj5" fmla="val -255556"/>
              <a:gd name="adj6" fmla="val -18968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pPr eaLnBrk="0" hangingPunct="0"/>
            <a:r>
              <a:rPr lang="zh-CN" altLang="en-US" sz="2000" b="1">
                <a:latin typeface="Times New Roman" panose="02020603050405020304" pitchFamily="18" charset="0"/>
              </a:rPr>
              <a:t>反型层</a:t>
            </a:r>
          </a:p>
        </p:txBody>
      </p:sp>
      <p:grpSp>
        <p:nvGrpSpPr>
          <p:cNvPr id="3" name="Group 13"/>
          <p:cNvGrpSpPr/>
          <p:nvPr/>
        </p:nvGrpSpPr>
        <p:grpSpPr bwMode="auto">
          <a:xfrm>
            <a:off x="585787" y="1398572"/>
            <a:ext cx="1544638" cy="2074862"/>
            <a:chOff x="-582" y="971"/>
            <a:chExt cx="973" cy="1307"/>
          </a:xfrm>
        </p:grpSpPr>
        <p:sp>
          <p:nvSpPr>
            <p:cNvPr id="135182" name="Text Box 14"/>
            <p:cNvSpPr txBox="1">
              <a:spLocks noChangeArrowheads="1"/>
            </p:cNvSpPr>
            <p:nvPr/>
          </p:nvSpPr>
          <p:spPr bwMode="auto">
            <a:xfrm>
              <a:off x="-582" y="971"/>
              <a:ext cx="96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增强型管</a:t>
              </a:r>
            </a:p>
          </p:txBody>
        </p:sp>
        <p:graphicFrame>
          <p:nvGraphicFramePr>
            <p:cNvPr id="13518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4104449"/>
                </p:ext>
              </p:extLst>
            </p:nvPr>
          </p:nvGraphicFramePr>
          <p:xfrm>
            <a:off x="-569" y="1387"/>
            <a:ext cx="960" cy="8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照片" r:id="rId7" imgW="5838095" imgH="5420482" progId="">
                    <p:embed/>
                  </p:oleObj>
                </mc:Choice>
                <mc:Fallback>
                  <p:oleObj name="Photo Editor 照片" r:id="rId7" imgW="5838095" imgH="5420482" progId="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569" y="1387"/>
                          <a:ext cx="960" cy="89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5184" name="AutoShape 16"/>
          <p:cNvSpPr/>
          <p:nvPr/>
        </p:nvSpPr>
        <p:spPr bwMode="auto">
          <a:xfrm>
            <a:off x="7608168" y="1390302"/>
            <a:ext cx="2318321" cy="362361"/>
          </a:xfrm>
          <a:prstGeom prst="borderCallout1">
            <a:avLst>
              <a:gd name="adj1" fmla="val 109184"/>
              <a:gd name="adj2" fmla="val 49993"/>
              <a:gd name="adj3" fmla="val 239732"/>
              <a:gd name="adj4" fmla="val 42787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lang="zh-CN" altLang="en-US" sz="2000" b="1"/>
              <a:t>大到一定值才开启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 autoUpdateAnimBg="0"/>
      <p:bldP spid="135173" grpId="0" animBg="1" autoUpdateAnimBg="0"/>
      <p:bldP spid="135174" grpId="0" build="p" autoUpdateAnimBg="0"/>
      <p:bldP spid="135177" grpId="0" animBg="1"/>
      <p:bldP spid="135179" grpId="0" animBg="1"/>
      <p:bldP spid="135180" grpId="0" animBg="1" autoUpdateAnimBg="0"/>
      <p:bldP spid="135184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809720" y="357166"/>
            <a:ext cx="7315200" cy="579438"/>
          </a:xfrm>
        </p:spPr>
        <p:txBody>
          <a:bodyPr/>
          <a:lstStyle/>
          <a:p>
            <a:pPr algn="l"/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增强型</a:t>
            </a:r>
            <a:r>
              <a:rPr lang="en-US" altLang="zh-CN" sz="2800" b="1" dirty="0">
                <a:latin typeface="Times New Roman" panose="02020603050405020304" pitchFamily="18" charset="0"/>
                <a:ea typeface="华文行楷" pitchFamily="2" charset="-122"/>
              </a:rPr>
              <a:t>MOSFET  </a:t>
            </a:r>
            <a:r>
              <a:rPr lang="en-US" altLang="zh-CN" sz="3200" b="1" i="1" dirty="0" err="1">
                <a:latin typeface="Times New Roman" panose="02020603050405020304" pitchFamily="18" charset="0"/>
                <a:ea typeface="华文行楷" pitchFamily="2" charset="-122"/>
              </a:rPr>
              <a:t>u</a:t>
            </a:r>
            <a:r>
              <a:rPr lang="en-US" altLang="zh-CN" sz="3200" b="1" baseline="-25000" dirty="0" err="1">
                <a:latin typeface="Times New Roman" panose="02020603050405020304" pitchFamily="18" charset="0"/>
                <a:ea typeface="华文行楷" pitchFamily="2" charset="-122"/>
              </a:rPr>
              <a:t>DS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对</a:t>
            </a:r>
            <a:r>
              <a:rPr lang="en-US" altLang="zh-CN" sz="3200" b="1" i="1" dirty="0" err="1">
                <a:latin typeface="Times New Roman" panose="02020603050405020304" pitchFamily="18" charset="0"/>
                <a:ea typeface="华文行楷" pitchFamily="2" charset="-122"/>
              </a:rPr>
              <a:t>i</a:t>
            </a:r>
            <a:r>
              <a:rPr lang="en-US" altLang="zh-CN" sz="3200" b="1" baseline="-25000" dirty="0" err="1">
                <a:latin typeface="Times New Roman" panose="02020603050405020304" pitchFamily="18" charset="0"/>
                <a:ea typeface="华文行楷" pitchFamily="2" charset="-122"/>
              </a:rPr>
              <a:t>D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的影响</a:t>
            </a:r>
          </a:p>
        </p:txBody>
      </p:sp>
      <p:graphicFrame>
        <p:nvGraphicFramePr>
          <p:cNvPr id="136196" name="Object 4"/>
          <p:cNvGraphicFramePr>
            <a:graphicFrameLocks noChangeAspect="1"/>
          </p:cNvGraphicFramePr>
          <p:nvPr/>
        </p:nvGraphicFramePr>
        <p:xfrm>
          <a:off x="2205038" y="1704975"/>
          <a:ext cx="2438400" cy="234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8923810" imgH="8580952" progId="">
                  <p:embed/>
                </p:oleObj>
              </mc:Choice>
              <mc:Fallback>
                <p:oleObj name="Photo Editor 照片" r:id="rId3" imgW="8923810" imgH="8580952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1704975"/>
                        <a:ext cx="2438400" cy="234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7" name="Object 5"/>
          <p:cNvGraphicFramePr>
            <a:graphicFrameLocks noChangeAspect="1"/>
          </p:cNvGraphicFramePr>
          <p:nvPr/>
        </p:nvGraphicFramePr>
        <p:xfrm>
          <a:off x="4872038" y="1628776"/>
          <a:ext cx="2590800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5" imgW="9190476" imgH="8504762" progId="">
                  <p:embed/>
                </p:oleObj>
              </mc:Choice>
              <mc:Fallback>
                <p:oleObj name="Photo Editor 照片" r:id="rId5" imgW="9190476" imgH="8504762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1628776"/>
                        <a:ext cx="2590800" cy="239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198" name="Object 6"/>
          <p:cNvGraphicFramePr>
            <a:graphicFrameLocks noChangeAspect="1"/>
          </p:cNvGraphicFramePr>
          <p:nvPr/>
        </p:nvGraphicFramePr>
        <p:xfrm>
          <a:off x="7767638" y="1552575"/>
          <a:ext cx="2419350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7" imgW="8888066" imgH="8542857" progId="">
                  <p:embed/>
                </p:oleObj>
              </mc:Choice>
              <mc:Fallback>
                <p:oleObj name="Photo Editor 照片" r:id="rId7" imgW="8888066" imgH="8542857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7638" y="1552575"/>
                        <a:ext cx="2419350" cy="232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9" name="Text Box 7"/>
          <p:cNvSpPr txBox="1">
            <a:spLocks noChangeArrowheads="1"/>
          </p:cNvSpPr>
          <p:nvPr/>
        </p:nvSpPr>
        <p:spPr bwMode="auto">
          <a:xfrm>
            <a:off x="2319338" y="5182453"/>
            <a:ext cx="2209800" cy="1200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随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DS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的增大而增大，可变电阻区</a:t>
            </a:r>
          </a:p>
        </p:txBody>
      </p:sp>
      <p:sp>
        <p:nvSpPr>
          <p:cNvPr id="136200" name="Text Box 8"/>
          <p:cNvSpPr txBox="1">
            <a:spLocks noChangeArrowheads="1"/>
          </p:cNvSpPr>
          <p:nvPr/>
        </p:nvSpPr>
        <p:spPr bwMode="auto">
          <a:xfrm>
            <a:off x="4872038" y="5166973"/>
            <a:ext cx="2514600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GD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kumimoji="1" lang="en-US" altLang="zh-CN" sz="2400" b="1" i="1" dirty="0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>
                <a:latin typeface="Times New Roman" panose="02020603050405020304" pitchFamily="18" charset="0"/>
              </a:rPr>
              <a:t>GS</a:t>
            </a:r>
            <a:r>
              <a:rPr kumimoji="1" lang="zh-CN" altLang="en-US" sz="2400" b="1" baseline="-25000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th</a:t>
            </a:r>
            <a:r>
              <a:rPr kumimoji="1" lang="zh-CN" altLang="en-US" sz="2400" b="1" baseline="-25000" dirty="0">
                <a:latin typeface="Times New Roman" panose="02020603050405020304" pitchFamily="18" charset="0"/>
              </a:rPr>
              <a:t>）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,</a:t>
            </a:r>
          </a:p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预夹断</a:t>
            </a:r>
          </a:p>
        </p:txBody>
      </p:sp>
      <p:sp>
        <p:nvSpPr>
          <p:cNvPr id="136201" name="Text Box 9"/>
          <p:cNvSpPr txBox="1">
            <a:spLocks noChangeArrowheads="1"/>
          </p:cNvSpPr>
          <p:nvPr/>
        </p:nvSpPr>
        <p:spPr bwMode="auto">
          <a:xfrm>
            <a:off x="8049889" y="5367118"/>
            <a:ext cx="2033614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仅受控于</a:t>
            </a:r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GS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，恒流区</a:t>
            </a:r>
          </a:p>
        </p:txBody>
      </p:sp>
      <p:sp>
        <p:nvSpPr>
          <p:cNvPr id="136202" name="AutoShape 10"/>
          <p:cNvSpPr/>
          <p:nvPr/>
        </p:nvSpPr>
        <p:spPr bwMode="auto">
          <a:xfrm>
            <a:off x="5519937" y="4262459"/>
            <a:ext cx="1299315" cy="455613"/>
          </a:xfrm>
          <a:prstGeom prst="borderCallout1">
            <a:avLst>
              <a:gd name="adj1" fmla="val -8713"/>
              <a:gd name="adj2" fmla="val 71098"/>
              <a:gd name="adj3" fmla="val -297522"/>
              <a:gd name="adj4" fmla="val 89234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预夹断</a:t>
            </a:r>
          </a:p>
        </p:txBody>
      </p:sp>
      <p:sp>
        <p:nvSpPr>
          <p:cNvPr id="136203" name="AutoShape 11"/>
          <p:cNvSpPr/>
          <p:nvPr/>
        </p:nvSpPr>
        <p:spPr bwMode="auto">
          <a:xfrm>
            <a:off x="7878564" y="4049713"/>
            <a:ext cx="2376264" cy="800100"/>
          </a:xfrm>
          <a:prstGeom prst="borderCallout1">
            <a:avLst>
              <a:gd name="adj1" fmla="val -1954"/>
              <a:gd name="adj2" fmla="val 77427"/>
              <a:gd name="adj3" fmla="val -154844"/>
              <a:gd name="adj4" fmla="val 55110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kumimoji="1" lang="en-US" altLang="zh-CN" sz="2400" b="1" baseline="-25000" dirty="0" err="1">
                <a:latin typeface="Times New Roman" panose="02020603050405020304" pitchFamily="18" charset="0"/>
              </a:rPr>
              <a:t>DS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的增量全部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降落在夹断区</a:t>
            </a:r>
          </a:p>
        </p:txBody>
      </p:sp>
      <p:sp>
        <p:nvSpPr>
          <p:cNvPr id="11" name="AutoShape 10"/>
          <p:cNvSpPr/>
          <p:nvPr/>
        </p:nvSpPr>
        <p:spPr bwMode="auto">
          <a:xfrm>
            <a:off x="2927649" y="4262459"/>
            <a:ext cx="1299315" cy="455613"/>
          </a:xfrm>
          <a:prstGeom prst="borderCallout1">
            <a:avLst>
              <a:gd name="adj1" fmla="val -8713"/>
              <a:gd name="adj2" fmla="val 71098"/>
              <a:gd name="adj3" fmla="val -291947"/>
              <a:gd name="adj4" fmla="val 64798"/>
            </a:avLst>
          </a:prstGeom>
          <a:solidFill>
            <a:srgbClr val="00FFFF"/>
          </a:solidFill>
          <a:ln w="19050">
            <a:solidFill>
              <a:srgbClr val="FF0000"/>
            </a:solidFill>
            <a:miter lim="800000"/>
          </a:ln>
          <a:effectLst/>
        </p:spPr>
        <p:txBody>
          <a:bodyPr/>
          <a:lstStyle/>
          <a:p>
            <a:r>
              <a:rPr kumimoji="1" lang="zh-CN" altLang="en-US" sz="2400" b="1" dirty="0">
                <a:latin typeface="Times New Roman" panose="02020603050405020304" pitchFamily="18" charset="0"/>
              </a:rPr>
              <a:t>未夹断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6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6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6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6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9" grpId="0" build="p" autoUpdateAnimBg="0"/>
      <p:bldP spid="136200" grpId="0" build="p" autoUpdateAnimBg="0"/>
      <p:bldP spid="136201" grpId="0" build="p" autoUpdateAnimBg="0"/>
      <p:bldP spid="136202" grpId="0" animBg="1" autoUpdateAnimBg="0"/>
      <p:bldP spid="136203" grpId="0" animBg="1" autoUpdateAnimBg="0"/>
      <p:bldP spid="11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155592"/>
            <a:ext cx="4191000" cy="579438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>
                <a:latin typeface="Times New Roman" panose="02020603050405020304" pitchFamily="18" charset="0"/>
              </a:rPr>
              <a:t>增强型</a:t>
            </a:r>
            <a:r>
              <a:rPr lang="en-US" altLang="zh-CN" sz="2800" b="1" dirty="0">
                <a:latin typeface="Times New Roman" panose="02020603050405020304" pitchFamily="18" charset="0"/>
              </a:rPr>
              <a:t>MOS</a:t>
            </a:r>
            <a:r>
              <a:rPr lang="en-US" altLang="zh-CN" sz="3200" dirty="0">
                <a:ea typeface="华文行楷" pitchFamily="2" charset="-122"/>
              </a:rPr>
              <a:t>FET</a:t>
            </a:r>
            <a:r>
              <a:rPr lang="zh-CN" altLang="en-US" sz="3200" dirty="0">
                <a:ea typeface="华文行楷" pitchFamily="2" charset="-122"/>
              </a:rPr>
              <a:t>的特性</a:t>
            </a:r>
          </a:p>
        </p:txBody>
      </p:sp>
      <p:graphicFrame>
        <p:nvGraphicFramePr>
          <p:cNvPr id="1392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242658"/>
              </p:ext>
            </p:extLst>
          </p:nvPr>
        </p:nvGraphicFramePr>
        <p:xfrm>
          <a:off x="7392144" y="4509120"/>
          <a:ext cx="41036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3949600" imgH="17068800" progId="Equation.3">
                  <p:embed/>
                </p:oleObj>
              </mc:Choice>
              <mc:Fallback>
                <p:oleObj name="公式" r:id="rId3" imgW="53949600" imgH="17068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4509120"/>
                        <a:ext cx="4103687" cy="1301750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5B37DD58-3FCD-A571-58A2-5CC5345A98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145" r="14997"/>
          <a:stretch>
            <a:fillRect/>
          </a:stretch>
        </p:blipFill>
        <p:spPr>
          <a:xfrm rot="16200000">
            <a:off x="1663804" y="1709743"/>
            <a:ext cx="3151796" cy="6479405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9A76AD0-7FE7-2D8A-7AFF-4E000CBD1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25068"/>
              </p:ext>
            </p:extLst>
          </p:nvPr>
        </p:nvGraphicFramePr>
        <p:xfrm>
          <a:off x="462410" y="942343"/>
          <a:ext cx="2438400" cy="234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6" imgW="8923810" imgH="8580952" progId="">
                  <p:embed/>
                </p:oleObj>
              </mc:Choice>
              <mc:Fallback>
                <p:oleObj name="Photo Editor 照片" r:id="rId6" imgW="8923810" imgH="8580952" progId="">
                  <p:embed/>
                  <p:pic>
                    <p:nvPicPr>
                      <p:cNvPr id="136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410" y="942343"/>
                        <a:ext cx="2438400" cy="2344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38403AC-3566-7BAB-C98D-3B563C4ED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580562"/>
              </p:ext>
            </p:extLst>
          </p:nvPr>
        </p:nvGraphicFramePr>
        <p:xfrm>
          <a:off x="3917701" y="855726"/>
          <a:ext cx="2590800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8" imgW="9190476" imgH="8504762" progId="">
                  <p:embed/>
                </p:oleObj>
              </mc:Choice>
              <mc:Fallback>
                <p:oleObj name="Photo Editor 照片" r:id="rId8" imgW="9190476" imgH="8504762" progId="">
                  <p:embed/>
                  <p:pic>
                    <p:nvPicPr>
                      <p:cNvPr id="136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701" y="855726"/>
                        <a:ext cx="2590800" cy="239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9D690B0-1E64-E095-4B17-5C1EEDF2A0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0608"/>
              </p:ext>
            </p:extLst>
          </p:nvPr>
        </p:nvGraphicFramePr>
        <p:xfrm>
          <a:off x="7608168" y="962981"/>
          <a:ext cx="2419350" cy="232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10" imgW="8888066" imgH="8542857" progId="">
                  <p:embed/>
                </p:oleObj>
              </mc:Choice>
              <mc:Fallback>
                <p:oleObj name="Photo Editor 照片" r:id="rId10" imgW="8888066" imgH="8542857" progId="">
                  <p:embed/>
                  <p:pic>
                    <p:nvPicPr>
                      <p:cNvPr id="1361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168" y="962981"/>
                        <a:ext cx="2419350" cy="232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3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13927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320</Words>
  <Application>Microsoft Office PowerPoint</Application>
  <PresentationFormat>宽屏</PresentationFormat>
  <Paragraphs>74</Paragraphs>
  <Slides>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黑体</vt:lpstr>
      <vt:lpstr>华文行楷</vt:lpstr>
      <vt:lpstr>Arial</vt:lpstr>
      <vt:lpstr>Calibri</vt:lpstr>
      <vt:lpstr>Times New Roman</vt:lpstr>
      <vt:lpstr>Verdana</vt:lpstr>
      <vt:lpstr>Office 主题</vt:lpstr>
      <vt:lpstr>Photo Editor 照片</vt:lpstr>
      <vt:lpstr>Equation</vt:lpstr>
      <vt:lpstr>公式</vt:lpstr>
      <vt:lpstr>1.4 场效应管</vt:lpstr>
      <vt:lpstr>1.4.1 结型场效应管JFET</vt:lpstr>
      <vt:lpstr>栅-源电压UGS对导电沟道宽度的控制作用</vt:lpstr>
      <vt:lpstr>漏-源电压UDS对漏极电流的影响</vt:lpstr>
      <vt:lpstr>PowerPoint 演示文稿</vt:lpstr>
      <vt:lpstr>转移特性</vt:lpstr>
      <vt:lpstr>1.4.2 绝缘栅型场效应管MOSFET</vt:lpstr>
      <vt:lpstr>增强型MOSFET  uDS对iD的影响</vt:lpstr>
      <vt:lpstr>增强型MOSFET的特性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Hitsz</dc:creator>
  <cp:lastModifiedBy>立欣 王</cp:lastModifiedBy>
  <cp:revision>20</cp:revision>
  <dcterms:created xsi:type="dcterms:W3CDTF">2019-03-10T00:36:21Z</dcterms:created>
  <dcterms:modified xsi:type="dcterms:W3CDTF">2026-05-25T06:29:27Z</dcterms:modified>
</cp:coreProperties>
</file>