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B8541-AE67-41B2-A4F9-0AF167B3C4C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4D4B6-D948-43C1-B814-0B3C6E47C2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94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57A3241-C507-41CF-B49C-D717873F109D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703268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D0822A0-B299-4818-985D-0AFAFCEFA5BF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018291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20ECC68-2D77-4E14-B65C-D1CF47B37B53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694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自行阅读、演算例</a:t>
            </a:r>
            <a:r>
              <a:rPr lang="en-US" altLang="zh-CN" dirty="0"/>
              <a:t>2.5.1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93159-0570-449D-966A-C31E68F7A55D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317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A6C3935-DB24-46B7-BB9D-266652AB8CA2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9450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83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23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84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84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937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99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89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3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05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93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33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7D004-54B4-4206-AC84-1B0F9954800F}" type="datetimeFigureOut">
              <a:rPr lang="zh-CN" altLang="en-US" smtClean="0"/>
              <a:t>2026-06-01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0021-CA99-4993-851B-845A3DAE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49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9.wmf"/><Relationship Id="rId4" Type="http://schemas.openxmlformats.org/officeDocument/2006/relationships/image" Target="../media/image6.png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6.wmf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oleObject" Target="../embeddings/oleObject13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6.png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image" Target="../media/image1.png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1.wmf"/><Relationship Id="rId5" Type="http://schemas.openxmlformats.org/officeDocument/2006/relationships/image" Target="../media/image18.png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11" Type="http://schemas.openxmlformats.org/officeDocument/2006/relationships/image" Target="../media/image1.png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5.wmf"/><Relationship Id="rId4" Type="http://schemas.openxmlformats.org/officeDocument/2006/relationships/image" Target="../media/image18.png"/><Relationship Id="rId9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1115736" y="28176"/>
            <a:ext cx="8077200" cy="66402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2.5 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基本放大电路的三种接法</a:t>
            </a:r>
          </a:p>
        </p:txBody>
      </p:sp>
      <p:sp>
        <p:nvSpPr>
          <p:cNvPr id="107529" name="Text Box 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524233" y="1928802"/>
            <a:ext cx="41052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华文楷体" pitchFamily="2" charset="-122"/>
              </a:rPr>
              <a:t>2.5.1  </a:t>
            </a:r>
            <a:r>
              <a:rPr kumimoji="1" lang="zh-CN" altLang="en-US" sz="2800" dirty="0">
                <a:latin typeface="Times New Roman" panose="02020603050405020304" pitchFamily="18" charset="0"/>
                <a:ea typeface="华文楷体" pitchFamily="2" charset="-122"/>
              </a:rPr>
              <a:t>共集放大电路</a:t>
            </a:r>
          </a:p>
        </p:txBody>
      </p:sp>
      <p:sp>
        <p:nvSpPr>
          <p:cNvPr id="107530" name="Text Box 10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24232" y="2720964"/>
            <a:ext cx="4033838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华文楷体" pitchFamily="2" charset="-122"/>
              </a:rPr>
              <a:t>2.5.2  </a:t>
            </a:r>
            <a:r>
              <a:rPr kumimoji="1" lang="zh-CN" altLang="en-US" sz="2800" dirty="0">
                <a:latin typeface="Times New Roman" panose="02020603050405020304" pitchFamily="18" charset="0"/>
                <a:ea typeface="华文楷体" pitchFamily="2" charset="-122"/>
              </a:rPr>
              <a:t>共基放大电路</a:t>
            </a:r>
          </a:p>
        </p:txBody>
      </p:sp>
      <p:sp>
        <p:nvSpPr>
          <p:cNvPr id="107531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24232" y="3441690"/>
            <a:ext cx="50419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华文楷体" pitchFamily="2" charset="-122"/>
              </a:rPr>
              <a:t>2.5.3  </a:t>
            </a:r>
            <a:r>
              <a:rPr kumimoji="1" lang="zh-CN" altLang="en-US" sz="2800" dirty="0">
                <a:latin typeface="Times New Roman" panose="02020603050405020304" pitchFamily="18" charset="0"/>
                <a:ea typeface="华文楷体" pitchFamily="2" charset="-122"/>
              </a:rPr>
              <a:t>三种接法放大电路的比较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6E300-DD9C-4CD8-AEBB-B30545B42F83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F766890-A19D-6766-5EEA-160F0667B1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64704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684347-E8B5-3CBC-6CD8-483E0D9AC9C5}"/>
              </a:ext>
            </a:extLst>
          </p:cNvPr>
          <p:cNvGrpSpPr>
            <a:grpSpLocks/>
          </p:cNvGrpSpPr>
          <p:nvPr/>
        </p:nvGrpSpPr>
        <p:grpSpPr bwMode="auto">
          <a:xfrm>
            <a:off x="9153711" y="236066"/>
            <a:ext cx="2611437" cy="384175"/>
            <a:chOff x="4318608" y="5559022"/>
            <a:chExt cx="1957389" cy="385747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C8ED59B-3BFF-FF97-7C40-2C8AD33ABE84}"/>
                </a:ext>
              </a:extLst>
            </p:cNvPr>
            <p:cNvSpPr txBox="1"/>
            <p:nvPr userDrawn="1"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0EE61F9-3E38-647F-0837-1FB99F2BB9D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4116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 descr="Dz020501"/>
          <p:cNvPicPr>
            <a:picLocks noChangeAspect="1" noChangeArrowheads="1"/>
          </p:cNvPicPr>
          <p:nvPr/>
        </p:nvPicPr>
        <p:blipFill>
          <a:blip r:embed="rId3" cstate="print"/>
          <a:srcRect r="63542" b="10884"/>
          <a:stretch>
            <a:fillRect/>
          </a:stretch>
        </p:blipFill>
        <p:spPr bwMode="auto">
          <a:xfrm>
            <a:off x="1665288" y="1553778"/>
            <a:ext cx="2895600" cy="2398712"/>
          </a:xfrm>
          <a:prstGeom prst="rect">
            <a:avLst/>
          </a:prstGeom>
          <a:noFill/>
        </p:spPr>
      </p:pic>
      <p:sp>
        <p:nvSpPr>
          <p:cNvPr id="10957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-90276"/>
            <a:ext cx="7556500" cy="795337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en-US" altLang="zh-CN" sz="3600" dirty="0">
                <a:latin typeface="华文行楷" pitchFamily="2" charset="-122"/>
                <a:ea typeface="华文行楷" pitchFamily="2" charset="-122"/>
              </a:rPr>
              <a:t>2.5.1  </a:t>
            </a:r>
            <a:r>
              <a:rPr lang="zh-CN" altLang="en-US" sz="3600" dirty="0">
                <a:latin typeface="华文行楷" pitchFamily="2" charset="-122"/>
                <a:ea typeface="华文行楷" pitchFamily="2" charset="-122"/>
              </a:rPr>
              <a:t>共集放大电路</a:t>
            </a:r>
          </a:p>
        </p:txBody>
      </p:sp>
      <p:pic>
        <p:nvPicPr>
          <p:cNvPr id="109580" name="Picture 12" descr="Dz020501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 l="64203" t="14197" b="14822"/>
          <a:stretch>
            <a:fillRect/>
          </a:stretch>
        </p:blipFill>
        <p:spPr>
          <a:xfrm>
            <a:off x="6672072" y="1800394"/>
            <a:ext cx="2881312" cy="1935162"/>
          </a:xfrm>
          <a:noFill/>
        </p:spPr>
      </p:pic>
      <p:graphicFrame>
        <p:nvGraphicFramePr>
          <p:cNvPr id="1095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783063"/>
              </p:ext>
            </p:extLst>
          </p:nvPr>
        </p:nvGraphicFramePr>
        <p:xfrm>
          <a:off x="2040255" y="5033329"/>
          <a:ext cx="350520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233600" imgH="11582400" progId="Equation.3">
                  <p:embed/>
                </p:oleObj>
              </mc:Choice>
              <mc:Fallback>
                <p:oleObj name="Equation" r:id="rId5" imgW="40233600" imgH="11582400" progId="Equation.3">
                  <p:embed/>
                  <p:pic>
                    <p:nvPicPr>
                      <p:cNvPr id="1095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255" y="5033329"/>
                        <a:ext cx="3505200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7024694" y="4357694"/>
          <a:ext cx="2655888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80000" imgH="22555200" progId="Equation.3">
                  <p:embed/>
                </p:oleObj>
              </mc:Choice>
              <mc:Fallback>
                <p:oleObj name="Equation" r:id="rId7" imgW="30480000" imgH="22555200" progId="Equation.3">
                  <p:embed/>
                  <p:pic>
                    <p:nvPicPr>
                      <p:cNvPr id="1095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694" y="4357694"/>
                        <a:ext cx="2655888" cy="19558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9" name="Text Box 11"/>
          <p:cNvSpPr txBox="1">
            <a:spLocks noChangeArrowheads="1"/>
          </p:cNvSpPr>
          <p:nvPr/>
        </p:nvSpPr>
        <p:spPr bwMode="auto">
          <a:xfrm>
            <a:off x="1262952" y="4157471"/>
            <a:ext cx="3960812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3200" dirty="0">
                <a:latin typeface="华文行楷" pitchFamily="2" charset="-122"/>
                <a:ea typeface="华文行楷" pitchFamily="2" charset="-122"/>
              </a:rPr>
              <a:t>（</a:t>
            </a:r>
            <a:r>
              <a:rPr kumimoji="1" lang="en-US" altLang="zh-CN" sz="3200" dirty="0">
                <a:latin typeface="华文行楷" pitchFamily="2" charset="-122"/>
                <a:ea typeface="华文行楷" pitchFamily="2" charset="-122"/>
              </a:rPr>
              <a:t>1</a:t>
            </a:r>
            <a:r>
              <a:rPr kumimoji="1" lang="zh-CN" altLang="en-US" sz="3200" dirty="0">
                <a:latin typeface="华文行楷" pitchFamily="2" charset="-122"/>
                <a:ea typeface="华文行楷" pitchFamily="2" charset="-122"/>
              </a:rPr>
              <a:t>）</a:t>
            </a:r>
            <a:r>
              <a:rPr kumimoji="1" lang="en-US" altLang="zh-CN" sz="3200" dirty="0">
                <a:latin typeface="华文行楷" pitchFamily="2" charset="-122"/>
                <a:ea typeface="华文行楷" pitchFamily="2" charset="-122"/>
              </a:rPr>
              <a:t>  </a:t>
            </a:r>
            <a:r>
              <a:rPr kumimoji="1" lang="zh-CN" altLang="en-US" sz="3200" dirty="0">
                <a:latin typeface="华文行楷" pitchFamily="2" charset="-122"/>
                <a:ea typeface="华文行楷" pitchFamily="2" charset="-122"/>
              </a:rPr>
              <a:t>静态分析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DC520D-8052-5CD5-B93B-ACF98E9271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-138901" y="651679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B2877B-1D6C-0019-A17C-F8F5EF2D51C6}"/>
              </a:ext>
            </a:extLst>
          </p:cNvPr>
          <p:cNvGrpSpPr>
            <a:grpSpLocks/>
          </p:cNvGrpSpPr>
          <p:nvPr/>
        </p:nvGrpSpPr>
        <p:grpSpPr bwMode="auto">
          <a:xfrm>
            <a:off x="9014810" y="123041"/>
            <a:ext cx="2611437" cy="384175"/>
            <a:chOff x="4318608" y="5559022"/>
            <a:chExt cx="1957389" cy="385747"/>
          </a:xfrm>
        </p:grpSpPr>
        <p:sp>
          <p:nvSpPr>
            <p:cNvPr id="5" name="文本框 6">
              <a:extLst>
                <a:ext uri="{FF2B5EF4-FFF2-40B4-BE49-F238E27FC236}">
                  <a16:creationId xmlns:a16="http://schemas.microsoft.com/office/drawing/2014/main" id="{8EC44A13-4A67-4184-8A59-FC657A639708}"/>
                </a:ext>
              </a:extLst>
            </p:cNvPr>
            <p:cNvSpPr txBox="1"/>
            <p:nvPr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F7D4D17-E01C-BFF7-726F-E14D7CFA2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1035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410461"/>
              </p:ext>
            </p:extLst>
          </p:nvPr>
        </p:nvGraphicFramePr>
        <p:xfrm>
          <a:off x="886968" y="3148285"/>
          <a:ext cx="3657600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11841228" imgH="6276190" progId="">
                  <p:embed/>
                </p:oleObj>
              </mc:Choice>
              <mc:Fallback>
                <p:oleObj name="Photo Editor 照片" r:id="rId3" imgW="11841228" imgH="6276190" progId="">
                  <p:embed/>
                  <p:pic>
                    <p:nvPicPr>
                      <p:cNvPr id="1116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968" y="3148285"/>
                        <a:ext cx="3657600" cy="193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1619" name="Picture 3" descr="Dz020501"/>
          <p:cNvPicPr>
            <a:picLocks noChangeAspect="1" noChangeArrowheads="1"/>
          </p:cNvPicPr>
          <p:nvPr/>
        </p:nvPicPr>
        <p:blipFill>
          <a:blip r:embed="rId5" cstate="print"/>
          <a:srcRect r="63542" b="10884"/>
          <a:stretch>
            <a:fillRect/>
          </a:stretch>
        </p:blipFill>
        <p:spPr bwMode="auto">
          <a:xfrm>
            <a:off x="1661772" y="895424"/>
            <a:ext cx="2291680" cy="1898426"/>
          </a:xfrm>
          <a:prstGeom prst="rect">
            <a:avLst/>
          </a:prstGeom>
          <a:noFill/>
        </p:spPr>
      </p:pic>
      <p:sp>
        <p:nvSpPr>
          <p:cNvPr id="111620" name="Rectangle 4"/>
          <p:cNvSpPr>
            <a:spLocks noGrp="1" noChangeArrowheads="1"/>
          </p:cNvSpPr>
          <p:nvPr>
            <p:ph type="title"/>
          </p:nvPr>
        </p:nvSpPr>
        <p:spPr>
          <a:xfrm>
            <a:off x="-22442" y="22006"/>
            <a:ext cx="7951788" cy="685800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（</a:t>
            </a:r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2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）动态分析</a:t>
            </a:r>
            <a:r>
              <a:rPr lang="zh-CN" altLang="en-US" sz="2800" b="1" dirty="0"/>
              <a:t>：</a:t>
            </a:r>
            <a:endParaRPr lang="zh-CN" altLang="en-US" sz="4000" b="1" dirty="0"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1" name="Picture 12" descr="Dz020501">
            <a:extLst>
              <a:ext uri="{FF2B5EF4-FFF2-40B4-BE49-F238E27FC236}">
                <a16:creationId xmlns:a16="http://schemas.microsoft.com/office/drawing/2014/main" id="{19A8604F-171C-4BED-92F9-258FDC78BD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/>
          <a:srcRect l="64203" t="14197" b="14822"/>
          <a:stretch>
            <a:fillRect/>
          </a:stretch>
        </p:blipFill>
        <p:spPr>
          <a:xfrm>
            <a:off x="6033169" y="769719"/>
            <a:ext cx="2881312" cy="1935162"/>
          </a:xfrm>
          <a:noFill/>
        </p:spPr>
      </p:pic>
      <p:graphicFrame>
        <p:nvGraphicFramePr>
          <p:cNvPr id="1116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15547"/>
              </p:ext>
            </p:extLst>
          </p:nvPr>
        </p:nvGraphicFramePr>
        <p:xfrm>
          <a:off x="6365476" y="3355448"/>
          <a:ext cx="3429000" cy="167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586400" imgH="21336000" progId="Equation.3">
                  <p:embed/>
                </p:oleObj>
              </mc:Choice>
              <mc:Fallback>
                <p:oleObj name="Equation" r:id="rId7" imgW="43586400" imgH="21336000" progId="Equation.3">
                  <p:embed/>
                  <p:pic>
                    <p:nvPicPr>
                      <p:cNvPr id="1116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476" y="3355448"/>
                        <a:ext cx="3429000" cy="167798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461399"/>
              </p:ext>
            </p:extLst>
          </p:nvPr>
        </p:nvGraphicFramePr>
        <p:xfrm>
          <a:off x="1329926" y="5426828"/>
          <a:ext cx="675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200000" imgH="5791200" progId="Equation.3">
                  <p:embed/>
                </p:oleObj>
              </mc:Choice>
              <mc:Fallback>
                <p:oleObj name="Equation" r:id="rId9" imgW="76200000" imgH="5791200" progId="Equation.3">
                  <p:embed/>
                  <p:pic>
                    <p:nvPicPr>
                      <p:cNvPr id="1116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9926" y="5426828"/>
                        <a:ext cx="6750050" cy="5143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3" name="AutoShape 7"/>
          <p:cNvSpPr/>
          <p:nvPr/>
        </p:nvSpPr>
        <p:spPr bwMode="auto">
          <a:xfrm>
            <a:off x="8336280" y="5992858"/>
            <a:ext cx="2377440" cy="436965"/>
          </a:xfrm>
          <a:prstGeom prst="borderCallout1">
            <a:avLst>
              <a:gd name="adj1" fmla="val -4725"/>
              <a:gd name="adj2" fmla="val 9651"/>
              <a:gd name="adj3" fmla="val -31366"/>
              <a:gd name="adj4" fmla="val -15812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lang="zh-CN" altLang="en-US" sz="2400" b="1" dirty="0"/>
              <a:t>射极跟随器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DC520D-8052-5CD5-B93B-ACF98E9271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-22442" y="769719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3FB2877B-1D6C-0019-A17C-F8F5EF2D51C6}"/>
              </a:ext>
            </a:extLst>
          </p:cNvPr>
          <p:cNvGrpSpPr>
            <a:grpSpLocks/>
          </p:cNvGrpSpPr>
          <p:nvPr/>
        </p:nvGrpSpPr>
        <p:grpSpPr bwMode="auto">
          <a:xfrm>
            <a:off x="9131269" y="241081"/>
            <a:ext cx="2611437" cy="384175"/>
            <a:chOff x="4318608" y="5559022"/>
            <a:chExt cx="1957389" cy="385747"/>
          </a:xfrm>
        </p:grpSpPr>
        <p:sp>
          <p:nvSpPr>
            <p:cNvPr id="6" name="文本框 6">
              <a:extLst>
                <a:ext uri="{FF2B5EF4-FFF2-40B4-BE49-F238E27FC236}">
                  <a16:creationId xmlns:a16="http://schemas.microsoft.com/office/drawing/2014/main" id="{8EC44A13-4A67-4184-8A59-FC657A639708}"/>
                </a:ext>
              </a:extLst>
            </p:cNvPr>
            <p:cNvSpPr txBox="1"/>
            <p:nvPr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F7D4D17-E01C-BFF7-726F-E14D7CFA2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5104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3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8844" y="0"/>
            <a:ext cx="7990554" cy="1167605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（</a:t>
            </a:r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2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）</a:t>
            </a:r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  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动态分析</a:t>
            </a:r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             </a:t>
            </a:r>
            <a:r>
              <a:rPr lang="zh-CN" altLang="en-US" sz="2800" b="1" dirty="0"/>
              <a:t>输入电阻</a:t>
            </a:r>
          </a:p>
        </p:txBody>
      </p:sp>
      <p:pic>
        <p:nvPicPr>
          <p:cNvPr id="20" name="Picture 12" descr="Dz020501">
            <a:extLst>
              <a:ext uri="{FF2B5EF4-FFF2-40B4-BE49-F238E27FC236}">
                <a16:creationId xmlns:a16="http://schemas.microsoft.com/office/drawing/2014/main" id="{700B72DE-0AFA-4F14-B5BA-A5D2FBBFD5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64203" t="14197" b="14822"/>
          <a:stretch>
            <a:fillRect/>
          </a:stretch>
        </p:blipFill>
        <p:spPr>
          <a:xfrm>
            <a:off x="1681737" y="1673310"/>
            <a:ext cx="2881312" cy="1935162"/>
          </a:xfrm>
          <a:noFill/>
        </p:spPr>
      </p:pic>
      <p:graphicFrame>
        <p:nvGraphicFramePr>
          <p:cNvPr id="1136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036814"/>
              </p:ext>
            </p:extLst>
          </p:nvPr>
        </p:nvGraphicFramePr>
        <p:xfrm>
          <a:off x="1555202" y="4068129"/>
          <a:ext cx="41910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596800" imgH="10363200" progId="Equation.3">
                  <p:embed/>
                </p:oleObj>
              </mc:Choice>
              <mc:Fallback>
                <p:oleObj name="Equation" r:id="rId3" imgW="50596800" imgH="10363200" progId="Equation.3">
                  <p:embed/>
                  <p:pic>
                    <p:nvPicPr>
                      <p:cNvPr id="1136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202" y="4068129"/>
                        <a:ext cx="4191000" cy="8556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552148"/>
              </p:ext>
            </p:extLst>
          </p:nvPr>
        </p:nvGraphicFramePr>
        <p:xfrm>
          <a:off x="6063235" y="1711304"/>
          <a:ext cx="3505200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5" imgW="11841228" imgH="6276190" progId="">
                  <p:embed/>
                </p:oleObj>
              </mc:Choice>
              <mc:Fallback>
                <p:oleObj name="Photo Editor 照片" r:id="rId5" imgW="11841228" imgH="6276190" progId="">
                  <p:embed/>
                  <p:pic>
                    <p:nvPicPr>
                      <p:cNvPr id="1136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3235" y="1711304"/>
                        <a:ext cx="3505200" cy="185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 bwMode="auto">
          <a:xfrm>
            <a:off x="9519223" y="2055792"/>
            <a:ext cx="1268412" cy="1298575"/>
            <a:chOff x="3281" y="1273"/>
            <a:chExt cx="799" cy="818"/>
          </a:xfrm>
        </p:grpSpPr>
        <p:sp>
          <p:nvSpPr>
            <p:cNvPr id="113671" name="Rectangle 7"/>
            <p:cNvSpPr>
              <a:spLocks noChangeArrowheads="1"/>
            </p:cNvSpPr>
            <p:nvPr/>
          </p:nvSpPr>
          <p:spPr bwMode="auto">
            <a:xfrm>
              <a:off x="3600" y="1561"/>
              <a:ext cx="57" cy="19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672" name="Line 8"/>
            <p:cNvSpPr>
              <a:spLocks noChangeShapeType="1"/>
            </p:cNvSpPr>
            <p:nvPr/>
          </p:nvSpPr>
          <p:spPr bwMode="auto">
            <a:xfrm flipV="1">
              <a:off x="3625" y="1273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3" name="Line 9"/>
            <p:cNvSpPr>
              <a:spLocks noChangeShapeType="1"/>
            </p:cNvSpPr>
            <p:nvPr/>
          </p:nvSpPr>
          <p:spPr bwMode="auto">
            <a:xfrm flipH="1">
              <a:off x="3285" y="1273"/>
              <a:ext cx="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4" name="Line 10"/>
            <p:cNvSpPr>
              <a:spLocks noChangeShapeType="1"/>
            </p:cNvSpPr>
            <p:nvPr/>
          </p:nvSpPr>
          <p:spPr bwMode="auto">
            <a:xfrm flipV="1">
              <a:off x="3621" y="1758"/>
              <a:ext cx="0" cy="3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5" name="Line 11"/>
            <p:cNvSpPr>
              <a:spLocks noChangeShapeType="1"/>
            </p:cNvSpPr>
            <p:nvPr/>
          </p:nvSpPr>
          <p:spPr bwMode="auto">
            <a:xfrm flipH="1">
              <a:off x="3281" y="2089"/>
              <a:ext cx="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6" name="Text Box 12"/>
            <p:cNvSpPr txBox="1">
              <a:spLocks noChangeArrowheads="1"/>
            </p:cNvSpPr>
            <p:nvPr/>
          </p:nvSpPr>
          <p:spPr bwMode="auto">
            <a:xfrm>
              <a:off x="3696" y="1536"/>
              <a:ext cx="384" cy="23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baseline="-25000">
                  <a:latin typeface="Times New Roman" panose="02020603050405020304" pitchFamily="18" charset="0"/>
                </a:rPr>
                <a:t>L</a:t>
              </a:r>
              <a:endParaRPr kumimoji="1"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 bwMode="auto">
          <a:xfrm>
            <a:off x="1366775" y="5344881"/>
            <a:ext cx="5921375" cy="457200"/>
            <a:chOff x="576" y="2976"/>
            <a:chExt cx="3730" cy="288"/>
          </a:xfrm>
        </p:grpSpPr>
        <p:graphicFrame>
          <p:nvGraphicFramePr>
            <p:cNvPr id="113678" name="Object 14"/>
            <p:cNvGraphicFramePr>
              <a:graphicFrameLocks noChangeAspect="1"/>
            </p:cNvGraphicFramePr>
            <p:nvPr/>
          </p:nvGraphicFramePr>
          <p:xfrm>
            <a:off x="1968" y="2976"/>
            <a:ext cx="2338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4805600" imgH="5486400" progId="Equation.3">
                    <p:embed/>
                  </p:oleObj>
                </mc:Choice>
                <mc:Fallback>
                  <p:oleObj name="Equation" r:id="rId7" imgW="44805600" imgH="5486400" progId="Equation.3">
                    <p:embed/>
                    <p:pic>
                      <p:nvPicPr>
                        <p:cNvPr id="11367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976"/>
                          <a:ext cx="2338" cy="285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952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679" name="Text Box 15"/>
            <p:cNvSpPr txBox="1">
              <a:spLocks noChangeArrowheads="1"/>
            </p:cNvSpPr>
            <p:nvPr/>
          </p:nvSpPr>
          <p:spPr bwMode="auto">
            <a:xfrm>
              <a:off x="576" y="2976"/>
              <a:ext cx="129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</a:rPr>
                <a:t>带负载电阻后</a:t>
              </a:r>
            </a:p>
          </p:txBody>
        </p:sp>
      </p:grpSp>
      <p:sp>
        <p:nvSpPr>
          <p:cNvPr id="113680" name="Oval 16"/>
          <p:cNvSpPr>
            <a:spLocks noChangeArrowheads="1"/>
          </p:cNvSpPr>
          <p:nvPr/>
        </p:nvSpPr>
        <p:spPr bwMode="auto">
          <a:xfrm>
            <a:off x="5351400" y="5282969"/>
            <a:ext cx="2089150" cy="5762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7"/>
          <p:cNvGrpSpPr/>
          <p:nvPr/>
        </p:nvGrpSpPr>
        <p:grpSpPr bwMode="auto">
          <a:xfrm>
            <a:off x="4563049" y="4183847"/>
            <a:ext cx="6790657" cy="669925"/>
            <a:chOff x="2796" y="2298"/>
            <a:chExt cx="4278" cy="422"/>
          </a:xfrm>
        </p:grpSpPr>
        <p:sp>
          <p:nvSpPr>
            <p:cNvPr id="113682" name="Oval 18"/>
            <p:cNvSpPr>
              <a:spLocks noChangeArrowheads="1"/>
            </p:cNvSpPr>
            <p:nvPr/>
          </p:nvSpPr>
          <p:spPr bwMode="auto">
            <a:xfrm>
              <a:off x="2796" y="2311"/>
              <a:ext cx="771" cy="40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13683" name="AutoShape 19"/>
            <p:cNvSpPr/>
            <p:nvPr/>
          </p:nvSpPr>
          <p:spPr bwMode="auto">
            <a:xfrm>
              <a:off x="4161" y="2298"/>
              <a:ext cx="2913" cy="262"/>
            </a:xfrm>
            <a:prstGeom prst="borderCallout1">
              <a:avLst>
                <a:gd name="adj1" fmla="val 46690"/>
                <a:gd name="adj2" fmla="val -868"/>
                <a:gd name="adj3" fmla="val 83810"/>
                <a:gd name="adj4" fmla="val -21389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</a:ln>
            <a:effectLst/>
          </p:spPr>
          <p:txBody>
            <a:bodyPr/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</a:rPr>
                <a:t>从基极看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e</a:t>
              </a:r>
              <a:r>
                <a:rPr kumimoji="1" lang="zh-CN" altLang="en-US" sz="2400" b="1" dirty="0">
                  <a:latin typeface="Times New Roman" panose="02020603050405020304" pitchFamily="18" charset="0"/>
                </a:rPr>
                <a:t>，被增大到（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1+</a:t>
              </a:r>
              <a:r>
                <a:rPr kumimoji="1" lang="el-G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kumimoji="1" lang="zh-CN" altLang="en-US" sz="2400" b="1" dirty="0">
                  <a:latin typeface="Times New Roman" panose="02020603050405020304" pitchFamily="18" charset="0"/>
                </a:rPr>
                <a:t>）倍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4DC520D-8052-5CD5-B93B-ACF98E9271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-93181" y="944543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3FB2877B-1D6C-0019-A17C-F8F5EF2D51C6}"/>
              </a:ext>
            </a:extLst>
          </p:cNvPr>
          <p:cNvGrpSpPr>
            <a:grpSpLocks/>
          </p:cNvGrpSpPr>
          <p:nvPr/>
        </p:nvGrpSpPr>
        <p:grpSpPr bwMode="auto">
          <a:xfrm>
            <a:off x="9060530" y="415905"/>
            <a:ext cx="2611437" cy="384175"/>
            <a:chOff x="4318608" y="5559022"/>
            <a:chExt cx="1957389" cy="385747"/>
          </a:xfrm>
        </p:grpSpPr>
        <p:sp>
          <p:nvSpPr>
            <p:cNvPr id="8" name="文本框 6">
              <a:extLst>
                <a:ext uri="{FF2B5EF4-FFF2-40B4-BE49-F238E27FC236}">
                  <a16:creationId xmlns:a16="http://schemas.microsoft.com/office/drawing/2014/main" id="{8EC44A13-4A67-4184-8A59-FC657A639708}"/>
                </a:ext>
              </a:extLst>
            </p:cNvPr>
            <p:cNvSpPr txBox="1"/>
            <p:nvPr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F7D4D17-E01C-BFF7-726F-E14D7CFA2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3981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2" descr="Dz020501">
            <a:extLst>
              <a:ext uri="{FF2B5EF4-FFF2-40B4-BE49-F238E27FC236}">
                <a16:creationId xmlns:a16="http://schemas.microsoft.com/office/drawing/2014/main" id="{305273EF-79ED-4085-9DD3-5692470D1A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64203" t="14197" b="14822"/>
          <a:stretch>
            <a:fillRect/>
          </a:stretch>
        </p:blipFill>
        <p:spPr>
          <a:xfrm>
            <a:off x="288646" y="977725"/>
            <a:ext cx="2881312" cy="1935162"/>
          </a:xfrm>
          <a:noFill/>
        </p:spPr>
      </p:pic>
      <p:graphicFrame>
        <p:nvGraphicFramePr>
          <p:cNvPr id="1146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982162"/>
              </p:ext>
            </p:extLst>
          </p:nvPr>
        </p:nvGraphicFramePr>
        <p:xfrm>
          <a:off x="506178" y="3105770"/>
          <a:ext cx="7460839" cy="1474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92360" imgH="622080" progId="Equation.DSMT4">
                  <p:embed/>
                </p:oleObj>
              </mc:Choice>
              <mc:Fallback>
                <p:oleObj name="Equation" r:id="rId4" imgW="3492360" imgH="622080" progId="Equation.DSMT4">
                  <p:embed/>
                  <p:pic>
                    <p:nvPicPr>
                      <p:cNvPr id="1146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178" y="3105770"/>
                        <a:ext cx="7460839" cy="1474631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370971" y="5511521"/>
            <a:ext cx="10150285" cy="523220"/>
          </a:xfrm>
          <a:prstGeom prst="rect">
            <a:avLst/>
          </a:prstGeom>
          <a:solidFill>
            <a:srgbClr val="0070C0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特点：</a:t>
            </a: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电压跟随，输入电阻大，输出电阻小。阻抗变换或隔离</a:t>
            </a:r>
          </a:p>
        </p:txBody>
      </p:sp>
      <p:graphicFrame>
        <p:nvGraphicFramePr>
          <p:cNvPr id="1146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053897"/>
              </p:ext>
            </p:extLst>
          </p:nvPr>
        </p:nvGraphicFramePr>
        <p:xfrm>
          <a:off x="8149897" y="823259"/>
          <a:ext cx="4038600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6" imgW="12904762" imgH="6447619" progId="">
                  <p:embed/>
                </p:oleObj>
              </mc:Choice>
              <mc:Fallback>
                <p:oleObj name="Photo Editor 照片" r:id="rId6" imgW="12904762" imgH="6447619" progId="">
                  <p:embed/>
                  <p:pic>
                    <p:nvPicPr>
                      <p:cNvPr id="1146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9897" y="823259"/>
                        <a:ext cx="4038600" cy="201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6130597" y="2388220"/>
            <a:ext cx="1371600" cy="381000"/>
            <a:chOff x="432" y="2304"/>
            <a:chExt cx="864" cy="240"/>
          </a:xfrm>
        </p:grpSpPr>
        <p:graphicFrame>
          <p:nvGraphicFramePr>
            <p:cNvPr id="114697" name="Object 9"/>
            <p:cNvGraphicFramePr>
              <a:graphicFrameLocks noChangeAspect="1"/>
            </p:cNvGraphicFramePr>
            <p:nvPr/>
          </p:nvGraphicFramePr>
          <p:xfrm>
            <a:off x="768" y="2304"/>
            <a:ext cx="20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76800" imgH="5791200" progId="Equation.3">
                    <p:embed/>
                  </p:oleObj>
                </mc:Choice>
                <mc:Fallback>
                  <p:oleObj name="Equation" r:id="rId8" imgW="4876800" imgH="5791200" progId="Equation.3">
                    <p:embed/>
                    <p:pic>
                      <p:nvPicPr>
                        <p:cNvPr id="11469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304"/>
                          <a:ext cx="203" cy="240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698" name="Object 10"/>
            <p:cNvGraphicFramePr>
              <a:graphicFrameLocks noChangeAspect="1"/>
            </p:cNvGraphicFramePr>
            <p:nvPr/>
          </p:nvGraphicFramePr>
          <p:xfrm>
            <a:off x="1152" y="230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52800" imgH="3352800" progId="Equation.3">
                    <p:embed/>
                  </p:oleObj>
                </mc:Choice>
                <mc:Fallback>
                  <p:oleObj name="Equation" r:id="rId10" imgW="3352800" imgH="3352800" progId="Equation.3">
                    <p:embed/>
                    <p:pic>
                      <p:nvPicPr>
                        <p:cNvPr id="11469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304"/>
                          <a:ext cx="144" cy="144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699" name="Object 11"/>
            <p:cNvGraphicFramePr>
              <a:graphicFrameLocks noChangeAspect="1"/>
            </p:cNvGraphicFramePr>
            <p:nvPr/>
          </p:nvGraphicFramePr>
          <p:xfrm>
            <a:off x="432" y="2352"/>
            <a:ext cx="130" cy="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48000" imgH="1828800" progId="Equation.3">
                    <p:embed/>
                  </p:oleObj>
                </mc:Choice>
                <mc:Fallback>
                  <p:oleObj name="Equation" r:id="rId12" imgW="3048000" imgH="1828800" progId="Equation.3">
                    <p:embed/>
                    <p:pic>
                      <p:nvPicPr>
                        <p:cNvPr id="11469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352"/>
                          <a:ext cx="130" cy="79"/>
                        </a:xfrm>
                        <a:prstGeom prst="rect">
                          <a:avLst/>
                        </a:prstGeom>
                        <a:solidFill>
                          <a:srgbClr val="66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/>
          <p:cNvGrpSpPr/>
          <p:nvPr/>
        </p:nvGrpSpPr>
        <p:grpSpPr bwMode="auto">
          <a:xfrm>
            <a:off x="5446114" y="2999066"/>
            <a:ext cx="6223000" cy="2170113"/>
            <a:chOff x="1136" y="4839"/>
            <a:chExt cx="3920" cy="1367"/>
          </a:xfrm>
        </p:grpSpPr>
        <p:sp>
          <p:nvSpPr>
            <p:cNvPr id="114704" name="Oval 16"/>
            <p:cNvSpPr>
              <a:spLocks noChangeArrowheads="1"/>
            </p:cNvSpPr>
            <p:nvPr/>
          </p:nvSpPr>
          <p:spPr bwMode="auto">
            <a:xfrm>
              <a:off x="2073" y="4839"/>
              <a:ext cx="800" cy="69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05" name="AutoShape 17"/>
            <p:cNvSpPr/>
            <p:nvPr/>
          </p:nvSpPr>
          <p:spPr bwMode="auto">
            <a:xfrm>
              <a:off x="1136" y="5857"/>
              <a:ext cx="3920" cy="349"/>
            </a:xfrm>
            <a:prstGeom prst="borderCallout1">
              <a:avLst>
                <a:gd name="adj1" fmla="val -5374"/>
                <a:gd name="adj2" fmla="val 35408"/>
                <a:gd name="adj3" fmla="val -96303"/>
                <a:gd name="adj4" fmla="val 33329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</a:ln>
            <a:effectLst/>
          </p:spPr>
          <p:txBody>
            <a:bodyPr/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</a:rPr>
                <a:t>从射极看基极回路电阻，被减小到（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1+</a:t>
              </a:r>
              <a:r>
                <a:rPr kumimoji="1" lang="el-G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kumimoji="1" lang="zh-CN" altLang="en-US" sz="2400" b="1" dirty="0">
                  <a:latin typeface="Times New Roman" panose="02020603050405020304" pitchFamily="18" charset="0"/>
                </a:rPr>
                <a:t>）倍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0" y="-176336"/>
            <a:ext cx="6802438" cy="1167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（</a:t>
            </a:r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2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）</a:t>
            </a:r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  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动态分析</a:t>
            </a:r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             </a:t>
            </a:r>
            <a:r>
              <a:rPr lang="zh-CN" altLang="en-US" sz="2800" b="1" dirty="0"/>
              <a:t>输出电阻</a:t>
            </a:r>
          </a:p>
        </p:txBody>
      </p:sp>
      <p:graphicFrame>
        <p:nvGraphicFramePr>
          <p:cNvPr id="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265798"/>
              </p:ext>
            </p:extLst>
          </p:nvPr>
        </p:nvGraphicFramePr>
        <p:xfrm>
          <a:off x="3922413" y="885226"/>
          <a:ext cx="3657600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14" imgW="11841228" imgH="6276190" progId="">
                  <p:embed/>
                </p:oleObj>
              </mc:Choice>
              <mc:Fallback>
                <p:oleObj name="Photo Editor 照片" r:id="rId14" imgW="11841228" imgH="6276190" progId="">
                  <p:embed/>
                  <p:pic>
                    <p:nvPicPr>
                      <p:cNvPr id="1116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413" y="885226"/>
                        <a:ext cx="3657600" cy="193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4DC520D-8052-5CD5-B93B-ACF98E9271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-96034" y="665163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B2877B-1D6C-0019-A17C-F8F5EF2D51C6}"/>
              </a:ext>
            </a:extLst>
          </p:cNvPr>
          <p:cNvGrpSpPr>
            <a:grpSpLocks/>
          </p:cNvGrpSpPr>
          <p:nvPr/>
        </p:nvGrpSpPr>
        <p:grpSpPr bwMode="auto">
          <a:xfrm>
            <a:off x="9057677" y="136525"/>
            <a:ext cx="2611437" cy="384175"/>
            <a:chOff x="4318608" y="5559022"/>
            <a:chExt cx="1957389" cy="38574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EC44A13-4A67-4184-8A59-FC657A639708}"/>
                </a:ext>
              </a:extLst>
            </p:cNvPr>
            <p:cNvSpPr txBox="1"/>
            <p:nvPr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F7D4D17-E01C-BFF7-726F-E14D7CFA2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8411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53822" y="144111"/>
            <a:ext cx="6818312" cy="371475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US" altLang="zh-CN" sz="3600" dirty="0">
                <a:ea typeface="华文行楷" pitchFamily="2" charset="-122"/>
              </a:rPr>
              <a:t>2.5.2 </a:t>
            </a:r>
            <a:r>
              <a:rPr lang="zh-CN" altLang="en-US" sz="3600" dirty="0">
                <a:ea typeface="华文行楷" pitchFamily="2" charset="-122"/>
              </a:rPr>
              <a:t>共基放大电路</a:t>
            </a:r>
            <a:endParaRPr lang="zh-CN" altLang="en-US" sz="2800" dirty="0">
              <a:ea typeface="华文行楷" pitchFamily="2" charset="-122"/>
            </a:endParaRPr>
          </a:p>
        </p:txBody>
      </p:sp>
      <p:graphicFrame>
        <p:nvGraphicFramePr>
          <p:cNvPr id="115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982345"/>
              </p:ext>
            </p:extLst>
          </p:nvPr>
        </p:nvGraphicFramePr>
        <p:xfrm>
          <a:off x="2084832" y="4032251"/>
          <a:ext cx="21161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8000" imgH="10668000" progId="Equation.3">
                  <p:embed/>
                </p:oleObj>
              </mc:Choice>
              <mc:Fallback>
                <p:oleObj name="Equation" r:id="rId2" imgW="25908000" imgH="10668000" progId="Equation.3">
                  <p:embed/>
                  <p:pic>
                    <p:nvPicPr>
                      <p:cNvPr id="1157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832" y="4032251"/>
                        <a:ext cx="2116138" cy="8699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146849"/>
              </p:ext>
            </p:extLst>
          </p:nvPr>
        </p:nvGraphicFramePr>
        <p:xfrm>
          <a:off x="1506538" y="1568450"/>
          <a:ext cx="35814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4" imgW="11133333" imgH="6676190" progId="">
                  <p:embed/>
                </p:oleObj>
              </mc:Choice>
              <mc:Fallback>
                <p:oleObj name="Photo Editor 照片" r:id="rId4" imgW="11133333" imgH="6676190" progId="">
                  <p:embed/>
                  <p:pic>
                    <p:nvPicPr>
                      <p:cNvPr id="1157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592"/>
                      <a:stretch>
                        <a:fillRect/>
                      </a:stretch>
                    </p:blipFill>
                    <p:spPr bwMode="auto">
                      <a:xfrm>
                        <a:off x="1506538" y="1568450"/>
                        <a:ext cx="35814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486823"/>
              </p:ext>
            </p:extLst>
          </p:nvPr>
        </p:nvGraphicFramePr>
        <p:xfrm>
          <a:off x="4629911" y="4032251"/>
          <a:ext cx="14192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73600" imgH="10363200" progId="Equation.3">
                  <p:embed/>
                </p:oleObj>
              </mc:Choice>
              <mc:Fallback>
                <p:oleObj name="Equation" r:id="rId6" imgW="17373600" imgH="10363200" progId="Equation.3">
                  <p:embed/>
                  <p:pic>
                    <p:nvPicPr>
                      <p:cNvPr id="1157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911" y="4032251"/>
                        <a:ext cx="1419225" cy="8445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096600"/>
              </p:ext>
            </p:extLst>
          </p:nvPr>
        </p:nvGraphicFramePr>
        <p:xfrm>
          <a:off x="2182621" y="5232402"/>
          <a:ext cx="31607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709600" imgH="5791200" progId="Equation.3">
                  <p:embed/>
                </p:oleObj>
              </mc:Choice>
              <mc:Fallback>
                <p:oleObj name="Equation" r:id="rId8" imgW="38709600" imgH="5791200" progId="Equation.3">
                  <p:embed/>
                  <p:pic>
                    <p:nvPicPr>
                      <p:cNvPr id="1157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621" y="5232402"/>
                        <a:ext cx="3160713" cy="4730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058840"/>
              </p:ext>
            </p:extLst>
          </p:nvPr>
        </p:nvGraphicFramePr>
        <p:xfrm>
          <a:off x="6109381" y="1761744"/>
          <a:ext cx="3872819" cy="135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01720" imgH="507960" progId="Equation.DSMT4">
                  <p:embed/>
                </p:oleObj>
              </mc:Choice>
              <mc:Fallback>
                <p:oleObj name="Equation" r:id="rId10" imgW="1701720" imgH="507960" progId="Equation.DSMT4">
                  <p:embed/>
                  <p:pic>
                    <p:nvPicPr>
                      <p:cNvPr id="1157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381" y="1761744"/>
                        <a:ext cx="3872819" cy="1353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5" name="Text Box 13"/>
          <p:cNvSpPr txBox="1">
            <a:spLocks noChangeArrowheads="1"/>
          </p:cNvSpPr>
          <p:nvPr/>
        </p:nvSpPr>
        <p:spPr bwMode="auto">
          <a:xfrm>
            <a:off x="443706" y="952338"/>
            <a:ext cx="396081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3200" dirty="0">
                <a:latin typeface="华文行楷" pitchFamily="2" charset="-122"/>
                <a:ea typeface="华文行楷" pitchFamily="2" charset="-122"/>
              </a:rPr>
              <a:t>（</a:t>
            </a:r>
            <a:r>
              <a:rPr kumimoji="1" lang="en-US" altLang="zh-CN" sz="3200" dirty="0">
                <a:latin typeface="华文行楷" pitchFamily="2" charset="-122"/>
                <a:ea typeface="华文行楷" pitchFamily="2" charset="-122"/>
              </a:rPr>
              <a:t>1)   </a:t>
            </a:r>
            <a:r>
              <a:rPr kumimoji="1" lang="zh-CN" altLang="en-US" sz="3200" dirty="0">
                <a:latin typeface="华文行楷" pitchFamily="2" charset="-122"/>
                <a:ea typeface="华文行楷" pitchFamily="2" charset="-122"/>
              </a:rPr>
              <a:t>静态分析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DC520D-8052-5CD5-B93B-ACF98E9271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-50099" y="680658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B2877B-1D6C-0019-A17C-F8F5EF2D51C6}"/>
              </a:ext>
            </a:extLst>
          </p:cNvPr>
          <p:cNvGrpSpPr>
            <a:grpSpLocks/>
          </p:cNvGrpSpPr>
          <p:nvPr/>
        </p:nvGrpSpPr>
        <p:grpSpPr bwMode="auto">
          <a:xfrm>
            <a:off x="9103612" y="152020"/>
            <a:ext cx="2611437" cy="384175"/>
            <a:chOff x="4318608" y="5559022"/>
            <a:chExt cx="1957389" cy="385747"/>
          </a:xfrm>
        </p:grpSpPr>
        <p:sp>
          <p:nvSpPr>
            <p:cNvPr id="5" name="文本框 6">
              <a:extLst>
                <a:ext uri="{FF2B5EF4-FFF2-40B4-BE49-F238E27FC236}">
                  <a16:creationId xmlns:a16="http://schemas.microsoft.com/office/drawing/2014/main" id="{8EC44A13-4A67-4184-8A59-FC657A639708}"/>
                </a:ext>
              </a:extLst>
            </p:cNvPr>
            <p:cNvSpPr txBox="1"/>
            <p:nvPr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F7D4D17-E01C-BFF7-726F-E14D7CFA2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1919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583851" y="299244"/>
            <a:ext cx="7620000" cy="687387"/>
          </a:xfrm>
        </p:spPr>
        <p:txBody>
          <a:bodyPr/>
          <a:lstStyle/>
          <a:p>
            <a:pPr algn="l"/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(2)  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动态分析</a:t>
            </a:r>
          </a:p>
        </p:txBody>
      </p:sp>
      <p:pic>
        <p:nvPicPr>
          <p:cNvPr id="116739" name="Picture 3" descr="Dz020504"/>
          <p:cNvPicPr>
            <a:picLocks noChangeAspect="1" noChangeArrowheads="1"/>
          </p:cNvPicPr>
          <p:nvPr/>
        </p:nvPicPr>
        <p:blipFill>
          <a:blip r:embed="rId2" cstate="print"/>
          <a:srcRect l="23656" t="49577" r="23656" b="6854"/>
          <a:stretch>
            <a:fillRect/>
          </a:stretch>
        </p:blipFill>
        <p:spPr bwMode="auto">
          <a:xfrm>
            <a:off x="6111875" y="1435100"/>
            <a:ext cx="3657600" cy="2165350"/>
          </a:xfrm>
          <a:prstGeom prst="rect">
            <a:avLst/>
          </a:prstGeom>
          <a:noFill/>
        </p:spPr>
      </p:pic>
      <p:graphicFrame>
        <p:nvGraphicFramePr>
          <p:cNvPr id="116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54855"/>
              </p:ext>
            </p:extLst>
          </p:nvPr>
        </p:nvGraphicFramePr>
        <p:xfrm>
          <a:off x="812451" y="1471612"/>
          <a:ext cx="35814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11133333" imgH="6676190" progId="">
                  <p:embed/>
                </p:oleObj>
              </mc:Choice>
              <mc:Fallback>
                <p:oleObj name="Photo Editor 照片" r:id="rId3" imgW="11133333" imgH="6676190" progId="">
                  <p:embed/>
                  <p:pic>
                    <p:nvPicPr>
                      <p:cNvPr id="1167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592"/>
                      <a:stretch>
                        <a:fillRect/>
                      </a:stretch>
                    </p:blipFill>
                    <p:spPr bwMode="auto">
                      <a:xfrm>
                        <a:off x="812451" y="1471612"/>
                        <a:ext cx="35814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1" name="Text Box 5"/>
          <p:cNvSpPr txBox="1">
            <a:spLocks noChangeArrowheads="1"/>
          </p:cNvSpPr>
          <p:nvPr/>
        </p:nvSpPr>
        <p:spPr bwMode="auto">
          <a:xfrm>
            <a:off x="1997075" y="5549900"/>
            <a:ext cx="259080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3200" dirty="0">
                <a:latin typeface="华文行楷" pitchFamily="2" charset="-122"/>
                <a:ea typeface="华文行楷" pitchFamily="2" charset="-122"/>
              </a:rPr>
              <a:t>(3)  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特点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116742" name="Text Box 6"/>
          <p:cNvSpPr txBox="1">
            <a:spLocks noChangeArrowheads="1"/>
          </p:cNvSpPr>
          <p:nvPr/>
        </p:nvSpPr>
        <p:spPr bwMode="auto">
          <a:xfrm>
            <a:off x="2835275" y="6007100"/>
            <a:ext cx="7086600" cy="457200"/>
          </a:xfrm>
          <a:prstGeom prst="rect">
            <a:avLst/>
          </a:prstGeom>
          <a:noFill/>
          <a:ln w="1905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输入电阻小，频带宽！只放大电压，不放大电流！</a:t>
            </a:r>
          </a:p>
        </p:txBody>
      </p:sp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3232151" y="4581526"/>
          <a:ext cx="17621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555200" imgH="10058400" progId="Equation.3">
                  <p:embed/>
                </p:oleObj>
              </mc:Choice>
              <mc:Fallback>
                <p:oleObj name="公式" r:id="rId5" imgW="22555200" imgH="10058400" progId="Equation.3">
                  <p:embed/>
                  <p:pic>
                    <p:nvPicPr>
                      <p:cNvPr id="1167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1" y="4581526"/>
                        <a:ext cx="1762125" cy="78581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4" name="Object 8"/>
          <p:cNvGraphicFramePr>
            <a:graphicFrameLocks noChangeAspect="1"/>
          </p:cNvGraphicFramePr>
          <p:nvPr/>
        </p:nvGraphicFramePr>
        <p:xfrm>
          <a:off x="5273675" y="4711701"/>
          <a:ext cx="9286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887200" imgH="5486400" progId="Equation.3">
                  <p:embed/>
                </p:oleObj>
              </mc:Choice>
              <mc:Fallback>
                <p:oleObj name="Equation" r:id="rId7" imgW="11887200" imgH="5486400" progId="Equation.3">
                  <p:embed/>
                  <p:pic>
                    <p:nvPicPr>
                      <p:cNvPr id="1167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675" y="4711701"/>
                        <a:ext cx="928688" cy="4286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5" name="Object 9"/>
          <p:cNvGraphicFramePr>
            <a:graphicFrameLocks noChangeAspect="1"/>
          </p:cNvGraphicFramePr>
          <p:nvPr/>
        </p:nvGraphicFramePr>
        <p:xfrm>
          <a:off x="3216275" y="3644900"/>
          <a:ext cx="454818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8216800" imgH="10972800" progId="Equation.3">
                  <p:embed/>
                </p:oleObj>
              </mc:Choice>
              <mc:Fallback>
                <p:oleObj name="Equation" r:id="rId9" imgW="58216800" imgH="10972800" progId="Equation.3">
                  <p:embed/>
                  <p:pic>
                    <p:nvPicPr>
                      <p:cNvPr id="1167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644900"/>
                        <a:ext cx="4548188" cy="8572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DC520D-8052-5CD5-B93B-ACF98E9271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22338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B2877B-1D6C-0019-A17C-F8F5EF2D51C6}"/>
              </a:ext>
            </a:extLst>
          </p:cNvPr>
          <p:cNvGrpSpPr>
            <a:grpSpLocks/>
          </p:cNvGrpSpPr>
          <p:nvPr/>
        </p:nvGrpSpPr>
        <p:grpSpPr bwMode="auto">
          <a:xfrm>
            <a:off x="9153711" y="393700"/>
            <a:ext cx="2611437" cy="384175"/>
            <a:chOff x="4318608" y="5559022"/>
            <a:chExt cx="1957389" cy="385747"/>
          </a:xfrm>
        </p:grpSpPr>
        <p:sp>
          <p:nvSpPr>
            <p:cNvPr id="5" name="文本框 6">
              <a:extLst>
                <a:ext uri="{FF2B5EF4-FFF2-40B4-BE49-F238E27FC236}">
                  <a16:creationId xmlns:a16="http://schemas.microsoft.com/office/drawing/2014/main" id="{8EC44A13-4A67-4184-8A59-FC657A639708}"/>
                </a:ext>
              </a:extLst>
            </p:cNvPr>
            <p:cNvSpPr txBox="1"/>
            <p:nvPr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F7D4D17-E01C-BFF7-726F-E14D7CFA2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7389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1" grpId="0" build="p" autoUpdateAnimBg="0"/>
      <p:bldP spid="11674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437" y="79980"/>
            <a:ext cx="7215188" cy="701675"/>
          </a:xfrm>
        </p:spPr>
        <p:txBody>
          <a:bodyPr/>
          <a:lstStyle/>
          <a:p>
            <a:pPr algn="l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2.5.3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三种接法的比较</a:t>
            </a:r>
            <a:endParaRPr lang="zh-CN" altLang="en-US" sz="28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86E6A4F-B910-F632-DDA7-F09A036C2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483285"/>
              </p:ext>
            </p:extLst>
          </p:nvPr>
        </p:nvGraphicFramePr>
        <p:xfrm>
          <a:off x="2394533" y="1441465"/>
          <a:ext cx="6096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2549425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9445103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710268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61029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接法 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共射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共集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共基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58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 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小于1 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106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β 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2000" b="1" i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β 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i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α</a:t>
                      </a:r>
                      <a:endParaRPr lang="zh-CN" altLang="en-US" sz="20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67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4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频带 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881833"/>
                  </a:ext>
                </a:extLst>
              </a:tr>
            </a:tbl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DC520D-8052-5CD5-B93B-ACF98E9271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388" y="665163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3FB2877B-1D6C-0019-A17C-F8F5EF2D51C6}"/>
              </a:ext>
            </a:extLst>
          </p:cNvPr>
          <p:cNvGrpSpPr>
            <a:grpSpLocks/>
          </p:cNvGrpSpPr>
          <p:nvPr/>
        </p:nvGrpSpPr>
        <p:grpSpPr bwMode="auto">
          <a:xfrm>
            <a:off x="9194099" y="136525"/>
            <a:ext cx="2611437" cy="384175"/>
            <a:chOff x="4318608" y="5559022"/>
            <a:chExt cx="1957389" cy="385747"/>
          </a:xfrm>
        </p:grpSpPr>
        <p:sp>
          <p:nvSpPr>
            <p:cNvPr id="6" name="文本框 6">
              <a:extLst>
                <a:ext uri="{FF2B5EF4-FFF2-40B4-BE49-F238E27FC236}">
                  <a16:creationId xmlns:a16="http://schemas.microsoft.com/office/drawing/2014/main" id="{8EC44A13-4A67-4184-8A59-FC657A639708}"/>
                </a:ext>
              </a:extLst>
            </p:cNvPr>
            <p:cNvSpPr txBox="1"/>
            <p:nvPr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F7D4D17-E01C-BFF7-726F-E14D7CFA2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75000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281</Words>
  <Application>Microsoft Office PowerPoint</Application>
  <PresentationFormat>宽屏</PresentationFormat>
  <Paragraphs>75</Paragraphs>
  <Slides>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等线</vt:lpstr>
      <vt:lpstr>等线 Light</vt:lpstr>
      <vt:lpstr>华光报宋_CNKI</vt:lpstr>
      <vt:lpstr>华文楷体</vt:lpstr>
      <vt:lpstr>华文行楷</vt:lpstr>
      <vt:lpstr>隶书</vt:lpstr>
      <vt:lpstr>宋体</vt:lpstr>
      <vt:lpstr>Arial</vt:lpstr>
      <vt:lpstr>Times New Roman</vt:lpstr>
      <vt:lpstr>Office 主题​​</vt:lpstr>
      <vt:lpstr>Equation</vt:lpstr>
      <vt:lpstr>Photo Editor 照片</vt:lpstr>
      <vt:lpstr>公式</vt:lpstr>
      <vt:lpstr>2.5  基本放大电路的三种接法</vt:lpstr>
      <vt:lpstr>2.5.1  共集放大电路</vt:lpstr>
      <vt:lpstr>（2）动态分析：</vt:lpstr>
      <vt:lpstr>（2）  动态分析             输入电阻</vt:lpstr>
      <vt:lpstr>PowerPoint 演示文稿</vt:lpstr>
      <vt:lpstr>2.5.2 共基放大电路</vt:lpstr>
      <vt:lpstr>(2)  动态分析</vt:lpstr>
      <vt:lpstr>2.5.3 三种接法的比较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§4.5  基本放大电路的三种接法</dc:title>
  <dc:creator>admin</dc:creator>
  <cp:lastModifiedBy>立欣 王</cp:lastModifiedBy>
  <cp:revision>8</cp:revision>
  <dcterms:created xsi:type="dcterms:W3CDTF">2024-10-26T01:03:38Z</dcterms:created>
  <dcterms:modified xsi:type="dcterms:W3CDTF">2026-06-01T06:37:39Z</dcterms:modified>
</cp:coreProperties>
</file>