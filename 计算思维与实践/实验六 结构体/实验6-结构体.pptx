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330" r:id="rId3"/>
    <p:sldId id="491" r:id="rId5"/>
    <p:sldId id="492" r:id="rId6"/>
    <p:sldId id="493" r:id="rId7"/>
    <p:sldId id="516" r:id="rId8"/>
    <p:sldId id="530" r:id="rId9"/>
    <p:sldId id="531" r:id="rId10"/>
    <p:sldId id="517" r:id="rId11"/>
    <p:sldId id="518" r:id="rId12"/>
    <p:sldId id="528" r:id="rId13"/>
    <p:sldId id="529" r:id="rId14"/>
    <p:sldId id="519" r:id="rId15"/>
    <p:sldId id="532" r:id="rId16"/>
    <p:sldId id="520" r:id="rId17"/>
    <p:sldId id="521" r:id="rId18"/>
    <p:sldId id="522" r:id="rId19"/>
    <p:sldId id="523" r:id="rId20"/>
    <p:sldId id="524" r:id="rId21"/>
    <p:sldId id="533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F4E79"/>
    <a:srgbClr val="3D7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0339" autoAdjust="0"/>
  </p:normalViewPr>
  <p:slideViewPr>
    <p:cSldViewPr snapToGrid="0" showGuides="1">
      <p:cViewPr varScale="1">
        <p:scale>
          <a:sx n="103" d="100"/>
          <a:sy n="103" d="100"/>
        </p:scale>
        <p:origin x="774" y="102"/>
      </p:cViewPr>
      <p:guideLst>
        <p:guide orient="horz" pos="2160"/>
        <p:guide pos="38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009B3-31E6-4CAF-9FB9-88B4D222E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指针和数组名访问数组元素的方法完全一样，区别在于数组名是地址常量不能改变，所以不能执行</a:t>
            </a:r>
            <a:r>
              <a:rPr lang="en-US" altLang="zh-CN" dirty="0"/>
              <a:t>++</a:t>
            </a:r>
            <a:r>
              <a:rPr lang="zh-CN" altLang="en-US" dirty="0"/>
              <a:t>，</a:t>
            </a:r>
            <a:r>
              <a:rPr lang="en-US" altLang="zh-CN" dirty="0"/>
              <a:t>--</a:t>
            </a:r>
            <a:r>
              <a:rPr lang="zh-CN" altLang="en-US" dirty="0"/>
              <a:t>等运算，但指针可以。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comb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31800" y="330198"/>
            <a:ext cx="540000" cy="288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31800" y="671197"/>
            <a:ext cx="540000" cy="180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31800" y="904196"/>
            <a:ext cx="540000" cy="72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V="1">
            <a:off x="8966200" y="6528232"/>
            <a:ext cx="2880000" cy="36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comb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31800" y="330198"/>
            <a:ext cx="540000" cy="288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431800" y="671197"/>
            <a:ext cx="540000" cy="180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431800" y="904196"/>
            <a:ext cx="540000" cy="72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 flipV="1">
            <a:off x="8966200" y="6528232"/>
            <a:ext cx="2880000" cy="36000"/>
          </a:xfrm>
          <a:prstGeom prst="rect">
            <a:avLst/>
          </a:prstGeom>
          <a:solidFill>
            <a:srgbClr val="00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02945" y="64886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HIT</a:t>
            </a:r>
            <a:endParaRPr lang="zh-CN" altLang="en-US" dirty="0"/>
          </a:p>
        </p:txBody>
      </p:sp>
    </p:spTree>
  </p:cSld>
  <p:clrMapOvr>
    <a:masterClrMapping/>
  </p:clrMapOvr>
  <p:transition spd="slow" advTm="0">
    <p:comb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"/>
            <a:ext cx="12192000" cy="43769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5709"/>
            <a:ext cx="12192000" cy="33622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3065796"/>
            <a:ext cx="3600000" cy="21401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0769600" y="3664910"/>
            <a:ext cx="843953" cy="2410180"/>
            <a:chOff x="10769600" y="3836360"/>
            <a:chExt cx="843953" cy="241018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9600" y="3838038"/>
              <a:ext cx="146835" cy="24085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9612" y="4912297"/>
              <a:ext cx="492494" cy="129551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0930" y="3836360"/>
              <a:ext cx="562623" cy="824898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534" y="247661"/>
            <a:ext cx="3602440" cy="18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7" y="444499"/>
            <a:ext cx="108000" cy="272454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53" y="2093857"/>
            <a:ext cx="3600000" cy="8149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22349" y="3625900"/>
            <a:ext cx="9156304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计算思维与实践</a:t>
            </a:r>
            <a:endParaRPr lang="en-US" altLang="zh-CN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实验六 结构体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798622" y="6455543"/>
            <a:ext cx="2107760" cy="288000"/>
            <a:chOff x="1021340" y="5712187"/>
            <a:chExt cx="2107760" cy="288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340" y="5716689"/>
              <a:ext cx="581924" cy="270576"/>
            </a:xfrm>
            <a:prstGeom prst="rect">
              <a:avLst/>
            </a:prstGeom>
          </p:spPr>
        </p:pic>
        <p:sp>
          <p:nvSpPr>
            <p:cNvPr id="22" name="矩形 21"/>
            <p:cNvSpPr/>
            <p:nvPr/>
          </p:nvSpPr>
          <p:spPr>
            <a:xfrm>
              <a:off x="1689100" y="5712187"/>
              <a:ext cx="1440000" cy="288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7255" y="5720618"/>
              <a:ext cx="1186531" cy="270000"/>
            </a:xfrm>
            <a:prstGeom prst="rect">
              <a:avLst/>
            </a:prstGeom>
          </p:spPr>
        </p:pic>
      </p:grpSp>
      <p:pic>
        <p:nvPicPr>
          <p:cNvPr id="20" name="图片 19" descr="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199" y="5983976"/>
            <a:ext cx="3475990" cy="638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网chenying0907出品 4"/>
          <p:cNvSpPr txBox="1"/>
          <p:nvPr/>
        </p:nvSpPr>
        <p:spPr>
          <a:xfrm>
            <a:off x="1587600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92199" y="1435508"/>
            <a:ext cx="997634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p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熟练运用结构体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淘宝网chenying0907出品 4"/>
          <p:cNvSpPr txBox="1"/>
          <p:nvPr/>
        </p:nvSpPr>
        <p:spPr>
          <a:xfrm>
            <a:off x="1587600" y="264321"/>
            <a:ext cx="278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实验回顾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 bwMode="auto">
          <a:xfrm>
            <a:off x="1701900" y="937083"/>
            <a:ext cx="6019013" cy="3538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800" dirty="0"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结构体变量的定义与引用</a:t>
            </a:r>
            <a:endParaRPr lang="zh-CN" altLang="en-US" sz="2800" dirty="0"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800" dirty="0"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结构体所占内存的字节数</a:t>
            </a:r>
            <a:endParaRPr lang="zh-CN" altLang="en-US" sz="2800" dirty="0"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800" dirty="0">
                <a:latin typeface="黑体" panose="02010609060101010101" pitchFamily="49" charset="-122"/>
                <a:ea typeface="微软雅黑" panose="020B0503020204020204" pitchFamily="34" charset="-122"/>
              </a:rPr>
              <a:t>结构体深拷贝</a:t>
            </a:r>
            <a:r>
              <a:rPr lang="en-US" altLang="zh-CN" sz="2800" dirty="0">
                <a:latin typeface="黑体" panose="02010609060101010101" pitchFamily="49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dirty="0">
                <a:latin typeface="黑体" panose="02010609060101010101" pitchFamily="49" charset="-122"/>
                <a:ea typeface="微软雅黑" panose="020B0503020204020204" pitchFamily="34" charset="-122"/>
              </a:rPr>
              <a:t>浅拷贝</a:t>
            </a:r>
            <a:endParaRPr lang="zh-CN" altLang="en-US" sz="2800" dirty="0">
              <a:latin typeface="黑体" panose="02010609060101010101" pitchFamily="49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  <a:defRPr/>
            </a:pPr>
            <a:r>
              <a:rPr lang="zh-CN" altLang="en-US" sz="2800" dirty="0">
                <a:latin typeface="黑体" panose="02010609060101010101" pitchFamily="49" charset="-122"/>
                <a:ea typeface="微软雅黑" panose="020B0503020204020204" pitchFamily="34" charset="-122"/>
              </a:rPr>
              <a:t>结构体指针</a:t>
            </a:r>
            <a:endParaRPr lang="zh-CN" altLang="en-US" sz="2800" dirty="0">
              <a:latin typeface="黑体" panose="02010609060101010101" pitchFamily="49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结构体变量的定义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3"/>
          <p:cNvSpPr txBox="1"/>
          <p:nvPr/>
        </p:nvSpPr>
        <p:spPr>
          <a:xfrm>
            <a:off x="1195705" y="1108075"/>
            <a:ext cx="6130925" cy="4794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accent2"/>
              </a:buClr>
              <a:buSzPct val="80000"/>
            </a:pP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）先定义结构体类型再定义变量名</a:t>
            </a:r>
            <a:endParaRPr lang="zh-CN" altLang="en-US" sz="2800" b="1" dirty="0">
              <a:solidFill>
                <a:srgbClr val="000066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1195705" y="1682750"/>
            <a:ext cx="6489700" cy="4794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accent2"/>
              </a:buClr>
              <a:buSzPct val="80000"/>
            </a:pP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）在定义结构体类型的同时定义变量</a:t>
            </a:r>
            <a:endParaRPr lang="zh-CN" altLang="en-US" sz="2800" b="1" dirty="0">
              <a:solidFill>
                <a:srgbClr val="000066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1206818" y="2257425"/>
            <a:ext cx="9036050" cy="479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accent2"/>
              </a:buClr>
              <a:buSzPct val="80000"/>
            </a:pP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）直接定义结构体变量（不指定结构体标签）</a:t>
            </a:r>
            <a:endParaRPr lang="zh-CN" altLang="en-US" sz="2800" b="1" dirty="0">
              <a:solidFill>
                <a:srgbClr val="000066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" name="Picture 10"/>
          <p:cNvSpPr>
            <a:spLocks noChangeAspect="1"/>
          </p:cNvSpPr>
          <p:nvPr/>
        </p:nvSpPr>
        <p:spPr>
          <a:xfrm>
            <a:off x="2675255" y="1695450"/>
            <a:ext cx="3540125" cy="276225"/>
          </a:xfrm>
          <a:prstGeom prst="rect">
            <a:avLst/>
          </a:prstGeom>
          <a:noFill/>
          <a:ln w="12700">
            <a:noFill/>
          </a:ln>
        </p:spPr>
        <p:txBody>
          <a:bodyPr/>
          <a:lstStyle/>
          <a:p>
            <a: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5" name="Picture 1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41435" y="3038337"/>
            <a:ext cx="3667125" cy="2568575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3" name="组合 9"/>
          <p:cNvGrpSpPr/>
          <p:nvPr/>
        </p:nvGrpSpPr>
        <p:grpSpPr>
          <a:xfrm>
            <a:off x="8479155" y="3038337"/>
            <a:ext cx="3527425" cy="2546350"/>
            <a:chOff x="5292725" y="3690528"/>
            <a:chExt cx="3255963" cy="2546784"/>
          </a:xfrm>
        </p:grpSpPr>
        <p:pic>
          <p:nvPicPr>
            <p:cNvPr id="36874" name="Picture 1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92725" y="3716362"/>
              <a:ext cx="3255963" cy="2520950"/>
            </a:xfrm>
            <a:prstGeom prst="rect">
              <a:avLst/>
            </a:prstGeom>
            <a:noFill/>
            <a:ln w="12700">
              <a:noFill/>
            </a:ln>
          </p:spPr>
        </p:pic>
        <p:sp>
          <p:nvSpPr>
            <p:cNvPr id="36875" name="矩形 8"/>
            <p:cNvSpPr/>
            <p:nvPr/>
          </p:nvSpPr>
          <p:spPr>
            <a:xfrm>
              <a:off x="6286500" y="3690528"/>
              <a:ext cx="720725" cy="287386"/>
            </a:xfrm>
            <a:prstGeom prst="rect">
              <a:avLst/>
            </a:pr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53" y="3058180"/>
            <a:ext cx="3419279" cy="237567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73753" y="5276196"/>
            <a:ext cx="226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struct student 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stu1;</a:t>
            </a:r>
            <a:endParaRPr lang="zh-CN" altLang="en-US" dirty="0">
              <a:solidFill>
                <a:srgbClr val="FF0000"/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结构体变量的定义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6419" name="Rectangle 3"/>
          <p:cNvSpPr>
            <a:spLocks noGrp="1"/>
          </p:cNvSpPr>
          <p:nvPr>
            <p:ph idx="1"/>
          </p:nvPr>
        </p:nvSpPr>
        <p:spPr>
          <a:xfrm>
            <a:off x="1307783" y="4328478"/>
            <a:ext cx="8348662" cy="1439862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 marL="0" indent="0" eaLnBrk="1">
              <a:lnSpc>
                <a:spcPct val="85000"/>
              </a:lnSpc>
              <a:spcAft>
                <a:spcPct val="0"/>
              </a:spcAft>
              <a:buFont typeface="Monotype Sorts"/>
              <a:buNone/>
            </a:pPr>
            <a:r>
              <a:rPr lang="en-US" altLang="zh-CN" sz="2000" b="1" kern="1200" dirty="0">
                <a:solidFill>
                  <a:srgbClr val="3333CC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struct  student  </a:t>
            </a:r>
            <a:r>
              <a:rPr lang="en-US" altLang="zh-CN" sz="2000" b="1" kern="1200" dirty="0"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stu1, stu2;/*It works*/</a:t>
            </a:r>
            <a:endParaRPr lang="en-US" altLang="zh-CN" sz="2000" b="1" kern="1200" dirty="0"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0" indent="0" eaLnBrk="1">
              <a:lnSpc>
                <a:spcPct val="85000"/>
              </a:lnSpc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000" b="1" kern="1200" dirty="0">
                <a:solidFill>
                  <a:srgbClr val="3333CC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STUDENT</a:t>
            </a:r>
            <a:r>
              <a:rPr lang="en-US" altLang="zh-CN" sz="2000" b="1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stu1, stu2;</a:t>
            </a:r>
            <a:r>
              <a:rPr lang="en-US" altLang="zh-CN" sz="2000" b="1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	    </a:t>
            </a:r>
            <a:r>
              <a:rPr lang="en-US" altLang="zh-CN" sz="2000" b="1" kern="1200" dirty="0"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/*It works!*/</a:t>
            </a:r>
            <a:endParaRPr lang="en-US" altLang="zh-CN" sz="2000" b="1" kern="1200" dirty="0"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0" indent="0" eaLnBrk="1">
              <a:lnSpc>
                <a:spcPct val="85000"/>
              </a:lnSpc>
              <a:spcAft>
                <a:spcPct val="0"/>
              </a:spcAft>
              <a:buFont typeface="Monotype Sorts"/>
              <a:buNone/>
            </a:pPr>
            <a:r>
              <a:rPr lang="en-US" altLang="zh-CN" sz="2000" b="1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student</a:t>
            </a:r>
            <a:r>
              <a:rPr lang="en-US" altLang="zh-CN" sz="2000" b="1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stu1, stu2;         /*Can this work?*/</a:t>
            </a:r>
            <a:endParaRPr lang="en-US" altLang="zh-CN" sz="2000" b="1" kern="1200" dirty="0">
              <a:latin typeface="Courier New" panose="02070309020205020404" pitchFamily="49" charset="0"/>
              <a:ea typeface="+mn-ea"/>
              <a:cs typeface="Times New Roman" panose="02020603050405020304" pitchFamily="18" charset="0"/>
            </a:endParaRPr>
          </a:p>
          <a:p>
            <a:pPr marL="0" indent="0" eaLnBrk="1">
              <a:lnSpc>
                <a:spcPct val="85000"/>
              </a:lnSpc>
              <a:spcAft>
                <a:spcPct val="0"/>
              </a:spcAft>
              <a:buFont typeface="Monotype Sorts"/>
              <a:buNone/>
            </a:pPr>
            <a:r>
              <a:rPr lang="en-US" altLang="zh-CN" sz="2000" b="1" kern="1200" dirty="0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struct</a:t>
            </a:r>
            <a:r>
              <a:rPr lang="en-US" altLang="zh-CN" sz="2000" b="1" kern="1200" dirty="0">
                <a:solidFill>
                  <a:srgbClr val="000000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 </a:t>
            </a:r>
            <a:r>
              <a:rPr lang="en-US" altLang="zh-CN" sz="2000" b="1" kern="1200" dirty="0"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stu1, stu2;         /*Can this work?*/</a:t>
            </a:r>
            <a:endParaRPr lang="en-US" altLang="zh-CN" sz="2000" b="1" kern="1200" dirty="0">
              <a:latin typeface="Courier New" panose="02070309020205020404" pitchFamily="49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316420" name="Text Box 4"/>
          <p:cNvSpPr txBox="1">
            <a:spLocks noChangeArrowheads="1"/>
          </p:cNvSpPr>
          <p:nvPr/>
        </p:nvSpPr>
        <p:spPr bwMode="auto">
          <a:xfrm>
            <a:off x="5670233" y="1520190"/>
            <a:ext cx="4562475" cy="1089025"/>
          </a:xfrm>
          <a:prstGeom prst="rect">
            <a:avLst/>
          </a:prstGeom>
          <a:solidFill>
            <a:schemeClr val="bg2"/>
          </a:solidFill>
          <a:ln w="38100">
            <a:solidFill>
              <a:srgbClr val="33CC33"/>
            </a:solidFill>
            <a:miter lim="800000"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关键字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楷体_GB2312" pitchFamily="49" charset="-122"/>
                <a:cs typeface="+mn-cs"/>
              </a:rPr>
              <a:t>typedef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为一种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已存在的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类型定义一个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别名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，并未定义新类型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16424" name="Text Box 8"/>
          <p:cNvSpPr txBox="1">
            <a:spLocks noChangeArrowheads="1"/>
          </p:cNvSpPr>
          <p:nvPr/>
        </p:nvSpPr>
        <p:spPr bwMode="auto">
          <a:xfrm>
            <a:off x="6032183" y="3036253"/>
            <a:ext cx="3709988" cy="757238"/>
          </a:xfrm>
          <a:prstGeom prst="rect">
            <a:avLst/>
          </a:prstGeom>
          <a:solidFill>
            <a:schemeClr val="bg2"/>
          </a:solidFill>
          <a:ln w="38100">
            <a:solidFill>
              <a:srgbClr val="00B050"/>
            </a:solidFill>
            <a:miter lim="800000"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楷体_GB2312" pitchFamily="49" charset="-122"/>
                <a:cs typeface="+mn-cs"/>
              </a:rPr>
              <a:t>struct student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与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楷体_GB2312" pitchFamily="49" charset="-122"/>
                <a:cs typeface="+mn-cs"/>
              </a:rPr>
              <a:t>STUDENT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类型是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同义词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16428" name="Picture 1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0645" y="1088390"/>
            <a:ext cx="5146675" cy="312738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316429" name="Picture 1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87158" y="1504315"/>
            <a:ext cx="3821112" cy="26797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  <p:bldP spid="316420" grpId="0" bldLvl="0" animBg="1"/>
      <p:bldP spid="31642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结构体变量的引用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602" name="Rectangle 2"/>
          <p:cNvSpPr>
            <a:spLocks noGrp="1"/>
          </p:cNvSpPr>
          <p:nvPr>
            <p:ph idx="1"/>
          </p:nvPr>
        </p:nvSpPr>
        <p:spPr>
          <a:xfrm>
            <a:off x="1141730" y="1077278"/>
            <a:ext cx="9217025" cy="10810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>
              <a:spcBef>
                <a:spcPct val="0"/>
              </a:spcBef>
              <a:spcAft>
                <a:spcPct val="0"/>
              </a:spcAft>
            </a:pPr>
            <a:r>
              <a:rPr lang="zh-CN" altLang="en-US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访问结构体变量的成员</a:t>
            </a:r>
            <a:endParaRPr lang="en-US" altLang="zh-CN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 eaLnBrk="1">
              <a:spcBef>
                <a:spcPct val="0"/>
              </a:spcBef>
              <a:spcAft>
                <a:spcPct val="0"/>
              </a:spcAft>
            </a:pPr>
            <a:r>
              <a:rPr lang="zh-CN" altLang="en-US" kern="12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成员选择运算符</a:t>
            </a:r>
            <a:r>
              <a:rPr lang="zh-CN" altLang="en-US" kern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（也称圆点运算符） </a:t>
            </a:r>
            <a:endParaRPr lang="zh-CN" altLang="en-US" kern="1200" dirty="0">
              <a:solidFill>
                <a:srgbClr val="333399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5604" name="Picture 1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74205" y="1607503"/>
            <a:ext cx="3352800" cy="477837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462859" name="Picture 1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6855" y="2228215"/>
            <a:ext cx="4602163" cy="3143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462861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668" y="2164715"/>
            <a:ext cx="3249612" cy="2266950"/>
          </a:xfrm>
          <a:prstGeom prst="rect">
            <a:avLst/>
          </a:prstGeom>
          <a:noFill/>
          <a:ln w="28575" cap="flat" cmpd="sng">
            <a:solidFill>
              <a:srgbClr val="000080"/>
            </a:solidFill>
            <a:prstDash val="solid"/>
            <a:miter/>
            <a:headEnd type="none" w="sm" len="sm"/>
            <a:tailEnd type="none" w="sm" len="sm"/>
          </a:ln>
        </p:spPr>
      </p:pic>
      <p:pic>
        <p:nvPicPr>
          <p:cNvPr id="462862" name="Picture 1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6855" y="4749165"/>
            <a:ext cx="4395788" cy="10763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462860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155" y="2877503"/>
            <a:ext cx="2276475" cy="1577975"/>
          </a:xfrm>
          <a:prstGeom prst="rect">
            <a:avLst/>
          </a:prstGeom>
          <a:noFill/>
          <a:ln w="28575" cap="flat" cmpd="sng">
            <a:solidFill>
              <a:srgbClr val="000080"/>
            </a:solidFill>
            <a:prstDash val="solid"/>
            <a:miter/>
            <a:headEnd type="none" w="sm" len="sm"/>
            <a:tailEnd type="none" w="sm" len="sm"/>
          </a:ln>
        </p:spPr>
      </p:pic>
      <p:sp>
        <p:nvSpPr>
          <p:cNvPr id="11" name="Rectangle 2"/>
          <p:cNvSpPr txBox="1"/>
          <p:nvPr/>
        </p:nvSpPr>
        <p:spPr>
          <a:xfrm>
            <a:off x="1213168" y="4965065"/>
            <a:ext cx="4235450" cy="1081088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/>
          <a:lstStyle/>
          <a:p>
            <a:pPr marL="374650" indent="-374650" eaLnBrk="1">
              <a:lnSpc>
                <a:spcPct val="95000"/>
              </a:lnSpc>
              <a:spcBef>
                <a:spcPct val="20000"/>
              </a:spcBef>
              <a:spcAft>
                <a:spcPts val="59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Franklin Gothic Book" panose="020B0503020102020204" pitchFamily="34" charset="0"/>
                <a:ea typeface="黑体" panose="02010609060101010101" pitchFamily="49" charset="-122"/>
              </a:rPr>
              <a:t>对嵌套的结构体成员，必须以级联方式访问</a:t>
            </a:r>
            <a:endParaRPr lang="zh-CN" altLang="en-US" sz="2800" dirty="0">
              <a:latin typeface="Franklin Gothic Book" panose="020B05030201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Rectangle 59"/>
          <p:cNvSpPr>
            <a:spLocks noChangeArrowheads="1"/>
          </p:cNvSpPr>
          <p:nvPr/>
        </p:nvSpPr>
        <p:spPr bwMode="auto">
          <a:xfrm>
            <a:off x="1740218" y="3593465"/>
            <a:ext cx="2012950" cy="3587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3"/>
          <p:cNvSpPr txBox="1"/>
          <p:nvPr/>
        </p:nvSpPr>
        <p:spPr>
          <a:xfrm>
            <a:off x="1276668" y="4532948"/>
            <a:ext cx="3313112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>
              <a:lnSpc>
                <a:spcPct val="85000"/>
              </a:lnSpc>
              <a:spcBef>
                <a:spcPts val="600"/>
              </a:spcBef>
              <a:buClr>
                <a:schemeClr val="tx2"/>
              </a:buClr>
              <a:buSzPct val="50000"/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</a:rPr>
              <a:t>stu1;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	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62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ldLvl="0" animBg="1"/>
      <p:bldP spid="1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结构体变量的引用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602" name="Rectangle 2"/>
          <p:cNvSpPr>
            <a:spLocks noGrp="1"/>
          </p:cNvSpPr>
          <p:nvPr>
            <p:ph idx="1"/>
          </p:nvPr>
        </p:nvSpPr>
        <p:spPr>
          <a:xfrm>
            <a:off x="1141730" y="1077278"/>
            <a:ext cx="9217025" cy="108108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>
              <a:spcBef>
                <a:spcPct val="0"/>
              </a:spcBef>
              <a:spcAft>
                <a:spcPct val="0"/>
              </a:spcAft>
            </a:pPr>
            <a:r>
              <a:rPr lang="zh-CN" altLang="en-US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访问结构体变量的成员</a:t>
            </a:r>
            <a:endParaRPr lang="en-US" altLang="zh-CN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 eaLnBrk="1">
              <a:spcBef>
                <a:spcPct val="0"/>
              </a:spcBef>
              <a:spcAft>
                <a:spcPct val="0"/>
              </a:spcAft>
            </a:pPr>
            <a:r>
              <a:rPr lang="zh-CN" altLang="en-US" kern="12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当结构体变量是指针时，使用</a:t>
            </a:r>
            <a:r>
              <a:rPr lang="en-US" altLang="zh-CN" kern="12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 -&gt; ”</a:t>
            </a:r>
            <a:r>
              <a:rPr lang="zh-CN" altLang="en-US" kern="1200" dirty="0">
                <a:solidFill>
                  <a:srgbClr val="3333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（也称箭头运算符） </a:t>
            </a:r>
            <a:endParaRPr lang="zh-CN" altLang="en-US" kern="1200" dirty="0">
              <a:solidFill>
                <a:srgbClr val="333399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62859" name="Picture 1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16855" y="2228215"/>
            <a:ext cx="4602163" cy="314325"/>
          </a:xfrm>
          <a:prstGeom prst="rect">
            <a:avLst/>
          </a:prstGeom>
          <a:noFill/>
          <a:ln w="12700">
            <a:noFill/>
          </a:ln>
        </p:spPr>
      </p:pic>
      <p:pic>
        <p:nvPicPr>
          <p:cNvPr id="462861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68" y="2164715"/>
            <a:ext cx="3249612" cy="2266950"/>
          </a:xfrm>
          <a:prstGeom prst="rect">
            <a:avLst/>
          </a:prstGeom>
          <a:noFill/>
          <a:ln w="28575" cap="flat" cmpd="sng">
            <a:solidFill>
              <a:srgbClr val="000080"/>
            </a:solidFill>
            <a:prstDash val="solid"/>
            <a:miter/>
            <a:headEnd type="none" w="sm" len="sm"/>
            <a:tailEnd type="none" w="sm" len="sm"/>
          </a:ln>
        </p:spPr>
      </p:pic>
      <p:pic>
        <p:nvPicPr>
          <p:cNvPr id="462860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55" y="2877503"/>
            <a:ext cx="2276475" cy="1577975"/>
          </a:xfrm>
          <a:prstGeom prst="rect">
            <a:avLst/>
          </a:prstGeom>
          <a:noFill/>
          <a:ln w="28575" cap="flat" cmpd="sng">
            <a:solidFill>
              <a:srgbClr val="000080"/>
            </a:solidFill>
            <a:prstDash val="solid"/>
            <a:miter/>
            <a:headEnd type="none" w="sm" len="sm"/>
            <a:tailEnd type="none" w="sm" len="sm"/>
          </a:ln>
        </p:spPr>
      </p:pic>
      <p:sp>
        <p:nvSpPr>
          <p:cNvPr id="11" name="Rectangle 2"/>
          <p:cNvSpPr txBox="1"/>
          <p:nvPr/>
        </p:nvSpPr>
        <p:spPr>
          <a:xfrm>
            <a:off x="424815" y="4965065"/>
            <a:ext cx="5746115" cy="1081405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/>
          <a:lstStyle/>
          <a:p>
            <a:pPr marL="374650" indent="-374650" eaLnBrk="1">
              <a:lnSpc>
                <a:spcPct val="95000"/>
              </a:lnSpc>
              <a:spcBef>
                <a:spcPct val="20000"/>
              </a:spcBef>
              <a:spcAft>
                <a:spcPts val="59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FF0000"/>
                </a:solidFill>
                <a:latin typeface="Franklin Gothic Book" panose="020B0503020102020204" pitchFamily="34" charset="0"/>
                <a:ea typeface="黑体" panose="02010609060101010101" pitchFamily="49" charset="-122"/>
              </a:rPr>
              <a:t>结构体指针用箭头</a:t>
            </a:r>
            <a:r>
              <a:rPr lang="en-US" altLang="zh-CN" sz="2800" dirty="0">
                <a:solidFill>
                  <a:srgbClr val="FF0000"/>
                </a:solidFill>
                <a:latin typeface="Franklin Gothic Book" panose="020B0503020102020204" pitchFamily="34" charset="0"/>
                <a:ea typeface="黑体" panose="02010609060101010101" pitchFamily="49" charset="-122"/>
              </a:rPr>
              <a:t> -&gt;</a:t>
            </a:r>
            <a:endParaRPr lang="en-US" altLang="zh-CN" sz="2800" dirty="0">
              <a:solidFill>
                <a:srgbClr val="FF0000"/>
              </a:solidFill>
              <a:latin typeface="Franklin Gothic Book" panose="020B0503020102020204" pitchFamily="34" charset="0"/>
              <a:ea typeface="黑体" panose="02010609060101010101" pitchFamily="49" charset="-122"/>
            </a:endParaRPr>
          </a:p>
          <a:p>
            <a:pPr marL="374650" indent="-374650" eaLnBrk="1">
              <a:lnSpc>
                <a:spcPct val="95000"/>
              </a:lnSpc>
              <a:spcBef>
                <a:spcPct val="20000"/>
              </a:spcBef>
              <a:spcAft>
                <a:spcPts val="590"/>
              </a:spcAft>
              <a:buSzPct val="5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Franklin Gothic Book" panose="020B0503020102020204" pitchFamily="34" charset="0"/>
                <a:ea typeface="黑体" panose="02010609060101010101" pitchFamily="49" charset="-122"/>
              </a:rPr>
              <a:t>p-&gt;member </a:t>
            </a:r>
            <a:r>
              <a:rPr lang="zh-CN" altLang="en-US" sz="2800" dirty="0">
                <a:latin typeface="Franklin Gothic Book" panose="020B05030201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2800" dirty="0">
                <a:latin typeface="Franklin Gothic Book" panose="020B0503020102020204" pitchFamily="34" charset="0"/>
                <a:ea typeface="黑体" panose="02010609060101010101" pitchFamily="49" charset="-122"/>
              </a:rPr>
              <a:t> (*p).member </a:t>
            </a:r>
            <a:r>
              <a:rPr lang="zh-CN" altLang="en-US" sz="2800" dirty="0">
                <a:latin typeface="Franklin Gothic Book" panose="020B0503020102020204" pitchFamily="34" charset="0"/>
                <a:ea typeface="黑体" panose="02010609060101010101" pitchFamily="49" charset="-122"/>
              </a:rPr>
              <a:t>等价</a:t>
            </a:r>
            <a:endParaRPr lang="zh-CN" altLang="en-US" sz="2800" dirty="0">
              <a:latin typeface="Franklin Gothic Book" panose="020B0503020102020204" pitchFamily="34" charset="0"/>
              <a:ea typeface="黑体" panose="02010609060101010101" pitchFamily="49" charset="-122"/>
            </a:endParaRPr>
          </a:p>
          <a:p>
            <a:pPr marL="374650" indent="-374650" eaLnBrk="1">
              <a:lnSpc>
                <a:spcPct val="95000"/>
              </a:lnSpc>
              <a:spcBef>
                <a:spcPct val="20000"/>
              </a:spcBef>
              <a:spcAft>
                <a:spcPts val="590"/>
              </a:spcAft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Franklin Gothic Book" panose="020B0503020102020204" pitchFamily="34" charset="0"/>
                <a:ea typeface="黑体" panose="02010609060101010101" pitchFamily="49" charset="-122"/>
              </a:rPr>
              <a:t>即</a:t>
            </a:r>
            <a:r>
              <a:rPr lang="zh-CN" altLang="en-US" sz="2800" dirty="0">
                <a:solidFill>
                  <a:srgbClr val="FF0000"/>
                </a:solidFill>
                <a:latin typeface="Franklin Gothic Book" panose="020B0503020102020204" pitchFamily="34" charset="0"/>
                <a:ea typeface="黑体" panose="02010609060101010101" pitchFamily="49" charset="-122"/>
              </a:rPr>
              <a:t>先解引用再访问成员</a:t>
            </a:r>
            <a:endParaRPr lang="zh-CN" altLang="en-US" sz="2800" dirty="0">
              <a:solidFill>
                <a:srgbClr val="FF0000"/>
              </a:solidFill>
              <a:latin typeface="Franklin Gothic Book" panose="020B050302010202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Rectangle 59"/>
          <p:cNvSpPr>
            <a:spLocks noChangeArrowheads="1"/>
          </p:cNvSpPr>
          <p:nvPr/>
        </p:nvSpPr>
        <p:spPr bwMode="auto">
          <a:xfrm>
            <a:off x="1740218" y="3593465"/>
            <a:ext cx="2012950" cy="3587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3"/>
          <p:cNvSpPr txBox="1"/>
          <p:nvPr/>
        </p:nvSpPr>
        <p:spPr>
          <a:xfrm>
            <a:off x="1276668" y="4532948"/>
            <a:ext cx="3313112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>
              <a:lnSpc>
                <a:spcPct val="85000"/>
              </a:lnSpc>
              <a:spcBef>
                <a:spcPts val="600"/>
              </a:spcBef>
              <a:buClr>
                <a:schemeClr val="tx2"/>
              </a:buClr>
              <a:buSzPct val="50000"/>
            </a:pP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STUDENT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</a:rPr>
              <a:t>stu1;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	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20" y="3594100"/>
            <a:ext cx="1898650" cy="2921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40535" y="3583940"/>
            <a:ext cx="2209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sym typeface="+mn-ea"/>
              </a:rPr>
              <a:t>Date</a:t>
            </a:r>
            <a:r>
              <a:rPr lang="en-US" altLang="zh-CN" sz="1600" b="1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*birthday</a:t>
            </a:r>
            <a:r>
              <a:rPr lang="en-US" altLang="zh-CN" sz="1600" b="1" dirty="0">
                <a:latin typeface="Courier New" panose="02070309020205020404" pitchFamily="49" charset="0"/>
                <a:sym typeface="+mn-ea"/>
              </a:rPr>
              <a:t>;</a:t>
            </a:r>
            <a:endParaRPr lang="en-US" altLang="zh-CN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755" y="4624705"/>
            <a:ext cx="4234180" cy="1346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charRg st="11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charRg st="11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2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2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ldLvl="0" animBg="1"/>
      <p:bldP spid="1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结构体所占内存的字节数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795" name="Rectangle 3"/>
          <p:cNvSpPr>
            <a:spLocks noGrp="1"/>
          </p:cNvSpPr>
          <p:nvPr>
            <p:ph idx="1"/>
          </p:nvPr>
        </p:nvSpPr>
        <p:spPr>
          <a:xfrm>
            <a:off x="971550" y="1228090"/>
            <a:ext cx="9518650" cy="11588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1">
              <a:spcAft>
                <a:spcPct val="0"/>
              </a:spcAft>
            </a:pPr>
            <a:r>
              <a:rPr lang="en-US" altLang="zh-CN" b="1" kern="1200" dirty="0">
                <a:solidFill>
                  <a:srgbClr val="CC0000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struct</a:t>
            </a:r>
            <a:r>
              <a:rPr lang="en-US" altLang="zh-CN" kern="1200" dirty="0">
                <a:solidFill>
                  <a:schemeClr val="accent2"/>
                </a:solidFill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kern="1200" dirty="0"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类型用内存字节数 </a:t>
            </a:r>
            <a:r>
              <a:rPr lang="en-US" altLang="zh-CN" kern="1200" dirty="0">
                <a:latin typeface="+mn-lt"/>
                <a:ea typeface="+mn-ea"/>
                <a:cs typeface="Times New Roman" panose="02020603050405020304" pitchFamily="18" charset="0"/>
              </a:rPr>
              <a:t>= ?</a:t>
            </a:r>
            <a:endParaRPr lang="zh-CN" altLang="en-US" kern="12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eaLnBrk="1">
              <a:spcAft>
                <a:spcPct val="0"/>
              </a:spcAft>
            </a:pPr>
            <a:r>
              <a:rPr lang="zh-CN" altLang="en-US" kern="1200" dirty="0">
                <a:latin typeface="Courier New" panose="02070309020205020404" pitchFamily="49" charset="0"/>
                <a:ea typeface="+mn-ea"/>
                <a:cs typeface="Times New Roman" panose="02020603050405020304" pitchFamily="18" charset="0"/>
              </a:rPr>
              <a:t>是所有成员占内存的总和吗？</a:t>
            </a:r>
            <a:endParaRPr lang="zh-CN" altLang="en-US" sz="2400" kern="1200" dirty="0"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289851" name="Rectangle 59"/>
          <p:cNvSpPr>
            <a:spLocks noChangeArrowheads="1"/>
          </p:cNvSpPr>
          <p:nvPr/>
        </p:nvSpPr>
        <p:spPr bwMode="auto">
          <a:xfrm>
            <a:off x="1476375" y="4468178"/>
            <a:ext cx="6032500" cy="36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("%d\n",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sizeof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struct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sample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));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852" name="Rectangle 60"/>
          <p:cNvSpPr>
            <a:spLocks noChangeArrowheads="1"/>
          </p:cNvSpPr>
          <p:nvPr/>
        </p:nvSpPr>
        <p:spPr bwMode="auto">
          <a:xfrm>
            <a:off x="971550" y="2458403"/>
            <a:ext cx="6864350" cy="1873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7" rIns="92075" bIns="46037"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ts val="59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sizeof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获得结构体大小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urier New" panose="02070309020205020404" pitchFamily="49" charset="0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ts val="590"/>
              </a:spcAft>
              <a:buClr>
                <a:srgbClr val="FFCC66"/>
              </a:buClr>
              <a:buSzPct val="115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sizeof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变量或表达式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ts val="590"/>
              </a:spcAft>
              <a:buClr>
                <a:srgbClr val="FFCC66"/>
              </a:buClr>
              <a:buSzPct val="115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sizeof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黑体" panose="02010609060101010101" pitchFamily="49" charset="-122"/>
                <a:cs typeface="+mn-cs"/>
              </a:rPr>
              <a:t>类型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59"/>
          <p:cNvSpPr>
            <a:spLocks noChangeArrowheads="1"/>
          </p:cNvSpPr>
          <p:nvPr/>
        </p:nvSpPr>
        <p:spPr bwMode="auto">
          <a:xfrm>
            <a:off x="1481138" y="5039678"/>
            <a:ext cx="4954588" cy="36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("%d\n",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sizeof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SAMPLE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));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54838" y="2091690"/>
            <a:ext cx="3821112" cy="2138363"/>
          </a:xfrm>
          <a:prstGeom prst="rect">
            <a:avLst/>
          </a:prstGeom>
          <a:solidFill>
            <a:schemeClr val="bg2"/>
          </a:solidFill>
          <a:ln w="25400" cap="flat" cmpd="sng">
            <a:solidFill>
              <a:srgbClr val="33CC33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typedef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 sample</a:t>
            </a:r>
            <a:endParaRPr lang="en-US" altLang="zh-CN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   char m1;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   int  m2;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   char m3;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}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SAMPLE</a:t>
            </a:r>
            <a:r>
              <a:rPr lang="en-US" altLang="zh-CN" b="1" dirty="0">
                <a:latin typeface="Courier New" panose="02070309020205020404" pitchFamily="49" charset="0"/>
              </a:rPr>
              <a:t>;</a:t>
            </a:r>
            <a:endParaRPr lang="zh-CN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98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98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9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build="p"/>
      <p:bldP spid="289851" grpId="0" bldLvl="0" animBg="1"/>
      <p:bldP spid="289852" grpId="0" build="p"/>
      <p:bldP spid="12" grpId="0" bldLvl="0" animBg="1"/>
      <p:bldP spid="1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结构体所占内存的字节数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02" name="TextBox 109"/>
          <p:cNvSpPr txBox="1"/>
          <p:nvPr/>
        </p:nvSpPr>
        <p:spPr>
          <a:xfrm>
            <a:off x="1571308" y="1022033"/>
            <a:ext cx="4448175" cy="2138362"/>
          </a:xfrm>
          <a:prstGeom prst="rect">
            <a:avLst/>
          </a:prstGeom>
          <a:solidFill>
            <a:schemeClr val="bg2"/>
          </a:solidFill>
          <a:ln w="25400" cap="flat" cmpd="sng">
            <a:solidFill>
              <a:srgbClr val="33CC33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typedef</a:t>
            </a:r>
            <a:r>
              <a:rPr lang="en-US" altLang="zh-CN" b="1" dirty="0">
                <a:latin typeface="Courier New" panose="02070309020205020404" pitchFamily="49" charset="0"/>
              </a:rPr>
              <a:t> struct sample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</a:rPr>
              <a:t> m1;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solidFill>
                  <a:srgbClr val="653A2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 m2;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solidFill>
                  <a:srgbClr val="653A2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</a:rPr>
              <a:t> m3;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}SAMPLE;</a:t>
            </a:r>
            <a:endParaRPr lang="zh-CN" altLang="en-US" b="1" dirty="0">
              <a:latin typeface="Courier New" panose="02070309020205020404" pitchFamily="49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173470" y="1025208"/>
            <a:ext cx="4448175" cy="2138362"/>
          </a:xfrm>
          <a:prstGeom prst="rect">
            <a:avLst/>
          </a:prstGeom>
          <a:solidFill>
            <a:schemeClr val="bg2"/>
          </a:solidFill>
          <a:ln w="25400" cap="flat" cmpd="sng">
            <a:solidFill>
              <a:srgbClr val="33CC33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typedef</a:t>
            </a:r>
            <a:r>
              <a:rPr lang="en-US" altLang="zh-CN" b="1" dirty="0">
                <a:latin typeface="Courier New" panose="02070309020205020404" pitchFamily="49" charset="0"/>
              </a:rPr>
              <a:t> struct sample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</a:rPr>
              <a:t> m1;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solidFill>
                  <a:srgbClr val="653A2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zh-CN" b="1" dirty="0">
                <a:latin typeface="Courier New" panose="02070309020205020404" pitchFamily="49" charset="0"/>
              </a:rPr>
              <a:t> m3;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solidFill>
                  <a:srgbClr val="653A20"/>
                </a:solidFill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C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 m2;</a:t>
            </a:r>
            <a:r>
              <a:rPr lang="en-US" altLang="zh-CN" b="1" dirty="0">
                <a:solidFill>
                  <a:srgbClr val="653A20"/>
                </a:solidFill>
                <a:latin typeface="Courier New" panose="02070309020205020404" pitchFamily="49" charset="0"/>
              </a:rPr>
              <a:t>  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SzPct val="80000"/>
            </a:pPr>
            <a:r>
              <a:rPr lang="en-US" altLang="zh-CN" b="1" dirty="0">
                <a:latin typeface="Courier New" panose="02070309020205020404" pitchFamily="49" charset="0"/>
              </a:rPr>
              <a:t>}SAMPLE;</a:t>
            </a:r>
            <a:endParaRPr lang="zh-CN" altLang="en-US" b="1" dirty="0">
              <a:latin typeface="Courier New" panose="02070309020205020404" pitchFamily="49" charset="0"/>
            </a:endParaRPr>
          </a:p>
        </p:txBody>
      </p:sp>
      <p:grpSp>
        <p:nvGrpSpPr>
          <p:cNvPr id="2" name="组合 113"/>
          <p:cNvGrpSpPr/>
          <p:nvPr/>
        </p:nvGrpSpPr>
        <p:grpSpPr>
          <a:xfrm>
            <a:off x="1493520" y="4198620"/>
            <a:ext cx="5656263" cy="1006475"/>
            <a:chOff x="539256" y="4801529"/>
            <a:chExt cx="5221064" cy="1004943"/>
          </a:xfrm>
        </p:grpSpPr>
        <p:grpSp>
          <p:nvGrpSpPr>
            <p:cNvPr id="51248" name="组合 76"/>
            <p:cNvGrpSpPr/>
            <p:nvPr/>
          </p:nvGrpSpPr>
          <p:grpSpPr>
            <a:xfrm>
              <a:off x="539256" y="4801529"/>
              <a:ext cx="5221064" cy="1004943"/>
              <a:chOff x="665136" y="2973393"/>
              <a:chExt cx="5221281" cy="1004392"/>
            </a:xfrm>
          </p:grpSpPr>
          <p:grpSp>
            <p:nvGrpSpPr>
              <p:cNvPr id="51250" name="Group 48"/>
              <p:cNvGrpSpPr/>
              <p:nvPr/>
            </p:nvGrpSpPr>
            <p:grpSpPr>
              <a:xfrm>
                <a:off x="665136" y="2973393"/>
                <a:ext cx="5221281" cy="1003304"/>
                <a:chOff x="354" y="1628"/>
                <a:chExt cx="3289" cy="632"/>
              </a:xfrm>
            </p:grpSpPr>
            <p:sp>
              <p:nvSpPr>
                <p:cNvPr id="93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54" y="1628"/>
                  <a:ext cx="454" cy="23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m1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4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762" y="1630"/>
                  <a:ext cx="454" cy="23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m3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5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581" y="1648"/>
                  <a:ext cx="450" cy="23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m2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51258" name="Group 47"/>
                <p:cNvGrpSpPr/>
                <p:nvPr/>
              </p:nvGrpSpPr>
              <p:grpSpPr>
                <a:xfrm>
                  <a:off x="385" y="1806"/>
                  <a:ext cx="3258" cy="454"/>
                  <a:chOff x="385" y="1806"/>
                  <a:chExt cx="3258" cy="454"/>
                </a:xfrm>
              </p:grpSpPr>
              <p:grpSp>
                <p:nvGrpSpPr>
                  <p:cNvPr id="51259" name="Group 17"/>
                  <p:cNvGrpSpPr/>
                  <p:nvPr/>
                </p:nvGrpSpPr>
                <p:grpSpPr>
                  <a:xfrm>
                    <a:off x="385" y="2010"/>
                    <a:ext cx="3258" cy="232"/>
                    <a:chOff x="431" y="1557"/>
                    <a:chExt cx="3258" cy="232"/>
                  </a:xfrm>
                </p:grpSpPr>
                <p:sp>
                  <p:nvSpPr>
                    <p:cNvPr id="103" name="Text Box 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1" y="1546"/>
                      <a:ext cx="408" cy="241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5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42" y="1546"/>
                      <a:ext cx="408" cy="24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6" name="Text Box 1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64" y="1546"/>
                      <a:ext cx="408" cy="241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7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4" y="1546"/>
                      <a:ext cx="408" cy="241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8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72" y="1546"/>
                      <a:ext cx="408" cy="241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9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81" y="1546"/>
                      <a:ext cx="408" cy="241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4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38" y="1546"/>
                      <a:ext cx="408" cy="241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51260" name="AutoShape 31"/>
                  <p:cNvSpPr/>
                  <p:nvPr/>
                </p:nvSpPr>
                <p:spPr>
                  <a:xfrm rot="5400000">
                    <a:off x="525" y="1732"/>
                    <a:ext cx="118" cy="354"/>
                  </a:xfrm>
                  <a:prstGeom prst="leftBrace">
                    <a:avLst>
                      <a:gd name="adj1" fmla="val 44458"/>
                      <a:gd name="adj2" fmla="val 50000"/>
                    </a:avLst>
                  </a:prstGeom>
                  <a:noFill/>
                  <a:ln w="38100" cap="flat" cmpd="sng">
                    <a:solidFill>
                      <a:srgbClr val="FF0000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rot="10800000" vert="eaVert" wrap="none" anchor="ctr" anchorCtr="0"/>
                  <a:lstStyle/>
                  <a:p>
                    <a:pPr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</a:pPr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1261" name="AutoShape 32"/>
                  <p:cNvSpPr/>
                  <p:nvPr/>
                </p:nvSpPr>
                <p:spPr>
                  <a:xfrm rot="5400000">
                    <a:off x="2754" y="1097"/>
                    <a:ext cx="145" cy="1542"/>
                  </a:xfrm>
                  <a:prstGeom prst="leftBrace">
                    <a:avLst>
                      <a:gd name="adj1" fmla="val 88522"/>
                      <a:gd name="adj2" fmla="val 50000"/>
                    </a:avLst>
                  </a:prstGeom>
                  <a:noFill/>
                  <a:ln w="38100" cap="flat" cmpd="sng">
                    <a:solidFill>
                      <a:srgbClr val="FF0000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rot="10800000" vert="eaVert" wrap="none" anchor="ctr" anchorCtr="0"/>
                  <a:lstStyle/>
                  <a:p>
                    <a:pPr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</a:pPr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1262" name="AutoShape 34"/>
                  <p:cNvSpPr/>
                  <p:nvPr/>
                </p:nvSpPr>
                <p:spPr>
                  <a:xfrm rot="5400000">
                    <a:off x="938" y="1723"/>
                    <a:ext cx="100" cy="360"/>
                  </a:xfrm>
                  <a:prstGeom prst="leftBrace">
                    <a:avLst>
                      <a:gd name="adj1" fmla="val 19750"/>
                      <a:gd name="adj2" fmla="val 50000"/>
                    </a:avLst>
                  </a:prstGeom>
                  <a:noFill/>
                  <a:ln w="38100" cap="flat" cmpd="sng">
                    <a:solidFill>
                      <a:srgbClr val="FF0000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rot="10800000" vert="eaVert" wrap="none" anchor="ctr" anchorCtr="0"/>
                  <a:lstStyle/>
                  <a:p>
                    <a:pPr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</a:pPr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01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20" y="1994"/>
                    <a:ext cx="383" cy="25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195" y="1994"/>
                    <a:ext cx="402" cy="255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251" name="组合 75"/>
              <p:cNvGrpSpPr/>
              <p:nvPr/>
            </p:nvGrpSpPr>
            <p:grpSpPr>
              <a:xfrm>
                <a:off x="2643449" y="3601088"/>
                <a:ext cx="649180" cy="376697"/>
                <a:chOff x="2643449" y="3601088"/>
                <a:chExt cx="649180" cy="376697"/>
              </a:xfrm>
            </p:grpSpPr>
            <p:sp>
              <p:nvSpPr>
                <p:cNvPr id="7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644915" y="3608663"/>
                  <a:ext cx="647714" cy="369122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9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703532" y="3600742"/>
                  <a:ext cx="587632" cy="37387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Line 46"/>
                <p:cNvSpPr>
                  <a:spLocks noChangeShapeType="1"/>
                </p:cNvSpPr>
                <p:nvPr/>
              </p:nvSpPr>
              <p:spPr bwMode="auto">
                <a:xfrm>
                  <a:off x="2643449" y="3615000"/>
                  <a:ext cx="592028" cy="36120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1249" name="AutoShape 34"/>
            <p:cNvSpPr/>
            <p:nvPr/>
          </p:nvSpPr>
          <p:spPr>
            <a:xfrm rot="5400000">
              <a:off x="2442629" y="4626254"/>
              <a:ext cx="158508" cy="1219176"/>
            </a:xfrm>
            <a:prstGeom prst="leftBrace">
              <a:avLst>
                <a:gd name="adj1" fmla="val 19656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rot="10800000" vert="eaVert" wrap="none" anchor="ctr" anchorCtr="0"/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3" name="Rectangle 59"/>
          <p:cNvSpPr>
            <a:spLocks noChangeArrowheads="1"/>
          </p:cNvSpPr>
          <p:nvPr/>
        </p:nvSpPr>
        <p:spPr bwMode="auto">
          <a:xfrm>
            <a:off x="1337945" y="5490845"/>
            <a:ext cx="4954588" cy="36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("%d\n",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sizeof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SAMPLE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));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1208" name="组合 116"/>
          <p:cNvGrpSpPr/>
          <p:nvPr/>
        </p:nvGrpSpPr>
        <p:grpSpPr>
          <a:xfrm>
            <a:off x="1491933" y="3120708"/>
            <a:ext cx="8408987" cy="1039812"/>
            <a:chOff x="538164" y="2500337"/>
            <a:chExt cx="7761286" cy="1039786"/>
          </a:xfrm>
        </p:grpSpPr>
        <p:grpSp>
          <p:nvGrpSpPr>
            <p:cNvPr id="51211" name="组合 76"/>
            <p:cNvGrpSpPr/>
            <p:nvPr/>
          </p:nvGrpSpPr>
          <p:grpSpPr>
            <a:xfrm>
              <a:off x="538164" y="2500337"/>
              <a:ext cx="7761286" cy="1039786"/>
              <a:chOff x="681011" y="2976582"/>
              <a:chExt cx="7761607" cy="1039217"/>
            </a:xfrm>
          </p:grpSpPr>
          <p:grpSp>
            <p:nvGrpSpPr>
              <p:cNvPr id="51214" name="Group 48"/>
              <p:cNvGrpSpPr/>
              <p:nvPr/>
            </p:nvGrpSpPr>
            <p:grpSpPr>
              <a:xfrm>
                <a:off x="681011" y="2976582"/>
                <a:ext cx="5876917" cy="1003309"/>
                <a:chOff x="364" y="1630"/>
                <a:chExt cx="3702" cy="632"/>
              </a:xfrm>
            </p:grpSpPr>
            <p:sp>
              <p:nvSpPr>
                <p:cNvPr id="138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64" y="1645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m1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9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612" y="1630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m3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40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581" y="1648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m2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51234" name="Group 47"/>
                <p:cNvGrpSpPr/>
                <p:nvPr/>
              </p:nvGrpSpPr>
              <p:grpSpPr>
                <a:xfrm>
                  <a:off x="385" y="1822"/>
                  <a:ext cx="3666" cy="440"/>
                  <a:chOff x="385" y="1822"/>
                  <a:chExt cx="3666" cy="440"/>
                </a:xfrm>
              </p:grpSpPr>
              <p:grpSp>
                <p:nvGrpSpPr>
                  <p:cNvPr id="51235" name="Group 17"/>
                  <p:cNvGrpSpPr/>
                  <p:nvPr/>
                </p:nvGrpSpPr>
                <p:grpSpPr>
                  <a:xfrm>
                    <a:off x="385" y="2029"/>
                    <a:ext cx="3666" cy="233"/>
                    <a:chOff x="431" y="1576"/>
                    <a:chExt cx="3666" cy="233"/>
                  </a:xfrm>
                </p:grpSpPr>
                <p:sp>
                  <p:nvSpPr>
                    <p:cNvPr id="148" name="Text Box 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1" y="1576"/>
                      <a:ext cx="408" cy="233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49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89" y="1576"/>
                      <a:ext cx="408" cy="233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50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43" y="1576"/>
                      <a:ext cx="408" cy="23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51" name="Text Box 1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64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52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6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53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74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54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81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51236" name="AutoShape 31"/>
                  <p:cNvSpPr/>
                  <p:nvPr/>
                </p:nvSpPr>
                <p:spPr>
                  <a:xfrm rot="5400000">
                    <a:off x="553" y="1751"/>
                    <a:ext cx="72" cy="366"/>
                  </a:xfrm>
                  <a:prstGeom prst="leftBrace">
                    <a:avLst>
                      <a:gd name="adj1" fmla="val 44432"/>
                      <a:gd name="adj2" fmla="val 50000"/>
                    </a:avLst>
                  </a:prstGeom>
                  <a:noFill/>
                  <a:ln w="38100" cap="flat" cmpd="sng">
                    <a:solidFill>
                      <a:srgbClr val="FF0000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rot="10800000" vert="eaVert" wrap="none" anchor="ctr" anchorCtr="0"/>
                  <a:lstStyle/>
                  <a:p>
                    <a:pPr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</a:pPr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1237" name="AutoShape 32"/>
                  <p:cNvSpPr/>
                  <p:nvPr/>
                </p:nvSpPr>
                <p:spPr>
                  <a:xfrm rot="5400000">
                    <a:off x="2754" y="1122"/>
                    <a:ext cx="145" cy="1541"/>
                  </a:xfrm>
                  <a:prstGeom prst="leftBrace">
                    <a:avLst>
                      <a:gd name="adj1" fmla="val 88514"/>
                      <a:gd name="adj2" fmla="val 50000"/>
                    </a:avLst>
                  </a:prstGeom>
                  <a:noFill/>
                  <a:ln w="38100" cap="flat" cmpd="sng">
                    <a:solidFill>
                      <a:srgbClr val="FF0000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rot="10800000" vert="eaVert" wrap="none" anchor="ctr" anchorCtr="0"/>
                  <a:lstStyle/>
                  <a:p>
                    <a:pPr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</a:pPr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1238" name="AutoShape 34"/>
                  <p:cNvSpPr/>
                  <p:nvPr/>
                </p:nvSpPr>
                <p:spPr>
                  <a:xfrm rot="5400000">
                    <a:off x="3820" y="1724"/>
                    <a:ext cx="99" cy="330"/>
                  </a:xfrm>
                  <a:prstGeom prst="leftBrace">
                    <a:avLst>
                      <a:gd name="adj1" fmla="val 19706"/>
                      <a:gd name="adj2" fmla="val 50000"/>
                    </a:avLst>
                  </a:prstGeom>
                  <a:noFill/>
                  <a:ln w="38100" cap="flat" cmpd="sng">
                    <a:solidFill>
                      <a:srgbClr val="FF0000"/>
                    </a:solidFill>
                    <a:prstDash val="solid"/>
                    <a:headEnd type="none" w="sm" len="sm"/>
                    <a:tailEnd type="none" w="sm" len="sm"/>
                  </a:ln>
                </p:spPr>
                <p:txBody>
                  <a:bodyPr rot="10800000" vert="eaVert" wrap="none" anchor="ctr" anchorCtr="0"/>
                  <a:lstStyle/>
                  <a:p>
                    <a:pPr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</a:pPr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146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88" y="2024"/>
                    <a:ext cx="417" cy="23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7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197" y="2024"/>
                    <a:ext cx="410" cy="23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215" name="组合 75"/>
              <p:cNvGrpSpPr/>
              <p:nvPr/>
            </p:nvGrpSpPr>
            <p:grpSpPr>
              <a:xfrm>
                <a:off x="1357972" y="3600112"/>
                <a:ext cx="7084646" cy="415687"/>
                <a:chOff x="1357972" y="3600112"/>
                <a:chExt cx="7084646" cy="415687"/>
              </a:xfrm>
            </p:grpSpPr>
            <p:sp>
              <p:nvSpPr>
                <p:cNvPr id="12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645956" y="3609632"/>
                  <a:ext cx="647655" cy="36967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654748" y="3601699"/>
                  <a:ext cx="637399" cy="37602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Line 46"/>
                <p:cNvSpPr>
                  <a:spLocks noChangeShapeType="1"/>
                </p:cNvSpPr>
                <p:nvPr/>
              </p:nvSpPr>
              <p:spPr bwMode="auto">
                <a:xfrm>
                  <a:off x="2644491" y="3615978"/>
                  <a:ext cx="608092" cy="36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359437" y="3608045"/>
                  <a:ext cx="647655" cy="369675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7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391673" y="3600112"/>
                  <a:ext cx="613954" cy="3776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Line 46"/>
                <p:cNvSpPr>
                  <a:spLocks noChangeShapeType="1"/>
                </p:cNvSpPr>
                <p:nvPr/>
              </p:nvSpPr>
              <p:spPr bwMode="auto">
                <a:xfrm>
                  <a:off x="1357972" y="3600112"/>
                  <a:ext cx="631537" cy="3776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6517235" y="3608045"/>
                  <a:ext cx="647655" cy="369675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0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6509909" y="3600112"/>
                  <a:ext cx="653517" cy="3776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Line 46"/>
                <p:cNvSpPr>
                  <a:spLocks noChangeShapeType="1"/>
                </p:cNvSpPr>
                <p:nvPr/>
              </p:nvSpPr>
              <p:spPr bwMode="auto">
                <a:xfrm>
                  <a:off x="6515770" y="3638190"/>
                  <a:ext cx="657912" cy="37760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151704" y="3615978"/>
                  <a:ext cx="647655" cy="36967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7173682" y="3608045"/>
                  <a:ext cx="624211" cy="3823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Line 46"/>
                <p:cNvSpPr>
                  <a:spLocks noChangeShapeType="1"/>
                </p:cNvSpPr>
                <p:nvPr/>
              </p:nvSpPr>
              <p:spPr bwMode="auto">
                <a:xfrm>
                  <a:off x="7150238" y="3608045"/>
                  <a:ext cx="622746" cy="3823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794963" y="3615978"/>
                  <a:ext cx="647655" cy="36967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6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7838921" y="3608045"/>
                  <a:ext cx="602232" cy="3823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Line 46"/>
                <p:cNvSpPr>
                  <a:spLocks noChangeShapeType="1"/>
                </p:cNvSpPr>
                <p:nvPr/>
              </p:nvSpPr>
              <p:spPr bwMode="auto">
                <a:xfrm>
                  <a:off x="7793498" y="3608045"/>
                  <a:ext cx="643259" cy="3823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1212" name="AutoShape 34"/>
            <p:cNvSpPr/>
            <p:nvPr/>
          </p:nvSpPr>
          <p:spPr>
            <a:xfrm rot="5400000">
              <a:off x="2079261" y="2017889"/>
              <a:ext cx="217482" cy="1887207"/>
            </a:xfrm>
            <a:prstGeom prst="leftBrace">
              <a:avLst>
                <a:gd name="adj1" fmla="val 19685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rot="10800000" vert="eaVert" wrap="none" anchor="ctr" anchorCtr="0"/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13" name="AutoShape 34"/>
            <p:cNvSpPr/>
            <p:nvPr/>
          </p:nvSpPr>
          <p:spPr>
            <a:xfrm rot="5400000">
              <a:off x="7217798" y="2017889"/>
              <a:ext cx="217482" cy="1887207"/>
            </a:xfrm>
            <a:prstGeom prst="leftBrace">
              <a:avLst>
                <a:gd name="adj1" fmla="val 19685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rot="10800000" vert="eaVert" wrap="none" anchor="ctr" anchorCtr="0"/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结构体所占内存的字节数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6839" name="Text Box 7"/>
          <p:cNvSpPr txBox="1">
            <a:spLocks noChangeArrowheads="1"/>
          </p:cNvSpPr>
          <p:nvPr/>
        </p:nvSpPr>
        <p:spPr bwMode="auto">
          <a:xfrm>
            <a:off x="1419860" y="3560128"/>
            <a:ext cx="8564563" cy="1231900"/>
          </a:xfrm>
          <a:prstGeom prst="rect">
            <a:avLst/>
          </a:prstGeom>
          <a:solidFill>
            <a:schemeClr val="bg2"/>
          </a:solidFill>
          <a:ln w="38100">
            <a:solidFill>
              <a:srgbClr val="33CC33"/>
            </a:solidFill>
            <a:miter lim="800000"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结构体实际所占的内存空间一般是按照机器字长对齐的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不同的系统和编译器，内存对齐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(Memory-alignment)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方式不同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为了满足处理器的对齐要求，可能会在较小的成员后加入补位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107" name="WordArt 41"/>
          <p:cNvSpPr>
            <a:spLocks noTextEdit="1"/>
          </p:cNvSpPr>
          <p:nvPr/>
        </p:nvSpPr>
        <p:spPr>
          <a:xfrm>
            <a:off x="6168073" y="1831340"/>
            <a:ext cx="4411662" cy="357188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806"/>
              </a:avLst>
            </a:prstTxWarp>
            <a:normAutofit fontScale="55000" lnSpcReduction="10000"/>
          </a:bodyPr>
          <a:lstStyle/>
          <a:p>
            <a:pPr algn="l"/>
            <a:r>
              <a:rPr lang="zh-CN" altLang="en-US" sz="3600" b="1">
                <a:ln w="9525" cap="flat" cmpd="sng">
                  <a:solidFill>
                    <a:srgbClr val="800000"/>
                  </a:solidFill>
                  <a:prstDash val="solid"/>
                  <a:headEnd type="none" w="sm" len="sm"/>
                  <a:tailEnd type="none" w="sm" len="sm"/>
                </a:ln>
                <a:solidFill>
                  <a:srgbClr val="00007F"/>
                </a:solidFill>
                <a:effectLst>
                  <a:outerShdw dist="38100" dir="2699999" algn="tl" rotWithShape="0">
                    <a:srgbClr val="80808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非所有成员变量的内存总和</a:t>
            </a:r>
            <a:endParaRPr lang="zh-CN" altLang="en-US" sz="3600" b="1">
              <a:ln w="9525" cap="flat" cmpd="sng">
                <a:solidFill>
                  <a:srgbClr val="800000"/>
                </a:solidFill>
                <a:prstDash val="solid"/>
                <a:headEnd type="none" w="sm" len="sm"/>
                <a:tailEnd type="none" w="sm" len="sm"/>
              </a:ln>
              <a:solidFill>
                <a:srgbClr val="00007F"/>
              </a:solidFill>
              <a:effectLst>
                <a:outerShdw dist="38100" dir="2699999" algn="tl" rotWithShape="0">
                  <a:srgbClr val="80808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7108" name="Group 43"/>
          <p:cNvGrpSpPr/>
          <p:nvPr/>
        </p:nvGrpSpPr>
        <p:grpSpPr>
          <a:xfrm>
            <a:off x="1497648" y="1199515"/>
            <a:ext cx="4279900" cy="974725"/>
            <a:chOff x="371" y="917"/>
            <a:chExt cx="2489" cy="614"/>
          </a:xfrm>
        </p:grpSpPr>
        <p:grpSp>
          <p:nvGrpSpPr>
            <p:cNvPr id="47150" name="Group 27"/>
            <p:cNvGrpSpPr/>
            <p:nvPr/>
          </p:nvGrpSpPr>
          <p:grpSpPr>
            <a:xfrm>
              <a:off x="385" y="1298"/>
              <a:ext cx="2449" cy="233"/>
              <a:chOff x="567" y="941"/>
              <a:chExt cx="2449" cy="233"/>
            </a:xfrm>
          </p:grpSpPr>
          <p:sp>
            <p:nvSpPr>
              <p:cNvPr id="54" name="Text Box 19"/>
              <p:cNvSpPr txBox="1">
                <a:spLocks noChangeArrowheads="1"/>
              </p:cNvSpPr>
              <p:nvPr/>
            </p:nvSpPr>
            <p:spPr bwMode="auto">
              <a:xfrm>
                <a:off x="567" y="941"/>
                <a:ext cx="408" cy="23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Text Box 20"/>
              <p:cNvSpPr txBox="1">
                <a:spLocks noChangeArrowheads="1"/>
              </p:cNvSpPr>
              <p:nvPr/>
            </p:nvSpPr>
            <p:spPr bwMode="auto">
              <a:xfrm>
                <a:off x="2608" y="941"/>
                <a:ext cx="408" cy="23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Text Box 23"/>
              <p:cNvSpPr txBox="1">
                <a:spLocks noChangeArrowheads="1"/>
              </p:cNvSpPr>
              <p:nvPr/>
            </p:nvSpPr>
            <p:spPr bwMode="auto">
              <a:xfrm>
                <a:off x="979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Text Box 24"/>
              <p:cNvSpPr txBox="1">
                <a:spLocks noChangeArrowheads="1"/>
              </p:cNvSpPr>
              <p:nvPr/>
            </p:nvSpPr>
            <p:spPr bwMode="auto">
              <a:xfrm>
                <a:off x="1388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Text Box 25"/>
              <p:cNvSpPr txBox="1">
                <a:spLocks noChangeArrowheads="1"/>
              </p:cNvSpPr>
              <p:nvPr/>
            </p:nvSpPr>
            <p:spPr bwMode="auto">
              <a:xfrm>
                <a:off x="1796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Text Box 26"/>
              <p:cNvSpPr txBox="1">
                <a:spLocks noChangeArrowheads="1"/>
              </p:cNvSpPr>
              <p:nvPr/>
            </p:nvSpPr>
            <p:spPr bwMode="auto">
              <a:xfrm>
                <a:off x="2205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8" name="AutoShape 28"/>
            <p:cNvSpPr/>
            <p:nvPr/>
          </p:nvSpPr>
          <p:spPr bwMode="auto">
            <a:xfrm rot="5400000">
              <a:off x="562" y="1005"/>
              <a:ext cx="75" cy="379"/>
            </a:xfrm>
            <a:prstGeom prst="leftBrace">
              <a:avLst>
                <a:gd name="adj1" fmla="val 44485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AutoShape 29"/>
            <p:cNvSpPr/>
            <p:nvPr/>
          </p:nvSpPr>
          <p:spPr bwMode="auto">
            <a:xfrm rot="5400000">
              <a:off x="1539" y="390"/>
              <a:ext cx="145" cy="1542"/>
            </a:xfrm>
            <a:prstGeom prst="leftBrace">
              <a:avLst>
                <a:gd name="adj1" fmla="val 88621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AutoShape 30"/>
            <p:cNvSpPr/>
            <p:nvPr/>
          </p:nvSpPr>
          <p:spPr bwMode="auto">
            <a:xfrm rot="5400000">
              <a:off x="2610" y="1022"/>
              <a:ext cx="93" cy="362"/>
            </a:xfrm>
            <a:prstGeom prst="leftBrace">
              <a:avLst>
                <a:gd name="adj1" fmla="val 18218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Text Box 35"/>
            <p:cNvSpPr txBox="1">
              <a:spLocks noChangeArrowheads="1"/>
            </p:cNvSpPr>
            <p:nvPr/>
          </p:nvSpPr>
          <p:spPr bwMode="auto">
            <a:xfrm>
              <a:off x="371" y="946"/>
              <a:ext cx="454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m1</a:t>
              </a:r>
              <a:endPara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Text Box 36"/>
            <p:cNvSpPr txBox="1">
              <a:spLocks noChangeArrowheads="1"/>
            </p:cNvSpPr>
            <p:nvPr/>
          </p:nvSpPr>
          <p:spPr bwMode="auto">
            <a:xfrm>
              <a:off x="1371" y="917"/>
              <a:ext cx="454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m2</a:t>
              </a:r>
              <a:endPara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Text Box 37"/>
            <p:cNvSpPr txBox="1">
              <a:spLocks noChangeArrowheads="1"/>
            </p:cNvSpPr>
            <p:nvPr/>
          </p:nvSpPr>
          <p:spPr bwMode="auto">
            <a:xfrm>
              <a:off x="2406" y="946"/>
              <a:ext cx="454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m3</a:t>
              </a:r>
              <a:endPara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6" name="Text Box 7"/>
          <p:cNvSpPr txBox="1">
            <a:spLocks noChangeArrowheads="1"/>
          </p:cNvSpPr>
          <p:nvPr/>
        </p:nvSpPr>
        <p:spPr bwMode="auto">
          <a:xfrm>
            <a:off x="1435735" y="5071428"/>
            <a:ext cx="8548688" cy="800100"/>
          </a:xfrm>
          <a:prstGeom prst="rect">
            <a:avLst/>
          </a:prstGeom>
          <a:solidFill>
            <a:schemeClr val="bg2"/>
          </a:solidFill>
          <a:ln w="38100">
            <a:solidFill>
              <a:srgbClr val="33CC33"/>
            </a:solidFill>
            <a:miter lim="800000"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结构体变量的成员的内存对齐方式是与机器相关的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所以结构体在内存中所占的字节数也是与机器相关的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" name="组合 78"/>
          <p:cNvGrpSpPr/>
          <p:nvPr/>
        </p:nvGrpSpPr>
        <p:grpSpPr>
          <a:xfrm>
            <a:off x="1510348" y="2271078"/>
            <a:ext cx="8408987" cy="1009650"/>
            <a:chOff x="538164" y="2500307"/>
            <a:chExt cx="7761286" cy="1009099"/>
          </a:xfrm>
        </p:grpSpPr>
        <p:grpSp>
          <p:nvGrpSpPr>
            <p:cNvPr id="47113" name="组合 76"/>
            <p:cNvGrpSpPr/>
            <p:nvPr/>
          </p:nvGrpSpPr>
          <p:grpSpPr>
            <a:xfrm>
              <a:off x="538164" y="2500307"/>
              <a:ext cx="7761286" cy="1009099"/>
              <a:chOff x="681011" y="2976558"/>
              <a:chExt cx="7761607" cy="1008549"/>
            </a:xfrm>
          </p:grpSpPr>
          <p:grpSp>
            <p:nvGrpSpPr>
              <p:cNvPr id="47116" name="Group 48"/>
              <p:cNvGrpSpPr/>
              <p:nvPr/>
            </p:nvGrpSpPr>
            <p:grpSpPr>
              <a:xfrm>
                <a:off x="681011" y="2976558"/>
                <a:ext cx="5876916" cy="1003300"/>
                <a:chOff x="364" y="1630"/>
                <a:chExt cx="3702" cy="632"/>
              </a:xfrm>
            </p:grpSpPr>
            <p:sp>
              <p:nvSpPr>
                <p:cNvPr id="376870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64" y="1645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m1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687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612" y="1630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m3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687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581" y="1648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m2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47136" name="Group 47"/>
                <p:cNvGrpSpPr/>
                <p:nvPr/>
              </p:nvGrpSpPr>
              <p:grpSpPr>
                <a:xfrm>
                  <a:off x="385" y="1822"/>
                  <a:ext cx="3666" cy="440"/>
                  <a:chOff x="385" y="1822"/>
                  <a:chExt cx="3666" cy="440"/>
                </a:xfrm>
              </p:grpSpPr>
              <p:grpSp>
                <p:nvGrpSpPr>
                  <p:cNvPr id="47137" name="Group 17"/>
                  <p:cNvGrpSpPr/>
                  <p:nvPr/>
                </p:nvGrpSpPr>
                <p:grpSpPr>
                  <a:xfrm>
                    <a:off x="385" y="2029"/>
                    <a:ext cx="3666" cy="233"/>
                    <a:chOff x="431" y="1576"/>
                    <a:chExt cx="3666" cy="233"/>
                  </a:xfrm>
                </p:grpSpPr>
                <p:sp>
                  <p:nvSpPr>
                    <p:cNvPr id="376841" name="Text Box 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1" y="1576"/>
                      <a:ext cx="408" cy="244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376843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89" y="1576"/>
                      <a:ext cx="408" cy="244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376844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43" y="1576"/>
                      <a:ext cx="408" cy="2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376845" name="Text Box 1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64" y="1576"/>
                      <a:ext cx="408" cy="244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376846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6" y="1576"/>
                      <a:ext cx="408" cy="244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376847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74" y="1576"/>
                      <a:ext cx="408" cy="244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376848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81" y="1576"/>
                      <a:ext cx="408" cy="244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376863" name="AutoShape 31"/>
                  <p:cNvSpPr/>
                  <p:nvPr/>
                </p:nvSpPr>
                <p:spPr bwMode="auto">
                  <a:xfrm rot="5400000">
                    <a:off x="553" y="1751"/>
                    <a:ext cx="72" cy="366"/>
                  </a:xfrm>
                  <a:prstGeom prst="leftBrace">
                    <a:avLst>
                      <a:gd name="adj1" fmla="val 44485"/>
                      <a:gd name="adj2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6864" name="AutoShape 32"/>
                  <p:cNvSpPr/>
                  <p:nvPr/>
                </p:nvSpPr>
                <p:spPr bwMode="auto">
                  <a:xfrm rot="5400000">
                    <a:off x="2754" y="1119"/>
                    <a:ext cx="145" cy="1541"/>
                  </a:xfrm>
                  <a:prstGeom prst="leftBrace">
                    <a:avLst>
                      <a:gd name="adj1" fmla="val 88621"/>
                      <a:gd name="adj2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6866" name="AutoShape 34"/>
                  <p:cNvSpPr/>
                  <p:nvPr/>
                </p:nvSpPr>
                <p:spPr bwMode="auto">
                  <a:xfrm rot="5400000">
                    <a:off x="3825" y="1717"/>
                    <a:ext cx="99" cy="330"/>
                  </a:xfrm>
                  <a:prstGeom prst="leftBrace">
                    <a:avLst>
                      <a:gd name="adj1" fmla="val 19749"/>
                      <a:gd name="adj2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6877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33" y="2024"/>
                    <a:ext cx="375" cy="2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6878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197" y="2024"/>
                    <a:ext cx="410" cy="24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7117" name="组合 75"/>
              <p:cNvGrpSpPr/>
              <p:nvPr/>
            </p:nvGrpSpPr>
            <p:grpSpPr>
              <a:xfrm>
                <a:off x="1357972" y="3595348"/>
                <a:ext cx="7084646" cy="389759"/>
                <a:chOff x="1357972" y="3595348"/>
                <a:chExt cx="7084646" cy="389759"/>
              </a:xfrm>
            </p:grpSpPr>
            <p:sp>
              <p:nvSpPr>
                <p:cNvPr id="61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645956" y="3609279"/>
                  <a:ext cx="647655" cy="369485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654748" y="3601350"/>
                  <a:ext cx="637399" cy="37424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Line 46"/>
                <p:cNvSpPr>
                  <a:spLocks noChangeShapeType="1"/>
                </p:cNvSpPr>
                <p:nvPr/>
              </p:nvSpPr>
              <p:spPr bwMode="auto">
                <a:xfrm>
                  <a:off x="2644491" y="3615622"/>
                  <a:ext cx="674030" cy="3599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359437" y="3607694"/>
                  <a:ext cx="647655" cy="36948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391673" y="3599764"/>
                  <a:ext cx="613954" cy="3758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Line 46"/>
                <p:cNvSpPr>
                  <a:spLocks noChangeShapeType="1"/>
                </p:cNvSpPr>
                <p:nvPr/>
              </p:nvSpPr>
              <p:spPr bwMode="auto">
                <a:xfrm>
                  <a:off x="1357972" y="3599764"/>
                  <a:ext cx="631537" cy="3758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6517235" y="3607694"/>
                  <a:ext cx="647655" cy="36948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6509909" y="3599764"/>
                  <a:ext cx="653517" cy="3758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Line 46"/>
                <p:cNvSpPr>
                  <a:spLocks noChangeShapeType="1"/>
                </p:cNvSpPr>
                <p:nvPr/>
              </p:nvSpPr>
              <p:spPr bwMode="auto">
                <a:xfrm>
                  <a:off x="6515770" y="3599764"/>
                  <a:ext cx="657912" cy="3758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151704" y="3615622"/>
                  <a:ext cx="647655" cy="369485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7173682" y="3595007"/>
                  <a:ext cx="624211" cy="38058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Line 46"/>
                <p:cNvSpPr>
                  <a:spLocks noChangeShapeType="1"/>
                </p:cNvSpPr>
                <p:nvPr/>
              </p:nvSpPr>
              <p:spPr bwMode="auto">
                <a:xfrm>
                  <a:off x="7150238" y="3595007"/>
                  <a:ext cx="622746" cy="38058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794963" y="3615622"/>
                  <a:ext cx="647655" cy="369485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7838921" y="3595007"/>
                  <a:ext cx="602232" cy="38058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Line 46"/>
                <p:cNvSpPr>
                  <a:spLocks noChangeShapeType="1"/>
                </p:cNvSpPr>
                <p:nvPr/>
              </p:nvSpPr>
              <p:spPr bwMode="auto">
                <a:xfrm>
                  <a:off x="7793498" y="3595007"/>
                  <a:ext cx="643259" cy="380585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7" name="AutoShape 34"/>
            <p:cNvSpPr/>
            <p:nvPr/>
          </p:nvSpPr>
          <p:spPr bwMode="auto">
            <a:xfrm rot="5400000">
              <a:off x="2079321" y="2017622"/>
              <a:ext cx="217368" cy="1887207"/>
            </a:xfrm>
            <a:prstGeom prst="leftBrace">
              <a:avLst>
                <a:gd name="adj1" fmla="val 19749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" name="AutoShape 34"/>
            <p:cNvSpPr/>
            <p:nvPr/>
          </p:nvSpPr>
          <p:spPr bwMode="auto">
            <a:xfrm rot="5400000">
              <a:off x="7217857" y="2017622"/>
              <a:ext cx="217368" cy="1887207"/>
            </a:xfrm>
            <a:prstGeom prst="leftBrace">
              <a:avLst>
                <a:gd name="adj1" fmla="val 19749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7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9" grpId="0" bldLvl="0" animBg="1"/>
      <p:bldP spid="7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结构体所占内存的字节数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6839" name="Text Box 7"/>
          <p:cNvSpPr txBox="1">
            <a:spLocks noChangeArrowheads="1"/>
          </p:cNvSpPr>
          <p:nvPr/>
        </p:nvSpPr>
        <p:spPr bwMode="auto">
          <a:xfrm>
            <a:off x="1510665" y="3021965"/>
            <a:ext cx="9202738" cy="1077913"/>
          </a:xfrm>
          <a:prstGeom prst="rect">
            <a:avLst/>
          </a:prstGeom>
          <a:solidFill>
            <a:schemeClr val="bg2"/>
          </a:solidFill>
          <a:ln w="38100">
            <a:solidFill>
              <a:srgbClr val="33CC33"/>
            </a:solidFill>
            <a:miter lim="800000"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位体系结构中，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值被对齐在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字节地址边界，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保证了一个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型数总能通过一次内存操作被访问到，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每次内存访问是在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字节对齐的地址处读取或存入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32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位整数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0" name="Text Box 7"/>
          <p:cNvSpPr txBox="1">
            <a:spLocks noChangeArrowheads="1"/>
          </p:cNvSpPr>
          <p:nvPr/>
        </p:nvSpPr>
        <p:spPr bwMode="auto">
          <a:xfrm>
            <a:off x="1510665" y="4317365"/>
            <a:ext cx="9202738" cy="646113"/>
          </a:xfrm>
          <a:prstGeom prst="rect">
            <a:avLst/>
          </a:prstGeom>
          <a:solidFill>
            <a:schemeClr val="bg2"/>
          </a:solidFill>
          <a:ln w="38100">
            <a:solidFill>
              <a:srgbClr val="33CC33"/>
            </a:solidFill>
            <a:miter lim="800000"/>
          </a:ln>
          <a:effectLst>
            <a:outerShdw blurRad="63500" dist="38100" dir="2700000" algn="tl" rotWithShape="0">
              <a:srgbClr val="000000">
                <a:alpha val="39998"/>
              </a:srgbClr>
            </a:outerShdw>
          </a:effec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读取存储在没有对齐的地址处的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32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位整数，需两次内存访问，且从取到的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64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位中提取相关的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32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位需额外的操作，性能下降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9156" name="组合 60"/>
          <p:cNvGrpSpPr/>
          <p:nvPr/>
        </p:nvGrpSpPr>
        <p:grpSpPr>
          <a:xfrm>
            <a:off x="1585278" y="1798003"/>
            <a:ext cx="8408987" cy="1008062"/>
            <a:chOff x="538164" y="2500318"/>
            <a:chExt cx="7761286" cy="1008617"/>
          </a:xfrm>
        </p:grpSpPr>
        <p:grpSp>
          <p:nvGrpSpPr>
            <p:cNvPr id="49175" name="组合 76"/>
            <p:cNvGrpSpPr/>
            <p:nvPr/>
          </p:nvGrpSpPr>
          <p:grpSpPr>
            <a:xfrm>
              <a:off x="538164" y="2500318"/>
              <a:ext cx="7761286" cy="1008617"/>
              <a:chOff x="681011" y="2976569"/>
              <a:chExt cx="7761607" cy="1008067"/>
            </a:xfrm>
          </p:grpSpPr>
          <p:grpSp>
            <p:nvGrpSpPr>
              <p:cNvPr id="49178" name="Group 48"/>
              <p:cNvGrpSpPr/>
              <p:nvPr/>
            </p:nvGrpSpPr>
            <p:grpSpPr>
              <a:xfrm>
                <a:off x="681011" y="2976569"/>
                <a:ext cx="5876917" cy="1008067"/>
                <a:chOff x="364" y="1630"/>
                <a:chExt cx="3702" cy="635"/>
              </a:xfrm>
            </p:grpSpPr>
            <p:sp>
              <p:nvSpPr>
                <p:cNvPr id="3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364" y="1645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m1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4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3612" y="1630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m3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5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581" y="1648"/>
                  <a:ext cx="454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r>
                    <a:rPr kumimoji="0" lang="en-US" altLang="zh-CN" b="1" kern="1200" cap="none" spc="0" normalizeH="0" baseline="0" noProof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urier New" panose="02070309020205020404" pitchFamily="49" charset="0"/>
                      <a:ea typeface="宋体" panose="02010600030101010101" pitchFamily="2" charset="-122"/>
                      <a:cs typeface="+mn-cs"/>
                    </a:rPr>
                    <a:t>m2</a:t>
                  </a:r>
                  <a:endParaRPr kumimoji="0" lang="en-US" altLang="zh-CN" b="1" kern="1200" cap="none" spc="0" normalizeH="0" baseline="0" noProof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49198" name="Group 47"/>
                <p:cNvGrpSpPr/>
                <p:nvPr/>
              </p:nvGrpSpPr>
              <p:grpSpPr>
                <a:xfrm>
                  <a:off x="385" y="1822"/>
                  <a:ext cx="3666" cy="443"/>
                  <a:chOff x="385" y="1822"/>
                  <a:chExt cx="3666" cy="443"/>
                </a:xfrm>
              </p:grpSpPr>
              <p:grpSp>
                <p:nvGrpSpPr>
                  <p:cNvPr id="49199" name="Group 17"/>
                  <p:cNvGrpSpPr/>
                  <p:nvPr/>
                </p:nvGrpSpPr>
                <p:grpSpPr>
                  <a:xfrm>
                    <a:off x="385" y="2029"/>
                    <a:ext cx="3666" cy="233"/>
                    <a:chOff x="431" y="1576"/>
                    <a:chExt cx="3666" cy="233"/>
                  </a:xfrm>
                </p:grpSpPr>
                <p:sp>
                  <p:nvSpPr>
                    <p:cNvPr id="4" name="Text Box 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1" y="1576"/>
                      <a:ext cx="408" cy="233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7" name="Text Box 1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89" y="1576"/>
                      <a:ext cx="408" cy="233"/>
                    </a:xfrm>
                    <a:prstGeom prst="rect">
                      <a:avLst/>
                    </a:prstGeom>
                    <a:solidFill>
                      <a:schemeClr val="bg2">
                        <a:lumMod val="90000"/>
                      </a:schemeClr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8" name="Text Box 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243" y="1576"/>
                      <a:ext cx="408" cy="23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9" name="Text Box 1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64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" name="Text Box 1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466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1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874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2" name="Text Box 1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81" y="1576"/>
                      <a:ext cx="408" cy="233"/>
                    </a:xfrm>
                    <a:prstGeom prst="rect">
                      <a:avLst/>
                    </a:prstGeom>
                    <a:solidFill>
                      <a:srgbClr val="CCFFCC"/>
                    </a:solidFill>
                    <a:ln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:ln>
                    <a:effectLst/>
                  </p:spPr>
                  <p:txBody>
                    <a:bodyPr>
                      <a:spAutoFit/>
                    </a:bodyPr>
                    <a:lstStyle/>
                    <a:p>
                      <a:pPr marR="0" defTabSz="914400" eaLnBrk="1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90"/>
                        </a:spcAft>
                        <a:buClr>
                          <a:schemeClr val="tx2"/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zh-CN" b="1" kern="1200" cap="none" spc="0" normalizeH="0" baseline="0" noProof="0"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ourier New" panose="02070309020205020404" pitchFamily="49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118" name="AutoShape 31"/>
                  <p:cNvSpPr/>
                  <p:nvPr/>
                </p:nvSpPr>
                <p:spPr bwMode="auto">
                  <a:xfrm rot="5400000">
                    <a:off x="553" y="1751"/>
                    <a:ext cx="72" cy="366"/>
                  </a:xfrm>
                  <a:prstGeom prst="leftBrace">
                    <a:avLst>
                      <a:gd name="adj1" fmla="val 44485"/>
                      <a:gd name="adj2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AutoShape 32"/>
                  <p:cNvSpPr/>
                  <p:nvPr/>
                </p:nvSpPr>
                <p:spPr bwMode="auto">
                  <a:xfrm rot="5400000">
                    <a:off x="2754" y="1122"/>
                    <a:ext cx="145" cy="1541"/>
                  </a:xfrm>
                  <a:prstGeom prst="leftBrace">
                    <a:avLst>
                      <a:gd name="adj1" fmla="val 88621"/>
                      <a:gd name="adj2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AutoShape 34"/>
                  <p:cNvSpPr/>
                  <p:nvPr/>
                </p:nvSpPr>
                <p:spPr bwMode="auto">
                  <a:xfrm rot="5400000">
                    <a:off x="3825" y="1721"/>
                    <a:ext cx="99" cy="330"/>
                  </a:xfrm>
                  <a:prstGeom prst="leftBrace">
                    <a:avLst>
                      <a:gd name="adj1" fmla="val 19749"/>
                      <a:gd name="adj2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33" y="2024"/>
                    <a:ext cx="375" cy="24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1197" y="2024"/>
                    <a:ext cx="410" cy="24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90000"/>
                      </a:lnSpc>
                      <a:spcBef>
                        <a:spcPts val="590"/>
                      </a:spcBef>
                      <a:spcAft>
                        <a:spcPts val="590"/>
                      </a:spcAft>
                      <a:buClr>
                        <a:schemeClr val="tx2"/>
                      </a:buClr>
                      <a:buSzPct val="80000"/>
                      <a:buFontTx/>
                      <a:buNone/>
                      <a:defRPr/>
                    </a:pPr>
                    <a:endParaRPr kumimoji="0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9179" name="组合 75"/>
              <p:cNvGrpSpPr/>
              <p:nvPr/>
            </p:nvGrpSpPr>
            <p:grpSpPr>
              <a:xfrm>
                <a:off x="1357972" y="3595697"/>
                <a:ext cx="7084646" cy="388939"/>
                <a:chOff x="1357972" y="3595697"/>
                <a:chExt cx="7084646" cy="388939"/>
              </a:xfrm>
            </p:grpSpPr>
            <p:sp>
              <p:nvSpPr>
                <p:cNvPr id="6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645956" y="3609984"/>
                  <a:ext cx="647655" cy="36989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2654748" y="3602047"/>
                  <a:ext cx="637399" cy="38258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Line 46"/>
                <p:cNvSpPr>
                  <a:spLocks noChangeShapeType="1"/>
                </p:cNvSpPr>
                <p:nvPr/>
              </p:nvSpPr>
              <p:spPr bwMode="auto">
                <a:xfrm>
                  <a:off x="2644491" y="3616334"/>
                  <a:ext cx="674030" cy="36830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359437" y="3608397"/>
                  <a:ext cx="647655" cy="36988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1391673" y="3600459"/>
                  <a:ext cx="613954" cy="38417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Line 46"/>
                <p:cNvSpPr>
                  <a:spLocks noChangeShapeType="1"/>
                </p:cNvSpPr>
                <p:nvPr/>
              </p:nvSpPr>
              <p:spPr bwMode="auto">
                <a:xfrm>
                  <a:off x="1357972" y="3600459"/>
                  <a:ext cx="631537" cy="38417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6517235" y="3608397"/>
                  <a:ext cx="647655" cy="36988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4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6509909" y="3600459"/>
                  <a:ext cx="653517" cy="38417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Line 46"/>
                <p:cNvSpPr>
                  <a:spLocks noChangeShapeType="1"/>
                </p:cNvSpPr>
                <p:nvPr/>
              </p:nvSpPr>
              <p:spPr bwMode="auto">
                <a:xfrm>
                  <a:off x="6515770" y="3600459"/>
                  <a:ext cx="657912" cy="38417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151704" y="3603634"/>
                  <a:ext cx="647655" cy="36989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7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7173682" y="3595697"/>
                  <a:ext cx="624211" cy="3889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Line 46"/>
                <p:cNvSpPr>
                  <a:spLocks noChangeShapeType="1"/>
                </p:cNvSpPr>
                <p:nvPr/>
              </p:nvSpPr>
              <p:spPr bwMode="auto">
                <a:xfrm>
                  <a:off x="7150238" y="3595697"/>
                  <a:ext cx="622746" cy="3889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794963" y="3603634"/>
                  <a:ext cx="647655" cy="36989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</p:spPr>
              <p:txBody>
                <a:bodyPr>
                  <a:spAutoFit/>
                </a:bodyPr>
                <a:lstStyle/>
                <a:p>
                  <a:pPr marR="0" defTabSz="914400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en-US" altLang="zh-CN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urier New" panose="02070309020205020404" pitchFamily="49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7772984" y="3595697"/>
                  <a:ext cx="668169" cy="3889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Line 46"/>
                <p:cNvSpPr>
                  <a:spLocks noChangeShapeType="1"/>
                </p:cNvSpPr>
                <p:nvPr/>
              </p:nvSpPr>
              <p:spPr bwMode="auto">
                <a:xfrm>
                  <a:off x="7793498" y="3595697"/>
                  <a:ext cx="643259" cy="3889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90000"/>
                    </a:lnSpc>
                    <a:spcBef>
                      <a:spcPts val="590"/>
                    </a:spcBef>
                    <a:spcAft>
                      <a:spcPts val="590"/>
                    </a:spcAft>
                    <a:buClr>
                      <a:schemeClr val="tx2"/>
                    </a:buClr>
                    <a:buSzPct val="80000"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63" name="AutoShape 34"/>
            <p:cNvSpPr/>
            <p:nvPr/>
          </p:nvSpPr>
          <p:spPr bwMode="auto">
            <a:xfrm rot="5400000">
              <a:off x="2079201" y="2018137"/>
              <a:ext cx="217607" cy="1887207"/>
            </a:xfrm>
            <a:prstGeom prst="leftBrace">
              <a:avLst>
                <a:gd name="adj1" fmla="val 19749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AutoShape 34"/>
            <p:cNvSpPr/>
            <p:nvPr/>
          </p:nvSpPr>
          <p:spPr bwMode="auto">
            <a:xfrm rot="5400000">
              <a:off x="7217738" y="2018137"/>
              <a:ext cx="217607" cy="1887207"/>
            </a:xfrm>
            <a:prstGeom prst="leftBrace">
              <a:avLst>
                <a:gd name="adj1" fmla="val 19749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43"/>
          <p:cNvGrpSpPr/>
          <p:nvPr/>
        </p:nvGrpSpPr>
        <p:grpSpPr>
          <a:xfrm>
            <a:off x="4196715" y="4966653"/>
            <a:ext cx="4279900" cy="974725"/>
            <a:chOff x="371" y="917"/>
            <a:chExt cx="2489" cy="614"/>
          </a:xfrm>
        </p:grpSpPr>
        <p:grpSp>
          <p:nvGrpSpPr>
            <p:cNvPr id="49162" name="Group 27"/>
            <p:cNvGrpSpPr/>
            <p:nvPr/>
          </p:nvGrpSpPr>
          <p:grpSpPr>
            <a:xfrm>
              <a:off x="385" y="1298"/>
              <a:ext cx="2449" cy="233"/>
              <a:chOff x="567" y="941"/>
              <a:chExt cx="2449" cy="233"/>
            </a:xfrm>
          </p:grpSpPr>
          <p:sp>
            <p:nvSpPr>
              <p:cNvPr id="53" name="Text Box 19"/>
              <p:cNvSpPr txBox="1">
                <a:spLocks noChangeArrowheads="1"/>
              </p:cNvSpPr>
              <p:nvPr/>
            </p:nvSpPr>
            <p:spPr bwMode="auto">
              <a:xfrm>
                <a:off x="567" y="941"/>
                <a:ext cx="408" cy="23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Text Box 20"/>
              <p:cNvSpPr txBox="1">
                <a:spLocks noChangeArrowheads="1"/>
              </p:cNvSpPr>
              <p:nvPr/>
            </p:nvSpPr>
            <p:spPr bwMode="auto">
              <a:xfrm>
                <a:off x="2608" y="941"/>
                <a:ext cx="408" cy="23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Text Box 23"/>
              <p:cNvSpPr txBox="1">
                <a:spLocks noChangeArrowheads="1"/>
              </p:cNvSpPr>
              <p:nvPr/>
            </p:nvSpPr>
            <p:spPr bwMode="auto">
              <a:xfrm>
                <a:off x="979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" name="Text Box 24"/>
              <p:cNvSpPr txBox="1">
                <a:spLocks noChangeArrowheads="1"/>
              </p:cNvSpPr>
              <p:nvPr/>
            </p:nvSpPr>
            <p:spPr bwMode="auto">
              <a:xfrm>
                <a:off x="1388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Text Box 25"/>
              <p:cNvSpPr txBox="1">
                <a:spLocks noChangeArrowheads="1"/>
              </p:cNvSpPr>
              <p:nvPr/>
            </p:nvSpPr>
            <p:spPr bwMode="auto">
              <a:xfrm>
                <a:off x="1796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Text Box 26"/>
              <p:cNvSpPr txBox="1">
                <a:spLocks noChangeArrowheads="1"/>
              </p:cNvSpPr>
              <p:nvPr/>
            </p:nvSpPr>
            <p:spPr bwMode="auto">
              <a:xfrm>
                <a:off x="2205" y="941"/>
                <a:ext cx="408" cy="233"/>
              </a:xfrm>
              <a:prstGeom prst="rect">
                <a:avLst/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>
                <a:spAutoFit/>
              </a:bodyPr>
              <a:lstStyle/>
              <a:p>
                <a:pPr marR="0" defTabSz="914400" eaLnBrk="1" hangingPunct="1">
                  <a:lnSpc>
                    <a:spcPct val="90000"/>
                  </a:lnSpc>
                  <a:spcBef>
                    <a:spcPct val="50000"/>
                  </a:spcBef>
                  <a:spcAft>
                    <a:spcPts val="590"/>
                  </a:spcAft>
                  <a:buClr>
                    <a:schemeClr val="tx2"/>
                  </a:buClr>
                  <a:buSzPct val="80000"/>
                  <a:buFontTx/>
                  <a:buNone/>
                  <a:defRPr/>
                </a:pPr>
                <a:endPara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163" name="AutoShape 28"/>
            <p:cNvSpPr/>
            <p:nvPr/>
          </p:nvSpPr>
          <p:spPr>
            <a:xfrm rot="5400000">
              <a:off x="566" y="1001"/>
              <a:ext cx="75" cy="378"/>
            </a:xfrm>
            <a:prstGeom prst="leftBrace">
              <a:avLst>
                <a:gd name="adj1" fmla="val 44450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rot="10800000" vert="eaVert" wrap="none" anchor="ctr" anchorCtr="0"/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164" name="AutoShape 29"/>
            <p:cNvSpPr/>
            <p:nvPr/>
          </p:nvSpPr>
          <p:spPr>
            <a:xfrm rot="5400000">
              <a:off x="1535" y="389"/>
              <a:ext cx="145" cy="1542"/>
            </a:xfrm>
            <a:prstGeom prst="leftBrace">
              <a:avLst>
                <a:gd name="adj1" fmla="val 88522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rot="10800000" vert="eaVert" wrap="none" anchor="ctr" anchorCtr="0"/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165" name="AutoShape 30"/>
            <p:cNvSpPr/>
            <p:nvPr/>
          </p:nvSpPr>
          <p:spPr>
            <a:xfrm rot="5400000">
              <a:off x="2607" y="1017"/>
              <a:ext cx="93" cy="362"/>
            </a:xfrm>
            <a:prstGeom prst="leftBrace">
              <a:avLst>
                <a:gd name="adj1" fmla="val 18182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headEnd type="none" w="sm" len="sm"/>
              <a:tailEnd type="none" w="sm" len="sm"/>
            </a:ln>
          </p:spPr>
          <p:txBody>
            <a:bodyPr rot="10800000" vert="eaVert" wrap="none" anchor="ctr" anchorCtr="0"/>
            <a:lstStyle/>
            <a:p>
              <a: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</a:pP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0" name="Text Box 35"/>
            <p:cNvSpPr txBox="1">
              <a:spLocks noChangeArrowheads="1"/>
            </p:cNvSpPr>
            <p:nvPr/>
          </p:nvSpPr>
          <p:spPr bwMode="auto">
            <a:xfrm>
              <a:off x="371" y="946"/>
              <a:ext cx="454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m1</a:t>
              </a:r>
              <a:endPara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Text Box 36"/>
            <p:cNvSpPr txBox="1">
              <a:spLocks noChangeArrowheads="1"/>
            </p:cNvSpPr>
            <p:nvPr/>
          </p:nvSpPr>
          <p:spPr bwMode="auto">
            <a:xfrm>
              <a:off x="1371" y="917"/>
              <a:ext cx="454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m2</a:t>
              </a:r>
              <a:endPara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Text Box 37"/>
            <p:cNvSpPr txBox="1">
              <a:spLocks noChangeArrowheads="1"/>
            </p:cNvSpPr>
            <p:nvPr/>
          </p:nvSpPr>
          <p:spPr bwMode="auto">
            <a:xfrm>
              <a:off x="2406" y="946"/>
              <a:ext cx="454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marR="0" defTabSz="914400">
                <a:lnSpc>
                  <a:spcPct val="90000"/>
                </a:lnSpc>
                <a:spcBef>
                  <a:spcPct val="5000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  <a:ea typeface="宋体" panose="02010600030101010101" pitchFamily="2" charset="-122"/>
                  <a:cs typeface="+mn-cs"/>
                </a:rPr>
                <a:t>m3</a:t>
              </a:r>
              <a:endParaRPr kumimoji="0" lang="en-US" altLang="zh-CN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9159" name="Rectangle 3"/>
          <p:cNvSpPr txBox="1"/>
          <p:nvPr/>
        </p:nvSpPr>
        <p:spPr>
          <a:xfrm>
            <a:off x="1405890" y="1077278"/>
            <a:ext cx="7502525" cy="6492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为什么要满足内存对齐的要求呢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 ?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7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9" grpId="0" bldLvl="0" animBg="1"/>
      <p:bldP spid="110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结构体深拷贝</a:t>
            </a: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浅拷贝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401"/>
          <a:stretch>
            <a:fillRect/>
          </a:stretch>
        </p:blipFill>
        <p:spPr>
          <a:xfrm>
            <a:off x="881380" y="1621155"/>
            <a:ext cx="2280285" cy="2048510"/>
          </a:xfrm>
          <a:prstGeom prst="rect">
            <a:avLst/>
          </a:prstGeom>
        </p:spPr>
      </p:pic>
      <p:sp>
        <p:nvSpPr>
          <p:cNvPr id="49159" name="Rectangle 3"/>
          <p:cNvSpPr txBox="1"/>
          <p:nvPr/>
        </p:nvSpPr>
        <p:spPr>
          <a:xfrm>
            <a:off x="925830" y="971868"/>
            <a:ext cx="7502525" cy="6492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考虑如下结构体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55" y="5181600"/>
            <a:ext cx="10375265" cy="1349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420" y="832485"/>
            <a:ext cx="3902075" cy="27489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251585" y="5472430"/>
            <a:ext cx="1562100" cy="518795"/>
          </a:xfrm>
          <a:prstGeom prst="rect">
            <a:avLst/>
          </a:prstGeom>
          <a:noFill/>
          <a:ln w="63500" cmpd="sng">
            <a:solidFill>
              <a:srgbClr val="FFFF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51585" y="6109970"/>
            <a:ext cx="1562100" cy="465455"/>
          </a:xfrm>
          <a:prstGeom prst="rect">
            <a:avLst/>
          </a:prstGeom>
          <a:noFill/>
          <a:ln w="63500" cmpd="sng">
            <a:solidFill>
              <a:srgbClr val="FFFF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698240" y="5472430"/>
            <a:ext cx="1598930" cy="415925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698240" y="6065520"/>
            <a:ext cx="1599565" cy="466090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082030" y="5420995"/>
            <a:ext cx="1562100" cy="518795"/>
          </a:xfrm>
          <a:prstGeom prst="rect">
            <a:avLst/>
          </a:prstGeom>
          <a:noFill/>
          <a:ln w="63500" cmpd="sng">
            <a:solidFill>
              <a:srgbClr val="FFFF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082030" y="6056630"/>
            <a:ext cx="1562100" cy="518795"/>
          </a:xfrm>
          <a:prstGeom prst="rect">
            <a:avLst/>
          </a:prstGeom>
          <a:noFill/>
          <a:ln w="63500" cmpd="sng">
            <a:solidFill>
              <a:srgbClr val="FFFF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标注 13"/>
          <p:cNvSpPr/>
          <p:nvPr/>
        </p:nvSpPr>
        <p:spPr>
          <a:xfrm>
            <a:off x="981710" y="3607435"/>
            <a:ext cx="10361295" cy="1354455"/>
          </a:xfrm>
          <a:prstGeom prst="wedgeRoundRectCallout">
            <a:avLst>
              <a:gd name="adj1" fmla="val -38288"/>
              <a:gd name="adj2" fmla="val 82630"/>
              <a:gd name="adj3" fmla="val 16667"/>
            </a:avLst>
          </a:prstGeom>
          <a:noFill/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33170" y="3719195"/>
            <a:ext cx="98183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、赋值前后，两个结构体的变量自身的地址不变、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age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成员的地址不变</a:t>
            </a:r>
            <a:endParaRPr lang="zh-CN" altLang="en-US" sz="20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、赋值前，两个结构体成员的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name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不同，但是赋值后，都变成了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00007FFB8D74057,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说明他们指向的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内存相同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赋值并没有新开辟内存，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这就是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浅拷贝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5159375"/>
            <a:ext cx="10356215" cy="1372235"/>
          </a:xfrm>
          <a:prstGeom prst="rect">
            <a:avLst/>
          </a:prstGeom>
        </p:spPr>
      </p:pic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结构体深拷贝</a:t>
            </a: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浅拷贝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7401"/>
          <a:stretch>
            <a:fillRect/>
          </a:stretch>
        </p:blipFill>
        <p:spPr>
          <a:xfrm>
            <a:off x="881380" y="1621155"/>
            <a:ext cx="2280285" cy="2048510"/>
          </a:xfrm>
          <a:prstGeom prst="rect">
            <a:avLst/>
          </a:prstGeom>
        </p:spPr>
      </p:pic>
      <p:sp>
        <p:nvSpPr>
          <p:cNvPr id="49159" name="Rectangle 3"/>
          <p:cNvSpPr txBox="1"/>
          <p:nvPr/>
        </p:nvSpPr>
        <p:spPr>
          <a:xfrm>
            <a:off x="925830" y="971868"/>
            <a:ext cx="7502525" cy="6492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>
              <a:lnSpc>
                <a:spcPct val="120000"/>
              </a:lnSpc>
              <a:spcBef>
                <a:spcPts val="6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考虑如下结构体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97605" y="5369560"/>
            <a:ext cx="1543685" cy="474980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641725" y="5998210"/>
            <a:ext cx="1696085" cy="466090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标注 13"/>
          <p:cNvSpPr/>
          <p:nvPr/>
        </p:nvSpPr>
        <p:spPr>
          <a:xfrm>
            <a:off x="981710" y="3607435"/>
            <a:ext cx="10361295" cy="1354455"/>
          </a:xfrm>
          <a:prstGeom prst="wedgeRoundRectCallout">
            <a:avLst>
              <a:gd name="adj1" fmla="val -14766"/>
              <a:gd name="adj2" fmla="val 71659"/>
              <a:gd name="adj3" fmla="val 16667"/>
            </a:avLst>
          </a:prstGeom>
          <a:noFill/>
          <a:ln w="3810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33170" y="3719195"/>
            <a:ext cx="98183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深拷贝：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不仅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开辟新的内存空间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，还会把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指针指向的数据也复制一份</a:t>
            </a:r>
            <a:r>
              <a:rPr lang="zh-CN" altLang="en-US"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，让两个结构体完全独立互不影响</a:t>
            </a:r>
            <a:endParaRPr lang="zh-CN" altLang="en-US" sz="20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8649"/>
          <a:stretch>
            <a:fillRect/>
          </a:stretch>
        </p:blipFill>
        <p:spPr>
          <a:xfrm>
            <a:off x="4476115" y="845185"/>
            <a:ext cx="3952240" cy="272288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4625340" y="2162810"/>
            <a:ext cx="3803650" cy="712470"/>
          </a:xfrm>
          <a:prstGeom prst="rect">
            <a:avLst/>
          </a:prstGeom>
          <a:noFill/>
          <a:ln w="635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结构体指针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85800" y="4534853"/>
            <a:ext cx="4954588" cy="37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Before function call:1999/04/23</a:t>
            </a:r>
            <a:endParaRPr kumimoji="1" lang="zh-CN" altLang="en-US" b="1" kern="1200" cap="none" spc="0" normalizeH="0" baseline="0" noProof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62000" y="4863465"/>
            <a:ext cx="480060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After function call:1999/04/23</a:t>
            </a:r>
            <a:endParaRPr kumimoji="1" lang="zh-CN" altLang="en-US" b="1" kern="1200" cap="none" spc="0" normalizeH="0" baseline="0" noProof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41" name="Text Box 2"/>
          <p:cNvSpPr txBox="1"/>
          <p:nvPr/>
        </p:nvSpPr>
        <p:spPr>
          <a:xfrm>
            <a:off x="401638" y="1045528"/>
            <a:ext cx="7056437" cy="3513137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int main()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{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 date d;</a:t>
            </a:r>
            <a:endParaRPr lang="en-US" altLang="zh-CN" sz="1800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d.year = 1999;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d.month = 4;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d.day = 23;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printf("Before function call:%d/%02d/%02d\n",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        d.year, d.month, d.day);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Func(d);</a:t>
            </a:r>
            <a:r>
              <a:rPr lang="en-US" altLang="zh-CN" sz="1800" b="1" dirty="0">
                <a:latin typeface="Courier New" panose="02070309020205020404" pitchFamily="49" charset="0"/>
              </a:rPr>
              <a:t>  /*</a:t>
            </a:r>
            <a:r>
              <a:rPr lang="zh-CN" altLang="en-US" sz="1800" b="1" dirty="0">
                <a:latin typeface="Courier New" panose="02070309020205020404" pitchFamily="49" charset="0"/>
              </a:rPr>
              <a:t>结构体变量作函数实参，传值调用*</a:t>
            </a:r>
            <a:r>
              <a:rPr lang="en-US" altLang="zh-CN" sz="1800" b="1" dirty="0">
                <a:latin typeface="Courier New" panose="02070309020205020404" pitchFamily="49" charset="0"/>
              </a:rPr>
              <a:t>/            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printf("After function call:%d/%02d/%02d\n",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        d.year, d.month, d.day);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return 0;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}</a:t>
            </a:r>
            <a:endParaRPr lang="en-US" altLang="zh-CN" sz="1600" b="1" dirty="0">
              <a:latin typeface="Courier New" panose="02070309020205020404" pitchFamily="49" charset="0"/>
            </a:endParaRPr>
          </a:p>
        </p:txBody>
      </p:sp>
      <p:sp>
        <p:nvSpPr>
          <p:cNvPr id="65542" name="Text Box 2"/>
          <p:cNvSpPr txBox="1"/>
          <p:nvPr/>
        </p:nvSpPr>
        <p:spPr>
          <a:xfrm>
            <a:off x="7727950" y="3015615"/>
            <a:ext cx="4375150" cy="3232150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struct</a:t>
            </a:r>
            <a:r>
              <a:rPr lang="en-US" altLang="zh-CN" b="1" dirty="0">
                <a:latin typeface="Courier New" panose="02070309020205020404" pitchFamily="49" charset="0"/>
              </a:rPr>
              <a:t> date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year;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month;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day;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};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b="1" dirty="0">
                <a:latin typeface="Courier New" panose="02070309020205020404" pitchFamily="49" charset="0"/>
              </a:rPr>
              <a:t> Func(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date p</a:t>
            </a:r>
            <a:r>
              <a:rPr lang="en-US" altLang="zh-CN" b="1" dirty="0">
                <a:latin typeface="Courier New" panose="02070309020205020404" pitchFamily="49" charset="0"/>
              </a:rPr>
              <a:t>)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p.</a:t>
            </a:r>
            <a:r>
              <a:rPr lang="en-US" altLang="zh-CN" b="1" dirty="0">
                <a:latin typeface="Courier New" panose="02070309020205020404" pitchFamily="49" charset="0"/>
              </a:rPr>
              <a:t>year = 2000;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p.</a:t>
            </a:r>
            <a:r>
              <a:rPr lang="en-US" altLang="zh-CN" b="1" dirty="0">
                <a:latin typeface="Courier New" panose="02070309020205020404" pitchFamily="49" charset="0"/>
              </a:rPr>
              <a:t>month = 5;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p.</a:t>
            </a:r>
            <a:r>
              <a:rPr lang="en-US" altLang="zh-CN" b="1" dirty="0">
                <a:latin typeface="Courier New" panose="02070309020205020404" pitchFamily="49" charset="0"/>
              </a:rPr>
              <a:t>day = 22;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}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1841500" y="5315903"/>
            <a:ext cx="3095625" cy="1200150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B05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66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函数对结构体内容的修改不影响原结构体</a:t>
            </a:r>
            <a:endParaRPr lang="zh-CN" altLang="en-US" sz="2400" dirty="0">
              <a:solidFill>
                <a:srgbClr val="000066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</p:txBody>
      </p:sp>
      <p:sp>
        <p:nvSpPr>
          <p:cNvPr id="65545" name="Rectangle 6"/>
          <p:cNvSpPr/>
          <p:nvPr/>
        </p:nvSpPr>
        <p:spPr>
          <a:xfrm>
            <a:off x="7668578" y="860425"/>
            <a:ext cx="2376487" cy="839788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 anchor="ctr" anchorCtr="0"/>
          <a:lstStyle/>
          <a:p>
            <a:pPr>
              <a:lnSpc>
                <a:spcPct val="85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r>
              <a:rPr lang="zh-CN" altLang="en-US" sz="32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结构体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变量</a:t>
            </a:r>
            <a:r>
              <a:rPr lang="zh-CN" altLang="en-US" sz="32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作函数参数</a:t>
            </a:r>
            <a:endParaRPr lang="zh-CN" altLang="en-US" sz="3200" dirty="0">
              <a:solidFill>
                <a:srgbClr val="000066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24750" y="1881505"/>
            <a:ext cx="45783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深拷贝（值传递）</a:t>
            </a:r>
            <a:r>
              <a:rPr lang="en-US" altLang="en-US" sz="2800" b="1">
                <a:solidFill>
                  <a:srgbClr val="FF0000"/>
                </a:solidFill>
              </a:rPr>
              <a:t>→</a:t>
            </a:r>
            <a:r>
              <a:rPr lang="en-US" altLang="zh-CN" sz="2800" b="1">
                <a:solidFill>
                  <a:srgbClr val="FF0000"/>
                </a:solidFill>
              </a:rPr>
              <a:t> </a:t>
            </a:r>
            <a:r>
              <a:rPr lang="zh-CN" altLang="en-US" sz="2800" b="1">
                <a:solidFill>
                  <a:srgbClr val="FF0000"/>
                </a:solidFill>
              </a:rPr>
              <a:t>改不了外面的结构体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结构体指针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587" name="Text Box 2"/>
          <p:cNvSpPr txBox="1"/>
          <p:nvPr/>
        </p:nvSpPr>
        <p:spPr>
          <a:xfrm>
            <a:off x="252413" y="1071245"/>
            <a:ext cx="6911975" cy="3513138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int main()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{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 date d;</a:t>
            </a:r>
            <a:endParaRPr lang="en-US" altLang="zh-CN" sz="1800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d.year = 1999;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d.month = 4;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d.day = 23;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printf("Before function call:%d/%02d/%02d\n",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        d.year, d.month, d.day);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d = Func(d);</a:t>
            </a:r>
            <a:r>
              <a:rPr lang="en-US" altLang="zh-CN" sz="1800" b="1" dirty="0">
                <a:latin typeface="Courier New" panose="02070309020205020404" pitchFamily="49" charset="0"/>
              </a:rPr>
              <a:t> /* </a:t>
            </a:r>
            <a:r>
              <a:rPr lang="zh-CN" altLang="en-US" sz="1800" b="1" dirty="0">
                <a:latin typeface="Courier New" panose="02070309020205020404" pitchFamily="49" charset="0"/>
              </a:rPr>
              <a:t>结构体变量作函数实参，传值调用 *</a:t>
            </a:r>
            <a:r>
              <a:rPr lang="en-US" altLang="zh-CN" sz="1800" b="1" dirty="0">
                <a:latin typeface="Courier New" panose="02070309020205020404" pitchFamily="49" charset="0"/>
              </a:rPr>
              <a:t>/            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printf("After function call:%d/%02d/%02d\n",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        d.year, d.month, d.day);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return 0;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}</a:t>
            </a:r>
            <a:endParaRPr lang="en-US" altLang="zh-CN" sz="1600" b="1" dirty="0">
              <a:latin typeface="Courier New" panose="02070309020205020404" pitchFamily="49" charset="0"/>
            </a:endParaRPr>
          </a:p>
        </p:txBody>
      </p:sp>
      <p:sp>
        <p:nvSpPr>
          <p:cNvPr id="67588" name="Text Box 2"/>
          <p:cNvSpPr txBox="1"/>
          <p:nvPr/>
        </p:nvSpPr>
        <p:spPr>
          <a:xfrm>
            <a:off x="7021513" y="2641283"/>
            <a:ext cx="4930775" cy="3413125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struct</a:t>
            </a:r>
            <a:r>
              <a:rPr lang="en-US" altLang="zh-CN" b="1" dirty="0">
                <a:latin typeface="Courier New" panose="02070309020205020404" pitchFamily="49" charset="0"/>
              </a:rPr>
              <a:t> date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year;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month;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day;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};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 date </a:t>
            </a:r>
            <a:r>
              <a:rPr lang="en-US" altLang="zh-CN" b="1" dirty="0">
                <a:latin typeface="Courier New" panose="02070309020205020404" pitchFamily="49" charset="0"/>
              </a:rPr>
              <a:t>Func(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date p</a:t>
            </a:r>
            <a:r>
              <a:rPr lang="en-US" altLang="zh-CN" b="1" dirty="0">
                <a:latin typeface="Courier New" panose="02070309020205020404" pitchFamily="49" charset="0"/>
              </a:rPr>
              <a:t>)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p.</a:t>
            </a:r>
            <a:r>
              <a:rPr lang="en-US" altLang="zh-CN" b="1" dirty="0">
                <a:latin typeface="Courier New" panose="02070309020205020404" pitchFamily="49" charset="0"/>
              </a:rPr>
              <a:t>year = 2000;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p.</a:t>
            </a:r>
            <a:r>
              <a:rPr lang="en-US" altLang="zh-CN" b="1" dirty="0">
                <a:latin typeface="Courier New" panose="02070309020205020404" pitchFamily="49" charset="0"/>
              </a:rPr>
              <a:t>month = 5;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p.</a:t>
            </a:r>
            <a:r>
              <a:rPr lang="en-US" altLang="zh-CN" b="1" dirty="0">
                <a:latin typeface="Courier New" panose="02070309020205020404" pitchFamily="49" charset="0"/>
              </a:rPr>
              <a:t>day = 22;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   return p;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3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}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2368550" y="4624070"/>
            <a:ext cx="3278188" cy="1754188"/>
          </a:xfrm>
          <a:prstGeom prst="rect">
            <a:avLst/>
          </a:prstGeom>
          <a:solidFill>
            <a:schemeClr val="bg2"/>
          </a:solidFill>
          <a:ln w="38100" cap="flat" cmpd="sng">
            <a:solidFill>
              <a:srgbClr val="00B05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66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返回结构体变量的值</a:t>
            </a:r>
            <a:endParaRPr lang="zh-CN" altLang="en-US" sz="2400" dirty="0">
              <a:solidFill>
                <a:srgbClr val="000066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0066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也可以得到修改的结构体内容，但效率低</a:t>
            </a:r>
            <a:endParaRPr lang="zh-CN" altLang="en-US" sz="2400" dirty="0">
              <a:solidFill>
                <a:srgbClr val="000066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结构体指针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553528" y="5912168"/>
            <a:ext cx="4457700" cy="347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Before function call:1999/04/23</a:t>
            </a:r>
            <a:endParaRPr kumimoji="1" lang="zh-CN" altLang="en-US" b="1" kern="1200" cap="none" spc="0" normalizeH="0" baseline="0" noProof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53528" y="6259830"/>
            <a:ext cx="4457700" cy="349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After function call:</a:t>
            </a:r>
            <a:r>
              <a:rPr kumimoji="1" lang="en-US" altLang="zh-CN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 2000/05/22</a:t>
            </a:r>
            <a:endParaRPr kumimoji="1" lang="zh-CN" altLang="en-US" b="1" kern="1200" cap="none" spc="0" normalizeH="0" baseline="0" noProof="0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anose="020703090202050204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6" name="Rectangle 6"/>
          <p:cNvSpPr/>
          <p:nvPr/>
        </p:nvSpPr>
        <p:spPr>
          <a:xfrm>
            <a:off x="7936865" y="937895"/>
            <a:ext cx="2376488" cy="839788"/>
          </a:xfrm>
          <a:prstGeom prst="rect">
            <a:avLst/>
          </a:prstGeom>
          <a:noFill/>
          <a:ln w="9525">
            <a:noFill/>
          </a:ln>
        </p:spPr>
        <p:txBody>
          <a:bodyPr lIns="92075" tIns="46037" rIns="92075" bIns="46037" anchor="ctr" anchorCtr="0"/>
          <a:lstStyle/>
          <a:p>
            <a:pPr>
              <a:lnSpc>
                <a:spcPct val="85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r>
              <a:rPr lang="zh-CN" altLang="en-US" sz="32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结构体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指针</a:t>
            </a:r>
            <a:b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zh-CN" altLang="en-US" sz="3200" dirty="0">
                <a:solidFill>
                  <a:srgbClr val="000066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作函数参数</a:t>
            </a:r>
            <a:endParaRPr lang="zh-CN" altLang="en-US" sz="3200" dirty="0">
              <a:solidFill>
                <a:srgbClr val="000066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9637" name="Text Box 2"/>
          <p:cNvSpPr txBox="1"/>
          <p:nvPr/>
        </p:nvSpPr>
        <p:spPr>
          <a:xfrm>
            <a:off x="759778" y="1044893"/>
            <a:ext cx="7056437" cy="377983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int main()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{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 date d;</a:t>
            </a:r>
            <a:endParaRPr lang="en-US" altLang="zh-CN" sz="1800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d.year = 1999;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d.month = 4;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d.day = 23;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printf("Before function call:%d/%02d/%02d\n",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        d.year, d.month, d.day);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Func( &amp;d );</a:t>
            </a:r>
            <a:r>
              <a:rPr lang="en-US" altLang="zh-CN" sz="1800" b="1" dirty="0">
                <a:latin typeface="Courier New" panose="02070309020205020404" pitchFamily="49" charset="0"/>
              </a:rPr>
              <a:t> /*</a:t>
            </a:r>
            <a:r>
              <a:rPr lang="zh-CN" altLang="en-US" sz="1800" b="1" dirty="0">
                <a:latin typeface="Courier New" panose="02070309020205020404" pitchFamily="49" charset="0"/>
              </a:rPr>
              <a:t>结构体变量</a:t>
            </a:r>
            <a:r>
              <a:rPr lang="zh-CN" altLang="en-US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的地址</a:t>
            </a:r>
            <a:r>
              <a:rPr lang="zh-CN" altLang="en-US" sz="1800" b="1" dirty="0">
                <a:latin typeface="Courier New" panose="02070309020205020404" pitchFamily="49" charset="0"/>
              </a:rPr>
              <a:t>作函数实参，传地址调用 *</a:t>
            </a:r>
            <a:r>
              <a:rPr lang="en-US" altLang="zh-CN" sz="1800" b="1" dirty="0">
                <a:latin typeface="Courier New" panose="02070309020205020404" pitchFamily="49" charset="0"/>
              </a:rPr>
              <a:t>/            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printf("After function call:%d/%02d/%02d\n", 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        d.year, d.month, d.day);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  return 0;</a:t>
            </a:r>
            <a:endParaRPr lang="en-US" altLang="zh-CN" sz="1800" b="1" dirty="0">
              <a:latin typeface="Courier New" panose="02070309020205020404" pitchFamily="49" charset="0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sz="1800" b="1" dirty="0">
                <a:latin typeface="Courier New" panose="02070309020205020404" pitchFamily="49" charset="0"/>
              </a:rPr>
              <a:t>}</a:t>
            </a:r>
            <a:endParaRPr lang="en-US" altLang="zh-CN" sz="1600" b="1" dirty="0">
              <a:latin typeface="Courier New" panose="02070309020205020404" pitchFamily="49" charset="0"/>
            </a:endParaRPr>
          </a:p>
        </p:txBody>
      </p:sp>
      <p:sp>
        <p:nvSpPr>
          <p:cNvPr id="69638" name="Text Box 2"/>
          <p:cNvSpPr txBox="1"/>
          <p:nvPr/>
        </p:nvSpPr>
        <p:spPr>
          <a:xfrm>
            <a:off x="7379653" y="3467418"/>
            <a:ext cx="4375150" cy="309086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00B05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struct</a:t>
            </a:r>
            <a:r>
              <a:rPr lang="en-US" altLang="zh-CN" b="1" dirty="0">
                <a:latin typeface="Courier New" panose="02070309020205020404" pitchFamily="49" charset="0"/>
              </a:rPr>
              <a:t> date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year;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month;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</a:t>
            </a: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int</a:t>
            </a:r>
            <a:r>
              <a:rPr lang="en-US" altLang="zh-CN" b="1" dirty="0">
                <a:latin typeface="Courier New" panose="02070309020205020404" pitchFamily="49" charset="0"/>
              </a:rPr>
              <a:t> day;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};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solidFill>
                  <a:srgbClr val="0000CC"/>
                </a:solidFill>
                <a:latin typeface="Courier New" panose="02070309020205020404" pitchFamily="49" charset="0"/>
              </a:rPr>
              <a:t>void</a:t>
            </a:r>
            <a:r>
              <a:rPr lang="en-US" altLang="zh-CN" b="1" dirty="0">
                <a:latin typeface="Courier New" panose="02070309020205020404" pitchFamily="49" charset="0"/>
              </a:rPr>
              <a:t> Func(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date *p</a:t>
            </a:r>
            <a:r>
              <a:rPr lang="en-US" altLang="zh-CN" b="1" dirty="0">
                <a:latin typeface="Courier New" panose="02070309020205020404" pitchFamily="49" charset="0"/>
              </a:rPr>
              <a:t>)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{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p-&gt;</a:t>
            </a:r>
            <a:r>
              <a:rPr lang="en-US" altLang="zh-CN" b="1" dirty="0">
                <a:latin typeface="Courier New" panose="02070309020205020404" pitchFamily="49" charset="0"/>
              </a:rPr>
              <a:t>year = 2000;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p-&gt;</a:t>
            </a:r>
            <a:r>
              <a:rPr lang="en-US" altLang="zh-CN" b="1" dirty="0">
                <a:latin typeface="Courier New" panose="02070309020205020404" pitchFamily="49" charset="0"/>
              </a:rPr>
              <a:t>month = 5;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p-&gt;</a:t>
            </a:r>
            <a:r>
              <a:rPr lang="en-US" altLang="zh-CN" b="1" dirty="0">
                <a:latin typeface="Courier New" panose="02070309020205020404" pitchFamily="49" charset="0"/>
              </a:rPr>
              <a:t>day = 22;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buSzPct val="80000"/>
              <a:buFont typeface="Wingdings" panose="05000000000000000000" pitchFamily="2" charset="2"/>
            </a:pPr>
            <a:r>
              <a:rPr lang="en-US" altLang="zh-CN" b="1" dirty="0">
                <a:latin typeface="Courier New" panose="02070309020205020404" pitchFamily="49" charset="0"/>
              </a:rPr>
              <a:t>}</a:t>
            </a:r>
            <a:endParaRPr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13" name="Rectangle 4"/>
          <p:cNvSpPr/>
          <p:nvPr/>
        </p:nvSpPr>
        <p:spPr>
          <a:xfrm>
            <a:off x="1551940" y="4931093"/>
            <a:ext cx="3527425" cy="985837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00B050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rgbClr val="000066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结构体指针作函数形参</a:t>
            </a:r>
            <a:endParaRPr lang="zh-CN" altLang="en-US" sz="2400" dirty="0">
              <a:solidFill>
                <a:srgbClr val="000066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  <a:p>
            <a:pPr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</a:pPr>
            <a:r>
              <a:rPr lang="zh-CN" altLang="en-US" sz="2400" dirty="0">
                <a:solidFill>
                  <a:srgbClr val="000066"/>
                </a:solidFill>
                <a:latin typeface="Courier New" panose="02070309020205020404" pitchFamily="49" charset="0"/>
                <a:ea typeface="黑体" panose="02010609060101010101" pitchFamily="49" charset="-122"/>
              </a:rPr>
              <a:t>实参必须为地址值</a:t>
            </a:r>
            <a:endParaRPr lang="zh-CN" altLang="en-US" sz="2400" dirty="0">
              <a:solidFill>
                <a:srgbClr val="000066"/>
              </a:solidFill>
              <a:latin typeface="Courier New" panose="02070309020205020404" pitchFamily="49" charset="0"/>
              <a:ea typeface="黑体" panose="02010609060101010101" pitchFamily="49" charset="-122"/>
            </a:endParaRPr>
          </a:p>
        </p:txBody>
      </p:sp>
      <p:sp>
        <p:nvSpPr>
          <p:cNvPr id="2" name="Rectangle 59"/>
          <p:cNvSpPr>
            <a:spLocks noChangeArrowheads="1"/>
          </p:cNvSpPr>
          <p:nvPr/>
        </p:nvSpPr>
        <p:spPr bwMode="auto">
          <a:xfrm>
            <a:off x="1705928" y="3181668"/>
            <a:ext cx="781050" cy="231775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Line 9"/>
          <p:cNvSpPr/>
          <p:nvPr/>
        </p:nvSpPr>
        <p:spPr>
          <a:xfrm>
            <a:off x="1912303" y="3413443"/>
            <a:ext cx="358775" cy="1517650"/>
          </a:xfrm>
          <a:prstGeom prst="line">
            <a:avLst/>
          </a:prstGeom>
          <a:ln w="38100" cap="flat" cmpd="sng">
            <a:solidFill>
              <a:srgbClr val="00B05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3" name="Rectangle 59"/>
          <p:cNvSpPr>
            <a:spLocks noChangeArrowheads="1"/>
          </p:cNvSpPr>
          <p:nvPr/>
        </p:nvSpPr>
        <p:spPr bwMode="auto">
          <a:xfrm>
            <a:off x="8740140" y="4972368"/>
            <a:ext cx="2184400" cy="334963"/>
          </a:xfrm>
          <a:prstGeom prst="rect">
            <a:avLst/>
          </a:prstGeom>
          <a:noFill/>
          <a:ln w="38100">
            <a:solidFill>
              <a:srgbClr val="00B05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Line 9"/>
          <p:cNvSpPr/>
          <p:nvPr/>
        </p:nvSpPr>
        <p:spPr>
          <a:xfrm flipH="1">
            <a:off x="5079365" y="5172393"/>
            <a:ext cx="3660775" cy="142875"/>
          </a:xfrm>
          <a:prstGeom prst="line">
            <a:avLst/>
          </a:prstGeom>
          <a:ln w="38100" cap="flat" cmpd="sng">
            <a:solidFill>
              <a:srgbClr val="00B050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11" name="文本框 10"/>
          <p:cNvSpPr txBox="1"/>
          <p:nvPr/>
        </p:nvSpPr>
        <p:spPr>
          <a:xfrm>
            <a:off x="7816215" y="2075815"/>
            <a:ext cx="432435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浅拷贝（地址传递）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→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能修改外面的结构体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 animBg="1"/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结构体指针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135" y="1113155"/>
            <a:ext cx="4032885" cy="41332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27955" y="1162685"/>
            <a:ext cx="6582410" cy="825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为什么左边这段结构体指针传参代码是错的？</a:t>
            </a:r>
            <a:br>
              <a:rPr lang="zh-CN" altLang="en-US"/>
            </a:b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指针值传递</a:t>
            </a:r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2800" b="1">
                <a:solidFill>
                  <a:schemeClr val="accent1">
                    <a:lumMod val="75000"/>
                  </a:schemeClr>
                </a:solidFill>
              </a:rPr>
              <a:t>→</a:t>
            </a:r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sz="2800" b="1">
                <a:solidFill>
                  <a:schemeClr val="accent1">
                    <a:lumMod val="75000"/>
                  </a:schemeClr>
                </a:solidFill>
              </a:rPr>
              <a:t>修改的是副本</a:t>
            </a:r>
            <a:endParaRPr lang="zh-CN" altLang="en-US"/>
          </a:p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13045" y="2449830"/>
            <a:ext cx="1873885" cy="126682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313045" y="2465070"/>
            <a:ext cx="17310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n1 -&gt; NULL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33335" y="2449830"/>
            <a:ext cx="3183890" cy="237744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633335" y="2449830"/>
            <a:ext cx="31832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addnode()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n1(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副本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 -&gt; NULL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n1(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副本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-&gt;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新内存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n1(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副本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-&gt; data = 9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68925" y="4895215"/>
            <a:ext cx="4449445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修改的是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 addnode() 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中的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副本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 n1</a:t>
            </a:r>
            <a:endParaRPr lang="en-US" altLang="zh-CN" sz="20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main() 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中的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 n1 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仍然是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 NULL</a:t>
            </a:r>
            <a:endParaRPr lang="en-US" altLang="zh-CN" sz="20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malloc 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得到的地址丢失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accent1">
                    <a:lumMod val="75000"/>
                  </a:schemeClr>
                </a:solidFill>
              </a:rPr>
              <a:t>→</a:t>
            </a: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</a:rPr>
              <a:t>内存泄漏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9020" y="533400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执行完后：</a:t>
            </a:r>
            <a:endParaRPr lang="zh-CN" altLang="en-US" sz="2400"/>
          </a:p>
          <a:p>
            <a:r>
              <a:rPr lang="en-US" altLang="zh-CN" sz="2400" b="1">
                <a:solidFill>
                  <a:srgbClr val="FF0000"/>
                </a:solidFill>
              </a:rPr>
              <a:t>n1 </a:t>
            </a:r>
            <a:r>
              <a:rPr lang="zh-CN" altLang="en-US" sz="2400" b="1">
                <a:solidFill>
                  <a:srgbClr val="FF0000"/>
                </a:solidFill>
              </a:rPr>
              <a:t>依然是</a:t>
            </a:r>
            <a:r>
              <a:rPr lang="en-US" altLang="zh-CN" sz="2400" b="1">
                <a:solidFill>
                  <a:srgbClr val="FF0000"/>
                </a:solidFill>
              </a:rPr>
              <a:t> NULL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结构体指针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1372870"/>
            <a:ext cx="3835400" cy="12230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05" y="2945130"/>
            <a:ext cx="2749550" cy="21374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635" y="5202555"/>
            <a:ext cx="4507230" cy="927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40680" y="1357630"/>
            <a:ext cx="1873885" cy="126682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40680" y="1372870"/>
            <a:ext cx="17310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n1 -&gt; NULL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60970" y="1357630"/>
            <a:ext cx="3183890" cy="237744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760970" y="1357630"/>
            <a:ext cx="318325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addnode()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n1</a:t>
            </a:r>
            <a:r>
              <a:rPr lang="zh-CN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指针的地址</a:t>
            </a:r>
            <a:endParaRPr lang="en-US" altLang="zh-CN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*n1 -&gt; NULL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*n1 -&gt;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新内存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*n1-&gt; data = 9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40680" y="4249420"/>
            <a:ext cx="52266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main 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中的</a:t>
            </a:r>
            <a:r>
              <a:rPr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n1 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终于被成功修改</a:t>
            </a:r>
            <a:endParaRPr lang="zh-CN" altLang="en-US" sz="2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0"/>
    </mc:Choice>
    <mc:Fallback>
      <p:transition advTm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" name="直接连接符 4"/>
          <p:cNvCxnSpPr/>
          <p:nvPr/>
        </p:nvCxnSpPr>
        <p:spPr>
          <a:xfrm>
            <a:off x="1350620" y="806587"/>
            <a:ext cx="10259505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4"/>
          <p:cNvSpPr txBox="1"/>
          <p:nvPr/>
        </p:nvSpPr>
        <p:spPr>
          <a:xfrm>
            <a:off x="1195714" y="283367"/>
            <a:ext cx="6822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微软雅黑" panose="020B0503020204020204" pitchFamily="34" charset="-122"/>
                <a:sym typeface="+mn-ea"/>
              </a:rPr>
              <a:t>实验题目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03350" y="903605"/>
            <a:ext cx="10152380" cy="1903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+mj-lt"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6001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歌唱比赛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n(n≤100)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名同学参加歌唱比赛，并接受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m(m≤20)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名评委的评分，评分范围是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分。这名同学的得分就是这些评委给分中去掉一个最高分，去掉一个最低分，剩下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m-2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个评分的平均数。请问得分最高的同学分数是多少？评分保留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位小数。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0645" y="2667000"/>
            <a:ext cx="4834255" cy="2445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输入描述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第一行两个整数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n, 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接下来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行，每行各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个整数，表示得分。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【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输入描述</a:t>
            </a:r>
            <a:r>
              <a:rPr lang="en-US" altLang="zh-C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输出分数最高的同学的分数，保留两位小数。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384415" y="2667000"/>
            <a:ext cx="40354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【输入示例】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7 6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4 7 2 6 10 7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0 5 0 10 3 10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2 6 8 4 3 6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6 3 6 7 5 8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5 9 3 3 8 1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5 9 9 3 2 0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5 8 0 4 1 10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【输出示例】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6.00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comb/>
  </p:transition>
</p:sld>
</file>

<file path=ppt/tags/tag1.xml><?xml version="1.0" encoding="utf-8"?>
<p:tagLst xmlns:p="http://schemas.openxmlformats.org/presentationml/2006/main">
  <p:tag name="RESOURCE_RECORD_KEY" val="{&quot;29&quot;:[50000165]}"/>
  <p:tag name="COMMONDATA" val="eyJoZGlkIjoiZjllNGI0YjYwMzZjM2MxYjg3ZTlhOGVkYjk1MDhlNG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3650</Words>
  <Application>WPS 演示</Application>
  <PresentationFormat>宽屏</PresentationFormat>
  <Paragraphs>343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Wingdings</vt:lpstr>
      <vt:lpstr>黑体</vt:lpstr>
      <vt:lpstr>Cambria</vt:lpstr>
      <vt:lpstr>Monotype Sorts</vt:lpstr>
      <vt:lpstr>Courier New</vt:lpstr>
      <vt:lpstr>Times New Roman</vt:lpstr>
      <vt:lpstr>楷体_GB2312</vt:lpstr>
      <vt:lpstr>Franklin Gothic Book</vt:lpstr>
      <vt:lpstr>Calibri</vt:lpstr>
      <vt:lpstr>Arial Unicode MS</vt:lpstr>
      <vt:lpstr>Calibri Light</vt:lpstr>
      <vt:lpstr>新宋体</vt:lpstr>
      <vt:lpstr>Toots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雨虹</cp:lastModifiedBy>
  <cp:revision>779</cp:revision>
  <dcterms:created xsi:type="dcterms:W3CDTF">2016-04-09T13:02:00Z</dcterms:created>
  <dcterms:modified xsi:type="dcterms:W3CDTF">2025-11-30T02:39:57Z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6016C7BFE33A4453B4F6160A246214C9_13</vt:lpwstr>
  </property>
</Properties>
</file>