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notesSlides/notesSlide12.xml" ContentType="application/vnd.openxmlformats-officedocument.presentationml.notesSlid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handoutMasterIdLst>
    <p:handoutMasterId r:id="rId23"/>
  </p:handoutMasterIdLst>
  <p:sldIdLst>
    <p:sldId id="330" r:id="rId2"/>
    <p:sldId id="491" r:id="rId3"/>
    <p:sldId id="492" r:id="rId4"/>
    <p:sldId id="493" r:id="rId5"/>
    <p:sldId id="495" r:id="rId6"/>
    <p:sldId id="510" r:id="rId7"/>
    <p:sldId id="496" r:id="rId8"/>
    <p:sldId id="499" r:id="rId9"/>
    <p:sldId id="503" r:id="rId10"/>
    <p:sldId id="504" r:id="rId11"/>
    <p:sldId id="500" r:id="rId12"/>
    <p:sldId id="505" r:id="rId13"/>
    <p:sldId id="506" r:id="rId14"/>
    <p:sldId id="507" r:id="rId15"/>
    <p:sldId id="508" r:id="rId16"/>
    <p:sldId id="501" r:id="rId17"/>
    <p:sldId id="509" r:id="rId18"/>
    <p:sldId id="511" r:id="rId19"/>
    <p:sldId id="514" r:id="rId20"/>
    <p:sldId id="515" r:id="rId21"/>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1F4E79"/>
    <a:srgbClr val="3D74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46" autoAdjust="0"/>
    <p:restoredTop sz="90339" autoAdjust="0"/>
  </p:normalViewPr>
  <p:slideViewPr>
    <p:cSldViewPr snapToGrid="0" showGuides="1">
      <p:cViewPr varScale="1">
        <p:scale>
          <a:sx n="105" d="100"/>
          <a:sy n="105" d="100"/>
        </p:scale>
        <p:origin x="654"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2025/12/1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28345167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3301BD9-4243-4367-977C-650CCA5948FB}" type="datetimeFigureOut">
              <a:rPr lang="zh-CN" altLang="en-US" smtClean="0"/>
              <a:t>2025/12/1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ACFBAA-4F33-4BF6-B348-50D59E4A3B07}" type="slidenum">
              <a:rPr lang="zh-CN" altLang="en-US" smtClean="0"/>
              <a:t>‹#›</a:t>
            </a:fld>
            <a:endParaRPr lang="zh-CN" altLang="en-US"/>
          </a:p>
        </p:txBody>
      </p:sp>
    </p:spTree>
    <p:extLst>
      <p:ext uri="{BB962C8B-B14F-4D97-AF65-F5344CB8AC3E}">
        <p14:creationId xmlns:p14="http://schemas.microsoft.com/office/powerpoint/2010/main" val="4255452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BB009B3-31E6-4CAF-9FB9-88B4D222EC89}" type="slidenum">
              <a:rPr lang="zh-CN" altLang="en-US" smtClean="0"/>
              <a:t>1</a:t>
            </a:fld>
            <a:endParaRPr lang="zh-CN" altLang="en-US"/>
          </a:p>
        </p:txBody>
      </p:sp>
    </p:spTree>
    <p:extLst>
      <p:ext uri="{BB962C8B-B14F-4D97-AF65-F5344CB8AC3E}">
        <p14:creationId xmlns:p14="http://schemas.microsoft.com/office/powerpoint/2010/main" val="6638713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FACFBAA-4F33-4BF6-B348-50D59E4A3B07}" type="slidenum">
              <a:rPr lang="zh-CN" altLang="en-US" smtClean="0"/>
              <a:t>2</a:t>
            </a:fld>
            <a:endParaRPr lang="zh-CN" altLang="en-US"/>
          </a:p>
        </p:txBody>
      </p:sp>
    </p:spTree>
    <p:extLst>
      <p:ext uri="{BB962C8B-B14F-4D97-AF65-F5344CB8AC3E}">
        <p14:creationId xmlns:p14="http://schemas.microsoft.com/office/powerpoint/2010/main" val="3530221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指针和数组名访问数组元素的方法完全一样，区别在于数组名是地址常量不能改变，所以不能执行</a:t>
            </a:r>
            <a:r>
              <a:rPr lang="en-US" altLang="zh-CN" dirty="0"/>
              <a:t>++</a:t>
            </a:r>
            <a:r>
              <a:rPr lang="zh-CN" altLang="en-US" dirty="0"/>
              <a:t>，</a:t>
            </a:r>
            <a:r>
              <a:rPr lang="en-US" altLang="zh-CN" dirty="0"/>
              <a:t>--</a:t>
            </a:r>
            <a:r>
              <a:rPr lang="zh-CN" altLang="en-US" dirty="0"/>
              <a:t>等运算，但指针可以。</a:t>
            </a:r>
          </a:p>
          <a:p>
            <a:endParaRPr lang="zh-CN" altLang="en-US" dirty="0"/>
          </a:p>
        </p:txBody>
      </p:sp>
      <p:sp>
        <p:nvSpPr>
          <p:cNvPr id="4" name="灯片编号占位符 3"/>
          <p:cNvSpPr>
            <a:spLocks noGrp="1"/>
          </p:cNvSpPr>
          <p:nvPr>
            <p:ph type="sldNum" sz="quarter" idx="10"/>
          </p:nvPr>
        </p:nvSpPr>
        <p:spPr/>
        <p:txBody>
          <a:bodyPr/>
          <a:lstStyle/>
          <a:p>
            <a:fld id="{7FACFBAA-4F33-4BF6-B348-50D59E4A3B07}" type="slidenum">
              <a:rPr lang="zh-CN" altLang="en-US" smtClean="0"/>
              <a:t>4</a:t>
            </a:fld>
            <a:endParaRPr lang="zh-CN" altLang="en-US"/>
          </a:p>
        </p:txBody>
      </p:sp>
    </p:spTree>
    <p:extLst>
      <p:ext uri="{BB962C8B-B14F-4D97-AF65-F5344CB8AC3E}">
        <p14:creationId xmlns:p14="http://schemas.microsoft.com/office/powerpoint/2010/main" val="16497267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直接用数组下标法来访问数组元素</a:t>
            </a:r>
          </a:p>
          <a:p>
            <a:endParaRPr lang="zh-CN" altLang="en-US" dirty="0"/>
          </a:p>
        </p:txBody>
      </p:sp>
      <p:sp>
        <p:nvSpPr>
          <p:cNvPr id="4" name="灯片编号占位符 3"/>
          <p:cNvSpPr>
            <a:spLocks noGrp="1"/>
          </p:cNvSpPr>
          <p:nvPr>
            <p:ph type="sldNum" sz="quarter" idx="10"/>
          </p:nvPr>
        </p:nvSpPr>
        <p:spPr/>
        <p:txBody>
          <a:bodyPr/>
          <a:lstStyle/>
          <a:p>
            <a:fld id="{7FACFBAA-4F33-4BF6-B348-50D59E4A3B07}" type="slidenum">
              <a:rPr lang="zh-CN" altLang="en-US" smtClean="0"/>
              <a:t>5</a:t>
            </a:fld>
            <a:endParaRPr lang="zh-CN" altLang="en-US"/>
          </a:p>
        </p:txBody>
      </p:sp>
    </p:spTree>
    <p:extLst>
      <p:ext uri="{BB962C8B-B14F-4D97-AF65-F5344CB8AC3E}">
        <p14:creationId xmlns:p14="http://schemas.microsoft.com/office/powerpoint/2010/main" val="2944872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直接用数组下标法来访问数组元素</a:t>
            </a:r>
          </a:p>
          <a:p>
            <a:endParaRPr lang="zh-CN" altLang="en-US" dirty="0"/>
          </a:p>
        </p:txBody>
      </p:sp>
      <p:sp>
        <p:nvSpPr>
          <p:cNvPr id="4" name="灯片编号占位符 3"/>
          <p:cNvSpPr>
            <a:spLocks noGrp="1"/>
          </p:cNvSpPr>
          <p:nvPr>
            <p:ph type="sldNum" sz="quarter" idx="10"/>
          </p:nvPr>
        </p:nvSpPr>
        <p:spPr/>
        <p:txBody>
          <a:bodyPr/>
          <a:lstStyle/>
          <a:p>
            <a:fld id="{7FACFBAA-4F33-4BF6-B348-50D59E4A3B07}" type="slidenum">
              <a:rPr lang="zh-CN" altLang="en-US" smtClean="0"/>
              <a:t>6</a:t>
            </a:fld>
            <a:endParaRPr lang="zh-CN" altLang="en-US"/>
          </a:p>
        </p:txBody>
      </p:sp>
    </p:spTree>
    <p:extLst>
      <p:ext uri="{BB962C8B-B14F-4D97-AF65-F5344CB8AC3E}">
        <p14:creationId xmlns:p14="http://schemas.microsoft.com/office/powerpoint/2010/main" val="3652947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a:t>用指针解引的方式访问其指向的数组元素</a:t>
            </a:r>
          </a:p>
          <a:p>
            <a:endParaRPr lang="zh-CN" altLang="en-US" dirty="0"/>
          </a:p>
        </p:txBody>
      </p:sp>
      <p:sp>
        <p:nvSpPr>
          <p:cNvPr id="4" name="灯片编号占位符 3"/>
          <p:cNvSpPr>
            <a:spLocks noGrp="1"/>
          </p:cNvSpPr>
          <p:nvPr>
            <p:ph type="sldNum" sz="quarter" idx="10"/>
          </p:nvPr>
        </p:nvSpPr>
        <p:spPr/>
        <p:txBody>
          <a:bodyPr/>
          <a:lstStyle/>
          <a:p>
            <a:fld id="{7FACFBAA-4F33-4BF6-B348-50D59E4A3B07}" type="slidenum">
              <a:rPr lang="zh-CN" altLang="en-US" smtClean="0"/>
              <a:t>7</a:t>
            </a:fld>
            <a:endParaRPr lang="zh-CN" altLang="en-US"/>
          </a:p>
        </p:txBody>
      </p:sp>
    </p:spTree>
    <p:extLst>
      <p:ext uri="{BB962C8B-B14F-4D97-AF65-F5344CB8AC3E}">
        <p14:creationId xmlns:p14="http://schemas.microsoft.com/office/powerpoint/2010/main" val="2841537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r>
              <a:rPr lang="zh-CN" altLang="en-US" dirty="0"/>
              <a:t>的值</a:t>
            </a:r>
            <a:r>
              <a:rPr lang="en-US" altLang="zh-CN" dirty="0"/>
              <a:t>==&amp;a</a:t>
            </a:r>
            <a:r>
              <a:rPr lang="zh-CN" altLang="en-US" dirty="0"/>
              <a:t>的值</a:t>
            </a:r>
            <a:r>
              <a:rPr lang="en-US" altLang="zh-CN" dirty="0"/>
              <a:t>==a[0]</a:t>
            </a:r>
            <a:r>
              <a:rPr lang="zh-CN" altLang="en-US" dirty="0"/>
              <a:t>的值</a:t>
            </a:r>
            <a:r>
              <a:rPr lang="en-US" altLang="zh-CN" dirty="0"/>
              <a:t>==&amp;a[0]</a:t>
            </a:r>
            <a:r>
              <a:rPr lang="zh-CN" altLang="en-US" dirty="0"/>
              <a:t>的值</a:t>
            </a:r>
            <a:r>
              <a:rPr lang="en-US" altLang="zh-CN" dirty="0"/>
              <a:t>==&amp;a[0][0]</a:t>
            </a:r>
            <a:r>
              <a:rPr lang="zh-CN" altLang="en-US" dirty="0"/>
              <a:t>的值</a:t>
            </a:r>
          </a:p>
          <a:p>
            <a:r>
              <a:rPr lang="en-US" altLang="zh-CN" dirty="0"/>
              <a:t>Array2d</a:t>
            </a:r>
            <a:r>
              <a:rPr lang="zh-CN" altLang="en-US" dirty="0"/>
              <a:t>例程</a:t>
            </a:r>
          </a:p>
          <a:p>
            <a:endParaRPr lang="zh-CN" altLang="en-US" dirty="0"/>
          </a:p>
        </p:txBody>
      </p:sp>
      <p:sp>
        <p:nvSpPr>
          <p:cNvPr id="4" name="灯片编号占位符 3"/>
          <p:cNvSpPr>
            <a:spLocks noGrp="1"/>
          </p:cNvSpPr>
          <p:nvPr>
            <p:ph type="sldNum" sz="quarter" idx="10"/>
          </p:nvPr>
        </p:nvSpPr>
        <p:spPr/>
        <p:txBody>
          <a:bodyPr/>
          <a:lstStyle/>
          <a:p>
            <a:fld id="{7FACFBAA-4F33-4BF6-B348-50D59E4A3B07}" type="slidenum">
              <a:rPr lang="zh-CN" altLang="en-US" smtClean="0"/>
              <a:t>8</a:t>
            </a:fld>
            <a:endParaRPr lang="zh-CN" altLang="en-US"/>
          </a:p>
        </p:txBody>
      </p:sp>
    </p:spTree>
    <p:extLst>
      <p:ext uri="{BB962C8B-B14F-4D97-AF65-F5344CB8AC3E}">
        <p14:creationId xmlns:p14="http://schemas.microsoft.com/office/powerpoint/2010/main" val="4223923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*后面跟一个地址代表取该地址中的值。二维数组 </a:t>
            </a:r>
            <a:r>
              <a:rPr lang="en-US" altLang="zh-CN" dirty="0"/>
              <a:t>*p</a:t>
            </a:r>
            <a:r>
              <a:rPr lang="zh-CN" altLang="en-US" dirty="0"/>
              <a:t>取的是行首地址，要用两个*来取元素值。</a:t>
            </a:r>
          </a:p>
          <a:p>
            <a:r>
              <a:rPr lang="zh-CN" altLang="en-US" dirty="0"/>
              <a:t>后两行是一个意思</a:t>
            </a:r>
          </a:p>
          <a:p>
            <a:r>
              <a:rPr lang="en-US" altLang="zh-CN" dirty="0"/>
              <a:t>P=a[0],P=&amp;a[0][0]</a:t>
            </a:r>
            <a:r>
              <a:rPr lang="zh-CN" altLang="en-US" dirty="0"/>
              <a:t>会报</a:t>
            </a:r>
            <a:r>
              <a:rPr lang="en-US" altLang="zh-CN" dirty="0"/>
              <a:t>warning,</a:t>
            </a:r>
            <a:r>
              <a:rPr lang="zh-CN" altLang="en-US" dirty="0"/>
              <a:t>但效果一样。</a:t>
            </a:r>
          </a:p>
          <a:p>
            <a:endParaRPr lang="zh-CN" altLang="en-US" dirty="0"/>
          </a:p>
        </p:txBody>
      </p:sp>
      <p:sp>
        <p:nvSpPr>
          <p:cNvPr id="4" name="灯片编号占位符 3"/>
          <p:cNvSpPr>
            <a:spLocks noGrp="1"/>
          </p:cNvSpPr>
          <p:nvPr>
            <p:ph type="sldNum" sz="quarter" idx="10"/>
          </p:nvPr>
        </p:nvSpPr>
        <p:spPr/>
        <p:txBody>
          <a:bodyPr/>
          <a:lstStyle/>
          <a:p>
            <a:fld id="{7FACFBAA-4F33-4BF6-B348-50D59E4A3B07}" type="slidenum">
              <a:rPr lang="zh-CN" altLang="en-US" smtClean="0"/>
              <a:t>9</a:t>
            </a:fld>
            <a:endParaRPr lang="zh-CN" altLang="en-US"/>
          </a:p>
        </p:txBody>
      </p:sp>
    </p:spTree>
    <p:extLst>
      <p:ext uri="{BB962C8B-B14F-4D97-AF65-F5344CB8AC3E}">
        <p14:creationId xmlns:p14="http://schemas.microsoft.com/office/powerpoint/2010/main" val="1142319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a:t>
            </a:r>
            <a:r>
              <a:rPr lang="zh-CN" altLang="en-US" dirty="0"/>
              <a:t>是行指针，</a:t>
            </a:r>
            <a:r>
              <a:rPr lang="en-US" altLang="zh-CN" dirty="0" err="1"/>
              <a:t>p+i</a:t>
            </a:r>
            <a:r>
              <a:rPr lang="zh-CN" altLang="en-US" dirty="0"/>
              <a:t>第</a:t>
            </a:r>
            <a:r>
              <a:rPr lang="en-US" altLang="zh-CN" dirty="0" err="1"/>
              <a:t>i</a:t>
            </a:r>
            <a:r>
              <a:rPr lang="zh-CN" altLang="en-US" dirty="0"/>
              <a:t>行的首地址，</a:t>
            </a:r>
          </a:p>
          <a:p>
            <a:r>
              <a:rPr lang="zh-CN" altLang="en-US" dirty="0"/>
              <a:t>*</a:t>
            </a:r>
            <a:r>
              <a:rPr lang="en-US" altLang="zh-CN" dirty="0"/>
              <a:t>(</a:t>
            </a:r>
            <a:r>
              <a:rPr lang="en-US" altLang="zh-CN" dirty="0" err="1"/>
              <a:t>p+i</a:t>
            </a:r>
            <a:r>
              <a:rPr lang="en-US" altLang="zh-CN" dirty="0"/>
              <a:t>)</a:t>
            </a:r>
            <a:r>
              <a:rPr lang="zh-CN" altLang="en-US" dirty="0"/>
              <a:t>取第</a:t>
            </a:r>
            <a:r>
              <a:rPr lang="en-US" altLang="zh-CN" dirty="0" err="1"/>
              <a:t>i</a:t>
            </a:r>
            <a:r>
              <a:rPr lang="zh-CN" altLang="en-US" dirty="0"/>
              <a:t>行元素也就是第</a:t>
            </a:r>
            <a:r>
              <a:rPr lang="en-US" altLang="zh-CN" dirty="0" err="1"/>
              <a:t>i</a:t>
            </a:r>
            <a:r>
              <a:rPr lang="zh-CN" altLang="en-US" dirty="0"/>
              <a:t>行数组变量地址相当于一个整型指针或者叫指向整形数组元素的指针， *</a:t>
            </a:r>
            <a:r>
              <a:rPr lang="en-US" altLang="zh-CN" dirty="0"/>
              <a:t>(</a:t>
            </a:r>
            <a:r>
              <a:rPr lang="en-US" altLang="zh-CN" dirty="0" err="1"/>
              <a:t>p+i</a:t>
            </a:r>
            <a:r>
              <a:rPr lang="en-US" altLang="zh-CN" dirty="0"/>
              <a:t>)+j</a:t>
            </a:r>
            <a:r>
              <a:rPr lang="zh-CN" altLang="en-US" dirty="0"/>
              <a:t>是指向第</a:t>
            </a:r>
            <a:r>
              <a:rPr lang="en-US" altLang="zh-CN" dirty="0" err="1"/>
              <a:t>i</a:t>
            </a:r>
            <a:r>
              <a:rPr lang="zh-CN" altLang="en-US" dirty="0"/>
              <a:t>行第</a:t>
            </a:r>
            <a:r>
              <a:rPr lang="en-US" altLang="zh-CN" dirty="0"/>
              <a:t>j</a:t>
            </a:r>
            <a:r>
              <a:rPr lang="zh-CN" altLang="en-US" dirty="0"/>
              <a:t>列元素的整型指针，</a:t>
            </a:r>
          </a:p>
          <a:p>
            <a:r>
              <a:rPr lang="en-US" altLang="zh-CN" sz="900" b="1" dirty="0">
                <a:solidFill>
                  <a:srgbClr val="000066"/>
                </a:solidFill>
                <a:latin typeface="Courier New" panose="02070309020205020404" pitchFamily="49" charset="0"/>
                <a:ea typeface="楷体_GB2312" pitchFamily="49" charset="-122"/>
              </a:rPr>
              <a:t>*(</a:t>
            </a:r>
            <a:r>
              <a:rPr lang="en-US" altLang="zh-CN" sz="900" b="1" dirty="0">
                <a:solidFill>
                  <a:srgbClr val="C00000"/>
                </a:solidFill>
                <a:latin typeface="Courier New" panose="02070309020205020404" pitchFamily="49" charset="0"/>
                <a:ea typeface="楷体_GB2312" pitchFamily="49" charset="-122"/>
              </a:rPr>
              <a:t>*(</a:t>
            </a:r>
            <a:r>
              <a:rPr lang="en-US" altLang="zh-CN" sz="900" b="1" dirty="0" err="1">
                <a:solidFill>
                  <a:srgbClr val="C00000"/>
                </a:solidFill>
                <a:latin typeface="Courier New" panose="02070309020205020404" pitchFamily="49" charset="0"/>
                <a:ea typeface="楷体_GB2312" pitchFamily="49" charset="-122"/>
              </a:rPr>
              <a:t>p+i</a:t>
            </a:r>
            <a:r>
              <a:rPr lang="en-US" altLang="zh-CN" sz="900" b="1" dirty="0">
                <a:solidFill>
                  <a:srgbClr val="C00000"/>
                </a:solidFill>
                <a:latin typeface="Courier New" panose="02070309020205020404" pitchFamily="49" charset="0"/>
                <a:ea typeface="楷体_GB2312" pitchFamily="49" charset="-122"/>
              </a:rPr>
              <a:t>)</a:t>
            </a:r>
            <a:r>
              <a:rPr lang="en-US" altLang="zh-CN" sz="900" b="1" dirty="0">
                <a:solidFill>
                  <a:srgbClr val="000066"/>
                </a:solidFill>
                <a:latin typeface="Courier New" panose="02070309020205020404" pitchFamily="49" charset="0"/>
                <a:ea typeface="楷体_GB2312" pitchFamily="49" charset="-122"/>
              </a:rPr>
              <a:t>+j)</a:t>
            </a:r>
            <a:r>
              <a:rPr lang="zh-CN" altLang="en-US" sz="900" b="1" dirty="0">
                <a:solidFill>
                  <a:srgbClr val="000066"/>
                </a:solidFill>
                <a:latin typeface="Courier New" panose="02070309020205020404" pitchFamily="49" charset="0"/>
                <a:ea typeface="楷体_GB2312" pitchFamily="49" charset="-122"/>
              </a:rPr>
              <a:t>是</a:t>
            </a:r>
            <a:r>
              <a:rPr lang="en-US" altLang="zh-CN" sz="900" b="1" dirty="0">
                <a:solidFill>
                  <a:srgbClr val="000066"/>
                </a:solidFill>
                <a:latin typeface="Courier New" panose="02070309020205020404" pitchFamily="49" charset="0"/>
                <a:ea typeface="楷体_GB2312" pitchFamily="49" charset="-122"/>
              </a:rPr>
              <a:t>a[</a:t>
            </a:r>
            <a:r>
              <a:rPr lang="en-US" altLang="zh-CN" sz="900" b="1" dirty="0" err="1">
                <a:solidFill>
                  <a:srgbClr val="000066"/>
                </a:solidFill>
                <a:latin typeface="Courier New" panose="02070309020205020404" pitchFamily="49" charset="0"/>
                <a:ea typeface="楷体_GB2312" pitchFamily="49" charset="-122"/>
              </a:rPr>
              <a:t>i</a:t>
            </a:r>
            <a:r>
              <a:rPr lang="en-US" altLang="zh-CN" sz="900" b="1" dirty="0">
                <a:solidFill>
                  <a:srgbClr val="000066"/>
                </a:solidFill>
                <a:latin typeface="Courier New" panose="02070309020205020404" pitchFamily="49" charset="0"/>
                <a:ea typeface="楷体_GB2312" pitchFamily="49" charset="-122"/>
              </a:rPr>
              <a:t>][j]</a:t>
            </a:r>
            <a:r>
              <a:rPr lang="zh-CN" altLang="en-US" sz="900" b="1" dirty="0">
                <a:solidFill>
                  <a:srgbClr val="000066"/>
                </a:solidFill>
                <a:latin typeface="Courier New" panose="02070309020205020404" pitchFamily="49" charset="0"/>
                <a:ea typeface="楷体_GB2312" pitchFamily="49" charset="-122"/>
              </a:rPr>
              <a:t>这个元素。</a:t>
            </a:r>
            <a:endParaRPr lang="zh-CN" altLang="en-US" dirty="0"/>
          </a:p>
          <a:p>
            <a:r>
              <a:rPr lang="zh-CN" altLang="en-US" dirty="0"/>
              <a:t>显示二维数组所有元素的例子，但是打印没有换行。</a:t>
            </a:r>
          </a:p>
          <a:p>
            <a:endParaRPr lang="zh-CN" altLang="en-US" dirty="0"/>
          </a:p>
        </p:txBody>
      </p:sp>
      <p:sp>
        <p:nvSpPr>
          <p:cNvPr id="4" name="灯片编号占位符 3"/>
          <p:cNvSpPr>
            <a:spLocks noGrp="1"/>
          </p:cNvSpPr>
          <p:nvPr>
            <p:ph type="sldNum" sz="quarter" idx="10"/>
          </p:nvPr>
        </p:nvSpPr>
        <p:spPr/>
        <p:txBody>
          <a:bodyPr/>
          <a:lstStyle/>
          <a:p>
            <a:fld id="{7FACFBAA-4F33-4BF6-B348-50D59E4A3B07}" type="slidenum">
              <a:rPr lang="zh-CN" altLang="en-US" smtClean="0"/>
              <a:t>11</a:t>
            </a:fld>
            <a:endParaRPr lang="zh-CN" altLang="en-US"/>
          </a:p>
        </p:txBody>
      </p:sp>
    </p:spTree>
    <p:extLst>
      <p:ext uri="{BB962C8B-B14F-4D97-AF65-F5344CB8AC3E}">
        <p14:creationId xmlns:p14="http://schemas.microsoft.com/office/powerpoint/2010/main" val="4138495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P=a</a:t>
            </a:r>
            <a:r>
              <a:rPr lang="zh-CN" altLang="en-US" dirty="0"/>
              <a:t>也可，但是会报</a:t>
            </a:r>
            <a:r>
              <a:rPr lang="en-US" altLang="zh-CN" dirty="0"/>
              <a:t>warning</a:t>
            </a:r>
          </a:p>
          <a:p>
            <a:r>
              <a:rPr lang="zh-CN" altLang="en-US" dirty="0"/>
              <a:t>为什么叫列指针？这个指针相当于是一维数组，把整个二维数组作为一列</a:t>
            </a:r>
            <a:r>
              <a:rPr lang="en-US" altLang="zh-CN" dirty="0"/>
              <a:t>1</a:t>
            </a:r>
            <a:r>
              <a:rPr lang="zh-CN" altLang="en-US" dirty="0"/>
              <a:t>维数组来处理。</a:t>
            </a:r>
          </a:p>
          <a:p>
            <a:endParaRPr lang="zh-CN" altLang="en-US" dirty="0"/>
          </a:p>
        </p:txBody>
      </p:sp>
      <p:sp>
        <p:nvSpPr>
          <p:cNvPr id="4" name="灯片编号占位符 3"/>
          <p:cNvSpPr>
            <a:spLocks noGrp="1"/>
          </p:cNvSpPr>
          <p:nvPr>
            <p:ph type="sldNum" sz="quarter" idx="10"/>
          </p:nvPr>
        </p:nvSpPr>
        <p:spPr/>
        <p:txBody>
          <a:bodyPr/>
          <a:lstStyle/>
          <a:p>
            <a:fld id="{7FACFBAA-4F33-4BF6-B348-50D59E4A3B07}" type="slidenum">
              <a:rPr lang="zh-CN" altLang="en-US" smtClean="0"/>
              <a:t>12</a:t>
            </a:fld>
            <a:endParaRPr lang="zh-CN" altLang="en-US"/>
          </a:p>
        </p:txBody>
      </p:sp>
    </p:spTree>
    <p:extLst>
      <p:ext uri="{BB962C8B-B14F-4D97-AF65-F5344CB8AC3E}">
        <p14:creationId xmlns:p14="http://schemas.microsoft.com/office/powerpoint/2010/main" val="1500587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a:t>
            </a:r>
            <a:r>
              <a:rPr lang="en-US" altLang="zh-CN" dirty="0" err="1"/>
              <a:t>p+i</a:t>
            </a:r>
            <a:r>
              <a:rPr lang="zh-CN" altLang="en-US" dirty="0"/>
              <a:t>是指向第</a:t>
            </a:r>
            <a:r>
              <a:rPr lang="en-US" altLang="zh-CN" dirty="0" err="1"/>
              <a:t>i</a:t>
            </a:r>
            <a:r>
              <a:rPr lang="zh-CN" altLang="en-US" dirty="0"/>
              <a:t>行的首地址，</a:t>
            </a:r>
            <a:r>
              <a:rPr lang="en-US" altLang="zh-CN" dirty="0"/>
              <a:t>p</a:t>
            </a:r>
            <a:r>
              <a:rPr lang="zh-CN" altLang="en-US" dirty="0"/>
              <a:t>指针的基础类型为矩阵的行。所以叫行指针</a:t>
            </a:r>
          </a:p>
          <a:p>
            <a:r>
              <a:rPr lang="zh-CN" altLang="en-US" dirty="0"/>
              <a:t>可以试试*</a:t>
            </a:r>
            <a:r>
              <a:rPr lang="en-US" altLang="zh-CN" dirty="0"/>
              <a:t>(</a:t>
            </a:r>
            <a:r>
              <a:rPr lang="en-US" altLang="zh-CN" dirty="0" err="1"/>
              <a:t>p+i</a:t>
            </a:r>
            <a:r>
              <a:rPr lang="en-US" altLang="zh-CN" dirty="0"/>
              <a:t>)[j]</a:t>
            </a:r>
            <a:r>
              <a:rPr lang="zh-CN" altLang="en-US" dirty="0"/>
              <a:t>是否可以，不可以。访问</a:t>
            </a:r>
            <a:r>
              <a:rPr lang="en-US" altLang="zh-CN" dirty="0"/>
              <a:t>p[</a:t>
            </a:r>
            <a:r>
              <a:rPr lang="en-US" altLang="zh-CN" dirty="0" err="1"/>
              <a:t>i</a:t>
            </a:r>
            <a:r>
              <a:rPr lang="en-US" altLang="zh-CN" dirty="0"/>
              <a:t>][j]</a:t>
            </a:r>
            <a:r>
              <a:rPr lang="zh-CN" altLang="en-US" dirty="0"/>
              <a:t>应该写成</a:t>
            </a:r>
            <a:r>
              <a:rPr lang="en-US" altLang="zh-CN" dirty="0"/>
              <a:t>(*(</a:t>
            </a:r>
            <a:r>
              <a:rPr lang="en-US" altLang="zh-CN" dirty="0" err="1"/>
              <a:t>p+i</a:t>
            </a:r>
            <a:r>
              <a:rPr lang="en-US" altLang="zh-CN" dirty="0"/>
              <a:t>))[j]</a:t>
            </a:r>
            <a:r>
              <a:rPr lang="zh-CN" altLang="en-US" dirty="0"/>
              <a:t>或</a:t>
            </a:r>
            <a:r>
              <a:rPr lang="en-US" altLang="zh-CN" dirty="0"/>
              <a:t>(*</a:t>
            </a:r>
            <a:r>
              <a:rPr lang="en-US" altLang="zh-CN" dirty="0" err="1"/>
              <a:t>p+i</a:t>
            </a:r>
            <a:r>
              <a:rPr lang="en-US" altLang="zh-CN" dirty="0"/>
              <a:t>*N)[j]</a:t>
            </a:r>
          </a:p>
          <a:p>
            <a:r>
              <a:rPr lang="zh-CN" altLang="en-US" dirty="0"/>
              <a:t>*</a:t>
            </a:r>
            <a:r>
              <a:rPr lang="en-US" altLang="zh-CN" dirty="0"/>
              <a:t>(</a:t>
            </a:r>
            <a:r>
              <a:rPr lang="en-US" altLang="zh-CN" dirty="0" err="1"/>
              <a:t>p+i</a:t>
            </a:r>
            <a:r>
              <a:rPr lang="en-US" altLang="zh-CN" dirty="0"/>
              <a:t>)[j]</a:t>
            </a:r>
            <a:r>
              <a:rPr lang="zh-CN" altLang="en-US" dirty="0"/>
              <a:t>相当于*</a:t>
            </a:r>
            <a:r>
              <a:rPr lang="en-US" altLang="zh-CN" dirty="0"/>
              <a:t>((</a:t>
            </a:r>
            <a:r>
              <a:rPr lang="en-US" altLang="zh-CN" dirty="0" err="1"/>
              <a:t>p+i</a:t>
            </a:r>
            <a:r>
              <a:rPr lang="en-US" altLang="zh-CN" dirty="0"/>
              <a:t>)[j])</a:t>
            </a:r>
            <a:r>
              <a:rPr lang="zh-CN" altLang="en-US" dirty="0"/>
              <a:t>不合法，访问的不是想要的位置</a:t>
            </a:r>
          </a:p>
          <a:p>
            <a:endParaRPr lang="zh-CN" altLang="en-US" dirty="0"/>
          </a:p>
        </p:txBody>
      </p:sp>
      <p:sp>
        <p:nvSpPr>
          <p:cNvPr id="4" name="灯片编号占位符 3"/>
          <p:cNvSpPr>
            <a:spLocks noGrp="1"/>
          </p:cNvSpPr>
          <p:nvPr>
            <p:ph type="sldNum" sz="quarter" idx="10"/>
          </p:nvPr>
        </p:nvSpPr>
        <p:spPr/>
        <p:txBody>
          <a:bodyPr/>
          <a:lstStyle/>
          <a:p>
            <a:fld id="{7FACFBAA-4F33-4BF6-B348-50D59E4A3B07}" type="slidenum">
              <a:rPr lang="zh-CN" altLang="en-US" smtClean="0"/>
              <a:t>15</a:t>
            </a:fld>
            <a:endParaRPr lang="zh-CN" altLang="en-US"/>
          </a:p>
        </p:txBody>
      </p:sp>
    </p:spTree>
    <p:extLst>
      <p:ext uri="{BB962C8B-B14F-4D97-AF65-F5344CB8AC3E}">
        <p14:creationId xmlns:p14="http://schemas.microsoft.com/office/powerpoint/2010/main" val="6123382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行指针：指向某一行，不指向具体的元素。</a:t>
            </a:r>
          </a:p>
          <a:p>
            <a:r>
              <a:rPr lang="zh-CN" altLang="en-US" dirty="0"/>
              <a:t>列指针：指向行中具体的元素。</a:t>
            </a:r>
          </a:p>
          <a:p>
            <a:r>
              <a:rPr lang="en-US" altLang="zh-CN" dirty="0"/>
              <a:t>(</a:t>
            </a:r>
            <a:r>
              <a:rPr lang="zh-CN" altLang="en-US" dirty="0"/>
              <a:t>也就是说，列指针只要在同一行，不管它们指向行中的哪个元素，它们的行地址都是在同一行的地址，所以它们的行地址都是一样的。</a:t>
            </a:r>
            <a:r>
              <a:rPr lang="en-US" altLang="zh-CN" dirty="0"/>
              <a:t>)</a:t>
            </a:r>
            <a:r>
              <a:rPr lang="zh-CN" altLang="en-US" dirty="0"/>
              <a:t>这句不好理解。 </a:t>
            </a:r>
          </a:p>
          <a:p>
            <a:endParaRPr lang="zh-CN" altLang="en-US" dirty="0"/>
          </a:p>
        </p:txBody>
      </p:sp>
      <p:sp>
        <p:nvSpPr>
          <p:cNvPr id="4" name="灯片编号占位符 3"/>
          <p:cNvSpPr>
            <a:spLocks noGrp="1"/>
          </p:cNvSpPr>
          <p:nvPr>
            <p:ph type="sldNum" sz="quarter" idx="10"/>
          </p:nvPr>
        </p:nvSpPr>
        <p:spPr/>
        <p:txBody>
          <a:bodyPr/>
          <a:lstStyle/>
          <a:p>
            <a:fld id="{7FACFBAA-4F33-4BF6-B348-50D59E4A3B07}" type="slidenum">
              <a:rPr lang="zh-CN" altLang="en-US" smtClean="0"/>
              <a:t>16</a:t>
            </a:fld>
            <a:endParaRPr lang="zh-CN" altLang="en-US"/>
          </a:p>
        </p:txBody>
      </p:sp>
    </p:spTree>
    <p:extLst>
      <p:ext uri="{BB962C8B-B14F-4D97-AF65-F5344CB8AC3E}">
        <p14:creationId xmlns:p14="http://schemas.microsoft.com/office/powerpoint/2010/main" val="1038576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C8E5C5-05D3-4171-9F3F-37013136371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C8E5C5-05D3-4171-9F3F-37013136371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C8E5C5-05D3-4171-9F3F-3701313637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8C8E5C5-05D3-4171-9F3F-3701313637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8C8E5C5-05D3-4171-9F3F-3701313637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C8E5C5-05D3-4171-9F3F-37013136371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8C8E5C5-05D3-4171-9F3F-3701313637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8C8E5C5-05D3-4171-9F3F-3701313637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8C8E5C5-05D3-4171-9F3F-3701313637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C8E5C5-05D3-4171-9F3F-37013136371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8C8E5C5-05D3-4171-9F3F-37013136371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p:transition spd="slow" advTm="0">
    <p:comb/>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4" name="矩形 3"/>
          <p:cNvSpPr/>
          <p:nvPr userDrawn="1"/>
        </p:nvSpPr>
        <p:spPr>
          <a:xfrm>
            <a:off x="431800" y="330198"/>
            <a:ext cx="540000" cy="288000"/>
          </a:xfrm>
          <a:prstGeom prst="rect">
            <a:avLst/>
          </a:prstGeom>
          <a:solidFill>
            <a:srgbClr val="000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userDrawn="1"/>
        </p:nvSpPr>
        <p:spPr>
          <a:xfrm>
            <a:off x="431800" y="671197"/>
            <a:ext cx="540000" cy="180000"/>
          </a:xfrm>
          <a:prstGeom prst="rect">
            <a:avLst/>
          </a:prstGeom>
          <a:solidFill>
            <a:srgbClr val="000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431800" y="904196"/>
            <a:ext cx="540000" cy="72000"/>
          </a:xfrm>
          <a:prstGeom prst="rect">
            <a:avLst/>
          </a:prstGeom>
          <a:solidFill>
            <a:srgbClr val="000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flipV="1">
            <a:off x="8966200" y="6528232"/>
            <a:ext cx="2880000" cy="36000"/>
          </a:xfrm>
          <a:prstGeom prst="rect">
            <a:avLst/>
          </a:prstGeom>
          <a:solidFill>
            <a:srgbClr val="000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advTm="0">
    <p:comb/>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4" name="矩形 3"/>
          <p:cNvSpPr/>
          <p:nvPr userDrawn="1"/>
        </p:nvSpPr>
        <p:spPr>
          <a:xfrm>
            <a:off x="431800" y="330198"/>
            <a:ext cx="540000" cy="288000"/>
          </a:xfrm>
          <a:prstGeom prst="rect">
            <a:avLst/>
          </a:prstGeom>
          <a:solidFill>
            <a:srgbClr val="000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userDrawn="1"/>
        </p:nvSpPr>
        <p:spPr>
          <a:xfrm>
            <a:off x="431800" y="671197"/>
            <a:ext cx="540000" cy="180000"/>
          </a:xfrm>
          <a:prstGeom prst="rect">
            <a:avLst/>
          </a:prstGeom>
          <a:solidFill>
            <a:srgbClr val="000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userDrawn="1"/>
        </p:nvSpPr>
        <p:spPr>
          <a:xfrm>
            <a:off x="431800" y="904196"/>
            <a:ext cx="540000" cy="72000"/>
          </a:xfrm>
          <a:prstGeom prst="rect">
            <a:avLst/>
          </a:prstGeom>
          <a:solidFill>
            <a:srgbClr val="000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userDrawn="1"/>
        </p:nvSpPr>
        <p:spPr>
          <a:xfrm flipV="1">
            <a:off x="8966200" y="6528232"/>
            <a:ext cx="2880000" cy="36000"/>
          </a:xfrm>
          <a:prstGeom prst="rect">
            <a:avLst/>
          </a:prstGeom>
          <a:solidFill>
            <a:srgbClr val="0000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userDrawn="1"/>
        </p:nvSpPr>
        <p:spPr>
          <a:xfrm>
            <a:off x="202945" y="6488668"/>
            <a:ext cx="498855" cy="369332"/>
          </a:xfrm>
          <a:prstGeom prst="rect">
            <a:avLst/>
          </a:prstGeom>
          <a:noFill/>
        </p:spPr>
        <p:txBody>
          <a:bodyPr wrap="none" rtlCol="0">
            <a:spAutoFit/>
          </a:bodyPr>
          <a:lstStyle/>
          <a:p>
            <a:r>
              <a:rPr lang="en-US" altLang="zh-CN" dirty="0"/>
              <a:t>HIT</a:t>
            </a:r>
            <a:endParaRPr lang="zh-CN" altLang="en-US" dirty="0"/>
          </a:p>
        </p:txBody>
      </p:sp>
    </p:spTree>
  </p:cSld>
  <p:clrMapOvr>
    <a:masterClrMapping/>
  </p:clrMapOvr>
  <p:transition spd="slow" advTm="0">
    <p:comb/>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C8E5C5-05D3-4171-9F3F-3701313637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18.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themeOverride" Target="../theme/themeOverride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13.xml"/><Relationship Id="rId1" Type="http://schemas.openxmlformats.org/officeDocument/2006/relationships/tags" Target="../tags/tag2.xml"/><Relationship Id="rId4" Type="http://schemas.openxmlformats.org/officeDocument/2006/relationships/image" Target="../media/image27.wmf"/></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284"/>
            <a:ext cx="12192000" cy="4376928"/>
          </a:xfrm>
          <a:prstGeom prst="rect">
            <a:avLst/>
          </a:prstGeom>
        </p:spPr>
      </p:pic>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495709"/>
            <a:ext cx="12192000" cy="3362291"/>
          </a:xfrm>
          <a:prstGeom prst="rect">
            <a:avLst/>
          </a:prstGeom>
        </p:spPr>
      </p:pic>
      <p:pic>
        <p:nvPicPr>
          <p:cNvPr id="5" name="图片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78653" y="3065796"/>
            <a:ext cx="3600000" cy="214013"/>
          </a:xfrm>
          <a:prstGeom prst="rect">
            <a:avLst/>
          </a:prstGeom>
        </p:spPr>
      </p:pic>
      <p:grpSp>
        <p:nvGrpSpPr>
          <p:cNvPr id="25" name="组合 24"/>
          <p:cNvGrpSpPr/>
          <p:nvPr/>
        </p:nvGrpSpPr>
        <p:grpSpPr>
          <a:xfrm>
            <a:off x="10769600" y="3664910"/>
            <a:ext cx="843953" cy="2410180"/>
            <a:chOff x="10769600" y="3836360"/>
            <a:chExt cx="843953" cy="2410180"/>
          </a:xfrm>
        </p:grpSpPr>
        <p:pic>
          <p:nvPicPr>
            <p:cNvPr id="8" name="图片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769600" y="3838038"/>
              <a:ext cx="146835" cy="2408502"/>
            </a:xfrm>
            <a:prstGeom prst="rect">
              <a:avLst/>
            </a:prstGeom>
          </p:spPr>
        </p:pic>
        <p:pic>
          <p:nvPicPr>
            <p:cNvPr id="9" name="图片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089612" y="4912297"/>
              <a:ext cx="492494" cy="1295517"/>
            </a:xfrm>
            <a:prstGeom prst="rect">
              <a:avLst/>
            </a:prstGeom>
          </p:spPr>
        </p:pic>
        <p:pic>
          <p:nvPicPr>
            <p:cNvPr id="10" name="图片 9"/>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050930" y="3836360"/>
              <a:ext cx="562623" cy="824898"/>
            </a:xfrm>
            <a:prstGeom prst="rect">
              <a:avLst/>
            </a:prstGeom>
          </p:spPr>
        </p:pic>
      </p:grpSp>
      <p:pic>
        <p:nvPicPr>
          <p:cNvPr id="11" name="图片 1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269534" y="247661"/>
            <a:ext cx="3602440" cy="180000"/>
          </a:xfrm>
          <a:prstGeom prst="rect">
            <a:avLst/>
          </a:prstGeom>
        </p:spPr>
      </p:pic>
      <p:pic>
        <p:nvPicPr>
          <p:cNvPr id="17" name="图片 16"/>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34697" y="444499"/>
            <a:ext cx="108000" cy="2724542"/>
          </a:xfrm>
          <a:prstGeom prst="rect">
            <a:avLst/>
          </a:prstGeom>
        </p:spPr>
      </p:pic>
      <p:pic>
        <p:nvPicPr>
          <p:cNvPr id="19" name="图片 18"/>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178653" y="2093857"/>
            <a:ext cx="3600000" cy="814900"/>
          </a:xfrm>
          <a:prstGeom prst="rect">
            <a:avLst/>
          </a:prstGeom>
        </p:spPr>
      </p:pic>
      <p:sp>
        <p:nvSpPr>
          <p:cNvPr id="21" name="文本框 20"/>
          <p:cNvSpPr txBox="1"/>
          <p:nvPr/>
        </p:nvSpPr>
        <p:spPr>
          <a:xfrm>
            <a:off x="822349" y="3625900"/>
            <a:ext cx="9156304" cy="1477328"/>
          </a:xfrm>
          <a:prstGeom prst="rect">
            <a:avLst/>
          </a:prstGeom>
          <a:noFill/>
        </p:spPr>
        <p:txBody>
          <a:bodyPr wrap="square" rtlCol="0">
            <a:spAutoFit/>
          </a:bodyPr>
          <a:lstStyle/>
          <a:p>
            <a:r>
              <a:rPr lang="zh-CN" altLang="en-US" sz="5400" dirty="0">
                <a:solidFill>
                  <a:schemeClr val="bg1"/>
                </a:solidFill>
                <a:latin typeface="微软雅黑" panose="020B0503020204020204" pitchFamily="34" charset="-122"/>
                <a:ea typeface="微软雅黑" panose="020B0503020204020204" pitchFamily="34" charset="-122"/>
              </a:rPr>
              <a:t>计算思维与实践</a:t>
            </a:r>
            <a:endParaRPr lang="en-US" altLang="zh-CN" sz="5400" dirty="0">
              <a:solidFill>
                <a:schemeClr val="bg1"/>
              </a:solidFill>
              <a:latin typeface="微软雅黑" panose="020B0503020204020204" pitchFamily="34" charset="-122"/>
              <a:ea typeface="微软雅黑" panose="020B0503020204020204" pitchFamily="34" charset="-122"/>
            </a:endParaRPr>
          </a:p>
          <a:p>
            <a:r>
              <a:rPr lang="zh-CN" altLang="en-US" sz="3600" dirty="0">
                <a:solidFill>
                  <a:schemeClr val="bg1"/>
                </a:solidFill>
                <a:latin typeface="微软雅黑" panose="020B0503020204020204" pitchFamily="34" charset="-122"/>
                <a:ea typeface="微软雅黑" panose="020B0503020204020204" pitchFamily="34" charset="-122"/>
              </a:rPr>
              <a:t>实验四 指针与数组</a:t>
            </a:r>
            <a:endParaRPr lang="zh-CN" sz="3600" dirty="0">
              <a:solidFill>
                <a:schemeClr val="bg1"/>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9798622" y="6455543"/>
            <a:ext cx="2107760" cy="288000"/>
            <a:chOff x="1021340" y="5712187"/>
            <a:chExt cx="2107760" cy="288000"/>
          </a:xfrm>
        </p:grpSpPr>
        <p:pic>
          <p:nvPicPr>
            <p:cNvPr id="15" name="图片 1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021340" y="5716689"/>
              <a:ext cx="581924" cy="270576"/>
            </a:xfrm>
            <a:prstGeom prst="rect">
              <a:avLst/>
            </a:prstGeom>
          </p:spPr>
        </p:pic>
        <p:sp>
          <p:nvSpPr>
            <p:cNvPr id="22" name="矩形 21"/>
            <p:cNvSpPr/>
            <p:nvPr/>
          </p:nvSpPr>
          <p:spPr>
            <a:xfrm>
              <a:off x="1689100" y="5712187"/>
              <a:ext cx="1440000" cy="288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片 13"/>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27255" y="5720618"/>
              <a:ext cx="1186531" cy="270000"/>
            </a:xfrm>
            <a:prstGeom prst="rect">
              <a:avLst/>
            </a:prstGeom>
          </p:spPr>
        </p:pic>
      </p:grpSp>
      <p:pic>
        <p:nvPicPr>
          <p:cNvPr id="20" name="图片 19" descr="logo"/>
          <p:cNvPicPr>
            <a:picLocks noChangeAspect="1"/>
          </p:cNvPicPr>
          <p:nvPr/>
        </p:nvPicPr>
        <p:blipFill>
          <a:blip r:embed="rId14"/>
          <a:stretch>
            <a:fillRect/>
          </a:stretch>
        </p:blipFill>
        <p:spPr>
          <a:xfrm>
            <a:off x="765199" y="5983976"/>
            <a:ext cx="3475990" cy="63817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淘宝网chenying0907出品 4"/>
          <p:cNvSpPr txBox="1"/>
          <p:nvPr/>
        </p:nvSpPr>
        <p:spPr>
          <a:xfrm>
            <a:off x="1587600" y="264321"/>
            <a:ext cx="2780907" cy="523220"/>
          </a:xfrm>
          <a:prstGeom prst="rect">
            <a:avLst/>
          </a:prstGeom>
          <a:noFill/>
        </p:spPr>
        <p:txBody>
          <a:bodyPr wrap="square" rtlCol="0">
            <a:spAutoFit/>
          </a:bodyPr>
          <a:lstStyle/>
          <a:p>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实验目的</a:t>
            </a:r>
          </a:p>
        </p:txBody>
      </p:sp>
      <p:sp>
        <p:nvSpPr>
          <p:cNvPr id="10" name="文本框 9"/>
          <p:cNvSpPr txBox="1"/>
          <p:nvPr/>
        </p:nvSpPr>
        <p:spPr>
          <a:xfrm>
            <a:off x="1107827" y="1594128"/>
            <a:ext cx="9976345" cy="581057"/>
          </a:xfrm>
          <a:prstGeom prst="rect">
            <a:avLst/>
          </a:prstGeom>
          <a:noFill/>
        </p:spPr>
        <p:txBody>
          <a:bodyPr wrap="square" rtlCol="0">
            <a:spAutoFit/>
          </a:bodyPr>
          <a:lstStyle/>
          <a:p>
            <a:pPr marL="342900" indent="-342900">
              <a:lnSpc>
                <a:spcPct val="150000"/>
              </a:lnSpc>
              <a:spcBef>
                <a:spcPts val="600"/>
              </a:spcBef>
              <a:spcAft>
                <a:spcPts val="600"/>
              </a:spcAft>
              <a:buFont typeface="Wingdings" panose="05000000000000000000" charset="0"/>
              <a:buChar char="p"/>
            </a:pPr>
            <a:r>
              <a:rPr lang="zh-CN" altLang="en-US" sz="2400" b="1" dirty="0">
                <a:solidFill>
                  <a:srgbClr val="FF0000"/>
                </a:solidFill>
                <a:latin typeface="微软雅黑" panose="020B0503020204020204" pitchFamily="34" charset="-122"/>
                <a:ea typeface="微软雅黑" panose="020B0503020204020204" pitchFamily="34" charset="-122"/>
              </a:rPr>
              <a:t>熟悉指针与一维数组</a:t>
            </a:r>
            <a:r>
              <a:rPr lang="en-US" altLang="zh-CN" sz="2400" b="1" dirty="0">
                <a:solidFill>
                  <a:srgbClr val="FF0000"/>
                </a:solidFill>
                <a:latin typeface="微软雅黑" panose="020B0503020204020204" pitchFamily="34" charset="-122"/>
                <a:ea typeface="微软雅黑" panose="020B0503020204020204" pitchFamily="34" charset="-122"/>
              </a:rPr>
              <a:t>/</a:t>
            </a:r>
            <a:r>
              <a:rPr lang="zh-CN" altLang="en-US" sz="2400" b="1" dirty="0">
                <a:solidFill>
                  <a:srgbClr val="FF0000"/>
                </a:solidFill>
                <a:latin typeface="微软雅黑" panose="020B0503020204020204" pitchFamily="34" charset="-122"/>
                <a:ea typeface="微软雅黑" panose="020B0503020204020204" pitchFamily="34" charset="-122"/>
              </a:rPr>
              <a:t>二维数组的关系；</a:t>
            </a:r>
            <a:endParaRPr lang="en-US" altLang="zh-CN" sz="2400" b="1" dirty="0">
              <a:solidFill>
                <a:srgbClr val="FF0000"/>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淘宝网chenying0907出品 4"/>
          <p:cNvSpPr txBox="1"/>
          <p:nvPr/>
        </p:nvSpPr>
        <p:spPr>
          <a:xfrm>
            <a:off x="1587600" y="264321"/>
            <a:ext cx="2780907" cy="523220"/>
          </a:xfrm>
          <a:prstGeom prst="rect">
            <a:avLst/>
          </a:prstGeom>
          <a:noFill/>
        </p:spPr>
        <p:txBody>
          <a:bodyPr wrap="square" rtlCol="0">
            <a:spAutoFit/>
          </a:bodyPr>
          <a:lstStyle/>
          <a:p>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实验回顾</a:t>
            </a:r>
          </a:p>
        </p:txBody>
      </p:sp>
      <p:cxnSp>
        <p:nvCxnSpPr>
          <p:cNvPr id="7" name="直接连接符 6"/>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bwMode="auto">
          <a:xfrm>
            <a:off x="1701900" y="1499693"/>
            <a:ext cx="6019013" cy="2677656"/>
          </a:xfrm>
          <a:prstGeom prst="rect">
            <a:avLst/>
          </a:prstGeom>
        </p:spPr>
        <p:txBody>
          <a:bodyPr wrap="square">
            <a:spAutoFit/>
            <a:scene3d>
              <a:camera prst="orthographicFront"/>
              <a:lightRig rig="threePt" dir="t"/>
            </a:scene3d>
            <a:sp3d contourW="12700"/>
          </a:bodyPr>
          <a:lstStyle/>
          <a:p>
            <a:pPr marL="457200" indent="-457200">
              <a:lnSpc>
                <a:spcPct val="200000"/>
              </a:lnSpc>
              <a:buFont typeface="Wingdings" panose="05000000000000000000" pitchFamily="2" charset="2"/>
              <a:buChar char="Ø"/>
              <a:defRPr/>
            </a:pPr>
            <a:r>
              <a:rPr lang="en-US" altLang="zh-CN" sz="2800" dirty="0">
                <a:solidFill>
                  <a:schemeClr val="tx1">
                    <a:lumMod val="85000"/>
                    <a:lumOff val="15000"/>
                  </a:schemeClr>
                </a:solidFill>
                <a:latin typeface="微软雅黑" panose="020B0503020204020204" pitchFamily="34" charset="-122"/>
                <a:ea typeface="微软雅黑" panose="020B0503020204020204" pitchFamily="34" charset="-122"/>
              </a:rPr>
              <a:t>1</a:t>
            </a:r>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、指针与一维数组间的关系</a:t>
            </a:r>
            <a:endParaRPr lang="en-US" altLang="zh-CN" sz="2800" dirty="0">
              <a:solidFill>
                <a:schemeClr val="tx1">
                  <a:lumMod val="85000"/>
                  <a:lumOff val="15000"/>
                </a:schemeClr>
              </a:solidFill>
              <a:latin typeface="微软雅黑" panose="020B0503020204020204" pitchFamily="34" charset="-122"/>
              <a:ea typeface="微软雅黑" panose="020B0503020204020204" pitchFamily="34" charset="-122"/>
            </a:endParaRPr>
          </a:p>
          <a:p>
            <a:pPr marL="457200" indent="-457200">
              <a:lnSpc>
                <a:spcPct val="200000"/>
              </a:lnSpc>
              <a:buFont typeface="Wingdings" panose="05000000000000000000" pitchFamily="2" charset="2"/>
              <a:buChar char="Ø"/>
              <a:defRPr/>
            </a:pPr>
            <a:r>
              <a:rPr lang="en-US" altLang="zh-CN" sz="2800" dirty="0">
                <a:solidFill>
                  <a:schemeClr val="tx1">
                    <a:lumMod val="85000"/>
                    <a:lumOff val="15000"/>
                  </a:schemeClr>
                </a:solidFill>
                <a:latin typeface="微软雅黑" panose="020B0503020204020204" pitchFamily="34" charset="-122"/>
                <a:ea typeface="微软雅黑" panose="020B0503020204020204" pitchFamily="34" charset="-122"/>
              </a:rPr>
              <a:t>2</a:t>
            </a:r>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、指针与二维数组间的关系</a:t>
            </a:r>
            <a:endParaRPr lang="en-US" altLang="zh-CN" sz="2800" dirty="0">
              <a:solidFill>
                <a:schemeClr val="tx1">
                  <a:lumMod val="85000"/>
                  <a:lumOff val="15000"/>
                </a:schemeClr>
              </a:solidFill>
              <a:latin typeface="微软雅黑" panose="020B0503020204020204" pitchFamily="34" charset="-122"/>
              <a:ea typeface="微软雅黑" panose="020B0503020204020204" pitchFamily="34" charset="-122"/>
            </a:endParaRPr>
          </a:p>
          <a:p>
            <a:pPr marL="457200" indent="-457200">
              <a:lnSpc>
                <a:spcPct val="200000"/>
              </a:lnSpc>
              <a:buFont typeface="Wingdings" panose="05000000000000000000" pitchFamily="2" charset="2"/>
              <a:buChar char="Ø"/>
              <a:defRPr/>
            </a:pPr>
            <a:r>
              <a:rPr lang="en-US" altLang="zh-CN" sz="2800" dirty="0">
                <a:solidFill>
                  <a:schemeClr val="tx1">
                    <a:lumMod val="85000"/>
                    <a:lumOff val="15000"/>
                  </a:schemeClr>
                </a:solidFill>
                <a:latin typeface="微软雅黑" panose="020B0503020204020204" pitchFamily="34" charset="-122"/>
                <a:ea typeface="微软雅黑" panose="020B0503020204020204" pitchFamily="34" charset="-122"/>
              </a:rPr>
              <a:t>3</a:t>
            </a:r>
            <a:r>
              <a:rPr lang="zh-CN" altLang="en-US" sz="2800" dirty="0">
                <a:solidFill>
                  <a:schemeClr val="tx1">
                    <a:lumMod val="85000"/>
                    <a:lumOff val="15000"/>
                  </a:schemeClr>
                </a:solidFill>
                <a:latin typeface="微软雅黑" panose="020B0503020204020204" pitchFamily="34" charset="-122"/>
                <a:ea typeface="微软雅黑" panose="020B0503020204020204" pitchFamily="34" charset="-122"/>
              </a:rPr>
              <a:t>、用指针变量作函数参数</a:t>
            </a:r>
          </a:p>
        </p:txBody>
      </p:sp>
    </p:spTree>
    <p:extLst>
      <p:ext uri="{BB962C8B-B14F-4D97-AF65-F5344CB8AC3E}">
        <p14:creationId xmlns:p14="http://schemas.microsoft.com/office/powerpoint/2010/main" val="3618743947"/>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bwMode="auto">
          <a:xfrm>
            <a:off x="415925" y="1052513"/>
            <a:ext cx="11665585" cy="266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7" rIns="92075" bIns="46037"/>
          <a:lstStyle>
            <a:lvl1pPr marL="374650" indent="-374650">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a:lnSpc>
                <a:spcPct val="110000"/>
              </a:lnSpc>
              <a:spcBef>
                <a:spcPct val="20000"/>
              </a:spcBef>
              <a:spcAft>
                <a:spcPts val="588"/>
              </a:spcAft>
              <a:buClr>
                <a:schemeClr val="tx1"/>
              </a:buClr>
              <a:buSzPct val="50000"/>
              <a:buFont typeface="Wingdings" panose="05000000000000000000" pitchFamily="2" charset="2"/>
              <a:buChar char="n"/>
            </a:pPr>
            <a:r>
              <a:rPr lang="zh-CN" altLang="en-US" sz="2800" b="0" dirty="0">
                <a:latin typeface="黑体" panose="02010609060101010101" pitchFamily="49" charset="-122"/>
                <a:ea typeface="黑体" panose="02010609060101010101" pitchFamily="49" charset="-122"/>
              </a:rPr>
              <a:t>指针和数组的关系极为密切</a:t>
            </a:r>
            <a:endParaRPr lang="en-US" altLang="zh-CN" sz="2800" b="0" dirty="0">
              <a:latin typeface="黑体" panose="02010609060101010101" pitchFamily="49" charset="-122"/>
              <a:ea typeface="黑体" panose="02010609060101010101" pitchFamily="49" charset="-122"/>
            </a:endParaRPr>
          </a:p>
          <a:p>
            <a:pPr lvl="1" eaLnBrk="1">
              <a:spcBef>
                <a:spcPct val="20000"/>
              </a:spcBef>
              <a:spcAft>
                <a:spcPts val="588"/>
              </a:spcAft>
              <a:buClr>
                <a:schemeClr val="tx1"/>
              </a:buClr>
              <a:buSzPct val="50000"/>
              <a:buFont typeface="Wingdings" panose="05000000000000000000" pitchFamily="2" charset="2"/>
              <a:buChar char="n"/>
            </a:pPr>
            <a:r>
              <a:rPr lang="zh-CN" altLang="en-US" sz="2400" b="0" dirty="0">
                <a:solidFill>
                  <a:srgbClr val="333399"/>
                </a:solidFill>
                <a:latin typeface="黑体" panose="02010609060101010101" pitchFamily="49" charset="-122"/>
                <a:ea typeface="黑体" panose="02010609060101010101" pitchFamily="49" charset="-122"/>
                <a:cs typeface="Times New Roman" panose="02020603050405020304" pitchFamily="18" charset="0"/>
              </a:rPr>
              <a:t>数组元素的等价引用形式：</a:t>
            </a:r>
            <a:r>
              <a:rPr lang="en-US" altLang="zh-CN" sz="2400" dirty="0">
                <a:solidFill>
                  <a:srgbClr val="C00000"/>
                </a:solidFill>
                <a:latin typeface="Courier New" panose="02070309020205020404" pitchFamily="49" charset="0"/>
                <a:ea typeface="黑体" panose="02010609060101010101" pitchFamily="49" charset="-122"/>
                <a:cs typeface="Courier New" panose="02070309020205020404" pitchFamily="49" charset="0"/>
              </a:rPr>
              <a:t>a[</a:t>
            </a:r>
            <a:r>
              <a:rPr lang="en-US" altLang="zh-CN" sz="2400" dirty="0" err="1">
                <a:solidFill>
                  <a:srgbClr val="C00000"/>
                </a:solidFill>
                <a:latin typeface="Courier New" panose="02070309020205020404" pitchFamily="49" charset="0"/>
                <a:ea typeface="黑体" panose="02010609060101010101" pitchFamily="49" charset="-122"/>
                <a:cs typeface="Courier New" panose="02070309020205020404" pitchFamily="49" charset="0"/>
              </a:rPr>
              <a:t>i</a:t>
            </a:r>
            <a:r>
              <a:rPr lang="en-US" altLang="zh-CN" sz="2400" dirty="0">
                <a:solidFill>
                  <a:srgbClr val="C00000"/>
                </a:solidFill>
                <a:latin typeface="Courier New" panose="02070309020205020404" pitchFamily="49" charset="0"/>
                <a:ea typeface="黑体" panose="02010609060101010101" pitchFamily="49" charset="-122"/>
                <a:cs typeface="Courier New" panose="02070309020205020404" pitchFamily="49" charset="0"/>
              </a:rPr>
              <a:t>]</a:t>
            </a:r>
            <a:r>
              <a:rPr lang="en-US" altLang="zh-CN" sz="2400" b="0" dirty="0">
                <a:solidFill>
                  <a:srgbClr val="C00000"/>
                </a:solidFill>
                <a:ea typeface="黑体" panose="02010609060101010101" pitchFamily="49" charset="-122"/>
                <a:cs typeface="Arial" panose="020B0604020202020204" pitchFamily="34" charset="0"/>
              </a:rPr>
              <a:t> ↔ </a:t>
            </a:r>
            <a:r>
              <a:rPr lang="en-US" altLang="zh-CN" sz="2400" dirty="0">
                <a:solidFill>
                  <a:srgbClr val="C00000"/>
                </a:solidFill>
                <a:latin typeface="Courier New" panose="02070309020205020404" pitchFamily="49" charset="0"/>
                <a:ea typeface="黑体" panose="02010609060101010101" pitchFamily="49" charset="-122"/>
                <a:cs typeface="Courier New" panose="02070309020205020404" pitchFamily="49" charset="0"/>
              </a:rPr>
              <a:t>*(</a:t>
            </a:r>
            <a:r>
              <a:rPr lang="en-US" altLang="zh-CN" sz="2400" dirty="0" err="1">
                <a:solidFill>
                  <a:srgbClr val="C00000"/>
                </a:solidFill>
                <a:latin typeface="Courier New" panose="02070309020205020404" pitchFamily="49" charset="0"/>
                <a:ea typeface="黑体" panose="02010609060101010101" pitchFamily="49" charset="-122"/>
                <a:cs typeface="Courier New" panose="02070309020205020404" pitchFamily="49" charset="0"/>
              </a:rPr>
              <a:t>a+i</a:t>
            </a:r>
            <a:r>
              <a:rPr lang="en-US" altLang="zh-CN" sz="2400" dirty="0">
                <a:solidFill>
                  <a:srgbClr val="C00000"/>
                </a:solidFill>
                <a:latin typeface="Courier New" panose="02070309020205020404" pitchFamily="49" charset="0"/>
                <a:ea typeface="黑体" panose="02010609060101010101" pitchFamily="49" charset="-122"/>
                <a:cs typeface="Courier New" panose="02070309020205020404" pitchFamily="49" charset="0"/>
              </a:rPr>
              <a:t>)</a:t>
            </a:r>
          </a:p>
          <a:p>
            <a:pPr lvl="1" eaLnBrk="1">
              <a:spcBef>
                <a:spcPct val="20000"/>
              </a:spcBef>
              <a:spcAft>
                <a:spcPts val="588"/>
              </a:spcAft>
              <a:buClr>
                <a:schemeClr val="tx1"/>
              </a:buClr>
              <a:buSzPct val="50000"/>
              <a:buFont typeface="Wingdings" panose="05000000000000000000" pitchFamily="2" charset="2"/>
              <a:buChar char="n"/>
            </a:pPr>
            <a:r>
              <a:rPr lang="zh-CN" altLang="en-US" sz="2400" b="0" dirty="0">
                <a:solidFill>
                  <a:srgbClr val="333399"/>
                </a:solidFill>
                <a:latin typeface="黑体" panose="02010609060101010101" pitchFamily="49" charset="-122"/>
                <a:ea typeface="黑体" panose="02010609060101010101" pitchFamily="49" charset="-122"/>
                <a:cs typeface="Times New Roman" panose="02020603050405020304" pitchFamily="18" charset="0"/>
              </a:rPr>
              <a:t>数组的名称</a:t>
            </a:r>
            <a:r>
              <a:rPr lang="zh-CN" altLang="en-US" sz="2400" b="0" dirty="0">
                <a:solidFill>
                  <a:srgbClr val="FF0000"/>
                </a:solidFill>
                <a:latin typeface="黑体" panose="02010609060101010101" pitchFamily="49" charset="-122"/>
                <a:ea typeface="黑体" panose="02010609060101010101" pitchFamily="49" charset="-122"/>
                <a:cs typeface="Times New Roman" panose="02020603050405020304" pitchFamily="18" charset="0"/>
              </a:rPr>
              <a:t>既是标识符又是数组指针</a:t>
            </a:r>
            <a:endParaRPr lang="en-US" altLang="zh-CN" sz="2400" b="0"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a:p>
            <a:pPr lvl="1" eaLnBrk="1">
              <a:spcBef>
                <a:spcPct val="20000"/>
              </a:spcBef>
              <a:spcAft>
                <a:spcPts val="588"/>
              </a:spcAft>
              <a:buClr>
                <a:schemeClr val="tx1"/>
              </a:buClr>
              <a:buSzPct val="50000"/>
              <a:buFont typeface="Wingdings" panose="05000000000000000000" pitchFamily="2" charset="2"/>
              <a:buChar char="n"/>
            </a:pPr>
            <a:r>
              <a:rPr lang="zh-CN" altLang="en-US" sz="2400" b="0" dirty="0">
                <a:solidFill>
                  <a:srgbClr val="333399"/>
                </a:solidFill>
                <a:latin typeface="Courier New" panose="02070309020205020404" pitchFamily="49" charset="0"/>
                <a:ea typeface="黑体" panose="02010609060101010101" pitchFamily="49" charset="-122"/>
                <a:cs typeface="Times New Roman" panose="02020603050405020304" pitchFamily="18" charset="0"/>
              </a:rPr>
              <a:t>用下标形式访问数组元素，本质是计算该元素在内存中的地址</a:t>
            </a:r>
            <a:r>
              <a:rPr lang="en-US" altLang="zh-CN" sz="2400" b="0" dirty="0">
                <a:solidFill>
                  <a:srgbClr val="333399"/>
                </a:solidFill>
                <a:latin typeface="Courier New" panose="02070309020205020404" pitchFamily="49" charset="0"/>
                <a:ea typeface="黑体" panose="02010609060101010101" pitchFamily="49" charset="-122"/>
                <a:cs typeface="Times New Roman" panose="02020603050405020304" pitchFamily="18" charset="0"/>
              </a:rPr>
              <a:t>,</a:t>
            </a:r>
            <a:r>
              <a:rPr lang="zh-CN" altLang="en-US" sz="2400" b="0" dirty="0">
                <a:solidFill>
                  <a:srgbClr val="333399"/>
                </a:solidFill>
                <a:latin typeface="Courier New" panose="02070309020205020404" pitchFamily="49" charset="0"/>
                <a:ea typeface="黑体" panose="02010609060101010101" pitchFamily="49" charset="-122"/>
                <a:cs typeface="Times New Roman" panose="02020603050405020304" pitchFamily="18" charset="0"/>
              </a:rPr>
              <a:t>然后访问这个地址中的内容</a:t>
            </a:r>
          </a:p>
        </p:txBody>
      </p:sp>
      <p:cxnSp>
        <p:nvCxnSpPr>
          <p:cNvPr id="5" name="直接连接符 4"/>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6"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1</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、指针与一维数组间的关系</a:t>
            </a:r>
          </a:p>
        </p:txBody>
      </p:sp>
      <p:pic>
        <p:nvPicPr>
          <p:cNvPr id="7"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2569" y="3473270"/>
            <a:ext cx="3919611" cy="3350440"/>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pic>
      <p:sp>
        <p:nvSpPr>
          <p:cNvPr id="8" name="Rectangle 3"/>
          <p:cNvSpPr txBox="1">
            <a:spLocks noChangeArrowheads="1"/>
          </p:cNvSpPr>
          <p:nvPr/>
        </p:nvSpPr>
        <p:spPr bwMode="auto">
          <a:xfrm>
            <a:off x="6727943" y="3681060"/>
            <a:ext cx="5056387" cy="3176940"/>
          </a:xfrm>
          <a:prstGeom prst="rect">
            <a:avLst/>
          </a:prstGeom>
          <a:noFill/>
          <a:ln w="9525">
            <a:noFill/>
            <a:miter lim="800000"/>
            <a:headEnd/>
            <a:tailEnd/>
          </a:ln>
          <a:effectLst/>
        </p:spPr>
        <p:txBody>
          <a:bodyPr lIns="92075" tIns="46037" rIns="92075" bIns="46037"/>
          <a:lstStyle/>
          <a:p>
            <a:pPr eaLnBrk="1">
              <a:lnSpc>
                <a:spcPct val="120000"/>
              </a:lnSpc>
              <a:spcBef>
                <a:spcPts val="600"/>
              </a:spcBef>
              <a:buClr>
                <a:srgbClr val="FFCC66"/>
              </a:buClr>
              <a:buSzPct val="80000"/>
              <a:buFont typeface="Wingdings" panose="05000000000000000000" pitchFamily="2" charset="2"/>
              <a:buNone/>
              <a:defRPr/>
            </a:pPr>
            <a:r>
              <a:rPr lang="en-US" altLang="zh-CN" sz="2000" dirty="0" err="1">
                <a:solidFill>
                  <a:srgbClr val="333399"/>
                </a:solidFill>
                <a:effectLst>
                  <a:outerShdw blurRad="38100" dist="38100" dir="2700000" algn="tl">
                    <a:srgbClr val="C0C0C0"/>
                  </a:outerShdw>
                </a:effectLst>
                <a:latin typeface="Courier New" pitchFamily="49" charset="0"/>
                <a:ea typeface="华文仿宋" pitchFamily="2" charset="-122"/>
                <a:cs typeface="Courier New" pitchFamily="49" charset="0"/>
              </a:rPr>
              <a:t>int</a:t>
            </a:r>
            <a:r>
              <a:rPr lang="en-US" altLang="zh-CN" sz="2000" dirty="0">
                <a:solidFill>
                  <a:srgbClr val="333399"/>
                </a:solidFill>
                <a:effectLst>
                  <a:outerShdw blurRad="38100" dist="38100" dir="2700000" algn="tl">
                    <a:srgbClr val="C0C0C0"/>
                  </a:outerShdw>
                </a:effectLst>
                <a:latin typeface="Courier New" pitchFamily="49" charset="0"/>
                <a:ea typeface="华文仿宋" pitchFamily="2" charset="-122"/>
                <a:cs typeface="Courier New" pitchFamily="49" charset="0"/>
              </a:rPr>
              <a:t> a[5];</a:t>
            </a:r>
          </a:p>
          <a:p>
            <a:pPr eaLnBrk="1">
              <a:lnSpc>
                <a:spcPct val="120000"/>
              </a:lnSpc>
              <a:spcBef>
                <a:spcPts val="600"/>
              </a:spcBef>
              <a:buClr>
                <a:srgbClr val="FFCC66"/>
              </a:buClr>
              <a:buSzPct val="80000"/>
              <a:buFont typeface="Wingdings" panose="05000000000000000000" pitchFamily="2" charset="2"/>
              <a:buNone/>
              <a:defRPr/>
            </a:pPr>
            <a:r>
              <a:rPr lang="en-US" altLang="zh-CN" sz="2000" dirty="0" err="1">
                <a:solidFill>
                  <a:srgbClr val="333399"/>
                </a:solidFill>
                <a:effectLst>
                  <a:outerShdw blurRad="38100" dist="38100" dir="2700000" algn="tl">
                    <a:srgbClr val="C0C0C0"/>
                  </a:outerShdw>
                </a:effectLst>
                <a:latin typeface="Courier New" pitchFamily="49" charset="0"/>
                <a:ea typeface="华文仿宋" pitchFamily="2" charset="-122"/>
                <a:cs typeface="Courier New" pitchFamily="49" charset="0"/>
              </a:rPr>
              <a:t>int</a:t>
            </a:r>
            <a:r>
              <a:rPr lang="en-US" altLang="zh-CN" sz="2000" dirty="0">
                <a:solidFill>
                  <a:srgbClr val="333399"/>
                </a:solidFill>
                <a:effectLst>
                  <a:outerShdw blurRad="38100" dist="38100" dir="2700000" algn="tl">
                    <a:srgbClr val="C0C0C0"/>
                  </a:outerShdw>
                </a:effectLst>
                <a:latin typeface="Courier New" pitchFamily="49" charset="0"/>
                <a:ea typeface="华文仿宋" pitchFamily="2" charset="-122"/>
                <a:cs typeface="Courier New" pitchFamily="49" charset="0"/>
              </a:rPr>
              <a:t> *p = a;//</a:t>
            </a:r>
            <a:r>
              <a:rPr lang="zh-CN" altLang="en-US" sz="2000" b="0" dirty="0">
                <a:solidFill>
                  <a:srgbClr val="333399"/>
                </a:solidFill>
                <a:latin typeface="黑体" pitchFamily="49" charset="-122"/>
                <a:ea typeface="黑体" pitchFamily="49" charset="-122"/>
                <a:cs typeface="Courier New" pitchFamily="49" charset="0"/>
              </a:rPr>
              <a:t>数组名是数组的首地址</a:t>
            </a:r>
            <a:endParaRPr lang="en-US" altLang="zh-CN" sz="2000" b="0" dirty="0">
              <a:solidFill>
                <a:srgbClr val="333399"/>
              </a:solidFill>
              <a:latin typeface="黑体" pitchFamily="49" charset="-122"/>
              <a:ea typeface="黑体" pitchFamily="49" charset="-122"/>
              <a:cs typeface="Courier New" pitchFamily="49" charset="0"/>
            </a:endParaRPr>
          </a:p>
          <a:p>
            <a:pPr eaLnBrk="1">
              <a:lnSpc>
                <a:spcPct val="120000"/>
              </a:lnSpc>
              <a:spcBef>
                <a:spcPts val="600"/>
              </a:spcBef>
              <a:buClr>
                <a:srgbClr val="FFCC66"/>
              </a:buClr>
              <a:buSzPct val="80000"/>
              <a:buFont typeface="Wingdings" panose="05000000000000000000" pitchFamily="2" charset="2"/>
              <a:buNone/>
              <a:defRPr/>
            </a:pPr>
            <a:r>
              <a:rPr lang="en-US" altLang="zh-CN" sz="2000" dirty="0" err="1">
                <a:solidFill>
                  <a:srgbClr val="333399"/>
                </a:solidFill>
                <a:effectLst>
                  <a:outerShdw blurRad="38100" dist="38100" dir="2700000" algn="tl">
                    <a:srgbClr val="C0C0C0"/>
                  </a:outerShdw>
                </a:effectLst>
                <a:latin typeface="Courier New" pitchFamily="49" charset="0"/>
                <a:ea typeface="华文仿宋" pitchFamily="2" charset="-122"/>
                <a:cs typeface="Courier New" pitchFamily="49" charset="0"/>
              </a:rPr>
              <a:t>int</a:t>
            </a:r>
            <a:r>
              <a:rPr lang="en-US" altLang="zh-CN" sz="2000" dirty="0">
                <a:solidFill>
                  <a:srgbClr val="333399"/>
                </a:solidFill>
                <a:effectLst>
                  <a:outerShdw blurRad="38100" dist="38100" dir="2700000" algn="tl">
                    <a:srgbClr val="C0C0C0"/>
                  </a:outerShdw>
                </a:effectLst>
                <a:latin typeface="Courier New" pitchFamily="49" charset="0"/>
                <a:ea typeface="华文仿宋" pitchFamily="2" charset="-122"/>
                <a:cs typeface="Courier New" pitchFamily="49" charset="0"/>
              </a:rPr>
              <a:t> *p = &amp;a[0];</a:t>
            </a:r>
          </a:p>
          <a:p>
            <a:pPr eaLnBrk="1">
              <a:lnSpc>
                <a:spcPct val="120000"/>
              </a:lnSpc>
              <a:spcBef>
                <a:spcPts val="600"/>
              </a:spcBef>
              <a:buClr>
                <a:srgbClr val="FFCC66"/>
              </a:buClr>
              <a:buSzPct val="80000"/>
              <a:buFont typeface="Wingdings" panose="05000000000000000000" pitchFamily="2" charset="2"/>
              <a:buNone/>
              <a:defRPr/>
            </a:pPr>
            <a:r>
              <a:rPr lang="en-US" altLang="zh-CN" sz="2000" dirty="0">
                <a:solidFill>
                  <a:srgbClr val="333399"/>
                </a:solidFill>
                <a:effectLst>
                  <a:outerShdw blurRad="38100" dist="38100" dir="2700000" algn="tl">
                    <a:srgbClr val="C0C0C0"/>
                  </a:outerShdw>
                </a:effectLst>
                <a:latin typeface="Courier New" pitchFamily="49" charset="0"/>
                <a:ea typeface="华文仿宋" pitchFamily="2" charset="-122"/>
                <a:cs typeface="Courier New" pitchFamily="49" charset="0"/>
              </a:rPr>
              <a:t>//&amp;a[0]</a:t>
            </a:r>
            <a:r>
              <a:rPr lang="zh-CN" altLang="en-US" sz="2000" b="0" dirty="0">
                <a:solidFill>
                  <a:srgbClr val="333399"/>
                </a:solidFill>
                <a:latin typeface="黑体" pitchFamily="49" charset="-122"/>
                <a:ea typeface="黑体" pitchFamily="49" charset="-122"/>
                <a:cs typeface="Courier New" pitchFamily="49" charset="0"/>
              </a:rPr>
              <a:t>是整型元素的地址</a:t>
            </a:r>
            <a:endParaRPr lang="en-US" altLang="zh-CN" sz="2000" b="0" dirty="0">
              <a:solidFill>
                <a:srgbClr val="333399"/>
              </a:solidFill>
              <a:latin typeface="黑体" pitchFamily="49" charset="-122"/>
              <a:ea typeface="黑体" pitchFamily="49" charset="-122"/>
              <a:cs typeface="Courier New" pitchFamily="49" charset="0"/>
            </a:endParaRPr>
          </a:p>
          <a:p>
            <a:pPr eaLnBrk="1">
              <a:lnSpc>
                <a:spcPct val="120000"/>
              </a:lnSpc>
              <a:spcBef>
                <a:spcPts val="600"/>
              </a:spcBef>
              <a:buClr>
                <a:srgbClr val="FFCC66"/>
              </a:buClr>
              <a:buSzPct val="80000"/>
              <a:buFont typeface="Wingdings" panose="05000000000000000000" pitchFamily="2" charset="2"/>
              <a:buNone/>
              <a:defRPr/>
            </a:pPr>
            <a:r>
              <a:rPr lang="en-US" altLang="zh-CN" sz="2000" dirty="0">
                <a:solidFill>
                  <a:srgbClr val="333399"/>
                </a:solidFill>
                <a:effectLst>
                  <a:outerShdw blurRad="38100" dist="38100" dir="2700000" algn="tl">
                    <a:srgbClr val="C0C0C0"/>
                  </a:outerShdw>
                </a:effectLst>
                <a:latin typeface="Courier New" pitchFamily="49" charset="0"/>
                <a:ea typeface="华文仿宋" pitchFamily="2" charset="-122"/>
                <a:cs typeface="Courier New" pitchFamily="49" charset="0"/>
              </a:rPr>
              <a:t>//p</a:t>
            </a:r>
            <a:r>
              <a:rPr lang="zh-CN" altLang="en-US" sz="2000" b="0" dirty="0">
                <a:solidFill>
                  <a:srgbClr val="333399"/>
                </a:solidFill>
                <a:latin typeface="黑体" pitchFamily="49" charset="-122"/>
                <a:ea typeface="黑体" pitchFamily="49" charset="-122"/>
                <a:cs typeface="Courier New" pitchFamily="49" charset="0"/>
              </a:rPr>
              <a:t>是整型指针</a:t>
            </a:r>
            <a:endParaRPr lang="en-US" altLang="zh-CN" sz="2000" b="0" dirty="0">
              <a:solidFill>
                <a:srgbClr val="333399"/>
              </a:solidFill>
              <a:latin typeface="黑体" pitchFamily="49" charset="-122"/>
              <a:ea typeface="黑体" pitchFamily="49" charset="-122"/>
              <a:cs typeface="Courier New" pitchFamily="49" charset="0"/>
            </a:endParaRPr>
          </a:p>
          <a:p>
            <a:pPr eaLnBrk="1">
              <a:lnSpc>
                <a:spcPct val="120000"/>
              </a:lnSpc>
              <a:spcBef>
                <a:spcPts val="600"/>
              </a:spcBef>
              <a:buClr>
                <a:srgbClr val="FFCC66"/>
              </a:buClr>
              <a:buSzPct val="80000"/>
              <a:buFont typeface="Wingdings" panose="05000000000000000000" pitchFamily="2" charset="2"/>
              <a:buNone/>
              <a:defRPr/>
            </a:pPr>
            <a:r>
              <a:rPr lang="en-US" altLang="zh-CN" sz="2000" dirty="0">
                <a:solidFill>
                  <a:srgbClr val="333399"/>
                </a:solidFill>
                <a:latin typeface="Courier New" pitchFamily="49" charset="0"/>
                <a:ea typeface="华文仿宋" pitchFamily="2" charset="-122"/>
                <a:cs typeface="Courier New" pitchFamily="49" charset="0"/>
              </a:rPr>
              <a:t>//a[0]</a:t>
            </a:r>
            <a:r>
              <a:rPr lang="zh-CN" altLang="en-US" sz="2000" b="0" dirty="0">
                <a:solidFill>
                  <a:srgbClr val="333399"/>
                </a:solidFill>
                <a:latin typeface="+mn-ea"/>
                <a:cs typeface="Courier New" pitchFamily="49" charset="0"/>
              </a:rPr>
              <a:t>的类型和</a:t>
            </a:r>
            <a:r>
              <a:rPr lang="en-US" altLang="zh-CN" sz="2000" dirty="0">
                <a:solidFill>
                  <a:srgbClr val="333399"/>
                </a:solidFill>
                <a:latin typeface="Courier New" pitchFamily="49" charset="0"/>
                <a:ea typeface="华文仿宋" pitchFamily="2" charset="-122"/>
                <a:cs typeface="Courier New" pitchFamily="49" charset="0"/>
              </a:rPr>
              <a:t>p</a:t>
            </a:r>
            <a:r>
              <a:rPr lang="zh-CN" altLang="en-US" sz="2000" b="0" dirty="0">
                <a:solidFill>
                  <a:srgbClr val="333399"/>
                </a:solidFill>
                <a:latin typeface="+mn-ea"/>
                <a:cs typeface="Courier New" pitchFamily="49" charset="0"/>
              </a:rPr>
              <a:t>的</a:t>
            </a:r>
            <a:r>
              <a:rPr lang="zh-CN" altLang="en-US" sz="2000" b="0" dirty="0">
                <a:solidFill>
                  <a:srgbClr val="FF0000"/>
                </a:solidFill>
                <a:latin typeface="+mn-ea"/>
                <a:cs typeface="Courier New" pitchFamily="49" charset="0"/>
              </a:rPr>
              <a:t>基类型相同</a:t>
            </a:r>
            <a:endParaRPr lang="en-US" altLang="zh-CN" sz="2000" b="0" dirty="0">
              <a:solidFill>
                <a:srgbClr val="FF0000"/>
              </a:solidFill>
              <a:latin typeface="+mn-ea"/>
              <a:cs typeface="Courier New" pitchFamily="49" charset="0"/>
            </a:endParaRPr>
          </a:p>
          <a:p>
            <a:pPr marL="374650" indent="-374650" eaLnBrk="1">
              <a:lnSpc>
                <a:spcPct val="110000"/>
              </a:lnSpc>
              <a:spcBef>
                <a:spcPct val="20000"/>
              </a:spcBef>
              <a:spcAft>
                <a:spcPts val="588"/>
              </a:spcAft>
              <a:buClr>
                <a:srgbClr val="FFCC66"/>
              </a:buClr>
              <a:buSzPct val="80000"/>
              <a:buFont typeface="Monotype Sorts"/>
              <a:buChar char=""/>
              <a:defRPr/>
            </a:pPr>
            <a:endParaRPr lang="en-US" altLang="zh-CN" sz="2000" b="0" dirty="0">
              <a:solidFill>
                <a:srgbClr val="333399"/>
              </a:solidFill>
              <a:effectLst>
                <a:outerShdw blurRad="38100" dist="38100" dir="2700000" algn="tl">
                  <a:srgbClr val="C0C0C0"/>
                </a:outerShdw>
              </a:effectLst>
              <a:latin typeface="Courier New" pitchFamily="49" charset="0"/>
              <a:ea typeface="华文仿宋" pitchFamily="2" charset="-122"/>
              <a:cs typeface="Courier New" pitchFamily="49" charset="0"/>
            </a:endParaRPr>
          </a:p>
        </p:txBody>
      </p:sp>
    </p:spTree>
    <p:extLst>
      <p:ext uri="{BB962C8B-B14F-4D97-AF65-F5344CB8AC3E}">
        <p14:creationId xmlns:p14="http://schemas.microsoft.com/office/powerpoint/2010/main" val="2177874008"/>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txBox="1">
            <a:spLocks/>
          </p:cNvSpPr>
          <p:nvPr/>
        </p:nvSpPr>
        <p:spPr>
          <a:xfrm>
            <a:off x="544355" y="1268413"/>
            <a:ext cx="8420100" cy="46116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onotype Sorts"/>
              <a:buNone/>
            </a:pPr>
            <a:r>
              <a:rPr lang="en-US" altLang="zh-CN" dirty="0">
                <a:latin typeface="黑体" panose="02010609060101010101" pitchFamily="49" charset="-122"/>
                <a:ea typeface="黑体" panose="02010609060101010101" pitchFamily="49" charset="-122"/>
                <a:cs typeface="Arial" panose="020B0604020202020204" pitchFamily="34" charset="0"/>
              </a:rPr>
              <a:t>【</a:t>
            </a:r>
            <a:r>
              <a:rPr lang="zh-CN" altLang="en-US" dirty="0">
                <a:latin typeface="黑体" panose="02010609060101010101" pitchFamily="49" charset="-122"/>
                <a:ea typeface="黑体" panose="02010609060101010101" pitchFamily="49" charset="-122"/>
                <a:cs typeface="Arial" panose="020B0604020202020204" pitchFamily="34" charset="0"/>
              </a:rPr>
              <a:t>例</a:t>
            </a:r>
            <a:r>
              <a:rPr lang="en-US" altLang="zh-CN" dirty="0">
                <a:latin typeface="黑体" panose="02010609060101010101" pitchFamily="49" charset="-122"/>
                <a:ea typeface="黑体" panose="02010609060101010101" pitchFamily="49" charset="-122"/>
                <a:cs typeface="Arial" panose="020B0604020202020204" pitchFamily="34" charset="0"/>
              </a:rPr>
              <a:t>1】</a:t>
            </a:r>
            <a:r>
              <a:rPr lang="zh-CN" altLang="en-US" dirty="0">
                <a:latin typeface="黑体" panose="02010609060101010101" pitchFamily="49" charset="-122"/>
                <a:ea typeface="黑体" panose="02010609060101010101" pitchFamily="49" charset="-122"/>
                <a:cs typeface="Arial" panose="020B0604020202020204" pitchFamily="34" charset="0"/>
              </a:rPr>
              <a:t>演示数组元素的引用方法 </a:t>
            </a:r>
          </a:p>
        </p:txBody>
      </p:sp>
      <p:pic>
        <p:nvPicPr>
          <p:cNvPr id="7"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2261" y="1807322"/>
            <a:ext cx="4624388" cy="395287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pic>
      <p:sp>
        <p:nvSpPr>
          <p:cNvPr id="9" name="Line 39"/>
          <p:cNvSpPr>
            <a:spLocks noChangeShapeType="1"/>
          </p:cNvSpPr>
          <p:nvPr/>
        </p:nvSpPr>
        <p:spPr bwMode="auto">
          <a:xfrm>
            <a:off x="8007770" y="2046400"/>
            <a:ext cx="1247775" cy="0"/>
          </a:xfrm>
          <a:prstGeom prst="line">
            <a:avLst/>
          </a:prstGeom>
          <a:noFill/>
          <a:ln w="57150">
            <a:solidFill>
              <a:srgbClr val="FF0000"/>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1</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、指针与一维数组间的关系</a:t>
            </a:r>
          </a:p>
        </p:txBody>
      </p:sp>
      <p:sp>
        <p:nvSpPr>
          <p:cNvPr id="11" name="Rectangle 4"/>
          <p:cNvSpPr>
            <a:spLocks noChangeArrowheads="1"/>
          </p:cNvSpPr>
          <p:nvPr/>
        </p:nvSpPr>
        <p:spPr bwMode="auto">
          <a:xfrm>
            <a:off x="1350620" y="1807322"/>
            <a:ext cx="4738688" cy="4606389"/>
          </a:xfrm>
          <a:prstGeom prst="rect">
            <a:avLst/>
          </a:prstGeom>
          <a:solidFill>
            <a:schemeClr val="bg1"/>
          </a:solidFill>
          <a:ln w="57150" cap="sq" cmpd="thickThin">
            <a:solidFill>
              <a:srgbClr val="000080"/>
            </a:solidFill>
            <a:miter lim="800000"/>
            <a:headEnd type="none" w="sm" len="sm"/>
            <a:tailEnd type="none" w="sm" len="sm"/>
          </a:ln>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#include &lt;</a:t>
            </a:r>
            <a:r>
              <a:rPr lang="en-US" altLang="zh-CN" sz="1600" b="1" dirty="0" err="1">
                <a:latin typeface="Courier New" panose="02070309020205020404" pitchFamily="49" charset="0"/>
                <a:ea typeface="宋体" panose="02010600030101010101" pitchFamily="2" charset="-122"/>
              </a:rPr>
              <a:t>stdio.h</a:t>
            </a:r>
            <a:r>
              <a:rPr lang="en-US" altLang="zh-CN" sz="1600" b="1" dirty="0">
                <a:latin typeface="Courier New" panose="02070309020205020404" pitchFamily="49" charset="0"/>
                <a:ea typeface="宋体" panose="02010600030101010101" pitchFamily="2" charset="-122"/>
              </a:rPr>
              <a:t>&gt;</a:t>
            </a:r>
          </a:p>
          <a:p>
            <a:pPr>
              <a:lnSpc>
                <a:spcPts val="2200"/>
              </a:lnSpc>
              <a:buClr>
                <a:schemeClr val="tx2"/>
              </a:buClr>
              <a:buSzPct val="80000"/>
              <a:buFont typeface="Wingdings" panose="05000000000000000000" pitchFamily="2" charset="2"/>
              <a:buNone/>
            </a:pPr>
            <a:r>
              <a:rPr lang="en-US" altLang="zh-CN" sz="1600" b="1" dirty="0" err="1">
                <a:latin typeface="Courier New" panose="02070309020205020404" pitchFamily="49" charset="0"/>
                <a:ea typeface="宋体" panose="02010600030101010101" pitchFamily="2" charset="-122"/>
              </a:rPr>
              <a:t>int</a:t>
            </a:r>
            <a:r>
              <a:rPr lang="en-US" altLang="zh-CN" sz="1600" b="1" dirty="0">
                <a:latin typeface="Courier New" panose="02070309020205020404" pitchFamily="49" charset="0"/>
                <a:ea typeface="宋体" panose="02010600030101010101" pitchFamily="2" charset="-122"/>
              </a:rPr>
              <a:t> main()</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int</a:t>
            </a:r>
            <a:r>
              <a:rPr lang="en-US" altLang="zh-CN" sz="1600" b="1" dirty="0">
                <a:latin typeface="Courier New" panose="02070309020205020404" pitchFamily="49" charset="0"/>
                <a:ea typeface="宋体" panose="02010600030101010101" pitchFamily="2" charset="-122"/>
              </a:rPr>
              <a:t> a[5],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printf</a:t>
            </a:r>
            <a:r>
              <a:rPr lang="en-US" altLang="zh-CN" sz="1600" b="1" dirty="0">
                <a:latin typeface="Courier New" panose="02070309020205020404" pitchFamily="49" charset="0"/>
                <a:ea typeface="宋体" panose="02010600030101010101" pitchFamily="2" charset="-122"/>
              </a:rPr>
              <a:t>("Input five numbers:");</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for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=0;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&lt;5;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solidFill>
                  <a:srgbClr val="FF0000"/>
                </a:solidFill>
                <a:latin typeface="Courier New" panose="02070309020205020404" pitchFamily="49" charset="0"/>
                <a:ea typeface="宋体" panose="02010600030101010101" pitchFamily="2" charset="-122"/>
              </a:rPr>
              <a:t>scanf</a:t>
            </a:r>
            <a:r>
              <a:rPr lang="en-US" altLang="zh-CN" sz="1600" b="1" dirty="0">
                <a:solidFill>
                  <a:srgbClr val="FF0000"/>
                </a:solidFill>
                <a:latin typeface="Courier New" panose="02070309020205020404" pitchFamily="49" charset="0"/>
                <a:ea typeface="宋体" panose="02010600030101010101" pitchFamily="2" charset="-122"/>
              </a:rPr>
              <a:t>("%d", &amp;a[</a:t>
            </a:r>
            <a:r>
              <a:rPr lang="en-US" altLang="zh-CN" sz="1600" b="1" dirty="0" err="1">
                <a:solidFill>
                  <a:srgbClr val="FF0000"/>
                </a:solidFill>
                <a:latin typeface="Courier New" panose="02070309020205020404" pitchFamily="49" charset="0"/>
                <a:ea typeface="宋体" panose="02010600030101010101" pitchFamily="2" charset="-122"/>
              </a:rPr>
              <a:t>i</a:t>
            </a:r>
            <a:r>
              <a:rPr lang="en-US" altLang="zh-CN" sz="1600" b="1" dirty="0">
                <a:solidFill>
                  <a:srgbClr val="FF0000"/>
                </a:solidFill>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for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=0;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&lt;5;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solidFill>
                  <a:srgbClr val="FF0000"/>
                </a:solidFill>
                <a:latin typeface="Courier New" panose="02070309020205020404" pitchFamily="49" charset="0"/>
                <a:ea typeface="宋体" panose="02010600030101010101" pitchFamily="2" charset="-122"/>
              </a:rPr>
              <a:t>printf</a:t>
            </a:r>
            <a:r>
              <a:rPr lang="en-US" altLang="zh-CN" sz="1600" b="1" dirty="0">
                <a:solidFill>
                  <a:srgbClr val="FF0000"/>
                </a:solidFill>
                <a:latin typeface="Courier New" panose="02070309020205020404" pitchFamily="49" charset="0"/>
                <a:ea typeface="宋体" panose="02010600030101010101" pitchFamily="2" charset="-122"/>
              </a:rPr>
              <a:t>("%4d", a[</a:t>
            </a:r>
            <a:r>
              <a:rPr lang="en-US" altLang="zh-CN" sz="1600" b="1" dirty="0" err="1">
                <a:solidFill>
                  <a:srgbClr val="FF0000"/>
                </a:solidFill>
                <a:latin typeface="Courier New" panose="02070309020205020404" pitchFamily="49" charset="0"/>
                <a:ea typeface="宋体" panose="02010600030101010101" pitchFamily="2" charset="-122"/>
              </a:rPr>
              <a:t>i</a:t>
            </a:r>
            <a:r>
              <a:rPr lang="en-US" altLang="zh-CN" sz="1600" b="1" dirty="0">
                <a:solidFill>
                  <a:srgbClr val="FF0000"/>
                </a:solidFill>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printf</a:t>
            </a:r>
            <a:r>
              <a:rPr lang="en-US" altLang="zh-CN" sz="1600" b="1" dirty="0">
                <a:latin typeface="Courier New" panose="02070309020205020404" pitchFamily="49" charset="0"/>
                <a:ea typeface="宋体" panose="02010600030101010101" pitchFamily="2" charset="-122"/>
              </a:rPr>
              <a:t>("\n");</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return 0;</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a:t>
            </a:r>
          </a:p>
        </p:txBody>
      </p:sp>
      <p:pic>
        <p:nvPicPr>
          <p:cNvPr id="5" name="图片 4"/>
          <p:cNvPicPr>
            <a:picLocks noChangeAspect="1"/>
          </p:cNvPicPr>
          <p:nvPr/>
        </p:nvPicPr>
        <p:blipFill>
          <a:blip r:embed="rId4"/>
          <a:stretch>
            <a:fillRect/>
          </a:stretch>
        </p:blipFill>
        <p:spPr>
          <a:xfrm>
            <a:off x="8443986" y="6119178"/>
            <a:ext cx="2381250" cy="333375"/>
          </a:xfrm>
          <a:prstGeom prst="rect">
            <a:avLst/>
          </a:prstGeom>
        </p:spPr>
      </p:pic>
      <p:sp>
        <p:nvSpPr>
          <p:cNvPr id="12" name="文本框 11"/>
          <p:cNvSpPr txBox="1"/>
          <p:nvPr/>
        </p:nvSpPr>
        <p:spPr>
          <a:xfrm>
            <a:off x="6927240" y="6065683"/>
            <a:ext cx="1664049" cy="400110"/>
          </a:xfrm>
          <a:prstGeom prst="rect">
            <a:avLst/>
          </a:prstGeom>
          <a:noFill/>
        </p:spPr>
        <p:txBody>
          <a:bodyPr wrap="square" rtlCol="0">
            <a:spAutoFit/>
          </a:bodyPr>
          <a:lstStyle/>
          <a:p>
            <a:r>
              <a:rPr lang="zh-CN" altLang="en-US" sz="2000" dirty="0">
                <a:latin typeface="黑体" panose="02010609060101010101" pitchFamily="49" charset="-122"/>
                <a:ea typeface="黑体" panose="02010609060101010101" pitchFamily="49" charset="-122"/>
              </a:rPr>
              <a:t>运行结果：</a:t>
            </a:r>
          </a:p>
        </p:txBody>
      </p:sp>
    </p:spTree>
    <p:extLst>
      <p:ext uri="{BB962C8B-B14F-4D97-AF65-F5344CB8AC3E}">
        <p14:creationId xmlns:p14="http://schemas.microsoft.com/office/powerpoint/2010/main" val="681638414"/>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txBox="1">
            <a:spLocks/>
          </p:cNvSpPr>
          <p:nvPr/>
        </p:nvSpPr>
        <p:spPr>
          <a:xfrm>
            <a:off x="544355" y="1268413"/>
            <a:ext cx="8420100" cy="46116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onotype Sorts"/>
              <a:buNone/>
            </a:pPr>
            <a:r>
              <a:rPr lang="en-US" altLang="zh-CN" dirty="0">
                <a:latin typeface="黑体" panose="02010609060101010101" pitchFamily="49" charset="-122"/>
                <a:ea typeface="黑体" panose="02010609060101010101" pitchFamily="49" charset="-122"/>
                <a:cs typeface="Arial" panose="020B0604020202020204" pitchFamily="34" charset="0"/>
              </a:rPr>
              <a:t>【</a:t>
            </a:r>
            <a:r>
              <a:rPr lang="zh-CN" altLang="en-US" dirty="0">
                <a:latin typeface="黑体" panose="02010609060101010101" pitchFamily="49" charset="-122"/>
                <a:ea typeface="黑体" panose="02010609060101010101" pitchFamily="49" charset="-122"/>
                <a:cs typeface="Arial" panose="020B0604020202020204" pitchFamily="34" charset="0"/>
              </a:rPr>
              <a:t>例</a:t>
            </a:r>
            <a:r>
              <a:rPr lang="en-US" altLang="zh-CN" dirty="0">
                <a:latin typeface="黑体" panose="02010609060101010101" pitchFamily="49" charset="-122"/>
                <a:ea typeface="黑体" panose="02010609060101010101" pitchFamily="49" charset="-122"/>
                <a:cs typeface="Arial" panose="020B0604020202020204" pitchFamily="34" charset="0"/>
              </a:rPr>
              <a:t>1】</a:t>
            </a:r>
            <a:r>
              <a:rPr lang="zh-CN" altLang="en-US" dirty="0">
                <a:latin typeface="黑体" panose="02010609060101010101" pitchFamily="49" charset="-122"/>
                <a:ea typeface="黑体" panose="02010609060101010101" pitchFamily="49" charset="-122"/>
                <a:cs typeface="Arial" panose="020B0604020202020204" pitchFamily="34" charset="0"/>
              </a:rPr>
              <a:t>演示数组元素的引用方法 </a:t>
            </a:r>
          </a:p>
        </p:txBody>
      </p:sp>
      <p:pic>
        <p:nvPicPr>
          <p:cNvPr id="7"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2261" y="1807322"/>
            <a:ext cx="4624388" cy="3952875"/>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pic>
      <p:sp>
        <p:nvSpPr>
          <p:cNvPr id="9" name="Line 39"/>
          <p:cNvSpPr>
            <a:spLocks noChangeShapeType="1"/>
          </p:cNvSpPr>
          <p:nvPr/>
        </p:nvSpPr>
        <p:spPr bwMode="auto">
          <a:xfrm>
            <a:off x="8007770" y="2046400"/>
            <a:ext cx="1247775" cy="0"/>
          </a:xfrm>
          <a:prstGeom prst="line">
            <a:avLst/>
          </a:prstGeom>
          <a:noFill/>
          <a:ln w="57150">
            <a:solidFill>
              <a:srgbClr val="FF0000"/>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1</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、指针与一维数组间的关系</a:t>
            </a:r>
          </a:p>
        </p:txBody>
      </p:sp>
      <p:sp>
        <p:nvSpPr>
          <p:cNvPr id="12" name="Rectangle 4"/>
          <p:cNvSpPr>
            <a:spLocks noChangeArrowheads="1"/>
          </p:cNvSpPr>
          <p:nvPr/>
        </p:nvSpPr>
        <p:spPr bwMode="auto">
          <a:xfrm>
            <a:off x="1350620" y="1807322"/>
            <a:ext cx="4738688" cy="4606389"/>
          </a:xfrm>
          <a:prstGeom prst="rect">
            <a:avLst/>
          </a:prstGeom>
          <a:solidFill>
            <a:schemeClr val="bg1"/>
          </a:solidFill>
          <a:ln w="57150" cap="sq" cmpd="thickThin">
            <a:solidFill>
              <a:srgbClr val="000080"/>
            </a:solidFill>
            <a:miter lim="800000"/>
            <a:headEnd type="none" w="sm" len="sm"/>
            <a:tailEnd type="none" w="sm" len="sm"/>
          </a:ln>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#include &lt;</a:t>
            </a:r>
            <a:r>
              <a:rPr lang="en-US" altLang="zh-CN" sz="1600" b="1" dirty="0" err="1">
                <a:latin typeface="Courier New" panose="02070309020205020404" pitchFamily="49" charset="0"/>
                <a:ea typeface="宋体" panose="02010600030101010101" pitchFamily="2" charset="-122"/>
              </a:rPr>
              <a:t>stdio.h</a:t>
            </a:r>
            <a:r>
              <a:rPr lang="en-US" altLang="zh-CN" sz="1600" b="1" dirty="0">
                <a:latin typeface="Courier New" panose="02070309020205020404" pitchFamily="49" charset="0"/>
                <a:ea typeface="宋体" panose="02010600030101010101" pitchFamily="2" charset="-122"/>
              </a:rPr>
              <a:t>&gt;</a:t>
            </a:r>
          </a:p>
          <a:p>
            <a:pPr>
              <a:lnSpc>
                <a:spcPts val="2200"/>
              </a:lnSpc>
              <a:buClr>
                <a:schemeClr val="tx2"/>
              </a:buClr>
              <a:buSzPct val="80000"/>
              <a:buFont typeface="Wingdings" panose="05000000000000000000" pitchFamily="2" charset="2"/>
              <a:buNone/>
            </a:pPr>
            <a:r>
              <a:rPr lang="en-US" altLang="zh-CN" sz="1600" b="1" dirty="0" err="1">
                <a:latin typeface="Courier New" panose="02070309020205020404" pitchFamily="49" charset="0"/>
                <a:ea typeface="宋体" panose="02010600030101010101" pitchFamily="2" charset="-122"/>
              </a:rPr>
              <a:t>int</a:t>
            </a:r>
            <a:r>
              <a:rPr lang="en-US" altLang="zh-CN" sz="1600" b="1" dirty="0">
                <a:latin typeface="Courier New" panose="02070309020205020404" pitchFamily="49" charset="0"/>
                <a:ea typeface="宋体" panose="02010600030101010101" pitchFamily="2" charset="-122"/>
              </a:rPr>
              <a:t> main()</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int</a:t>
            </a:r>
            <a:r>
              <a:rPr lang="en-US" altLang="zh-CN" sz="1600" b="1" dirty="0">
                <a:latin typeface="Courier New" panose="02070309020205020404" pitchFamily="49" charset="0"/>
                <a:ea typeface="宋体" panose="02010600030101010101" pitchFamily="2" charset="-122"/>
              </a:rPr>
              <a:t> a[5],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printf</a:t>
            </a:r>
            <a:r>
              <a:rPr lang="en-US" altLang="zh-CN" sz="1600" b="1" dirty="0">
                <a:latin typeface="Courier New" panose="02070309020205020404" pitchFamily="49" charset="0"/>
                <a:ea typeface="宋体" panose="02010600030101010101" pitchFamily="2" charset="-122"/>
              </a:rPr>
              <a:t>("Input five numbers:");</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for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=0;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&lt;5;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solidFill>
                  <a:srgbClr val="FF0000"/>
                </a:solidFill>
                <a:latin typeface="Courier New" panose="02070309020205020404" pitchFamily="49" charset="0"/>
                <a:ea typeface="宋体" panose="02010600030101010101" pitchFamily="2" charset="-122"/>
              </a:rPr>
              <a:t>scanf</a:t>
            </a:r>
            <a:r>
              <a:rPr lang="en-US" altLang="zh-CN" sz="1600" b="1" dirty="0">
                <a:solidFill>
                  <a:srgbClr val="FF0000"/>
                </a:solidFill>
                <a:latin typeface="Courier New" panose="02070309020205020404" pitchFamily="49" charset="0"/>
                <a:ea typeface="宋体" panose="02010600030101010101" pitchFamily="2" charset="-122"/>
              </a:rPr>
              <a:t>("%d", &amp;a[</a:t>
            </a:r>
            <a:r>
              <a:rPr lang="en-US" altLang="zh-CN" sz="1600" b="1" dirty="0" err="1">
                <a:solidFill>
                  <a:srgbClr val="FF0000"/>
                </a:solidFill>
                <a:latin typeface="Courier New" panose="02070309020205020404" pitchFamily="49" charset="0"/>
                <a:ea typeface="宋体" panose="02010600030101010101" pitchFamily="2" charset="-122"/>
              </a:rPr>
              <a:t>i</a:t>
            </a:r>
            <a:r>
              <a:rPr lang="en-US" altLang="zh-CN" sz="1600" b="1" dirty="0">
                <a:solidFill>
                  <a:srgbClr val="FF0000"/>
                </a:solidFill>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for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=0;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&lt;5;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solidFill>
                  <a:srgbClr val="FF0000"/>
                </a:solidFill>
                <a:latin typeface="Courier New" panose="02070309020205020404" pitchFamily="49" charset="0"/>
                <a:ea typeface="宋体" panose="02010600030101010101" pitchFamily="2" charset="-122"/>
              </a:rPr>
              <a:t>printf</a:t>
            </a:r>
            <a:r>
              <a:rPr lang="en-US" altLang="zh-CN" sz="1600" b="1" dirty="0">
                <a:solidFill>
                  <a:srgbClr val="FF0000"/>
                </a:solidFill>
                <a:latin typeface="Courier New" panose="02070309020205020404" pitchFamily="49" charset="0"/>
                <a:ea typeface="宋体" panose="02010600030101010101" pitchFamily="2" charset="-122"/>
              </a:rPr>
              <a:t>("%4d", a[</a:t>
            </a:r>
            <a:r>
              <a:rPr lang="en-US" altLang="zh-CN" sz="1600" b="1" dirty="0" err="1">
                <a:solidFill>
                  <a:srgbClr val="FF0000"/>
                </a:solidFill>
                <a:latin typeface="Courier New" panose="02070309020205020404" pitchFamily="49" charset="0"/>
                <a:ea typeface="宋体" panose="02010600030101010101" pitchFamily="2" charset="-122"/>
              </a:rPr>
              <a:t>i</a:t>
            </a:r>
            <a:r>
              <a:rPr lang="en-US" altLang="zh-CN" sz="1600" b="1" dirty="0">
                <a:solidFill>
                  <a:srgbClr val="FF0000"/>
                </a:solidFill>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printf</a:t>
            </a:r>
            <a:r>
              <a:rPr lang="en-US" altLang="zh-CN" sz="1600" b="1" dirty="0">
                <a:latin typeface="Courier New" panose="02070309020205020404" pitchFamily="49" charset="0"/>
                <a:ea typeface="宋体" panose="02010600030101010101" pitchFamily="2" charset="-122"/>
              </a:rPr>
              <a:t>("\n");</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return 0;</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a:t>
            </a:r>
          </a:p>
        </p:txBody>
      </p:sp>
      <p:sp>
        <p:nvSpPr>
          <p:cNvPr id="8" name="Rectangle 50"/>
          <p:cNvSpPr>
            <a:spLocks noChangeArrowheads="1"/>
          </p:cNvSpPr>
          <p:nvPr/>
        </p:nvSpPr>
        <p:spPr bwMode="auto">
          <a:xfrm>
            <a:off x="4133981" y="5215772"/>
            <a:ext cx="2541624" cy="402918"/>
          </a:xfrm>
          <a:prstGeom prst="rect">
            <a:avLst/>
          </a:prstGeom>
          <a:solidFill>
            <a:schemeClr val="bg2"/>
          </a:solidFill>
          <a:ln w="28575">
            <a:solidFill>
              <a:srgbClr val="339966"/>
            </a:solidFill>
            <a:miter lim="800000"/>
            <a:headEnd/>
            <a:tailEnd/>
          </a:ln>
        </p:spPr>
        <p:txBody>
          <a:bodyPr wrap="none" anchor="ctr"/>
          <a:lstStyle/>
          <a:p>
            <a:pPr algn="ctr">
              <a:lnSpc>
                <a:spcPct val="90000"/>
              </a:lnSpc>
              <a:spcBef>
                <a:spcPts val="588"/>
              </a:spcBef>
              <a:spcAft>
                <a:spcPts val="588"/>
              </a:spcAft>
              <a:buClr>
                <a:schemeClr val="tx2"/>
              </a:buClr>
              <a:buSzPct val="80000"/>
              <a:defRPr/>
            </a:pPr>
            <a:r>
              <a:rPr lang="en-US" altLang="zh-CN" sz="2000" dirty="0">
                <a:effectLst>
                  <a:outerShdw blurRad="38100" dist="38100" dir="2700000" algn="tl">
                    <a:srgbClr val="FFFFFF"/>
                  </a:outerShdw>
                </a:effectLst>
                <a:latin typeface="Courier New" pitchFamily="49" charset="0"/>
                <a:ea typeface="楷体_GB2312" pitchFamily="49" charset="-122"/>
              </a:rPr>
              <a:t>a[</a:t>
            </a:r>
            <a:r>
              <a:rPr lang="en-US" altLang="zh-CN" sz="2000" dirty="0" err="1">
                <a:solidFill>
                  <a:srgbClr val="C00000"/>
                </a:solidFill>
                <a:effectLst>
                  <a:outerShdw blurRad="38100" dist="38100" dir="2700000" algn="tl">
                    <a:srgbClr val="FFFFFF"/>
                  </a:outerShdw>
                </a:effectLst>
                <a:latin typeface="Courier New" pitchFamily="49" charset="0"/>
                <a:ea typeface="楷体_GB2312" pitchFamily="49" charset="-122"/>
              </a:rPr>
              <a:t>i</a:t>
            </a:r>
            <a:r>
              <a:rPr lang="en-US" altLang="zh-CN" sz="2000" dirty="0">
                <a:effectLst>
                  <a:outerShdw blurRad="38100" dist="38100" dir="2700000" algn="tl">
                    <a:srgbClr val="FFFFFF"/>
                  </a:outerShdw>
                </a:effectLst>
                <a:latin typeface="Courier New" pitchFamily="49" charset="0"/>
                <a:ea typeface="楷体_GB2312" pitchFamily="49" charset="-122"/>
              </a:rPr>
              <a:t>] </a:t>
            </a:r>
            <a:r>
              <a:rPr lang="en-US" altLang="zh-CN" sz="2000" dirty="0">
                <a:effectLst>
                  <a:outerShdw blurRad="38100" dist="38100" dir="2700000" algn="tl">
                    <a:srgbClr val="FFFFFF"/>
                  </a:outerShdw>
                </a:effectLst>
                <a:ea typeface="楷体_GB2312" pitchFamily="49" charset="-122"/>
                <a:cs typeface="Arial" pitchFamily="34" charset="0"/>
              </a:rPr>
              <a:t>↔</a:t>
            </a:r>
            <a:r>
              <a:rPr lang="en-US" altLang="zh-CN" sz="2000" dirty="0">
                <a:effectLst>
                  <a:outerShdw blurRad="38100" dist="38100" dir="2700000" algn="tl">
                    <a:srgbClr val="FFFFFF"/>
                  </a:outerShdw>
                </a:effectLst>
                <a:latin typeface="Courier New" pitchFamily="49" charset="0"/>
                <a:ea typeface="楷体_GB2312" pitchFamily="49" charset="-122"/>
              </a:rPr>
              <a:t> *(</a:t>
            </a:r>
            <a:r>
              <a:rPr lang="en-US" altLang="zh-CN" sz="2000" dirty="0" err="1">
                <a:effectLst>
                  <a:outerShdw blurRad="38100" dist="38100" dir="2700000" algn="tl">
                    <a:srgbClr val="FFFFFF"/>
                  </a:outerShdw>
                </a:effectLst>
                <a:latin typeface="Courier New" pitchFamily="49" charset="0"/>
                <a:ea typeface="楷体_GB2312" pitchFamily="49" charset="-122"/>
              </a:rPr>
              <a:t>a+</a:t>
            </a:r>
            <a:r>
              <a:rPr lang="en-US" altLang="zh-CN" sz="2000" dirty="0" err="1">
                <a:solidFill>
                  <a:srgbClr val="C00000"/>
                </a:solidFill>
                <a:effectLst>
                  <a:outerShdw blurRad="38100" dist="38100" dir="2700000" algn="tl">
                    <a:srgbClr val="FFFFFF"/>
                  </a:outerShdw>
                </a:effectLst>
                <a:latin typeface="Courier New" pitchFamily="49" charset="0"/>
                <a:ea typeface="楷体_GB2312" pitchFamily="49" charset="-122"/>
              </a:rPr>
              <a:t>i</a:t>
            </a:r>
            <a:r>
              <a:rPr lang="en-US" altLang="zh-CN" sz="2000" dirty="0">
                <a:effectLst>
                  <a:outerShdw blurRad="38100" dist="38100" dir="2700000" algn="tl">
                    <a:srgbClr val="FFFFFF"/>
                  </a:outerShdw>
                </a:effectLst>
                <a:latin typeface="Courier New" pitchFamily="49" charset="0"/>
                <a:ea typeface="楷体_GB2312" pitchFamily="49" charset="-122"/>
              </a:rPr>
              <a:t>)</a:t>
            </a:r>
          </a:p>
        </p:txBody>
      </p:sp>
      <p:sp>
        <p:nvSpPr>
          <p:cNvPr id="13" name="Rectangle 50"/>
          <p:cNvSpPr>
            <a:spLocks noChangeArrowheads="1"/>
          </p:cNvSpPr>
          <p:nvPr/>
        </p:nvSpPr>
        <p:spPr bwMode="auto">
          <a:xfrm>
            <a:off x="4423350" y="4110516"/>
            <a:ext cx="2252255" cy="425193"/>
          </a:xfrm>
          <a:prstGeom prst="rect">
            <a:avLst/>
          </a:prstGeom>
          <a:solidFill>
            <a:schemeClr val="bg2"/>
          </a:solidFill>
          <a:ln w="28575">
            <a:solidFill>
              <a:srgbClr val="339966"/>
            </a:solidFill>
            <a:miter lim="800000"/>
            <a:headEnd/>
            <a:tailEnd/>
          </a:ln>
        </p:spPr>
        <p:txBody>
          <a:bodyPr wrap="none" anchor="ctr"/>
          <a:lstStyle/>
          <a:p>
            <a:pPr algn="ctr">
              <a:lnSpc>
                <a:spcPct val="90000"/>
              </a:lnSpc>
              <a:spcBef>
                <a:spcPts val="588"/>
              </a:spcBef>
              <a:spcAft>
                <a:spcPts val="588"/>
              </a:spcAft>
              <a:buClr>
                <a:schemeClr val="tx2"/>
              </a:buClr>
              <a:buSzPct val="80000"/>
              <a:buFont typeface="Wingdings" panose="05000000000000000000" pitchFamily="2" charset="2"/>
              <a:buNone/>
              <a:defRPr/>
            </a:pPr>
            <a:r>
              <a:rPr lang="en-US" altLang="zh-CN" sz="2000" dirty="0">
                <a:effectLst>
                  <a:outerShdw blurRad="38100" dist="38100" dir="2700000" algn="tl">
                    <a:srgbClr val="FFFFFF"/>
                  </a:outerShdw>
                </a:effectLst>
                <a:latin typeface="Courier New" pitchFamily="49" charset="0"/>
                <a:ea typeface="楷体_GB2312" pitchFamily="49" charset="-122"/>
              </a:rPr>
              <a:t>&amp;a[</a:t>
            </a:r>
            <a:r>
              <a:rPr lang="en-US" altLang="zh-CN" sz="2000" dirty="0">
                <a:solidFill>
                  <a:srgbClr val="C00000"/>
                </a:solidFill>
                <a:effectLst>
                  <a:outerShdw blurRad="38100" dist="38100" dir="2700000" algn="tl">
                    <a:srgbClr val="FFFFFF"/>
                  </a:outerShdw>
                </a:effectLst>
                <a:latin typeface="Courier New" pitchFamily="49" charset="0"/>
                <a:ea typeface="楷体_GB2312" pitchFamily="49" charset="-122"/>
              </a:rPr>
              <a:t>i</a:t>
            </a:r>
            <a:r>
              <a:rPr lang="en-US" altLang="zh-CN" sz="2000" dirty="0">
                <a:effectLst>
                  <a:outerShdw blurRad="38100" dist="38100" dir="2700000" algn="tl">
                    <a:srgbClr val="FFFFFF"/>
                  </a:outerShdw>
                </a:effectLst>
                <a:latin typeface="Courier New" pitchFamily="49" charset="0"/>
                <a:ea typeface="楷体_GB2312" pitchFamily="49" charset="-122"/>
              </a:rPr>
              <a:t>] </a:t>
            </a:r>
            <a:r>
              <a:rPr lang="en-US" altLang="zh-CN" sz="2000" dirty="0">
                <a:effectLst>
                  <a:outerShdw blurRad="38100" dist="38100" dir="2700000" algn="tl">
                    <a:srgbClr val="FFFFFF"/>
                  </a:outerShdw>
                </a:effectLst>
                <a:ea typeface="楷体_GB2312" pitchFamily="49" charset="-122"/>
              </a:rPr>
              <a:t>↔</a:t>
            </a:r>
            <a:r>
              <a:rPr lang="en-US" altLang="zh-CN" sz="2000" dirty="0">
                <a:effectLst>
                  <a:outerShdw blurRad="38100" dist="38100" dir="2700000" algn="tl">
                    <a:srgbClr val="FFFFFF"/>
                  </a:outerShdw>
                </a:effectLst>
                <a:latin typeface="Courier New" pitchFamily="49" charset="0"/>
                <a:ea typeface="楷体_GB2312" pitchFamily="49" charset="-122"/>
              </a:rPr>
              <a:t> (</a:t>
            </a:r>
            <a:r>
              <a:rPr lang="en-US" altLang="zh-CN" sz="2000" dirty="0" err="1">
                <a:effectLst>
                  <a:outerShdw blurRad="38100" dist="38100" dir="2700000" algn="tl">
                    <a:srgbClr val="FFFFFF"/>
                  </a:outerShdw>
                </a:effectLst>
                <a:latin typeface="Courier New" pitchFamily="49" charset="0"/>
                <a:ea typeface="楷体_GB2312" pitchFamily="49" charset="-122"/>
              </a:rPr>
              <a:t>a+</a:t>
            </a:r>
            <a:r>
              <a:rPr lang="en-US" altLang="zh-CN" sz="2000" dirty="0" err="1">
                <a:solidFill>
                  <a:srgbClr val="C00000"/>
                </a:solidFill>
                <a:effectLst>
                  <a:outerShdw blurRad="38100" dist="38100" dir="2700000" algn="tl">
                    <a:srgbClr val="FFFFFF"/>
                  </a:outerShdw>
                </a:effectLst>
                <a:latin typeface="Courier New" pitchFamily="49" charset="0"/>
                <a:ea typeface="楷体_GB2312" pitchFamily="49" charset="-122"/>
              </a:rPr>
              <a:t>i</a:t>
            </a:r>
            <a:r>
              <a:rPr lang="en-US" altLang="zh-CN" sz="2000" dirty="0">
                <a:effectLst>
                  <a:outerShdw blurRad="38100" dist="38100" dir="2700000" algn="tl">
                    <a:srgbClr val="FFFFFF"/>
                  </a:outerShdw>
                </a:effectLst>
                <a:latin typeface="Courier New" pitchFamily="49" charset="0"/>
                <a:ea typeface="楷体_GB2312" pitchFamily="49" charset="-122"/>
              </a:rPr>
              <a:t>)</a:t>
            </a:r>
          </a:p>
        </p:txBody>
      </p:sp>
      <p:sp>
        <p:nvSpPr>
          <p:cNvPr id="15" name="Text Box 7"/>
          <p:cNvSpPr txBox="1">
            <a:spLocks noChangeArrowheads="1"/>
          </p:cNvSpPr>
          <p:nvPr/>
        </p:nvSpPr>
        <p:spPr bwMode="auto">
          <a:xfrm>
            <a:off x="6199448" y="5929934"/>
            <a:ext cx="5888380" cy="830997"/>
          </a:xfrm>
          <a:prstGeom prst="rect">
            <a:avLst/>
          </a:prstGeom>
          <a:solidFill>
            <a:srgbClr val="FFFF00"/>
          </a:solidFill>
          <a:ln w="38100">
            <a:solidFill>
              <a:schemeClr val="tx1"/>
            </a:solidFill>
            <a:miter lim="800000"/>
            <a:headEnd/>
            <a:tailEnd/>
          </a:ln>
        </p:spPr>
        <p:txBody>
          <a:bodyPr wrap="squar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r>
              <a:rPr lang="zh-CN" altLang="en-US" sz="2400" dirty="0">
                <a:solidFill>
                  <a:srgbClr val="FF0000"/>
                </a:solidFill>
                <a:latin typeface="黑体" panose="02010609060101010101" pitchFamily="49" charset="-122"/>
                <a:ea typeface="黑体" panose="02010609060101010101" pitchFamily="49" charset="-122"/>
              </a:rPr>
              <a:t>课堂练习</a:t>
            </a:r>
            <a:r>
              <a:rPr lang="zh-CN" altLang="en-US" sz="2400" dirty="0">
                <a:latin typeface="黑体" panose="02010609060101010101" pitchFamily="49" charset="-122"/>
                <a:ea typeface="黑体" panose="02010609060101010101" pitchFamily="49" charset="-122"/>
              </a:rPr>
              <a:t>：请同学们改写这两处代码，替换成指针形式，再次运行程序。</a:t>
            </a:r>
          </a:p>
        </p:txBody>
      </p:sp>
    </p:spTree>
    <p:extLst>
      <p:ext uri="{BB962C8B-B14F-4D97-AF65-F5344CB8AC3E}">
        <p14:creationId xmlns:p14="http://schemas.microsoft.com/office/powerpoint/2010/main" val="67388862"/>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txBox="1">
            <a:spLocks/>
          </p:cNvSpPr>
          <p:nvPr/>
        </p:nvSpPr>
        <p:spPr>
          <a:xfrm>
            <a:off x="544355" y="1268413"/>
            <a:ext cx="8420100" cy="46116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onotype Sorts"/>
              <a:buNone/>
            </a:pPr>
            <a:r>
              <a:rPr lang="en-US" altLang="zh-CN" dirty="0">
                <a:latin typeface="黑体" panose="02010609060101010101" pitchFamily="49" charset="-122"/>
                <a:ea typeface="黑体" panose="02010609060101010101" pitchFamily="49" charset="-122"/>
                <a:cs typeface="Arial" panose="020B0604020202020204" pitchFamily="34" charset="0"/>
              </a:rPr>
              <a:t>【</a:t>
            </a:r>
            <a:r>
              <a:rPr lang="zh-CN" altLang="en-US" dirty="0">
                <a:latin typeface="黑体" panose="02010609060101010101" pitchFamily="49" charset="-122"/>
                <a:ea typeface="黑体" panose="02010609060101010101" pitchFamily="49" charset="-122"/>
                <a:cs typeface="Arial" panose="020B0604020202020204" pitchFamily="34" charset="0"/>
              </a:rPr>
              <a:t>例</a:t>
            </a:r>
            <a:r>
              <a:rPr lang="en-US" altLang="zh-CN" dirty="0">
                <a:latin typeface="黑体" panose="02010609060101010101" pitchFamily="49" charset="-122"/>
                <a:ea typeface="黑体" panose="02010609060101010101" pitchFamily="49" charset="-122"/>
                <a:cs typeface="Arial" panose="020B0604020202020204" pitchFamily="34" charset="0"/>
              </a:rPr>
              <a:t>2】</a:t>
            </a:r>
            <a:r>
              <a:rPr lang="zh-CN" altLang="en-US" dirty="0">
                <a:latin typeface="黑体" panose="02010609060101010101" pitchFamily="49" charset="-122"/>
                <a:ea typeface="黑体" panose="02010609060101010101" pitchFamily="49" charset="-122"/>
                <a:cs typeface="Arial" panose="020B0604020202020204" pitchFamily="34" charset="0"/>
              </a:rPr>
              <a:t>演示数组元素的引用方法</a:t>
            </a:r>
            <a:r>
              <a:rPr lang="en-US" altLang="zh-CN" dirty="0">
                <a:latin typeface="黑体" panose="02010609060101010101" pitchFamily="49" charset="-122"/>
                <a:ea typeface="黑体" panose="02010609060101010101" pitchFamily="49" charset="-122"/>
                <a:cs typeface="Arial" panose="020B0604020202020204" pitchFamily="34" charset="0"/>
              </a:rPr>
              <a:t>2</a:t>
            </a:r>
            <a:r>
              <a:rPr lang="zh-CN" altLang="en-US" dirty="0">
                <a:latin typeface="黑体" panose="02010609060101010101" pitchFamily="49" charset="-122"/>
                <a:ea typeface="黑体" panose="02010609060101010101" pitchFamily="49" charset="-122"/>
                <a:cs typeface="Arial" panose="020B0604020202020204" pitchFamily="34" charset="0"/>
              </a:rPr>
              <a:t> </a:t>
            </a:r>
          </a:p>
        </p:txBody>
      </p:sp>
      <p:pic>
        <p:nvPicPr>
          <p:cNvPr id="5"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4154" y="1840928"/>
            <a:ext cx="4800600" cy="3754437"/>
          </a:xfrm>
          <a:prstGeom prst="rect">
            <a:avLst/>
          </a:prstGeom>
          <a:noFill/>
          <a:ln w="127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pic>
      <p:sp>
        <p:nvSpPr>
          <p:cNvPr id="7" name="Line 39"/>
          <p:cNvSpPr>
            <a:spLocks noChangeShapeType="1"/>
          </p:cNvSpPr>
          <p:nvPr/>
        </p:nvSpPr>
        <p:spPr bwMode="auto">
          <a:xfrm>
            <a:off x="7716679" y="2080260"/>
            <a:ext cx="1247775" cy="0"/>
          </a:xfrm>
          <a:prstGeom prst="line">
            <a:avLst/>
          </a:prstGeom>
          <a:noFill/>
          <a:ln w="57150">
            <a:solidFill>
              <a:srgbClr val="FF0000"/>
            </a:solidFill>
            <a:round/>
            <a:headEnd type="none" w="sm" len="sm"/>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 name="Rectangle 15"/>
          <p:cNvSpPr>
            <a:spLocks noChangeArrowheads="1"/>
          </p:cNvSpPr>
          <p:nvPr/>
        </p:nvSpPr>
        <p:spPr bwMode="auto">
          <a:xfrm>
            <a:off x="1668114" y="875464"/>
            <a:ext cx="8277225" cy="4191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87" tIns="45094" rIns="90187" bIns="45094">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a:spcBef>
                <a:spcPct val="30000"/>
              </a:spcBef>
            </a:pPr>
            <a:r>
              <a:rPr lang="zh-CN" altLang="en-US" b="0"/>
              <a:t>如果指针的基类型占</a:t>
            </a:r>
            <a:r>
              <a:rPr lang="en-US" altLang="zh-CN" b="0"/>
              <a:t>n</a:t>
            </a:r>
            <a:r>
              <a:rPr lang="zh-CN" altLang="en-US" b="0"/>
              <a:t>个字节，那么</a:t>
            </a:r>
            <a:r>
              <a:rPr lang="en-US" altLang="zh-CN" b="0"/>
              <a:t>(</a:t>
            </a:r>
            <a:r>
              <a:rPr lang="zh-CN" altLang="en-US" b="0"/>
              <a:t>指针</a:t>
            </a:r>
            <a:r>
              <a:rPr lang="en-US" altLang="zh-CN" b="0"/>
              <a:t>+i)</a:t>
            </a:r>
            <a:r>
              <a:rPr lang="zh-CN" altLang="en-US" b="0"/>
              <a:t>的值为（指针的地址值</a:t>
            </a:r>
            <a:r>
              <a:rPr lang="en-US" altLang="zh-CN" b="0"/>
              <a:t>+n*i</a:t>
            </a:r>
            <a:r>
              <a:rPr lang="zh-CN" altLang="en-US" b="0"/>
              <a:t>）</a:t>
            </a:r>
          </a:p>
        </p:txBody>
      </p:sp>
      <p:sp>
        <p:nvSpPr>
          <p:cNvPr id="10"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1</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、指针与一维数组间的关系</a:t>
            </a:r>
          </a:p>
        </p:txBody>
      </p:sp>
      <p:sp>
        <p:nvSpPr>
          <p:cNvPr id="11" name="Rectangle 4"/>
          <p:cNvSpPr>
            <a:spLocks noChangeArrowheads="1"/>
          </p:cNvSpPr>
          <p:nvPr/>
        </p:nvSpPr>
        <p:spPr bwMode="auto">
          <a:xfrm>
            <a:off x="1149605" y="1837965"/>
            <a:ext cx="4738688" cy="4606389"/>
          </a:xfrm>
          <a:prstGeom prst="rect">
            <a:avLst/>
          </a:prstGeom>
          <a:solidFill>
            <a:schemeClr val="bg1"/>
          </a:solidFill>
          <a:ln w="57150" cap="sq" cmpd="thickThin">
            <a:solidFill>
              <a:srgbClr val="000080"/>
            </a:solidFill>
            <a:miter lim="800000"/>
            <a:headEnd type="none" w="sm" len="sm"/>
            <a:tailEnd type="none" w="sm" len="sm"/>
          </a:ln>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#include &lt;</a:t>
            </a:r>
            <a:r>
              <a:rPr lang="en-US" altLang="zh-CN" sz="1600" b="1" dirty="0" err="1">
                <a:latin typeface="Courier New" panose="02070309020205020404" pitchFamily="49" charset="0"/>
                <a:ea typeface="宋体" panose="02010600030101010101" pitchFamily="2" charset="-122"/>
              </a:rPr>
              <a:t>stdio.h</a:t>
            </a:r>
            <a:r>
              <a:rPr lang="en-US" altLang="zh-CN" sz="1600" b="1" dirty="0">
                <a:latin typeface="Courier New" panose="02070309020205020404" pitchFamily="49" charset="0"/>
                <a:ea typeface="宋体" panose="02010600030101010101" pitchFamily="2" charset="-122"/>
              </a:rPr>
              <a:t>&gt;</a:t>
            </a:r>
          </a:p>
          <a:p>
            <a:pPr>
              <a:lnSpc>
                <a:spcPts val="2200"/>
              </a:lnSpc>
              <a:buClr>
                <a:schemeClr val="tx2"/>
              </a:buClr>
              <a:buSzPct val="80000"/>
              <a:buFont typeface="Wingdings" panose="05000000000000000000" pitchFamily="2" charset="2"/>
              <a:buNone/>
            </a:pPr>
            <a:r>
              <a:rPr lang="en-US" altLang="zh-CN" sz="1600" b="1" dirty="0" err="1">
                <a:latin typeface="Courier New" panose="02070309020205020404" pitchFamily="49" charset="0"/>
                <a:ea typeface="宋体" panose="02010600030101010101" pitchFamily="2" charset="-122"/>
              </a:rPr>
              <a:t>int</a:t>
            </a:r>
            <a:r>
              <a:rPr lang="en-US" altLang="zh-CN" sz="1600" b="1" dirty="0">
                <a:latin typeface="Courier New" panose="02070309020205020404" pitchFamily="49" charset="0"/>
                <a:ea typeface="宋体" panose="02010600030101010101" pitchFamily="2" charset="-122"/>
              </a:rPr>
              <a:t> main()</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int</a:t>
            </a:r>
            <a:r>
              <a:rPr lang="en-US" altLang="zh-CN" sz="1600" b="1" dirty="0">
                <a:latin typeface="Courier New" panose="02070309020205020404" pitchFamily="49" charset="0"/>
                <a:ea typeface="宋体" panose="02010600030101010101" pitchFamily="2" charset="-122"/>
              </a:rPr>
              <a:t> a[5], *p;</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printf</a:t>
            </a:r>
            <a:r>
              <a:rPr lang="en-US" altLang="zh-CN" sz="1600" b="1" dirty="0">
                <a:latin typeface="Courier New" panose="02070309020205020404" pitchFamily="49" charset="0"/>
                <a:ea typeface="宋体" panose="02010600030101010101" pitchFamily="2" charset="-122"/>
              </a:rPr>
              <a:t>("Input five numbers:");</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a:solidFill>
                  <a:srgbClr val="FF0000"/>
                </a:solidFill>
                <a:latin typeface="Courier New" panose="02070309020205020404" pitchFamily="49" charset="0"/>
                <a:ea typeface="宋体" panose="02010600030101010101" pitchFamily="2" charset="-122"/>
              </a:rPr>
              <a:t>for (p = a; p&lt;a+5; p++)</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solidFill>
                  <a:srgbClr val="FF0000"/>
                </a:solidFill>
                <a:latin typeface="Courier New" panose="02070309020205020404" pitchFamily="49" charset="0"/>
                <a:ea typeface="宋体" panose="02010600030101010101" pitchFamily="2" charset="-122"/>
              </a:rPr>
              <a:t>scanf</a:t>
            </a:r>
            <a:r>
              <a:rPr lang="en-US" altLang="zh-CN" sz="1600" b="1" dirty="0">
                <a:solidFill>
                  <a:srgbClr val="FF0000"/>
                </a:solidFill>
                <a:latin typeface="Courier New" panose="02070309020205020404" pitchFamily="49" charset="0"/>
                <a:ea typeface="宋体" panose="02010600030101010101" pitchFamily="2" charset="-122"/>
              </a:rPr>
              <a:t>("%d", p);</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a:solidFill>
                  <a:srgbClr val="FF0000"/>
                </a:solidFill>
                <a:latin typeface="Courier New" panose="02070309020205020404" pitchFamily="49" charset="0"/>
                <a:ea typeface="宋体" panose="02010600030101010101" pitchFamily="2" charset="-122"/>
              </a:rPr>
              <a:t>for (p = a; p&lt;a+5; p++)</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solidFill>
                  <a:srgbClr val="FF0000"/>
                </a:solidFill>
                <a:latin typeface="Courier New" panose="02070309020205020404" pitchFamily="49" charset="0"/>
                <a:ea typeface="宋体" panose="02010600030101010101" pitchFamily="2" charset="-122"/>
              </a:rPr>
              <a:t>printf</a:t>
            </a:r>
            <a:r>
              <a:rPr lang="en-US" altLang="zh-CN" sz="1600" b="1" dirty="0">
                <a:solidFill>
                  <a:srgbClr val="FF0000"/>
                </a:solidFill>
                <a:latin typeface="Courier New" panose="02070309020205020404" pitchFamily="49" charset="0"/>
                <a:ea typeface="宋体" panose="02010600030101010101" pitchFamily="2" charset="-122"/>
              </a:rPr>
              <a:t>("%4d", *p);</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printf</a:t>
            </a:r>
            <a:r>
              <a:rPr lang="en-US" altLang="zh-CN" sz="1600" b="1" dirty="0">
                <a:latin typeface="Courier New" panose="02070309020205020404" pitchFamily="49" charset="0"/>
                <a:ea typeface="宋体" panose="02010600030101010101" pitchFamily="2" charset="-122"/>
              </a:rPr>
              <a:t>("\n");</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return 0;</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a:t>
            </a:r>
          </a:p>
        </p:txBody>
      </p:sp>
      <p:sp>
        <p:nvSpPr>
          <p:cNvPr id="13" name="Rectangle 3"/>
          <p:cNvSpPr txBox="1">
            <a:spLocks noChangeArrowheads="1"/>
          </p:cNvSpPr>
          <p:nvPr/>
        </p:nvSpPr>
        <p:spPr bwMode="auto">
          <a:xfrm>
            <a:off x="4201127" y="5653379"/>
            <a:ext cx="7163627" cy="859271"/>
          </a:xfrm>
          <a:prstGeom prst="rect">
            <a:avLst/>
          </a:prstGeom>
          <a:solidFill>
            <a:schemeClr val="bg2"/>
          </a:solidFill>
          <a:ln w="25400">
            <a:solidFill>
              <a:srgbClr val="009900"/>
            </a:solidFill>
            <a:miter lim="800000"/>
            <a:headEnd/>
            <a:tailEnd/>
          </a:ln>
          <a:effectLst/>
        </p:spPr>
        <p:txBody>
          <a:bodyPr lIns="92075" tIns="46037" rIns="92075" bIns="46037"/>
          <a:lstStyle/>
          <a:p>
            <a:pPr>
              <a:lnSpc>
                <a:spcPct val="120000"/>
              </a:lnSpc>
              <a:buClr>
                <a:srgbClr val="FFCC66"/>
              </a:buClr>
              <a:buSzPct val="80000"/>
              <a:defRPr/>
            </a:pPr>
            <a:r>
              <a:rPr lang="zh-CN" altLang="en-US" sz="2000" dirty="0">
                <a:solidFill>
                  <a:prstClr val="black"/>
                </a:solidFill>
                <a:latin typeface="黑体" pitchFamily="49" charset="-122"/>
                <a:ea typeface="黑体" pitchFamily="49" charset="-122"/>
                <a:cs typeface="Courier New" pitchFamily="49" charset="0"/>
              </a:rPr>
              <a:t>因</a:t>
            </a:r>
            <a:r>
              <a:rPr lang="en-US" altLang="zh-CN" sz="2000" dirty="0">
                <a:solidFill>
                  <a:prstClr val="black"/>
                </a:solidFill>
                <a:latin typeface="Courier New" pitchFamily="49" charset="0"/>
                <a:ea typeface="华文仿宋" pitchFamily="2" charset="-122"/>
                <a:cs typeface="Courier New" pitchFamily="49" charset="0"/>
              </a:rPr>
              <a:t>p</a:t>
            </a:r>
            <a:r>
              <a:rPr lang="zh-CN" altLang="en-US" sz="2000" dirty="0">
                <a:solidFill>
                  <a:prstClr val="black"/>
                </a:solidFill>
                <a:latin typeface="黑体" pitchFamily="2" charset="-122"/>
                <a:ea typeface="黑体" pitchFamily="2" charset="-122"/>
                <a:cs typeface="Courier New" pitchFamily="49" charset="0"/>
              </a:rPr>
              <a:t>保存的是</a:t>
            </a:r>
            <a:r>
              <a:rPr lang="zh-CN" altLang="en-US" sz="2000" dirty="0">
                <a:solidFill>
                  <a:prstClr val="black"/>
                </a:solidFill>
                <a:latin typeface="黑体" pitchFamily="49" charset="-122"/>
                <a:ea typeface="黑体" pitchFamily="49" charset="-122"/>
                <a:cs typeface="Courier New" pitchFamily="49" charset="0"/>
              </a:rPr>
              <a:t>数组的首地址</a:t>
            </a:r>
            <a:r>
              <a:rPr lang="en-US" altLang="zh-CN" sz="2000" dirty="0">
                <a:solidFill>
                  <a:prstClr val="black"/>
                </a:solidFill>
                <a:latin typeface="黑体" pitchFamily="49" charset="-122"/>
                <a:ea typeface="黑体" pitchFamily="49" charset="-122"/>
                <a:cs typeface="Courier New" pitchFamily="49" charset="0"/>
              </a:rPr>
              <a:t>,</a:t>
            </a:r>
            <a:r>
              <a:rPr lang="zh-CN" altLang="en-US" sz="2000" dirty="0">
                <a:solidFill>
                  <a:prstClr val="black"/>
                </a:solidFill>
                <a:latin typeface="黑体" pitchFamily="49" charset="-122"/>
                <a:ea typeface="黑体" pitchFamily="49" charset="-122"/>
                <a:cs typeface="Courier New" pitchFamily="49" charset="0"/>
              </a:rPr>
              <a:t>所以</a:t>
            </a:r>
            <a:r>
              <a:rPr lang="en-US" altLang="zh-CN" sz="2000" dirty="0">
                <a:solidFill>
                  <a:prstClr val="black"/>
                </a:solidFill>
                <a:latin typeface="Courier New" pitchFamily="49" charset="0"/>
                <a:ea typeface="华文仿宋" pitchFamily="2" charset="-122"/>
                <a:cs typeface="Courier New" pitchFamily="49" charset="0"/>
              </a:rPr>
              <a:t>p</a:t>
            </a:r>
            <a:r>
              <a:rPr lang="zh-CN" altLang="en-US" sz="2000" dirty="0">
                <a:solidFill>
                  <a:prstClr val="black"/>
                </a:solidFill>
                <a:latin typeface="黑体" pitchFamily="49" charset="-122"/>
                <a:ea typeface="黑体" pitchFamily="49" charset="-122"/>
                <a:cs typeface="Courier New" pitchFamily="49" charset="0"/>
              </a:rPr>
              <a:t>也可看成是数组名</a:t>
            </a:r>
            <a:endParaRPr lang="en-US" altLang="zh-CN" sz="2000" dirty="0">
              <a:latin typeface="Courier New" pitchFamily="49" charset="0"/>
              <a:ea typeface="华文仿宋" pitchFamily="2" charset="-122"/>
              <a:cs typeface="Courier New" pitchFamily="49" charset="0"/>
            </a:endParaRPr>
          </a:p>
          <a:p>
            <a:pPr eaLnBrk="1">
              <a:lnSpc>
                <a:spcPct val="120000"/>
              </a:lnSpc>
              <a:spcBef>
                <a:spcPts val="600"/>
              </a:spcBef>
              <a:buClr>
                <a:srgbClr val="FFCC66"/>
              </a:buClr>
              <a:buSzPct val="80000"/>
              <a:buFont typeface="Wingdings" panose="05000000000000000000" pitchFamily="2" charset="2"/>
              <a:buNone/>
              <a:defRPr/>
            </a:pPr>
            <a:r>
              <a:rPr lang="en-US" altLang="zh-CN" sz="2000" dirty="0">
                <a:latin typeface="Courier New" pitchFamily="49" charset="0"/>
                <a:ea typeface="华文仿宋" pitchFamily="2" charset="-122"/>
                <a:cs typeface="Courier New" pitchFamily="49" charset="0"/>
              </a:rPr>
              <a:t>p++</a:t>
            </a:r>
            <a:r>
              <a:rPr lang="zh-CN" altLang="en-US" sz="2000" b="0" dirty="0">
                <a:latin typeface="黑体" pitchFamily="2" charset="-122"/>
                <a:ea typeface="黑体" pitchFamily="2" charset="-122"/>
                <a:cs typeface="Courier New" pitchFamily="49" charset="0"/>
              </a:rPr>
              <a:t>不是增加</a:t>
            </a:r>
            <a:r>
              <a:rPr lang="en-US" altLang="zh-CN" sz="2000" b="0" dirty="0">
                <a:ea typeface="黑体" pitchFamily="2" charset="-122"/>
                <a:cs typeface="Arial" pitchFamily="34" charset="0"/>
              </a:rPr>
              <a:t>1</a:t>
            </a:r>
            <a:r>
              <a:rPr lang="zh-CN" altLang="en-US" sz="2000" b="0" dirty="0">
                <a:latin typeface="黑体" pitchFamily="2" charset="-122"/>
                <a:ea typeface="黑体" pitchFamily="2" charset="-122"/>
                <a:cs typeface="Courier New" pitchFamily="49" charset="0"/>
              </a:rPr>
              <a:t>字节，取决于</a:t>
            </a:r>
            <a:r>
              <a:rPr lang="en-US" altLang="zh-CN" sz="2000" dirty="0">
                <a:latin typeface="Courier New" pitchFamily="49" charset="0"/>
                <a:ea typeface="华文仿宋" pitchFamily="2" charset="-122"/>
                <a:cs typeface="Courier New" pitchFamily="49" charset="0"/>
              </a:rPr>
              <a:t>p</a:t>
            </a:r>
            <a:r>
              <a:rPr lang="zh-CN" altLang="en-US" sz="2000" b="0" dirty="0">
                <a:latin typeface="黑体" pitchFamily="49" charset="-122"/>
                <a:ea typeface="黑体" pitchFamily="49" charset="-122"/>
                <a:cs typeface="Courier New" pitchFamily="49" charset="0"/>
              </a:rPr>
              <a:t>的基类型</a:t>
            </a:r>
            <a:endParaRPr lang="en-US" altLang="zh-CN" sz="2000" b="0" dirty="0">
              <a:effectLst>
                <a:outerShdw blurRad="38100" dist="38100" dir="2700000" algn="tl">
                  <a:srgbClr val="C0C0C0"/>
                </a:outerShdw>
              </a:effectLst>
              <a:latin typeface="Courier New" pitchFamily="49" charset="0"/>
              <a:ea typeface="华文仿宋" pitchFamily="2" charset="-122"/>
              <a:cs typeface="Courier New" pitchFamily="49" charset="0"/>
            </a:endParaRPr>
          </a:p>
        </p:txBody>
      </p:sp>
    </p:spTree>
    <p:extLst>
      <p:ext uri="{BB962C8B-B14F-4D97-AF65-F5344CB8AC3E}">
        <p14:creationId xmlns:p14="http://schemas.microsoft.com/office/powerpoint/2010/main" val="1227771446"/>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txBox="1">
            <a:spLocks/>
          </p:cNvSpPr>
          <p:nvPr/>
        </p:nvSpPr>
        <p:spPr>
          <a:xfrm>
            <a:off x="661670" y="1268413"/>
            <a:ext cx="9205913" cy="8651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5000"/>
              </a:lnSpc>
            </a:pPr>
            <a:r>
              <a:rPr lang="zh-CN" altLang="en-US">
                <a:latin typeface="Arial" panose="020B0604020202020204" pitchFamily="34" charset="0"/>
                <a:cs typeface="Arial" panose="020B0604020202020204" pitchFamily="34" charset="0"/>
              </a:rPr>
              <a:t>将二维数组</a:t>
            </a:r>
            <a:r>
              <a:rPr lang="en-US" altLang="zh-CN" b="1">
                <a:latin typeface="Courier New" panose="02070309020205020404" pitchFamily="49" charset="0"/>
                <a:cs typeface="Courier New" panose="02070309020205020404" pitchFamily="49" charset="0"/>
              </a:rPr>
              <a:t>a</a:t>
            </a:r>
            <a:r>
              <a:rPr lang="zh-CN" altLang="en-US">
                <a:latin typeface="Arial" panose="020B0604020202020204" pitchFamily="34" charset="0"/>
                <a:cs typeface="Arial" panose="020B0604020202020204" pitchFamily="34" charset="0"/>
              </a:rPr>
              <a:t>看成一维数组，有</a:t>
            </a:r>
            <a:r>
              <a:rPr lang="en-US" altLang="zh-CN">
                <a:solidFill>
                  <a:srgbClr val="C00000"/>
                </a:solidFill>
                <a:latin typeface="Arial" panose="020B0604020202020204" pitchFamily="34" charset="0"/>
                <a:cs typeface="Arial" panose="020B0604020202020204" pitchFamily="34" charset="0"/>
              </a:rPr>
              <a:t>2</a:t>
            </a:r>
            <a:r>
              <a:rPr lang="zh-CN" altLang="en-US">
                <a:latin typeface="Arial" panose="020B0604020202020204" pitchFamily="34" charset="0"/>
                <a:cs typeface="Arial" panose="020B0604020202020204" pitchFamily="34" charset="0"/>
              </a:rPr>
              <a:t>个</a:t>
            </a:r>
            <a:r>
              <a:rPr kumimoji="1" lang="zh-CN" altLang="en-US">
                <a:solidFill>
                  <a:srgbClr val="CC0000"/>
                </a:solidFill>
                <a:latin typeface="Arial" panose="020B0604020202020204" pitchFamily="34" charset="0"/>
                <a:cs typeface="Arial" panose="020B0604020202020204" pitchFamily="34" charset="0"/>
              </a:rPr>
              <a:t>“</a:t>
            </a:r>
            <a:r>
              <a:rPr kumimoji="1" lang="en-US" altLang="zh-CN" b="1">
                <a:solidFill>
                  <a:srgbClr val="0000CC"/>
                </a:solidFill>
                <a:latin typeface="Courier New" panose="02070309020205020404" pitchFamily="49" charset="0"/>
                <a:cs typeface="Courier New" panose="02070309020205020404" pitchFamily="49" charset="0"/>
              </a:rPr>
              <a:t>int[3]</a:t>
            </a:r>
            <a:r>
              <a:rPr kumimoji="1" lang="zh-CN" altLang="en-US">
                <a:solidFill>
                  <a:srgbClr val="0000CC"/>
                </a:solidFill>
                <a:latin typeface="Arial" panose="020B0604020202020204" pitchFamily="34" charset="0"/>
                <a:cs typeface="Arial" panose="020B0604020202020204" pitchFamily="34" charset="0"/>
              </a:rPr>
              <a:t>型</a:t>
            </a:r>
            <a:r>
              <a:rPr kumimoji="1" lang="zh-CN" altLang="en-US">
                <a:solidFill>
                  <a:srgbClr val="CC0000"/>
                </a:solidFill>
                <a:latin typeface="Arial" panose="020B0604020202020204" pitchFamily="34" charset="0"/>
                <a:cs typeface="Arial" panose="020B0604020202020204" pitchFamily="34" charset="0"/>
              </a:rPr>
              <a:t>”</a:t>
            </a:r>
            <a:r>
              <a:rPr lang="zh-CN" altLang="en-US">
                <a:latin typeface="Arial" panose="020B0604020202020204" pitchFamily="34" charset="0"/>
                <a:cs typeface="Arial" panose="020B0604020202020204" pitchFamily="34" charset="0"/>
              </a:rPr>
              <a:t>元素</a:t>
            </a:r>
            <a:endParaRPr lang="zh-CN" altLang="en-US" dirty="0">
              <a:latin typeface="Arial" panose="020B0604020202020204" pitchFamily="34" charset="0"/>
              <a:cs typeface="Arial" panose="020B0604020202020204" pitchFamily="34" charset="0"/>
            </a:endParaRPr>
          </a:p>
        </p:txBody>
      </p:sp>
      <p:grpSp>
        <p:nvGrpSpPr>
          <p:cNvPr id="5" name="Group 3"/>
          <p:cNvGrpSpPr>
            <a:grpSpLocks/>
          </p:cNvGrpSpPr>
          <p:nvPr/>
        </p:nvGrpSpPr>
        <p:grpSpPr bwMode="auto">
          <a:xfrm>
            <a:off x="1050608" y="1916113"/>
            <a:ext cx="614362" cy="1397000"/>
            <a:chOff x="274" y="1148"/>
            <a:chExt cx="357" cy="880"/>
          </a:xfrm>
        </p:grpSpPr>
        <p:sp>
          <p:nvSpPr>
            <p:cNvPr id="6" name="Text Box 4"/>
            <p:cNvSpPr txBox="1">
              <a:spLocks noChangeArrowheads="1"/>
            </p:cNvSpPr>
            <p:nvPr/>
          </p:nvSpPr>
          <p:spPr bwMode="auto">
            <a:xfrm>
              <a:off x="407" y="114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t>a</a:t>
              </a:r>
            </a:p>
          </p:txBody>
        </p:sp>
        <p:sp>
          <p:nvSpPr>
            <p:cNvPr id="7" name="Text Box 5"/>
            <p:cNvSpPr txBox="1">
              <a:spLocks noChangeArrowheads="1"/>
            </p:cNvSpPr>
            <p:nvPr/>
          </p:nvSpPr>
          <p:spPr bwMode="auto">
            <a:xfrm>
              <a:off x="274" y="1797"/>
              <a:ext cx="3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t>a+1</a:t>
              </a:r>
            </a:p>
          </p:txBody>
        </p:sp>
      </p:grpSp>
      <p:grpSp>
        <p:nvGrpSpPr>
          <p:cNvPr id="8" name="Group 13"/>
          <p:cNvGrpSpPr>
            <a:grpSpLocks/>
          </p:cNvGrpSpPr>
          <p:nvPr/>
        </p:nvGrpSpPr>
        <p:grpSpPr bwMode="auto">
          <a:xfrm>
            <a:off x="1741170" y="1844675"/>
            <a:ext cx="2006600" cy="2374900"/>
            <a:chOff x="935" y="1104"/>
            <a:chExt cx="1166" cy="1496"/>
          </a:xfrm>
        </p:grpSpPr>
        <p:sp>
          <p:nvSpPr>
            <p:cNvPr id="9" name="Line 14"/>
            <p:cNvSpPr>
              <a:spLocks noChangeShapeType="1"/>
            </p:cNvSpPr>
            <p:nvPr/>
          </p:nvSpPr>
          <p:spPr bwMode="auto">
            <a:xfrm>
              <a:off x="1415" y="1978"/>
              <a:ext cx="686" cy="0"/>
            </a:xfrm>
            <a:prstGeom prst="line">
              <a:avLst/>
            </a:prstGeom>
            <a:noFill/>
            <a:ln w="38100" cap="rnd">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 name="Group 16"/>
            <p:cNvGrpSpPr>
              <a:grpSpLocks/>
            </p:cNvGrpSpPr>
            <p:nvPr/>
          </p:nvGrpSpPr>
          <p:grpSpPr bwMode="auto">
            <a:xfrm>
              <a:off x="1415" y="1330"/>
              <a:ext cx="686" cy="1270"/>
              <a:chOff x="1043" y="1318"/>
              <a:chExt cx="686" cy="1270"/>
            </a:xfrm>
          </p:grpSpPr>
          <p:sp>
            <p:nvSpPr>
              <p:cNvPr id="15" name="Rectangle 17"/>
              <p:cNvSpPr>
                <a:spLocks noChangeArrowheads="1"/>
              </p:cNvSpPr>
              <p:nvPr/>
            </p:nvSpPr>
            <p:spPr bwMode="auto">
              <a:xfrm>
                <a:off x="1043" y="1318"/>
                <a:ext cx="686" cy="1270"/>
              </a:xfrm>
              <a:prstGeom prst="rect">
                <a:avLst/>
              </a:prstGeom>
              <a:noFill/>
              <a:ln w="38100" cap="rnd" cmpd="sng">
                <a:solidFill>
                  <a:srgbClr val="FF0000"/>
                </a:solidFill>
                <a:prstDash val="solid"/>
                <a:miter lim="800000"/>
                <a:headEnd/>
                <a:tailEnd/>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16" name="Text Box 18"/>
              <p:cNvSpPr txBox="1">
                <a:spLocks noChangeArrowheads="1"/>
              </p:cNvSpPr>
              <p:nvPr/>
            </p:nvSpPr>
            <p:spPr bwMode="auto">
              <a:xfrm>
                <a:off x="1193" y="1477"/>
                <a:ext cx="3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a[0]</a:t>
                </a:r>
              </a:p>
            </p:txBody>
          </p:sp>
          <p:sp>
            <p:nvSpPr>
              <p:cNvPr id="17" name="Text Box 19"/>
              <p:cNvSpPr txBox="1">
                <a:spLocks noChangeArrowheads="1"/>
              </p:cNvSpPr>
              <p:nvPr/>
            </p:nvSpPr>
            <p:spPr bwMode="auto">
              <a:xfrm>
                <a:off x="1193" y="2180"/>
                <a:ext cx="3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339933"/>
                    </a:solidFill>
                  </a:rPr>
                  <a:t>a[1]</a:t>
                </a:r>
                <a:endParaRPr kumimoji="1" lang="en-US" altLang="zh-CN"/>
              </a:p>
            </p:txBody>
          </p:sp>
        </p:grpSp>
        <p:sp>
          <p:nvSpPr>
            <p:cNvPr id="11" name="Line 21"/>
            <p:cNvSpPr>
              <a:spLocks noChangeShapeType="1"/>
            </p:cNvSpPr>
            <p:nvPr/>
          </p:nvSpPr>
          <p:spPr bwMode="auto">
            <a:xfrm>
              <a:off x="993" y="1330"/>
              <a:ext cx="42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22"/>
            <p:cNvSpPr>
              <a:spLocks noChangeShapeType="1"/>
            </p:cNvSpPr>
            <p:nvPr/>
          </p:nvSpPr>
          <p:spPr bwMode="auto">
            <a:xfrm>
              <a:off x="978" y="1974"/>
              <a:ext cx="42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Text Box 24"/>
            <p:cNvSpPr txBox="1">
              <a:spLocks noChangeArrowheads="1"/>
            </p:cNvSpPr>
            <p:nvPr/>
          </p:nvSpPr>
          <p:spPr bwMode="auto">
            <a:xfrm>
              <a:off x="977" y="1104"/>
              <a:ext cx="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&amp;a[0]</a:t>
              </a:r>
            </a:p>
          </p:txBody>
        </p:sp>
        <p:sp>
          <p:nvSpPr>
            <p:cNvPr id="14" name="Text Box 25"/>
            <p:cNvSpPr txBox="1">
              <a:spLocks noChangeArrowheads="1"/>
            </p:cNvSpPr>
            <p:nvPr/>
          </p:nvSpPr>
          <p:spPr bwMode="auto">
            <a:xfrm>
              <a:off x="935" y="1758"/>
              <a:ext cx="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009900"/>
                  </a:solidFill>
                </a:rPr>
                <a:t>&amp;a[1]</a:t>
              </a:r>
            </a:p>
          </p:txBody>
        </p:sp>
      </p:grpSp>
      <p:grpSp>
        <p:nvGrpSpPr>
          <p:cNvPr id="18" name="Group 27"/>
          <p:cNvGrpSpPr>
            <a:grpSpLocks/>
          </p:cNvGrpSpPr>
          <p:nvPr/>
        </p:nvGrpSpPr>
        <p:grpSpPr bwMode="auto">
          <a:xfrm>
            <a:off x="3590608" y="2133600"/>
            <a:ext cx="3935412" cy="1808163"/>
            <a:chOff x="2010" y="1286"/>
            <a:chExt cx="2288" cy="1139"/>
          </a:xfrm>
        </p:grpSpPr>
        <p:sp>
          <p:nvSpPr>
            <p:cNvPr id="19" name="Line 28"/>
            <p:cNvSpPr>
              <a:spLocks noChangeShapeType="1"/>
            </p:cNvSpPr>
            <p:nvPr/>
          </p:nvSpPr>
          <p:spPr bwMode="auto">
            <a:xfrm>
              <a:off x="2020" y="1648"/>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Text Box 30"/>
            <p:cNvSpPr txBox="1">
              <a:spLocks noChangeArrowheads="1"/>
            </p:cNvSpPr>
            <p:nvPr/>
          </p:nvSpPr>
          <p:spPr bwMode="auto">
            <a:xfrm>
              <a:off x="2064" y="1286"/>
              <a:ext cx="6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&amp;a[0][0]</a:t>
              </a:r>
            </a:p>
          </p:txBody>
        </p:sp>
        <p:sp>
          <p:nvSpPr>
            <p:cNvPr id="21" name="Line 32"/>
            <p:cNvSpPr>
              <a:spLocks noChangeShapeType="1"/>
            </p:cNvSpPr>
            <p:nvPr/>
          </p:nvSpPr>
          <p:spPr bwMode="auto">
            <a:xfrm>
              <a:off x="2010" y="2328"/>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Text Box 36"/>
            <p:cNvSpPr txBox="1">
              <a:spLocks noChangeArrowheads="1"/>
            </p:cNvSpPr>
            <p:nvPr/>
          </p:nvSpPr>
          <p:spPr bwMode="auto">
            <a:xfrm>
              <a:off x="2064" y="1966"/>
              <a:ext cx="6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009900"/>
                  </a:solidFill>
                </a:rPr>
                <a:t>&amp;a[1][0]</a:t>
              </a:r>
            </a:p>
          </p:txBody>
        </p:sp>
        <p:sp>
          <p:nvSpPr>
            <p:cNvPr id="23" name="Text Box 49"/>
            <p:cNvSpPr txBox="1">
              <a:spLocks noChangeArrowheads="1"/>
            </p:cNvSpPr>
            <p:nvPr/>
          </p:nvSpPr>
          <p:spPr bwMode="auto">
            <a:xfrm>
              <a:off x="2472" y="1512"/>
              <a:ext cx="595" cy="233"/>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a[0] </a:t>
              </a:r>
              <a:r>
                <a:rPr kumimoji="1" lang="en-US" altLang="zh-CN">
                  <a:solidFill>
                    <a:srgbClr val="0000CC"/>
                  </a:solidFill>
                </a:rPr>
                <a:t>[0]</a:t>
              </a:r>
            </a:p>
          </p:txBody>
        </p:sp>
        <p:sp>
          <p:nvSpPr>
            <p:cNvPr id="24" name="Text Box 50"/>
            <p:cNvSpPr txBox="1">
              <a:spLocks noChangeArrowheads="1"/>
            </p:cNvSpPr>
            <p:nvPr/>
          </p:nvSpPr>
          <p:spPr bwMode="auto">
            <a:xfrm>
              <a:off x="3089" y="1512"/>
              <a:ext cx="595" cy="233"/>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a[0]</a:t>
              </a:r>
              <a:r>
                <a:rPr kumimoji="1" lang="en-US" altLang="zh-CN">
                  <a:solidFill>
                    <a:schemeClr val="tx2"/>
                  </a:solidFill>
                </a:rPr>
                <a:t> </a:t>
              </a:r>
              <a:r>
                <a:rPr kumimoji="1" lang="en-US" altLang="zh-CN">
                  <a:solidFill>
                    <a:srgbClr val="0000CC"/>
                  </a:solidFill>
                </a:rPr>
                <a:t>[1]</a:t>
              </a:r>
            </a:p>
          </p:txBody>
        </p:sp>
        <p:sp>
          <p:nvSpPr>
            <p:cNvPr id="25" name="Text Box 51"/>
            <p:cNvSpPr txBox="1">
              <a:spLocks noChangeArrowheads="1"/>
            </p:cNvSpPr>
            <p:nvPr/>
          </p:nvSpPr>
          <p:spPr bwMode="auto">
            <a:xfrm>
              <a:off x="2472" y="2192"/>
              <a:ext cx="595" cy="233"/>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339933"/>
                  </a:solidFill>
                </a:rPr>
                <a:t>a[1] </a:t>
              </a:r>
              <a:r>
                <a:rPr kumimoji="1" lang="en-US" altLang="zh-CN">
                  <a:solidFill>
                    <a:srgbClr val="0000CC"/>
                  </a:solidFill>
                </a:rPr>
                <a:t>[0]</a:t>
              </a:r>
            </a:p>
          </p:txBody>
        </p:sp>
        <p:sp>
          <p:nvSpPr>
            <p:cNvPr id="26" name="Text Box 52"/>
            <p:cNvSpPr txBox="1">
              <a:spLocks noChangeArrowheads="1"/>
            </p:cNvSpPr>
            <p:nvPr/>
          </p:nvSpPr>
          <p:spPr bwMode="auto">
            <a:xfrm>
              <a:off x="3083" y="2192"/>
              <a:ext cx="595" cy="233"/>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339933"/>
                  </a:solidFill>
                </a:rPr>
                <a:t>a[1] </a:t>
              </a:r>
              <a:r>
                <a:rPr kumimoji="1" lang="en-US" altLang="zh-CN">
                  <a:solidFill>
                    <a:srgbClr val="0000CC"/>
                  </a:solidFill>
                </a:rPr>
                <a:t>[1]</a:t>
              </a:r>
            </a:p>
          </p:txBody>
        </p:sp>
        <p:sp>
          <p:nvSpPr>
            <p:cNvPr id="27" name="Text Box 58"/>
            <p:cNvSpPr txBox="1">
              <a:spLocks noChangeArrowheads="1"/>
            </p:cNvSpPr>
            <p:nvPr/>
          </p:nvSpPr>
          <p:spPr bwMode="auto">
            <a:xfrm>
              <a:off x="3703" y="1512"/>
              <a:ext cx="595" cy="233"/>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a[0] </a:t>
              </a:r>
              <a:r>
                <a:rPr kumimoji="1" lang="en-US" altLang="zh-CN">
                  <a:solidFill>
                    <a:srgbClr val="0000CC"/>
                  </a:solidFill>
                </a:rPr>
                <a:t>[2]</a:t>
              </a:r>
            </a:p>
          </p:txBody>
        </p:sp>
        <p:sp>
          <p:nvSpPr>
            <p:cNvPr id="28" name="Text Box 60"/>
            <p:cNvSpPr txBox="1">
              <a:spLocks noChangeArrowheads="1"/>
            </p:cNvSpPr>
            <p:nvPr/>
          </p:nvSpPr>
          <p:spPr bwMode="auto">
            <a:xfrm>
              <a:off x="3696" y="2192"/>
              <a:ext cx="595" cy="233"/>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339933"/>
                  </a:solidFill>
                </a:rPr>
                <a:t>a[1] </a:t>
              </a:r>
              <a:r>
                <a:rPr kumimoji="1" lang="en-US" altLang="zh-CN">
                  <a:solidFill>
                    <a:srgbClr val="0000CC"/>
                  </a:solidFill>
                </a:rPr>
                <a:t>[2]</a:t>
              </a:r>
            </a:p>
          </p:txBody>
        </p:sp>
      </p:grpSp>
      <p:sp>
        <p:nvSpPr>
          <p:cNvPr id="29" name="Rectangle 61"/>
          <p:cNvSpPr>
            <a:spLocks noChangeArrowheads="1"/>
          </p:cNvSpPr>
          <p:nvPr/>
        </p:nvSpPr>
        <p:spPr bwMode="auto">
          <a:xfrm>
            <a:off x="7837170" y="2636838"/>
            <a:ext cx="2339975" cy="1152525"/>
          </a:xfrm>
          <a:prstGeom prst="rect">
            <a:avLst/>
          </a:prstGeom>
          <a:solidFill>
            <a:schemeClr val="bg1"/>
          </a:solidFill>
          <a:ln w="28575">
            <a:solidFill>
              <a:srgbClr val="009900"/>
            </a:solidFill>
            <a:miter lim="800000"/>
            <a:headEnd/>
            <a:tailEnd/>
          </a:ln>
        </p:spPr>
        <p:txBody>
          <a:bodyPr wrap="none" anchor="ct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algn="ctr" eaLnBrk="1">
              <a:lnSpc>
                <a:spcPct val="95000"/>
              </a:lnSpc>
              <a:spcBef>
                <a:spcPct val="20000"/>
              </a:spcBef>
              <a:spcAft>
                <a:spcPts val="588"/>
              </a:spcAft>
              <a:buClr>
                <a:srgbClr val="FFCC66"/>
              </a:buClr>
              <a:buSzPct val="80000"/>
              <a:buFont typeface="Monotype Sorts"/>
              <a:buNone/>
            </a:pPr>
            <a:r>
              <a:rPr lang="en-US" altLang="zh-CN" sz="2400">
                <a:solidFill>
                  <a:srgbClr val="000066"/>
                </a:solidFill>
                <a:latin typeface="Courier New" panose="02070309020205020404" pitchFamily="49" charset="0"/>
                <a:ea typeface="楷体_GB2312" pitchFamily="49" charset="-122"/>
              </a:rPr>
              <a:t>a[i][j]</a:t>
            </a:r>
          </a:p>
          <a:p>
            <a:pPr algn="ctr" eaLnBrk="1">
              <a:lnSpc>
                <a:spcPct val="95000"/>
              </a:lnSpc>
              <a:spcBef>
                <a:spcPct val="20000"/>
              </a:spcBef>
              <a:spcAft>
                <a:spcPts val="588"/>
              </a:spcAft>
              <a:buClr>
                <a:srgbClr val="FFCC66"/>
              </a:buClr>
              <a:buSzPct val="80000"/>
              <a:buFont typeface="Wingdings" panose="05000000000000000000" pitchFamily="2" charset="2"/>
              <a:buNone/>
            </a:pPr>
            <a:r>
              <a:rPr lang="en-US" altLang="zh-CN" sz="2400">
                <a:solidFill>
                  <a:srgbClr val="000066"/>
                </a:solidFill>
                <a:latin typeface="Courier New" panose="02070309020205020404" pitchFamily="49" charset="0"/>
                <a:ea typeface="楷体_GB2312" pitchFamily="49" charset="-122"/>
              </a:rPr>
              <a:t>*(</a:t>
            </a:r>
            <a:r>
              <a:rPr lang="en-US" altLang="zh-CN" sz="2400">
                <a:solidFill>
                  <a:srgbClr val="C00000"/>
                </a:solidFill>
                <a:latin typeface="Courier New" panose="02070309020205020404" pitchFamily="49" charset="0"/>
                <a:ea typeface="楷体_GB2312" pitchFamily="49" charset="-122"/>
              </a:rPr>
              <a:t>*(a+i)</a:t>
            </a:r>
            <a:r>
              <a:rPr lang="en-US" altLang="zh-CN" sz="2400">
                <a:solidFill>
                  <a:srgbClr val="000066"/>
                </a:solidFill>
                <a:latin typeface="Courier New" panose="02070309020205020404" pitchFamily="49" charset="0"/>
                <a:ea typeface="楷体_GB2312" pitchFamily="49" charset="-122"/>
              </a:rPr>
              <a:t>+j)</a:t>
            </a:r>
          </a:p>
        </p:txBody>
      </p:sp>
      <p:sp>
        <p:nvSpPr>
          <p:cNvPr id="30" name="Rectangle 56"/>
          <p:cNvSpPr>
            <a:spLocks noChangeArrowheads="1"/>
          </p:cNvSpPr>
          <p:nvPr/>
        </p:nvSpPr>
        <p:spPr bwMode="auto">
          <a:xfrm>
            <a:off x="7421245" y="1844675"/>
            <a:ext cx="2889250" cy="476250"/>
          </a:xfrm>
          <a:prstGeom prst="rect">
            <a:avLst/>
          </a:prstGeom>
          <a:noFill/>
          <a:ln w="12700">
            <a:noFill/>
            <a:miter lim="800000"/>
            <a:headEnd type="none" w="sm" len="sm"/>
            <a:tailEnd type="none" w="sm" len="sm"/>
          </a:ln>
          <a:effectLst/>
        </p:spPr>
        <p:txBody>
          <a:bodyPr wrap="none">
            <a:spAutoFit/>
          </a:bodyPr>
          <a:lstStyle/>
          <a:p>
            <a:pPr>
              <a:lnSpc>
                <a:spcPct val="90000"/>
              </a:lnSpc>
              <a:spcBef>
                <a:spcPts val="588"/>
              </a:spcBef>
              <a:spcAft>
                <a:spcPts val="588"/>
              </a:spcAft>
              <a:buClr>
                <a:schemeClr val="tx2"/>
              </a:buClr>
              <a:buSzPct val="80000"/>
              <a:buFont typeface="Wingdings" panose="05000000000000000000" pitchFamily="2" charset="2"/>
              <a:buNone/>
              <a:defRPr/>
            </a:pPr>
            <a:r>
              <a:rPr kumimoji="1" lang="en-US" altLang="zh-CN" dirty="0">
                <a:solidFill>
                  <a:schemeClr val="accent2"/>
                </a:solidFill>
                <a:effectLst>
                  <a:outerShdw blurRad="38100" dist="38100" dir="2700000" algn="tl">
                    <a:srgbClr val="C0C0C0"/>
                  </a:outerShdw>
                </a:effectLst>
                <a:latin typeface="Courier New" pitchFamily="49" charset="0"/>
              </a:rPr>
              <a:t> </a:t>
            </a:r>
            <a:r>
              <a:rPr kumimoji="1" lang="en-US" altLang="zh-CN" sz="2800" dirty="0" err="1">
                <a:solidFill>
                  <a:srgbClr val="0000CC"/>
                </a:solidFill>
                <a:latin typeface="Courier New" pitchFamily="49" charset="0"/>
              </a:rPr>
              <a:t>int</a:t>
            </a:r>
            <a:r>
              <a:rPr kumimoji="1" lang="en-US" altLang="zh-CN" sz="2800" dirty="0">
                <a:solidFill>
                  <a:srgbClr val="C00000"/>
                </a:solidFill>
                <a:latin typeface="Courier New" pitchFamily="49" charset="0"/>
              </a:rPr>
              <a:t> </a:t>
            </a:r>
            <a:r>
              <a:rPr kumimoji="1" lang="en-US" altLang="zh-CN" sz="2800" dirty="0">
                <a:solidFill>
                  <a:schemeClr val="tx2"/>
                </a:solidFill>
                <a:latin typeface="Courier New" pitchFamily="49" charset="0"/>
              </a:rPr>
              <a:t>a[2]</a:t>
            </a:r>
            <a:r>
              <a:rPr kumimoji="1" lang="en-US" altLang="zh-CN" sz="2800" dirty="0">
                <a:solidFill>
                  <a:srgbClr val="0000CC"/>
                </a:solidFill>
                <a:latin typeface="Courier New" pitchFamily="49" charset="0"/>
              </a:rPr>
              <a:t>[3]</a:t>
            </a:r>
            <a:r>
              <a:rPr kumimoji="1" lang="en-US" altLang="zh-CN" sz="2800" dirty="0">
                <a:solidFill>
                  <a:schemeClr val="tx2"/>
                </a:solidFill>
                <a:latin typeface="Courier New" pitchFamily="49" charset="0"/>
              </a:rPr>
              <a:t>;</a:t>
            </a:r>
            <a:endParaRPr kumimoji="1" lang="zh-CN" altLang="en-US" sz="2800" dirty="0">
              <a:solidFill>
                <a:schemeClr val="tx2"/>
              </a:solidFill>
              <a:latin typeface="Courier New" pitchFamily="49" charset="0"/>
            </a:endParaRPr>
          </a:p>
        </p:txBody>
      </p:sp>
      <p:sp>
        <p:nvSpPr>
          <p:cNvPr id="31" name="Arc 33"/>
          <p:cNvSpPr>
            <a:spLocks/>
          </p:cNvSpPr>
          <p:nvPr/>
        </p:nvSpPr>
        <p:spPr bwMode="auto">
          <a:xfrm rot="1426039" flipV="1">
            <a:off x="8151495" y="1917700"/>
            <a:ext cx="1366838" cy="6477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lIns="90187" tIns="45094" rIns="90187" bIns="45094" anchor="ctr"/>
          <a:lstStyle/>
          <a:p>
            <a:endParaRPr lang="zh-CN" altLang="en-US"/>
          </a:p>
        </p:txBody>
      </p:sp>
      <p:sp>
        <p:nvSpPr>
          <p:cNvPr id="32" name="Rectangle 50"/>
          <p:cNvSpPr>
            <a:spLocks noChangeArrowheads="1"/>
          </p:cNvSpPr>
          <p:nvPr/>
        </p:nvSpPr>
        <p:spPr bwMode="auto">
          <a:xfrm>
            <a:off x="4143851" y="5147310"/>
            <a:ext cx="2592388" cy="933450"/>
          </a:xfrm>
          <a:prstGeom prst="rect">
            <a:avLst/>
          </a:prstGeom>
          <a:solidFill>
            <a:srgbClr val="FFFFCC"/>
          </a:solidFill>
          <a:ln w="28575">
            <a:solidFill>
              <a:srgbClr val="008000"/>
            </a:solidFill>
            <a:miter lim="800000"/>
            <a:headEnd/>
            <a:tailEnd/>
          </a:ln>
        </p:spPr>
        <p:txBody>
          <a:bodyPr wrap="none" anchor="ctr"/>
          <a:lstStyle/>
          <a:p>
            <a:pPr algn="ctr">
              <a:lnSpc>
                <a:spcPct val="90000"/>
              </a:lnSpc>
              <a:spcBef>
                <a:spcPts val="588"/>
              </a:spcBef>
              <a:spcAft>
                <a:spcPts val="588"/>
              </a:spcAft>
              <a:buClr>
                <a:schemeClr val="tx2"/>
              </a:buClr>
              <a:buSzPct val="80000"/>
              <a:buFont typeface="Wingdings" panose="05000000000000000000" pitchFamily="2" charset="2"/>
              <a:buNone/>
              <a:defRPr/>
            </a:pPr>
            <a:r>
              <a:rPr lang="en-US" altLang="zh-CN" sz="2400" dirty="0">
                <a:effectLst>
                  <a:outerShdw blurRad="38100" dist="38100" dir="2700000" algn="tl">
                    <a:srgbClr val="FFFFFF"/>
                  </a:outerShdw>
                </a:effectLst>
                <a:latin typeface="Courier New" pitchFamily="49" charset="0"/>
                <a:ea typeface="楷体_GB2312" pitchFamily="49" charset="-122"/>
              </a:rPr>
              <a:t>a[</a:t>
            </a:r>
            <a:r>
              <a:rPr lang="en-US" altLang="zh-CN" sz="2400" dirty="0">
                <a:solidFill>
                  <a:srgbClr val="C00000"/>
                </a:solidFill>
                <a:effectLst>
                  <a:outerShdw blurRad="38100" dist="38100" dir="2700000" algn="tl">
                    <a:srgbClr val="FFFFFF"/>
                  </a:outerShdw>
                </a:effectLst>
                <a:latin typeface="Courier New" pitchFamily="49" charset="0"/>
                <a:ea typeface="楷体_GB2312" pitchFamily="49" charset="-122"/>
              </a:rPr>
              <a:t>i</a:t>
            </a:r>
            <a:r>
              <a:rPr lang="en-US" altLang="zh-CN" sz="2400" dirty="0">
                <a:effectLst>
                  <a:outerShdw blurRad="38100" dist="38100" dir="2700000" algn="tl">
                    <a:srgbClr val="FFFFFF"/>
                  </a:outerShdw>
                </a:effectLst>
                <a:latin typeface="Courier New" pitchFamily="49" charset="0"/>
                <a:ea typeface="楷体_GB2312" pitchFamily="49" charset="-122"/>
              </a:rPr>
              <a:t>] </a:t>
            </a:r>
            <a:r>
              <a:rPr lang="en-US" altLang="zh-CN" sz="2400" dirty="0">
                <a:effectLst>
                  <a:outerShdw blurRad="38100" dist="38100" dir="2700000" algn="tl">
                    <a:srgbClr val="FFFFFF"/>
                  </a:outerShdw>
                </a:effectLst>
                <a:latin typeface="Franklin Gothic Book" pitchFamily="34" charset="0"/>
                <a:ea typeface="楷体_GB2312" pitchFamily="49" charset="-122"/>
              </a:rPr>
              <a:t>↔</a:t>
            </a:r>
            <a:r>
              <a:rPr lang="en-US" altLang="zh-CN" sz="2400" dirty="0">
                <a:effectLst>
                  <a:outerShdw blurRad="38100" dist="38100" dir="2700000" algn="tl">
                    <a:srgbClr val="FFFFFF"/>
                  </a:outerShdw>
                </a:effectLst>
                <a:latin typeface="Courier New" pitchFamily="49" charset="0"/>
                <a:ea typeface="楷体_GB2312" pitchFamily="49" charset="-122"/>
              </a:rPr>
              <a:t> *(</a:t>
            </a:r>
            <a:r>
              <a:rPr lang="en-US" altLang="zh-CN" sz="2400" dirty="0" err="1">
                <a:effectLst>
                  <a:outerShdw blurRad="38100" dist="38100" dir="2700000" algn="tl">
                    <a:srgbClr val="FFFFFF"/>
                  </a:outerShdw>
                </a:effectLst>
                <a:latin typeface="Courier New" pitchFamily="49" charset="0"/>
                <a:ea typeface="楷体_GB2312" pitchFamily="49" charset="-122"/>
              </a:rPr>
              <a:t>a+</a:t>
            </a:r>
            <a:r>
              <a:rPr lang="en-US" altLang="zh-CN" sz="2400" dirty="0" err="1">
                <a:solidFill>
                  <a:srgbClr val="C00000"/>
                </a:solidFill>
                <a:effectLst>
                  <a:outerShdw blurRad="38100" dist="38100" dir="2700000" algn="tl">
                    <a:srgbClr val="FFFFFF"/>
                  </a:outerShdw>
                </a:effectLst>
                <a:latin typeface="Courier New" pitchFamily="49" charset="0"/>
                <a:ea typeface="楷体_GB2312" pitchFamily="49" charset="-122"/>
              </a:rPr>
              <a:t>i</a:t>
            </a:r>
            <a:r>
              <a:rPr lang="en-US" altLang="zh-CN" sz="2400" dirty="0">
                <a:effectLst>
                  <a:outerShdw blurRad="38100" dist="38100" dir="2700000" algn="tl">
                    <a:srgbClr val="FFFFFF"/>
                  </a:outerShdw>
                </a:effectLst>
                <a:latin typeface="Courier New" pitchFamily="49" charset="0"/>
                <a:ea typeface="楷体_GB2312" pitchFamily="49" charset="-122"/>
              </a:rPr>
              <a:t>)</a:t>
            </a:r>
          </a:p>
          <a:p>
            <a:pPr algn="ctr">
              <a:lnSpc>
                <a:spcPct val="90000"/>
              </a:lnSpc>
              <a:spcBef>
                <a:spcPts val="588"/>
              </a:spcBef>
              <a:spcAft>
                <a:spcPts val="588"/>
              </a:spcAft>
              <a:buClr>
                <a:schemeClr val="tx2"/>
              </a:buClr>
              <a:buSzPct val="80000"/>
              <a:buFont typeface="Wingdings" panose="05000000000000000000" pitchFamily="2" charset="2"/>
              <a:buNone/>
              <a:defRPr/>
            </a:pPr>
            <a:r>
              <a:rPr lang="en-US" altLang="zh-CN" sz="2400" dirty="0">
                <a:effectLst>
                  <a:outerShdw blurRad="38100" dist="38100" dir="2700000" algn="tl">
                    <a:srgbClr val="FFFFFF"/>
                  </a:outerShdw>
                </a:effectLst>
                <a:latin typeface="Courier New" pitchFamily="49" charset="0"/>
                <a:ea typeface="楷体_GB2312" pitchFamily="49" charset="-122"/>
              </a:rPr>
              <a:t>&amp;a[</a:t>
            </a:r>
            <a:r>
              <a:rPr lang="en-US" altLang="zh-CN" sz="2400" dirty="0">
                <a:solidFill>
                  <a:srgbClr val="C00000"/>
                </a:solidFill>
                <a:effectLst>
                  <a:outerShdw blurRad="38100" dist="38100" dir="2700000" algn="tl">
                    <a:srgbClr val="FFFFFF"/>
                  </a:outerShdw>
                </a:effectLst>
                <a:latin typeface="Courier New" pitchFamily="49" charset="0"/>
                <a:ea typeface="楷体_GB2312" pitchFamily="49" charset="-122"/>
              </a:rPr>
              <a:t>i</a:t>
            </a:r>
            <a:r>
              <a:rPr lang="en-US" altLang="zh-CN" sz="2400" dirty="0">
                <a:effectLst>
                  <a:outerShdw blurRad="38100" dist="38100" dir="2700000" algn="tl">
                    <a:srgbClr val="FFFFFF"/>
                  </a:outerShdw>
                </a:effectLst>
                <a:latin typeface="Courier New" pitchFamily="49" charset="0"/>
                <a:ea typeface="楷体_GB2312" pitchFamily="49" charset="-122"/>
              </a:rPr>
              <a:t>] </a:t>
            </a:r>
            <a:r>
              <a:rPr lang="en-US" altLang="zh-CN" sz="2400" dirty="0">
                <a:effectLst>
                  <a:outerShdw blurRad="38100" dist="38100" dir="2700000" algn="tl">
                    <a:srgbClr val="FFFFFF"/>
                  </a:outerShdw>
                </a:effectLst>
                <a:latin typeface="Franklin Gothic Book" pitchFamily="34" charset="0"/>
                <a:ea typeface="楷体_GB2312" pitchFamily="49" charset="-122"/>
              </a:rPr>
              <a:t>↔</a:t>
            </a:r>
            <a:r>
              <a:rPr lang="en-US" altLang="zh-CN" sz="2400" dirty="0">
                <a:effectLst>
                  <a:outerShdw blurRad="38100" dist="38100" dir="2700000" algn="tl">
                    <a:srgbClr val="FFFFFF"/>
                  </a:outerShdw>
                </a:effectLst>
                <a:latin typeface="Courier New" pitchFamily="49" charset="0"/>
                <a:ea typeface="楷体_GB2312" pitchFamily="49" charset="-122"/>
              </a:rPr>
              <a:t> (</a:t>
            </a:r>
            <a:r>
              <a:rPr lang="en-US" altLang="zh-CN" sz="2400" dirty="0" err="1">
                <a:effectLst>
                  <a:outerShdw blurRad="38100" dist="38100" dir="2700000" algn="tl">
                    <a:srgbClr val="FFFFFF"/>
                  </a:outerShdw>
                </a:effectLst>
                <a:latin typeface="Courier New" pitchFamily="49" charset="0"/>
                <a:ea typeface="楷体_GB2312" pitchFamily="49" charset="-122"/>
              </a:rPr>
              <a:t>a+</a:t>
            </a:r>
            <a:r>
              <a:rPr lang="en-US" altLang="zh-CN" sz="2400" dirty="0" err="1">
                <a:solidFill>
                  <a:srgbClr val="C00000"/>
                </a:solidFill>
                <a:effectLst>
                  <a:outerShdw blurRad="38100" dist="38100" dir="2700000" algn="tl">
                    <a:srgbClr val="FFFFFF"/>
                  </a:outerShdw>
                </a:effectLst>
                <a:latin typeface="Courier New" pitchFamily="49" charset="0"/>
                <a:ea typeface="楷体_GB2312" pitchFamily="49" charset="-122"/>
              </a:rPr>
              <a:t>i</a:t>
            </a:r>
            <a:r>
              <a:rPr lang="en-US" altLang="zh-CN" sz="2400" dirty="0">
                <a:effectLst>
                  <a:outerShdw blurRad="38100" dist="38100" dir="2700000" algn="tl">
                    <a:srgbClr val="FFFFFF"/>
                  </a:outerShdw>
                </a:effectLst>
                <a:latin typeface="Courier New" pitchFamily="49" charset="0"/>
                <a:ea typeface="楷体_GB2312" pitchFamily="49" charset="-122"/>
              </a:rPr>
              <a:t>)</a:t>
            </a:r>
            <a:endParaRPr lang="zh-CN" altLang="en-US" sz="2400" dirty="0">
              <a:effectLst>
                <a:outerShdw blurRad="38100" dist="38100" dir="2700000" algn="tl">
                  <a:srgbClr val="FFFFFF"/>
                </a:outerShdw>
              </a:effectLst>
              <a:latin typeface="Courier New" pitchFamily="49" charset="0"/>
              <a:ea typeface="楷体_GB2312" pitchFamily="49" charset="-122"/>
            </a:endParaRPr>
          </a:p>
        </p:txBody>
      </p:sp>
      <p:sp>
        <p:nvSpPr>
          <p:cNvPr id="33" name="Rectangle 58"/>
          <p:cNvSpPr>
            <a:spLocks noChangeArrowheads="1"/>
          </p:cNvSpPr>
          <p:nvPr/>
        </p:nvSpPr>
        <p:spPr bwMode="auto">
          <a:xfrm>
            <a:off x="759301" y="4574223"/>
            <a:ext cx="5976938" cy="501650"/>
          </a:xfrm>
          <a:prstGeom prst="rect">
            <a:avLst/>
          </a:prstGeom>
          <a:solidFill>
            <a:srgbClr val="FFFFCC"/>
          </a:solidFill>
          <a:ln w="28575">
            <a:solidFill>
              <a:srgbClr val="008000"/>
            </a:solidFill>
            <a:miter lim="800000"/>
            <a:headEnd/>
            <a:tailEnd/>
          </a:ln>
        </p:spPr>
        <p:txBody>
          <a:bodyPr wrap="none" anchor="ct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algn="ctr" eaLnBrk="1">
              <a:lnSpc>
                <a:spcPct val="95000"/>
              </a:lnSpc>
              <a:spcBef>
                <a:spcPct val="20000"/>
              </a:spcBef>
              <a:spcAft>
                <a:spcPts val="588"/>
              </a:spcAft>
              <a:buClr>
                <a:srgbClr val="FFCC66"/>
              </a:buClr>
              <a:buSzPct val="80000"/>
              <a:buFont typeface="Monotype Sorts"/>
              <a:buNone/>
            </a:pPr>
            <a:r>
              <a:rPr kumimoji="1" lang="en-US" altLang="zh-CN" sz="2400">
                <a:solidFill>
                  <a:srgbClr val="000066"/>
                </a:solidFill>
                <a:latin typeface="Courier New" panose="02070309020205020404" pitchFamily="49" charset="0"/>
                <a:ea typeface="黑体" panose="02010609060101010101" pitchFamily="49" charset="-122"/>
              </a:rPr>
              <a:t>a</a:t>
            </a:r>
            <a:r>
              <a:rPr kumimoji="1" lang="zh-CN" altLang="zh-CN" b="0">
                <a:solidFill>
                  <a:srgbClr val="000066"/>
                </a:solidFill>
                <a:latin typeface="Courier New" panose="02070309020205020404" pitchFamily="49" charset="0"/>
                <a:ea typeface="黑体" panose="02010609060101010101" pitchFamily="49" charset="-122"/>
              </a:rPr>
              <a:t>代表</a:t>
            </a:r>
            <a:r>
              <a:rPr kumimoji="1" lang="zh-CN" altLang="en-US" b="0">
                <a:solidFill>
                  <a:srgbClr val="000066"/>
                </a:solidFill>
                <a:latin typeface="Courier New" panose="02070309020205020404" pitchFamily="49" charset="0"/>
                <a:ea typeface="黑体" panose="02010609060101010101" pitchFamily="49" charset="-122"/>
              </a:rPr>
              <a:t>二</a:t>
            </a:r>
            <a:r>
              <a:rPr kumimoji="1" lang="zh-CN" altLang="zh-CN" b="0">
                <a:solidFill>
                  <a:srgbClr val="000066"/>
                </a:solidFill>
                <a:latin typeface="Courier New" panose="02070309020205020404" pitchFamily="49" charset="0"/>
                <a:ea typeface="黑体" panose="02010609060101010101" pitchFamily="49" charset="-122"/>
              </a:rPr>
              <a:t>维数组的首地址，</a:t>
            </a:r>
            <a:r>
              <a:rPr kumimoji="1" lang="zh-CN" altLang="en-US">
                <a:solidFill>
                  <a:srgbClr val="CC0000"/>
                </a:solidFill>
                <a:latin typeface="Courier New" panose="02070309020205020404" pitchFamily="49" charset="0"/>
                <a:ea typeface="黑体" panose="02010609060101010101" pitchFamily="49" charset="-122"/>
              </a:rPr>
              <a:t>第</a:t>
            </a:r>
            <a:r>
              <a:rPr kumimoji="1" lang="en-US" altLang="zh-CN">
                <a:solidFill>
                  <a:srgbClr val="CC0000"/>
                </a:solidFill>
                <a:latin typeface="Courier New" panose="02070309020205020404" pitchFamily="49" charset="0"/>
                <a:ea typeface="黑体" panose="02010609060101010101" pitchFamily="49" charset="-122"/>
              </a:rPr>
              <a:t>0</a:t>
            </a:r>
            <a:r>
              <a:rPr kumimoji="1" lang="zh-CN" altLang="en-US">
                <a:solidFill>
                  <a:srgbClr val="CC0000"/>
                </a:solidFill>
                <a:latin typeface="Courier New" panose="02070309020205020404" pitchFamily="49" charset="0"/>
                <a:ea typeface="黑体" panose="02010609060101010101" pitchFamily="49" charset="-122"/>
              </a:rPr>
              <a:t>行</a:t>
            </a:r>
            <a:r>
              <a:rPr kumimoji="1" lang="zh-CN" altLang="zh-CN" b="0">
                <a:solidFill>
                  <a:srgbClr val="000066"/>
                </a:solidFill>
                <a:latin typeface="Courier New" panose="02070309020205020404" pitchFamily="49" charset="0"/>
                <a:ea typeface="黑体" panose="02010609060101010101" pitchFamily="49" charset="-122"/>
              </a:rPr>
              <a:t>的地址，</a:t>
            </a:r>
            <a:r>
              <a:rPr kumimoji="1" lang="zh-CN" altLang="zh-CN">
                <a:solidFill>
                  <a:srgbClr val="C00000"/>
                </a:solidFill>
                <a:latin typeface="Courier New" panose="02070309020205020404" pitchFamily="49" charset="0"/>
                <a:ea typeface="黑体" panose="02010609060101010101" pitchFamily="49" charset="-122"/>
              </a:rPr>
              <a:t>行地址</a:t>
            </a:r>
            <a:endParaRPr lang="zh-CN" altLang="en-US">
              <a:solidFill>
                <a:srgbClr val="C00000"/>
              </a:solidFill>
              <a:latin typeface="Courier New" panose="02070309020205020404" pitchFamily="49" charset="0"/>
              <a:ea typeface="黑体" panose="02010609060101010101" pitchFamily="49" charset="-122"/>
            </a:endParaRPr>
          </a:p>
        </p:txBody>
      </p:sp>
      <p:sp>
        <p:nvSpPr>
          <p:cNvPr id="34" name="Rectangle 59"/>
          <p:cNvSpPr>
            <a:spLocks noChangeArrowheads="1"/>
          </p:cNvSpPr>
          <p:nvPr/>
        </p:nvSpPr>
        <p:spPr bwMode="auto">
          <a:xfrm>
            <a:off x="759301" y="5147310"/>
            <a:ext cx="3290888" cy="933450"/>
          </a:xfrm>
          <a:prstGeom prst="rect">
            <a:avLst/>
          </a:prstGeom>
          <a:solidFill>
            <a:srgbClr val="FFFFCC"/>
          </a:solidFill>
          <a:ln w="28575">
            <a:solidFill>
              <a:srgbClr val="008000"/>
            </a:solidFill>
            <a:miter lim="800000"/>
            <a:headEnd/>
            <a:tailEnd/>
          </a:ln>
        </p:spPr>
        <p:txBody>
          <a:bodyPr wrap="none" anchor="ct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algn="ctr" eaLnBrk="1">
              <a:lnSpc>
                <a:spcPct val="120000"/>
              </a:lnSpc>
              <a:spcBef>
                <a:spcPts val="600"/>
              </a:spcBef>
              <a:buClr>
                <a:srgbClr val="FFCC66"/>
              </a:buClr>
              <a:buSzPct val="80000"/>
              <a:buFont typeface="Monotype Sorts"/>
              <a:buNone/>
            </a:pPr>
            <a:r>
              <a:rPr kumimoji="1" lang="en-US" altLang="zh-CN" sz="2400">
                <a:solidFill>
                  <a:srgbClr val="000066"/>
                </a:solidFill>
                <a:latin typeface="Courier New" panose="02070309020205020404" pitchFamily="49" charset="0"/>
                <a:ea typeface="黑体" panose="02010609060101010101" pitchFamily="49" charset="-122"/>
              </a:rPr>
              <a:t>a+i </a:t>
            </a:r>
            <a:r>
              <a:rPr kumimoji="1" lang="zh-CN" altLang="zh-CN" b="0">
                <a:solidFill>
                  <a:srgbClr val="000066"/>
                </a:solidFill>
                <a:latin typeface="Courier New" panose="02070309020205020404" pitchFamily="49" charset="0"/>
                <a:ea typeface="黑体" panose="02010609060101010101" pitchFamily="49" charset="-122"/>
              </a:rPr>
              <a:t>代表</a:t>
            </a:r>
            <a:r>
              <a:rPr kumimoji="1" lang="zh-CN" altLang="en-US" b="0">
                <a:solidFill>
                  <a:srgbClr val="000066"/>
                </a:solidFill>
                <a:latin typeface="Courier New" panose="02070309020205020404" pitchFamily="49" charset="0"/>
                <a:ea typeface="黑体" panose="02010609060101010101" pitchFamily="49" charset="-122"/>
              </a:rPr>
              <a:t>第</a:t>
            </a:r>
            <a:r>
              <a:rPr kumimoji="1" lang="en-US" altLang="zh-CN" sz="2400">
                <a:solidFill>
                  <a:srgbClr val="000066"/>
                </a:solidFill>
                <a:latin typeface="Courier New" panose="02070309020205020404" pitchFamily="49" charset="0"/>
                <a:ea typeface="黑体" panose="02010609060101010101" pitchFamily="49" charset="-122"/>
              </a:rPr>
              <a:t>i</a:t>
            </a:r>
            <a:r>
              <a:rPr kumimoji="1" lang="zh-CN" altLang="en-US" b="0">
                <a:solidFill>
                  <a:srgbClr val="000066"/>
                </a:solidFill>
                <a:latin typeface="Courier New" panose="02070309020205020404" pitchFamily="49" charset="0"/>
                <a:ea typeface="黑体" panose="02010609060101010101" pitchFamily="49" charset="-122"/>
              </a:rPr>
              <a:t>行</a:t>
            </a:r>
            <a:r>
              <a:rPr kumimoji="1" lang="zh-CN" altLang="zh-CN" b="0">
                <a:solidFill>
                  <a:srgbClr val="000066"/>
                </a:solidFill>
                <a:latin typeface="Courier New" panose="02070309020205020404" pitchFamily="49" charset="0"/>
                <a:ea typeface="黑体" panose="02010609060101010101" pitchFamily="49" charset="-122"/>
              </a:rPr>
              <a:t>的地址</a:t>
            </a:r>
            <a:endParaRPr kumimoji="1" lang="zh-CN" altLang="en-US" b="0">
              <a:solidFill>
                <a:srgbClr val="000066"/>
              </a:solidFill>
              <a:latin typeface="Courier New" panose="02070309020205020404" pitchFamily="49" charset="0"/>
              <a:ea typeface="黑体" panose="02010609060101010101" pitchFamily="49" charset="-122"/>
            </a:endParaRPr>
          </a:p>
          <a:p>
            <a:pPr algn="ctr" eaLnBrk="1">
              <a:lnSpc>
                <a:spcPct val="120000"/>
              </a:lnSpc>
              <a:spcBef>
                <a:spcPts val="600"/>
              </a:spcBef>
              <a:buClr>
                <a:srgbClr val="FFCC66"/>
              </a:buClr>
              <a:buSzPct val="80000"/>
              <a:buFont typeface="Monotype Sorts"/>
              <a:buNone/>
            </a:pPr>
            <a:r>
              <a:rPr kumimoji="1" lang="zh-CN" altLang="en-US" b="0">
                <a:solidFill>
                  <a:srgbClr val="000066"/>
                </a:solidFill>
                <a:latin typeface="Courier New" panose="02070309020205020404" pitchFamily="49" charset="0"/>
                <a:ea typeface="黑体" panose="02010609060101010101" pitchFamily="49" charset="-122"/>
              </a:rPr>
              <a:t>但并非增加</a:t>
            </a:r>
            <a:r>
              <a:rPr kumimoji="1" lang="en-US" altLang="zh-CN" sz="2400">
                <a:solidFill>
                  <a:srgbClr val="000066"/>
                </a:solidFill>
                <a:latin typeface="Courier New" panose="02070309020205020404" pitchFamily="49" charset="0"/>
                <a:ea typeface="黑体" panose="02010609060101010101" pitchFamily="49" charset="-122"/>
              </a:rPr>
              <a:t>i</a:t>
            </a:r>
            <a:r>
              <a:rPr kumimoji="1" lang="zh-CN" altLang="en-US" b="0">
                <a:solidFill>
                  <a:srgbClr val="000066"/>
                </a:solidFill>
                <a:latin typeface="Courier New" panose="02070309020205020404" pitchFamily="49" charset="0"/>
                <a:ea typeface="黑体" panose="02010609060101010101" pitchFamily="49" charset="-122"/>
              </a:rPr>
              <a:t>个字节！</a:t>
            </a:r>
            <a:endParaRPr lang="zh-CN" altLang="en-US" b="0">
              <a:solidFill>
                <a:srgbClr val="000066"/>
              </a:solidFill>
              <a:latin typeface="Courier New" panose="02070309020205020404" pitchFamily="49" charset="0"/>
              <a:ea typeface="黑体" panose="02010609060101010101" pitchFamily="49" charset="-122"/>
            </a:endParaRPr>
          </a:p>
        </p:txBody>
      </p:sp>
      <p:sp>
        <p:nvSpPr>
          <p:cNvPr id="35" name="Text Box 2"/>
          <p:cNvSpPr txBox="1">
            <a:spLocks noChangeArrowheads="1"/>
          </p:cNvSpPr>
          <p:nvPr/>
        </p:nvSpPr>
        <p:spPr bwMode="auto">
          <a:xfrm>
            <a:off x="7335520" y="4586288"/>
            <a:ext cx="3756025"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sz="2400" b="0" dirty="0">
                <a:ea typeface="黑体" panose="02010609060101010101" pitchFamily="49" charset="-122"/>
              </a:rPr>
              <a:t>1</a:t>
            </a:r>
            <a:r>
              <a:rPr kumimoji="1" lang="zh-CN" altLang="en-US" sz="2400" b="0" dirty="0">
                <a:ea typeface="黑体" panose="02010609060101010101" pitchFamily="49" charset="-122"/>
              </a:rPr>
              <a:t>）</a:t>
            </a:r>
            <a:r>
              <a:rPr kumimoji="1" lang="en-US" altLang="zh-CN" sz="2400" b="0" dirty="0">
                <a:ea typeface="黑体" panose="02010609060101010101" pitchFamily="49" charset="-122"/>
              </a:rPr>
              <a:t>a</a:t>
            </a:r>
            <a:r>
              <a:rPr kumimoji="1" lang="zh-CN" altLang="en-US" sz="2400" b="0" dirty="0">
                <a:ea typeface="黑体" panose="02010609060101010101" pitchFamily="49" charset="-122"/>
              </a:rPr>
              <a:t>包含</a:t>
            </a:r>
            <a:r>
              <a:rPr kumimoji="1" lang="en-US" altLang="zh-CN" sz="2400" b="0" dirty="0">
                <a:ea typeface="黑体" panose="02010609060101010101" pitchFamily="49" charset="-122"/>
              </a:rPr>
              <a:t>2</a:t>
            </a:r>
            <a:r>
              <a:rPr kumimoji="1" lang="zh-CN" altLang="en-US" sz="2400" b="0" dirty="0">
                <a:ea typeface="黑体" panose="02010609060101010101" pitchFamily="49" charset="-122"/>
              </a:rPr>
              <a:t>个元素</a:t>
            </a:r>
            <a:r>
              <a:rPr kumimoji="1" lang="en-US" altLang="zh-CN" sz="2400" dirty="0">
                <a:solidFill>
                  <a:srgbClr val="C00000"/>
                </a:solidFill>
                <a:ea typeface="黑体" panose="02010609060101010101" pitchFamily="49" charset="-122"/>
              </a:rPr>
              <a:t>a[0],</a:t>
            </a:r>
            <a:r>
              <a:rPr kumimoji="1" lang="en-US" altLang="zh-CN" sz="2400" dirty="0">
                <a:solidFill>
                  <a:srgbClr val="009900"/>
                </a:solidFill>
                <a:ea typeface="黑体" panose="02010609060101010101" pitchFamily="49" charset="-122"/>
              </a:rPr>
              <a:t>a[1]</a:t>
            </a:r>
          </a:p>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sz="2400" b="0" dirty="0">
                <a:ea typeface="黑体" panose="02010609060101010101" pitchFamily="49" charset="-122"/>
              </a:rPr>
              <a:t>2</a:t>
            </a:r>
            <a:r>
              <a:rPr kumimoji="1" lang="zh-CN" altLang="en-US" sz="2400" b="0" dirty="0">
                <a:ea typeface="黑体" panose="02010609060101010101" pitchFamily="49" charset="-122"/>
              </a:rPr>
              <a:t>）</a:t>
            </a:r>
            <a:r>
              <a:rPr kumimoji="1" lang="en-US" altLang="zh-CN" sz="2400" dirty="0">
                <a:solidFill>
                  <a:srgbClr val="C00000"/>
                </a:solidFill>
                <a:ea typeface="黑体" panose="02010609060101010101" pitchFamily="49" charset="-122"/>
              </a:rPr>
              <a:t>a[0],</a:t>
            </a:r>
            <a:r>
              <a:rPr kumimoji="1" lang="en-US" altLang="zh-CN" sz="2400" dirty="0">
                <a:solidFill>
                  <a:srgbClr val="009900"/>
                </a:solidFill>
                <a:ea typeface="黑体" panose="02010609060101010101" pitchFamily="49" charset="-122"/>
              </a:rPr>
              <a:t>a[1]</a:t>
            </a:r>
            <a:r>
              <a:rPr kumimoji="1" lang="zh-CN" altLang="zh-CN" sz="2400" b="0" dirty="0">
                <a:ea typeface="黑体" panose="02010609060101010101" pitchFamily="49" charset="-122"/>
              </a:rPr>
              <a:t>又</a:t>
            </a:r>
            <a:r>
              <a:rPr kumimoji="1" lang="zh-CN" altLang="en-US" sz="2400" b="0" dirty="0">
                <a:ea typeface="黑体" panose="02010609060101010101" pitchFamily="49" charset="-122"/>
              </a:rPr>
              <a:t>分别</a:t>
            </a:r>
            <a:r>
              <a:rPr kumimoji="1" lang="zh-CN" altLang="zh-CN" sz="2400" b="0" dirty="0">
                <a:ea typeface="黑体" panose="02010609060101010101" pitchFamily="49" charset="-122"/>
              </a:rPr>
              <a:t>是一个</a:t>
            </a:r>
            <a:endParaRPr kumimoji="1" lang="zh-CN" altLang="en-US" sz="2400" b="0" dirty="0">
              <a:ea typeface="黑体" panose="02010609060101010101" pitchFamily="49" charset="-122"/>
            </a:endParaRPr>
          </a:p>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zh-CN" altLang="en-US" sz="2400" b="0" dirty="0">
                <a:ea typeface="黑体" panose="02010609060101010101" pitchFamily="49" charset="-122"/>
              </a:rPr>
              <a:t>   </a:t>
            </a:r>
            <a:r>
              <a:rPr kumimoji="1" lang="zh-CN" altLang="zh-CN" sz="2400" b="0" dirty="0">
                <a:ea typeface="黑体" panose="02010609060101010101" pitchFamily="49" charset="-122"/>
              </a:rPr>
              <a:t>一维数组，包含</a:t>
            </a:r>
            <a:r>
              <a:rPr kumimoji="1" lang="en-US" altLang="zh-CN" sz="2400" b="0" dirty="0">
                <a:ea typeface="黑体" panose="02010609060101010101" pitchFamily="49" charset="-122"/>
              </a:rPr>
              <a:t>3</a:t>
            </a:r>
            <a:r>
              <a:rPr kumimoji="1" lang="zh-CN" altLang="zh-CN" sz="2400" b="0" dirty="0">
                <a:ea typeface="黑体" panose="02010609060101010101" pitchFamily="49" charset="-122"/>
              </a:rPr>
              <a:t>个元素</a:t>
            </a:r>
            <a:endParaRPr kumimoji="1" lang="zh-CN" altLang="en-US" sz="2400" b="0" dirty="0">
              <a:ea typeface="黑体" panose="02010609060101010101" pitchFamily="49" charset="-122"/>
            </a:endParaRPr>
          </a:p>
        </p:txBody>
      </p:sp>
      <p:sp>
        <p:nvSpPr>
          <p:cNvPr id="36"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2</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、指针与二维数组间的关系</a:t>
            </a:r>
          </a:p>
        </p:txBody>
      </p:sp>
    </p:spTree>
    <p:extLst>
      <p:ext uri="{BB962C8B-B14F-4D97-AF65-F5344CB8AC3E}">
        <p14:creationId xmlns:p14="http://schemas.microsoft.com/office/powerpoint/2010/main" val="2933575868"/>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txBox="1">
            <a:spLocks/>
          </p:cNvSpPr>
          <p:nvPr/>
        </p:nvSpPr>
        <p:spPr>
          <a:xfrm>
            <a:off x="661670" y="1268413"/>
            <a:ext cx="9205913" cy="8651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5000"/>
              </a:lnSpc>
            </a:pPr>
            <a:r>
              <a:rPr lang="zh-CN" altLang="en-US" dirty="0">
                <a:latin typeface="Arial" panose="020B0604020202020204" pitchFamily="34" charset="0"/>
                <a:cs typeface="Arial" panose="020B0604020202020204" pitchFamily="34" charset="0"/>
              </a:rPr>
              <a:t>将二维数组</a:t>
            </a:r>
            <a:r>
              <a:rPr lang="en-US" altLang="zh-CN" b="1" dirty="0">
                <a:latin typeface="Courier New" panose="02070309020205020404" pitchFamily="49" charset="0"/>
                <a:cs typeface="Courier New" panose="02070309020205020404" pitchFamily="49" charset="0"/>
              </a:rPr>
              <a:t>a</a:t>
            </a:r>
            <a:r>
              <a:rPr lang="zh-CN" altLang="en-US" dirty="0">
                <a:latin typeface="Arial" panose="020B0604020202020204" pitchFamily="34" charset="0"/>
                <a:cs typeface="Arial" panose="020B0604020202020204" pitchFamily="34" charset="0"/>
              </a:rPr>
              <a:t>看成一维数组，有</a:t>
            </a:r>
            <a:r>
              <a:rPr lang="en-US" altLang="zh-CN" dirty="0">
                <a:solidFill>
                  <a:srgbClr val="C00000"/>
                </a:solidFill>
                <a:latin typeface="Arial" panose="020B0604020202020204" pitchFamily="34" charset="0"/>
                <a:cs typeface="Arial" panose="020B0604020202020204" pitchFamily="34" charset="0"/>
              </a:rPr>
              <a:t>2</a:t>
            </a:r>
            <a:r>
              <a:rPr lang="zh-CN" altLang="en-US" dirty="0">
                <a:latin typeface="Arial" panose="020B0604020202020204" pitchFamily="34" charset="0"/>
                <a:cs typeface="Arial" panose="020B0604020202020204" pitchFamily="34" charset="0"/>
              </a:rPr>
              <a:t>个</a:t>
            </a:r>
            <a:r>
              <a:rPr kumimoji="1" lang="zh-CN" altLang="en-US" dirty="0">
                <a:solidFill>
                  <a:srgbClr val="CC0000"/>
                </a:solidFill>
                <a:latin typeface="Arial" panose="020B0604020202020204" pitchFamily="34" charset="0"/>
                <a:cs typeface="Arial" panose="020B0604020202020204" pitchFamily="34" charset="0"/>
              </a:rPr>
              <a:t>“</a:t>
            </a:r>
            <a:r>
              <a:rPr kumimoji="1" lang="en-US" altLang="zh-CN" b="1" dirty="0">
                <a:solidFill>
                  <a:srgbClr val="0000CC"/>
                </a:solidFill>
                <a:latin typeface="Courier New" panose="02070309020205020404" pitchFamily="49" charset="0"/>
                <a:cs typeface="Courier New" panose="02070309020205020404" pitchFamily="49" charset="0"/>
              </a:rPr>
              <a:t>int[3]</a:t>
            </a:r>
            <a:r>
              <a:rPr kumimoji="1" lang="zh-CN" altLang="en-US" dirty="0">
                <a:solidFill>
                  <a:srgbClr val="0000CC"/>
                </a:solidFill>
                <a:latin typeface="Arial" panose="020B0604020202020204" pitchFamily="34" charset="0"/>
                <a:cs typeface="Arial" panose="020B0604020202020204" pitchFamily="34" charset="0"/>
              </a:rPr>
              <a:t>型</a:t>
            </a:r>
            <a:r>
              <a:rPr kumimoji="1" lang="zh-CN" altLang="en-US" dirty="0">
                <a:solidFill>
                  <a:srgbClr val="CC0000"/>
                </a:solidFill>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元素</a:t>
            </a:r>
          </a:p>
        </p:txBody>
      </p:sp>
      <p:grpSp>
        <p:nvGrpSpPr>
          <p:cNvPr id="5" name="Group 3"/>
          <p:cNvGrpSpPr>
            <a:grpSpLocks/>
          </p:cNvGrpSpPr>
          <p:nvPr/>
        </p:nvGrpSpPr>
        <p:grpSpPr bwMode="auto">
          <a:xfrm>
            <a:off x="1050608" y="1916113"/>
            <a:ext cx="614362" cy="1397000"/>
            <a:chOff x="274" y="1148"/>
            <a:chExt cx="357" cy="880"/>
          </a:xfrm>
        </p:grpSpPr>
        <p:sp>
          <p:nvSpPr>
            <p:cNvPr id="6" name="Text Box 4"/>
            <p:cNvSpPr txBox="1">
              <a:spLocks noChangeArrowheads="1"/>
            </p:cNvSpPr>
            <p:nvPr/>
          </p:nvSpPr>
          <p:spPr bwMode="auto">
            <a:xfrm>
              <a:off x="407" y="114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t>a</a:t>
              </a:r>
            </a:p>
          </p:txBody>
        </p:sp>
        <p:sp>
          <p:nvSpPr>
            <p:cNvPr id="7" name="Text Box 5"/>
            <p:cNvSpPr txBox="1">
              <a:spLocks noChangeArrowheads="1"/>
            </p:cNvSpPr>
            <p:nvPr/>
          </p:nvSpPr>
          <p:spPr bwMode="auto">
            <a:xfrm>
              <a:off x="274" y="1797"/>
              <a:ext cx="3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t>a+1</a:t>
              </a:r>
            </a:p>
          </p:txBody>
        </p:sp>
      </p:grpSp>
      <p:grpSp>
        <p:nvGrpSpPr>
          <p:cNvPr id="8" name="Group 13"/>
          <p:cNvGrpSpPr>
            <a:grpSpLocks/>
          </p:cNvGrpSpPr>
          <p:nvPr/>
        </p:nvGrpSpPr>
        <p:grpSpPr bwMode="auto">
          <a:xfrm>
            <a:off x="1741170" y="1844675"/>
            <a:ext cx="2006600" cy="2374900"/>
            <a:chOff x="935" y="1104"/>
            <a:chExt cx="1166" cy="1496"/>
          </a:xfrm>
        </p:grpSpPr>
        <p:sp>
          <p:nvSpPr>
            <p:cNvPr id="9" name="Line 14"/>
            <p:cNvSpPr>
              <a:spLocks noChangeShapeType="1"/>
            </p:cNvSpPr>
            <p:nvPr/>
          </p:nvSpPr>
          <p:spPr bwMode="auto">
            <a:xfrm>
              <a:off x="1415" y="1978"/>
              <a:ext cx="686" cy="0"/>
            </a:xfrm>
            <a:prstGeom prst="line">
              <a:avLst/>
            </a:prstGeom>
            <a:noFill/>
            <a:ln w="38100" cap="rnd">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 name="Group 16"/>
            <p:cNvGrpSpPr>
              <a:grpSpLocks/>
            </p:cNvGrpSpPr>
            <p:nvPr/>
          </p:nvGrpSpPr>
          <p:grpSpPr bwMode="auto">
            <a:xfrm>
              <a:off x="1415" y="1330"/>
              <a:ext cx="686" cy="1270"/>
              <a:chOff x="1043" y="1318"/>
              <a:chExt cx="686" cy="1270"/>
            </a:xfrm>
          </p:grpSpPr>
          <p:sp>
            <p:nvSpPr>
              <p:cNvPr id="15" name="Rectangle 17"/>
              <p:cNvSpPr>
                <a:spLocks noChangeArrowheads="1"/>
              </p:cNvSpPr>
              <p:nvPr/>
            </p:nvSpPr>
            <p:spPr bwMode="auto">
              <a:xfrm>
                <a:off x="1043" y="1318"/>
                <a:ext cx="686" cy="1270"/>
              </a:xfrm>
              <a:prstGeom prst="rect">
                <a:avLst/>
              </a:prstGeom>
              <a:noFill/>
              <a:ln w="38100" cap="rnd" cmpd="sng">
                <a:solidFill>
                  <a:srgbClr val="FF0000"/>
                </a:solidFill>
                <a:prstDash val="solid"/>
                <a:miter lim="800000"/>
                <a:headEnd/>
                <a:tailEnd/>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16" name="Text Box 18"/>
              <p:cNvSpPr txBox="1">
                <a:spLocks noChangeArrowheads="1"/>
              </p:cNvSpPr>
              <p:nvPr/>
            </p:nvSpPr>
            <p:spPr bwMode="auto">
              <a:xfrm>
                <a:off x="1193" y="1477"/>
                <a:ext cx="3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a[0]</a:t>
                </a:r>
              </a:p>
            </p:txBody>
          </p:sp>
          <p:sp>
            <p:nvSpPr>
              <p:cNvPr id="17" name="Text Box 19"/>
              <p:cNvSpPr txBox="1">
                <a:spLocks noChangeArrowheads="1"/>
              </p:cNvSpPr>
              <p:nvPr/>
            </p:nvSpPr>
            <p:spPr bwMode="auto">
              <a:xfrm>
                <a:off x="1193" y="2180"/>
                <a:ext cx="3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339933"/>
                    </a:solidFill>
                  </a:rPr>
                  <a:t>a[1]</a:t>
                </a:r>
                <a:endParaRPr kumimoji="1" lang="en-US" altLang="zh-CN"/>
              </a:p>
            </p:txBody>
          </p:sp>
        </p:grpSp>
        <p:sp>
          <p:nvSpPr>
            <p:cNvPr id="11" name="Line 21"/>
            <p:cNvSpPr>
              <a:spLocks noChangeShapeType="1"/>
            </p:cNvSpPr>
            <p:nvPr/>
          </p:nvSpPr>
          <p:spPr bwMode="auto">
            <a:xfrm>
              <a:off x="993" y="1330"/>
              <a:ext cx="42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22"/>
            <p:cNvSpPr>
              <a:spLocks noChangeShapeType="1"/>
            </p:cNvSpPr>
            <p:nvPr/>
          </p:nvSpPr>
          <p:spPr bwMode="auto">
            <a:xfrm>
              <a:off x="978" y="1974"/>
              <a:ext cx="42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Text Box 24"/>
            <p:cNvSpPr txBox="1">
              <a:spLocks noChangeArrowheads="1"/>
            </p:cNvSpPr>
            <p:nvPr/>
          </p:nvSpPr>
          <p:spPr bwMode="auto">
            <a:xfrm>
              <a:off x="977" y="1104"/>
              <a:ext cx="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&amp;a[0]</a:t>
              </a:r>
            </a:p>
          </p:txBody>
        </p:sp>
        <p:sp>
          <p:nvSpPr>
            <p:cNvPr id="14" name="Text Box 25"/>
            <p:cNvSpPr txBox="1">
              <a:spLocks noChangeArrowheads="1"/>
            </p:cNvSpPr>
            <p:nvPr/>
          </p:nvSpPr>
          <p:spPr bwMode="auto">
            <a:xfrm>
              <a:off x="935" y="1758"/>
              <a:ext cx="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009900"/>
                  </a:solidFill>
                </a:rPr>
                <a:t>&amp;a[1]</a:t>
              </a:r>
            </a:p>
          </p:txBody>
        </p:sp>
      </p:grpSp>
      <p:grpSp>
        <p:nvGrpSpPr>
          <p:cNvPr id="18" name="Group 27"/>
          <p:cNvGrpSpPr>
            <a:grpSpLocks/>
          </p:cNvGrpSpPr>
          <p:nvPr/>
        </p:nvGrpSpPr>
        <p:grpSpPr bwMode="auto">
          <a:xfrm>
            <a:off x="3590608" y="2133600"/>
            <a:ext cx="3935412" cy="1808163"/>
            <a:chOff x="2010" y="1286"/>
            <a:chExt cx="2288" cy="1139"/>
          </a:xfrm>
        </p:grpSpPr>
        <p:sp>
          <p:nvSpPr>
            <p:cNvPr id="19" name="Line 28"/>
            <p:cNvSpPr>
              <a:spLocks noChangeShapeType="1"/>
            </p:cNvSpPr>
            <p:nvPr/>
          </p:nvSpPr>
          <p:spPr bwMode="auto">
            <a:xfrm>
              <a:off x="2020" y="1648"/>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0" name="Text Box 30"/>
            <p:cNvSpPr txBox="1">
              <a:spLocks noChangeArrowheads="1"/>
            </p:cNvSpPr>
            <p:nvPr/>
          </p:nvSpPr>
          <p:spPr bwMode="auto">
            <a:xfrm>
              <a:off x="2064" y="1286"/>
              <a:ext cx="6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&amp;a[0][0]</a:t>
              </a:r>
            </a:p>
          </p:txBody>
        </p:sp>
        <p:sp>
          <p:nvSpPr>
            <p:cNvPr id="21" name="Line 32"/>
            <p:cNvSpPr>
              <a:spLocks noChangeShapeType="1"/>
            </p:cNvSpPr>
            <p:nvPr/>
          </p:nvSpPr>
          <p:spPr bwMode="auto">
            <a:xfrm>
              <a:off x="2010" y="2328"/>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Text Box 36"/>
            <p:cNvSpPr txBox="1">
              <a:spLocks noChangeArrowheads="1"/>
            </p:cNvSpPr>
            <p:nvPr/>
          </p:nvSpPr>
          <p:spPr bwMode="auto">
            <a:xfrm>
              <a:off x="2064" y="1966"/>
              <a:ext cx="6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009900"/>
                  </a:solidFill>
                </a:rPr>
                <a:t>&amp;a[1][0]</a:t>
              </a:r>
            </a:p>
          </p:txBody>
        </p:sp>
        <p:sp>
          <p:nvSpPr>
            <p:cNvPr id="23" name="Text Box 49"/>
            <p:cNvSpPr txBox="1">
              <a:spLocks noChangeArrowheads="1"/>
            </p:cNvSpPr>
            <p:nvPr/>
          </p:nvSpPr>
          <p:spPr bwMode="auto">
            <a:xfrm>
              <a:off x="2472" y="1512"/>
              <a:ext cx="595" cy="233"/>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a[0] </a:t>
              </a:r>
              <a:r>
                <a:rPr kumimoji="1" lang="en-US" altLang="zh-CN">
                  <a:solidFill>
                    <a:srgbClr val="0000CC"/>
                  </a:solidFill>
                </a:rPr>
                <a:t>[0]</a:t>
              </a:r>
            </a:p>
          </p:txBody>
        </p:sp>
        <p:sp>
          <p:nvSpPr>
            <p:cNvPr id="24" name="Text Box 50"/>
            <p:cNvSpPr txBox="1">
              <a:spLocks noChangeArrowheads="1"/>
            </p:cNvSpPr>
            <p:nvPr/>
          </p:nvSpPr>
          <p:spPr bwMode="auto">
            <a:xfrm>
              <a:off x="3089" y="1512"/>
              <a:ext cx="595" cy="233"/>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a[0]</a:t>
              </a:r>
              <a:r>
                <a:rPr kumimoji="1" lang="en-US" altLang="zh-CN">
                  <a:solidFill>
                    <a:schemeClr val="tx2"/>
                  </a:solidFill>
                </a:rPr>
                <a:t> </a:t>
              </a:r>
              <a:r>
                <a:rPr kumimoji="1" lang="en-US" altLang="zh-CN">
                  <a:solidFill>
                    <a:srgbClr val="0000CC"/>
                  </a:solidFill>
                </a:rPr>
                <a:t>[1]</a:t>
              </a:r>
            </a:p>
          </p:txBody>
        </p:sp>
        <p:sp>
          <p:nvSpPr>
            <p:cNvPr id="25" name="Text Box 51"/>
            <p:cNvSpPr txBox="1">
              <a:spLocks noChangeArrowheads="1"/>
            </p:cNvSpPr>
            <p:nvPr/>
          </p:nvSpPr>
          <p:spPr bwMode="auto">
            <a:xfrm>
              <a:off x="2472" y="2192"/>
              <a:ext cx="595" cy="233"/>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339933"/>
                  </a:solidFill>
                </a:rPr>
                <a:t>a[1] </a:t>
              </a:r>
              <a:r>
                <a:rPr kumimoji="1" lang="en-US" altLang="zh-CN">
                  <a:solidFill>
                    <a:srgbClr val="0000CC"/>
                  </a:solidFill>
                </a:rPr>
                <a:t>[0]</a:t>
              </a:r>
            </a:p>
          </p:txBody>
        </p:sp>
        <p:sp>
          <p:nvSpPr>
            <p:cNvPr id="26" name="Text Box 52"/>
            <p:cNvSpPr txBox="1">
              <a:spLocks noChangeArrowheads="1"/>
            </p:cNvSpPr>
            <p:nvPr/>
          </p:nvSpPr>
          <p:spPr bwMode="auto">
            <a:xfrm>
              <a:off x="3083" y="2192"/>
              <a:ext cx="595" cy="233"/>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339933"/>
                  </a:solidFill>
                </a:rPr>
                <a:t>a[1] </a:t>
              </a:r>
              <a:r>
                <a:rPr kumimoji="1" lang="en-US" altLang="zh-CN">
                  <a:solidFill>
                    <a:srgbClr val="0000CC"/>
                  </a:solidFill>
                </a:rPr>
                <a:t>[1]</a:t>
              </a:r>
            </a:p>
          </p:txBody>
        </p:sp>
        <p:sp>
          <p:nvSpPr>
            <p:cNvPr id="27" name="Text Box 58"/>
            <p:cNvSpPr txBox="1">
              <a:spLocks noChangeArrowheads="1"/>
            </p:cNvSpPr>
            <p:nvPr/>
          </p:nvSpPr>
          <p:spPr bwMode="auto">
            <a:xfrm>
              <a:off x="3703" y="1512"/>
              <a:ext cx="595" cy="233"/>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dirty="0">
                  <a:solidFill>
                    <a:srgbClr val="C00000"/>
                  </a:solidFill>
                </a:rPr>
                <a:t>a[0] </a:t>
              </a:r>
              <a:r>
                <a:rPr kumimoji="1" lang="en-US" altLang="zh-CN" dirty="0">
                  <a:solidFill>
                    <a:srgbClr val="0000CC"/>
                  </a:solidFill>
                </a:rPr>
                <a:t>[2]</a:t>
              </a:r>
            </a:p>
          </p:txBody>
        </p:sp>
        <p:sp>
          <p:nvSpPr>
            <p:cNvPr id="28" name="Text Box 60"/>
            <p:cNvSpPr txBox="1">
              <a:spLocks noChangeArrowheads="1"/>
            </p:cNvSpPr>
            <p:nvPr/>
          </p:nvSpPr>
          <p:spPr bwMode="auto">
            <a:xfrm>
              <a:off x="3696" y="2192"/>
              <a:ext cx="595" cy="233"/>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339933"/>
                  </a:solidFill>
                </a:rPr>
                <a:t>a[1] </a:t>
              </a:r>
              <a:r>
                <a:rPr kumimoji="1" lang="en-US" altLang="zh-CN">
                  <a:solidFill>
                    <a:srgbClr val="0000CC"/>
                  </a:solidFill>
                </a:rPr>
                <a:t>[2]</a:t>
              </a:r>
            </a:p>
          </p:txBody>
        </p:sp>
      </p:grpSp>
      <p:sp>
        <p:nvSpPr>
          <p:cNvPr id="29" name="Rectangle 61"/>
          <p:cNvSpPr>
            <a:spLocks noChangeArrowheads="1"/>
          </p:cNvSpPr>
          <p:nvPr/>
        </p:nvSpPr>
        <p:spPr bwMode="auto">
          <a:xfrm>
            <a:off x="7837170" y="2636838"/>
            <a:ext cx="2339975" cy="1152525"/>
          </a:xfrm>
          <a:prstGeom prst="rect">
            <a:avLst/>
          </a:prstGeom>
          <a:solidFill>
            <a:schemeClr val="bg1"/>
          </a:solidFill>
          <a:ln w="28575">
            <a:solidFill>
              <a:srgbClr val="009900"/>
            </a:solidFill>
            <a:miter lim="800000"/>
            <a:headEnd/>
            <a:tailEnd/>
          </a:ln>
        </p:spPr>
        <p:txBody>
          <a:bodyPr wrap="none" anchor="ct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algn="ctr" eaLnBrk="1">
              <a:lnSpc>
                <a:spcPct val="95000"/>
              </a:lnSpc>
              <a:spcBef>
                <a:spcPct val="20000"/>
              </a:spcBef>
              <a:spcAft>
                <a:spcPts val="588"/>
              </a:spcAft>
              <a:buClr>
                <a:srgbClr val="FFCC66"/>
              </a:buClr>
              <a:buSzPct val="80000"/>
              <a:buFont typeface="Monotype Sorts"/>
              <a:buNone/>
            </a:pPr>
            <a:r>
              <a:rPr lang="en-US" altLang="zh-CN" sz="2400">
                <a:solidFill>
                  <a:srgbClr val="000066"/>
                </a:solidFill>
                <a:latin typeface="Courier New" panose="02070309020205020404" pitchFamily="49" charset="0"/>
                <a:ea typeface="楷体_GB2312" pitchFamily="49" charset="-122"/>
              </a:rPr>
              <a:t>a[i][j]</a:t>
            </a:r>
          </a:p>
          <a:p>
            <a:pPr algn="ctr" eaLnBrk="1">
              <a:lnSpc>
                <a:spcPct val="95000"/>
              </a:lnSpc>
              <a:spcBef>
                <a:spcPct val="20000"/>
              </a:spcBef>
              <a:spcAft>
                <a:spcPts val="588"/>
              </a:spcAft>
              <a:buClr>
                <a:srgbClr val="FFCC66"/>
              </a:buClr>
              <a:buSzPct val="80000"/>
              <a:buFont typeface="Wingdings" panose="05000000000000000000" pitchFamily="2" charset="2"/>
              <a:buNone/>
            </a:pPr>
            <a:r>
              <a:rPr lang="en-US" altLang="zh-CN" sz="2400">
                <a:solidFill>
                  <a:srgbClr val="000066"/>
                </a:solidFill>
                <a:latin typeface="Courier New" panose="02070309020205020404" pitchFamily="49" charset="0"/>
                <a:ea typeface="楷体_GB2312" pitchFamily="49" charset="-122"/>
              </a:rPr>
              <a:t>*(</a:t>
            </a:r>
            <a:r>
              <a:rPr lang="en-US" altLang="zh-CN" sz="2400">
                <a:solidFill>
                  <a:srgbClr val="C00000"/>
                </a:solidFill>
                <a:latin typeface="Courier New" panose="02070309020205020404" pitchFamily="49" charset="0"/>
                <a:ea typeface="楷体_GB2312" pitchFamily="49" charset="-122"/>
              </a:rPr>
              <a:t>*(a+i)</a:t>
            </a:r>
            <a:r>
              <a:rPr lang="en-US" altLang="zh-CN" sz="2400">
                <a:solidFill>
                  <a:srgbClr val="000066"/>
                </a:solidFill>
                <a:latin typeface="Courier New" panose="02070309020205020404" pitchFamily="49" charset="0"/>
                <a:ea typeface="楷体_GB2312" pitchFamily="49" charset="-122"/>
              </a:rPr>
              <a:t>+j)</a:t>
            </a:r>
          </a:p>
        </p:txBody>
      </p:sp>
      <p:sp>
        <p:nvSpPr>
          <p:cNvPr id="30" name="Rectangle 56"/>
          <p:cNvSpPr>
            <a:spLocks noChangeArrowheads="1"/>
          </p:cNvSpPr>
          <p:nvPr/>
        </p:nvSpPr>
        <p:spPr bwMode="auto">
          <a:xfrm>
            <a:off x="7421245" y="1844675"/>
            <a:ext cx="2889250" cy="476250"/>
          </a:xfrm>
          <a:prstGeom prst="rect">
            <a:avLst/>
          </a:prstGeom>
          <a:noFill/>
          <a:ln w="12700">
            <a:noFill/>
            <a:miter lim="800000"/>
            <a:headEnd type="none" w="sm" len="sm"/>
            <a:tailEnd type="none" w="sm" len="sm"/>
          </a:ln>
          <a:effectLst/>
        </p:spPr>
        <p:txBody>
          <a:bodyPr wrap="none">
            <a:spAutoFit/>
          </a:bodyPr>
          <a:lstStyle/>
          <a:p>
            <a:pPr>
              <a:lnSpc>
                <a:spcPct val="90000"/>
              </a:lnSpc>
              <a:spcBef>
                <a:spcPts val="588"/>
              </a:spcBef>
              <a:spcAft>
                <a:spcPts val="588"/>
              </a:spcAft>
              <a:buClr>
                <a:schemeClr val="tx2"/>
              </a:buClr>
              <a:buSzPct val="80000"/>
              <a:buFont typeface="Wingdings" panose="05000000000000000000" pitchFamily="2" charset="2"/>
              <a:buNone/>
              <a:defRPr/>
            </a:pPr>
            <a:r>
              <a:rPr kumimoji="1" lang="en-US" altLang="zh-CN" dirty="0">
                <a:solidFill>
                  <a:schemeClr val="accent2"/>
                </a:solidFill>
                <a:effectLst>
                  <a:outerShdw blurRad="38100" dist="38100" dir="2700000" algn="tl">
                    <a:srgbClr val="C0C0C0"/>
                  </a:outerShdw>
                </a:effectLst>
                <a:latin typeface="Courier New" pitchFamily="49" charset="0"/>
              </a:rPr>
              <a:t> </a:t>
            </a:r>
            <a:r>
              <a:rPr kumimoji="1" lang="en-US" altLang="zh-CN" sz="2800" dirty="0" err="1">
                <a:solidFill>
                  <a:srgbClr val="0000CC"/>
                </a:solidFill>
                <a:latin typeface="Courier New" pitchFamily="49" charset="0"/>
              </a:rPr>
              <a:t>int</a:t>
            </a:r>
            <a:r>
              <a:rPr kumimoji="1" lang="en-US" altLang="zh-CN" sz="2800" dirty="0">
                <a:solidFill>
                  <a:srgbClr val="C00000"/>
                </a:solidFill>
                <a:latin typeface="Courier New" pitchFamily="49" charset="0"/>
              </a:rPr>
              <a:t> </a:t>
            </a:r>
            <a:r>
              <a:rPr kumimoji="1" lang="en-US" altLang="zh-CN" sz="2800" dirty="0">
                <a:solidFill>
                  <a:schemeClr val="tx2"/>
                </a:solidFill>
                <a:latin typeface="Courier New" pitchFamily="49" charset="0"/>
              </a:rPr>
              <a:t>a[2]</a:t>
            </a:r>
            <a:r>
              <a:rPr kumimoji="1" lang="en-US" altLang="zh-CN" sz="2800" dirty="0">
                <a:solidFill>
                  <a:srgbClr val="0000CC"/>
                </a:solidFill>
                <a:latin typeface="Courier New" pitchFamily="49" charset="0"/>
              </a:rPr>
              <a:t>[3]</a:t>
            </a:r>
            <a:r>
              <a:rPr kumimoji="1" lang="en-US" altLang="zh-CN" sz="2800" dirty="0">
                <a:solidFill>
                  <a:schemeClr val="tx2"/>
                </a:solidFill>
                <a:latin typeface="Courier New" pitchFamily="49" charset="0"/>
              </a:rPr>
              <a:t>;</a:t>
            </a:r>
            <a:endParaRPr kumimoji="1" lang="zh-CN" altLang="en-US" sz="2800" dirty="0">
              <a:solidFill>
                <a:schemeClr val="tx2"/>
              </a:solidFill>
              <a:latin typeface="Courier New" pitchFamily="49" charset="0"/>
            </a:endParaRPr>
          </a:p>
        </p:txBody>
      </p:sp>
      <p:sp>
        <p:nvSpPr>
          <p:cNvPr id="31" name="Arc 33"/>
          <p:cNvSpPr>
            <a:spLocks/>
          </p:cNvSpPr>
          <p:nvPr/>
        </p:nvSpPr>
        <p:spPr bwMode="auto">
          <a:xfrm rot="1426039" flipV="1">
            <a:off x="8151495" y="1917700"/>
            <a:ext cx="1366838" cy="6477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lIns="90187" tIns="45094" rIns="90187" bIns="45094" anchor="ctr"/>
          <a:lstStyle/>
          <a:p>
            <a:endParaRPr lang="zh-CN" altLang="en-US"/>
          </a:p>
        </p:txBody>
      </p:sp>
      <p:sp>
        <p:nvSpPr>
          <p:cNvPr id="36" name="Rectangle 3"/>
          <p:cNvSpPr txBox="1">
            <a:spLocks noChangeArrowheads="1"/>
          </p:cNvSpPr>
          <p:nvPr/>
        </p:nvSpPr>
        <p:spPr bwMode="auto">
          <a:xfrm>
            <a:off x="1050608" y="4300538"/>
            <a:ext cx="9205913" cy="2160587"/>
          </a:xfrm>
          <a:prstGeom prst="rect">
            <a:avLst/>
          </a:prstGeom>
          <a:noFill/>
          <a:ln w="9525">
            <a:noFill/>
            <a:miter lim="800000"/>
            <a:headEnd/>
            <a:tailEnd/>
          </a:ln>
          <a:effectLst/>
        </p:spPr>
        <p:txBody>
          <a:bodyPr lIns="92075" tIns="46037" rIns="92075" bIns="46037"/>
          <a:lstStyle/>
          <a:p>
            <a:pPr marL="374650" indent="-374650" eaLnBrk="1">
              <a:lnSpc>
                <a:spcPct val="110000"/>
              </a:lnSpc>
              <a:spcBef>
                <a:spcPct val="20000"/>
              </a:spcBef>
              <a:buClr>
                <a:schemeClr val="tx1"/>
              </a:buClr>
              <a:buSzPct val="50000"/>
              <a:buFont typeface="Wingdings" panose="05000000000000000000" pitchFamily="2" charset="2"/>
              <a:buChar char="n"/>
              <a:defRPr/>
            </a:pPr>
            <a:r>
              <a:rPr lang="zh-CN" altLang="en-US" sz="2800" dirty="0">
                <a:latin typeface="黑体" pitchFamily="49" charset="-122"/>
                <a:ea typeface="黑体" pitchFamily="49" charset="-122"/>
              </a:rPr>
              <a:t>若要让一个指针指向它，则应定义为</a:t>
            </a:r>
            <a:endParaRPr lang="en-US" altLang="zh-CN" sz="2800" dirty="0">
              <a:latin typeface="黑体" pitchFamily="49" charset="-122"/>
              <a:ea typeface="黑体" pitchFamily="49" charset="-122"/>
            </a:endParaRPr>
          </a:p>
          <a:p>
            <a:pPr marL="374650" indent="-374650" eaLnBrk="1">
              <a:lnSpc>
                <a:spcPct val="110000"/>
              </a:lnSpc>
              <a:spcBef>
                <a:spcPts val="0"/>
              </a:spcBef>
              <a:buClr>
                <a:srgbClr val="FFCC66"/>
              </a:buClr>
              <a:buSzPct val="80000"/>
              <a:buFont typeface="Monotype Sorts"/>
              <a:buChar char=""/>
              <a:defRPr/>
            </a:pPr>
            <a:r>
              <a:rPr kumimoji="1" lang="en-US" altLang="zh-CN" sz="2800" dirty="0" err="1">
                <a:solidFill>
                  <a:srgbClr val="0000CC"/>
                </a:solidFill>
                <a:effectLst>
                  <a:outerShdw blurRad="38100" dist="38100" dir="2700000" algn="tl">
                    <a:srgbClr val="C0C0C0"/>
                  </a:outerShdw>
                </a:effectLst>
                <a:latin typeface="Courier New" pitchFamily="49" charset="0"/>
              </a:rPr>
              <a:t>int</a:t>
            </a:r>
            <a:r>
              <a:rPr kumimoji="1" lang="en-US" altLang="zh-CN" sz="2800" dirty="0">
                <a:solidFill>
                  <a:srgbClr val="C00000"/>
                </a:solidFill>
                <a:effectLst>
                  <a:outerShdw blurRad="38100" dist="38100" dir="2700000" algn="tl">
                    <a:srgbClr val="C0C0C0"/>
                  </a:outerShdw>
                </a:effectLst>
                <a:latin typeface="Courier New" pitchFamily="49" charset="0"/>
              </a:rPr>
              <a:t> </a:t>
            </a:r>
            <a:r>
              <a:rPr kumimoji="1" lang="en-US" altLang="zh-CN" sz="2800" dirty="0">
                <a:effectLst>
                  <a:outerShdw blurRad="38100" dist="38100" dir="2700000" algn="tl">
                    <a:srgbClr val="C0C0C0"/>
                  </a:outerShdw>
                </a:effectLst>
                <a:latin typeface="Courier New" pitchFamily="49" charset="0"/>
              </a:rPr>
              <a:t>(</a:t>
            </a:r>
            <a:r>
              <a:rPr kumimoji="1" lang="zh-CN" altLang="en-US" sz="2800" dirty="0">
                <a:effectLst>
                  <a:outerShdw blurRad="38100" dist="38100" dir="2700000" algn="tl">
                    <a:srgbClr val="C0C0C0"/>
                  </a:outerShdw>
                </a:effectLst>
                <a:latin typeface="Courier New" pitchFamily="49" charset="0"/>
              </a:rPr>
              <a:t>*</a:t>
            </a:r>
            <a:r>
              <a:rPr kumimoji="1" lang="en-US" altLang="zh-CN" sz="2800" dirty="0">
                <a:effectLst>
                  <a:outerShdw blurRad="38100" dist="38100" dir="2700000" algn="tl">
                    <a:srgbClr val="C0C0C0"/>
                  </a:outerShdw>
                </a:effectLst>
                <a:latin typeface="Courier New" pitchFamily="49" charset="0"/>
              </a:rPr>
              <a:t>p)</a:t>
            </a:r>
            <a:r>
              <a:rPr kumimoji="1" lang="en-US" altLang="zh-CN" sz="2800" dirty="0">
                <a:solidFill>
                  <a:srgbClr val="0000CC"/>
                </a:solidFill>
                <a:effectLst>
                  <a:outerShdw blurRad="38100" dist="38100" dir="2700000" algn="tl">
                    <a:srgbClr val="C0C0C0"/>
                  </a:outerShdw>
                </a:effectLst>
                <a:latin typeface="Courier New" pitchFamily="49" charset="0"/>
              </a:rPr>
              <a:t>[3]</a:t>
            </a:r>
            <a:r>
              <a:rPr kumimoji="1" lang="en-US" altLang="zh-CN" sz="2800" dirty="0">
                <a:effectLst>
                  <a:outerShdw blurRad="38100" dist="38100" dir="2700000" algn="tl">
                    <a:srgbClr val="C0C0C0"/>
                  </a:outerShdw>
                </a:effectLst>
                <a:latin typeface="Courier New" pitchFamily="49" charset="0"/>
              </a:rPr>
              <a:t>; </a:t>
            </a:r>
            <a:r>
              <a:rPr kumimoji="1" lang="en-US" altLang="zh-CN" sz="2800" b="0" dirty="0">
                <a:ea typeface="黑体" pitchFamily="49" charset="-122"/>
                <a:cs typeface="Arial" pitchFamily="34" charset="0"/>
              </a:rPr>
              <a:t>//</a:t>
            </a:r>
            <a:r>
              <a:rPr kumimoji="1" lang="zh-CN" altLang="en-US" sz="2800" dirty="0">
                <a:solidFill>
                  <a:srgbClr val="CC0000"/>
                </a:solidFill>
                <a:effectLst>
                  <a:outerShdw blurRad="38100" dist="38100" dir="2700000" algn="tl">
                    <a:srgbClr val="C0C0C0"/>
                  </a:outerShdw>
                </a:effectLst>
                <a:ea typeface="黑体" pitchFamily="49" charset="-122"/>
                <a:cs typeface="Arial" pitchFamily="34" charset="0"/>
              </a:rPr>
              <a:t>行指针</a:t>
            </a:r>
            <a:r>
              <a:rPr kumimoji="1" lang="zh-CN" altLang="en-US" sz="2800" b="0" dirty="0">
                <a:ea typeface="黑体" pitchFamily="49" charset="-122"/>
                <a:cs typeface="Arial" pitchFamily="34" charset="0"/>
              </a:rPr>
              <a:t>，基类型是</a:t>
            </a:r>
            <a:r>
              <a:rPr kumimoji="1" lang="en-US" altLang="zh-CN" sz="2800" dirty="0" err="1">
                <a:solidFill>
                  <a:srgbClr val="0000CC"/>
                </a:solidFill>
                <a:latin typeface="Courier New" pitchFamily="49" charset="0"/>
                <a:ea typeface="黑体" pitchFamily="49" charset="-122"/>
                <a:cs typeface="Courier New" pitchFamily="49" charset="0"/>
              </a:rPr>
              <a:t>int</a:t>
            </a:r>
            <a:r>
              <a:rPr kumimoji="1" lang="en-US" altLang="zh-CN" sz="2800" dirty="0">
                <a:solidFill>
                  <a:srgbClr val="0000CC"/>
                </a:solidFill>
                <a:latin typeface="Courier New" pitchFamily="49" charset="0"/>
                <a:ea typeface="黑体" pitchFamily="49" charset="-122"/>
                <a:cs typeface="Courier New" pitchFamily="49" charset="0"/>
              </a:rPr>
              <a:t>[3]</a:t>
            </a:r>
          </a:p>
          <a:p>
            <a:pPr marL="374650" indent="-374650" eaLnBrk="1">
              <a:lnSpc>
                <a:spcPct val="110000"/>
              </a:lnSpc>
              <a:spcBef>
                <a:spcPts val="0"/>
              </a:spcBef>
              <a:buClr>
                <a:srgbClr val="FFCC66"/>
              </a:buClr>
              <a:buSzPct val="80000"/>
              <a:buFont typeface="Monotype Sorts"/>
              <a:buChar char=""/>
              <a:defRPr/>
            </a:pPr>
            <a:r>
              <a:rPr kumimoji="1" lang="en-US" altLang="zh-CN" sz="2800" dirty="0">
                <a:effectLst>
                  <a:outerShdw blurRad="38100" dist="38100" dir="2700000" algn="tl">
                    <a:srgbClr val="C0C0C0"/>
                  </a:outerShdw>
                </a:effectLst>
                <a:latin typeface="Courier New" pitchFamily="49" charset="0"/>
              </a:rPr>
              <a:t>p = </a:t>
            </a:r>
            <a:r>
              <a:rPr kumimoji="1" lang="en-US" altLang="zh-CN" sz="2800" dirty="0">
                <a:solidFill>
                  <a:srgbClr val="C00000"/>
                </a:solidFill>
                <a:effectLst>
                  <a:outerShdw blurRad="38100" dist="38100" dir="2700000" algn="tl">
                    <a:srgbClr val="C0C0C0"/>
                  </a:outerShdw>
                </a:effectLst>
                <a:latin typeface="Courier New" pitchFamily="49" charset="0"/>
              </a:rPr>
              <a:t>a</a:t>
            </a:r>
            <a:r>
              <a:rPr kumimoji="1" lang="en-US" altLang="zh-CN" sz="2800" dirty="0">
                <a:effectLst>
                  <a:outerShdw blurRad="38100" dist="38100" dir="2700000" algn="tl">
                    <a:srgbClr val="C0C0C0"/>
                  </a:outerShdw>
                </a:effectLst>
                <a:latin typeface="Courier New" pitchFamily="49" charset="0"/>
              </a:rPr>
              <a:t>; </a:t>
            </a:r>
          </a:p>
          <a:p>
            <a:pPr marL="374650" indent="-374650" eaLnBrk="1">
              <a:lnSpc>
                <a:spcPct val="110000"/>
              </a:lnSpc>
              <a:spcBef>
                <a:spcPts val="0"/>
              </a:spcBef>
              <a:buClr>
                <a:srgbClr val="FFCC66"/>
              </a:buClr>
              <a:buSzPct val="80000"/>
              <a:buFont typeface="Monotype Sorts"/>
              <a:buChar char=""/>
              <a:defRPr/>
            </a:pPr>
            <a:r>
              <a:rPr kumimoji="1" lang="en-US" altLang="zh-CN" sz="2800" dirty="0">
                <a:effectLst>
                  <a:outerShdw blurRad="38100" dist="38100" dir="2700000" algn="tl">
                    <a:srgbClr val="C0C0C0"/>
                  </a:outerShdw>
                </a:effectLst>
                <a:latin typeface="Courier New" pitchFamily="49" charset="0"/>
              </a:rPr>
              <a:t>p = </a:t>
            </a:r>
            <a:r>
              <a:rPr kumimoji="1" lang="en-US" altLang="zh-CN" sz="2800" dirty="0">
                <a:solidFill>
                  <a:srgbClr val="C00000"/>
                </a:solidFill>
                <a:effectLst>
                  <a:outerShdw blurRad="38100" dist="38100" dir="2700000" algn="tl">
                    <a:srgbClr val="C0C0C0"/>
                  </a:outerShdw>
                </a:effectLst>
                <a:latin typeface="Courier New" pitchFamily="49" charset="0"/>
              </a:rPr>
              <a:t>&amp;a[0]</a:t>
            </a:r>
            <a:r>
              <a:rPr kumimoji="1" lang="en-US" altLang="zh-CN" sz="2800" dirty="0">
                <a:effectLst>
                  <a:outerShdw blurRad="38100" dist="38100" dir="2700000" algn="tl">
                    <a:srgbClr val="C0C0C0"/>
                  </a:outerShdw>
                </a:effectLst>
                <a:latin typeface="Courier New" pitchFamily="49" charset="0"/>
              </a:rPr>
              <a:t>; </a:t>
            </a:r>
            <a:r>
              <a:rPr kumimoji="1" lang="en-US" altLang="zh-CN" sz="2800" b="0" dirty="0">
                <a:ea typeface="黑体" pitchFamily="49" charset="-122"/>
              </a:rPr>
              <a:t>//</a:t>
            </a:r>
            <a:r>
              <a:rPr kumimoji="1" lang="zh-CN" altLang="en-US" sz="2800" b="0" dirty="0">
                <a:ea typeface="黑体" pitchFamily="49" charset="-122"/>
              </a:rPr>
              <a:t>指向</a:t>
            </a:r>
            <a:r>
              <a:rPr kumimoji="1" lang="zh-CN" altLang="en-US" sz="2800" dirty="0">
                <a:solidFill>
                  <a:srgbClr val="CC0000"/>
                </a:solidFill>
                <a:effectLst>
                  <a:outerShdw blurRad="38100" dist="38100" dir="2700000" algn="tl">
                    <a:srgbClr val="C0C0C0"/>
                  </a:outerShdw>
                </a:effectLst>
                <a:ea typeface="黑体" pitchFamily="49" charset="-122"/>
              </a:rPr>
              <a:t>第</a:t>
            </a:r>
            <a:r>
              <a:rPr kumimoji="1" lang="en-US" altLang="zh-CN" sz="2800" dirty="0">
                <a:solidFill>
                  <a:srgbClr val="CC0000"/>
                </a:solidFill>
                <a:effectLst>
                  <a:outerShdw blurRad="38100" dist="38100" dir="2700000" algn="tl">
                    <a:srgbClr val="C0C0C0"/>
                  </a:outerShdw>
                </a:effectLst>
                <a:ea typeface="黑体" pitchFamily="49" charset="-122"/>
              </a:rPr>
              <a:t>0</a:t>
            </a:r>
            <a:r>
              <a:rPr kumimoji="1" lang="zh-CN" altLang="en-US" sz="2800" dirty="0">
                <a:solidFill>
                  <a:srgbClr val="CC0000"/>
                </a:solidFill>
                <a:effectLst>
                  <a:outerShdw blurRad="38100" dist="38100" dir="2700000" algn="tl">
                    <a:srgbClr val="C0C0C0"/>
                  </a:outerShdw>
                </a:effectLst>
                <a:ea typeface="黑体" pitchFamily="49" charset="-122"/>
              </a:rPr>
              <a:t>行</a:t>
            </a:r>
            <a:r>
              <a:rPr lang="zh-CN" altLang="en-US" sz="2800" b="0" dirty="0">
                <a:solidFill>
                  <a:prstClr val="black"/>
                </a:solidFill>
                <a:ea typeface="黑体"/>
                <a:cs typeface="Arial" pitchFamily="34" charset="0"/>
              </a:rPr>
              <a:t>的</a:t>
            </a:r>
            <a:r>
              <a:rPr kumimoji="1" lang="zh-CN" altLang="en-US" sz="2800" b="0" dirty="0">
                <a:solidFill>
                  <a:srgbClr val="CC0000"/>
                </a:solidFill>
                <a:ea typeface="黑体"/>
                <a:cs typeface="Arial" pitchFamily="34" charset="0"/>
              </a:rPr>
              <a:t>“</a:t>
            </a:r>
            <a:r>
              <a:rPr kumimoji="1" lang="en-US" altLang="zh-CN" sz="2800" dirty="0" err="1">
                <a:solidFill>
                  <a:srgbClr val="0000CC"/>
                </a:solidFill>
                <a:latin typeface="Courier New" pitchFamily="49" charset="0"/>
                <a:ea typeface="黑体"/>
                <a:cs typeface="Courier New" pitchFamily="49" charset="0"/>
              </a:rPr>
              <a:t>int</a:t>
            </a:r>
            <a:r>
              <a:rPr kumimoji="1" lang="en-US" altLang="zh-CN" sz="2800" dirty="0">
                <a:solidFill>
                  <a:srgbClr val="0000CC"/>
                </a:solidFill>
                <a:latin typeface="Courier New" pitchFamily="49" charset="0"/>
                <a:ea typeface="黑体"/>
                <a:cs typeface="Courier New" pitchFamily="49" charset="0"/>
              </a:rPr>
              <a:t>[3]</a:t>
            </a:r>
            <a:r>
              <a:rPr kumimoji="1" lang="zh-CN" altLang="en-US" sz="2800" b="0" dirty="0">
                <a:solidFill>
                  <a:srgbClr val="0000CC"/>
                </a:solidFill>
                <a:latin typeface="Courier New" pitchFamily="49" charset="0"/>
                <a:ea typeface="黑体"/>
                <a:cs typeface="Courier New" pitchFamily="49" charset="0"/>
              </a:rPr>
              <a:t>型</a:t>
            </a:r>
            <a:r>
              <a:rPr kumimoji="1" lang="zh-CN" altLang="en-US" sz="2800" b="0" dirty="0">
                <a:solidFill>
                  <a:srgbClr val="CC0000"/>
                </a:solidFill>
                <a:ea typeface="黑体"/>
                <a:cs typeface="Arial" pitchFamily="34" charset="0"/>
              </a:rPr>
              <a:t>”</a:t>
            </a:r>
            <a:r>
              <a:rPr lang="zh-CN" altLang="en-US" sz="2800" b="0" dirty="0">
                <a:solidFill>
                  <a:prstClr val="black"/>
                </a:solidFill>
                <a:ea typeface="黑体"/>
                <a:cs typeface="Arial" pitchFamily="34" charset="0"/>
              </a:rPr>
              <a:t>元素</a:t>
            </a:r>
          </a:p>
          <a:p>
            <a:pPr marL="374650" indent="-374650" eaLnBrk="1">
              <a:lnSpc>
                <a:spcPct val="110000"/>
              </a:lnSpc>
              <a:spcBef>
                <a:spcPct val="20000"/>
              </a:spcBef>
              <a:buClr>
                <a:srgbClr val="FFCC66"/>
              </a:buClr>
              <a:buSzPct val="80000"/>
              <a:buFont typeface="Monotype Sorts"/>
              <a:buChar char=""/>
              <a:defRPr/>
            </a:pPr>
            <a:endParaRPr kumimoji="1" lang="zh-CN" altLang="en-US" sz="2800" dirty="0">
              <a:solidFill>
                <a:srgbClr val="CC0000"/>
              </a:solidFill>
              <a:effectLst>
                <a:outerShdw blurRad="38100" dist="38100" dir="2700000" algn="tl">
                  <a:srgbClr val="C0C0C0"/>
                </a:outerShdw>
              </a:effectLst>
              <a:ea typeface="黑体" pitchFamily="49" charset="-122"/>
            </a:endParaRPr>
          </a:p>
        </p:txBody>
      </p:sp>
      <p:sp>
        <p:nvSpPr>
          <p:cNvPr id="33"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2</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、指针与二维数组间的关系</a:t>
            </a:r>
          </a:p>
        </p:txBody>
      </p:sp>
    </p:spTree>
    <p:extLst>
      <p:ext uri="{BB962C8B-B14F-4D97-AF65-F5344CB8AC3E}">
        <p14:creationId xmlns:p14="http://schemas.microsoft.com/office/powerpoint/2010/main" val="3193276166"/>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nvGrpSpPr>
          <p:cNvPr id="4" name="Group 3"/>
          <p:cNvGrpSpPr>
            <a:grpSpLocks/>
          </p:cNvGrpSpPr>
          <p:nvPr/>
        </p:nvGrpSpPr>
        <p:grpSpPr bwMode="auto">
          <a:xfrm>
            <a:off x="1096328" y="1984693"/>
            <a:ext cx="614362" cy="1397000"/>
            <a:chOff x="274" y="1148"/>
            <a:chExt cx="357" cy="880"/>
          </a:xfrm>
        </p:grpSpPr>
        <p:sp>
          <p:nvSpPr>
            <p:cNvPr id="5" name="Text Box 4"/>
            <p:cNvSpPr txBox="1">
              <a:spLocks noChangeArrowheads="1"/>
            </p:cNvSpPr>
            <p:nvPr/>
          </p:nvSpPr>
          <p:spPr bwMode="auto">
            <a:xfrm>
              <a:off x="407" y="114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t>a</a:t>
              </a:r>
            </a:p>
          </p:txBody>
        </p:sp>
        <p:sp>
          <p:nvSpPr>
            <p:cNvPr id="6" name="Text Box 5"/>
            <p:cNvSpPr txBox="1">
              <a:spLocks noChangeArrowheads="1"/>
            </p:cNvSpPr>
            <p:nvPr/>
          </p:nvSpPr>
          <p:spPr bwMode="auto">
            <a:xfrm>
              <a:off x="274" y="1797"/>
              <a:ext cx="3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t>a+1</a:t>
              </a:r>
            </a:p>
          </p:txBody>
        </p:sp>
      </p:grpSp>
      <p:grpSp>
        <p:nvGrpSpPr>
          <p:cNvPr id="7" name="Group 13"/>
          <p:cNvGrpSpPr>
            <a:grpSpLocks/>
          </p:cNvGrpSpPr>
          <p:nvPr/>
        </p:nvGrpSpPr>
        <p:grpSpPr bwMode="auto">
          <a:xfrm>
            <a:off x="1786890" y="1913255"/>
            <a:ext cx="2006600" cy="2374900"/>
            <a:chOff x="935" y="1104"/>
            <a:chExt cx="1166" cy="1496"/>
          </a:xfrm>
        </p:grpSpPr>
        <p:sp>
          <p:nvSpPr>
            <p:cNvPr id="8" name="Line 14"/>
            <p:cNvSpPr>
              <a:spLocks noChangeShapeType="1"/>
            </p:cNvSpPr>
            <p:nvPr/>
          </p:nvSpPr>
          <p:spPr bwMode="auto">
            <a:xfrm>
              <a:off x="1415" y="1978"/>
              <a:ext cx="686" cy="0"/>
            </a:xfrm>
            <a:prstGeom prst="line">
              <a:avLst/>
            </a:prstGeom>
            <a:noFill/>
            <a:ln w="22225" cap="rnd">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9" name="Group 16"/>
            <p:cNvGrpSpPr>
              <a:grpSpLocks/>
            </p:cNvGrpSpPr>
            <p:nvPr/>
          </p:nvGrpSpPr>
          <p:grpSpPr bwMode="auto">
            <a:xfrm>
              <a:off x="1415" y="1330"/>
              <a:ext cx="686" cy="1270"/>
              <a:chOff x="1043" y="1318"/>
              <a:chExt cx="686" cy="1270"/>
            </a:xfrm>
          </p:grpSpPr>
          <p:sp>
            <p:nvSpPr>
              <p:cNvPr id="14" name="Rectangle 17"/>
              <p:cNvSpPr>
                <a:spLocks noChangeArrowheads="1"/>
              </p:cNvSpPr>
              <p:nvPr/>
            </p:nvSpPr>
            <p:spPr bwMode="auto">
              <a:xfrm>
                <a:off x="1043" y="1318"/>
                <a:ext cx="686" cy="1270"/>
              </a:xfrm>
              <a:prstGeom prst="rect">
                <a:avLst/>
              </a:prstGeom>
              <a:noFill/>
              <a:ln w="22225" cap="rnd">
                <a:solidFill>
                  <a:schemeClr val="tx1"/>
                </a:solidFill>
                <a:prstDash val="dash"/>
                <a:miter lim="800000"/>
                <a:headEnd/>
                <a:tailEnd/>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15" name="Text Box 18"/>
              <p:cNvSpPr txBox="1">
                <a:spLocks noChangeArrowheads="1"/>
              </p:cNvSpPr>
              <p:nvPr/>
            </p:nvSpPr>
            <p:spPr bwMode="auto">
              <a:xfrm>
                <a:off x="1193" y="1477"/>
                <a:ext cx="3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a[0]</a:t>
                </a:r>
              </a:p>
            </p:txBody>
          </p:sp>
          <p:sp>
            <p:nvSpPr>
              <p:cNvPr id="16" name="Text Box 19"/>
              <p:cNvSpPr txBox="1">
                <a:spLocks noChangeArrowheads="1"/>
              </p:cNvSpPr>
              <p:nvPr/>
            </p:nvSpPr>
            <p:spPr bwMode="auto">
              <a:xfrm>
                <a:off x="1193" y="2180"/>
                <a:ext cx="3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009900"/>
                    </a:solidFill>
                  </a:rPr>
                  <a:t>a[1]</a:t>
                </a:r>
              </a:p>
            </p:txBody>
          </p:sp>
        </p:grpSp>
        <p:sp>
          <p:nvSpPr>
            <p:cNvPr id="10" name="Line 21"/>
            <p:cNvSpPr>
              <a:spLocks noChangeShapeType="1"/>
            </p:cNvSpPr>
            <p:nvPr/>
          </p:nvSpPr>
          <p:spPr bwMode="auto">
            <a:xfrm>
              <a:off x="993" y="1330"/>
              <a:ext cx="42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22"/>
            <p:cNvSpPr>
              <a:spLocks noChangeShapeType="1"/>
            </p:cNvSpPr>
            <p:nvPr/>
          </p:nvSpPr>
          <p:spPr bwMode="auto">
            <a:xfrm>
              <a:off x="978" y="1974"/>
              <a:ext cx="42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Text Box 24"/>
            <p:cNvSpPr txBox="1">
              <a:spLocks noChangeArrowheads="1"/>
            </p:cNvSpPr>
            <p:nvPr/>
          </p:nvSpPr>
          <p:spPr bwMode="auto">
            <a:xfrm>
              <a:off x="935" y="1104"/>
              <a:ext cx="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&amp;a[0]</a:t>
              </a:r>
            </a:p>
          </p:txBody>
        </p:sp>
        <p:sp>
          <p:nvSpPr>
            <p:cNvPr id="13" name="Text Box 25"/>
            <p:cNvSpPr txBox="1">
              <a:spLocks noChangeArrowheads="1"/>
            </p:cNvSpPr>
            <p:nvPr/>
          </p:nvSpPr>
          <p:spPr bwMode="auto">
            <a:xfrm>
              <a:off x="935" y="1758"/>
              <a:ext cx="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009900"/>
                  </a:solidFill>
                </a:rPr>
                <a:t>&amp;a[1]</a:t>
              </a:r>
            </a:p>
          </p:txBody>
        </p:sp>
      </p:grpSp>
      <p:grpSp>
        <p:nvGrpSpPr>
          <p:cNvPr id="17" name="Group 27"/>
          <p:cNvGrpSpPr>
            <a:grpSpLocks/>
          </p:cNvGrpSpPr>
          <p:nvPr/>
        </p:nvGrpSpPr>
        <p:grpSpPr bwMode="auto">
          <a:xfrm>
            <a:off x="3636328" y="2216468"/>
            <a:ext cx="3935412" cy="1800225"/>
            <a:chOff x="2010" y="1295"/>
            <a:chExt cx="2288" cy="1134"/>
          </a:xfrm>
        </p:grpSpPr>
        <p:sp>
          <p:nvSpPr>
            <p:cNvPr id="18" name="Line 28"/>
            <p:cNvSpPr>
              <a:spLocks noChangeShapeType="1"/>
            </p:cNvSpPr>
            <p:nvPr/>
          </p:nvSpPr>
          <p:spPr bwMode="auto">
            <a:xfrm>
              <a:off x="2020" y="1648"/>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 name="Text Box 30"/>
            <p:cNvSpPr txBox="1">
              <a:spLocks noChangeArrowheads="1"/>
            </p:cNvSpPr>
            <p:nvPr/>
          </p:nvSpPr>
          <p:spPr bwMode="auto">
            <a:xfrm>
              <a:off x="2064" y="1295"/>
              <a:ext cx="6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&amp;a[0][0]</a:t>
              </a:r>
            </a:p>
          </p:txBody>
        </p:sp>
        <p:sp>
          <p:nvSpPr>
            <p:cNvPr id="20" name="Line 32"/>
            <p:cNvSpPr>
              <a:spLocks noChangeShapeType="1"/>
            </p:cNvSpPr>
            <p:nvPr/>
          </p:nvSpPr>
          <p:spPr bwMode="auto">
            <a:xfrm>
              <a:off x="2010" y="2328"/>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Text Box 49"/>
            <p:cNvSpPr txBox="1">
              <a:spLocks noChangeArrowheads="1"/>
            </p:cNvSpPr>
            <p:nvPr/>
          </p:nvSpPr>
          <p:spPr bwMode="auto">
            <a:xfrm>
              <a:off x="2472" y="1512"/>
              <a:ext cx="586" cy="237"/>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a[0] [0]</a:t>
              </a:r>
            </a:p>
          </p:txBody>
        </p:sp>
        <p:sp>
          <p:nvSpPr>
            <p:cNvPr id="22" name="Text Box 50"/>
            <p:cNvSpPr txBox="1">
              <a:spLocks noChangeArrowheads="1"/>
            </p:cNvSpPr>
            <p:nvPr/>
          </p:nvSpPr>
          <p:spPr bwMode="auto">
            <a:xfrm>
              <a:off x="3089" y="1512"/>
              <a:ext cx="586" cy="237"/>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a[0] [1]</a:t>
              </a:r>
            </a:p>
          </p:txBody>
        </p:sp>
        <p:sp>
          <p:nvSpPr>
            <p:cNvPr id="23" name="Text Box 51"/>
            <p:cNvSpPr txBox="1">
              <a:spLocks noChangeArrowheads="1"/>
            </p:cNvSpPr>
            <p:nvPr/>
          </p:nvSpPr>
          <p:spPr bwMode="auto">
            <a:xfrm>
              <a:off x="2472" y="2192"/>
              <a:ext cx="586" cy="237"/>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a[1] [0]</a:t>
              </a:r>
            </a:p>
          </p:txBody>
        </p:sp>
        <p:sp>
          <p:nvSpPr>
            <p:cNvPr id="24" name="Text Box 52"/>
            <p:cNvSpPr txBox="1">
              <a:spLocks noChangeArrowheads="1"/>
            </p:cNvSpPr>
            <p:nvPr/>
          </p:nvSpPr>
          <p:spPr bwMode="auto">
            <a:xfrm>
              <a:off x="3083" y="2192"/>
              <a:ext cx="586" cy="237"/>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a[1] [1]</a:t>
              </a:r>
            </a:p>
          </p:txBody>
        </p:sp>
        <p:sp>
          <p:nvSpPr>
            <p:cNvPr id="25" name="Text Box 58"/>
            <p:cNvSpPr txBox="1">
              <a:spLocks noChangeArrowheads="1"/>
            </p:cNvSpPr>
            <p:nvPr/>
          </p:nvSpPr>
          <p:spPr bwMode="auto">
            <a:xfrm>
              <a:off x="3703" y="1512"/>
              <a:ext cx="595" cy="237"/>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a[0] [2]</a:t>
              </a:r>
            </a:p>
          </p:txBody>
        </p:sp>
        <p:sp>
          <p:nvSpPr>
            <p:cNvPr id="26" name="Text Box 60"/>
            <p:cNvSpPr txBox="1">
              <a:spLocks noChangeArrowheads="1"/>
            </p:cNvSpPr>
            <p:nvPr/>
          </p:nvSpPr>
          <p:spPr bwMode="auto">
            <a:xfrm>
              <a:off x="3696" y="2192"/>
              <a:ext cx="595" cy="237"/>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a[1] [2]</a:t>
              </a:r>
            </a:p>
          </p:txBody>
        </p:sp>
      </p:grpSp>
      <p:sp>
        <p:nvSpPr>
          <p:cNvPr id="27" name="Rectangle 68"/>
          <p:cNvSpPr>
            <a:spLocks noChangeArrowheads="1"/>
          </p:cNvSpPr>
          <p:nvPr/>
        </p:nvSpPr>
        <p:spPr bwMode="auto">
          <a:xfrm>
            <a:off x="5242878" y="5442268"/>
            <a:ext cx="4321175" cy="938212"/>
          </a:xfrm>
          <a:prstGeom prst="rect">
            <a:avLst/>
          </a:prstGeom>
          <a:solidFill>
            <a:srgbClr val="FFFFCC"/>
          </a:solidFill>
          <a:ln w="28575">
            <a:solidFill>
              <a:srgbClr val="008000"/>
            </a:solidFill>
            <a:miter lim="800000"/>
            <a:headEnd/>
            <a:tailEnd/>
          </a:ln>
        </p:spPr>
        <p:txBody>
          <a:bodyPr wrap="none" anchor="ct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algn="ctr" eaLnBrk="1">
              <a:lnSpc>
                <a:spcPct val="90000"/>
              </a:lnSpc>
              <a:spcAft>
                <a:spcPts val="588"/>
              </a:spcAft>
              <a:buClr>
                <a:srgbClr val="FFCC66"/>
              </a:buClr>
              <a:buSzPct val="80000"/>
              <a:buFont typeface="Monotype Sorts"/>
              <a:buNone/>
            </a:pPr>
            <a:r>
              <a:rPr lang="en-US" altLang="zh-CN" sz="2400" dirty="0">
                <a:solidFill>
                  <a:srgbClr val="000066"/>
                </a:solidFill>
                <a:latin typeface="Courier New" panose="02070309020205020404" pitchFamily="49" charset="0"/>
                <a:ea typeface="黑体" panose="02010609060101010101" pitchFamily="49" charset="-122"/>
              </a:rPr>
              <a:t>*(</a:t>
            </a:r>
            <a:r>
              <a:rPr lang="en-US" altLang="zh-CN" sz="2400" dirty="0">
                <a:solidFill>
                  <a:srgbClr val="008000"/>
                </a:solidFill>
                <a:latin typeface="Courier New" panose="02070309020205020404" pitchFamily="49" charset="0"/>
                <a:ea typeface="黑体" panose="02010609060101010101" pitchFamily="49" charset="-122"/>
              </a:rPr>
              <a:t>*(</a:t>
            </a:r>
            <a:r>
              <a:rPr lang="en-US" altLang="zh-CN" sz="2400" dirty="0" err="1">
                <a:solidFill>
                  <a:srgbClr val="009900"/>
                </a:solidFill>
                <a:latin typeface="Courier New" panose="02070309020205020404" pitchFamily="49" charset="0"/>
                <a:ea typeface="黑体" panose="02010609060101010101" pitchFamily="49" charset="-122"/>
              </a:rPr>
              <a:t>p</a:t>
            </a:r>
            <a:r>
              <a:rPr kumimoji="1" lang="en-US" altLang="zh-CN" sz="2400" dirty="0" err="1">
                <a:solidFill>
                  <a:srgbClr val="009900"/>
                </a:solidFill>
                <a:latin typeface="Courier New" panose="02070309020205020404" pitchFamily="49" charset="0"/>
                <a:ea typeface="黑体" panose="02010609060101010101" pitchFamily="49" charset="-122"/>
              </a:rPr>
              <a:t>+i</a:t>
            </a:r>
            <a:r>
              <a:rPr kumimoji="1" lang="en-US" altLang="zh-CN" sz="2400" dirty="0">
                <a:solidFill>
                  <a:srgbClr val="009900"/>
                </a:solidFill>
                <a:latin typeface="Courier New" panose="02070309020205020404" pitchFamily="49" charset="0"/>
                <a:ea typeface="黑体" panose="02010609060101010101" pitchFamily="49" charset="-122"/>
              </a:rPr>
              <a:t>)</a:t>
            </a:r>
            <a:r>
              <a:rPr kumimoji="1" lang="en-US" altLang="zh-CN" sz="2400" dirty="0">
                <a:solidFill>
                  <a:srgbClr val="000066"/>
                </a:solidFill>
                <a:latin typeface="Courier New" panose="02070309020205020404" pitchFamily="49" charset="0"/>
                <a:ea typeface="黑体" panose="02010609060101010101" pitchFamily="49" charset="-122"/>
              </a:rPr>
              <a:t>+j) </a:t>
            </a:r>
            <a:r>
              <a:rPr kumimoji="1" lang="zh-CN" altLang="en-US" b="0" dirty="0">
                <a:solidFill>
                  <a:srgbClr val="000066"/>
                </a:solidFill>
                <a:latin typeface="Courier New" panose="02070309020205020404" pitchFamily="49" charset="0"/>
                <a:ea typeface="黑体" panose="02010609060101010101" pitchFamily="49" charset="-122"/>
              </a:rPr>
              <a:t>即 </a:t>
            </a:r>
            <a:r>
              <a:rPr kumimoji="1" lang="en-US" altLang="zh-CN" sz="2400" dirty="0">
                <a:solidFill>
                  <a:srgbClr val="009900"/>
                </a:solidFill>
                <a:latin typeface="Courier New" panose="02070309020205020404" pitchFamily="49" charset="0"/>
                <a:ea typeface="黑体" panose="02010609060101010101" pitchFamily="49" charset="-122"/>
              </a:rPr>
              <a:t>a[</a:t>
            </a:r>
            <a:r>
              <a:rPr kumimoji="1" lang="en-US" altLang="zh-CN" sz="2400" dirty="0" err="1">
                <a:solidFill>
                  <a:srgbClr val="009900"/>
                </a:solidFill>
                <a:latin typeface="Courier New" panose="02070309020205020404" pitchFamily="49" charset="0"/>
                <a:ea typeface="黑体" panose="02010609060101010101" pitchFamily="49" charset="-122"/>
              </a:rPr>
              <a:t>i</a:t>
            </a:r>
            <a:r>
              <a:rPr kumimoji="1" lang="en-US" altLang="zh-CN" sz="2400" dirty="0">
                <a:solidFill>
                  <a:srgbClr val="009900"/>
                </a:solidFill>
                <a:latin typeface="Courier New" panose="02070309020205020404" pitchFamily="49" charset="0"/>
                <a:ea typeface="黑体" panose="02010609060101010101" pitchFamily="49" charset="-122"/>
              </a:rPr>
              <a:t>]</a:t>
            </a:r>
            <a:r>
              <a:rPr kumimoji="1" lang="en-US" altLang="zh-CN" sz="2400" dirty="0">
                <a:solidFill>
                  <a:srgbClr val="000066"/>
                </a:solidFill>
                <a:latin typeface="Courier New" panose="02070309020205020404" pitchFamily="49" charset="0"/>
                <a:ea typeface="黑体" panose="02010609060101010101" pitchFamily="49" charset="-122"/>
              </a:rPr>
              <a:t>[j]  </a:t>
            </a:r>
            <a:endParaRPr kumimoji="1" lang="en-US" altLang="zh-CN" dirty="0">
              <a:solidFill>
                <a:srgbClr val="000066"/>
              </a:solidFill>
              <a:latin typeface="Courier New" panose="02070309020205020404" pitchFamily="49" charset="0"/>
              <a:ea typeface="黑体" panose="02010609060101010101" pitchFamily="49" charset="-122"/>
            </a:endParaRPr>
          </a:p>
          <a:p>
            <a:pPr algn="ctr" eaLnBrk="1">
              <a:lnSpc>
                <a:spcPct val="90000"/>
              </a:lnSpc>
              <a:spcAft>
                <a:spcPts val="588"/>
              </a:spcAft>
              <a:buClr>
                <a:srgbClr val="FFCC66"/>
              </a:buClr>
              <a:buSzPct val="80000"/>
              <a:buFont typeface="Monotype Sorts"/>
              <a:buNone/>
            </a:pPr>
            <a:r>
              <a:rPr kumimoji="1" lang="zh-CN" altLang="zh-CN" b="0" dirty="0">
                <a:solidFill>
                  <a:srgbClr val="000066"/>
                </a:solidFill>
                <a:latin typeface="Courier New" panose="02070309020205020404" pitchFamily="49" charset="0"/>
                <a:ea typeface="黑体" panose="02010609060101010101" pitchFamily="49" charset="-122"/>
              </a:rPr>
              <a:t>代表</a:t>
            </a:r>
            <a:r>
              <a:rPr kumimoji="1" lang="zh-CN" altLang="en-US" b="0" dirty="0">
                <a:solidFill>
                  <a:srgbClr val="000066"/>
                </a:solidFill>
                <a:latin typeface="Courier New" panose="02070309020205020404" pitchFamily="49" charset="0"/>
                <a:ea typeface="黑体" panose="02010609060101010101" pitchFamily="49" charset="-122"/>
              </a:rPr>
              <a:t>第</a:t>
            </a:r>
            <a:r>
              <a:rPr kumimoji="1" lang="en-US" altLang="zh-CN" sz="2400" dirty="0" err="1">
                <a:solidFill>
                  <a:srgbClr val="000066"/>
                </a:solidFill>
                <a:latin typeface="Courier New" panose="02070309020205020404" pitchFamily="49" charset="0"/>
                <a:ea typeface="黑体" panose="02010609060101010101" pitchFamily="49" charset="-122"/>
              </a:rPr>
              <a:t>i</a:t>
            </a:r>
            <a:r>
              <a:rPr kumimoji="1" lang="zh-CN" altLang="en-US" b="0" dirty="0">
                <a:solidFill>
                  <a:srgbClr val="000066"/>
                </a:solidFill>
                <a:latin typeface="Courier New" panose="02070309020205020404" pitchFamily="49" charset="0"/>
                <a:ea typeface="黑体" panose="02010609060101010101" pitchFamily="49" charset="-122"/>
              </a:rPr>
              <a:t>行第</a:t>
            </a:r>
            <a:r>
              <a:rPr kumimoji="1" lang="en-US" altLang="zh-CN" sz="2400" dirty="0">
                <a:solidFill>
                  <a:srgbClr val="000066"/>
                </a:solidFill>
                <a:latin typeface="Courier New" panose="02070309020205020404" pitchFamily="49" charset="0"/>
                <a:ea typeface="黑体" panose="02010609060101010101" pitchFamily="49" charset="-122"/>
              </a:rPr>
              <a:t>j</a:t>
            </a:r>
            <a:r>
              <a:rPr kumimoji="1" lang="zh-CN" altLang="en-US" b="0" dirty="0">
                <a:solidFill>
                  <a:srgbClr val="000066"/>
                </a:solidFill>
                <a:latin typeface="Courier New" panose="02070309020205020404" pitchFamily="49" charset="0"/>
                <a:ea typeface="黑体" panose="02010609060101010101" pitchFamily="49" charset="-122"/>
              </a:rPr>
              <a:t>列</a:t>
            </a:r>
            <a:r>
              <a:rPr kumimoji="1" lang="zh-CN" altLang="zh-CN" b="0" dirty="0">
                <a:solidFill>
                  <a:srgbClr val="000066"/>
                </a:solidFill>
                <a:latin typeface="Courier New" panose="02070309020205020404" pitchFamily="49" charset="0"/>
                <a:ea typeface="黑体" panose="02010609060101010101" pitchFamily="49" charset="-122"/>
              </a:rPr>
              <a:t>的</a:t>
            </a:r>
            <a:r>
              <a:rPr kumimoji="1" lang="zh-CN" altLang="en-US" dirty="0">
                <a:solidFill>
                  <a:srgbClr val="C00000"/>
                </a:solidFill>
                <a:latin typeface="Courier New" panose="02070309020205020404" pitchFamily="49" charset="0"/>
                <a:ea typeface="黑体" panose="02010609060101010101" pitchFamily="49" charset="-122"/>
              </a:rPr>
              <a:t>内容</a:t>
            </a:r>
            <a:endParaRPr lang="en-US" altLang="zh-CN" dirty="0">
              <a:solidFill>
                <a:srgbClr val="C00000"/>
              </a:solidFill>
              <a:latin typeface="Courier New" panose="02070309020205020404" pitchFamily="49" charset="0"/>
              <a:ea typeface="黑体" panose="02010609060101010101" pitchFamily="49" charset="-122"/>
            </a:endParaRPr>
          </a:p>
        </p:txBody>
      </p:sp>
      <p:sp>
        <p:nvSpPr>
          <p:cNvPr id="28" name="Rectangle 69"/>
          <p:cNvSpPr>
            <a:spLocks noChangeArrowheads="1"/>
          </p:cNvSpPr>
          <p:nvPr/>
        </p:nvSpPr>
        <p:spPr bwMode="auto">
          <a:xfrm>
            <a:off x="634365" y="4721543"/>
            <a:ext cx="6769100" cy="515937"/>
          </a:xfrm>
          <a:prstGeom prst="rect">
            <a:avLst/>
          </a:prstGeom>
          <a:solidFill>
            <a:srgbClr val="FFFFCC"/>
          </a:solidFill>
          <a:ln w="28575">
            <a:solidFill>
              <a:srgbClr val="008000"/>
            </a:solidFill>
            <a:miter lim="800000"/>
            <a:headEnd/>
            <a:tailEnd/>
          </a:ln>
        </p:spPr>
        <p:txBody>
          <a:bodyPr wrap="none" anchor="ct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algn="ctr" eaLnBrk="1">
              <a:lnSpc>
                <a:spcPct val="95000"/>
              </a:lnSpc>
              <a:spcBef>
                <a:spcPct val="20000"/>
              </a:spcBef>
              <a:spcAft>
                <a:spcPts val="588"/>
              </a:spcAft>
              <a:buClr>
                <a:srgbClr val="FFCC66"/>
              </a:buClr>
              <a:buSzPct val="80000"/>
              <a:buFont typeface="Monotype Sorts"/>
              <a:buNone/>
            </a:pPr>
            <a:r>
              <a:rPr lang="zh-CN" altLang="en-US" sz="2400" dirty="0">
                <a:solidFill>
                  <a:srgbClr val="000066"/>
                </a:solidFill>
                <a:latin typeface="Courier New" panose="02070309020205020404" pitchFamily="49" charset="0"/>
                <a:ea typeface="黑体" panose="02010609060101010101" pitchFamily="49" charset="-122"/>
              </a:rPr>
              <a:t>*</a:t>
            </a:r>
            <a:r>
              <a:rPr lang="en-US" altLang="zh-CN" sz="2400" dirty="0">
                <a:solidFill>
                  <a:srgbClr val="000066"/>
                </a:solidFill>
                <a:latin typeface="Courier New" panose="02070309020205020404" pitchFamily="49" charset="0"/>
                <a:ea typeface="黑体" panose="02010609060101010101" pitchFamily="49" charset="-122"/>
              </a:rPr>
              <a:t>(p </a:t>
            </a:r>
            <a:r>
              <a:rPr kumimoji="1" lang="en-US" altLang="zh-CN" sz="2400" dirty="0">
                <a:solidFill>
                  <a:srgbClr val="000066"/>
                </a:solidFill>
                <a:latin typeface="Courier New" panose="02070309020205020404" pitchFamily="49" charset="0"/>
                <a:ea typeface="黑体" panose="02010609060101010101" pitchFamily="49" charset="-122"/>
              </a:rPr>
              <a:t>+ </a:t>
            </a:r>
            <a:r>
              <a:rPr kumimoji="1" lang="en-US" altLang="zh-CN" sz="2400" dirty="0" err="1">
                <a:solidFill>
                  <a:srgbClr val="000066"/>
                </a:solidFill>
                <a:latin typeface="Courier New" panose="02070309020205020404" pitchFamily="49" charset="0"/>
                <a:ea typeface="黑体" panose="02010609060101010101" pitchFamily="49" charset="-122"/>
              </a:rPr>
              <a:t>i</a:t>
            </a:r>
            <a:r>
              <a:rPr kumimoji="1" lang="en-US" altLang="zh-CN" sz="2400" dirty="0">
                <a:solidFill>
                  <a:srgbClr val="000066"/>
                </a:solidFill>
                <a:latin typeface="Courier New" panose="02070309020205020404" pitchFamily="49" charset="0"/>
                <a:ea typeface="黑体" panose="02010609060101010101" pitchFamily="49" charset="-122"/>
              </a:rPr>
              <a:t>)</a:t>
            </a:r>
            <a:r>
              <a:rPr kumimoji="1" lang="zh-CN" altLang="en-US" b="0" dirty="0">
                <a:solidFill>
                  <a:srgbClr val="000066"/>
                </a:solidFill>
                <a:latin typeface="Courier New" panose="02070309020205020404" pitchFamily="49" charset="0"/>
                <a:ea typeface="黑体" panose="02010609060101010101" pitchFamily="49" charset="-122"/>
              </a:rPr>
              <a:t>即</a:t>
            </a:r>
            <a:r>
              <a:rPr kumimoji="1" lang="zh-CN" altLang="en-US" dirty="0">
                <a:solidFill>
                  <a:srgbClr val="000066"/>
                </a:solidFill>
                <a:latin typeface="Courier New" panose="02070309020205020404" pitchFamily="49" charset="0"/>
                <a:ea typeface="黑体" panose="02010609060101010101" pitchFamily="49" charset="-122"/>
              </a:rPr>
              <a:t> </a:t>
            </a:r>
            <a:r>
              <a:rPr kumimoji="1" lang="en-US" altLang="zh-CN" sz="2400" dirty="0">
                <a:solidFill>
                  <a:srgbClr val="000066"/>
                </a:solidFill>
                <a:latin typeface="Courier New" panose="02070309020205020404" pitchFamily="49" charset="0"/>
                <a:ea typeface="黑体" panose="02010609060101010101" pitchFamily="49" charset="-122"/>
              </a:rPr>
              <a:t>a[</a:t>
            </a:r>
            <a:r>
              <a:rPr kumimoji="1" lang="en-US" altLang="zh-CN" sz="2400" dirty="0" err="1">
                <a:solidFill>
                  <a:srgbClr val="000066"/>
                </a:solidFill>
                <a:latin typeface="Courier New" panose="02070309020205020404" pitchFamily="49" charset="0"/>
                <a:ea typeface="黑体" panose="02010609060101010101" pitchFamily="49" charset="-122"/>
              </a:rPr>
              <a:t>i</a:t>
            </a:r>
            <a:r>
              <a:rPr kumimoji="1" lang="en-US" altLang="zh-CN" sz="2400" dirty="0">
                <a:solidFill>
                  <a:srgbClr val="000066"/>
                </a:solidFill>
                <a:latin typeface="Courier New" panose="02070309020205020404" pitchFamily="49" charset="0"/>
                <a:ea typeface="黑体" panose="02010609060101010101" pitchFamily="49" charset="-122"/>
              </a:rPr>
              <a:t>]</a:t>
            </a:r>
            <a:r>
              <a:rPr kumimoji="1" lang="zh-CN" altLang="zh-CN" b="0" dirty="0">
                <a:solidFill>
                  <a:srgbClr val="000066"/>
                </a:solidFill>
                <a:latin typeface="Courier New" panose="02070309020205020404" pitchFamily="49" charset="0"/>
                <a:ea typeface="黑体" panose="02010609060101010101" pitchFamily="49" charset="-122"/>
              </a:rPr>
              <a:t>代表</a:t>
            </a:r>
            <a:r>
              <a:rPr kumimoji="1" lang="zh-CN" altLang="en-US" b="0" dirty="0">
                <a:solidFill>
                  <a:srgbClr val="000066"/>
                </a:solidFill>
                <a:latin typeface="Courier New" panose="02070309020205020404" pitchFamily="49" charset="0"/>
                <a:ea typeface="黑体" panose="02010609060101010101" pitchFamily="49" charset="-122"/>
              </a:rPr>
              <a:t>第</a:t>
            </a:r>
            <a:r>
              <a:rPr kumimoji="1" lang="en-US" altLang="zh-CN" sz="2400" dirty="0" err="1">
                <a:solidFill>
                  <a:srgbClr val="000066"/>
                </a:solidFill>
                <a:latin typeface="Courier New" panose="02070309020205020404" pitchFamily="49" charset="0"/>
                <a:ea typeface="黑体" panose="02010609060101010101" pitchFamily="49" charset="-122"/>
              </a:rPr>
              <a:t>i</a:t>
            </a:r>
            <a:r>
              <a:rPr kumimoji="1" lang="zh-CN" altLang="en-US" b="0" dirty="0">
                <a:solidFill>
                  <a:srgbClr val="000066"/>
                </a:solidFill>
                <a:latin typeface="Courier New" panose="02070309020205020404" pitchFamily="49" charset="0"/>
                <a:ea typeface="黑体" panose="02010609060101010101" pitchFamily="49" charset="-122"/>
              </a:rPr>
              <a:t>行</a:t>
            </a:r>
            <a:r>
              <a:rPr kumimoji="1" lang="zh-CN" altLang="en-US" dirty="0">
                <a:solidFill>
                  <a:srgbClr val="C00000"/>
                </a:solidFill>
                <a:latin typeface="Courier New" panose="02070309020205020404" pitchFamily="49" charset="0"/>
                <a:ea typeface="黑体" panose="02010609060101010101" pitchFamily="49" charset="-122"/>
              </a:rPr>
              <a:t>第</a:t>
            </a:r>
            <a:r>
              <a:rPr kumimoji="1" lang="en-US" altLang="zh-CN" dirty="0">
                <a:solidFill>
                  <a:srgbClr val="C00000"/>
                </a:solidFill>
                <a:latin typeface="Courier New" panose="02070309020205020404" pitchFamily="49" charset="0"/>
                <a:ea typeface="黑体" panose="02010609060101010101" pitchFamily="49" charset="-122"/>
              </a:rPr>
              <a:t>0</a:t>
            </a:r>
            <a:r>
              <a:rPr kumimoji="1" lang="zh-CN" altLang="en-US" dirty="0">
                <a:solidFill>
                  <a:srgbClr val="C00000"/>
                </a:solidFill>
                <a:latin typeface="Courier New" panose="02070309020205020404" pitchFamily="49" charset="0"/>
                <a:ea typeface="黑体" panose="02010609060101010101" pitchFamily="49" charset="-122"/>
              </a:rPr>
              <a:t>列</a:t>
            </a:r>
            <a:r>
              <a:rPr kumimoji="1" lang="zh-CN" altLang="zh-CN" b="0" dirty="0">
                <a:solidFill>
                  <a:srgbClr val="000066"/>
                </a:solidFill>
                <a:latin typeface="Courier New" panose="02070309020205020404" pitchFamily="49" charset="0"/>
                <a:ea typeface="黑体" panose="02010609060101010101" pitchFamily="49" charset="-122"/>
              </a:rPr>
              <a:t>的地址</a:t>
            </a:r>
            <a:r>
              <a:rPr kumimoji="1" lang="zh-CN" altLang="en-US" b="0" dirty="0">
                <a:solidFill>
                  <a:srgbClr val="000066"/>
                </a:solidFill>
                <a:latin typeface="Courier New" panose="02070309020205020404" pitchFamily="49" charset="0"/>
                <a:ea typeface="黑体" panose="02010609060101010101" pitchFamily="49" charset="-122"/>
              </a:rPr>
              <a:t>，</a:t>
            </a:r>
            <a:r>
              <a:rPr kumimoji="1" lang="zh-CN" altLang="en-US" dirty="0">
                <a:solidFill>
                  <a:srgbClr val="C00000"/>
                </a:solidFill>
                <a:latin typeface="Courier New" panose="02070309020205020404" pitchFamily="49" charset="0"/>
                <a:ea typeface="黑体" panose="02010609060101010101" pitchFamily="49" charset="-122"/>
              </a:rPr>
              <a:t>列地址</a:t>
            </a:r>
            <a:endParaRPr lang="en-US" altLang="zh-CN" dirty="0">
              <a:solidFill>
                <a:srgbClr val="C00000"/>
              </a:solidFill>
              <a:latin typeface="Courier New" panose="02070309020205020404" pitchFamily="49" charset="0"/>
              <a:ea typeface="黑体" panose="02010609060101010101" pitchFamily="49" charset="-122"/>
            </a:endParaRPr>
          </a:p>
        </p:txBody>
      </p:sp>
      <p:sp>
        <p:nvSpPr>
          <p:cNvPr id="29" name="Rectangle 70"/>
          <p:cNvSpPr>
            <a:spLocks noChangeArrowheads="1"/>
          </p:cNvSpPr>
          <p:nvPr/>
        </p:nvSpPr>
        <p:spPr bwMode="auto">
          <a:xfrm>
            <a:off x="634365" y="5442268"/>
            <a:ext cx="4475163" cy="935037"/>
          </a:xfrm>
          <a:prstGeom prst="rect">
            <a:avLst/>
          </a:prstGeom>
          <a:solidFill>
            <a:srgbClr val="FFFFCC"/>
          </a:solidFill>
          <a:ln w="28575">
            <a:solidFill>
              <a:srgbClr val="008000"/>
            </a:solidFill>
            <a:miter lim="800000"/>
            <a:headEnd/>
            <a:tailEnd/>
          </a:ln>
        </p:spPr>
        <p:txBody>
          <a:bodyPr wrap="none" anchor="ct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algn="ctr" eaLnBrk="1">
              <a:lnSpc>
                <a:spcPct val="90000"/>
              </a:lnSpc>
              <a:buClr>
                <a:srgbClr val="FFCC66"/>
              </a:buClr>
              <a:buSzPct val="80000"/>
              <a:buFont typeface="Monotype Sorts"/>
              <a:buNone/>
            </a:pPr>
            <a:r>
              <a:rPr lang="zh-CN" altLang="en-US" sz="2400" dirty="0">
                <a:solidFill>
                  <a:srgbClr val="009900"/>
                </a:solidFill>
                <a:latin typeface="Courier New" panose="02070309020205020404" pitchFamily="49" charset="0"/>
                <a:ea typeface="黑体" panose="02010609060101010101" pitchFamily="49" charset="-122"/>
              </a:rPr>
              <a:t>*</a:t>
            </a:r>
            <a:r>
              <a:rPr lang="en-US" altLang="zh-CN" sz="2400" dirty="0">
                <a:solidFill>
                  <a:srgbClr val="009900"/>
                </a:solidFill>
                <a:latin typeface="Courier New" panose="02070309020205020404" pitchFamily="49" charset="0"/>
                <a:ea typeface="黑体" panose="02010609060101010101" pitchFamily="49" charset="-122"/>
              </a:rPr>
              <a:t>(</a:t>
            </a:r>
            <a:r>
              <a:rPr lang="en-US" altLang="zh-CN" sz="2400" dirty="0" err="1">
                <a:solidFill>
                  <a:srgbClr val="009900"/>
                </a:solidFill>
                <a:latin typeface="Courier New" panose="02070309020205020404" pitchFamily="49" charset="0"/>
                <a:ea typeface="黑体" panose="02010609060101010101" pitchFamily="49" charset="-122"/>
              </a:rPr>
              <a:t>p</a:t>
            </a:r>
            <a:r>
              <a:rPr kumimoji="1" lang="en-US" altLang="zh-CN" sz="2400" dirty="0" err="1">
                <a:solidFill>
                  <a:srgbClr val="009900"/>
                </a:solidFill>
                <a:latin typeface="Courier New" panose="02070309020205020404" pitchFamily="49" charset="0"/>
                <a:ea typeface="黑体" panose="02010609060101010101" pitchFamily="49" charset="-122"/>
              </a:rPr>
              <a:t>+i</a:t>
            </a:r>
            <a:r>
              <a:rPr kumimoji="1" lang="en-US" altLang="zh-CN" sz="2400" dirty="0">
                <a:solidFill>
                  <a:srgbClr val="009900"/>
                </a:solidFill>
                <a:latin typeface="Courier New" panose="02070309020205020404" pitchFamily="49" charset="0"/>
                <a:ea typeface="黑体" panose="02010609060101010101" pitchFamily="49" charset="-122"/>
              </a:rPr>
              <a:t>)</a:t>
            </a:r>
            <a:r>
              <a:rPr kumimoji="1" lang="en-US" altLang="zh-CN" sz="2400" dirty="0">
                <a:solidFill>
                  <a:srgbClr val="000066"/>
                </a:solidFill>
                <a:latin typeface="Courier New" panose="02070309020205020404" pitchFamily="49" charset="0"/>
                <a:ea typeface="黑体" panose="02010609060101010101" pitchFamily="49" charset="-122"/>
              </a:rPr>
              <a:t>+</a:t>
            </a:r>
            <a:r>
              <a:rPr kumimoji="1" lang="en-US" altLang="zh-CN" sz="2400" dirty="0">
                <a:solidFill>
                  <a:srgbClr val="C00000"/>
                </a:solidFill>
                <a:latin typeface="Courier New" panose="02070309020205020404" pitchFamily="49" charset="0"/>
                <a:ea typeface="黑体" panose="02010609060101010101" pitchFamily="49" charset="-122"/>
              </a:rPr>
              <a:t>j</a:t>
            </a:r>
            <a:r>
              <a:rPr kumimoji="1" lang="en-US" altLang="zh-CN" sz="2400" dirty="0">
                <a:solidFill>
                  <a:srgbClr val="000066"/>
                </a:solidFill>
                <a:latin typeface="Courier New" panose="02070309020205020404" pitchFamily="49" charset="0"/>
                <a:ea typeface="黑体" panose="02010609060101010101" pitchFamily="49" charset="-122"/>
              </a:rPr>
              <a:t> </a:t>
            </a:r>
            <a:r>
              <a:rPr kumimoji="1" lang="zh-CN" altLang="en-US" b="0" dirty="0">
                <a:solidFill>
                  <a:srgbClr val="000066"/>
                </a:solidFill>
                <a:latin typeface="Courier New" panose="02070309020205020404" pitchFamily="49" charset="0"/>
                <a:ea typeface="黑体" panose="02010609060101010101" pitchFamily="49" charset="-122"/>
              </a:rPr>
              <a:t>即 </a:t>
            </a:r>
            <a:r>
              <a:rPr kumimoji="1" lang="en-US" altLang="zh-CN" sz="2400" dirty="0">
                <a:solidFill>
                  <a:srgbClr val="009900"/>
                </a:solidFill>
                <a:latin typeface="Courier New" panose="02070309020205020404" pitchFamily="49" charset="0"/>
                <a:ea typeface="黑体" panose="02010609060101010101" pitchFamily="49" charset="-122"/>
              </a:rPr>
              <a:t>a[</a:t>
            </a:r>
            <a:r>
              <a:rPr kumimoji="1" lang="en-US" altLang="zh-CN" sz="2400" dirty="0" err="1">
                <a:solidFill>
                  <a:srgbClr val="009900"/>
                </a:solidFill>
                <a:latin typeface="Courier New" panose="02070309020205020404" pitchFamily="49" charset="0"/>
                <a:ea typeface="黑体" panose="02010609060101010101" pitchFamily="49" charset="-122"/>
              </a:rPr>
              <a:t>i</a:t>
            </a:r>
            <a:r>
              <a:rPr kumimoji="1" lang="en-US" altLang="zh-CN" sz="2400" dirty="0">
                <a:solidFill>
                  <a:srgbClr val="009900"/>
                </a:solidFill>
                <a:latin typeface="Courier New" panose="02070309020205020404" pitchFamily="49" charset="0"/>
                <a:ea typeface="黑体" panose="02010609060101010101" pitchFamily="49" charset="-122"/>
              </a:rPr>
              <a:t>]</a:t>
            </a:r>
            <a:r>
              <a:rPr kumimoji="1" lang="en-US" altLang="zh-CN" sz="2400" dirty="0">
                <a:solidFill>
                  <a:srgbClr val="000066"/>
                </a:solidFill>
                <a:latin typeface="Courier New" panose="02070309020205020404" pitchFamily="49" charset="0"/>
                <a:ea typeface="黑体" panose="02010609060101010101" pitchFamily="49" charset="-122"/>
              </a:rPr>
              <a:t>+</a:t>
            </a:r>
            <a:r>
              <a:rPr kumimoji="1" lang="en-US" altLang="zh-CN" sz="2400" dirty="0">
                <a:solidFill>
                  <a:srgbClr val="C00000"/>
                </a:solidFill>
                <a:latin typeface="Courier New" panose="02070309020205020404" pitchFamily="49" charset="0"/>
                <a:ea typeface="黑体" panose="02010609060101010101" pitchFamily="49" charset="-122"/>
              </a:rPr>
              <a:t>j</a:t>
            </a:r>
            <a:endParaRPr kumimoji="1" lang="zh-CN" altLang="en-US" sz="2400" b="0" dirty="0">
              <a:solidFill>
                <a:srgbClr val="C00000"/>
              </a:solidFill>
              <a:latin typeface="Courier New" panose="02070309020205020404" pitchFamily="49" charset="0"/>
              <a:ea typeface="黑体" panose="02010609060101010101" pitchFamily="49" charset="-122"/>
            </a:endParaRPr>
          </a:p>
          <a:p>
            <a:pPr algn="ctr" eaLnBrk="1">
              <a:lnSpc>
                <a:spcPct val="90000"/>
              </a:lnSpc>
              <a:buClr>
                <a:srgbClr val="FFCC66"/>
              </a:buClr>
              <a:buSzPct val="80000"/>
              <a:buFont typeface="Monotype Sorts"/>
              <a:buNone/>
            </a:pPr>
            <a:r>
              <a:rPr kumimoji="1" lang="zh-CN" altLang="zh-CN" b="0" dirty="0">
                <a:solidFill>
                  <a:srgbClr val="000066"/>
                </a:solidFill>
                <a:latin typeface="Courier New" panose="02070309020205020404" pitchFamily="49" charset="0"/>
                <a:ea typeface="黑体" panose="02010609060101010101" pitchFamily="49" charset="-122"/>
              </a:rPr>
              <a:t>代表</a:t>
            </a:r>
            <a:r>
              <a:rPr kumimoji="1" lang="zh-CN" altLang="en-US" b="0" dirty="0">
                <a:solidFill>
                  <a:srgbClr val="000066"/>
                </a:solidFill>
                <a:latin typeface="Courier New" panose="02070309020205020404" pitchFamily="49" charset="0"/>
                <a:ea typeface="黑体" panose="02010609060101010101" pitchFamily="49" charset="-122"/>
              </a:rPr>
              <a:t>第</a:t>
            </a:r>
            <a:r>
              <a:rPr kumimoji="1" lang="en-US" altLang="zh-CN" sz="2400" dirty="0" err="1">
                <a:solidFill>
                  <a:srgbClr val="000066"/>
                </a:solidFill>
                <a:latin typeface="Courier New" panose="02070309020205020404" pitchFamily="49" charset="0"/>
                <a:ea typeface="黑体" panose="02010609060101010101" pitchFamily="49" charset="-122"/>
              </a:rPr>
              <a:t>i</a:t>
            </a:r>
            <a:r>
              <a:rPr kumimoji="1" lang="zh-CN" altLang="en-US" b="0" dirty="0">
                <a:solidFill>
                  <a:srgbClr val="000066"/>
                </a:solidFill>
                <a:latin typeface="Courier New" panose="02070309020205020404" pitchFamily="49" charset="0"/>
                <a:ea typeface="黑体" panose="02010609060101010101" pitchFamily="49" charset="-122"/>
              </a:rPr>
              <a:t>行</a:t>
            </a:r>
            <a:r>
              <a:rPr kumimoji="1" lang="zh-CN" altLang="en-US" dirty="0">
                <a:solidFill>
                  <a:srgbClr val="C00000"/>
                </a:solidFill>
                <a:latin typeface="Courier New" panose="02070309020205020404" pitchFamily="49" charset="0"/>
                <a:ea typeface="黑体" panose="02010609060101010101" pitchFamily="49" charset="-122"/>
              </a:rPr>
              <a:t>第</a:t>
            </a:r>
            <a:r>
              <a:rPr kumimoji="1" lang="en-US" altLang="zh-CN" sz="2400" dirty="0">
                <a:solidFill>
                  <a:srgbClr val="C00000"/>
                </a:solidFill>
                <a:latin typeface="Courier New" panose="02070309020205020404" pitchFamily="49" charset="0"/>
                <a:ea typeface="黑体" panose="02010609060101010101" pitchFamily="49" charset="-122"/>
              </a:rPr>
              <a:t>j</a:t>
            </a:r>
            <a:r>
              <a:rPr kumimoji="1" lang="zh-CN" altLang="en-US" dirty="0">
                <a:solidFill>
                  <a:srgbClr val="C00000"/>
                </a:solidFill>
                <a:latin typeface="Courier New" panose="02070309020205020404" pitchFamily="49" charset="0"/>
                <a:ea typeface="黑体" panose="02010609060101010101" pitchFamily="49" charset="-122"/>
              </a:rPr>
              <a:t>列</a:t>
            </a:r>
            <a:r>
              <a:rPr kumimoji="1" lang="zh-CN" altLang="zh-CN" b="0" dirty="0">
                <a:solidFill>
                  <a:srgbClr val="000066"/>
                </a:solidFill>
                <a:latin typeface="Courier New" panose="02070309020205020404" pitchFamily="49" charset="0"/>
                <a:ea typeface="黑体" panose="02010609060101010101" pitchFamily="49" charset="-122"/>
              </a:rPr>
              <a:t>的地址</a:t>
            </a:r>
            <a:r>
              <a:rPr kumimoji="1" lang="en-US" altLang="zh-CN" sz="2400" dirty="0">
                <a:solidFill>
                  <a:srgbClr val="000066"/>
                </a:solidFill>
                <a:latin typeface="Courier New" panose="02070309020205020404" pitchFamily="49" charset="0"/>
                <a:ea typeface="黑体" panose="02010609060101010101" pitchFamily="49" charset="-122"/>
              </a:rPr>
              <a:t>&amp;</a:t>
            </a:r>
            <a:r>
              <a:rPr kumimoji="1" lang="en-US" altLang="zh-CN" sz="2400" dirty="0">
                <a:solidFill>
                  <a:srgbClr val="009900"/>
                </a:solidFill>
                <a:latin typeface="Courier New" panose="02070309020205020404" pitchFamily="49" charset="0"/>
                <a:ea typeface="黑体" panose="02010609060101010101" pitchFamily="49" charset="-122"/>
              </a:rPr>
              <a:t>a[</a:t>
            </a:r>
            <a:r>
              <a:rPr kumimoji="1" lang="en-US" altLang="zh-CN" sz="2400" dirty="0" err="1">
                <a:solidFill>
                  <a:srgbClr val="009900"/>
                </a:solidFill>
                <a:latin typeface="Courier New" panose="02070309020205020404" pitchFamily="49" charset="0"/>
                <a:ea typeface="黑体" panose="02010609060101010101" pitchFamily="49" charset="-122"/>
              </a:rPr>
              <a:t>i</a:t>
            </a:r>
            <a:r>
              <a:rPr kumimoji="1" lang="en-US" altLang="zh-CN" sz="2400" dirty="0">
                <a:solidFill>
                  <a:srgbClr val="009900"/>
                </a:solidFill>
                <a:latin typeface="Courier New" panose="02070309020205020404" pitchFamily="49" charset="0"/>
                <a:ea typeface="黑体" panose="02010609060101010101" pitchFamily="49" charset="-122"/>
              </a:rPr>
              <a:t>]</a:t>
            </a:r>
            <a:r>
              <a:rPr kumimoji="1" lang="en-US" altLang="zh-CN" sz="2400" dirty="0">
                <a:solidFill>
                  <a:srgbClr val="000066"/>
                </a:solidFill>
                <a:latin typeface="Courier New" panose="02070309020205020404" pitchFamily="49" charset="0"/>
                <a:ea typeface="黑体" panose="02010609060101010101" pitchFamily="49" charset="-122"/>
              </a:rPr>
              <a:t>[</a:t>
            </a:r>
            <a:r>
              <a:rPr kumimoji="1" lang="en-US" altLang="zh-CN" sz="2400" dirty="0">
                <a:solidFill>
                  <a:srgbClr val="C00000"/>
                </a:solidFill>
                <a:latin typeface="Courier New" panose="02070309020205020404" pitchFamily="49" charset="0"/>
                <a:ea typeface="黑体" panose="02010609060101010101" pitchFamily="49" charset="-122"/>
              </a:rPr>
              <a:t>j</a:t>
            </a:r>
            <a:r>
              <a:rPr kumimoji="1" lang="en-US" altLang="zh-CN" sz="2400" dirty="0">
                <a:solidFill>
                  <a:srgbClr val="000066"/>
                </a:solidFill>
                <a:latin typeface="Courier New" panose="02070309020205020404" pitchFamily="49" charset="0"/>
                <a:ea typeface="黑体" panose="02010609060101010101" pitchFamily="49" charset="-122"/>
              </a:rPr>
              <a:t>]</a:t>
            </a:r>
            <a:r>
              <a:rPr kumimoji="1" lang="en-US" altLang="zh-CN" sz="3200" dirty="0">
                <a:solidFill>
                  <a:srgbClr val="000066"/>
                </a:solidFill>
                <a:latin typeface="Courier New" panose="02070309020205020404" pitchFamily="49" charset="0"/>
                <a:ea typeface="黑体" panose="02010609060101010101" pitchFamily="49" charset="-122"/>
              </a:rPr>
              <a:t> </a:t>
            </a:r>
            <a:endParaRPr kumimoji="1" lang="en-US" altLang="zh-CN" sz="2800" dirty="0">
              <a:solidFill>
                <a:srgbClr val="000066"/>
              </a:solidFill>
              <a:latin typeface="Courier New" panose="02070309020205020404" pitchFamily="49" charset="0"/>
              <a:ea typeface="黑体" panose="02010609060101010101" pitchFamily="49" charset="-122"/>
            </a:endParaRPr>
          </a:p>
        </p:txBody>
      </p:sp>
      <p:sp>
        <p:nvSpPr>
          <p:cNvPr id="30" name="Rectangle 3"/>
          <p:cNvSpPr txBox="1">
            <a:spLocks/>
          </p:cNvSpPr>
          <p:nvPr/>
        </p:nvSpPr>
        <p:spPr>
          <a:xfrm>
            <a:off x="954224" y="1029616"/>
            <a:ext cx="10414361" cy="86518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5000"/>
              </a:lnSpc>
            </a:pPr>
            <a:r>
              <a:rPr lang="zh-CN" altLang="en-US" dirty="0">
                <a:latin typeface="Arial" panose="020B0604020202020204" pitchFamily="34" charset="0"/>
                <a:cs typeface="Arial" panose="020B0604020202020204" pitchFamily="34" charset="0"/>
              </a:rPr>
              <a:t>将二维数组</a:t>
            </a:r>
            <a:r>
              <a:rPr lang="en-US" altLang="zh-CN" b="1" dirty="0">
                <a:latin typeface="Courier New" panose="02070309020205020404" pitchFamily="49" charset="0"/>
                <a:cs typeface="Courier New" panose="02070309020205020404" pitchFamily="49" charset="0"/>
              </a:rPr>
              <a:t>a</a:t>
            </a:r>
            <a:r>
              <a:rPr lang="zh-CN" altLang="en-US" dirty="0">
                <a:latin typeface="Arial" panose="020B0604020202020204" pitchFamily="34" charset="0"/>
                <a:cs typeface="Arial" panose="020B0604020202020204" pitchFamily="34" charset="0"/>
              </a:rPr>
              <a:t>看成一维数组，有</a:t>
            </a:r>
            <a:r>
              <a:rPr lang="en-US" altLang="zh-CN" dirty="0">
                <a:solidFill>
                  <a:srgbClr val="C00000"/>
                </a:solidFill>
                <a:latin typeface="Arial" panose="020B0604020202020204" pitchFamily="34" charset="0"/>
                <a:cs typeface="Arial" panose="020B0604020202020204" pitchFamily="34" charset="0"/>
              </a:rPr>
              <a:t>2</a:t>
            </a:r>
            <a:r>
              <a:rPr lang="zh-CN" altLang="en-US" dirty="0">
                <a:latin typeface="Arial" panose="020B0604020202020204" pitchFamily="34" charset="0"/>
                <a:cs typeface="Arial" panose="020B0604020202020204" pitchFamily="34" charset="0"/>
              </a:rPr>
              <a:t>个</a:t>
            </a:r>
            <a:r>
              <a:rPr kumimoji="1" lang="zh-CN" altLang="en-US" dirty="0">
                <a:solidFill>
                  <a:srgbClr val="CC0000"/>
                </a:solidFill>
                <a:latin typeface="Arial" panose="020B0604020202020204" pitchFamily="34" charset="0"/>
                <a:cs typeface="Arial" panose="020B0604020202020204" pitchFamily="34" charset="0"/>
              </a:rPr>
              <a:t>“</a:t>
            </a:r>
            <a:r>
              <a:rPr kumimoji="1" lang="en-US" altLang="zh-CN" b="1" dirty="0">
                <a:solidFill>
                  <a:srgbClr val="0000CC"/>
                </a:solidFill>
                <a:latin typeface="Courier New" panose="02070309020205020404" pitchFamily="49" charset="0"/>
                <a:cs typeface="Courier New" panose="02070309020205020404" pitchFamily="49" charset="0"/>
              </a:rPr>
              <a:t>int[3]</a:t>
            </a:r>
            <a:r>
              <a:rPr kumimoji="1" lang="zh-CN" altLang="en-US" dirty="0">
                <a:solidFill>
                  <a:srgbClr val="0000CC"/>
                </a:solidFill>
                <a:latin typeface="Arial" panose="020B0604020202020204" pitchFamily="34" charset="0"/>
                <a:cs typeface="Arial" panose="020B0604020202020204" pitchFamily="34" charset="0"/>
              </a:rPr>
              <a:t>型</a:t>
            </a:r>
            <a:r>
              <a:rPr kumimoji="1" lang="zh-CN" altLang="en-US" dirty="0">
                <a:solidFill>
                  <a:srgbClr val="CC0000"/>
                </a:solidFill>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元素</a:t>
            </a:r>
          </a:p>
        </p:txBody>
      </p:sp>
      <p:sp>
        <p:nvSpPr>
          <p:cNvPr id="31"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2</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、指针与二维数组间的关系</a:t>
            </a:r>
          </a:p>
        </p:txBody>
      </p:sp>
      <p:sp>
        <p:nvSpPr>
          <p:cNvPr id="32" name="Rectangle 3">
            <a:extLst>
              <a:ext uri="{FF2B5EF4-FFF2-40B4-BE49-F238E27FC236}">
                <a16:creationId xmlns:a16="http://schemas.microsoft.com/office/drawing/2014/main" xmlns="" id="{E8477C13-30F7-468A-A672-9E7AC7F559D4}"/>
              </a:ext>
            </a:extLst>
          </p:cNvPr>
          <p:cNvSpPr txBox="1">
            <a:spLocks noChangeArrowheads="1"/>
          </p:cNvSpPr>
          <p:nvPr/>
        </p:nvSpPr>
        <p:spPr bwMode="auto">
          <a:xfrm>
            <a:off x="8224638" y="2098994"/>
            <a:ext cx="3504747" cy="2160587"/>
          </a:xfrm>
          <a:prstGeom prst="rect">
            <a:avLst/>
          </a:prstGeom>
          <a:noFill/>
          <a:ln w="9525">
            <a:noFill/>
            <a:miter lim="800000"/>
            <a:headEnd/>
            <a:tailEnd/>
          </a:ln>
          <a:effectLst/>
        </p:spPr>
        <p:txBody>
          <a:bodyPr lIns="92075" tIns="46037" rIns="92075" bIns="46037"/>
          <a:lstStyle/>
          <a:p>
            <a:pPr eaLnBrk="1">
              <a:lnSpc>
                <a:spcPct val="110000"/>
              </a:lnSpc>
              <a:spcBef>
                <a:spcPts val="0"/>
              </a:spcBef>
              <a:buClr>
                <a:srgbClr val="FFCC66"/>
              </a:buClr>
              <a:buSzPct val="80000"/>
              <a:defRPr/>
            </a:pPr>
            <a:r>
              <a:rPr kumimoji="1" lang="en-US" altLang="zh-CN" sz="2800" dirty="0">
                <a:solidFill>
                  <a:srgbClr val="0000CC"/>
                </a:solidFill>
                <a:effectLst>
                  <a:outerShdw blurRad="38100" dist="38100" dir="2700000" algn="tl">
                    <a:srgbClr val="C0C0C0"/>
                  </a:outerShdw>
                </a:effectLst>
                <a:latin typeface="Courier New" pitchFamily="49" charset="0"/>
              </a:rPr>
              <a:t>int</a:t>
            </a:r>
            <a:r>
              <a:rPr kumimoji="1" lang="en-US" altLang="zh-CN" sz="2800" dirty="0">
                <a:solidFill>
                  <a:srgbClr val="C00000"/>
                </a:solidFill>
                <a:effectLst>
                  <a:outerShdw blurRad="38100" dist="38100" dir="2700000" algn="tl">
                    <a:srgbClr val="C0C0C0"/>
                  </a:outerShdw>
                </a:effectLst>
                <a:latin typeface="Courier New" pitchFamily="49" charset="0"/>
              </a:rPr>
              <a:t> </a:t>
            </a:r>
            <a:r>
              <a:rPr kumimoji="1" lang="en-US" altLang="zh-CN" sz="2800" dirty="0">
                <a:effectLst>
                  <a:outerShdw blurRad="38100" dist="38100" dir="2700000" algn="tl">
                    <a:srgbClr val="C0C0C0"/>
                  </a:outerShdw>
                </a:effectLst>
                <a:latin typeface="Courier New" pitchFamily="49" charset="0"/>
              </a:rPr>
              <a:t>(</a:t>
            </a:r>
            <a:r>
              <a:rPr kumimoji="1" lang="zh-CN" altLang="en-US" sz="2800" dirty="0">
                <a:effectLst>
                  <a:outerShdw blurRad="38100" dist="38100" dir="2700000" algn="tl">
                    <a:srgbClr val="C0C0C0"/>
                  </a:outerShdw>
                </a:effectLst>
                <a:latin typeface="Courier New" pitchFamily="49" charset="0"/>
              </a:rPr>
              <a:t>*</a:t>
            </a:r>
            <a:r>
              <a:rPr kumimoji="1" lang="en-US" altLang="zh-CN" sz="2800" dirty="0">
                <a:effectLst>
                  <a:outerShdw blurRad="38100" dist="38100" dir="2700000" algn="tl">
                    <a:srgbClr val="C0C0C0"/>
                  </a:outerShdw>
                </a:effectLst>
                <a:latin typeface="Courier New" pitchFamily="49" charset="0"/>
              </a:rPr>
              <a:t>p)</a:t>
            </a:r>
            <a:r>
              <a:rPr kumimoji="1" lang="en-US" altLang="zh-CN" sz="2800" dirty="0">
                <a:solidFill>
                  <a:srgbClr val="0000CC"/>
                </a:solidFill>
                <a:effectLst>
                  <a:outerShdw blurRad="38100" dist="38100" dir="2700000" algn="tl">
                    <a:srgbClr val="C0C0C0"/>
                  </a:outerShdw>
                </a:effectLst>
                <a:latin typeface="Courier New" pitchFamily="49" charset="0"/>
              </a:rPr>
              <a:t>[3]</a:t>
            </a:r>
            <a:r>
              <a:rPr kumimoji="1" lang="en-US" altLang="zh-CN" sz="2800" dirty="0">
                <a:effectLst>
                  <a:outerShdw blurRad="38100" dist="38100" dir="2700000" algn="tl">
                    <a:srgbClr val="C0C0C0"/>
                  </a:outerShdw>
                </a:effectLst>
                <a:latin typeface="Courier New" pitchFamily="49" charset="0"/>
              </a:rPr>
              <a:t>; </a:t>
            </a:r>
          </a:p>
          <a:p>
            <a:pPr eaLnBrk="1">
              <a:lnSpc>
                <a:spcPct val="110000"/>
              </a:lnSpc>
              <a:spcBef>
                <a:spcPts val="0"/>
              </a:spcBef>
              <a:buClr>
                <a:srgbClr val="FFCC66"/>
              </a:buClr>
              <a:buSzPct val="80000"/>
              <a:defRPr/>
            </a:pPr>
            <a:r>
              <a:rPr kumimoji="1" lang="en-US" altLang="zh-CN" sz="2800" dirty="0">
                <a:effectLst>
                  <a:outerShdw blurRad="38100" dist="38100" dir="2700000" algn="tl">
                    <a:srgbClr val="C0C0C0"/>
                  </a:outerShdw>
                </a:effectLst>
                <a:latin typeface="Courier New" pitchFamily="49" charset="0"/>
              </a:rPr>
              <a:t>p = </a:t>
            </a:r>
            <a:r>
              <a:rPr kumimoji="1" lang="en-US" altLang="zh-CN" sz="2800" dirty="0">
                <a:solidFill>
                  <a:srgbClr val="C00000"/>
                </a:solidFill>
                <a:effectLst>
                  <a:outerShdw blurRad="38100" dist="38100" dir="2700000" algn="tl">
                    <a:srgbClr val="C0C0C0"/>
                  </a:outerShdw>
                </a:effectLst>
                <a:latin typeface="Courier New" pitchFamily="49" charset="0"/>
              </a:rPr>
              <a:t>a</a:t>
            </a:r>
            <a:r>
              <a:rPr kumimoji="1" lang="en-US" altLang="zh-CN" sz="2800" dirty="0">
                <a:effectLst>
                  <a:outerShdw blurRad="38100" dist="38100" dir="2700000" algn="tl">
                    <a:srgbClr val="C0C0C0"/>
                  </a:outerShdw>
                </a:effectLst>
                <a:latin typeface="Courier New" pitchFamily="49" charset="0"/>
              </a:rPr>
              <a:t>; </a:t>
            </a:r>
          </a:p>
          <a:p>
            <a:pPr eaLnBrk="1">
              <a:lnSpc>
                <a:spcPct val="110000"/>
              </a:lnSpc>
              <a:spcBef>
                <a:spcPts val="0"/>
              </a:spcBef>
              <a:buClr>
                <a:srgbClr val="FFCC66"/>
              </a:buClr>
              <a:buSzPct val="80000"/>
              <a:defRPr/>
            </a:pPr>
            <a:r>
              <a:rPr kumimoji="1" lang="en-US" altLang="zh-CN" sz="2800" dirty="0">
                <a:effectLst>
                  <a:outerShdw blurRad="38100" dist="38100" dir="2700000" algn="tl">
                    <a:srgbClr val="C0C0C0"/>
                  </a:outerShdw>
                </a:effectLst>
                <a:latin typeface="Courier New" pitchFamily="49" charset="0"/>
              </a:rPr>
              <a:t>p = </a:t>
            </a:r>
            <a:r>
              <a:rPr kumimoji="1" lang="en-US" altLang="zh-CN" sz="2800" dirty="0">
                <a:solidFill>
                  <a:srgbClr val="C00000"/>
                </a:solidFill>
                <a:effectLst>
                  <a:outerShdw blurRad="38100" dist="38100" dir="2700000" algn="tl">
                    <a:srgbClr val="C0C0C0"/>
                  </a:outerShdw>
                </a:effectLst>
                <a:latin typeface="Courier New" pitchFamily="49" charset="0"/>
              </a:rPr>
              <a:t>&amp;a[0]</a:t>
            </a:r>
            <a:r>
              <a:rPr kumimoji="1" lang="en-US" altLang="zh-CN" sz="2800" dirty="0">
                <a:effectLst>
                  <a:outerShdw blurRad="38100" dist="38100" dir="2700000" algn="tl">
                    <a:srgbClr val="C0C0C0"/>
                  </a:outerShdw>
                </a:effectLst>
                <a:latin typeface="Courier New" pitchFamily="49" charset="0"/>
              </a:rPr>
              <a:t>; </a:t>
            </a:r>
            <a:endParaRPr lang="zh-CN" altLang="en-US" sz="2800" b="0" dirty="0">
              <a:solidFill>
                <a:prstClr val="black"/>
              </a:solidFill>
              <a:ea typeface="黑体"/>
              <a:cs typeface="Arial" pitchFamily="34" charset="0"/>
            </a:endParaRPr>
          </a:p>
          <a:p>
            <a:pPr marL="374650" indent="-374650" eaLnBrk="1">
              <a:lnSpc>
                <a:spcPct val="110000"/>
              </a:lnSpc>
              <a:spcBef>
                <a:spcPct val="20000"/>
              </a:spcBef>
              <a:buClr>
                <a:srgbClr val="FFCC66"/>
              </a:buClr>
              <a:buSzPct val="80000"/>
              <a:buFont typeface="Monotype Sorts"/>
              <a:buChar char=""/>
              <a:defRPr/>
            </a:pPr>
            <a:endParaRPr kumimoji="1" lang="zh-CN" altLang="en-US" sz="2800" dirty="0">
              <a:solidFill>
                <a:srgbClr val="CC0000"/>
              </a:solidFill>
              <a:effectLst>
                <a:outerShdw blurRad="38100" dist="38100" dir="2700000" algn="tl">
                  <a:srgbClr val="C0C0C0"/>
                </a:outerShdw>
              </a:effectLst>
              <a:ea typeface="黑体" pitchFamily="49" charset="-122"/>
            </a:endParaRPr>
          </a:p>
        </p:txBody>
      </p:sp>
    </p:spTree>
    <p:extLst>
      <p:ext uri="{BB962C8B-B14F-4D97-AF65-F5344CB8AC3E}">
        <p14:creationId xmlns:p14="http://schemas.microsoft.com/office/powerpoint/2010/main" val="1548111755"/>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angle 61"/>
          <p:cNvSpPr>
            <a:spLocks noChangeArrowheads="1"/>
          </p:cNvSpPr>
          <p:nvPr/>
        </p:nvSpPr>
        <p:spPr bwMode="auto">
          <a:xfrm>
            <a:off x="7573645" y="5060633"/>
            <a:ext cx="2339975" cy="1152525"/>
          </a:xfrm>
          <a:prstGeom prst="rect">
            <a:avLst/>
          </a:prstGeom>
          <a:solidFill>
            <a:schemeClr val="bg1"/>
          </a:solidFill>
          <a:ln w="28575">
            <a:solidFill>
              <a:srgbClr val="009900"/>
            </a:solidFill>
            <a:miter lim="800000"/>
            <a:headEnd/>
            <a:tailEnd/>
          </a:ln>
        </p:spPr>
        <p:txBody>
          <a:bodyPr wrap="none" anchor="ct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algn="ctr" eaLnBrk="1">
              <a:lnSpc>
                <a:spcPct val="95000"/>
              </a:lnSpc>
              <a:spcBef>
                <a:spcPct val="20000"/>
              </a:spcBef>
              <a:spcAft>
                <a:spcPts val="588"/>
              </a:spcAft>
              <a:buClr>
                <a:srgbClr val="FFCC66"/>
              </a:buClr>
              <a:buSzPct val="80000"/>
              <a:buFont typeface="Monotype Sorts"/>
              <a:buNone/>
            </a:pPr>
            <a:r>
              <a:rPr lang="en-US" altLang="zh-CN" sz="2400">
                <a:solidFill>
                  <a:srgbClr val="000066"/>
                </a:solidFill>
                <a:latin typeface="Courier New" panose="02070309020205020404" pitchFamily="49" charset="0"/>
                <a:ea typeface="楷体_GB2312" pitchFamily="49" charset="-122"/>
              </a:rPr>
              <a:t>a[i][j]</a:t>
            </a:r>
          </a:p>
          <a:p>
            <a:pPr algn="ctr" eaLnBrk="1">
              <a:lnSpc>
                <a:spcPct val="95000"/>
              </a:lnSpc>
              <a:spcBef>
                <a:spcPct val="20000"/>
              </a:spcBef>
              <a:spcAft>
                <a:spcPts val="588"/>
              </a:spcAft>
              <a:buClr>
                <a:srgbClr val="FFCC66"/>
              </a:buClr>
              <a:buSzPct val="80000"/>
              <a:buFont typeface="Wingdings" panose="05000000000000000000" pitchFamily="2" charset="2"/>
              <a:buNone/>
            </a:pPr>
            <a:r>
              <a:rPr lang="en-US" altLang="zh-CN" sz="2400">
                <a:solidFill>
                  <a:srgbClr val="000066"/>
                </a:solidFill>
                <a:latin typeface="Courier New" panose="02070309020205020404" pitchFamily="49" charset="0"/>
                <a:ea typeface="楷体_GB2312" pitchFamily="49" charset="-122"/>
              </a:rPr>
              <a:t>*(</a:t>
            </a:r>
            <a:r>
              <a:rPr lang="en-US" altLang="zh-CN" sz="2400">
                <a:solidFill>
                  <a:srgbClr val="C00000"/>
                </a:solidFill>
                <a:latin typeface="Courier New" panose="02070309020205020404" pitchFamily="49" charset="0"/>
                <a:ea typeface="楷体_GB2312" pitchFamily="49" charset="-122"/>
              </a:rPr>
              <a:t>*(p+i)</a:t>
            </a:r>
            <a:r>
              <a:rPr lang="en-US" altLang="zh-CN" sz="2400">
                <a:solidFill>
                  <a:srgbClr val="000066"/>
                </a:solidFill>
                <a:latin typeface="Courier New" panose="02070309020205020404" pitchFamily="49" charset="0"/>
                <a:ea typeface="楷体_GB2312" pitchFamily="49" charset="-122"/>
              </a:rPr>
              <a:t>+j)</a:t>
            </a:r>
          </a:p>
        </p:txBody>
      </p:sp>
      <p:sp>
        <p:nvSpPr>
          <p:cNvPr id="5" name="Rectangle 56"/>
          <p:cNvSpPr>
            <a:spLocks noChangeArrowheads="1"/>
          </p:cNvSpPr>
          <p:nvPr/>
        </p:nvSpPr>
        <p:spPr bwMode="auto">
          <a:xfrm>
            <a:off x="7132320" y="4268470"/>
            <a:ext cx="2889250" cy="476250"/>
          </a:xfrm>
          <a:prstGeom prst="rect">
            <a:avLst/>
          </a:prstGeom>
          <a:noFill/>
          <a:ln w="12700">
            <a:noFill/>
            <a:miter lim="800000"/>
            <a:headEnd type="none" w="sm" len="sm"/>
            <a:tailEnd type="none" w="sm" len="sm"/>
          </a:ln>
          <a:effectLst/>
        </p:spPr>
        <p:txBody>
          <a:bodyPr wrap="none">
            <a:spAutoFit/>
          </a:bodyPr>
          <a:lstStyle/>
          <a:p>
            <a:pPr>
              <a:lnSpc>
                <a:spcPct val="90000"/>
              </a:lnSpc>
              <a:spcBef>
                <a:spcPts val="588"/>
              </a:spcBef>
              <a:spcAft>
                <a:spcPts val="588"/>
              </a:spcAft>
              <a:buClr>
                <a:schemeClr val="tx2"/>
              </a:buClr>
              <a:buSzPct val="80000"/>
              <a:buFont typeface="Wingdings" panose="05000000000000000000" pitchFamily="2" charset="2"/>
              <a:buNone/>
              <a:defRPr/>
            </a:pPr>
            <a:r>
              <a:rPr kumimoji="1" lang="en-US" altLang="zh-CN" dirty="0">
                <a:solidFill>
                  <a:schemeClr val="accent2"/>
                </a:solidFill>
                <a:effectLst>
                  <a:outerShdw blurRad="38100" dist="38100" dir="2700000" algn="tl">
                    <a:srgbClr val="C0C0C0"/>
                  </a:outerShdw>
                </a:effectLst>
                <a:latin typeface="Courier New" pitchFamily="49" charset="0"/>
              </a:rPr>
              <a:t> </a:t>
            </a:r>
            <a:r>
              <a:rPr kumimoji="1" lang="en-US" altLang="zh-CN" sz="2800" dirty="0" err="1">
                <a:solidFill>
                  <a:srgbClr val="0000CC"/>
                </a:solidFill>
                <a:latin typeface="Courier New" pitchFamily="49" charset="0"/>
              </a:rPr>
              <a:t>int</a:t>
            </a:r>
            <a:r>
              <a:rPr kumimoji="1" lang="en-US" altLang="zh-CN" sz="2800" dirty="0">
                <a:solidFill>
                  <a:srgbClr val="C00000"/>
                </a:solidFill>
                <a:latin typeface="Courier New" pitchFamily="49" charset="0"/>
              </a:rPr>
              <a:t> </a:t>
            </a:r>
            <a:r>
              <a:rPr kumimoji="1" lang="en-US" altLang="zh-CN" sz="2800" dirty="0">
                <a:solidFill>
                  <a:schemeClr val="tx2"/>
                </a:solidFill>
                <a:latin typeface="Courier New" pitchFamily="49" charset="0"/>
              </a:rPr>
              <a:t>a[2]</a:t>
            </a:r>
            <a:r>
              <a:rPr kumimoji="1" lang="en-US" altLang="zh-CN" sz="2800" dirty="0">
                <a:solidFill>
                  <a:srgbClr val="0000CC"/>
                </a:solidFill>
                <a:latin typeface="Courier New" pitchFamily="49" charset="0"/>
              </a:rPr>
              <a:t>[3]</a:t>
            </a:r>
            <a:r>
              <a:rPr kumimoji="1" lang="en-US" altLang="zh-CN" sz="2800" dirty="0">
                <a:solidFill>
                  <a:schemeClr val="tx2"/>
                </a:solidFill>
                <a:latin typeface="Courier New" pitchFamily="49" charset="0"/>
              </a:rPr>
              <a:t>;</a:t>
            </a:r>
            <a:endParaRPr kumimoji="1" lang="zh-CN" altLang="en-US" sz="2800" dirty="0">
              <a:solidFill>
                <a:schemeClr val="tx2"/>
              </a:solidFill>
              <a:latin typeface="Courier New" pitchFamily="49" charset="0"/>
            </a:endParaRPr>
          </a:p>
        </p:txBody>
      </p:sp>
      <p:grpSp>
        <p:nvGrpSpPr>
          <p:cNvPr id="6" name="组合 1"/>
          <p:cNvGrpSpPr>
            <a:grpSpLocks/>
          </p:cNvGrpSpPr>
          <p:nvPr/>
        </p:nvGrpSpPr>
        <p:grpSpPr bwMode="auto">
          <a:xfrm>
            <a:off x="661670" y="4093845"/>
            <a:ext cx="6475413" cy="2374900"/>
            <a:chOff x="272480" y="3934420"/>
            <a:chExt cx="6475412" cy="2374900"/>
          </a:xfrm>
        </p:grpSpPr>
        <p:grpSp>
          <p:nvGrpSpPr>
            <p:cNvPr id="7" name="Group 3"/>
            <p:cNvGrpSpPr>
              <a:grpSpLocks/>
            </p:cNvGrpSpPr>
            <p:nvPr/>
          </p:nvGrpSpPr>
          <p:grpSpPr bwMode="auto">
            <a:xfrm>
              <a:off x="272480" y="4005858"/>
              <a:ext cx="614362" cy="1397000"/>
              <a:chOff x="274" y="1148"/>
              <a:chExt cx="357" cy="880"/>
            </a:xfrm>
          </p:grpSpPr>
          <p:sp>
            <p:nvSpPr>
              <p:cNvPr id="29" name="Text Box 4"/>
              <p:cNvSpPr txBox="1">
                <a:spLocks noChangeArrowheads="1"/>
              </p:cNvSpPr>
              <p:nvPr/>
            </p:nvSpPr>
            <p:spPr bwMode="auto">
              <a:xfrm>
                <a:off x="407" y="114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t>a</a:t>
                </a:r>
              </a:p>
            </p:txBody>
          </p:sp>
          <p:sp>
            <p:nvSpPr>
              <p:cNvPr id="30" name="Text Box 5"/>
              <p:cNvSpPr txBox="1">
                <a:spLocks noChangeArrowheads="1"/>
              </p:cNvSpPr>
              <p:nvPr/>
            </p:nvSpPr>
            <p:spPr bwMode="auto">
              <a:xfrm>
                <a:off x="274" y="1797"/>
                <a:ext cx="3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t>a+1</a:t>
                </a:r>
              </a:p>
            </p:txBody>
          </p:sp>
        </p:grpSp>
        <p:grpSp>
          <p:nvGrpSpPr>
            <p:cNvPr id="8" name="Group 13"/>
            <p:cNvGrpSpPr>
              <a:grpSpLocks/>
            </p:cNvGrpSpPr>
            <p:nvPr/>
          </p:nvGrpSpPr>
          <p:grpSpPr bwMode="auto">
            <a:xfrm>
              <a:off x="963678" y="3934420"/>
              <a:ext cx="2005963" cy="2374900"/>
              <a:chOff x="935" y="1104"/>
              <a:chExt cx="1166" cy="1496"/>
            </a:xfrm>
          </p:grpSpPr>
          <p:sp>
            <p:nvSpPr>
              <p:cNvPr id="20" name="Line 14"/>
              <p:cNvSpPr>
                <a:spLocks noChangeShapeType="1"/>
              </p:cNvSpPr>
              <p:nvPr/>
            </p:nvSpPr>
            <p:spPr bwMode="auto">
              <a:xfrm>
                <a:off x="1415" y="1978"/>
                <a:ext cx="686" cy="0"/>
              </a:xfrm>
              <a:prstGeom prst="line">
                <a:avLst/>
              </a:prstGeom>
              <a:noFill/>
              <a:ln w="38100" cap="rnd">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1" name="Group 16"/>
              <p:cNvGrpSpPr>
                <a:grpSpLocks/>
              </p:cNvGrpSpPr>
              <p:nvPr/>
            </p:nvGrpSpPr>
            <p:grpSpPr bwMode="auto">
              <a:xfrm>
                <a:off x="1415" y="1330"/>
                <a:ext cx="686" cy="1270"/>
                <a:chOff x="1043" y="1318"/>
                <a:chExt cx="686" cy="1270"/>
              </a:xfrm>
            </p:grpSpPr>
            <p:sp>
              <p:nvSpPr>
                <p:cNvPr id="26" name="Rectangle 17"/>
                <p:cNvSpPr>
                  <a:spLocks noChangeArrowheads="1"/>
                </p:cNvSpPr>
                <p:nvPr/>
              </p:nvSpPr>
              <p:spPr bwMode="auto">
                <a:xfrm>
                  <a:off x="1042" y="1318"/>
                  <a:ext cx="687" cy="1270"/>
                </a:xfrm>
                <a:prstGeom prst="rect">
                  <a:avLst/>
                </a:prstGeom>
                <a:noFill/>
                <a:ln w="38100" cap="rnd" cmpd="sng">
                  <a:solidFill>
                    <a:srgbClr val="FF0000"/>
                  </a:solidFill>
                  <a:prstDash val="solid"/>
                  <a:miter lim="800000"/>
                  <a:headEnd/>
                  <a:tailEnd/>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27" name="Text Box 18"/>
                <p:cNvSpPr txBox="1">
                  <a:spLocks noChangeArrowheads="1"/>
                </p:cNvSpPr>
                <p:nvPr/>
              </p:nvSpPr>
              <p:spPr bwMode="auto">
                <a:xfrm>
                  <a:off x="1193" y="1477"/>
                  <a:ext cx="3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a[0]</a:t>
                  </a:r>
                </a:p>
              </p:txBody>
            </p:sp>
            <p:sp>
              <p:nvSpPr>
                <p:cNvPr id="28" name="Text Box 19"/>
                <p:cNvSpPr txBox="1">
                  <a:spLocks noChangeArrowheads="1"/>
                </p:cNvSpPr>
                <p:nvPr/>
              </p:nvSpPr>
              <p:spPr bwMode="auto">
                <a:xfrm>
                  <a:off x="1193" y="2180"/>
                  <a:ext cx="3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339933"/>
                      </a:solidFill>
                    </a:rPr>
                    <a:t>a[1]</a:t>
                  </a:r>
                  <a:endParaRPr kumimoji="1" lang="en-US" altLang="zh-CN"/>
                </a:p>
              </p:txBody>
            </p:sp>
          </p:grpSp>
          <p:sp>
            <p:nvSpPr>
              <p:cNvPr id="22" name="Line 21"/>
              <p:cNvSpPr>
                <a:spLocks noChangeShapeType="1"/>
              </p:cNvSpPr>
              <p:nvPr/>
            </p:nvSpPr>
            <p:spPr bwMode="auto">
              <a:xfrm>
                <a:off x="993" y="1330"/>
                <a:ext cx="42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22"/>
              <p:cNvSpPr>
                <a:spLocks noChangeShapeType="1"/>
              </p:cNvSpPr>
              <p:nvPr/>
            </p:nvSpPr>
            <p:spPr bwMode="auto">
              <a:xfrm>
                <a:off x="978" y="1974"/>
                <a:ext cx="42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Text Box 24"/>
              <p:cNvSpPr txBox="1">
                <a:spLocks noChangeArrowheads="1"/>
              </p:cNvSpPr>
              <p:nvPr/>
            </p:nvSpPr>
            <p:spPr bwMode="auto">
              <a:xfrm>
                <a:off x="977" y="1104"/>
                <a:ext cx="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&amp;a[0]</a:t>
                </a:r>
              </a:p>
            </p:txBody>
          </p:sp>
          <p:sp>
            <p:nvSpPr>
              <p:cNvPr id="25" name="Text Box 25"/>
              <p:cNvSpPr txBox="1">
                <a:spLocks noChangeArrowheads="1"/>
              </p:cNvSpPr>
              <p:nvPr/>
            </p:nvSpPr>
            <p:spPr bwMode="auto">
              <a:xfrm>
                <a:off x="935" y="1758"/>
                <a:ext cx="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009900"/>
                    </a:solidFill>
                  </a:rPr>
                  <a:t>&amp;a[1]</a:t>
                </a:r>
              </a:p>
            </p:txBody>
          </p:sp>
        </p:grpSp>
        <p:grpSp>
          <p:nvGrpSpPr>
            <p:cNvPr id="9" name="Group 27"/>
            <p:cNvGrpSpPr>
              <a:grpSpLocks/>
            </p:cNvGrpSpPr>
            <p:nvPr/>
          </p:nvGrpSpPr>
          <p:grpSpPr bwMode="auto">
            <a:xfrm>
              <a:off x="2812480" y="4223347"/>
              <a:ext cx="3935412" cy="1808164"/>
              <a:chOff x="2010" y="1286"/>
              <a:chExt cx="2288" cy="1139"/>
            </a:xfrm>
          </p:grpSpPr>
          <p:sp>
            <p:nvSpPr>
              <p:cNvPr id="10" name="Line 28"/>
              <p:cNvSpPr>
                <a:spLocks noChangeShapeType="1"/>
              </p:cNvSpPr>
              <p:nvPr/>
            </p:nvSpPr>
            <p:spPr bwMode="auto">
              <a:xfrm>
                <a:off x="2020" y="1648"/>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Text Box 30"/>
              <p:cNvSpPr txBox="1">
                <a:spLocks noChangeArrowheads="1"/>
              </p:cNvSpPr>
              <p:nvPr/>
            </p:nvSpPr>
            <p:spPr bwMode="auto">
              <a:xfrm>
                <a:off x="2064" y="1286"/>
                <a:ext cx="6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&amp;a[0][0]</a:t>
                </a:r>
              </a:p>
            </p:txBody>
          </p:sp>
          <p:sp>
            <p:nvSpPr>
              <p:cNvPr id="12" name="Line 32"/>
              <p:cNvSpPr>
                <a:spLocks noChangeShapeType="1"/>
              </p:cNvSpPr>
              <p:nvPr/>
            </p:nvSpPr>
            <p:spPr bwMode="auto">
              <a:xfrm>
                <a:off x="2010" y="2328"/>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Text Box 36"/>
              <p:cNvSpPr txBox="1">
                <a:spLocks noChangeArrowheads="1"/>
              </p:cNvSpPr>
              <p:nvPr/>
            </p:nvSpPr>
            <p:spPr bwMode="auto">
              <a:xfrm>
                <a:off x="2064" y="1966"/>
                <a:ext cx="6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009900"/>
                    </a:solidFill>
                  </a:rPr>
                  <a:t>&amp;a[1][0]</a:t>
                </a:r>
              </a:p>
            </p:txBody>
          </p:sp>
          <p:sp>
            <p:nvSpPr>
              <p:cNvPr id="14" name="Text Box 49"/>
              <p:cNvSpPr txBox="1">
                <a:spLocks noChangeArrowheads="1"/>
              </p:cNvSpPr>
              <p:nvPr/>
            </p:nvSpPr>
            <p:spPr bwMode="auto">
              <a:xfrm>
                <a:off x="2472" y="1512"/>
                <a:ext cx="595" cy="233"/>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a[0] </a:t>
                </a:r>
                <a:r>
                  <a:rPr kumimoji="1" lang="en-US" altLang="zh-CN">
                    <a:solidFill>
                      <a:srgbClr val="0000CC"/>
                    </a:solidFill>
                  </a:rPr>
                  <a:t>[0]</a:t>
                </a:r>
              </a:p>
            </p:txBody>
          </p:sp>
          <p:sp>
            <p:nvSpPr>
              <p:cNvPr id="15" name="Text Box 50"/>
              <p:cNvSpPr txBox="1">
                <a:spLocks noChangeArrowheads="1"/>
              </p:cNvSpPr>
              <p:nvPr/>
            </p:nvSpPr>
            <p:spPr bwMode="auto">
              <a:xfrm>
                <a:off x="3089" y="1512"/>
                <a:ext cx="595" cy="233"/>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a[0]</a:t>
                </a:r>
                <a:r>
                  <a:rPr kumimoji="1" lang="en-US" altLang="zh-CN">
                    <a:solidFill>
                      <a:schemeClr val="tx2"/>
                    </a:solidFill>
                  </a:rPr>
                  <a:t> </a:t>
                </a:r>
                <a:r>
                  <a:rPr kumimoji="1" lang="en-US" altLang="zh-CN">
                    <a:solidFill>
                      <a:srgbClr val="0000CC"/>
                    </a:solidFill>
                  </a:rPr>
                  <a:t>[1]</a:t>
                </a:r>
              </a:p>
            </p:txBody>
          </p:sp>
          <p:sp>
            <p:nvSpPr>
              <p:cNvPr id="16" name="Text Box 51"/>
              <p:cNvSpPr txBox="1">
                <a:spLocks noChangeArrowheads="1"/>
              </p:cNvSpPr>
              <p:nvPr/>
            </p:nvSpPr>
            <p:spPr bwMode="auto">
              <a:xfrm>
                <a:off x="2472" y="2192"/>
                <a:ext cx="595" cy="233"/>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339933"/>
                    </a:solidFill>
                  </a:rPr>
                  <a:t>a[1] </a:t>
                </a:r>
                <a:r>
                  <a:rPr kumimoji="1" lang="en-US" altLang="zh-CN">
                    <a:solidFill>
                      <a:srgbClr val="0000CC"/>
                    </a:solidFill>
                  </a:rPr>
                  <a:t>[0]</a:t>
                </a:r>
              </a:p>
            </p:txBody>
          </p:sp>
          <p:sp>
            <p:nvSpPr>
              <p:cNvPr id="17" name="Text Box 52"/>
              <p:cNvSpPr txBox="1">
                <a:spLocks noChangeArrowheads="1"/>
              </p:cNvSpPr>
              <p:nvPr/>
            </p:nvSpPr>
            <p:spPr bwMode="auto">
              <a:xfrm>
                <a:off x="3083" y="2192"/>
                <a:ext cx="595" cy="233"/>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339933"/>
                    </a:solidFill>
                  </a:rPr>
                  <a:t>a[1] </a:t>
                </a:r>
                <a:r>
                  <a:rPr kumimoji="1" lang="en-US" altLang="zh-CN">
                    <a:solidFill>
                      <a:srgbClr val="0000CC"/>
                    </a:solidFill>
                  </a:rPr>
                  <a:t>[1]</a:t>
                </a:r>
              </a:p>
            </p:txBody>
          </p:sp>
          <p:sp>
            <p:nvSpPr>
              <p:cNvPr id="18" name="Text Box 58"/>
              <p:cNvSpPr txBox="1">
                <a:spLocks noChangeArrowheads="1"/>
              </p:cNvSpPr>
              <p:nvPr/>
            </p:nvSpPr>
            <p:spPr bwMode="auto">
              <a:xfrm>
                <a:off x="3703" y="1512"/>
                <a:ext cx="595" cy="233"/>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a[0] </a:t>
                </a:r>
                <a:r>
                  <a:rPr kumimoji="1" lang="en-US" altLang="zh-CN">
                    <a:solidFill>
                      <a:srgbClr val="0000CC"/>
                    </a:solidFill>
                  </a:rPr>
                  <a:t>[2]</a:t>
                </a:r>
              </a:p>
            </p:txBody>
          </p:sp>
          <p:sp>
            <p:nvSpPr>
              <p:cNvPr id="19" name="Text Box 60"/>
              <p:cNvSpPr txBox="1">
                <a:spLocks noChangeArrowheads="1"/>
              </p:cNvSpPr>
              <p:nvPr/>
            </p:nvSpPr>
            <p:spPr bwMode="auto">
              <a:xfrm>
                <a:off x="3696" y="2192"/>
                <a:ext cx="595" cy="233"/>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339933"/>
                    </a:solidFill>
                  </a:rPr>
                  <a:t>a[1] </a:t>
                </a:r>
                <a:r>
                  <a:rPr kumimoji="1" lang="en-US" altLang="zh-CN">
                    <a:solidFill>
                      <a:srgbClr val="0000CC"/>
                    </a:solidFill>
                  </a:rPr>
                  <a:t>[2]</a:t>
                </a:r>
              </a:p>
            </p:txBody>
          </p:sp>
        </p:grpSp>
      </p:grpSp>
      <p:sp>
        <p:nvSpPr>
          <p:cNvPr id="31" name="Rectangle 3"/>
          <p:cNvSpPr txBox="1">
            <a:spLocks noChangeArrowheads="1"/>
          </p:cNvSpPr>
          <p:nvPr/>
        </p:nvSpPr>
        <p:spPr bwMode="auto">
          <a:xfrm>
            <a:off x="695008" y="2652395"/>
            <a:ext cx="2486025" cy="1152525"/>
          </a:xfrm>
          <a:prstGeom prst="rect">
            <a:avLst/>
          </a:prstGeom>
          <a:noFill/>
          <a:ln w="9525">
            <a:noFill/>
            <a:miter lim="800000"/>
            <a:headEnd/>
            <a:tailEnd/>
          </a:ln>
          <a:effectLst/>
        </p:spPr>
        <p:txBody>
          <a:bodyPr lIns="92075" tIns="46037" rIns="92075" bIns="46037"/>
          <a:lstStyle/>
          <a:p>
            <a:pPr eaLnBrk="1">
              <a:lnSpc>
                <a:spcPct val="110000"/>
              </a:lnSpc>
              <a:spcBef>
                <a:spcPts val="0"/>
              </a:spcBef>
              <a:buClr>
                <a:srgbClr val="FFCC66"/>
              </a:buClr>
              <a:buSzPct val="80000"/>
              <a:buFont typeface="Wingdings" panose="05000000000000000000" pitchFamily="2" charset="2"/>
              <a:buNone/>
              <a:defRPr/>
            </a:pPr>
            <a:r>
              <a:rPr kumimoji="1" lang="en-US" altLang="zh-CN" sz="2400" dirty="0" err="1">
                <a:solidFill>
                  <a:srgbClr val="0000CC"/>
                </a:solidFill>
                <a:effectLst>
                  <a:outerShdw blurRad="38100" dist="38100" dir="2700000" algn="tl">
                    <a:srgbClr val="C0C0C0"/>
                  </a:outerShdw>
                </a:effectLst>
                <a:latin typeface="Courier New" pitchFamily="49" charset="0"/>
              </a:rPr>
              <a:t>int</a:t>
            </a:r>
            <a:r>
              <a:rPr kumimoji="1" lang="en-US" altLang="zh-CN" sz="2400" dirty="0">
                <a:solidFill>
                  <a:srgbClr val="C00000"/>
                </a:solidFill>
                <a:effectLst>
                  <a:outerShdw blurRad="38100" dist="38100" dir="2700000" algn="tl">
                    <a:srgbClr val="C0C0C0"/>
                  </a:outerShdw>
                </a:effectLst>
                <a:latin typeface="Courier New" pitchFamily="49" charset="0"/>
              </a:rPr>
              <a:t> </a:t>
            </a:r>
            <a:r>
              <a:rPr kumimoji="1" lang="en-US" altLang="zh-CN" sz="2400" dirty="0">
                <a:effectLst>
                  <a:outerShdw blurRad="38100" dist="38100" dir="2700000" algn="tl">
                    <a:srgbClr val="C0C0C0"/>
                  </a:outerShdw>
                </a:effectLst>
                <a:latin typeface="Courier New" pitchFamily="49" charset="0"/>
              </a:rPr>
              <a:t>(</a:t>
            </a:r>
            <a:r>
              <a:rPr kumimoji="1" lang="zh-CN" altLang="en-US" sz="2400" dirty="0">
                <a:effectLst>
                  <a:outerShdw blurRad="38100" dist="38100" dir="2700000" algn="tl">
                    <a:srgbClr val="C0C0C0"/>
                  </a:outerShdw>
                </a:effectLst>
                <a:latin typeface="Courier New" pitchFamily="49" charset="0"/>
              </a:rPr>
              <a:t>*</a:t>
            </a:r>
            <a:r>
              <a:rPr kumimoji="1" lang="en-US" altLang="zh-CN" sz="2400" dirty="0">
                <a:effectLst>
                  <a:outerShdw blurRad="38100" dist="38100" dir="2700000" algn="tl">
                    <a:srgbClr val="C0C0C0"/>
                  </a:outerShdw>
                </a:effectLst>
                <a:latin typeface="Courier New" pitchFamily="49" charset="0"/>
              </a:rPr>
              <a:t>p)</a:t>
            </a:r>
            <a:r>
              <a:rPr kumimoji="1" lang="en-US" altLang="zh-CN" sz="2400" dirty="0">
                <a:solidFill>
                  <a:srgbClr val="0000CC"/>
                </a:solidFill>
                <a:effectLst>
                  <a:outerShdw blurRad="38100" dist="38100" dir="2700000" algn="tl">
                    <a:srgbClr val="C0C0C0"/>
                  </a:outerShdw>
                </a:effectLst>
                <a:latin typeface="Courier New" pitchFamily="49" charset="0"/>
              </a:rPr>
              <a:t>[3]</a:t>
            </a:r>
            <a:r>
              <a:rPr kumimoji="1" lang="en-US" altLang="zh-CN" sz="2400" dirty="0">
                <a:effectLst>
                  <a:outerShdw blurRad="38100" dist="38100" dir="2700000" algn="tl">
                    <a:srgbClr val="C0C0C0"/>
                  </a:outerShdw>
                </a:effectLst>
                <a:latin typeface="Courier New" pitchFamily="49" charset="0"/>
              </a:rPr>
              <a:t>; </a:t>
            </a:r>
          </a:p>
          <a:p>
            <a:pPr eaLnBrk="1">
              <a:lnSpc>
                <a:spcPct val="110000"/>
              </a:lnSpc>
              <a:spcBef>
                <a:spcPts val="0"/>
              </a:spcBef>
              <a:buClr>
                <a:srgbClr val="FFCC66"/>
              </a:buClr>
              <a:buSzPct val="80000"/>
              <a:buFont typeface="Wingdings" panose="05000000000000000000" pitchFamily="2" charset="2"/>
              <a:buNone/>
              <a:defRPr/>
            </a:pPr>
            <a:r>
              <a:rPr kumimoji="1" lang="en-US" altLang="zh-CN" sz="2400" dirty="0">
                <a:effectLst>
                  <a:outerShdw blurRad="38100" dist="38100" dir="2700000" algn="tl">
                    <a:srgbClr val="C0C0C0"/>
                  </a:outerShdw>
                </a:effectLst>
                <a:latin typeface="Courier New" pitchFamily="49" charset="0"/>
              </a:rPr>
              <a:t>p = </a:t>
            </a:r>
            <a:r>
              <a:rPr kumimoji="1" lang="en-US" altLang="zh-CN" sz="2400" dirty="0">
                <a:solidFill>
                  <a:srgbClr val="C00000"/>
                </a:solidFill>
                <a:effectLst>
                  <a:outerShdw blurRad="38100" dist="38100" dir="2700000" algn="tl">
                    <a:srgbClr val="C0C0C0"/>
                  </a:outerShdw>
                </a:effectLst>
                <a:latin typeface="Courier New" pitchFamily="49" charset="0"/>
              </a:rPr>
              <a:t>a</a:t>
            </a:r>
            <a:r>
              <a:rPr kumimoji="1" lang="en-US" altLang="zh-CN" sz="2400" dirty="0">
                <a:effectLst>
                  <a:outerShdw blurRad="38100" dist="38100" dir="2700000" algn="tl">
                    <a:srgbClr val="C0C0C0"/>
                  </a:outerShdw>
                </a:effectLst>
                <a:latin typeface="Courier New" pitchFamily="49" charset="0"/>
              </a:rPr>
              <a:t>; </a:t>
            </a:r>
            <a:endParaRPr kumimoji="1" lang="zh-CN" altLang="en-US" sz="2400" dirty="0">
              <a:solidFill>
                <a:srgbClr val="CC0000"/>
              </a:solidFill>
              <a:effectLst>
                <a:outerShdw blurRad="38100" dist="38100" dir="2700000" algn="tl">
                  <a:srgbClr val="C0C0C0"/>
                </a:outerShdw>
              </a:effectLst>
              <a:ea typeface="黑体" pitchFamily="49" charset="-122"/>
            </a:endParaRPr>
          </a:p>
        </p:txBody>
      </p:sp>
      <p:sp>
        <p:nvSpPr>
          <p:cNvPr id="32" name="Rectangle 3"/>
          <p:cNvSpPr txBox="1">
            <a:spLocks/>
          </p:cNvSpPr>
          <p:nvPr/>
        </p:nvSpPr>
        <p:spPr>
          <a:xfrm>
            <a:off x="661670" y="1269739"/>
            <a:ext cx="2414588" cy="15843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zh-CN">
                <a:latin typeface="黑体" panose="02010609060101010101" pitchFamily="49" charset="-122"/>
              </a:rPr>
              <a:t>逐行查找</a:t>
            </a:r>
            <a:r>
              <a:rPr kumimoji="1" lang="en-US" altLang="zh-CN">
                <a:latin typeface="黑体" panose="02010609060101010101" pitchFamily="49" charset="-122"/>
                <a:sym typeface="Wingdings" panose="05000000000000000000" pitchFamily="2" charset="2"/>
              </a:rPr>
              <a:t></a:t>
            </a:r>
          </a:p>
          <a:p>
            <a:r>
              <a:rPr kumimoji="1" lang="zh-CN" altLang="zh-CN">
                <a:latin typeface="黑体" panose="02010609060101010101" pitchFamily="49" charset="-122"/>
              </a:rPr>
              <a:t>逐列查找</a:t>
            </a:r>
            <a:r>
              <a:rPr kumimoji="1" lang="en-US" altLang="zh-CN" sz="2400" b="1">
                <a:solidFill>
                  <a:srgbClr val="0066FF"/>
                </a:solidFill>
                <a:latin typeface="Courier New" panose="02070309020205020404" pitchFamily="49" charset="0"/>
                <a:ea typeface="宋体" panose="02010600030101010101" pitchFamily="2" charset="-122"/>
              </a:rPr>
              <a:t>	</a:t>
            </a:r>
            <a:endParaRPr kumimoji="1" lang="zh-CN" altLang="en-US">
              <a:solidFill>
                <a:srgbClr val="000066"/>
              </a:solidFill>
              <a:latin typeface="黑体" panose="02010609060101010101" pitchFamily="49" charset="-122"/>
            </a:endParaRPr>
          </a:p>
          <a:p>
            <a:pPr>
              <a:buFont typeface="Monotype Sorts"/>
              <a:buNone/>
            </a:pPr>
            <a:endParaRPr kumimoji="1" lang="zh-CN" altLang="en-US" sz="2000" dirty="0">
              <a:solidFill>
                <a:schemeClr val="accent2"/>
              </a:solidFill>
            </a:endParaRPr>
          </a:p>
        </p:txBody>
      </p:sp>
      <p:sp>
        <p:nvSpPr>
          <p:cNvPr id="33" name="Rectangle 3"/>
          <p:cNvSpPr txBox="1">
            <a:spLocks noChangeArrowheads="1"/>
          </p:cNvSpPr>
          <p:nvPr/>
        </p:nvSpPr>
        <p:spPr bwMode="auto">
          <a:xfrm>
            <a:off x="3612833" y="1320539"/>
            <a:ext cx="6553200" cy="261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a:lnSpc>
                <a:spcPct val="90000"/>
              </a:lnSpc>
              <a:spcBef>
                <a:spcPts val="300"/>
              </a:spcBef>
              <a:buClr>
                <a:schemeClr val="tx2"/>
              </a:buClr>
              <a:buSzPct val="50000"/>
              <a:buFont typeface="Monotype Sorts"/>
              <a:buNone/>
            </a:pPr>
            <a:r>
              <a:rPr kumimoji="1" lang="en-US" altLang="zh-CN" sz="2400" dirty="0">
                <a:latin typeface="Courier New" panose="02070309020205020404" pitchFamily="49" charset="0"/>
              </a:rPr>
              <a:t>for (</a:t>
            </a:r>
            <a:r>
              <a:rPr kumimoji="1" lang="en-US" altLang="zh-CN" sz="2400" dirty="0" err="1">
                <a:latin typeface="Courier New" panose="02070309020205020404" pitchFamily="49" charset="0"/>
              </a:rPr>
              <a:t>i</a:t>
            </a:r>
            <a:r>
              <a:rPr kumimoji="1" lang="en-US" altLang="zh-CN" sz="2400" dirty="0">
                <a:latin typeface="Courier New" panose="02070309020205020404" pitchFamily="49" charset="0"/>
              </a:rPr>
              <a:t>=0; </a:t>
            </a:r>
            <a:r>
              <a:rPr kumimoji="1" lang="en-US" altLang="zh-CN" sz="2400" dirty="0" err="1">
                <a:latin typeface="Courier New" panose="02070309020205020404" pitchFamily="49" charset="0"/>
              </a:rPr>
              <a:t>i</a:t>
            </a:r>
            <a:r>
              <a:rPr kumimoji="1" lang="en-US" altLang="zh-CN" sz="2400" dirty="0">
                <a:latin typeface="Courier New" panose="02070309020205020404" pitchFamily="49" charset="0"/>
              </a:rPr>
              <a:t>&lt;m; </a:t>
            </a:r>
            <a:r>
              <a:rPr kumimoji="1" lang="en-US" altLang="zh-CN" sz="2400" dirty="0" err="1">
                <a:latin typeface="Courier New" panose="02070309020205020404" pitchFamily="49" charset="0"/>
              </a:rPr>
              <a:t>i</a:t>
            </a:r>
            <a:r>
              <a:rPr kumimoji="1" lang="en-US" altLang="zh-CN" sz="2400" dirty="0">
                <a:latin typeface="Courier New" panose="02070309020205020404" pitchFamily="49" charset="0"/>
              </a:rPr>
              <a:t>++)</a:t>
            </a:r>
          </a:p>
          <a:p>
            <a:pPr eaLnBrk="1">
              <a:lnSpc>
                <a:spcPct val="90000"/>
              </a:lnSpc>
              <a:spcBef>
                <a:spcPts val="300"/>
              </a:spcBef>
              <a:buClr>
                <a:schemeClr val="tx2"/>
              </a:buClr>
              <a:buSzPct val="50000"/>
              <a:buFont typeface="Monotype Sorts"/>
              <a:buNone/>
            </a:pPr>
            <a:r>
              <a:rPr kumimoji="1" lang="en-US" altLang="zh-CN" sz="2400" dirty="0">
                <a:latin typeface="Courier New" panose="02070309020205020404" pitchFamily="49" charset="0"/>
              </a:rPr>
              <a:t>{</a:t>
            </a:r>
          </a:p>
          <a:p>
            <a:pPr eaLnBrk="1">
              <a:lnSpc>
                <a:spcPct val="90000"/>
              </a:lnSpc>
              <a:spcBef>
                <a:spcPts val="300"/>
              </a:spcBef>
              <a:buClr>
                <a:schemeClr val="tx2"/>
              </a:buClr>
              <a:buSzPct val="50000"/>
              <a:buFont typeface="Monotype Sorts"/>
              <a:buNone/>
            </a:pPr>
            <a:r>
              <a:rPr kumimoji="1" lang="en-US" altLang="zh-CN" sz="2400" dirty="0">
                <a:latin typeface="Courier New" panose="02070309020205020404" pitchFamily="49" charset="0"/>
              </a:rPr>
              <a:t>	for (j=0; j&lt;n; j++)</a:t>
            </a:r>
          </a:p>
          <a:p>
            <a:pPr eaLnBrk="1">
              <a:lnSpc>
                <a:spcPct val="90000"/>
              </a:lnSpc>
              <a:spcBef>
                <a:spcPts val="300"/>
              </a:spcBef>
              <a:buClr>
                <a:schemeClr val="tx2"/>
              </a:buClr>
              <a:buSzPct val="50000"/>
              <a:buFont typeface="Monotype Sorts"/>
              <a:buNone/>
            </a:pPr>
            <a:r>
              <a:rPr kumimoji="1" lang="en-US" altLang="zh-CN" sz="2400" dirty="0">
                <a:latin typeface="Courier New" panose="02070309020205020404" pitchFamily="49" charset="0"/>
              </a:rPr>
              <a:t>  {</a:t>
            </a:r>
          </a:p>
          <a:p>
            <a:pPr eaLnBrk="1">
              <a:lnSpc>
                <a:spcPct val="90000"/>
              </a:lnSpc>
              <a:spcBef>
                <a:spcPts val="300"/>
              </a:spcBef>
              <a:buClr>
                <a:schemeClr val="tx2"/>
              </a:buClr>
              <a:buSzPct val="50000"/>
              <a:buFont typeface="Monotype Sorts"/>
              <a:buNone/>
            </a:pPr>
            <a:r>
              <a:rPr kumimoji="1" lang="en-US" altLang="zh-CN" sz="2400" dirty="0">
                <a:latin typeface="Courier New" panose="02070309020205020404" pitchFamily="49" charset="0"/>
              </a:rPr>
              <a:t>     </a:t>
            </a:r>
            <a:r>
              <a:rPr kumimoji="1" lang="en-US" altLang="zh-CN" sz="2400" dirty="0" err="1">
                <a:latin typeface="Courier New" panose="02070309020205020404" pitchFamily="49" charset="0"/>
              </a:rPr>
              <a:t>printf</a:t>
            </a:r>
            <a:r>
              <a:rPr kumimoji="1" lang="en-US" altLang="zh-CN" sz="2400" dirty="0">
                <a:latin typeface="Courier New" panose="02070309020205020404" pitchFamily="49" charset="0"/>
              </a:rPr>
              <a:t>(</a:t>
            </a:r>
            <a:r>
              <a:rPr lang="en-US" altLang="zh-CN" sz="3200" dirty="0">
                <a:latin typeface="Courier New" panose="02070309020205020404" pitchFamily="49" charset="0"/>
              </a:rPr>
              <a:t>"</a:t>
            </a:r>
            <a:r>
              <a:rPr kumimoji="1" lang="en-US" altLang="zh-CN" sz="2400" dirty="0">
                <a:latin typeface="Courier New" panose="02070309020205020404" pitchFamily="49" charset="0"/>
              </a:rPr>
              <a:t>%d</a:t>
            </a:r>
            <a:r>
              <a:rPr lang="en-US" altLang="zh-CN" sz="3200" dirty="0">
                <a:latin typeface="Courier New" panose="02070309020205020404" pitchFamily="49" charset="0"/>
              </a:rPr>
              <a:t>"</a:t>
            </a:r>
            <a:r>
              <a:rPr kumimoji="1" lang="en-US" altLang="zh-CN" sz="2400" dirty="0">
                <a:latin typeface="Courier New" panose="02070309020205020404" pitchFamily="49" charset="0"/>
              </a:rPr>
              <a:t>, </a:t>
            </a:r>
            <a:r>
              <a:rPr kumimoji="1" lang="en-US" altLang="zh-CN" sz="2400" dirty="0">
                <a:solidFill>
                  <a:srgbClr val="0000CC"/>
                </a:solidFill>
                <a:latin typeface="Courier New" panose="02070309020205020404" pitchFamily="49" charset="0"/>
              </a:rPr>
              <a:t>*(</a:t>
            </a:r>
            <a:r>
              <a:rPr kumimoji="1" lang="en-US" altLang="zh-CN" sz="2400" dirty="0">
                <a:solidFill>
                  <a:srgbClr val="C00000"/>
                </a:solidFill>
                <a:latin typeface="Courier New" panose="02070309020205020404" pitchFamily="49" charset="0"/>
              </a:rPr>
              <a:t>*(</a:t>
            </a:r>
            <a:r>
              <a:rPr kumimoji="1" lang="en-US" altLang="zh-CN" sz="2400" dirty="0" err="1">
                <a:solidFill>
                  <a:srgbClr val="C00000"/>
                </a:solidFill>
                <a:latin typeface="Courier New" panose="02070309020205020404" pitchFamily="49" charset="0"/>
              </a:rPr>
              <a:t>p+i</a:t>
            </a:r>
            <a:r>
              <a:rPr kumimoji="1" lang="en-US" altLang="zh-CN" sz="2400" dirty="0">
                <a:solidFill>
                  <a:srgbClr val="C00000"/>
                </a:solidFill>
                <a:latin typeface="Courier New" panose="02070309020205020404" pitchFamily="49" charset="0"/>
              </a:rPr>
              <a:t>)</a:t>
            </a:r>
            <a:r>
              <a:rPr kumimoji="1" lang="en-US" altLang="zh-CN" sz="2400" dirty="0">
                <a:solidFill>
                  <a:srgbClr val="0000CC"/>
                </a:solidFill>
                <a:latin typeface="Courier New" panose="02070309020205020404" pitchFamily="49" charset="0"/>
              </a:rPr>
              <a:t>+j)</a:t>
            </a:r>
            <a:r>
              <a:rPr kumimoji="1" lang="en-US" altLang="zh-CN" sz="2400" dirty="0">
                <a:latin typeface="Courier New" panose="02070309020205020404" pitchFamily="49" charset="0"/>
              </a:rPr>
              <a:t>);</a:t>
            </a:r>
          </a:p>
          <a:p>
            <a:pPr eaLnBrk="1">
              <a:lnSpc>
                <a:spcPct val="90000"/>
              </a:lnSpc>
              <a:spcBef>
                <a:spcPts val="300"/>
              </a:spcBef>
              <a:buClr>
                <a:schemeClr val="tx2"/>
              </a:buClr>
              <a:buSzPct val="50000"/>
              <a:buFont typeface="Monotype Sorts"/>
              <a:buNone/>
            </a:pPr>
            <a:r>
              <a:rPr kumimoji="1" lang="en-US" altLang="zh-CN" sz="2400" dirty="0">
                <a:solidFill>
                  <a:srgbClr val="000066"/>
                </a:solidFill>
                <a:latin typeface="Courier New" panose="02070309020205020404" pitchFamily="49" charset="0"/>
              </a:rPr>
              <a:t>  </a:t>
            </a:r>
            <a:r>
              <a:rPr kumimoji="1" lang="en-US" altLang="zh-CN" sz="2400" dirty="0">
                <a:latin typeface="Courier New" panose="02070309020205020404" pitchFamily="49" charset="0"/>
              </a:rPr>
              <a:t>}</a:t>
            </a:r>
          </a:p>
          <a:p>
            <a:pPr eaLnBrk="1">
              <a:lnSpc>
                <a:spcPct val="90000"/>
              </a:lnSpc>
              <a:spcBef>
                <a:spcPts val="300"/>
              </a:spcBef>
              <a:buClr>
                <a:schemeClr val="tx2"/>
              </a:buClr>
              <a:buSzPct val="50000"/>
              <a:buFont typeface="Monotype Sorts"/>
              <a:buNone/>
            </a:pPr>
            <a:r>
              <a:rPr kumimoji="1" lang="en-US" altLang="zh-CN" sz="2400" dirty="0">
                <a:latin typeface="Courier New" panose="02070309020205020404" pitchFamily="49" charset="0"/>
              </a:rPr>
              <a:t>}</a:t>
            </a:r>
            <a:endParaRPr kumimoji="1" lang="zh-CN" altLang="en-US" sz="3200" dirty="0">
              <a:latin typeface="楷体_GB2312" pitchFamily="49" charset="-122"/>
              <a:ea typeface="楷体_GB2312" pitchFamily="49" charset="-122"/>
            </a:endParaRPr>
          </a:p>
          <a:p>
            <a:pPr eaLnBrk="1">
              <a:lnSpc>
                <a:spcPct val="90000"/>
              </a:lnSpc>
              <a:spcBef>
                <a:spcPct val="20000"/>
              </a:spcBef>
              <a:buClr>
                <a:schemeClr val="tx2"/>
              </a:buClr>
              <a:buSzPct val="50000"/>
              <a:buFont typeface="Wingdings" panose="05000000000000000000" pitchFamily="2" charset="2"/>
              <a:buChar char="n"/>
            </a:pPr>
            <a:endParaRPr kumimoji="1" lang="zh-CN" altLang="en-US" sz="2800" dirty="0">
              <a:solidFill>
                <a:srgbClr val="000066"/>
              </a:solidFill>
              <a:latin typeface="黑体" panose="02010609060101010101" pitchFamily="49" charset="-122"/>
              <a:ea typeface="黑体" panose="02010609060101010101" pitchFamily="49" charset="-122"/>
            </a:endParaRPr>
          </a:p>
          <a:p>
            <a:pPr eaLnBrk="1">
              <a:lnSpc>
                <a:spcPct val="90000"/>
              </a:lnSpc>
              <a:spcBef>
                <a:spcPct val="20000"/>
              </a:spcBef>
              <a:buClr>
                <a:schemeClr val="tx2"/>
              </a:buClr>
              <a:buSzPct val="50000"/>
              <a:buFont typeface="Monotype Sorts"/>
              <a:buNone/>
            </a:pPr>
            <a:endParaRPr kumimoji="1" lang="zh-CN" altLang="en-US" dirty="0">
              <a:solidFill>
                <a:schemeClr val="accent2"/>
              </a:solidFill>
              <a:latin typeface="Franklin Gothic Book" panose="020B0503020102020204" pitchFamily="34" charset="0"/>
              <a:ea typeface="黑体" panose="02010609060101010101" pitchFamily="49" charset="-122"/>
            </a:endParaRPr>
          </a:p>
        </p:txBody>
      </p:sp>
      <p:sp>
        <p:nvSpPr>
          <p:cNvPr id="34" name="Arc 33"/>
          <p:cNvSpPr>
            <a:spLocks/>
          </p:cNvSpPr>
          <p:nvPr/>
        </p:nvSpPr>
        <p:spPr bwMode="auto">
          <a:xfrm rot="1426039" flipV="1">
            <a:off x="8030661" y="4341813"/>
            <a:ext cx="1366838" cy="6477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lIns="90187" tIns="45094" rIns="90187" bIns="45094" anchor="ctr"/>
          <a:lstStyle/>
          <a:p>
            <a:endParaRPr lang="zh-CN" altLang="en-US"/>
          </a:p>
        </p:txBody>
      </p:sp>
      <p:sp>
        <p:nvSpPr>
          <p:cNvPr id="35"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2</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、指针与二维数组间的关系</a:t>
            </a:r>
          </a:p>
        </p:txBody>
      </p:sp>
    </p:spTree>
    <p:extLst>
      <p:ext uri="{BB962C8B-B14F-4D97-AF65-F5344CB8AC3E}">
        <p14:creationId xmlns:p14="http://schemas.microsoft.com/office/powerpoint/2010/main" val="1309218865"/>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txBox="1">
            <a:spLocks/>
          </p:cNvSpPr>
          <p:nvPr/>
        </p:nvSpPr>
        <p:spPr>
          <a:xfrm>
            <a:off x="760095" y="1222693"/>
            <a:ext cx="8969375" cy="86518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5000"/>
              </a:lnSpc>
              <a:spcBef>
                <a:spcPts val="600"/>
              </a:spcBef>
              <a:spcAft>
                <a:spcPts val="600"/>
              </a:spcAft>
            </a:pPr>
            <a:r>
              <a:rPr lang="zh-CN" altLang="en-US">
                <a:latin typeface="Arial" panose="020B0604020202020204" pitchFamily="34" charset="0"/>
                <a:cs typeface="Arial" panose="020B0604020202020204" pitchFamily="34" charset="0"/>
              </a:rPr>
              <a:t>将二维数组</a:t>
            </a:r>
            <a:r>
              <a:rPr lang="en-US" altLang="zh-CN" b="1">
                <a:latin typeface="Courier New" panose="02070309020205020404" pitchFamily="49" charset="0"/>
                <a:cs typeface="Courier New" panose="02070309020205020404" pitchFamily="49" charset="0"/>
              </a:rPr>
              <a:t>a</a:t>
            </a:r>
            <a:r>
              <a:rPr lang="zh-CN" altLang="en-US">
                <a:latin typeface="Arial" panose="020B0604020202020204" pitchFamily="34" charset="0"/>
                <a:cs typeface="Arial" panose="020B0604020202020204" pitchFamily="34" charset="0"/>
              </a:rPr>
              <a:t>看成一维数组，有</a:t>
            </a:r>
            <a:r>
              <a:rPr lang="en-US" altLang="zh-CN">
                <a:solidFill>
                  <a:srgbClr val="C00000"/>
                </a:solidFill>
                <a:latin typeface="Arial" panose="020B0604020202020204" pitchFamily="34" charset="0"/>
                <a:cs typeface="Arial" panose="020B0604020202020204" pitchFamily="34" charset="0"/>
              </a:rPr>
              <a:t>6</a:t>
            </a:r>
            <a:r>
              <a:rPr lang="zh-CN" altLang="en-US">
                <a:latin typeface="Arial" panose="020B0604020202020204" pitchFamily="34" charset="0"/>
                <a:cs typeface="Arial" panose="020B0604020202020204" pitchFamily="34" charset="0"/>
              </a:rPr>
              <a:t>个</a:t>
            </a:r>
            <a:r>
              <a:rPr lang="en-US" altLang="zh-CN" b="1">
                <a:solidFill>
                  <a:srgbClr val="CC0000"/>
                </a:solidFill>
                <a:latin typeface="Courier New" panose="02070309020205020404" pitchFamily="49" charset="0"/>
                <a:cs typeface="Courier New" panose="02070309020205020404" pitchFamily="49" charset="0"/>
              </a:rPr>
              <a:t>int</a:t>
            </a:r>
            <a:r>
              <a:rPr lang="zh-CN" altLang="en-US">
                <a:solidFill>
                  <a:srgbClr val="CC0000"/>
                </a:solidFill>
                <a:latin typeface="Arial" panose="020B0604020202020204" pitchFamily="34" charset="0"/>
                <a:cs typeface="Arial" panose="020B0604020202020204" pitchFamily="34" charset="0"/>
              </a:rPr>
              <a:t>型</a:t>
            </a:r>
            <a:r>
              <a:rPr lang="zh-CN" altLang="en-US">
                <a:latin typeface="Arial" panose="020B0604020202020204" pitchFamily="34" charset="0"/>
                <a:cs typeface="Arial" panose="020B0604020202020204" pitchFamily="34" charset="0"/>
              </a:rPr>
              <a:t>元素</a:t>
            </a:r>
            <a:endParaRPr lang="zh-CN" altLang="en-US" dirty="0">
              <a:latin typeface="Arial" panose="020B0604020202020204" pitchFamily="34" charset="0"/>
              <a:cs typeface="Arial" panose="020B0604020202020204" pitchFamily="34" charset="0"/>
            </a:endParaRPr>
          </a:p>
        </p:txBody>
      </p:sp>
      <p:sp>
        <p:nvSpPr>
          <p:cNvPr id="5" name="Rectangle 3"/>
          <p:cNvSpPr txBox="1">
            <a:spLocks noChangeArrowheads="1"/>
          </p:cNvSpPr>
          <p:nvPr/>
        </p:nvSpPr>
        <p:spPr bwMode="auto">
          <a:xfrm>
            <a:off x="760095" y="4175443"/>
            <a:ext cx="9283700" cy="2160587"/>
          </a:xfrm>
          <a:prstGeom prst="rect">
            <a:avLst/>
          </a:prstGeom>
          <a:noFill/>
          <a:ln w="9525">
            <a:noFill/>
            <a:miter lim="800000"/>
            <a:headEnd/>
            <a:tailEnd/>
          </a:ln>
          <a:effectLst/>
        </p:spPr>
        <p:txBody>
          <a:bodyPr lIns="92075" tIns="46037" rIns="92075" bIns="46037"/>
          <a:lstStyle/>
          <a:p>
            <a:pPr marL="374650" indent="-374650" eaLnBrk="1">
              <a:lnSpc>
                <a:spcPct val="110000"/>
              </a:lnSpc>
              <a:spcBef>
                <a:spcPct val="20000"/>
              </a:spcBef>
              <a:buClr>
                <a:schemeClr val="tx1"/>
              </a:buClr>
              <a:buSzPct val="50000"/>
              <a:buFont typeface="Wingdings" panose="05000000000000000000" pitchFamily="2" charset="2"/>
              <a:buChar char="n"/>
              <a:defRPr/>
            </a:pPr>
            <a:r>
              <a:rPr lang="zh-CN" altLang="en-US" sz="2800" dirty="0">
                <a:latin typeface="黑体" pitchFamily="49" charset="-122"/>
                <a:ea typeface="黑体" pitchFamily="49" charset="-122"/>
              </a:rPr>
              <a:t>若要让一个指针指向它，则应定义为</a:t>
            </a:r>
            <a:endParaRPr lang="en-US" altLang="zh-CN" sz="2800" dirty="0">
              <a:latin typeface="黑体" pitchFamily="49" charset="-122"/>
              <a:ea typeface="黑体" pitchFamily="49" charset="-122"/>
            </a:endParaRPr>
          </a:p>
          <a:p>
            <a:pPr marL="374650" indent="-374650" eaLnBrk="1">
              <a:lnSpc>
                <a:spcPct val="110000"/>
              </a:lnSpc>
              <a:spcBef>
                <a:spcPts val="0"/>
              </a:spcBef>
              <a:buClr>
                <a:srgbClr val="FFCC66"/>
              </a:buClr>
              <a:buSzPct val="80000"/>
              <a:buFont typeface="Monotype Sorts"/>
              <a:buChar char=""/>
              <a:defRPr/>
            </a:pPr>
            <a:r>
              <a:rPr kumimoji="1" lang="en-US" altLang="zh-CN" sz="2800" dirty="0" err="1">
                <a:solidFill>
                  <a:srgbClr val="0000CC"/>
                </a:solidFill>
                <a:effectLst>
                  <a:outerShdw blurRad="38100" dist="38100" dir="2700000" algn="tl">
                    <a:srgbClr val="C0C0C0"/>
                  </a:outerShdw>
                </a:effectLst>
                <a:latin typeface="Courier New" pitchFamily="49" charset="0"/>
              </a:rPr>
              <a:t>int</a:t>
            </a:r>
            <a:r>
              <a:rPr kumimoji="1" lang="en-US" altLang="zh-CN" sz="2800" dirty="0">
                <a:solidFill>
                  <a:srgbClr val="0000CC"/>
                </a:solidFill>
                <a:effectLst>
                  <a:outerShdw blurRad="38100" dist="38100" dir="2700000" algn="tl">
                    <a:srgbClr val="C0C0C0"/>
                  </a:outerShdw>
                </a:effectLst>
                <a:latin typeface="Courier New" pitchFamily="49" charset="0"/>
              </a:rPr>
              <a:t> </a:t>
            </a:r>
            <a:r>
              <a:rPr kumimoji="1" lang="zh-CN" altLang="en-US" sz="2800" dirty="0">
                <a:effectLst>
                  <a:outerShdw blurRad="38100" dist="38100" dir="2700000" algn="tl">
                    <a:srgbClr val="C0C0C0"/>
                  </a:outerShdw>
                </a:effectLst>
                <a:latin typeface="Courier New" pitchFamily="49" charset="0"/>
              </a:rPr>
              <a:t>*</a:t>
            </a:r>
            <a:r>
              <a:rPr kumimoji="1" lang="en-US" altLang="zh-CN" sz="2800" dirty="0">
                <a:effectLst>
                  <a:outerShdw blurRad="38100" dist="38100" dir="2700000" algn="tl">
                    <a:srgbClr val="C0C0C0"/>
                  </a:outerShdw>
                </a:effectLst>
                <a:latin typeface="Courier New" pitchFamily="49" charset="0"/>
              </a:rPr>
              <a:t>p;  </a:t>
            </a:r>
            <a:r>
              <a:rPr kumimoji="1" lang="en-US" altLang="zh-CN" sz="2800" b="0" dirty="0">
                <a:ea typeface="黑体" pitchFamily="49" charset="-122"/>
                <a:cs typeface="Arial" pitchFamily="34" charset="0"/>
              </a:rPr>
              <a:t>//</a:t>
            </a:r>
            <a:r>
              <a:rPr kumimoji="1" lang="zh-CN" altLang="en-US" sz="2800" dirty="0">
                <a:solidFill>
                  <a:srgbClr val="CC0000"/>
                </a:solidFill>
                <a:effectLst>
                  <a:outerShdw blurRad="38100" dist="38100" dir="2700000" algn="tl">
                    <a:srgbClr val="C0C0C0"/>
                  </a:outerShdw>
                </a:effectLst>
                <a:ea typeface="黑体" pitchFamily="49" charset="-122"/>
                <a:cs typeface="Arial" pitchFamily="34" charset="0"/>
              </a:rPr>
              <a:t>列指针</a:t>
            </a:r>
            <a:r>
              <a:rPr kumimoji="1" lang="zh-CN" altLang="en-US" sz="2800" b="0" dirty="0">
                <a:ea typeface="黑体" pitchFamily="49" charset="-122"/>
                <a:cs typeface="Arial" pitchFamily="34" charset="0"/>
              </a:rPr>
              <a:t>，基类型是</a:t>
            </a:r>
            <a:r>
              <a:rPr kumimoji="1" lang="en-US" altLang="zh-CN" sz="2800" dirty="0" err="1">
                <a:solidFill>
                  <a:srgbClr val="0000CC"/>
                </a:solidFill>
                <a:latin typeface="Courier New" pitchFamily="49" charset="0"/>
                <a:ea typeface="黑体" pitchFamily="49" charset="-122"/>
                <a:cs typeface="Courier New" pitchFamily="49" charset="0"/>
              </a:rPr>
              <a:t>int</a:t>
            </a:r>
            <a:endParaRPr kumimoji="1" lang="en-US" altLang="zh-CN" sz="2800" dirty="0">
              <a:solidFill>
                <a:srgbClr val="CC0000"/>
              </a:solidFill>
              <a:effectLst>
                <a:outerShdw blurRad="38100" dist="38100" dir="2700000" algn="tl">
                  <a:srgbClr val="C0C0C0"/>
                </a:outerShdw>
              </a:effectLst>
              <a:ea typeface="黑体" pitchFamily="49" charset="-122"/>
              <a:cs typeface="Arial" pitchFamily="34" charset="0"/>
            </a:endParaRPr>
          </a:p>
          <a:p>
            <a:pPr marL="374650" indent="-374650" eaLnBrk="1">
              <a:lnSpc>
                <a:spcPct val="110000"/>
              </a:lnSpc>
              <a:spcBef>
                <a:spcPts val="0"/>
              </a:spcBef>
              <a:buClr>
                <a:srgbClr val="FFCC66"/>
              </a:buClr>
              <a:buSzPct val="80000"/>
              <a:buFont typeface="Monotype Sorts"/>
              <a:buChar char=""/>
              <a:defRPr/>
            </a:pPr>
            <a:r>
              <a:rPr kumimoji="1" lang="en-US" altLang="zh-CN" sz="2800" dirty="0">
                <a:effectLst>
                  <a:outerShdw blurRad="38100" dist="38100" dir="2700000" algn="tl">
                    <a:srgbClr val="C0C0C0"/>
                  </a:outerShdw>
                </a:effectLst>
                <a:latin typeface="Courier New" pitchFamily="49" charset="0"/>
              </a:rPr>
              <a:t>p = </a:t>
            </a:r>
            <a:r>
              <a:rPr kumimoji="1" lang="en-US" altLang="zh-CN" sz="2800" dirty="0">
                <a:solidFill>
                  <a:srgbClr val="C00000"/>
                </a:solidFill>
                <a:effectLst>
                  <a:outerShdw blurRad="38100" dist="38100" dir="2700000" algn="tl">
                    <a:srgbClr val="C0C0C0"/>
                  </a:outerShdw>
                </a:effectLst>
                <a:latin typeface="Courier New" pitchFamily="49" charset="0"/>
              </a:rPr>
              <a:t>a[0]</a:t>
            </a:r>
            <a:r>
              <a:rPr kumimoji="1" lang="en-US" altLang="zh-CN" sz="2800" dirty="0">
                <a:effectLst>
                  <a:outerShdw blurRad="38100" dist="38100" dir="2700000" algn="tl">
                    <a:srgbClr val="C0C0C0"/>
                  </a:outerShdw>
                </a:effectLst>
                <a:latin typeface="Courier New" pitchFamily="49" charset="0"/>
              </a:rPr>
              <a:t>; </a:t>
            </a:r>
          </a:p>
          <a:p>
            <a:pPr marL="374650" indent="-374650" eaLnBrk="1">
              <a:lnSpc>
                <a:spcPct val="110000"/>
              </a:lnSpc>
              <a:spcBef>
                <a:spcPts val="0"/>
              </a:spcBef>
              <a:buClr>
                <a:srgbClr val="FFCC66"/>
              </a:buClr>
              <a:buSzPct val="80000"/>
              <a:buFont typeface="Monotype Sorts"/>
              <a:buChar char=""/>
              <a:defRPr/>
            </a:pPr>
            <a:r>
              <a:rPr kumimoji="1" lang="en-US" altLang="zh-CN" sz="2800" dirty="0">
                <a:effectLst>
                  <a:outerShdw blurRad="38100" dist="38100" dir="2700000" algn="tl">
                    <a:srgbClr val="C0C0C0"/>
                  </a:outerShdw>
                </a:effectLst>
                <a:latin typeface="Courier New" pitchFamily="49" charset="0"/>
              </a:rPr>
              <a:t>p = </a:t>
            </a:r>
            <a:r>
              <a:rPr kumimoji="1" lang="en-US" altLang="zh-CN" sz="2800" dirty="0">
                <a:solidFill>
                  <a:srgbClr val="C00000"/>
                </a:solidFill>
                <a:effectLst>
                  <a:outerShdw blurRad="38100" dist="38100" dir="2700000" algn="tl">
                    <a:srgbClr val="C0C0C0"/>
                  </a:outerShdw>
                </a:effectLst>
                <a:latin typeface="Courier New" pitchFamily="49" charset="0"/>
              </a:rPr>
              <a:t>&amp;a[0][0]</a:t>
            </a:r>
            <a:r>
              <a:rPr kumimoji="1" lang="en-US" altLang="zh-CN" sz="2800" dirty="0">
                <a:effectLst>
                  <a:outerShdw blurRad="38100" dist="38100" dir="2700000" algn="tl">
                    <a:srgbClr val="C0C0C0"/>
                  </a:outerShdw>
                </a:effectLst>
                <a:latin typeface="Courier New" pitchFamily="49" charset="0"/>
              </a:rPr>
              <a:t>; </a:t>
            </a:r>
            <a:r>
              <a:rPr kumimoji="1" lang="en-US" altLang="zh-CN" sz="2800" b="0" dirty="0">
                <a:ea typeface="黑体" pitchFamily="49" charset="-122"/>
              </a:rPr>
              <a:t>//</a:t>
            </a:r>
            <a:r>
              <a:rPr kumimoji="1" lang="zh-CN" altLang="en-US" sz="2800" b="0" dirty="0">
                <a:ea typeface="黑体" pitchFamily="49" charset="-122"/>
              </a:rPr>
              <a:t>指向</a:t>
            </a:r>
            <a:r>
              <a:rPr kumimoji="1" lang="zh-CN" altLang="en-US" sz="2800" dirty="0">
                <a:solidFill>
                  <a:srgbClr val="CC0000"/>
                </a:solidFill>
                <a:effectLst>
                  <a:outerShdw blurRad="38100" dist="38100" dir="2700000" algn="tl">
                    <a:srgbClr val="C0C0C0"/>
                  </a:outerShdw>
                </a:effectLst>
                <a:ea typeface="黑体" pitchFamily="49" charset="-122"/>
              </a:rPr>
              <a:t>第</a:t>
            </a:r>
            <a:r>
              <a:rPr kumimoji="1" lang="en-US" altLang="zh-CN" sz="2800" dirty="0">
                <a:solidFill>
                  <a:srgbClr val="CC0000"/>
                </a:solidFill>
                <a:effectLst>
                  <a:outerShdw blurRad="38100" dist="38100" dir="2700000" algn="tl">
                    <a:srgbClr val="C0C0C0"/>
                  </a:outerShdw>
                </a:effectLst>
                <a:ea typeface="黑体" pitchFamily="49" charset="-122"/>
              </a:rPr>
              <a:t>0</a:t>
            </a:r>
            <a:r>
              <a:rPr kumimoji="1" lang="zh-CN" altLang="en-US" sz="2800" dirty="0">
                <a:solidFill>
                  <a:srgbClr val="CC0000"/>
                </a:solidFill>
                <a:effectLst>
                  <a:outerShdw blurRad="38100" dist="38100" dir="2700000" algn="tl">
                    <a:srgbClr val="C0C0C0"/>
                  </a:outerShdw>
                </a:effectLst>
                <a:ea typeface="黑体" pitchFamily="49" charset="-122"/>
              </a:rPr>
              <a:t>行第</a:t>
            </a:r>
            <a:r>
              <a:rPr kumimoji="1" lang="en-US" altLang="zh-CN" sz="2800" dirty="0">
                <a:solidFill>
                  <a:srgbClr val="CC0000"/>
                </a:solidFill>
                <a:effectLst>
                  <a:outerShdw blurRad="38100" dist="38100" dir="2700000" algn="tl">
                    <a:srgbClr val="C0C0C0"/>
                  </a:outerShdw>
                </a:effectLst>
                <a:ea typeface="黑体" pitchFamily="49" charset="-122"/>
              </a:rPr>
              <a:t>0</a:t>
            </a:r>
            <a:r>
              <a:rPr kumimoji="1" lang="zh-CN" altLang="en-US" sz="2800" dirty="0">
                <a:solidFill>
                  <a:srgbClr val="CC0000"/>
                </a:solidFill>
                <a:effectLst>
                  <a:outerShdw blurRad="38100" dist="38100" dir="2700000" algn="tl">
                    <a:srgbClr val="C0C0C0"/>
                  </a:outerShdw>
                </a:effectLst>
                <a:ea typeface="黑体" pitchFamily="49" charset="-122"/>
              </a:rPr>
              <a:t>列</a:t>
            </a:r>
            <a:r>
              <a:rPr lang="zh-CN" altLang="en-US" sz="2800" b="0" dirty="0">
                <a:solidFill>
                  <a:prstClr val="black"/>
                </a:solidFill>
                <a:ea typeface="黑体"/>
                <a:cs typeface="Arial" pitchFamily="34" charset="0"/>
              </a:rPr>
              <a:t>的</a:t>
            </a:r>
            <a:r>
              <a:rPr kumimoji="1" lang="en-US" altLang="zh-CN" sz="2800" dirty="0" err="1">
                <a:solidFill>
                  <a:srgbClr val="0000CC"/>
                </a:solidFill>
                <a:latin typeface="Courier New" pitchFamily="49" charset="0"/>
                <a:ea typeface="黑体"/>
                <a:cs typeface="Courier New" pitchFamily="49" charset="0"/>
              </a:rPr>
              <a:t>int</a:t>
            </a:r>
            <a:r>
              <a:rPr kumimoji="1" lang="zh-CN" altLang="en-US" sz="2800" b="0" dirty="0">
                <a:solidFill>
                  <a:srgbClr val="0000CC"/>
                </a:solidFill>
                <a:latin typeface="Courier New" pitchFamily="49" charset="0"/>
                <a:ea typeface="黑体"/>
                <a:cs typeface="Courier New" pitchFamily="49" charset="0"/>
              </a:rPr>
              <a:t>型</a:t>
            </a:r>
            <a:r>
              <a:rPr lang="zh-CN" altLang="en-US" sz="2800" b="0" dirty="0">
                <a:solidFill>
                  <a:prstClr val="black"/>
                </a:solidFill>
                <a:ea typeface="黑体"/>
                <a:cs typeface="Arial" pitchFamily="34" charset="0"/>
              </a:rPr>
              <a:t>元素</a:t>
            </a:r>
          </a:p>
          <a:p>
            <a:pPr marL="374650" indent="-374650" eaLnBrk="1">
              <a:lnSpc>
                <a:spcPct val="110000"/>
              </a:lnSpc>
              <a:spcBef>
                <a:spcPct val="20000"/>
              </a:spcBef>
              <a:buClr>
                <a:srgbClr val="FFCC66"/>
              </a:buClr>
              <a:buSzPct val="80000"/>
              <a:buFont typeface="Monotype Sorts"/>
              <a:buChar char=""/>
              <a:defRPr/>
            </a:pPr>
            <a:endParaRPr kumimoji="1" lang="zh-CN" altLang="en-US" sz="2800" dirty="0">
              <a:solidFill>
                <a:srgbClr val="CC0000"/>
              </a:solidFill>
              <a:effectLst>
                <a:outerShdw blurRad="38100" dist="38100" dir="2700000" algn="tl">
                  <a:srgbClr val="C0C0C0"/>
                </a:outerShdw>
              </a:effectLst>
              <a:ea typeface="黑体" pitchFamily="49" charset="-122"/>
            </a:endParaRPr>
          </a:p>
          <a:p>
            <a:pPr marL="374650" indent="-374650" eaLnBrk="1">
              <a:lnSpc>
                <a:spcPct val="110000"/>
              </a:lnSpc>
              <a:spcBef>
                <a:spcPct val="20000"/>
              </a:spcBef>
              <a:buClr>
                <a:srgbClr val="FFCC66"/>
              </a:buClr>
              <a:buSzPct val="80000"/>
              <a:buFont typeface="Monotype Sorts"/>
              <a:buChar char=""/>
              <a:defRPr/>
            </a:pPr>
            <a:endParaRPr lang="zh-CN" altLang="en-US" sz="2800" dirty="0">
              <a:solidFill>
                <a:srgbClr val="CC0000"/>
              </a:solidFill>
              <a:effectLst>
                <a:outerShdw blurRad="38100" dist="38100" dir="2700000" algn="tl">
                  <a:srgbClr val="C0C0C0"/>
                </a:outerShdw>
              </a:effectLst>
              <a:ea typeface="黑体" pitchFamily="49" charset="-122"/>
            </a:endParaRPr>
          </a:p>
        </p:txBody>
      </p:sp>
      <p:grpSp>
        <p:nvGrpSpPr>
          <p:cNvPr id="6" name="Group 3"/>
          <p:cNvGrpSpPr>
            <a:grpSpLocks/>
          </p:cNvGrpSpPr>
          <p:nvPr/>
        </p:nvGrpSpPr>
        <p:grpSpPr bwMode="auto">
          <a:xfrm>
            <a:off x="993458" y="1870393"/>
            <a:ext cx="614362" cy="1397000"/>
            <a:chOff x="274" y="1148"/>
            <a:chExt cx="357" cy="880"/>
          </a:xfrm>
        </p:grpSpPr>
        <p:sp>
          <p:nvSpPr>
            <p:cNvPr id="7" name="Text Box 4"/>
            <p:cNvSpPr txBox="1">
              <a:spLocks noChangeArrowheads="1"/>
            </p:cNvSpPr>
            <p:nvPr/>
          </p:nvSpPr>
          <p:spPr bwMode="auto">
            <a:xfrm>
              <a:off x="407" y="114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t>a</a:t>
              </a:r>
            </a:p>
          </p:txBody>
        </p:sp>
        <p:sp>
          <p:nvSpPr>
            <p:cNvPr id="8" name="Text Box 5"/>
            <p:cNvSpPr txBox="1">
              <a:spLocks noChangeArrowheads="1"/>
            </p:cNvSpPr>
            <p:nvPr/>
          </p:nvSpPr>
          <p:spPr bwMode="auto">
            <a:xfrm>
              <a:off x="274" y="1797"/>
              <a:ext cx="3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dirty="0"/>
                <a:t>a+1</a:t>
              </a:r>
            </a:p>
          </p:txBody>
        </p:sp>
      </p:grpSp>
      <p:grpSp>
        <p:nvGrpSpPr>
          <p:cNvPr id="9" name="Group 13"/>
          <p:cNvGrpSpPr>
            <a:grpSpLocks/>
          </p:cNvGrpSpPr>
          <p:nvPr/>
        </p:nvGrpSpPr>
        <p:grpSpPr bwMode="auto">
          <a:xfrm>
            <a:off x="1684020" y="1798955"/>
            <a:ext cx="2006600" cy="2374900"/>
            <a:chOff x="935" y="1104"/>
            <a:chExt cx="1166" cy="1496"/>
          </a:xfrm>
        </p:grpSpPr>
        <p:sp>
          <p:nvSpPr>
            <p:cNvPr id="10" name="Line 14"/>
            <p:cNvSpPr>
              <a:spLocks noChangeShapeType="1"/>
            </p:cNvSpPr>
            <p:nvPr/>
          </p:nvSpPr>
          <p:spPr bwMode="auto">
            <a:xfrm>
              <a:off x="1415" y="1978"/>
              <a:ext cx="686" cy="0"/>
            </a:xfrm>
            <a:prstGeom prst="line">
              <a:avLst/>
            </a:prstGeom>
            <a:noFill/>
            <a:ln w="22225" cap="rnd">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 name="Group 16"/>
            <p:cNvGrpSpPr>
              <a:grpSpLocks/>
            </p:cNvGrpSpPr>
            <p:nvPr/>
          </p:nvGrpSpPr>
          <p:grpSpPr bwMode="auto">
            <a:xfrm>
              <a:off x="1415" y="1330"/>
              <a:ext cx="686" cy="1270"/>
              <a:chOff x="1043" y="1318"/>
              <a:chExt cx="686" cy="1270"/>
            </a:xfrm>
          </p:grpSpPr>
          <p:sp>
            <p:nvSpPr>
              <p:cNvPr id="16" name="Rectangle 17"/>
              <p:cNvSpPr>
                <a:spLocks noChangeArrowheads="1"/>
              </p:cNvSpPr>
              <p:nvPr/>
            </p:nvSpPr>
            <p:spPr bwMode="auto">
              <a:xfrm>
                <a:off x="1043" y="1318"/>
                <a:ext cx="686" cy="1270"/>
              </a:xfrm>
              <a:prstGeom prst="rect">
                <a:avLst/>
              </a:prstGeom>
              <a:noFill/>
              <a:ln w="22225" cap="rnd">
                <a:solidFill>
                  <a:schemeClr val="tx1"/>
                </a:solidFill>
                <a:prstDash val="dash"/>
                <a:miter lim="800000"/>
                <a:headEnd/>
                <a:tailEnd/>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17" name="Text Box 18"/>
              <p:cNvSpPr txBox="1">
                <a:spLocks noChangeArrowheads="1"/>
              </p:cNvSpPr>
              <p:nvPr/>
            </p:nvSpPr>
            <p:spPr bwMode="auto">
              <a:xfrm>
                <a:off x="1193" y="1477"/>
                <a:ext cx="3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dirty="0">
                    <a:solidFill>
                      <a:srgbClr val="CC0000"/>
                    </a:solidFill>
                  </a:rPr>
                  <a:t>a[0]</a:t>
                </a:r>
              </a:p>
            </p:txBody>
          </p:sp>
          <p:sp>
            <p:nvSpPr>
              <p:cNvPr id="18" name="Text Box 19"/>
              <p:cNvSpPr txBox="1">
                <a:spLocks noChangeArrowheads="1"/>
              </p:cNvSpPr>
              <p:nvPr/>
            </p:nvSpPr>
            <p:spPr bwMode="auto">
              <a:xfrm>
                <a:off x="1193" y="2180"/>
                <a:ext cx="3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009900"/>
                    </a:solidFill>
                  </a:rPr>
                  <a:t>a[1]</a:t>
                </a:r>
              </a:p>
            </p:txBody>
          </p:sp>
        </p:grpSp>
        <p:sp>
          <p:nvSpPr>
            <p:cNvPr id="12" name="Line 21"/>
            <p:cNvSpPr>
              <a:spLocks noChangeShapeType="1"/>
            </p:cNvSpPr>
            <p:nvPr/>
          </p:nvSpPr>
          <p:spPr bwMode="auto">
            <a:xfrm>
              <a:off x="993" y="1330"/>
              <a:ext cx="42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22"/>
            <p:cNvSpPr>
              <a:spLocks noChangeShapeType="1"/>
            </p:cNvSpPr>
            <p:nvPr/>
          </p:nvSpPr>
          <p:spPr bwMode="auto">
            <a:xfrm>
              <a:off x="978" y="1974"/>
              <a:ext cx="42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Text Box 24"/>
            <p:cNvSpPr txBox="1">
              <a:spLocks noChangeArrowheads="1"/>
            </p:cNvSpPr>
            <p:nvPr/>
          </p:nvSpPr>
          <p:spPr bwMode="auto">
            <a:xfrm>
              <a:off x="935" y="1104"/>
              <a:ext cx="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dirty="0">
                  <a:solidFill>
                    <a:srgbClr val="C00000"/>
                  </a:solidFill>
                </a:rPr>
                <a:t>&amp;a[0]</a:t>
              </a:r>
            </a:p>
          </p:txBody>
        </p:sp>
        <p:sp>
          <p:nvSpPr>
            <p:cNvPr id="15" name="Text Box 25"/>
            <p:cNvSpPr txBox="1">
              <a:spLocks noChangeArrowheads="1"/>
            </p:cNvSpPr>
            <p:nvPr/>
          </p:nvSpPr>
          <p:spPr bwMode="auto">
            <a:xfrm>
              <a:off x="935" y="1758"/>
              <a:ext cx="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dirty="0">
                  <a:solidFill>
                    <a:srgbClr val="009900"/>
                  </a:solidFill>
                </a:rPr>
                <a:t>&amp;a[1]</a:t>
              </a:r>
            </a:p>
          </p:txBody>
        </p:sp>
      </p:grpSp>
      <p:grpSp>
        <p:nvGrpSpPr>
          <p:cNvPr id="19" name="Group 27"/>
          <p:cNvGrpSpPr>
            <a:grpSpLocks/>
          </p:cNvGrpSpPr>
          <p:nvPr/>
        </p:nvGrpSpPr>
        <p:grpSpPr bwMode="auto">
          <a:xfrm>
            <a:off x="3533458" y="2102168"/>
            <a:ext cx="3935412" cy="1800225"/>
            <a:chOff x="2010" y="1295"/>
            <a:chExt cx="2288" cy="1134"/>
          </a:xfrm>
        </p:grpSpPr>
        <p:sp>
          <p:nvSpPr>
            <p:cNvPr id="20" name="Line 28"/>
            <p:cNvSpPr>
              <a:spLocks noChangeShapeType="1"/>
            </p:cNvSpPr>
            <p:nvPr/>
          </p:nvSpPr>
          <p:spPr bwMode="auto">
            <a:xfrm>
              <a:off x="2020" y="1648"/>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 name="Text Box 30"/>
            <p:cNvSpPr txBox="1">
              <a:spLocks noChangeArrowheads="1"/>
            </p:cNvSpPr>
            <p:nvPr/>
          </p:nvSpPr>
          <p:spPr bwMode="auto">
            <a:xfrm>
              <a:off x="2064" y="1295"/>
              <a:ext cx="6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&amp;a[0][0]</a:t>
              </a:r>
            </a:p>
          </p:txBody>
        </p:sp>
        <p:sp>
          <p:nvSpPr>
            <p:cNvPr id="22" name="Line 32"/>
            <p:cNvSpPr>
              <a:spLocks noChangeShapeType="1"/>
            </p:cNvSpPr>
            <p:nvPr/>
          </p:nvSpPr>
          <p:spPr bwMode="auto">
            <a:xfrm>
              <a:off x="2010" y="2328"/>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Text Box 49"/>
            <p:cNvSpPr txBox="1">
              <a:spLocks noChangeArrowheads="1"/>
            </p:cNvSpPr>
            <p:nvPr/>
          </p:nvSpPr>
          <p:spPr bwMode="auto">
            <a:xfrm>
              <a:off x="2472" y="1512"/>
              <a:ext cx="586" cy="237"/>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a[0] [0]</a:t>
              </a:r>
            </a:p>
          </p:txBody>
        </p:sp>
        <p:sp>
          <p:nvSpPr>
            <p:cNvPr id="24" name="Text Box 50"/>
            <p:cNvSpPr txBox="1">
              <a:spLocks noChangeArrowheads="1"/>
            </p:cNvSpPr>
            <p:nvPr/>
          </p:nvSpPr>
          <p:spPr bwMode="auto">
            <a:xfrm>
              <a:off x="3089" y="1512"/>
              <a:ext cx="586" cy="237"/>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a[0] [1]</a:t>
              </a:r>
            </a:p>
          </p:txBody>
        </p:sp>
        <p:sp>
          <p:nvSpPr>
            <p:cNvPr id="25" name="Text Box 51"/>
            <p:cNvSpPr txBox="1">
              <a:spLocks noChangeArrowheads="1"/>
            </p:cNvSpPr>
            <p:nvPr/>
          </p:nvSpPr>
          <p:spPr bwMode="auto">
            <a:xfrm>
              <a:off x="2472" y="2192"/>
              <a:ext cx="586" cy="237"/>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a[1] [0]</a:t>
              </a:r>
            </a:p>
          </p:txBody>
        </p:sp>
        <p:sp>
          <p:nvSpPr>
            <p:cNvPr id="26" name="Text Box 52"/>
            <p:cNvSpPr txBox="1">
              <a:spLocks noChangeArrowheads="1"/>
            </p:cNvSpPr>
            <p:nvPr/>
          </p:nvSpPr>
          <p:spPr bwMode="auto">
            <a:xfrm>
              <a:off x="3083" y="2192"/>
              <a:ext cx="586" cy="237"/>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a[1] [1]</a:t>
              </a:r>
            </a:p>
          </p:txBody>
        </p:sp>
        <p:sp>
          <p:nvSpPr>
            <p:cNvPr id="27" name="Text Box 58"/>
            <p:cNvSpPr txBox="1">
              <a:spLocks noChangeArrowheads="1"/>
            </p:cNvSpPr>
            <p:nvPr/>
          </p:nvSpPr>
          <p:spPr bwMode="auto">
            <a:xfrm>
              <a:off x="3703" y="1512"/>
              <a:ext cx="595" cy="237"/>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a[0] [2]</a:t>
              </a:r>
            </a:p>
          </p:txBody>
        </p:sp>
        <p:sp>
          <p:nvSpPr>
            <p:cNvPr id="28" name="Text Box 60"/>
            <p:cNvSpPr txBox="1">
              <a:spLocks noChangeArrowheads="1"/>
            </p:cNvSpPr>
            <p:nvPr/>
          </p:nvSpPr>
          <p:spPr bwMode="auto">
            <a:xfrm>
              <a:off x="3696" y="2192"/>
              <a:ext cx="595" cy="237"/>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a[1] [2]</a:t>
              </a:r>
            </a:p>
          </p:txBody>
        </p:sp>
      </p:grpSp>
      <p:cxnSp>
        <p:nvCxnSpPr>
          <p:cNvPr id="29" name="直接连接符 56"/>
          <p:cNvCxnSpPr>
            <a:cxnSpLocks noChangeShapeType="1"/>
          </p:cNvCxnSpPr>
          <p:nvPr/>
        </p:nvCxnSpPr>
        <p:spPr bwMode="auto">
          <a:xfrm>
            <a:off x="7780020" y="2087880"/>
            <a:ext cx="0" cy="1079500"/>
          </a:xfrm>
          <a:prstGeom prst="line">
            <a:avLst/>
          </a:prstGeom>
          <a:noFill/>
          <a:ln w="381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sp>
        <p:nvSpPr>
          <p:cNvPr id="30" name="Rectangle 61"/>
          <p:cNvSpPr>
            <a:spLocks noChangeArrowheads="1"/>
          </p:cNvSpPr>
          <p:nvPr/>
        </p:nvSpPr>
        <p:spPr bwMode="auto">
          <a:xfrm>
            <a:off x="7948295" y="2446655"/>
            <a:ext cx="2182813" cy="1512888"/>
          </a:xfrm>
          <a:prstGeom prst="rect">
            <a:avLst/>
          </a:prstGeom>
          <a:solidFill>
            <a:schemeClr val="bg1"/>
          </a:solidFill>
          <a:ln w="28575">
            <a:solidFill>
              <a:srgbClr val="009900"/>
            </a:solidFill>
            <a:miter lim="800000"/>
            <a:headEnd/>
            <a:tailEnd/>
          </a:ln>
        </p:spPr>
        <p:txBody>
          <a:bodyPr wrap="none" anchor="ct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algn="ctr" eaLnBrk="1">
              <a:lnSpc>
                <a:spcPct val="95000"/>
              </a:lnSpc>
              <a:spcBef>
                <a:spcPct val="20000"/>
              </a:spcBef>
              <a:spcAft>
                <a:spcPts val="588"/>
              </a:spcAft>
              <a:buClr>
                <a:srgbClr val="FFCC66"/>
              </a:buClr>
              <a:buSzPct val="80000"/>
              <a:buFont typeface="Monotype Sorts"/>
              <a:buNone/>
            </a:pPr>
            <a:r>
              <a:rPr lang="en-US" altLang="zh-CN" sz="2400">
                <a:solidFill>
                  <a:srgbClr val="000066"/>
                </a:solidFill>
                <a:latin typeface="Courier New" panose="02070309020205020404" pitchFamily="49" charset="0"/>
                <a:ea typeface="楷体_GB2312" pitchFamily="49" charset="-122"/>
              </a:rPr>
              <a:t>a[i][j]</a:t>
            </a:r>
          </a:p>
          <a:p>
            <a:pPr algn="ctr" eaLnBrk="1">
              <a:lnSpc>
                <a:spcPct val="95000"/>
              </a:lnSpc>
              <a:spcBef>
                <a:spcPct val="20000"/>
              </a:spcBef>
              <a:spcAft>
                <a:spcPts val="588"/>
              </a:spcAft>
              <a:buClr>
                <a:srgbClr val="FFCC66"/>
              </a:buClr>
              <a:buSzPct val="80000"/>
              <a:buFont typeface="Wingdings" panose="05000000000000000000" pitchFamily="2" charset="2"/>
              <a:buNone/>
            </a:pPr>
            <a:r>
              <a:rPr lang="en-US" altLang="zh-CN" sz="2400">
                <a:solidFill>
                  <a:srgbClr val="000066"/>
                </a:solidFill>
                <a:latin typeface="Courier New" panose="02070309020205020404" pitchFamily="49" charset="0"/>
                <a:ea typeface="楷体_GB2312" pitchFamily="49" charset="-122"/>
              </a:rPr>
              <a:t>*(p+</a:t>
            </a:r>
            <a:r>
              <a:rPr lang="en-US" altLang="zh-CN" sz="2400">
                <a:solidFill>
                  <a:srgbClr val="C00000"/>
                </a:solidFill>
                <a:latin typeface="Courier New" panose="02070309020205020404" pitchFamily="49" charset="0"/>
                <a:ea typeface="楷体_GB2312" pitchFamily="49" charset="-122"/>
              </a:rPr>
              <a:t>i*n+j</a:t>
            </a:r>
            <a:r>
              <a:rPr lang="en-US" altLang="zh-CN" sz="2400">
                <a:solidFill>
                  <a:srgbClr val="000066"/>
                </a:solidFill>
                <a:latin typeface="Courier New" panose="02070309020205020404" pitchFamily="49" charset="0"/>
                <a:ea typeface="楷体_GB2312" pitchFamily="49" charset="-122"/>
              </a:rPr>
              <a:t>)</a:t>
            </a:r>
          </a:p>
          <a:p>
            <a:pPr algn="ctr" eaLnBrk="1">
              <a:lnSpc>
                <a:spcPct val="95000"/>
              </a:lnSpc>
              <a:spcBef>
                <a:spcPct val="20000"/>
              </a:spcBef>
              <a:spcAft>
                <a:spcPts val="588"/>
              </a:spcAft>
              <a:buClr>
                <a:srgbClr val="FFCC66"/>
              </a:buClr>
              <a:buSzPct val="80000"/>
              <a:buFont typeface="Monotype Sorts"/>
              <a:buNone/>
            </a:pPr>
            <a:r>
              <a:rPr lang="en-US" altLang="zh-CN" sz="2400">
                <a:solidFill>
                  <a:srgbClr val="000066"/>
                </a:solidFill>
                <a:latin typeface="Courier New" panose="02070309020205020404" pitchFamily="49" charset="0"/>
                <a:ea typeface="楷体_GB2312" pitchFamily="49" charset="-122"/>
              </a:rPr>
              <a:t>p[</a:t>
            </a:r>
            <a:r>
              <a:rPr lang="en-US" altLang="zh-CN" sz="2400">
                <a:solidFill>
                  <a:srgbClr val="CC0000"/>
                </a:solidFill>
                <a:latin typeface="Courier New" panose="02070309020205020404" pitchFamily="49" charset="0"/>
                <a:ea typeface="楷体_GB2312" pitchFamily="49" charset="-122"/>
              </a:rPr>
              <a:t>i*n+j</a:t>
            </a:r>
            <a:r>
              <a:rPr lang="en-US" altLang="zh-CN" sz="2400">
                <a:solidFill>
                  <a:srgbClr val="000066"/>
                </a:solidFill>
                <a:latin typeface="Courier New" panose="02070309020205020404" pitchFamily="49" charset="0"/>
                <a:ea typeface="楷体_GB2312" pitchFamily="49" charset="-122"/>
              </a:rPr>
              <a:t>]</a:t>
            </a:r>
          </a:p>
        </p:txBody>
      </p:sp>
      <p:sp>
        <p:nvSpPr>
          <p:cNvPr id="31"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2</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、指针与二维数组间的关系</a:t>
            </a:r>
          </a:p>
        </p:txBody>
      </p:sp>
    </p:spTree>
    <p:extLst>
      <p:ext uri="{BB962C8B-B14F-4D97-AF65-F5344CB8AC3E}">
        <p14:creationId xmlns:p14="http://schemas.microsoft.com/office/powerpoint/2010/main" val="2211531076"/>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txBox="1">
            <a:spLocks/>
          </p:cNvSpPr>
          <p:nvPr/>
        </p:nvSpPr>
        <p:spPr>
          <a:xfrm>
            <a:off x="882968" y="1262063"/>
            <a:ext cx="3263900" cy="203835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zh-CN">
                <a:latin typeface="楷体_GB2312" pitchFamily="49" charset="-122"/>
              </a:rPr>
              <a:t>逐</a:t>
            </a:r>
            <a:r>
              <a:rPr kumimoji="1" lang="zh-CN" altLang="en-US">
                <a:latin typeface="楷体_GB2312" pitchFamily="49" charset="-122"/>
              </a:rPr>
              <a:t>列</a:t>
            </a:r>
            <a:r>
              <a:rPr kumimoji="1" lang="zh-CN" altLang="zh-CN">
                <a:latin typeface="楷体_GB2312" pitchFamily="49" charset="-122"/>
              </a:rPr>
              <a:t>查找</a:t>
            </a:r>
            <a:endParaRPr kumimoji="1" lang="en-US" altLang="zh-CN">
              <a:latin typeface="楷体_GB2312" pitchFamily="49" charset="-122"/>
            </a:endParaRPr>
          </a:p>
          <a:p>
            <a:r>
              <a:rPr kumimoji="1" lang="zh-CN" altLang="en-US">
                <a:latin typeface="楷体_GB2312" pitchFamily="49" charset="-122"/>
              </a:rPr>
              <a:t>根据</a:t>
            </a:r>
            <a:r>
              <a:rPr kumimoji="1" lang="zh-CN" altLang="zh-CN"/>
              <a:t>相对偏移量</a:t>
            </a:r>
            <a:endParaRPr kumimoji="1" lang="en-US" altLang="zh-CN" dirty="0">
              <a:latin typeface="楷体_GB2312" pitchFamily="49" charset="-122"/>
            </a:endParaRPr>
          </a:p>
        </p:txBody>
      </p:sp>
      <p:sp>
        <p:nvSpPr>
          <p:cNvPr id="5" name="Rectangle 3"/>
          <p:cNvSpPr txBox="1">
            <a:spLocks noChangeArrowheads="1"/>
          </p:cNvSpPr>
          <p:nvPr/>
        </p:nvSpPr>
        <p:spPr bwMode="auto">
          <a:xfrm>
            <a:off x="3978593" y="1262063"/>
            <a:ext cx="6553200" cy="261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a:lnSpc>
                <a:spcPct val="90000"/>
              </a:lnSpc>
              <a:spcBef>
                <a:spcPts val="300"/>
              </a:spcBef>
              <a:buClr>
                <a:schemeClr val="tx2"/>
              </a:buClr>
              <a:buSzPct val="50000"/>
              <a:buFont typeface="Monotype Sorts"/>
              <a:buNone/>
            </a:pPr>
            <a:r>
              <a:rPr kumimoji="1" lang="en-US" altLang="zh-CN" sz="2400" dirty="0">
                <a:latin typeface="Courier New" panose="02070309020205020404" pitchFamily="49" charset="0"/>
              </a:rPr>
              <a:t>for (</a:t>
            </a:r>
            <a:r>
              <a:rPr kumimoji="1" lang="en-US" altLang="zh-CN" sz="2400" dirty="0" err="1">
                <a:latin typeface="Courier New" panose="02070309020205020404" pitchFamily="49" charset="0"/>
              </a:rPr>
              <a:t>i</a:t>
            </a:r>
            <a:r>
              <a:rPr kumimoji="1" lang="en-US" altLang="zh-CN" sz="2400" dirty="0">
                <a:latin typeface="Courier New" panose="02070309020205020404" pitchFamily="49" charset="0"/>
              </a:rPr>
              <a:t>=0; </a:t>
            </a:r>
            <a:r>
              <a:rPr kumimoji="1" lang="en-US" altLang="zh-CN" sz="2400" dirty="0" err="1">
                <a:latin typeface="Courier New" panose="02070309020205020404" pitchFamily="49" charset="0"/>
              </a:rPr>
              <a:t>i</a:t>
            </a:r>
            <a:r>
              <a:rPr kumimoji="1" lang="en-US" altLang="zh-CN" sz="2400" dirty="0">
                <a:latin typeface="Courier New" panose="02070309020205020404" pitchFamily="49" charset="0"/>
              </a:rPr>
              <a:t>&lt;m; </a:t>
            </a:r>
            <a:r>
              <a:rPr kumimoji="1" lang="en-US" altLang="zh-CN" sz="2400" dirty="0" err="1">
                <a:latin typeface="Courier New" panose="02070309020205020404" pitchFamily="49" charset="0"/>
              </a:rPr>
              <a:t>i</a:t>
            </a:r>
            <a:r>
              <a:rPr kumimoji="1" lang="en-US" altLang="zh-CN" sz="2400" dirty="0">
                <a:latin typeface="Courier New" panose="02070309020205020404" pitchFamily="49" charset="0"/>
              </a:rPr>
              <a:t>++)</a:t>
            </a:r>
          </a:p>
          <a:p>
            <a:pPr eaLnBrk="1">
              <a:lnSpc>
                <a:spcPct val="90000"/>
              </a:lnSpc>
              <a:spcBef>
                <a:spcPts val="300"/>
              </a:spcBef>
              <a:buClr>
                <a:schemeClr val="tx2"/>
              </a:buClr>
              <a:buSzPct val="50000"/>
              <a:buFont typeface="Monotype Sorts"/>
              <a:buNone/>
            </a:pPr>
            <a:r>
              <a:rPr kumimoji="1" lang="en-US" altLang="zh-CN" sz="2400" dirty="0">
                <a:latin typeface="Courier New" panose="02070309020205020404" pitchFamily="49" charset="0"/>
              </a:rPr>
              <a:t>{</a:t>
            </a:r>
          </a:p>
          <a:p>
            <a:pPr eaLnBrk="1">
              <a:lnSpc>
                <a:spcPct val="90000"/>
              </a:lnSpc>
              <a:spcBef>
                <a:spcPts val="300"/>
              </a:spcBef>
              <a:buClr>
                <a:schemeClr val="tx2"/>
              </a:buClr>
              <a:buSzPct val="50000"/>
              <a:buFont typeface="Monotype Sorts"/>
              <a:buNone/>
            </a:pPr>
            <a:r>
              <a:rPr kumimoji="1" lang="en-US" altLang="zh-CN" sz="2400" dirty="0">
                <a:latin typeface="Courier New" panose="02070309020205020404" pitchFamily="49" charset="0"/>
              </a:rPr>
              <a:t>	for (j=0; j&lt;n; j++)</a:t>
            </a:r>
          </a:p>
          <a:p>
            <a:pPr eaLnBrk="1">
              <a:lnSpc>
                <a:spcPct val="90000"/>
              </a:lnSpc>
              <a:spcBef>
                <a:spcPts val="300"/>
              </a:spcBef>
              <a:buClr>
                <a:schemeClr val="tx2"/>
              </a:buClr>
              <a:buSzPct val="50000"/>
              <a:buFont typeface="Monotype Sorts"/>
              <a:buNone/>
            </a:pPr>
            <a:r>
              <a:rPr kumimoji="1" lang="en-US" altLang="zh-CN" sz="2400" dirty="0">
                <a:latin typeface="Courier New" panose="02070309020205020404" pitchFamily="49" charset="0"/>
              </a:rPr>
              <a:t>  {</a:t>
            </a:r>
          </a:p>
          <a:p>
            <a:pPr eaLnBrk="1">
              <a:lnSpc>
                <a:spcPct val="90000"/>
              </a:lnSpc>
              <a:spcBef>
                <a:spcPts val="300"/>
              </a:spcBef>
              <a:buClr>
                <a:schemeClr val="tx2"/>
              </a:buClr>
              <a:buSzPct val="50000"/>
              <a:buFont typeface="Wingdings" panose="05000000000000000000" pitchFamily="2" charset="2"/>
              <a:buNone/>
            </a:pPr>
            <a:r>
              <a:rPr kumimoji="1" lang="en-US" altLang="zh-CN" sz="2400" dirty="0">
                <a:latin typeface="Courier New" panose="02070309020205020404" pitchFamily="49" charset="0"/>
              </a:rPr>
              <a:t>     </a:t>
            </a:r>
            <a:r>
              <a:rPr kumimoji="1" lang="en-US" altLang="zh-CN" sz="2400" dirty="0" err="1">
                <a:latin typeface="Courier New" panose="02070309020205020404" pitchFamily="49" charset="0"/>
              </a:rPr>
              <a:t>printf</a:t>
            </a:r>
            <a:r>
              <a:rPr kumimoji="1" lang="en-US" altLang="zh-CN" sz="2400" dirty="0">
                <a:latin typeface="Courier New" panose="02070309020205020404" pitchFamily="49" charset="0"/>
              </a:rPr>
              <a:t>(</a:t>
            </a:r>
            <a:r>
              <a:rPr lang="en-US" altLang="zh-CN" sz="3200" dirty="0">
                <a:latin typeface="Courier New" panose="02070309020205020404" pitchFamily="49" charset="0"/>
              </a:rPr>
              <a:t>"</a:t>
            </a:r>
            <a:r>
              <a:rPr kumimoji="1" lang="en-US" altLang="zh-CN" sz="2400" dirty="0">
                <a:latin typeface="Courier New" panose="02070309020205020404" pitchFamily="49" charset="0"/>
              </a:rPr>
              <a:t>%d</a:t>
            </a:r>
            <a:r>
              <a:rPr lang="en-US" altLang="zh-CN" sz="3200" dirty="0">
                <a:latin typeface="Courier New" panose="02070309020205020404" pitchFamily="49" charset="0"/>
              </a:rPr>
              <a:t>"</a:t>
            </a:r>
            <a:r>
              <a:rPr kumimoji="1" lang="en-US" altLang="zh-CN" sz="2400" dirty="0">
                <a:latin typeface="Courier New" panose="02070309020205020404" pitchFamily="49" charset="0"/>
              </a:rPr>
              <a:t>,</a:t>
            </a:r>
            <a:r>
              <a:rPr kumimoji="1" lang="en-US" altLang="zh-CN" sz="2400" dirty="0">
                <a:solidFill>
                  <a:srgbClr val="333399"/>
                </a:solidFill>
                <a:latin typeface="Courier New" panose="02070309020205020404" pitchFamily="49" charset="0"/>
              </a:rPr>
              <a:t> *(</a:t>
            </a:r>
            <a:r>
              <a:rPr kumimoji="1" lang="en-US" altLang="zh-CN" sz="2400" dirty="0" err="1">
                <a:solidFill>
                  <a:srgbClr val="333399"/>
                </a:solidFill>
                <a:latin typeface="Courier New" panose="02070309020205020404" pitchFamily="49" charset="0"/>
              </a:rPr>
              <a:t>p+</a:t>
            </a:r>
            <a:r>
              <a:rPr kumimoji="1" lang="en-US" altLang="zh-CN" sz="2400" dirty="0" err="1">
                <a:solidFill>
                  <a:srgbClr val="C00000"/>
                </a:solidFill>
                <a:latin typeface="Courier New" panose="02070309020205020404" pitchFamily="49" charset="0"/>
              </a:rPr>
              <a:t>i</a:t>
            </a:r>
            <a:r>
              <a:rPr kumimoji="1" lang="en-US" altLang="zh-CN" sz="2400" dirty="0">
                <a:solidFill>
                  <a:srgbClr val="C00000"/>
                </a:solidFill>
                <a:latin typeface="Courier New" panose="02070309020205020404" pitchFamily="49" charset="0"/>
              </a:rPr>
              <a:t>*</a:t>
            </a:r>
            <a:r>
              <a:rPr kumimoji="1" lang="en-US" altLang="zh-CN" sz="2400" dirty="0" err="1">
                <a:solidFill>
                  <a:srgbClr val="C00000"/>
                </a:solidFill>
                <a:latin typeface="Courier New" panose="02070309020205020404" pitchFamily="49" charset="0"/>
              </a:rPr>
              <a:t>n+j</a:t>
            </a:r>
            <a:r>
              <a:rPr kumimoji="1" lang="en-US" altLang="zh-CN" sz="2400" dirty="0">
                <a:solidFill>
                  <a:srgbClr val="333399"/>
                </a:solidFill>
                <a:latin typeface="Courier New" panose="02070309020205020404" pitchFamily="49" charset="0"/>
              </a:rPr>
              <a:t>)</a:t>
            </a:r>
            <a:r>
              <a:rPr kumimoji="1" lang="en-US" altLang="zh-CN" sz="2400" dirty="0">
                <a:latin typeface="Courier New" panose="02070309020205020404" pitchFamily="49" charset="0"/>
              </a:rPr>
              <a:t>);</a:t>
            </a:r>
          </a:p>
          <a:p>
            <a:pPr eaLnBrk="1">
              <a:lnSpc>
                <a:spcPct val="90000"/>
              </a:lnSpc>
              <a:spcBef>
                <a:spcPts val="300"/>
              </a:spcBef>
              <a:buClr>
                <a:schemeClr val="tx2"/>
              </a:buClr>
              <a:buSzPct val="50000"/>
              <a:buFont typeface="Monotype Sorts"/>
              <a:buNone/>
            </a:pPr>
            <a:r>
              <a:rPr kumimoji="1" lang="en-US" altLang="zh-CN" sz="2400" dirty="0">
                <a:solidFill>
                  <a:srgbClr val="000066"/>
                </a:solidFill>
                <a:latin typeface="Courier New" panose="02070309020205020404" pitchFamily="49" charset="0"/>
              </a:rPr>
              <a:t>  </a:t>
            </a:r>
            <a:r>
              <a:rPr kumimoji="1" lang="en-US" altLang="zh-CN" sz="2400" dirty="0">
                <a:latin typeface="Courier New" panose="02070309020205020404" pitchFamily="49" charset="0"/>
              </a:rPr>
              <a:t>}</a:t>
            </a:r>
          </a:p>
          <a:p>
            <a:pPr eaLnBrk="1">
              <a:lnSpc>
                <a:spcPct val="90000"/>
              </a:lnSpc>
              <a:spcBef>
                <a:spcPts val="300"/>
              </a:spcBef>
              <a:buClr>
                <a:schemeClr val="tx2"/>
              </a:buClr>
              <a:buSzPct val="50000"/>
              <a:buFont typeface="Monotype Sorts"/>
              <a:buNone/>
            </a:pPr>
            <a:r>
              <a:rPr kumimoji="1" lang="en-US" altLang="zh-CN" sz="2400" dirty="0">
                <a:latin typeface="Courier New" panose="02070309020205020404" pitchFamily="49" charset="0"/>
              </a:rPr>
              <a:t>}</a:t>
            </a:r>
            <a:endParaRPr kumimoji="1" lang="zh-CN" altLang="en-US" sz="3200" dirty="0">
              <a:latin typeface="楷体_GB2312" pitchFamily="49" charset="-122"/>
              <a:ea typeface="楷体_GB2312" pitchFamily="49" charset="-122"/>
            </a:endParaRPr>
          </a:p>
          <a:p>
            <a:pPr eaLnBrk="1">
              <a:lnSpc>
                <a:spcPct val="90000"/>
              </a:lnSpc>
              <a:spcBef>
                <a:spcPct val="20000"/>
              </a:spcBef>
              <a:buClr>
                <a:schemeClr val="tx2"/>
              </a:buClr>
              <a:buSzPct val="50000"/>
              <a:buFont typeface="Wingdings" panose="05000000000000000000" pitchFamily="2" charset="2"/>
              <a:buChar char="n"/>
            </a:pPr>
            <a:endParaRPr kumimoji="1" lang="zh-CN" altLang="en-US" sz="2800" dirty="0">
              <a:solidFill>
                <a:srgbClr val="000066"/>
              </a:solidFill>
              <a:latin typeface="黑体" panose="02010609060101010101" pitchFamily="49" charset="-122"/>
              <a:ea typeface="黑体" panose="02010609060101010101" pitchFamily="49" charset="-122"/>
            </a:endParaRPr>
          </a:p>
          <a:p>
            <a:pPr eaLnBrk="1">
              <a:lnSpc>
                <a:spcPct val="90000"/>
              </a:lnSpc>
              <a:spcBef>
                <a:spcPct val="20000"/>
              </a:spcBef>
              <a:buClr>
                <a:schemeClr val="tx2"/>
              </a:buClr>
              <a:buSzPct val="50000"/>
              <a:buFont typeface="Monotype Sorts"/>
              <a:buNone/>
            </a:pPr>
            <a:endParaRPr kumimoji="1" lang="zh-CN" altLang="en-US" dirty="0">
              <a:solidFill>
                <a:schemeClr val="accent2"/>
              </a:solidFill>
              <a:latin typeface="Franklin Gothic Book" panose="020B0503020102020204" pitchFamily="34" charset="0"/>
              <a:ea typeface="黑体" panose="02010609060101010101" pitchFamily="49" charset="-122"/>
            </a:endParaRPr>
          </a:p>
        </p:txBody>
      </p:sp>
      <p:grpSp>
        <p:nvGrpSpPr>
          <p:cNvPr id="6" name="Group 3"/>
          <p:cNvGrpSpPr>
            <a:grpSpLocks/>
          </p:cNvGrpSpPr>
          <p:nvPr/>
        </p:nvGrpSpPr>
        <p:grpSpPr bwMode="auto">
          <a:xfrm>
            <a:off x="667385" y="3993833"/>
            <a:ext cx="614363" cy="1397000"/>
            <a:chOff x="274" y="1148"/>
            <a:chExt cx="357" cy="880"/>
          </a:xfrm>
        </p:grpSpPr>
        <p:sp>
          <p:nvSpPr>
            <p:cNvPr id="7" name="Text Box 4"/>
            <p:cNvSpPr txBox="1">
              <a:spLocks noChangeArrowheads="1"/>
            </p:cNvSpPr>
            <p:nvPr/>
          </p:nvSpPr>
          <p:spPr bwMode="auto">
            <a:xfrm>
              <a:off x="407" y="1148"/>
              <a:ext cx="18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t>a</a:t>
              </a:r>
            </a:p>
          </p:txBody>
        </p:sp>
        <p:sp>
          <p:nvSpPr>
            <p:cNvPr id="8" name="Text Box 5"/>
            <p:cNvSpPr txBox="1">
              <a:spLocks noChangeArrowheads="1"/>
            </p:cNvSpPr>
            <p:nvPr/>
          </p:nvSpPr>
          <p:spPr bwMode="auto">
            <a:xfrm>
              <a:off x="274" y="1797"/>
              <a:ext cx="3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t>a+1</a:t>
              </a:r>
            </a:p>
          </p:txBody>
        </p:sp>
      </p:grpSp>
      <p:grpSp>
        <p:nvGrpSpPr>
          <p:cNvPr id="9" name="Group 13"/>
          <p:cNvGrpSpPr>
            <a:grpSpLocks/>
          </p:cNvGrpSpPr>
          <p:nvPr/>
        </p:nvGrpSpPr>
        <p:grpSpPr bwMode="auto">
          <a:xfrm>
            <a:off x="1359535" y="3922395"/>
            <a:ext cx="2005013" cy="2374900"/>
            <a:chOff x="935" y="1104"/>
            <a:chExt cx="1166" cy="1496"/>
          </a:xfrm>
        </p:grpSpPr>
        <p:sp>
          <p:nvSpPr>
            <p:cNvPr id="10" name="Line 14"/>
            <p:cNvSpPr>
              <a:spLocks noChangeShapeType="1"/>
            </p:cNvSpPr>
            <p:nvPr/>
          </p:nvSpPr>
          <p:spPr bwMode="auto">
            <a:xfrm>
              <a:off x="1415" y="1978"/>
              <a:ext cx="686" cy="0"/>
            </a:xfrm>
            <a:prstGeom prst="line">
              <a:avLst/>
            </a:prstGeom>
            <a:noFill/>
            <a:ln w="22225" cap="rnd">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 name="Group 16"/>
            <p:cNvGrpSpPr>
              <a:grpSpLocks/>
            </p:cNvGrpSpPr>
            <p:nvPr/>
          </p:nvGrpSpPr>
          <p:grpSpPr bwMode="auto">
            <a:xfrm>
              <a:off x="1415" y="1330"/>
              <a:ext cx="686" cy="1270"/>
              <a:chOff x="1043" y="1318"/>
              <a:chExt cx="686" cy="1270"/>
            </a:xfrm>
          </p:grpSpPr>
          <p:sp>
            <p:nvSpPr>
              <p:cNvPr id="16" name="Rectangle 17"/>
              <p:cNvSpPr>
                <a:spLocks noChangeArrowheads="1"/>
              </p:cNvSpPr>
              <p:nvPr/>
            </p:nvSpPr>
            <p:spPr bwMode="auto">
              <a:xfrm>
                <a:off x="1043" y="1318"/>
                <a:ext cx="686" cy="1270"/>
              </a:xfrm>
              <a:prstGeom prst="rect">
                <a:avLst/>
              </a:prstGeom>
              <a:noFill/>
              <a:ln w="22225" cap="rnd">
                <a:solidFill>
                  <a:schemeClr val="tx1"/>
                </a:solidFill>
                <a:prstDash val="dash"/>
                <a:miter lim="800000"/>
                <a:headEnd/>
                <a:tailEnd/>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17" name="Text Box 18"/>
              <p:cNvSpPr txBox="1">
                <a:spLocks noChangeArrowheads="1"/>
              </p:cNvSpPr>
              <p:nvPr/>
            </p:nvSpPr>
            <p:spPr bwMode="auto">
              <a:xfrm>
                <a:off x="1193" y="1477"/>
                <a:ext cx="3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a[0]</a:t>
                </a:r>
              </a:p>
            </p:txBody>
          </p:sp>
          <p:sp>
            <p:nvSpPr>
              <p:cNvPr id="18" name="Text Box 19"/>
              <p:cNvSpPr txBox="1">
                <a:spLocks noChangeArrowheads="1"/>
              </p:cNvSpPr>
              <p:nvPr/>
            </p:nvSpPr>
            <p:spPr bwMode="auto">
              <a:xfrm>
                <a:off x="1193" y="2180"/>
                <a:ext cx="37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a:solidFill>
                      <a:srgbClr val="000000"/>
                    </a:solidFill>
                    <a:prstDash val="sysDot"/>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009900"/>
                    </a:solidFill>
                  </a:rPr>
                  <a:t>a[1]</a:t>
                </a:r>
              </a:p>
            </p:txBody>
          </p:sp>
        </p:grpSp>
        <p:sp>
          <p:nvSpPr>
            <p:cNvPr id="12" name="Line 21"/>
            <p:cNvSpPr>
              <a:spLocks noChangeShapeType="1"/>
            </p:cNvSpPr>
            <p:nvPr/>
          </p:nvSpPr>
          <p:spPr bwMode="auto">
            <a:xfrm>
              <a:off x="993" y="1330"/>
              <a:ext cx="42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Line 22"/>
            <p:cNvSpPr>
              <a:spLocks noChangeShapeType="1"/>
            </p:cNvSpPr>
            <p:nvPr/>
          </p:nvSpPr>
          <p:spPr bwMode="auto">
            <a:xfrm>
              <a:off x="978" y="1974"/>
              <a:ext cx="42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Text Box 24"/>
            <p:cNvSpPr txBox="1">
              <a:spLocks noChangeArrowheads="1"/>
            </p:cNvSpPr>
            <p:nvPr/>
          </p:nvSpPr>
          <p:spPr bwMode="auto">
            <a:xfrm>
              <a:off x="935" y="1104"/>
              <a:ext cx="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&amp;a[0]</a:t>
              </a:r>
            </a:p>
          </p:txBody>
        </p:sp>
        <p:sp>
          <p:nvSpPr>
            <p:cNvPr id="15" name="Text Box 25"/>
            <p:cNvSpPr txBox="1">
              <a:spLocks noChangeArrowheads="1"/>
            </p:cNvSpPr>
            <p:nvPr/>
          </p:nvSpPr>
          <p:spPr bwMode="auto">
            <a:xfrm>
              <a:off x="935" y="1758"/>
              <a:ext cx="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009900"/>
                  </a:solidFill>
                </a:rPr>
                <a:t>&amp;a[1]</a:t>
              </a:r>
            </a:p>
          </p:txBody>
        </p:sp>
      </p:grpSp>
      <p:sp>
        <p:nvSpPr>
          <p:cNvPr id="19" name="Rectangle 3"/>
          <p:cNvSpPr txBox="1">
            <a:spLocks noChangeArrowheads="1"/>
          </p:cNvSpPr>
          <p:nvPr/>
        </p:nvSpPr>
        <p:spPr bwMode="auto">
          <a:xfrm>
            <a:off x="557848" y="2480945"/>
            <a:ext cx="3040062" cy="1152525"/>
          </a:xfrm>
          <a:prstGeom prst="rect">
            <a:avLst/>
          </a:prstGeom>
          <a:noFill/>
          <a:ln w="9525">
            <a:noFill/>
            <a:miter lim="800000"/>
            <a:headEnd/>
            <a:tailEnd/>
          </a:ln>
          <a:effectLst/>
        </p:spPr>
        <p:txBody>
          <a:bodyPr lIns="92075" tIns="46037" rIns="92075" bIns="46037"/>
          <a:lstStyle/>
          <a:p>
            <a:pPr eaLnBrk="1">
              <a:lnSpc>
                <a:spcPct val="110000"/>
              </a:lnSpc>
              <a:spcBef>
                <a:spcPts val="0"/>
              </a:spcBef>
              <a:buClr>
                <a:srgbClr val="FFCC66"/>
              </a:buClr>
              <a:buSzPct val="80000"/>
              <a:buFont typeface="Wingdings" panose="05000000000000000000" pitchFamily="2" charset="2"/>
              <a:buNone/>
              <a:defRPr/>
            </a:pPr>
            <a:r>
              <a:rPr kumimoji="1" lang="en-US" altLang="zh-CN" sz="2400" dirty="0" err="1">
                <a:solidFill>
                  <a:srgbClr val="0000CC"/>
                </a:solidFill>
                <a:effectLst>
                  <a:outerShdw blurRad="38100" dist="38100" dir="2700000" algn="tl">
                    <a:srgbClr val="C0C0C0"/>
                  </a:outerShdw>
                </a:effectLst>
                <a:latin typeface="Courier New" pitchFamily="49" charset="0"/>
              </a:rPr>
              <a:t>int</a:t>
            </a:r>
            <a:r>
              <a:rPr kumimoji="1" lang="en-US" altLang="zh-CN" sz="2400" dirty="0">
                <a:solidFill>
                  <a:srgbClr val="C00000"/>
                </a:solidFill>
                <a:effectLst>
                  <a:outerShdw blurRad="38100" dist="38100" dir="2700000" algn="tl">
                    <a:srgbClr val="C0C0C0"/>
                  </a:outerShdw>
                </a:effectLst>
                <a:latin typeface="Courier New" pitchFamily="49" charset="0"/>
              </a:rPr>
              <a:t> </a:t>
            </a:r>
            <a:r>
              <a:rPr kumimoji="1" lang="zh-CN" altLang="en-US" sz="2400" dirty="0">
                <a:effectLst>
                  <a:outerShdw blurRad="38100" dist="38100" dir="2700000" algn="tl">
                    <a:srgbClr val="C0C0C0"/>
                  </a:outerShdw>
                </a:effectLst>
                <a:latin typeface="Courier New" pitchFamily="49" charset="0"/>
              </a:rPr>
              <a:t>*</a:t>
            </a:r>
            <a:r>
              <a:rPr kumimoji="1" lang="en-US" altLang="zh-CN" sz="2400" dirty="0">
                <a:effectLst>
                  <a:outerShdw blurRad="38100" dist="38100" dir="2700000" algn="tl">
                    <a:srgbClr val="C0C0C0"/>
                  </a:outerShdw>
                </a:effectLst>
                <a:latin typeface="Courier New" pitchFamily="49" charset="0"/>
              </a:rPr>
              <a:t>p; </a:t>
            </a:r>
          </a:p>
          <a:p>
            <a:pPr eaLnBrk="1">
              <a:lnSpc>
                <a:spcPct val="110000"/>
              </a:lnSpc>
              <a:spcBef>
                <a:spcPts val="0"/>
              </a:spcBef>
              <a:buClr>
                <a:srgbClr val="FFCC66"/>
              </a:buClr>
              <a:buSzPct val="80000"/>
              <a:buFont typeface="Wingdings" panose="05000000000000000000" pitchFamily="2" charset="2"/>
              <a:buNone/>
              <a:defRPr/>
            </a:pPr>
            <a:r>
              <a:rPr kumimoji="1" lang="en-US" altLang="zh-CN" sz="2400" dirty="0">
                <a:effectLst>
                  <a:outerShdw blurRad="38100" dist="38100" dir="2700000" algn="tl">
                    <a:srgbClr val="C0C0C0"/>
                  </a:outerShdw>
                </a:effectLst>
                <a:latin typeface="Courier New" pitchFamily="49" charset="0"/>
              </a:rPr>
              <a:t>p = </a:t>
            </a:r>
            <a:r>
              <a:rPr kumimoji="1" lang="en-US" altLang="zh-CN" sz="2400" dirty="0">
                <a:solidFill>
                  <a:srgbClr val="C00000"/>
                </a:solidFill>
                <a:effectLst>
                  <a:outerShdw blurRad="38100" dist="38100" dir="2700000" algn="tl">
                    <a:srgbClr val="C0C0C0"/>
                  </a:outerShdw>
                </a:effectLst>
                <a:latin typeface="Courier New" pitchFamily="49" charset="0"/>
              </a:rPr>
              <a:t>&amp;a[0][0]</a:t>
            </a:r>
            <a:r>
              <a:rPr kumimoji="1" lang="en-US" altLang="zh-CN" sz="2400" dirty="0">
                <a:effectLst>
                  <a:outerShdw blurRad="38100" dist="38100" dir="2700000" algn="tl">
                    <a:srgbClr val="C0C0C0"/>
                  </a:outerShdw>
                </a:effectLst>
                <a:latin typeface="Courier New" pitchFamily="49" charset="0"/>
              </a:rPr>
              <a:t>; </a:t>
            </a:r>
            <a:endParaRPr kumimoji="1" lang="zh-CN" altLang="en-US" sz="2400" dirty="0">
              <a:solidFill>
                <a:srgbClr val="CC0000"/>
              </a:solidFill>
              <a:effectLst>
                <a:outerShdw blurRad="38100" dist="38100" dir="2700000" algn="tl">
                  <a:srgbClr val="C0C0C0"/>
                </a:outerShdw>
              </a:effectLst>
              <a:ea typeface="黑体" pitchFamily="49" charset="-122"/>
            </a:endParaRPr>
          </a:p>
        </p:txBody>
      </p:sp>
      <p:sp>
        <p:nvSpPr>
          <p:cNvPr id="20" name="Rectangle 61"/>
          <p:cNvSpPr>
            <a:spLocks noChangeArrowheads="1"/>
          </p:cNvSpPr>
          <p:nvPr/>
        </p:nvSpPr>
        <p:spPr bwMode="auto">
          <a:xfrm>
            <a:off x="9427312" y="3985895"/>
            <a:ext cx="2182813" cy="1512887"/>
          </a:xfrm>
          <a:prstGeom prst="rect">
            <a:avLst/>
          </a:prstGeom>
          <a:solidFill>
            <a:schemeClr val="bg1"/>
          </a:solidFill>
          <a:ln w="28575">
            <a:solidFill>
              <a:srgbClr val="009900"/>
            </a:solidFill>
            <a:miter lim="800000"/>
            <a:headEnd/>
            <a:tailEnd/>
          </a:ln>
        </p:spPr>
        <p:txBody>
          <a:bodyPr wrap="none" anchor="ct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algn="ctr" eaLnBrk="1">
              <a:lnSpc>
                <a:spcPct val="95000"/>
              </a:lnSpc>
              <a:spcBef>
                <a:spcPct val="20000"/>
              </a:spcBef>
              <a:spcAft>
                <a:spcPts val="588"/>
              </a:spcAft>
              <a:buClr>
                <a:srgbClr val="FFCC66"/>
              </a:buClr>
              <a:buSzPct val="80000"/>
              <a:buFont typeface="Monotype Sorts"/>
              <a:buNone/>
            </a:pPr>
            <a:r>
              <a:rPr lang="en-US" altLang="zh-CN" sz="2400" dirty="0">
                <a:solidFill>
                  <a:srgbClr val="000066"/>
                </a:solidFill>
                <a:latin typeface="Courier New" panose="02070309020205020404" pitchFamily="49" charset="0"/>
                <a:ea typeface="楷体_GB2312" pitchFamily="49" charset="-122"/>
              </a:rPr>
              <a:t>a[</a:t>
            </a:r>
            <a:r>
              <a:rPr lang="en-US" altLang="zh-CN" sz="2400" dirty="0" err="1">
                <a:solidFill>
                  <a:srgbClr val="000066"/>
                </a:solidFill>
                <a:latin typeface="Courier New" panose="02070309020205020404" pitchFamily="49" charset="0"/>
                <a:ea typeface="楷体_GB2312" pitchFamily="49" charset="-122"/>
              </a:rPr>
              <a:t>i</a:t>
            </a:r>
            <a:r>
              <a:rPr lang="en-US" altLang="zh-CN" sz="2400" dirty="0">
                <a:solidFill>
                  <a:srgbClr val="000066"/>
                </a:solidFill>
                <a:latin typeface="Courier New" panose="02070309020205020404" pitchFamily="49" charset="0"/>
                <a:ea typeface="楷体_GB2312" pitchFamily="49" charset="-122"/>
              </a:rPr>
              <a:t>][j]</a:t>
            </a:r>
          </a:p>
          <a:p>
            <a:pPr algn="ctr" eaLnBrk="1">
              <a:lnSpc>
                <a:spcPct val="95000"/>
              </a:lnSpc>
              <a:spcBef>
                <a:spcPct val="20000"/>
              </a:spcBef>
              <a:spcAft>
                <a:spcPts val="588"/>
              </a:spcAft>
              <a:buClr>
                <a:srgbClr val="FFCC66"/>
              </a:buClr>
              <a:buSzPct val="80000"/>
              <a:buFont typeface="Wingdings" panose="05000000000000000000" pitchFamily="2" charset="2"/>
              <a:buNone/>
            </a:pPr>
            <a:r>
              <a:rPr lang="en-US" altLang="zh-CN" sz="2400" dirty="0">
                <a:solidFill>
                  <a:srgbClr val="000066"/>
                </a:solidFill>
                <a:latin typeface="Courier New" panose="02070309020205020404" pitchFamily="49" charset="0"/>
                <a:ea typeface="楷体_GB2312" pitchFamily="49" charset="-122"/>
              </a:rPr>
              <a:t>*(</a:t>
            </a:r>
            <a:r>
              <a:rPr lang="en-US" altLang="zh-CN" sz="2400" dirty="0" err="1">
                <a:solidFill>
                  <a:srgbClr val="000066"/>
                </a:solidFill>
                <a:latin typeface="Courier New" panose="02070309020205020404" pitchFamily="49" charset="0"/>
                <a:ea typeface="楷体_GB2312" pitchFamily="49" charset="-122"/>
              </a:rPr>
              <a:t>p+</a:t>
            </a:r>
            <a:r>
              <a:rPr lang="en-US" altLang="zh-CN" sz="2400" dirty="0" err="1">
                <a:solidFill>
                  <a:srgbClr val="C00000"/>
                </a:solidFill>
                <a:latin typeface="Courier New" panose="02070309020205020404" pitchFamily="49" charset="0"/>
                <a:ea typeface="楷体_GB2312" pitchFamily="49" charset="-122"/>
              </a:rPr>
              <a:t>i</a:t>
            </a:r>
            <a:r>
              <a:rPr lang="en-US" altLang="zh-CN" sz="2400" dirty="0">
                <a:solidFill>
                  <a:srgbClr val="C00000"/>
                </a:solidFill>
                <a:latin typeface="Courier New" panose="02070309020205020404" pitchFamily="49" charset="0"/>
                <a:ea typeface="楷体_GB2312" pitchFamily="49" charset="-122"/>
              </a:rPr>
              <a:t>*</a:t>
            </a:r>
            <a:r>
              <a:rPr lang="en-US" altLang="zh-CN" sz="2400" dirty="0" err="1">
                <a:solidFill>
                  <a:srgbClr val="C00000"/>
                </a:solidFill>
                <a:latin typeface="Courier New" panose="02070309020205020404" pitchFamily="49" charset="0"/>
                <a:ea typeface="楷体_GB2312" pitchFamily="49" charset="-122"/>
              </a:rPr>
              <a:t>n+j</a:t>
            </a:r>
            <a:r>
              <a:rPr lang="en-US" altLang="zh-CN" sz="2400" dirty="0">
                <a:solidFill>
                  <a:srgbClr val="000066"/>
                </a:solidFill>
                <a:latin typeface="Courier New" panose="02070309020205020404" pitchFamily="49" charset="0"/>
                <a:ea typeface="楷体_GB2312" pitchFamily="49" charset="-122"/>
              </a:rPr>
              <a:t>)</a:t>
            </a:r>
          </a:p>
          <a:p>
            <a:pPr algn="ctr" eaLnBrk="1">
              <a:lnSpc>
                <a:spcPct val="95000"/>
              </a:lnSpc>
              <a:spcBef>
                <a:spcPct val="20000"/>
              </a:spcBef>
              <a:spcAft>
                <a:spcPts val="588"/>
              </a:spcAft>
              <a:buClr>
                <a:srgbClr val="FFCC66"/>
              </a:buClr>
              <a:buSzPct val="80000"/>
              <a:buFont typeface="Monotype Sorts"/>
              <a:buNone/>
            </a:pPr>
            <a:r>
              <a:rPr lang="en-US" altLang="zh-CN" sz="2400" dirty="0">
                <a:solidFill>
                  <a:srgbClr val="000066"/>
                </a:solidFill>
                <a:latin typeface="Courier New" panose="02070309020205020404" pitchFamily="49" charset="0"/>
                <a:ea typeface="楷体_GB2312" pitchFamily="49" charset="-122"/>
              </a:rPr>
              <a:t>  p[</a:t>
            </a:r>
            <a:r>
              <a:rPr lang="en-US" altLang="zh-CN" sz="2400" dirty="0" err="1">
                <a:solidFill>
                  <a:srgbClr val="CC0000"/>
                </a:solidFill>
                <a:latin typeface="Courier New" panose="02070309020205020404" pitchFamily="49" charset="0"/>
                <a:ea typeface="楷体_GB2312" pitchFamily="49" charset="-122"/>
              </a:rPr>
              <a:t>i</a:t>
            </a:r>
            <a:r>
              <a:rPr lang="en-US" altLang="zh-CN" sz="2400" dirty="0">
                <a:solidFill>
                  <a:srgbClr val="CC0000"/>
                </a:solidFill>
                <a:latin typeface="Courier New" panose="02070309020205020404" pitchFamily="49" charset="0"/>
                <a:ea typeface="楷体_GB2312" pitchFamily="49" charset="-122"/>
              </a:rPr>
              <a:t>*</a:t>
            </a:r>
            <a:r>
              <a:rPr lang="en-US" altLang="zh-CN" sz="2400" dirty="0" err="1">
                <a:solidFill>
                  <a:srgbClr val="CC0000"/>
                </a:solidFill>
                <a:latin typeface="Courier New" panose="02070309020205020404" pitchFamily="49" charset="0"/>
                <a:ea typeface="楷体_GB2312" pitchFamily="49" charset="-122"/>
              </a:rPr>
              <a:t>n+j</a:t>
            </a:r>
            <a:r>
              <a:rPr lang="en-US" altLang="zh-CN" sz="2400" dirty="0">
                <a:solidFill>
                  <a:srgbClr val="000066"/>
                </a:solidFill>
                <a:latin typeface="Courier New" panose="02070309020205020404" pitchFamily="49" charset="0"/>
                <a:ea typeface="楷体_GB2312" pitchFamily="49" charset="-122"/>
              </a:rPr>
              <a:t>]</a:t>
            </a:r>
          </a:p>
        </p:txBody>
      </p:sp>
      <p:grpSp>
        <p:nvGrpSpPr>
          <p:cNvPr id="21" name="Group 27"/>
          <p:cNvGrpSpPr>
            <a:grpSpLocks/>
          </p:cNvGrpSpPr>
          <p:nvPr/>
        </p:nvGrpSpPr>
        <p:grpSpPr bwMode="auto">
          <a:xfrm>
            <a:off x="3978593" y="4219258"/>
            <a:ext cx="3935413" cy="1800225"/>
            <a:chOff x="2010" y="1295"/>
            <a:chExt cx="2288" cy="1134"/>
          </a:xfrm>
        </p:grpSpPr>
        <p:sp>
          <p:nvSpPr>
            <p:cNvPr id="22" name="Line 28"/>
            <p:cNvSpPr>
              <a:spLocks noChangeShapeType="1"/>
            </p:cNvSpPr>
            <p:nvPr/>
          </p:nvSpPr>
          <p:spPr bwMode="auto">
            <a:xfrm>
              <a:off x="2020" y="1648"/>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Text Box 30"/>
            <p:cNvSpPr txBox="1">
              <a:spLocks noChangeArrowheads="1"/>
            </p:cNvSpPr>
            <p:nvPr/>
          </p:nvSpPr>
          <p:spPr bwMode="auto">
            <a:xfrm>
              <a:off x="2064" y="1295"/>
              <a:ext cx="6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00000"/>
                  </a:solidFill>
                </a:rPr>
                <a:t>&amp;a[0][0]</a:t>
              </a:r>
            </a:p>
          </p:txBody>
        </p:sp>
        <p:sp>
          <p:nvSpPr>
            <p:cNvPr id="24" name="Line 32"/>
            <p:cNvSpPr>
              <a:spLocks noChangeShapeType="1"/>
            </p:cNvSpPr>
            <p:nvPr/>
          </p:nvSpPr>
          <p:spPr bwMode="auto">
            <a:xfrm>
              <a:off x="2010" y="2328"/>
              <a:ext cx="45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Text Box 49"/>
            <p:cNvSpPr txBox="1">
              <a:spLocks noChangeArrowheads="1"/>
            </p:cNvSpPr>
            <p:nvPr/>
          </p:nvSpPr>
          <p:spPr bwMode="auto">
            <a:xfrm>
              <a:off x="2472" y="1512"/>
              <a:ext cx="586" cy="237"/>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a[0] [0]</a:t>
              </a:r>
            </a:p>
          </p:txBody>
        </p:sp>
        <p:sp>
          <p:nvSpPr>
            <p:cNvPr id="26" name="Text Box 50"/>
            <p:cNvSpPr txBox="1">
              <a:spLocks noChangeArrowheads="1"/>
            </p:cNvSpPr>
            <p:nvPr/>
          </p:nvSpPr>
          <p:spPr bwMode="auto">
            <a:xfrm>
              <a:off x="3089" y="1512"/>
              <a:ext cx="586" cy="237"/>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a[0] [1]</a:t>
              </a:r>
            </a:p>
          </p:txBody>
        </p:sp>
        <p:sp>
          <p:nvSpPr>
            <p:cNvPr id="27" name="Text Box 51"/>
            <p:cNvSpPr txBox="1">
              <a:spLocks noChangeArrowheads="1"/>
            </p:cNvSpPr>
            <p:nvPr/>
          </p:nvSpPr>
          <p:spPr bwMode="auto">
            <a:xfrm>
              <a:off x="2472" y="2192"/>
              <a:ext cx="586" cy="237"/>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a[1] [0]</a:t>
              </a:r>
            </a:p>
          </p:txBody>
        </p:sp>
        <p:sp>
          <p:nvSpPr>
            <p:cNvPr id="28" name="Text Box 52"/>
            <p:cNvSpPr txBox="1">
              <a:spLocks noChangeArrowheads="1"/>
            </p:cNvSpPr>
            <p:nvPr/>
          </p:nvSpPr>
          <p:spPr bwMode="auto">
            <a:xfrm>
              <a:off x="3083" y="2192"/>
              <a:ext cx="586" cy="237"/>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a[1] [1]</a:t>
              </a:r>
            </a:p>
          </p:txBody>
        </p:sp>
        <p:sp>
          <p:nvSpPr>
            <p:cNvPr id="29" name="Text Box 58"/>
            <p:cNvSpPr txBox="1">
              <a:spLocks noChangeArrowheads="1"/>
            </p:cNvSpPr>
            <p:nvPr/>
          </p:nvSpPr>
          <p:spPr bwMode="auto">
            <a:xfrm>
              <a:off x="3703" y="1512"/>
              <a:ext cx="595" cy="237"/>
            </a:xfrm>
            <a:prstGeom prst="rect">
              <a:avLst/>
            </a:prstGeom>
            <a:noFill/>
            <a:ln w="2540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a[0] [2]</a:t>
              </a:r>
            </a:p>
          </p:txBody>
        </p:sp>
        <p:sp>
          <p:nvSpPr>
            <p:cNvPr id="30" name="Text Box 60"/>
            <p:cNvSpPr txBox="1">
              <a:spLocks noChangeArrowheads="1"/>
            </p:cNvSpPr>
            <p:nvPr/>
          </p:nvSpPr>
          <p:spPr bwMode="auto">
            <a:xfrm>
              <a:off x="3696" y="2192"/>
              <a:ext cx="595" cy="237"/>
            </a:xfrm>
            <a:prstGeom prst="rect">
              <a:avLst/>
            </a:prstGeom>
            <a:noFill/>
            <a:ln w="25400">
              <a:solidFill>
                <a:srgbClr val="0099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ts val="588"/>
                </a:spcBef>
                <a:spcAft>
                  <a:spcPts val="588"/>
                </a:spcAft>
                <a:buClr>
                  <a:schemeClr val="tx2"/>
                </a:buClr>
                <a:buSzPct val="80000"/>
                <a:buFont typeface="Wingdings" panose="05000000000000000000" pitchFamily="2" charset="2"/>
                <a:buNone/>
              </a:pPr>
              <a:r>
                <a:rPr kumimoji="1" lang="en-US" altLang="zh-CN">
                  <a:solidFill>
                    <a:srgbClr val="CC0000"/>
                  </a:solidFill>
                </a:rPr>
                <a:t>a[1] [2]</a:t>
              </a:r>
            </a:p>
          </p:txBody>
        </p:sp>
      </p:grpSp>
      <p:cxnSp>
        <p:nvCxnSpPr>
          <p:cNvPr id="31" name="直接连接符 58"/>
          <p:cNvCxnSpPr>
            <a:cxnSpLocks noChangeShapeType="1"/>
          </p:cNvCxnSpPr>
          <p:nvPr/>
        </p:nvCxnSpPr>
        <p:spPr bwMode="auto">
          <a:xfrm flipH="1">
            <a:off x="4559618" y="5295583"/>
            <a:ext cx="3665538" cy="0"/>
          </a:xfrm>
          <a:prstGeom prst="line">
            <a:avLst/>
          </a:prstGeom>
          <a:noFill/>
          <a:ln w="381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32" name="直接箭头连接符 63"/>
          <p:cNvCxnSpPr>
            <a:cxnSpLocks noChangeShapeType="1"/>
          </p:cNvCxnSpPr>
          <p:nvPr/>
        </p:nvCxnSpPr>
        <p:spPr bwMode="auto">
          <a:xfrm>
            <a:off x="4559618" y="6232208"/>
            <a:ext cx="3665538" cy="0"/>
          </a:xfrm>
          <a:prstGeom prst="straightConnector1">
            <a:avLst/>
          </a:prstGeom>
          <a:noFill/>
          <a:ln w="38100" algn="ctr">
            <a:solidFill>
              <a:srgbClr val="FF0000"/>
            </a:solidFill>
            <a:round/>
            <a:headEnd type="none" w="sm" len="sm"/>
            <a:tailEnd type="arrow" w="med" len="med"/>
          </a:ln>
          <a:extLst>
            <a:ext uri="{909E8E84-426E-40DD-AFC4-6F175D3DCCD1}">
              <a14:hiddenFill xmlns:a14="http://schemas.microsoft.com/office/drawing/2010/main">
                <a:noFill/>
              </a14:hiddenFill>
            </a:ext>
          </a:extLst>
        </p:spPr>
      </p:cxnSp>
      <p:cxnSp>
        <p:nvCxnSpPr>
          <p:cNvPr id="37" name="直接连接符 61"/>
          <p:cNvCxnSpPr>
            <a:cxnSpLocks noChangeShapeType="1"/>
          </p:cNvCxnSpPr>
          <p:nvPr/>
        </p:nvCxnSpPr>
        <p:spPr bwMode="auto">
          <a:xfrm>
            <a:off x="4559618" y="5287329"/>
            <a:ext cx="0" cy="935037"/>
          </a:xfrm>
          <a:prstGeom prst="line">
            <a:avLst/>
          </a:prstGeom>
          <a:noFill/>
          <a:ln w="381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38" name="直接连接符 58"/>
          <p:cNvCxnSpPr>
            <a:cxnSpLocks noChangeShapeType="1"/>
          </p:cNvCxnSpPr>
          <p:nvPr/>
        </p:nvCxnSpPr>
        <p:spPr bwMode="auto">
          <a:xfrm flipH="1">
            <a:off x="4559618" y="4112896"/>
            <a:ext cx="3665538" cy="0"/>
          </a:xfrm>
          <a:prstGeom prst="line">
            <a:avLst/>
          </a:prstGeom>
          <a:noFill/>
          <a:ln w="381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cxnSp>
        <p:nvCxnSpPr>
          <p:cNvPr id="39" name="直接连接符 61"/>
          <p:cNvCxnSpPr>
            <a:cxnSpLocks noChangeShapeType="1"/>
          </p:cNvCxnSpPr>
          <p:nvPr/>
        </p:nvCxnSpPr>
        <p:spPr bwMode="auto">
          <a:xfrm>
            <a:off x="8225156" y="4108133"/>
            <a:ext cx="2858" cy="1179196"/>
          </a:xfrm>
          <a:prstGeom prst="line">
            <a:avLst/>
          </a:prstGeom>
          <a:noFill/>
          <a:ln w="38100" algn="ctr">
            <a:solidFill>
              <a:srgbClr val="FF0000"/>
            </a:solidFill>
            <a:round/>
            <a:headEnd type="none" w="sm" len="sm"/>
            <a:tailEnd type="none" w="sm" len="sm"/>
          </a:ln>
          <a:extLst>
            <a:ext uri="{909E8E84-426E-40DD-AFC4-6F175D3DCCD1}">
              <a14:hiddenFill xmlns:a14="http://schemas.microsoft.com/office/drawing/2010/main">
                <a:noFill/>
              </a14:hiddenFill>
            </a:ext>
          </a:extLst>
        </p:spPr>
      </p:cxnSp>
      <p:sp>
        <p:nvSpPr>
          <p:cNvPr id="36"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2</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、指针与二维数组间的关系</a:t>
            </a:r>
          </a:p>
        </p:txBody>
      </p:sp>
    </p:spTree>
    <p:extLst>
      <p:ext uri="{BB962C8B-B14F-4D97-AF65-F5344CB8AC3E}">
        <p14:creationId xmlns:p14="http://schemas.microsoft.com/office/powerpoint/2010/main" val="2902790910"/>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txBox="1">
            <a:spLocks/>
          </p:cNvSpPr>
          <p:nvPr/>
        </p:nvSpPr>
        <p:spPr>
          <a:xfrm>
            <a:off x="843001" y="1154640"/>
            <a:ext cx="11274742" cy="11557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onotype Sorts"/>
              <a:buNone/>
            </a:pP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例</a:t>
            </a:r>
            <a:r>
              <a:rPr lang="en-US" altLang="zh-CN" dirty="0">
                <a:latin typeface="Arial" panose="020B0604020202020204" pitchFamily="34" charset="0"/>
                <a:cs typeface="Arial" panose="020B0604020202020204" pitchFamily="34" charset="0"/>
              </a:rPr>
              <a:t>3】</a:t>
            </a:r>
            <a:r>
              <a:rPr lang="zh-CN" altLang="en-US" dirty="0">
                <a:latin typeface="Arial" panose="020B0604020202020204" pitchFamily="34" charset="0"/>
                <a:cs typeface="Arial" panose="020B0604020202020204" pitchFamily="34" charset="0"/>
              </a:rPr>
              <a:t>输入一个</a:t>
            </a:r>
            <a:r>
              <a:rPr lang="en-US" altLang="zh-CN" dirty="0">
                <a:latin typeface="Arial" panose="020B0604020202020204" pitchFamily="34" charset="0"/>
                <a:cs typeface="Arial" panose="020B0604020202020204" pitchFamily="34" charset="0"/>
              </a:rPr>
              <a:t>3</a:t>
            </a:r>
            <a:r>
              <a:rPr lang="zh-CN" altLang="en-US" dirty="0">
                <a:latin typeface="Arial" panose="020B0604020202020204" pitchFamily="34" charset="0"/>
                <a:cs typeface="Arial" panose="020B0604020202020204" pitchFamily="34" charset="0"/>
              </a:rPr>
              <a:t>行</a:t>
            </a:r>
            <a:r>
              <a:rPr lang="en-US" altLang="zh-CN" dirty="0">
                <a:latin typeface="Arial" panose="020B0604020202020204" pitchFamily="34" charset="0"/>
                <a:cs typeface="Arial" panose="020B0604020202020204" pitchFamily="34" charset="0"/>
              </a:rPr>
              <a:t>4</a:t>
            </a:r>
            <a:r>
              <a:rPr lang="zh-CN" altLang="en-US" dirty="0">
                <a:latin typeface="Arial" panose="020B0604020202020204" pitchFamily="34" charset="0"/>
                <a:cs typeface="Arial" panose="020B0604020202020204" pitchFamily="34" charset="0"/>
              </a:rPr>
              <a:t>列的二维数组，然后输出这个二维数组的元素值</a:t>
            </a:r>
            <a:endParaRPr lang="en-US" altLang="zh-CN" dirty="0">
              <a:latin typeface="Arial" panose="020B0604020202020204" pitchFamily="34" charset="0"/>
              <a:cs typeface="Arial" panose="020B0604020202020204" pitchFamily="34" charset="0"/>
            </a:endParaRPr>
          </a:p>
          <a:p>
            <a:pPr>
              <a:buNone/>
            </a:pPr>
            <a:r>
              <a:rPr lang="zh-CN" altLang="en-US" dirty="0"/>
              <a:t>  方法一：</a:t>
            </a:r>
            <a:r>
              <a:rPr lang="zh-CN" altLang="en-US" dirty="0">
                <a:latin typeface="Arial" panose="020B0604020202020204" pitchFamily="34" charset="0"/>
                <a:cs typeface="Arial" panose="020B0604020202020204" pitchFamily="34" charset="0"/>
              </a:rPr>
              <a:t> </a:t>
            </a:r>
          </a:p>
        </p:txBody>
      </p:sp>
      <p:pic>
        <p:nvPicPr>
          <p:cNvPr id="5"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7299" y="2339575"/>
            <a:ext cx="4762500" cy="2965450"/>
          </a:xfrm>
          <a:prstGeom prst="rect">
            <a:avLst/>
          </a:prstGeom>
          <a:noFill/>
          <a:ln w="57150" cmpd="thickThin">
            <a:solidFill>
              <a:srgbClr val="00008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pic>
      <p:pic>
        <p:nvPicPr>
          <p:cNvPr id="6"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3570" y="3375025"/>
            <a:ext cx="4873625" cy="3195638"/>
          </a:xfrm>
          <a:prstGeom prst="rect">
            <a:avLst/>
          </a:prstGeom>
          <a:noFill/>
          <a:ln w="57150" cmpd="thickThin">
            <a:solidFill>
              <a:srgbClr val="00008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pic>
      <p:sp>
        <p:nvSpPr>
          <p:cNvPr id="7" name="Text Box 11"/>
          <p:cNvSpPr txBox="1">
            <a:spLocks noChangeArrowheads="1"/>
          </p:cNvSpPr>
          <p:nvPr/>
        </p:nvSpPr>
        <p:spPr bwMode="auto">
          <a:xfrm>
            <a:off x="6522720" y="2139950"/>
            <a:ext cx="3971925" cy="757238"/>
          </a:xfrm>
          <a:prstGeom prst="rect">
            <a:avLst/>
          </a:prstGeom>
          <a:solidFill>
            <a:srgbClr val="FFFFCC"/>
          </a:solidFill>
          <a:ln w="38100">
            <a:solidFill>
              <a:srgbClr val="009900"/>
            </a:solidFill>
            <a:miter lim="800000"/>
            <a:headEnd/>
            <a:tailEnd/>
          </a:ln>
        </p:spPr>
        <p:txBody>
          <a:bodyPr>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spcAft>
                <a:spcPts val="588"/>
              </a:spcAft>
              <a:buClr>
                <a:schemeClr val="tx2"/>
              </a:buClr>
              <a:buSzPct val="80000"/>
              <a:buFont typeface="Wingdings" panose="05000000000000000000" pitchFamily="2" charset="2"/>
              <a:buNone/>
            </a:pPr>
            <a:r>
              <a:rPr lang="zh-CN" altLang="zh-CN" sz="2400" b="0">
                <a:solidFill>
                  <a:srgbClr val="000066"/>
                </a:solidFill>
                <a:latin typeface="黑体" panose="02010609060101010101" pitchFamily="49" charset="-122"/>
                <a:ea typeface="黑体" panose="02010609060101010101" pitchFamily="49" charset="-122"/>
              </a:rPr>
              <a:t>形参声明为</a:t>
            </a:r>
            <a:r>
              <a:rPr lang="zh-CN" altLang="zh-CN" sz="2400" b="0">
                <a:solidFill>
                  <a:srgbClr val="CC0000"/>
                </a:solidFill>
                <a:latin typeface="黑体" panose="02010609060101010101" pitchFamily="49" charset="-122"/>
                <a:ea typeface="黑体" panose="02010609060101010101" pitchFamily="49" charset="-122"/>
              </a:rPr>
              <a:t>二维数组</a:t>
            </a:r>
            <a:r>
              <a:rPr lang="zh-CN" altLang="en-US" sz="2400" b="0">
                <a:solidFill>
                  <a:srgbClr val="000066"/>
                </a:solidFill>
                <a:latin typeface="黑体" panose="02010609060101010101" pitchFamily="49" charset="-122"/>
                <a:ea typeface="黑体" panose="02010609060101010101" pitchFamily="49" charset="-122"/>
              </a:rPr>
              <a:t>，</a:t>
            </a:r>
            <a:r>
              <a:rPr lang="zh-CN" altLang="zh-CN" sz="2400" b="0">
                <a:solidFill>
                  <a:srgbClr val="000066"/>
                </a:solidFill>
                <a:latin typeface="黑体" panose="02010609060101010101" pitchFamily="49" charset="-122"/>
                <a:ea typeface="黑体" panose="02010609060101010101" pitchFamily="49" charset="-122"/>
              </a:rPr>
              <a:t>列数</a:t>
            </a:r>
            <a:r>
              <a:rPr lang="zh-CN" altLang="en-US" sz="2400" b="0">
                <a:solidFill>
                  <a:srgbClr val="000066"/>
                </a:solidFill>
                <a:latin typeface="黑体" panose="02010609060101010101" pitchFamily="49" charset="-122"/>
                <a:ea typeface="黑体" panose="02010609060101010101" pitchFamily="49" charset="-122"/>
              </a:rPr>
              <a:t>须为常量</a:t>
            </a:r>
            <a:endParaRPr lang="en-US" altLang="zh-CN" sz="2400" b="0">
              <a:solidFill>
                <a:srgbClr val="000066"/>
              </a:solidFill>
              <a:latin typeface="黑体" panose="02010609060101010101" pitchFamily="49" charset="-122"/>
              <a:ea typeface="黑体" panose="02010609060101010101" pitchFamily="49" charset="-122"/>
            </a:endParaRPr>
          </a:p>
        </p:txBody>
      </p:sp>
      <p:sp>
        <p:nvSpPr>
          <p:cNvPr id="8" name="Oval 13"/>
          <p:cNvSpPr>
            <a:spLocks noChangeArrowheads="1"/>
          </p:cNvSpPr>
          <p:nvPr/>
        </p:nvSpPr>
        <p:spPr bwMode="auto">
          <a:xfrm>
            <a:off x="7659370" y="3290888"/>
            <a:ext cx="1247775" cy="303212"/>
          </a:xfrm>
          <a:prstGeom prst="ellipse">
            <a:avLst/>
          </a:prstGeom>
          <a:noFill/>
          <a:ln w="38100">
            <a:solidFill>
              <a:srgbClr val="008000"/>
            </a:solidFill>
            <a:round/>
            <a:headEnd type="none" w="sm" len="sm"/>
            <a:tailEnd type="none" w="sm" len="sm"/>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9" name="Line 15"/>
          <p:cNvSpPr>
            <a:spLocks noChangeShapeType="1"/>
          </p:cNvSpPr>
          <p:nvPr/>
        </p:nvSpPr>
        <p:spPr bwMode="auto">
          <a:xfrm>
            <a:off x="8159433" y="2897188"/>
            <a:ext cx="0" cy="398462"/>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pic>
        <p:nvPicPr>
          <p:cNvPr id="10" name="Picture 17"/>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41183" y="5489575"/>
            <a:ext cx="325120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11" name="Oval 13"/>
          <p:cNvSpPr>
            <a:spLocks noChangeArrowheads="1"/>
          </p:cNvSpPr>
          <p:nvPr/>
        </p:nvSpPr>
        <p:spPr bwMode="auto">
          <a:xfrm>
            <a:off x="8783320" y="5251450"/>
            <a:ext cx="1249363" cy="303213"/>
          </a:xfrm>
          <a:prstGeom prst="ellipse">
            <a:avLst/>
          </a:prstGeom>
          <a:noFill/>
          <a:ln w="38100">
            <a:solidFill>
              <a:srgbClr val="008000"/>
            </a:solidFill>
            <a:round/>
            <a:headEnd type="none" w="sm" len="sm"/>
            <a:tailEnd type="none" w="sm" len="sm"/>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12" name="Oval 12"/>
          <p:cNvSpPr>
            <a:spLocks noChangeArrowheads="1"/>
          </p:cNvSpPr>
          <p:nvPr/>
        </p:nvSpPr>
        <p:spPr bwMode="auto">
          <a:xfrm>
            <a:off x="2947280" y="2305743"/>
            <a:ext cx="1481138" cy="288925"/>
          </a:xfrm>
          <a:prstGeom prst="ellipse">
            <a:avLst/>
          </a:prstGeom>
          <a:noFill/>
          <a:ln w="38100">
            <a:solidFill>
              <a:srgbClr val="008000"/>
            </a:solidFill>
            <a:round/>
            <a:headEnd type="none" w="sm" len="sm"/>
            <a:tailEnd type="none" w="sm" len="sm"/>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13" name="Oval 12"/>
          <p:cNvSpPr>
            <a:spLocks noChangeArrowheads="1"/>
          </p:cNvSpPr>
          <p:nvPr/>
        </p:nvSpPr>
        <p:spPr bwMode="auto">
          <a:xfrm>
            <a:off x="4044553" y="4231942"/>
            <a:ext cx="1481138" cy="288925"/>
          </a:xfrm>
          <a:prstGeom prst="ellipse">
            <a:avLst/>
          </a:prstGeom>
          <a:noFill/>
          <a:ln w="38100">
            <a:solidFill>
              <a:srgbClr val="008000"/>
            </a:solidFill>
            <a:round/>
            <a:headEnd type="none" w="sm" len="sm"/>
            <a:tailEnd type="none" w="sm" len="sm"/>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14"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2</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、指针与二维数组间的关系</a:t>
            </a:r>
          </a:p>
        </p:txBody>
      </p:sp>
    </p:spTree>
    <p:extLst>
      <p:ext uri="{BB962C8B-B14F-4D97-AF65-F5344CB8AC3E}">
        <p14:creationId xmlns:p14="http://schemas.microsoft.com/office/powerpoint/2010/main" val="3656793950"/>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2857" y="2465293"/>
            <a:ext cx="4837113" cy="2928938"/>
          </a:xfrm>
          <a:prstGeom prst="rect">
            <a:avLst/>
          </a:prstGeom>
          <a:noFill/>
          <a:ln w="57150" cmpd="thickThin">
            <a:solidFill>
              <a:srgbClr val="00008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pic>
      <p:pic>
        <p:nvPicPr>
          <p:cNvPr id="15"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87694" y="3266917"/>
            <a:ext cx="4930775" cy="3125787"/>
          </a:xfrm>
          <a:prstGeom prst="rect">
            <a:avLst/>
          </a:prstGeom>
          <a:noFill/>
          <a:ln w="57150" cmpd="thickThin">
            <a:solidFill>
              <a:srgbClr val="000080"/>
            </a:solidFill>
            <a:miter lim="800000"/>
            <a:headEnd/>
            <a:tailEnd/>
          </a:ln>
          <a:extLst>
            <a:ext uri="{909E8E84-426E-40DD-AFC4-6F175D3DCCD1}">
              <a14:hiddenFill xmlns:a14="http://schemas.microsoft.com/office/drawing/2010/main">
                <a:solidFill>
                  <a:srgbClr val="FFFFFF"/>
                </a:solidFill>
              </a14:hiddenFill>
            </a:ext>
          </a:extLst>
        </p:spPr>
      </p:pic>
      <p:cxnSp>
        <p:nvCxnSpPr>
          <p:cNvPr id="2" name="直接连接符 1"/>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txBox="1">
            <a:spLocks/>
          </p:cNvSpPr>
          <p:nvPr/>
        </p:nvSpPr>
        <p:spPr>
          <a:xfrm>
            <a:off x="734378" y="1119188"/>
            <a:ext cx="11274742" cy="11557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onotype Sorts"/>
              <a:buNone/>
            </a:pP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例</a:t>
            </a:r>
            <a:r>
              <a:rPr lang="en-US" altLang="zh-CN" dirty="0">
                <a:latin typeface="Arial" panose="020B0604020202020204" pitchFamily="34" charset="0"/>
                <a:cs typeface="Arial" panose="020B0604020202020204" pitchFamily="34" charset="0"/>
              </a:rPr>
              <a:t>3】</a:t>
            </a:r>
            <a:r>
              <a:rPr lang="zh-CN" altLang="en-US" dirty="0">
                <a:latin typeface="Arial" panose="020B0604020202020204" pitchFamily="34" charset="0"/>
                <a:cs typeface="Arial" panose="020B0604020202020204" pitchFamily="34" charset="0"/>
              </a:rPr>
              <a:t>输入一个</a:t>
            </a:r>
            <a:r>
              <a:rPr lang="en-US" altLang="zh-CN" dirty="0">
                <a:latin typeface="Arial" panose="020B0604020202020204" pitchFamily="34" charset="0"/>
                <a:cs typeface="Arial" panose="020B0604020202020204" pitchFamily="34" charset="0"/>
              </a:rPr>
              <a:t>3</a:t>
            </a:r>
            <a:r>
              <a:rPr lang="zh-CN" altLang="en-US" dirty="0">
                <a:latin typeface="Arial" panose="020B0604020202020204" pitchFamily="34" charset="0"/>
                <a:cs typeface="Arial" panose="020B0604020202020204" pitchFamily="34" charset="0"/>
              </a:rPr>
              <a:t>行</a:t>
            </a:r>
            <a:r>
              <a:rPr lang="en-US" altLang="zh-CN" dirty="0">
                <a:latin typeface="Arial" panose="020B0604020202020204" pitchFamily="34" charset="0"/>
                <a:cs typeface="Arial" panose="020B0604020202020204" pitchFamily="34" charset="0"/>
              </a:rPr>
              <a:t>4</a:t>
            </a:r>
            <a:r>
              <a:rPr lang="zh-CN" altLang="en-US" dirty="0">
                <a:latin typeface="Arial" panose="020B0604020202020204" pitchFamily="34" charset="0"/>
                <a:cs typeface="Arial" panose="020B0604020202020204" pitchFamily="34" charset="0"/>
              </a:rPr>
              <a:t>列的二维数组，然后输出这个二维数组的元素值</a:t>
            </a:r>
            <a:endParaRPr lang="en-US" altLang="zh-CN" dirty="0">
              <a:latin typeface="Arial" panose="020B0604020202020204" pitchFamily="34" charset="0"/>
              <a:cs typeface="Arial" panose="020B0604020202020204" pitchFamily="34" charset="0"/>
            </a:endParaRPr>
          </a:p>
          <a:p>
            <a:pPr>
              <a:buFont typeface="Monotype Sorts"/>
              <a:buNone/>
            </a:pPr>
            <a:r>
              <a:rPr lang="zh-CN" altLang="en-US" dirty="0"/>
              <a:t> 方法二：</a:t>
            </a:r>
            <a:r>
              <a:rPr lang="zh-CN" altLang="en-US" dirty="0">
                <a:latin typeface="Arial" panose="020B0604020202020204" pitchFamily="34" charset="0"/>
                <a:cs typeface="Arial" panose="020B0604020202020204" pitchFamily="34" charset="0"/>
              </a:rPr>
              <a:t>  </a:t>
            </a:r>
          </a:p>
        </p:txBody>
      </p:sp>
      <p:sp>
        <p:nvSpPr>
          <p:cNvPr id="7" name="Text Box 11"/>
          <p:cNvSpPr txBox="1">
            <a:spLocks noChangeArrowheads="1"/>
          </p:cNvSpPr>
          <p:nvPr/>
        </p:nvSpPr>
        <p:spPr bwMode="auto">
          <a:xfrm>
            <a:off x="6522720" y="2139950"/>
            <a:ext cx="4370070" cy="757238"/>
          </a:xfrm>
          <a:prstGeom prst="rect">
            <a:avLst/>
          </a:prstGeom>
          <a:solidFill>
            <a:srgbClr val="FFFFCC"/>
          </a:solidFill>
          <a:ln w="38100">
            <a:solidFill>
              <a:srgbClr val="009900"/>
            </a:solidFill>
            <a:miter lim="800000"/>
            <a:headEnd/>
            <a:tailEnd/>
          </a:ln>
        </p:spPr>
        <p:txBody>
          <a:bodyPr wrap="squar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a:lnSpc>
                <a:spcPct val="90000"/>
              </a:lnSpc>
              <a:spcBef>
                <a:spcPct val="50000"/>
              </a:spcBef>
              <a:spcAft>
                <a:spcPts val="588"/>
              </a:spcAft>
              <a:buClr>
                <a:schemeClr val="tx2"/>
              </a:buClr>
              <a:buSzPct val="80000"/>
            </a:pPr>
            <a:r>
              <a:rPr lang="zh-CN" altLang="zh-CN" sz="2400" b="0" dirty="0">
                <a:solidFill>
                  <a:srgbClr val="000066"/>
                </a:solidFill>
                <a:latin typeface="黑体" panose="02010609060101010101" pitchFamily="49" charset="-122"/>
                <a:ea typeface="黑体" panose="02010609060101010101" pitchFamily="49" charset="-122"/>
              </a:rPr>
              <a:t>形参声明为二维数组的</a:t>
            </a:r>
            <a:r>
              <a:rPr lang="zh-CN" altLang="zh-CN" sz="2400" dirty="0">
                <a:solidFill>
                  <a:srgbClr val="CC0000"/>
                </a:solidFill>
                <a:latin typeface="黑体" panose="02010609060101010101" pitchFamily="49" charset="-122"/>
                <a:ea typeface="黑体" panose="02010609060101010101" pitchFamily="49" charset="-122"/>
              </a:rPr>
              <a:t>行指针</a:t>
            </a:r>
            <a:r>
              <a:rPr lang="zh-CN" altLang="en-US" sz="2400" b="0" dirty="0">
                <a:solidFill>
                  <a:srgbClr val="000066"/>
                </a:solidFill>
                <a:latin typeface="黑体" panose="02010609060101010101" pitchFamily="49" charset="-122"/>
                <a:ea typeface="黑体" panose="02010609060101010101" pitchFamily="49" charset="-122"/>
              </a:rPr>
              <a:t>，</a:t>
            </a:r>
            <a:r>
              <a:rPr lang="zh-CN" altLang="zh-CN" sz="2400" b="0" dirty="0">
                <a:solidFill>
                  <a:srgbClr val="000066"/>
                </a:solidFill>
                <a:latin typeface="黑体" panose="02010609060101010101" pitchFamily="49" charset="-122"/>
                <a:ea typeface="黑体" panose="02010609060101010101" pitchFamily="49" charset="-122"/>
              </a:rPr>
              <a:t>列数</a:t>
            </a:r>
            <a:r>
              <a:rPr lang="zh-CN" altLang="en-US" sz="2400" b="0" dirty="0">
                <a:solidFill>
                  <a:srgbClr val="000066"/>
                </a:solidFill>
                <a:latin typeface="黑体" panose="02010609060101010101" pitchFamily="49" charset="-122"/>
                <a:ea typeface="黑体" panose="02010609060101010101" pitchFamily="49" charset="-122"/>
              </a:rPr>
              <a:t>须为常量</a:t>
            </a:r>
            <a:endParaRPr lang="en-US" altLang="zh-CN" sz="2400" b="0" dirty="0">
              <a:solidFill>
                <a:srgbClr val="000066"/>
              </a:solidFill>
              <a:latin typeface="黑体" panose="02010609060101010101" pitchFamily="49" charset="-122"/>
              <a:ea typeface="黑体" panose="02010609060101010101" pitchFamily="49" charset="-122"/>
            </a:endParaRPr>
          </a:p>
        </p:txBody>
      </p:sp>
      <p:sp>
        <p:nvSpPr>
          <p:cNvPr id="8" name="Oval 13"/>
          <p:cNvSpPr>
            <a:spLocks noChangeArrowheads="1"/>
          </p:cNvSpPr>
          <p:nvPr/>
        </p:nvSpPr>
        <p:spPr bwMode="auto">
          <a:xfrm>
            <a:off x="7600951" y="3099039"/>
            <a:ext cx="1313180" cy="447357"/>
          </a:xfrm>
          <a:prstGeom prst="ellipse">
            <a:avLst/>
          </a:prstGeom>
          <a:noFill/>
          <a:ln w="38100">
            <a:solidFill>
              <a:srgbClr val="008000"/>
            </a:solidFill>
            <a:round/>
            <a:headEnd type="none" w="sm" len="sm"/>
            <a:tailEnd type="none" w="sm" len="sm"/>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9" name="Line 15"/>
          <p:cNvSpPr>
            <a:spLocks noChangeShapeType="1"/>
          </p:cNvSpPr>
          <p:nvPr/>
        </p:nvSpPr>
        <p:spPr bwMode="auto">
          <a:xfrm>
            <a:off x="8159433" y="2897188"/>
            <a:ext cx="0" cy="398462"/>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pic>
        <p:nvPicPr>
          <p:cNvPr id="10" name="Picture 17"/>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841183" y="5489575"/>
            <a:ext cx="325120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11" name="Oval 13"/>
          <p:cNvSpPr>
            <a:spLocks noChangeArrowheads="1"/>
          </p:cNvSpPr>
          <p:nvPr/>
        </p:nvSpPr>
        <p:spPr bwMode="auto">
          <a:xfrm>
            <a:off x="8799830" y="4967129"/>
            <a:ext cx="1471533" cy="476726"/>
          </a:xfrm>
          <a:prstGeom prst="ellipse">
            <a:avLst/>
          </a:prstGeom>
          <a:noFill/>
          <a:ln w="38100">
            <a:solidFill>
              <a:srgbClr val="008000"/>
            </a:solidFill>
            <a:round/>
            <a:headEnd type="none" w="sm" len="sm"/>
            <a:tailEnd type="none" w="sm" len="sm"/>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12" name="Oval 12"/>
          <p:cNvSpPr>
            <a:spLocks noChangeArrowheads="1"/>
          </p:cNvSpPr>
          <p:nvPr/>
        </p:nvSpPr>
        <p:spPr bwMode="auto">
          <a:xfrm>
            <a:off x="3102554" y="2274888"/>
            <a:ext cx="1353699" cy="521941"/>
          </a:xfrm>
          <a:prstGeom prst="ellipse">
            <a:avLst/>
          </a:prstGeom>
          <a:noFill/>
          <a:ln w="38100">
            <a:solidFill>
              <a:srgbClr val="008000"/>
            </a:solidFill>
            <a:round/>
            <a:headEnd type="none" w="sm" len="sm"/>
            <a:tailEnd type="none" w="sm" len="sm"/>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13" name="Oval 12"/>
          <p:cNvSpPr>
            <a:spLocks noChangeArrowheads="1"/>
          </p:cNvSpPr>
          <p:nvPr/>
        </p:nvSpPr>
        <p:spPr bwMode="auto">
          <a:xfrm>
            <a:off x="4082970" y="4256249"/>
            <a:ext cx="1488917" cy="376663"/>
          </a:xfrm>
          <a:prstGeom prst="ellipse">
            <a:avLst/>
          </a:prstGeom>
          <a:noFill/>
          <a:ln w="38100">
            <a:solidFill>
              <a:srgbClr val="008000"/>
            </a:solidFill>
            <a:round/>
            <a:headEnd type="none" w="sm" len="sm"/>
            <a:tailEnd type="none" w="sm" len="sm"/>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16"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2</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、指针与二维数组间的关系</a:t>
            </a:r>
          </a:p>
        </p:txBody>
      </p:sp>
    </p:spTree>
    <p:extLst>
      <p:ext uri="{BB962C8B-B14F-4D97-AF65-F5344CB8AC3E}">
        <p14:creationId xmlns:p14="http://schemas.microsoft.com/office/powerpoint/2010/main" val="1311494010"/>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 name="直接连接符 1"/>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txBox="1">
            <a:spLocks/>
          </p:cNvSpPr>
          <p:nvPr/>
        </p:nvSpPr>
        <p:spPr>
          <a:xfrm>
            <a:off x="734378" y="1119188"/>
            <a:ext cx="11274742" cy="11557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Monotype Sorts"/>
              <a:buNone/>
            </a:pP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例</a:t>
            </a:r>
            <a:r>
              <a:rPr lang="en-US" altLang="zh-CN" dirty="0">
                <a:latin typeface="Arial" panose="020B0604020202020204" pitchFamily="34" charset="0"/>
                <a:cs typeface="Arial" panose="020B0604020202020204" pitchFamily="34" charset="0"/>
              </a:rPr>
              <a:t>3】</a:t>
            </a:r>
            <a:r>
              <a:rPr lang="zh-CN" altLang="en-US" dirty="0">
                <a:latin typeface="Arial" panose="020B0604020202020204" pitchFamily="34" charset="0"/>
                <a:cs typeface="Arial" panose="020B0604020202020204" pitchFamily="34" charset="0"/>
              </a:rPr>
              <a:t>输入一个</a:t>
            </a:r>
            <a:r>
              <a:rPr lang="en-US" altLang="zh-CN" dirty="0">
                <a:latin typeface="Arial" panose="020B0604020202020204" pitchFamily="34" charset="0"/>
                <a:cs typeface="Arial" panose="020B0604020202020204" pitchFamily="34" charset="0"/>
              </a:rPr>
              <a:t>3</a:t>
            </a:r>
            <a:r>
              <a:rPr lang="zh-CN" altLang="en-US" dirty="0">
                <a:latin typeface="Arial" panose="020B0604020202020204" pitchFamily="34" charset="0"/>
                <a:cs typeface="Arial" panose="020B0604020202020204" pitchFamily="34" charset="0"/>
              </a:rPr>
              <a:t>行</a:t>
            </a:r>
            <a:r>
              <a:rPr lang="en-US" altLang="zh-CN" dirty="0">
                <a:latin typeface="Arial" panose="020B0604020202020204" pitchFamily="34" charset="0"/>
                <a:cs typeface="Arial" panose="020B0604020202020204" pitchFamily="34" charset="0"/>
              </a:rPr>
              <a:t>4</a:t>
            </a:r>
            <a:r>
              <a:rPr lang="zh-CN" altLang="en-US" dirty="0">
                <a:latin typeface="Arial" panose="020B0604020202020204" pitchFamily="34" charset="0"/>
                <a:cs typeface="Arial" panose="020B0604020202020204" pitchFamily="34" charset="0"/>
              </a:rPr>
              <a:t>列的二维数组，然后输出这个二维数组的元素值</a:t>
            </a:r>
            <a:endParaRPr lang="en-US" altLang="zh-CN" dirty="0">
              <a:latin typeface="Arial" panose="020B0604020202020204" pitchFamily="34" charset="0"/>
              <a:cs typeface="Arial" panose="020B0604020202020204" pitchFamily="34" charset="0"/>
            </a:endParaRPr>
          </a:p>
          <a:p>
            <a:pPr>
              <a:buNone/>
            </a:pPr>
            <a:r>
              <a:rPr lang="zh-CN" altLang="en-US" dirty="0"/>
              <a:t> 方法三：</a:t>
            </a:r>
            <a:r>
              <a:rPr lang="zh-CN" altLang="en-US" dirty="0">
                <a:latin typeface="Arial" panose="020B0604020202020204" pitchFamily="34" charset="0"/>
                <a:cs typeface="Arial" panose="020B0604020202020204" pitchFamily="34" charset="0"/>
              </a:rPr>
              <a:t>  </a:t>
            </a:r>
          </a:p>
          <a:p>
            <a:pPr>
              <a:buFont typeface="Monotype Sorts"/>
              <a:buNone/>
            </a:pPr>
            <a:r>
              <a:rPr lang="zh-CN" altLang="en-US" dirty="0">
                <a:latin typeface="Arial" panose="020B0604020202020204" pitchFamily="34" charset="0"/>
                <a:cs typeface="Arial" panose="020B0604020202020204" pitchFamily="34" charset="0"/>
              </a:rPr>
              <a:t> </a:t>
            </a:r>
          </a:p>
        </p:txBody>
      </p:sp>
      <p:pic>
        <p:nvPicPr>
          <p:cNvPr id="5"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2108" y="2694840"/>
            <a:ext cx="4538662" cy="3232150"/>
          </a:xfrm>
          <a:prstGeom prst="rect">
            <a:avLst/>
          </a:prstGeom>
          <a:noFill/>
          <a:ln w="57150" cmpd="thickThin">
            <a:solidFill>
              <a:srgbClr val="000080"/>
            </a:solidFill>
            <a:miter lim="800000"/>
            <a:headEnd/>
            <a:tailEnd/>
          </a:ln>
          <a:extLst>
            <a:ext uri="{909E8E84-426E-40DD-AFC4-6F175D3DCCD1}">
              <a14:hiddenFill xmlns:a14="http://schemas.microsoft.com/office/drawing/2010/main">
                <a:solidFill>
                  <a:srgbClr val="FFFFFF"/>
                </a:solidFill>
              </a14:hiddenFill>
            </a:ext>
          </a:extLst>
        </p:spPr>
      </p:pic>
      <p:pic>
        <p:nvPicPr>
          <p:cNvPr id="6"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7632" y="2124754"/>
            <a:ext cx="4446588" cy="3081337"/>
          </a:xfrm>
          <a:prstGeom prst="rect">
            <a:avLst/>
          </a:prstGeom>
          <a:noFill/>
          <a:ln w="57150" cmpd="thickThin">
            <a:solidFill>
              <a:srgbClr val="00008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pic>
      <p:sp>
        <p:nvSpPr>
          <p:cNvPr id="7" name="Text Box 7"/>
          <p:cNvSpPr txBox="1">
            <a:spLocks noChangeArrowheads="1"/>
          </p:cNvSpPr>
          <p:nvPr/>
        </p:nvSpPr>
        <p:spPr bwMode="auto">
          <a:xfrm>
            <a:off x="6285034" y="1785159"/>
            <a:ext cx="3467100" cy="757237"/>
          </a:xfrm>
          <a:prstGeom prst="rect">
            <a:avLst/>
          </a:prstGeom>
          <a:solidFill>
            <a:srgbClr val="FFFFCC"/>
          </a:solidFill>
          <a:ln w="38100">
            <a:solidFill>
              <a:srgbClr val="009900"/>
            </a:solidFill>
            <a:miter lim="800000"/>
            <a:headEnd/>
            <a:tailEnd/>
          </a:ln>
        </p:spPr>
        <p:txBody>
          <a:bodyPr>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50000"/>
              </a:spcBef>
              <a:spcAft>
                <a:spcPts val="588"/>
              </a:spcAft>
              <a:buClr>
                <a:schemeClr val="tx2"/>
              </a:buClr>
              <a:buSzPct val="80000"/>
              <a:buFont typeface="Wingdings" panose="05000000000000000000" pitchFamily="2" charset="2"/>
              <a:buNone/>
            </a:pPr>
            <a:r>
              <a:rPr lang="zh-CN" altLang="zh-CN" sz="2400" b="0">
                <a:solidFill>
                  <a:srgbClr val="000066"/>
                </a:solidFill>
                <a:latin typeface="黑体" panose="02010609060101010101" pitchFamily="49" charset="-122"/>
                <a:ea typeface="黑体" panose="02010609060101010101" pitchFamily="49" charset="-122"/>
              </a:rPr>
              <a:t>形参声明为二维数组的</a:t>
            </a:r>
            <a:r>
              <a:rPr lang="zh-CN" altLang="zh-CN" sz="2400">
                <a:solidFill>
                  <a:srgbClr val="CC0000"/>
                </a:solidFill>
                <a:latin typeface="黑体" panose="02010609060101010101" pitchFamily="49" charset="-122"/>
                <a:ea typeface="黑体" panose="02010609060101010101" pitchFamily="49" charset="-122"/>
              </a:rPr>
              <a:t>列指针</a:t>
            </a:r>
            <a:r>
              <a:rPr lang="zh-CN" altLang="en-US" sz="2400" b="0">
                <a:solidFill>
                  <a:srgbClr val="000066"/>
                </a:solidFill>
                <a:latin typeface="黑体" panose="02010609060101010101" pitchFamily="49" charset="-122"/>
                <a:ea typeface="黑体" panose="02010609060101010101" pitchFamily="49" charset="-122"/>
              </a:rPr>
              <a:t>，列数可为变量</a:t>
            </a:r>
            <a:endParaRPr lang="en-US" altLang="zh-CN" sz="2400" b="0">
              <a:solidFill>
                <a:srgbClr val="000066"/>
              </a:solidFill>
              <a:latin typeface="黑体" panose="02010609060101010101" pitchFamily="49" charset="-122"/>
              <a:ea typeface="黑体" panose="02010609060101010101" pitchFamily="49" charset="-122"/>
            </a:endParaRPr>
          </a:p>
        </p:txBody>
      </p:sp>
      <p:sp>
        <p:nvSpPr>
          <p:cNvPr id="8" name="Oval 8"/>
          <p:cNvSpPr>
            <a:spLocks noChangeArrowheads="1"/>
          </p:cNvSpPr>
          <p:nvPr/>
        </p:nvSpPr>
        <p:spPr bwMode="auto">
          <a:xfrm>
            <a:off x="2989354" y="2020261"/>
            <a:ext cx="1150937" cy="395288"/>
          </a:xfrm>
          <a:prstGeom prst="ellipse">
            <a:avLst/>
          </a:prstGeom>
          <a:noFill/>
          <a:ln w="38100">
            <a:solidFill>
              <a:srgbClr val="008000"/>
            </a:solidFill>
            <a:round/>
            <a:headEnd type="none" w="sm" len="sm"/>
            <a:tailEnd type="none" w="sm" len="sm"/>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9" name="Oval 9"/>
          <p:cNvSpPr>
            <a:spLocks noChangeArrowheads="1"/>
          </p:cNvSpPr>
          <p:nvPr/>
        </p:nvSpPr>
        <p:spPr bwMode="auto">
          <a:xfrm>
            <a:off x="8018584" y="2622579"/>
            <a:ext cx="935038" cy="374650"/>
          </a:xfrm>
          <a:prstGeom prst="ellipse">
            <a:avLst/>
          </a:prstGeom>
          <a:noFill/>
          <a:ln w="38100">
            <a:solidFill>
              <a:srgbClr val="008000"/>
            </a:solidFill>
            <a:round/>
            <a:headEnd type="none" w="sm" len="sm"/>
            <a:tailEnd type="none" w="sm" len="sm"/>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10" name="Line 10"/>
          <p:cNvSpPr>
            <a:spLocks noChangeShapeType="1"/>
          </p:cNvSpPr>
          <p:nvPr/>
        </p:nvSpPr>
        <p:spPr bwMode="auto">
          <a:xfrm>
            <a:off x="8018584" y="2542396"/>
            <a:ext cx="0" cy="395287"/>
          </a:xfrm>
          <a:prstGeom prst="line">
            <a:avLst/>
          </a:prstGeom>
          <a:noFill/>
          <a:ln w="38100">
            <a:solidFill>
              <a:srgbClr val="FF00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pic>
        <p:nvPicPr>
          <p:cNvPr id="11" name="Picture 15"/>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38189" y="5311032"/>
            <a:ext cx="3363913"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12" name="Oval 13"/>
          <p:cNvSpPr>
            <a:spLocks noChangeArrowheads="1"/>
          </p:cNvSpPr>
          <p:nvPr/>
        </p:nvSpPr>
        <p:spPr bwMode="auto">
          <a:xfrm>
            <a:off x="4173491" y="4027012"/>
            <a:ext cx="1357968" cy="368172"/>
          </a:xfrm>
          <a:prstGeom prst="ellipse">
            <a:avLst/>
          </a:prstGeom>
          <a:noFill/>
          <a:ln w="38100">
            <a:solidFill>
              <a:srgbClr val="008000"/>
            </a:solidFill>
            <a:round/>
            <a:headEnd type="none" w="sm" len="sm"/>
            <a:tailEnd type="none" w="sm" len="sm"/>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13" name="Oval 13"/>
          <p:cNvSpPr>
            <a:spLocks noChangeArrowheads="1"/>
          </p:cNvSpPr>
          <p:nvPr/>
        </p:nvSpPr>
        <p:spPr bwMode="auto">
          <a:xfrm>
            <a:off x="9096814" y="4550562"/>
            <a:ext cx="1310640" cy="414179"/>
          </a:xfrm>
          <a:prstGeom prst="ellipse">
            <a:avLst/>
          </a:prstGeom>
          <a:noFill/>
          <a:ln w="38100">
            <a:solidFill>
              <a:srgbClr val="008000"/>
            </a:solidFill>
            <a:round/>
            <a:headEnd type="none" w="sm" len="sm"/>
            <a:tailEnd type="none" w="sm" len="sm"/>
          </a:ln>
          <a:effectLst/>
        </p:spPr>
        <p:txBody>
          <a:bodyPr wrap="none" anchor="ctr"/>
          <a:lstStyle/>
          <a:p>
            <a:pPr>
              <a:lnSpc>
                <a:spcPct val="90000"/>
              </a:lnSpc>
              <a:spcBef>
                <a:spcPts val="588"/>
              </a:spcBef>
              <a:spcAft>
                <a:spcPts val="588"/>
              </a:spcAft>
              <a:buClr>
                <a:schemeClr val="tx2"/>
              </a:buClr>
              <a:buSzPct val="80000"/>
              <a:buFont typeface="Wingdings" panose="05000000000000000000" pitchFamily="2" charset="2"/>
              <a:buNone/>
              <a:defRPr/>
            </a:pPr>
            <a:endParaRPr lang="zh-CN" altLang="en-US" b="0">
              <a:effectLst>
                <a:outerShdw blurRad="38100" dist="38100" dir="2700000" algn="tl">
                  <a:srgbClr val="C0C0C0"/>
                </a:outerShdw>
              </a:effectLst>
            </a:endParaRPr>
          </a:p>
        </p:txBody>
      </p:sp>
      <p:sp>
        <p:nvSpPr>
          <p:cNvPr id="14"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2</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、指针与二维数组间的关系</a:t>
            </a:r>
          </a:p>
        </p:txBody>
      </p:sp>
      <p:sp>
        <p:nvSpPr>
          <p:cNvPr id="16" name="Text Box 7"/>
          <p:cNvSpPr txBox="1">
            <a:spLocks noChangeArrowheads="1"/>
          </p:cNvSpPr>
          <p:nvPr/>
        </p:nvSpPr>
        <p:spPr bwMode="auto">
          <a:xfrm>
            <a:off x="1837025" y="5989466"/>
            <a:ext cx="8430165" cy="830997"/>
          </a:xfrm>
          <a:prstGeom prst="rect">
            <a:avLst/>
          </a:prstGeom>
          <a:solidFill>
            <a:srgbClr val="FFFF00"/>
          </a:solidFill>
          <a:ln w="38100">
            <a:solidFill>
              <a:schemeClr val="tx1"/>
            </a:solidFill>
            <a:miter lim="800000"/>
            <a:headEnd/>
            <a:tailEnd/>
          </a:ln>
        </p:spPr>
        <p:txBody>
          <a:bodyPr wrap="square">
            <a:spAutoFit/>
          </a:bodyPr>
          <a:lstStyle>
            <a:lvl1pPr>
              <a:defRPr sz="2000" b="1">
                <a:solidFill>
                  <a:schemeClr val="tx1"/>
                </a:solidFill>
                <a:latin typeface="Arial" panose="020B0604020202020204" pitchFamily="34" charset="0"/>
                <a:ea typeface="宋体" panose="02010600030101010101" pitchFamily="2" charset="-122"/>
              </a:defRPr>
            </a:lvl1pPr>
            <a:lvl2pPr marL="742950" indent="-285750">
              <a:defRPr sz="2000" b="1">
                <a:solidFill>
                  <a:schemeClr val="tx1"/>
                </a:solidFill>
                <a:latin typeface="Arial" panose="020B0604020202020204" pitchFamily="34" charset="0"/>
                <a:ea typeface="宋体" panose="02010600030101010101" pitchFamily="2" charset="-122"/>
              </a:defRPr>
            </a:lvl2pPr>
            <a:lvl3pPr marL="1143000" indent="-228600">
              <a:defRPr sz="2000" b="1">
                <a:solidFill>
                  <a:schemeClr val="tx1"/>
                </a:solidFill>
                <a:latin typeface="Arial" panose="020B0604020202020204" pitchFamily="34" charset="0"/>
                <a:ea typeface="宋体" panose="02010600030101010101" pitchFamily="2" charset="-122"/>
              </a:defRPr>
            </a:lvl3pPr>
            <a:lvl4pPr marL="1600200" indent="-228600">
              <a:defRPr sz="2000" b="1">
                <a:solidFill>
                  <a:schemeClr val="tx1"/>
                </a:solidFill>
                <a:latin typeface="Arial" panose="020B0604020202020204" pitchFamily="34" charset="0"/>
                <a:ea typeface="宋体" panose="02010600030101010101" pitchFamily="2" charset="-122"/>
              </a:defRPr>
            </a:lvl4pPr>
            <a:lvl5pPr marL="2057400" indent="-228600">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000" b="1">
                <a:solidFill>
                  <a:schemeClr val="tx1"/>
                </a:solidFill>
                <a:latin typeface="Arial" panose="020B0604020202020204" pitchFamily="34" charset="0"/>
                <a:ea typeface="宋体" panose="02010600030101010101" pitchFamily="2" charset="-122"/>
              </a:defRPr>
            </a:lvl9pPr>
          </a:lstStyle>
          <a:p>
            <a:r>
              <a:rPr lang="zh-CN" altLang="en-US" sz="2400" dirty="0">
                <a:solidFill>
                  <a:srgbClr val="FF0000"/>
                </a:solidFill>
                <a:latin typeface="黑体" panose="02010609060101010101" pitchFamily="49" charset="-122"/>
                <a:ea typeface="黑体" panose="02010609060101010101" pitchFamily="49" charset="-122"/>
              </a:rPr>
              <a:t>课堂练习</a:t>
            </a:r>
            <a:r>
              <a:rPr lang="zh-CN" altLang="en-US" sz="2400" dirty="0">
                <a:latin typeface="黑体" panose="02010609060101010101" pitchFamily="49" charset="-122"/>
                <a:ea typeface="黑体" panose="02010609060101010101" pitchFamily="49" charset="-122"/>
              </a:rPr>
              <a:t>：请同学们结合以上</a:t>
            </a:r>
            <a:r>
              <a:rPr lang="en-US" altLang="zh-CN" sz="2400" dirty="0">
                <a:latin typeface="黑体" panose="02010609060101010101" pitchFamily="49" charset="-122"/>
                <a:ea typeface="黑体" panose="02010609060101010101" pitchFamily="49" charset="-122"/>
              </a:rPr>
              <a:t>3</a:t>
            </a:r>
            <a:r>
              <a:rPr lang="zh-CN" altLang="en-US" sz="2400" dirty="0">
                <a:latin typeface="黑体" panose="02010609060101010101" pitchFamily="49" charset="-122"/>
                <a:ea typeface="黑体" panose="02010609060101010101" pitchFamily="49" charset="-122"/>
              </a:rPr>
              <a:t>种用指针表示二维数据的方式，自行设计简单的主函数和测试用例，运行程序。</a:t>
            </a:r>
          </a:p>
        </p:txBody>
      </p:sp>
    </p:spTree>
    <p:extLst>
      <p:ext uri="{BB962C8B-B14F-4D97-AF65-F5344CB8AC3E}">
        <p14:creationId xmlns:p14="http://schemas.microsoft.com/office/powerpoint/2010/main" val="7738339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5"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2</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、指针与二维数组间的关系</a:t>
            </a:r>
          </a:p>
        </p:txBody>
      </p:sp>
      <p:pic>
        <p:nvPicPr>
          <p:cNvPr id="6" name="Picture 54" descr="2008041823085517_lit">
            <a:extLst>
              <a:ext uri="{FF2B5EF4-FFF2-40B4-BE49-F238E27FC236}">
                <a16:creationId xmlns:a16="http://schemas.microsoft.com/office/drawing/2014/main" xmlns="" id="{A30D51D5-6DD1-4EF8-ABDA-1794D5087E6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1068" y="1269851"/>
            <a:ext cx="69215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2"/>
          <p:cNvSpPr txBox="1">
            <a:spLocks/>
          </p:cNvSpPr>
          <p:nvPr/>
        </p:nvSpPr>
        <p:spPr>
          <a:xfrm>
            <a:off x="1443218" y="1413254"/>
            <a:ext cx="9529582" cy="7672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50000"/>
              </a:lnSpc>
            </a:pPr>
            <a:r>
              <a:rPr lang="zh-CN" altLang="en-US" sz="2800" dirty="0">
                <a:latin typeface="+mn-ea"/>
                <a:ea typeface="+mn-ea"/>
              </a:rPr>
              <a:t>以</a:t>
            </a:r>
            <a:r>
              <a:rPr lang="en-US" altLang="zh-CN" sz="2800" dirty="0" err="1">
                <a:latin typeface="+mn-ea"/>
                <a:ea typeface="+mn-ea"/>
              </a:rPr>
              <a:t>int</a:t>
            </a:r>
            <a:r>
              <a:rPr lang="en-US" altLang="zh-CN" sz="2800" dirty="0">
                <a:latin typeface="+mn-ea"/>
                <a:ea typeface="+mn-ea"/>
              </a:rPr>
              <a:t> a[3][4] </a:t>
            </a:r>
            <a:r>
              <a:rPr lang="zh-CN" altLang="en-US" sz="2800" dirty="0">
                <a:latin typeface="+mn-ea"/>
                <a:ea typeface="+mn-ea"/>
              </a:rPr>
              <a:t>为例，可以用下面三种变量以不同方式来操作这个数组：</a:t>
            </a:r>
          </a:p>
        </p:txBody>
      </p:sp>
      <p:graphicFrame>
        <p:nvGraphicFramePr>
          <p:cNvPr id="12" name="表格 11"/>
          <p:cNvGraphicFramePr>
            <a:graphicFrameLocks noGrp="1"/>
          </p:cNvGraphicFramePr>
          <p:nvPr>
            <p:extLst>
              <p:ext uri="{D42A27DB-BD31-4B8C-83A1-F6EECF244321}">
                <p14:modId xmlns:p14="http://schemas.microsoft.com/office/powerpoint/2010/main" val="1259565846"/>
              </p:ext>
            </p:extLst>
          </p:nvPr>
        </p:nvGraphicFramePr>
        <p:xfrm>
          <a:off x="1603737" y="2743199"/>
          <a:ext cx="9484810" cy="2465205"/>
        </p:xfrm>
        <a:graphic>
          <a:graphicData uri="http://schemas.openxmlformats.org/drawingml/2006/table">
            <a:tbl>
              <a:tblPr firstRow="1" bandRow="1">
                <a:tableStyleId>{5C22544A-7EE6-4342-B048-85BDC9FD1C3A}</a:tableStyleId>
              </a:tblPr>
              <a:tblGrid>
                <a:gridCol w="1729772">
                  <a:extLst>
                    <a:ext uri="{9D8B030D-6E8A-4147-A177-3AD203B41FA5}">
                      <a16:colId xmlns:a16="http://schemas.microsoft.com/office/drawing/2014/main" xmlns="" val="20000"/>
                    </a:ext>
                  </a:extLst>
                </a:gridCol>
                <a:gridCol w="7755038">
                  <a:extLst>
                    <a:ext uri="{9D8B030D-6E8A-4147-A177-3AD203B41FA5}">
                      <a16:colId xmlns:a16="http://schemas.microsoft.com/office/drawing/2014/main" xmlns="" val="20001"/>
                    </a:ext>
                  </a:extLst>
                </a:gridCol>
              </a:tblGrid>
              <a:tr h="434715">
                <a:tc>
                  <a:txBody>
                    <a:bodyPr/>
                    <a:lstStyle/>
                    <a:p>
                      <a:r>
                        <a:rPr lang="zh-CN" altLang="en-US" dirty="0">
                          <a:latin typeface="+mn-ea"/>
                          <a:ea typeface="+mn-ea"/>
                        </a:rPr>
                        <a:t>代码形式</a:t>
                      </a:r>
                    </a:p>
                  </a:txBody>
                  <a:tcPr>
                    <a:solidFill>
                      <a:srgbClr val="002060"/>
                    </a:solidFill>
                  </a:tcPr>
                </a:tc>
                <a:tc>
                  <a:txBody>
                    <a:bodyPr/>
                    <a:lstStyle/>
                    <a:p>
                      <a:r>
                        <a:rPr lang="zh-CN" altLang="en-US" dirty="0">
                          <a:latin typeface="+mn-ea"/>
                          <a:ea typeface="+mn-ea"/>
                        </a:rPr>
                        <a:t>解释说明</a:t>
                      </a:r>
                    </a:p>
                  </a:txBody>
                  <a:tcPr>
                    <a:solidFill>
                      <a:srgbClr val="002060"/>
                    </a:solidFill>
                  </a:tcPr>
                </a:tc>
                <a:extLst>
                  <a:ext uri="{0D108BD9-81ED-4DB2-BD59-A6C34878D82A}">
                    <a16:rowId xmlns:a16="http://schemas.microsoft.com/office/drawing/2014/main" xmlns="" val="10000"/>
                  </a:ext>
                </a:extLst>
              </a:tr>
              <a:tr h="630157">
                <a:tc>
                  <a:txBody>
                    <a:bodyPr/>
                    <a:lstStyle/>
                    <a:p>
                      <a:r>
                        <a:rPr lang="en-US" altLang="zh-CN" sz="1800" dirty="0" err="1">
                          <a:latin typeface="Times New Roman" panose="02020603050405020304" pitchFamily="18" charset="0"/>
                          <a:ea typeface="+mn-ea"/>
                          <a:cs typeface="Times New Roman" panose="02020603050405020304" pitchFamily="18" charset="0"/>
                        </a:rPr>
                        <a:t>int</a:t>
                      </a:r>
                      <a:r>
                        <a:rPr lang="en-US" altLang="zh-CN" sz="1800" dirty="0">
                          <a:latin typeface="Times New Roman" panose="02020603050405020304" pitchFamily="18" charset="0"/>
                          <a:ea typeface="+mn-ea"/>
                          <a:cs typeface="Times New Roman" panose="02020603050405020304" pitchFamily="18" charset="0"/>
                        </a:rPr>
                        <a:t> *PC[3];</a:t>
                      </a:r>
                      <a:r>
                        <a:rPr lang="en-US" altLang="zh-CN" sz="1800" baseline="0" dirty="0">
                          <a:latin typeface="Times New Roman" panose="02020603050405020304" pitchFamily="18" charset="0"/>
                          <a:ea typeface="+mn-ea"/>
                          <a:cs typeface="Times New Roman" panose="02020603050405020304" pitchFamily="18" charset="0"/>
                        </a:rPr>
                        <a:t> </a:t>
                      </a:r>
                      <a:endParaRPr lang="en-US" altLang="zh-CN" sz="1800" dirty="0">
                        <a:latin typeface="Times New Roman" panose="02020603050405020304" pitchFamily="18" charset="0"/>
                        <a:ea typeface="+mn-ea"/>
                        <a:cs typeface="Times New Roman" panose="02020603050405020304" pitchFamily="18" charset="0"/>
                      </a:endParaRPr>
                    </a:p>
                    <a:p>
                      <a:r>
                        <a:rPr lang="en-US" altLang="zh-CN" sz="1800" dirty="0">
                          <a:latin typeface="Times New Roman" panose="02020603050405020304" pitchFamily="18" charset="0"/>
                          <a:ea typeface="+mn-ea"/>
                          <a:cs typeface="Times New Roman" panose="02020603050405020304" pitchFamily="18" charset="0"/>
                        </a:rPr>
                        <a:t>PC[</a:t>
                      </a:r>
                      <a:r>
                        <a:rPr lang="en-US" altLang="zh-CN" sz="1800" dirty="0" err="1">
                          <a:latin typeface="Times New Roman" panose="02020603050405020304" pitchFamily="18" charset="0"/>
                          <a:ea typeface="+mn-ea"/>
                          <a:cs typeface="Times New Roman" panose="02020603050405020304" pitchFamily="18" charset="0"/>
                        </a:rPr>
                        <a:t>i</a:t>
                      </a:r>
                      <a:r>
                        <a:rPr lang="en-US" altLang="zh-CN" sz="1800" dirty="0">
                          <a:latin typeface="Times New Roman" panose="02020603050405020304" pitchFamily="18" charset="0"/>
                          <a:ea typeface="+mn-ea"/>
                          <a:cs typeface="Times New Roman" panose="02020603050405020304" pitchFamily="18" charset="0"/>
                        </a:rPr>
                        <a:t>]=a[</a:t>
                      </a:r>
                      <a:r>
                        <a:rPr lang="en-US" altLang="zh-CN" sz="1800" dirty="0" err="1">
                          <a:latin typeface="Times New Roman" panose="02020603050405020304" pitchFamily="18" charset="0"/>
                          <a:ea typeface="+mn-ea"/>
                          <a:cs typeface="Times New Roman" panose="02020603050405020304" pitchFamily="18" charset="0"/>
                        </a:rPr>
                        <a:t>i</a:t>
                      </a:r>
                      <a:r>
                        <a:rPr lang="en-US" altLang="zh-CN" sz="1800" dirty="0">
                          <a:latin typeface="Times New Roman" panose="02020603050405020304" pitchFamily="18" charset="0"/>
                          <a:ea typeface="+mn-ea"/>
                          <a:cs typeface="Times New Roman" panose="02020603050405020304" pitchFamily="18" charset="0"/>
                        </a:rPr>
                        <a:t>];</a:t>
                      </a:r>
                      <a:r>
                        <a:rPr lang="zh-CN" altLang="en-US" sz="1800" dirty="0">
                          <a:latin typeface="Times New Roman" panose="02020603050405020304" pitchFamily="18" charset="0"/>
                          <a:ea typeface="+mn-ea"/>
                          <a:cs typeface="Times New Roman" panose="02020603050405020304" pitchFamily="18" charset="0"/>
                        </a:rPr>
                        <a:t> </a:t>
                      </a:r>
                      <a:endParaRPr lang="zh-CN" altLang="en-US" dirty="0">
                        <a:latin typeface="Times New Roman" panose="02020603050405020304" pitchFamily="18" charset="0"/>
                        <a:ea typeface="+mn-ea"/>
                        <a:cs typeface="Times New Roman" panose="02020603050405020304" pitchFamily="18" charset="0"/>
                      </a:endParaRPr>
                    </a:p>
                  </a:txBody>
                  <a:tcPr/>
                </a:tc>
                <a:tc>
                  <a:txBody>
                    <a:bodyPr/>
                    <a:lstStyle/>
                    <a:p>
                      <a:pPr>
                        <a:buFont typeface="Wingdings" panose="05000000000000000000" pitchFamily="2" charset="2"/>
                        <a:buNone/>
                      </a:pPr>
                      <a:r>
                        <a:rPr lang="en-US" altLang="zh-CN" sz="1800" dirty="0">
                          <a:latin typeface="+mn-ea"/>
                          <a:ea typeface="+mn-ea"/>
                        </a:rPr>
                        <a:t>PC</a:t>
                      </a:r>
                      <a:r>
                        <a:rPr lang="zh-CN" altLang="en-US" sz="1800" dirty="0">
                          <a:latin typeface="+mn-ea"/>
                          <a:ea typeface="+mn-ea"/>
                        </a:rPr>
                        <a:t>是个</a:t>
                      </a:r>
                      <a:r>
                        <a:rPr lang="en-US" altLang="zh-CN" sz="1800" dirty="0">
                          <a:latin typeface="+mn-ea"/>
                          <a:ea typeface="+mn-ea"/>
                        </a:rPr>
                        <a:t>1</a:t>
                      </a:r>
                      <a:r>
                        <a:rPr lang="zh-CN" altLang="en-US" sz="1800" dirty="0">
                          <a:latin typeface="+mn-ea"/>
                          <a:ea typeface="+mn-ea"/>
                        </a:rPr>
                        <a:t>维数组，每个元素是一个</a:t>
                      </a:r>
                      <a:r>
                        <a:rPr lang="en-US" altLang="zh-CN" sz="1800" dirty="0" err="1">
                          <a:latin typeface="+mn-ea"/>
                          <a:ea typeface="+mn-ea"/>
                        </a:rPr>
                        <a:t>int</a:t>
                      </a:r>
                      <a:r>
                        <a:rPr lang="en-US" altLang="zh-CN" sz="1800" dirty="0">
                          <a:latin typeface="+mn-ea"/>
                          <a:ea typeface="+mn-ea"/>
                        </a:rPr>
                        <a:t> *</a:t>
                      </a:r>
                      <a:r>
                        <a:rPr lang="zh-CN" altLang="en-US" sz="1800" dirty="0">
                          <a:latin typeface="+mn-ea"/>
                          <a:ea typeface="+mn-ea"/>
                        </a:rPr>
                        <a:t>型的指针</a:t>
                      </a:r>
                      <a:r>
                        <a:rPr lang="en-US" altLang="zh-CN" sz="1800" dirty="0">
                          <a:latin typeface="+mn-ea"/>
                          <a:ea typeface="+mn-ea"/>
                        </a:rPr>
                        <a:t>,</a:t>
                      </a:r>
                      <a:r>
                        <a:rPr lang="zh-CN" altLang="en-US" sz="1800" dirty="0">
                          <a:latin typeface="+mn-ea"/>
                          <a:ea typeface="+mn-ea"/>
                        </a:rPr>
                        <a:t>所以   </a:t>
                      </a:r>
                      <a:r>
                        <a:rPr lang="en-US" altLang="zh-CN" sz="1800" dirty="0">
                          <a:latin typeface="+mn-ea"/>
                          <a:ea typeface="+mn-ea"/>
                        </a:rPr>
                        <a:t>PC</a:t>
                      </a:r>
                      <a:r>
                        <a:rPr lang="zh-CN" altLang="en-US" sz="1800" dirty="0">
                          <a:latin typeface="+mn-ea"/>
                          <a:ea typeface="+mn-ea"/>
                        </a:rPr>
                        <a:t>是个数组常量；</a:t>
                      </a:r>
                      <a:endParaRPr lang="en-US" altLang="zh-CN" sz="1800" dirty="0">
                        <a:latin typeface="+mn-ea"/>
                        <a:ea typeface="+mn-ea"/>
                      </a:endParaRPr>
                    </a:p>
                    <a:p>
                      <a:pPr marL="0" marR="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sz="1800" dirty="0">
                          <a:latin typeface="+mn-ea"/>
                          <a:ea typeface="+mn-ea"/>
                        </a:rPr>
                        <a:t>让</a:t>
                      </a:r>
                      <a:r>
                        <a:rPr lang="en-US" altLang="zh-CN" sz="1800" dirty="0">
                          <a:latin typeface="+mn-ea"/>
                          <a:ea typeface="+mn-ea"/>
                        </a:rPr>
                        <a:t>PC</a:t>
                      </a:r>
                      <a:r>
                        <a:rPr lang="zh-CN" altLang="en-US" sz="1800" dirty="0">
                          <a:latin typeface="+mn-ea"/>
                          <a:ea typeface="+mn-ea"/>
                        </a:rPr>
                        <a:t>的第</a:t>
                      </a:r>
                      <a:r>
                        <a:rPr lang="en-US" altLang="zh-CN" sz="1800" dirty="0" err="1">
                          <a:latin typeface="+mn-ea"/>
                          <a:ea typeface="+mn-ea"/>
                        </a:rPr>
                        <a:t>i</a:t>
                      </a:r>
                      <a:r>
                        <a:rPr lang="zh-CN" altLang="en-US" sz="1800" dirty="0">
                          <a:latin typeface="+mn-ea"/>
                          <a:ea typeface="+mn-ea"/>
                        </a:rPr>
                        <a:t>个指针指向</a:t>
                      </a:r>
                      <a:r>
                        <a:rPr lang="en-US" altLang="zh-CN" sz="1800" dirty="0">
                          <a:latin typeface="+mn-ea"/>
                          <a:ea typeface="+mn-ea"/>
                        </a:rPr>
                        <a:t>a</a:t>
                      </a:r>
                      <a:r>
                        <a:rPr lang="zh-CN" altLang="en-US" sz="1800" dirty="0">
                          <a:latin typeface="+mn-ea"/>
                          <a:ea typeface="+mn-ea"/>
                        </a:rPr>
                        <a:t>的第</a:t>
                      </a:r>
                      <a:r>
                        <a:rPr lang="en-US" altLang="zh-CN" sz="1800" dirty="0" err="1">
                          <a:latin typeface="+mn-ea"/>
                          <a:ea typeface="+mn-ea"/>
                        </a:rPr>
                        <a:t>i</a:t>
                      </a:r>
                      <a:r>
                        <a:rPr lang="zh-CN" altLang="en-US" sz="1800" dirty="0">
                          <a:latin typeface="+mn-ea"/>
                          <a:ea typeface="+mn-ea"/>
                        </a:rPr>
                        <a:t>行</a:t>
                      </a:r>
                      <a:endParaRPr lang="en-US" altLang="zh-CN" sz="1800" dirty="0">
                        <a:latin typeface="+mn-ea"/>
                        <a:ea typeface="+mn-ea"/>
                      </a:endParaRPr>
                    </a:p>
                  </a:txBody>
                  <a:tcPr/>
                </a:tc>
                <a:extLst>
                  <a:ext uri="{0D108BD9-81ED-4DB2-BD59-A6C34878D82A}">
                    <a16:rowId xmlns:a16="http://schemas.microsoft.com/office/drawing/2014/main" xmlns="" val="10001"/>
                  </a:ext>
                </a:extLst>
              </a:tr>
              <a:tr h="626684">
                <a:tc>
                  <a:txBody>
                    <a:bodyPr/>
                    <a:lstStyle/>
                    <a:p>
                      <a:r>
                        <a:rPr lang="en-US" altLang="zh-CN" sz="1800" dirty="0">
                          <a:latin typeface="Times New Roman" panose="02020603050405020304" pitchFamily="18" charset="0"/>
                          <a:ea typeface="+mn-ea"/>
                          <a:cs typeface="Times New Roman" panose="02020603050405020304" pitchFamily="18" charset="0"/>
                        </a:rPr>
                        <a:t>int (*PR)[4];</a:t>
                      </a:r>
                    </a:p>
                    <a:p>
                      <a:r>
                        <a:rPr lang="en-US" altLang="zh-CN" sz="1800" dirty="0">
                          <a:latin typeface="Times New Roman" panose="02020603050405020304" pitchFamily="18" charset="0"/>
                          <a:ea typeface="+mn-ea"/>
                          <a:cs typeface="Times New Roman" panose="02020603050405020304" pitchFamily="18" charset="0"/>
                        </a:rPr>
                        <a:t>PR=a</a:t>
                      </a:r>
                      <a:endParaRPr lang="zh-CN" altLang="en-US" dirty="0">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mn-ea"/>
                          <a:ea typeface="+mn-ea"/>
                        </a:rPr>
                        <a:t>PR</a:t>
                      </a:r>
                      <a:r>
                        <a:rPr lang="zh-CN" altLang="en-US" sz="1800" dirty="0">
                          <a:latin typeface="+mn-ea"/>
                          <a:ea typeface="+mn-ea"/>
                        </a:rPr>
                        <a:t>是个指针，该指针的基类型是一个</a:t>
                      </a:r>
                      <a:r>
                        <a:rPr lang="en-US" altLang="zh-CN" sz="1800" dirty="0">
                          <a:latin typeface="+mn-ea"/>
                          <a:ea typeface="+mn-ea"/>
                        </a:rPr>
                        <a:t>5</a:t>
                      </a:r>
                      <a:r>
                        <a:rPr lang="zh-CN" altLang="en-US" sz="1800" dirty="0">
                          <a:latin typeface="+mn-ea"/>
                          <a:ea typeface="+mn-ea"/>
                        </a:rPr>
                        <a:t>元素的</a:t>
                      </a:r>
                      <a:r>
                        <a:rPr lang="en-US" altLang="zh-CN" sz="1800" dirty="0">
                          <a:latin typeface="+mn-ea"/>
                          <a:ea typeface="+mn-ea"/>
                        </a:rPr>
                        <a:t>1</a:t>
                      </a:r>
                      <a:r>
                        <a:rPr lang="zh-CN" altLang="en-US" sz="1800" dirty="0">
                          <a:latin typeface="+mn-ea"/>
                          <a:ea typeface="+mn-ea"/>
                        </a:rPr>
                        <a:t>维整型数组；</a:t>
                      </a:r>
                      <a:endParaRPr lang="en-US" altLang="zh-CN" sz="1800" dirty="0">
                        <a:latin typeface="+mn-ea"/>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dirty="0">
                          <a:latin typeface="+mn-ea"/>
                          <a:ea typeface="+mn-ea"/>
                        </a:rPr>
                        <a:t>让</a:t>
                      </a:r>
                      <a:r>
                        <a:rPr lang="en-US" altLang="zh-CN" sz="1800" dirty="0">
                          <a:latin typeface="+mn-ea"/>
                          <a:ea typeface="+mn-ea"/>
                        </a:rPr>
                        <a:t>PR</a:t>
                      </a:r>
                      <a:r>
                        <a:rPr lang="zh-CN" altLang="en-US" sz="1800" dirty="0">
                          <a:latin typeface="+mn-ea"/>
                          <a:ea typeface="+mn-ea"/>
                        </a:rPr>
                        <a:t>指向</a:t>
                      </a:r>
                      <a:r>
                        <a:rPr lang="en-US" altLang="zh-CN" sz="1800" dirty="0">
                          <a:latin typeface="+mn-ea"/>
                          <a:ea typeface="+mn-ea"/>
                        </a:rPr>
                        <a:t>a</a:t>
                      </a:r>
                    </a:p>
                  </a:txBody>
                  <a:tcPr/>
                </a:tc>
                <a:extLst>
                  <a:ext uri="{0D108BD9-81ED-4DB2-BD59-A6C34878D82A}">
                    <a16:rowId xmlns:a16="http://schemas.microsoft.com/office/drawing/2014/main" xmlns="" val="10002"/>
                  </a:ext>
                </a:extLst>
              </a:tr>
              <a:tr h="750330">
                <a:tc>
                  <a:txBody>
                    <a:bodyPr/>
                    <a:lstStyle/>
                    <a:p>
                      <a:r>
                        <a:rPr lang="en-US" altLang="zh-CN" sz="1800" dirty="0" err="1">
                          <a:latin typeface="Times New Roman" panose="02020603050405020304" pitchFamily="18" charset="0"/>
                          <a:ea typeface="+mn-ea"/>
                          <a:cs typeface="Times New Roman" panose="02020603050405020304" pitchFamily="18" charset="0"/>
                        </a:rPr>
                        <a:t>int</a:t>
                      </a:r>
                      <a:r>
                        <a:rPr lang="en-US" altLang="zh-CN" sz="1800" dirty="0">
                          <a:latin typeface="Times New Roman" panose="02020603050405020304" pitchFamily="18" charset="0"/>
                          <a:ea typeface="+mn-ea"/>
                          <a:cs typeface="Times New Roman" panose="02020603050405020304" pitchFamily="18" charset="0"/>
                        </a:rPr>
                        <a:t> *P;</a:t>
                      </a:r>
                    </a:p>
                    <a:p>
                      <a:r>
                        <a:rPr lang="en-US" altLang="zh-CN" sz="1800" dirty="0">
                          <a:latin typeface="Times New Roman" panose="02020603050405020304" pitchFamily="18" charset="0"/>
                          <a:ea typeface="+mn-ea"/>
                          <a:cs typeface="Times New Roman" panose="02020603050405020304" pitchFamily="18" charset="0"/>
                        </a:rPr>
                        <a:t>P=a[0]</a:t>
                      </a:r>
                      <a:endParaRPr lang="zh-CN" altLang="en-US" dirty="0">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dirty="0">
                          <a:latin typeface="+mn-ea"/>
                          <a:ea typeface="+mn-ea"/>
                        </a:rPr>
                        <a:t>P</a:t>
                      </a:r>
                      <a:r>
                        <a:rPr lang="zh-CN" altLang="en-US" sz="1800" dirty="0">
                          <a:latin typeface="+mn-ea"/>
                          <a:ea typeface="+mn-ea"/>
                        </a:rPr>
                        <a:t>是个指针，该指针的基类型是整型；</a:t>
                      </a:r>
                      <a:endParaRPr lang="en-US" altLang="zh-CN" sz="1800" dirty="0">
                        <a:latin typeface="+mn-ea"/>
                        <a:ea typeface="+mn-ea"/>
                      </a:endParaRPr>
                    </a:p>
                    <a:p>
                      <a:r>
                        <a:rPr lang="zh-CN" altLang="en-US" sz="1800" dirty="0">
                          <a:latin typeface="+mn-ea"/>
                          <a:ea typeface="+mn-ea"/>
                        </a:rPr>
                        <a:t>让</a:t>
                      </a:r>
                      <a:r>
                        <a:rPr lang="en-US" altLang="zh-CN" sz="1800" dirty="0">
                          <a:latin typeface="+mn-ea"/>
                          <a:ea typeface="+mn-ea"/>
                        </a:rPr>
                        <a:t>P</a:t>
                      </a:r>
                      <a:r>
                        <a:rPr lang="zh-CN" altLang="en-US" sz="1800" dirty="0">
                          <a:latin typeface="+mn-ea"/>
                          <a:ea typeface="+mn-ea"/>
                        </a:rPr>
                        <a:t>指向</a:t>
                      </a:r>
                      <a:r>
                        <a:rPr lang="en-US" altLang="zh-CN" sz="1800" dirty="0">
                          <a:latin typeface="+mn-ea"/>
                          <a:ea typeface="+mn-ea"/>
                        </a:rPr>
                        <a:t>a,</a:t>
                      </a:r>
                      <a:r>
                        <a:rPr lang="zh-CN" altLang="en-US" sz="1800" dirty="0">
                          <a:latin typeface="+mn-ea"/>
                          <a:ea typeface="+mn-ea"/>
                        </a:rPr>
                        <a:t>标准写法是</a:t>
                      </a:r>
                      <a:r>
                        <a:rPr lang="en-US" altLang="zh-CN" sz="1800" dirty="0">
                          <a:latin typeface="+mn-ea"/>
                          <a:ea typeface="+mn-ea"/>
                        </a:rPr>
                        <a:t>p=&amp;a[0][0]</a:t>
                      </a:r>
                      <a:r>
                        <a:rPr lang="zh-CN" altLang="en-US" sz="1800" dirty="0">
                          <a:latin typeface="+mn-ea"/>
                          <a:ea typeface="+mn-ea"/>
                        </a:rPr>
                        <a:t>或</a:t>
                      </a:r>
                      <a:r>
                        <a:rPr lang="en-US" altLang="zh-CN" sz="1800" dirty="0">
                          <a:latin typeface="+mn-ea"/>
                          <a:ea typeface="+mn-ea"/>
                        </a:rPr>
                        <a:t>p=a[0]</a:t>
                      </a:r>
                      <a:endParaRPr lang="zh-CN" altLang="en-US" dirty="0">
                        <a:latin typeface="+mn-ea"/>
                        <a:ea typeface="+mn-ea"/>
                      </a:endParaRPr>
                    </a:p>
                  </a:txBody>
                  <a:tcPr/>
                </a:tc>
                <a:extLst>
                  <a:ext uri="{0D108BD9-81ED-4DB2-BD59-A6C34878D82A}">
                    <a16:rowId xmlns:a16="http://schemas.microsoft.com/office/drawing/2014/main" xmlns="" val="10003"/>
                  </a:ext>
                </a:extLst>
              </a:tr>
            </a:tbl>
          </a:graphicData>
        </a:graphic>
      </p:graphicFrame>
    </p:spTree>
    <p:extLst>
      <p:ext uri="{BB962C8B-B14F-4D97-AF65-F5344CB8AC3E}">
        <p14:creationId xmlns:p14="http://schemas.microsoft.com/office/powerpoint/2010/main" val="1330495111"/>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txBox="1">
            <a:spLocks noChangeArrowheads="1"/>
          </p:cNvSpPr>
          <p:nvPr/>
        </p:nvSpPr>
        <p:spPr>
          <a:xfrm>
            <a:off x="771525" y="1229995"/>
            <a:ext cx="9048750" cy="4611688"/>
          </a:xfrm>
          <a:prstGeom prst="rect">
            <a:avLst/>
          </a:prstGeom>
        </p:spPr>
        <p:txBody>
          <a:bodyPr lIns="91440" tIns="45720" rIns="91440" bIns="4572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5000"/>
              </a:lnSpc>
              <a:spcAft>
                <a:spcPct val="0"/>
              </a:spcAft>
              <a:buSzPct val="50000"/>
              <a:buFont typeface="Monotype Sorts"/>
              <a:buChar char=""/>
            </a:pPr>
            <a:r>
              <a:rPr lang="zh-CN" altLang="zh-CN" dirty="0">
                <a:ea typeface="黑体" panose="02010609060101010101" pitchFamily="49" charset="-122"/>
              </a:rPr>
              <a:t>【例</a:t>
            </a:r>
            <a:r>
              <a:rPr lang="en-US" altLang="zh-CN" dirty="0">
                <a:ea typeface="黑体" panose="02010609060101010101" pitchFamily="49" charset="-122"/>
              </a:rPr>
              <a:t>4</a:t>
            </a:r>
            <a:r>
              <a:rPr lang="zh-CN" altLang="zh-CN" dirty="0">
                <a:ea typeface="黑体" panose="02010609060101010101" pitchFamily="49" charset="-122"/>
              </a:rPr>
              <a:t>】计算并输出最高分及相应学生的学号</a:t>
            </a:r>
            <a:endParaRPr lang="en-US" altLang="zh-CN" dirty="0">
              <a:ea typeface="黑体" panose="02010609060101010101" pitchFamily="49" charset="-122"/>
            </a:endParaRPr>
          </a:p>
        </p:txBody>
      </p:sp>
      <p:pic>
        <p:nvPicPr>
          <p:cNvPr id="7" name="图片 7" descr="Image3.jpg"/>
          <p:cNvPicPr>
            <a:picLocks noChangeAspect="1" noChangeArrowheads="1"/>
          </p:cNvPicPr>
          <p:nvPr/>
        </p:nvPicPr>
        <p:blipFill>
          <a:blip r:embed="rId2">
            <a:clrChange>
              <a:clrFrom>
                <a:srgbClr val="FFFFFD"/>
              </a:clrFrom>
              <a:clrTo>
                <a:srgbClr val="FFFFFD">
                  <a:alpha val="0"/>
                </a:srgbClr>
              </a:clrTo>
            </a:clrChange>
            <a:extLst>
              <a:ext uri="{28A0092B-C50C-407E-A947-70E740481C1C}">
                <a14:useLocalDpi xmlns:a14="http://schemas.microsoft.com/office/drawing/2010/main" val="0"/>
              </a:ext>
            </a:extLst>
          </a:blip>
          <a:srcRect/>
          <a:stretch>
            <a:fillRect/>
          </a:stretch>
        </p:blipFill>
        <p:spPr bwMode="auto">
          <a:xfrm>
            <a:off x="10991310" y="4605278"/>
            <a:ext cx="912812" cy="1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4"/>
          <p:cNvSpPr>
            <a:spLocks noChangeArrowheads="1"/>
          </p:cNvSpPr>
          <p:nvPr/>
        </p:nvSpPr>
        <p:spPr bwMode="auto">
          <a:xfrm>
            <a:off x="1682215" y="1730916"/>
            <a:ext cx="8235507" cy="4770537"/>
          </a:xfrm>
          <a:prstGeom prst="rect">
            <a:avLst/>
          </a:prstGeom>
          <a:solidFill>
            <a:schemeClr val="bg1"/>
          </a:solidFill>
          <a:ln w="57150" cap="sq" cmpd="thickThin">
            <a:solidFill>
              <a:srgbClr val="000080"/>
            </a:solidFill>
            <a:miter lim="800000"/>
            <a:headEnd type="none" w="sm" len="sm"/>
            <a:tailEnd type="none" w="sm" len="sm"/>
          </a:ln>
        </p:spPr>
        <p:txBody>
          <a:bodyPr wrap="square">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buClr>
                <a:schemeClr val="tx2"/>
              </a:buClr>
              <a:buSzPct val="80000"/>
              <a:buFont typeface="Wingdings" panose="05000000000000000000" pitchFamily="2" charset="2"/>
              <a:buNone/>
            </a:pPr>
            <a:r>
              <a:rPr lang="en-US" altLang="zh-CN" sz="1600" b="1" dirty="0">
                <a:solidFill>
                  <a:srgbClr val="00B050"/>
                </a:solidFill>
                <a:latin typeface="Courier New" panose="02070309020205020404" pitchFamily="49" charset="0"/>
                <a:ea typeface="宋体" panose="02010600030101010101" pitchFamily="2" charset="-122"/>
              </a:rPr>
              <a:t>#include &lt;</a:t>
            </a:r>
            <a:r>
              <a:rPr lang="en-US" altLang="zh-CN" sz="1600" b="1" dirty="0" err="1">
                <a:solidFill>
                  <a:srgbClr val="00B050"/>
                </a:solidFill>
                <a:latin typeface="Courier New" panose="02070309020205020404" pitchFamily="49" charset="0"/>
                <a:ea typeface="宋体" panose="02010600030101010101" pitchFamily="2" charset="-122"/>
              </a:rPr>
              <a:t>stdio.h</a:t>
            </a:r>
            <a:r>
              <a:rPr lang="en-US" altLang="zh-CN" sz="1600" b="1" dirty="0">
                <a:solidFill>
                  <a:srgbClr val="00B050"/>
                </a:solidFill>
                <a:latin typeface="Courier New" panose="02070309020205020404" pitchFamily="49" charset="0"/>
                <a:ea typeface="宋体" panose="02010600030101010101" pitchFamily="2" charset="-122"/>
              </a:rPr>
              <a:t>&gt;</a:t>
            </a:r>
          </a:p>
          <a:p>
            <a:pPr>
              <a:buClr>
                <a:schemeClr val="tx2"/>
              </a:buClr>
              <a:buSzPct val="80000"/>
              <a:buFont typeface="Wingdings" panose="05000000000000000000" pitchFamily="2" charset="2"/>
              <a:buNone/>
            </a:pPr>
            <a:r>
              <a:rPr lang="en-US" altLang="zh-CN" sz="1600" b="1" dirty="0">
                <a:solidFill>
                  <a:srgbClr val="00B050"/>
                </a:solidFill>
                <a:latin typeface="Courier New" panose="02070309020205020404" pitchFamily="49" charset="0"/>
                <a:ea typeface="宋体" panose="02010600030101010101" pitchFamily="2" charset="-122"/>
              </a:rPr>
              <a:t>#include &lt;</a:t>
            </a:r>
            <a:r>
              <a:rPr lang="en-US" altLang="zh-CN" sz="1600" b="1" dirty="0" err="1">
                <a:solidFill>
                  <a:srgbClr val="00B050"/>
                </a:solidFill>
                <a:latin typeface="Courier New" panose="02070309020205020404" pitchFamily="49" charset="0"/>
                <a:ea typeface="宋体" panose="02010600030101010101" pitchFamily="2" charset="-122"/>
              </a:rPr>
              <a:t>stdlib.h</a:t>
            </a:r>
            <a:r>
              <a:rPr lang="en-US" altLang="zh-CN" sz="1600" b="1" dirty="0">
                <a:solidFill>
                  <a:srgbClr val="00B050"/>
                </a:solidFill>
                <a:latin typeface="Courier New" panose="02070309020205020404" pitchFamily="49" charset="0"/>
                <a:ea typeface="宋体" panose="02010600030101010101" pitchFamily="2" charset="-122"/>
              </a:rPr>
              <a:t>&gt;</a:t>
            </a:r>
            <a:endParaRPr lang="en-US" altLang="zh-CN" sz="1600" b="1" dirty="0">
              <a:latin typeface="Courier New" panose="02070309020205020404" pitchFamily="49" charset="0"/>
              <a:ea typeface="宋体" panose="02010600030101010101" pitchFamily="2" charset="-122"/>
            </a:endParaRPr>
          </a:p>
          <a:p>
            <a:pPr>
              <a:buClr>
                <a:schemeClr val="tx2"/>
              </a:buClr>
              <a:buSzPct val="80000"/>
              <a:buFont typeface="Wingdings" panose="05000000000000000000" pitchFamily="2" charset="2"/>
              <a:buNone/>
            </a:pPr>
            <a:r>
              <a:rPr lang="en-US" altLang="zh-CN" sz="1600" b="1" dirty="0">
                <a:solidFill>
                  <a:srgbClr val="00B050"/>
                </a:solidFill>
                <a:latin typeface="Courier New" panose="02070309020205020404" pitchFamily="49" charset="0"/>
                <a:ea typeface="宋体" panose="02010600030101010101" pitchFamily="2" charset="-122"/>
              </a:rPr>
              <a:t>#define N 100  </a:t>
            </a:r>
            <a:r>
              <a:rPr lang="en-US" altLang="zh-CN" sz="1600" b="1" dirty="0">
                <a:latin typeface="Courier New" panose="02070309020205020404" pitchFamily="49" charset="0"/>
                <a:ea typeface="宋体" panose="02010600030101010101" pitchFamily="2" charset="-122"/>
              </a:rPr>
              <a:t>// </a:t>
            </a:r>
            <a:r>
              <a:rPr lang="zh-CN" altLang="en-US" sz="1600" b="1" dirty="0">
                <a:latin typeface="Courier New" panose="02070309020205020404" pitchFamily="49" charset="0"/>
                <a:ea typeface="宋体" panose="02010600030101010101" pitchFamily="2" charset="-122"/>
              </a:rPr>
              <a:t>定义数组大小</a:t>
            </a:r>
          </a:p>
          <a:p>
            <a:pPr>
              <a:buClr>
                <a:schemeClr val="tx2"/>
              </a:buClr>
              <a:buSzPct val="80000"/>
              <a:buFont typeface="Wingdings" panose="05000000000000000000" pitchFamily="2" charset="2"/>
              <a:buNone/>
            </a:pPr>
            <a:r>
              <a:rPr lang="en-US" altLang="zh-CN" sz="1600" b="1" dirty="0" err="1">
                <a:latin typeface="Courier New" panose="02070309020205020404" pitchFamily="49" charset="0"/>
                <a:ea typeface="宋体" panose="02010600030101010101" pitchFamily="2" charset="-122"/>
              </a:rPr>
              <a:t>int</a:t>
            </a:r>
            <a:r>
              <a:rPr lang="en-US" altLang="zh-CN" sz="1600" b="1" dirty="0">
                <a:latin typeface="Courier New" panose="02070309020205020404" pitchFamily="49" charset="0"/>
                <a:ea typeface="宋体" panose="02010600030101010101" pitchFamily="2" charset="-122"/>
              </a:rPr>
              <a:t> main()</a:t>
            </a:r>
          </a:p>
          <a:p>
            <a:pPr>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a:t>
            </a:r>
          </a:p>
          <a:p>
            <a:pPr>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int</a:t>
            </a:r>
            <a:r>
              <a:rPr lang="en-US" altLang="zh-CN" sz="1600" b="1" dirty="0">
                <a:latin typeface="Courier New" panose="02070309020205020404" pitchFamily="49" charset="0"/>
                <a:ea typeface="宋体" panose="02010600030101010101" pitchFamily="2" charset="-122"/>
              </a:rPr>
              <a:t> score[N], </a:t>
            </a:r>
            <a:r>
              <a:rPr lang="en-US" altLang="zh-CN" sz="1600" b="1" dirty="0" err="1">
                <a:latin typeface="Courier New" panose="02070309020205020404" pitchFamily="49" charset="0"/>
                <a:ea typeface="宋体" panose="02010600030101010101" pitchFamily="2" charset="-122"/>
              </a:rPr>
              <a:t>maxScore</a:t>
            </a:r>
            <a:r>
              <a:rPr lang="en-US" altLang="zh-CN" sz="1600" b="1" dirty="0">
                <a:latin typeface="Courier New" panose="02070309020205020404" pitchFamily="49" charset="0"/>
                <a:ea typeface="宋体" panose="02010600030101010101" pitchFamily="2" charset="-122"/>
              </a:rPr>
              <a:t>;</a:t>
            </a:r>
          </a:p>
          <a:p>
            <a:pPr>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int</a:t>
            </a:r>
            <a:r>
              <a:rPr lang="en-US" altLang="zh-CN" sz="1600" b="1" dirty="0">
                <a:latin typeface="Courier New" panose="02070309020205020404" pitchFamily="49" charset="0"/>
                <a:ea typeface="宋体" panose="02010600030101010101" pitchFamily="2" charset="-122"/>
              </a:rPr>
              <a:t> n,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a:t>
            </a:r>
          </a:p>
          <a:p>
            <a:pPr>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long </a:t>
            </a:r>
            <a:r>
              <a:rPr lang="en-US" altLang="zh-CN" sz="1600" b="1" dirty="0" err="1">
                <a:latin typeface="Courier New" panose="02070309020205020404" pitchFamily="49" charset="0"/>
                <a:ea typeface="宋体" panose="02010600030101010101" pitchFamily="2" charset="-122"/>
              </a:rPr>
              <a:t>num</a:t>
            </a:r>
            <a:r>
              <a:rPr lang="en-US" altLang="zh-CN" sz="1600" b="1" dirty="0">
                <a:latin typeface="Courier New" panose="02070309020205020404" pitchFamily="49" charset="0"/>
                <a:ea typeface="宋体" panose="02010600030101010101" pitchFamily="2" charset="-122"/>
              </a:rPr>
              <a:t>[N], </a:t>
            </a:r>
            <a:r>
              <a:rPr lang="en-US" altLang="zh-CN" sz="1600" b="1" dirty="0" err="1">
                <a:latin typeface="Courier New" panose="02070309020205020404" pitchFamily="49" charset="0"/>
                <a:ea typeface="宋体" panose="02010600030101010101" pitchFamily="2" charset="-122"/>
              </a:rPr>
              <a:t>maxNum</a:t>
            </a:r>
            <a:r>
              <a:rPr lang="en-US" altLang="zh-CN" sz="1600" b="1" dirty="0">
                <a:latin typeface="Courier New" panose="02070309020205020404" pitchFamily="49" charset="0"/>
                <a:ea typeface="宋体" panose="02010600030101010101" pitchFamily="2" charset="-122"/>
              </a:rPr>
              <a:t>;</a:t>
            </a:r>
          </a:p>
          <a:p>
            <a:pPr>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printf</a:t>
            </a:r>
            <a:r>
              <a:rPr lang="en-US" altLang="zh-CN" sz="1600" b="1" dirty="0">
                <a:latin typeface="Courier New" panose="02070309020205020404" pitchFamily="49" charset="0"/>
                <a:ea typeface="宋体" panose="02010600030101010101" pitchFamily="2" charset="-122"/>
              </a:rPr>
              <a:t>("How many students?");</a:t>
            </a:r>
          </a:p>
          <a:p>
            <a:pPr>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scanf</a:t>
            </a:r>
            <a:r>
              <a:rPr lang="en-US" altLang="zh-CN" sz="1600" b="1" dirty="0">
                <a:latin typeface="Courier New" panose="02070309020205020404" pitchFamily="49" charset="0"/>
                <a:ea typeface="宋体" panose="02010600030101010101" pitchFamily="2" charset="-122"/>
              </a:rPr>
              <a:t>("%d", &amp;n);</a:t>
            </a:r>
          </a:p>
          <a:p>
            <a:pPr>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printf</a:t>
            </a:r>
            <a:r>
              <a:rPr lang="en-US" altLang="zh-CN" sz="1600" b="1" dirty="0">
                <a:latin typeface="Courier New" panose="02070309020205020404" pitchFamily="49" charset="0"/>
                <a:ea typeface="宋体" panose="02010600030101010101" pitchFamily="2" charset="-122"/>
              </a:rPr>
              <a:t>("Input student's ID and score:\n");</a:t>
            </a:r>
          </a:p>
          <a:p>
            <a:pPr>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for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=0;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&lt;n;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a:t>
            </a:r>
          </a:p>
          <a:p>
            <a:pPr>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scanf</a:t>
            </a:r>
            <a:r>
              <a:rPr lang="en-US" altLang="zh-CN" sz="1600" b="1" dirty="0">
                <a:latin typeface="Courier New" panose="02070309020205020404" pitchFamily="49" charset="0"/>
                <a:ea typeface="宋体" panose="02010600030101010101" pitchFamily="2" charset="-122"/>
              </a:rPr>
              <a:t>("%</a:t>
            </a:r>
            <a:r>
              <a:rPr lang="en-US" altLang="zh-CN" sz="1600" b="1" dirty="0" err="1">
                <a:latin typeface="Courier New" panose="02070309020205020404" pitchFamily="49" charset="0"/>
                <a:ea typeface="宋体" panose="02010600030101010101" pitchFamily="2" charset="-122"/>
              </a:rPr>
              <a:t>ld%d</a:t>
            </a:r>
            <a:r>
              <a:rPr lang="en-US" altLang="zh-CN" sz="1600" b="1" dirty="0">
                <a:latin typeface="Courier New" panose="02070309020205020404" pitchFamily="49" charset="0"/>
                <a:ea typeface="宋体" panose="02010600030101010101" pitchFamily="2" charset="-122"/>
              </a:rPr>
              <a:t>", &amp;</a:t>
            </a:r>
            <a:r>
              <a:rPr lang="en-US" altLang="zh-CN" sz="1600" b="1" dirty="0" err="1">
                <a:latin typeface="Courier New" panose="02070309020205020404" pitchFamily="49" charset="0"/>
                <a:ea typeface="宋体" panose="02010600030101010101" pitchFamily="2" charset="-122"/>
              </a:rPr>
              <a:t>num</a:t>
            </a:r>
            <a:r>
              <a:rPr lang="en-US" altLang="zh-CN" sz="1600" b="1" dirty="0">
                <a:latin typeface="Courier New" panose="02070309020205020404" pitchFamily="49" charset="0"/>
                <a:ea typeface="宋体" panose="02010600030101010101" pitchFamily="2" charset="-122"/>
              </a:rPr>
              <a:t>[</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 &amp;score[</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 /* </a:t>
            </a:r>
            <a:r>
              <a:rPr lang="zh-CN" altLang="en-US" sz="1600" b="1" dirty="0">
                <a:latin typeface="Courier New" panose="02070309020205020404" pitchFamily="49" charset="0"/>
                <a:ea typeface="宋体" panose="02010600030101010101" pitchFamily="2" charset="-122"/>
              </a:rPr>
              <a:t>字母</a:t>
            </a:r>
            <a:r>
              <a:rPr lang="en-US" altLang="zh-CN" sz="1600" b="1" dirty="0">
                <a:latin typeface="Courier New" panose="02070309020205020404" pitchFamily="49" charset="0"/>
                <a:ea typeface="宋体" panose="02010600030101010101" pitchFamily="2" charset="-122"/>
              </a:rPr>
              <a:t>d</a:t>
            </a:r>
            <a:r>
              <a:rPr lang="zh-CN" altLang="en-US" sz="1600" b="1" dirty="0">
                <a:latin typeface="Courier New" panose="02070309020205020404" pitchFamily="49" charset="0"/>
                <a:ea typeface="宋体" panose="02010600030101010101" pitchFamily="2" charset="-122"/>
              </a:rPr>
              <a:t>前为字母</a:t>
            </a:r>
            <a:r>
              <a:rPr lang="en-US" altLang="zh-CN" sz="1600" b="1" dirty="0">
                <a:latin typeface="Courier New" panose="02070309020205020404" pitchFamily="49" charset="0"/>
                <a:ea typeface="宋体" panose="02010600030101010101" pitchFamily="2" charset="-122"/>
              </a:rPr>
              <a:t>1 */</a:t>
            </a:r>
          </a:p>
          <a:p>
            <a:pPr>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solidFill>
                  <a:srgbClr val="FF0000"/>
                </a:solidFill>
                <a:latin typeface="Courier New" panose="02070309020205020404" pitchFamily="49" charset="0"/>
                <a:ea typeface="宋体" panose="02010600030101010101" pitchFamily="2" charset="-122"/>
              </a:rPr>
              <a:t>FindMax</a:t>
            </a:r>
            <a:r>
              <a:rPr lang="en-US" altLang="zh-CN" sz="1600" b="1" dirty="0">
                <a:solidFill>
                  <a:srgbClr val="FF0000"/>
                </a:solidFill>
                <a:latin typeface="Courier New" panose="02070309020205020404" pitchFamily="49" charset="0"/>
                <a:ea typeface="宋体" panose="02010600030101010101" pitchFamily="2" charset="-122"/>
              </a:rPr>
              <a:t>(score, </a:t>
            </a:r>
            <a:r>
              <a:rPr lang="en-US" altLang="zh-CN" sz="1600" b="1" dirty="0" err="1">
                <a:solidFill>
                  <a:srgbClr val="FF0000"/>
                </a:solidFill>
                <a:latin typeface="Courier New" panose="02070309020205020404" pitchFamily="49" charset="0"/>
                <a:ea typeface="宋体" panose="02010600030101010101" pitchFamily="2" charset="-122"/>
              </a:rPr>
              <a:t>num</a:t>
            </a:r>
            <a:r>
              <a:rPr lang="en-US" altLang="zh-CN" sz="1600" b="1" dirty="0">
                <a:solidFill>
                  <a:srgbClr val="FF0000"/>
                </a:solidFill>
                <a:latin typeface="Courier New" panose="02070309020205020404" pitchFamily="49" charset="0"/>
                <a:ea typeface="宋体" panose="02010600030101010101" pitchFamily="2" charset="-122"/>
              </a:rPr>
              <a:t>, n, </a:t>
            </a:r>
            <a:r>
              <a:rPr lang="en-US" altLang="zh-CN" sz="1600" b="1" dirty="0" err="1">
                <a:solidFill>
                  <a:srgbClr val="FF0000"/>
                </a:solidFill>
                <a:latin typeface="Courier New" panose="02070309020205020404" pitchFamily="49" charset="0"/>
                <a:ea typeface="宋体" panose="02010600030101010101" pitchFamily="2" charset="-122"/>
              </a:rPr>
              <a:t>maxScore</a:t>
            </a:r>
            <a:r>
              <a:rPr lang="en-US" altLang="zh-CN" sz="1600" b="1" dirty="0">
                <a:solidFill>
                  <a:srgbClr val="FF0000"/>
                </a:solidFill>
                <a:latin typeface="Courier New" panose="02070309020205020404" pitchFamily="49" charset="0"/>
                <a:ea typeface="宋体" panose="02010600030101010101" pitchFamily="2" charset="-122"/>
              </a:rPr>
              <a:t>, </a:t>
            </a:r>
            <a:r>
              <a:rPr lang="en-US" altLang="zh-CN" sz="1600" b="1" dirty="0" err="1">
                <a:solidFill>
                  <a:srgbClr val="FF0000"/>
                </a:solidFill>
                <a:latin typeface="Courier New" panose="02070309020205020404" pitchFamily="49" charset="0"/>
                <a:ea typeface="宋体" panose="02010600030101010101" pitchFamily="2" charset="-122"/>
              </a:rPr>
              <a:t>maxNum</a:t>
            </a:r>
            <a:r>
              <a:rPr lang="en-US" altLang="zh-CN" sz="1600" b="1" dirty="0">
                <a:solidFill>
                  <a:srgbClr val="FF0000"/>
                </a:solidFill>
                <a:latin typeface="Courier New" panose="02070309020205020404" pitchFamily="49" charset="0"/>
                <a:ea typeface="宋体" panose="02010600030101010101" pitchFamily="2" charset="-122"/>
              </a:rPr>
              <a:t>); /* </a:t>
            </a:r>
            <a:r>
              <a:rPr lang="zh-CN" altLang="en-US" sz="1600" b="1" dirty="0">
                <a:solidFill>
                  <a:srgbClr val="FF0000"/>
                </a:solidFill>
                <a:latin typeface="Courier New" panose="02070309020205020404" pitchFamily="49" charset="0"/>
                <a:ea typeface="宋体" panose="02010600030101010101" pitchFamily="2" charset="-122"/>
              </a:rPr>
              <a:t>按值调用函数 *</a:t>
            </a:r>
            <a:r>
              <a:rPr lang="en-US" altLang="zh-CN" sz="1600" b="1" dirty="0">
                <a:solidFill>
                  <a:srgbClr val="FF0000"/>
                </a:solidFill>
                <a:latin typeface="Courier New" panose="02070309020205020404" pitchFamily="49" charset="0"/>
                <a:ea typeface="宋体" panose="02010600030101010101" pitchFamily="2" charset="-122"/>
              </a:rPr>
              <a:t>/</a:t>
            </a:r>
          </a:p>
          <a:p>
            <a:pPr>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printf</a:t>
            </a:r>
            <a:r>
              <a:rPr lang="en-US" altLang="zh-CN" sz="1600" b="1" dirty="0">
                <a:latin typeface="Courier New" panose="02070309020205020404" pitchFamily="49" charset="0"/>
                <a:ea typeface="宋体" panose="02010600030101010101" pitchFamily="2" charset="-122"/>
              </a:rPr>
              <a:t>("</a:t>
            </a:r>
            <a:r>
              <a:rPr lang="en-US" altLang="zh-CN" sz="1600" b="1" dirty="0" err="1">
                <a:latin typeface="Courier New" panose="02070309020205020404" pitchFamily="49" charset="0"/>
                <a:ea typeface="宋体" panose="02010600030101010101" pitchFamily="2" charset="-122"/>
              </a:rPr>
              <a:t>maxScore</a:t>
            </a:r>
            <a:r>
              <a:rPr lang="en-US" altLang="zh-CN" sz="1600" b="1" dirty="0">
                <a:latin typeface="Courier New" panose="02070309020205020404" pitchFamily="49" charset="0"/>
                <a:ea typeface="宋体" panose="02010600030101010101" pitchFamily="2" charset="-122"/>
              </a:rPr>
              <a:t> = %d, </a:t>
            </a:r>
            <a:r>
              <a:rPr lang="en-US" altLang="zh-CN" sz="1600" b="1" dirty="0" err="1">
                <a:latin typeface="Courier New" panose="02070309020205020404" pitchFamily="49" charset="0"/>
                <a:ea typeface="宋体" panose="02010600030101010101" pitchFamily="2" charset="-122"/>
              </a:rPr>
              <a:t>maxNum</a:t>
            </a:r>
            <a:r>
              <a:rPr lang="en-US" altLang="zh-CN" sz="1600" b="1" dirty="0">
                <a:latin typeface="Courier New" panose="02070309020205020404" pitchFamily="49" charset="0"/>
                <a:ea typeface="宋体" panose="02010600030101010101" pitchFamily="2" charset="-122"/>
              </a:rPr>
              <a:t> = %</a:t>
            </a:r>
            <a:r>
              <a:rPr lang="en-US" altLang="zh-CN" sz="1600" b="1" dirty="0" err="1">
                <a:latin typeface="Courier New" panose="02070309020205020404" pitchFamily="49" charset="0"/>
                <a:ea typeface="宋体" panose="02010600030101010101" pitchFamily="2" charset="-122"/>
              </a:rPr>
              <a:t>ld</a:t>
            </a:r>
            <a:r>
              <a:rPr lang="en-US" altLang="zh-CN" sz="1600" b="1" dirty="0">
                <a:latin typeface="Courier New" panose="02070309020205020404" pitchFamily="49" charset="0"/>
                <a:ea typeface="宋体" panose="02010600030101010101" pitchFamily="2" charset="-122"/>
              </a:rPr>
              <a:t>\n", </a:t>
            </a:r>
            <a:r>
              <a:rPr lang="en-US" altLang="zh-CN" sz="1600" b="1" dirty="0" err="1">
                <a:latin typeface="Courier New" panose="02070309020205020404" pitchFamily="49" charset="0"/>
                <a:ea typeface="宋体" panose="02010600030101010101" pitchFamily="2" charset="-122"/>
              </a:rPr>
              <a:t>maxScore</a:t>
            </a: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maxNum</a:t>
            </a:r>
            <a:r>
              <a:rPr lang="en-US" altLang="zh-CN" sz="1600" b="1" dirty="0">
                <a:latin typeface="Courier New" panose="02070309020205020404" pitchFamily="49" charset="0"/>
                <a:ea typeface="宋体" panose="02010600030101010101" pitchFamily="2" charset="-122"/>
              </a:rPr>
              <a:t>);</a:t>
            </a:r>
          </a:p>
          <a:p>
            <a:pPr>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return 0;</a:t>
            </a:r>
          </a:p>
          <a:p>
            <a:pPr>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a:t>
            </a:r>
          </a:p>
        </p:txBody>
      </p:sp>
      <p:sp>
        <p:nvSpPr>
          <p:cNvPr id="9"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3</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、用指针变量作函数参数</a:t>
            </a:r>
          </a:p>
        </p:txBody>
      </p:sp>
    </p:spTree>
    <p:extLst>
      <p:ext uri="{BB962C8B-B14F-4D97-AF65-F5344CB8AC3E}">
        <p14:creationId xmlns:p14="http://schemas.microsoft.com/office/powerpoint/2010/main" val="2104874332"/>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1631950" y="1129026"/>
            <a:ext cx="9001125" cy="4041775"/>
          </a:xfrm>
          <a:prstGeom prst="rect">
            <a:avLst/>
          </a:prstGeom>
          <a:solidFill>
            <a:schemeClr val="bg1"/>
          </a:solidFill>
          <a:ln w="57150" cap="sq" cmpd="thickThin">
            <a:solidFill>
              <a:srgbClr val="000080"/>
            </a:solidFill>
            <a:miter lim="800000"/>
            <a:headEnd type="none" w="sm" len="sm"/>
            <a:tailEnd type="none" w="sm" len="sm"/>
          </a:ln>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void </a:t>
            </a:r>
            <a:r>
              <a:rPr lang="en-US" altLang="zh-CN" sz="1600" b="1" dirty="0" err="1">
                <a:latin typeface="Courier New" panose="02070309020205020404" pitchFamily="49" charset="0"/>
                <a:ea typeface="宋体" panose="02010600030101010101" pitchFamily="2" charset="-122"/>
              </a:rPr>
              <a:t>FindMax</a:t>
            </a:r>
            <a:r>
              <a:rPr lang="en-US" altLang="zh-CN" sz="1600" b="1" dirty="0">
                <a:latin typeface="Courier New" panose="02070309020205020404" pitchFamily="49" charset="0"/>
                <a:ea typeface="宋体" panose="02010600030101010101" pitchFamily="2" charset="-122"/>
              </a:rPr>
              <a:t>(</a:t>
            </a:r>
            <a:r>
              <a:rPr lang="en-US" altLang="zh-CN" sz="1600" b="1" dirty="0" err="1">
                <a:latin typeface="Courier New" panose="02070309020205020404" pitchFamily="49" charset="0"/>
                <a:ea typeface="宋体" panose="02010600030101010101" pitchFamily="2" charset="-122"/>
              </a:rPr>
              <a:t>int</a:t>
            </a:r>
            <a:r>
              <a:rPr lang="en-US" altLang="zh-CN" sz="1600" b="1" dirty="0">
                <a:latin typeface="Courier New" panose="02070309020205020404" pitchFamily="49" charset="0"/>
                <a:ea typeface="宋体" panose="02010600030101010101" pitchFamily="2" charset="-122"/>
              </a:rPr>
              <a:t> score[],long </a:t>
            </a:r>
            <a:r>
              <a:rPr lang="en-US" altLang="zh-CN" sz="1600" b="1" dirty="0" err="1">
                <a:latin typeface="Courier New" panose="02070309020205020404" pitchFamily="49" charset="0"/>
                <a:ea typeface="宋体" panose="02010600030101010101" pitchFamily="2" charset="-122"/>
              </a:rPr>
              <a:t>num</a:t>
            </a:r>
            <a:r>
              <a:rPr lang="en-US" altLang="zh-CN" sz="1600" b="1" dirty="0">
                <a:latin typeface="Courier New" panose="02070309020205020404" pitchFamily="49" charset="0"/>
                <a:ea typeface="宋体" panose="02010600030101010101" pitchFamily="2" charset="-122"/>
              </a:rPr>
              <a:t>[],</a:t>
            </a:r>
            <a:r>
              <a:rPr lang="en-US" altLang="zh-CN" sz="1600" b="1" dirty="0" err="1">
                <a:latin typeface="Courier New" panose="02070309020205020404" pitchFamily="49" charset="0"/>
                <a:ea typeface="宋体" panose="02010600030101010101" pitchFamily="2" charset="-122"/>
              </a:rPr>
              <a:t>int</a:t>
            </a:r>
            <a:r>
              <a:rPr lang="en-US" altLang="zh-CN" sz="1600" b="1" dirty="0">
                <a:latin typeface="Courier New" panose="02070309020205020404" pitchFamily="49" charset="0"/>
                <a:ea typeface="宋体" panose="02010600030101010101" pitchFamily="2" charset="-122"/>
              </a:rPr>
              <a:t> n, </a:t>
            </a:r>
            <a:r>
              <a:rPr lang="en-US" altLang="zh-CN" sz="1600" b="1" dirty="0" err="1">
                <a:latin typeface="Courier New" panose="02070309020205020404" pitchFamily="49" charset="0"/>
                <a:ea typeface="宋体" panose="02010600030101010101" pitchFamily="2" charset="-122"/>
              </a:rPr>
              <a:t>int</a:t>
            </a: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pMaxScore</a:t>
            </a:r>
            <a:r>
              <a:rPr lang="en-US" altLang="zh-CN" sz="1600" b="1" dirty="0">
                <a:latin typeface="Courier New" panose="02070309020205020404" pitchFamily="49" charset="0"/>
                <a:ea typeface="宋体" panose="02010600030101010101" pitchFamily="2" charset="-122"/>
              </a:rPr>
              <a:t>, long </a:t>
            </a:r>
            <a:r>
              <a:rPr lang="en-US" altLang="zh-CN" sz="1600" b="1" dirty="0" err="1">
                <a:latin typeface="Courier New" panose="02070309020205020404" pitchFamily="49" charset="0"/>
                <a:ea typeface="宋体" panose="02010600030101010101" pitchFamily="2" charset="-122"/>
              </a:rPr>
              <a:t>pMaxNum</a:t>
            </a:r>
            <a:r>
              <a:rPr lang="en-US" altLang="zh-CN" sz="1600" b="1" dirty="0">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int</a:t>
            </a: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pMaxScore</a:t>
            </a:r>
            <a:r>
              <a:rPr lang="en-US" altLang="zh-CN" sz="1600" b="1" dirty="0">
                <a:latin typeface="Courier New" panose="02070309020205020404" pitchFamily="49" charset="0"/>
                <a:ea typeface="宋体" panose="02010600030101010101" pitchFamily="2" charset="-122"/>
              </a:rPr>
              <a:t> = score[0];          </a:t>
            </a:r>
            <a:r>
              <a:rPr lang="en-US" altLang="zh-CN" sz="1600" b="1" dirty="0">
                <a:solidFill>
                  <a:srgbClr val="333399"/>
                </a:solidFill>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solidFill>
                  <a:srgbClr val="333399"/>
                </a:solidFill>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pMaxNum</a:t>
            </a:r>
            <a:r>
              <a:rPr lang="en-US" altLang="zh-CN" sz="1600" b="1" dirty="0">
                <a:latin typeface="Courier New" panose="02070309020205020404" pitchFamily="49" charset="0"/>
                <a:ea typeface="宋体" panose="02010600030101010101" pitchFamily="2" charset="-122"/>
              </a:rPr>
              <a:t> = </a:t>
            </a:r>
            <a:r>
              <a:rPr lang="en-US" altLang="zh-CN" sz="1600" b="1" dirty="0" err="1">
                <a:latin typeface="Courier New" panose="02070309020205020404" pitchFamily="49" charset="0"/>
                <a:ea typeface="宋体" panose="02010600030101010101" pitchFamily="2" charset="-122"/>
              </a:rPr>
              <a:t>num</a:t>
            </a:r>
            <a:r>
              <a:rPr lang="en-US" altLang="zh-CN" sz="1600" b="1" dirty="0">
                <a:latin typeface="Courier New" panose="02070309020205020404" pitchFamily="49" charset="0"/>
                <a:ea typeface="宋体" panose="02010600030101010101" pitchFamily="2" charset="-122"/>
              </a:rPr>
              <a:t>[0];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for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=1;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&lt;n;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if (score[</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 &gt; </a:t>
            </a:r>
            <a:r>
              <a:rPr lang="en-US" altLang="zh-CN" sz="1600" b="1" dirty="0" err="1">
                <a:latin typeface="Courier New" panose="02070309020205020404" pitchFamily="49" charset="0"/>
                <a:ea typeface="宋体" panose="02010600030101010101" pitchFamily="2" charset="-122"/>
              </a:rPr>
              <a:t>pMaxScore</a:t>
            </a:r>
            <a:r>
              <a:rPr lang="en-US" altLang="zh-CN" sz="1600" b="1" dirty="0">
                <a:latin typeface="Courier New" panose="02070309020205020404" pitchFamily="49" charset="0"/>
                <a:ea typeface="宋体" panose="02010600030101010101" pitchFamily="2" charset="-122"/>
              </a:rPr>
              <a:t>)</a:t>
            </a:r>
            <a:endParaRPr lang="zh-CN" altLang="en-US" sz="1600" b="1" dirty="0">
              <a:latin typeface="Courier New" panose="02070309020205020404" pitchFamily="49" charset="0"/>
              <a:ea typeface="宋体" panose="02010600030101010101" pitchFamily="2" charset="-122"/>
            </a:endParaRP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pMaxScore</a:t>
            </a:r>
            <a:r>
              <a:rPr lang="en-US" altLang="zh-CN" sz="1600" b="1" dirty="0">
                <a:latin typeface="Courier New" panose="02070309020205020404" pitchFamily="49" charset="0"/>
                <a:ea typeface="宋体" panose="02010600030101010101" pitchFamily="2" charset="-122"/>
              </a:rPr>
              <a:t> = score[</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solidFill>
                  <a:srgbClr val="333399"/>
                </a:solidFill>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pMaxNum</a:t>
            </a:r>
            <a:r>
              <a:rPr lang="en-US" altLang="zh-CN" sz="1600" b="1" dirty="0">
                <a:latin typeface="Courier New" panose="02070309020205020404" pitchFamily="49" charset="0"/>
                <a:ea typeface="宋体" panose="02010600030101010101" pitchFamily="2" charset="-122"/>
              </a:rPr>
              <a:t> = </a:t>
            </a:r>
            <a:r>
              <a:rPr lang="en-US" altLang="zh-CN" sz="1600" b="1" dirty="0" err="1">
                <a:latin typeface="Courier New" panose="02070309020205020404" pitchFamily="49" charset="0"/>
                <a:ea typeface="宋体" panose="02010600030101010101" pitchFamily="2" charset="-122"/>
              </a:rPr>
              <a:t>num</a:t>
            </a:r>
            <a:r>
              <a:rPr lang="en-US" altLang="zh-CN" sz="1600" b="1" dirty="0">
                <a:latin typeface="Courier New" panose="02070309020205020404" pitchFamily="49" charset="0"/>
                <a:ea typeface="宋体" panose="02010600030101010101" pitchFamily="2" charset="-122"/>
              </a:rPr>
              <a:t>[</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a:t>
            </a:r>
          </a:p>
        </p:txBody>
      </p:sp>
      <p:pic>
        <p:nvPicPr>
          <p:cNvPr id="5" name="图片 4"/>
          <p:cNvPicPr>
            <a:picLocks noChangeAspect="1"/>
          </p:cNvPicPr>
          <p:nvPr/>
        </p:nvPicPr>
        <p:blipFill>
          <a:blip r:embed="rId3"/>
          <a:stretch>
            <a:fillRect/>
          </a:stretch>
        </p:blipFill>
        <p:spPr>
          <a:xfrm>
            <a:off x="2708515" y="5375732"/>
            <a:ext cx="4000500" cy="1323975"/>
          </a:xfrm>
          <a:prstGeom prst="rect">
            <a:avLst/>
          </a:prstGeom>
        </p:spPr>
      </p:pic>
      <p:sp>
        <p:nvSpPr>
          <p:cNvPr id="6" name="文本框 5"/>
          <p:cNvSpPr txBox="1"/>
          <p:nvPr/>
        </p:nvSpPr>
        <p:spPr>
          <a:xfrm>
            <a:off x="865283" y="5293184"/>
            <a:ext cx="1664049" cy="400110"/>
          </a:xfrm>
          <a:prstGeom prst="rect">
            <a:avLst/>
          </a:prstGeom>
          <a:noFill/>
        </p:spPr>
        <p:txBody>
          <a:bodyPr wrap="square" rtlCol="0">
            <a:spAutoFit/>
          </a:bodyPr>
          <a:lstStyle/>
          <a:p>
            <a:r>
              <a:rPr lang="zh-CN" altLang="en-US" sz="2000" dirty="0">
                <a:latin typeface="黑体" panose="02010609060101010101" pitchFamily="49" charset="-122"/>
                <a:ea typeface="黑体" panose="02010609060101010101" pitchFamily="49" charset="-122"/>
              </a:rPr>
              <a:t>运行结果：</a:t>
            </a:r>
          </a:p>
        </p:txBody>
      </p:sp>
      <p:pic>
        <p:nvPicPr>
          <p:cNvPr id="7" name="Picture 11" descr="C:\Users\Sunner\AppData\Local\Microsoft\Windows\Temporary Internet Files\Content.IE5\150OR56M\MC900434411[1].wmf"/>
          <p:cNvPicPr>
            <a:picLocks noChangeAspect="1" noChangeArrowheads="1"/>
          </p:cNvPicPr>
          <p:nvPr>
            <p:custDataLst>
              <p:tags r:id="rId1"/>
            </p:custDataLst>
          </p:nvPr>
        </p:nvPicPr>
        <p:blipFill>
          <a:blip r:embed="rId4" cstate="print">
            <a:extLst>
              <a:ext uri="{28A0092B-C50C-407E-A947-70E740481C1C}">
                <a14:useLocalDpi xmlns:a14="http://schemas.microsoft.com/office/drawing/2010/main" val="0"/>
              </a:ext>
            </a:extLst>
          </a:blip>
          <a:srcRect/>
          <a:stretch>
            <a:fillRect/>
          </a:stretch>
        </p:blipFill>
        <p:spPr bwMode="auto">
          <a:xfrm>
            <a:off x="7184363" y="5859587"/>
            <a:ext cx="9017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WordArt 35"/>
          <p:cNvSpPr>
            <a:spLocks noChangeArrowheads="1" noChangeShapeType="1" noTextEdit="1"/>
          </p:cNvSpPr>
          <p:nvPr/>
        </p:nvSpPr>
        <p:spPr bwMode="auto">
          <a:xfrm>
            <a:off x="6888199" y="5375732"/>
            <a:ext cx="2244725" cy="477838"/>
          </a:xfrm>
          <a:prstGeom prst="rect">
            <a:avLst/>
          </a:prstGeom>
        </p:spPr>
        <p:txBody>
          <a:bodyPr wrap="none" fromWordArt="1">
            <a:prstTxWarp prst="textSlantUp">
              <a:avLst>
                <a:gd name="adj" fmla="val 55556"/>
              </a:avLst>
            </a:prstTxWarp>
          </a:bodyPr>
          <a:lstStyle/>
          <a:p>
            <a:pPr algn="ctr"/>
            <a:r>
              <a:rPr lang="en-US" altLang="zh-CN" sz="3600" b="1" kern="10" dirty="0">
                <a:ln w="9525">
                  <a:solidFill>
                    <a:srgbClr val="FF0000"/>
                  </a:solidFill>
                  <a:round/>
                  <a:headEnd type="none" w="sm" len="sm"/>
                  <a:tailEnd type="none" w="sm" len="sm"/>
                </a:ln>
                <a:solidFill>
                  <a:srgbClr val="FF0000"/>
                </a:solidFill>
                <a:latin typeface="宋体" panose="02010600030101010101" pitchFamily="2" charset="-122"/>
                <a:ea typeface="宋体" panose="02010600030101010101" pitchFamily="2" charset="-122"/>
              </a:rPr>
              <a:t>Not Work</a:t>
            </a:r>
            <a:r>
              <a:rPr lang="zh-CN" altLang="en-US" sz="3600" b="1" kern="10" dirty="0">
                <a:ln w="9525">
                  <a:solidFill>
                    <a:srgbClr val="FF0000"/>
                  </a:solidFill>
                  <a:round/>
                  <a:headEnd type="none" w="sm" len="sm"/>
                  <a:tailEnd type="none" w="sm" len="sm"/>
                </a:ln>
                <a:solidFill>
                  <a:srgbClr val="FF0000"/>
                </a:solidFill>
                <a:latin typeface="宋体" panose="02010600030101010101" pitchFamily="2" charset="-122"/>
                <a:ea typeface="宋体" panose="02010600030101010101" pitchFamily="2" charset="-122"/>
              </a:rPr>
              <a:t>！</a:t>
            </a:r>
            <a:r>
              <a:rPr lang="en-US" altLang="zh-CN" sz="3600" b="1" kern="10" dirty="0">
                <a:ln w="9525">
                  <a:solidFill>
                    <a:srgbClr val="FF0000"/>
                  </a:solidFill>
                  <a:round/>
                  <a:headEnd type="none" w="sm" len="sm"/>
                  <a:tailEnd type="none" w="sm" len="sm"/>
                </a:ln>
                <a:solidFill>
                  <a:srgbClr val="FF0000"/>
                </a:solidFill>
                <a:latin typeface="宋体" panose="02010600030101010101" pitchFamily="2" charset="-122"/>
                <a:ea typeface="宋体" panose="02010600030101010101" pitchFamily="2" charset="-122"/>
              </a:rPr>
              <a:t>Why?</a:t>
            </a:r>
            <a:endParaRPr lang="zh-CN" altLang="en-US" sz="3600" b="1" kern="10" dirty="0">
              <a:ln w="9525">
                <a:solidFill>
                  <a:srgbClr val="FF0000"/>
                </a:solidFill>
                <a:round/>
                <a:headEnd type="none" w="sm" len="sm"/>
                <a:tailEnd type="none" w="sm" len="sm"/>
              </a:ln>
              <a:solidFill>
                <a:srgbClr val="FF0000"/>
              </a:solidFill>
              <a:latin typeface="宋体" panose="02010600030101010101" pitchFamily="2" charset="-122"/>
              <a:ea typeface="宋体" panose="02010600030101010101" pitchFamily="2" charset="-122"/>
            </a:endParaRPr>
          </a:p>
        </p:txBody>
      </p:sp>
      <p:sp>
        <p:nvSpPr>
          <p:cNvPr id="9" name="Rectangle 4"/>
          <p:cNvSpPr>
            <a:spLocks noChangeArrowheads="1"/>
          </p:cNvSpPr>
          <p:nvPr/>
        </p:nvSpPr>
        <p:spPr bwMode="auto">
          <a:xfrm>
            <a:off x="4899025" y="1926952"/>
            <a:ext cx="5734050" cy="836613"/>
          </a:xfrm>
          <a:prstGeom prst="rect">
            <a:avLst/>
          </a:prstGeom>
          <a:solidFill>
            <a:srgbClr val="FFFFCC"/>
          </a:solidFill>
          <a:ln w="28575">
            <a:solidFill>
              <a:srgbClr val="008000"/>
            </a:solidFill>
            <a:miter lim="800000"/>
            <a:headEnd/>
            <a:tailEnd/>
          </a:ln>
        </p:spPr>
        <p:txBody>
          <a:bodyPr wrap="none" anchor="ct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eaLnBrk="0" hangingPunct="0">
              <a:lnSpc>
                <a:spcPct val="90000"/>
              </a:lnSpc>
              <a:spcBef>
                <a:spcPts val="588"/>
              </a:spcBef>
              <a:buClr>
                <a:schemeClr val="tx2"/>
              </a:buClr>
              <a:buSzPct val="80000"/>
              <a:buFont typeface="Wingdings" panose="05000000000000000000" pitchFamily="2" charset="2"/>
              <a:buNone/>
            </a:pPr>
            <a:r>
              <a:rPr lang="zh-CN" altLang="en-US" sz="2400">
                <a:solidFill>
                  <a:srgbClr val="000066"/>
                </a:solidFill>
                <a:latin typeface="黑体" panose="02010609060101010101" pitchFamily="49" charset="-122"/>
                <a:ea typeface="黑体" panose="02010609060101010101" pitchFamily="49" charset="-122"/>
              </a:rPr>
              <a:t>真正原因：普通变量作函数参数按值调用</a:t>
            </a:r>
          </a:p>
          <a:p>
            <a:pPr eaLnBrk="0" hangingPunct="0">
              <a:lnSpc>
                <a:spcPct val="90000"/>
              </a:lnSpc>
              <a:spcBef>
                <a:spcPts val="588"/>
              </a:spcBef>
              <a:buClr>
                <a:schemeClr val="tx2"/>
              </a:buClr>
              <a:buSzPct val="80000"/>
              <a:buFont typeface="Wingdings" panose="05000000000000000000" pitchFamily="2" charset="2"/>
              <a:buNone/>
            </a:pPr>
            <a:r>
              <a:rPr lang="zh-CN" altLang="en-US" sz="2400">
                <a:solidFill>
                  <a:srgbClr val="000066"/>
                </a:solidFill>
                <a:latin typeface="黑体" panose="02010609060101010101" pitchFamily="49" charset="-122"/>
                <a:ea typeface="黑体" panose="02010609060101010101" pitchFamily="49" charset="-122"/>
              </a:rPr>
              <a:t>不能在被调函数中改变相应实参的值</a:t>
            </a:r>
          </a:p>
        </p:txBody>
      </p:sp>
      <p:sp>
        <p:nvSpPr>
          <p:cNvPr id="10" name="Rectangle 59"/>
          <p:cNvSpPr>
            <a:spLocks noChangeArrowheads="1"/>
          </p:cNvSpPr>
          <p:nvPr/>
        </p:nvSpPr>
        <p:spPr bwMode="auto">
          <a:xfrm>
            <a:off x="6888199" y="1126958"/>
            <a:ext cx="3615400" cy="336234"/>
          </a:xfrm>
          <a:prstGeom prst="rect">
            <a:avLst/>
          </a:prstGeom>
          <a:noFill/>
          <a:ln w="28575">
            <a:solidFill>
              <a:srgbClr val="FF0000"/>
            </a:solidFill>
            <a:miter lim="800000"/>
            <a:headEnd type="none" w="sm" len="sm"/>
            <a:tailEnd type="none" w="sm" len="sm"/>
          </a:ln>
        </p:spPr>
        <p:txBody>
          <a:bodyPr wrap="none" anchor="ctr"/>
          <a:lstStyle/>
          <a:p>
            <a:pPr eaLnBrk="0" hangingPunct="0">
              <a:lnSpc>
                <a:spcPct val="90000"/>
              </a:lnSpc>
              <a:spcBef>
                <a:spcPts val="590"/>
              </a:spcBef>
              <a:spcAft>
                <a:spcPts val="590"/>
              </a:spcAft>
              <a:buClr>
                <a:schemeClr val="tx2"/>
              </a:buClr>
              <a:buSzPct val="80000"/>
              <a:buFont typeface="Wingdings" panose="05000000000000000000" pitchFamily="2" charset="2"/>
              <a:buNone/>
              <a:defRPr/>
            </a:pPr>
            <a:endParaRPr lang="zh-CN" altLang="en-US" sz="2000">
              <a:effectLst>
                <a:outerShdw blurRad="38100" dist="38100" dir="2700000" algn="tl">
                  <a:srgbClr val="C0C0C0"/>
                </a:outerShdw>
              </a:effectLst>
              <a:ea typeface="宋体" panose="02010600030101010101" pitchFamily="2" charset="-122"/>
            </a:endParaRPr>
          </a:p>
        </p:txBody>
      </p:sp>
      <p:cxnSp>
        <p:nvCxnSpPr>
          <p:cNvPr id="11" name="直接连接符 10"/>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3</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、用指针变量作函数参数</a:t>
            </a:r>
          </a:p>
        </p:txBody>
      </p:sp>
    </p:spTree>
    <p:extLst>
      <p:ext uri="{BB962C8B-B14F-4D97-AF65-F5344CB8AC3E}">
        <p14:creationId xmlns:p14="http://schemas.microsoft.com/office/powerpoint/2010/main" val="833520230"/>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nvCxnSpPr>
        <p:spPr>
          <a:xfrm>
            <a:off x="1350620" y="806587"/>
            <a:ext cx="10259505"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1014843" y="1002507"/>
            <a:ext cx="1664049" cy="400110"/>
          </a:xfrm>
          <a:prstGeom prst="rect">
            <a:avLst/>
          </a:prstGeom>
          <a:noFill/>
        </p:spPr>
        <p:txBody>
          <a:bodyPr wrap="square" rtlCol="0">
            <a:spAutoFit/>
          </a:bodyPr>
          <a:lstStyle/>
          <a:p>
            <a:r>
              <a:rPr lang="zh-CN" altLang="en-US" sz="2000" dirty="0">
                <a:latin typeface="黑体" panose="02010609060101010101" pitchFamily="49" charset="-122"/>
                <a:ea typeface="黑体" panose="02010609060101010101" pitchFamily="49" charset="-122"/>
              </a:rPr>
              <a:t>修正代码：</a:t>
            </a:r>
          </a:p>
        </p:txBody>
      </p:sp>
      <p:sp>
        <p:nvSpPr>
          <p:cNvPr id="14" name="Rectangle 4"/>
          <p:cNvSpPr>
            <a:spLocks noChangeArrowheads="1"/>
          </p:cNvSpPr>
          <p:nvPr/>
        </p:nvSpPr>
        <p:spPr bwMode="auto">
          <a:xfrm>
            <a:off x="1587600" y="1454157"/>
            <a:ext cx="9432925" cy="4041775"/>
          </a:xfrm>
          <a:prstGeom prst="rect">
            <a:avLst/>
          </a:prstGeom>
          <a:solidFill>
            <a:schemeClr val="bg1"/>
          </a:solidFill>
          <a:ln w="57150" cap="sq" cmpd="thickThin">
            <a:solidFill>
              <a:srgbClr val="000080"/>
            </a:solidFill>
            <a:miter lim="800000"/>
            <a:headEnd type="none" w="sm" len="sm"/>
            <a:tailEnd type="none" w="sm" len="sm"/>
          </a:ln>
        </p:spPr>
        <p:txBody>
          <a:bodyPr>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void </a:t>
            </a:r>
            <a:r>
              <a:rPr lang="en-US" altLang="zh-CN" sz="1600" b="1" dirty="0" err="1">
                <a:latin typeface="Courier New" panose="02070309020205020404" pitchFamily="49" charset="0"/>
                <a:ea typeface="宋体" panose="02010600030101010101" pitchFamily="2" charset="-122"/>
              </a:rPr>
              <a:t>FindMax</a:t>
            </a:r>
            <a:r>
              <a:rPr lang="en-US" altLang="zh-CN" sz="1600" b="1" dirty="0">
                <a:latin typeface="Courier New" panose="02070309020205020404" pitchFamily="49" charset="0"/>
                <a:ea typeface="宋体" panose="02010600030101010101" pitchFamily="2" charset="-122"/>
              </a:rPr>
              <a:t>(</a:t>
            </a:r>
            <a:r>
              <a:rPr lang="en-US" altLang="zh-CN" sz="1600" b="1" dirty="0" err="1">
                <a:latin typeface="Courier New" panose="02070309020205020404" pitchFamily="49" charset="0"/>
                <a:ea typeface="宋体" panose="02010600030101010101" pitchFamily="2" charset="-122"/>
              </a:rPr>
              <a:t>int</a:t>
            </a:r>
            <a:r>
              <a:rPr lang="en-US" altLang="zh-CN" sz="1600" b="1" dirty="0">
                <a:latin typeface="Courier New" panose="02070309020205020404" pitchFamily="49" charset="0"/>
                <a:ea typeface="宋体" panose="02010600030101010101" pitchFamily="2" charset="-122"/>
              </a:rPr>
              <a:t> score[],long </a:t>
            </a:r>
            <a:r>
              <a:rPr lang="en-US" altLang="zh-CN" sz="1600" b="1" dirty="0" err="1">
                <a:latin typeface="Courier New" panose="02070309020205020404" pitchFamily="49" charset="0"/>
                <a:ea typeface="宋体" panose="02010600030101010101" pitchFamily="2" charset="-122"/>
              </a:rPr>
              <a:t>num</a:t>
            </a:r>
            <a:r>
              <a:rPr lang="en-US" altLang="zh-CN" sz="1600" b="1" dirty="0">
                <a:latin typeface="Courier New" panose="02070309020205020404" pitchFamily="49" charset="0"/>
                <a:ea typeface="宋体" panose="02010600030101010101" pitchFamily="2" charset="-122"/>
              </a:rPr>
              <a:t>[],</a:t>
            </a:r>
            <a:r>
              <a:rPr lang="en-US" altLang="zh-CN" sz="1600" b="1" dirty="0" err="1">
                <a:latin typeface="Courier New" panose="02070309020205020404" pitchFamily="49" charset="0"/>
                <a:ea typeface="宋体" panose="02010600030101010101" pitchFamily="2" charset="-122"/>
              </a:rPr>
              <a:t>int</a:t>
            </a:r>
            <a:r>
              <a:rPr lang="en-US" altLang="zh-CN" sz="1600" b="1" dirty="0">
                <a:latin typeface="Courier New" panose="02070309020205020404" pitchFamily="49" charset="0"/>
                <a:ea typeface="宋体" panose="02010600030101010101" pitchFamily="2" charset="-122"/>
              </a:rPr>
              <a:t> n, </a:t>
            </a:r>
            <a:r>
              <a:rPr lang="en-US" altLang="zh-CN" sz="1600" b="1" dirty="0" err="1">
                <a:solidFill>
                  <a:srgbClr val="CC0000"/>
                </a:solidFill>
                <a:latin typeface="Courier New" panose="02070309020205020404" pitchFamily="49" charset="0"/>
                <a:ea typeface="宋体" panose="02010600030101010101" pitchFamily="2" charset="-122"/>
              </a:rPr>
              <a:t>int</a:t>
            </a:r>
            <a:r>
              <a:rPr lang="en-US" altLang="zh-CN" sz="1600" b="1" dirty="0">
                <a:solidFill>
                  <a:srgbClr val="CC0000"/>
                </a:solidFill>
                <a:latin typeface="Courier New" panose="02070309020205020404" pitchFamily="49" charset="0"/>
                <a:ea typeface="宋体" panose="02010600030101010101" pitchFamily="2" charset="-122"/>
              </a:rPr>
              <a:t> *</a:t>
            </a:r>
            <a:r>
              <a:rPr lang="en-US" altLang="zh-CN" sz="1600" b="1" dirty="0" err="1">
                <a:solidFill>
                  <a:srgbClr val="CC0000"/>
                </a:solidFill>
                <a:latin typeface="Courier New" panose="02070309020205020404" pitchFamily="49" charset="0"/>
                <a:ea typeface="宋体" panose="02010600030101010101" pitchFamily="2" charset="-122"/>
              </a:rPr>
              <a:t>pMaxScore</a:t>
            </a:r>
            <a:r>
              <a:rPr lang="en-US" altLang="zh-CN" sz="1600" b="1" dirty="0">
                <a:solidFill>
                  <a:srgbClr val="CC0000"/>
                </a:solidFill>
                <a:latin typeface="Courier New" panose="02070309020205020404" pitchFamily="49" charset="0"/>
                <a:ea typeface="宋体" panose="02010600030101010101" pitchFamily="2" charset="-122"/>
              </a:rPr>
              <a:t>, long *</a:t>
            </a:r>
            <a:r>
              <a:rPr lang="en-US" altLang="zh-CN" sz="1600" b="1" dirty="0" err="1">
                <a:solidFill>
                  <a:srgbClr val="CC0000"/>
                </a:solidFill>
                <a:latin typeface="Courier New" panose="02070309020205020404" pitchFamily="49" charset="0"/>
                <a:ea typeface="宋体" panose="02010600030101010101" pitchFamily="2" charset="-122"/>
              </a:rPr>
              <a:t>pMaxNum</a:t>
            </a:r>
            <a:r>
              <a:rPr lang="en-US" altLang="zh-CN" sz="1600" b="1" dirty="0">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int</a:t>
            </a:r>
            <a:r>
              <a:rPr lang="en-US" altLang="zh-CN" sz="1600" b="1" dirty="0">
                <a:latin typeface="Courier New" panose="02070309020205020404" pitchFamily="49" charset="0"/>
                <a:ea typeface="宋体" panose="02010600030101010101" pitchFamily="2" charset="-122"/>
              </a:rPr>
              <a:t>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a:solidFill>
                  <a:srgbClr val="CC0000"/>
                </a:solidFill>
                <a:latin typeface="Courier New" panose="02070309020205020404" pitchFamily="49" charset="0"/>
                <a:ea typeface="宋体" panose="02010600030101010101" pitchFamily="2" charset="-122"/>
              </a:rPr>
              <a:t>*</a:t>
            </a:r>
            <a:r>
              <a:rPr lang="en-US" altLang="zh-CN" sz="1600" b="1" dirty="0" err="1">
                <a:solidFill>
                  <a:srgbClr val="CC0000"/>
                </a:solidFill>
                <a:latin typeface="Courier New" panose="02070309020205020404" pitchFamily="49" charset="0"/>
                <a:ea typeface="宋体" panose="02010600030101010101" pitchFamily="2" charset="-122"/>
              </a:rPr>
              <a:t>pMaxScore</a:t>
            </a:r>
            <a:r>
              <a:rPr lang="en-US" altLang="zh-CN" sz="1600" b="1" dirty="0">
                <a:latin typeface="Courier New" panose="02070309020205020404" pitchFamily="49" charset="0"/>
                <a:ea typeface="宋体" panose="02010600030101010101" pitchFamily="2" charset="-122"/>
              </a:rPr>
              <a:t> = score[0];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a:solidFill>
                  <a:srgbClr val="CC0000"/>
                </a:solidFill>
                <a:latin typeface="Courier New" panose="02070309020205020404" pitchFamily="49" charset="0"/>
                <a:ea typeface="宋体" panose="02010600030101010101" pitchFamily="2" charset="-122"/>
              </a:rPr>
              <a:t>*</a:t>
            </a:r>
            <a:r>
              <a:rPr lang="en-US" altLang="zh-CN" sz="1600" b="1" dirty="0" err="1">
                <a:solidFill>
                  <a:srgbClr val="CC0000"/>
                </a:solidFill>
                <a:latin typeface="Courier New" panose="02070309020205020404" pitchFamily="49" charset="0"/>
                <a:ea typeface="宋体" panose="02010600030101010101" pitchFamily="2" charset="-122"/>
              </a:rPr>
              <a:t>pMaxNum</a:t>
            </a:r>
            <a:r>
              <a:rPr lang="en-US" altLang="zh-CN" sz="1600" b="1" dirty="0">
                <a:latin typeface="Courier New" panose="02070309020205020404" pitchFamily="49" charset="0"/>
                <a:ea typeface="宋体" panose="02010600030101010101" pitchFamily="2" charset="-122"/>
              </a:rPr>
              <a:t> = </a:t>
            </a:r>
            <a:r>
              <a:rPr lang="en-US" altLang="zh-CN" sz="1600" b="1" dirty="0" err="1">
                <a:latin typeface="Courier New" panose="02070309020205020404" pitchFamily="49" charset="0"/>
                <a:ea typeface="宋体" panose="02010600030101010101" pitchFamily="2" charset="-122"/>
              </a:rPr>
              <a:t>num</a:t>
            </a:r>
            <a:r>
              <a:rPr lang="en-US" altLang="zh-CN" sz="1600" b="1" dirty="0">
                <a:latin typeface="Courier New" panose="02070309020205020404" pitchFamily="49" charset="0"/>
                <a:ea typeface="宋体" panose="02010600030101010101" pitchFamily="2" charset="-122"/>
              </a:rPr>
              <a:t>[0];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for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=1;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&lt;n; </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if (score[</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 &gt; </a:t>
            </a:r>
            <a:r>
              <a:rPr lang="en-US" altLang="zh-CN" sz="1600" b="1" dirty="0">
                <a:solidFill>
                  <a:srgbClr val="CC0000"/>
                </a:solidFill>
                <a:latin typeface="Courier New" panose="02070309020205020404" pitchFamily="49" charset="0"/>
                <a:ea typeface="宋体" panose="02010600030101010101" pitchFamily="2" charset="-122"/>
              </a:rPr>
              <a:t>*</a:t>
            </a:r>
            <a:r>
              <a:rPr lang="en-US" altLang="zh-CN" sz="1600" b="1" dirty="0" err="1">
                <a:solidFill>
                  <a:srgbClr val="CC0000"/>
                </a:solidFill>
                <a:latin typeface="Courier New" panose="02070309020205020404" pitchFamily="49" charset="0"/>
                <a:ea typeface="宋体" panose="02010600030101010101" pitchFamily="2" charset="-122"/>
              </a:rPr>
              <a:t>pMaxScore</a:t>
            </a:r>
            <a:r>
              <a:rPr lang="en-US" altLang="zh-CN" sz="1600" b="1" dirty="0">
                <a:latin typeface="Courier New" panose="02070309020205020404" pitchFamily="49" charset="0"/>
                <a:ea typeface="宋体" panose="02010600030101010101" pitchFamily="2" charset="-122"/>
              </a:rPr>
              <a:t>)</a:t>
            </a:r>
            <a:endParaRPr lang="zh-CN" altLang="en-US" sz="1600" b="1" dirty="0">
              <a:latin typeface="Courier New" panose="02070309020205020404" pitchFamily="49" charset="0"/>
              <a:ea typeface="宋体" panose="02010600030101010101" pitchFamily="2" charset="-122"/>
            </a:endParaRP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a:solidFill>
                  <a:srgbClr val="CC0000"/>
                </a:solidFill>
                <a:latin typeface="Courier New" panose="02070309020205020404" pitchFamily="49" charset="0"/>
                <a:ea typeface="宋体" panose="02010600030101010101" pitchFamily="2" charset="-122"/>
              </a:rPr>
              <a:t>*</a:t>
            </a:r>
            <a:r>
              <a:rPr lang="en-US" altLang="zh-CN" sz="1600" b="1" dirty="0" err="1">
                <a:solidFill>
                  <a:srgbClr val="CC0000"/>
                </a:solidFill>
                <a:latin typeface="Courier New" panose="02070309020205020404" pitchFamily="49" charset="0"/>
                <a:ea typeface="宋体" panose="02010600030101010101" pitchFamily="2" charset="-122"/>
              </a:rPr>
              <a:t>pMaxScore</a:t>
            </a:r>
            <a:r>
              <a:rPr lang="en-US" altLang="zh-CN" sz="1600" b="1" dirty="0">
                <a:latin typeface="Courier New" panose="02070309020205020404" pitchFamily="49" charset="0"/>
                <a:ea typeface="宋体" panose="02010600030101010101" pitchFamily="2" charset="-122"/>
              </a:rPr>
              <a:t> = score[</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a:t>
            </a:r>
            <a:r>
              <a:rPr lang="en-US" altLang="zh-CN" sz="1600" b="1" dirty="0">
                <a:solidFill>
                  <a:srgbClr val="CC0000"/>
                </a:solidFill>
                <a:latin typeface="Courier New" panose="02070309020205020404" pitchFamily="49" charset="0"/>
                <a:ea typeface="宋体" panose="02010600030101010101" pitchFamily="2" charset="-122"/>
              </a:rPr>
              <a:t>*</a:t>
            </a:r>
            <a:r>
              <a:rPr lang="en-US" altLang="zh-CN" sz="1600" b="1" dirty="0" err="1">
                <a:solidFill>
                  <a:srgbClr val="CC0000"/>
                </a:solidFill>
                <a:latin typeface="Courier New" panose="02070309020205020404" pitchFamily="49" charset="0"/>
                <a:ea typeface="宋体" panose="02010600030101010101" pitchFamily="2" charset="-122"/>
              </a:rPr>
              <a:t>pMaxNum</a:t>
            </a:r>
            <a:r>
              <a:rPr lang="en-US" altLang="zh-CN" sz="1600" b="1" dirty="0">
                <a:latin typeface="Courier New" panose="02070309020205020404" pitchFamily="49" charset="0"/>
                <a:ea typeface="宋体" panose="02010600030101010101" pitchFamily="2" charset="-122"/>
              </a:rPr>
              <a:t> = </a:t>
            </a:r>
            <a:r>
              <a:rPr lang="en-US" altLang="zh-CN" sz="1600" b="1" dirty="0" err="1">
                <a:latin typeface="Courier New" panose="02070309020205020404" pitchFamily="49" charset="0"/>
                <a:ea typeface="宋体" panose="02010600030101010101" pitchFamily="2" charset="-122"/>
              </a:rPr>
              <a:t>num</a:t>
            </a:r>
            <a:r>
              <a:rPr lang="en-US" altLang="zh-CN" sz="1600" b="1" dirty="0">
                <a:latin typeface="Courier New" panose="02070309020205020404" pitchFamily="49" charset="0"/>
                <a:ea typeface="宋体" panose="02010600030101010101" pitchFamily="2" charset="-122"/>
              </a:rPr>
              <a:t>[</a:t>
            </a:r>
            <a:r>
              <a:rPr lang="en-US" altLang="zh-CN" sz="1600" b="1" dirty="0" err="1">
                <a:latin typeface="Courier New" panose="02070309020205020404" pitchFamily="49" charset="0"/>
                <a:ea typeface="宋体" panose="02010600030101010101" pitchFamily="2" charset="-122"/>
              </a:rPr>
              <a:t>i</a:t>
            </a:r>
            <a:r>
              <a:rPr lang="en-US" altLang="zh-CN" sz="1600" b="1" dirty="0">
                <a:latin typeface="Courier New" panose="02070309020205020404" pitchFamily="49" charset="0"/>
                <a:ea typeface="宋体" panose="02010600030101010101" pitchFamily="2" charset="-122"/>
              </a:rPr>
              <a:t>];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   } </a:t>
            </a:r>
          </a:p>
          <a:p>
            <a:pPr>
              <a:lnSpc>
                <a:spcPts val="2200"/>
              </a:lnSpc>
              <a:buClr>
                <a:schemeClr val="tx2"/>
              </a:buClr>
              <a:buSzPct val="80000"/>
              <a:buFont typeface="Wingdings" panose="05000000000000000000" pitchFamily="2" charset="2"/>
              <a:buNone/>
            </a:pPr>
            <a:r>
              <a:rPr lang="en-US" altLang="zh-CN" sz="1600" b="1" dirty="0">
                <a:latin typeface="Courier New" panose="02070309020205020404" pitchFamily="49" charset="0"/>
                <a:ea typeface="宋体" panose="02010600030101010101" pitchFamily="2" charset="-122"/>
              </a:rPr>
              <a:t>}</a:t>
            </a:r>
          </a:p>
        </p:txBody>
      </p:sp>
      <p:sp>
        <p:nvSpPr>
          <p:cNvPr id="15" name="Rectangle 59"/>
          <p:cNvSpPr>
            <a:spLocks noChangeArrowheads="1"/>
          </p:cNvSpPr>
          <p:nvPr/>
        </p:nvSpPr>
        <p:spPr bwMode="auto">
          <a:xfrm>
            <a:off x="6873975" y="1501779"/>
            <a:ext cx="3786188" cy="357188"/>
          </a:xfrm>
          <a:prstGeom prst="rect">
            <a:avLst/>
          </a:prstGeom>
          <a:noFill/>
          <a:ln w="28575">
            <a:solidFill>
              <a:srgbClr val="00B050"/>
            </a:solidFill>
            <a:miter lim="800000"/>
            <a:headEnd type="none" w="sm" len="sm"/>
            <a:tailEnd type="none" w="sm" len="sm"/>
          </a:ln>
        </p:spPr>
        <p:txBody>
          <a:bodyPr wrap="none" anchor="ctr"/>
          <a:lstStyle/>
          <a:p>
            <a:pPr eaLnBrk="0" hangingPunct="0">
              <a:lnSpc>
                <a:spcPct val="90000"/>
              </a:lnSpc>
              <a:spcBef>
                <a:spcPts val="590"/>
              </a:spcBef>
              <a:spcAft>
                <a:spcPts val="590"/>
              </a:spcAft>
              <a:buClr>
                <a:schemeClr val="tx2"/>
              </a:buClr>
              <a:buSzPct val="80000"/>
              <a:buFont typeface="Wingdings" panose="05000000000000000000" pitchFamily="2" charset="2"/>
              <a:buNone/>
              <a:defRPr/>
            </a:pPr>
            <a:endParaRPr lang="zh-CN" altLang="en-US" sz="2000">
              <a:effectLst>
                <a:outerShdw blurRad="38100" dist="38100" dir="2700000" algn="tl">
                  <a:srgbClr val="C0C0C0"/>
                </a:outerShdw>
              </a:effectLst>
              <a:ea typeface="宋体" panose="02010600030101010101" pitchFamily="2" charset="-122"/>
            </a:endParaRPr>
          </a:p>
        </p:txBody>
      </p:sp>
      <p:sp>
        <p:nvSpPr>
          <p:cNvPr id="16" name="Rectangle 10"/>
          <p:cNvSpPr>
            <a:spLocks noChangeArrowheads="1"/>
          </p:cNvSpPr>
          <p:nvPr/>
        </p:nvSpPr>
        <p:spPr bwMode="auto">
          <a:xfrm>
            <a:off x="1431007" y="5808364"/>
            <a:ext cx="621506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187" tIns="45094" rIns="90187" bIns="45094" anchor="ctr">
            <a:spAutoFit/>
          </a:bodyPr>
          <a:lstStyle>
            <a:lvl1pPr>
              <a:defRPr>
                <a:solidFill>
                  <a:schemeClr val="tx1"/>
                </a:solidFill>
                <a:latin typeface="Arial" panose="020B0604020202020204" pitchFamily="34" charset="0"/>
                <a:ea typeface="微软雅黑" panose="020B0503020204020204" pitchFamily="34" charset="-122"/>
              </a:defRPr>
            </a:lvl1pPr>
            <a:lvl2pPr>
              <a:defRPr>
                <a:solidFill>
                  <a:schemeClr val="tx1"/>
                </a:solidFill>
                <a:latin typeface="Arial" panose="020B0604020202020204" pitchFamily="34" charset="0"/>
                <a:ea typeface="微软雅黑" panose="020B0503020204020204" pitchFamily="34" charset="-122"/>
              </a:defRPr>
            </a:lvl2pPr>
            <a:lvl3pPr>
              <a:defRPr>
                <a:solidFill>
                  <a:schemeClr val="tx1"/>
                </a:solidFill>
                <a:latin typeface="Arial" panose="020B0604020202020204" pitchFamily="34" charset="0"/>
                <a:ea typeface="微软雅黑" panose="020B0503020204020204" pitchFamily="34" charset="-122"/>
              </a:defRPr>
            </a:lvl3pPr>
            <a:lvl4pPr>
              <a:defRPr>
                <a:solidFill>
                  <a:schemeClr val="tx1"/>
                </a:solidFill>
                <a:latin typeface="Arial" panose="020B0604020202020204" pitchFamily="34" charset="0"/>
                <a:ea typeface="微软雅黑" panose="020B0503020204020204" pitchFamily="34" charset="-122"/>
              </a:defRPr>
            </a:lvl4pPr>
            <a:lvl5pPr>
              <a:defRPr>
                <a:solidFill>
                  <a:schemeClr val="tx1"/>
                </a:solidFill>
                <a:latin typeface="Arial" panose="020B0604020202020204" pitchFamily="34" charset="0"/>
                <a:ea typeface="微软雅黑" panose="020B0503020204020204" pitchFamily="34" charset="-122"/>
              </a:defRPr>
            </a:lvl5pPr>
            <a:lvl6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6pPr>
            <a:lvl7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7pPr>
            <a:lvl8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8pPr>
            <a:lvl9pPr fontAlgn="base">
              <a:spcBef>
                <a:spcPct val="0"/>
              </a:spcBef>
              <a:spcAft>
                <a:spcPct val="0"/>
              </a:spcAft>
              <a:defRPr>
                <a:solidFill>
                  <a:schemeClr val="tx1"/>
                </a:solidFill>
                <a:latin typeface="Arial" panose="020B0604020202020204" pitchFamily="34" charset="0"/>
                <a:ea typeface="微软雅黑" panose="020B0503020204020204" pitchFamily="34" charset="-122"/>
              </a:defRPr>
            </a:lvl9pPr>
          </a:lstStyle>
          <a:p>
            <a:pPr eaLnBrk="0" hangingPunct="0">
              <a:lnSpc>
                <a:spcPct val="90000"/>
              </a:lnSpc>
              <a:spcBef>
                <a:spcPts val="588"/>
              </a:spcBef>
              <a:spcAft>
                <a:spcPts val="588"/>
              </a:spcAft>
              <a:buClr>
                <a:schemeClr val="tx2"/>
              </a:buClr>
              <a:buSzPct val="80000"/>
              <a:buFont typeface="Wingdings" panose="05000000000000000000" pitchFamily="2" charset="2"/>
              <a:buNone/>
            </a:pPr>
            <a:r>
              <a:rPr lang="en-US" altLang="zh-CN" b="1" dirty="0" err="1">
                <a:latin typeface="Courier New" panose="02070309020205020404" pitchFamily="49" charset="0"/>
                <a:ea typeface="宋体" panose="02010600030101010101" pitchFamily="2" charset="-122"/>
              </a:rPr>
              <a:t>FindMax</a:t>
            </a:r>
            <a:r>
              <a:rPr lang="en-US" altLang="zh-CN" b="1" dirty="0">
                <a:latin typeface="Courier New" panose="02070309020205020404" pitchFamily="49" charset="0"/>
                <a:ea typeface="宋体" panose="02010600030101010101" pitchFamily="2" charset="-122"/>
              </a:rPr>
              <a:t>(score, </a:t>
            </a:r>
            <a:r>
              <a:rPr lang="en-US" altLang="zh-CN" b="1" dirty="0" err="1">
                <a:latin typeface="Courier New" panose="02070309020205020404" pitchFamily="49" charset="0"/>
                <a:ea typeface="宋体" panose="02010600030101010101" pitchFamily="2" charset="-122"/>
              </a:rPr>
              <a:t>num</a:t>
            </a:r>
            <a:r>
              <a:rPr lang="en-US" altLang="zh-CN" b="1" dirty="0">
                <a:latin typeface="Courier New" panose="02070309020205020404" pitchFamily="49" charset="0"/>
                <a:ea typeface="宋体" panose="02010600030101010101" pitchFamily="2" charset="-122"/>
              </a:rPr>
              <a:t>, n, </a:t>
            </a:r>
            <a:r>
              <a:rPr lang="en-US" altLang="zh-CN" b="1" dirty="0">
                <a:solidFill>
                  <a:srgbClr val="CC0000"/>
                </a:solidFill>
                <a:latin typeface="Courier New" panose="02070309020205020404" pitchFamily="49" charset="0"/>
                <a:ea typeface="宋体" panose="02010600030101010101" pitchFamily="2" charset="-122"/>
              </a:rPr>
              <a:t>&amp;</a:t>
            </a:r>
            <a:r>
              <a:rPr lang="en-US" altLang="zh-CN" b="1" dirty="0" err="1">
                <a:solidFill>
                  <a:srgbClr val="CC0000"/>
                </a:solidFill>
                <a:latin typeface="Courier New" panose="02070309020205020404" pitchFamily="49" charset="0"/>
                <a:ea typeface="宋体" panose="02010600030101010101" pitchFamily="2" charset="-122"/>
              </a:rPr>
              <a:t>maxScore</a:t>
            </a:r>
            <a:r>
              <a:rPr lang="en-US" altLang="zh-CN" b="1" dirty="0">
                <a:solidFill>
                  <a:srgbClr val="CC0000"/>
                </a:solidFill>
                <a:latin typeface="Courier New" panose="02070309020205020404" pitchFamily="49" charset="0"/>
                <a:ea typeface="宋体" panose="02010600030101010101" pitchFamily="2" charset="-122"/>
              </a:rPr>
              <a:t>, &amp;</a:t>
            </a:r>
            <a:r>
              <a:rPr lang="en-US" altLang="zh-CN" b="1" dirty="0" err="1">
                <a:solidFill>
                  <a:srgbClr val="CC0000"/>
                </a:solidFill>
                <a:latin typeface="Courier New" panose="02070309020205020404" pitchFamily="49" charset="0"/>
                <a:ea typeface="宋体" panose="02010600030101010101" pitchFamily="2" charset="-122"/>
              </a:rPr>
              <a:t>maxNum</a:t>
            </a:r>
            <a:r>
              <a:rPr lang="en-US" altLang="zh-CN" b="1" dirty="0">
                <a:latin typeface="Courier New" panose="02070309020205020404" pitchFamily="49" charset="0"/>
                <a:ea typeface="宋体" panose="02010600030101010101" pitchFamily="2" charset="-122"/>
              </a:rPr>
              <a:t>); </a:t>
            </a:r>
          </a:p>
        </p:txBody>
      </p:sp>
      <p:sp>
        <p:nvSpPr>
          <p:cNvPr id="17" name="Rectangle 59"/>
          <p:cNvSpPr>
            <a:spLocks noChangeArrowheads="1"/>
          </p:cNvSpPr>
          <p:nvPr/>
        </p:nvSpPr>
        <p:spPr bwMode="auto">
          <a:xfrm>
            <a:off x="4643323" y="5782344"/>
            <a:ext cx="2592387" cy="382587"/>
          </a:xfrm>
          <a:prstGeom prst="rect">
            <a:avLst/>
          </a:prstGeom>
          <a:noFill/>
          <a:ln w="28575">
            <a:solidFill>
              <a:srgbClr val="00B050"/>
            </a:solidFill>
            <a:miter lim="800000"/>
            <a:headEnd type="none" w="sm" len="sm"/>
            <a:tailEnd type="none" w="sm" len="sm"/>
          </a:ln>
        </p:spPr>
        <p:txBody>
          <a:bodyPr wrap="none" anchor="ctr"/>
          <a:lstStyle/>
          <a:p>
            <a:pPr eaLnBrk="0" hangingPunct="0">
              <a:lnSpc>
                <a:spcPct val="90000"/>
              </a:lnSpc>
              <a:spcBef>
                <a:spcPts val="590"/>
              </a:spcBef>
              <a:spcAft>
                <a:spcPts val="590"/>
              </a:spcAft>
              <a:buClr>
                <a:schemeClr val="tx2"/>
              </a:buClr>
              <a:buSzPct val="80000"/>
              <a:buFont typeface="Wingdings" panose="05000000000000000000" pitchFamily="2" charset="2"/>
              <a:buNone/>
              <a:defRPr/>
            </a:pPr>
            <a:endParaRPr lang="zh-CN" altLang="en-US" sz="2000">
              <a:effectLst>
                <a:outerShdw blurRad="38100" dist="38100" dir="2700000" algn="tl">
                  <a:srgbClr val="C0C0C0"/>
                </a:outerShdw>
              </a:effectLst>
              <a:ea typeface="宋体" panose="02010600030101010101" pitchFamily="2" charset="-122"/>
            </a:endParaRPr>
          </a:p>
        </p:txBody>
      </p:sp>
      <p:sp>
        <p:nvSpPr>
          <p:cNvPr id="6" name="文本框 5"/>
          <p:cNvSpPr txBox="1"/>
          <p:nvPr/>
        </p:nvSpPr>
        <p:spPr>
          <a:xfrm>
            <a:off x="7801497" y="5773582"/>
            <a:ext cx="1664049" cy="400110"/>
          </a:xfrm>
          <a:prstGeom prst="rect">
            <a:avLst/>
          </a:prstGeom>
          <a:noFill/>
        </p:spPr>
        <p:txBody>
          <a:bodyPr wrap="square" rtlCol="0">
            <a:spAutoFit/>
          </a:bodyPr>
          <a:lstStyle/>
          <a:p>
            <a:r>
              <a:rPr lang="zh-CN" altLang="en-US" sz="2000" dirty="0">
                <a:latin typeface="黑体" panose="02010609060101010101" pitchFamily="49" charset="-122"/>
                <a:ea typeface="黑体" panose="02010609060101010101" pitchFamily="49" charset="-122"/>
              </a:rPr>
              <a:t>重新运行：</a:t>
            </a:r>
          </a:p>
        </p:txBody>
      </p:sp>
      <p:pic>
        <p:nvPicPr>
          <p:cNvPr id="2" name="图片 1"/>
          <p:cNvPicPr>
            <a:picLocks noChangeAspect="1"/>
          </p:cNvPicPr>
          <p:nvPr/>
        </p:nvPicPr>
        <p:blipFill>
          <a:blip r:embed="rId2"/>
          <a:stretch>
            <a:fillRect/>
          </a:stretch>
        </p:blipFill>
        <p:spPr>
          <a:xfrm>
            <a:off x="9229825" y="5627757"/>
            <a:ext cx="2533650" cy="847725"/>
          </a:xfrm>
          <a:prstGeom prst="rect">
            <a:avLst/>
          </a:prstGeom>
        </p:spPr>
      </p:pic>
      <p:sp>
        <p:nvSpPr>
          <p:cNvPr id="18" name="淘宝网chenying0907出品 4"/>
          <p:cNvSpPr txBox="1"/>
          <p:nvPr/>
        </p:nvSpPr>
        <p:spPr>
          <a:xfrm>
            <a:off x="1195714" y="283367"/>
            <a:ext cx="6822870" cy="523220"/>
          </a:xfrm>
          <a:prstGeom prst="rect">
            <a:avLst/>
          </a:prstGeom>
          <a:noFill/>
        </p:spPr>
        <p:txBody>
          <a:bodyPr wrap="square" rtlCol="0">
            <a:spAutoFit/>
          </a:bodyPr>
          <a:lstStyle/>
          <a:p>
            <a:r>
              <a:rPr lang="en-US" altLang="zh-CN" sz="2800" b="1" dirty="0">
                <a:solidFill>
                  <a:schemeClr val="accent5">
                    <a:lumMod val="75000"/>
                  </a:schemeClr>
                </a:solidFill>
                <a:latin typeface="微软雅黑" panose="020B0503020204020204" pitchFamily="34" charset="-122"/>
                <a:ea typeface="微软雅黑" panose="020B0503020204020204" pitchFamily="34" charset="-122"/>
              </a:rPr>
              <a:t>3</a:t>
            </a:r>
            <a:r>
              <a:rPr lang="zh-CN" altLang="en-US" sz="2800" b="1" dirty="0">
                <a:solidFill>
                  <a:schemeClr val="accent5">
                    <a:lumMod val="75000"/>
                  </a:schemeClr>
                </a:solidFill>
                <a:latin typeface="微软雅黑" panose="020B0503020204020204" pitchFamily="34" charset="-122"/>
                <a:ea typeface="微软雅黑" panose="020B0503020204020204" pitchFamily="34" charset="-122"/>
              </a:rPr>
              <a:t>、用指针变量作函数参数</a:t>
            </a:r>
          </a:p>
        </p:txBody>
      </p:sp>
      <p:sp>
        <p:nvSpPr>
          <p:cNvPr id="19" name="Rectangle 59"/>
          <p:cNvSpPr>
            <a:spLocks noChangeArrowheads="1"/>
          </p:cNvSpPr>
          <p:nvPr/>
        </p:nvSpPr>
        <p:spPr bwMode="auto">
          <a:xfrm>
            <a:off x="1922748" y="2313398"/>
            <a:ext cx="3786188" cy="621188"/>
          </a:xfrm>
          <a:prstGeom prst="rect">
            <a:avLst/>
          </a:prstGeom>
          <a:noFill/>
          <a:ln w="28575">
            <a:solidFill>
              <a:srgbClr val="00B050"/>
            </a:solidFill>
            <a:miter lim="800000"/>
            <a:headEnd type="none" w="sm" len="sm"/>
            <a:tailEnd type="none" w="sm" len="sm"/>
          </a:ln>
        </p:spPr>
        <p:txBody>
          <a:bodyPr wrap="none" anchor="ctr"/>
          <a:lstStyle/>
          <a:p>
            <a:pPr eaLnBrk="0" hangingPunct="0">
              <a:lnSpc>
                <a:spcPct val="90000"/>
              </a:lnSpc>
              <a:spcBef>
                <a:spcPts val="590"/>
              </a:spcBef>
              <a:spcAft>
                <a:spcPts val="590"/>
              </a:spcAft>
              <a:buClr>
                <a:schemeClr val="tx2"/>
              </a:buClr>
              <a:buSzPct val="80000"/>
              <a:buFont typeface="Wingdings" panose="05000000000000000000" pitchFamily="2" charset="2"/>
              <a:buNone/>
              <a:defRPr/>
            </a:pPr>
            <a:endParaRPr lang="zh-CN" altLang="en-US" sz="2000">
              <a:effectLst>
                <a:outerShdw blurRad="38100" dist="38100" dir="2700000" algn="tl">
                  <a:srgbClr val="C0C0C0"/>
                </a:outerShdw>
              </a:effectLst>
              <a:ea typeface="宋体" panose="02010600030101010101" pitchFamily="2" charset="-122"/>
            </a:endParaRPr>
          </a:p>
        </p:txBody>
      </p:sp>
      <p:sp>
        <p:nvSpPr>
          <p:cNvPr id="20" name="Rectangle 59"/>
          <p:cNvSpPr>
            <a:spLocks noChangeArrowheads="1"/>
          </p:cNvSpPr>
          <p:nvPr/>
        </p:nvSpPr>
        <p:spPr bwMode="auto">
          <a:xfrm>
            <a:off x="2678892" y="4007518"/>
            <a:ext cx="3166703" cy="621188"/>
          </a:xfrm>
          <a:prstGeom prst="rect">
            <a:avLst/>
          </a:prstGeom>
          <a:noFill/>
          <a:ln w="28575">
            <a:solidFill>
              <a:srgbClr val="00B050"/>
            </a:solidFill>
            <a:miter lim="800000"/>
            <a:headEnd type="none" w="sm" len="sm"/>
            <a:tailEnd type="none" w="sm" len="sm"/>
          </a:ln>
        </p:spPr>
        <p:txBody>
          <a:bodyPr wrap="none" anchor="ctr"/>
          <a:lstStyle/>
          <a:p>
            <a:pPr eaLnBrk="0" hangingPunct="0">
              <a:lnSpc>
                <a:spcPct val="90000"/>
              </a:lnSpc>
              <a:spcBef>
                <a:spcPts val="590"/>
              </a:spcBef>
              <a:spcAft>
                <a:spcPts val="590"/>
              </a:spcAft>
              <a:buClr>
                <a:schemeClr val="tx2"/>
              </a:buClr>
              <a:buSzPct val="80000"/>
              <a:buFont typeface="Wingdings" panose="05000000000000000000" pitchFamily="2" charset="2"/>
              <a:buNone/>
              <a:defRPr/>
            </a:pPr>
            <a:endParaRPr lang="zh-CN" altLang="en-US" sz="2000">
              <a:effectLst>
                <a:outerShdw blurRad="38100" dist="38100" dir="2700000" algn="tl">
                  <a:srgbClr val="C0C0C0"/>
                </a:outerShdw>
              </a:effectLst>
              <a:ea typeface="宋体" panose="02010600030101010101" pitchFamily="2" charset="-122"/>
            </a:endParaRPr>
          </a:p>
        </p:txBody>
      </p:sp>
      <p:sp>
        <p:nvSpPr>
          <p:cNvPr id="21" name="Rectangle 59"/>
          <p:cNvSpPr>
            <a:spLocks noChangeArrowheads="1"/>
          </p:cNvSpPr>
          <p:nvPr/>
        </p:nvSpPr>
        <p:spPr bwMode="auto">
          <a:xfrm>
            <a:off x="2955186" y="3433359"/>
            <a:ext cx="3166703" cy="402586"/>
          </a:xfrm>
          <a:prstGeom prst="rect">
            <a:avLst/>
          </a:prstGeom>
          <a:noFill/>
          <a:ln w="28575">
            <a:solidFill>
              <a:srgbClr val="00B050"/>
            </a:solidFill>
            <a:miter lim="800000"/>
            <a:headEnd type="none" w="sm" len="sm"/>
            <a:tailEnd type="none" w="sm" len="sm"/>
          </a:ln>
        </p:spPr>
        <p:txBody>
          <a:bodyPr wrap="none" anchor="ctr"/>
          <a:lstStyle/>
          <a:p>
            <a:pPr eaLnBrk="0" hangingPunct="0">
              <a:lnSpc>
                <a:spcPct val="90000"/>
              </a:lnSpc>
              <a:spcBef>
                <a:spcPts val="590"/>
              </a:spcBef>
              <a:spcAft>
                <a:spcPts val="590"/>
              </a:spcAft>
              <a:buClr>
                <a:schemeClr val="tx2"/>
              </a:buClr>
              <a:buSzPct val="80000"/>
              <a:buFont typeface="Wingdings" panose="05000000000000000000" pitchFamily="2" charset="2"/>
              <a:buNone/>
              <a:defRPr/>
            </a:pPr>
            <a:endParaRPr lang="zh-CN" altLang="en-US" sz="2000">
              <a:effectLst>
                <a:outerShdw blurRad="38100" dist="38100" dir="2700000" algn="tl">
                  <a:srgbClr val="C0C0C0"/>
                </a:outerShdw>
              </a:effectLst>
              <a:ea typeface="宋体" panose="02010600030101010101" pitchFamily="2" charset="-122"/>
            </a:endParaRPr>
          </a:p>
        </p:txBody>
      </p:sp>
    </p:spTree>
    <p:extLst>
      <p:ext uri="{BB962C8B-B14F-4D97-AF65-F5344CB8AC3E}">
        <p14:creationId xmlns:p14="http://schemas.microsoft.com/office/powerpoint/2010/main" val="3111901506"/>
      </p:ext>
    </p:extLst>
  </p:cSld>
  <p:clrMapOvr>
    <a:masterClrMapping/>
  </p:clrMapOvr>
  <mc:AlternateContent xmlns:mc="http://schemas.openxmlformats.org/markup-compatibility/2006" xmlns:p14="http://schemas.microsoft.com/office/powerpoint/2010/main">
    <mc:Choice Requires="p14">
      <p:transition p14:dur="1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ppt_x"/>
                                          </p:val>
                                        </p:tav>
                                        <p:tav tm="100000">
                                          <p:val>
                                            <p:strVal val="#ppt_x"/>
                                          </p:val>
                                        </p:tav>
                                      </p:tavLst>
                                    </p:anim>
                                    <p:anim calcmode="lin" valueType="num">
                                      <p:cBhvr additive="base">
                                        <p:cTn id="2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additive="base">
                                        <p:cTn id="31" dur="500" fill="hold"/>
                                        <p:tgtEl>
                                          <p:spTgt spid="17"/>
                                        </p:tgtEl>
                                        <p:attrNameLst>
                                          <p:attrName>ppt_x</p:attrName>
                                        </p:attrNameLst>
                                      </p:cBhvr>
                                      <p:tavLst>
                                        <p:tav tm="0">
                                          <p:val>
                                            <p:strVal val="#ppt_x"/>
                                          </p:val>
                                        </p:tav>
                                        <p:tav tm="100000">
                                          <p:val>
                                            <p:strVal val="#ppt_x"/>
                                          </p:val>
                                        </p:tav>
                                      </p:tavLst>
                                    </p:anim>
                                    <p:anim calcmode="lin" valueType="num">
                                      <p:cBhvr additive="base">
                                        <p:cTn id="3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9" grpId="0" animBg="1"/>
      <p:bldP spid="20" grpId="0" animBg="1"/>
      <p:bldP spid="21"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29&quot;:[50000165]}"/>
  <p:tag name="COMMONDATA" val="eyJoZGlkIjoiZjllNGI0YjYwMzZjM2MxYjg3ZTlhOGVkYjk1MDhlNGUifQ=="/>
</p:tagLst>
</file>

<file path=ppt/tags/tag2.xml><?xml version="1.0" encoding="utf-8"?>
<p:tagLst xmlns:a="http://schemas.openxmlformats.org/drawingml/2006/main" xmlns:r="http://schemas.openxmlformats.org/officeDocument/2006/relationships" xmlns:p="http://schemas.openxmlformats.org/presentationml/2006/main">
  <p:tag name="DVSHAPEID" val="xhKjrZp8ycusAa5KzTX4cs"/>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393</TotalTime>
  <Words>2325</Words>
  <Application>Microsoft Office PowerPoint</Application>
  <PresentationFormat>宽屏</PresentationFormat>
  <Paragraphs>353</Paragraphs>
  <Slides>20</Slides>
  <Notes>12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20</vt:i4>
      </vt:variant>
    </vt:vector>
  </HeadingPairs>
  <TitlesOfParts>
    <vt:vector size="34" baseType="lpstr">
      <vt:lpstr>Monotype Sorts</vt:lpstr>
      <vt:lpstr>黑体</vt:lpstr>
      <vt:lpstr>华文仿宋</vt:lpstr>
      <vt:lpstr>楷体_GB2312</vt:lpstr>
      <vt:lpstr>宋体</vt:lpstr>
      <vt:lpstr>微软雅黑</vt:lpstr>
      <vt:lpstr>Arial</vt:lpstr>
      <vt:lpstr>Calibri</vt:lpstr>
      <vt:lpstr>Calibri Light</vt:lpstr>
      <vt:lpstr>Courier New</vt:lpstr>
      <vt:lpstr>Franklin Gothic Book</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cp:keywords>http:/www.ypppt.com</cp:keywords>
  <cp:lastModifiedBy>lenovo</cp:lastModifiedBy>
  <cp:revision>763</cp:revision>
  <dcterms:created xsi:type="dcterms:W3CDTF">2016-04-09T13:02:00Z</dcterms:created>
  <dcterms:modified xsi:type="dcterms:W3CDTF">2025-12-01T01:44:17Z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012007FD967F4BAF8D4DE96E0BE7D00D_12</vt:lpwstr>
  </property>
</Properties>
</file>