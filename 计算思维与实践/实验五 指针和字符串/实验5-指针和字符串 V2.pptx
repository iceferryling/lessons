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21"/>
  </p:handoutMasterIdLst>
  <p:sldIdLst>
    <p:sldId id="322" r:id="rId4"/>
    <p:sldId id="430" r:id="rId6"/>
    <p:sldId id="415" r:id="rId7"/>
    <p:sldId id="428" r:id="rId8"/>
    <p:sldId id="421" r:id="rId9"/>
    <p:sldId id="416" r:id="rId10"/>
    <p:sldId id="413" r:id="rId11"/>
    <p:sldId id="423" r:id="rId12"/>
    <p:sldId id="422" r:id="rId13"/>
    <p:sldId id="424" r:id="rId14"/>
    <p:sldId id="425" r:id="rId15"/>
    <p:sldId id="426" r:id="rId16"/>
    <p:sldId id="427" r:id="rId17"/>
    <p:sldId id="405" r:id="rId18"/>
    <p:sldId id="429" r:id="rId19"/>
    <p:sldId id="323" r:id="rId20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D74A7"/>
    <a:srgbClr val="DCEAF7"/>
    <a:srgbClr val="ECD3C4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77" autoAdjust="0"/>
    <p:restoredTop sz="85948" autoAdjust="0"/>
  </p:normalViewPr>
  <p:slideViewPr>
    <p:cSldViewPr snapToGrid="0" showGuides="1">
      <p:cViewPr varScale="1">
        <p:scale>
          <a:sx n="100" d="100"/>
          <a:sy n="100" d="100"/>
        </p:scale>
        <p:origin x="792" y="78"/>
      </p:cViewPr>
      <p:guideLst>
        <p:guide orient="horz" pos="2198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-2529" y="-72"/>
      </p:cViewPr>
      <p:guideLst>
        <p:guide orient="horz" pos="2930"/>
        <p:guide pos="21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0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90E8E-B145-4FC0-B3F5-88616996E7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F39E9-F60F-4776-B545-3ACE882E0A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comb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31800" y="330198"/>
            <a:ext cx="540000" cy="288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31800" y="671197"/>
            <a:ext cx="540000" cy="180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431800" y="904196"/>
            <a:ext cx="540000" cy="72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 flipV="1">
            <a:off x="8966200" y="6528232"/>
            <a:ext cx="2880000" cy="36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>
    <p:comb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5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"/>
            <a:ext cx="12192000" cy="4376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5709"/>
            <a:ext cx="12192000" cy="33622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3065796"/>
            <a:ext cx="3600000" cy="21401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0769600" y="3664910"/>
            <a:ext cx="843953" cy="2410180"/>
            <a:chOff x="10769600" y="3836360"/>
            <a:chExt cx="843953" cy="241018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9600" y="3838038"/>
              <a:ext cx="146835" cy="24085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9612" y="4912297"/>
              <a:ext cx="492494" cy="129551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0930" y="3836360"/>
              <a:ext cx="562623" cy="82489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34" y="247661"/>
            <a:ext cx="3602440" cy="1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7" y="444499"/>
            <a:ext cx="108000" cy="272454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2093857"/>
            <a:ext cx="3600000" cy="814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22348" y="3625900"/>
            <a:ext cx="964403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计算思维与实践</a:t>
            </a:r>
            <a:endParaRPr lang="en-US" altLang="zh-CN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 指针和字符串</a:t>
            </a:r>
            <a:endParaRPr lang="zh-CN" altLang="en-US" sz="3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798622" y="6455543"/>
            <a:ext cx="2107760" cy="288000"/>
            <a:chOff x="1021340" y="5712187"/>
            <a:chExt cx="2107760" cy="288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340" y="5716689"/>
              <a:ext cx="581924" cy="27057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89100" y="5712187"/>
              <a:ext cx="1440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7255" y="5720618"/>
              <a:ext cx="1186531" cy="270000"/>
            </a:xfrm>
            <a:prstGeom prst="rect">
              <a:avLst/>
            </a:prstGeom>
          </p:spPr>
        </p:pic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199" y="5983976"/>
            <a:ext cx="3475990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实验目的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97330" y="1417955"/>
            <a:ext cx="971677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</a:rPr>
              <a:t>理解字符串的存储本质极其与指针的关联关系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</a:rPr>
              <a:t>熟练运用指针和字符串处理函数进行字符串操作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</a:rPr>
              <a:t>掌握函数间传递字符串的方法，并理解地址传递的机制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>
            <a:off x="1161415" y="3686175"/>
            <a:ext cx="4796155" cy="491490"/>
          </a:xfrm>
          <a:prstGeom prst="rect">
            <a:avLst/>
          </a:prstGeom>
          <a:solidFill>
            <a:srgbClr val="DCEAF7"/>
          </a:solidFill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1161415" y="4917440"/>
            <a:ext cx="4744085" cy="1780540"/>
          </a:xfrm>
          <a:prstGeom prst="rect">
            <a:avLst/>
          </a:prstGeom>
          <a:solidFill>
            <a:srgbClr val="DCEAF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83310" y="1026160"/>
            <a:ext cx="9974580" cy="13239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369695" y="917575"/>
            <a:ext cx="9149715" cy="541528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语言没有提供</a:t>
            </a:r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数据类型，通过</a:t>
            </a:r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字符数组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间接实现，以</a:t>
            </a:r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特殊字符</a:t>
            </a:r>
            <a:r>
              <a:rPr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’\0‘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（空字符）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作为结束标志（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80000"/>
              </a:lnSpc>
              <a:buFont typeface="Wingdings" panose="05000000000000000000" charset="0"/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单个字符串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一维字符数组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30000"/>
              </a:lnSpc>
              <a:buFont typeface="Wingdings" panose="05000000000000000000" charset="0"/>
              <a:buNone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char str[6] = "Hello"; </a:t>
            </a:r>
            <a:endParaRPr lang="en-US" altLang="zh-CN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60000"/>
              </a:lnSpc>
              <a:buFont typeface="Wingdings" panose="05000000000000000000" charset="0"/>
              <a:buNone/>
            </a:pP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淘宝网chenying0907出品 4"/>
          <p:cNvSpPr txBox="1"/>
          <p:nvPr/>
        </p:nvSpPr>
        <p:spPr>
          <a:xfrm>
            <a:off x="1587600" y="264321"/>
            <a:ext cx="5023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指针和字符串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413874" y="3720554"/>
          <a:ext cx="4812632" cy="4309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1579"/>
                <a:gridCol w="601579"/>
                <a:gridCol w="601579"/>
                <a:gridCol w="601579"/>
                <a:gridCol w="601579"/>
                <a:gridCol w="601579"/>
              </a:tblGrid>
              <a:tr h="4309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endParaRPr lang="en-US" altLang="zh-CN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en-US" altLang="zh-CN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endParaRPr lang="en-US" altLang="zh-CN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endParaRPr lang="en-US" altLang="zh-CN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</a:t>
                      </a:r>
                      <a:endParaRPr lang="en-US" altLang="zh-CN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sz="2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DCEAF7"/>
                    </a:solidFill>
                  </a:tcPr>
                </a:tc>
              </a:tr>
            </a:tbl>
          </a:graphicData>
        </a:graphic>
      </p:graphicFrame>
      <p:cxnSp>
        <p:nvCxnSpPr>
          <p:cNvPr id="11" name="直接箭头连接符 10"/>
          <p:cNvCxnSpPr/>
          <p:nvPr/>
        </p:nvCxnSpPr>
        <p:spPr>
          <a:xfrm>
            <a:off x="6142990" y="5680075"/>
            <a:ext cx="1203325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170295" y="5311775"/>
            <a:ext cx="1494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0060FEE4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340600" y="3337560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str[0]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64805" y="3337560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str[1]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559800" y="3337560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str[2]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204960" y="3337560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str[3]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779000" y="3337560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str[4]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410190" y="3337560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str[5]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7392919" y="5443944"/>
          <a:ext cx="4812632" cy="4309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1579"/>
                <a:gridCol w="601579"/>
                <a:gridCol w="601579"/>
                <a:gridCol w="601579"/>
                <a:gridCol w="601579"/>
                <a:gridCol w="601579"/>
              </a:tblGrid>
              <a:tr h="4309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endParaRPr lang="en-US" altLang="zh-CN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en-US" altLang="zh-CN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endParaRPr lang="en-US" altLang="zh-CN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endParaRPr lang="en-US" altLang="zh-CN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</a:t>
                      </a:r>
                      <a:endParaRPr lang="en-US" altLang="zh-CN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sz="2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</a:tr>
            </a:tbl>
          </a:graphicData>
        </a:graphic>
      </p:graphicFrame>
      <p:sp>
        <p:nvSpPr>
          <p:cNvPr id="45" name="文本框 44"/>
          <p:cNvSpPr txBox="1"/>
          <p:nvPr/>
        </p:nvSpPr>
        <p:spPr>
          <a:xfrm>
            <a:off x="5968365" y="5654040"/>
            <a:ext cx="15754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 or &amp; str[0]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541895" y="6183630"/>
            <a:ext cx="688975" cy="3994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 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7" name="直接箭头连接符 46"/>
          <p:cNvCxnSpPr/>
          <p:nvPr/>
        </p:nvCxnSpPr>
        <p:spPr>
          <a:xfrm flipH="1" flipV="1">
            <a:off x="7705725" y="5938520"/>
            <a:ext cx="635" cy="3124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2813685" y="5918200"/>
            <a:ext cx="303276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1600" b="0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通过指针偏移可访问后续字符</a:t>
            </a:r>
            <a:endParaRPr lang="zh-CN" altLang="en-US" sz="1600" b="0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388860" y="4235450"/>
            <a:ext cx="3333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str[0]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表示第一个字符</a:t>
            </a:r>
            <a:r>
              <a:rPr lang="en-US" altLang="zh-CN" sz="1600" dirty="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'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lang="en-US" altLang="zh-CN" sz="1600" dirty="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'</a:t>
            </a:r>
            <a:endParaRPr lang="en-US" altLang="zh-CN" sz="1600" dirty="0">
              <a:solidFill>
                <a:srgbClr val="0070C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887970" y="6078855"/>
            <a:ext cx="3333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*p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表示第一个字符</a:t>
            </a:r>
            <a:r>
              <a:rPr lang="en-US" altLang="zh-CN" sz="1600" dirty="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'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lang="en-US" altLang="zh-CN" sz="1600" dirty="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'</a:t>
            </a:r>
            <a:endParaRPr lang="en-US" altLang="zh-CN" sz="1600" dirty="0">
              <a:solidFill>
                <a:srgbClr val="0070C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369695" y="4192270"/>
            <a:ext cx="6096000" cy="2915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：可使用下标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or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字符指针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char *p = str; 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while (*p != '\0') {  </a:t>
            </a:r>
            <a:endParaRPr lang="en-US" altLang="zh-CN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indent="4572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printf("%c", *p);</a:t>
            </a:r>
            <a:endParaRPr lang="en-US" altLang="zh-CN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4572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p++;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}</a:t>
            </a:r>
            <a:endParaRPr lang="en-US" altLang="zh-CN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1" grpId="0"/>
      <p:bldP spid="57" grpId="0"/>
      <p:bldP spid="54" grpId="1" animBg="1"/>
      <p:bldP spid="51" grpId="1"/>
      <p:bldP spid="57" grpId="1"/>
      <p:bldP spid="12" grpId="0"/>
      <p:bldP spid="45" grpId="0"/>
      <p:bldP spid="46" grpId="0"/>
      <p:bldP spid="53" grpId="0"/>
      <p:bldP spid="12" grpId="1"/>
      <p:bldP spid="45" grpId="1"/>
      <p:bldP spid="46" grpId="1"/>
      <p:bldP spid="5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624840" y="3606800"/>
            <a:ext cx="5470525" cy="3039110"/>
          </a:xfrm>
          <a:prstGeom prst="rect">
            <a:avLst/>
          </a:prstGeom>
          <a:solidFill>
            <a:srgbClr val="DCEAF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24840" y="2351405"/>
            <a:ext cx="5469890" cy="594995"/>
          </a:xfrm>
          <a:prstGeom prst="rect">
            <a:avLst/>
          </a:prstGeom>
          <a:solidFill>
            <a:srgbClr val="DCEAF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76910" y="615950"/>
            <a:ext cx="6021070" cy="67195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>
              <a:lnSpc>
                <a:spcPct val="80000"/>
              </a:lnSpc>
              <a:buFont typeface="Wingdings" panose="05000000000000000000" charset="0"/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多个字符串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维字符数组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>
              <a:lnSpc>
                <a:spcPct val="30000"/>
              </a:lnSpc>
              <a:buFont typeface="Wingdings" panose="05000000000000000000" charset="0"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>
              <a:lnSpc>
                <a:spcPct val="90000"/>
              </a:lnSpc>
              <a:buFont typeface="Wingdings" panose="05000000000000000000" charset="0"/>
              <a:buNone/>
            </a:pP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char names[3][6] = {"Lily", "Macy", "David"};</a:t>
            </a:r>
            <a:endParaRPr lang="en-US" altLang="zh-CN" sz="2000" dirty="0">
              <a:highlight>
                <a:srgbClr val="FFFF00"/>
              </a:highlight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60000"/>
              </a:lnSpc>
              <a:buFont typeface="Wingdings" panose="05000000000000000000" charset="0"/>
              <a:buNone/>
            </a:pP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20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4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7" name="淘宝网chenying0907出品 4"/>
          <p:cNvSpPr txBox="1"/>
          <p:nvPr/>
        </p:nvSpPr>
        <p:spPr>
          <a:xfrm>
            <a:off x="1587600" y="264321"/>
            <a:ext cx="5023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指针和字符串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1"/>
            </p:custDataLst>
          </p:nvPr>
        </p:nvGraphicFramePr>
        <p:xfrm>
          <a:off x="7962900" y="2281555"/>
          <a:ext cx="373761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2935"/>
                <a:gridCol w="622935"/>
                <a:gridCol w="622935"/>
                <a:gridCol w="622935"/>
                <a:gridCol w="622935"/>
                <a:gridCol w="622935"/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6816090" y="2248535"/>
            <a:ext cx="21050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0060FEEA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005060" y="1713865"/>
            <a:ext cx="2105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names[0][3]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816090" y="2576830"/>
            <a:ext cx="21050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0060FEF0</a:t>
            </a:r>
            <a:endParaRPr lang="en-US" sz="16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4" name="表格 43"/>
          <p:cNvGraphicFramePr/>
          <p:nvPr/>
        </p:nvGraphicFramePr>
        <p:xfrm>
          <a:off x="6850380" y="4966970"/>
          <a:ext cx="139954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9540"/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+mn-ea"/>
                        </a:rPr>
                        <a:t>0060FEEA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+mn-ea"/>
                        </a:rPr>
                        <a:t>0060FEF0</a:t>
                      </a:r>
                      <a:endParaRPr lang="en-US" altLang="en-US" sz="18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+mn-ea"/>
                        </a:rPr>
                        <a:t>0060FEF6</a:t>
                      </a:r>
                      <a:endParaRPr lang="en-US" altLang="en-US" sz="18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1" name="文本框 70"/>
          <p:cNvSpPr txBox="1"/>
          <p:nvPr/>
        </p:nvSpPr>
        <p:spPr>
          <a:xfrm>
            <a:off x="6286500" y="4897120"/>
            <a:ext cx="55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p[0]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816090" y="2900045"/>
            <a:ext cx="21050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0060FEF6</a:t>
            </a:r>
            <a:endParaRPr lang="en-US" sz="16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6880860" y="2552700"/>
            <a:ext cx="1072515" cy="571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6925945" y="2874010"/>
            <a:ext cx="1020445" cy="444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6940550" y="3195320"/>
            <a:ext cx="1005840" cy="317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10213975" y="1994535"/>
            <a:ext cx="223520" cy="4394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854315" y="3383915"/>
            <a:ext cx="41503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names[i][j] 代表第i个字符串的第j个字符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names[i]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是长度为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 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的一维字符数组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286500" y="5288280"/>
            <a:ext cx="55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p[1]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86500" y="5695950"/>
            <a:ext cx="55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p[2]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8286115" y="5163820"/>
            <a:ext cx="25336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8286115" y="5515610"/>
            <a:ext cx="25336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8284845" y="5880735"/>
            <a:ext cx="25336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6" name="表格 35"/>
          <p:cNvGraphicFramePr/>
          <p:nvPr>
            <p:custDataLst>
              <p:tags r:id="rId2"/>
            </p:custDataLst>
          </p:nvPr>
        </p:nvGraphicFramePr>
        <p:xfrm>
          <a:off x="8552180" y="4966970"/>
          <a:ext cx="3150870" cy="10991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145"/>
                <a:gridCol w="525145"/>
                <a:gridCol w="525145"/>
                <a:gridCol w="525145"/>
                <a:gridCol w="525145"/>
                <a:gridCol w="525145"/>
              </a:tblGrid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en-US" altLang="zh-CN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altLang="zh-CN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ECD3C4"/>
                    </a:solidFill>
                  </a:tcPr>
                </a:tc>
              </a:tr>
            </a:tbl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6203315" y="1713865"/>
            <a:ext cx="26930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names[0] or &amp;names[0][0]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39" name="直接箭头连接符 38"/>
          <p:cNvCxnSpPr>
            <a:endCxn id="18" idx="1"/>
          </p:cNvCxnSpPr>
          <p:nvPr/>
        </p:nvCxnSpPr>
        <p:spPr>
          <a:xfrm>
            <a:off x="6610985" y="2094865"/>
            <a:ext cx="205105" cy="322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64845" y="2978785"/>
            <a:ext cx="6096000" cy="4107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：可使用下标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or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字符指针数组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30000"/>
              </a:lnSpc>
              <a:buFont typeface="Arial" panose="020B0604020202020204" pitchFamily="34" charset="0"/>
              <a:buNone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for(int i =0; i &lt;3; i++){</a:t>
            </a: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printf("%s\n", names[i]); </a:t>
            </a:r>
            <a:r>
              <a:rPr lang="zh-CN" altLang="en-US" sz="160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//使用下标遍历</a:t>
            </a: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}</a:t>
            </a:r>
            <a:endParaRPr lang="en-US" altLang="zh-CN" sz="1600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char *p[3];  </a:t>
            </a:r>
            <a:r>
              <a:rPr lang="zh-CN" altLang="en-US" sz="160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//使用字符指针数组遍历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for (int i = 0; i &lt; 3; i++) {</a:t>
            </a:r>
            <a:endParaRPr lang="en-US" altLang="zh-CN" sz="16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p[i] = names[i]; </a:t>
            </a:r>
            <a:r>
              <a:rPr lang="zh-CN" altLang="en-US" sz="160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//等价于 &amp;names[i][0]</a:t>
            </a:r>
            <a:endParaRPr lang="zh-CN" altLang="en-US" sz="1600">
              <a:solidFill>
                <a:srgbClr val="0070C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}</a:t>
            </a:r>
            <a:endParaRPr lang="en-US" altLang="zh-CN" sz="16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for (int i = 0; i &lt; 3; i++) {	</a:t>
            </a:r>
            <a:endParaRPr lang="en-US" altLang="zh-CN" sz="16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printf("%s\n", p[i]);</a:t>
            </a: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</a:t>
            </a:r>
            <a:endParaRPr lang="en-US" altLang="zh-CN" sz="16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}</a:t>
            </a:r>
            <a:endParaRPr lang="en-US" altLang="zh-CN" sz="16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6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2" grpId="0"/>
      <p:bldP spid="54" grpId="1" animBg="1"/>
      <p:bldP spid="2" grpId="1"/>
      <p:bldP spid="71" grpId="0"/>
      <p:bldP spid="21" grpId="0"/>
      <p:bldP spid="23" grpId="0"/>
      <p:bldP spid="71" grpId="1"/>
      <p:bldP spid="21" grpId="1"/>
      <p:bldP spid="2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8045" y="1224915"/>
            <a:ext cx="5749925" cy="5093970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6946265" y="2732405"/>
            <a:ext cx="1634490" cy="22098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7225030" y="3804920"/>
            <a:ext cx="1759585" cy="22098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stCxn id="4" idx="3"/>
          </p:cNvCxnSpPr>
          <p:nvPr>
            <p:custDataLst>
              <p:tags r:id="rId4"/>
            </p:custDataLst>
          </p:nvPr>
        </p:nvCxnSpPr>
        <p:spPr>
          <a:xfrm flipV="1">
            <a:off x="8580755" y="2835275"/>
            <a:ext cx="810895" cy="76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9411335" y="2630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scanf(“%s”, str1);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1" name="直接箭头连接符 10"/>
          <p:cNvCxnSpPr/>
          <p:nvPr>
            <p:custDataLst>
              <p:tags r:id="rId6"/>
            </p:custDataLst>
          </p:nvPr>
        </p:nvCxnSpPr>
        <p:spPr>
          <a:xfrm flipV="1">
            <a:off x="8984615" y="3911600"/>
            <a:ext cx="810895" cy="76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9717405" y="3703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scanf(“%s”, str2[i]);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9165" y="4345940"/>
            <a:ext cx="4855845" cy="2435860"/>
          </a:xfrm>
          <a:prstGeom prst="rect">
            <a:avLst/>
          </a:prstGeom>
        </p:spPr>
      </p:pic>
      <p:sp>
        <p:nvSpPr>
          <p:cNvPr id="2" name="淘宝网chenying0907出品 4"/>
          <p:cNvSpPr txBox="1"/>
          <p:nvPr/>
        </p:nvSpPr>
        <p:spPr>
          <a:xfrm>
            <a:off x="1587600" y="264321"/>
            <a:ext cx="5023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指针和字符串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8930" y="922655"/>
            <a:ext cx="5645785" cy="55448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字符串输入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80000"/>
              </a:lnSpc>
              <a:buFont typeface="Wingdings" panose="05000000000000000000" charset="0"/>
              <a:buChar char="Ø"/>
            </a:pPr>
            <a:endParaRPr lang="zh-CN" altLang="en-US" sz="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scanf("%s", str)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直接读取字符串，自动以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\0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结尾，遇到空格、制表符、换行符停止并丢弃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getchar()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逐个字符读取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，需手动拼接并添加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\0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，能读取空格、换行符等所有字符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gets(str)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直接读取整行字符串（包括空格），自动添加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\0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，仅遇到换行符终止，且会丢弃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fgets(str, n, stdin)：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推荐的安全方式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读取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n-1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个字符或遇到换行符停止，自动添加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\0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默认保留换行符（需手动去除）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限制最大读取长度，避免溢出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10985" y="2672715"/>
            <a:ext cx="41275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  <a:endParaRPr lang="zh-CN" altLang="en-US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03085" y="3738245"/>
            <a:ext cx="41275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  <a:endParaRPr lang="zh-CN" altLang="en-US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9" grpId="0"/>
      <p:bldP spid="4" grpId="1" animBg="1"/>
      <p:bldP spid="9" grpId="1"/>
      <p:bldP spid="12" grpId="0"/>
      <p:bldP spid="6" grpId="0" bldLvl="0" animBg="1"/>
      <p:bldP spid="12" grpId="1"/>
      <p:bldP spid="6" grpId="1" animBg="1"/>
      <p:bldP spid="23" grpId="0"/>
      <p:bldP spid="26" grpId="0"/>
      <p:bldP spid="23" grpId="1"/>
      <p:bldP spid="2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431800" y="1190625"/>
            <a:ext cx="4744085" cy="1780540"/>
          </a:xfrm>
          <a:prstGeom prst="rect">
            <a:avLst/>
          </a:prstGeom>
          <a:solidFill>
            <a:srgbClr val="DCEAF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4"/>
          <p:cNvSpPr txBox="1"/>
          <p:nvPr/>
        </p:nvSpPr>
        <p:spPr>
          <a:xfrm>
            <a:off x="1587600" y="264321"/>
            <a:ext cx="5023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字符串处理函数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477620" y="933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57860" y="1272540"/>
            <a:ext cx="609600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char s1[] = "hello";</a:t>
            </a:r>
            <a:endParaRPr lang="en-US" altLang="zh-CN" sz="20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char s2[] = "hello";</a:t>
            </a:r>
            <a:endParaRPr lang="en-US" altLang="zh-CN" sz="20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if (s1 == s2) {</a:t>
            </a:r>
            <a:endParaRPr lang="en-US" altLang="zh-CN" sz="20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457200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printf("s1 equals s2\n"); </a:t>
            </a:r>
            <a:endParaRPr lang="en-US" altLang="zh-CN" sz="20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0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}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//比较的是地址，不是内容！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80330" y="1272540"/>
            <a:ext cx="9224010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字符串不能直接用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赋值，而是用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strcpy()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strncpy()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字符串不能直接用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&gt;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==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比较，应该用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strcmp()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如果使用字符串处理函数，需要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#include &lt;string.h&gt;</a:t>
            </a:r>
            <a:endParaRPr lang="en-US" altLang="zh-CN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54965" y="1847215"/>
            <a:ext cx="48895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  <a:endParaRPr lang="zh-CN" altLang="en-US" sz="24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31800" y="3241675"/>
          <a:ext cx="11305540" cy="296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9210"/>
                <a:gridCol w="4741545"/>
                <a:gridCol w="2724785"/>
              </a:tblGrid>
              <a:tr h="4108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返回值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292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strlen(const char *str)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计算字符串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str 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的长度，不包括结束符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\0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字符串的长度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strcpy(char *dest, const char *src)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将源字符串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src 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的内容（含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\0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复制到目标字符串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dest 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指向的内存空间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指向目标字符串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dest 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的指针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strcmp(const char *str1, const char *str2)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按照字典序（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ASCII 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码值）比较两个字符串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str1 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和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str2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&lt;0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&gt;0 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分别表示小于、等于、大于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strcat(char *dest, const char *src)</a:t>
                      </a:r>
                      <a:endParaRPr lang="en-US" altLang="zh-CN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将源字符串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src 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的内容追加到目标字符串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dest 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的末尾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指向目标字符串</a:t>
                      </a: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dest </a:t>
                      </a: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的指针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网chenying0907出品 4"/>
          <p:cNvSpPr txBox="1"/>
          <p:nvPr/>
        </p:nvSpPr>
        <p:spPr>
          <a:xfrm>
            <a:off x="1587600" y="264321"/>
            <a:ext cx="502321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向函数传递字符串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74320" y="1924685"/>
            <a:ext cx="3970655" cy="4422775"/>
          </a:xfrm>
          <a:prstGeom prst="rect">
            <a:avLst/>
          </a:prstGeom>
          <a:solidFill>
            <a:srgbClr val="DCEAF7"/>
          </a:solidFill>
          <a:ln>
            <a:solidFill>
              <a:srgbClr val="695F0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4" name="文本框 16"/>
          <p:cNvSpPr txBox="1"/>
          <p:nvPr/>
        </p:nvSpPr>
        <p:spPr>
          <a:xfrm>
            <a:off x="260152" y="1133567"/>
            <a:ext cx="9546667" cy="53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2F2F2F"/>
              </a:buClr>
              <a:buSzPct val="100000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5-1】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寻找“最小”字符串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4644255" y="1838346"/>
            <a:ext cx="2433414" cy="1081253"/>
          </a:xfrm>
          <a:prstGeom prst="cloudCallout">
            <a:avLst>
              <a:gd name="adj1" fmla="val -52546"/>
              <a:gd name="adj2" fmla="val 50625"/>
            </a:avLst>
          </a:prstGeom>
          <a:solidFill>
            <a:srgbClr val="C47546">
              <a:lumMod val="40000"/>
              <a:lumOff val="60000"/>
              <a:alpha val="79999"/>
            </a:srgbClr>
          </a:solidFill>
          <a:ln w="9525">
            <a:solidFill>
              <a:sysClr val="windowText" lastClr="000000"/>
            </a:solidFill>
            <a:round/>
          </a:ln>
        </p:spPr>
        <p:txBody>
          <a:bodyPr/>
          <a:lstStyle>
            <a:lvl1pPr>
              <a:lnSpc>
                <a:spcPct val="120000"/>
              </a:lnSpc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2" charset="2"/>
              <a:buChar char="Þ"/>
              <a:defRPr sz="2800" b="1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2" charset="2"/>
              <a:buChar char=""/>
              <a:defRPr sz="2400" b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2" charset="2"/>
              <a:buChar char="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2" charset="2"/>
              <a:buChar char="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2" charset="2"/>
              <a:buChar char="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2" charset="2"/>
              <a:buChar char="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2" charset="2"/>
              <a:buChar char="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2" charset="2"/>
              <a:buChar char="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这段代码有什么作用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35170" y="3369310"/>
            <a:ext cx="7597775" cy="34366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这段代码是一个简单的程序，用于从用户输入的五个字符串中找到字典序最小的字符串，并将其输出。</a:t>
            </a:r>
            <a:endParaRPr lang="en-US" altLang="zh-CN" sz="1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字典序：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也称为字母序或词典序，是一种用于对字符串或序列进行排序的方法，类似于字典中单词的排列顺序。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base">
              <a:lnSpc>
                <a:spcPct val="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举例：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假设有两个字符串 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"apple"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 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"banana"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。这两个字符串的字典序比较会从左到右逐个字符比较：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在第一个位置上，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'a'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在字母表中出现在 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'b'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前面，因此 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"apple"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的字典序比 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"banana"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小。因此，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"apple"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应该排在 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"banana"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前面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4" name="图片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1521460"/>
            <a:ext cx="2343951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10"/>
          <p:cNvSpPr txBox="1">
            <a:spLocks noChangeArrowheads="1"/>
          </p:cNvSpPr>
          <p:nvPr/>
        </p:nvSpPr>
        <p:spPr bwMode="auto">
          <a:xfrm>
            <a:off x="8407400" y="1021398"/>
            <a:ext cx="208545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参考输入输出</a:t>
            </a:r>
            <a:endParaRPr lang="zh-CN" altLang="en-US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42275" y="1021398"/>
            <a:ext cx="2597150" cy="22621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 cap="flat" cmpd="sng" algn="ctr">
            <a:solidFill>
              <a:srgbClr val="918415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文本框 10"/>
          <p:cNvSpPr txBox="1">
            <a:spLocks noChangeArrowheads="1"/>
          </p:cNvSpPr>
          <p:nvPr/>
        </p:nvSpPr>
        <p:spPr bwMode="auto">
          <a:xfrm>
            <a:off x="8407400" y="1021398"/>
            <a:ext cx="1895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latin typeface="等线" panose="02010600030101010101" charset="-122"/>
                <a:ea typeface="等线" panose="02010600030101010101" charset="-122"/>
              </a:rPr>
              <a:t>参考输入输出</a:t>
            </a:r>
            <a:endParaRPr lang="zh-CN" altLang="en-US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2" name="图片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1521460"/>
            <a:ext cx="21304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328930" y="2084705"/>
            <a:ext cx="3823335" cy="41211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#include &lt;stdio.h&gt;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#include &lt;string.h&gt;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#define ARRA_SIZE 80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int main()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int n 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char str[ARRA_SIZE], min[ARRA_SIZE];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printf("Please enter 5 names:\n");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gets(str);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strcpy(min,str);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for(n = 1; n &lt; 5; n++)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gets(str);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if(strcmp(str,min) &lt; 0)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    strcpy(min, str);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printf("The min is:");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puts(min);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网chenying0907出品 4"/>
          <p:cNvSpPr txBox="1"/>
          <p:nvPr/>
        </p:nvSpPr>
        <p:spPr>
          <a:xfrm>
            <a:off x="1587600" y="264321"/>
            <a:ext cx="502321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向函数传递字符串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48590" y="2153285"/>
            <a:ext cx="6191885" cy="4422775"/>
          </a:xfrm>
          <a:prstGeom prst="rect">
            <a:avLst/>
          </a:prstGeom>
          <a:solidFill>
            <a:srgbClr val="DCEAF7"/>
          </a:solidFill>
          <a:ln>
            <a:solidFill>
              <a:srgbClr val="695F0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16"/>
          <p:cNvSpPr txBox="1"/>
          <p:nvPr/>
        </p:nvSpPr>
        <p:spPr>
          <a:xfrm>
            <a:off x="260152" y="1133567"/>
            <a:ext cx="9546667" cy="53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2F2F2F"/>
              </a:buClr>
              <a:buSzPct val="100000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5-1】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寻找“最小”字符串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文本框 10"/>
          <p:cNvSpPr txBox="1">
            <a:spLocks noChangeArrowheads="1"/>
          </p:cNvSpPr>
          <p:nvPr/>
        </p:nvSpPr>
        <p:spPr bwMode="auto">
          <a:xfrm>
            <a:off x="8407400" y="1398588"/>
            <a:ext cx="208545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参考输入输出</a:t>
            </a:r>
            <a:endParaRPr lang="zh-CN" altLang="en-US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03200" y="2313305"/>
            <a:ext cx="6136640" cy="41211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int strcmp(const char* str1, const char* str2)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while ((*str1) &amp;&amp; (*str1 == *str2))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str1++;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str2++;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if (*(unsigned char*)str1 &gt; *(unsigned char*)str2)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return 1;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else if (*(unsigned char*)str1 &lt; *(unsigned char*)str2)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return -1;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else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return 0;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  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04190" y="1667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strcmp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函数比较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"apple"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"abby"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的字典序大小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09" name="Group 4"/>
          <p:cNvGrpSpPr/>
          <p:nvPr/>
        </p:nvGrpSpPr>
        <p:grpSpPr bwMode="auto">
          <a:xfrm>
            <a:off x="6990172" y="2182516"/>
            <a:ext cx="7298270" cy="503238"/>
            <a:chOff x="831" y="1389"/>
            <a:chExt cx="4244" cy="317"/>
          </a:xfrm>
        </p:grpSpPr>
        <p:grpSp>
          <p:nvGrpSpPr>
            <p:cNvPr id="110" name="Group 5"/>
            <p:cNvGrpSpPr/>
            <p:nvPr/>
          </p:nvGrpSpPr>
          <p:grpSpPr bwMode="auto">
            <a:xfrm>
              <a:off x="839" y="1389"/>
              <a:ext cx="2492" cy="317"/>
              <a:chOff x="1474" y="1389"/>
              <a:chExt cx="2492" cy="317"/>
            </a:xfrm>
          </p:grpSpPr>
          <p:sp>
            <p:nvSpPr>
              <p:cNvPr id="112" name="Rectangle 6"/>
              <p:cNvSpPr>
                <a:spLocks noChangeArrowheads="1"/>
              </p:cNvSpPr>
              <p:nvPr/>
            </p:nvSpPr>
            <p:spPr bwMode="auto">
              <a:xfrm>
                <a:off x="1474" y="1389"/>
                <a:ext cx="2492" cy="317"/>
              </a:xfrm>
              <a:prstGeom prst="rect">
                <a:avLst/>
              </a:prstGeom>
              <a:noFill/>
              <a:ln w="57150">
                <a:solidFill>
                  <a:srgbClr val="00008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rgbClr val="2F2F2F"/>
                  </a:buClr>
                  <a:buSzPct val="80000"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Line 7"/>
              <p:cNvSpPr>
                <a:spLocks noChangeShapeType="1"/>
              </p:cNvSpPr>
              <p:nvPr/>
            </p:nvSpPr>
            <p:spPr bwMode="auto">
              <a:xfrm>
                <a:off x="1837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" name="Line 8"/>
              <p:cNvSpPr>
                <a:spLocks noChangeShapeType="1"/>
              </p:cNvSpPr>
              <p:nvPr/>
            </p:nvSpPr>
            <p:spPr bwMode="auto">
              <a:xfrm>
                <a:off x="2200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Line 9"/>
              <p:cNvSpPr>
                <a:spLocks noChangeShapeType="1"/>
              </p:cNvSpPr>
              <p:nvPr/>
            </p:nvSpPr>
            <p:spPr bwMode="auto">
              <a:xfrm>
                <a:off x="2561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6" name="Line 10"/>
              <p:cNvSpPr>
                <a:spLocks noChangeShapeType="1"/>
              </p:cNvSpPr>
              <p:nvPr/>
            </p:nvSpPr>
            <p:spPr bwMode="auto">
              <a:xfrm>
                <a:off x="292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Line 11"/>
              <p:cNvSpPr>
                <a:spLocks noChangeShapeType="1"/>
              </p:cNvSpPr>
              <p:nvPr/>
            </p:nvSpPr>
            <p:spPr bwMode="auto">
              <a:xfrm>
                <a:off x="3288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Line 12"/>
              <p:cNvSpPr>
                <a:spLocks noChangeShapeType="1"/>
              </p:cNvSpPr>
              <p:nvPr/>
            </p:nvSpPr>
            <p:spPr bwMode="auto">
              <a:xfrm>
                <a:off x="363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9" name="Line 13"/>
              <p:cNvSpPr>
                <a:spLocks noChangeShapeType="1"/>
              </p:cNvSpPr>
              <p:nvPr/>
            </p:nvSpPr>
            <p:spPr bwMode="auto">
              <a:xfrm>
                <a:off x="396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1" name="Text Box 18"/>
            <p:cNvSpPr txBox="1">
              <a:spLocks noChangeArrowheads="1"/>
            </p:cNvSpPr>
            <p:nvPr/>
          </p:nvSpPr>
          <p:spPr bwMode="auto">
            <a:xfrm>
              <a:off x="831" y="1401"/>
              <a:ext cx="4244" cy="26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rgbClr val="2F2F2F"/>
                </a:buClr>
                <a:buSzPct val="80000"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a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b      b     y     </a:t>
              </a:r>
              <a:r>
                <a:rPr lang="en-US" altLang="zh-CN" sz="2400" b="1" kern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sym typeface="+mn-ea"/>
                </a:rPr>
                <a:t>\0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3" name="Group 4"/>
          <p:cNvGrpSpPr/>
          <p:nvPr/>
        </p:nvGrpSpPr>
        <p:grpSpPr bwMode="auto">
          <a:xfrm>
            <a:off x="6990172" y="3393461"/>
            <a:ext cx="7298270" cy="503238"/>
            <a:chOff x="831" y="1389"/>
            <a:chExt cx="4244" cy="317"/>
          </a:xfrm>
        </p:grpSpPr>
        <p:grpSp>
          <p:nvGrpSpPr>
            <p:cNvPr id="44" name="Group 5"/>
            <p:cNvGrpSpPr/>
            <p:nvPr/>
          </p:nvGrpSpPr>
          <p:grpSpPr bwMode="auto">
            <a:xfrm>
              <a:off x="839" y="1389"/>
              <a:ext cx="2492" cy="317"/>
              <a:chOff x="1474" y="1389"/>
              <a:chExt cx="2492" cy="317"/>
            </a:xfrm>
          </p:grpSpPr>
          <p:sp>
            <p:nvSpPr>
              <p:cNvPr id="46" name="Rectangle 6"/>
              <p:cNvSpPr>
                <a:spLocks noChangeArrowheads="1"/>
              </p:cNvSpPr>
              <p:nvPr/>
            </p:nvSpPr>
            <p:spPr bwMode="auto">
              <a:xfrm>
                <a:off x="1474" y="1389"/>
                <a:ext cx="2492" cy="317"/>
              </a:xfrm>
              <a:prstGeom prst="rect">
                <a:avLst/>
              </a:prstGeom>
              <a:noFill/>
              <a:ln w="57150">
                <a:solidFill>
                  <a:srgbClr val="00008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rgbClr val="2F2F2F"/>
                  </a:buClr>
                  <a:buSzPct val="80000"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7"/>
              <p:cNvSpPr>
                <a:spLocks noChangeShapeType="1"/>
              </p:cNvSpPr>
              <p:nvPr/>
            </p:nvSpPr>
            <p:spPr bwMode="auto">
              <a:xfrm>
                <a:off x="1837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Line 8"/>
              <p:cNvSpPr>
                <a:spLocks noChangeShapeType="1"/>
              </p:cNvSpPr>
              <p:nvPr/>
            </p:nvSpPr>
            <p:spPr bwMode="auto">
              <a:xfrm>
                <a:off x="2200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9"/>
              <p:cNvSpPr>
                <a:spLocks noChangeShapeType="1"/>
              </p:cNvSpPr>
              <p:nvPr/>
            </p:nvSpPr>
            <p:spPr bwMode="auto">
              <a:xfrm>
                <a:off x="2561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Line 10"/>
              <p:cNvSpPr>
                <a:spLocks noChangeShapeType="1"/>
              </p:cNvSpPr>
              <p:nvPr/>
            </p:nvSpPr>
            <p:spPr bwMode="auto">
              <a:xfrm>
                <a:off x="292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Line 11"/>
              <p:cNvSpPr>
                <a:spLocks noChangeShapeType="1"/>
              </p:cNvSpPr>
              <p:nvPr/>
            </p:nvSpPr>
            <p:spPr bwMode="auto">
              <a:xfrm>
                <a:off x="3288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Line 12"/>
              <p:cNvSpPr>
                <a:spLocks noChangeShapeType="1"/>
              </p:cNvSpPr>
              <p:nvPr/>
            </p:nvSpPr>
            <p:spPr bwMode="auto">
              <a:xfrm>
                <a:off x="363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Line 13"/>
              <p:cNvSpPr>
                <a:spLocks noChangeShapeType="1"/>
              </p:cNvSpPr>
              <p:nvPr/>
            </p:nvSpPr>
            <p:spPr bwMode="auto">
              <a:xfrm>
                <a:off x="396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4" name="Text Box 18"/>
            <p:cNvSpPr txBox="1">
              <a:spLocks noChangeArrowheads="1"/>
            </p:cNvSpPr>
            <p:nvPr/>
          </p:nvSpPr>
          <p:spPr bwMode="auto">
            <a:xfrm>
              <a:off x="831" y="1401"/>
              <a:ext cx="4244" cy="26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rgbClr val="2F2F2F"/>
                </a:buClr>
                <a:buSzPct val="80000"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a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p      p      l      e     </a:t>
              </a:r>
              <a:r>
                <a:rPr lang="en-US" altLang="zh-CN" sz="2400" b="1" kern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sym typeface="+mn-ea"/>
                </a:rPr>
                <a:t>\0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55" name="直接箭头连接符 54"/>
          <p:cNvCxnSpPr/>
          <p:nvPr/>
        </p:nvCxnSpPr>
        <p:spPr>
          <a:xfrm flipV="1">
            <a:off x="7318375" y="2750185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 Box 18"/>
          <p:cNvSpPr txBox="1">
            <a:spLocks noChangeArrowheads="1"/>
          </p:cNvSpPr>
          <p:nvPr/>
        </p:nvSpPr>
        <p:spPr bwMode="auto">
          <a:xfrm>
            <a:off x="6736715" y="2833370"/>
            <a:ext cx="587375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str1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flipV="1">
            <a:off x="7312660" y="3982085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Box 18"/>
          <p:cNvSpPr txBox="1">
            <a:spLocks noChangeArrowheads="1"/>
          </p:cNvSpPr>
          <p:nvPr/>
        </p:nvSpPr>
        <p:spPr bwMode="auto">
          <a:xfrm>
            <a:off x="6731000" y="4065270"/>
            <a:ext cx="587375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str2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754495" y="4752975"/>
            <a:ext cx="5062220" cy="4438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第一步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*str1==*str2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，指针右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 flipV="1">
            <a:off x="7947660" y="276987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 Box 18"/>
          <p:cNvSpPr txBox="1">
            <a:spLocks noChangeArrowheads="1"/>
          </p:cNvSpPr>
          <p:nvPr/>
        </p:nvSpPr>
        <p:spPr bwMode="auto">
          <a:xfrm>
            <a:off x="7366000" y="2853055"/>
            <a:ext cx="587375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str1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 flipV="1">
            <a:off x="7941945" y="3988435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 Box 18"/>
          <p:cNvSpPr txBox="1">
            <a:spLocks noChangeArrowheads="1"/>
          </p:cNvSpPr>
          <p:nvPr/>
        </p:nvSpPr>
        <p:spPr bwMode="auto">
          <a:xfrm>
            <a:off x="7360285" y="4071620"/>
            <a:ext cx="587375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str2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754495" y="5158740"/>
            <a:ext cx="5062220" cy="4438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第二步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*str1!=*str2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，跳出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754495" y="5596890"/>
            <a:ext cx="5062220" cy="6419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第三步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*(unsigned char*)str1 &lt; *(unsigned char*)str2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，返回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4455795" y="2820670"/>
            <a:ext cx="43307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 flipH="1">
            <a:off x="2875915" y="3207385"/>
            <a:ext cx="43307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H="1">
            <a:off x="2875915" y="3393440"/>
            <a:ext cx="43307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 flipH="1">
            <a:off x="3185160" y="5196840"/>
            <a:ext cx="43307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ldLvl="0" animBg="1"/>
      <p:bldP spid="56" grpId="0" bldLvl="0" animBg="1"/>
      <p:bldP spid="63" grpId="0" bldLvl="0" animBg="1"/>
      <p:bldP spid="64" grpId="0"/>
      <p:bldP spid="65" grpId="0"/>
      <p:bldP spid="5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网chenying0907出品 4"/>
          <p:cNvSpPr txBox="1"/>
          <p:nvPr/>
        </p:nvSpPr>
        <p:spPr>
          <a:xfrm>
            <a:off x="1587600" y="264321"/>
            <a:ext cx="502321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向函数传递字符串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10"/>
          <p:cNvSpPr txBox="1">
            <a:spLocks noChangeArrowheads="1"/>
          </p:cNvSpPr>
          <p:nvPr/>
        </p:nvSpPr>
        <p:spPr bwMode="auto">
          <a:xfrm>
            <a:off x="8407400" y="1398588"/>
            <a:ext cx="208545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参考输入输出</a:t>
            </a:r>
            <a:endParaRPr lang="zh-CN" altLang="en-US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8590" y="2153285"/>
            <a:ext cx="6191885" cy="4422775"/>
          </a:xfrm>
          <a:prstGeom prst="rect">
            <a:avLst/>
          </a:prstGeom>
          <a:solidFill>
            <a:srgbClr val="DCEAF7"/>
          </a:solidFill>
          <a:ln>
            <a:solidFill>
              <a:srgbClr val="695F0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6"/>
          <p:cNvSpPr txBox="1"/>
          <p:nvPr/>
        </p:nvSpPr>
        <p:spPr>
          <a:xfrm>
            <a:off x="260152" y="1133567"/>
            <a:ext cx="9546667" cy="53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2F2F2F"/>
              </a:buClr>
              <a:buSzPct val="100000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5-1】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寻找“最小”字符串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0"/>
          <p:cNvSpPr txBox="1">
            <a:spLocks noChangeArrowheads="1"/>
          </p:cNvSpPr>
          <p:nvPr/>
        </p:nvSpPr>
        <p:spPr bwMode="auto">
          <a:xfrm>
            <a:off x="8534400" y="1525588"/>
            <a:ext cx="208545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参考输入输出</a:t>
            </a:r>
            <a:endParaRPr lang="zh-CN" altLang="en-US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3200" y="2313305"/>
            <a:ext cx="6136640" cy="41211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int strcmp(const char* str1, const char* str2)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while ((*str1) &amp;&amp; (*str1 == *str2))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str1++;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str2++;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if (*(unsigned char*)str1 &gt; *(unsigned char*)str2)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return 1;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else if (*(unsigned char*)str1 &lt; *(unsigned char*)str2)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return -1;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else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return 0;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  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4190" y="1667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strcmp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实现：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83985" y="1285240"/>
            <a:ext cx="5462905" cy="142684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首先比较两个串的第一个字符（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本质上是比较两个字符的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ASCII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码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），如果相等则接着比较下一个字符，直到两个字符不相等或者一个字符串遇到结束符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'/0'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为止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92835" y="2659380"/>
            <a:ext cx="3441700" cy="10826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483985" y="3145790"/>
            <a:ext cx="5462905" cy="4438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接下来比较停止位置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的两个字符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ASCII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码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大小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854825" y="3516630"/>
            <a:ext cx="3434080" cy="4438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若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*str1&gt;*str2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，则返回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61810" y="3823335"/>
            <a:ext cx="3630930" cy="4438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若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*str1&lt;*str2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，则返回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861810" y="4172585"/>
            <a:ext cx="4930775" cy="67881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若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*str1==*str2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，则返回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（说明两个字符串完全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相同）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83985" y="5306060"/>
            <a:ext cx="5239385" cy="78867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因为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字符的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ASCII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码是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，若一个字符串是另一个字符串的子串，则长的字符串字典序更大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87120" y="3980180"/>
            <a:ext cx="4937760" cy="76136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087120" y="4750435"/>
            <a:ext cx="5190490" cy="76136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87120" y="5520690"/>
            <a:ext cx="2105660" cy="76136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bldLvl="0" animBg="1"/>
      <p:bldP spid="17" grpId="0"/>
      <p:bldP spid="18" grpId="0"/>
      <p:bldP spid="25" grpId="0" bldLvl="0" animBg="1"/>
      <p:bldP spid="16" grpId="1" bldLvl="0" animBg="1"/>
      <p:bldP spid="21" grpId="0"/>
      <p:bldP spid="26" grpId="0" bldLvl="0" animBg="1"/>
      <p:bldP spid="25" grpId="1" bldLvl="0" animBg="1"/>
      <p:bldP spid="23" grpId="0"/>
      <p:bldP spid="27" grpId="0" bldLvl="0" animBg="1"/>
      <p:bldP spid="26" grpId="1" bldLvl="0" animBg="1"/>
      <p:bldP spid="24" grpId="0"/>
      <p:bldP spid="27" grpId="1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网chenying0907出品 4"/>
          <p:cNvSpPr txBox="1"/>
          <p:nvPr/>
        </p:nvSpPr>
        <p:spPr>
          <a:xfrm>
            <a:off x="1587600" y="264321"/>
            <a:ext cx="502321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向函数传递字符串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16"/>
          <p:cNvSpPr txBox="1"/>
          <p:nvPr/>
        </p:nvSpPr>
        <p:spPr>
          <a:xfrm>
            <a:off x="260152" y="1133567"/>
            <a:ext cx="9546667" cy="53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2F2F2F"/>
              </a:buClr>
              <a:buSzPct val="100000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寻找“最小”字符串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文本框 10"/>
          <p:cNvSpPr txBox="1">
            <a:spLocks noChangeArrowheads="1"/>
          </p:cNvSpPr>
          <p:nvPr/>
        </p:nvSpPr>
        <p:spPr bwMode="auto">
          <a:xfrm>
            <a:off x="8407400" y="1398588"/>
            <a:ext cx="208545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参考输入输出</a:t>
            </a:r>
            <a:endParaRPr lang="zh-CN" altLang="en-US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8590" y="2153285"/>
            <a:ext cx="6191885" cy="4422775"/>
          </a:xfrm>
          <a:prstGeom prst="rect">
            <a:avLst/>
          </a:prstGeom>
          <a:solidFill>
            <a:srgbClr val="DCEAF7"/>
          </a:solidFill>
          <a:ln>
            <a:solidFill>
              <a:srgbClr val="695F0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03200" y="2313305"/>
            <a:ext cx="6136640" cy="41211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int strcmp(const char* str1, const char* str2)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while ((*str1) &amp;&amp; (*str1 == *str2))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str1++;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str2++;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if (*(unsigned char*)str1 &gt; *(unsigned char*)str2)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return 1;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else if (*(unsigned char*)str1 &lt; *(unsigned char*)str2)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return -1;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else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{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	return 0;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	}  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2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}</a:t>
            </a:r>
            <a:endParaRPr lang="en-US" altLang="zh-CN" sz="12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4190" y="1667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strcmp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函数比较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"pen"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"pencil"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的字典序大小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5" name="Group 4"/>
          <p:cNvGrpSpPr/>
          <p:nvPr/>
        </p:nvGrpSpPr>
        <p:grpSpPr bwMode="auto">
          <a:xfrm>
            <a:off x="6990172" y="2182516"/>
            <a:ext cx="7298270" cy="503238"/>
            <a:chOff x="831" y="1389"/>
            <a:chExt cx="4244" cy="317"/>
          </a:xfrm>
        </p:grpSpPr>
        <p:grpSp>
          <p:nvGrpSpPr>
            <p:cNvPr id="7" name="Group 5"/>
            <p:cNvGrpSpPr/>
            <p:nvPr/>
          </p:nvGrpSpPr>
          <p:grpSpPr bwMode="auto">
            <a:xfrm>
              <a:off x="839" y="1389"/>
              <a:ext cx="2492" cy="317"/>
              <a:chOff x="1474" y="1389"/>
              <a:chExt cx="2492" cy="317"/>
            </a:xfrm>
          </p:grpSpPr>
          <p:sp>
            <p:nvSpPr>
              <p:cNvPr id="8" name="Rectangle 6"/>
              <p:cNvSpPr>
                <a:spLocks noChangeArrowheads="1"/>
              </p:cNvSpPr>
              <p:nvPr/>
            </p:nvSpPr>
            <p:spPr bwMode="auto">
              <a:xfrm>
                <a:off x="1474" y="1389"/>
                <a:ext cx="2492" cy="317"/>
              </a:xfrm>
              <a:prstGeom prst="rect">
                <a:avLst/>
              </a:prstGeom>
              <a:noFill/>
              <a:ln w="57150">
                <a:solidFill>
                  <a:srgbClr val="00008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rgbClr val="2F2F2F"/>
                  </a:buClr>
                  <a:buSzPct val="80000"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1837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8"/>
              <p:cNvSpPr>
                <a:spLocks noChangeShapeType="1"/>
              </p:cNvSpPr>
              <p:nvPr/>
            </p:nvSpPr>
            <p:spPr bwMode="auto">
              <a:xfrm>
                <a:off x="2200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Line 9"/>
              <p:cNvSpPr>
                <a:spLocks noChangeShapeType="1"/>
              </p:cNvSpPr>
              <p:nvPr/>
            </p:nvSpPr>
            <p:spPr bwMode="auto">
              <a:xfrm>
                <a:off x="2561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>
                <a:off x="292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>
                <a:off x="3288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>
                <a:off x="363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Line 13"/>
              <p:cNvSpPr>
                <a:spLocks noChangeShapeType="1"/>
              </p:cNvSpPr>
              <p:nvPr/>
            </p:nvSpPr>
            <p:spPr bwMode="auto">
              <a:xfrm>
                <a:off x="396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831" y="1401"/>
              <a:ext cx="4244" cy="26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rgbClr val="2F2F2F"/>
                </a:buClr>
                <a:buSzPct val="80000"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p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e      n     </a:t>
              </a:r>
              <a:r>
                <a:rPr lang="en-US" altLang="zh-CN" sz="2400" b="1" kern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sym typeface="+mn-ea"/>
                </a:rPr>
                <a:t>\0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4"/>
          <p:cNvGrpSpPr/>
          <p:nvPr/>
        </p:nvGrpSpPr>
        <p:grpSpPr bwMode="auto">
          <a:xfrm>
            <a:off x="6990172" y="3393461"/>
            <a:ext cx="7298270" cy="503238"/>
            <a:chOff x="831" y="1389"/>
            <a:chExt cx="4244" cy="317"/>
          </a:xfrm>
        </p:grpSpPr>
        <p:grpSp>
          <p:nvGrpSpPr>
            <p:cNvPr id="18" name="Group 5"/>
            <p:cNvGrpSpPr/>
            <p:nvPr/>
          </p:nvGrpSpPr>
          <p:grpSpPr bwMode="auto">
            <a:xfrm>
              <a:off x="839" y="1389"/>
              <a:ext cx="2492" cy="317"/>
              <a:chOff x="1474" y="1389"/>
              <a:chExt cx="2492" cy="317"/>
            </a:xfrm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474" y="1389"/>
                <a:ext cx="2492" cy="317"/>
              </a:xfrm>
              <a:prstGeom prst="rect">
                <a:avLst/>
              </a:prstGeom>
              <a:noFill/>
              <a:ln w="57150">
                <a:solidFill>
                  <a:srgbClr val="00008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rgbClr val="2F2F2F"/>
                  </a:buClr>
                  <a:buSzPct val="80000"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7"/>
              <p:cNvSpPr>
                <a:spLocks noChangeShapeType="1"/>
              </p:cNvSpPr>
              <p:nvPr/>
            </p:nvSpPr>
            <p:spPr bwMode="auto">
              <a:xfrm>
                <a:off x="1837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8"/>
              <p:cNvSpPr>
                <a:spLocks noChangeShapeType="1"/>
              </p:cNvSpPr>
              <p:nvPr/>
            </p:nvSpPr>
            <p:spPr bwMode="auto">
              <a:xfrm>
                <a:off x="2200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9"/>
              <p:cNvSpPr>
                <a:spLocks noChangeShapeType="1"/>
              </p:cNvSpPr>
              <p:nvPr/>
            </p:nvSpPr>
            <p:spPr bwMode="auto">
              <a:xfrm>
                <a:off x="2561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10"/>
              <p:cNvSpPr>
                <a:spLocks noChangeShapeType="1"/>
              </p:cNvSpPr>
              <p:nvPr/>
            </p:nvSpPr>
            <p:spPr bwMode="auto">
              <a:xfrm>
                <a:off x="292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11"/>
              <p:cNvSpPr>
                <a:spLocks noChangeShapeType="1"/>
              </p:cNvSpPr>
              <p:nvPr/>
            </p:nvSpPr>
            <p:spPr bwMode="auto">
              <a:xfrm>
                <a:off x="3288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12"/>
              <p:cNvSpPr>
                <a:spLocks noChangeShapeType="1"/>
              </p:cNvSpPr>
              <p:nvPr/>
            </p:nvSpPr>
            <p:spPr bwMode="auto">
              <a:xfrm>
                <a:off x="363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13"/>
              <p:cNvSpPr>
                <a:spLocks noChangeShapeType="1"/>
              </p:cNvSpPr>
              <p:nvPr/>
            </p:nvSpPr>
            <p:spPr bwMode="auto">
              <a:xfrm>
                <a:off x="396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831" y="1401"/>
              <a:ext cx="4244" cy="26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rgbClr val="2F2F2F"/>
                </a:buClr>
                <a:buSzPct val="80000"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p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e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 n      c      i      l     </a:t>
              </a:r>
              <a:r>
                <a:rPr lang="en-US" altLang="zh-CN" sz="2400" b="1" kern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sym typeface="+mn-ea"/>
                </a:rPr>
                <a:t>\0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29" name="直接箭头连接符 28"/>
          <p:cNvCxnSpPr/>
          <p:nvPr/>
        </p:nvCxnSpPr>
        <p:spPr>
          <a:xfrm flipV="1">
            <a:off x="7318375" y="2750185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6736715" y="2833370"/>
            <a:ext cx="587375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str1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7312660" y="3982085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6731000" y="4065270"/>
            <a:ext cx="587375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str2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663690" y="4752975"/>
            <a:ext cx="5062220" cy="4438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第一步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*str1==*str2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，指针右移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9193530" y="276987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8611870" y="2853055"/>
            <a:ext cx="587375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str1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V="1">
            <a:off x="9204960" y="3988435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Box 18"/>
          <p:cNvSpPr txBox="1">
            <a:spLocks noChangeArrowheads="1"/>
          </p:cNvSpPr>
          <p:nvPr/>
        </p:nvSpPr>
        <p:spPr bwMode="auto">
          <a:xfrm>
            <a:off x="8623300" y="4071620"/>
            <a:ext cx="587375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str2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663690" y="5158740"/>
            <a:ext cx="5437505" cy="63817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第二步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*str1!=*str2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，跳出循环（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'\0'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ASCII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码为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677660" y="5608320"/>
            <a:ext cx="5062220" cy="6419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第三步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*(unsigned char*)str1 &lt; *(unsigned char*)str2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，返回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71" name="直接箭头连接符 70"/>
          <p:cNvCxnSpPr/>
          <p:nvPr/>
        </p:nvCxnSpPr>
        <p:spPr>
          <a:xfrm flipH="1">
            <a:off x="4455795" y="2820670"/>
            <a:ext cx="43307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H="1">
            <a:off x="3185160" y="5196840"/>
            <a:ext cx="43307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6" grpId="0" bldLvl="0" animBg="1"/>
      <p:bldP spid="45" grpId="0" bldLvl="0" animBg="1"/>
      <p:bldP spid="31" grpId="0" bldLvl="0" animBg="1"/>
      <p:bldP spid="37" grpId="0"/>
      <p:bldP spid="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网chenying0907出品 4"/>
          <p:cNvSpPr txBox="1"/>
          <p:nvPr/>
        </p:nvSpPr>
        <p:spPr>
          <a:xfrm>
            <a:off x="1587600" y="264321"/>
            <a:ext cx="502321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向函数传递字符串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72085" y="2164715"/>
            <a:ext cx="3970655" cy="4422775"/>
          </a:xfrm>
          <a:prstGeom prst="rect">
            <a:avLst/>
          </a:prstGeom>
          <a:solidFill>
            <a:srgbClr val="DCEAF7"/>
          </a:solidFill>
          <a:ln>
            <a:solidFill>
              <a:srgbClr val="695F0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4" name="文本框 16"/>
          <p:cNvSpPr txBox="1"/>
          <p:nvPr/>
        </p:nvSpPr>
        <p:spPr>
          <a:xfrm>
            <a:off x="260152" y="1133567"/>
            <a:ext cx="9546667" cy="53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2F2F2F"/>
              </a:buClr>
              <a:buSzPct val="100000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5-2】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字符串逆序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04190" y="1667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用户输入的一个字符串，利用指针编程将字符串逆序存储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2" name="文本框 10"/>
          <p:cNvSpPr txBox="1">
            <a:spLocks noChangeArrowheads="1"/>
          </p:cNvSpPr>
          <p:nvPr/>
        </p:nvSpPr>
        <p:spPr bwMode="auto">
          <a:xfrm>
            <a:off x="8407400" y="1398588"/>
            <a:ext cx="208545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参考输入输出</a:t>
            </a:r>
            <a:endParaRPr lang="zh-CN" altLang="en-US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042275" y="1398905"/>
            <a:ext cx="2597150" cy="157543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 cap="flat" cmpd="sng" algn="ctr">
            <a:solidFill>
              <a:srgbClr val="918415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4" name="文本框 10"/>
          <p:cNvSpPr txBox="1">
            <a:spLocks noChangeArrowheads="1"/>
          </p:cNvSpPr>
          <p:nvPr/>
        </p:nvSpPr>
        <p:spPr bwMode="auto">
          <a:xfrm>
            <a:off x="8407400" y="1398588"/>
            <a:ext cx="1895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latin typeface="等线" panose="02010600030101010101" charset="-122"/>
                <a:ea typeface="等线" panose="02010600030101010101" charset="-122"/>
              </a:rPr>
              <a:t>参考输入输出</a:t>
            </a:r>
            <a:endParaRPr lang="zh-CN" altLang="en-US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8655" y="1898650"/>
            <a:ext cx="2057400" cy="809625"/>
          </a:xfrm>
          <a:prstGeom prst="rect">
            <a:avLst/>
          </a:prstGeom>
        </p:spPr>
      </p:pic>
      <p:sp>
        <p:nvSpPr>
          <p:cNvPr id="47" name="AutoShape 3"/>
          <p:cNvSpPr>
            <a:spLocks noChangeArrowheads="1"/>
          </p:cNvSpPr>
          <p:nvPr/>
        </p:nvSpPr>
        <p:spPr bwMode="auto">
          <a:xfrm>
            <a:off x="4352790" y="2072661"/>
            <a:ext cx="2433414" cy="1081253"/>
          </a:xfrm>
          <a:prstGeom prst="cloudCallout">
            <a:avLst>
              <a:gd name="adj1" fmla="val -52546"/>
              <a:gd name="adj2" fmla="val 50625"/>
            </a:avLst>
          </a:prstGeom>
          <a:solidFill>
            <a:srgbClr val="C47546">
              <a:lumMod val="40000"/>
              <a:lumOff val="60000"/>
              <a:alpha val="79999"/>
            </a:srgbClr>
          </a:solidFill>
          <a:ln w="9525">
            <a:solidFill>
              <a:sysClr val="windowText" lastClr="000000"/>
            </a:solidFill>
            <a:round/>
          </a:ln>
        </p:spPr>
        <p:txBody>
          <a:bodyPr/>
          <a:lstStyle>
            <a:lvl1pPr>
              <a:lnSpc>
                <a:spcPct val="120000"/>
              </a:lnSpc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2" charset="2"/>
              <a:buChar char="Þ"/>
              <a:defRPr sz="2800" b="1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2" charset="2"/>
              <a:buChar char=""/>
              <a:defRPr sz="2400" b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2" charset="2"/>
              <a:buChar char="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120000"/>
              </a:lnSpc>
              <a:buClr>
                <a:schemeClr val="tx2"/>
              </a:buClr>
              <a:buSzPct val="50000"/>
              <a:buFont typeface="Wingdings 2" panose="05020102010507070707" pitchFamily="2" charset="2"/>
              <a:buChar char="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2" charset="2"/>
              <a:buChar char="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2" charset="2"/>
              <a:buChar char="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2" charset="2"/>
              <a:buChar char="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2" charset="2"/>
              <a:buChar char="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这段代码有什么作用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443730" y="3170555"/>
            <a:ext cx="7666990" cy="352933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这段代码是一个简单的程序，用于利用指针将用户输入的一个字符串进行原地逆序存储，并将其输出。</a:t>
            </a:r>
            <a:endParaRPr lang="zh-CN" altLang="en-US" sz="1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lnSpc>
                <a:spcPct val="6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字符串逆序：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是指将字符序列的排列顺序完全颠倒，即将首字符与尾字符、次首字符与次尾字符依次交换，直到中间位置。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举例：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假设有一个字符串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"abcde"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。逆序的过程通常通过两个指针分别指向字符串的开头和结尾来进行：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Step1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开头的字符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'a'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与结尾的字符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'e'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交换，字符串变为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"ebcda"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Step2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指针向中间移动，次开头的字符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'b'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与次结尾的字符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'd'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交换，字符串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变为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"edcba"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Step3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指针相遇时操作结束，原始字符串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"abcde"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最终变成了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"edcba"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08915" y="2210435"/>
            <a:ext cx="4064000" cy="441579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#include &lt;stdio.h&gt;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#include &lt;string.h&gt;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#define MAX_SIZE 100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int main() {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char str[MAX_SIZE];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char *p, *q, temp;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puts("Please enter a string:");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gets(str);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 = str;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q = str + strlen(str) - 1;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while (p &lt; q) {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temp = *p;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*p = *q;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*q = temp;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p++;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q--;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}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puts(str);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return 0;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}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网chenying0907出品 4"/>
          <p:cNvSpPr txBox="1"/>
          <p:nvPr/>
        </p:nvSpPr>
        <p:spPr>
          <a:xfrm>
            <a:off x="1587600" y="264321"/>
            <a:ext cx="502321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向函数传递字符串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6"/>
          <p:cNvSpPr txBox="1"/>
          <p:nvPr/>
        </p:nvSpPr>
        <p:spPr>
          <a:xfrm>
            <a:off x="260152" y="1133567"/>
            <a:ext cx="9546667" cy="53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2F2F2F"/>
              </a:buClr>
              <a:buSzPct val="100000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5-2】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字符串逆序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4190" y="1667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用户输入的一个字符串，利用指针编程将字符串逆序存储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0"/>
          <p:cNvSpPr txBox="1">
            <a:spLocks noChangeArrowheads="1"/>
          </p:cNvSpPr>
          <p:nvPr/>
        </p:nvSpPr>
        <p:spPr bwMode="auto">
          <a:xfrm>
            <a:off x="8407400" y="1398588"/>
            <a:ext cx="208545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参考输入输出</a:t>
            </a:r>
            <a:endParaRPr lang="zh-CN" altLang="en-US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7" name="Group 4"/>
          <p:cNvGrpSpPr/>
          <p:nvPr/>
        </p:nvGrpSpPr>
        <p:grpSpPr bwMode="auto">
          <a:xfrm>
            <a:off x="4413764" y="2644796"/>
            <a:ext cx="7332663" cy="503238"/>
            <a:chOff x="839" y="1389"/>
            <a:chExt cx="4264" cy="317"/>
          </a:xfrm>
        </p:grpSpPr>
        <p:grpSp>
          <p:nvGrpSpPr>
            <p:cNvPr id="8" name="Group 5"/>
            <p:cNvGrpSpPr/>
            <p:nvPr/>
          </p:nvGrpSpPr>
          <p:grpSpPr bwMode="auto">
            <a:xfrm>
              <a:off x="839" y="1389"/>
              <a:ext cx="4173" cy="317"/>
              <a:chOff x="1474" y="1389"/>
              <a:chExt cx="4173" cy="317"/>
            </a:xfrm>
          </p:grpSpPr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1474" y="1389"/>
                <a:ext cx="4173" cy="317"/>
              </a:xfrm>
              <a:prstGeom prst="rect">
                <a:avLst/>
              </a:prstGeom>
              <a:noFill/>
              <a:ln w="57150">
                <a:solidFill>
                  <a:srgbClr val="00008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rgbClr val="2F2F2F"/>
                  </a:buClr>
                  <a:buSzPct val="80000"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7"/>
              <p:cNvSpPr>
                <a:spLocks noChangeShapeType="1"/>
              </p:cNvSpPr>
              <p:nvPr/>
            </p:nvSpPr>
            <p:spPr bwMode="auto">
              <a:xfrm>
                <a:off x="1837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Line 8"/>
              <p:cNvSpPr>
                <a:spLocks noChangeShapeType="1"/>
              </p:cNvSpPr>
              <p:nvPr/>
            </p:nvSpPr>
            <p:spPr bwMode="auto">
              <a:xfrm>
                <a:off x="2200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9"/>
              <p:cNvSpPr>
                <a:spLocks noChangeShapeType="1"/>
              </p:cNvSpPr>
              <p:nvPr/>
            </p:nvSpPr>
            <p:spPr bwMode="auto">
              <a:xfrm>
                <a:off x="2561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10"/>
              <p:cNvSpPr>
                <a:spLocks noChangeShapeType="1"/>
              </p:cNvSpPr>
              <p:nvPr/>
            </p:nvSpPr>
            <p:spPr bwMode="auto">
              <a:xfrm>
                <a:off x="292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11"/>
              <p:cNvSpPr>
                <a:spLocks noChangeShapeType="1"/>
              </p:cNvSpPr>
              <p:nvPr/>
            </p:nvSpPr>
            <p:spPr bwMode="auto">
              <a:xfrm>
                <a:off x="3288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12"/>
              <p:cNvSpPr>
                <a:spLocks noChangeShapeType="1"/>
              </p:cNvSpPr>
              <p:nvPr/>
            </p:nvSpPr>
            <p:spPr bwMode="auto">
              <a:xfrm>
                <a:off x="363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13"/>
              <p:cNvSpPr>
                <a:spLocks noChangeShapeType="1"/>
              </p:cNvSpPr>
              <p:nvPr/>
            </p:nvSpPr>
            <p:spPr bwMode="auto">
              <a:xfrm>
                <a:off x="396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14"/>
              <p:cNvSpPr>
                <a:spLocks noChangeShapeType="1"/>
              </p:cNvSpPr>
              <p:nvPr/>
            </p:nvSpPr>
            <p:spPr bwMode="auto">
              <a:xfrm>
                <a:off x="431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15"/>
              <p:cNvSpPr>
                <a:spLocks noChangeShapeType="1"/>
              </p:cNvSpPr>
              <p:nvPr/>
            </p:nvSpPr>
            <p:spPr bwMode="auto">
              <a:xfrm>
                <a:off x="4649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16"/>
              <p:cNvSpPr>
                <a:spLocks noChangeShapeType="1"/>
              </p:cNvSpPr>
              <p:nvPr/>
            </p:nvSpPr>
            <p:spPr bwMode="auto">
              <a:xfrm>
                <a:off x="4982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17"/>
              <p:cNvSpPr>
                <a:spLocks noChangeShapeType="1"/>
              </p:cNvSpPr>
              <p:nvPr/>
            </p:nvSpPr>
            <p:spPr bwMode="auto">
              <a:xfrm>
                <a:off x="5312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859" y="1405"/>
              <a:ext cx="4244" cy="26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rgbClr val="2F2F2F"/>
                </a:buClr>
                <a:buSzPct val="80000"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a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p      p     l       e    </a:t>
              </a:r>
              <a:r>
                <a:rPr lang="en-US" altLang="zh-CN" sz="2400" b="1" kern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sym typeface="+mn-ea"/>
                </a:rPr>
                <a:t>\0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29" name="直接箭头连接符 28"/>
          <p:cNvCxnSpPr/>
          <p:nvPr/>
        </p:nvCxnSpPr>
        <p:spPr>
          <a:xfrm flipV="1">
            <a:off x="4734560" y="319913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7259320" y="319913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4406265" y="3282315"/>
            <a:ext cx="322580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6925945" y="3277235"/>
            <a:ext cx="322580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q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Group 4"/>
          <p:cNvGrpSpPr/>
          <p:nvPr/>
        </p:nvGrpSpPr>
        <p:grpSpPr bwMode="auto">
          <a:xfrm>
            <a:off x="4406144" y="3961151"/>
            <a:ext cx="7332663" cy="503238"/>
            <a:chOff x="839" y="1389"/>
            <a:chExt cx="4264" cy="317"/>
          </a:xfrm>
        </p:grpSpPr>
        <p:grpSp>
          <p:nvGrpSpPr>
            <p:cNvPr id="14" name="Group 5"/>
            <p:cNvGrpSpPr/>
            <p:nvPr/>
          </p:nvGrpSpPr>
          <p:grpSpPr bwMode="auto">
            <a:xfrm>
              <a:off x="839" y="1389"/>
              <a:ext cx="4173" cy="317"/>
              <a:chOff x="1474" y="1389"/>
              <a:chExt cx="4173" cy="317"/>
            </a:xfrm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474" y="1389"/>
                <a:ext cx="4173" cy="317"/>
              </a:xfrm>
              <a:prstGeom prst="rect">
                <a:avLst/>
              </a:prstGeom>
              <a:noFill/>
              <a:ln w="57150">
                <a:solidFill>
                  <a:srgbClr val="00008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rgbClr val="2F2F2F"/>
                  </a:buClr>
                  <a:buSzPct val="80000"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Line 7"/>
              <p:cNvSpPr>
                <a:spLocks noChangeShapeType="1"/>
              </p:cNvSpPr>
              <p:nvPr/>
            </p:nvSpPr>
            <p:spPr bwMode="auto">
              <a:xfrm>
                <a:off x="1837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Line 8"/>
              <p:cNvSpPr>
                <a:spLocks noChangeShapeType="1"/>
              </p:cNvSpPr>
              <p:nvPr/>
            </p:nvSpPr>
            <p:spPr bwMode="auto">
              <a:xfrm>
                <a:off x="2200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Line 9"/>
              <p:cNvSpPr>
                <a:spLocks noChangeShapeType="1"/>
              </p:cNvSpPr>
              <p:nvPr/>
            </p:nvSpPr>
            <p:spPr bwMode="auto">
              <a:xfrm>
                <a:off x="2561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Line 10"/>
              <p:cNvSpPr>
                <a:spLocks noChangeShapeType="1"/>
              </p:cNvSpPr>
              <p:nvPr/>
            </p:nvSpPr>
            <p:spPr bwMode="auto">
              <a:xfrm>
                <a:off x="292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Line 11"/>
              <p:cNvSpPr>
                <a:spLocks noChangeShapeType="1"/>
              </p:cNvSpPr>
              <p:nvPr/>
            </p:nvSpPr>
            <p:spPr bwMode="auto">
              <a:xfrm>
                <a:off x="3288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Line 12"/>
              <p:cNvSpPr>
                <a:spLocks noChangeShapeType="1"/>
              </p:cNvSpPr>
              <p:nvPr/>
            </p:nvSpPr>
            <p:spPr bwMode="auto">
              <a:xfrm>
                <a:off x="363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Line 13"/>
              <p:cNvSpPr>
                <a:spLocks noChangeShapeType="1"/>
              </p:cNvSpPr>
              <p:nvPr/>
            </p:nvSpPr>
            <p:spPr bwMode="auto">
              <a:xfrm>
                <a:off x="396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14"/>
              <p:cNvSpPr>
                <a:spLocks noChangeShapeType="1"/>
              </p:cNvSpPr>
              <p:nvPr/>
            </p:nvSpPr>
            <p:spPr bwMode="auto">
              <a:xfrm>
                <a:off x="431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15"/>
              <p:cNvSpPr>
                <a:spLocks noChangeShapeType="1"/>
              </p:cNvSpPr>
              <p:nvPr/>
            </p:nvSpPr>
            <p:spPr bwMode="auto">
              <a:xfrm>
                <a:off x="4649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16"/>
              <p:cNvSpPr>
                <a:spLocks noChangeShapeType="1"/>
              </p:cNvSpPr>
              <p:nvPr/>
            </p:nvSpPr>
            <p:spPr bwMode="auto">
              <a:xfrm>
                <a:off x="4982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17"/>
              <p:cNvSpPr>
                <a:spLocks noChangeShapeType="1"/>
              </p:cNvSpPr>
              <p:nvPr/>
            </p:nvSpPr>
            <p:spPr bwMode="auto">
              <a:xfrm>
                <a:off x="5312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" name="Text Box 18"/>
            <p:cNvSpPr txBox="1">
              <a:spLocks noChangeArrowheads="1"/>
            </p:cNvSpPr>
            <p:nvPr/>
          </p:nvSpPr>
          <p:spPr bwMode="auto">
            <a:xfrm>
              <a:off x="859" y="1405"/>
              <a:ext cx="4244" cy="26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rgbClr val="2F2F2F"/>
                </a:buClr>
                <a:buSzPct val="80000"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e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p      p     l       a    </a:t>
              </a:r>
              <a:r>
                <a:rPr lang="en-US" altLang="zh-CN" sz="2400" b="1" kern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sym typeface="+mn-ea"/>
                </a:rPr>
                <a:t>\0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62" name="直接箭头连接符 61"/>
          <p:cNvCxnSpPr/>
          <p:nvPr/>
        </p:nvCxnSpPr>
        <p:spPr>
          <a:xfrm flipV="1">
            <a:off x="5332730" y="4515485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V="1">
            <a:off x="6565900" y="4515485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 Box 18"/>
          <p:cNvSpPr txBox="1">
            <a:spLocks noChangeArrowheads="1"/>
          </p:cNvSpPr>
          <p:nvPr/>
        </p:nvSpPr>
        <p:spPr bwMode="auto">
          <a:xfrm>
            <a:off x="5004435" y="4598670"/>
            <a:ext cx="322580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" name="Text Box 18"/>
          <p:cNvSpPr txBox="1">
            <a:spLocks noChangeArrowheads="1"/>
          </p:cNvSpPr>
          <p:nvPr/>
        </p:nvSpPr>
        <p:spPr bwMode="auto">
          <a:xfrm>
            <a:off x="6232525" y="4593590"/>
            <a:ext cx="322580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q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6" name="Group 4"/>
          <p:cNvGrpSpPr/>
          <p:nvPr/>
        </p:nvGrpSpPr>
        <p:grpSpPr bwMode="auto">
          <a:xfrm>
            <a:off x="4379474" y="5329576"/>
            <a:ext cx="7332663" cy="503238"/>
            <a:chOff x="839" y="1389"/>
            <a:chExt cx="4264" cy="317"/>
          </a:xfrm>
        </p:grpSpPr>
        <p:grpSp>
          <p:nvGrpSpPr>
            <p:cNvPr id="67" name="Group 5"/>
            <p:cNvGrpSpPr/>
            <p:nvPr/>
          </p:nvGrpSpPr>
          <p:grpSpPr bwMode="auto">
            <a:xfrm>
              <a:off x="839" y="1389"/>
              <a:ext cx="4173" cy="317"/>
              <a:chOff x="1474" y="1389"/>
              <a:chExt cx="4173" cy="317"/>
            </a:xfrm>
          </p:grpSpPr>
          <p:sp>
            <p:nvSpPr>
              <p:cNvPr id="68" name="Rectangle 6"/>
              <p:cNvSpPr>
                <a:spLocks noChangeArrowheads="1"/>
              </p:cNvSpPr>
              <p:nvPr/>
            </p:nvSpPr>
            <p:spPr bwMode="auto">
              <a:xfrm>
                <a:off x="1474" y="1389"/>
                <a:ext cx="4173" cy="317"/>
              </a:xfrm>
              <a:prstGeom prst="rect">
                <a:avLst/>
              </a:prstGeom>
              <a:noFill/>
              <a:ln w="57150">
                <a:solidFill>
                  <a:srgbClr val="00008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rgbClr val="2F2F2F"/>
                  </a:buClr>
                  <a:buSzPct val="80000"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7"/>
              <p:cNvSpPr>
                <a:spLocks noChangeShapeType="1"/>
              </p:cNvSpPr>
              <p:nvPr/>
            </p:nvSpPr>
            <p:spPr bwMode="auto">
              <a:xfrm>
                <a:off x="1837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8"/>
              <p:cNvSpPr>
                <a:spLocks noChangeShapeType="1"/>
              </p:cNvSpPr>
              <p:nvPr/>
            </p:nvSpPr>
            <p:spPr bwMode="auto">
              <a:xfrm>
                <a:off x="2200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9"/>
              <p:cNvSpPr>
                <a:spLocks noChangeShapeType="1"/>
              </p:cNvSpPr>
              <p:nvPr/>
            </p:nvSpPr>
            <p:spPr bwMode="auto">
              <a:xfrm>
                <a:off x="2561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" name="Line 10"/>
              <p:cNvSpPr>
                <a:spLocks noChangeShapeType="1"/>
              </p:cNvSpPr>
              <p:nvPr/>
            </p:nvSpPr>
            <p:spPr bwMode="auto">
              <a:xfrm>
                <a:off x="292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Line 11"/>
              <p:cNvSpPr>
                <a:spLocks noChangeShapeType="1"/>
              </p:cNvSpPr>
              <p:nvPr/>
            </p:nvSpPr>
            <p:spPr bwMode="auto">
              <a:xfrm>
                <a:off x="3288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Line 12"/>
              <p:cNvSpPr>
                <a:spLocks noChangeShapeType="1"/>
              </p:cNvSpPr>
              <p:nvPr/>
            </p:nvSpPr>
            <p:spPr bwMode="auto">
              <a:xfrm>
                <a:off x="363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Line 13"/>
              <p:cNvSpPr>
                <a:spLocks noChangeShapeType="1"/>
              </p:cNvSpPr>
              <p:nvPr/>
            </p:nvSpPr>
            <p:spPr bwMode="auto">
              <a:xfrm>
                <a:off x="396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Line 14"/>
              <p:cNvSpPr>
                <a:spLocks noChangeShapeType="1"/>
              </p:cNvSpPr>
              <p:nvPr/>
            </p:nvSpPr>
            <p:spPr bwMode="auto">
              <a:xfrm>
                <a:off x="431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Line 15"/>
              <p:cNvSpPr>
                <a:spLocks noChangeShapeType="1"/>
              </p:cNvSpPr>
              <p:nvPr/>
            </p:nvSpPr>
            <p:spPr bwMode="auto">
              <a:xfrm>
                <a:off x="4649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" name="Line 16"/>
              <p:cNvSpPr>
                <a:spLocks noChangeShapeType="1"/>
              </p:cNvSpPr>
              <p:nvPr/>
            </p:nvSpPr>
            <p:spPr bwMode="auto">
              <a:xfrm>
                <a:off x="4982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Line 17"/>
              <p:cNvSpPr>
                <a:spLocks noChangeShapeType="1"/>
              </p:cNvSpPr>
              <p:nvPr/>
            </p:nvSpPr>
            <p:spPr bwMode="auto">
              <a:xfrm>
                <a:off x="5312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" name="Text Box 18"/>
            <p:cNvSpPr txBox="1">
              <a:spLocks noChangeArrowheads="1"/>
            </p:cNvSpPr>
            <p:nvPr/>
          </p:nvSpPr>
          <p:spPr bwMode="auto">
            <a:xfrm>
              <a:off x="859" y="1405"/>
              <a:ext cx="4244" cy="26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rgbClr val="2F2F2F"/>
                </a:buClr>
                <a:buSzPct val="80000"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e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 l      p     p       a    </a:t>
              </a:r>
              <a:r>
                <a:rPr lang="en-US" altLang="zh-CN" sz="2400" b="1" kern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sym typeface="+mn-ea"/>
                </a:rPr>
                <a:t>\0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81" name="直接箭头连接符 80"/>
          <p:cNvCxnSpPr/>
          <p:nvPr/>
        </p:nvCxnSpPr>
        <p:spPr>
          <a:xfrm flipV="1">
            <a:off x="5843270" y="588391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 flipV="1">
            <a:off x="6024880" y="588391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 Box 18"/>
          <p:cNvSpPr txBox="1">
            <a:spLocks noChangeArrowheads="1"/>
          </p:cNvSpPr>
          <p:nvPr/>
        </p:nvSpPr>
        <p:spPr bwMode="auto">
          <a:xfrm>
            <a:off x="5514975" y="5967095"/>
            <a:ext cx="322580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" name="Text Box 18"/>
          <p:cNvSpPr txBox="1">
            <a:spLocks noChangeArrowheads="1"/>
          </p:cNvSpPr>
          <p:nvPr/>
        </p:nvSpPr>
        <p:spPr bwMode="auto">
          <a:xfrm>
            <a:off x="6014085" y="5962015"/>
            <a:ext cx="322580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q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72085" y="2164715"/>
            <a:ext cx="3970655" cy="4422775"/>
          </a:xfrm>
          <a:prstGeom prst="rect">
            <a:avLst/>
          </a:prstGeom>
          <a:solidFill>
            <a:srgbClr val="DCEAF7"/>
          </a:solidFill>
          <a:ln>
            <a:solidFill>
              <a:srgbClr val="695F0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08915" y="2210435"/>
            <a:ext cx="4064000" cy="441579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#include &lt;stdio.h&gt;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#include &lt;string.h&gt;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#define MAX_SIZE 100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int main() {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char str[MAX_SIZE];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char *p, *q, temp;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puts("Please enter a string:");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gets(str);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 = str;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q = str + strlen(str) - 1;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while (p &lt; q) {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temp = *p;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*p = *q;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*q = temp;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p++;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q--;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}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puts(str);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return 0;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}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75945" y="3926205"/>
            <a:ext cx="3106420" cy="455295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63930" y="5234305"/>
            <a:ext cx="892810" cy="455295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bldLvl="0" animBg="1"/>
      <p:bldP spid="65" grpId="0" bldLvl="0" animBg="1"/>
      <p:bldP spid="83" grpId="0" bldLvl="0" animBg="1"/>
      <p:bldP spid="84" grpId="0" bldLvl="0" animBg="1"/>
      <p:bldP spid="30" grpId="1" animBg="1"/>
      <p:bldP spid="31" grpId="0" animBg="1"/>
      <p:bldP spid="31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网chenying0907出品 4"/>
          <p:cNvSpPr txBox="1"/>
          <p:nvPr/>
        </p:nvSpPr>
        <p:spPr>
          <a:xfrm>
            <a:off x="1587600" y="264321"/>
            <a:ext cx="502321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向函数传递字符串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0"/>
          <p:cNvSpPr txBox="1">
            <a:spLocks noChangeArrowheads="1"/>
          </p:cNvSpPr>
          <p:nvPr/>
        </p:nvSpPr>
        <p:spPr bwMode="auto">
          <a:xfrm>
            <a:off x="8407400" y="1398588"/>
            <a:ext cx="208545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参考输入输出</a:t>
            </a:r>
            <a:endParaRPr lang="zh-CN" altLang="en-US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44" name="文本框 16"/>
          <p:cNvSpPr txBox="1"/>
          <p:nvPr/>
        </p:nvSpPr>
        <p:spPr>
          <a:xfrm>
            <a:off x="260152" y="1133567"/>
            <a:ext cx="9546667" cy="53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2F2F2F"/>
              </a:buClr>
              <a:buSzPct val="100000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5-2】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字符串逆序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04190" y="1667510"/>
            <a:ext cx="70288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若将代码第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行改为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 = str +strlen(str)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，即去掉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，会发生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什么？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31" name="Group 4"/>
          <p:cNvGrpSpPr/>
          <p:nvPr/>
        </p:nvGrpSpPr>
        <p:grpSpPr bwMode="auto">
          <a:xfrm>
            <a:off x="4413764" y="2604156"/>
            <a:ext cx="7332663" cy="503238"/>
            <a:chOff x="839" y="1389"/>
            <a:chExt cx="4264" cy="317"/>
          </a:xfrm>
        </p:grpSpPr>
        <p:grpSp>
          <p:nvGrpSpPr>
            <p:cNvPr id="32" name="Group 5"/>
            <p:cNvGrpSpPr/>
            <p:nvPr/>
          </p:nvGrpSpPr>
          <p:grpSpPr bwMode="auto">
            <a:xfrm>
              <a:off x="839" y="1389"/>
              <a:ext cx="4173" cy="317"/>
              <a:chOff x="1474" y="1389"/>
              <a:chExt cx="4173" cy="317"/>
            </a:xfrm>
          </p:grpSpPr>
          <p:sp>
            <p:nvSpPr>
              <p:cNvPr id="33" name="Rectangle 6"/>
              <p:cNvSpPr>
                <a:spLocks noChangeArrowheads="1"/>
              </p:cNvSpPr>
              <p:nvPr/>
            </p:nvSpPr>
            <p:spPr bwMode="auto">
              <a:xfrm>
                <a:off x="1474" y="1389"/>
                <a:ext cx="4173" cy="317"/>
              </a:xfrm>
              <a:prstGeom prst="rect">
                <a:avLst/>
              </a:prstGeom>
              <a:noFill/>
              <a:ln w="57150">
                <a:solidFill>
                  <a:srgbClr val="00008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rgbClr val="2F2F2F"/>
                  </a:buClr>
                  <a:buSzPct val="80000"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7"/>
              <p:cNvSpPr>
                <a:spLocks noChangeShapeType="1"/>
              </p:cNvSpPr>
              <p:nvPr/>
            </p:nvSpPr>
            <p:spPr bwMode="auto">
              <a:xfrm>
                <a:off x="1837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8"/>
              <p:cNvSpPr>
                <a:spLocks noChangeShapeType="1"/>
              </p:cNvSpPr>
              <p:nvPr/>
            </p:nvSpPr>
            <p:spPr bwMode="auto">
              <a:xfrm>
                <a:off x="2200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9"/>
              <p:cNvSpPr>
                <a:spLocks noChangeShapeType="1"/>
              </p:cNvSpPr>
              <p:nvPr/>
            </p:nvSpPr>
            <p:spPr bwMode="auto">
              <a:xfrm>
                <a:off x="2561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Line 10"/>
              <p:cNvSpPr>
                <a:spLocks noChangeShapeType="1"/>
              </p:cNvSpPr>
              <p:nvPr/>
            </p:nvSpPr>
            <p:spPr bwMode="auto">
              <a:xfrm>
                <a:off x="292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11"/>
              <p:cNvSpPr>
                <a:spLocks noChangeShapeType="1"/>
              </p:cNvSpPr>
              <p:nvPr/>
            </p:nvSpPr>
            <p:spPr bwMode="auto">
              <a:xfrm>
                <a:off x="3288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12"/>
              <p:cNvSpPr>
                <a:spLocks noChangeShapeType="1"/>
              </p:cNvSpPr>
              <p:nvPr/>
            </p:nvSpPr>
            <p:spPr bwMode="auto">
              <a:xfrm>
                <a:off x="363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Line 13"/>
              <p:cNvSpPr>
                <a:spLocks noChangeShapeType="1"/>
              </p:cNvSpPr>
              <p:nvPr/>
            </p:nvSpPr>
            <p:spPr bwMode="auto">
              <a:xfrm>
                <a:off x="396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14"/>
              <p:cNvSpPr>
                <a:spLocks noChangeShapeType="1"/>
              </p:cNvSpPr>
              <p:nvPr/>
            </p:nvSpPr>
            <p:spPr bwMode="auto">
              <a:xfrm>
                <a:off x="431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15"/>
              <p:cNvSpPr>
                <a:spLocks noChangeShapeType="1"/>
              </p:cNvSpPr>
              <p:nvPr/>
            </p:nvSpPr>
            <p:spPr bwMode="auto">
              <a:xfrm>
                <a:off x="4649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Line 16"/>
              <p:cNvSpPr>
                <a:spLocks noChangeShapeType="1"/>
              </p:cNvSpPr>
              <p:nvPr/>
            </p:nvSpPr>
            <p:spPr bwMode="auto">
              <a:xfrm>
                <a:off x="4982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Line 17"/>
              <p:cNvSpPr>
                <a:spLocks noChangeShapeType="1"/>
              </p:cNvSpPr>
              <p:nvPr/>
            </p:nvSpPr>
            <p:spPr bwMode="auto">
              <a:xfrm>
                <a:off x="5312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6" name="Text Box 18"/>
            <p:cNvSpPr txBox="1">
              <a:spLocks noChangeArrowheads="1"/>
            </p:cNvSpPr>
            <p:nvPr/>
          </p:nvSpPr>
          <p:spPr bwMode="auto">
            <a:xfrm>
              <a:off x="859" y="1405"/>
              <a:ext cx="4244" cy="26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rgbClr val="2F2F2F"/>
                </a:buClr>
                <a:buSzPct val="80000"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a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p      p     l       e    </a:t>
              </a:r>
              <a:r>
                <a:rPr lang="en-US" altLang="zh-CN" sz="2400" b="1" kern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sym typeface="+mn-ea"/>
                </a:rPr>
                <a:t>\0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47" name="直接箭头连接符 46"/>
          <p:cNvCxnSpPr/>
          <p:nvPr/>
        </p:nvCxnSpPr>
        <p:spPr>
          <a:xfrm flipV="1">
            <a:off x="4734560" y="315849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V="1">
            <a:off x="7848600" y="315849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Box 18"/>
          <p:cNvSpPr txBox="1">
            <a:spLocks noChangeArrowheads="1"/>
          </p:cNvSpPr>
          <p:nvPr/>
        </p:nvSpPr>
        <p:spPr bwMode="auto">
          <a:xfrm>
            <a:off x="4406265" y="3241675"/>
            <a:ext cx="322580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" name="Text Box 18"/>
          <p:cNvSpPr txBox="1">
            <a:spLocks noChangeArrowheads="1"/>
          </p:cNvSpPr>
          <p:nvPr/>
        </p:nvSpPr>
        <p:spPr bwMode="auto">
          <a:xfrm>
            <a:off x="7515225" y="3236595"/>
            <a:ext cx="322580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q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6" name="Group 4"/>
          <p:cNvGrpSpPr/>
          <p:nvPr/>
        </p:nvGrpSpPr>
        <p:grpSpPr bwMode="auto">
          <a:xfrm>
            <a:off x="4406144" y="3930671"/>
            <a:ext cx="7332663" cy="503238"/>
            <a:chOff x="839" y="1389"/>
            <a:chExt cx="4264" cy="317"/>
          </a:xfrm>
        </p:grpSpPr>
        <p:grpSp>
          <p:nvGrpSpPr>
            <p:cNvPr id="87" name="Group 5"/>
            <p:cNvGrpSpPr/>
            <p:nvPr/>
          </p:nvGrpSpPr>
          <p:grpSpPr bwMode="auto">
            <a:xfrm>
              <a:off x="839" y="1389"/>
              <a:ext cx="4173" cy="317"/>
              <a:chOff x="1474" y="1389"/>
              <a:chExt cx="4173" cy="317"/>
            </a:xfrm>
          </p:grpSpPr>
          <p:sp>
            <p:nvSpPr>
              <p:cNvPr id="88" name="Rectangle 6"/>
              <p:cNvSpPr>
                <a:spLocks noChangeArrowheads="1"/>
              </p:cNvSpPr>
              <p:nvPr/>
            </p:nvSpPr>
            <p:spPr bwMode="auto">
              <a:xfrm>
                <a:off x="1474" y="1389"/>
                <a:ext cx="4173" cy="317"/>
              </a:xfrm>
              <a:prstGeom prst="rect">
                <a:avLst/>
              </a:prstGeom>
              <a:noFill/>
              <a:ln w="57150">
                <a:solidFill>
                  <a:srgbClr val="00008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90000"/>
                  </a:lnSpc>
                  <a:spcBef>
                    <a:spcPts val="590"/>
                  </a:spcBef>
                  <a:spcAft>
                    <a:spcPts val="590"/>
                  </a:spcAft>
                  <a:buClr>
                    <a:srgbClr val="2F2F2F"/>
                  </a:buClr>
                  <a:buSzPct val="80000"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" name="Line 7"/>
              <p:cNvSpPr>
                <a:spLocks noChangeShapeType="1"/>
              </p:cNvSpPr>
              <p:nvPr/>
            </p:nvSpPr>
            <p:spPr bwMode="auto">
              <a:xfrm>
                <a:off x="1837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" name="Line 8"/>
              <p:cNvSpPr>
                <a:spLocks noChangeShapeType="1"/>
              </p:cNvSpPr>
              <p:nvPr/>
            </p:nvSpPr>
            <p:spPr bwMode="auto">
              <a:xfrm>
                <a:off x="2200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Line 9"/>
              <p:cNvSpPr>
                <a:spLocks noChangeShapeType="1"/>
              </p:cNvSpPr>
              <p:nvPr/>
            </p:nvSpPr>
            <p:spPr bwMode="auto">
              <a:xfrm>
                <a:off x="2561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Line 10"/>
              <p:cNvSpPr>
                <a:spLocks noChangeShapeType="1"/>
              </p:cNvSpPr>
              <p:nvPr/>
            </p:nvSpPr>
            <p:spPr bwMode="auto">
              <a:xfrm>
                <a:off x="292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Line 11"/>
              <p:cNvSpPr>
                <a:spLocks noChangeShapeType="1"/>
              </p:cNvSpPr>
              <p:nvPr/>
            </p:nvSpPr>
            <p:spPr bwMode="auto">
              <a:xfrm>
                <a:off x="3288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4" name="Line 12"/>
              <p:cNvSpPr>
                <a:spLocks noChangeShapeType="1"/>
              </p:cNvSpPr>
              <p:nvPr/>
            </p:nvSpPr>
            <p:spPr bwMode="auto">
              <a:xfrm>
                <a:off x="363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" name="Line 13"/>
              <p:cNvSpPr>
                <a:spLocks noChangeShapeType="1"/>
              </p:cNvSpPr>
              <p:nvPr/>
            </p:nvSpPr>
            <p:spPr bwMode="auto">
              <a:xfrm>
                <a:off x="3966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" name="Line 14"/>
              <p:cNvSpPr>
                <a:spLocks noChangeShapeType="1"/>
              </p:cNvSpPr>
              <p:nvPr/>
            </p:nvSpPr>
            <p:spPr bwMode="auto">
              <a:xfrm>
                <a:off x="4315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Line 15"/>
              <p:cNvSpPr>
                <a:spLocks noChangeShapeType="1"/>
              </p:cNvSpPr>
              <p:nvPr/>
            </p:nvSpPr>
            <p:spPr bwMode="auto">
              <a:xfrm>
                <a:off x="4649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" name="Line 16"/>
              <p:cNvSpPr>
                <a:spLocks noChangeShapeType="1"/>
              </p:cNvSpPr>
              <p:nvPr/>
            </p:nvSpPr>
            <p:spPr bwMode="auto">
              <a:xfrm>
                <a:off x="4982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" name="Line 17"/>
              <p:cNvSpPr>
                <a:spLocks noChangeShapeType="1"/>
              </p:cNvSpPr>
              <p:nvPr/>
            </p:nvSpPr>
            <p:spPr bwMode="auto">
              <a:xfrm>
                <a:off x="5312" y="1389"/>
                <a:ext cx="0" cy="317"/>
              </a:xfrm>
              <a:prstGeom prst="line">
                <a:avLst/>
              </a:prstGeom>
              <a:noFill/>
              <a:ln w="38100">
                <a:solidFill>
                  <a:srgbClr val="00008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0" name="Text Box 18"/>
            <p:cNvSpPr txBox="1">
              <a:spLocks noChangeArrowheads="1"/>
            </p:cNvSpPr>
            <p:nvPr/>
          </p:nvSpPr>
          <p:spPr bwMode="auto">
            <a:xfrm>
              <a:off x="859" y="1405"/>
              <a:ext cx="4244" cy="26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rgbClr val="2F2F2F"/>
                </a:buClr>
                <a:buSzPct val="80000"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2400" b="1" kern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sym typeface="+mn-ea"/>
                </a:rPr>
                <a:t>\0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p      p     l      e    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a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101" name="直接箭头连接符 100"/>
          <p:cNvCxnSpPr/>
          <p:nvPr/>
        </p:nvCxnSpPr>
        <p:spPr>
          <a:xfrm flipV="1">
            <a:off x="5332730" y="4505325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 flipV="1">
            <a:off x="7205980" y="4505325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 Box 18"/>
          <p:cNvSpPr txBox="1">
            <a:spLocks noChangeArrowheads="1"/>
          </p:cNvSpPr>
          <p:nvPr/>
        </p:nvSpPr>
        <p:spPr bwMode="auto">
          <a:xfrm>
            <a:off x="5004435" y="4517390"/>
            <a:ext cx="322580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" name="Text Box 18"/>
          <p:cNvSpPr txBox="1">
            <a:spLocks noChangeArrowheads="1"/>
          </p:cNvSpPr>
          <p:nvPr/>
        </p:nvSpPr>
        <p:spPr bwMode="auto">
          <a:xfrm>
            <a:off x="6872605" y="4512310"/>
            <a:ext cx="322580" cy="3124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ts val="590"/>
              </a:spcAft>
              <a:buClr>
                <a:srgbClr val="2F2F2F"/>
              </a:buClr>
              <a:buSzPct val="80000"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q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4272915" y="5320030"/>
            <a:ext cx="7666990" cy="98171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第一次交换后，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\0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被换到了字符串开头（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str[0]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变成了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\0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puts(str)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时，一读到开头的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\0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就会认为字符串结束了，导致输出为空。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172085" y="2164715"/>
            <a:ext cx="3970655" cy="4422775"/>
          </a:xfrm>
          <a:prstGeom prst="rect">
            <a:avLst/>
          </a:prstGeom>
          <a:solidFill>
            <a:srgbClr val="DCEAF7"/>
          </a:solidFill>
          <a:ln>
            <a:solidFill>
              <a:srgbClr val="695F0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208915" y="2210435"/>
            <a:ext cx="4064000" cy="441579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#include &lt;stdio.h&gt;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#include &lt;string.h&gt;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#define MAX_SIZE 100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int main() {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char str[MAX_SIZE];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char *p, *q, temp;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puts("Please enter a string:");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gets(str);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 = str;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q = str + strlen(str) - 1;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while (p &lt; q) {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temp = *p;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*p = *q;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*q = temp;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p++;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    q--;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}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puts(str);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    return 0;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1400">
                <a:latin typeface="Courier New" panose="02070309020205020404" pitchFamily="49" charset="0"/>
                <a:ea typeface="华文中宋" panose="02010600040101010101" pitchFamily="2" charset="-122"/>
                <a:cs typeface="Courier New" panose="02070309020205020404" pitchFamily="49" charset="0"/>
              </a:rPr>
              <a:t>}</a:t>
            </a:r>
            <a:endParaRPr lang="en-US" altLang="zh-CN" sz="1400">
              <a:latin typeface="Courier New" panose="02070309020205020404" pitchFamily="49" charset="0"/>
              <a:ea typeface="华文中宋" panose="0201060004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530225" y="4148455"/>
            <a:ext cx="3098800" cy="2540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bldLvl="0" animBg="1"/>
      <p:bldP spid="104" grpId="0" bldLvl="0" animBg="1"/>
      <p:bldP spid="1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网chenying0907出品 4"/>
          <p:cNvSpPr txBox="1"/>
          <p:nvPr/>
        </p:nvSpPr>
        <p:spPr>
          <a:xfrm>
            <a:off x="1587600" y="264321"/>
            <a:ext cx="5023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535204" y="1498500"/>
            <a:ext cx="9622180" cy="970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使用一维数组实现两个正整数相加，输出它们的和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注：两个加数的位数不一定相等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03120" y="819726"/>
            <a:ext cx="3254478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5001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大数相加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624055" y="3429740"/>
          <a:ext cx="5053774" cy="453987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59434"/>
                <a:gridCol w="459434"/>
                <a:gridCol w="459434"/>
                <a:gridCol w="459434"/>
                <a:gridCol w="459434"/>
                <a:gridCol w="459434"/>
                <a:gridCol w="459434"/>
                <a:gridCol w="459434"/>
                <a:gridCol w="459434"/>
                <a:gridCol w="459434"/>
                <a:gridCol w="459434"/>
              </a:tblGrid>
              <a:tr h="4539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6554183" y="4432412"/>
          <a:ext cx="4123647" cy="38591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58183"/>
                <a:gridCol w="458183"/>
                <a:gridCol w="458183"/>
                <a:gridCol w="458183"/>
                <a:gridCol w="458183"/>
                <a:gridCol w="458183"/>
                <a:gridCol w="458183"/>
                <a:gridCol w="458183"/>
                <a:gridCol w="458183"/>
              </a:tblGrid>
              <a:tr h="38591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1" name="直接连接符 20"/>
          <p:cNvCxnSpPr/>
          <p:nvPr/>
        </p:nvCxnSpPr>
        <p:spPr>
          <a:xfrm>
            <a:off x="5845209" y="4625370"/>
            <a:ext cx="23869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5948516" y="4513006"/>
            <a:ext cx="0" cy="21631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388077" y="5309419"/>
            <a:ext cx="562405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5624055" y="5730552"/>
          <a:ext cx="5065874" cy="432383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60534"/>
                <a:gridCol w="460534"/>
                <a:gridCol w="460534"/>
                <a:gridCol w="460534"/>
                <a:gridCol w="460534"/>
                <a:gridCol w="460534"/>
                <a:gridCol w="460534"/>
                <a:gridCol w="460534"/>
                <a:gridCol w="460534"/>
                <a:gridCol w="460534"/>
                <a:gridCol w="460534"/>
              </a:tblGrid>
              <a:tr h="43238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10461523" y="3874649"/>
            <a:ext cx="0" cy="557763"/>
          </a:xfrm>
          <a:prstGeom prst="line">
            <a:avLst/>
          </a:prstGeom>
          <a:ln w="15875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9984659" y="3874649"/>
            <a:ext cx="0" cy="557763"/>
          </a:xfrm>
          <a:prstGeom prst="line">
            <a:avLst/>
          </a:prstGeom>
          <a:ln w="15875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6779342" y="3874649"/>
            <a:ext cx="0" cy="557763"/>
          </a:xfrm>
          <a:prstGeom prst="line">
            <a:avLst/>
          </a:prstGeom>
          <a:ln w="15875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8380865" y="3935528"/>
            <a:ext cx="1956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6673422" y="4996927"/>
            <a:ext cx="32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087352" y="4995198"/>
            <a:ext cx="32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23086" y="5009950"/>
            <a:ext cx="32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192383" y="4992228"/>
            <a:ext cx="32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13610" y="2445249"/>
            <a:ext cx="6072126" cy="46843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40000"/>
              </a:lnSpc>
            </a:pP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【输入描述】</a:t>
            </a:r>
            <a:endParaRPr lang="zh-CN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两行，分别是两个正整数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位数最少为二十位，不超过五十位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70000"/>
              </a:lnSpc>
            </a:pP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【输出描述】</a:t>
            </a:r>
            <a:endParaRPr lang="zh-CN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两个正整数的</a:t>
            </a:r>
            <a:r>
              <a:rPr lang="zh-CN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endParaRPr lang="en-US" altLang="zh-CN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40000"/>
              </a:lnSpc>
            </a:pP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输入示例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123456789341341234567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11135439503091234567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输出示例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134592228844432469134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1535430" y="4711700"/>
            <a:ext cx="3230880" cy="189992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594717" y="4996468"/>
            <a:ext cx="32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网chenying0907出品 4"/>
          <p:cNvSpPr txBox="1"/>
          <p:nvPr/>
        </p:nvSpPr>
        <p:spPr>
          <a:xfrm>
            <a:off x="1587600" y="264321"/>
            <a:ext cx="5023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535430" y="1551940"/>
            <a:ext cx="9854565" cy="240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输入一行英文字符串，请统计并输出其中不同单词的数量。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单词由字母组成，大小写不敏感（如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"Hello"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"hello"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视为相同）；单词之间可能由空格或标点隔开。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注：请使用指针和字符串函数实现。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03120" y="819726"/>
            <a:ext cx="3254478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5002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单词统计器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35430" y="3260090"/>
            <a:ext cx="6096000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【输入描述】</a:t>
            </a:r>
            <a:endParaRPr lang="zh-CN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一行，英文文本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/>
          </a:p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【输出描述】</a:t>
            </a:r>
            <a:endParaRPr lang="zh-CN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/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不同单词的数量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91635" y="3260090"/>
            <a:ext cx="6096000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【输入示例】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Hello, world! This is a world of hello.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/>
          </a:p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【输出示例】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/>
          </a:p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6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9714230" y="3131185"/>
          <a:ext cx="1496695" cy="3017520"/>
        </p:xfrm>
        <a:graphic>
          <a:graphicData uri="http://schemas.openxmlformats.org/drawingml/2006/table">
            <a:tbl>
              <a:tblPr/>
              <a:tblGrid>
                <a:gridCol w="1496695"/>
              </a:tblGrid>
              <a:tr h="50292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Hello</a:t>
                      </a:r>
                      <a:endParaRPr 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292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world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292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This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292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is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292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a</a:t>
                      </a:r>
                      <a:endParaRPr lang="en-US" altLang="zh-CN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292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</a:t>
                      </a:r>
                      <a:endParaRPr 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"/>
            <a:ext cx="12192000" cy="4376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5709"/>
            <a:ext cx="12192000" cy="33622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3065796"/>
            <a:ext cx="3600000" cy="21401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0769600" y="3664910"/>
            <a:ext cx="843953" cy="2410180"/>
            <a:chOff x="10769600" y="3836360"/>
            <a:chExt cx="843953" cy="241018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9600" y="3838038"/>
              <a:ext cx="146835" cy="24085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9612" y="4912297"/>
              <a:ext cx="492494" cy="129551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0930" y="3836360"/>
              <a:ext cx="562623" cy="82489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34" y="247661"/>
            <a:ext cx="3602440" cy="1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7" y="444499"/>
            <a:ext cx="108000" cy="272454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2093857"/>
            <a:ext cx="3600000" cy="814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65199" y="4240309"/>
            <a:ext cx="915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请同学们开始实验</a:t>
            </a:r>
            <a:endParaRPr lang="zh-CN" altLang="en-US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798622" y="6455543"/>
            <a:ext cx="2107760" cy="288000"/>
            <a:chOff x="1021340" y="5712187"/>
            <a:chExt cx="2107760" cy="288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340" y="5716689"/>
              <a:ext cx="581924" cy="27057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89100" y="5712187"/>
              <a:ext cx="1440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7255" y="5720618"/>
              <a:ext cx="1186531" cy="270000"/>
            </a:xfrm>
            <a:prstGeom prst="rect">
              <a:avLst/>
            </a:prstGeom>
          </p:spPr>
        </p:pic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199" y="5983976"/>
            <a:ext cx="3475990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TABLE_BEAUTIFY" val="smartTable{b4d1c932-bae0-4354-ab5c-28ac5848f5d3}"/>
</p:tagLst>
</file>

<file path=ppt/tags/tag2.xml><?xml version="1.0" encoding="utf-8"?>
<p:tagLst xmlns:p="http://schemas.openxmlformats.org/presentationml/2006/main">
  <p:tag name="KSO_WM_UNIT_TABLE_BEAUTIFY" val="smartTable{bf178a26-2059-4da0-a550-e725463427e2}"/>
  <p:tag name="TABLE_ENDDRAG_ORIGIN_RECT" val="247*86"/>
  <p:tag name="TABLE_ENDDRAG_RECT" val="673*360*247*86"/>
</p:tagLst>
</file>

<file path=ppt/tags/tag3.xml><?xml version="1.0" encoding="utf-8"?>
<p:tagLst xmlns:p="http://schemas.openxmlformats.org/presentationml/2006/main">
  <p:tag name="KSO_WM_DIAGRAM_VIRTUALLY_FRAME" val="{&quot;height&quot;:142.45,&quot;left&quot;:298.3,&quot;top&quot;:187.55,&quot;width&quot;:786.85}"/>
</p:tagLst>
</file>

<file path=ppt/tags/tag4.xml><?xml version="1.0" encoding="utf-8"?>
<p:tagLst xmlns:p="http://schemas.openxmlformats.org/presentationml/2006/main">
  <p:tag name="KSO_WM_DIAGRAM_VIRTUALLY_FRAME" val="{&quot;height&quot;:142.45,&quot;left&quot;:298.3,&quot;top&quot;:187.55,&quot;width&quot;:786.85}"/>
</p:tagLst>
</file>

<file path=ppt/tags/tag5.xml><?xml version="1.0" encoding="utf-8"?>
<p:tagLst xmlns:p="http://schemas.openxmlformats.org/presentationml/2006/main">
  <p:tag name="KSO_WM_DIAGRAM_VIRTUALLY_FRAME" val="{&quot;height&quot;:142.45,&quot;left&quot;:298.3,&quot;top&quot;:187.55,&quot;width&quot;:786.85}"/>
</p:tagLst>
</file>

<file path=ppt/tags/tag6.xml><?xml version="1.0" encoding="utf-8"?>
<p:tagLst xmlns:p="http://schemas.openxmlformats.org/presentationml/2006/main">
  <p:tag name="KSO_WM_DIAGRAM_VIRTUALLY_FRAME" val="{&quot;height&quot;:142.45,&quot;left&quot;:298.3,&quot;top&quot;:187.55,&quot;width&quot;:786.85}"/>
</p:tagLst>
</file>

<file path=ppt/tags/tag7.xml><?xml version="1.0" encoding="utf-8"?>
<p:tagLst xmlns:p="http://schemas.openxmlformats.org/presentationml/2006/main">
  <p:tag name="KSO_WM_DIAGRAM_VIRTUALLY_FRAME" val="{&quot;height&quot;:142.45,&quot;left&quot;:298.3,&quot;top&quot;:187.55,&quot;width&quot;:786.85}"/>
</p:tagLst>
</file>

<file path=ppt/tags/tag8.xml><?xml version="1.0" encoding="utf-8"?>
<p:tagLst xmlns:p="http://schemas.openxmlformats.org/presentationml/2006/main">
  <p:tag name="KSO_WM_DIAGRAM_VIRTUALLY_FRAME" val="{&quot;height&quot;:142.45,&quot;left&quot;:298.3,&quot;top&quot;:187.55,&quot;width&quot;:786.85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ISPRING_PRESENTATION_TITLE" val="PowerPoint 演示文稿3"/>
  <p:tag name="commondata" val="eyJoZGlkIjoiZGEzOGMzMmZjNDU1Mzk0MWZiMzU0NGFhYjE5YTU4MjMifQ=="/>
  <p:tag name="COMMONDATA" val="eyJoZGlkIjoiMDljYWUyMzkyZmQ0OTgwOWUyMjkzNmZiMWJjYjA2Nzg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6179</Words>
  <Application>WPS 演示</Application>
  <PresentationFormat>宽屏</PresentationFormat>
  <Paragraphs>746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Courier New</vt:lpstr>
      <vt:lpstr>Franklin Gothic Book</vt:lpstr>
      <vt:lpstr>Wingdings 2</vt:lpstr>
      <vt:lpstr>Times New Roman</vt:lpstr>
      <vt:lpstr>等线</vt:lpstr>
      <vt:lpstr>Franklin Gothic Book</vt:lpstr>
      <vt:lpstr>黑体</vt:lpstr>
      <vt:lpstr>华文中宋</vt:lpstr>
      <vt:lpstr>Calibri</vt:lpstr>
      <vt:lpstr>Arial Unicode MS</vt:lpstr>
      <vt:lpstr>Calibri Light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雨虹</cp:lastModifiedBy>
  <cp:revision>598</cp:revision>
  <dcterms:created xsi:type="dcterms:W3CDTF">2016-04-09T13:02:00Z</dcterms:created>
  <dcterms:modified xsi:type="dcterms:W3CDTF">2025-12-01T00:15:35Z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D0826725A43342808F8D9D0C79CE53BF_12</vt:lpwstr>
  </property>
</Properties>
</file>