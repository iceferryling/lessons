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23"/>
  </p:notesMasterIdLst>
  <p:handoutMasterIdLst>
    <p:handoutMasterId r:id="rId24"/>
  </p:handoutMasterIdLst>
  <p:sldIdLst>
    <p:sldId id="322" r:id="rId3"/>
    <p:sldId id="324" r:id="rId4"/>
    <p:sldId id="297" r:id="rId5"/>
    <p:sldId id="408" r:id="rId6"/>
    <p:sldId id="428" r:id="rId7"/>
    <p:sldId id="439" r:id="rId8"/>
    <p:sldId id="440" r:id="rId9"/>
    <p:sldId id="432" r:id="rId10"/>
    <p:sldId id="433" r:id="rId11"/>
    <p:sldId id="437" r:id="rId12"/>
    <p:sldId id="434" r:id="rId13"/>
    <p:sldId id="435" r:id="rId14"/>
    <p:sldId id="436" r:id="rId15"/>
    <p:sldId id="445" r:id="rId16"/>
    <p:sldId id="423" r:id="rId17"/>
    <p:sldId id="441" r:id="rId18"/>
    <p:sldId id="443" r:id="rId19"/>
    <p:sldId id="442" r:id="rId20"/>
    <p:sldId id="444" r:id="rId21"/>
    <p:sldId id="323" r:id="rId22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6AC29FF-322F-4F6A-B7ED-9F94D591DD0B}">
          <p14:sldIdLst>
            <p14:sldId id="322"/>
            <p14:sldId id="324"/>
            <p14:sldId id="297"/>
            <p14:sldId id="408"/>
            <p14:sldId id="428"/>
            <p14:sldId id="439"/>
            <p14:sldId id="440"/>
            <p14:sldId id="432"/>
            <p14:sldId id="433"/>
            <p14:sldId id="437"/>
            <p14:sldId id="434"/>
            <p14:sldId id="435"/>
            <p14:sldId id="436"/>
            <p14:sldId id="445"/>
          </p14:sldIdLst>
        </p14:section>
        <p14:section name="实验内容" id="{B8C04485-9604-46C6-A088-848BD013EE1B}">
          <p14:sldIdLst>
            <p14:sldId id="423"/>
            <p14:sldId id="441"/>
            <p14:sldId id="443"/>
            <p14:sldId id="442"/>
            <p14:sldId id="444"/>
            <p14:sldId id="3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33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74A7"/>
    <a:srgbClr val="000000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41" autoAdjust="0"/>
    <p:restoredTop sz="84120" autoAdjust="0"/>
  </p:normalViewPr>
  <p:slideViewPr>
    <p:cSldViewPr snapToGrid="0" showGuides="1">
      <p:cViewPr varScale="1">
        <p:scale>
          <a:sx n="74" d="100"/>
          <a:sy n="74" d="100"/>
        </p:scale>
        <p:origin x="852" y="39"/>
      </p:cViewPr>
      <p:guideLst>
        <p:guide orient="horz" pos="2160"/>
        <p:guide pos="37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-2529" y="-72"/>
      </p:cViewPr>
      <p:guideLst>
        <p:guide orient="horz" pos="2880"/>
        <p:guide pos="21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90E8E-B145-4FC0-B3F5-88616996E7CD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F39E9-F60F-4776-B545-3ACE882E0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2987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91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009B3-31E6-4CAF-9FB9-88B4D222EC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216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009B3-31E6-4CAF-9FB9-88B4D222EC8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320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680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309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26FB7-5C10-F18B-7C92-FE4078DFB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12B120-FC2E-3052-63F3-2E65FF904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A843CA-8A04-8762-4011-F26076914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29082A-F5FA-61FB-B411-2D1710E86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111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FB65A-3B58-BA8E-190D-CCCE4C18F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E39C3F-A743-FC97-4E04-90EC4408D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338BD4-B3B1-898C-1B2D-B50B4E6EE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E2FD39-B260-194D-46C2-D32647AC3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931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637A8-88A4-ED14-3841-581ADCA3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4C0EDE-C574-E0AE-F22C-484819818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047B0B-651F-8DF0-D9AC-3C8047C18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64396D-2DD7-4F61-46A3-9B8213DDC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445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07049-B68E-C4E6-6D53-0F85CFF3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FD523B-6521-755C-235B-E550AC3C3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96D6C1-9FD8-0EEB-5753-A1D162614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C5D151-6F8E-C7E6-B8A8-391C95D8C5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968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F9F99-B08D-B575-3F8D-2B325F5CD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E1FFC9-E3A8-15BE-3ED9-EC439E71E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369392-5D52-78B8-858B-6933DA989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DCC61D-874E-F08C-6BD8-D50551354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3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7E0A7-EB5E-26EC-F3B8-E8438C82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C75E4A-5D3E-E6C5-BD76-FA2096E53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692303-D46A-1F4C-3080-BC2E90D28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u="none" strike="noStrike" dirty="0">
                <a:effectLst/>
                <a:latin typeface="+mn-lt"/>
              </a:rPr>
              <a:t>按格式把多个变量写入文本文件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99F688-53C0-E216-D6E4-69EFE20B34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529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F26A1-92C6-DE64-7367-F4CA59745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8542C3-0598-8313-A789-0C410BC51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A34E95-0DE7-A454-1C8D-795A8483F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7FA083-1D95-2884-FDA0-999A454C67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252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00B79-65A0-18A4-BA25-D9F0832FB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62ACB2-7E48-A087-00BC-86D44B029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41B8E8-119D-9184-4086-440C78138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CB2A65-D905-DC51-8EF3-BBE77E2D00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591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F7A2-96BC-25AB-EAA1-19DB2157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81D916-5208-F118-812F-39C9E072C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60F5E9-9BEB-F53B-4588-FC6209595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1FD9EB-F28A-EA9F-3A30-C7B741C83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7497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85C6-B8A9-2E93-8F42-FC956E0A1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811965-D15D-8550-367A-9BF79E3A8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8BB6EC-DF5E-7F84-D948-70E9FB20C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EC9944-1A18-B73E-8BAC-443AB12659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555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F99DA-62DE-BC85-A00D-EC3788B73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202132-9C8B-7CA5-13A6-B626B21AB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5BC778-085C-AA8D-5A44-ACEBDB301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CCD360-77E7-7FB1-C616-E6B6758AC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5542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2CE9A-8E9F-E696-61FE-4ABC0E5E5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3C6ACA-31AD-3F29-3D15-4351A134F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2D01E9-96B2-BAA8-B4CC-1272E2A0A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3A644E-DCFE-BB44-19C3-38497AE6A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2921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0BF1F-A430-411C-2B2B-5EC5AEA92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AF5A6C-248E-1A91-3168-D00ACFE09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DAF6D7-7917-7339-189E-6BA7AB75B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AA5E3B-00B3-9405-755D-EE92146820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9710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68972-9B52-E044-89AF-D05B6EEF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A5FF75-B625-6947-3520-D13DF7090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046BA5-11B5-50AA-20BE-1BC340BE1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ADEA83-241A-3678-FE3D-6EC5257356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38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009B3-31E6-4CAF-9FB9-88B4D222EC8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796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comb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31800" y="330198"/>
            <a:ext cx="540000" cy="288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431800" y="671197"/>
            <a:ext cx="540000" cy="180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431800" y="904196"/>
            <a:ext cx="540000" cy="72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 flipV="1">
            <a:off x="8966200" y="6528232"/>
            <a:ext cx="2880000" cy="36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0">
    <p:comb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3D91A-8275-4C29-80FF-E72C08F8C7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3D91A-8275-4C29-80FF-E72C08F8C7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notesSlide" Target="../notesSlides/notesSlide2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grader.tery.top:8001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4"/>
            <a:ext cx="12192000" cy="43769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5709"/>
            <a:ext cx="12192000" cy="336229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3065796"/>
            <a:ext cx="3600000" cy="214013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10769600" y="3664910"/>
            <a:ext cx="843953" cy="2410180"/>
            <a:chOff x="10769600" y="3836360"/>
            <a:chExt cx="843953" cy="241018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9600" y="3838038"/>
              <a:ext cx="146835" cy="2408502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9612" y="4912297"/>
              <a:ext cx="492494" cy="129551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50930" y="3836360"/>
              <a:ext cx="562623" cy="824898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534" y="247661"/>
            <a:ext cx="3602440" cy="18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97" y="444499"/>
            <a:ext cx="108000" cy="272454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2093857"/>
            <a:ext cx="3600000" cy="8149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822348" y="3625900"/>
            <a:ext cx="964403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计算思维与实践</a:t>
            </a:r>
            <a:endParaRPr lang="en-US" altLang="zh-CN" sz="5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实验七 输入输出与文件操作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9798622" y="6455543"/>
            <a:ext cx="2107760" cy="288000"/>
            <a:chOff x="1021340" y="5712187"/>
            <a:chExt cx="2107760" cy="28800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340" y="5716689"/>
              <a:ext cx="581924" cy="270576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89100" y="5712187"/>
              <a:ext cx="1440000" cy="28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7255" y="5720618"/>
              <a:ext cx="1186531" cy="270000"/>
            </a:xfrm>
            <a:prstGeom prst="rect">
              <a:avLst/>
            </a:prstGeom>
          </p:spPr>
        </p:pic>
      </p:grp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5199" y="5983976"/>
            <a:ext cx="3475990" cy="638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íṧ1iḋê"/>
          <p:cNvGrpSpPr/>
          <p:nvPr/>
        </p:nvGrpSpPr>
        <p:grpSpPr>
          <a:xfrm>
            <a:off x="2440940" y="2531110"/>
            <a:ext cx="1569720" cy="1354455"/>
            <a:chOff x="1468531" y="1871421"/>
            <a:chExt cx="2080967" cy="1983665"/>
          </a:xfrm>
        </p:grpSpPr>
        <p:sp>
          <p:nvSpPr>
            <p:cNvPr id="73" name="ïṥlïḓè"/>
            <p:cNvSpPr/>
            <p:nvPr>
              <p:custDataLst>
                <p:tags r:id="rId16"/>
              </p:custDataLst>
            </p:nvPr>
          </p:nvSpPr>
          <p:spPr bwMode="auto">
            <a:xfrm>
              <a:off x="1751720" y="2659689"/>
              <a:ext cx="796931" cy="79693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îślîḋê"/>
            <p:cNvSpPr/>
            <p:nvPr>
              <p:custDataLst>
                <p:tags r:id="rId17"/>
              </p:custDataLst>
            </p:nvPr>
          </p:nvSpPr>
          <p:spPr bwMode="auto">
            <a:xfrm>
              <a:off x="1847528" y="1880828"/>
              <a:ext cx="966310" cy="96631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5" name="ïşļîḋé"/>
            <p:cNvSpPr/>
            <p:nvPr>
              <p:custDataLst>
                <p:tags r:id="rId18"/>
              </p:custDataLst>
            </p:nvPr>
          </p:nvSpPr>
          <p:spPr bwMode="auto">
            <a:xfrm>
              <a:off x="2219772" y="2167905"/>
              <a:ext cx="1188132" cy="118813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</a:ln>
          </p:spPr>
          <p:txBody>
            <a:bodyPr rot="0" spcFirstLastPara="0" vert="horz" wrap="none" lIns="91440" tIns="45720" rIns="91440" bIns="45720" anchor="ctr" anchorCtr="1" forceAA="0" compatLnSpc="1">
              <a:normAutofit fontScale="92500" lnSpcReduction="20000"/>
            </a:bodyPr>
            <a:lstStyle/>
            <a:p>
              <a:pPr algn="ctr"/>
              <a:r>
                <a:rPr lang="en-US" altLang="zh-CN" sz="4000" dirty="0">
                  <a:solidFill>
                    <a:schemeClr val="bg1">
                      <a:lumMod val="100000"/>
                    </a:schemeClr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76" name="ïŝlíḋe"/>
            <p:cNvSpPr/>
            <p:nvPr>
              <p:custDataLst>
                <p:tags r:id="rId19"/>
              </p:custDataLst>
            </p:nvPr>
          </p:nvSpPr>
          <p:spPr bwMode="auto">
            <a:xfrm>
              <a:off x="2687824" y="3456620"/>
              <a:ext cx="398466" cy="398466"/>
            </a:xfrm>
            <a:prstGeom prst="ellipse">
              <a:avLst/>
            </a:prstGeom>
            <a:solidFill>
              <a:schemeClr val="accent3"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7" name="iṡḻiďé"/>
            <p:cNvSpPr/>
            <p:nvPr>
              <p:custDataLst>
                <p:tags r:id="rId20"/>
              </p:custDataLst>
            </p:nvPr>
          </p:nvSpPr>
          <p:spPr bwMode="auto">
            <a:xfrm>
              <a:off x="1468531" y="2518094"/>
              <a:ext cx="283189" cy="28318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8" name="iŝľîḑé"/>
            <p:cNvSpPr/>
            <p:nvPr>
              <p:custDataLst>
                <p:tags r:id="rId21"/>
              </p:custDataLst>
            </p:nvPr>
          </p:nvSpPr>
          <p:spPr bwMode="auto">
            <a:xfrm>
              <a:off x="3266309" y="1871421"/>
              <a:ext cx="283189" cy="283189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79" name="iṩľïḓe"/>
          <p:cNvSpPr txBox="1"/>
          <p:nvPr>
            <p:custDataLst>
              <p:tags r:id="rId1"/>
            </p:custDataLst>
          </p:nvPr>
        </p:nvSpPr>
        <p:spPr>
          <a:xfrm>
            <a:off x="3790315" y="2537460"/>
            <a:ext cx="2512695" cy="540385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Autofit/>
          </a:bodyPr>
          <a:lstStyle/>
          <a:p>
            <a:pPr algn="l"/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实验目的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8" name="îṧḻidé"/>
          <p:cNvGrpSpPr/>
          <p:nvPr/>
        </p:nvGrpSpPr>
        <p:grpSpPr>
          <a:xfrm>
            <a:off x="6479540" y="2531110"/>
            <a:ext cx="1569720" cy="1354455"/>
            <a:chOff x="1468531" y="1871421"/>
            <a:chExt cx="2080967" cy="1983665"/>
          </a:xfrm>
        </p:grpSpPr>
        <p:sp>
          <p:nvSpPr>
            <p:cNvPr id="89" name="ïṣľíďe"/>
            <p:cNvSpPr/>
            <p:nvPr>
              <p:custDataLst>
                <p:tags r:id="rId10"/>
              </p:custDataLst>
            </p:nvPr>
          </p:nvSpPr>
          <p:spPr bwMode="auto">
            <a:xfrm>
              <a:off x="1751720" y="2659689"/>
              <a:ext cx="796931" cy="79693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0" name="îšļiḋe"/>
            <p:cNvSpPr/>
            <p:nvPr>
              <p:custDataLst>
                <p:tags r:id="rId11"/>
              </p:custDataLst>
            </p:nvPr>
          </p:nvSpPr>
          <p:spPr bwMode="auto">
            <a:xfrm>
              <a:off x="1847528" y="1880828"/>
              <a:ext cx="966310" cy="96631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1" name="iṥľïďê"/>
            <p:cNvSpPr/>
            <p:nvPr>
              <p:custDataLst>
                <p:tags r:id="rId12"/>
              </p:custDataLst>
            </p:nvPr>
          </p:nvSpPr>
          <p:spPr bwMode="auto">
            <a:xfrm>
              <a:off x="2219772" y="2167905"/>
              <a:ext cx="1188132" cy="118813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</a:ln>
          </p:spPr>
          <p:txBody>
            <a:bodyPr rot="0" spcFirstLastPara="0" vert="horz" wrap="none" lIns="0" tIns="0" rIns="0" bIns="0" anchor="ctr" anchorCtr="1" forceAA="0" compatLnSpc="1">
              <a:normAutofit lnSpcReduction="10000"/>
            </a:bodyPr>
            <a:lstStyle/>
            <a:p>
              <a:pPr algn="ctr"/>
              <a:r>
                <a:rPr lang="en-US" altLang="zh-CN" sz="4000" dirty="0">
                  <a:solidFill>
                    <a:schemeClr val="bg1">
                      <a:lumMod val="100000"/>
                    </a:schemeClr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02</a:t>
              </a:r>
            </a:p>
          </p:txBody>
        </p:sp>
        <p:sp>
          <p:nvSpPr>
            <p:cNvPr id="92" name="íṩľíḓé"/>
            <p:cNvSpPr/>
            <p:nvPr>
              <p:custDataLst>
                <p:tags r:id="rId13"/>
              </p:custDataLst>
            </p:nvPr>
          </p:nvSpPr>
          <p:spPr bwMode="auto">
            <a:xfrm>
              <a:off x="2687824" y="3456620"/>
              <a:ext cx="398466" cy="398466"/>
            </a:xfrm>
            <a:prstGeom prst="ellipse">
              <a:avLst/>
            </a:prstGeom>
            <a:solidFill>
              <a:schemeClr val="accent3"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3" name="ïśliďé"/>
            <p:cNvSpPr/>
            <p:nvPr>
              <p:custDataLst>
                <p:tags r:id="rId14"/>
              </p:custDataLst>
            </p:nvPr>
          </p:nvSpPr>
          <p:spPr bwMode="auto">
            <a:xfrm>
              <a:off x="1468531" y="2518094"/>
              <a:ext cx="283189" cy="28318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4" name="işļîdè"/>
            <p:cNvSpPr/>
            <p:nvPr>
              <p:custDataLst>
                <p:tags r:id="rId15"/>
              </p:custDataLst>
            </p:nvPr>
          </p:nvSpPr>
          <p:spPr bwMode="auto">
            <a:xfrm>
              <a:off x="3266309" y="1871421"/>
              <a:ext cx="283189" cy="283189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95" name="ïşḻïḍe"/>
          <p:cNvSpPr txBox="1"/>
          <p:nvPr>
            <p:custDataLst>
              <p:tags r:id="rId2"/>
            </p:custDataLst>
          </p:nvPr>
        </p:nvSpPr>
        <p:spPr>
          <a:xfrm>
            <a:off x="7828915" y="2537460"/>
            <a:ext cx="2512695" cy="540385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Autofit/>
          </a:bodyPr>
          <a:lstStyle/>
          <a:p>
            <a:pPr algn="l"/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输入输出与文件操作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3" name="íśľíḓê"/>
          <p:cNvGrpSpPr/>
          <p:nvPr/>
        </p:nvGrpSpPr>
        <p:grpSpPr>
          <a:xfrm>
            <a:off x="680085" y="922020"/>
            <a:ext cx="2688590" cy="1513205"/>
            <a:chOff x="3575720" y="-774342"/>
            <a:chExt cx="4240565" cy="2636200"/>
          </a:xfrm>
        </p:grpSpPr>
        <p:sp>
          <p:nvSpPr>
            <p:cNvPr id="104" name="iśḷiḓé"/>
            <p:cNvSpPr/>
            <p:nvPr/>
          </p:nvSpPr>
          <p:spPr bwMode="auto">
            <a:xfrm>
              <a:off x="3918741" y="1380506"/>
              <a:ext cx="481352" cy="48135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" name="iṧliḓè"/>
            <p:cNvSpPr/>
            <p:nvPr/>
          </p:nvSpPr>
          <p:spPr bwMode="auto">
            <a:xfrm>
              <a:off x="6450579" y="884043"/>
              <a:ext cx="924267" cy="924267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" name="ïṩľïḓe"/>
            <p:cNvSpPr/>
            <p:nvPr/>
          </p:nvSpPr>
          <p:spPr bwMode="auto">
            <a:xfrm>
              <a:off x="3575720" y="-387424"/>
              <a:ext cx="1287018" cy="1287018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" name="íşľíḍê"/>
            <p:cNvSpPr/>
            <p:nvPr/>
          </p:nvSpPr>
          <p:spPr bwMode="auto">
            <a:xfrm>
              <a:off x="4367808" y="-774342"/>
              <a:ext cx="2557971" cy="2557971"/>
            </a:xfrm>
            <a:prstGeom prst="ellipse">
              <a:avLst/>
            </a:prstGeom>
            <a:solidFill>
              <a:schemeClr val="tx2"/>
            </a:solidFill>
            <a:ln w="19050">
              <a:noFill/>
              <a:round/>
            </a:ln>
          </p:spPr>
          <p:txBody>
            <a:bodyPr rot="0" spcFirstLastPara="0" vert="horz" wrap="none" lIns="91440" tIns="45720" rIns="91440" bIns="45720" anchor="b" anchorCtr="1" forceAA="0" compatLnSpc="1">
              <a:normAutofit fontScale="92500" lnSpcReduction="10000"/>
            </a:bodyPr>
            <a:lstStyle/>
            <a:p>
              <a:pPr algn="ctr"/>
              <a:r>
                <a:rPr lang="zh-CN" altLang="en-US" sz="4800" b="1" spc="300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目录 </a:t>
              </a:r>
              <a:br>
                <a:rPr lang="zh-CN" altLang="en-US" sz="4800" b="1" spc="300" dirty="0">
                  <a:solidFill>
                    <a:schemeClr val="bg1"/>
                  </a:solidFill>
                  <a:ea typeface="微软雅黑" panose="020B0503020204020204" pitchFamily="34" charset="-122"/>
                </a:rPr>
              </a:br>
              <a:r>
                <a:rPr lang="en-US" altLang="zh-CN" sz="2200" b="1" spc="300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CONTENT</a:t>
              </a:r>
            </a:p>
          </p:txBody>
        </p:sp>
        <p:sp>
          <p:nvSpPr>
            <p:cNvPr id="108" name="iSḷïḑê"/>
            <p:cNvSpPr/>
            <p:nvPr/>
          </p:nvSpPr>
          <p:spPr bwMode="auto">
            <a:xfrm>
              <a:off x="7204217" y="152636"/>
              <a:ext cx="612068" cy="612068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" name="îṧḻidé">
            <a:extLst>
              <a:ext uri="{FF2B5EF4-FFF2-40B4-BE49-F238E27FC236}">
                <a16:creationId xmlns:a16="http://schemas.microsoft.com/office/drawing/2014/main" id="{4F9F3937-80CD-16B5-CD82-9A9B2CC19932}"/>
              </a:ext>
            </a:extLst>
          </p:cNvPr>
          <p:cNvGrpSpPr/>
          <p:nvPr/>
        </p:nvGrpSpPr>
        <p:grpSpPr>
          <a:xfrm>
            <a:off x="2440940" y="4364203"/>
            <a:ext cx="1569720" cy="1354455"/>
            <a:chOff x="1468531" y="1871421"/>
            <a:chExt cx="2080967" cy="1983665"/>
          </a:xfrm>
        </p:grpSpPr>
        <p:sp>
          <p:nvSpPr>
            <p:cNvPr id="3" name="ïṣľíďe">
              <a:extLst>
                <a:ext uri="{FF2B5EF4-FFF2-40B4-BE49-F238E27FC236}">
                  <a16:creationId xmlns:a16="http://schemas.microsoft.com/office/drawing/2014/main" id="{292B3ACC-935F-FF2E-3CCD-FC9E0AAC43B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1751720" y="2659689"/>
              <a:ext cx="796931" cy="79693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" name="îšļiḋe">
              <a:extLst>
                <a:ext uri="{FF2B5EF4-FFF2-40B4-BE49-F238E27FC236}">
                  <a16:creationId xmlns:a16="http://schemas.microsoft.com/office/drawing/2014/main" id="{06C75019-F3A9-5FC8-4664-E4BF454508C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 bwMode="auto">
            <a:xfrm>
              <a:off x="1847528" y="1880828"/>
              <a:ext cx="966310" cy="96631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iṥľïďê">
              <a:extLst>
                <a:ext uri="{FF2B5EF4-FFF2-40B4-BE49-F238E27FC236}">
                  <a16:creationId xmlns:a16="http://schemas.microsoft.com/office/drawing/2014/main" id="{E8F17509-312B-451D-53DA-E0CA2C6EF59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2219772" y="2167905"/>
              <a:ext cx="1188132" cy="118813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</a:ln>
          </p:spPr>
          <p:txBody>
            <a:bodyPr rot="0" spcFirstLastPara="0" vert="horz" wrap="none" lIns="0" tIns="0" rIns="0" bIns="0" anchor="ctr" anchorCtr="1" forceAA="0" compatLnSpc="1">
              <a:normAutofit lnSpcReduction="10000"/>
            </a:bodyPr>
            <a:lstStyle/>
            <a:p>
              <a:pPr algn="ctr"/>
              <a:r>
                <a:rPr lang="en-US" altLang="zh-CN" sz="4000" dirty="0">
                  <a:solidFill>
                    <a:schemeClr val="bg1">
                      <a:lumMod val="100000"/>
                    </a:schemeClr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03</a:t>
              </a:r>
            </a:p>
          </p:txBody>
        </p:sp>
        <p:sp>
          <p:nvSpPr>
            <p:cNvPr id="6" name="íṩľíḓé">
              <a:extLst>
                <a:ext uri="{FF2B5EF4-FFF2-40B4-BE49-F238E27FC236}">
                  <a16:creationId xmlns:a16="http://schemas.microsoft.com/office/drawing/2014/main" id="{7384164A-1ECF-A333-F491-4E85C57364C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2687824" y="3456620"/>
              <a:ext cx="398466" cy="398466"/>
            </a:xfrm>
            <a:prstGeom prst="ellipse">
              <a:avLst/>
            </a:prstGeom>
            <a:solidFill>
              <a:schemeClr val="accent3"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śliďé">
              <a:extLst>
                <a:ext uri="{FF2B5EF4-FFF2-40B4-BE49-F238E27FC236}">
                  <a16:creationId xmlns:a16="http://schemas.microsoft.com/office/drawing/2014/main" id="{787F2CB0-DA6C-2533-C5D1-C167AA51A499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1468531" y="2518094"/>
              <a:ext cx="283189" cy="28318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işļîdè">
              <a:extLst>
                <a:ext uri="{FF2B5EF4-FFF2-40B4-BE49-F238E27FC236}">
                  <a16:creationId xmlns:a16="http://schemas.microsoft.com/office/drawing/2014/main" id="{E8E500D2-98E0-1B6B-8A39-740C8DF4DDF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3266309" y="1871421"/>
              <a:ext cx="283189" cy="283189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70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9" name="ïşḻïḍe">
            <a:extLst>
              <a:ext uri="{FF2B5EF4-FFF2-40B4-BE49-F238E27FC236}">
                <a16:creationId xmlns:a16="http://schemas.microsoft.com/office/drawing/2014/main" id="{2ED65DCB-AC0D-DA80-D619-195C419AF90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790315" y="4370553"/>
            <a:ext cx="2512695" cy="540385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Autofit/>
          </a:bodyPr>
          <a:lstStyle/>
          <a:p>
            <a:pPr algn="l"/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实验内容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497330" y="1417955"/>
            <a:ext cx="9417050" cy="339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理解基本数据的输入输出过程，掌握常用格式化显示与交互方法。</a:t>
            </a: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掌握文本文件的读写流程，理解基于文件的简单数据存储与更新。</a:t>
            </a: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综合运用结构体与数组，实现学生成绩信息的读取、展示与维护。</a:t>
            </a:r>
          </a:p>
          <a:p>
            <a:pPr marL="342900" lvl="0" indent="-342900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630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字符输入输出（快速回顾）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5D8B26-E83F-3080-BB5B-D8018D5789A6}"/>
              </a:ext>
            </a:extLst>
          </p:cNvPr>
          <p:cNvSpPr>
            <a:spLocks noGrp="1"/>
          </p:cNvSpPr>
          <p:nvPr/>
        </p:nvSpPr>
        <p:spPr>
          <a:xfrm>
            <a:off x="6648932" y="1329855"/>
            <a:ext cx="5295364" cy="49385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  <a:defRPr sz="1800"/>
            </a:pPr>
            <a:endParaRPr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sz="1700" dirty="0"/>
              <a:t>#include &lt;</a:t>
            </a:r>
            <a:r>
              <a:rPr sz="1700" dirty="0" err="1"/>
              <a:t>stdio.h</a:t>
            </a:r>
            <a:r>
              <a:rPr sz="1700" dirty="0"/>
              <a:t>&gt;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endParaRPr sz="1700" dirty="0"/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sz="1700" dirty="0"/>
              <a:t>int main(void) {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sz="1700" dirty="0"/>
              <a:t>    int </a:t>
            </a:r>
            <a:r>
              <a:rPr sz="1700" dirty="0" err="1"/>
              <a:t>ch</a:t>
            </a:r>
            <a:r>
              <a:rPr sz="1700" dirty="0"/>
              <a:t>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endParaRPr sz="1700" dirty="0"/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sz="1700" dirty="0"/>
              <a:t>    </a:t>
            </a:r>
            <a:r>
              <a:rPr sz="1700" dirty="0" err="1"/>
              <a:t>printf</a:t>
            </a:r>
            <a:r>
              <a:rPr sz="1700" dirty="0"/>
              <a:t>("</a:t>
            </a:r>
            <a:r>
              <a:rPr sz="1700" dirty="0" err="1"/>
              <a:t>请输入一个字符</a:t>
            </a:r>
            <a:r>
              <a:rPr sz="1700" dirty="0"/>
              <a:t>：");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sz="1700" dirty="0"/>
              <a:t>    </a:t>
            </a:r>
            <a:r>
              <a:rPr sz="1700" dirty="0" err="1"/>
              <a:t>ch</a:t>
            </a:r>
            <a:r>
              <a:rPr sz="1700" dirty="0"/>
              <a:t> = </a:t>
            </a:r>
            <a:r>
              <a:rPr sz="1700" b="1" dirty="0" err="1">
                <a:solidFill>
                  <a:srgbClr val="FF0000"/>
                </a:solidFill>
              </a:rPr>
              <a:t>getchar</a:t>
            </a:r>
            <a:r>
              <a:rPr sz="1700" b="1" dirty="0">
                <a:solidFill>
                  <a:srgbClr val="FF0000"/>
                </a:solidFill>
              </a:rPr>
              <a:t>()</a:t>
            </a:r>
            <a:r>
              <a:rPr sz="1700" dirty="0"/>
              <a:t>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endParaRPr sz="1700" dirty="0"/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sz="1700" dirty="0"/>
              <a:t>    </a:t>
            </a:r>
            <a:r>
              <a:rPr sz="1700" dirty="0" err="1"/>
              <a:t>printf</a:t>
            </a:r>
            <a:r>
              <a:rPr sz="1700" dirty="0"/>
              <a:t>("</a:t>
            </a:r>
            <a:r>
              <a:rPr sz="1700" dirty="0" err="1"/>
              <a:t>您输入的是</a:t>
            </a:r>
            <a:r>
              <a:rPr sz="1700" dirty="0"/>
              <a:t>：");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sz="1700" dirty="0"/>
              <a:t>    </a:t>
            </a:r>
            <a:r>
              <a:rPr sz="1700" b="1" dirty="0" err="1">
                <a:solidFill>
                  <a:srgbClr val="FF0000"/>
                </a:solidFill>
              </a:rPr>
              <a:t>putchar</a:t>
            </a:r>
            <a:r>
              <a:rPr sz="1700" b="1" dirty="0">
                <a:solidFill>
                  <a:srgbClr val="FF0000"/>
                </a:solidFill>
              </a:rPr>
              <a:t>(</a:t>
            </a:r>
            <a:r>
              <a:rPr sz="1700" b="1" dirty="0" err="1">
                <a:solidFill>
                  <a:srgbClr val="FF0000"/>
                </a:solidFill>
              </a:rPr>
              <a:t>ch</a:t>
            </a:r>
            <a:r>
              <a:rPr sz="1700" b="1" dirty="0">
                <a:solidFill>
                  <a:srgbClr val="FF0000"/>
                </a:solidFill>
              </a:rPr>
              <a:t>)</a:t>
            </a:r>
            <a:r>
              <a:rPr sz="1700" dirty="0"/>
              <a:t>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sz="1700" dirty="0"/>
              <a:t>    </a:t>
            </a:r>
            <a:r>
              <a:rPr sz="1700" dirty="0" err="1"/>
              <a:t>printf</a:t>
            </a:r>
            <a:r>
              <a:rPr sz="1700" dirty="0"/>
              <a:t>("</a:t>
            </a:r>
            <a:r>
              <a:rPr sz="1700" b="1" dirty="0">
                <a:solidFill>
                  <a:srgbClr val="FF0000"/>
                </a:solidFill>
              </a:rPr>
              <a:t>\</a:t>
            </a:r>
            <a:r>
              <a:rPr sz="1700" b="1" dirty="0" err="1">
                <a:solidFill>
                  <a:srgbClr val="FF0000"/>
                </a:solidFill>
              </a:rPr>
              <a:t>n</a:t>
            </a:r>
            <a:r>
              <a:rPr sz="1700" dirty="0" err="1"/>
              <a:t>ASCII</a:t>
            </a:r>
            <a:r>
              <a:rPr sz="1700" dirty="0"/>
              <a:t> </a:t>
            </a:r>
            <a:r>
              <a:rPr sz="1700" dirty="0" err="1"/>
              <a:t>码为</a:t>
            </a:r>
            <a:r>
              <a:rPr sz="1700" dirty="0"/>
              <a:t>：%d</a:t>
            </a:r>
            <a:r>
              <a:rPr sz="1700" b="1" dirty="0">
                <a:solidFill>
                  <a:srgbClr val="FF0000"/>
                </a:solidFill>
              </a:rPr>
              <a:t>\n</a:t>
            </a:r>
            <a:r>
              <a:rPr sz="1700" dirty="0"/>
              <a:t>", </a:t>
            </a:r>
            <a:r>
              <a:rPr sz="1700" dirty="0" err="1"/>
              <a:t>ch</a:t>
            </a:r>
            <a:r>
              <a:rPr sz="1700" dirty="0"/>
              <a:t>);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endParaRPr sz="1700" dirty="0"/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sz="1700" dirty="0"/>
              <a:t>    return 0;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sz="170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FD463-64FE-9BAC-F70C-2770EC6D8B3A}"/>
              </a:ext>
            </a:extLst>
          </p:cNvPr>
          <p:cNvSpPr txBox="1"/>
          <p:nvPr/>
        </p:nvSpPr>
        <p:spPr>
          <a:xfrm>
            <a:off x="809222" y="1329855"/>
            <a:ext cx="343876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sz="2400" dirty="0"/>
              <a:t>🔤 </a:t>
            </a:r>
            <a:r>
              <a:rPr sz="2400" dirty="0" err="1"/>
              <a:t>输入的本质：字符流</a:t>
            </a:r>
            <a:endParaRPr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96331D-EFF7-F499-47FA-ECD04B2DC06B}"/>
              </a:ext>
            </a:extLst>
          </p:cNvPr>
          <p:cNvSpPr txBox="1"/>
          <p:nvPr/>
        </p:nvSpPr>
        <p:spPr>
          <a:xfrm>
            <a:off x="992102" y="1591673"/>
            <a:ext cx="554392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/>
            </a:pPr>
            <a:r>
              <a:rPr sz="2000" dirty="0"/>
              <a:t>• </a:t>
            </a:r>
            <a:r>
              <a:rPr sz="2000" dirty="0" err="1"/>
              <a:t>程序读到的所有内容都是由“字符”组成（包括空格、回车等</a:t>
            </a:r>
            <a:r>
              <a:rPr sz="2000" dirty="0"/>
              <a:t>）</a:t>
            </a:r>
          </a:p>
          <a:p>
            <a:pPr>
              <a:defRPr sz="2000"/>
            </a:pPr>
            <a:r>
              <a:rPr sz="2000" dirty="0"/>
              <a:t>• </a:t>
            </a:r>
            <a:r>
              <a:rPr sz="2000" dirty="0" err="1"/>
              <a:t>字符在内存中用</a:t>
            </a:r>
            <a:r>
              <a:rPr sz="2000" dirty="0"/>
              <a:t> ASCII </a:t>
            </a:r>
            <a:r>
              <a:rPr sz="2000" dirty="0" err="1"/>
              <a:t>编码，如</a:t>
            </a:r>
            <a:r>
              <a:rPr sz="2000" dirty="0"/>
              <a:t> 'A’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sz="2000" dirty="0"/>
              <a:t> 65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8F54F3B-79F5-5555-3A5D-6BCC4321886F}"/>
              </a:ext>
            </a:extLst>
          </p:cNvPr>
          <p:cNvSpPr txBox="1"/>
          <p:nvPr/>
        </p:nvSpPr>
        <p:spPr>
          <a:xfrm>
            <a:off x="809222" y="3014798"/>
            <a:ext cx="313098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sz="2400" dirty="0"/>
              <a:t>⌨️ </a:t>
            </a:r>
            <a:r>
              <a:rPr sz="2400" dirty="0" err="1"/>
              <a:t>基本字符输入输出</a:t>
            </a:r>
            <a:endParaRPr sz="2400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A2ACB7D0-FEFC-D260-D7EA-9AE8F2746BA9}"/>
              </a:ext>
            </a:extLst>
          </p:cNvPr>
          <p:cNvSpPr txBox="1"/>
          <p:nvPr/>
        </p:nvSpPr>
        <p:spPr>
          <a:xfrm>
            <a:off x="992102" y="3579112"/>
            <a:ext cx="56568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sz="2000" dirty="0"/>
              <a:t>• </a:t>
            </a:r>
            <a:r>
              <a:rPr sz="2000" dirty="0" err="1"/>
              <a:t>getchar</a:t>
            </a:r>
            <a:r>
              <a:rPr sz="2000" dirty="0"/>
              <a:t>()：</a:t>
            </a:r>
            <a:r>
              <a:rPr sz="2000" dirty="0" err="1"/>
              <a:t>从标准输入读取一个字符</a:t>
            </a:r>
            <a:endParaRPr sz="2000" dirty="0"/>
          </a:p>
          <a:p>
            <a:pPr>
              <a:defRPr sz="2000"/>
            </a:pPr>
            <a:r>
              <a:rPr sz="2000" dirty="0"/>
              <a:t>• </a:t>
            </a:r>
            <a:r>
              <a:rPr sz="2000" dirty="0" err="1"/>
              <a:t>putchar</a:t>
            </a:r>
            <a:r>
              <a:rPr sz="2000" dirty="0"/>
              <a:t>()：</a:t>
            </a:r>
            <a:r>
              <a:rPr sz="2000" dirty="0" err="1"/>
              <a:t>向屏幕输出一个字符</a:t>
            </a:r>
            <a:endParaRPr sz="2000" dirty="0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36996B3F-26F4-A466-E2C8-FEE12C7CBD65}"/>
              </a:ext>
            </a:extLst>
          </p:cNvPr>
          <p:cNvSpPr txBox="1"/>
          <p:nvPr/>
        </p:nvSpPr>
        <p:spPr>
          <a:xfrm>
            <a:off x="809222" y="4530255"/>
            <a:ext cx="2515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sz="2400" dirty="0"/>
              <a:t>🔁 </a:t>
            </a:r>
            <a:r>
              <a:rPr sz="2400" dirty="0" err="1"/>
              <a:t>常用转义字符</a:t>
            </a:r>
            <a:endParaRPr sz="2400" dirty="0"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FBA14984-C816-BEA6-023E-399328E75C00}"/>
              </a:ext>
            </a:extLst>
          </p:cNvPr>
          <p:cNvSpPr txBox="1"/>
          <p:nvPr/>
        </p:nvSpPr>
        <p:spPr>
          <a:xfrm>
            <a:off x="996612" y="4816391"/>
            <a:ext cx="469231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000" dirty="0"/>
          </a:p>
          <a:p>
            <a:pPr>
              <a:defRPr sz="2000"/>
            </a:pPr>
            <a:r>
              <a:rPr sz="2000" dirty="0"/>
              <a:t>• \n —— </a:t>
            </a:r>
            <a:r>
              <a:rPr sz="2000" dirty="0" err="1"/>
              <a:t>换行</a:t>
            </a:r>
            <a:r>
              <a:rPr sz="2000" dirty="0"/>
              <a:t>     </a:t>
            </a:r>
            <a:r>
              <a:rPr lang="en-US" sz="2000" dirty="0"/>
              <a:t>		</a:t>
            </a:r>
            <a:r>
              <a:rPr sz="2000" dirty="0"/>
              <a:t>• \t —— </a:t>
            </a:r>
            <a:r>
              <a:rPr sz="2000" dirty="0" err="1"/>
              <a:t>制表</a:t>
            </a:r>
            <a:endParaRPr sz="2000" dirty="0"/>
          </a:p>
          <a:p>
            <a:pPr>
              <a:defRPr sz="2000"/>
            </a:pPr>
            <a:r>
              <a:rPr sz="2000" dirty="0"/>
              <a:t>• \\ —— </a:t>
            </a:r>
            <a:r>
              <a:rPr sz="2000" dirty="0" err="1"/>
              <a:t>反斜杠</a:t>
            </a:r>
            <a:r>
              <a:rPr sz="2000" dirty="0"/>
              <a:t>     </a:t>
            </a:r>
            <a:r>
              <a:rPr lang="en-US" sz="2000" dirty="0"/>
              <a:t>	</a:t>
            </a:r>
            <a:r>
              <a:rPr sz="2000" dirty="0"/>
              <a:t>• \" —— </a:t>
            </a:r>
            <a:r>
              <a:rPr sz="2000" dirty="0" err="1"/>
              <a:t>双引号</a:t>
            </a:r>
            <a:endParaRPr sz="2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1C88E1-AA3B-B816-09F2-4D350C1FE3AB}"/>
              </a:ext>
            </a:extLst>
          </p:cNvPr>
          <p:cNvSpPr/>
          <p:nvPr/>
        </p:nvSpPr>
        <p:spPr>
          <a:xfrm>
            <a:off x="6667045" y="1718797"/>
            <a:ext cx="5155414" cy="468200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18835-6282-17C9-E5E1-E6C14BE72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>
            <a:extLst>
              <a:ext uri="{FF2B5EF4-FFF2-40B4-BE49-F238E27FC236}">
                <a16:creationId xmlns:a16="http://schemas.microsoft.com/office/drawing/2014/main" id="{E8D80371-3477-7169-3FB1-DFF175E416D1}"/>
              </a:ext>
            </a:extLst>
          </p:cNvPr>
          <p:cNvSpPr txBox="1"/>
          <p:nvPr/>
        </p:nvSpPr>
        <p:spPr>
          <a:xfrm>
            <a:off x="1587600" y="264321"/>
            <a:ext cx="630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格式化输入输出（快速回顾）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D53044A-BEF0-FC92-DDC4-5352B09B83B5}"/>
              </a:ext>
            </a:extLst>
          </p:cNvPr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93FA3F-2346-671D-72D3-D3BE4C1C878D}"/>
              </a:ext>
            </a:extLst>
          </p:cNvPr>
          <p:cNvSpPr>
            <a:spLocks noGrp="1"/>
          </p:cNvSpPr>
          <p:nvPr/>
        </p:nvSpPr>
        <p:spPr>
          <a:xfrm>
            <a:off x="6536027" y="1271385"/>
            <a:ext cx="5295364" cy="543440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#include &lt;</a:t>
            </a:r>
            <a:r>
              <a:rPr lang="en-US" altLang="zh-CN" sz="1900" dirty="0" err="1"/>
              <a:t>stdio.h</a:t>
            </a:r>
            <a:r>
              <a:rPr lang="en-US" altLang="zh-CN" sz="1900" dirty="0"/>
              <a:t>&gt;</a:t>
            </a:r>
          </a:p>
          <a:p>
            <a:pPr marL="57150" indent="0">
              <a:buNone/>
              <a:defRPr sz="1400">
                <a:latin typeface="Consolas"/>
              </a:defRPr>
            </a:pPr>
            <a:endParaRPr lang="en-US" altLang="zh-CN" sz="1900" dirty="0"/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int main(void) {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char  name[20];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int   age;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float score;</a:t>
            </a:r>
          </a:p>
          <a:p>
            <a:pPr marL="57150" indent="0">
              <a:buNone/>
              <a:defRPr sz="1400">
                <a:latin typeface="Consolas"/>
              </a:defRPr>
            </a:pPr>
            <a:endParaRPr lang="en-US" altLang="zh-CN" sz="1900" dirty="0"/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</a:t>
            </a:r>
            <a:r>
              <a:rPr lang="en-US" altLang="zh-CN" sz="1900" dirty="0" err="1"/>
              <a:t>printf</a:t>
            </a:r>
            <a:r>
              <a:rPr lang="en-US" altLang="zh-CN" sz="1900" dirty="0"/>
              <a:t>("</a:t>
            </a:r>
            <a:r>
              <a:rPr lang="zh-CN" altLang="en-US" sz="1900" dirty="0"/>
              <a:t>请输入 姓名 年龄 成绩：</a:t>
            </a:r>
            <a:r>
              <a:rPr lang="en-US" altLang="zh-CN" sz="1900" dirty="0"/>
              <a:t>");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</a:t>
            </a:r>
            <a:r>
              <a:rPr lang="en-US" altLang="zh-CN" sz="1900" dirty="0" err="1"/>
              <a:t>scanf</a:t>
            </a:r>
            <a:r>
              <a:rPr lang="en-US" altLang="zh-CN" sz="1900" dirty="0"/>
              <a:t>("%19s %d %f", name, &amp;age, &amp;score);</a:t>
            </a:r>
          </a:p>
          <a:p>
            <a:pPr marL="57150" indent="0">
              <a:buNone/>
              <a:defRPr sz="1400">
                <a:latin typeface="Consolas"/>
              </a:defRPr>
            </a:pPr>
            <a:endParaRPr lang="en-US" altLang="zh-CN" sz="1900" dirty="0"/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</a:t>
            </a:r>
            <a:r>
              <a:rPr lang="en-US" altLang="zh-CN" sz="1900" dirty="0" err="1"/>
              <a:t>printf</a:t>
            </a:r>
            <a:r>
              <a:rPr lang="en-US" altLang="zh-CN" sz="1900" dirty="0"/>
              <a:t>("\n%-19s%4s%8s\n", "</a:t>
            </a:r>
            <a:r>
              <a:rPr lang="zh-CN" altLang="en-US" sz="1900" dirty="0"/>
              <a:t>姓名</a:t>
            </a:r>
            <a:r>
              <a:rPr lang="en-US" altLang="zh-CN" sz="1900" dirty="0"/>
              <a:t>", "</a:t>
            </a:r>
            <a:r>
              <a:rPr lang="zh-CN" altLang="en-US" sz="1900" dirty="0"/>
              <a:t>年龄</a:t>
            </a:r>
            <a:r>
              <a:rPr lang="en-US" altLang="zh-CN" sz="1900" dirty="0"/>
              <a:t>", "</a:t>
            </a:r>
            <a:r>
              <a:rPr lang="zh-CN" altLang="en-US" sz="1900" dirty="0"/>
              <a:t>成绩</a:t>
            </a:r>
            <a:r>
              <a:rPr lang="en-US" altLang="zh-CN" sz="1900" dirty="0"/>
              <a:t>");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</a:t>
            </a:r>
            <a:r>
              <a:rPr lang="en-US" altLang="zh-CN" sz="1900" dirty="0" err="1"/>
              <a:t>printf</a:t>
            </a:r>
            <a:r>
              <a:rPr lang="en-US" altLang="zh-CN" sz="1900" dirty="0"/>
              <a:t>("----------------------------\n");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</a:t>
            </a:r>
            <a:r>
              <a:rPr lang="en-US" altLang="zh-CN" sz="1900" dirty="0" err="1"/>
              <a:t>printf</a:t>
            </a:r>
            <a:r>
              <a:rPr lang="en-US" altLang="zh-CN" sz="1900" dirty="0"/>
              <a:t>("%-19s%4d%8.1f\n", name, age, score);</a:t>
            </a:r>
          </a:p>
          <a:p>
            <a:pPr marL="57150" indent="0">
              <a:buNone/>
              <a:defRPr sz="1400">
                <a:latin typeface="Consolas"/>
              </a:defRPr>
            </a:pPr>
            <a:endParaRPr lang="en-US" altLang="zh-CN" sz="1900" dirty="0"/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return 0;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}</a:t>
            </a:r>
            <a:endParaRPr sz="1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B7D12D-8719-9561-840E-1D9B8C225FAE}"/>
              </a:ext>
            </a:extLst>
          </p:cNvPr>
          <p:cNvSpPr txBox="1"/>
          <p:nvPr/>
        </p:nvSpPr>
        <p:spPr>
          <a:xfrm>
            <a:off x="762859" y="1457743"/>
            <a:ext cx="323518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600" b="1"/>
            </a:pPr>
            <a:r>
              <a:rPr sz="2400" dirty="0"/>
              <a:t>🖨️ </a:t>
            </a:r>
            <a:r>
              <a:rPr sz="2400" dirty="0" err="1"/>
              <a:t>printf：排版与输出</a:t>
            </a:r>
            <a:endParaRPr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8F9C78-94DA-EA9A-4CF4-9978A0E94E33}"/>
              </a:ext>
            </a:extLst>
          </p:cNvPr>
          <p:cNvSpPr txBox="1"/>
          <p:nvPr/>
        </p:nvSpPr>
        <p:spPr>
          <a:xfrm>
            <a:off x="945739" y="1823503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使用格式控制输出变量，如</a:t>
            </a:r>
            <a:r>
              <a:rPr dirty="0"/>
              <a:t> %d、%f、%c、%s；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可控制宽度、精度实现表格对齐</a:t>
            </a:r>
            <a:r>
              <a:rPr dirty="0"/>
              <a:t>；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示例</a:t>
            </a:r>
            <a:r>
              <a:rPr dirty="0"/>
              <a:t>：%-10s </a:t>
            </a:r>
            <a:r>
              <a:rPr dirty="0" err="1"/>
              <a:t>左对齐</a:t>
            </a:r>
            <a:r>
              <a:rPr dirty="0"/>
              <a:t>，%8.2f </a:t>
            </a:r>
            <a:r>
              <a:rPr dirty="0" err="1"/>
              <a:t>宽度</a:t>
            </a:r>
            <a:r>
              <a:rPr dirty="0"/>
              <a:t> 8，小数 2 位。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AAD1FB5E-5B4F-9F94-F284-2C04BFE635B7}"/>
              </a:ext>
            </a:extLst>
          </p:cNvPr>
          <p:cNvSpPr txBox="1"/>
          <p:nvPr/>
        </p:nvSpPr>
        <p:spPr>
          <a:xfrm>
            <a:off x="762859" y="3241467"/>
            <a:ext cx="383791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600" b="1"/>
            </a:pPr>
            <a:r>
              <a:rPr dirty="0"/>
              <a:t>📝 </a:t>
            </a:r>
            <a:r>
              <a:rPr sz="2400" dirty="0" err="1"/>
              <a:t>scanf：格式解析与输入</a:t>
            </a:r>
            <a:endParaRPr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BFB7BA8E-9A99-71F8-1AF4-AC5DA9E56CDA}"/>
              </a:ext>
            </a:extLst>
          </p:cNvPr>
          <p:cNvSpPr txBox="1"/>
          <p:nvPr/>
        </p:nvSpPr>
        <p:spPr>
          <a:xfrm>
            <a:off x="945739" y="3652303"/>
            <a:ext cx="5243743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从字符流中解析数据，必须传入变量地址</a:t>
            </a:r>
            <a:r>
              <a:rPr dirty="0"/>
              <a:t>；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读整数会跳过空白，但</a:t>
            </a:r>
            <a:r>
              <a:rPr dirty="0"/>
              <a:t> %c </a:t>
            </a:r>
            <a:r>
              <a:rPr dirty="0" err="1"/>
              <a:t>不会跳过空白</a:t>
            </a:r>
            <a:r>
              <a:rPr dirty="0"/>
              <a:t>；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表达式输入用</a:t>
            </a:r>
            <a:r>
              <a:rPr dirty="0"/>
              <a:t> %d%*</a:t>
            </a:r>
            <a:r>
              <a:rPr dirty="0" err="1"/>
              <a:t>c%d</a:t>
            </a:r>
            <a:r>
              <a:rPr dirty="0"/>
              <a:t> </a:t>
            </a:r>
            <a:r>
              <a:rPr dirty="0" err="1"/>
              <a:t>解析</a:t>
            </a:r>
            <a:r>
              <a:rPr dirty="0"/>
              <a:t> 12</a:t>
            </a:r>
            <a:r>
              <a:rPr lang="en-US" dirty="0"/>
              <a:t> </a:t>
            </a:r>
            <a:r>
              <a:rPr dirty="0"/>
              <a:t>+</a:t>
            </a:r>
            <a:r>
              <a:rPr lang="en-US" dirty="0"/>
              <a:t> </a:t>
            </a:r>
            <a:r>
              <a:rPr dirty="0"/>
              <a:t>34。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82E990A-ED2F-1A67-1E95-7FE07DEB6FDA}"/>
              </a:ext>
            </a:extLst>
          </p:cNvPr>
          <p:cNvCxnSpPr>
            <a:cxnSpLocks/>
          </p:cNvCxnSpPr>
          <p:nvPr/>
        </p:nvCxnSpPr>
        <p:spPr>
          <a:xfrm>
            <a:off x="7791718" y="4085750"/>
            <a:ext cx="65038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A2405EE-C496-07CC-82EB-22417D4112BC}"/>
              </a:ext>
            </a:extLst>
          </p:cNvPr>
          <p:cNvCxnSpPr>
            <a:cxnSpLocks/>
          </p:cNvCxnSpPr>
          <p:nvPr/>
        </p:nvCxnSpPr>
        <p:spPr>
          <a:xfrm flipH="1">
            <a:off x="5930721" y="4085750"/>
            <a:ext cx="1860997" cy="9640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B978508-0014-BA9C-C0AD-E1E643D3D21D}"/>
              </a:ext>
            </a:extLst>
          </p:cNvPr>
          <p:cNvSpPr txBox="1"/>
          <p:nvPr/>
        </p:nvSpPr>
        <p:spPr>
          <a:xfrm>
            <a:off x="2827770" y="5061439"/>
            <a:ext cx="37082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安全写法：最多读取 </a:t>
            </a:r>
            <a:r>
              <a:rPr lang="en-US" altLang="zh-CN" sz="1600" dirty="0">
                <a:solidFill>
                  <a:srgbClr val="FF0000"/>
                </a:solidFill>
              </a:rPr>
              <a:t>19 </a:t>
            </a:r>
            <a:r>
              <a:rPr lang="zh-CN" altLang="en-US" sz="1600" dirty="0">
                <a:solidFill>
                  <a:srgbClr val="FF0000"/>
                </a:solidFill>
              </a:rPr>
              <a:t>个非空白字符到 </a:t>
            </a:r>
            <a:r>
              <a:rPr lang="en-US" altLang="zh-CN" sz="1600" dirty="0">
                <a:solidFill>
                  <a:srgbClr val="FF0000"/>
                </a:solidFill>
              </a:rPr>
              <a:t>name </a:t>
            </a:r>
            <a:r>
              <a:rPr lang="zh-CN" altLang="en-US" sz="1600" dirty="0">
                <a:solidFill>
                  <a:srgbClr val="FF0000"/>
                </a:solidFill>
              </a:rPr>
              <a:t>数组中，并自动在末尾补上 </a:t>
            </a:r>
            <a:r>
              <a:rPr lang="en-US" altLang="zh-CN" sz="1600" dirty="0">
                <a:solidFill>
                  <a:srgbClr val="FF0000"/>
                </a:solidFill>
              </a:rPr>
              <a:t>'\0'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20DF4D-7E00-AA3B-A3B9-63F9528E5DE3}"/>
              </a:ext>
            </a:extLst>
          </p:cNvPr>
          <p:cNvSpPr/>
          <p:nvPr/>
        </p:nvSpPr>
        <p:spPr>
          <a:xfrm>
            <a:off x="6536027" y="1647585"/>
            <a:ext cx="5399252" cy="48047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78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149CB-4492-6274-A11D-A940286F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>
            <a:extLst>
              <a:ext uri="{FF2B5EF4-FFF2-40B4-BE49-F238E27FC236}">
                <a16:creationId xmlns:a16="http://schemas.microsoft.com/office/drawing/2014/main" id="{06FED176-AC08-90C0-50B1-6CA46C38AF21}"/>
              </a:ext>
            </a:extLst>
          </p:cNvPr>
          <p:cNvSpPr txBox="1"/>
          <p:nvPr/>
        </p:nvSpPr>
        <p:spPr>
          <a:xfrm>
            <a:off x="1587600" y="264321"/>
            <a:ext cx="630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格式化输入输出（快速回顾）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B90F060-F50B-18B7-CA2E-3FC521356D8B}"/>
              </a:ext>
            </a:extLst>
          </p:cNvPr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15C986C-4181-938F-522F-D359321FB7B5}"/>
              </a:ext>
            </a:extLst>
          </p:cNvPr>
          <p:cNvSpPr>
            <a:spLocks noGrp="1"/>
          </p:cNvSpPr>
          <p:nvPr/>
        </p:nvSpPr>
        <p:spPr>
          <a:xfrm>
            <a:off x="6536027" y="1271385"/>
            <a:ext cx="5295364" cy="543440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#include &lt;</a:t>
            </a:r>
            <a:r>
              <a:rPr lang="en-US" altLang="zh-CN" sz="1900" dirty="0" err="1"/>
              <a:t>stdio.h</a:t>
            </a:r>
            <a:r>
              <a:rPr lang="en-US" altLang="zh-CN" sz="1900" dirty="0"/>
              <a:t>&gt;</a:t>
            </a:r>
          </a:p>
          <a:p>
            <a:pPr marL="57150" indent="0">
              <a:buNone/>
              <a:defRPr sz="1400">
                <a:latin typeface="Consolas"/>
              </a:defRPr>
            </a:pPr>
            <a:endParaRPr lang="en-US" altLang="zh-CN" sz="1900" dirty="0"/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int main(void) {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char  name[20];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int   age;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float score;</a:t>
            </a:r>
          </a:p>
          <a:p>
            <a:pPr marL="57150" indent="0">
              <a:buNone/>
              <a:defRPr sz="1400">
                <a:latin typeface="Consolas"/>
              </a:defRPr>
            </a:pPr>
            <a:endParaRPr lang="en-US" altLang="zh-CN" sz="1900" dirty="0"/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</a:t>
            </a:r>
            <a:r>
              <a:rPr lang="en-US" altLang="zh-CN" sz="1900" dirty="0" err="1"/>
              <a:t>printf</a:t>
            </a:r>
            <a:r>
              <a:rPr lang="en-US" altLang="zh-CN" sz="1900" dirty="0"/>
              <a:t>("</a:t>
            </a:r>
            <a:r>
              <a:rPr lang="zh-CN" altLang="en-US" sz="1900" dirty="0"/>
              <a:t>请输入 姓名 年龄 成绩：</a:t>
            </a:r>
            <a:r>
              <a:rPr lang="en-US" altLang="zh-CN" sz="1900" dirty="0"/>
              <a:t>");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</a:t>
            </a:r>
            <a:r>
              <a:rPr lang="en-US" altLang="zh-CN" sz="1900" dirty="0" err="1"/>
              <a:t>scanf</a:t>
            </a:r>
            <a:r>
              <a:rPr lang="en-US" altLang="zh-CN" sz="1900" dirty="0"/>
              <a:t>("%19s %d %f", name, &amp;age, &amp;score);</a:t>
            </a:r>
          </a:p>
          <a:p>
            <a:pPr marL="57150" indent="0">
              <a:buNone/>
              <a:defRPr sz="1400">
                <a:latin typeface="Consolas"/>
              </a:defRPr>
            </a:pPr>
            <a:endParaRPr lang="en-US" altLang="zh-CN" sz="1900" dirty="0"/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</a:t>
            </a:r>
            <a:r>
              <a:rPr lang="en-US" altLang="zh-CN" sz="1900" dirty="0" err="1"/>
              <a:t>printf</a:t>
            </a:r>
            <a:r>
              <a:rPr lang="en-US" altLang="zh-CN" sz="1900" dirty="0"/>
              <a:t>("\n%-19s%4s%8s\n", "</a:t>
            </a:r>
            <a:r>
              <a:rPr lang="zh-CN" altLang="en-US" sz="1900" dirty="0"/>
              <a:t>姓名</a:t>
            </a:r>
            <a:r>
              <a:rPr lang="en-US" altLang="zh-CN" sz="1900" dirty="0"/>
              <a:t>", "</a:t>
            </a:r>
            <a:r>
              <a:rPr lang="zh-CN" altLang="en-US" sz="1900" dirty="0"/>
              <a:t>年龄</a:t>
            </a:r>
            <a:r>
              <a:rPr lang="en-US" altLang="zh-CN" sz="1900" dirty="0"/>
              <a:t>", "</a:t>
            </a:r>
            <a:r>
              <a:rPr lang="zh-CN" altLang="en-US" sz="1900" dirty="0"/>
              <a:t>成绩</a:t>
            </a:r>
            <a:r>
              <a:rPr lang="en-US" altLang="zh-CN" sz="1900" dirty="0"/>
              <a:t>");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</a:t>
            </a:r>
            <a:r>
              <a:rPr lang="en-US" altLang="zh-CN" sz="1900" dirty="0" err="1"/>
              <a:t>printf</a:t>
            </a:r>
            <a:r>
              <a:rPr lang="en-US" altLang="zh-CN" sz="1900" dirty="0"/>
              <a:t>("----------------------------\n");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</a:t>
            </a:r>
            <a:r>
              <a:rPr lang="en-US" altLang="zh-CN" sz="1900" dirty="0" err="1"/>
              <a:t>printf</a:t>
            </a:r>
            <a:r>
              <a:rPr lang="en-US" altLang="zh-CN" sz="1900" dirty="0"/>
              <a:t>("%-19s%4d%8.1f\n", name, age, score);</a:t>
            </a:r>
          </a:p>
          <a:p>
            <a:pPr marL="57150" indent="0">
              <a:buNone/>
              <a:defRPr sz="1400">
                <a:latin typeface="Consolas"/>
              </a:defRPr>
            </a:pPr>
            <a:endParaRPr lang="en-US" altLang="zh-CN" sz="1900" dirty="0"/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return 0;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}</a:t>
            </a:r>
            <a:endParaRPr sz="1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5788B1-93C2-A00A-27E7-427AF6AD5A03}"/>
              </a:ext>
            </a:extLst>
          </p:cNvPr>
          <p:cNvSpPr txBox="1"/>
          <p:nvPr/>
        </p:nvSpPr>
        <p:spPr>
          <a:xfrm>
            <a:off x="762859" y="1457743"/>
            <a:ext cx="323518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600" b="1"/>
            </a:pPr>
            <a:r>
              <a:rPr sz="2400" dirty="0"/>
              <a:t>🖨️ </a:t>
            </a:r>
            <a:r>
              <a:rPr sz="2400" dirty="0" err="1"/>
              <a:t>printf：排版与输出</a:t>
            </a:r>
            <a:endParaRPr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9297A5-8969-6D5C-4A0B-9551237820A7}"/>
              </a:ext>
            </a:extLst>
          </p:cNvPr>
          <p:cNvSpPr txBox="1"/>
          <p:nvPr/>
        </p:nvSpPr>
        <p:spPr>
          <a:xfrm>
            <a:off x="945739" y="1823503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使用格式控制输出变量，如</a:t>
            </a:r>
            <a:r>
              <a:rPr dirty="0"/>
              <a:t> %d、%f、%c、%s；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可控制宽度、精度实现表格对齐</a:t>
            </a:r>
            <a:r>
              <a:rPr dirty="0"/>
              <a:t>；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示例</a:t>
            </a:r>
            <a:r>
              <a:rPr dirty="0"/>
              <a:t>：%-10s </a:t>
            </a:r>
            <a:r>
              <a:rPr dirty="0" err="1"/>
              <a:t>左对齐</a:t>
            </a:r>
            <a:r>
              <a:rPr dirty="0"/>
              <a:t>，%8.2f </a:t>
            </a:r>
            <a:r>
              <a:rPr dirty="0" err="1"/>
              <a:t>宽度</a:t>
            </a:r>
            <a:r>
              <a:rPr dirty="0"/>
              <a:t> 8，小数 2 位。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DB4543FC-D465-CE74-6E1A-EAA24D548048}"/>
              </a:ext>
            </a:extLst>
          </p:cNvPr>
          <p:cNvSpPr txBox="1"/>
          <p:nvPr/>
        </p:nvSpPr>
        <p:spPr>
          <a:xfrm>
            <a:off x="762859" y="3241467"/>
            <a:ext cx="383791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600" b="1"/>
            </a:pPr>
            <a:r>
              <a:rPr dirty="0"/>
              <a:t>📝 </a:t>
            </a:r>
            <a:r>
              <a:rPr sz="2400" dirty="0" err="1"/>
              <a:t>scanf：格式解析与输入</a:t>
            </a:r>
            <a:endParaRPr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56692101-6E9C-4EDA-0F87-12C99363085D}"/>
              </a:ext>
            </a:extLst>
          </p:cNvPr>
          <p:cNvSpPr txBox="1"/>
          <p:nvPr/>
        </p:nvSpPr>
        <p:spPr>
          <a:xfrm>
            <a:off x="945739" y="3652303"/>
            <a:ext cx="5243743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从字符流中解析数据，必须传入变量地址</a:t>
            </a:r>
            <a:r>
              <a:rPr dirty="0"/>
              <a:t>；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读整数会跳过空白，但</a:t>
            </a:r>
            <a:r>
              <a:rPr dirty="0"/>
              <a:t> %c </a:t>
            </a:r>
            <a:r>
              <a:rPr dirty="0" err="1"/>
              <a:t>不会跳过空白</a:t>
            </a:r>
            <a:r>
              <a:rPr dirty="0"/>
              <a:t>；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表达式输入用</a:t>
            </a:r>
            <a:r>
              <a:rPr dirty="0"/>
              <a:t> %d%*</a:t>
            </a:r>
            <a:r>
              <a:rPr dirty="0" err="1"/>
              <a:t>c%d</a:t>
            </a:r>
            <a:r>
              <a:rPr dirty="0"/>
              <a:t> </a:t>
            </a:r>
            <a:r>
              <a:rPr dirty="0" err="1"/>
              <a:t>解析</a:t>
            </a:r>
            <a:r>
              <a:rPr dirty="0"/>
              <a:t> 12</a:t>
            </a:r>
            <a:r>
              <a:rPr lang="en-US" dirty="0"/>
              <a:t> </a:t>
            </a:r>
            <a:r>
              <a:rPr dirty="0"/>
              <a:t>+</a:t>
            </a:r>
            <a:r>
              <a:rPr lang="en-US" dirty="0"/>
              <a:t> </a:t>
            </a:r>
            <a:r>
              <a:rPr dirty="0"/>
              <a:t>34。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148480-50AD-73E2-1D06-778F8ED1BB99}"/>
              </a:ext>
            </a:extLst>
          </p:cNvPr>
          <p:cNvSpPr/>
          <p:nvPr/>
        </p:nvSpPr>
        <p:spPr>
          <a:xfrm>
            <a:off x="6536027" y="1647585"/>
            <a:ext cx="5399252" cy="48047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B043A7-0FAD-B371-6281-C7C2AED2ADDE}"/>
              </a:ext>
            </a:extLst>
          </p:cNvPr>
          <p:cNvSpPr txBox="1"/>
          <p:nvPr/>
        </p:nvSpPr>
        <p:spPr>
          <a:xfrm>
            <a:off x="3726183" y="5298542"/>
            <a:ext cx="26178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左对齐，</a:t>
            </a:r>
            <a:r>
              <a:rPr lang="zh-CN" altLang="en-US" sz="1600" b="1" dirty="0">
                <a:solidFill>
                  <a:srgbClr val="FF0000"/>
                </a:solidFill>
              </a:rPr>
              <a:t>至少 </a:t>
            </a:r>
            <a:r>
              <a:rPr lang="en-US" altLang="zh-CN" sz="1600" b="1" dirty="0">
                <a:solidFill>
                  <a:srgbClr val="FF0000"/>
                </a:solidFill>
              </a:rPr>
              <a:t>19 </a:t>
            </a:r>
            <a:r>
              <a:rPr lang="zh-CN" altLang="en-US" sz="1600" b="1" dirty="0">
                <a:solidFill>
                  <a:srgbClr val="FF0000"/>
                </a:solidFill>
              </a:rPr>
              <a:t>列宽</a:t>
            </a:r>
            <a:r>
              <a:rPr lang="zh-CN" altLang="en-US" sz="1600" dirty="0">
                <a:solidFill>
                  <a:srgbClr val="FF0000"/>
                </a:solidFill>
              </a:rPr>
              <a:t>（不足补空格）</a:t>
            </a:r>
            <a:r>
              <a:rPr lang="en-US" altLang="zh-CN" sz="1600" dirty="0">
                <a:solidFill>
                  <a:srgbClr val="FF0000"/>
                </a:solidFill>
              </a:rPr>
              <a:t>,</a:t>
            </a:r>
            <a:r>
              <a:rPr lang="zh-CN" altLang="en-US" sz="1600" dirty="0">
                <a:solidFill>
                  <a:srgbClr val="FF0000"/>
                </a:solidFill>
              </a:rPr>
              <a:t>不会限制最大列数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2CBE448-DB19-7416-DA46-339112201DEC}"/>
              </a:ext>
            </a:extLst>
          </p:cNvPr>
          <p:cNvCxnSpPr>
            <a:cxnSpLocks/>
          </p:cNvCxnSpPr>
          <p:nvPr/>
        </p:nvCxnSpPr>
        <p:spPr>
          <a:xfrm>
            <a:off x="8223160" y="4600507"/>
            <a:ext cx="61174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782F14E-239A-AB0D-0CEE-049468D3C89A}"/>
              </a:ext>
            </a:extLst>
          </p:cNvPr>
          <p:cNvCxnSpPr>
            <a:cxnSpLocks/>
          </p:cNvCxnSpPr>
          <p:nvPr/>
        </p:nvCxnSpPr>
        <p:spPr>
          <a:xfrm flipH="1">
            <a:off x="6278450" y="4600507"/>
            <a:ext cx="1944710" cy="99295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36EB152A-2919-A586-11FC-B1BFADE49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09" y="5200821"/>
            <a:ext cx="3289266" cy="102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23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71799-CB55-7D62-D722-2CF11431A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>
            <a:extLst>
              <a:ext uri="{FF2B5EF4-FFF2-40B4-BE49-F238E27FC236}">
                <a16:creationId xmlns:a16="http://schemas.microsoft.com/office/drawing/2014/main" id="{D66DCFF3-8400-5C9F-C74D-7BA6031B8781}"/>
              </a:ext>
            </a:extLst>
          </p:cNvPr>
          <p:cNvSpPr txBox="1"/>
          <p:nvPr/>
        </p:nvSpPr>
        <p:spPr>
          <a:xfrm>
            <a:off x="1587600" y="264321"/>
            <a:ext cx="630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格式化输入输出（快速回顾）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F7958D7-ACEF-7D9B-531E-A380C2FEFBC6}"/>
              </a:ext>
            </a:extLst>
          </p:cNvPr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C0EEF69-5953-73F8-8BB9-044E1EA895B3}"/>
              </a:ext>
            </a:extLst>
          </p:cNvPr>
          <p:cNvSpPr>
            <a:spLocks noGrp="1"/>
          </p:cNvSpPr>
          <p:nvPr/>
        </p:nvSpPr>
        <p:spPr>
          <a:xfrm>
            <a:off x="6536027" y="1271385"/>
            <a:ext cx="5295364" cy="543440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#include &lt;</a:t>
            </a:r>
            <a:r>
              <a:rPr lang="en-US" altLang="zh-CN" sz="1900" dirty="0" err="1"/>
              <a:t>stdio.h</a:t>
            </a:r>
            <a:r>
              <a:rPr lang="en-US" altLang="zh-CN" sz="1900" dirty="0"/>
              <a:t>&gt;</a:t>
            </a:r>
          </a:p>
          <a:p>
            <a:pPr marL="57150" indent="0">
              <a:buNone/>
              <a:defRPr sz="1400">
                <a:latin typeface="Consolas"/>
              </a:defRPr>
            </a:pPr>
            <a:endParaRPr lang="en-US" altLang="zh-CN" sz="1900" dirty="0"/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int main(void) {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char  name[20];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int   age;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float score;</a:t>
            </a:r>
          </a:p>
          <a:p>
            <a:pPr marL="57150" indent="0">
              <a:buNone/>
              <a:defRPr sz="1400">
                <a:latin typeface="Consolas"/>
              </a:defRPr>
            </a:pPr>
            <a:endParaRPr lang="en-US" altLang="zh-CN" sz="1900" dirty="0"/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</a:t>
            </a:r>
            <a:r>
              <a:rPr lang="en-US" altLang="zh-CN" sz="1900" dirty="0" err="1"/>
              <a:t>printf</a:t>
            </a:r>
            <a:r>
              <a:rPr lang="en-US" altLang="zh-CN" sz="1900" dirty="0"/>
              <a:t>("</a:t>
            </a:r>
            <a:r>
              <a:rPr lang="zh-CN" altLang="en-US" sz="1900" dirty="0"/>
              <a:t>请输入 姓名 年龄 成绩：</a:t>
            </a:r>
            <a:r>
              <a:rPr lang="en-US" altLang="zh-CN" sz="1900" dirty="0"/>
              <a:t>");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</a:t>
            </a:r>
            <a:r>
              <a:rPr lang="en-US" altLang="zh-CN" sz="1900" dirty="0" err="1"/>
              <a:t>scanf</a:t>
            </a:r>
            <a:r>
              <a:rPr lang="en-US" altLang="zh-CN" sz="1900" dirty="0"/>
              <a:t>("%19s %d %f", name, &amp;age, &amp;score);</a:t>
            </a:r>
          </a:p>
          <a:p>
            <a:pPr marL="57150" indent="0">
              <a:buNone/>
              <a:defRPr sz="1400">
                <a:latin typeface="Consolas"/>
              </a:defRPr>
            </a:pPr>
            <a:endParaRPr lang="en-US" altLang="zh-CN" sz="1900" dirty="0"/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</a:t>
            </a:r>
            <a:r>
              <a:rPr lang="en-US" altLang="zh-CN" sz="1900" dirty="0" err="1"/>
              <a:t>printf</a:t>
            </a:r>
            <a:r>
              <a:rPr lang="en-US" altLang="zh-CN" sz="1900" dirty="0"/>
              <a:t>("\n%-19s%4s%8s\n", "</a:t>
            </a:r>
            <a:r>
              <a:rPr lang="zh-CN" altLang="en-US" sz="1900" dirty="0"/>
              <a:t>姓名</a:t>
            </a:r>
            <a:r>
              <a:rPr lang="en-US" altLang="zh-CN" sz="1900" dirty="0"/>
              <a:t>", "</a:t>
            </a:r>
            <a:r>
              <a:rPr lang="zh-CN" altLang="en-US" sz="1900" dirty="0"/>
              <a:t>年龄</a:t>
            </a:r>
            <a:r>
              <a:rPr lang="en-US" altLang="zh-CN" sz="1900" dirty="0"/>
              <a:t>", "</a:t>
            </a:r>
            <a:r>
              <a:rPr lang="zh-CN" altLang="en-US" sz="1900" dirty="0"/>
              <a:t>成绩</a:t>
            </a:r>
            <a:r>
              <a:rPr lang="en-US" altLang="zh-CN" sz="1900" dirty="0"/>
              <a:t>");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</a:t>
            </a:r>
            <a:r>
              <a:rPr lang="en-US" altLang="zh-CN" sz="1900" dirty="0" err="1"/>
              <a:t>printf</a:t>
            </a:r>
            <a:r>
              <a:rPr lang="en-US" altLang="zh-CN" sz="1900" dirty="0"/>
              <a:t>("----------------------------\n");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</a:t>
            </a:r>
            <a:r>
              <a:rPr lang="en-US" altLang="zh-CN" sz="1900" dirty="0" err="1"/>
              <a:t>printf</a:t>
            </a:r>
            <a:r>
              <a:rPr lang="en-US" altLang="zh-CN" sz="1900" dirty="0"/>
              <a:t>("%-19s%4d%8.1f\n", name, age, score);</a:t>
            </a:r>
          </a:p>
          <a:p>
            <a:pPr marL="57150" indent="0">
              <a:buNone/>
              <a:defRPr sz="1400">
                <a:latin typeface="Consolas"/>
              </a:defRPr>
            </a:pPr>
            <a:endParaRPr lang="en-US" altLang="zh-CN" sz="1900" dirty="0"/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    return 0;</a:t>
            </a:r>
          </a:p>
          <a:p>
            <a:pPr marL="57150" indent="0">
              <a:buNone/>
              <a:defRPr sz="1400">
                <a:latin typeface="Consolas"/>
              </a:defRPr>
            </a:pPr>
            <a:r>
              <a:rPr lang="en-US" altLang="zh-CN" sz="1900" dirty="0"/>
              <a:t>}</a:t>
            </a:r>
            <a:endParaRPr sz="1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B1BD0-AE12-1AAA-58C1-A06924749DE4}"/>
              </a:ext>
            </a:extLst>
          </p:cNvPr>
          <p:cNvSpPr txBox="1"/>
          <p:nvPr/>
        </p:nvSpPr>
        <p:spPr>
          <a:xfrm>
            <a:off x="762859" y="1457743"/>
            <a:ext cx="323518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600" b="1"/>
            </a:pPr>
            <a:r>
              <a:rPr sz="2400" dirty="0"/>
              <a:t>🖨️ </a:t>
            </a:r>
            <a:r>
              <a:rPr sz="2400" dirty="0" err="1"/>
              <a:t>printf：排版与输出</a:t>
            </a:r>
            <a:endParaRPr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D27B94-1B5F-C894-19DA-D07EF9F544BA}"/>
              </a:ext>
            </a:extLst>
          </p:cNvPr>
          <p:cNvSpPr txBox="1"/>
          <p:nvPr/>
        </p:nvSpPr>
        <p:spPr>
          <a:xfrm>
            <a:off x="945739" y="1823503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使用格式控制输出变量，如</a:t>
            </a:r>
            <a:r>
              <a:rPr dirty="0"/>
              <a:t> %d、%f、%c、%s；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可控制宽度、精度实现表格对齐</a:t>
            </a:r>
            <a:r>
              <a:rPr dirty="0"/>
              <a:t>；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示例</a:t>
            </a:r>
            <a:r>
              <a:rPr dirty="0"/>
              <a:t>：%-10s </a:t>
            </a:r>
            <a:r>
              <a:rPr dirty="0" err="1"/>
              <a:t>左对齐</a:t>
            </a:r>
            <a:r>
              <a:rPr dirty="0"/>
              <a:t>，%8.2f </a:t>
            </a:r>
            <a:r>
              <a:rPr dirty="0" err="1"/>
              <a:t>宽度</a:t>
            </a:r>
            <a:r>
              <a:rPr dirty="0"/>
              <a:t> 8，小数 2 位。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63103F11-790F-956E-904B-8254F5F0998B}"/>
              </a:ext>
            </a:extLst>
          </p:cNvPr>
          <p:cNvSpPr txBox="1"/>
          <p:nvPr/>
        </p:nvSpPr>
        <p:spPr>
          <a:xfrm>
            <a:off x="762859" y="3241467"/>
            <a:ext cx="383791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600" b="1"/>
            </a:pPr>
            <a:r>
              <a:rPr dirty="0"/>
              <a:t>📝 </a:t>
            </a:r>
            <a:r>
              <a:rPr sz="2400" dirty="0" err="1"/>
              <a:t>scanf：格式解析与输入</a:t>
            </a:r>
            <a:endParaRPr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CDC3AA7A-A733-4573-9F3B-09778383E701}"/>
              </a:ext>
            </a:extLst>
          </p:cNvPr>
          <p:cNvSpPr txBox="1"/>
          <p:nvPr/>
        </p:nvSpPr>
        <p:spPr>
          <a:xfrm>
            <a:off x="945739" y="3652303"/>
            <a:ext cx="5243743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从字符流中解析数据，必须传入变量地址</a:t>
            </a:r>
            <a:r>
              <a:rPr dirty="0"/>
              <a:t>；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读整数会跳过空白，但</a:t>
            </a:r>
            <a:r>
              <a:rPr dirty="0"/>
              <a:t> %c </a:t>
            </a:r>
            <a:r>
              <a:rPr dirty="0" err="1"/>
              <a:t>不会跳过空白</a:t>
            </a:r>
            <a:r>
              <a:rPr dirty="0"/>
              <a:t>；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表达式输入用</a:t>
            </a:r>
            <a:r>
              <a:rPr dirty="0"/>
              <a:t> %d%*</a:t>
            </a:r>
            <a:r>
              <a:rPr dirty="0" err="1"/>
              <a:t>c%d</a:t>
            </a:r>
            <a:r>
              <a:rPr dirty="0"/>
              <a:t> </a:t>
            </a:r>
            <a:r>
              <a:rPr dirty="0" err="1"/>
              <a:t>解析</a:t>
            </a:r>
            <a:r>
              <a:rPr dirty="0"/>
              <a:t> 12</a:t>
            </a:r>
            <a:r>
              <a:rPr lang="en-US" dirty="0"/>
              <a:t> </a:t>
            </a:r>
            <a:r>
              <a:rPr dirty="0"/>
              <a:t>+</a:t>
            </a:r>
            <a:r>
              <a:rPr lang="en-US" dirty="0"/>
              <a:t> </a:t>
            </a:r>
            <a:r>
              <a:rPr dirty="0"/>
              <a:t>34。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F488E3-192B-BB15-5D04-04B2B9A7C9D0}"/>
              </a:ext>
            </a:extLst>
          </p:cNvPr>
          <p:cNvSpPr/>
          <p:nvPr/>
        </p:nvSpPr>
        <p:spPr>
          <a:xfrm>
            <a:off x="6536027" y="1647585"/>
            <a:ext cx="5399252" cy="48047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7EE129F-E5C9-C291-C083-CA05DB3BB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09" y="5200821"/>
            <a:ext cx="3289266" cy="102643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B4B13987-2C79-4008-9A93-7FAF8719A030}"/>
              </a:ext>
            </a:extLst>
          </p:cNvPr>
          <p:cNvSpPr txBox="1"/>
          <p:nvPr/>
        </p:nvSpPr>
        <p:spPr>
          <a:xfrm>
            <a:off x="3870920" y="5521662"/>
            <a:ext cx="25496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按浮点数格式输出，输出时的 </a:t>
            </a:r>
            <a:r>
              <a:rPr lang="zh-CN" altLang="en-US" sz="1600" b="1" dirty="0">
                <a:solidFill>
                  <a:srgbClr val="FF0000"/>
                </a:solidFill>
              </a:rPr>
              <a:t>最小宽度 </a:t>
            </a:r>
            <a:r>
              <a:rPr lang="en-US" altLang="zh-CN" sz="1600" b="1" dirty="0">
                <a:solidFill>
                  <a:srgbClr val="FF0000"/>
                </a:solidFill>
              </a:rPr>
              <a:t>8 </a:t>
            </a:r>
            <a:r>
              <a:rPr lang="zh-CN" altLang="en-US" sz="1600" b="1" dirty="0">
                <a:solidFill>
                  <a:srgbClr val="FF0000"/>
                </a:solidFill>
              </a:rPr>
              <a:t>列，</a:t>
            </a:r>
            <a:r>
              <a:rPr lang="zh-CN" altLang="en-US" sz="1600" dirty="0">
                <a:solidFill>
                  <a:srgbClr val="FF0000"/>
                </a:solidFill>
              </a:rPr>
              <a:t>保留 </a:t>
            </a:r>
            <a:r>
              <a:rPr lang="en-US" altLang="zh-CN" sz="1600" dirty="0">
                <a:solidFill>
                  <a:srgbClr val="FF0000"/>
                </a:solidFill>
              </a:rPr>
              <a:t>1 </a:t>
            </a:r>
            <a:r>
              <a:rPr lang="zh-CN" altLang="en-US" sz="1600" dirty="0">
                <a:solidFill>
                  <a:srgbClr val="FF0000"/>
                </a:solidFill>
              </a:rPr>
              <a:t>位小数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2B02ABF-64E3-66CC-ACFC-4C72654E57A7}"/>
              </a:ext>
            </a:extLst>
          </p:cNvPr>
          <p:cNvCxnSpPr>
            <a:cxnSpLocks/>
          </p:cNvCxnSpPr>
          <p:nvPr/>
        </p:nvCxnSpPr>
        <p:spPr>
          <a:xfrm>
            <a:off x="8835058" y="5357611"/>
            <a:ext cx="65023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77B2116-A0FA-2807-94E7-BD5FA88606EF}"/>
              </a:ext>
            </a:extLst>
          </p:cNvPr>
          <p:cNvCxnSpPr>
            <a:cxnSpLocks/>
          </p:cNvCxnSpPr>
          <p:nvPr/>
        </p:nvCxnSpPr>
        <p:spPr>
          <a:xfrm flipH="1">
            <a:off x="6420594" y="5357611"/>
            <a:ext cx="2414464" cy="5795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45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0763C-FC24-654F-5F68-79B9F4F1A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AE818EB7-6479-5318-6026-C37FAC261CA6}"/>
              </a:ext>
            </a:extLst>
          </p:cNvPr>
          <p:cNvSpPr txBox="1"/>
          <p:nvPr/>
        </p:nvSpPr>
        <p:spPr>
          <a:xfrm>
            <a:off x="762859" y="1484995"/>
            <a:ext cx="189987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sz="2400" dirty="0"/>
              <a:t>📄 </a:t>
            </a:r>
            <a:r>
              <a:rPr sz="2400" dirty="0" err="1"/>
              <a:t>文本文件</a:t>
            </a:r>
            <a:endParaRPr sz="2400" dirty="0"/>
          </a:p>
        </p:txBody>
      </p:sp>
      <p:sp>
        <p:nvSpPr>
          <p:cNvPr id="5" name="淘宝网chenying0907出品 4">
            <a:extLst>
              <a:ext uri="{FF2B5EF4-FFF2-40B4-BE49-F238E27FC236}">
                <a16:creationId xmlns:a16="http://schemas.microsoft.com/office/drawing/2014/main" id="{868C6061-412D-DF7B-BAD0-B82C13F259FA}"/>
              </a:ext>
            </a:extLst>
          </p:cNvPr>
          <p:cNvSpPr txBox="1"/>
          <p:nvPr/>
        </p:nvSpPr>
        <p:spPr>
          <a:xfrm>
            <a:off x="1587600" y="264321"/>
            <a:ext cx="630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文件基础：文本 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205786F-7662-1C27-95FE-28E5A7EAF846}"/>
              </a:ext>
            </a:extLst>
          </p:cNvPr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ACEBF8-43B2-7491-2536-401CF1BD9E80}"/>
              </a:ext>
            </a:extLst>
          </p:cNvPr>
          <p:cNvSpPr>
            <a:spLocks noGrp="1"/>
          </p:cNvSpPr>
          <p:nvPr/>
        </p:nvSpPr>
        <p:spPr>
          <a:xfrm>
            <a:off x="6649791" y="1346323"/>
            <a:ext cx="5295364" cy="4938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文本文件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  <a:defRPr sz="1800"/>
            </a:pPr>
            <a:endParaRPr 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  <a:defRPr sz="1800"/>
            </a:pPr>
            <a:endParaRPr 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  <a:defRPr sz="1800"/>
            </a:pPr>
            <a:endParaRPr 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  <a:defRPr sz="1800"/>
            </a:pPr>
            <a:endParaRPr 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  <a:defRPr sz="1800"/>
            </a:pPr>
            <a:endParaRPr 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二进制文件</a:t>
            </a:r>
            <a:endParaRPr 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  <a:defRPr sz="1800"/>
            </a:pPr>
            <a:endParaRPr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347407A2-D6B4-7AA5-25AD-771679BB93EF}"/>
              </a:ext>
            </a:extLst>
          </p:cNvPr>
          <p:cNvSpPr txBox="1"/>
          <p:nvPr/>
        </p:nvSpPr>
        <p:spPr>
          <a:xfrm>
            <a:off x="762859" y="3399872"/>
            <a:ext cx="22076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sz="2400" dirty="0"/>
              <a:t>💾 </a:t>
            </a:r>
            <a:r>
              <a:rPr sz="2400" dirty="0" err="1"/>
              <a:t>二进制文件</a:t>
            </a:r>
            <a:endParaRPr sz="2400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AC61E46E-CF61-99BF-7536-BCAEC6AB0F28}"/>
              </a:ext>
            </a:extLst>
          </p:cNvPr>
          <p:cNvSpPr txBox="1"/>
          <p:nvPr/>
        </p:nvSpPr>
        <p:spPr>
          <a:xfrm>
            <a:off x="1004982" y="3688266"/>
            <a:ext cx="5896166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/>
            </a:pPr>
            <a:r>
              <a:rPr sz="2000" dirty="0"/>
              <a:t>• </a:t>
            </a:r>
            <a:r>
              <a:rPr sz="2000" dirty="0" err="1"/>
              <a:t>直接保存内存中的二进制数据，例如</a:t>
            </a:r>
            <a:r>
              <a:rPr sz="2000" dirty="0"/>
              <a:t> 65 → 0x41；</a:t>
            </a:r>
          </a:p>
          <a:p>
            <a:pPr>
              <a:defRPr sz="2000"/>
            </a:pPr>
            <a:r>
              <a:rPr sz="2000" dirty="0"/>
              <a:t>• </a:t>
            </a:r>
            <a:r>
              <a:rPr sz="2000" dirty="0" err="1"/>
              <a:t>更高效、更准确，但不可直接阅读</a:t>
            </a:r>
            <a:r>
              <a:rPr sz="2000" dirty="0"/>
              <a:t>；</a:t>
            </a:r>
          </a:p>
          <a:p>
            <a:pPr>
              <a:defRPr sz="2000"/>
            </a:pPr>
            <a:r>
              <a:rPr sz="2000" dirty="0"/>
              <a:t>• </a:t>
            </a:r>
            <a:r>
              <a:rPr sz="2000" dirty="0" err="1"/>
              <a:t>适合结构体数组等大批量数据</a:t>
            </a:r>
            <a:r>
              <a:rPr sz="2000" dirty="0"/>
              <a:t>。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BF6E8B4A-D981-2D66-3B83-FE6BECA3530B}"/>
              </a:ext>
            </a:extLst>
          </p:cNvPr>
          <p:cNvSpPr txBox="1"/>
          <p:nvPr/>
        </p:nvSpPr>
        <p:spPr>
          <a:xfrm>
            <a:off x="1004982" y="1749732"/>
            <a:ext cx="5110694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/>
            </a:pPr>
            <a:r>
              <a:rPr sz="2000" dirty="0"/>
              <a:t>• </a:t>
            </a:r>
            <a:r>
              <a:rPr sz="2000" dirty="0" err="1"/>
              <a:t>使用可见字符保存，例如数字</a:t>
            </a:r>
            <a:r>
              <a:rPr sz="2000" dirty="0"/>
              <a:t> 65 → '6''5'；</a:t>
            </a:r>
          </a:p>
          <a:p>
            <a:pPr>
              <a:defRPr sz="2000"/>
            </a:pPr>
            <a:r>
              <a:rPr sz="2000" dirty="0"/>
              <a:t>• </a:t>
            </a:r>
            <a:r>
              <a:rPr sz="2000" dirty="0" err="1"/>
              <a:t>可用记事本等直接查看内容</a:t>
            </a:r>
            <a:r>
              <a:rPr sz="2000" dirty="0"/>
              <a:t>；</a:t>
            </a:r>
          </a:p>
          <a:p>
            <a:pPr>
              <a:defRPr sz="2000"/>
            </a:pPr>
            <a:r>
              <a:rPr sz="2000" dirty="0"/>
              <a:t>• </a:t>
            </a:r>
            <a:r>
              <a:rPr sz="2000" dirty="0" err="1"/>
              <a:t>适合同步展示与手工修改</a:t>
            </a:r>
            <a:r>
              <a:rPr sz="2000" dirty="0"/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1F7CFFB-515C-59BC-AE9C-E2B77081E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08" y="2242956"/>
            <a:ext cx="2787217" cy="153417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7460F5F-211C-1563-347F-454F6191B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5" y="4527823"/>
            <a:ext cx="5095716" cy="145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1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15F6-43DA-94B2-BB58-A3681472D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id="{67A12AA3-C61D-8804-BF60-9DFF54E5B622}"/>
              </a:ext>
            </a:extLst>
          </p:cNvPr>
          <p:cNvSpPr txBox="1"/>
          <p:nvPr/>
        </p:nvSpPr>
        <p:spPr>
          <a:xfrm>
            <a:off x="844016" y="1308796"/>
            <a:ext cx="29338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sz="2400" dirty="0"/>
              <a:t>📁 FILE* </a:t>
            </a:r>
            <a:r>
              <a:rPr sz="2400" dirty="0" err="1"/>
              <a:t>与文件模式</a:t>
            </a:r>
            <a:endParaRPr sz="2400" dirty="0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78E94007-E8C0-D99C-7A35-CBEE01C13EB3}"/>
              </a:ext>
            </a:extLst>
          </p:cNvPr>
          <p:cNvSpPr txBox="1"/>
          <p:nvPr/>
        </p:nvSpPr>
        <p:spPr>
          <a:xfrm>
            <a:off x="1004982" y="1645392"/>
            <a:ext cx="4418389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/>
            </a:pPr>
            <a:r>
              <a:rPr sz="2000" dirty="0"/>
              <a:t>• </a:t>
            </a:r>
            <a:r>
              <a:rPr sz="2000" dirty="0" err="1"/>
              <a:t>fopen</a:t>
            </a:r>
            <a:r>
              <a:rPr sz="2000" dirty="0"/>
              <a:t> / </a:t>
            </a:r>
            <a:r>
              <a:rPr sz="2000" dirty="0" err="1"/>
              <a:t>fclose</a:t>
            </a:r>
            <a:r>
              <a:rPr sz="2000" dirty="0"/>
              <a:t> </a:t>
            </a:r>
            <a:r>
              <a:rPr sz="2000" dirty="0" err="1"/>
              <a:t>用于打开与关闭文件</a:t>
            </a:r>
            <a:r>
              <a:rPr sz="2000" dirty="0"/>
              <a:t>；</a:t>
            </a:r>
          </a:p>
          <a:p>
            <a:pPr>
              <a:defRPr sz="2000"/>
            </a:pPr>
            <a:r>
              <a:rPr sz="2000" dirty="0"/>
              <a:t>• </a:t>
            </a:r>
            <a:r>
              <a:rPr sz="2000" dirty="0" err="1"/>
              <a:t>打开失败需检查</a:t>
            </a:r>
            <a:r>
              <a:rPr sz="2000" dirty="0"/>
              <a:t> </a:t>
            </a:r>
            <a:r>
              <a:rPr sz="2000" dirty="0" err="1"/>
              <a:t>fp</a:t>
            </a:r>
            <a:r>
              <a:rPr sz="2000" dirty="0"/>
              <a:t> == NULL</a:t>
            </a:r>
            <a:r>
              <a:rPr lang="zh-CN" altLang="en-US" sz="2000" dirty="0"/>
              <a:t>。</a:t>
            </a:r>
            <a:endParaRPr sz="2000" dirty="0"/>
          </a:p>
        </p:txBody>
      </p:sp>
      <p:sp>
        <p:nvSpPr>
          <p:cNvPr id="5" name="淘宝网chenying0907出品 4">
            <a:extLst>
              <a:ext uri="{FF2B5EF4-FFF2-40B4-BE49-F238E27FC236}">
                <a16:creationId xmlns:a16="http://schemas.microsoft.com/office/drawing/2014/main" id="{FCC807A2-81C7-1AEB-655C-EDFF5BD2C915}"/>
              </a:ext>
            </a:extLst>
          </p:cNvPr>
          <p:cNvSpPr txBox="1"/>
          <p:nvPr/>
        </p:nvSpPr>
        <p:spPr>
          <a:xfrm>
            <a:off x="1587600" y="264321"/>
            <a:ext cx="630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文件基础：</a:t>
            </a:r>
            <a:r>
              <a:rPr lang="en-US" altLang="zh-CN" sz="2800" dirty="0"/>
              <a:t> </a:t>
            </a:r>
            <a:r>
              <a:rPr lang="en-US" altLang="zh-CN" sz="2800" b="1" dirty="0" err="1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fopen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altLang="zh-CN" sz="2800" b="1" dirty="0" err="1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fclose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与文件模式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BA44887-C7BE-CA40-B71C-DE6591E4BDB5}"/>
              </a:ext>
            </a:extLst>
          </p:cNvPr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9E3BE3-56F9-1DA5-4DF9-AFBE8959A9A2}"/>
              </a:ext>
            </a:extLst>
          </p:cNvPr>
          <p:cNvSpPr>
            <a:spLocks noGrp="1"/>
          </p:cNvSpPr>
          <p:nvPr/>
        </p:nvSpPr>
        <p:spPr>
          <a:xfrm>
            <a:off x="6649791" y="1046171"/>
            <a:ext cx="5295364" cy="4938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  <a:defRPr sz="1800"/>
            </a:pPr>
            <a:endParaRPr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096640-39D8-C0A2-A870-7102B0BDCAC0}"/>
              </a:ext>
            </a:extLst>
          </p:cNvPr>
          <p:cNvSpPr txBox="1"/>
          <p:nvPr/>
        </p:nvSpPr>
        <p:spPr>
          <a:xfrm>
            <a:off x="6649791" y="1434191"/>
            <a:ext cx="517945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endParaRPr lang="en-US" altLang="zh-CN" dirty="0"/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int main(void) {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int n = 65;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FF0000"/>
                </a:solidFill>
              </a:rPr>
              <a:t>FILE *</a:t>
            </a:r>
            <a:r>
              <a:rPr lang="en-US" altLang="zh-CN" dirty="0" err="1"/>
              <a:t>fp_txt</a:t>
            </a:r>
            <a:r>
              <a:rPr lang="en-US" altLang="zh-CN" dirty="0"/>
              <a:t>, *</a:t>
            </a:r>
            <a:r>
              <a:rPr lang="en-US" altLang="zh-CN" dirty="0" err="1"/>
              <a:t>fp_bin</a:t>
            </a:r>
            <a:r>
              <a:rPr lang="en-US" altLang="zh-CN" dirty="0"/>
              <a:t>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endParaRPr lang="en-US" altLang="zh-CN" dirty="0"/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</a:t>
            </a:r>
            <a:r>
              <a:rPr lang="en-US" altLang="zh-CN" dirty="0" err="1"/>
              <a:t>fp_txt</a:t>
            </a:r>
            <a:r>
              <a:rPr lang="en-US" altLang="zh-CN" dirty="0"/>
              <a:t> = </a:t>
            </a:r>
            <a:r>
              <a:rPr lang="en-US" altLang="zh-CN" b="1" dirty="0" err="1">
                <a:solidFill>
                  <a:srgbClr val="FF0000"/>
                </a:solidFill>
              </a:rPr>
              <a:t>fopen</a:t>
            </a:r>
            <a:r>
              <a:rPr lang="en-US" altLang="zh-CN" dirty="0"/>
              <a:t>("num.txt", "</a:t>
            </a:r>
            <a:r>
              <a:rPr lang="en-US" altLang="zh-CN" b="1" dirty="0">
                <a:solidFill>
                  <a:srgbClr val="FF0000"/>
                </a:solidFill>
              </a:rPr>
              <a:t>w</a:t>
            </a:r>
            <a:r>
              <a:rPr lang="en-US" altLang="zh-CN" dirty="0"/>
              <a:t>");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FF0000"/>
                </a:solidFill>
              </a:rPr>
              <a:t>if (!</a:t>
            </a:r>
            <a:r>
              <a:rPr lang="en-US" altLang="zh-CN" b="1" dirty="0" err="1">
                <a:solidFill>
                  <a:srgbClr val="FF0000"/>
                </a:solidFill>
              </a:rPr>
              <a:t>fp_txt</a:t>
            </a:r>
            <a:r>
              <a:rPr lang="en-US" altLang="zh-CN" b="1" dirty="0">
                <a:solidFill>
                  <a:srgbClr val="FF0000"/>
                </a:solidFill>
              </a:rPr>
              <a:t>) </a:t>
            </a:r>
            <a:r>
              <a:rPr lang="en-US" altLang="zh-CN" dirty="0"/>
              <a:t>{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    </a:t>
            </a:r>
            <a:r>
              <a:rPr lang="en-US" altLang="zh-CN" dirty="0" err="1"/>
              <a:t>printf</a:t>
            </a:r>
            <a:r>
              <a:rPr lang="en-US" altLang="zh-CN" dirty="0"/>
              <a:t>("</a:t>
            </a:r>
            <a:r>
              <a:rPr lang="zh-CN" altLang="en-US" dirty="0"/>
              <a:t>无法打开 </a:t>
            </a:r>
            <a:r>
              <a:rPr lang="en-US" altLang="zh-CN" dirty="0"/>
              <a:t>num.txt</a:t>
            </a:r>
            <a:r>
              <a:rPr lang="zh-CN" altLang="en-US" dirty="0"/>
              <a:t>！</a:t>
            </a:r>
            <a:r>
              <a:rPr lang="en-US" altLang="zh-CN" dirty="0"/>
              <a:t>\n");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    return 1;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}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</a:t>
            </a:r>
            <a:r>
              <a:rPr lang="en-US" altLang="zh-CN" dirty="0" err="1"/>
              <a:t>fprintf</a:t>
            </a:r>
            <a:r>
              <a:rPr lang="en-US" altLang="zh-CN" dirty="0"/>
              <a:t>(</a:t>
            </a:r>
            <a:r>
              <a:rPr lang="en-US" altLang="zh-CN" dirty="0" err="1"/>
              <a:t>fp_txt</a:t>
            </a:r>
            <a:r>
              <a:rPr lang="en-US" altLang="zh-CN" dirty="0"/>
              <a:t>, "%d\n", n);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</a:t>
            </a:r>
            <a:r>
              <a:rPr lang="en-US" altLang="zh-CN" b="1" dirty="0" err="1">
                <a:solidFill>
                  <a:srgbClr val="FF0000"/>
                </a:solidFill>
              </a:rPr>
              <a:t>fclose</a:t>
            </a:r>
            <a:r>
              <a:rPr lang="en-US" altLang="zh-CN" dirty="0"/>
              <a:t>(</a:t>
            </a:r>
            <a:r>
              <a:rPr lang="en-US" altLang="zh-CN" dirty="0" err="1"/>
              <a:t>fp_txt</a:t>
            </a:r>
            <a:r>
              <a:rPr lang="en-US" altLang="zh-CN" dirty="0"/>
              <a:t>);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	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</a:t>
            </a:r>
            <a:r>
              <a:rPr lang="en-US" altLang="zh-CN" dirty="0" err="1"/>
              <a:t>fp_bin</a:t>
            </a:r>
            <a:r>
              <a:rPr lang="en-US" altLang="zh-CN" dirty="0"/>
              <a:t> = </a:t>
            </a:r>
            <a:r>
              <a:rPr lang="en-US" altLang="zh-CN" dirty="0" err="1"/>
              <a:t>fopen</a:t>
            </a:r>
            <a:r>
              <a:rPr lang="en-US" altLang="zh-CN" dirty="0"/>
              <a:t>("</a:t>
            </a:r>
            <a:r>
              <a:rPr lang="en-US" altLang="zh-CN" dirty="0" err="1"/>
              <a:t>num.bin</a:t>
            </a:r>
            <a:r>
              <a:rPr lang="en-US" altLang="zh-CN" dirty="0"/>
              <a:t>", "</a:t>
            </a:r>
            <a:r>
              <a:rPr lang="en-US" altLang="zh-CN" b="1" dirty="0" err="1">
                <a:solidFill>
                  <a:srgbClr val="FF0000"/>
                </a:solidFill>
              </a:rPr>
              <a:t>wb</a:t>
            </a:r>
            <a:r>
              <a:rPr lang="en-US" altLang="zh-CN" dirty="0"/>
              <a:t>");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FF0000"/>
                </a:solidFill>
              </a:rPr>
              <a:t>if (!</a:t>
            </a:r>
            <a:r>
              <a:rPr lang="en-US" altLang="zh-CN" b="1" dirty="0" err="1">
                <a:solidFill>
                  <a:srgbClr val="FF0000"/>
                </a:solidFill>
              </a:rPr>
              <a:t>fp_bin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 {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    </a:t>
            </a:r>
            <a:r>
              <a:rPr lang="en-US" altLang="zh-CN" dirty="0" err="1"/>
              <a:t>printf</a:t>
            </a:r>
            <a:r>
              <a:rPr lang="en-US" altLang="zh-CN" dirty="0"/>
              <a:t>("</a:t>
            </a:r>
            <a:r>
              <a:rPr lang="zh-CN" altLang="en-US" dirty="0"/>
              <a:t>无法打开 </a:t>
            </a:r>
            <a:r>
              <a:rPr lang="en-US" altLang="zh-CN" dirty="0" err="1"/>
              <a:t>num.bin</a:t>
            </a:r>
            <a:r>
              <a:rPr lang="zh-CN" altLang="en-US" dirty="0"/>
              <a:t>！</a:t>
            </a:r>
            <a:r>
              <a:rPr lang="en-US" altLang="zh-CN" dirty="0"/>
              <a:t>\n");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    return 1;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}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</a:t>
            </a:r>
            <a:r>
              <a:rPr lang="en-US" altLang="zh-CN" dirty="0" err="1"/>
              <a:t>fwrite</a:t>
            </a:r>
            <a:r>
              <a:rPr lang="en-US" altLang="zh-CN" dirty="0"/>
              <a:t>(&amp;n, </a:t>
            </a:r>
            <a:r>
              <a:rPr lang="en-US" altLang="zh-CN" dirty="0" err="1"/>
              <a:t>sizeof</a:t>
            </a:r>
            <a:r>
              <a:rPr lang="en-US" altLang="zh-CN" dirty="0"/>
              <a:t>(int), 1, </a:t>
            </a:r>
            <a:r>
              <a:rPr lang="en-US" altLang="zh-CN" dirty="0" err="1"/>
              <a:t>fp_bin</a:t>
            </a:r>
            <a:r>
              <a:rPr lang="en-US" altLang="zh-CN" dirty="0"/>
              <a:t>);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</a:t>
            </a:r>
            <a:r>
              <a:rPr lang="en-US" altLang="zh-CN" b="1" dirty="0" err="1">
                <a:solidFill>
                  <a:srgbClr val="FF0000"/>
                </a:solidFill>
              </a:rPr>
              <a:t>fclose</a:t>
            </a:r>
            <a:r>
              <a:rPr lang="en-US" altLang="zh-CN" dirty="0"/>
              <a:t>(</a:t>
            </a:r>
            <a:r>
              <a:rPr lang="en-US" altLang="zh-CN" dirty="0" err="1"/>
              <a:t>fp_bin</a:t>
            </a:r>
            <a:r>
              <a:rPr lang="en-US" altLang="zh-CN" dirty="0"/>
              <a:t>);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endParaRPr lang="en-US" altLang="zh-CN" dirty="0"/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    return 0;</a:t>
            </a:r>
          </a:p>
          <a:p>
            <a:pPr marL="457200" lvl="1" indent="0">
              <a:buNone/>
              <a:defRPr sz="1400">
                <a:latin typeface="Consolas"/>
              </a:defRPr>
            </a:pPr>
            <a:r>
              <a:rPr lang="en-US" altLang="zh-CN" dirty="0"/>
              <a:t>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90D46F-C551-185C-E69D-3E580E2779ED}"/>
              </a:ext>
            </a:extLst>
          </p:cNvPr>
          <p:cNvSpPr/>
          <p:nvPr/>
        </p:nvSpPr>
        <p:spPr>
          <a:xfrm>
            <a:off x="7302321" y="2672366"/>
            <a:ext cx="3884697" cy="16356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1B03482-9C1A-801D-3C0C-34025E29C7B6}"/>
              </a:ext>
            </a:extLst>
          </p:cNvPr>
          <p:cNvSpPr/>
          <p:nvPr/>
        </p:nvSpPr>
        <p:spPr>
          <a:xfrm>
            <a:off x="7297169" y="4425321"/>
            <a:ext cx="3884697" cy="163561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899B8006-8DD6-93CD-EC1F-655CE05D5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92317"/>
              </p:ext>
            </p:extLst>
          </p:nvPr>
        </p:nvGraphicFramePr>
        <p:xfrm>
          <a:off x="1177259" y="2796060"/>
          <a:ext cx="4421783" cy="253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2424">
                  <a:extLst>
                    <a:ext uri="{9D8B030D-6E8A-4147-A177-3AD203B41FA5}">
                      <a16:colId xmlns:a16="http://schemas.microsoft.com/office/drawing/2014/main" val="4046468264"/>
                    </a:ext>
                  </a:extLst>
                </a:gridCol>
                <a:gridCol w="3209359">
                  <a:extLst>
                    <a:ext uri="{9D8B030D-6E8A-4147-A177-3AD203B41FA5}">
                      <a16:colId xmlns:a16="http://schemas.microsoft.com/office/drawing/2014/main" val="962242869"/>
                    </a:ext>
                  </a:extLst>
                </a:gridCol>
              </a:tblGrid>
              <a:tr h="3379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4B6587"/>
                      </a:solidFill>
                      <a:prstDash val="solid"/>
                    </a:lnL>
                    <a:lnR w="12700" cmpd="sng">
                      <a:solidFill>
                        <a:srgbClr val="4B6587"/>
                      </a:solidFill>
                      <a:prstDash val="solid"/>
                    </a:lnR>
                    <a:lnT w="12700" cmpd="sng">
                      <a:solidFill>
                        <a:srgbClr val="4B6587"/>
                      </a:solidFill>
                      <a:prstDash val="solid"/>
                    </a:lnT>
                    <a:lnB w="12700" cmpd="sng">
                      <a:solidFill>
                        <a:srgbClr val="4B6587"/>
                      </a:solidFill>
                      <a:prstDash val="solid"/>
                    </a:lnB>
                    <a:solidFill>
                      <a:srgbClr val="4B65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4B6587"/>
                      </a:solidFill>
                      <a:prstDash val="solid"/>
                    </a:lnL>
                    <a:lnR w="12700" cmpd="sng">
                      <a:solidFill>
                        <a:srgbClr val="4B6587"/>
                      </a:solidFill>
                      <a:prstDash val="solid"/>
                    </a:lnR>
                    <a:lnT w="12700" cmpd="sng">
                      <a:solidFill>
                        <a:srgbClr val="4B6587"/>
                      </a:solidFill>
                      <a:prstDash val="solid"/>
                    </a:lnT>
                    <a:lnB w="12700" cmpd="sng">
                      <a:solidFill>
                        <a:srgbClr val="4B6587"/>
                      </a:solidFill>
                      <a:prstDash val="solid"/>
                    </a:lnB>
                    <a:solidFill>
                      <a:srgbClr val="4B6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020212"/>
                  </a:ext>
                </a:extLst>
              </a:tr>
              <a:tr h="3668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"r"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4B6587"/>
                      </a:solidFill>
                      <a:prstDash val="solid"/>
                    </a:lnL>
                    <a:lnR w="12700" cmpd="sng">
                      <a:solidFill>
                        <a:srgbClr val="4B6587"/>
                      </a:solidFill>
                      <a:prstDash val="solid"/>
                    </a:lnR>
                    <a:lnT w="12700" cmpd="sng">
                      <a:solidFill>
                        <a:srgbClr val="4B6587"/>
                      </a:solidFill>
                      <a:prstDash val="solid"/>
                    </a:lnT>
                    <a:lnB w="12700" cmpd="sng"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</a:t>
                      </a:r>
                      <a:r>
                        <a:rPr lang="zh-CN" alt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只读</a:t>
                      </a: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方式打开</a:t>
                      </a:r>
                      <a:r>
                        <a:rPr lang="zh-CN" altLang="en-US" sz="16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文本</a:t>
                      </a: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4B6587"/>
                      </a:solidFill>
                      <a:prstDash val="solid"/>
                    </a:lnL>
                    <a:lnR w="12700" cmpd="sng">
                      <a:solidFill>
                        <a:srgbClr val="4B6587"/>
                      </a:solidFill>
                      <a:prstDash val="solid"/>
                    </a:lnR>
                    <a:lnT w="12700" cmpd="sng">
                      <a:solidFill>
                        <a:srgbClr val="4B6587"/>
                      </a:solidFill>
                      <a:prstDash val="solid"/>
                    </a:lnT>
                    <a:lnB w="12700" cmpd="sng"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387318"/>
                  </a:ext>
                </a:extLst>
              </a:tr>
              <a:tr h="3668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"w"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4B6587"/>
                      </a:solidFill>
                      <a:prstDash val="solid"/>
                    </a:lnL>
                    <a:lnR w="12700" cmpd="sng">
                      <a:solidFill>
                        <a:srgbClr val="4B6587"/>
                      </a:solidFill>
                      <a:prstDash val="solid"/>
                    </a:lnR>
                    <a:lnT w="12700" cmpd="sng">
                      <a:solidFill>
                        <a:srgbClr val="4B6587"/>
                      </a:solidFill>
                      <a:prstDash val="solid"/>
                    </a:lnT>
                    <a:lnB w="12700" cmpd="sng"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</a:t>
                      </a:r>
                      <a:r>
                        <a:rPr lang="zh-CN" alt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只写</a:t>
                      </a: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方式打开</a:t>
                      </a:r>
                      <a:r>
                        <a:rPr lang="zh-CN" altLang="en-US" sz="16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文本</a:t>
                      </a: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4B6587"/>
                      </a:solidFill>
                      <a:prstDash val="solid"/>
                    </a:lnL>
                    <a:lnR w="12700" cmpd="sng">
                      <a:solidFill>
                        <a:srgbClr val="4B6587"/>
                      </a:solidFill>
                      <a:prstDash val="solid"/>
                    </a:lnR>
                    <a:lnT w="12700" cmpd="sng">
                      <a:solidFill>
                        <a:srgbClr val="4B6587"/>
                      </a:solidFill>
                      <a:prstDash val="solid"/>
                    </a:lnT>
                    <a:lnB w="12700" cmpd="sng"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41743"/>
                  </a:ext>
                </a:extLst>
              </a:tr>
              <a:tr h="3668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"a"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4B6587"/>
                      </a:solidFill>
                      <a:prstDash val="solid"/>
                    </a:lnL>
                    <a:lnR w="12700" cmpd="sng">
                      <a:solidFill>
                        <a:srgbClr val="4B6587"/>
                      </a:solidFill>
                      <a:prstDash val="solid"/>
                    </a:lnR>
                    <a:lnT w="12700" cmpd="sng">
                      <a:solidFill>
                        <a:srgbClr val="4B6587"/>
                      </a:solidFill>
                      <a:prstDash val="solid"/>
                    </a:lnT>
                    <a:lnB w="12700" cmpd="sng"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</a:t>
                      </a:r>
                      <a:r>
                        <a:rPr lang="zh-CN" alt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追加</a:t>
                      </a: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方式写</a:t>
                      </a:r>
                      <a:r>
                        <a:rPr lang="zh-CN" altLang="en-US" sz="16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文本</a:t>
                      </a: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4B6587"/>
                      </a:solidFill>
                      <a:prstDash val="solid"/>
                    </a:lnL>
                    <a:lnR w="12700" cmpd="sng">
                      <a:solidFill>
                        <a:srgbClr val="4B6587"/>
                      </a:solidFill>
                      <a:prstDash val="solid"/>
                    </a:lnR>
                    <a:lnT w="12700" cmpd="sng">
                      <a:solidFill>
                        <a:srgbClr val="4B6587"/>
                      </a:solidFill>
                      <a:prstDash val="solid"/>
                    </a:lnT>
                    <a:lnB w="12700" cmpd="sng"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962747"/>
                  </a:ext>
                </a:extLst>
              </a:tr>
              <a:tr h="3668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"rb"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4B6587"/>
                      </a:solidFill>
                      <a:prstDash val="solid"/>
                    </a:lnL>
                    <a:lnR w="12700" cmpd="sng">
                      <a:solidFill>
                        <a:srgbClr val="4B6587"/>
                      </a:solidFill>
                      <a:prstDash val="solid"/>
                    </a:lnR>
                    <a:lnT w="12700" cmpd="sng">
                      <a:solidFill>
                        <a:srgbClr val="4B6587"/>
                      </a:solidFill>
                      <a:prstDash val="solid"/>
                    </a:lnT>
                    <a:lnB w="12700" cmpd="sng"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</a:t>
                      </a:r>
                      <a:r>
                        <a:rPr lang="zh-CN" alt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只读</a:t>
                      </a: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方式打开</a:t>
                      </a:r>
                      <a:r>
                        <a:rPr lang="zh-CN" altLang="en-US" sz="1600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二进制</a:t>
                      </a: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4B6587"/>
                      </a:solidFill>
                      <a:prstDash val="solid"/>
                    </a:lnL>
                    <a:lnR w="12700" cmpd="sng">
                      <a:solidFill>
                        <a:srgbClr val="4B6587"/>
                      </a:solidFill>
                      <a:prstDash val="solid"/>
                    </a:lnR>
                    <a:lnT w="12700" cmpd="sng">
                      <a:solidFill>
                        <a:srgbClr val="4B6587"/>
                      </a:solidFill>
                      <a:prstDash val="solid"/>
                    </a:lnT>
                    <a:lnB w="12700" cmpd="sng"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487366"/>
                  </a:ext>
                </a:extLst>
              </a:tr>
              <a:tr h="3668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"wb"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4B6587"/>
                      </a:solidFill>
                      <a:prstDash val="solid"/>
                    </a:lnL>
                    <a:lnR w="12700" cmpd="sng">
                      <a:solidFill>
                        <a:srgbClr val="4B6587"/>
                      </a:solidFill>
                      <a:prstDash val="solid"/>
                    </a:lnR>
                    <a:lnT w="12700" cmpd="sng">
                      <a:solidFill>
                        <a:srgbClr val="4B6587"/>
                      </a:solidFill>
                      <a:prstDash val="solid"/>
                    </a:lnT>
                    <a:lnB w="12700" cmpd="sng"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</a:t>
                      </a:r>
                      <a:r>
                        <a:rPr lang="zh-CN" alt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只写</a:t>
                      </a: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方式打开</a:t>
                      </a:r>
                      <a:r>
                        <a:rPr lang="zh-CN" altLang="en-US" sz="1600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二进制</a:t>
                      </a: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4B6587"/>
                      </a:solidFill>
                      <a:prstDash val="solid"/>
                    </a:lnL>
                    <a:lnR w="12700" cmpd="sng">
                      <a:solidFill>
                        <a:srgbClr val="4B6587"/>
                      </a:solidFill>
                      <a:prstDash val="solid"/>
                    </a:lnR>
                    <a:lnT w="12700" cmpd="sng">
                      <a:solidFill>
                        <a:srgbClr val="4B6587"/>
                      </a:solidFill>
                      <a:prstDash val="solid"/>
                    </a:lnT>
                    <a:lnB w="12700" cmpd="sng"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893115"/>
                  </a:ext>
                </a:extLst>
              </a:tr>
              <a:tr h="3668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"ab"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4B6587"/>
                      </a:solidFill>
                      <a:prstDash val="solid"/>
                    </a:lnL>
                    <a:lnR w="12700" cmpd="sng">
                      <a:solidFill>
                        <a:srgbClr val="4B6587"/>
                      </a:solidFill>
                      <a:prstDash val="solid"/>
                    </a:lnR>
                    <a:lnT w="12700" cmpd="sng">
                      <a:solidFill>
                        <a:srgbClr val="4B6587"/>
                      </a:solidFill>
                      <a:prstDash val="solid"/>
                    </a:lnT>
                    <a:lnB w="12700" cmpd="sng"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</a:t>
                      </a:r>
                      <a:r>
                        <a:rPr lang="zh-CN" alt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追加</a:t>
                      </a: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方式写</a:t>
                      </a:r>
                      <a:r>
                        <a:rPr lang="zh-CN" altLang="en-US" sz="1600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二进制</a:t>
                      </a:r>
                      <a:r>
                        <a:rPr lang="zh-CN" alt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3" marR="4763" marT="4763" marB="0" anchor="ctr">
                    <a:lnL w="12700" cmpd="sng">
                      <a:solidFill>
                        <a:srgbClr val="4B6587"/>
                      </a:solidFill>
                      <a:prstDash val="solid"/>
                    </a:lnL>
                    <a:lnR w="12700" cmpd="sng">
                      <a:solidFill>
                        <a:srgbClr val="4B6587"/>
                      </a:solidFill>
                      <a:prstDash val="solid"/>
                    </a:lnR>
                    <a:lnT w="12700" cmpd="sng">
                      <a:solidFill>
                        <a:srgbClr val="4B6587"/>
                      </a:solidFill>
                      <a:prstDash val="solid"/>
                    </a:lnT>
                    <a:lnB w="12700" cmpd="sng"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996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03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EBE3-2770-63BA-0CDB-4DCA49889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>
            <a:extLst>
              <a:ext uri="{FF2B5EF4-FFF2-40B4-BE49-F238E27FC236}">
                <a16:creationId xmlns:a16="http://schemas.microsoft.com/office/drawing/2014/main" id="{7A0FF961-5BDF-8428-054A-88277FA06A97}"/>
              </a:ext>
            </a:extLst>
          </p:cNvPr>
          <p:cNvSpPr txBox="1"/>
          <p:nvPr/>
        </p:nvSpPr>
        <p:spPr>
          <a:xfrm>
            <a:off x="1587600" y="264321"/>
            <a:ext cx="630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文件基础：</a:t>
            </a: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文件读写方式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DB7CDA6-057E-3388-5A05-B9519B59F015}"/>
              </a:ext>
            </a:extLst>
          </p:cNvPr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7860DE8-5E3D-9F3F-75AF-270D81E39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670128"/>
              </p:ext>
            </p:extLst>
          </p:nvPr>
        </p:nvGraphicFramePr>
        <p:xfrm>
          <a:off x="828541" y="1259188"/>
          <a:ext cx="10691611" cy="5031937"/>
        </p:xfrm>
        <a:graphic>
          <a:graphicData uri="http://schemas.openxmlformats.org/drawingml/2006/table">
            <a:tbl>
              <a:tblPr/>
              <a:tblGrid>
                <a:gridCol w="1352281">
                  <a:extLst>
                    <a:ext uri="{9D8B030D-6E8A-4147-A177-3AD203B41FA5}">
                      <a16:colId xmlns:a16="http://schemas.microsoft.com/office/drawing/2014/main" val="3294929530"/>
                    </a:ext>
                  </a:extLst>
                </a:gridCol>
                <a:gridCol w="2955702">
                  <a:extLst>
                    <a:ext uri="{9D8B030D-6E8A-4147-A177-3AD203B41FA5}">
                      <a16:colId xmlns:a16="http://schemas.microsoft.com/office/drawing/2014/main" val="3450912683"/>
                    </a:ext>
                  </a:extLst>
                </a:gridCol>
                <a:gridCol w="1938270">
                  <a:extLst>
                    <a:ext uri="{9D8B030D-6E8A-4147-A177-3AD203B41FA5}">
                      <a16:colId xmlns:a16="http://schemas.microsoft.com/office/drawing/2014/main" val="4106315046"/>
                    </a:ext>
                  </a:extLst>
                </a:gridCol>
                <a:gridCol w="2680952">
                  <a:extLst>
                    <a:ext uri="{9D8B030D-6E8A-4147-A177-3AD203B41FA5}">
                      <a16:colId xmlns:a16="http://schemas.microsoft.com/office/drawing/2014/main" val="562728818"/>
                    </a:ext>
                  </a:extLst>
                </a:gridCol>
                <a:gridCol w="1764406">
                  <a:extLst>
                    <a:ext uri="{9D8B030D-6E8A-4147-A177-3AD203B41FA5}">
                      <a16:colId xmlns:a16="http://schemas.microsoft.com/office/drawing/2014/main" val="2100717763"/>
                    </a:ext>
                  </a:extLst>
                </a:gridCol>
              </a:tblGrid>
              <a:tr h="3461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操作类型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4B65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常用函数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4B65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做什么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4B65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4B65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4B6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414198"/>
                  </a:ext>
                </a:extLst>
              </a:tr>
              <a:tr h="34612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逐字符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I/O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fgetc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(FILE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从文件读取 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个字节（字符）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① fp：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文件指针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读取的字符（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）或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EOF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489214"/>
                  </a:ext>
                </a:extLst>
              </a:tr>
              <a:tr h="49447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 </a:t>
                      </a:r>
                      <a:r>
                        <a:rPr lang="fr-FR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fputc</a:t>
                      </a:r>
                      <a:r>
                        <a:rPr lang="fr-FR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(int ch, FILE *fp)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向文件写入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个字节（字符）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① </a:t>
                      </a:r>
                      <a:r>
                        <a:rPr lang="en-US" altLang="zh-CN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：要写入的字符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 </a:t>
                      </a:r>
                      <a:r>
                        <a:rPr lang="en-US" altLang="zh-CN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：文件指针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写入的字符（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）或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EOF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465678"/>
                  </a:ext>
                </a:extLst>
              </a:tr>
              <a:tr h="642811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文本格式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I/O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fprintf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(FILE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const char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fmt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…)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按格式把变量转换成文本并写入文件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① </a:t>
                      </a:r>
                      <a:r>
                        <a:rPr lang="en-US" altLang="zh-CN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：文件指针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 </a:t>
                      </a:r>
                      <a:r>
                        <a:rPr lang="en-US" altLang="zh-CN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fmt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：格式串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③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：多个变量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成功写入的字符数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741924"/>
                  </a:ext>
                </a:extLst>
              </a:tr>
              <a:tr h="64281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 </a:t>
                      </a:r>
                      <a:r>
                        <a:rPr lang="fr-FR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fscanf</a:t>
                      </a:r>
                      <a:r>
                        <a:rPr lang="fr-FR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(FILE *fp, const char *fmt, …)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从文件读文本并按格式解析为变量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① </a:t>
                      </a:r>
                      <a:r>
                        <a:rPr lang="en-US" altLang="zh-CN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：文件指针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 </a:t>
                      </a:r>
                      <a:r>
                        <a:rPr lang="en-US" altLang="zh-CN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fmt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：格式串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③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：接收变量的地址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成功读取的字段数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750633"/>
                  </a:ext>
                </a:extLst>
              </a:tr>
              <a:tr h="939493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二进制块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I/O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size_t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fwrite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(const void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ptr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size_t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size,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size_t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count, FILE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将一段连续内存区域（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size×count 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字节）原样写入文件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① </a:t>
                      </a:r>
                      <a:r>
                        <a:rPr lang="en-US" altLang="zh-CN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ptr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：内存起始地址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：单个元素字节数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③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count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：元素数量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④ </a:t>
                      </a:r>
                      <a:r>
                        <a:rPr lang="en-US" altLang="zh-CN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：文件指针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成功写入的元素数量</a:t>
                      </a:r>
                      <a:endParaRPr 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947782"/>
                  </a:ext>
                </a:extLst>
              </a:tr>
              <a:tr h="9394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size_t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fread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(void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ptr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size_t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size,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size_t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count, FILE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从文件读取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size×count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字节填入内存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① </a:t>
                      </a:r>
                      <a:r>
                        <a:rPr lang="en-US" altLang="zh-CN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ptr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：接收数据的内存地址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：单个元素字节数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③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count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：元素数量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④ </a:t>
                      </a:r>
                      <a:r>
                        <a:rPr lang="en-US" altLang="zh-CN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：文件指针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成功读取的元素数量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023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258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14F64-3B7E-0F5C-63CE-43616C433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>
            <a:extLst>
              <a:ext uri="{FF2B5EF4-FFF2-40B4-BE49-F238E27FC236}">
                <a16:creationId xmlns:a16="http://schemas.microsoft.com/office/drawing/2014/main" id="{64B1B3FC-25FD-DF80-5314-62BCB5CF9849}"/>
              </a:ext>
            </a:extLst>
          </p:cNvPr>
          <p:cNvSpPr txBox="1"/>
          <p:nvPr/>
        </p:nvSpPr>
        <p:spPr>
          <a:xfrm>
            <a:off x="1587600" y="264321"/>
            <a:ext cx="630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文件基础：</a:t>
            </a: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文件读写方式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A7D7E2C-361F-1900-0CDD-A824B7A12D57}"/>
              </a:ext>
            </a:extLst>
          </p:cNvPr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1D1BFE9-8730-FD30-2C3F-37B900F01FCD}"/>
              </a:ext>
            </a:extLst>
          </p:cNvPr>
          <p:cNvSpPr>
            <a:spLocks noGrp="1"/>
          </p:cNvSpPr>
          <p:nvPr/>
        </p:nvSpPr>
        <p:spPr>
          <a:xfrm>
            <a:off x="6385655" y="1261949"/>
            <a:ext cx="5295364" cy="4938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  <a:defRPr sz="1800"/>
            </a:pPr>
            <a:endParaRPr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20AAF4-31F2-053D-B966-861DF5D55597}"/>
              </a:ext>
            </a:extLst>
          </p:cNvPr>
          <p:cNvSpPr txBox="1"/>
          <p:nvPr/>
        </p:nvSpPr>
        <p:spPr>
          <a:xfrm>
            <a:off x="6477835" y="2008326"/>
            <a:ext cx="549283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rPr lang="en-US" altLang="zh-CN" sz="1600" dirty="0"/>
              <a:t>……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char *text = “Hello.</a:t>
            </a:r>
            <a:r>
              <a:rPr lang="zh-CN" altLang="en-US" sz="1600" dirty="0"/>
              <a:t> </a:t>
            </a:r>
            <a:r>
              <a:rPr lang="en-US" altLang="zh-CN" sz="1600" dirty="0"/>
              <a:t>This is a demo.\n";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for (int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0; text[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 != '\0';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++) {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    </a:t>
            </a:r>
            <a:r>
              <a:rPr lang="en-US" altLang="zh-CN" sz="1600" b="1" dirty="0" err="1">
                <a:solidFill>
                  <a:srgbClr val="FF0000"/>
                </a:solidFill>
              </a:rPr>
              <a:t>fputc</a:t>
            </a:r>
            <a:r>
              <a:rPr lang="en-US" altLang="zh-CN" sz="1600" dirty="0"/>
              <a:t>(text[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], 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);    // </a:t>
            </a:r>
            <a:r>
              <a:rPr lang="zh-CN" altLang="en-US" sz="1600" dirty="0"/>
              <a:t>逐字符写入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}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……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int </a:t>
            </a:r>
            <a:r>
              <a:rPr lang="en-US" altLang="zh-CN" sz="1600" dirty="0" err="1"/>
              <a:t>ch</a:t>
            </a:r>
            <a:r>
              <a:rPr lang="en-US" altLang="zh-CN" sz="1600" dirty="0"/>
              <a:t>, count = 0;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while ((</a:t>
            </a:r>
            <a:r>
              <a:rPr lang="en-US" altLang="zh-CN" sz="1600" dirty="0" err="1"/>
              <a:t>ch</a:t>
            </a:r>
            <a:r>
              <a:rPr lang="en-US" altLang="zh-CN" sz="1600" dirty="0"/>
              <a:t> = </a:t>
            </a:r>
            <a:r>
              <a:rPr lang="en-US" altLang="zh-CN" sz="1600" b="1" dirty="0" err="1">
                <a:solidFill>
                  <a:srgbClr val="FF0000"/>
                </a:solidFill>
              </a:rPr>
              <a:t>fgetc</a:t>
            </a:r>
            <a:r>
              <a:rPr lang="en-US" altLang="zh-CN" sz="1600" dirty="0"/>
              <a:t>(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)) != EOF) {// </a:t>
            </a:r>
            <a:r>
              <a:rPr lang="zh-CN" altLang="en-US" sz="1600" dirty="0"/>
              <a:t>逐字符读出</a:t>
            </a:r>
            <a:endParaRPr lang="en-US" altLang="zh-CN" sz="1600" dirty="0"/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    count++;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}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……</a:t>
            </a: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6137A5AE-0D0E-E63D-BAA0-9E000F4D3BB9}"/>
              </a:ext>
            </a:extLst>
          </p:cNvPr>
          <p:cNvSpPr txBox="1"/>
          <p:nvPr/>
        </p:nvSpPr>
        <p:spPr>
          <a:xfrm>
            <a:off x="637955" y="1261949"/>
            <a:ext cx="253787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📝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文件读写方式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1B1BB1C-1CAC-95F5-9F03-5DA1AB96F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268073"/>
              </p:ext>
            </p:extLst>
          </p:nvPr>
        </p:nvGraphicFramePr>
        <p:xfrm>
          <a:off x="417490" y="1905585"/>
          <a:ext cx="5678510" cy="1407047"/>
        </p:xfrm>
        <a:graphic>
          <a:graphicData uri="http://schemas.openxmlformats.org/drawingml/2006/table">
            <a:tbl>
              <a:tblPr/>
              <a:tblGrid>
                <a:gridCol w="1229368">
                  <a:extLst>
                    <a:ext uri="{9D8B030D-6E8A-4147-A177-3AD203B41FA5}">
                      <a16:colId xmlns:a16="http://schemas.microsoft.com/office/drawing/2014/main" val="156740788"/>
                    </a:ext>
                  </a:extLst>
                </a:gridCol>
                <a:gridCol w="2510870">
                  <a:extLst>
                    <a:ext uri="{9D8B030D-6E8A-4147-A177-3AD203B41FA5}">
                      <a16:colId xmlns:a16="http://schemas.microsoft.com/office/drawing/2014/main" val="1565598122"/>
                    </a:ext>
                  </a:extLst>
                </a:gridCol>
                <a:gridCol w="1938272">
                  <a:extLst>
                    <a:ext uri="{9D8B030D-6E8A-4147-A177-3AD203B41FA5}">
                      <a16:colId xmlns:a16="http://schemas.microsoft.com/office/drawing/2014/main" val="4045231918"/>
                    </a:ext>
                  </a:extLst>
                </a:gridCol>
              </a:tblGrid>
              <a:tr h="3327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操作类型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4B65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常用函数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4B65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做什么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4B6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666497"/>
                  </a:ext>
                </a:extLst>
              </a:tr>
              <a:tr h="51643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逐字符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I/O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fgetc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(FILE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从文件读取 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个字节（字符）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62008"/>
                  </a:ext>
                </a:extLst>
              </a:tr>
              <a:tr h="51643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 </a:t>
                      </a:r>
                      <a:r>
                        <a:rPr lang="fr-FR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fputc</a:t>
                      </a:r>
                      <a:r>
                        <a:rPr lang="fr-FR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(int ch, FILE *fp)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向文件写入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个字节（字符）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531662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8B6F2B7E-DBB7-1C29-F8F8-268E342D1EB8}"/>
              </a:ext>
            </a:extLst>
          </p:cNvPr>
          <p:cNvSpPr/>
          <p:nvPr/>
        </p:nvSpPr>
        <p:spPr>
          <a:xfrm>
            <a:off x="6385655" y="1873576"/>
            <a:ext cx="5399252" cy="307026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701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A0647-6EE0-3DFE-E7BF-3844A5180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91B7E6C-931D-CEA8-CBE6-270F7BA0C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513955"/>
              </p:ext>
            </p:extLst>
          </p:nvPr>
        </p:nvGraphicFramePr>
        <p:xfrm>
          <a:off x="417490" y="1913618"/>
          <a:ext cx="5511084" cy="1631751"/>
        </p:xfrm>
        <a:graphic>
          <a:graphicData uri="http://schemas.openxmlformats.org/drawingml/2006/table">
            <a:tbl>
              <a:tblPr/>
              <a:tblGrid>
                <a:gridCol w="1193121">
                  <a:extLst>
                    <a:ext uri="{9D8B030D-6E8A-4147-A177-3AD203B41FA5}">
                      <a16:colId xmlns:a16="http://schemas.microsoft.com/office/drawing/2014/main" val="1139681520"/>
                    </a:ext>
                  </a:extLst>
                </a:gridCol>
                <a:gridCol w="2132870">
                  <a:extLst>
                    <a:ext uri="{9D8B030D-6E8A-4147-A177-3AD203B41FA5}">
                      <a16:colId xmlns:a16="http://schemas.microsoft.com/office/drawing/2014/main" val="2749128255"/>
                    </a:ext>
                  </a:extLst>
                </a:gridCol>
                <a:gridCol w="2185093">
                  <a:extLst>
                    <a:ext uri="{9D8B030D-6E8A-4147-A177-3AD203B41FA5}">
                      <a16:colId xmlns:a16="http://schemas.microsoft.com/office/drawing/2014/main" val="3816666163"/>
                    </a:ext>
                  </a:extLst>
                </a:gridCol>
              </a:tblGrid>
              <a:tr h="3461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操作类型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4B65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常用函数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4B65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做什么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4B6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25734"/>
                  </a:ext>
                </a:extLst>
              </a:tr>
              <a:tr h="642811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文本格式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I/O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 w="9525" cap="flat" cmpd="sng" algn="ctr">
                      <a:solidFill>
                        <a:srgbClr val="4B6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B6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fprintf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(FILE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const char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fmt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…)</a:t>
                      </a:r>
                    </a:p>
                  </a:txBody>
                  <a:tcPr marL="49447" marR="49447" marT="24724" marB="24724" anchor="ctr">
                    <a:lnL w="9525" cap="flat" cmpd="sng" algn="ctr">
                      <a:solidFill>
                        <a:srgbClr val="4B6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B6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B6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按格式把变量转换成文本并写入文件</a:t>
                      </a:r>
                    </a:p>
                  </a:txBody>
                  <a:tcPr marL="49447" marR="49447" marT="24724" marB="24724" anchor="ctr">
                    <a:lnL w="9525" cap="flat" cmpd="sng" algn="ctr">
                      <a:solidFill>
                        <a:srgbClr val="4B6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 w="9525" cap="flat" cmpd="sng" algn="ctr">
                      <a:solidFill>
                        <a:srgbClr val="4B6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067116"/>
                  </a:ext>
                </a:extLst>
              </a:tr>
              <a:tr h="64281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 </a:t>
                      </a:r>
                      <a:r>
                        <a:rPr lang="fr-FR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fscanf</a:t>
                      </a:r>
                      <a:r>
                        <a:rPr lang="fr-FR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(FILE *fp, const char *fmt, …)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从文件读文本并按格式解析为变量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55087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0324440-062B-E28D-A72A-F59C33CB6FF6}"/>
              </a:ext>
            </a:extLst>
          </p:cNvPr>
          <p:cNvSpPr txBox="1"/>
          <p:nvPr/>
        </p:nvSpPr>
        <p:spPr>
          <a:xfrm>
            <a:off x="6374296" y="1562980"/>
            <a:ext cx="5817704" cy="55092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rPr lang="en-US" altLang="zh-CN" sz="1600" dirty="0"/>
              <a:t>Student </a:t>
            </a:r>
            <a:r>
              <a:rPr lang="en-US" altLang="zh-CN" sz="1600" dirty="0" err="1"/>
              <a:t>stu</a:t>
            </a:r>
            <a:r>
              <a:rPr lang="en-US" altLang="zh-CN" sz="1600" dirty="0"/>
              <a:t>[2] = {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    {"Alice", 90, 95, 92.5},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    {"Bob",   78, 82, 80.0},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};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 err="1"/>
              <a:t>fp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fopen</a:t>
            </a:r>
            <a:r>
              <a:rPr lang="en-US" altLang="zh-CN" sz="1600" dirty="0"/>
              <a:t>(“score.txt”, “w”);	//</a:t>
            </a:r>
            <a:r>
              <a:rPr lang="zh-CN" altLang="en-US" sz="1600" dirty="0"/>
              <a:t>写方式打开文件</a:t>
            </a:r>
            <a:endParaRPr lang="en-US" altLang="zh-CN" sz="1600" dirty="0"/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...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for (int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0;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&lt; 2;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++) {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    </a:t>
            </a:r>
            <a:r>
              <a:rPr lang="en-US" altLang="zh-CN" sz="1600" b="1" dirty="0" err="1">
                <a:solidFill>
                  <a:srgbClr val="FF0000"/>
                </a:solidFill>
              </a:rPr>
              <a:t>fprintf</a:t>
            </a:r>
            <a:r>
              <a:rPr lang="en-US" altLang="zh-CN" sz="1600" dirty="0"/>
              <a:t>(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, "%s %d %d %.1f\n",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            </a:t>
            </a:r>
            <a:r>
              <a:rPr lang="en-US" altLang="zh-CN" sz="1600" dirty="0" err="1"/>
              <a:t>stu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].name, </a:t>
            </a:r>
            <a:r>
              <a:rPr lang="en-US" altLang="zh-CN" sz="1600" dirty="0" err="1"/>
              <a:t>stu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].s1, </a:t>
            </a:r>
            <a:r>
              <a:rPr lang="en-US" altLang="zh-CN" sz="1600" dirty="0" err="1"/>
              <a:t>stu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].s2, </a:t>
            </a:r>
            <a:r>
              <a:rPr lang="en-US" altLang="zh-CN" sz="1600" dirty="0" err="1"/>
              <a:t>stu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].avg);	//</a:t>
            </a:r>
            <a:r>
              <a:rPr lang="zh-CN" altLang="en-US" sz="1600" dirty="0"/>
              <a:t>写入文本文件 </a:t>
            </a:r>
            <a:endParaRPr lang="en-US" altLang="zh-CN" sz="1600" dirty="0"/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}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 err="1"/>
              <a:t>fclose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);	//</a:t>
            </a:r>
            <a:r>
              <a:rPr lang="zh-CN" altLang="en-US" sz="1600" dirty="0"/>
              <a:t>关闭文件</a:t>
            </a:r>
            <a:endParaRPr lang="en-US" altLang="zh-CN" sz="1600" dirty="0"/>
          </a:p>
          <a:p>
            <a:pPr>
              <a:defRPr sz="1400">
                <a:latin typeface="Consolas"/>
              </a:defRPr>
            </a:pPr>
            <a:r>
              <a:rPr lang="en-US" altLang="zh-CN" sz="1600" dirty="0" err="1"/>
              <a:t>fp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fopen</a:t>
            </a:r>
            <a:r>
              <a:rPr lang="en-US" altLang="zh-CN" sz="1600" dirty="0"/>
              <a:t>(“score.txt”, “r”);	//</a:t>
            </a:r>
            <a:r>
              <a:rPr lang="zh-CN" altLang="en-US" sz="1600" dirty="0"/>
              <a:t>只读方式打开文件</a:t>
            </a:r>
            <a:endParaRPr lang="en-US" altLang="zh-CN" sz="1600" dirty="0"/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Student t[2];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int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0;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...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while (</a:t>
            </a:r>
            <a:r>
              <a:rPr lang="en-US" altLang="zh-CN" sz="1600" b="1" dirty="0" err="1">
                <a:solidFill>
                  <a:srgbClr val="FF0000"/>
                </a:solidFill>
              </a:rPr>
              <a:t>fscanf</a:t>
            </a:r>
            <a:r>
              <a:rPr lang="en-US" altLang="zh-CN" sz="1600" dirty="0"/>
              <a:t>(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, "%19s %d %d %f",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              t[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].name, &amp;t[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].s1, &amp;t[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].s2, &amp;t[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].avg) == 4) {...}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 err="1"/>
              <a:t>fclose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); 	//</a:t>
            </a:r>
            <a:r>
              <a:rPr lang="zh-CN" altLang="en-US" sz="1600" dirty="0"/>
              <a:t>关闭文件</a:t>
            </a:r>
            <a:endParaRPr lang="en-US" altLang="zh-CN" sz="1600" dirty="0"/>
          </a:p>
          <a:p>
            <a:pPr>
              <a:defRPr sz="1400">
                <a:latin typeface="Consolas"/>
              </a:defRPr>
            </a:pPr>
            <a:endParaRPr lang="en-US" altLang="zh-CN" sz="1600" dirty="0"/>
          </a:p>
          <a:p>
            <a:pPr>
              <a:defRPr sz="1400">
                <a:latin typeface="Consolas"/>
              </a:defRPr>
            </a:pPr>
            <a:endParaRPr lang="en-US" altLang="zh-CN" sz="1600" dirty="0"/>
          </a:p>
        </p:txBody>
      </p:sp>
      <p:sp>
        <p:nvSpPr>
          <p:cNvPr id="5" name="淘宝网chenying0907出品 4">
            <a:extLst>
              <a:ext uri="{FF2B5EF4-FFF2-40B4-BE49-F238E27FC236}">
                <a16:creationId xmlns:a16="http://schemas.microsoft.com/office/drawing/2014/main" id="{F8EB475B-93DE-9D0F-41E8-96B545FDD340}"/>
              </a:ext>
            </a:extLst>
          </p:cNvPr>
          <p:cNvSpPr txBox="1"/>
          <p:nvPr/>
        </p:nvSpPr>
        <p:spPr>
          <a:xfrm>
            <a:off x="1587600" y="264321"/>
            <a:ext cx="630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文件基础：</a:t>
            </a: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文件读写方式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82FB9E1-FA05-1393-2B34-38A32CB7158D}"/>
              </a:ext>
            </a:extLst>
          </p:cNvPr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4">
            <a:extLst>
              <a:ext uri="{FF2B5EF4-FFF2-40B4-BE49-F238E27FC236}">
                <a16:creationId xmlns:a16="http://schemas.microsoft.com/office/drawing/2014/main" id="{97720FDE-494F-E197-A5ED-34FC26ECE24E}"/>
              </a:ext>
            </a:extLst>
          </p:cNvPr>
          <p:cNvSpPr txBox="1"/>
          <p:nvPr/>
        </p:nvSpPr>
        <p:spPr>
          <a:xfrm>
            <a:off x="637955" y="1261949"/>
            <a:ext cx="253787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📝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文件读写方式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AEB30-B013-C7D0-82B2-764282C895BB}"/>
              </a:ext>
            </a:extLst>
          </p:cNvPr>
          <p:cNvSpPr>
            <a:spLocks noGrp="1"/>
          </p:cNvSpPr>
          <p:nvPr/>
        </p:nvSpPr>
        <p:spPr>
          <a:xfrm>
            <a:off x="6356801" y="1046171"/>
            <a:ext cx="5295364" cy="4938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  <a:defRPr sz="1800"/>
            </a:pPr>
            <a:endParaRPr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A0947A-1C33-2B16-41AF-FCE43BFA401E}"/>
              </a:ext>
            </a:extLst>
          </p:cNvPr>
          <p:cNvSpPr/>
          <p:nvPr/>
        </p:nvSpPr>
        <p:spPr>
          <a:xfrm>
            <a:off x="6304857" y="1562980"/>
            <a:ext cx="5756208" cy="503069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6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7E99D-18FE-B8C9-38A5-C306ED53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2D9962E-7CC3-C345-5992-A5D2E37D0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718399"/>
              </p:ext>
            </p:extLst>
          </p:nvPr>
        </p:nvGraphicFramePr>
        <p:xfrm>
          <a:off x="417490" y="1913618"/>
          <a:ext cx="5478888" cy="2225115"/>
        </p:xfrm>
        <a:graphic>
          <a:graphicData uri="http://schemas.openxmlformats.org/drawingml/2006/table">
            <a:tbl>
              <a:tblPr/>
              <a:tblGrid>
                <a:gridCol w="1076459">
                  <a:extLst>
                    <a:ext uri="{9D8B030D-6E8A-4147-A177-3AD203B41FA5}">
                      <a16:colId xmlns:a16="http://schemas.microsoft.com/office/drawing/2014/main" val="871504158"/>
                    </a:ext>
                  </a:extLst>
                </a:gridCol>
                <a:gridCol w="2266682">
                  <a:extLst>
                    <a:ext uri="{9D8B030D-6E8A-4147-A177-3AD203B41FA5}">
                      <a16:colId xmlns:a16="http://schemas.microsoft.com/office/drawing/2014/main" val="2325900473"/>
                    </a:ext>
                  </a:extLst>
                </a:gridCol>
                <a:gridCol w="2135747">
                  <a:extLst>
                    <a:ext uri="{9D8B030D-6E8A-4147-A177-3AD203B41FA5}">
                      <a16:colId xmlns:a16="http://schemas.microsoft.com/office/drawing/2014/main" val="4263853076"/>
                    </a:ext>
                  </a:extLst>
                </a:gridCol>
              </a:tblGrid>
              <a:tr h="3461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操作类型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4B65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常用函数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4B65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做什么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4B6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429525"/>
                  </a:ext>
                </a:extLst>
              </a:tr>
              <a:tr h="939493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二进制块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I/O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 w="9525" cap="flat" cmpd="sng" algn="ctr">
                      <a:solidFill>
                        <a:srgbClr val="4B6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B6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size_t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fwrite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(const void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ptr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size_t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size,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size_t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count, FILE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49447" marR="49447" marT="24724" marB="24724" anchor="ctr">
                    <a:lnL w="9525" cap="flat" cmpd="sng" algn="ctr">
                      <a:solidFill>
                        <a:srgbClr val="4B6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B6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B6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将一段连续内存区域（</a:t>
                      </a:r>
                      <a:r>
                        <a:rPr lang="en-US" altLang="zh-CN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size×count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字节）原样写入文件</a:t>
                      </a:r>
                    </a:p>
                  </a:txBody>
                  <a:tcPr marL="49447" marR="49447" marT="24724" marB="24724" anchor="ctr">
                    <a:lnL w="9525" cap="flat" cmpd="sng" algn="ctr">
                      <a:solidFill>
                        <a:srgbClr val="4B6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 w="9525" cap="flat" cmpd="sng" algn="ctr">
                      <a:solidFill>
                        <a:srgbClr val="4B65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543830"/>
                  </a:ext>
                </a:extLst>
              </a:tr>
              <a:tr h="9394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size_t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fread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(void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ptr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size_t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size,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size_t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count, FILE *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从文件读取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size×count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字节填入内存</a:t>
                      </a:r>
                    </a:p>
                  </a:txBody>
                  <a:tcPr marL="49447" marR="49447" marT="24724" marB="24724" anchor="ctr">
                    <a:lnL>
                      <a:solidFill>
                        <a:srgbClr val="4B6587"/>
                      </a:solidFill>
                      <a:prstDash val="solid"/>
                    </a:lnL>
                    <a:lnR>
                      <a:solidFill>
                        <a:srgbClr val="4B6587"/>
                      </a:solidFill>
                      <a:prstDash val="solid"/>
                    </a:lnR>
                    <a:lnT>
                      <a:solidFill>
                        <a:srgbClr val="4B6587"/>
                      </a:solidFill>
                      <a:prstDash val="solid"/>
                    </a:lnT>
                    <a:lnB>
                      <a:solidFill>
                        <a:srgbClr val="4B6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359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93161-79E4-EAFE-AF7A-12CB4215974E}"/>
              </a:ext>
            </a:extLst>
          </p:cNvPr>
          <p:cNvSpPr>
            <a:spLocks noGrp="1"/>
          </p:cNvSpPr>
          <p:nvPr/>
        </p:nvSpPr>
        <p:spPr>
          <a:xfrm>
            <a:off x="6356801" y="1317956"/>
            <a:ext cx="5295364" cy="4938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  <a:defRPr sz="1800"/>
            </a:pPr>
            <a:endParaRPr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淘宝网chenying0907出品 4">
            <a:extLst>
              <a:ext uri="{FF2B5EF4-FFF2-40B4-BE49-F238E27FC236}">
                <a16:creationId xmlns:a16="http://schemas.microsoft.com/office/drawing/2014/main" id="{20DD9CE4-4F15-E7C2-8DA6-B2CED323D9E2}"/>
              </a:ext>
            </a:extLst>
          </p:cNvPr>
          <p:cNvSpPr txBox="1"/>
          <p:nvPr/>
        </p:nvSpPr>
        <p:spPr>
          <a:xfrm>
            <a:off x="1587600" y="264321"/>
            <a:ext cx="630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文件基础：</a:t>
            </a: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文件读写方式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3B7D28A-DB74-6860-D476-A875B8A269D7}"/>
              </a:ext>
            </a:extLst>
          </p:cNvPr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603BDA5-F2FB-974B-809D-316F59B99F9D}"/>
              </a:ext>
            </a:extLst>
          </p:cNvPr>
          <p:cNvSpPr txBox="1"/>
          <p:nvPr/>
        </p:nvSpPr>
        <p:spPr>
          <a:xfrm>
            <a:off x="6356801" y="1979279"/>
            <a:ext cx="58177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rPr lang="en-US" altLang="zh-CN" sz="1600" dirty="0" err="1"/>
              <a:t>fp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fopen</a:t>
            </a:r>
            <a:r>
              <a:rPr lang="en-US" altLang="zh-CN" sz="1600" dirty="0"/>
              <a:t>("</a:t>
            </a:r>
            <a:r>
              <a:rPr lang="en-US" altLang="zh-CN" sz="1600" dirty="0" err="1"/>
              <a:t>score.bin</a:t>
            </a:r>
            <a:r>
              <a:rPr lang="en-US" altLang="zh-CN" sz="1600" dirty="0"/>
              <a:t>", "</a:t>
            </a:r>
            <a:r>
              <a:rPr lang="en-US" altLang="zh-CN" sz="1600" dirty="0" err="1"/>
              <a:t>wb</a:t>
            </a:r>
            <a:r>
              <a:rPr lang="en-US" altLang="zh-CN" sz="1600" dirty="0"/>
              <a:t>");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...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b="1" dirty="0" err="1">
                <a:solidFill>
                  <a:srgbClr val="FF0000"/>
                </a:solidFill>
              </a:rPr>
              <a:t>fwrite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stu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sizeof</a:t>
            </a:r>
            <a:r>
              <a:rPr lang="en-US" altLang="zh-CN" sz="1600" dirty="0"/>
              <a:t>(Student), 2, 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);  //</a:t>
            </a:r>
            <a:r>
              <a:rPr lang="zh-CN" altLang="en-US" sz="1600" dirty="0"/>
              <a:t>写</a:t>
            </a:r>
            <a:r>
              <a:rPr lang="en-US" altLang="zh-CN" sz="1600" dirty="0"/>
              <a:t>2</a:t>
            </a:r>
            <a:r>
              <a:rPr lang="zh-CN" altLang="en-US" sz="1600" dirty="0"/>
              <a:t>个结构体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 err="1"/>
              <a:t>fclose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);</a:t>
            </a:r>
          </a:p>
          <a:p>
            <a:pPr>
              <a:defRPr sz="1400">
                <a:latin typeface="Consolas"/>
              </a:defRPr>
            </a:pPr>
            <a:endParaRPr lang="en-US" altLang="zh-CN" sz="1600" dirty="0"/>
          </a:p>
          <a:p>
            <a:pPr>
              <a:defRPr sz="1400">
                <a:latin typeface="Consolas"/>
              </a:defRPr>
            </a:pPr>
            <a:r>
              <a:rPr lang="en-US" altLang="zh-CN" sz="1600" dirty="0" err="1"/>
              <a:t>fp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fopen</a:t>
            </a:r>
            <a:r>
              <a:rPr lang="en-US" altLang="zh-CN" sz="1600" dirty="0"/>
              <a:t>("</a:t>
            </a:r>
            <a:r>
              <a:rPr lang="en-US" altLang="zh-CN" sz="1600" dirty="0" err="1"/>
              <a:t>score.bin</a:t>
            </a:r>
            <a:r>
              <a:rPr lang="en-US" altLang="zh-CN" sz="1600" dirty="0"/>
              <a:t>", "</a:t>
            </a:r>
            <a:r>
              <a:rPr lang="en-US" altLang="zh-CN" sz="1600" dirty="0" err="1"/>
              <a:t>rb</a:t>
            </a:r>
            <a:r>
              <a:rPr lang="en-US" altLang="zh-CN" sz="1600" dirty="0"/>
              <a:t>");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Student r[2];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b="1" dirty="0" err="1">
                <a:solidFill>
                  <a:srgbClr val="FF0000"/>
                </a:solidFill>
              </a:rPr>
              <a:t>fread</a:t>
            </a:r>
            <a:r>
              <a:rPr lang="en-US" altLang="zh-CN" sz="1600" dirty="0"/>
              <a:t>(r, </a:t>
            </a:r>
            <a:r>
              <a:rPr lang="en-US" altLang="zh-CN" sz="1600" dirty="0" err="1"/>
              <a:t>sizeof</a:t>
            </a:r>
            <a:r>
              <a:rPr lang="en-US" altLang="zh-CN" sz="1600" dirty="0"/>
              <a:t>(Student), 2, 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);     //</a:t>
            </a:r>
            <a:r>
              <a:rPr lang="zh-CN" altLang="en-US" sz="1600" dirty="0"/>
              <a:t>读</a:t>
            </a:r>
            <a:r>
              <a:rPr lang="en-US" altLang="zh-CN" sz="1600" dirty="0"/>
              <a:t>2</a:t>
            </a:r>
            <a:r>
              <a:rPr lang="zh-CN" altLang="en-US" sz="1600" dirty="0"/>
              <a:t>个结构体</a:t>
            </a:r>
          </a:p>
          <a:p>
            <a:pPr>
              <a:defRPr sz="1400">
                <a:latin typeface="Consolas"/>
              </a:defRPr>
            </a:pPr>
            <a:endParaRPr lang="zh-CN" altLang="en-US" sz="1600" dirty="0"/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for (int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= 0;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&lt; 2;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++) {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("%-10s %4d %4d %6.1f\n",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           r[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].name, r[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].s1, r[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].s2, r[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].avg);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/>
              <a:t>}</a:t>
            </a:r>
          </a:p>
          <a:p>
            <a:pPr>
              <a:defRPr sz="1400">
                <a:latin typeface="Consolas"/>
              </a:defRPr>
            </a:pPr>
            <a:r>
              <a:rPr lang="en-US" altLang="zh-CN" sz="1600" dirty="0" err="1"/>
              <a:t>fclose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);</a:t>
            </a:r>
          </a:p>
          <a:p>
            <a:pPr>
              <a:defRPr sz="1400">
                <a:latin typeface="Consolas"/>
              </a:defRPr>
            </a:pPr>
            <a:endParaRPr lang="en-US" altLang="zh-CN" sz="1600" dirty="0"/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41305E48-3245-E5B2-999F-92CE4E1A208C}"/>
              </a:ext>
            </a:extLst>
          </p:cNvPr>
          <p:cNvSpPr txBox="1"/>
          <p:nvPr/>
        </p:nvSpPr>
        <p:spPr>
          <a:xfrm>
            <a:off x="637955" y="1261949"/>
            <a:ext cx="253787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📝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文件读写方式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ECED9B-F800-9FF9-ABD8-B4BBA64A0C39}"/>
              </a:ext>
            </a:extLst>
          </p:cNvPr>
          <p:cNvSpPr/>
          <p:nvPr/>
        </p:nvSpPr>
        <p:spPr>
          <a:xfrm>
            <a:off x="6295624" y="1913616"/>
            <a:ext cx="5756208" cy="391697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35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C4147B0C-EC23-A24C-1660-6D1B7B61A9B3}"/>
              </a:ext>
            </a:extLst>
          </p:cNvPr>
          <p:cNvSpPr txBox="1"/>
          <p:nvPr/>
        </p:nvSpPr>
        <p:spPr>
          <a:xfrm>
            <a:off x="2197818" y="1585290"/>
            <a:ext cx="3276859" cy="1843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endParaRPr dirty="0"/>
          </a:p>
          <a:p>
            <a:pPr>
              <a:lnSpc>
                <a:spcPct val="150000"/>
              </a:lnSpc>
              <a:defRPr sz="2000"/>
            </a:pPr>
            <a:r>
              <a:rPr sz="2000" dirty="0"/>
              <a:t>• </a:t>
            </a:r>
            <a:r>
              <a:rPr sz="2000" dirty="0" err="1"/>
              <a:t>scanf</a:t>
            </a:r>
            <a:r>
              <a:rPr sz="2000" dirty="0"/>
              <a:t> </a:t>
            </a:r>
            <a:r>
              <a:rPr sz="2000" dirty="0" err="1"/>
              <a:t>忘记写</a:t>
            </a:r>
            <a:r>
              <a:rPr sz="2000" dirty="0"/>
              <a:t> &amp;；</a:t>
            </a:r>
          </a:p>
          <a:p>
            <a:pPr>
              <a:lnSpc>
                <a:spcPct val="150000"/>
              </a:lnSpc>
              <a:defRPr sz="2000"/>
            </a:pPr>
            <a:r>
              <a:rPr sz="2000" dirty="0"/>
              <a:t>• %c </a:t>
            </a:r>
            <a:r>
              <a:rPr sz="2000" dirty="0" err="1"/>
              <a:t>读取到回车</a:t>
            </a:r>
            <a:r>
              <a:rPr sz="2000" dirty="0"/>
              <a:t>；</a:t>
            </a:r>
          </a:p>
          <a:p>
            <a:pPr>
              <a:lnSpc>
                <a:spcPct val="150000"/>
              </a:lnSpc>
              <a:defRPr sz="2000"/>
            </a:pPr>
            <a:r>
              <a:rPr sz="2000" dirty="0"/>
              <a:t>• %s </a:t>
            </a:r>
            <a:r>
              <a:rPr sz="2000" dirty="0" err="1"/>
              <a:t>不能读含空格的姓名</a:t>
            </a:r>
            <a:r>
              <a:rPr sz="2000" dirty="0"/>
              <a:t>。</a:t>
            </a:r>
          </a:p>
        </p:txBody>
      </p:sp>
      <p:sp>
        <p:nvSpPr>
          <p:cNvPr id="2" name="淘宝网chenying0907出品 4">
            <a:extLst>
              <a:ext uri="{FF2B5EF4-FFF2-40B4-BE49-F238E27FC236}">
                <a16:creationId xmlns:a16="http://schemas.microsoft.com/office/drawing/2014/main" id="{AACA5D18-3012-1F94-53ED-E5D35997C1CD}"/>
              </a:ext>
            </a:extLst>
          </p:cNvPr>
          <p:cNvSpPr txBox="1"/>
          <p:nvPr/>
        </p:nvSpPr>
        <p:spPr>
          <a:xfrm>
            <a:off x="1587600" y="264321"/>
            <a:ext cx="63038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常见错误与调试建议</a:t>
            </a:r>
          </a:p>
          <a:p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5FE1C8F-45B7-87FC-B8CD-DF2D6B1E1833}"/>
              </a:ext>
            </a:extLst>
          </p:cNvPr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2">
            <a:extLst>
              <a:ext uri="{FF2B5EF4-FFF2-40B4-BE49-F238E27FC236}">
                <a16:creationId xmlns:a16="http://schemas.microsoft.com/office/drawing/2014/main" id="{F6C13F95-A371-C0B5-75AE-8053EB9D22AB}"/>
              </a:ext>
            </a:extLst>
          </p:cNvPr>
          <p:cNvSpPr txBox="1"/>
          <p:nvPr/>
        </p:nvSpPr>
        <p:spPr>
          <a:xfrm>
            <a:off x="1818767" y="1531799"/>
            <a:ext cx="2515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❗ 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输入相关错误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68F145F8-4BA2-F1BF-1417-A4234717781E}"/>
              </a:ext>
            </a:extLst>
          </p:cNvPr>
          <p:cNvSpPr txBox="1"/>
          <p:nvPr/>
        </p:nvSpPr>
        <p:spPr>
          <a:xfrm>
            <a:off x="1828189" y="3549640"/>
            <a:ext cx="2515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❗ 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文件相关错误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845816F4-000F-D40C-6522-DEEA3BD9DCC2}"/>
              </a:ext>
            </a:extLst>
          </p:cNvPr>
          <p:cNvSpPr txBox="1"/>
          <p:nvPr/>
        </p:nvSpPr>
        <p:spPr>
          <a:xfrm>
            <a:off x="2197818" y="3584267"/>
            <a:ext cx="4176143" cy="1843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endParaRPr dirty="0"/>
          </a:p>
          <a:p>
            <a:pPr>
              <a:lnSpc>
                <a:spcPct val="150000"/>
              </a:lnSpc>
              <a:defRPr sz="2000"/>
            </a:pPr>
            <a:r>
              <a:rPr sz="2000" dirty="0"/>
              <a:t>• </a:t>
            </a:r>
            <a:r>
              <a:rPr sz="2000" dirty="0" err="1"/>
              <a:t>fopen</a:t>
            </a:r>
            <a:r>
              <a:rPr sz="2000" dirty="0"/>
              <a:t> </a:t>
            </a:r>
            <a:r>
              <a:rPr sz="2000" dirty="0" err="1"/>
              <a:t>失败未检查</a:t>
            </a:r>
            <a:r>
              <a:rPr sz="2000" dirty="0"/>
              <a:t> </a:t>
            </a:r>
            <a:r>
              <a:rPr sz="2000" dirty="0" err="1"/>
              <a:t>fp</a:t>
            </a:r>
            <a:r>
              <a:rPr sz="2000" dirty="0"/>
              <a:t> == NULL；</a:t>
            </a:r>
          </a:p>
          <a:p>
            <a:pPr>
              <a:lnSpc>
                <a:spcPct val="150000"/>
              </a:lnSpc>
              <a:defRPr sz="2000"/>
            </a:pPr>
            <a:r>
              <a:rPr sz="2000" dirty="0"/>
              <a:t>• </a:t>
            </a:r>
            <a:r>
              <a:rPr sz="2000" dirty="0" err="1"/>
              <a:t>文本</a:t>
            </a:r>
            <a:r>
              <a:rPr sz="2000" dirty="0"/>
              <a:t>/</a:t>
            </a:r>
            <a:r>
              <a:rPr sz="2000" dirty="0" err="1"/>
              <a:t>二进制模式混用</a:t>
            </a:r>
            <a:r>
              <a:rPr sz="2000" dirty="0"/>
              <a:t>；</a:t>
            </a:r>
          </a:p>
          <a:p>
            <a:pPr>
              <a:lnSpc>
                <a:spcPct val="150000"/>
              </a:lnSpc>
              <a:defRPr sz="2000"/>
            </a:pPr>
            <a:r>
              <a:rPr sz="2000" dirty="0"/>
              <a:t>• </a:t>
            </a:r>
            <a:r>
              <a:rPr sz="2000" dirty="0" err="1"/>
              <a:t>feof</a:t>
            </a:r>
            <a:r>
              <a:rPr sz="2000" dirty="0"/>
              <a:t> </a:t>
            </a:r>
            <a:r>
              <a:rPr sz="2000" dirty="0" err="1"/>
              <a:t>用法错误导致多读或死循环</a:t>
            </a:r>
            <a:r>
              <a:rPr sz="2000" dirty="0"/>
              <a:t>。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99396C39-4282-766F-9AFC-EF619BE0B89E}"/>
              </a:ext>
            </a:extLst>
          </p:cNvPr>
          <p:cNvSpPr txBox="1"/>
          <p:nvPr/>
        </p:nvSpPr>
        <p:spPr>
          <a:xfrm>
            <a:off x="6373961" y="1581147"/>
            <a:ext cx="19223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🛠️ 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调试建议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64B008B7-CB16-03EF-BA9D-3468D781180B}"/>
              </a:ext>
            </a:extLst>
          </p:cNvPr>
          <p:cNvSpPr txBox="1"/>
          <p:nvPr/>
        </p:nvSpPr>
        <p:spPr>
          <a:xfrm>
            <a:off x="6692318" y="1740557"/>
            <a:ext cx="3448380" cy="1843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endParaRPr dirty="0"/>
          </a:p>
          <a:p>
            <a:pPr>
              <a:lnSpc>
                <a:spcPct val="150000"/>
              </a:lnSpc>
              <a:defRPr sz="2000"/>
            </a:pPr>
            <a:r>
              <a:rPr sz="2000" dirty="0"/>
              <a:t>• </a:t>
            </a:r>
            <a:r>
              <a:rPr sz="2000" dirty="0" err="1"/>
              <a:t>多使用</a:t>
            </a:r>
            <a:r>
              <a:rPr sz="2000" dirty="0"/>
              <a:t> </a:t>
            </a:r>
            <a:r>
              <a:rPr sz="2000" dirty="0" err="1"/>
              <a:t>printf</a:t>
            </a:r>
            <a:r>
              <a:rPr sz="2000" dirty="0"/>
              <a:t> </a:t>
            </a:r>
            <a:r>
              <a:rPr sz="2000" dirty="0" err="1"/>
              <a:t>查看变量值</a:t>
            </a:r>
            <a:r>
              <a:rPr sz="2000" dirty="0"/>
              <a:t>；</a:t>
            </a:r>
          </a:p>
          <a:p>
            <a:pPr>
              <a:lnSpc>
                <a:spcPct val="150000"/>
              </a:lnSpc>
              <a:defRPr sz="2000"/>
            </a:pPr>
            <a:r>
              <a:rPr sz="2000" dirty="0"/>
              <a:t>• </a:t>
            </a:r>
            <a:r>
              <a:rPr sz="2000" dirty="0" err="1"/>
              <a:t>先在小范围测试，再扩展</a:t>
            </a:r>
            <a:r>
              <a:rPr sz="2000" dirty="0"/>
              <a:t>；</a:t>
            </a:r>
          </a:p>
          <a:p>
            <a:pPr>
              <a:lnSpc>
                <a:spcPct val="150000"/>
              </a:lnSpc>
              <a:defRPr sz="2000"/>
            </a:pPr>
            <a:r>
              <a:rPr sz="2000" dirty="0"/>
              <a:t>• </a:t>
            </a:r>
            <a:r>
              <a:rPr sz="2000" dirty="0" err="1"/>
              <a:t>注意编译器的警告信息</a:t>
            </a:r>
            <a:r>
              <a:rPr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91925708"/>
      </p:ext>
    </p:extLst>
  </p:cSld>
  <p:clrMapOvr>
    <a:masterClrMapping/>
  </p:clrMapOvr>
  <p:transition spd="slow" advTm="0">
    <p:comb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3B358-6443-D7B4-30DF-77794701F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>
            <a:extLst>
              <a:ext uri="{FF2B5EF4-FFF2-40B4-BE49-F238E27FC236}">
                <a16:creationId xmlns:a16="http://schemas.microsoft.com/office/drawing/2014/main" id="{6112999E-E422-2B02-D8F8-4BAC0784F731}"/>
              </a:ext>
            </a:extLst>
          </p:cNvPr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输入输出与文件操作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53C0DF-86C9-4CDD-81C0-3DEAC55E7AB7}"/>
              </a:ext>
            </a:extLst>
          </p:cNvPr>
          <p:cNvSpPr txBox="1"/>
          <p:nvPr/>
        </p:nvSpPr>
        <p:spPr>
          <a:xfrm>
            <a:off x="1409790" y="1038529"/>
            <a:ext cx="9743315" cy="5555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7001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反应速度游戏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题目：</a:t>
            </a:r>
            <a:b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在一个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反应速度游戏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中，每次游戏会得到一个整数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（毫秒）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表示玩家从看到提示到按下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Enter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的用时。为了方便后续分析，希望将每局游戏的成绩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记录到成绩文件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score.txt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中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，并能在屏幕上查看所有历史成绩。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请你编写程序，完成以下功能的核心部分：</a:t>
            </a:r>
          </a:p>
          <a:p>
            <a:pPr marL="457200" indent="-4572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从成绩文件（文本格式）中读取已有记录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，加载到内存中（结构体数组）；</a:t>
            </a:r>
          </a:p>
          <a:p>
            <a:pPr marL="457200" indent="-4572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玩一局游戏后，得到本次的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反应时间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，从键盘输入玩家的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457200" indent="-4572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将一条新记录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 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当前时间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追加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到成绩文件末尾，同时更新内存中的数组；</a:t>
            </a:r>
          </a:p>
          <a:p>
            <a:pPr marL="457200" indent="-4572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按表格形式输出所有成绩记录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，每行显示：姓名、反应时间（毫秒）、记录时间（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YYYY-MM-DD HH:MM:SS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Alice 320 2025-11-29 14:03:59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7D954ED-D6AA-1B2C-B16F-FB0A19A1DD42}"/>
              </a:ext>
            </a:extLst>
          </p:cNvPr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26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51F06-2FCE-FEB4-99FA-0929466B6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>
            <a:extLst>
              <a:ext uri="{FF2B5EF4-FFF2-40B4-BE49-F238E27FC236}">
                <a16:creationId xmlns:a16="http://schemas.microsoft.com/office/drawing/2014/main" id="{60488110-D073-7EDF-D859-DEBEE131D30B}"/>
              </a:ext>
            </a:extLst>
          </p:cNvPr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输入输出与文件操作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0F499A-CAE5-CEF5-0202-762DD4B8868E}"/>
              </a:ext>
            </a:extLst>
          </p:cNvPr>
          <p:cNvSpPr txBox="1"/>
          <p:nvPr/>
        </p:nvSpPr>
        <p:spPr>
          <a:xfrm>
            <a:off x="1403350" y="960235"/>
            <a:ext cx="9743315" cy="6882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7001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反应速度游戏</a:t>
            </a:r>
          </a:p>
          <a:p>
            <a:pPr algn="just">
              <a:lnSpc>
                <a:spcPct val="150000"/>
              </a:lnSpc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92BD8AD-DBE6-8FE9-E60B-FCB46F39479E}"/>
              </a:ext>
            </a:extLst>
          </p:cNvPr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B938072-043B-60E2-0843-0F34E97AE60D}"/>
              </a:ext>
            </a:extLst>
          </p:cNvPr>
          <p:cNvSpPr txBox="1"/>
          <p:nvPr/>
        </p:nvSpPr>
        <p:spPr>
          <a:xfrm>
            <a:off x="1403350" y="1999338"/>
            <a:ext cx="60949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已从 score.txt 读取 2 条记录。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---------- 反应速度测试 ----------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开始游戏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查看成绩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 退出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请选择：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（随机等待...）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现在按 Enter!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你的反应时间是：285 毫秒。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是否保存本次成绩？(y/n)：y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请输入姓名（不含空格）：Alice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成绩已保存到 score.txt。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8E4B771-17BF-A45B-6372-DB31C362E0AB}"/>
              </a:ext>
            </a:extLst>
          </p:cNvPr>
          <p:cNvSpPr txBox="1"/>
          <p:nvPr/>
        </p:nvSpPr>
        <p:spPr>
          <a:xfrm>
            <a:off x="6275007" y="1270868"/>
            <a:ext cx="576262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---------- 反应速度测试 ----------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开始游戏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查看成绩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 退出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请选择：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编号  姓名        反应时间(ms)   记录时间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----------------------------------------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---------------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     </a:t>
            </a:r>
            <a:r>
              <a:rPr lang="pl-PL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Bob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pl-PL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310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pl-PL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2025-11-29 09:15:03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      </a:t>
            </a:r>
            <a:r>
              <a:rPr lang="pl-PL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Cindy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pl-PL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450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pl-PL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2025-11-29 20:01:55</a:t>
            </a:r>
          </a:p>
          <a:p>
            <a:pPr marL="342900" indent="-342900">
              <a:buAutoNum type="arabicPlain" startAt="3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pl-PL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Alice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pl-PL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285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pl-PL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2025-11-29 14:03:59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lain" startAt="3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---------- 反应速度测试 ----------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开始游戏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查看成绩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 退出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请选择：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2C71999-4ED1-0772-6504-EA7E7A80A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90" y="5904158"/>
            <a:ext cx="3097369" cy="90232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B9A1864-044F-648F-BD3D-6BA92E65E910}"/>
              </a:ext>
            </a:extLst>
          </p:cNvPr>
          <p:cNvSpPr/>
          <p:nvPr/>
        </p:nvSpPr>
        <p:spPr>
          <a:xfrm>
            <a:off x="1403350" y="5904158"/>
            <a:ext cx="4475408" cy="90232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8E1383-743C-452C-B89D-53CF2ED5E015}"/>
              </a:ext>
            </a:extLst>
          </p:cNvPr>
          <p:cNvSpPr txBox="1"/>
          <p:nvPr/>
        </p:nvSpPr>
        <p:spPr>
          <a:xfrm>
            <a:off x="1557000" y="5959872"/>
            <a:ext cx="1118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score.txt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57B965-075F-6A2C-8B55-E1DEC611E599}"/>
              </a:ext>
            </a:extLst>
          </p:cNvPr>
          <p:cNvSpPr txBox="1"/>
          <p:nvPr/>
        </p:nvSpPr>
        <p:spPr>
          <a:xfrm>
            <a:off x="1403350" y="1535414"/>
            <a:ext cx="24131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输入输出示例</a:t>
            </a:r>
          </a:p>
        </p:txBody>
      </p:sp>
    </p:spTree>
    <p:extLst>
      <p:ext uri="{BB962C8B-B14F-4D97-AF65-F5344CB8AC3E}">
        <p14:creationId xmlns:p14="http://schemas.microsoft.com/office/powerpoint/2010/main" val="368431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F06B5-8954-4DC0-B634-5322BEA34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>
            <a:extLst>
              <a:ext uri="{FF2B5EF4-FFF2-40B4-BE49-F238E27FC236}">
                <a16:creationId xmlns:a16="http://schemas.microsoft.com/office/drawing/2014/main" id="{A0D96AE2-AFB2-A2A4-96F2-8123286B2928}"/>
              </a:ext>
            </a:extLst>
          </p:cNvPr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输入输出与文件操作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070D8C-A09A-C930-80EB-B4B7D0B1B163}"/>
              </a:ext>
            </a:extLst>
          </p:cNvPr>
          <p:cNvSpPr txBox="1"/>
          <p:nvPr/>
        </p:nvSpPr>
        <p:spPr>
          <a:xfrm>
            <a:off x="1403350" y="960235"/>
            <a:ext cx="9743315" cy="6882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7001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反应速度游戏</a:t>
            </a:r>
          </a:p>
          <a:p>
            <a:pPr algn="just">
              <a:lnSpc>
                <a:spcPct val="150000"/>
              </a:lnSpc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7BE2AC-CF04-6B83-1292-988D12099238}"/>
              </a:ext>
            </a:extLst>
          </p:cNvPr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2D44BA7-B5DA-513A-6B54-14CAB96355DB}"/>
              </a:ext>
            </a:extLst>
          </p:cNvPr>
          <p:cNvSpPr txBox="1"/>
          <p:nvPr/>
        </p:nvSpPr>
        <p:spPr>
          <a:xfrm>
            <a:off x="1587600" y="1735469"/>
            <a:ext cx="6097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定义结构体</a:t>
            </a:r>
            <a:endParaRPr lang="zh-CN" altLang="en-US" sz="20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79FCA06-5962-63F7-DA99-87300A882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500063"/>
              </p:ext>
            </p:extLst>
          </p:nvPr>
        </p:nvGraphicFramePr>
        <p:xfrm>
          <a:off x="2144829" y="2624882"/>
          <a:ext cx="7902342" cy="1828800"/>
        </p:xfrm>
        <a:graphic>
          <a:graphicData uri="http://schemas.openxmlformats.org/drawingml/2006/table">
            <a:tbl>
              <a:tblPr/>
              <a:tblGrid>
                <a:gridCol w="2050182">
                  <a:extLst>
                    <a:ext uri="{9D8B030D-6E8A-4147-A177-3AD203B41FA5}">
                      <a16:colId xmlns:a16="http://schemas.microsoft.com/office/drawing/2014/main" val="3235668571"/>
                    </a:ext>
                  </a:extLst>
                </a:gridCol>
                <a:gridCol w="2088683">
                  <a:extLst>
                    <a:ext uri="{9D8B030D-6E8A-4147-A177-3AD203B41FA5}">
                      <a16:colId xmlns:a16="http://schemas.microsoft.com/office/drawing/2014/main" val="3058488538"/>
                    </a:ext>
                  </a:extLst>
                </a:gridCol>
                <a:gridCol w="3763477">
                  <a:extLst>
                    <a:ext uri="{9D8B030D-6E8A-4147-A177-3AD203B41FA5}">
                      <a16:colId xmlns:a16="http://schemas.microsoft.com/office/drawing/2014/main" val="2097442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成员变量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007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name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char[20]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玩家姓名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481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ms</a:t>
                      </a:r>
                      <a:endParaRPr lang="en-US" dirty="0">
                        <a:solidFill>
                          <a:srgbClr val="112D4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反应时间，单位：毫秒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930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date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char[11]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保存“</a:t>
                      </a:r>
                      <a:r>
                        <a:rPr lang="en-US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YYYY-MM-DD”</a:t>
                      </a:r>
                      <a:r>
                        <a:rPr lang="zh-CN" altLang="en-US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格式日期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392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time_str</a:t>
                      </a:r>
                      <a:endParaRPr lang="en-US" dirty="0">
                        <a:solidFill>
                          <a:srgbClr val="112D4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char[9]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保存“</a:t>
                      </a:r>
                      <a:r>
                        <a:rPr lang="en-US" altLang="zh-CN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HH:MM:SS”</a:t>
                      </a:r>
                      <a:r>
                        <a:rPr lang="zh-CN" altLang="en-US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格式时间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809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090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25E8C-6B1D-22F8-3C3B-3D036CEA5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>
            <a:extLst>
              <a:ext uri="{FF2B5EF4-FFF2-40B4-BE49-F238E27FC236}">
                <a16:creationId xmlns:a16="http://schemas.microsoft.com/office/drawing/2014/main" id="{873922B4-DAAA-2E8B-FB7F-BDE92090EB45}"/>
              </a:ext>
            </a:extLst>
          </p:cNvPr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输入输出与文件操作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B3479C-D7F6-BBB0-5F69-5DBF812B24D9}"/>
              </a:ext>
            </a:extLst>
          </p:cNvPr>
          <p:cNvSpPr txBox="1"/>
          <p:nvPr/>
        </p:nvSpPr>
        <p:spPr>
          <a:xfrm>
            <a:off x="1403350" y="960235"/>
            <a:ext cx="9743315" cy="6882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7001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反应速度游戏</a:t>
            </a:r>
          </a:p>
          <a:p>
            <a:pPr algn="just">
              <a:lnSpc>
                <a:spcPct val="150000"/>
              </a:lnSpc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20C4196-5C01-AD0C-67FF-6083E25FA04A}"/>
              </a:ext>
            </a:extLst>
          </p:cNvPr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C06EC5D-A1A5-00BE-7F42-E32107AC8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176978"/>
              </p:ext>
            </p:extLst>
          </p:nvPr>
        </p:nvGraphicFramePr>
        <p:xfrm>
          <a:off x="838200" y="2446814"/>
          <a:ext cx="10515600" cy="2560320"/>
        </p:xfrm>
        <a:graphic>
          <a:graphicData uri="http://schemas.openxmlformats.org/drawingml/2006/table">
            <a:tbl>
              <a:tblPr/>
              <a:tblGrid>
                <a:gridCol w="2091744">
                  <a:extLst>
                    <a:ext uri="{9D8B030D-6E8A-4147-A177-3AD203B41FA5}">
                      <a16:colId xmlns:a16="http://schemas.microsoft.com/office/drawing/2014/main" val="315839762"/>
                    </a:ext>
                  </a:extLst>
                </a:gridCol>
                <a:gridCol w="3166056">
                  <a:extLst>
                    <a:ext uri="{9D8B030D-6E8A-4147-A177-3AD203B41FA5}">
                      <a16:colId xmlns:a16="http://schemas.microsoft.com/office/drawing/2014/main" val="2249127095"/>
                    </a:ext>
                  </a:extLst>
                </a:gridCol>
                <a:gridCol w="3357093">
                  <a:extLst>
                    <a:ext uri="{9D8B030D-6E8A-4147-A177-3AD203B41FA5}">
                      <a16:colId xmlns:a16="http://schemas.microsoft.com/office/drawing/2014/main" val="2995646341"/>
                    </a:ext>
                  </a:extLst>
                </a:gridCol>
                <a:gridCol w="1900707">
                  <a:extLst>
                    <a:ext uri="{9D8B030D-6E8A-4147-A177-3AD203B41FA5}">
                      <a16:colId xmlns:a16="http://schemas.microsoft.com/office/drawing/2014/main" val="3186827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函数名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输入参数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166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load_records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 </a:t>
                      </a:r>
                      <a:r>
                        <a:rPr lang="en-US" altLang="zh-CN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score.txt</a:t>
                      </a:r>
                      <a:r>
                        <a:rPr lang="zh-CN" altLang="en-US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读取历史成绩到数组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rec[]</a:t>
                      </a:r>
                      <a:r>
                        <a:rPr lang="zh-CN" altLang="en-US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：记录数组（输出）</a:t>
                      </a:r>
                      <a:r>
                        <a:rPr lang="en-US" altLang="zh-CN" dirty="0" err="1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max_count</a:t>
                      </a:r>
                      <a:r>
                        <a:rPr lang="zh-CN" altLang="en-US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：最大条数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返回读取到的记录条数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815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show_records</a:t>
                      </a:r>
                      <a:endParaRPr lang="en-US" dirty="0">
                        <a:solidFill>
                          <a:srgbClr val="112D4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以表格形式在屏幕上显示所有成绩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rec[]</a:t>
                      </a:r>
                      <a:r>
                        <a:rPr lang="zh-CN" altLang="en-US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：记录数组</a:t>
                      </a:r>
                      <a:endParaRPr lang="en-US" altLang="zh-CN" dirty="0">
                        <a:solidFill>
                          <a:srgbClr val="112D4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count</a:t>
                      </a:r>
                      <a:r>
                        <a:rPr lang="zh-CN" altLang="en-US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：记录条数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无（在屏幕输出）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320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add_record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追加一条成绩到数组和文件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rec[]</a:t>
                      </a:r>
                      <a:r>
                        <a:rPr lang="zh-CN" altLang="en-US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：记录数组（输入</a:t>
                      </a:r>
                      <a:r>
                        <a:rPr lang="en-US" altLang="zh-CN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输出）</a:t>
                      </a:r>
                      <a:endParaRPr lang="en-US" altLang="zh-CN" dirty="0">
                        <a:solidFill>
                          <a:srgbClr val="112D4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count</a:t>
                      </a:r>
                      <a:r>
                        <a:rPr lang="zh-CN" altLang="en-US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：记录数指针（输出）</a:t>
                      </a:r>
                      <a:endParaRPr lang="en-US" altLang="zh-CN" dirty="0">
                        <a:solidFill>
                          <a:srgbClr val="112D4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dirty="0" err="1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ms</a:t>
                      </a:r>
                      <a:r>
                        <a:rPr lang="zh-CN" altLang="en-US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：本次反应时间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rgbClr val="112D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anchor="ctr">
                    <a:lnL>
                      <a:solidFill>
                        <a:srgbClr val="112D4E"/>
                      </a:solidFill>
                      <a:prstDash val="solid"/>
                    </a:lnL>
                    <a:lnR>
                      <a:solidFill>
                        <a:srgbClr val="112D4E"/>
                      </a:solidFill>
                      <a:prstDash val="solid"/>
                    </a:lnR>
                    <a:lnT>
                      <a:solidFill>
                        <a:srgbClr val="112D4E"/>
                      </a:solidFill>
                      <a:prstDash val="solid"/>
                    </a:lnT>
                    <a:lnB>
                      <a:solidFill>
                        <a:srgbClr val="112D4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782625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CA5F97C1-B178-ECC6-58A7-A342390FFEF3}"/>
              </a:ext>
            </a:extLst>
          </p:cNvPr>
          <p:cNvSpPr txBox="1"/>
          <p:nvPr/>
        </p:nvSpPr>
        <p:spPr>
          <a:xfrm>
            <a:off x="1587600" y="1735469"/>
            <a:ext cx="6097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TODO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</a:p>
        </p:txBody>
      </p:sp>
    </p:spTree>
    <p:extLst>
      <p:ext uri="{BB962C8B-B14F-4D97-AF65-F5344CB8AC3E}">
        <p14:creationId xmlns:p14="http://schemas.microsoft.com/office/powerpoint/2010/main" val="308839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1B4E8-ED0C-F955-1B7A-CBCB00B49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>
            <a:extLst>
              <a:ext uri="{FF2B5EF4-FFF2-40B4-BE49-F238E27FC236}">
                <a16:creationId xmlns:a16="http://schemas.microsoft.com/office/drawing/2014/main" id="{433611A5-A8EC-66EC-8646-D01C119BD1D1}"/>
              </a:ext>
            </a:extLst>
          </p:cNvPr>
          <p:cNvSpPr txBox="1"/>
          <p:nvPr/>
        </p:nvSpPr>
        <p:spPr>
          <a:xfrm>
            <a:off x="1587600" y="264321"/>
            <a:ext cx="630380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实验提交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3F5787-1A82-AE82-73F2-B0EC9D81A4AA}"/>
              </a:ext>
            </a:extLst>
          </p:cNvPr>
          <p:cNvSpPr txBox="1"/>
          <p:nvPr/>
        </p:nvSpPr>
        <p:spPr>
          <a:xfrm>
            <a:off x="1587600" y="1652791"/>
            <a:ext cx="9743315" cy="6882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将整个项目文件打成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包，提交到作业提交平台：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  <a:hlinkClick r:id="rId3"/>
              </a:rPr>
              <a:t>http://grader.tery.top:8001/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A4A358D-3DF5-4CEC-B46E-CDC8265AD031}"/>
              </a:ext>
            </a:extLst>
          </p:cNvPr>
          <p:cNvCxnSpPr/>
          <p:nvPr/>
        </p:nvCxnSpPr>
        <p:spPr>
          <a:xfrm>
            <a:off x="1350619" y="873262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54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4"/>
            <a:ext cx="12192000" cy="43769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5709"/>
            <a:ext cx="12192000" cy="336229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3065796"/>
            <a:ext cx="3600000" cy="214013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10769600" y="3664910"/>
            <a:ext cx="843953" cy="2410180"/>
            <a:chOff x="10769600" y="3836360"/>
            <a:chExt cx="843953" cy="241018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9600" y="3838038"/>
              <a:ext cx="146835" cy="2408502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9612" y="4912297"/>
              <a:ext cx="492494" cy="129551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50930" y="3836360"/>
              <a:ext cx="562623" cy="824898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534" y="247661"/>
            <a:ext cx="3602440" cy="18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97" y="444499"/>
            <a:ext cx="108000" cy="272454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2093857"/>
            <a:ext cx="3600000" cy="8149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765199" y="4240309"/>
            <a:ext cx="9156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请同学们开始实验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9798622" y="6455543"/>
            <a:ext cx="2107760" cy="288000"/>
            <a:chOff x="1021340" y="5712187"/>
            <a:chExt cx="2107760" cy="28800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340" y="5716689"/>
              <a:ext cx="581924" cy="270576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89100" y="5712187"/>
              <a:ext cx="1440000" cy="28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7255" y="5720618"/>
              <a:ext cx="1186531" cy="270000"/>
            </a:xfrm>
            <a:prstGeom prst="rect">
              <a:avLst/>
            </a:prstGeom>
          </p:spPr>
        </p:pic>
      </p:grp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5199" y="5983976"/>
            <a:ext cx="3475990" cy="638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3"/>
  <p:tag name="COMMONDATA" val="eyJoZGlkIjoiMDljYWUyMzkyZmQ0OTgwOWUyMjkzNmZiMWJjYjA2Nz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0.79913385826774,&quot;left&quot;:53.54102362204725,&quot;top&quot;:72.59874015748031,&quot;width&quot;:760.7687401574804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1952</TotalTime>
  <Words>2620</Words>
  <Application>Microsoft Office PowerPoint</Application>
  <PresentationFormat>宽屏</PresentationFormat>
  <Paragraphs>434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微软雅黑</vt:lpstr>
      <vt:lpstr>Arial</vt:lpstr>
      <vt:lpstr>Calibri</vt:lpstr>
      <vt:lpstr>Calibri Light</vt:lpstr>
      <vt:lpstr>Impact</vt:lpstr>
      <vt:lpstr>Wingdings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min fang</cp:lastModifiedBy>
  <cp:revision>791</cp:revision>
  <dcterms:created xsi:type="dcterms:W3CDTF">2025-10-06T04:08:00Z</dcterms:created>
  <dcterms:modified xsi:type="dcterms:W3CDTF">2025-12-05T07:24:22Z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B75E88D8FD6E56927740E368AF124889_43</vt:lpwstr>
  </property>
</Properties>
</file>