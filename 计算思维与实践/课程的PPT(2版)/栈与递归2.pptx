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43"/>
  </p:handoutMasterIdLst>
  <p:sldIdLst>
    <p:sldId id="673" r:id="rId4"/>
    <p:sldId id="1400" r:id="rId5"/>
    <p:sldId id="527" r:id="rId6"/>
    <p:sldId id="448" r:id="rId7"/>
    <p:sldId id="449" r:id="rId9"/>
    <p:sldId id="1401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5" r:id="rId25"/>
    <p:sldId id="466" r:id="rId26"/>
    <p:sldId id="1402" r:id="rId27"/>
    <p:sldId id="467" r:id="rId28"/>
    <p:sldId id="468" r:id="rId29"/>
    <p:sldId id="1404" r:id="rId30"/>
    <p:sldId id="1405" r:id="rId31"/>
    <p:sldId id="470" r:id="rId32"/>
    <p:sldId id="471" r:id="rId33"/>
    <p:sldId id="472" r:id="rId34"/>
    <p:sldId id="473" r:id="rId35"/>
    <p:sldId id="474" r:id="rId36"/>
    <p:sldId id="475" r:id="rId37"/>
    <p:sldId id="476" r:id="rId38"/>
    <p:sldId id="477" r:id="rId39"/>
    <p:sldId id="479" r:id="rId40"/>
    <p:sldId id="1403" r:id="rId41"/>
    <p:sldId id="483" r:id="rId42"/>
  </p:sldIdLst>
  <p:sldSz cx="12192000" cy="6858000"/>
  <p:notesSz cx="6757670" cy="9865995"/>
  <p:custDataLst>
    <p:tags r:id="rId4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29"/>
    <p:restoredTop sz="79252" autoAdjust="0"/>
  </p:normalViewPr>
  <p:slideViewPr>
    <p:cSldViewPr showGuides="1">
      <p:cViewPr varScale="1">
        <p:scale>
          <a:sx n="74" d="100"/>
          <a:sy n="74" d="100"/>
        </p:scale>
        <p:origin x="192" y="736"/>
      </p:cViewPr>
      <p:guideLst>
        <p:guide orient="horz" pos="2160"/>
        <p:guide pos="3749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 showFormatting="0">
    <p:cViewPr>
      <p:scale>
        <a:sx n="100" d="100"/>
        <a:sy n="100" d="100"/>
      </p:scale>
      <p:origin x="0" y="189912"/>
    </p:cViewPr>
  </p:sorterViewPr>
  <p:notesViewPr>
    <p:cSldViewPr>
      <p:cViewPr>
        <p:scale>
          <a:sx n="25" d="100"/>
          <a:sy n="25" d="100"/>
        </p:scale>
        <p:origin x="3928" y="15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4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84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2000"/>
            <a:ext cx="6502400" cy="365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245" name="Rectangle 5"/>
          <p:cNvSpPr>
            <a:spLocks noGrp="1"/>
          </p:cNvSpPr>
          <p:nvPr>
            <p:ph type="body" sz="quarter"/>
          </p:nvPr>
        </p:nvSpPr>
        <p:spPr>
          <a:xfrm>
            <a:off x="914400" y="4724400"/>
            <a:ext cx="4951413" cy="44180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22" tIns="45711" rIns="91422" bIns="45711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71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1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1348</a:t>
            </a:r>
            <a:r>
              <a:rPr lang="zh-CN" altLang="en-US" dirty="0"/>
              <a:t>）</a:t>
            </a:r>
            <a:r>
              <a:rPr lang="en-US" altLang="zh-CN" dirty="0"/>
              <a:t>10 =</a:t>
            </a:r>
            <a:r>
              <a:rPr lang="zh-CN" altLang="en-US" dirty="0"/>
              <a:t>（</a:t>
            </a:r>
            <a:r>
              <a:rPr lang="en-US" altLang="zh-CN" dirty="0"/>
              <a:t>2504</a:t>
            </a:r>
            <a:r>
              <a:rPr lang="zh-CN" altLang="en-US" dirty="0"/>
              <a:t>）</a:t>
            </a:r>
            <a:r>
              <a:rPr lang="en-US" altLang="zh-CN" dirty="0"/>
              <a:t>8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是后进的，但是输出的时候是从高位到低位进行，恰好和计算相反。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括号匹配的问题可以用栈来解决：将左括号依次压入栈中，遇到右括号时检查栈顶元素是否匹配，若匹配则弹出栈顶元素。这样，通过栈的后进先出特性，可以轻松解决括号匹配的问题。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所有的左括号都入栈后，程序开始处理右括号的出现。对于每个右括号，首先需要检查栈中是否有元素，也就是判断栈是否为空。如果栈不为空，程序会检查当前右括号与栈顶的左括号是否匹配。匹配的情况下，出栈操作将栈顶元素移除，表示该对括号已完成匹配。</a:t>
            </a:r>
            <a:endParaRPr lang="zh-CN" altLang="en-US" dirty="0"/>
          </a:p>
          <a:p>
            <a:r>
              <a:rPr lang="zh-CN" altLang="en-US" dirty="0"/>
              <a:t>如果遇到不匹配的情况，例如栈顶是左括号但当前输入的是右中括号，则程序会输出错误信息。如果栈为空但遇到右括号，这意味着当前右括号没有匹配的左括号，表示右括号多余，同样输出错误信息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需要仔细理解这段程序；</a:t>
            </a:r>
            <a:endParaRPr lang="en-US" altLang="zh-CN" dirty="0"/>
          </a:p>
          <a:p>
            <a:r>
              <a:rPr lang="en-US" altLang="zh-CN" dirty="0"/>
              <a:t>Break</a:t>
            </a:r>
            <a:r>
              <a:rPr lang="zh-CN" altLang="en-US" dirty="0"/>
              <a:t>跳出</a:t>
            </a:r>
            <a:r>
              <a:rPr lang="en-US" altLang="zh-CN" dirty="0"/>
              <a:t>switch</a:t>
            </a:r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另一个栈的应用场景是行编辑程序，如在命令行中输入字符时可以进行删除操作。在用户按下回车键之前，输入的字符都会暂时存储在缓冲区中，用户可以随时通过退格键（如 #）删除最近输入的字符。如果某一行输入完全错误，用户还可以通过 @ 键删除整行内容。</a:t>
            </a:r>
            <a:endParaRPr lang="zh-CN" altLang="en-US" dirty="0"/>
          </a:p>
          <a:p>
            <a:r>
              <a:rPr lang="zh-CN" altLang="en-US" dirty="0"/>
              <a:t>在实现行编辑的程序时，可以使用栈来管理输入字符。用户每次输入字符时，该字符会被压入栈中；按下 # 键时，栈顶字符会被弹出，表示退格操作；按下 @ 键时，栈将被清空，表示删除整行操作。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行编辑程序的工作流程</a:t>
            </a:r>
            <a:endParaRPr lang="zh-CN" altLang="en-US" dirty="0"/>
          </a:p>
          <a:p>
            <a:r>
              <a:rPr lang="zh-CN" altLang="en-US" dirty="0"/>
              <a:t>1.接收输入：程序会从终端接收一行输入字符，每个字符都被逐个处理。</a:t>
            </a:r>
            <a:endParaRPr lang="zh-CN" altLang="en-US" dirty="0"/>
          </a:p>
          <a:p>
            <a:r>
              <a:rPr lang="zh-CN" altLang="en-US" dirty="0"/>
              <a:t>2.退格操作：如果用户输入 #，程序将执行出栈操作，将栈顶字符删除，表示退格。</a:t>
            </a:r>
            <a:endParaRPr lang="zh-CN" altLang="en-US" dirty="0"/>
          </a:p>
          <a:p>
            <a:r>
              <a:rPr lang="zh-CN" altLang="en-US" dirty="0"/>
              <a:t>3.删除整行操作：如果用户输入 @，程序会清空栈，删除当前行的所有内容。</a:t>
            </a:r>
            <a:endParaRPr lang="zh-CN" altLang="en-US" dirty="0"/>
          </a:p>
          <a:p>
            <a:r>
              <a:rPr lang="zh-CN" altLang="en-US" dirty="0"/>
              <a:t>4.提交输入：用户按下回车键后，程序会将缓冲区中的内容传送到数据区，表示提交这一行的输入。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见书</a:t>
            </a:r>
            <a:r>
              <a:rPr lang="en-US" altLang="zh-CN" dirty="0"/>
              <a:t>p50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</a:t>
            </a:r>
            <a:r>
              <a:t>表达式求值与中缀、前缀、后缀表达式</a:t>
            </a:r>
          </a:p>
          <a:p>
            <a:r>
              <a:t>表达式求值是栈的另一个重要应用。通常，我们会遇到由运算符、操作数和界限符（括号）组成的表达式。常见的四则运算表达式要求我们遵循特定的运算顺序，例如先乘除后加减，先计算括号内的内容，再处理括号外的操作。</a:t>
            </a:r>
          </a:p>
          <a:p>
            <a:r>
              <a:t>从计算机的角度来看，我们可以将表达式分解为三个部分：操作数、运算符 和 界限符。其中，操作数可以是具体的数值，也可以是一个表达式的值。运算符包括加减乘除等四则运算符，界限符则是括号，决定了计算的顺序。</a:t>
            </a:r>
          </a:p>
          <a:p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操作数的顺序不可以改变】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这样一个例子，当然这里有很多运算符，对于这个例子来说，按我们刚才的分析，运算符就应该是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；左边是它的第一操作数，第一操作数本身又是一个表达式，右边是第二操作数，本身也是一个表达式，由于每一个操作数都是表达式，还需要按照他的前缀表示法表示，把运算符提前。。。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中缀看上去比较好看，运算符次序不变，但少了一个括弧。。。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对于这几种表示方法，都不包含括弧，把括弧消除了，去掉了，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中缀表达式我们最常见的表达式形式是中缀表达式，其中运算符位于两个操作数之间。例如，a + b 就是中缀表达式。在这种形式下，括号是必不可少的，它帮助我们确定运算顺序。如果删除括号，计算顺序会发生变化，最终结果也会不同。</a:t>
            </a:r>
            <a:endParaRPr lang="zh-CN" altLang="en-US" dirty="0"/>
          </a:p>
          <a:p>
            <a:r>
              <a:rPr lang="zh-CN" altLang="en-US" dirty="0"/>
              <a:t>前缀表达式和后缀表达式</a:t>
            </a:r>
            <a:endParaRPr lang="zh-CN" altLang="en-US" dirty="0"/>
          </a:p>
          <a:p>
            <a:r>
              <a:rPr lang="zh-CN" altLang="en-US" dirty="0"/>
              <a:t>为了避免使用括号来确定计算顺序，我们可以使用前缀表达式和后缀表达式。</a:t>
            </a:r>
            <a:endParaRPr lang="zh-CN" altLang="en-US" dirty="0"/>
          </a:p>
          <a:p>
            <a:r>
              <a:rPr lang="zh-CN" altLang="en-US" dirty="0"/>
              <a:t>前缀表达式（也叫波兰表达式）：运算符在操作数之前，例如 + a b。</a:t>
            </a:r>
            <a:endParaRPr lang="zh-CN" altLang="en-US" dirty="0"/>
          </a:p>
          <a:p>
            <a:r>
              <a:rPr lang="zh-CN" altLang="en-US" dirty="0"/>
              <a:t>后缀表达式（也叫逆波兰表达式）：运算符在操作数之后，例如 a b +。</a:t>
            </a:r>
            <a:endParaRPr lang="zh-CN" altLang="en-US" dirty="0"/>
          </a:p>
          <a:p>
            <a:r>
              <a:rPr lang="zh-CN" altLang="en-US" dirty="0"/>
              <a:t>这两种表达式都不需要括号，也能够明确表达运算顺序。特别是后缀表达式，计算机在处理复杂表达式时，往往会将中缀表达式转换为后缀表达式来进行计算。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中缀表达式</a:t>
            </a:r>
            <a:endParaRPr lang="zh-CN" altLang="en-US" dirty="0"/>
          </a:p>
          <a:p>
            <a:r>
              <a:rPr lang="zh-CN" altLang="en-US" dirty="0"/>
              <a:t>我们最常见的表达式形式是中缀表达式，其中运算符位于两个操作数之间。例如，a + b 就是中缀表达式。在这种形式下，括号是必不可少的，它帮助我们确定运算顺序。如果删除括号，计算顺序会发生变化，最终结果也会不同。</a:t>
            </a:r>
            <a:endParaRPr lang="zh-CN" altLang="en-US" dirty="0"/>
          </a:p>
          <a:p>
            <a:r>
              <a:rPr lang="zh-CN" altLang="en-US" dirty="0"/>
              <a:t>前缀表达式和后缀表达式</a:t>
            </a:r>
            <a:endParaRPr lang="zh-CN" altLang="en-US" dirty="0"/>
          </a:p>
          <a:p>
            <a:r>
              <a:rPr lang="zh-CN" altLang="en-US" dirty="0"/>
              <a:t>为了避免使用括号来确定计算顺序，我们可以使用前缀表达式和后缀表达式。</a:t>
            </a:r>
            <a:endParaRPr lang="zh-CN" altLang="en-US" dirty="0"/>
          </a:p>
          <a:p>
            <a:r>
              <a:rPr lang="zh-CN" altLang="en-US" dirty="0"/>
              <a:t>前缀表达式（也叫波兰表达式）：运算符在操作数之前，例如 + a b。</a:t>
            </a:r>
            <a:endParaRPr lang="zh-CN" altLang="en-US" dirty="0"/>
          </a:p>
          <a:p>
            <a:r>
              <a:rPr lang="zh-CN" altLang="en-US" dirty="0"/>
              <a:t>后缀表达式（也叫逆波兰表达式）：运算符在操作数之后，例如 a b +。</a:t>
            </a:r>
            <a:endParaRPr lang="zh-CN" altLang="en-US" dirty="0"/>
          </a:p>
          <a:p>
            <a:r>
              <a:rPr lang="zh-CN" altLang="en-US" dirty="0"/>
              <a:t>这两种表达式都不需要括号，也能够明确表达运算顺序。特别是后缀表达式，计算机在处理复杂表达式时，往往会将中缀表达式转换为后缀表达式来进行计算。、后缀表达式的求值</a:t>
            </a:r>
            <a:endParaRPr lang="zh-CN" altLang="en-US" dirty="0"/>
          </a:p>
          <a:p>
            <a:r>
              <a:rPr lang="zh-CN" altLang="en-US" dirty="0"/>
              <a:t>在获得后缀表达式后，计算机可以按照运算符的位置来确定运算顺序。后缀表达式有两个主要特点：</a:t>
            </a:r>
            <a:endParaRPr lang="zh-CN" altLang="en-US" dirty="0"/>
          </a:p>
          <a:p>
            <a:r>
              <a:rPr lang="zh-CN" altLang="en-US" dirty="0"/>
              <a:t>1.操作数的顺序与中缀表达式相同。</a:t>
            </a:r>
            <a:endParaRPr lang="zh-CN" altLang="en-US" dirty="0"/>
          </a:p>
          <a:p>
            <a:r>
              <a:rPr lang="zh-CN" altLang="en-US" dirty="0"/>
              <a:t>2.不需要界限符，通过运算符的位置直接确定操作顺序。</a:t>
            </a:r>
            <a:endParaRPr lang="zh-CN" altLang="en-US" dirty="0"/>
          </a:p>
          <a:p>
            <a:r>
              <a:rPr lang="zh-CN" altLang="en-US" dirty="0"/>
              <a:t>计算机通过栈实现后缀表达式的求值过程。每遇到一个操作数，就将其压入栈中；每遇到一个运算符，就弹出栈顶的两个操作数进行运算，将结果再压入栈中。最终，栈中的唯一元素就是表达式的值。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课堂上，我们通过多个例子展示了如何将中缀表达式转换为后缀表达式，并通过手动计算验证结果。讲解中强调了中缀表达式和后缀表达式在操作数顺序上的一致性，而运算符的顺序则由运算规则决定，保证了最终的正确结果。</a:t>
            </a:r>
            <a:endParaRPr lang="zh-CN" altLang="en-US" dirty="0"/>
          </a:p>
          <a:p>
            <a:r>
              <a:rPr lang="zh-CN" altLang="en-US" dirty="0"/>
              <a:t>课堂还举例说明了，在中缀表达式转后缀表达式的过程中，由于运算顺序的不唯一性，不同的解法可能会产生不同的后缀表达式，尽管结果相同。因此，在转换时最好遵循“左优先”的原则，即优先处理左侧的运算符，确保转换过程的一致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当计算机进行中缀表达式向后缀表达式的转换时，会逐个处理中缀表达式中的符号，包括操作数、运算符和界限符。每遇到一个符号，程序会按照以下规则处理：</a:t>
            </a:r>
            <a:endParaRPr lang="zh-CN" altLang="en-US" dirty="0"/>
          </a:p>
          <a:p>
            <a:r>
              <a:rPr lang="zh-CN" altLang="en-US" dirty="0"/>
              <a:t>1.操作数：直接输出到后缀表达式中，操作数的顺序保持与中缀表达式一致。</a:t>
            </a:r>
            <a:endParaRPr lang="zh-CN" altLang="en-US" dirty="0"/>
          </a:p>
          <a:p>
            <a:r>
              <a:rPr lang="zh-CN" altLang="en-US" dirty="0"/>
              <a:t>2.运算符：程序无法立即决定是否将运算符输出到后缀表达式中，因为需要考虑运算符后面是否存在更高优先级的运算符。因此，程序会先将运算符存储在栈中，待确定其顺序后再输出。</a:t>
            </a:r>
            <a:endParaRPr lang="zh-CN" altLang="en-US" dirty="0"/>
          </a:p>
          <a:p>
            <a:r>
              <a:rPr lang="zh-CN" altLang="en-US" dirty="0"/>
              <a:t>3.界限符（括号）：左括号直接入栈，而右括号则会触发栈顶元素的出栈操作，直到匹配到左括号。</a:t>
            </a:r>
            <a:endParaRPr lang="zh-CN" altLang="en-US" dirty="0"/>
          </a:p>
          <a:p>
            <a:r>
              <a:rPr lang="zh-CN" altLang="en-US" dirty="0"/>
              <a:t>在实际操作中，遇到运算符时，如果栈中运算符的优先级高于或等于当前运算符，栈顶元素会依次弹出并加入后缀表达式，直到遇到优先级较低的运算符或括号为止。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当计算机进行中缀表达式向后缀表达式的转换时，会逐个处理中缀表达式中的符号，包括操作数、运算符和界限符。每遇到一个符号，程序会按照以下规则处理：</a:t>
            </a:r>
            <a:endParaRPr lang="zh-CN" altLang="en-US" dirty="0"/>
          </a:p>
          <a:p>
            <a:r>
              <a:rPr lang="zh-CN" altLang="en-US" dirty="0"/>
              <a:t>1.操作数：直接输出到后缀表达式中，操作数的顺序保持与中缀表达式一致。</a:t>
            </a:r>
            <a:endParaRPr lang="zh-CN" altLang="en-US" dirty="0"/>
          </a:p>
          <a:p>
            <a:r>
              <a:rPr lang="zh-CN" altLang="en-US" dirty="0"/>
              <a:t>2.运算符：程序无法立即决定是否将运算符输出到后缀表达式中，因为需要考虑运算符后面是否存在更高优先级的运算符。因此，程序会先将运算符存储在栈中，待确定其顺序后再输出。</a:t>
            </a:r>
            <a:endParaRPr lang="zh-CN" altLang="en-US" dirty="0"/>
          </a:p>
          <a:p>
            <a:r>
              <a:rPr lang="zh-CN" altLang="en-US" dirty="0"/>
              <a:t>3.界限符（括号）：左括号直接入栈，而右括号则会触发栈顶元素的出栈操作，直到匹配到左括号。</a:t>
            </a:r>
            <a:endParaRPr lang="zh-CN" altLang="en-US" dirty="0"/>
          </a:p>
          <a:p>
            <a:r>
              <a:rPr lang="zh-CN" altLang="en-US" dirty="0"/>
              <a:t>在实际操作中，遇到运算符时，如果栈中运算符的优先级高于或等于当前运算符，栈顶元素会依次弹出并加入后缀表达式，直到遇到优先级较低的运算符或括号为止。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上述表达式转换成中缀： </a:t>
            </a:r>
            <a:r>
              <a:rPr kumimoji="1" lang="en-US" altLang="zh-CN" dirty="0"/>
              <a:t>15</a:t>
            </a:r>
            <a:r>
              <a:rPr lang="en-US" altLang="zh-CN" sz="1200" dirty="0"/>
              <a:t>÷</a:t>
            </a:r>
            <a:r>
              <a:rPr kumimoji="1" lang="zh-CN" altLang="en-US" dirty="0"/>
              <a:t>（</a:t>
            </a:r>
            <a:r>
              <a:rPr kumimoji="1" lang="en-US" altLang="zh-CN" dirty="0"/>
              <a:t>7-</a:t>
            </a:r>
            <a:r>
              <a:rPr kumimoji="1" lang="zh-CN" altLang="en-US" dirty="0"/>
              <a:t>（</a:t>
            </a:r>
            <a:r>
              <a:rPr kumimoji="1" lang="en-US" altLang="zh-CN" dirty="0"/>
              <a:t>1+1</a:t>
            </a:r>
            <a:r>
              <a:rPr kumimoji="1" lang="zh-CN" altLang="en-US" dirty="0"/>
              <a:t>））* </a:t>
            </a:r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(2+(1+1))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函数 </a:t>
            </a:r>
            <a:r>
              <a:rPr lang="en-US" altLang="zh-CN" dirty="0" err="1"/>
              <a:t>isalnum</a:t>
            </a:r>
            <a:r>
              <a:rPr lang="zh-CN" altLang="en-US" dirty="0"/>
              <a:t>判断是否是字符或者数字，如果是则返回真，否则返回假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Yanweimin08</a:t>
            </a:r>
            <a:r>
              <a:rPr lang="zh-CN" altLang="en-US" dirty="0"/>
              <a:t>，</a:t>
            </a:r>
            <a:r>
              <a:rPr lang="en-US" altLang="zh-CN" dirty="0"/>
              <a:t>43min</a:t>
            </a:r>
            <a:r>
              <a:rPr lang="zh-CN" altLang="en-US" dirty="0"/>
              <a:t>，可以学习。。。</a:t>
            </a:r>
            <a:endParaRPr lang="en-US" altLang="zh-CN" dirty="0"/>
          </a:p>
          <a:p>
            <a:r>
              <a:rPr lang="zh-CN" altLang="en-US" dirty="0"/>
              <a:t>递归是经常出现的；如果一个算法能写成递归尽量写成递归；现在计算机的速度都很快了，因为递归算法可读性非常好，而且容易证明他的正确性。</a:t>
            </a:r>
            <a:endParaRPr lang="en-US" altLang="zh-CN" dirty="0"/>
          </a:p>
          <a:p>
            <a:r>
              <a:rPr lang="zh-CN" altLang="en-US" dirty="0"/>
              <a:t>那么要执行递归的话，栈是不可缺少的；那么我们看看在实现递归的时候，栈是怎么起作用的；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我们看一下栈在实现递归里的作用；首先我们看一下递归调用的定义；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Yanweimin08</a:t>
            </a:r>
            <a:r>
              <a:rPr lang="zh-CN" altLang="en-US" dirty="0"/>
              <a:t>，</a:t>
            </a:r>
            <a:r>
              <a:rPr lang="en-US" altLang="zh-CN" dirty="0"/>
              <a:t>43min</a:t>
            </a:r>
            <a:r>
              <a:rPr lang="zh-CN" altLang="en-US" dirty="0"/>
              <a:t>，可以学习。。。</a:t>
            </a:r>
            <a:endParaRPr lang="en-US" altLang="zh-CN" dirty="0"/>
          </a:p>
          <a:p>
            <a:r>
              <a:rPr lang="zh-CN" altLang="en-US" dirty="0"/>
              <a:t>1.递归定义明确的问题：例如，阶乘计算是一个典型的递归问题，阶乘的定义本身就具有递归特性，因此用递归来解决此类问题非常方便。</a:t>
            </a:r>
            <a:endParaRPr lang="zh-CN" altLang="en-US" dirty="0"/>
          </a:p>
          <a:p>
            <a:r>
              <a:rPr lang="zh-CN" altLang="en-US" dirty="0"/>
              <a:t>2.具有递归结构的数据结构：例如，二叉树的数据结构，其每个子树仍然是一个二叉树，这种递归定义的数据结构特别适合用递归算法来进行处理。</a:t>
            </a:r>
            <a:endParaRPr lang="zh-CN" altLang="en-US" dirty="0"/>
          </a:p>
          <a:p>
            <a:r>
              <a:rPr lang="zh-CN" altLang="en-US" dirty="0"/>
              <a:t>非递归定义但适合递归求解的问题：某些问题尽管其定义不是递归的，但用递归方法可以使其求解过程更简单。汉诺塔问题就是一个典型的例子，尽管它的定义并不直接包含递归特性，但递归解决方法却使其计算过程变得非常简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Yanweimin08</a:t>
            </a:r>
            <a:r>
              <a:rPr lang="zh-CN" altLang="en-US" dirty="0"/>
              <a:t>，</a:t>
            </a:r>
            <a:r>
              <a:rPr lang="en-US" altLang="zh-CN" dirty="0"/>
              <a:t>43min</a:t>
            </a:r>
            <a:r>
              <a:rPr lang="zh-CN" altLang="en-US" dirty="0"/>
              <a:t>，可以学习。。。</a:t>
            </a:r>
            <a:endParaRPr lang="en-US" altLang="zh-CN" dirty="0"/>
          </a:p>
          <a:p>
            <a:r>
              <a:rPr lang="zh-CN" altLang="en-US" dirty="0"/>
              <a:t>我们来看一下函数调用之间的关系；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Yanweimin08</a:t>
            </a:r>
            <a:r>
              <a:rPr lang="zh-CN" altLang="en-US" dirty="0"/>
              <a:t>，</a:t>
            </a:r>
            <a:r>
              <a:rPr lang="en-US" altLang="zh-CN" dirty="0"/>
              <a:t>43min</a:t>
            </a:r>
            <a:r>
              <a:rPr lang="zh-CN" altLang="en-US" dirty="0"/>
              <a:t>，可以学习。。。</a:t>
            </a:r>
            <a:endParaRPr lang="en-US" altLang="zh-CN" dirty="0"/>
          </a:p>
          <a:p>
            <a:r>
              <a:rPr lang="zh-CN" altLang="en-US" dirty="0"/>
              <a:t>递归调用与普通函数调用类似，都需要进行如下操作：</a:t>
            </a:r>
            <a:endParaRPr lang="zh-CN" altLang="en-US" dirty="0"/>
          </a:p>
          <a:p>
            <a:r>
              <a:rPr lang="zh-CN" altLang="en-US" dirty="0"/>
              <a:t>1.传递实参和返回地址：当函数调用时，系统会保存传递给被调函数的参数和返回地址。</a:t>
            </a:r>
            <a:endParaRPr lang="zh-CN" altLang="en-US" dirty="0"/>
          </a:p>
          <a:p>
            <a:r>
              <a:rPr lang="zh-CN" altLang="en-US" dirty="0"/>
              <a:t>2.分配局部变量的存储区：为每次递归调用的局部变量分配内存。</a:t>
            </a:r>
            <a:endParaRPr lang="zh-CN" altLang="en-US" dirty="0"/>
          </a:p>
          <a:p>
            <a:r>
              <a:rPr lang="zh-CN" altLang="en-US" dirty="0"/>
              <a:t>3.控制入口转移：将程序控制转移到被调用函数的入口处。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我们来看一下函数调用之间的</a:t>
            </a:r>
            <a:endParaRPr lang="en-US" altLang="zh-CN" dirty="0"/>
          </a:p>
          <a:p>
            <a:r>
              <a:rPr lang="zh-CN" altLang="en-US" dirty="0">
                <a:latin typeface="宋体" pitchFamily="2" charset="-122"/>
                <a:ea typeface="宋体" pitchFamily="2" charset="-122"/>
                <a:sym typeface="+mn-ea"/>
              </a:rPr>
              <a:t>递归调用时，函数调用栈可称为“递归工作栈”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  <a:sym typeface="+mn-ea"/>
              </a:rPr>
              <a:t>每进入一层递归，就将递归调用所需信息压入栈顶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  <a:sym typeface="+mn-ea"/>
              </a:rPr>
              <a:t>每退出一层递归，就从栈顶弹出相应信息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关系；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那么，反过来，从被调用函数到调用函数</a:t>
            </a:r>
            <a:endParaRPr lang="zh-CN" altLang="en-US" dirty="0"/>
          </a:p>
          <a:p>
            <a:r>
              <a:rPr lang="en-US" altLang="zh-CN" dirty="0"/>
              <a:t>函数调用的过程需要用到函数调用栈来保存信息。每次调用时，系统会将函数的返回地址、传递参数和局部变量保存到栈中。函数执行完毕后，系统会从栈中恢复这些信息，返回到调用函数继续执行。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Yanweimin08</a:t>
            </a:r>
            <a:r>
              <a:rPr lang="zh-CN" altLang="en-US" dirty="0"/>
              <a:t>，</a:t>
            </a:r>
            <a:r>
              <a:rPr lang="en-US" altLang="zh-CN" dirty="0"/>
              <a:t>43min</a:t>
            </a:r>
            <a:r>
              <a:rPr lang="zh-CN" altLang="en-US" dirty="0"/>
              <a:t>，可以学习。。。</a:t>
            </a:r>
            <a:endParaRPr lang="en-US" altLang="zh-CN" dirty="0"/>
          </a:p>
          <a:p>
            <a:r>
              <a:rPr lang="zh-CN" altLang="en-US" dirty="0"/>
              <a:t>我们来看一下函数调用之间的</a:t>
            </a:r>
            <a:endParaRPr lang="en-US" altLang="zh-CN" dirty="0"/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递归调用时，函数调用栈可称为“递归工作栈”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每进入一层递归，就将递归调用所需信息压入栈顶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每退出一层递归，就从栈顶弹出相应信息</a:t>
            </a:r>
            <a:endParaRPr lang="zh-CN" altLang="en-US" dirty="0"/>
          </a:p>
          <a:p>
            <a:r>
              <a:rPr lang="zh-CN" altLang="en-US" dirty="0"/>
              <a:t>关系；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那么，反过来，从被调用函数到调用函数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递归调用与普通函数调用的内存分配过程类似。假设一个递归函数 factorial 计算阶乘，当递归调用时，每次调用会保存三个重要信息：</a:t>
            </a:r>
            <a:endParaRPr lang="zh-CN" altLang="en-US" dirty="0"/>
          </a:p>
          <a:p>
            <a:r>
              <a:rPr lang="zh-CN" altLang="en-US" dirty="0"/>
              <a:t>1.返回地址：递归调用结束后，程序需要返回到调用函数的位置继续执行。</a:t>
            </a:r>
            <a:endParaRPr lang="zh-CN" altLang="en-US" dirty="0"/>
          </a:p>
          <a:p>
            <a:r>
              <a:rPr lang="zh-CN" altLang="en-US" dirty="0"/>
              <a:t>2.实参：递归调用传递的参数值。</a:t>
            </a:r>
            <a:endParaRPr lang="zh-CN" altLang="en-US" dirty="0"/>
          </a:p>
          <a:p>
            <a:r>
              <a:rPr lang="zh-CN" altLang="en-US" dirty="0"/>
              <a:t>3.局部变量：用于函数内部的局部变量。</a:t>
            </a:r>
            <a:endParaRPr lang="zh-CN" altLang="en-US" dirty="0"/>
          </a:p>
          <a:p>
            <a:r>
              <a:rPr lang="zh-CN" altLang="en-US" dirty="0"/>
              <a:t>每次递归调用时，这些信息都会被保存到内存的栈区，直到递归过程结束。然后，系统依次恢复这些信息，最终计算出阶乘的值。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递归函数的调用过程中，每次调用都会为该函数分配新的内存区域，用于存储局部变量、传递参数以及保存返回地址。当函数执行完毕时，这些内存区域会被释放，返回到调用该函数的上一个程序位置。这个过程称为函数调用的内存管理。</a:t>
            </a:r>
            <a:endParaRPr lang="en-US" altLang="zh-CN" dirty="0"/>
          </a:p>
          <a:p>
            <a:r>
              <a:rPr lang="zh-CN" altLang="en-US" dirty="0"/>
              <a:t>递归算法的时间复杂度通常与非递归算法相同。以阶乘计算为例，递归和非递归算法的时间复杂度都是 O(n)。然而，递归调用的空间复杂度通常较高，因为每次递归调用都会创建新的栈帧来保存函数的上下文信息。递归层数较多时，栈的使用量增大，可能导致栈溢出。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递归调用的总结</a:t>
            </a:r>
            <a:endParaRPr lang="zh-CN" altLang="en-US"/>
          </a:p>
          <a:p>
            <a:r>
              <a:rPr lang="zh-CN" altLang="en-US"/>
              <a:t>递归调用的核心是通过后进先出的栈结构来管理函数调用，每次递归都会创建新的栈帧保存函数的局部变量、参数和返回地址。当递归结束时，栈帧会被逐个释放，最终返回主程序。递归函数的时间复杂度通常与非递归函数相同，但其空间复杂度较高，因此在使用递归时需要谨慎考虑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FB96-F52A-8843-84FA-47BC900A8910}" type="datetime1">
              <a:rPr lang="zh-CN" alt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8976-C699-694C-8FC3-2C73659D9726}" type="datetime1">
              <a:rPr lang="zh-CN" alt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5AAC-2156-CD4A-A6E3-EC73B19DD58B}" type="datetime1">
              <a:rPr lang="zh-CN" alt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0480-9F6D-A447-9616-D5CD4E8FDC36}" type="datetime1">
              <a:rPr lang="zh-CN" alt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BD0B-8F46-6947-B45B-7E7AD1CA56E5}" type="datetime1">
              <a:rPr lang="zh-CN" alt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834A-6F26-5848-A787-C7770A860D72}" type="datetime1">
              <a:rPr lang="zh-CN" alt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6EE23-ED9D-1D48-9E60-667A5EC57B0E}" type="datetime1">
              <a:rPr lang="zh-CN" alt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E3B8-FA09-FE40-AF32-CB65150F232B}" type="datetime1">
              <a:rPr lang="zh-CN" alt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FE01C-A490-6343-970F-1E5142ADA754}" type="datetime1">
              <a:rPr lang="zh-CN" alt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FBF4-33F7-1E40-ADEB-32F4348040B3}" type="datetime1">
              <a:rPr lang="zh-CN" alt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BB398-5083-114D-895C-DF0023DF475E}" type="datetime1">
              <a:rPr lang="zh-CN" alt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5584" cy="166832"/>
          </a:xfrm>
          <a:prstGeom prst="rect">
            <a:avLst/>
          </a:prstGeom>
          <a:gradFill flip="none" rotWithShape="1">
            <a:gsLst>
              <a:gs pos="0">
                <a:srgbClr val="0066CC">
                  <a:shade val="30000"/>
                  <a:satMod val="115000"/>
                </a:srgbClr>
              </a:gs>
              <a:gs pos="50000">
                <a:srgbClr val="0066CC">
                  <a:shade val="67500"/>
                  <a:satMod val="115000"/>
                </a:srgbClr>
              </a:gs>
              <a:gs pos="100000">
                <a:srgbClr val="0066C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702733" y="996950"/>
            <a:ext cx="11489267" cy="166832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eaLnBrk="1" hangingPunct="1"/>
            <a:endParaRPr lang="zh-CN" altLang="en-US" sz="2400"/>
          </a:p>
        </p:txBody>
      </p:sp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22873" y="935906"/>
            <a:ext cx="34176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CC6AFE6F-DA54-4337-ADC7-9B4643189B01}" type="slidenum">
              <a:rPr lang="en-US" altLang="zh-CN" sz="1000" b="1" smtClean="0">
                <a:solidFill>
                  <a:schemeClr val="bg1"/>
                </a:solidFill>
                <a:ea typeface="宋体" pitchFamily="2" charset="-122"/>
              </a:rPr>
            </a:fld>
            <a:endParaRPr lang="en-US" altLang="zh-CN" sz="1000" b="1" dirty="0">
              <a:solidFill>
                <a:schemeClr val="bg1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3316B-EDCD-8F40-969E-889BCC677BC8}" type="datetime1">
              <a:rPr lang="zh-CN" alt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6" Type="http://schemas.openxmlformats.org/officeDocument/2006/relationships/notesSlide" Target="../notesSlides/notesSlide33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39050" y="1761570"/>
            <a:ext cx="73668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第十四讲  </a:t>
            </a:r>
            <a:r>
              <a:rPr lang="en-US" altLang="zh-CN" sz="28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《</a:t>
            </a:r>
            <a:r>
              <a:rPr lang="zh-CN" altLang="en-US" sz="28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栈与递归 </a:t>
            </a:r>
            <a:r>
              <a:rPr lang="en-US" altLang="zh-CN" sz="28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2》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81405" y="3435985"/>
            <a:ext cx="10029825" cy="313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哈尔滨工业大学（深圳）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本课程课件是在哈尔滨工业大学苏小红老师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《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高级语言程序设计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》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课件基础上，由哈工大（深圳）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《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程序设计思维与实践</a:t>
            </a:r>
            <a:r>
              <a:rPr kumimoji="1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》</a:t>
            </a: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课程组编写制作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-1254"/>
            <a:ext cx="12209816" cy="115411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1" tIns="48216" rIns="96431" bIns="482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5" y="181881"/>
            <a:ext cx="46355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7F1E4F-1CFF-5643-939E-217C01CDF565}" type="slidenum">
              <a:rPr kumimoji="1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</a:fld>
            <a:endParaRPr kumimoji="1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321300" y="1442361"/>
            <a:ext cx="1115084" cy="4320481"/>
            <a:chOff x="3199" y="517"/>
            <a:chExt cx="1006327" cy="2255840"/>
          </a:xfrm>
        </p:grpSpPr>
        <p:sp>
          <p:nvSpPr>
            <p:cNvPr id="27" name="圆角矩形 26"/>
            <p:cNvSpPr/>
            <p:nvPr/>
          </p:nvSpPr>
          <p:spPr>
            <a:xfrm>
              <a:off x="3199" y="517"/>
              <a:ext cx="1006327" cy="225584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圆角矩形 4"/>
            <p:cNvSpPr txBox="1"/>
            <p:nvPr/>
          </p:nvSpPr>
          <p:spPr>
            <a:xfrm>
              <a:off x="32673" y="29991"/>
              <a:ext cx="947379" cy="21968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进入计算机的世界</a:t>
              </a:r>
              <a:endPara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06687" y="1442361"/>
            <a:ext cx="2304840" cy="4343523"/>
            <a:chOff x="1079830" y="517"/>
            <a:chExt cx="2182373" cy="1202928"/>
          </a:xfrm>
        </p:grpSpPr>
        <p:sp>
          <p:nvSpPr>
            <p:cNvPr id="25" name="圆角矩形 24"/>
            <p:cNvSpPr/>
            <p:nvPr/>
          </p:nvSpPr>
          <p:spPr>
            <a:xfrm>
              <a:off x="1079830" y="517"/>
              <a:ext cx="2182373" cy="1202928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圆角矩形 6"/>
            <p:cNvSpPr txBox="1"/>
            <p:nvPr/>
          </p:nvSpPr>
          <p:spPr>
            <a:xfrm>
              <a:off x="1115063" y="35750"/>
              <a:ext cx="2111907" cy="11324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程序设计基础</a:t>
              </a:r>
              <a:endPara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621580" y="1995386"/>
            <a:ext cx="2084095" cy="1895248"/>
            <a:chOff x="1080896" y="1443452"/>
            <a:chExt cx="1290569" cy="784456"/>
          </a:xfrm>
        </p:grpSpPr>
        <p:sp>
          <p:nvSpPr>
            <p:cNvPr id="23" name="圆角矩形 22"/>
            <p:cNvSpPr/>
            <p:nvPr/>
          </p:nvSpPr>
          <p:spPr>
            <a:xfrm>
              <a:off x="1080896" y="1443452"/>
              <a:ext cx="1290569" cy="784456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圆角矩形 8"/>
            <p:cNvSpPr txBox="1"/>
            <p:nvPr/>
          </p:nvSpPr>
          <p:spPr>
            <a:xfrm>
              <a:off x="1088607" y="1466428"/>
              <a:ext cx="1244617" cy="7385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t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  <a:r>
                <a:rPr kumimoji="0" lang="zh-CN" alt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语言语法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621580" y="4037649"/>
            <a:ext cx="2084094" cy="1621016"/>
            <a:chOff x="2406617" y="1443452"/>
            <a:chExt cx="854521" cy="787343"/>
          </a:xfrm>
        </p:grpSpPr>
        <p:sp>
          <p:nvSpPr>
            <p:cNvPr id="21" name="圆角矩形 20"/>
            <p:cNvSpPr/>
            <p:nvPr/>
          </p:nvSpPr>
          <p:spPr>
            <a:xfrm>
              <a:off x="2406617" y="1443452"/>
              <a:ext cx="854521" cy="787343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圆角矩形 10"/>
            <p:cNvSpPr txBox="1"/>
            <p:nvPr/>
          </p:nvSpPr>
          <p:spPr>
            <a:xfrm>
              <a:off x="2429677" y="1466512"/>
              <a:ext cx="808401" cy="74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t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模块化编程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932906" y="1454631"/>
            <a:ext cx="2075313" cy="4331253"/>
            <a:chOff x="3332507" y="517"/>
            <a:chExt cx="1780981" cy="2255547"/>
          </a:xfrm>
        </p:grpSpPr>
        <p:sp>
          <p:nvSpPr>
            <p:cNvPr id="19" name="圆角矩形 18"/>
            <p:cNvSpPr/>
            <p:nvPr/>
          </p:nvSpPr>
          <p:spPr>
            <a:xfrm>
              <a:off x="3332507" y="517"/>
              <a:ext cx="17809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圆角矩形 12"/>
            <p:cNvSpPr txBox="1"/>
            <p:nvPr/>
          </p:nvSpPr>
          <p:spPr>
            <a:xfrm>
              <a:off x="3384670" y="52680"/>
              <a:ext cx="1676655" cy="21512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数据操作基础</a:t>
              </a:r>
              <a:endPara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221938" y="1454631"/>
            <a:ext cx="594677" cy="4331253"/>
            <a:chOff x="5183793" y="517"/>
            <a:chExt cx="594677" cy="2255547"/>
          </a:xfrm>
        </p:grpSpPr>
        <p:sp>
          <p:nvSpPr>
            <p:cNvPr id="17" name="圆角矩形 16"/>
            <p:cNvSpPr/>
            <p:nvPr/>
          </p:nvSpPr>
          <p:spPr>
            <a:xfrm>
              <a:off x="5183793" y="517"/>
              <a:ext cx="594677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圆角矩形 14"/>
            <p:cNvSpPr txBox="1"/>
            <p:nvPr/>
          </p:nvSpPr>
          <p:spPr>
            <a:xfrm>
              <a:off x="5201210" y="17934"/>
              <a:ext cx="559843" cy="22207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程序设计进阶</a:t>
              </a:r>
              <a:endPara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030335" y="1442362"/>
            <a:ext cx="2355339" cy="4343522"/>
            <a:chOff x="5848774" y="517"/>
            <a:chExt cx="2689048" cy="2255547"/>
          </a:xfrm>
        </p:grpSpPr>
        <p:sp>
          <p:nvSpPr>
            <p:cNvPr id="15" name="圆角矩形 14"/>
            <p:cNvSpPr/>
            <p:nvPr/>
          </p:nvSpPr>
          <p:spPr>
            <a:xfrm>
              <a:off x="5848774" y="517"/>
              <a:ext cx="2689048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圆角矩形 16"/>
            <p:cNvSpPr txBox="1"/>
            <p:nvPr/>
          </p:nvSpPr>
          <p:spPr>
            <a:xfrm>
              <a:off x="5914837" y="66580"/>
              <a:ext cx="2556922" cy="21234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数据操作进阶</a:t>
              </a:r>
              <a:endPara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82493" y="1442362"/>
            <a:ext cx="626075" cy="4343522"/>
            <a:chOff x="8608126" y="517"/>
            <a:chExt cx="418881" cy="2255547"/>
          </a:xfrm>
        </p:grpSpPr>
        <p:sp>
          <p:nvSpPr>
            <p:cNvPr id="13" name="圆角矩形 12"/>
            <p:cNvSpPr/>
            <p:nvPr/>
          </p:nvSpPr>
          <p:spPr>
            <a:xfrm>
              <a:off x="8608126" y="517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圆角矩形 18"/>
            <p:cNvSpPr txBox="1"/>
            <p:nvPr/>
          </p:nvSpPr>
          <p:spPr>
            <a:xfrm>
              <a:off x="8620395" y="12786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8445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数据存储</a:t>
              </a:r>
              <a:endPara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393307" y="2610057"/>
            <a:ext cx="418881" cy="2255547"/>
            <a:chOff x="69905" y="2496364"/>
            <a:chExt cx="418881" cy="2255547"/>
          </a:xfrm>
        </p:grpSpPr>
        <p:sp>
          <p:nvSpPr>
            <p:cNvPr id="33" name="圆角矩形 32"/>
            <p:cNvSpPr/>
            <p:nvPr/>
          </p:nvSpPr>
          <p:spPr>
            <a:xfrm>
              <a:off x="69905" y="2496364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圆角矩形 4"/>
            <p:cNvSpPr txBox="1"/>
            <p:nvPr/>
          </p:nvSpPr>
          <p:spPr>
            <a:xfrm>
              <a:off x="82174" y="2508633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计算与编码</a:t>
              </a:r>
              <a:endPara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24090" y="2610056"/>
            <a:ext cx="418881" cy="2255547"/>
            <a:chOff x="523939" y="2496364"/>
            <a:chExt cx="418881" cy="2255547"/>
          </a:xfrm>
        </p:grpSpPr>
        <p:sp>
          <p:nvSpPr>
            <p:cNvPr id="31" name="圆角矩形 30"/>
            <p:cNvSpPr/>
            <p:nvPr/>
          </p:nvSpPr>
          <p:spPr>
            <a:xfrm>
              <a:off x="523939" y="2496364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圆角矩形 6"/>
            <p:cNvSpPr txBox="1"/>
            <p:nvPr/>
          </p:nvSpPr>
          <p:spPr>
            <a:xfrm>
              <a:off x="536208" y="2508633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程序设计概述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77148" y="2406301"/>
            <a:ext cx="1577244" cy="316141"/>
            <a:chOff x="1080896" y="2467914"/>
            <a:chExt cx="418472" cy="2255547"/>
          </a:xfrm>
        </p:grpSpPr>
        <p:sp>
          <p:nvSpPr>
            <p:cNvPr id="42" name="圆角矩形 41"/>
            <p:cNvSpPr/>
            <p:nvPr/>
          </p:nvSpPr>
          <p:spPr>
            <a:xfrm>
              <a:off x="1080896" y="2467914"/>
              <a:ext cx="418472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圆角矩形 4"/>
            <p:cNvSpPr txBox="1"/>
            <p:nvPr/>
          </p:nvSpPr>
          <p:spPr>
            <a:xfrm>
              <a:off x="1093153" y="2480172"/>
              <a:ext cx="393958" cy="22310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数据类型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853885" y="2810515"/>
            <a:ext cx="1600507" cy="337388"/>
            <a:chOff x="1516944" y="2467914"/>
            <a:chExt cx="418472" cy="2255547"/>
          </a:xfrm>
        </p:grpSpPr>
        <p:sp>
          <p:nvSpPr>
            <p:cNvPr id="40" name="圆角矩形 39"/>
            <p:cNvSpPr/>
            <p:nvPr/>
          </p:nvSpPr>
          <p:spPr>
            <a:xfrm>
              <a:off x="1516944" y="2467914"/>
              <a:ext cx="418472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圆角矩形 6"/>
            <p:cNvSpPr txBox="1"/>
            <p:nvPr/>
          </p:nvSpPr>
          <p:spPr>
            <a:xfrm>
              <a:off x="1529201" y="2480171"/>
              <a:ext cx="393958" cy="22310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表  达  式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853885" y="3288478"/>
            <a:ext cx="1600507" cy="357268"/>
            <a:chOff x="1952993" y="2467914"/>
            <a:chExt cx="418472" cy="2255547"/>
          </a:xfrm>
        </p:grpSpPr>
        <p:sp>
          <p:nvSpPr>
            <p:cNvPr id="38" name="圆角矩形 37"/>
            <p:cNvSpPr/>
            <p:nvPr/>
          </p:nvSpPr>
          <p:spPr>
            <a:xfrm>
              <a:off x="1952993" y="2467914"/>
              <a:ext cx="418472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圆角矩形 8"/>
            <p:cNvSpPr txBox="1"/>
            <p:nvPr/>
          </p:nvSpPr>
          <p:spPr>
            <a:xfrm>
              <a:off x="1965250" y="2480171"/>
              <a:ext cx="393958" cy="22310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程序控制流程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853885" y="4482397"/>
            <a:ext cx="1600508" cy="370938"/>
            <a:chOff x="2406617" y="2470801"/>
            <a:chExt cx="418472" cy="2255547"/>
          </a:xfrm>
        </p:grpSpPr>
        <p:sp>
          <p:nvSpPr>
            <p:cNvPr id="48" name="圆角矩形 47"/>
            <p:cNvSpPr/>
            <p:nvPr/>
          </p:nvSpPr>
          <p:spPr>
            <a:xfrm>
              <a:off x="2406617" y="2470801"/>
              <a:ext cx="418472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圆角矩形 4"/>
            <p:cNvSpPr txBox="1"/>
            <p:nvPr/>
          </p:nvSpPr>
          <p:spPr>
            <a:xfrm>
              <a:off x="2418874" y="2483058"/>
              <a:ext cx="393958" cy="22310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分治与函数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853885" y="5000261"/>
            <a:ext cx="1600507" cy="370938"/>
            <a:chOff x="2842666" y="2470801"/>
            <a:chExt cx="418472" cy="2255547"/>
          </a:xfrm>
        </p:grpSpPr>
        <p:sp>
          <p:nvSpPr>
            <p:cNvPr id="46" name="圆角矩形 45"/>
            <p:cNvSpPr/>
            <p:nvPr/>
          </p:nvSpPr>
          <p:spPr>
            <a:xfrm>
              <a:off x="2842666" y="2470801"/>
              <a:ext cx="418472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圆角矩形 6"/>
            <p:cNvSpPr txBox="1"/>
            <p:nvPr/>
          </p:nvSpPr>
          <p:spPr>
            <a:xfrm>
              <a:off x="2854923" y="2483058"/>
              <a:ext cx="393958" cy="22310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递归函数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137723" y="2123444"/>
            <a:ext cx="418881" cy="2255547"/>
            <a:chOff x="3332507" y="2496070"/>
            <a:chExt cx="418881" cy="2255547"/>
          </a:xfrm>
        </p:grpSpPr>
        <p:sp>
          <p:nvSpPr>
            <p:cNvPr id="60" name="圆角矩形 59"/>
            <p:cNvSpPr/>
            <p:nvPr/>
          </p:nvSpPr>
          <p:spPr>
            <a:xfrm>
              <a:off x="3332507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1" name="圆角矩形 4"/>
            <p:cNvSpPr txBox="1"/>
            <p:nvPr/>
          </p:nvSpPr>
          <p:spPr>
            <a:xfrm>
              <a:off x="3344776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数        </a:t>
              </a:r>
              <a:r>
                <a:rPr kumimoji="0" lang="en-US" altLang="zh-CN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	</a:t>
              </a: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组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5761121" y="2123443"/>
            <a:ext cx="418881" cy="2255547"/>
            <a:chOff x="3786541" y="2496070"/>
            <a:chExt cx="418881" cy="2255547"/>
          </a:xfrm>
        </p:grpSpPr>
        <p:sp>
          <p:nvSpPr>
            <p:cNvPr id="58" name="圆角矩形 57"/>
            <p:cNvSpPr/>
            <p:nvPr/>
          </p:nvSpPr>
          <p:spPr>
            <a:xfrm>
              <a:off x="3786541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圆角矩形 6"/>
            <p:cNvSpPr txBox="1"/>
            <p:nvPr/>
          </p:nvSpPr>
          <p:spPr>
            <a:xfrm>
              <a:off x="3798810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字符串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375026" y="2134821"/>
            <a:ext cx="418881" cy="2259870"/>
            <a:chOff x="4240574" y="2496070"/>
            <a:chExt cx="418881" cy="2259870"/>
          </a:xfrm>
        </p:grpSpPr>
        <p:sp>
          <p:nvSpPr>
            <p:cNvPr id="56" name="圆角矩形 55"/>
            <p:cNvSpPr/>
            <p:nvPr/>
          </p:nvSpPr>
          <p:spPr>
            <a:xfrm>
              <a:off x="4240574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圆角矩形 8"/>
            <p:cNvSpPr txBox="1"/>
            <p:nvPr/>
          </p:nvSpPr>
          <p:spPr>
            <a:xfrm>
              <a:off x="4252843" y="2524931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结构体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065715" y="4754731"/>
            <a:ext cx="1772515" cy="518090"/>
            <a:chOff x="4694608" y="2496070"/>
            <a:chExt cx="418881" cy="2255547"/>
          </a:xfrm>
        </p:grpSpPr>
        <p:sp>
          <p:nvSpPr>
            <p:cNvPr id="54" name="圆角矩形 53"/>
            <p:cNvSpPr/>
            <p:nvPr/>
          </p:nvSpPr>
          <p:spPr>
            <a:xfrm>
              <a:off x="4694608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圆角矩形 10"/>
            <p:cNvSpPr txBox="1"/>
            <p:nvPr/>
          </p:nvSpPr>
          <p:spPr>
            <a:xfrm>
              <a:off x="4706877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数据遍历与搜索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297963" y="3355641"/>
            <a:ext cx="409232" cy="2255547"/>
            <a:chOff x="5202935" y="2496070"/>
            <a:chExt cx="556392" cy="2255547"/>
          </a:xfrm>
        </p:grpSpPr>
        <p:sp>
          <p:nvSpPr>
            <p:cNvPr id="63" name="圆角矩形 62"/>
            <p:cNvSpPr/>
            <p:nvPr/>
          </p:nvSpPr>
          <p:spPr>
            <a:xfrm>
              <a:off x="5202935" y="2496070"/>
              <a:ext cx="556392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4" name="圆角矩形 4"/>
            <p:cNvSpPr txBox="1"/>
            <p:nvPr/>
          </p:nvSpPr>
          <p:spPr>
            <a:xfrm>
              <a:off x="5219231" y="2512366"/>
              <a:ext cx="523800" cy="22229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栈与递归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8298710" y="2122604"/>
            <a:ext cx="1804409" cy="439243"/>
            <a:chOff x="5848774" y="2496070"/>
            <a:chExt cx="418881" cy="2255547"/>
          </a:xfrm>
        </p:grpSpPr>
        <p:sp>
          <p:nvSpPr>
            <p:cNvPr id="81" name="圆角矩形 80"/>
            <p:cNvSpPr/>
            <p:nvPr/>
          </p:nvSpPr>
          <p:spPr>
            <a:xfrm>
              <a:off x="5848774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2" name="圆角矩形 4"/>
            <p:cNvSpPr txBox="1"/>
            <p:nvPr/>
          </p:nvSpPr>
          <p:spPr>
            <a:xfrm>
              <a:off x="5861043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排序算法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8291216" y="2868133"/>
            <a:ext cx="1811903" cy="439243"/>
            <a:chOff x="6302807" y="2496070"/>
            <a:chExt cx="418881" cy="2255547"/>
          </a:xfrm>
        </p:grpSpPr>
        <p:sp>
          <p:nvSpPr>
            <p:cNvPr id="79" name="圆角矩形 78"/>
            <p:cNvSpPr/>
            <p:nvPr/>
          </p:nvSpPr>
          <p:spPr>
            <a:xfrm>
              <a:off x="6302807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圆角矩形 6"/>
            <p:cNvSpPr txBox="1"/>
            <p:nvPr/>
          </p:nvSpPr>
          <p:spPr>
            <a:xfrm>
              <a:off x="6315076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指             针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8285019" y="3379384"/>
            <a:ext cx="1811903" cy="439243"/>
            <a:chOff x="6756841" y="2496070"/>
            <a:chExt cx="418881" cy="2255547"/>
          </a:xfrm>
        </p:grpSpPr>
        <p:sp>
          <p:nvSpPr>
            <p:cNvPr id="77" name="圆角矩形 76"/>
            <p:cNvSpPr/>
            <p:nvPr/>
          </p:nvSpPr>
          <p:spPr>
            <a:xfrm>
              <a:off x="6756841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圆角矩形 8"/>
            <p:cNvSpPr txBox="1"/>
            <p:nvPr/>
          </p:nvSpPr>
          <p:spPr>
            <a:xfrm>
              <a:off x="6769110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指针与函数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8285018" y="3883440"/>
            <a:ext cx="1830369" cy="439243"/>
            <a:chOff x="7210874" y="2496070"/>
            <a:chExt cx="418881" cy="2255547"/>
          </a:xfrm>
        </p:grpSpPr>
        <p:sp>
          <p:nvSpPr>
            <p:cNvPr id="75" name="圆角矩形 74"/>
            <p:cNvSpPr/>
            <p:nvPr/>
          </p:nvSpPr>
          <p:spPr>
            <a:xfrm>
              <a:off x="7210874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6" name="圆角矩形 10"/>
            <p:cNvSpPr txBox="1"/>
            <p:nvPr/>
          </p:nvSpPr>
          <p:spPr>
            <a:xfrm>
              <a:off x="7223143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动态内存分配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8285018" y="4675528"/>
            <a:ext cx="1830368" cy="439243"/>
            <a:chOff x="7664907" y="2496070"/>
            <a:chExt cx="418881" cy="2255547"/>
          </a:xfrm>
        </p:grpSpPr>
        <p:sp>
          <p:nvSpPr>
            <p:cNvPr id="73" name="圆角矩形 72"/>
            <p:cNvSpPr/>
            <p:nvPr/>
          </p:nvSpPr>
          <p:spPr>
            <a:xfrm>
              <a:off x="7664907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4" name="圆角矩形 12"/>
            <p:cNvSpPr txBox="1"/>
            <p:nvPr/>
          </p:nvSpPr>
          <p:spPr>
            <a:xfrm>
              <a:off x="7669726" y="2508338"/>
              <a:ext cx="394343" cy="2231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链            表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8294114" y="5186779"/>
            <a:ext cx="1802807" cy="439243"/>
            <a:chOff x="8118941" y="2496070"/>
            <a:chExt cx="418881" cy="2255547"/>
          </a:xfrm>
        </p:grpSpPr>
        <p:sp>
          <p:nvSpPr>
            <p:cNvPr id="71" name="圆角矩形 70"/>
            <p:cNvSpPr/>
            <p:nvPr/>
          </p:nvSpPr>
          <p:spPr>
            <a:xfrm>
              <a:off x="8118941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2" name="圆角矩形 14"/>
            <p:cNvSpPr txBox="1"/>
            <p:nvPr/>
          </p:nvSpPr>
          <p:spPr>
            <a:xfrm>
              <a:off x="8131210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树与图简介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84" name="直线连接符 83"/>
          <p:cNvCxnSpPr/>
          <p:nvPr/>
        </p:nvCxnSpPr>
        <p:spPr>
          <a:xfrm>
            <a:off x="8030335" y="2720724"/>
            <a:ext cx="229196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/>
          <p:cNvCxnSpPr/>
          <p:nvPr/>
        </p:nvCxnSpPr>
        <p:spPr>
          <a:xfrm flipV="1">
            <a:off x="8088200" y="4466699"/>
            <a:ext cx="2234099" cy="15698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10686089" y="3357380"/>
            <a:ext cx="418881" cy="2255547"/>
            <a:chOff x="8608126" y="2496070"/>
            <a:chExt cx="418881" cy="2255547"/>
          </a:xfrm>
        </p:grpSpPr>
        <p:sp>
          <p:nvSpPr>
            <p:cNvPr id="89" name="圆角矩形 88"/>
            <p:cNvSpPr/>
            <p:nvPr/>
          </p:nvSpPr>
          <p:spPr>
            <a:xfrm>
              <a:off x="8608126" y="2496070"/>
              <a:ext cx="418881" cy="2255547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0" name="圆角矩形 4"/>
            <p:cNvSpPr txBox="1"/>
            <p:nvPr/>
          </p:nvSpPr>
          <p:spPr>
            <a:xfrm>
              <a:off x="8620395" y="2508339"/>
              <a:ext cx="394343" cy="22310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文件</a:t>
              </a: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91" name="右箭头 90"/>
          <p:cNvSpPr/>
          <p:nvPr/>
        </p:nvSpPr>
        <p:spPr>
          <a:xfrm>
            <a:off x="1319341" y="6023028"/>
            <a:ext cx="9870889" cy="135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345394" y="6084004"/>
            <a:ext cx="7065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程序设计思想与数据操作方法融会贯通，内容由浅入深       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312" y="269875"/>
            <a:ext cx="8915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程序设计思维与实践</a:t>
            </a:r>
            <a:r>
              <a:rPr lang="en-US" altLang="zh-CN" dirty="0"/>
              <a:t>》</a:t>
            </a:r>
            <a:r>
              <a:rPr lang="zh-CN" altLang="en-US" dirty="0"/>
              <a:t>课程内容结构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7234887" y="3300567"/>
            <a:ext cx="548756" cy="24157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690688"/>
            <a:ext cx="10515600" cy="4351338"/>
          </a:xfrm>
        </p:spPr>
        <p:txBody>
          <a:bodyPr/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latin typeface="Arial" panose="020B0604020202090204" pitchFamily="34" charset="0"/>
                <a:ea typeface="宋体" pitchFamily="2" charset="-122"/>
              </a:rPr>
              <a:t>栈的应用举例</a:t>
            </a:r>
            <a:endParaRPr kumimoji="1" lang="en-US" altLang="zh-CN" b="1" dirty="0">
              <a:latin typeface="Arial" panose="020B0604020202090204" pitchFamily="34" charset="0"/>
              <a:ea typeface="宋体" pitchFamily="2" charset="-122"/>
            </a:endParaRPr>
          </a:p>
          <a:p>
            <a:pPr marL="400050" lvl="1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latin typeface="Arial" panose="020B0604020202090204" pitchFamily="34" charset="0"/>
                <a:ea typeface="宋体" pitchFamily="2" charset="-122"/>
              </a:rPr>
              <a:t>1 </a:t>
            </a:r>
            <a:r>
              <a:rPr kumimoji="1" lang="zh-CN" altLang="en-US" b="1" dirty="0">
                <a:latin typeface="Arial" panose="020B0604020202090204" pitchFamily="34" charset="0"/>
                <a:ea typeface="宋体" pitchFamily="2" charset="-122"/>
              </a:rPr>
              <a:t>数制转换</a:t>
            </a:r>
            <a:endParaRPr kumimoji="1" lang="zh-CN" altLang="en-US" b="1" dirty="0">
              <a:latin typeface="Arial" panose="020B0604020202090204" pitchFamily="34" charset="0"/>
              <a:ea typeface="宋体" pitchFamily="2" charset="-122"/>
            </a:endParaRPr>
          </a:p>
          <a:p>
            <a:pPr marL="400050" lvl="1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latin typeface="Arial" panose="020B0604020202090204" pitchFamily="34" charset="0"/>
                <a:ea typeface="宋体" pitchFamily="2" charset="-122"/>
              </a:rPr>
              <a:t>2 </a:t>
            </a:r>
            <a:r>
              <a:rPr kumimoji="1" lang="zh-CN" altLang="en-US" b="1" dirty="0">
                <a:latin typeface="Arial" panose="020B0604020202090204" pitchFamily="34" charset="0"/>
                <a:ea typeface="宋体" pitchFamily="2" charset="-122"/>
              </a:rPr>
              <a:t>括号匹配的检验</a:t>
            </a:r>
            <a:endParaRPr kumimoji="1" lang="zh-CN" altLang="en-US" b="1" dirty="0">
              <a:latin typeface="Arial" panose="020B0604020202090204" pitchFamily="34" charset="0"/>
              <a:ea typeface="宋体" pitchFamily="2" charset="-122"/>
            </a:endParaRPr>
          </a:p>
          <a:p>
            <a:pPr marL="400050" lvl="1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latin typeface="Arial" panose="020B0604020202090204" pitchFamily="34" charset="0"/>
                <a:ea typeface="宋体" pitchFamily="2" charset="-122"/>
              </a:rPr>
              <a:t>3 </a:t>
            </a:r>
            <a:r>
              <a:rPr kumimoji="1" lang="zh-CN" altLang="en-US" b="1" dirty="0">
                <a:latin typeface="Arial" panose="020B0604020202090204" pitchFamily="34" charset="0"/>
                <a:ea typeface="宋体" pitchFamily="2" charset="-122"/>
              </a:rPr>
              <a:t>行编辑程序问题</a:t>
            </a:r>
            <a:endParaRPr kumimoji="1" lang="zh-CN" altLang="en-US" b="1" dirty="0">
              <a:latin typeface="Arial" panose="020B0604020202090204" pitchFamily="34" charset="0"/>
              <a:ea typeface="宋体" pitchFamily="2" charset="-122"/>
            </a:endParaRPr>
          </a:p>
          <a:p>
            <a:pPr marL="400050" lvl="1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latin typeface="Arial" panose="020B0604020202090204" pitchFamily="34" charset="0"/>
                <a:ea typeface="宋体" pitchFamily="2" charset="-122"/>
              </a:rPr>
              <a:t>4 </a:t>
            </a:r>
            <a:r>
              <a:rPr kumimoji="1" lang="zh-CN" altLang="en-US" b="1" dirty="0">
                <a:latin typeface="Arial" panose="020B0604020202090204" pitchFamily="34" charset="0"/>
                <a:ea typeface="宋体" pitchFamily="2" charset="-122"/>
              </a:rPr>
              <a:t>表达式求值</a:t>
            </a:r>
            <a:endParaRPr kumimoji="1" lang="en-US" altLang="zh-CN" b="1" dirty="0"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latin typeface="Arial" panose="020B0604020202090204" pitchFamily="34" charset="0"/>
                <a:ea typeface="宋体" pitchFamily="2" charset="-122"/>
              </a:rPr>
              <a:t> </a:t>
            </a:r>
            <a:r>
              <a:rPr kumimoji="1" lang="zh-CN" altLang="en-US" b="1" dirty="0">
                <a:latin typeface="Arial" panose="020B0604020202090204" pitchFamily="34" charset="0"/>
                <a:ea typeface="宋体" pitchFamily="2" charset="-122"/>
              </a:rPr>
              <a:t>栈与递归的实现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C62F-9403-4FB5-967C-24C6B6B71A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数制转换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数制转换</a:t>
            </a:r>
            <a:r>
              <a:rPr lang="en-US" altLang="zh-CN" b="1" dirty="0"/>
              <a:t>----</a:t>
            </a:r>
            <a:r>
              <a:rPr lang="zh-CN" altLang="en-US" b="1" dirty="0"/>
              <a:t>是计算机实现计算的基本问题。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ts val="3600"/>
              </a:lnSpc>
              <a:buFont typeface="Times New Roman" panose="02020503050405090304" pitchFamily="18" charset="0"/>
              <a:buChar char="‒"/>
            </a:pPr>
            <a:r>
              <a:rPr kumimoji="1" lang="zh-CN" altLang="en-US" b="1" dirty="0">
                <a:latin typeface="Times New Roman" panose="02020503050405090304" pitchFamily="18" charset="0"/>
              </a:rPr>
              <a:t>          将</a:t>
            </a:r>
            <a:r>
              <a:rPr kumimoji="1" lang="en-US" altLang="zh-CN" b="1" dirty="0">
                <a:latin typeface="Times New Roman" panose="02020503050405090304" pitchFamily="18" charset="0"/>
              </a:rPr>
              <a:t>10</a:t>
            </a:r>
            <a:r>
              <a:rPr kumimoji="1" lang="zh-CN" altLang="en-US" b="1" dirty="0">
                <a:latin typeface="Times New Roman" panose="02020503050405090304" pitchFamily="18" charset="0"/>
              </a:rPr>
              <a:t>进制</a:t>
            </a:r>
            <a:r>
              <a:rPr kumimoji="1" lang="en-US" altLang="zh-CN" b="1" dirty="0">
                <a:latin typeface="Times New Roman" panose="02020503050405090304" pitchFamily="18" charset="0"/>
              </a:rPr>
              <a:t>1348</a:t>
            </a:r>
            <a:r>
              <a:rPr kumimoji="1" lang="zh-CN" altLang="en-US" b="1" dirty="0">
                <a:latin typeface="Times New Roman" panose="02020503050405090304" pitchFamily="18" charset="0"/>
              </a:rPr>
              <a:t>转换成</a:t>
            </a:r>
            <a:r>
              <a:rPr kumimoji="1" lang="en-US" altLang="zh-CN" b="1" dirty="0">
                <a:latin typeface="Times New Roman" panose="02020503050405090304" pitchFamily="18" charset="0"/>
              </a:rPr>
              <a:t>8</a:t>
            </a:r>
            <a:r>
              <a:rPr kumimoji="1" lang="zh-CN" altLang="en-US" b="1" dirty="0">
                <a:latin typeface="Times New Roman" panose="02020503050405090304" pitchFamily="18" charset="0"/>
              </a:rPr>
              <a:t>进制 </a:t>
            </a:r>
            <a:endParaRPr kumimoji="1" lang="en-US" altLang="zh-CN" b="1" dirty="0">
              <a:latin typeface="Times New Roman" panose="02020503050405090304" pitchFamily="18" charset="0"/>
            </a:endParaRPr>
          </a:p>
          <a:p>
            <a:pPr lvl="1">
              <a:lnSpc>
                <a:spcPts val="3600"/>
              </a:lnSpc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latin typeface="Times New Roman" panose="02020503050405090304" pitchFamily="18" charset="0"/>
              </a:rPr>
              <a:t>方法：除留余数法。 （</a:t>
            </a:r>
            <a:r>
              <a:rPr kumimoji="1" lang="en-US" altLang="zh-CN" b="1" dirty="0">
                <a:latin typeface="Times New Roman" panose="02020503050405090304" pitchFamily="18" charset="0"/>
              </a:rPr>
              <a:t>1348</a:t>
            </a:r>
            <a:r>
              <a:rPr kumimoji="1" lang="zh-CN" altLang="en-US" b="1" dirty="0">
                <a:latin typeface="Times New Roman" panose="02020503050405090304" pitchFamily="18" charset="0"/>
              </a:rPr>
              <a:t>）</a:t>
            </a:r>
            <a:r>
              <a:rPr kumimoji="1" lang="en-US" altLang="zh-CN" b="1" baseline="-25000" dirty="0">
                <a:latin typeface="Times New Roman" panose="02020503050405090304" pitchFamily="18" charset="0"/>
              </a:rPr>
              <a:t>10</a:t>
            </a:r>
            <a:r>
              <a:rPr kumimoji="1" lang="en-US" altLang="zh-CN" b="1" dirty="0">
                <a:latin typeface="Times New Roman" panose="02020503050405090304" pitchFamily="18" charset="0"/>
              </a:rPr>
              <a:t>=</a:t>
            </a:r>
            <a:r>
              <a:rPr kumimoji="1" lang="zh-CN" altLang="en-US" b="1" dirty="0">
                <a:latin typeface="Times New Roman" panose="02020503050405090304" pitchFamily="18" charset="0"/>
              </a:rPr>
              <a:t>（</a:t>
            </a:r>
            <a:r>
              <a:rPr kumimoji="1" lang="en-US" altLang="zh-CN" b="1" dirty="0">
                <a:latin typeface="Times New Roman" panose="02020503050405090304" pitchFamily="18" charset="0"/>
              </a:rPr>
              <a:t>2504</a:t>
            </a:r>
            <a:r>
              <a:rPr kumimoji="1" lang="zh-CN" altLang="en-US" b="1" dirty="0">
                <a:latin typeface="Times New Roman" panose="02020503050405090304" pitchFamily="18" charset="0"/>
              </a:rPr>
              <a:t>）</a:t>
            </a:r>
            <a:r>
              <a:rPr kumimoji="1" lang="en-US" altLang="zh-CN" b="1" baseline="-25000" dirty="0">
                <a:latin typeface="Times New Roman" panose="02020503050405090304" pitchFamily="18" charset="0"/>
              </a:rPr>
              <a:t>8</a:t>
            </a:r>
            <a:endParaRPr lang="en-US" altLang="zh-CN" b="1" baseline="-25000" dirty="0"/>
          </a:p>
          <a:p>
            <a:pPr lvl="1">
              <a:lnSpc>
                <a:spcPts val="3100"/>
              </a:lnSpc>
              <a:buFont typeface="Wingdings" panose="05000000000000000000" pitchFamily="2" charset="2"/>
              <a:buChar char="n"/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A017-0F8E-4D1D-9335-5A5D918AA03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2400300" y="1905000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例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033627" y="3131189"/>
            <a:ext cx="3092513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N            N / 8    N % 8</a:t>
            </a:r>
            <a:b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</a:b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1348      168           4</a:t>
            </a:r>
            <a:b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</a:b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168        21             0</a:t>
            </a:r>
            <a:b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</a:b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21          2               5</a:t>
            </a:r>
            <a:b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</a:b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2            0               2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8628103" y="3365501"/>
            <a:ext cx="553998" cy="158273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eaVer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输出顺序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 flipH="1" flipV="1">
            <a:off x="8210550" y="3200400"/>
            <a:ext cx="8164" cy="16819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lg" len="lg"/>
          </a:ln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Char char="Ø"/>
            </a:pPr>
            <a:endParaRPr lang="zh-CN" altLang="en-US" sz="24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3529011" y="3200400"/>
            <a:ext cx="14288" cy="180057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lg" len="lg"/>
          </a:ln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Char char="Ø"/>
            </a:pPr>
            <a:endParaRPr lang="zh-CN" altLang="en-US" sz="24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724190" y="3362325"/>
            <a:ext cx="553998" cy="1587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503050405090304" pitchFamily="18" charset="0"/>
              </a:rPr>
              <a:t>计算顺序</a:t>
            </a:r>
            <a:endParaRPr kumimoji="1" lang="zh-CN" altLang="en-US" sz="2400" b="1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2523781" y="5226397"/>
            <a:ext cx="7144438" cy="923330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707F9"/>
                </a:solidFill>
                <a:latin typeface="Times New Roman" panose="02020503050405090304" pitchFamily="18" charset="0"/>
              </a:rPr>
              <a:t>输出的时候是从高位到低位进行，恰好和计算相反。</a:t>
            </a:r>
            <a:endParaRPr kumimoji="1" lang="en-US" altLang="zh-CN" sz="2400" b="1" dirty="0">
              <a:solidFill>
                <a:srgbClr val="0707F9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707F9"/>
                </a:solidFill>
                <a:latin typeface="Times New Roman" panose="02020503050405090304" pitchFamily="18" charset="0"/>
              </a:rPr>
              <a:t>转换的过程满足栈的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后进先出</a:t>
            </a:r>
            <a:r>
              <a:rPr kumimoji="1" lang="zh-CN" altLang="en-US" sz="2400" b="1" dirty="0">
                <a:solidFill>
                  <a:srgbClr val="0707F9"/>
                </a:solidFill>
                <a:latin typeface="Times New Roman" panose="02020503050405090304" pitchFamily="18" charset="0"/>
              </a:rPr>
              <a:t>的特点</a:t>
            </a:r>
            <a:endParaRPr kumimoji="1" lang="zh-CN" altLang="en-US" sz="2400" b="1" dirty="0">
              <a:solidFill>
                <a:srgbClr val="0707F9"/>
              </a:solidFill>
              <a:latin typeface="Times New Roman" panose="02020503050405090304" pitchFamily="18" charset="0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4079776" y="3933056"/>
            <a:ext cx="266429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4079776" y="4293096"/>
            <a:ext cx="266429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>
            <a:off x="4079776" y="4653136"/>
            <a:ext cx="266429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4079776" y="5013176"/>
            <a:ext cx="266429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数制转换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altLang="zh-CN" b="1" dirty="0"/>
              <a:t>10</a:t>
            </a:r>
            <a:r>
              <a:rPr lang="zh-CN" altLang="en-US" b="1" dirty="0"/>
              <a:t>进制数</a:t>
            </a:r>
            <a:r>
              <a:rPr lang="en-US" altLang="zh-CN" b="1" dirty="0"/>
              <a:t>N</a:t>
            </a:r>
            <a:r>
              <a:rPr lang="zh-CN" altLang="en-US" b="1" dirty="0"/>
              <a:t>转换成</a:t>
            </a:r>
            <a:r>
              <a:rPr lang="en-US" altLang="zh-CN" b="1" dirty="0"/>
              <a:t>8</a:t>
            </a:r>
            <a:r>
              <a:rPr lang="zh-CN" altLang="en-US" b="1" dirty="0"/>
              <a:t>进制的算法</a:t>
            </a:r>
            <a:endParaRPr lang="zh-CN" altLang="en-US" b="1" dirty="0"/>
          </a:p>
          <a:p>
            <a:pPr lvl="1">
              <a:lnSpc>
                <a:spcPts val="3100"/>
              </a:lnSpc>
              <a:buFont typeface="Wingdings" panose="05000000000000000000" pitchFamily="2" charset="2"/>
              <a:buChar char="n"/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0B58F-1ADF-4F87-8B67-ED22951F880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686348" y="1880691"/>
            <a:ext cx="9112281" cy="415498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void conversion () {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  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InitStack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(S);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scanf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(“%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d”,N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);//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输入一个任意非负十进制整数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while (N) {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Push(S, N % 8);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N = N/8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;         //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余数入栈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while (!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StackEmpty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(S))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{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Pop(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S,e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);//</a:t>
            </a:r>
            <a:r>
              <a:rPr kumimoji="1" lang="zh-CN" altLang="en-US" sz="2000" b="1" dirty="0">
                <a:latin typeface="Times New Roman" panose="02020503050405090304" pitchFamily="18" charset="0"/>
                <a:ea typeface="楷体_GB2312" pitchFamily="49" charset="-122"/>
              </a:rPr>
              <a:t>若栈不空，则删除</a:t>
            </a:r>
            <a:r>
              <a:rPr kumimoji="1" lang="en-US" altLang="zh-CN" sz="2000" b="1" dirty="0">
                <a:latin typeface="Times New Roman" panose="02020503050405090304" pitchFamily="18" charset="0"/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Times New Roman" panose="02020503050405090304" pitchFamily="18" charset="0"/>
                <a:ea typeface="楷体_GB2312" pitchFamily="49" charset="-122"/>
              </a:rPr>
              <a:t>的栈顶元素，用</a:t>
            </a:r>
            <a:r>
              <a:rPr kumimoji="1" lang="en-US" altLang="zh-CN" sz="2000" b="1" dirty="0">
                <a:latin typeface="Times New Roman" panose="02020503050405090304" pitchFamily="18" charset="0"/>
                <a:ea typeface="楷体_GB2312" pitchFamily="49" charset="-122"/>
              </a:rPr>
              <a:t>e</a:t>
            </a:r>
            <a:r>
              <a:rPr kumimoji="1" lang="zh-CN" altLang="en-US" sz="2000" b="1" dirty="0">
                <a:latin typeface="Times New Roman" panose="02020503050405090304" pitchFamily="18" charset="0"/>
                <a:ea typeface="楷体_GB2312" pitchFamily="49" charset="-122"/>
              </a:rPr>
              <a:t>返回其值</a:t>
            </a:r>
            <a:endParaRPr kumimoji="1" lang="en-US" altLang="zh-CN" sz="2000" b="1" dirty="0"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printf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( "%d", e );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    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} // conversion</a:t>
            </a:r>
            <a:endParaRPr kumimoji="1" lang="en-US" altLang="zh-CN" sz="2400" b="1" i="1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数制转换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968" y="1616075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altLang="zh-CN" b="1" dirty="0"/>
              <a:t>10</a:t>
            </a:r>
            <a:r>
              <a:rPr lang="zh-CN" altLang="en-US" b="1" dirty="0"/>
              <a:t>进制数</a:t>
            </a:r>
            <a:r>
              <a:rPr lang="en-US" altLang="zh-CN" b="1" dirty="0"/>
              <a:t>N</a:t>
            </a:r>
            <a:r>
              <a:rPr lang="zh-CN" altLang="en-US" b="1" dirty="0"/>
              <a:t>转换成</a:t>
            </a:r>
            <a:r>
              <a:rPr lang="en-US" altLang="zh-CN" b="1" dirty="0"/>
              <a:t>8</a:t>
            </a:r>
            <a:r>
              <a:rPr lang="zh-CN" altLang="en-US" b="1" dirty="0"/>
              <a:t>进制的</a:t>
            </a:r>
            <a:r>
              <a:rPr lang="en-US" altLang="zh-CN" b="1" dirty="0"/>
              <a:t>C</a:t>
            </a:r>
            <a:r>
              <a:rPr lang="zh-CN" altLang="en-US" b="1" dirty="0"/>
              <a:t>语言实现代码</a:t>
            </a:r>
            <a:endParaRPr lang="zh-CN" altLang="en-US" b="1" dirty="0"/>
          </a:p>
          <a:p>
            <a:pPr lvl="1">
              <a:lnSpc>
                <a:spcPts val="3100"/>
              </a:lnSpc>
              <a:buFont typeface="Wingdings" panose="05000000000000000000" pitchFamily="2" charset="2"/>
              <a:buChar char="n"/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0B58F-1ADF-4F87-8B67-ED22951F880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4" y="2247630"/>
            <a:ext cx="5340881" cy="397191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68358"/>
            <a:ext cx="5787323" cy="3040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14.2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括号匹配的检验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800" y="1608126"/>
            <a:ext cx="10439400" cy="5105400"/>
          </a:xfrm>
        </p:spPr>
        <p:txBody>
          <a:bodyPr>
            <a:normAutofit/>
          </a:bodyPr>
          <a:lstStyle/>
          <a:p>
            <a:pPr marL="457200" lvl="1" indent="0">
              <a:lnSpc>
                <a:spcPts val="36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问题定义： </a:t>
            </a:r>
            <a:r>
              <a:rPr lang="zh-CN" altLang="en-US" b="1" dirty="0"/>
              <a:t>一个表达式中，包含三种括号“</a:t>
            </a:r>
            <a:r>
              <a:rPr lang="en-US" altLang="zh-CN" b="1" dirty="0"/>
              <a:t>(”</a:t>
            </a:r>
            <a:r>
              <a:rPr lang="zh-CN" altLang="en-US" b="1" dirty="0"/>
              <a:t>和“</a:t>
            </a:r>
            <a:r>
              <a:rPr lang="en-US" altLang="zh-CN" b="1" dirty="0"/>
              <a:t>)”</a:t>
            </a:r>
            <a:r>
              <a:rPr lang="zh-CN" altLang="en-US" b="1" dirty="0"/>
              <a:t>，“</a:t>
            </a:r>
            <a:r>
              <a:rPr lang="en-US" altLang="zh-CN" b="1" dirty="0"/>
              <a:t>[”</a:t>
            </a:r>
            <a:r>
              <a:rPr lang="zh-CN" altLang="en-US" b="1" dirty="0"/>
              <a:t>和“</a:t>
            </a:r>
            <a:r>
              <a:rPr lang="en-US" altLang="zh-CN" b="1" dirty="0"/>
              <a:t>]”</a:t>
            </a:r>
            <a:r>
              <a:rPr lang="zh-CN" altLang="en-US" b="1" dirty="0"/>
              <a:t>和“</a:t>
            </a:r>
            <a:r>
              <a:rPr lang="en-US" altLang="zh-CN" b="1" dirty="0"/>
              <a:t>{”</a:t>
            </a:r>
            <a:r>
              <a:rPr lang="zh-CN" altLang="en-US" b="1" dirty="0"/>
              <a:t>和“</a:t>
            </a:r>
            <a:r>
              <a:rPr lang="en-US" altLang="zh-CN" b="1" dirty="0"/>
              <a:t>}”</a:t>
            </a:r>
            <a:r>
              <a:rPr lang="zh-CN" altLang="en-US" b="1" dirty="0"/>
              <a:t>，这三种括号可以按任意的合法次序使用。设计算法检验表达式中所使用括号的合法性。</a:t>
            </a:r>
            <a:endParaRPr lang="zh-CN" altLang="en-US" b="1" dirty="0"/>
          </a:p>
          <a:p>
            <a:pPr marL="0" indent="0">
              <a:lnSpc>
                <a:spcPts val="3600"/>
              </a:lnSpc>
              <a:buNone/>
            </a:pPr>
            <a:endParaRPr lang="zh-CN" altLang="en-US" b="1" dirty="0">
              <a:solidFill>
                <a:srgbClr val="FF0000"/>
              </a:solidFill>
            </a:endParaRPr>
          </a:p>
          <a:p>
            <a:pPr>
              <a:lnSpc>
                <a:spcPts val="3600"/>
              </a:lnSpc>
            </a:pPr>
            <a:endParaRPr lang="zh-CN" altLang="en-US" b="1" dirty="0"/>
          </a:p>
          <a:p>
            <a:pPr lvl="1">
              <a:lnSpc>
                <a:spcPts val="3100"/>
              </a:lnSpc>
              <a:buFont typeface="Wingdings" panose="05000000000000000000" pitchFamily="2" charset="2"/>
              <a:buChar char="n"/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03A8-F588-4690-B32D-45BCCEFA6DA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2667000" y="3277739"/>
            <a:ext cx="7315200" cy="28500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5050"/>
                </a:solidFill>
                <a:latin typeface="Constantia" pitchFamily="18" charset="0"/>
                <a:ea typeface="楷体_GB2312" pitchFamily="49" charset="-122"/>
              </a:rPr>
              <a:t>例</a:t>
            </a: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在表达式中正确的格式：</a:t>
            </a:r>
            <a:endParaRPr lang="zh-CN" altLang="en-US" sz="2400" b="1" dirty="0">
              <a:solidFill>
                <a:srgbClr val="0000FF"/>
              </a:solidFill>
              <a:latin typeface="Constantia" pitchFamily="18" charset="0"/>
              <a:ea typeface="楷体_GB2312" pitchFamily="49" charset="-122"/>
            </a:endParaRPr>
          </a:p>
          <a:p>
            <a:pPr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（［］（））或［（［ ］［ ］）］</a:t>
            </a:r>
            <a:endParaRPr lang="zh-CN" altLang="en-US" sz="2000" b="1" dirty="0">
              <a:solidFill>
                <a:srgbClr val="0000FF"/>
              </a:solidFill>
              <a:latin typeface="Constantia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5050"/>
                </a:solidFill>
                <a:latin typeface="Constantia" pitchFamily="18" charset="0"/>
                <a:ea typeface="楷体_GB2312" pitchFamily="49" charset="-122"/>
              </a:rPr>
              <a:t>例</a:t>
            </a: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在表达式中不正确的格式</a:t>
            </a:r>
            <a:endParaRPr lang="en-US" altLang="zh-CN" sz="2400" b="1" dirty="0">
              <a:solidFill>
                <a:srgbClr val="0000FF"/>
              </a:solidFill>
              <a:latin typeface="Constantia" pitchFamily="18" charset="0"/>
              <a:ea typeface="楷体_GB2312" pitchFamily="49" charset="-122"/>
            </a:endParaRPr>
          </a:p>
          <a:p>
            <a:pPr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［（ ］）</a:t>
            </a:r>
            <a:r>
              <a:rPr lang="en-US" altLang="zh-CN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----</a:t>
            </a:r>
            <a:r>
              <a:rPr lang="zh-CN" altLang="en-US" sz="2000" b="1" dirty="0">
                <a:solidFill>
                  <a:srgbClr val="FF0000"/>
                </a:solidFill>
                <a:latin typeface="Constantia" pitchFamily="18" charset="0"/>
                <a:ea typeface="楷体_GB2312" pitchFamily="49" charset="-122"/>
              </a:rPr>
              <a:t>左右不匹配</a:t>
            </a:r>
            <a:endParaRPr lang="en-US" altLang="zh-CN" sz="2000" b="1" dirty="0">
              <a:solidFill>
                <a:srgbClr val="FF0000"/>
              </a:solidFill>
              <a:latin typeface="Constantia" pitchFamily="18" charset="0"/>
              <a:ea typeface="楷体_GB2312" pitchFamily="49" charset="-122"/>
            </a:endParaRPr>
          </a:p>
          <a:p>
            <a:pPr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（［（ ）</a:t>
            </a:r>
            <a:r>
              <a:rPr lang="en-US" altLang="zh-CN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]---</a:t>
            </a:r>
            <a:r>
              <a:rPr lang="zh-CN" altLang="en-US" sz="2000" b="1" dirty="0">
                <a:solidFill>
                  <a:srgbClr val="FF0000"/>
                </a:solidFill>
                <a:latin typeface="Constantia" pitchFamily="18" charset="0"/>
                <a:ea typeface="楷体_GB2312" pitchFamily="49" charset="-122"/>
              </a:rPr>
              <a:t>左括号多</a:t>
            </a:r>
            <a:r>
              <a:rPr lang="zh-CN" altLang="en-US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了</a:t>
            </a:r>
            <a:endParaRPr lang="en-US" altLang="zh-CN" sz="2000" b="1" dirty="0">
              <a:solidFill>
                <a:srgbClr val="0000FF"/>
              </a:solidFill>
              <a:latin typeface="Constantia" pitchFamily="18" charset="0"/>
              <a:ea typeface="楷体_GB2312" pitchFamily="49" charset="-122"/>
            </a:endParaRPr>
          </a:p>
          <a:p>
            <a:pPr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[</a:t>
            </a:r>
            <a:r>
              <a:rPr lang="zh-CN" altLang="en-US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（）］</a:t>
            </a:r>
            <a:r>
              <a:rPr lang="en-US" altLang="zh-CN" sz="20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)----</a:t>
            </a:r>
            <a:r>
              <a:rPr lang="zh-CN" altLang="en-US" sz="2000" b="1" dirty="0">
                <a:solidFill>
                  <a:srgbClr val="FF0000"/>
                </a:solidFill>
                <a:latin typeface="Constantia" pitchFamily="18" charset="0"/>
                <a:ea typeface="楷体_GB2312" pitchFamily="49" charset="-122"/>
              </a:rPr>
              <a:t>右括号多了</a:t>
            </a:r>
            <a:endParaRPr lang="en-US" altLang="zh-CN" sz="2000" b="1" dirty="0">
              <a:solidFill>
                <a:srgbClr val="FF0000"/>
              </a:solidFill>
              <a:latin typeface="Constantia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14.2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括号匹配的检验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: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 算法过程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2EE5-D8CB-4BA3-9D13-5AC7CABE6ED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342691" y="1806830"/>
            <a:ext cx="4009431" cy="6093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1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）凡出现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左括弧，则进栈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286000" y="2479930"/>
            <a:ext cx="8427307" cy="23907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）凡出现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右括弧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首先检查栈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是否空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栈空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，则表明该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503050405090304"/>
                <a:ea typeface="楷体_GB2312" pitchFamily="49" charset="-122"/>
              </a:rPr>
              <a:t>“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右括弧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503050405090304"/>
                <a:ea typeface="楷体_GB2312" pitchFamily="49" charset="-122"/>
              </a:rPr>
              <a:t>”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多余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否则和栈顶元素比较，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若相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匹配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（是对应类型的左括弧）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，则</a:t>
            </a:r>
            <a:r>
              <a:rPr lang="zh-CN" altLang="zh-CN" sz="2400" b="1" dirty="0">
                <a:solidFill>
                  <a:srgbClr val="0000FF"/>
                </a:solidFill>
                <a:latin typeface="Times New Roman" panose="02020503050405090304"/>
                <a:ea typeface="楷体_GB2312" pitchFamily="49" charset="-122"/>
              </a:rPr>
              <a:t>“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左括弧出栈</a:t>
            </a:r>
            <a:r>
              <a:rPr lang="zh-CN" altLang="zh-CN" sz="2400" b="1" dirty="0">
                <a:solidFill>
                  <a:srgbClr val="0000FF"/>
                </a:solidFill>
                <a:latin typeface="Times New Roman" panose="02020503050405090304"/>
                <a:ea typeface="楷体_GB2312" pitchFamily="49" charset="-122"/>
              </a:rPr>
              <a:t>”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，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否则表明不匹配。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307766" y="4876801"/>
            <a:ext cx="5601213" cy="14588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3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）表达式检验结束时，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若栈空，则表明表达式中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匹配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正确，</a:t>
            </a:r>
            <a:endParaRPr lang="zh-CN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否则表明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503050405090304"/>
                <a:ea typeface="楷体_GB2312" pitchFamily="49" charset="-122"/>
              </a:rPr>
              <a:t>“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左括弧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503050405090304"/>
                <a:ea typeface="楷体_GB2312" pitchFamily="49" charset="-122"/>
              </a:rPr>
              <a:t>”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有余</a:t>
            </a:r>
            <a:r>
              <a:rPr lang="zh-CN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43801" y="1445001"/>
            <a:ext cx="2874505" cy="695575"/>
          </a:xfrm>
          <a:prstGeom prst="rect">
            <a:avLst/>
          </a:prstGeom>
          <a:ln>
            <a:solidFill>
              <a:srgbClr val="008000"/>
            </a:solidFill>
          </a:ln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[  (   [   ]  [   ]   )  ]</a:t>
            </a:r>
            <a:endParaRPr lang="zh-CN" altLang="en-US" sz="2800" b="1" dirty="0">
              <a:solidFill>
                <a:srgbClr val="0000FF"/>
              </a:solidFill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14.2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括号匹配的检验算法描述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(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伪代码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)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7985-0DFD-4356-A729-40397261E5F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2079626" y="1824038"/>
            <a:ext cx="8893175" cy="4615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Status  check( 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char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InitStack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(S);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while ((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getchar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())!=‘#')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switch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) {      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伪代码，理解语义，语法不对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case (‘(’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||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‘[’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||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‘{’):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Push(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S,ch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);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break;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case ')':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 if (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503050405090304" pitchFamily="18" charset="0"/>
              </a:rPr>
              <a:t>StackEmpty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(S)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) return FALSE;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 else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     {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Pop(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503050405090304" pitchFamily="18" charset="0"/>
              </a:rPr>
              <a:t>S,e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);if(e!= '(')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return FALSE;}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 break;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14.2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括号匹配的检验：算法描述（伪代码）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6B0CF-3DF8-40BA-B436-F0828776390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270126" y="1763714"/>
            <a:ext cx="8245475" cy="4789487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case ‘]':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StackEmpty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(S))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retrun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FALSE;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else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{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Pop(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S,e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);if(e!= ‘[') return FALSE;}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break;…………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default: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break;</a:t>
            </a:r>
            <a:b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</a:b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b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</a:b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StackEmpty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(S))  return TRUE;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else return FALSE;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14.3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行编辑程序问题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03301" y="1916832"/>
            <a:ext cx="9372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问题描述： </a:t>
            </a:r>
            <a:r>
              <a:rPr lang="zh-CN" altLang="en-US" b="1" dirty="0"/>
              <a:t>在用户输入一行字符的过程中，允许用户输入出差错，并在发现有误时可以及时更正。</a:t>
            </a:r>
            <a:endParaRPr lang="en-US" altLang="zh-CN" b="1" dirty="0"/>
          </a:p>
          <a:p>
            <a:pPr lvl="1">
              <a:lnSpc>
                <a:spcPts val="3600"/>
              </a:lnSpc>
            </a:pPr>
            <a:endParaRPr lang="zh-CN" altLang="en-US" b="1" dirty="0"/>
          </a:p>
          <a:p>
            <a:pPr>
              <a:lnSpc>
                <a:spcPts val="36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解决方法</a:t>
            </a:r>
            <a:endParaRPr lang="zh-CN" altLang="en-US" b="1" dirty="0">
              <a:solidFill>
                <a:srgbClr val="FF0000"/>
              </a:solidFill>
            </a:endParaRPr>
          </a:p>
          <a:p>
            <a:pPr>
              <a:lnSpc>
                <a:spcPts val="3600"/>
              </a:lnSpc>
            </a:pPr>
            <a:endParaRPr lang="zh-CN" altLang="en-US" b="1" dirty="0"/>
          </a:p>
          <a:p>
            <a:pPr lvl="1">
              <a:lnSpc>
                <a:spcPts val="3100"/>
              </a:lnSpc>
              <a:buFont typeface="Wingdings" panose="05000000000000000000" pitchFamily="2" charset="2"/>
              <a:buChar char="n"/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5883-58AB-4E6C-98CC-9163FED3231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222500" y="4303712"/>
            <a:ext cx="8410004" cy="1938992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设立一个输入缓冲区，用以接受用户输入的一行字符，然后逐行存入用户数据区，并假设“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#”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为退格符（</a:t>
            </a:r>
            <a:r>
              <a:rPr kumimoji="1" lang="zh-CN" altLang="en-US" sz="2400" b="1" dirty="0">
                <a:latin typeface="Times New Roman" panose="02020503050405090304" pitchFamily="18" charset="0"/>
              </a:rPr>
              <a:t>当用户发现刚刚键入的一个字符是错的，可补进一个退格符，以表示前一个字符无效）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，“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@”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为退行符（</a:t>
            </a:r>
            <a:r>
              <a:rPr kumimoji="1" lang="zh-CN" altLang="en-US" sz="2400" b="1" dirty="0">
                <a:latin typeface="Times New Roman" panose="02020503050405090304" pitchFamily="18" charset="0"/>
              </a:rPr>
              <a:t>当用户发现当前键入的行内差错较多或难以补救时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）。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14.3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行编辑程序问题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endParaRPr lang="zh-CN" altLang="en-US" b="1" dirty="0"/>
          </a:p>
          <a:p>
            <a:pPr lvl="1">
              <a:lnSpc>
                <a:spcPts val="3100"/>
              </a:lnSpc>
              <a:buFont typeface="Wingdings" panose="05000000000000000000" pitchFamily="2" charset="2"/>
              <a:buChar char="n"/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B3B-C18B-4ABE-944D-64E69443992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452813" y="1573214"/>
            <a:ext cx="5541962" cy="1692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假设从终端接受了这样两行字符：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wh</a:t>
            </a:r>
            <a:r>
              <a:rPr kumimoji="1" lang="en-US" altLang="zh-CN" sz="2800" b="1" dirty="0" err="1">
                <a:solidFill>
                  <a:srgbClr val="CC6600"/>
                </a:solidFill>
                <a:latin typeface="Times New Roman" panose="02020503050405090304" pitchFamily="18" charset="0"/>
              </a:rPr>
              <a:t>li</a:t>
            </a:r>
            <a:r>
              <a:rPr kumimoji="1" lang="en-US" altLang="zh-CN" sz="2800" b="1" dirty="0">
                <a:solidFill>
                  <a:srgbClr val="CC6600"/>
                </a:solidFill>
                <a:latin typeface="Times New Roman" panose="02020503050405090304" pitchFamily="18" charset="0"/>
              </a:rPr>
              <a:t>##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il</a:t>
            </a:r>
            <a:r>
              <a:rPr kumimoji="1" lang="en-US" altLang="zh-CN" sz="2800" b="1" dirty="0" err="1">
                <a:solidFill>
                  <a:srgbClr val="CC6600"/>
                </a:solidFill>
                <a:latin typeface="Times New Roman" panose="02020503050405090304" pitchFamily="18" charset="0"/>
              </a:rPr>
              <a:t>r#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（</a:t>
            </a:r>
            <a:r>
              <a:rPr kumimoji="1" lang="en-US" altLang="zh-CN" sz="2800" b="1" dirty="0">
                <a:solidFill>
                  <a:srgbClr val="CC6600"/>
                </a:solidFill>
                <a:latin typeface="Times New Roman" panose="02020503050405090304" pitchFamily="18" charset="0"/>
              </a:rPr>
              <a:t>s#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*s)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</a:t>
            </a:r>
            <a:r>
              <a:rPr kumimoji="1" lang="en-US" altLang="zh-CN" sz="2800" b="1" dirty="0" err="1">
                <a:solidFill>
                  <a:srgbClr val="CC6600"/>
                </a:solidFill>
                <a:latin typeface="Times New Roman" panose="02020503050405090304" pitchFamily="18" charset="0"/>
              </a:rPr>
              <a:t>outcha@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putchar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(*s</a:t>
            </a:r>
            <a:r>
              <a:rPr kumimoji="1" lang="en-US" altLang="zh-CN" sz="2800" b="1" dirty="0">
                <a:solidFill>
                  <a:srgbClr val="CC6600"/>
                </a:solidFill>
                <a:latin typeface="Times New Roman" panose="02020503050405090304" pitchFamily="18" charset="0"/>
              </a:rPr>
              <a:t>=#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++);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668713" y="3870326"/>
            <a:ext cx="4470400" cy="1692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则实际有效的是下列两行：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while (*s)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    putchar(*s++);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2165350" y="1717675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例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14.3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行编辑程序问题实现算法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CDAA-FA7F-4F72-84CF-0A28696C7AB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343150" y="5530850"/>
            <a:ext cx="339725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DestroyStack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(S);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328863" y="1768476"/>
            <a:ext cx="7316426" cy="37117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LineEdit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(){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//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利用字符栈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，从终端接收一行并传送至调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//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用过程的数据区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InitStack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(S);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getchar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………….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2947989" y="4003676"/>
            <a:ext cx="62944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while (ch != EOF) { 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//EOF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为全文结束符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2805113" y="4522788"/>
            <a:ext cx="72009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while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ch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 != ‘\n’)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{……}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14.3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行编辑程序问题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9600" y="1417638"/>
            <a:ext cx="8229600" cy="51054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ts val="3600"/>
              </a:lnSpc>
            </a:pPr>
            <a:r>
              <a:rPr lang="zh-CN" altLang="en-US" b="1" dirty="0"/>
              <a:t>行编辑问题算法</a:t>
            </a: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A81-FCC0-48F8-9BBB-FD545C008AF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946619" y="3344211"/>
            <a:ext cx="8235950" cy="2654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A50021"/>
                </a:solidFill>
                <a:latin typeface="Times New Roman" panose="0202050305040509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switch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      case '#' : Pop(S, c);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break;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case '@':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ClearStack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(S);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break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;//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重置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S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为空栈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default : Push(S,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);  break; 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getchar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();           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从终端接收下一个字符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72951" y="3441701"/>
            <a:ext cx="7783285" cy="2654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5638800" y="1449388"/>
            <a:ext cx="5541962" cy="1692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假设从终端接受了这样两行字符：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wh</a:t>
            </a:r>
            <a:r>
              <a:rPr kumimoji="1" lang="en-US" altLang="zh-CN" sz="2800" b="1" dirty="0" err="1">
                <a:solidFill>
                  <a:srgbClr val="CC6600"/>
                </a:solidFill>
                <a:latin typeface="Times New Roman" panose="02020503050405090304" pitchFamily="18" charset="0"/>
              </a:rPr>
              <a:t>li</a:t>
            </a:r>
            <a:r>
              <a:rPr kumimoji="1" lang="en-US" altLang="zh-CN" sz="2800" b="1" dirty="0">
                <a:solidFill>
                  <a:srgbClr val="CC6600"/>
                </a:solidFill>
                <a:latin typeface="Times New Roman" panose="02020503050405090304" pitchFamily="18" charset="0"/>
              </a:rPr>
              <a:t>##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il</a:t>
            </a:r>
            <a:r>
              <a:rPr kumimoji="1" lang="en-US" altLang="zh-CN" sz="2800" b="1" dirty="0" err="1">
                <a:solidFill>
                  <a:srgbClr val="CC6600"/>
                </a:solidFill>
                <a:latin typeface="Times New Roman" panose="02020503050405090304" pitchFamily="18" charset="0"/>
              </a:rPr>
              <a:t>r#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（</a:t>
            </a:r>
            <a:r>
              <a:rPr kumimoji="1" lang="en-US" altLang="zh-CN" sz="2800" b="1" dirty="0">
                <a:solidFill>
                  <a:srgbClr val="CC6600"/>
                </a:solidFill>
                <a:latin typeface="Times New Roman" panose="02020503050405090304" pitchFamily="18" charset="0"/>
              </a:rPr>
              <a:t>s#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*s)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</a:t>
            </a:r>
            <a:r>
              <a:rPr kumimoji="1" lang="en-US" altLang="zh-CN" sz="2800" b="1" dirty="0" err="1">
                <a:solidFill>
                  <a:srgbClr val="CC6600"/>
                </a:solidFill>
                <a:latin typeface="Times New Roman" panose="02020503050405090304" pitchFamily="18" charset="0"/>
              </a:rPr>
              <a:t>outcha@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putchar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(*s</a:t>
            </a:r>
            <a:r>
              <a:rPr kumimoji="1" lang="en-US" altLang="zh-CN" sz="2800" b="1" dirty="0">
                <a:solidFill>
                  <a:srgbClr val="CC6600"/>
                </a:solidFill>
                <a:latin typeface="Times New Roman" panose="02020503050405090304" pitchFamily="18" charset="0"/>
              </a:rPr>
              <a:t>=#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++);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14.3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行编辑程序问题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ts val="3600"/>
              </a:lnSpc>
            </a:pPr>
            <a:r>
              <a:rPr lang="zh-CN" altLang="en-US" b="1" dirty="0"/>
              <a:t>行编辑问题算法</a:t>
            </a: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CDAA-FA7F-4F72-84CF-0A28696C7AB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665515" y="1867151"/>
            <a:ext cx="8650125" cy="4228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void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LineEdit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(){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503050405090304" pitchFamily="18" charset="0"/>
              </a:rPr>
              <a:t>//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利用字符栈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503050405090304" pitchFamily="18" charset="0"/>
              </a:rPr>
              <a:t>S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503050405090304" pitchFamily="18" charset="0"/>
              </a:rPr>
              <a:t>，从终端接收一行并传送至调用过程的数据区</a:t>
            </a:r>
            <a:endParaRPr kumimoji="1" lang="zh-CN" altLang="en-US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503050405090304" pitchFamily="18" charset="0"/>
              </a:rPr>
              <a:t>       </a:t>
            </a:r>
            <a:r>
              <a:rPr kumimoji="1" lang="en-US" altLang="zh-CN" sz="2400" b="1" dirty="0" err="1">
                <a:latin typeface="Times New Roman" panose="02020503050405090304" pitchFamily="18" charset="0"/>
              </a:rPr>
              <a:t>InitStack</a:t>
            </a:r>
            <a:r>
              <a:rPr kumimoji="1" lang="en-US" altLang="zh-CN" sz="2400" b="1" dirty="0">
                <a:latin typeface="Times New Roman" panose="02020503050405090304" pitchFamily="18" charset="0"/>
              </a:rPr>
              <a:t>(S); </a:t>
            </a:r>
            <a:endParaRPr kumimoji="1" lang="en-US" altLang="zh-CN" sz="2400" b="1" dirty="0"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503050405090304" pitchFamily="18" charset="0"/>
              </a:rPr>
              <a:t>       </a:t>
            </a:r>
            <a:r>
              <a:rPr kumimoji="1" lang="en-US" altLang="zh-CN" sz="2400" b="1" dirty="0" err="1">
                <a:latin typeface="Times New Roman" panose="02020503050405090304" pitchFamily="18" charset="0"/>
              </a:rPr>
              <a:t>ch</a:t>
            </a:r>
            <a:r>
              <a:rPr kumimoji="1" lang="en-US" altLang="zh-CN" sz="2400" b="1" dirty="0">
                <a:latin typeface="Times New Roman" panose="02020503050405090304" pitchFamily="18" charset="0"/>
              </a:rPr>
              <a:t>=</a:t>
            </a:r>
            <a:r>
              <a:rPr kumimoji="1" lang="en-US" altLang="zh-CN" sz="2400" b="1" dirty="0" err="1">
                <a:latin typeface="Times New Roman" panose="02020503050405090304" pitchFamily="18" charset="0"/>
              </a:rPr>
              <a:t>getchar</a:t>
            </a:r>
            <a:r>
              <a:rPr kumimoji="1" lang="en-US" altLang="zh-CN" sz="2400" b="1" dirty="0">
                <a:latin typeface="Times New Roman" panose="02020503050405090304" pitchFamily="18" charset="0"/>
              </a:rPr>
              <a:t>();</a:t>
            </a:r>
            <a:endParaRPr kumimoji="1" lang="en-US" altLang="zh-CN" sz="2400" b="1" dirty="0">
              <a:latin typeface="Times New Roman" panose="02020503050405090304" pitchFamily="18" charset="0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503050405090304" pitchFamily="18" charset="0"/>
              </a:rPr>
              <a:t>       while (</a:t>
            </a:r>
            <a:r>
              <a:rPr kumimoji="1" lang="en-US" altLang="zh-CN" sz="2400" b="1" dirty="0" err="1">
                <a:latin typeface="Times New Roman" panose="02020503050405090304" pitchFamily="18" charset="0"/>
              </a:rPr>
              <a:t>ch</a:t>
            </a:r>
            <a:r>
              <a:rPr kumimoji="1" lang="en-US" altLang="zh-CN" sz="2400" b="1" dirty="0">
                <a:latin typeface="Times New Roman" panose="02020503050405090304" pitchFamily="18" charset="0"/>
              </a:rPr>
              <a:t> != EOF) { //EOF</a:t>
            </a:r>
            <a:r>
              <a:rPr kumimoji="1" lang="zh-CN" altLang="en-US" sz="2400" b="1" dirty="0">
                <a:latin typeface="Times New Roman" panose="02020503050405090304" pitchFamily="18" charset="0"/>
              </a:rPr>
              <a:t>为全文结束符</a:t>
            </a:r>
            <a:endParaRPr kumimoji="1" lang="en-US" altLang="zh-CN" sz="2400" b="1" dirty="0"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503050405090304" pitchFamily="18" charset="0"/>
                <a:ea typeface="楷体_GB2312" pitchFamily="49" charset="-122"/>
              </a:rPr>
              <a:t>           while (</a:t>
            </a:r>
            <a:r>
              <a:rPr kumimoji="1" lang="en-US" altLang="zh-CN" sz="2400" b="1" dirty="0" err="1">
                <a:latin typeface="Times New Roman" panose="02020503050405090304" pitchFamily="18" charset="0"/>
                <a:ea typeface="楷体_GB2312" pitchFamily="49" charset="-122"/>
              </a:rPr>
              <a:t>ch</a:t>
            </a:r>
            <a:r>
              <a:rPr kumimoji="1" lang="en-US" altLang="zh-CN" sz="2400" b="1" dirty="0">
                <a:latin typeface="Times New Roman" panose="02020503050405090304" pitchFamily="18" charset="0"/>
                <a:ea typeface="楷体_GB2312" pitchFamily="49" charset="-122"/>
              </a:rPr>
              <a:t> != ‘\n’) {……}</a:t>
            </a:r>
            <a:r>
              <a:rPr kumimoji="1"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 </a:t>
            </a:r>
            <a:endParaRPr kumimoji="1" lang="en-US" altLang="zh-CN" sz="2400" b="1" dirty="0"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将从栈底到栈顶的栈内字符传送至调用过程的数据区；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ClearStack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(S);           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//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重置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S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为空栈</a:t>
            </a:r>
            <a:endParaRPr kumimoji="1" lang="zh-CN" altLang="en-US" sz="24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ch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=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getchar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();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503050405090304" pitchFamily="18" charset="0"/>
              </a:rPr>
              <a:t>        }</a:t>
            </a:r>
            <a:endParaRPr kumimoji="1" lang="en-US" altLang="zh-CN" sz="2400" b="1" dirty="0">
              <a:latin typeface="Times New Roman" panose="02020503050405090304" pitchFamily="18" charset="0"/>
              <a:ea typeface="楷体_GB2312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503050405090304" pitchFamily="18" charset="0"/>
              </a:rPr>
              <a:t>      </a:t>
            </a:r>
            <a:r>
              <a:rPr kumimoji="1" lang="en-US" altLang="zh-CN" sz="2400" b="1" dirty="0" err="1">
                <a:latin typeface="Times New Roman" panose="02020503050405090304" pitchFamily="18" charset="0"/>
              </a:rPr>
              <a:t>DestroyStack</a:t>
            </a:r>
            <a:r>
              <a:rPr kumimoji="1" lang="en-US" altLang="zh-CN" sz="2400" b="1" dirty="0">
                <a:latin typeface="Times New Roman" panose="02020503050405090304" pitchFamily="18" charset="0"/>
              </a:rPr>
              <a:t>(S);</a:t>
            </a:r>
            <a:endParaRPr kumimoji="1" lang="en-US" altLang="zh-CN" sz="2400" b="1" dirty="0">
              <a:latin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503050405090304" pitchFamily="18" charset="0"/>
              </a:rPr>
              <a:t>}</a:t>
            </a:r>
            <a:endParaRPr kumimoji="1" lang="zh-CN" altLang="en-US" sz="2400" b="1" dirty="0"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6406" y="1991564"/>
            <a:ext cx="5770984" cy="51054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ts val="3600"/>
              </a:lnSpc>
            </a:pPr>
            <a:r>
              <a:rPr lang="zh-CN" altLang="en-US" b="1" dirty="0"/>
              <a:t>          求表达式</a:t>
            </a:r>
            <a:r>
              <a:rPr lang="en-US" altLang="zh-CN" b="1" dirty="0"/>
              <a:t>3*(2+3*5)+6</a:t>
            </a:r>
            <a:r>
              <a:rPr lang="zh-CN" altLang="en-US" b="1" dirty="0"/>
              <a:t>的值</a:t>
            </a:r>
            <a:endParaRPr lang="zh-CN" altLang="en-US" b="1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altLang="zh-CN" sz="2000" dirty="0">
              <a:solidFill>
                <a:srgbClr val="BF2026"/>
              </a:solidFill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altLang="zh-CN" sz="2000" dirty="0">
              <a:solidFill>
                <a:srgbClr val="BF2026"/>
              </a:solidFill>
              <a:latin typeface="宋体"/>
              <a:cs typeface="宋体"/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2000" dirty="0">
                <a:solidFill>
                  <a:srgbClr val="010202"/>
                </a:solidFill>
                <a:latin typeface="宋体"/>
                <a:cs typeface="宋体"/>
              </a:rPr>
              <a:t>由三个部分组成：</a:t>
            </a:r>
            <a:r>
              <a:rPr lang="zh-CN" altLang="en-US" sz="2000" dirty="0">
                <a:latin typeface="宋体"/>
                <a:cs typeface="宋体"/>
              </a:rPr>
              <a:t>操作数、运算符、</a:t>
            </a:r>
            <a:r>
              <a:rPr lang="zh-CN" altLang="en-US" sz="2000" dirty="0">
                <a:solidFill>
                  <a:srgbClr val="BF2026"/>
                </a:solidFill>
                <a:latin typeface="宋体"/>
                <a:cs typeface="宋体"/>
              </a:rPr>
              <a:t>界限符</a:t>
            </a:r>
            <a:r>
              <a:rPr lang="en-US" altLang="zh-CN" sz="2000" dirty="0">
                <a:solidFill>
                  <a:srgbClr val="BF2026"/>
                </a:solidFill>
                <a:latin typeface="宋体"/>
                <a:cs typeface="宋体"/>
              </a:rPr>
              <a:t>(</a:t>
            </a:r>
            <a:r>
              <a:rPr lang="zh-CN" altLang="en-US" sz="2000" dirty="0">
                <a:solidFill>
                  <a:srgbClr val="BF2026"/>
                </a:solidFill>
                <a:latin typeface="宋体"/>
                <a:cs typeface="宋体"/>
              </a:rPr>
              <a:t>界限符是必不可少的， 反映了计算的先后顺序</a:t>
            </a:r>
            <a:r>
              <a:rPr lang="en-US" altLang="zh-CN" sz="2000" dirty="0">
                <a:solidFill>
                  <a:srgbClr val="BF2026"/>
                </a:solidFill>
                <a:latin typeface="宋体"/>
                <a:cs typeface="宋体"/>
              </a:rPr>
              <a:t>)</a:t>
            </a:r>
            <a:endParaRPr lang="en-US" altLang="zh-CN" sz="2000" dirty="0">
              <a:solidFill>
                <a:srgbClr val="BF2026"/>
              </a:solidFill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zh-CN" altLang="en-US" sz="2000" dirty="0">
              <a:solidFill>
                <a:srgbClr val="BF2026"/>
              </a:solidFill>
              <a:latin typeface="宋体"/>
              <a:cs typeface="宋体"/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2000" dirty="0">
                <a:solidFill>
                  <a:srgbClr val="BF2026"/>
                </a:solidFill>
                <a:latin typeface="宋体"/>
                <a:cs typeface="宋体"/>
              </a:rPr>
              <a:t>不使用界限符可以无歧义的表达运算顺序么？</a:t>
            </a: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B1F6-F182-45E3-BF1F-42DB1BF6C77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1638300" y="2118535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例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1986908" y="4781960"/>
            <a:ext cx="4303079" cy="101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accent2"/>
                </a:solidFill>
              </a:rPr>
              <a:t>                    </a:t>
            </a:r>
            <a:r>
              <a:rPr lang="zh-CN" altLang="en-US" sz="2000" dirty="0">
                <a:solidFill>
                  <a:schemeClr val="accent2"/>
                </a:solidFill>
              </a:rPr>
              <a:t>前缀表达式（波兰式）</a:t>
            </a:r>
            <a:endParaRPr lang="zh-CN" altLang="en-US" sz="2000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chemeClr val="accent2"/>
                </a:solidFill>
              </a:rPr>
              <a:t>表达式：    中缀表达式</a:t>
            </a:r>
            <a:endParaRPr lang="zh-CN" altLang="en-US" sz="2000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chemeClr val="accent2"/>
                </a:solidFill>
              </a:rPr>
              <a:t>                    后缀表达式（</a:t>
            </a:r>
            <a:r>
              <a:rPr lang="zh-CN" altLang="en-US" sz="2000" dirty="0">
                <a:solidFill>
                  <a:srgbClr val="FF0000"/>
                </a:solidFill>
              </a:rPr>
              <a:t>逆波兰式</a:t>
            </a:r>
            <a:r>
              <a:rPr lang="zh-CN" altLang="en-US" sz="2000" dirty="0">
                <a:solidFill>
                  <a:schemeClr val="accent2"/>
                </a:solidFill>
              </a:rPr>
              <a:t>）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7974686" y="2118535"/>
            <a:ext cx="3413114" cy="166526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prstClr val="black"/>
                </a:solidFill>
                <a:latin typeface="Constantia" pitchFamily="18" charset="0"/>
                <a:ea typeface="楷体_GB2312" pitchFamily="49" charset="-122"/>
              </a:rPr>
              <a:t>四则运算规则：</a:t>
            </a:r>
            <a:endParaRPr lang="en-US" altLang="zh-CN" b="1" dirty="0">
              <a:solidFill>
                <a:prstClr val="black"/>
              </a:solidFill>
              <a:latin typeface="Constantia" pitchFamily="18" charset="0"/>
              <a:ea typeface="楷体_GB2312" pitchFamily="49" charset="-122"/>
            </a:endParaRP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）先乘除，后加减；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）从左算到右；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）先括号内，后括号外。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EC1E-1DBA-44A5-BDB3-CABE552EF24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815246" y="1595862"/>
            <a:ext cx="2366994" cy="4512123"/>
            <a:chOff x="1976406" y="2055811"/>
            <a:chExt cx="910590" cy="1749358"/>
          </a:xfrm>
        </p:grpSpPr>
        <p:sp>
          <p:nvSpPr>
            <p:cNvPr id="17" name="object 19"/>
            <p:cNvSpPr txBox="1"/>
            <p:nvPr/>
          </p:nvSpPr>
          <p:spPr>
            <a:xfrm>
              <a:off x="2111283" y="2883852"/>
              <a:ext cx="357505" cy="19589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200" spc="180" dirty="0">
                  <a:solidFill>
                    <a:srgbClr val="191919"/>
                  </a:solidFill>
                  <a:latin typeface="Calibri"/>
                  <a:cs typeface="Calibri"/>
                </a:rPr>
                <a:t>a+b</a:t>
              </a:r>
              <a:r>
                <a:rPr sz="3200" spc="-5" dirty="0">
                  <a:solidFill>
                    <a:srgbClr val="191919"/>
                  </a:solidFill>
                  <a:latin typeface="Calibri"/>
                  <a:cs typeface="Calibri"/>
                </a:rPr>
                <a:t> </a:t>
              </a:r>
              <a:endParaRPr sz="3200">
                <a:latin typeface="Calibri"/>
                <a:cs typeface="Calibri"/>
              </a:endParaRPr>
            </a:p>
          </p:txBody>
        </p:sp>
        <p:sp>
          <p:nvSpPr>
            <p:cNvPr id="18" name="object 20"/>
            <p:cNvSpPr txBox="1"/>
            <p:nvPr/>
          </p:nvSpPr>
          <p:spPr>
            <a:xfrm>
              <a:off x="2097826" y="2515044"/>
              <a:ext cx="787400" cy="19589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200" dirty="0">
                  <a:solidFill>
                    <a:srgbClr val="BF2026"/>
                  </a:solidFill>
                  <a:latin typeface="宋体"/>
                  <a:cs typeface="宋体"/>
                </a:rPr>
                <a:t>中缀</a:t>
              </a:r>
              <a:r>
                <a:rPr sz="3200" dirty="0">
                  <a:solidFill>
                    <a:srgbClr val="010202"/>
                  </a:solidFill>
                  <a:latin typeface="宋体"/>
                  <a:cs typeface="宋体"/>
                </a:rPr>
                <a:t>表达式</a:t>
              </a:r>
              <a:endParaRPr sz="3200" dirty="0">
                <a:latin typeface="宋体"/>
                <a:cs typeface="宋体"/>
              </a:endParaRPr>
            </a:p>
          </p:txBody>
        </p:sp>
        <p:sp>
          <p:nvSpPr>
            <p:cNvPr id="19" name="object 21"/>
            <p:cNvSpPr/>
            <p:nvPr/>
          </p:nvSpPr>
          <p:spPr>
            <a:xfrm>
              <a:off x="1976406" y="2059038"/>
              <a:ext cx="910590" cy="422275"/>
            </a:xfrm>
            <a:custGeom>
              <a:avLst/>
              <a:gdLst/>
              <a:ahLst/>
              <a:cxnLst/>
              <a:rect l="l" t="t" r="r" b="b"/>
              <a:pathLst>
                <a:path w="910589" h="422275">
                  <a:moveTo>
                    <a:pt x="379298" y="323164"/>
                  </a:moveTo>
                  <a:lnTo>
                    <a:pt x="151714" y="323164"/>
                  </a:lnTo>
                  <a:lnTo>
                    <a:pt x="253263" y="422173"/>
                  </a:lnTo>
                  <a:lnTo>
                    <a:pt x="379298" y="323164"/>
                  </a:lnTo>
                  <a:close/>
                </a:path>
                <a:path w="910589" h="422275">
                  <a:moveTo>
                    <a:pt x="856449" y="0"/>
                  </a:moveTo>
                  <a:lnTo>
                    <a:pt x="53860" y="0"/>
                  </a:lnTo>
                  <a:lnTo>
                    <a:pt x="32896" y="4233"/>
                  </a:lnTo>
                  <a:lnTo>
                    <a:pt x="15776" y="15776"/>
                  </a:lnTo>
                  <a:lnTo>
                    <a:pt x="4233" y="32896"/>
                  </a:lnTo>
                  <a:lnTo>
                    <a:pt x="0" y="53860"/>
                  </a:lnTo>
                  <a:lnTo>
                    <a:pt x="0" y="269303"/>
                  </a:lnTo>
                  <a:lnTo>
                    <a:pt x="4233" y="290272"/>
                  </a:lnTo>
                  <a:lnTo>
                    <a:pt x="15776" y="307392"/>
                  </a:lnTo>
                  <a:lnTo>
                    <a:pt x="32896" y="318932"/>
                  </a:lnTo>
                  <a:lnTo>
                    <a:pt x="53860" y="323164"/>
                  </a:lnTo>
                  <a:lnTo>
                    <a:pt x="856449" y="323164"/>
                  </a:lnTo>
                  <a:lnTo>
                    <a:pt x="877413" y="318932"/>
                  </a:lnTo>
                  <a:lnTo>
                    <a:pt x="894534" y="307392"/>
                  </a:lnTo>
                  <a:lnTo>
                    <a:pt x="906077" y="290272"/>
                  </a:lnTo>
                  <a:lnTo>
                    <a:pt x="910310" y="269303"/>
                  </a:lnTo>
                  <a:lnTo>
                    <a:pt x="910310" y="53860"/>
                  </a:lnTo>
                  <a:lnTo>
                    <a:pt x="906077" y="32896"/>
                  </a:lnTo>
                  <a:lnTo>
                    <a:pt x="894534" y="15776"/>
                  </a:lnTo>
                  <a:lnTo>
                    <a:pt x="877413" y="4233"/>
                  </a:lnTo>
                  <a:lnTo>
                    <a:pt x="856449" y="0"/>
                  </a:lnTo>
                  <a:close/>
                </a:path>
              </a:pathLst>
            </a:custGeom>
            <a:solidFill>
              <a:srgbClr val="5C9BD3"/>
            </a:solidFill>
          </p:spPr>
          <p:txBody>
            <a:bodyPr wrap="square" lIns="0" tIns="0" rIns="0" bIns="0" rtlCol="0"/>
            <a:lstStyle/>
            <a:p>
              <a:endParaRPr sz="4400"/>
            </a:p>
          </p:txBody>
        </p:sp>
        <p:sp>
          <p:nvSpPr>
            <p:cNvPr id="20" name="object 22"/>
            <p:cNvSpPr/>
            <p:nvPr/>
          </p:nvSpPr>
          <p:spPr>
            <a:xfrm>
              <a:off x="1976406" y="2059038"/>
              <a:ext cx="910590" cy="422275"/>
            </a:xfrm>
            <a:custGeom>
              <a:avLst/>
              <a:gdLst/>
              <a:ahLst/>
              <a:cxnLst/>
              <a:rect l="l" t="t" r="r" b="b"/>
              <a:pathLst>
                <a:path w="910589" h="422275">
                  <a:moveTo>
                    <a:pt x="0" y="53860"/>
                  </a:moveTo>
                  <a:lnTo>
                    <a:pt x="4233" y="32896"/>
                  </a:lnTo>
                  <a:lnTo>
                    <a:pt x="15776" y="15776"/>
                  </a:lnTo>
                  <a:lnTo>
                    <a:pt x="32896" y="4233"/>
                  </a:lnTo>
                  <a:lnTo>
                    <a:pt x="53860" y="0"/>
                  </a:lnTo>
                  <a:lnTo>
                    <a:pt x="856449" y="0"/>
                  </a:lnTo>
                  <a:lnTo>
                    <a:pt x="877413" y="4233"/>
                  </a:lnTo>
                  <a:lnTo>
                    <a:pt x="894534" y="15776"/>
                  </a:lnTo>
                  <a:lnTo>
                    <a:pt x="906077" y="32896"/>
                  </a:lnTo>
                  <a:lnTo>
                    <a:pt x="910310" y="53860"/>
                  </a:lnTo>
                  <a:lnTo>
                    <a:pt x="910310" y="269303"/>
                  </a:lnTo>
                  <a:lnTo>
                    <a:pt x="906077" y="290272"/>
                  </a:lnTo>
                  <a:lnTo>
                    <a:pt x="894534" y="307392"/>
                  </a:lnTo>
                  <a:lnTo>
                    <a:pt x="877413" y="318932"/>
                  </a:lnTo>
                  <a:lnTo>
                    <a:pt x="856449" y="323164"/>
                  </a:lnTo>
                  <a:lnTo>
                    <a:pt x="379298" y="323164"/>
                  </a:lnTo>
                  <a:lnTo>
                    <a:pt x="253263" y="422173"/>
                  </a:lnTo>
                  <a:lnTo>
                    <a:pt x="151726" y="323164"/>
                  </a:lnTo>
                  <a:lnTo>
                    <a:pt x="53860" y="323164"/>
                  </a:lnTo>
                  <a:lnTo>
                    <a:pt x="32896" y="318932"/>
                  </a:lnTo>
                  <a:lnTo>
                    <a:pt x="15776" y="307392"/>
                  </a:lnTo>
                  <a:lnTo>
                    <a:pt x="4233" y="290272"/>
                  </a:lnTo>
                  <a:lnTo>
                    <a:pt x="0" y="269303"/>
                  </a:lnTo>
                  <a:lnTo>
                    <a:pt x="0" y="188518"/>
                  </a:lnTo>
                  <a:lnTo>
                    <a:pt x="0" y="53860"/>
                  </a:lnTo>
                  <a:close/>
                </a:path>
              </a:pathLst>
            </a:custGeom>
            <a:ln w="6350">
              <a:solidFill>
                <a:srgbClr val="41719D"/>
              </a:solidFill>
            </a:ln>
          </p:spPr>
          <p:txBody>
            <a:bodyPr wrap="square" lIns="0" tIns="0" rIns="0" bIns="0" rtlCol="0"/>
            <a:lstStyle/>
            <a:p>
              <a:endParaRPr sz="4400"/>
            </a:p>
          </p:txBody>
        </p:sp>
        <p:sp>
          <p:nvSpPr>
            <p:cNvPr id="21" name="object 23"/>
            <p:cNvSpPr txBox="1"/>
            <p:nvPr/>
          </p:nvSpPr>
          <p:spPr>
            <a:xfrm>
              <a:off x="2037864" y="2055811"/>
              <a:ext cx="787400" cy="2436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76200" marR="5080" indent="-63500">
                <a:lnSpc>
                  <a:spcPct val="100000"/>
                </a:lnSpc>
                <a:spcBef>
                  <a:spcPts val="100"/>
                </a:spcBef>
              </a:pPr>
              <a:r>
                <a:rPr lang="zh-CN" altLang="en-US" sz="2000" dirty="0">
                  <a:solidFill>
                    <a:srgbClr val="FFFFFF"/>
                  </a:solidFill>
                  <a:latin typeface="宋体"/>
                  <a:cs typeface="宋体"/>
                </a:rPr>
                <a:t>规则</a:t>
              </a:r>
              <a:r>
                <a:rPr sz="2000" dirty="0" err="1">
                  <a:solidFill>
                    <a:srgbClr val="FFFFFF"/>
                  </a:solidFill>
                  <a:latin typeface="宋体"/>
                  <a:cs typeface="宋体"/>
                </a:rPr>
                <a:t>运算符在两个操作数中间</a:t>
              </a:r>
              <a:endParaRPr sz="2000" dirty="0">
                <a:latin typeface="宋体"/>
                <a:cs typeface="宋体"/>
              </a:endParaRPr>
            </a:p>
          </p:txBody>
        </p:sp>
        <p:sp>
          <p:nvSpPr>
            <p:cNvPr id="36" name="object 34"/>
            <p:cNvSpPr txBox="1"/>
            <p:nvPr/>
          </p:nvSpPr>
          <p:spPr>
            <a:xfrm>
              <a:off x="2101115" y="3231325"/>
              <a:ext cx="537210" cy="19589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200" spc="210" dirty="0">
                  <a:solidFill>
                    <a:srgbClr val="191919"/>
                  </a:solidFill>
                  <a:latin typeface="Calibri"/>
                  <a:cs typeface="Calibri"/>
                </a:rPr>
                <a:t>a+b-c</a:t>
              </a:r>
              <a:r>
                <a:rPr sz="3200" spc="-5" dirty="0">
                  <a:solidFill>
                    <a:srgbClr val="191919"/>
                  </a:solidFill>
                  <a:latin typeface="Calibri"/>
                  <a:cs typeface="Calibri"/>
                </a:rPr>
                <a:t> </a:t>
              </a:r>
              <a:endParaRPr sz="3200" dirty="0">
                <a:latin typeface="Calibri"/>
                <a:cs typeface="Calibri"/>
              </a:endParaRPr>
            </a:p>
          </p:txBody>
        </p:sp>
        <p:sp>
          <p:nvSpPr>
            <p:cNvPr id="39" name="object 37"/>
            <p:cNvSpPr txBox="1"/>
            <p:nvPr/>
          </p:nvSpPr>
          <p:spPr>
            <a:xfrm>
              <a:off x="2111280" y="3609276"/>
              <a:ext cx="727075" cy="19589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200" spc="220" dirty="0">
                  <a:solidFill>
                    <a:srgbClr val="191919"/>
                  </a:solidFill>
                  <a:latin typeface="Calibri"/>
                  <a:cs typeface="Calibri"/>
                </a:rPr>
                <a:t>a+b-c*</a:t>
              </a:r>
              <a:r>
                <a:rPr sz="3200" spc="-70" dirty="0">
                  <a:solidFill>
                    <a:srgbClr val="191919"/>
                  </a:solidFill>
                  <a:latin typeface="Calibri"/>
                  <a:cs typeface="Calibri"/>
                </a:rPr>
                <a:t> </a:t>
              </a:r>
              <a:r>
                <a:rPr sz="3200" dirty="0">
                  <a:solidFill>
                    <a:srgbClr val="191919"/>
                  </a:solidFill>
                  <a:latin typeface="Calibri"/>
                  <a:cs typeface="Calibri"/>
                </a:rPr>
                <a:t>d</a:t>
              </a:r>
              <a:endParaRPr sz="3200" dirty="0">
                <a:latin typeface="Calibri"/>
                <a:cs typeface="Calibri"/>
              </a:endParaRPr>
            </a:p>
          </p:txBody>
        </p:sp>
      </p:grpSp>
      <p:sp>
        <p:nvSpPr>
          <p:cNvPr id="22" name="object 24"/>
          <p:cNvSpPr txBox="1"/>
          <p:nvPr/>
        </p:nvSpPr>
        <p:spPr>
          <a:xfrm>
            <a:off x="5174058" y="3771299"/>
            <a:ext cx="1006984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75" dirty="0">
                <a:solidFill>
                  <a:srgbClr val="191919"/>
                </a:solidFill>
                <a:latin typeface="Calibri"/>
                <a:cs typeface="Calibri"/>
              </a:rPr>
              <a:t>ab+</a:t>
            </a:r>
            <a:r>
              <a:rPr sz="3200" spc="-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3" name="object 25"/>
          <p:cNvSpPr txBox="1"/>
          <p:nvPr/>
        </p:nvSpPr>
        <p:spPr>
          <a:xfrm>
            <a:off x="5121129" y="2806071"/>
            <a:ext cx="2217869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BF2026"/>
                </a:solidFill>
                <a:latin typeface="宋体"/>
                <a:cs typeface="宋体"/>
              </a:rPr>
              <a:t>后缀</a:t>
            </a:r>
            <a:r>
              <a:rPr sz="3200" dirty="0">
                <a:solidFill>
                  <a:srgbClr val="010202"/>
                </a:solidFill>
                <a:latin typeface="宋体"/>
                <a:cs typeface="宋体"/>
              </a:rPr>
              <a:t>表达式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4" name="object 26"/>
          <p:cNvSpPr/>
          <p:nvPr/>
        </p:nvSpPr>
        <p:spPr>
          <a:xfrm>
            <a:off x="4686073" y="1612631"/>
            <a:ext cx="2890384" cy="1105161"/>
          </a:xfrm>
          <a:custGeom>
            <a:avLst/>
            <a:gdLst/>
            <a:ahLst/>
            <a:cxnLst/>
            <a:rect l="l" t="t" r="r" b="b"/>
            <a:pathLst>
              <a:path w="1026160" h="422275">
                <a:moveTo>
                  <a:pt x="427532" y="323164"/>
                </a:moveTo>
                <a:lnTo>
                  <a:pt x="171005" y="323164"/>
                </a:lnTo>
                <a:lnTo>
                  <a:pt x="285457" y="422173"/>
                </a:lnTo>
                <a:lnTo>
                  <a:pt x="427532" y="323164"/>
                </a:lnTo>
                <a:close/>
              </a:path>
              <a:path w="1026160" h="422275">
                <a:moveTo>
                  <a:pt x="972197" y="0"/>
                </a:moveTo>
                <a:lnTo>
                  <a:pt x="53860" y="0"/>
                </a:lnTo>
                <a:lnTo>
                  <a:pt x="32896" y="4233"/>
                </a:lnTo>
                <a:lnTo>
                  <a:pt x="15776" y="15776"/>
                </a:lnTo>
                <a:lnTo>
                  <a:pt x="4233" y="32896"/>
                </a:lnTo>
                <a:lnTo>
                  <a:pt x="0" y="53860"/>
                </a:lnTo>
                <a:lnTo>
                  <a:pt x="0" y="269303"/>
                </a:lnTo>
                <a:lnTo>
                  <a:pt x="4233" y="290272"/>
                </a:lnTo>
                <a:lnTo>
                  <a:pt x="15776" y="307392"/>
                </a:lnTo>
                <a:lnTo>
                  <a:pt x="32896" y="318932"/>
                </a:lnTo>
                <a:lnTo>
                  <a:pt x="53860" y="323164"/>
                </a:lnTo>
                <a:lnTo>
                  <a:pt x="972197" y="323164"/>
                </a:lnTo>
                <a:lnTo>
                  <a:pt x="993168" y="318932"/>
                </a:lnTo>
                <a:lnTo>
                  <a:pt x="1010292" y="307392"/>
                </a:lnTo>
                <a:lnTo>
                  <a:pt x="1021837" y="290272"/>
                </a:lnTo>
                <a:lnTo>
                  <a:pt x="1026071" y="269303"/>
                </a:lnTo>
                <a:lnTo>
                  <a:pt x="1026071" y="53860"/>
                </a:lnTo>
                <a:lnTo>
                  <a:pt x="1021837" y="32896"/>
                </a:lnTo>
                <a:lnTo>
                  <a:pt x="1010292" y="15776"/>
                </a:lnTo>
                <a:lnTo>
                  <a:pt x="993168" y="4233"/>
                </a:lnTo>
                <a:lnTo>
                  <a:pt x="972197" y="0"/>
                </a:lnTo>
                <a:close/>
              </a:path>
            </a:pathLst>
          </a:custGeom>
          <a:solidFill>
            <a:srgbClr val="5C9BD3"/>
          </a:solidFill>
        </p:spPr>
        <p:txBody>
          <a:bodyPr wrap="square" lIns="0" tIns="0" rIns="0" bIns="0" rtlCol="0"/>
          <a:lstStyle/>
          <a:p>
            <a:endParaRPr sz="4400"/>
          </a:p>
        </p:txBody>
      </p:sp>
      <p:sp>
        <p:nvSpPr>
          <p:cNvPr id="25" name="object 27"/>
          <p:cNvSpPr/>
          <p:nvPr/>
        </p:nvSpPr>
        <p:spPr>
          <a:xfrm>
            <a:off x="4686073" y="1612631"/>
            <a:ext cx="2890384" cy="1105161"/>
          </a:xfrm>
          <a:custGeom>
            <a:avLst/>
            <a:gdLst/>
            <a:ahLst/>
            <a:cxnLst/>
            <a:rect l="l" t="t" r="r" b="b"/>
            <a:pathLst>
              <a:path w="1026160" h="422275">
                <a:moveTo>
                  <a:pt x="0" y="53860"/>
                </a:moveTo>
                <a:lnTo>
                  <a:pt x="4233" y="32896"/>
                </a:lnTo>
                <a:lnTo>
                  <a:pt x="15776" y="15776"/>
                </a:lnTo>
                <a:lnTo>
                  <a:pt x="32896" y="4233"/>
                </a:lnTo>
                <a:lnTo>
                  <a:pt x="53860" y="0"/>
                </a:lnTo>
                <a:lnTo>
                  <a:pt x="972210" y="0"/>
                </a:lnTo>
                <a:lnTo>
                  <a:pt x="993174" y="4233"/>
                </a:lnTo>
                <a:lnTo>
                  <a:pt x="1010294" y="15776"/>
                </a:lnTo>
                <a:lnTo>
                  <a:pt x="1021838" y="32896"/>
                </a:lnTo>
                <a:lnTo>
                  <a:pt x="1026071" y="53860"/>
                </a:lnTo>
                <a:lnTo>
                  <a:pt x="1026071" y="269303"/>
                </a:lnTo>
                <a:lnTo>
                  <a:pt x="1021838" y="290272"/>
                </a:lnTo>
                <a:lnTo>
                  <a:pt x="1010294" y="307392"/>
                </a:lnTo>
                <a:lnTo>
                  <a:pt x="993174" y="318932"/>
                </a:lnTo>
                <a:lnTo>
                  <a:pt x="972210" y="323164"/>
                </a:lnTo>
                <a:lnTo>
                  <a:pt x="427532" y="323164"/>
                </a:lnTo>
                <a:lnTo>
                  <a:pt x="285457" y="422173"/>
                </a:lnTo>
                <a:lnTo>
                  <a:pt x="171018" y="323164"/>
                </a:lnTo>
                <a:lnTo>
                  <a:pt x="53860" y="323164"/>
                </a:lnTo>
                <a:lnTo>
                  <a:pt x="32896" y="318932"/>
                </a:lnTo>
                <a:lnTo>
                  <a:pt x="15776" y="307392"/>
                </a:lnTo>
                <a:lnTo>
                  <a:pt x="4233" y="290272"/>
                </a:lnTo>
                <a:lnTo>
                  <a:pt x="0" y="269303"/>
                </a:lnTo>
                <a:lnTo>
                  <a:pt x="0" y="188518"/>
                </a:lnTo>
                <a:lnTo>
                  <a:pt x="0" y="53860"/>
                </a:lnTo>
                <a:close/>
              </a:path>
            </a:pathLst>
          </a:custGeom>
          <a:ln w="6350">
            <a:solidFill>
              <a:srgbClr val="41719D"/>
            </a:solidFill>
          </a:ln>
        </p:spPr>
        <p:txBody>
          <a:bodyPr wrap="square" lIns="0" tIns="0" rIns="0" bIns="0" rtlCol="0"/>
          <a:lstStyle/>
          <a:p>
            <a:endParaRPr sz="4400"/>
          </a:p>
        </p:txBody>
      </p:sp>
      <p:sp>
        <p:nvSpPr>
          <p:cNvPr id="26" name="object 28"/>
          <p:cNvSpPr txBox="1"/>
          <p:nvPr/>
        </p:nvSpPr>
        <p:spPr>
          <a:xfrm>
            <a:off x="4843310" y="1604185"/>
            <a:ext cx="257559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 err="1">
                <a:solidFill>
                  <a:srgbClr val="FFFFFF"/>
                </a:solidFill>
                <a:latin typeface="宋体"/>
                <a:cs typeface="宋体"/>
              </a:rPr>
              <a:t>规则：运算符在两个操作数后面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37" name="object 35"/>
          <p:cNvSpPr txBox="1"/>
          <p:nvPr/>
        </p:nvSpPr>
        <p:spPr>
          <a:xfrm>
            <a:off x="5195293" y="4680691"/>
            <a:ext cx="1511370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91919"/>
                </a:solidFill>
                <a:latin typeface="Calibri"/>
                <a:cs typeface="Calibri"/>
              </a:rPr>
              <a:t>a</a:t>
            </a:r>
            <a:r>
              <a:rPr sz="3200" spc="-4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3200" spc="195" dirty="0">
                <a:solidFill>
                  <a:srgbClr val="191919"/>
                </a:solidFill>
                <a:latin typeface="Calibri"/>
                <a:cs typeface="Calibri"/>
              </a:rPr>
              <a:t>b+c-</a:t>
            </a:r>
            <a:r>
              <a:rPr sz="3200" spc="-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0" name="object 38"/>
          <p:cNvSpPr txBox="1"/>
          <p:nvPr/>
        </p:nvSpPr>
        <p:spPr>
          <a:xfrm>
            <a:off x="5121104" y="5669849"/>
            <a:ext cx="2047952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20" dirty="0">
                <a:solidFill>
                  <a:srgbClr val="010202"/>
                </a:solidFill>
                <a:latin typeface="Calibri"/>
                <a:cs typeface="Calibri"/>
              </a:rPr>
              <a:t>ab+cd*</a:t>
            </a:r>
            <a:r>
              <a:rPr sz="3200" spc="-70" dirty="0">
                <a:solidFill>
                  <a:srgbClr val="01020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10202"/>
                </a:solidFill>
                <a:latin typeface="Calibri"/>
                <a:cs typeface="Calibri"/>
              </a:rPr>
              <a:t>-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7" name="object 29"/>
          <p:cNvSpPr txBox="1"/>
          <p:nvPr/>
        </p:nvSpPr>
        <p:spPr>
          <a:xfrm>
            <a:off x="8489660" y="2767374"/>
            <a:ext cx="2147273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BF2026"/>
                </a:solidFill>
                <a:latin typeface="宋体"/>
                <a:cs typeface="宋体"/>
              </a:rPr>
              <a:t>前缀</a:t>
            </a:r>
            <a:r>
              <a:rPr sz="3200" dirty="0">
                <a:solidFill>
                  <a:srgbClr val="010202"/>
                </a:solidFill>
                <a:latin typeface="宋体"/>
                <a:cs typeface="宋体"/>
              </a:rPr>
              <a:t>表达式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30"/>
          <p:cNvSpPr/>
          <p:nvPr/>
        </p:nvSpPr>
        <p:spPr>
          <a:xfrm>
            <a:off x="8112546" y="1631364"/>
            <a:ext cx="2928257" cy="1085007"/>
          </a:xfrm>
          <a:custGeom>
            <a:avLst/>
            <a:gdLst/>
            <a:ahLst/>
            <a:cxnLst/>
            <a:rect l="l" t="t" r="r" b="b"/>
            <a:pathLst>
              <a:path w="1073785" h="422275">
                <a:moveTo>
                  <a:pt x="447294" y="323164"/>
                </a:moveTo>
                <a:lnTo>
                  <a:pt x="178917" y="323164"/>
                </a:lnTo>
                <a:lnTo>
                  <a:pt x="298665" y="422160"/>
                </a:lnTo>
                <a:lnTo>
                  <a:pt x="447294" y="323164"/>
                </a:lnTo>
                <a:close/>
              </a:path>
              <a:path w="1073785" h="422275">
                <a:moveTo>
                  <a:pt x="1019644" y="0"/>
                </a:moveTo>
                <a:lnTo>
                  <a:pt x="53860" y="0"/>
                </a:lnTo>
                <a:lnTo>
                  <a:pt x="32896" y="4231"/>
                </a:lnTo>
                <a:lnTo>
                  <a:pt x="15776" y="15771"/>
                </a:lnTo>
                <a:lnTo>
                  <a:pt x="4233" y="32891"/>
                </a:lnTo>
                <a:lnTo>
                  <a:pt x="0" y="53860"/>
                </a:lnTo>
                <a:lnTo>
                  <a:pt x="0" y="269303"/>
                </a:lnTo>
                <a:lnTo>
                  <a:pt x="4233" y="290267"/>
                </a:lnTo>
                <a:lnTo>
                  <a:pt x="15776" y="307387"/>
                </a:lnTo>
                <a:lnTo>
                  <a:pt x="32896" y="318931"/>
                </a:lnTo>
                <a:lnTo>
                  <a:pt x="53860" y="323164"/>
                </a:lnTo>
                <a:lnTo>
                  <a:pt x="1019644" y="323164"/>
                </a:lnTo>
                <a:lnTo>
                  <a:pt x="1040613" y="318931"/>
                </a:lnTo>
                <a:lnTo>
                  <a:pt x="1057733" y="307387"/>
                </a:lnTo>
                <a:lnTo>
                  <a:pt x="1069274" y="290267"/>
                </a:lnTo>
                <a:lnTo>
                  <a:pt x="1073505" y="269303"/>
                </a:lnTo>
                <a:lnTo>
                  <a:pt x="1073505" y="53860"/>
                </a:lnTo>
                <a:lnTo>
                  <a:pt x="1069274" y="32891"/>
                </a:lnTo>
                <a:lnTo>
                  <a:pt x="1057733" y="15771"/>
                </a:lnTo>
                <a:lnTo>
                  <a:pt x="1040613" y="4231"/>
                </a:lnTo>
                <a:lnTo>
                  <a:pt x="1019644" y="0"/>
                </a:lnTo>
                <a:close/>
              </a:path>
            </a:pathLst>
          </a:custGeom>
          <a:solidFill>
            <a:srgbClr val="5C9BD3"/>
          </a:solidFill>
        </p:spPr>
        <p:txBody>
          <a:bodyPr wrap="square" lIns="0" tIns="0" rIns="0" bIns="0" rtlCol="0"/>
          <a:lstStyle/>
          <a:p>
            <a:endParaRPr sz="4400"/>
          </a:p>
        </p:txBody>
      </p:sp>
      <p:sp>
        <p:nvSpPr>
          <p:cNvPr id="29" name="object 31"/>
          <p:cNvSpPr/>
          <p:nvPr/>
        </p:nvSpPr>
        <p:spPr>
          <a:xfrm>
            <a:off x="8112546" y="1631364"/>
            <a:ext cx="2928257" cy="1085007"/>
          </a:xfrm>
          <a:custGeom>
            <a:avLst/>
            <a:gdLst/>
            <a:ahLst/>
            <a:cxnLst/>
            <a:rect l="l" t="t" r="r" b="b"/>
            <a:pathLst>
              <a:path w="1073785" h="422275">
                <a:moveTo>
                  <a:pt x="0" y="53860"/>
                </a:moveTo>
                <a:lnTo>
                  <a:pt x="4233" y="32891"/>
                </a:lnTo>
                <a:lnTo>
                  <a:pt x="15776" y="15771"/>
                </a:lnTo>
                <a:lnTo>
                  <a:pt x="32896" y="4231"/>
                </a:lnTo>
                <a:lnTo>
                  <a:pt x="53860" y="0"/>
                </a:lnTo>
                <a:lnTo>
                  <a:pt x="1019644" y="0"/>
                </a:lnTo>
                <a:lnTo>
                  <a:pt x="1040613" y="4231"/>
                </a:lnTo>
                <a:lnTo>
                  <a:pt x="1057733" y="15771"/>
                </a:lnTo>
                <a:lnTo>
                  <a:pt x="1069274" y="32891"/>
                </a:lnTo>
                <a:lnTo>
                  <a:pt x="1073505" y="53860"/>
                </a:lnTo>
                <a:lnTo>
                  <a:pt x="1073505" y="269303"/>
                </a:lnTo>
                <a:lnTo>
                  <a:pt x="1069274" y="290267"/>
                </a:lnTo>
                <a:lnTo>
                  <a:pt x="1057733" y="307387"/>
                </a:lnTo>
                <a:lnTo>
                  <a:pt x="1040613" y="318931"/>
                </a:lnTo>
                <a:lnTo>
                  <a:pt x="1019644" y="323164"/>
                </a:lnTo>
                <a:lnTo>
                  <a:pt x="447294" y="323164"/>
                </a:lnTo>
                <a:lnTo>
                  <a:pt x="298665" y="422160"/>
                </a:lnTo>
                <a:lnTo>
                  <a:pt x="178917" y="323164"/>
                </a:lnTo>
                <a:lnTo>
                  <a:pt x="53860" y="323164"/>
                </a:lnTo>
                <a:lnTo>
                  <a:pt x="32896" y="318931"/>
                </a:lnTo>
                <a:lnTo>
                  <a:pt x="15776" y="307387"/>
                </a:lnTo>
                <a:lnTo>
                  <a:pt x="4233" y="290267"/>
                </a:lnTo>
                <a:lnTo>
                  <a:pt x="0" y="269303"/>
                </a:lnTo>
                <a:lnTo>
                  <a:pt x="0" y="188506"/>
                </a:lnTo>
                <a:lnTo>
                  <a:pt x="0" y="53860"/>
                </a:lnTo>
                <a:close/>
              </a:path>
            </a:pathLst>
          </a:custGeom>
          <a:ln w="6349">
            <a:solidFill>
              <a:srgbClr val="41719D"/>
            </a:solidFill>
          </a:ln>
        </p:spPr>
        <p:txBody>
          <a:bodyPr wrap="square" lIns="0" tIns="0" rIns="0" bIns="0" rtlCol="0"/>
          <a:lstStyle/>
          <a:p>
            <a:endParaRPr sz="4400"/>
          </a:p>
        </p:txBody>
      </p:sp>
      <p:sp>
        <p:nvSpPr>
          <p:cNvPr id="34" name="object 32"/>
          <p:cNvSpPr txBox="1"/>
          <p:nvPr/>
        </p:nvSpPr>
        <p:spPr>
          <a:xfrm>
            <a:off x="8329482" y="1618733"/>
            <a:ext cx="2493607" cy="628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 err="1">
                <a:solidFill>
                  <a:srgbClr val="FFFFFF"/>
                </a:solidFill>
                <a:latin typeface="宋体"/>
                <a:cs typeface="宋体"/>
              </a:rPr>
              <a:t>规则：运算符在两个操作数前面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35" name="object 33"/>
          <p:cNvSpPr txBox="1"/>
          <p:nvPr/>
        </p:nvSpPr>
        <p:spPr>
          <a:xfrm>
            <a:off x="8489660" y="3715001"/>
            <a:ext cx="974931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80" dirty="0">
                <a:solidFill>
                  <a:srgbClr val="191919"/>
                </a:solidFill>
                <a:latin typeface="Calibri"/>
                <a:cs typeface="Calibri"/>
              </a:rPr>
              <a:t>+ab</a:t>
            </a:r>
            <a:r>
              <a:rPr sz="3200" spc="-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8" name="object 36"/>
          <p:cNvSpPr txBox="1"/>
          <p:nvPr/>
        </p:nvSpPr>
        <p:spPr>
          <a:xfrm>
            <a:off x="8482308" y="4607810"/>
            <a:ext cx="1463263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10" dirty="0">
                <a:solidFill>
                  <a:srgbClr val="191919"/>
                </a:solidFill>
                <a:latin typeface="Calibri"/>
                <a:cs typeface="Calibri"/>
              </a:rPr>
              <a:t>-+abc</a:t>
            </a:r>
            <a:r>
              <a:rPr sz="3200" spc="-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1" name="object 39"/>
          <p:cNvSpPr txBox="1"/>
          <p:nvPr/>
        </p:nvSpPr>
        <p:spPr>
          <a:xfrm>
            <a:off x="8483094" y="5578929"/>
            <a:ext cx="2076274" cy="505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10" dirty="0">
                <a:solidFill>
                  <a:srgbClr val="191919"/>
                </a:solidFill>
                <a:latin typeface="Calibri"/>
                <a:cs typeface="Calibri"/>
              </a:rPr>
              <a:t>-+ab*</a:t>
            </a:r>
            <a:r>
              <a:rPr sz="3200" spc="-4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3200" spc="130" dirty="0">
                <a:solidFill>
                  <a:srgbClr val="191919"/>
                </a:solidFill>
                <a:latin typeface="Calibri"/>
                <a:cs typeface="Calibri"/>
              </a:rPr>
              <a:t>cd</a:t>
            </a:r>
            <a:r>
              <a:rPr sz="3200" spc="-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7" grpId="0"/>
      <p:bldP spid="40" grpId="0"/>
      <p:bldP spid="35" grpId="0"/>
      <p:bldP spid="38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50955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F698-9755-445C-8D3D-2BC253EE50D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1468032" y="1575532"/>
            <a:ext cx="9392832" cy="1132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/>
              <a:t>高级语言中，采用类似自然语言的中缀表达式，但计算机对中缀表达式的处理是很困难的，而对后缀或前缀表达式则显得非常简单。</a:t>
            </a:r>
            <a:endParaRPr lang="zh-CN" altLang="en-US" dirty="0"/>
          </a:p>
        </p:txBody>
      </p:sp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1468032" y="3040789"/>
            <a:ext cx="10172584" cy="2240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后缀表达式的特点：</a:t>
            </a:r>
            <a:endParaRPr lang="zh-CN" altLang="en-US" dirty="0">
              <a:solidFill>
                <a:srgbClr val="0000CC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①  在后缀表达式中，变量（操作数）出现的顺序与中缀表达式顺序相同。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②  后缀表达式中不需要括弧（界限符）定义计算顺序，而由运算（操作符）的位置来确定运算顺序。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086" y="1470819"/>
            <a:ext cx="9597482" cy="51054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中缀转后缀的手算方法：</a:t>
            </a:r>
            <a:endParaRPr lang="zh-CN" altLang="en-US" sz="1800" dirty="0">
              <a:latin typeface="+mn-ea"/>
              <a:cs typeface="宋体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10202"/>
                </a:solidFill>
                <a:latin typeface="+mn-ea"/>
                <a:cs typeface="宋体"/>
              </a:rPr>
              <a:t>1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、确定中缀表达式中</a:t>
            </a:r>
            <a:r>
              <a:rPr lang="zh-CN" altLang="en-US" sz="1800" dirty="0">
                <a:solidFill>
                  <a:srgbClr val="BF2026"/>
                </a:solidFill>
                <a:latin typeface="+mn-ea"/>
                <a:cs typeface="宋体"/>
              </a:rPr>
              <a:t>各个运算符的运算顺序</a:t>
            </a:r>
            <a:endParaRPr lang="zh-CN" altLang="en-US" sz="1800" dirty="0">
              <a:latin typeface="+mn-ea"/>
              <a:cs typeface="宋体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10202"/>
                </a:solidFill>
                <a:latin typeface="+mn-ea"/>
                <a:cs typeface="宋体"/>
              </a:rPr>
              <a:t>2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、选择下一个运算符，按照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宋体"/>
              </a:rPr>
              <a:t>「左操作数</a:t>
            </a:r>
            <a:r>
              <a:rPr lang="zh-CN" altLang="en-US" sz="1800" spc="-90" dirty="0">
                <a:solidFill>
                  <a:srgbClr val="C00000"/>
                </a:solidFill>
                <a:latin typeface="+mn-ea"/>
                <a:cs typeface="宋体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宋体"/>
              </a:rPr>
              <a:t>右操作数</a:t>
            </a:r>
            <a:r>
              <a:rPr lang="zh-CN" altLang="en-US" sz="1800" spc="-85" dirty="0">
                <a:solidFill>
                  <a:srgbClr val="C00000"/>
                </a:solidFill>
                <a:latin typeface="+mn-ea"/>
                <a:cs typeface="宋体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宋体"/>
              </a:rPr>
              <a:t>运算符」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的方式组合成一个新的操作数</a:t>
            </a:r>
            <a:endParaRPr lang="zh-CN" altLang="en-US" sz="1800" dirty="0">
              <a:latin typeface="+mn-ea"/>
              <a:cs typeface="宋体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spc="-280" dirty="0">
                <a:solidFill>
                  <a:srgbClr val="010202"/>
                </a:solidFill>
                <a:latin typeface="+mn-ea"/>
                <a:cs typeface="宋体"/>
              </a:rPr>
              <a:t>3</a:t>
            </a:r>
            <a:r>
              <a:rPr lang="zh-CN" altLang="en-US" sz="1800" spc="-280" dirty="0">
                <a:solidFill>
                  <a:srgbClr val="010202"/>
                </a:solidFill>
                <a:latin typeface="+mn-ea"/>
                <a:cs typeface="宋体"/>
              </a:rPr>
              <a:t>、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如果还有运算符没被处理，就继</a:t>
            </a:r>
            <a:r>
              <a:rPr lang="zh-CN" altLang="en-US" sz="1800" spc="225" dirty="0">
                <a:solidFill>
                  <a:srgbClr val="010202"/>
                </a:solidFill>
                <a:latin typeface="+mn-ea"/>
                <a:cs typeface="宋体"/>
              </a:rPr>
              <a:t>续</a:t>
            </a:r>
            <a:endParaRPr lang="zh-CN" altLang="en-US" sz="1800" dirty="0">
              <a:latin typeface="+mn-ea"/>
              <a:cs typeface="宋体"/>
            </a:endParaRPr>
          </a:p>
          <a:p>
            <a:pPr marL="0" lvl="1" indent="0">
              <a:lnSpc>
                <a:spcPts val="3600"/>
              </a:lnSpc>
              <a:buNone/>
            </a:pPr>
            <a:r>
              <a:rPr lang="zh-CN" altLang="en-US" sz="1800" b="1" dirty="0">
                <a:latin typeface="+mn-ea"/>
              </a:rPr>
              <a:t>          </a:t>
            </a:r>
            <a:endParaRPr lang="en-US" altLang="zh-CN" sz="1800" b="1" dirty="0">
              <a:latin typeface="+mn-ea"/>
            </a:endParaRPr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2E1F9-3CC0-48BE-BE1F-77A99D80343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3473904"/>
            <a:ext cx="7829550" cy="628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408" y="4134303"/>
            <a:ext cx="5200650" cy="3238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799750"/>
            <a:ext cx="7867650" cy="84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086" y="1470819"/>
            <a:ext cx="8599714" cy="51054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中缀转后缀的手算方法：</a:t>
            </a:r>
            <a:endParaRPr lang="zh-CN" altLang="en-US" sz="1800" dirty="0">
              <a:latin typeface="+mn-ea"/>
              <a:cs typeface="宋体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10202"/>
                </a:solidFill>
                <a:latin typeface="+mn-ea"/>
                <a:cs typeface="宋体"/>
              </a:rPr>
              <a:t>1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、确定中缀表达式中</a:t>
            </a:r>
            <a:r>
              <a:rPr lang="zh-CN" altLang="en-US" sz="1800" dirty="0">
                <a:solidFill>
                  <a:srgbClr val="BF2026"/>
                </a:solidFill>
                <a:latin typeface="+mn-ea"/>
                <a:cs typeface="宋体"/>
              </a:rPr>
              <a:t>各个运算符的运算顺序</a:t>
            </a:r>
            <a:endParaRPr lang="zh-CN" altLang="en-US" sz="1800" dirty="0">
              <a:latin typeface="+mn-ea"/>
              <a:cs typeface="宋体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10202"/>
                </a:solidFill>
                <a:latin typeface="+mn-ea"/>
                <a:cs typeface="宋体"/>
              </a:rPr>
              <a:t>2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、选择下一个运算符，按照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宋体"/>
              </a:rPr>
              <a:t>「左操作数</a:t>
            </a:r>
            <a:r>
              <a:rPr lang="zh-CN" altLang="en-US" sz="1800" spc="-90" dirty="0">
                <a:solidFill>
                  <a:srgbClr val="C00000"/>
                </a:solidFill>
                <a:latin typeface="+mn-ea"/>
                <a:cs typeface="宋体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宋体"/>
              </a:rPr>
              <a:t>右操作数</a:t>
            </a:r>
            <a:r>
              <a:rPr lang="zh-CN" altLang="en-US" sz="1800" spc="-85" dirty="0">
                <a:solidFill>
                  <a:srgbClr val="C00000"/>
                </a:solidFill>
                <a:latin typeface="+mn-ea"/>
                <a:cs typeface="宋体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cs typeface="宋体"/>
              </a:rPr>
              <a:t>运算符」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的方式组合成一个新的操作数</a:t>
            </a:r>
            <a:endParaRPr lang="zh-CN" altLang="en-US" sz="1800" dirty="0">
              <a:latin typeface="+mn-ea"/>
              <a:cs typeface="宋体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spc="-280" dirty="0">
                <a:solidFill>
                  <a:srgbClr val="010202"/>
                </a:solidFill>
                <a:latin typeface="+mn-ea"/>
                <a:cs typeface="宋体"/>
              </a:rPr>
              <a:t>3</a:t>
            </a:r>
            <a:r>
              <a:rPr lang="zh-CN" altLang="en-US" sz="1800" spc="-280" dirty="0">
                <a:solidFill>
                  <a:srgbClr val="010202"/>
                </a:solidFill>
                <a:latin typeface="+mn-ea"/>
                <a:cs typeface="宋体"/>
              </a:rPr>
              <a:t>、</a:t>
            </a:r>
            <a:r>
              <a:rPr lang="zh-CN" altLang="en-US" sz="1800" dirty="0">
                <a:solidFill>
                  <a:srgbClr val="010202"/>
                </a:solidFill>
                <a:latin typeface="+mn-ea"/>
                <a:cs typeface="宋体"/>
              </a:rPr>
              <a:t>如果还有运算符没被处理，就继</a:t>
            </a:r>
            <a:r>
              <a:rPr lang="zh-CN" altLang="en-US" sz="1800" spc="225" dirty="0">
                <a:solidFill>
                  <a:srgbClr val="010202"/>
                </a:solidFill>
                <a:latin typeface="+mn-ea"/>
                <a:cs typeface="宋体"/>
              </a:rPr>
              <a:t>续</a:t>
            </a:r>
            <a:endParaRPr lang="zh-CN" altLang="en-US" sz="1800" dirty="0">
              <a:latin typeface="+mn-ea"/>
              <a:cs typeface="宋体"/>
            </a:endParaRPr>
          </a:p>
          <a:p>
            <a:pPr marL="0" lvl="1" indent="0">
              <a:lnSpc>
                <a:spcPts val="3600"/>
              </a:lnSpc>
              <a:buNone/>
            </a:pPr>
            <a:r>
              <a:rPr lang="zh-CN" altLang="en-US" sz="1800" b="1" dirty="0">
                <a:latin typeface="+mn-ea"/>
              </a:rPr>
              <a:t>          </a:t>
            </a:r>
            <a:endParaRPr lang="en-US" altLang="zh-CN" sz="1800" b="1" dirty="0">
              <a:latin typeface="+mn-ea"/>
            </a:endParaRPr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CBE1-5A86-4C81-8259-31988A2F693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50"/>
          <p:cNvSpPr txBox="1"/>
          <p:nvPr/>
        </p:nvSpPr>
        <p:spPr>
          <a:xfrm>
            <a:off x="784542" y="3534898"/>
            <a:ext cx="5388429" cy="50654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A+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B * (C - 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D) </a:t>
            </a:r>
            <a:r>
              <a:rPr sz="2800" spc="4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2800" spc="-32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 / F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7" name="object 37"/>
          <p:cNvSpPr txBox="1"/>
          <p:nvPr/>
        </p:nvSpPr>
        <p:spPr>
          <a:xfrm>
            <a:off x="1725658" y="4729270"/>
            <a:ext cx="418528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0"/>
              </a:lnSpc>
              <a:tabLst>
                <a:tab pos="1155065" algn="l"/>
                <a:tab pos="2114550" algn="l"/>
              </a:tabLst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AB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2800" spc="-21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2800" spc="49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	*  +</a:t>
            </a:r>
            <a:r>
              <a:rPr sz="2800" spc="49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F	/</a:t>
            </a:r>
            <a:r>
              <a:rPr sz="2800" spc="42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8" name="object 38"/>
          <p:cNvSpPr txBox="1"/>
          <p:nvPr/>
        </p:nvSpPr>
        <p:spPr>
          <a:xfrm>
            <a:off x="7373378" y="4657669"/>
            <a:ext cx="4724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 B C D - * E F / -</a:t>
            </a:r>
            <a:r>
              <a:rPr sz="2800" spc="-22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+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9" name="object 47"/>
          <p:cNvSpPr/>
          <p:nvPr/>
        </p:nvSpPr>
        <p:spPr>
          <a:xfrm>
            <a:off x="5841342" y="4430647"/>
            <a:ext cx="663257" cy="6632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45"/>
          <p:cNvSpPr txBox="1"/>
          <p:nvPr/>
        </p:nvSpPr>
        <p:spPr>
          <a:xfrm>
            <a:off x="1948543" y="5446315"/>
            <a:ext cx="670360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10202"/>
                </a:solidFill>
                <a:latin typeface="宋体"/>
                <a:cs typeface="宋体"/>
              </a:rPr>
              <a:t>“</a:t>
            </a:r>
            <a:r>
              <a:rPr dirty="0" err="1">
                <a:solidFill>
                  <a:srgbClr val="010202"/>
                </a:solidFill>
                <a:latin typeface="宋体"/>
                <a:cs typeface="宋体"/>
              </a:rPr>
              <a:t>左优先</a:t>
            </a:r>
            <a:r>
              <a:rPr dirty="0">
                <a:solidFill>
                  <a:srgbClr val="010202"/>
                </a:solidFill>
                <a:latin typeface="宋体"/>
                <a:cs typeface="宋体"/>
              </a:rPr>
              <a:t>”：只要左边的运算符能先计算，就优先算左边的</a:t>
            </a:r>
            <a:endParaRPr dirty="0">
              <a:latin typeface="宋体"/>
              <a:cs typeface="宋体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629400" y="1544295"/>
            <a:ext cx="3067738" cy="611677"/>
            <a:chOff x="6629400" y="1544295"/>
            <a:chExt cx="3067738" cy="611677"/>
          </a:xfrm>
        </p:grpSpPr>
        <p:sp>
          <p:nvSpPr>
            <p:cNvPr id="21" name="object 24"/>
            <p:cNvSpPr/>
            <p:nvPr/>
          </p:nvSpPr>
          <p:spPr>
            <a:xfrm>
              <a:off x="6629400" y="1548781"/>
              <a:ext cx="3067738" cy="607191"/>
            </a:xfrm>
            <a:custGeom>
              <a:avLst/>
              <a:gdLst/>
              <a:ahLst/>
              <a:cxnLst/>
              <a:rect l="l" t="t" r="r" b="b"/>
              <a:pathLst>
                <a:path w="1990089" h="323215">
                  <a:moveTo>
                    <a:pt x="1989531" y="269303"/>
                  </a:moveTo>
                  <a:lnTo>
                    <a:pt x="119938" y="269303"/>
                  </a:lnTo>
                  <a:lnTo>
                    <a:pt x="124171" y="290267"/>
                  </a:lnTo>
                  <a:lnTo>
                    <a:pt x="135715" y="307387"/>
                  </a:lnTo>
                  <a:lnTo>
                    <a:pt x="152835" y="318931"/>
                  </a:lnTo>
                  <a:lnTo>
                    <a:pt x="173799" y="323164"/>
                  </a:lnTo>
                  <a:lnTo>
                    <a:pt x="1935670" y="323164"/>
                  </a:lnTo>
                  <a:lnTo>
                    <a:pt x="1956634" y="318931"/>
                  </a:lnTo>
                  <a:lnTo>
                    <a:pt x="1973754" y="307387"/>
                  </a:lnTo>
                  <a:lnTo>
                    <a:pt x="1985298" y="290267"/>
                  </a:lnTo>
                  <a:lnTo>
                    <a:pt x="1989531" y="269303"/>
                  </a:lnTo>
                  <a:close/>
                </a:path>
                <a:path w="1990089" h="323215">
                  <a:moveTo>
                    <a:pt x="1935670" y="0"/>
                  </a:moveTo>
                  <a:lnTo>
                    <a:pt x="173799" y="0"/>
                  </a:lnTo>
                  <a:lnTo>
                    <a:pt x="152835" y="4233"/>
                  </a:lnTo>
                  <a:lnTo>
                    <a:pt x="135715" y="15776"/>
                  </a:lnTo>
                  <a:lnTo>
                    <a:pt x="124171" y="32896"/>
                  </a:lnTo>
                  <a:lnTo>
                    <a:pt x="119938" y="53860"/>
                  </a:lnTo>
                  <a:lnTo>
                    <a:pt x="119938" y="188506"/>
                  </a:lnTo>
                  <a:lnTo>
                    <a:pt x="0" y="272541"/>
                  </a:lnTo>
                  <a:lnTo>
                    <a:pt x="119938" y="269303"/>
                  </a:lnTo>
                  <a:lnTo>
                    <a:pt x="1989531" y="269303"/>
                  </a:lnTo>
                  <a:lnTo>
                    <a:pt x="1989531" y="53860"/>
                  </a:lnTo>
                  <a:lnTo>
                    <a:pt x="1985298" y="32896"/>
                  </a:lnTo>
                  <a:lnTo>
                    <a:pt x="1973754" y="15776"/>
                  </a:lnTo>
                  <a:lnTo>
                    <a:pt x="1956634" y="4233"/>
                  </a:lnTo>
                  <a:lnTo>
                    <a:pt x="1935670" y="0"/>
                  </a:lnTo>
                  <a:close/>
                </a:path>
              </a:pathLst>
            </a:custGeom>
            <a:solidFill>
              <a:srgbClr val="5C9BD3"/>
            </a:solidFill>
          </p:spPr>
          <p:txBody>
            <a:bodyPr wrap="square" lIns="0" tIns="0" rIns="0" bIns="0" rtlCol="0"/>
            <a:lstStyle/>
            <a:p>
              <a:endParaRPr sz="3600"/>
            </a:p>
          </p:txBody>
        </p:sp>
        <p:sp>
          <p:nvSpPr>
            <p:cNvPr id="22" name="object 25"/>
            <p:cNvSpPr/>
            <p:nvPr/>
          </p:nvSpPr>
          <p:spPr>
            <a:xfrm>
              <a:off x="6629400" y="1548781"/>
              <a:ext cx="3067738" cy="607191"/>
            </a:xfrm>
            <a:custGeom>
              <a:avLst/>
              <a:gdLst/>
              <a:ahLst/>
              <a:cxnLst/>
              <a:rect l="l" t="t" r="r" b="b"/>
              <a:pathLst>
                <a:path w="1990089" h="323215">
                  <a:moveTo>
                    <a:pt x="119938" y="53860"/>
                  </a:moveTo>
                  <a:lnTo>
                    <a:pt x="124171" y="32896"/>
                  </a:lnTo>
                  <a:lnTo>
                    <a:pt x="135715" y="15776"/>
                  </a:lnTo>
                  <a:lnTo>
                    <a:pt x="152835" y="4233"/>
                  </a:lnTo>
                  <a:lnTo>
                    <a:pt x="173799" y="0"/>
                  </a:lnTo>
                  <a:lnTo>
                    <a:pt x="1935670" y="0"/>
                  </a:lnTo>
                  <a:lnTo>
                    <a:pt x="1956634" y="4233"/>
                  </a:lnTo>
                  <a:lnTo>
                    <a:pt x="1973754" y="15776"/>
                  </a:lnTo>
                  <a:lnTo>
                    <a:pt x="1985298" y="32896"/>
                  </a:lnTo>
                  <a:lnTo>
                    <a:pt x="1989531" y="53860"/>
                  </a:lnTo>
                  <a:lnTo>
                    <a:pt x="1989531" y="269303"/>
                  </a:lnTo>
                  <a:lnTo>
                    <a:pt x="1985298" y="290267"/>
                  </a:lnTo>
                  <a:lnTo>
                    <a:pt x="1973754" y="307387"/>
                  </a:lnTo>
                  <a:lnTo>
                    <a:pt x="1956634" y="318931"/>
                  </a:lnTo>
                  <a:lnTo>
                    <a:pt x="1935670" y="323164"/>
                  </a:lnTo>
                  <a:lnTo>
                    <a:pt x="173799" y="323164"/>
                  </a:lnTo>
                  <a:lnTo>
                    <a:pt x="152835" y="318931"/>
                  </a:lnTo>
                  <a:lnTo>
                    <a:pt x="135715" y="307387"/>
                  </a:lnTo>
                  <a:lnTo>
                    <a:pt x="124171" y="290267"/>
                  </a:lnTo>
                  <a:lnTo>
                    <a:pt x="119938" y="269303"/>
                  </a:lnTo>
                  <a:lnTo>
                    <a:pt x="0" y="272541"/>
                  </a:lnTo>
                  <a:lnTo>
                    <a:pt x="119938" y="188506"/>
                  </a:lnTo>
                  <a:lnTo>
                    <a:pt x="119938" y="53860"/>
                  </a:lnTo>
                  <a:close/>
                </a:path>
              </a:pathLst>
            </a:custGeom>
            <a:ln w="6350">
              <a:solidFill>
                <a:srgbClr val="41719D"/>
              </a:solidFill>
            </a:ln>
          </p:spPr>
          <p:txBody>
            <a:bodyPr wrap="square" lIns="0" tIns="0" rIns="0" bIns="0" rtlCol="0"/>
            <a:lstStyle/>
            <a:p>
              <a:endParaRPr sz="3600"/>
            </a:p>
          </p:txBody>
        </p:sp>
        <p:sp>
          <p:nvSpPr>
            <p:cNvPr id="23" name="object 26"/>
            <p:cNvSpPr txBox="1"/>
            <p:nvPr/>
          </p:nvSpPr>
          <p:spPr>
            <a:xfrm>
              <a:off x="6845929" y="1544295"/>
              <a:ext cx="2584183" cy="50526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66700" marR="5080" indent="-254000">
                <a:lnSpc>
                  <a:spcPct val="100000"/>
                </a:lnSpc>
                <a:spcBef>
                  <a:spcPts val="100"/>
                </a:spcBef>
              </a:pPr>
              <a:r>
                <a:rPr sz="1600" dirty="0">
                  <a:solidFill>
                    <a:srgbClr val="FFFFFF"/>
                  </a:solidFill>
                  <a:latin typeface="宋体"/>
                  <a:cs typeface="宋体"/>
                </a:rPr>
                <a:t>运算顺序不唯一，因此对应的 后缀表达式也不唯一</a:t>
              </a:r>
              <a:endParaRPr sz="1600" dirty="0">
                <a:latin typeface="宋体"/>
                <a:cs typeface="宋体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458444" y="5291110"/>
            <a:ext cx="3251727" cy="427223"/>
            <a:chOff x="8458444" y="5291110"/>
            <a:chExt cx="2554269" cy="427223"/>
          </a:xfrm>
        </p:grpSpPr>
        <p:sp>
          <p:nvSpPr>
            <p:cNvPr id="25" name="object 29"/>
            <p:cNvSpPr/>
            <p:nvPr/>
          </p:nvSpPr>
          <p:spPr>
            <a:xfrm>
              <a:off x="8458444" y="5291110"/>
              <a:ext cx="2554269" cy="427223"/>
            </a:xfrm>
            <a:custGeom>
              <a:avLst/>
              <a:gdLst/>
              <a:ahLst/>
              <a:cxnLst/>
              <a:rect l="l" t="t" r="r" b="b"/>
              <a:pathLst>
                <a:path w="1389379" h="226059">
                  <a:moveTo>
                    <a:pt x="1388999" y="188379"/>
                  </a:moveTo>
                  <a:lnTo>
                    <a:pt x="83731" y="188379"/>
                  </a:lnTo>
                  <a:lnTo>
                    <a:pt x="86691" y="203040"/>
                  </a:lnTo>
                  <a:lnTo>
                    <a:pt x="94764" y="215014"/>
                  </a:lnTo>
                  <a:lnTo>
                    <a:pt x="106737" y="223087"/>
                  </a:lnTo>
                  <a:lnTo>
                    <a:pt x="121399" y="226047"/>
                  </a:lnTo>
                  <a:lnTo>
                    <a:pt x="1351318" y="226047"/>
                  </a:lnTo>
                  <a:lnTo>
                    <a:pt x="1365987" y="223087"/>
                  </a:lnTo>
                  <a:lnTo>
                    <a:pt x="1377964" y="215014"/>
                  </a:lnTo>
                  <a:lnTo>
                    <a:pt x="1386038" y="203040"/>
                  </a:lnTo>
                  <a:lnTo>
                    <a:pt x="1388999" y="188379"/>
                  </a:lnTo>
                  <a:close/>
                </a:path>
                <a:path w="1389379" h="226059">
                  <a:moveTo>
                    <a:pt x="1351318" y="0"/>
                  </a:moveTo>
                  <a:lnTo>
                    <a:pt x="121399" y="0"/>
                  </a:lnTo>
                  <a:lnTo>
                    <a:pt x="106737" y="2962"/>
                  </a:lnTo>
                  <a:lnTo>
                    <a:pt x="94764" y="11039"/>
                  </a:lnTo>
                  <a:lnTo>
                    <a:pt x="86691" y="23017"/>
                  </a:lnTo>
                  <a:lnTo>
                    <a:pt x="83731" y="37680"/>
                  </a:lnTo>
                  <a:lnTo>
                    <a:pt x="83731" y="131864"/>
                  </a:lnTo>
                  <a:lnTo>
                    <a:pt x="0" y="190639"/>
                  </a:lnTo>
                  <a:lnTo>
                    <a:pt x="83731" y="188379"/>
                  </a:lnTo>
                  <a:lnTo>
                    <a:pt x="1388999" y="188379"/>
                  </a:lnTo>
                  <a:lnTo>
                    <a:pt x="1388999" y="37680"/>
                  </a:lnTo>
                  <a:lnTo>
                    <a:pt x="1386038" y="23017"/>
                  </a:lnTo>
                  <a:lnTo>
                    <a:pt x="1377964" y="11039"/>
                  </a:lnTo>
                  <a:lnTo>
                    <a:pt x="1365987" y="2962"/>
                  </a:lnTo>
                  <a:lnTo>
                    <a:pt x="1351318" y="0"/>
                  </a:lnTo>
                  <a:close/>
                </a:path>
              </a:pathLst>
            </a:custGeom>
            <a:solidFill>
              <a:srgbClr val="5C9BD3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6" name="object 30"/>
            <p:cNvSpPr/>
            <p:nvPr/>
          </p:nvSpPr>
          <p:spPr>
            <a:xfrm>
              <a:off x="8458444" y="5291110"/>
              <a:ext cx="2554269" cy="427223"/>
            </a:xfrm>
            <a:custGeom>
              <a:avLst/>
              <a:gdLst/>
              <a:ahLst/>
              <a:cxnLst/>
              <a:rect l="l" t="t" r="r" b="b"/>
              <a:pathLst>
                <a:path w="1389379" h="226059">
                  <a:moveTo>
                    <a:pt x="83731" y="37680"/>
                  </a:moveTo>
                  <a:lnTo>
                    <a:pt x="86691" y="23017"/>
                  </a:lnTo>
                  <a:lnTo>
                    <a:pt x="94764" y="11039"/>
                  </a:lnTo>
                  <a:lnTo>
                    <a:pt x="106737" y="2962"/>
                  </a:lnTo>
                  <a:lnTo>
                    <a:pt x="121399" y="0"/>
                  </a:lnTo>
                  <a:lnTo>
                    <a:pt x="1351318" y="0"/>
                  </a:lnTo>
                  <a:lnTo>
                    <a:pt x="1365987" y="2962"/>
                  </a:lnTo>
                  <a:lnTo>
                    <a:pt x="1377964" y="11039"/>
                  </a:lnTo>
                  <a:lnTo>
                    <a:pt x="1386038" y="23017"/>
                  </a:lnTo>
                  <a:lnTo>
                    <a:pt x="1388999" y="37680"/>
                  </a:lnTo>
                  <a:lnTo>
                    <a:pt x="1388999" y="188379"/>
                  </a:lnTo>
                  <a:lnTo>
                    <a:pt x="1386038" y="203040"/>
                  </a:lnTo>
                  <a:lnTo>
                    <a:pt x="1377964" y="215014"/>
                  </a:lnTo>
                  <a:lnTo>
                    <a:pt x="1365987" y="223087"/>
                  </a:lnTo>
                  <a:lnTo>
                    <a:pt x="1351318" y="226047"/>
                  </a:lnTo>
                  <a:lnTo>
                    <a:pt x="121399" y="226047"/>
                  </a:lnTo>
                  <a:lnTo>
                    <a:pt x="106737" y="223087"/>
                  </a:lnTo>
                  <a:lnTo>
                    <a:pt x="94764" y="215014"/>
                  </a:lnTo>
                  <a:lnTo>
                    <a:pt x="86691" y="203040"/>
                  </a:lnTo>
                  <a:lnTo>
                    <a:pt x="83731" y="188379"/>
                  </a:lnTo>
                  <a:lnTo>
                    <a:pt x="0" y="190639"/>
                  </a:lnTo>
                  <a:lnTo>
                    <a:pt x="83731" y="131864"/>
                  </a:lnTo>
                  <a:lnTo>
                    <a:pt x="83731" y="37680"/>
                  </a:lnTo>
                  <a:close/>
                </a:path>
              </a:pathLst>
            </a:custGeom>
            <a:ln w="6350">
              <a:solidFill>
                <a:srgbClr val="41719D"/>
              </a:solidFill>
            </a:ln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7" name="object 31"/>
            <p:cNvSpPr txBox="1"/>
            <p:nvPr/>
          </p:nvSpPr>
          <p:spPr>
            <a:xfrm>
              <a:off x="8610600" y="5316168"/>
              <a:ext cx="2148014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dirty="0" err="1">
                  <a:solidFill>
                    <a:srgbClr val="FFFFFF"/>
                  </a:solidFill>
                  <a:latin typeface="宋体"/>
                  <a:cs typeface="宋体"/>
                </a:rPr>
                <a:t>可保证运算顺序唯一</a:t>
              </a:r>
              <a:r>
                <a:rPr lang="zh-CN" altLang="en-US" dirty="0">
                  <a:solidFill>
                    <a:srgbClr val="FFFFFF"/>
                  </a:solidFill>
                  <a:latin typeface="宋体"/>
                  <a:cs typeface="宋体"/>
                </a:rPr>
                <a:t>；</a:t>
              </a:r>
              <a:endParaRPr lang="en-US" altLang="zh-CN" dirty="0">
                <a:solidFill>
                  <a:srgbClr val="FFFFFF"/>
                </a:solidFill>
                <a:latin typeface="宋体"/>
                <a:cs typeface="宋体"/>
              </a:endParaRPr>
            </a:p>
          </p:txBody>
        </p:sp>
      </p:grpSp>
      <p:sp>
        <p:nvSpPr>
          <p:cNvPr id="24" name="object 50"/>
          <p:cNvSpPr txBox="1"/>
          <p:nvPr/>
        </p:nvSpPr>
        <p:spPr>
          <a:xfrm>
            <a:off x="6321742" y="3560839"/>
            <a:ext cx="5388429" cy="50654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A+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B * (C - 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D) </a:t>
            </a:r>
            <a:r>
              <a:rPr sz="2800" spc="4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2800" spc="-32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 / F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49802" y="5939394"/>
            <a:ext cx="6660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宋体"/>
                <a:cs typeface="宋体"/>
              </a:rPr>
              <a:t>后缀表达式：运算符在式中出现的顺序恰好为表达式的运算顺序</a:t>
            </a:r>
            <a:endParaRPr lang="zh-CN" altLang="en-US" dirty="0">
              <a:latin typeface="宋体"/>
              <a:cs typeface="宋体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610600" y="5955267"/>
            <a:ext cx="3251727" cy="4437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/>
                <a:cs typeface="宋体"/>
              </a:rPr>
              <a:t>前缀表达式不具有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4" grpId="0"/>
      <p:bldP spid="5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086" y="1470819"/>
            <a:ext cx="9885514" cy="497352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900" dirty="0">
                <a:solidFill>
                  <a:srgbClr val="FF0000"/>
                </a:solidFill>
                <a:latin typeface="+mn-ea"/>
                <a:cs typeface="宋体"/>
              </a:rPr>
              <a:t>后缀表达式的计算方法（手算）：</a:t>
            </a:r>
            <a:endParaRPr lang="zh-CN" altLang="en-US" sz="2900" dirty="0">
              <a:solidFill>
                <a:srgbClr val="FF0000"/>
              </a:solidFill>
              <a:latin typeface="+mn-ea"/>
              <a:cs typeface="宋体"/>
            </a:endParaRPr>
          </a:p>
          <a:p>
            <a:pPr marL="12700" marR="5080">
              <a:lnSpc>
                <a:spcPct val="120000"/>
              </a:lnSpc>
              <a:spcBef>
                <a:spcPts val="600"/>
              </a:spcBef>
            </a:pPr>
            <a:r>
              <a:rPr lang="zh-CN" altLang="en-US" sz="2900" dirty="0">
                <a:solidFill>
                  <a:srgbClr val="010202"/>
                </a:solidFill>
                <a:latin typeface="宋体"/>
                <a:cs typeface="宋体"/>
              </a:rPr>
              <a:t>从左往右扫描，每遇到一个运算符，就让运算符前面</a:t>
            </a:r>
            <a:r>
              <a:rPr lang="zh-CN" altLang="en-US" sz="2900" dirty="0">
                <a:solidFill>
                  <a:srgbClr val="FF0000"/>
                </a:solidFill>
                <a:latin typeface="宋体"/>
                <a:cs typeface="宋体"/>
              </a:rPr>
              <a:t>最近</a:t>
            </a:r>
            <a:r>
              <a:rPr lang="zh-CN" altLang="en-US" sz="2900" dirty="0">
                <a:solidFill>
                  <a:srgbClr val="010202"/>
                </a:solidFill>
                <a:latin typeface="宋体"/>
                <a:cs typeface="宋体"/>
              </a:rPr>
              <a:t>的两个操作数执行对应运算，合体为一个操作数 （注意两个操作数的左右顺序）</a:t>
            </a:r>
            <a:endParaRPr lang="zh-CN" altLang="en-US" sz="2900" dirty="0">
              <a:latin typeface="宋体"/>
              <a:cs typeface="宋体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zh-CN" altLang="en-US" sz="2900" dirty="0">
              <a:latin typeface="宋体"/>
              <a:cs typeface="宋体"/>
            </a:endParaRPr>
          </a:p>
          <a:p>
            <a:pPr marL="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900" b="1" dirty="0">
                <a:latin typeface="+mn-ea"/>
              </a:rPr>
              <a:t>          </a:t>
            </a:r>
            <a:endParaRPr lang="en-US" altLang="zh-CN" sz="2900" b="1" dirty="0">
              <a:latin typeface="+mn-ea"/>
            </a:endParaRPr>
          </a:p>
          <a:p>
            <a:pPr marL="0" marR="2037080" indent="0">
              <a:lnSpc>
                <a:spcPct val="120000"/>
              </a:lnSpc>
              <a:spcBef>
                <a:spcPts val="600"/>
              </a:spcBef>
              <a:buNone/>
            </a:pPr>
            <a:endParaRPr lang="en-US" altLang="zh-CN" sz="2900" dirty="0">
              <a:solidFill>
                <a:srgbClr val="010202"/>
              </a:solidFill>
              <a:latin typeface="宋体"/>
              <a:cs typeface="宋体"/>
            </a:endParaRPr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5DF8A-9126-49B8-8F6A-9E771E2306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50"/>
          <p:cNvSpPr txBox="1"/>
          <p:nvPr/>
        </p:nvSpPr>
        <p:spPr>
          <a:xfrm>
            <a:off x="1038105" y="5244448"/>
            <a:ext cx="5388429" cy="50654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A+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B * (C - 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D) </a:t>
            </a:r>
            <a:r>
              <a:rPr sz="2800" spc="4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2800" spc="-32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 / F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7" name="object 37"/>
          <p:cNvSpPr txBox="1"/>
          <p:nvPr/>
        </p:nvSpPr>
        <p:spPr>
          <a:xfrm>
            <a:off x="1981200" y="4329701"/>
            <a:ext cx="418528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0"/>
              </a:lnSpc>
              <a:tabLst>
                <a:tab pos="1155065" algn="l"/>
                <a:tab pos="2114550" algn="l"/>
              </a:tabLst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AB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2800" spc="-21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2800" spc="49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-*  +</a:t>
            </a:r>
            <a:r>
              <a:rPr sz="2800" spc="49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F/</a:t>
            </a:r>
            <a:r>
              <a:rPr sz="2800" spc="42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C69E-11F2-4E78-89E8-3C227C6E1C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12E-FB54-48E5-862B-D6F85AB76F95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403585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4800" dirty="0"/>
              <a:t>15  7  1  1 + - ÷ 3 × 2  1  1 + + - =</a:t>
            </a:r>
            <a:endParaRPr lang="zh-CN" altLang="en-US" sz="6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练习题：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C69E-11F2-4E78-89E8-3C227C6E1C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12E-FB54-48E5-862B-D6F85AB76F95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10718800" cy="403585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4800" dirty="0"/>
              <a:t>15  7  1  1 + - ÷ 3 × 2  1  1 + + - =</a:t>
            </a:r>
            <a:r>
              <a:rPr lang="zh-CN" altLang="en-US" sz="4800" dirty="0"/>
              <a:t> </a:t>
            </a:r>
            <a:r>
              <a:rPr lang="en-US" altLang="zh-CN" sz="4800" dirty="0">
                <a:solidFill>
                  <a:srgbClr val="C00000"/>
                </a:solidFill>
              </a:rPr>
              <a:t>5</a:t>
            </a:r>
            <a:endParaRPr lang="zh-CN" altLang="en-US" sz="6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练习题：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06500" y="3444209"/>
            <a:ext cx="1029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/>
              <a:t>上述表达式转换成中缀： </a:t>
            </a:r>
            <a:r>
              <a:rPr kumimoji="1" lang="en-US" altLang="zh-CN" sz="2800" dirty="0"/>
              <a:t>15</a:t>
            </a:r>
            <a:r>
              <a:rPr lang="en-US" altLang="zh-CN" sz="2800" dirty="0"/>
              <a:t> ÷ </a:t>
            </a:r>
            <a:r>
              <a:rPr kumimoji="1" lang="zh-CN" altLang="en-US" sz="2800" dirty="0"/>
              <a:t>（</a:t>
            </a:r>
            <a:r>
              <a:rPr kumimoji="1" lang="en-US" altLang="zh-CN" sz="2800" dirty="0"/>
              <a:t>7-</a:t>
            </a:r>
            <a:r>
              <a:rPr kumimoji="1" lang="zh-CN" altLang="en-US" sz="2800" dirty="0"/>
              <a:t>（</a:t>
            </a:r>
            <a:r>
              <a:rPr kumimoji="1" lang="en-US" altLang="zh-CN" sz="2800" dirty="0"/>
              <a:t>1+1</a:t>
            </a:r>
            <a:r>
              <a:rPr kumimoji="1" lang="zh-CN" altLang="en-US" sz="2800" dirty="0"/>
              <a:t>））* </a:t>
            </a:r>
            <a:r>
              <a:rPr kumimoji="1" lang="en-US" altLang="zh-CN" sz="2800" dirty="0"/>
              <a:t>3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–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(2+(1+1))</a:t>
            </a:r>
            <a:endParaRPr kumimoji="1" lang="zh-CN" altLang="en-US" sz="2800" dirty="0"/>
          </a:p>
        </p:txBody>
      </p:sp>
    </p:spTree>
    <p:custDataLst>
      <p:tags r:id="rId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5912" y="1884476"/>
            <a:ext cx="9492616" cy="4973524"/>
          </a:xfrm>
        </p:spPr>
        <p:txBody>
          <a:bodyPr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000" b="1" dirty="0">
                <a:latin typeface="+mn-ea"/>
              </a:rPr>
              <a:t>        </a:t>
            </a:r>
            <a:endParaRPr lang="en-US" altLang="zh-CN" sz="2000" b="1" dirty="0">
              <a:latin typeface="+mn-ea"/>
            </a:endParaRPr>
          </a:p>
          <a:p>
            <a:pPr marL="0" marR="2037080" indent="0">
              <a:lnSpc>
                <a:spcPct val="120000"/>
              </a:lnSpc>
              <a:spcBef>
                <a:spcPts val="600"/>
              </a:spcBef>
              <a:buNone/>
            </a:pPr>
            <a:endParaRPr lang="en-US" altLang="zh-CN" sz="2000" dirty="0">
              <a:solidFill>
                <a:srgbClr val="010202"/>
              </a:solidFill>
              <a:latin typeface="宋体"/>
              <a:cs typeface="宋体"/>
            </a:endParaRPr>
          </a:p>
          <a:p>
            <a:pPr marL="0" marR="203708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cs typeface="宋体"/>
              </a:rPr>
              <a:t>后缀表达式的计算方法（机算）：</a:t>
            </a:r>
            <a:endParaRPr lang="en-US" altLang="zh-CN" sz="2000" dirty="0">
              <a:solidFill>
                <a:srgbClr val="010202"/>
              </a:solidFill>
              <a:latin typeface="宋体"/>
              <a:cs typeface="宋体"/>
            </a:endParaRPr>
          </a:p>
          <a:p>
            <a:pPr marL="12700" marR="2037080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10202"/>
                </a:solidFill>
                <a:latin typeface="宋体"/>
                <a:cs typeface="宋体"/>
              </a:rPr>
              <a:t>①从左往右扫描下一个元素，直到处理完所有元素</a:t>
            </a:r>
            <a:endParaRPr lang="zh-CN" altLang="en-US" sz="2000" dirty="0">
              <a:latin typeface="宋体"/>
              <a:cs typeface="宋体"/>
            </a:endParaRPr>
          </a:p>
          <a:p>
            <a:pPr marL="12700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10202"/>
                </a:solidFill>
                <a:latin typeface="宋体"/>
                <a:cs typeface="宋体"/>
              </a:rPr>
              <a:t>②若扫描到</a:t>
            </a:r>
            <a:r>
              <a:rPr lang="zh-CN" altLang="en-US" sz="2000" dirty="0">
                <a:solidFill>
                  <a:srgbClr val="FF0000"/>
                </a:solidFill>
                <a:latin typeface="宋体"/>
                <a:cs typeface="宋体"/>
              </a:rPr>
              <a:t>操作数</a:t>
            </a:r>
            <a:r>
              <a:rPr lang="zh-CN" altLang="en-US" sz="2000" dirty="0">
                <a:solidFill>
                  <a:srgbClr val="010202"/>
                </a:solidFill>
                <a:latin typeface="宋体"/>
                <a:cs typeface="宋体"/>
              </a:rPr>
              <a:t>则压入栈，并回到①；否则执行③</a:t>
            </a:r>
            <a:endParaRPr lang="zh-CN" altLang="en-US" sz="2000" dirty="0">
              <a:latin typeface="宋体"/>
              <a:cs typeface="宋体"/>
            </a:endParaRPr>
          </a:p>
          <a:p>
            <a:pPr marL="12700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10202"/>
                </a:solidFill>
                <a:latin typeface="宋体"/>
                <a:cs typeface="宋体"/>
              </a:rPr>
              <a:t>③若扫描到</a:t>
            </a:r>
            <a:r>
              <a:rPr lang="zh-CN" altLang="en-US" sz="2000" dirty="0">
                <a:solidFill>
                  <a:srgbClr val="FF0000"/>
                </a:solidFill>
                <a:latin typeface="宋体"/>
                <a:cs typeface="宋体"/>
              </a:rPr>
              <a:t>运算符</a:t>
            </a:r>
            <a:r>
              <a:rPr lang="zh-CN" altLang="en-US" sz="2000" dirty="0">
                <a:solidFill>
                  <a:srgbClr val="010202"/>
                </a:solidFill>
                <a:latin typeface="宋体"/>
                <a:cs typeface="宋体"/>
              </a:rPr>
              <a:t>，则弹出两个栈顶元素，执行相应运算，运算结果压回栈顶，回到①</a:t>
            </a:r>
            <a:endParaRPr lang="en-US" altLang="zh-CN" sz="2000" dirty="0">
              <a:solidFill>
                <a:srgbClr val="010202"/>
              </a:solidFill>
              <a:latin typeface="宋体"/>
              <a:cs typeface="宋体"/>
            </a:endParaRPr>
          </a:p>
          <a:p>
            <a:pPr marL="12700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/>
              <a:t>表达式结束，栈中唯一元素即为表达式的值。</a:t>
            </a:r>
            <a:endParaRPr lang="en-US" altLang="zh-CN" sz="2000" b="1" dirty="0"/>
          </a:p>
          <a:p>
            <a:pPr>
              <a:lnSpc>
                <a:spcPts val="3100"/>
              </a:lnSpc>
            </a:pPr>
            <a:endParaRPr lang="en-US" altLang="zh-CN" sz="2000" b="1" dirty="0"/>
          </a:p>
          <a:p>
            <a:pPr>
              <a:lnSpc>
                <a:spcPts val="3100"/>
              </a:lnSpc>
            </a:pPr>
            <a:endParaRPr lang="en-US" altLang="zh-CN" sz="2000" b="1" dirty="0"/>
          </a:p>
          <a:p>
            <a:pPr>
              <a:lnSpc>
                <a:spcPts val="3100"/>
              </a:lnSpc>
            </a:pPr>
            <a:endParaRPr lang="en-US" altLang="zh-CN" sz="2000" b="1" dirty="0"/>
          </a:p>
          <a:p>
            <a:pPr>
              <a:lnSpc>
                <a:spcPts val="3100"/>
              </a:lnSpc>
            </a:pPr>
            <a:endParaRPr lang="en-US" altLang="zh-CN" sz="2000" b="1" dirty="0"/>
          </a:p>
          <a:p>
            <a:pPr lvl="1">
              <a:lnSpc>
                <a:spcPts val="3100"/>
              </a:lnSpc>
            </a:pPr>
            <a:endParaRPr lang="zh-CN" altLang="en-US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5DF8A-9126-49B8-8F6A-9E771E2306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50"/>
          <p:cNvSpPr txBox="1"/>
          <p:nvPr/>
        </p:nvSpPr>
        <p:spPr>
          <a:xfrm>
            <a:off x="707571" y="2172397"/>
            <a:ext cx="5388429" cy="50654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A+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B * (C - 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D) </a:t>
            </a:r>
            <a:r>
              <a:rPr sz="2800" spc="4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2800" spc="-32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 / F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7" name="object 37"/>
          <p:cNvSpPr txBox="1"/>
          <p:nvPr/>
        </p:nvSpPr>
        <p:spPr>
          <a:xfrm>
            <a:off x="1725658" y="1790478"/>
            <a:ext cx="4185285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0"/>
              </a:lnSpc>
              <a:tabLst>
                <a:tab pos="1155065" algn="l"/>
                <a:tab pos="2114550" algn="l"/>
              </a:tabLst>
            </a:pPr>
            <a:r>
              <a:rPr sz="2800" spc="2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AB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2800" spc="-21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2800" spc="49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-*  +</a:t>
            </a:r>
            <a:r>
              <a:rPr sz="2800" spc="49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2800" spc="-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F/</a:t>
            </a:r>
            <a:r>
              <a:rPr sz="2800" spc="425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90204"/>
                <a:cs typeface="Arial" panose="020B0604020202090204"/>
              </a:rPr>
              <a:t>-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939" y="2413000"/>
            <a:ext cx="1544465" cy="36594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表达式求值（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C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实现，参考）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086" y="1470819"/>
            <a:ext cx="8599714" cy="4973524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5DF8A-9126-49B8-8F6A-9E771E2306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2" y="1351078"/>
            <a:ext cx="3181934" cy="49735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289" y="1303417"/>
            <a:ext cx="3071828" cy="49734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302" y="1347202"/>
            <a:ext cx="4731018" cy="49296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表达式求值（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C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实现，参考）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086" y="1470819"/>
            <a:ext cx="8599714" cy="4973524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>
              <a:lnSpc>
                <a:spcPts val="3100"/>
              </a:lnSpc>
            </a:pPr>
            <a:endParaRPr lang="en-US" altLang="zh-CN" b="1" dirty="0"/>
          </a:p>
          <a:p>
            <a:pPr lvl="1">
              <a:lnSpc>
                <a:spcPts val="31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5DF8A-9126-49B8-8F6A-9E771E2306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36" y="1404716"/>
            <a:ext cx="5029726" cy="4289152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5301612" y="1404716"/>
            <a:ext cx="5480688" cy="5105731"/>
            <a:chOff x="5301612" y="1404716"/>
            <a:chExt cx="5480688" cy="510573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1612" y="1404716"/>
              <a:ext cx="5480688" cy="368046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1612" y="5018525"/>
              <a:ext cx="5480688" cy="14919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72" y="1690688"/>
            <a:ext cx="5112568" cy="4719294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14.4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表达式求值（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C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实现，参考）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 （递归的简要回顾）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9E46-768C-4693-B19D-1A5AD983838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423912"/>
            <a:ext cx="8858938" cy="48550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3000" b="1" dirty="0">
                <a:solidFill>
                  <a:srgbClr val="FF0000"/>
                </a:solidFill>
              </a:rPr>
              <a:t>递归调用的定义 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子程序（或函数）直接调用自己或通过一系列调用语句间接调用自己。是一种</a:t>
            </a:r>
            <a:r>
              <a:rPr lang="zh-CN" altLang="en-US" b="1" dirty="0">
                <a:solidFill>
                  <a:srgbClr val="FF0000"/>
                </a:solidFill>
              </a:rPr>
              <a:t>描述问题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解决问题</a:t>
            </a:r>
            <a:r>
              <a:rPr lang="zh-CN" altLang="en-US" b="1" dirty="0"/>
              <a:t>的基本方法。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sz="3000" b="1" dirty="0">
                <a:solidFill>
                  <a:srgbClr val="FF0000"/>
                </a:solidFill>
              </a:rPr>
              <a:t>递归的基本思想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把一个不能或不好求解的大问题转化为一个或几个小问题 ，再把这些小问题进一步分解成更小的小问题，直至每个小问题都可以直接求解。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sz="3000" b="1" dirty="0">
                <a:solidFill>
                  <a:srgbClr val="FF0000"/>
                </a:solidFill>
              </a:rPr>
              <a:t>递归的要素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递归边界条件</a:t>
            </a:r>
            <a:r>
              <a:rPr lang="zh-CN" altLang="en-US" b="1" dirty="0"/>
              <a:t>：确定递归到何时终止，也称为</a:t>
            </a:r>
            <a:r>
              <a:rPr lang="zh-CN" altLang="en-US" b="1" dirty="0">
                <a:solidFill>
                  <a:srgbClr val="FF0000"/>
                </a:solidFill>
              </a:rPr>
              <a:t>递归出口</a:t>
            </a:r>
            <a:r>
              <a:rPr lang="zh-CN" altLang="en-US" b="1" dirty="0"/>
              <a:t>； 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递归模式</a:t>
            </a:r>
            <a:r>
              <a:rPr lang="zh-CN" altLang="en-US" b="1" dirty="0"/>
              <a:t>：大问题是如何分解为小问题的，也称为</a:t>
            </a:r>
            <a:r>
              <a:rPr lang="zh-CN" altLang="en-US" b="1" dirty="0">
                <a:solidFill>
                  <a:srgbClr val="FF0000"/>
                </a:solidFill>
              </a:rPr>
              <a:t>递归体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2" name="组合 5"/>
          <p:cNvGrpSpPr/>
          <p:nvPr/>
        </p:nvGrpSpPr>
        <p:grpSpPr bwMode="auto">
          <a:xfrm>
            <a:off x="8258175" y="4495800"/>
            <a:ext cx="3803650" cy="630237"/>
            <a:chOff x="4771610" y="1472106"/>
            <a:chExt cx="3804813" cy="630764"/>
          </a:xfrm>
        </p:grpSpPr>
        <p:sp>
          <p:nvSpPr>
            <p:cNvPr id="13" name="文本框 1"/>
            <p:cNvSpPr txBox="1">
              <a:spLocks noChangeArrowheads="1"/>
            </p:cNvSpPr>
            <p:nvPr/>
          </p:nvSpPr>
          <p:spPr bwMode="auto">
            <a:xfrm>
              <a:off x="4771610" y="1472106"/>
              <a:ext cx="3804813" cy="630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ts val="1400"/>
                </a:lnSpc>
              </a:pP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           1             </a:t>
              </a:r>
              <a:r>
                <a:rPr lang="zh-CN" altLang="en-US" dirty="0">
                  <a:ea typeface="仿宋" panose="02010609060101010101" pitchFamily="49" charset="-122"/>
                  <a:cs typeface="Times New Roman" panose="02020503050405090304" pitchFamily="18" charset="0"/>
                </a:rPr>
                <a:t>当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n=0</a:t>
              </a:r>
              <a:r>
                <a:rPr lang="zh-CN" altLang="en-US" dirty="0">
                  <a:ea typeface="仿宋" panose="02010609060101010101" pitchFamily="49" charset="-122"/>
                  <a:cs typeface="Times New Roman" panose="02020503050405090304" pitchFamily="18" charset="0"/>
                </a:rPr>
                <a:t>或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n=1</a:t>
              </a:r>
              <a:endParaRPr lang="en-US" altLang="zh-CN" i="1" dirty="0">
                <a:ea typeface="仿宋" panose="02010609060101010101" pitchFamily="49" charset="-122"/>
                <a:cs typeface="Times New Roman" panose="02020503050405090304" pitchFamily="18" charset="0"/>
              </a:endParaRPr>
            </a:p>
            <a:p>
              <a:pPr>
                <a:lnSpc>
                  <a:spcPts val="1400"/>
                </a:lnSpc>
              </a:pP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n!= </a:t>
              </a:r>
              <a:endParaRPr lang="en-US" altLang="zh-CN" i="1" dirty="0">
                <a:ea typeface="仿宋" panose="02010609060101010101" pitchFamily="49" charset="-122"/>
                <a:cs typeface="Times New Roman" panose="02020503050405090304" pitchFamily="18" charset="0"/>
              </a:endParaRPr>
            </a:p>
            <a:p>
              <a:pPr>
                <a:lnSpc>
                  <a:spcPts val="1400"/>
                </a:lnSpc>
              </a:pP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           n*(n-1)!  </a:t>
              </a:r>
              <a:r>
                <a:rPr lang="zh-CN" altLang="en-US" dirty="0">
                  <a:ea typeface="仿宋" panose="02010609060101010101" pitchFamily="49" charset="-122"/>
                  <a:cs typeface="Times New Roman" panose="02020503050405090304" pitchFamily="18" charset="0"/>
                </a:rPr>
                <a:t>当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</a:t>
              </a:r>
              <a:r>
                <a:rPr lang="zh-CN" altLang="en-US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＞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1</a:t>
              </a:r>
              <a:endParaRPr lang="zh-CN" altLang="en-US" i="1" dirty="0">
                <a:ea typeface="仿宋" panose="02010609060101010101" pitchFamily="49" charset="-122"/>
                <a:cs typeface="Times New Roman" panose="02020503050405090304" pitchFamily="18" charset="0"/>
              </a:endParaRPr>
            </a:p>
          </p:txBody>
        </p:sp>
        <p:sp>
          <p:nvSpPr>
            <p:cNvPr id="14" name="左大括号 13"/>
            <p:cNvSpPr/>
            <p:nvPr/>
          </p:nvSpPr>
          <p:spPr>
            <a:xfrm>
              <a:off x="5496163" y="1529967"/>
              <a:ext cx="117511" cy="40832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644-9B31-41BA-B55C-0EA41F2E2E4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691793"/>
            <a:ext cx="9677400" cy="482237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什么问题可以应用递归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一类是</a:t>
            </a:r>
            <a:r>
              <a:rPr lang="zh-CN" altLang="en-US" b="1" dirty="0">
                <a:solidFill>
                  <a:srgbClr val="0070C0"/>
                </a:solidFill>
              </a:rPr>
              <a:t>递归函数</a:t>
            </a:r>
            <a:endParaRPr lang="zh-CN" altLang="en-US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第二类是，有的</a:t>
            </a:r>
            <a:r>
              <a:rPr lang="zh-CN" altLang="en-US" b="1" dirty="0">
                <a:solidFill>
                  <a:srgbClr val="0070C0"/>
                </a:solidFill>
              </a:rPr>
              <a:t>数据结构</a:t>
            </a:r>
            <a:r>
              <a:rPr lang="zh-CN" altLang="en-US" b="1" dirty="0"/>
              <a:t>，如二叉树，广义表等，由于结构本身固有的递归特性，则它们的操作可递归地描述</a:t>
            </a:r>
            <a:endParaRPr lang="zh-CN" altLang="en-US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还有一类问题，虽然问题本身</a:t>
            </a:r>
            <a:r>
              <a:rPr lang="zh-CN" altLang="en-US" b="1" dirty="0">
                <a:solidFill>
                  <a:srgbClr val="0070C0"/>
                </a:solidFill>
              </a:rPr>
              <a:t>没有明显的递归结构</a:t>
            </a:r>
            <a:r>
              <a:rPr lang="zh-CN" altLang="en-US" b="1" dirty="0"/>
              <a:t>，但用递归求解比迭代求解更简单，如八皇后问题、</a:t>
            </a:r>
            <a:r>
              <a:rPr lang="en-US" altLang="zh-CN" b="1" dirty="0"/>
              <a:t>Hanoi</a:t>
            </a:r>
            <a:r>
              <a:rPr lang="zh-CN" altLang="en-US" b="1" dirty="0"/>
              <a:t>塔问题等</a:t>
            </a:r>
            <a:endParaRPr lang="zh-CN" altLang="en-US" b="1" dirty="0"/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D7D6-95BC-4E18-8B31-6FC50C7CAFB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55850" y="1651118"/>
            <a:ext cx="9906000" cy="49203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函数调用：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当在一个函数的运行期间调用另一个函数时，在运行该被调用函数之前，需先完成三件事：</a:t>
            </a:r>
            <a:endParaRPr lang="zh-CN" altLang="en-US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将所有的实在参数、返回地址等</a:t>
            </a:r>
            <a:r>
              <a:rPr lang="zh-CN" altLang="en-US" b="1" dirty="0">
                <a:solidFill>
                  <a:srgbClr val="0070C0"/>
                </a:solidFill>
              </a:rPr>
              <a:t>信息</a:t>
            </a:r>
            <a:r>
              <a:rPr lang="zh-CN" altLang="en-US" b="1" dirty="0"/>
              <a:t>传递给被调用函数</a:t>
            </a:r>
            <a:r>
              <a:rPr lang="zh-CN" altLang="en-US" b="1" dirty="0">
                <a:solidFill>
                  <a:srgbClr val="0070C0"/>
                </a:solidFill>
              </a:rPr>
              <a:t>保存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为被调用函数的局部变量</a:t>
            </a:r>
            <a:r>
              <a:rPr lang="zh-CN" altLang="en-US" b="1" dirty="0">
                <a:solidFill>
                  <a:srgbClr val="0070C0"/>
                </a:solidFill>
              </a:rPr>
              <a:t>分配存储区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将控制转移到被调函数的</a:t>
            </a:r>
            <a:r>
              <a:rPr lang="zh-CN" altLang="en-US" b="1" dirty="0">
                <a:solidFill>
                  <a:srgbClr val="0070C0"/>
                </a:solidFill>
              </a:rPr>
              <a:t>入口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endParaRPr lang="zh-CN" altLang="en-US" b="1" dirty="0"/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D7D6-95BC-4E18-8B31-6FC50C7CAFB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981200" y="1404257"/>
            <a:ext cx="8229600" cy="49203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函数调用的背后过程：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ct val="120000"/>
              </a:lnSpc>
            </a:pPr>
            <a:endParaRPr lang="zh-CN" altLang="en-US" b="1" dirty="0"/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468" y="1937658"/>
            <a:ext cx="5718778" cy="21193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133" y="1879233"/>
            <a:ext cx="2669667" cy="13719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638" y="3534943"/>
            <a:ext cx="2601363" cy="2730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961116" y="455685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函数调用时，需要用一个栈存储：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① 调用返回地址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② 实参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③ 局部变量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961116" y="4144022"/>
            <a:ext cx="6136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函数调用的特点：最后被调用的函数最先执行结束（</a:t>
            </a:r>
            <a:r>
              <a:rPr lang="en-US" altLang="zh-CN" dirty="0">
                <a:latin typeface="Calibri" panose="020F0502020204030204" pitchFamily="34" charset="0"/>
                <a:ea typeface="宋体" pitchFamily="2" charset="-122"/>
              </a:rPr>
              <a:t>LIFO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5C7-1D79-41A9-92B9-A273C794841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983432" y="1691729"/>
            <a:ext cx="8229600" cy="485503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函数调用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从被调用函数返回调用函数之前，应该完成：</a:t>
            </a:r>
            <a:endParaRPr lang="zh-CN" altLang="en-US" b="1" dirty="0"/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保持</a:t>
            </a:r>
            <a:r>
              <a:rPr lang="zh-CN" altLang="en-US" b="1" dirty="0"/>
              <a:t>被调用函数的</a:t>
            </a:r>
            <a:r>
              <a:rPr lang="zh-CN" altLang="en-US" b="1" dirty="0">
                <a:solidFill>
                  <a:srgbClr val="0070C0"/>
                </a:solidFill>
              </a:rPr>
              <a:t>计算结果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释放</a:t>
            </a:r>
            <a:r>
              <a:rPr lang="zh-CN" altLang="en-US" b="1" dirty="0"/>
              <a:t>被调用函数的</a:t>
            </a:r>
            <a:r>
              <a:rPr lang="zh-CN" altLang="en-US" b="1" dirty="0">
                <a:solidFill>
                  <a:srgbClr val="0070C0"/>
                </a:solidFill>
              </a:rPr>
              <a:t>数据区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依照</a:t>
            </a:r>
            <a:r>
              <a:rPr lang="zh-CN" altLang="en-US" b="1" dirty="0"/>
              <a:t>被调用函数保存的</a:t>
            </a:r>
            <a:r>
              <a:rPr lang="zh-CN" altLang="en-US" b="1" dirty="0">
                <a:solidFill>
                  <a:srgbClr val="0070C0"/>
                </a:solidFill>
              </a:rPr>
              <a:t>返回地址</a:t>
            </a:r>
            <a:r>
              <a:rPr lang="zh-CN" altLang="en-US" b="1" dirty="0"/>
              <a:t>将控制转移到调用函数。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2">
              <a:lnSpc>
                <a:spcPct val="120000"/>
              </a:lnSpc>
            </a:pPr>
            <a:endParaRPr lang="zh-CN" altLang="en-US" b="1" dirty="0"/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D7D6-95BC-4E18-8B31-6FC50C7CAFB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981200" y="1404257"/>
            <a:ext cx="8229600" cy="49203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函数调用的背后过程：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ct val="120000"/>
              </a:lnSpc>
            </a:pPr>
            <a:endParaRPr lang="zh-CN" altLang="en-US" b="1" dirty="0"/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468" y="1937658"/>
            <a:ext cx="5718778" cy="21193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133" y="1879233"/>
            <a:ext cx="2669667" cy="13719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638" y="3534943"/>
            <a:ext cx="2601363" cy="2730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523999" y="460470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函数返回时：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① 返回函数计算结果（若有）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② 释放被调用函数的数据区（弹出相应函数信息）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③ 根据保存地址转移到调用函数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551454" y="4122244"/>
            <a:ext cx="6136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函数调用的特点：最后被调用的函数最先执行结束（</a:t>
            </a:r>
            <a:r>
              <a:rPr lang="en-US" altLang="zh-CN" dirty="0">
                <a:latin typeface="Calibri" panose="020F0502020204030204" pitchFamily="34" charset="0"/>
                <a:ea typeface="宋体" pitchFamily="2" charset="-122"/>
              </a:rPr>
              <a:t>LIFO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5C7-1D79-41A9-92B9-A273C794841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981200" y="1469571"/>
            <a:ext cx="8229600" cy="485503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函数调用：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多个函数嵌套调用的规则是：</a:t>
            </a:r>
            <a:endParaRPr lang="zh-CN" altLang="en-US" b="1" dirty="0">
              <a:solidFill>
                <a:prstClr val="black"/>
              </a:solidFill>
            </a:endParaRPr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后调用先返回；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此时的内存管理实行“栈式管理”</a:t>
            </a:r>
            <a:endParaRPr lang="zh-CN" altLang="en-US" b="1" dirty="0">
              <a:solidFill>
                <a:prstClr val="black"/>
              </a:solidFill>
            </a:endParaRPr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2">
              <a:lnSpc>
                <a:spcPct val="120000"/>
              </a:lnSpc>
            </a:pPr>
            <a:endParaRPr lang="zh-CN" altLang="en-US" b="1" dirty="0"/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2"/>
            <a:ext cx="10515600" cy="1325563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A741-A701-4102-98A8-9AF7DF16466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6"/>
          <p:cNvSpPr>
            <a:spLocks noChangeArrowheads="1"/>
          </p:cNvSpPr>
          <p:nvPr/>
        </p:nvSpPr>
        <p:spPr bwMode="auto">
          <a:xfrm>
            <a:off x="1981200" y="1079843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例</a:t>
            </a:r>
            <a:r>
              <a:rPr lang="en-US" altLang="zh-CN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dirty="0">
                <a:latin typeface="宋体" pitchFamily="2" charset="-122"/>
                <a:cs typeface="Times New Roman" panose="02020503050405090304" pitchFamily="18" charset="0"/>
              </a:rPr>
              <a:t>求阶乘的函数</a:t>
            </a:r>
            <a:endParaRPr lang="zh-CN" altLang="en-US" dirty="0">
              <a:latin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1" name="矩形 8"/>
          <p:cNvSpPr>
            <a:spLocks noChangeArrowheads="1"/>
          </p:cNvSpPr>
          <p:nvPr/>
        </p:nvSpPr>
        <p:spPr bwMode="auto">
          <a:xfrm>
            <a:off x="4085521" y="2708164"/>
            <a:ext cx="3328987" cy="255428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0000CC"/>
                </a:solidFill>
                <a:ea typeface="仿宋" panose="02010609060101010101" pitchFamily="49" charset="-122"/>
                <a:cs typeface="Times New Roman" panose="02020503050405090304" pitchFamily="18" charset="0"/>
              </a:rPr>
              <a:t>(2) </a:t>
            </a:r>
            <a:r>
              <a:rPr lang="zh-CN" altLang="en-US" sz="2000">
                <a:solidFill>
                  <a:srgbClr val="0000CC"/>
                </a:solidFill>
                <a:ea typeface="仿宋" panose="02010609060101010101" pitchFamily="49" charset="-122"/>
                <a:cs typeface="Times New Roman" panose="02020503050405090304" pitchFamily="18" charset="0"/>
              </a:rPr>
              <a:t>递归算法</a:t>
            </a:r>
            <a:endParaRPr lang="zh-CN" altLang="en-US" sz="2000">
              <a:solidFill>
                <a:srgbClr val="0000CC"/>
              </a:solidFill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long fact( int n )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{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     if </a:t>
            </a:r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(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(n == 0</a:t>
            </a:r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)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</a:t>
            </a:r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|| (n==1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)</a:t>
            </a:r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)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            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return 1;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     else   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            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return  n * fact (n-1);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pPr>
              <a:buFont typeface="Monotype Sorts"/>
              <a:buNone/>
            </a:pP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  }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22" name="文本框 9"/>
          <p:cNvSpPr txBox="1">
            <a:spLocks noChangeArrowheads="1"/>
          </p:cNvSpPr>
          <p:nvPr/>
        </p:nvSpPr>
        <p:spPr bwMode="auto">
          <a:xfrm>
            <a:off x="499888" y="2678821"/>
            <a:ext cx="3284538" cy="255428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0000CC"/>
                </a:solidFill>
                <a:ea typeface="仿宋" panose="02010609060101010101" pitchFamily="49" charset="-122"/>
                <a:cs typeface="Times New Roman" panose="02020503050405090304" pitchFamily="18" charset="0"/>
              </a:rPr>
              <a:t>(1) </a:t>
            </a:r>
            <a:r>
              <a:rPr lang="zh-CN" altLang="en-US" sz="2000">
                <a:solidFill>
                  <a:srgbClr val="0000CC"/>
                </a:solidFill>
                <a:ea typeface="仿宋" panose="02010609060101010101" pitchFamily="49" charset="-122"/>
                <a:cs typeface="Times New Roman" panose="02020503050405090304" pitchFamily="18" charset="0"/>
              </a:rPr>
              <a:t>非递归算法</a:t>
            </a:r>
            <a:endParaRPr lang="en-US" altLang="zh-CN" sz="2000">
              <a:solidFill>
                <a:srgbClr val="0000CC"/>
              </a:solidFill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long fact( int n </a:t>
            </a:r>
            <a:r>
              <a:rPr lang="zh-CN" altLang="en-US" sz="2000">
                <a:ea typeface="仿宋" panose="02010609060101010101" pitchFamily="49" charset="-122"/>
                <a:cs typeface="Times New Roman" panose="02020503050405090304" pitchFamily="18" charset="0"/>
              </a:rPr>
              <a:t>）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{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    long f=2;    int i;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    for( i=2; i &lt;= n; i++ )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           f = f*i;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    return(f);</a:t>
            </a:r>
            <a:endParaRPr lang="en-US" altLang="zh-CN" sz="2000">
              <a:ea typeface="仿宋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}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23" name="文本框 10"/>
          <p:cNvSpPr txBox="1">
            <a:spLocks noChangeArrowheads="1"/>
          </p:cNvSpPr>
          <p:nvPr/>
        </p:nvSpPr>
        <p:spPr bwMode="auto">
          <a:xfrm>
            <a:off x="590376" y="5593471"/>
            <a:ext cx="1255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2000">
                <a:ea typeface="仿宋" panose="02010609060101010101" pitchFamily="49" charset="-122"/>
                <a:cs typeface="Times New Roman" panose="02020503050405090304" pitchFamily="18" charset="0"/>
              </a:rPr>
              <a:t>T(n)=o(n)</a:t>
            </a:r>
            <a:endParaRPr lang="zh-CN" altLang="en-US" sz="2000">
              <a:ea typeface="仿宋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24" name="文本框 11"/>
          <p:cNvSpPr txBox="1">
            <a:spLocks noChangeArrowheads="1"/>
          </p:cNvSpPr>
          <p:nvPr/>
        </p:nvSpPr>
        <p:spPr bwMode="auto">
          <a:xfrm>
            <a:off x="4586113" y="5593471"/>
            <a:ext cx="10711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ea typeface="仿宋" panose="02010609060101010101" pitchFamily="49" charset="-122"/>
                <a:cs typeface="Times New Roman" panose="02020503050405090304" pitchFamily="18" charset="0"/>
              </a:rPr>
              <a:t>T(n)= 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  <a:cs typeface="Times New Roman" panose="02020503050405090304" pitchFamily="18" charset="0"/>
              </a:rPr>
              <a:t>?</a:t>
            </a:r>
            <a:endParaRPr lang="zh-CN" altLang="en-US" sz="2000" dirty="0">
              <a:solidFill>
                <a:srgbClr val="FF0000"/>
              </a:solidFill>
              <a:ea typeface="仿宋" panose="02010609060101010101" pitchFamily="49" charset="-122"/>
              <a:cs typeface="Times New Roman" panose="02020503050405090304" pitchFamily="18" charset="0"/>
            </a:endParaRPr>
          </a:p>
        </p:txBody>
      </p:sp>
      <p:grpSp>
        <p:nvGrpSpPr>
          <p:cNvPr id="25" name="组合 5"/>
          <p:cNvGrpSpPr/>
          <p:nvPr/>
        </p:nvGrpSpPr>
        <p:grpSpPr bwMode="auto">
          <a:xfrm>
            <a:off x="3925472" y="1754981"/>
            <a:ext cx="3803650" cy="630237"/>
            <a:chOff x="4693214" y="855987"/>
            <a:chExt cx="3804813" cy="630764"/>
          </a:xfrm>
        </p:grpSpPr>
        <p:sp>
          <p:nvSpPr>
            <p:cNvPr id="26" name="文本框 1"/>
            <p:cNvSpPr txBox="1">
              <a:spLocks noChangeArrowheads="1"/>
            </p:cNvSpPr>
            <p:nvPr/>
          </p:nvSpPr>
          <p:spPr bwMode="auto">
            <a:xfrm>
              <a:off x="4693214" y="855987"/>
              <a:ext cx="3804813" cy="630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ts val="1400"/>
                </a:lnSpc>
              </a:pP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           1             </a:t>
              </a:r>
              <a:r>
                <a:rPr lang="zh-CN" altLang="en-US" dirty="0">
                  <a:ea typeface="仿宋" panose="02010609060101010101" pitchFamily="49" charset="-122"/>
                  <a:cs typeface="Times New Roman" panose="02020503050405090304" pitchFamily="18" charset="0"/>
                </a:rPr>
                <a:t>当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n=0</a:t>
              </a:r>
              <a:r>
                <a:rPr lang="zh-CN" altLang="en-US" dirty="0">
                  <a:ea typeface="仿宋" panose="02010609060101010101" pitchFamily="49" charset="-122"/>
                  <a:cs typeface="Times New Roman" panose="02020503050405090304" pitchFamily="18" charset="0"/>
                </a:rPr>
                <a:t>或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n=1</a:t>
              </a:r>
              <a:endParaRPr lang="en-US" altLang="zh-CN" i="1" dirty="0">
                <a:ea typeface="仿宋" panose="02010609060101010101" pitchFamily="49" charset="-122"/>
                <a:cs typeface="Times New Roman" panose="02020503050405090304" pitchFamily="18" charset="0"/>
              </a:endParaRPr>
            </a:p>
            <a:p>
              <a:pPr>
                <a:lnSpc>
                  <a:spcPts val="1400"/>
                </a:lnSpc>
              </a:pP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n!= </a:t>
              </a:r>
              <a:endParaRPr lang="en-US" altLang="zh-CN" i="1" dirty="0">
                <a:ea typeface="仿宋" panose="02010609060101010101" pitchFamily="49" charset="-122"/>
                <a:cs typeface="Times New Roman" panose="02020503050405090304" pitchFamily="18" charset="0"/>
              </a:endParaRPr>
            </a:p>
            <a:p>
              <a:pPr>
                <a:lnSpc>
                  <a:spcPts val="1400"/>
                </a:lnSpc>
              </a:pP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           n*(n-1)!  </a:t>
              </a:r>
              <a:r>
                <a:rPr lang="zh-CN" altLang="en-US" dirty="0">
                  <a:ea typeface="仿宋" panose="02010609060101010101" pitchFamily="49" charset="-122"/>
                  <a:cs typeface="Times New Roman" panose="02020503050405090304" pitchFamily="18" charset="0"/>
                </a:rPr>
                <a:t>当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n</a:t>
              </a:r>
              <a:r>
                <a:rPr lang="zh-CN" altLang="en-US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＞</a:t>
              </a:r>
              <a:r>
                <a:rPr lang="en-US" altLang="zh-CN" i="1" dirty="0">
                  <a:ea typeface="仿宋" panose="02010609060101010101" pitchFamily="49" charset="-122"/>
                  <a:cs typeface="Times New Roman" panose="02020503050405090304" pitchFamily="18" charset="0"/>
                </a:rPr>
                <a:t>1</a:t>
              </a:r>
              <a:endParaRPr lang="zh-CN" altLang="en-US" i="1" dirty="0">
                <a:ea typeface="仿宋" panose="02010609060101010101" pitchFamily="49" charset="-122"/>
                <a:cs typeface="Times New Roman" panose="02020503050405090304" pitchFamily="18" charset="0"/>
              </a:endParaRPr>
            </a:p>
          </p:txBody>
        </p:sp>
        <p:sp>
          <p:nvSpPr>
            <p:cNvPr id="27" name="左大括号 26"/>
            <p:cNvSpPr/>
            <p:nvPr/>
          </p:nvSpPr>
          <p:spPr>
            <a:xfrm>
              <a:off x="5368107" y="908418"/>
              <a:ext cx="117511" cy="40832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8" name="组合 65"/>
          <p:cNvGrpSpPr/>
          <p:nvPr/>
        </p:nvGrpSpPr>
        <p:grpSpPr bwMode="auto">
          <a:xfrm>
            <a:off x="7536895" y="2695130"/>
            <a:ext cx="3622336" cy="2552384"/>
            <a:chOff x="904254" y="2484000"/>
            <a:chExt cx="4837746" cy="2952350"/>
          </a:xfrm>
        </p:grpSpPr>
        <p:sp>
          <p:nvSpPr>
            <p:cNvPr id="19" name="Rectangle 28"/>
            <p:cNvSpPr>
              <a:spLocks noChangeArrowheads="1"/>
            </p:cNvSpPr>
            <p:nvPr/>
          </p:nvSpPr>
          <p:spPr bwMode="auto">
            <a:xfrm>
              <a:off x="1828026" y="2484000"/>
              <a:ext cx="2383629" cy="38705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buClr>
                  <a:schemeClr val="tx1"/>
                </a:buClr>
                <a:defRPr/>
              </a:pPr>
              <a:r>
                <a:rPr lang="zh-CN" altLang="en-US" sz="180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计算 </a:t>
              </a:r>
              <a:r>
                <a:rPr lang="en-US" altLang="zh-CN" sz="180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fact(4)</a:t>
              </a:r>
              <a:endParaRPr lang="en-US" altLang="zh-CN" sz="1800">
                <a:ea typeface="仿宋" panose="02010609060101010101" pitchFamily="49" charset="-122"/>
                <a:cs typeface="Times New Roman" panose="0202050305040509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31"/>
            <p:cNvSpPr>
              <a:spLocks noChangeArrowheads="1"/>
            </p:cNvSpPr>
            <p:nvPr/>
          </p:nvSpPr>
          <p:spPr bwMode="auto">
            <a:xfrm>
              <a:off x="1828026" y="3114013"/>
              <a:ext cx="2383629" cy="38705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buClr>
                  <a:schemeClr val="tx1"/>
                </a:buClr>
                <a:defRPr/>
              </a:pPr>
              <a:r>
                <a:rPr lang="zh-CN" altLang="en-US" sz="1800" dirty="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计算 4*</a:t>
              </a:r>
              <a:r>
                <a:rPr lang="en-US" altLang="zh-CN" sz="1800" dirty="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fact(3)</a:t>
              </a:r>
              <a:endParaRPr lang="zh-CN" altLang="en-US" sz="1800" dirty="0">
                <a:ea typeface="仿宋" panose="02010609060101010101" pitchFamily="49" charset="-122"/>
                <a:cs typeface="Times New Roman" panose="0202050305040509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29" name="Line 34"/>
            <p:cNvSpPr>
              <a:spLocks noChangeShapeType="1"/>
            </p:cNvSpPr>
            <p:nvPr/>
          </p:nvSpPr>
          <p:spPr bwMode="auto">
            <a:xfrm flipH="1">
              <a:off x="1524000" y="2754313"/>
              <a:ext cx="3048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1524000" y="3287713"/>
              <a:ext cx="3048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 flipV="1">
              <a:off x="1524000" y="2754313"/>
              <a:ext cx="0" cy="5334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Rectangle 38"/>
            <p:cNvSpPr>
              <a:spLocks noChangeArrowheads="1"/>
            </p:cNvSpPr>
            <p:nvPr/>
          </p:nvSpPr>
          <p:spPr bwMode="auto">
            <a:xfrm>
              <a:off x="1828026" y="3789267"/>
              <a:ext cx="2383629" cy="3870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buClr>
                  <a:schemeClr val="tx1"/>
                </a:buClr>
                <a:defRPr/>
              </a:pPr>
              <a:r>
                <a:rPr lang="zh-CN" altLang="en-US" sz="1800" dirty="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计算 3*</a:t>
              </a:r>
              <a:r>
                <a:rPr lang="en-US" altLang="zh-CN" sz="1800" dirty="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fact(2)</a:t>
              </a:r>
              <a:endParaRPr lang="zh-CN" altLang="en-US" sz="1800" dirty="0">
                <a:ea typeface="仿宋" panose="02010609060101010101" pitchFamily="49" charset="-122"/>
                <a:cs typeface="Times New Roman" panose="02020503050405090304" pitchFamily="18" charset="0"/>
                <a:sym typeface="Wingdings" panose="05000000000000000000" pitchFamily="2" charset="2"/>
              </a:endParaRPr>
            </a:p>
          </p:txBody>
        </p:sp>
        <p:grpSp>
          <p:nvGrpSpPr>
            <p:cNvPr id="34" name="Group 40"/>
            <p:cNvGrpSpPr/>
            <p:nvPr/>
          </p:nvGrpSpPr>
          <p:grpSpPr bwMode="auto">
            <a:xfrm>
              <a:off x="1514494" y="3399058"/>
              <a:ext cx="304800" cy="533400"/>
              <a:chOff x="0" y="0"/>
              <a:chExt cx="192" cy="336"/>
            </a:xfrm>
          </p:grpSpPr>
          <p:sp>
            <p:nvSpPr>
              <p:cNvPr id="69" name="Line 41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0" name="Group 42"/>
              <p:cNvGrpSpPr/>
              <p:nvPr/>
            </p:nvGrpSpPr>
            <p:grpSpPr bwMode="auto">
              <a:xfrm>
                <a:off x="0" y="0"/>
                <a:ext cx="192" cy="336"/>
                <a:chOff x="0" y="0"/>
                <a:chExt cx="192" cy="336"/>
              </a:xfrm>
            </p:grpSpPr>
            <p:sp>
              <p:nvSpPr>
                <p:cNvPr id="71" name="Line 43"/>
                <p:cNvSpPr>
                  <a:spLocks noChangeShapeType="1"/>
                </p:cNvSpPr>
                <p:nvPr/>
              </p:nvSpPr>
              <p:spPr bwMode="auto">
                <a:xfrm>
                  <a:off x="0" y="33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1828026" y="4419280"/>
              <a:ext cx="2383629" cy="3870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buClr>
                  <a:schemeClr val="tx1"/>
                </a:buClr>
                <a:defRPr/>
              </a:pPr>
              <a:r>
                <a:rPr lang="zh-CN" altLang="en-US" sz="1800" dirty="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计算 2*</a:t>
              </a:r>
              <a:r>
                <a:rPr lang="en-US" altLang="zh-CN" sz="1800" dirty="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fact(1)</a:t>
              </a:r>
              <a:endParaRPr lang="zh-CN" altLang="en-US" sz="1800" dirty="0">
                <a:ea typeface="仿宋" panose="02010609060101010101" pitchFamily="49" charset="-122"/>
                <a:cs typeface="Times New Roman" panose="02020503050405090304" pitchFamily="18" charset="0"/>
                <a:sym typeface="Wingdings" panose="05000000000000000000" pitchFamily="2" charset="2"/>
              </a:endParaRPr>
            </a:p>
          </p:txBody>
        </p:sp>
        <p:grpSp>
          <p:nvGrpSpPr>
            <p:cNvPr id="36" name="Group 48"/>
            <p:cNvGrpSpPr/>
            <p:nvPr/>
          </p:nvGrpSpPr>
          <p:grpSpPr bwMode="auto">
            <a:xfrm>
              <a:off x="1504952" y="4064330"/>
              <a:ext cx="304800" cy="533400"/>
              <a:chOff x="0" y="0"/>
              <a:chExt cx="192" cy="336"/>
            </a:xfrm>
          </p:grpSpPr>
          <p:sp>
            <p:nvSpPr>
              <p:cNvPr id="66" name="Line 49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50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5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" name="Rectangle 53"/>
            <p:cNvSpPr>
              <a:spLocks noChangeArrowheads="1"/>
            </p:cNvSpPr>
            <p:nvPr/>
          </p:nvSpPr>
          <p:spPr bwMode="auto">
            <a:xfrm>
              <a:off x="1816896" y="5049293"/>
              <a:ext cx="2383629" cy="3870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buClr>
                  <a:schemeClr val="tx1"/>
                </a:buClr>
                <a:defRPr/>
              </a:pPr>
              <a:r>
                <a:rPr lang="zh-CN" altLang="en-US" sz="180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计算    </a:t>
              </a:r>
              <a:r>
                <a:rPr lang="en-US" altLang="zh-CN" sz="1800">
                  <a:ea typeface="仿宋" panose="02010609060101010101" pitchFamily="49" charset="-122"/>
                  <a:cs typeface="Times New Roman" panose="02020503050405090304" pitchFamily="18" charset="0"/>
                  <a:sym typeface="Wingdings" panose="05000000000000000000" pitchFamily="2" charset="2"/>
                </a:rPr>
                <a:t>fact(1)</a:t>
              </a:r>
              <a:endParaRPr lang="zh-CN" altLang="en-US" sz="1800">
                <a:ea typeface="仿宋" panose="02010609060101010101" pitchFamily="49" charset="-122"/>
                <a:cs typeface="Times New Roman" panose="02020503050405090304" pitchFamily="18" charset="0"/>
                <a:sym typeface="Wingdings" panose="05000000000000000000" pitchFamily="2" charset="2"/>
              </a:endParaRPr>
            </a:p>
          </p:txBody>
        </p:sp>
        <p:grpSp>
          <p:nvGrpSpPr>
            <p:cNvPr id="38" name="Group 55"/>
            <p:cNvGrpSpPr/>
            <p:nvPr/>
          </p:nvGrpSpPr>
          <p:grpSpPr bwMode="auto">
            <a:xfrm>
              <a:off x="1514492" y="4715097"/>
              <a:ext cx="304800" cy="533400"/>
              <a:chOff x="0" y="0"/>
              <a:chExt cx="192" cy="336"/>
            </a:xfrm>
          </p:grpSpPr>
          <p:sp>
            <p:nvSpPr>
              <p:cNvPr id="63" name="Line 56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57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58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" name="Line 59"/>
            <p:cNvSpPr>
              <a:spLocks noChangeShapeType="1"/>
            </p:cNvSpPr>
            <p:nvPr/>
          </p:nvSpPr>
          <p:spPr bwMode="auto">
            <a:xfrm flipH="1">
              <a:off x="1322406" y="2506525"/>
              <a:ext cx="9594" cy="28574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60"/>
            <p:cNvSpPr txBox="1">
              <a:spLocks noChangeArrowheads="1"/>
            </p:cNvSpPr>
            <p:nvPr/>
          </p:nvSpPr>
          <p:spPr bwMode="auto">
            <a:xfrm>
              <a:off x="904254" y="3307674"/>
              <a:ext cx="336546" cy="113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eaLnBrk="1" hangingPunct="1">
                <a:buFont typeface="Monotype Sorts"/>
                <a:buNone/>
              </a:pPr>
              <a:r>
                <a:rPr lang="zh-CN" altLang="en-US" sz="1600">
                  <a:latin typeface="仿宋" panose="02010609060101010101" pitchFamily="49" charset="-122"/>
                  <a:ea typeface="仿宋" panose="02010609060101010101" pitchFamily="49" charset="-122"/>
                </a:rPr>
                <a:t>递归调用</a:t>
              </a:r>
              <a:endParaRPr lang="zh-CN" altLang="en-US" sz="16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41" name="Line 61"/>
            <p:cNvSpPr>
              <a:spLocks noChangeShapeType="1"/>
            </p:cNvSpPr>
            <p:nvPr/>
          </p:nvSpPr>
          <p:spPr bwMode="auto">
            <a:xfrm flipH="1">
              <a:off x="5350752" y="2492058"/>
              <a:ext cx="0" cy="29442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62"/>
            <p:cNvSpPr txBox="1">
              <a:spLocks noChangeArrowheads="1"/>
            </p:cNvSpPr>
            <p:nvPr/>
          </p:nvSpPr>
          <p:spPr bwMode="auto">
            <a:xfrm>
              <a:off x="5341526" y="3307674"/>
              <a:ext cx="400474" cy="113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eaLnBrk="1" hangingPunct="1">
                <a:buFont typeface="Monotype Sorts"/>
                <a:buNone/>
              </a:pPr>
              <a:r>
                <a:rPr lang="zh-CN" altLang="en-US" sz="1600">
                  <a:latin typeface="仿宋" panose="02010609060101010101" pitchFamily="49" charset="-122"/>
                  <a:ea typeface="仿宋" panose="02010609060101010101" pitchFamily="49" charset="-122"/>
                </a:rPr>
                <a:t>回归求值</a:t>
              </a:r>
              <a:endParaRPr lang="zh-CN" altLang="en-US" sz="16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grpSp>
          <p:nvGrpSpPr>
            <p:cNvPr id="43" name="Group 64"/>
            <p:cNvGrpSpPr/>
            <p:nvPr/>
          </p:nvGrpSpPr>
          <p:grpSpPr bwMode="auto">
            <a:xfrm>
              <a:off x="4217002" y="2707291"/>
              <a:ext cx="304800" cy="533400"/>
              <a:chOff x="0" y="0"/>
              <a:chExt cx="192" cy="336"/>
            </a:xfrm>
          </p:grpSpPr>
          <p:sp>
            <p:nvSpPr>
              <p:cNvPr id="60" name="Line 65"/>
              <p:cNvSpPr>
                <a:spLocks noChangeShapeType="1"/>
              </p:cNvSpPr>
              <p:nvPr/>
            </p:nvSpPr>
            <p:spPr bwMode="auto">
              <a:xfrm flipH="1">
                <a:off x="0" y="33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66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7"/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" name="Text Box 68"/>
            <p:cNvSpPr txBox="1">
              <a:spLocks noChangeArrowheads="1"/>
            </p:cNvSpPr>
            <p:nvPr/>
          </p:nvSpPr>
          <p:spPr bwMode="auto">
            <a:xfrm>
              <a:off x="4460195" y="2814247"/>
              <a:ext cx="942533" cy="35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Monotype Sorts"/>
                <a:buNone/>
              </a:pPr>
              <a:r>
                <a:rPr lang="zh-CN" altLang="en-US" sz="1600">
                  <a:solidFill>
                    <a:srgbClr val="FF3300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返回24</a:t>
              </a:r>
              <a:endParaRPr lang="zh-CN" altLang="en-US" sz="1600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  <p:grpSp>
          <p:nvGrpSpPr>
            <p:cNvPr id="45" name="Group 70"/>
            <p:cNvGrpSpPr/>
            <p:nvPr/>
          </p:nvGrpSpPr>
          <p:grpSpPr bwMode="auto">
            <a:xfrm>
              <a:off x="4212001" y="3419476"/>
              <a:ext cx="304800" cy="533400"/>
              <a:chOff x="0" y="0"/>
              <a:chExt cx="192" cy="336"/>
            </a:xfrm>
          </p:grpSpPr>
          <p:sp>
            <p:nvSpPr>
              <p:cNvPr id="57" name="Line 71"/>
              <p:cNvSpPr>
                <a:spLocks noChangeShapeType="1"/>
              </p:cNvSpPr>
              <p:nvPr/>
            </p:nvSpPr>
            <p:spPr bwMode="auto">
              <a:xfrm flipH="1">
                <a:off x="0" y="33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72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73"/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" name="Text Box 74"/>
            <p:cNvSpPr txBox="1">
              <a:spLocks noChangeArrowheads="1"/>
            </p:cNvSpPr>
            <p:nvPr/>
          </p:nvSpPr>
          <p:spPr bwMode="auto">
            <a:xfrm>
              <a:off x="4458581" y="3498851"/>
              <a:ext cx="820782" cy="35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Monotype Sorts"/>
                <a:buNone/>
              </a:pPr>
              <a:r>
                <a:rPr lang="zh-CN" altLang="en-US" sz="1600">
                  <a:solidFill>
                    <a:srgbClr val="FF3300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返回</a:t>
              </a:r>
              <a:r>
                <a:rPr lang="en-US" altLang="zh-CN" sz="1600">
                  <a:solidFill>
                    <a:srgbClr val="FF3300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6</a:t>
              </a:r>
              <a:endParaRPr lang="en-US" altLang="zh-CN" sz="1600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  <p:grpSp>
          <p:nvGrpSpPr>
            <p:cNvPr id="47" name="Group 76"/>
            <p:cNvGrpSpPr/>
            <p:nvPr/>
          </p:nvGrpSpPr>
          <p:grpSpPr bwMode="auto">
            <a:xfrm>
              <a:off x="4209210" y="4109720"/>
              <a:ext cx="304800" cy="533400"/>
              <a:chOff x="0" y="0"/>
              <a:chExt cx="192" cy="336"/>
            </a:xfrm>
          </p:grpSpPr>
          <p:sp>
            <p:nvSpPr>
              <p:cNvPr id="54" name="Line 77"/>
              <p:cNvSpPr>
                <a:spLocks noChangeShapeType="1"/>
              </p:cNvSpPr>
              <p:nvPr/>
            </p:nvSpPr>
            <p:spPr bwMode="auto">
              <a:xfrm flipH="1">
                <a:off x="0" y="33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78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79"/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" name="Text Box 80"/>
            <p:cNvSpPr txBox="1">
              <a:spLocks noChangeArrowheads="1"/>
            </p:cNvSpPr>
            <p:nvPr/>
          </p:nvSpPr>
          <p:spPr bwMode="auto">
            <a:xfrm>
              <a:off x="4457380" y="4204970"/>
              <a:ext cx="820782" cy="35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Monotype Sorts"/>
                <a:buNone/>
              </a:pPr>
              <a:r>
                <a:rPr lang="zh-CN" altLang="en-US" sz="1600">
                  <a:solidFill>
                    <a:srgbClr val="FF3300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返回</a:t>
              </a:r>
              <a:r>
                <a:rPr lang="en-US" altLang="zh-CN" sz="1600">
                  <a:solidFill>
                    <a:srgbClr val="FF3300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2</a:t>
              </a:r>
              <a:endParaRPr lang="en-US" altLang="zh-CN" sz="1600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  <p:grpSp>
          <p:nvGrpSpPr>
            <p:cNvPr id="49" name="Group 82"/>
            <p:cNvGrpSpPr/>
            <p:nvPr/>
          </p:nvGrpSpPr>
          <p:grpSpPr bwMode="auto">
            <a:xfrm>
              <a:off x="4195162" y="4737566"/>
              <a:ext cx="304800" cy="533399"/>
              <a:chOff x="0" y="0"/>
              <a:chExt cx="192" cy="336"/>
            </a:xfrm>
          </p:grpSpPr>
          <p:sp>
            <p:nvSpPr>
              <p:cNvPr id="51" name="Line 83"/>
              <p:cNvSpPr>
                <a:spLocks noChangeShapeType="1"/>
              </p:cNvSpPr>
              <p:nvPr/>
            </p:nvSpPr>
            <p:spPr bwMode="auto">
              <a:xfrm flipH="1">
                <a:off x="0" y="33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84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85"/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" name="Text Box 86"/>
            <p:cNvSpPr txBox="1">
              <a:spLocks noChangeArrowheads="1"/>
            </p:cNvSpPr>
            <p:nvPr/>
          </p:nvSpPr>
          <p:spPr bwMode="auto">
            <a:xfrm>
              <a:off x="4466103" y="4834402"/>
              <a:ext cx="699033" cy="35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Monotype Sorts"/>
                <a:buNone/>
              </a:pPr>
              <a:r>
                <a:rPr lang="zh-CN" altLang="en-US" sz="1600">
                  <a:solidFill>
                    <a:srgbClr val="FF3300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返回</a:t>
              </a:r>
              <a:endParaRPr lang="en-US" altLang="zh-CN" sz="1600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2"/>
            <a:ext cx="10515600" cy="1325563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14.5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栈与递归的实现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8C2C-2B37-4F8C-867C-4D28BA1AD5E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20"/>
          <p:cNvGrpSpPr/>
          <p:nvPr/>
        </p:nvGrpSpPr>
        <p:grpSpPr bwMode="auto">
          <a:xfrm>
            <a:off x="6835775" y="2488293"/>
            <a:ext cx="3375025" cy="1355725"/>
            <a:chOff x="0" y="26"/>
            <a:chExt cx="3612" cy="828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939" y="26"/>
              <a:ext cx="1560" cy="828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50000"/>
                </a:lnSpc>
                <a:buClr>
                  <a:schemeClr val="tx1"/>
                </a:buClr>
                <a:buFont typeface="Monotype Sorts"/>
                <a:buNone/>
              </a:pPr>
              <a:r>
                <a:rPr lang="zh-CN" altLang="en-US" sz="2000" b="0" dirty="0"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局部变量</a:t>
              </a:r>
              <a:endParaRPr lang="en-US" altLang="zh-CN" sz="2000" b="0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  <a:p>
              <a:pPr algn="ctr">
                <a:lnSpc>
                  <a:spcPct val="150000"/>
                </a:lnSpc>
                <a:buClr>
                  <a:schemeClr val="tx1"/>
                </a:buClr>
                <a:buFont typeface="Monotype Sorts"/>
                <a:buNone/>
              </a:pPr>
              <a:r>
                <a:rPr lang="zh-CN" altLang="en-US" sz="2000" b="0" dirty="0"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返回地址</a:t>
              </a:r>
              <a:endParaRPr lang="en-US" altLang="zh-CN" sz="2000" b="0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  <a:p>
              <a:pPr algn="ctr">
                <a:lnSpc>
                  <a:spcPct val="150000"/>
                </a:lnSpc>
                <a:buClr>
                  <a:schemeClr val="tx1"/>
                </a:buClr>
                <a:buFont typeface="Monotype Sorts"/>
                <a:buNone/>
              </a:pPr>
              <a:r>
                <a:rPr lang="zh-CN" altLang="en-US" sz="2000" b="0" dirty="0"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实    参</a:t>
              </a:r>
              <a:endParaRPr lang="zh-CN" altLang="en-US" sz="2000" b="0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939" y="280"/>
              <a:ext cx="1545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V="1">
              <a:off x="2494" y="191"/>
              <a:ext cx="11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939" y="597"/>
              <a:ext cx="1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2480" y="505"/>
              <a:ext cx="11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AutoShape 17"/>
            <p:cNvSpPr/>
            <p:nvPr/>
          </p:nvSpPr>
          <p:spPr bwMode="auto">
            <a:xfrm>
              <a:off x="701" y="48"/>
              <a:ext cx="210" cy="768"/>
            </a:xfrm>
            <a:prstGeom prst="leftBrace">
              <a:avLst>
                <a:gd name="adj1" fmla="val 30476"/>
                <a:gd name="adj2" fmla="val 50995"/>
              </a:avLst>
            </a:prstGeom>
            <a:noFill/>
            <a:ln w="38100">
              <a:solidFill>
                <a:srgbClr val="00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buClr>
                  <a:schemeClr val="tx1"/>
                </a:buClr>
                <a:buFont typeface="Monotype Sorts"/>
                <a:buNone/>
              </a:pPr>
              <a:endParaRPr lang="zh-CN" altLang="en-US" sz="2000" b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0" y="108"/>
              <a:ext cx="778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eaLnBrk="1" hangingPunct="1">
                <a:buFont typeface="Monotype Sorts"/>
                <a:buNone/>
              </a:pPr>
              <a:r>
                <a:rPr lang="zh-CN" altLang="en-US" sz="2000">
                  <a:solidFill>
                    <a:srgbClr val="0000CC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活动记录框架</a:t>
              </a:r>
              <a:endParaRPr lang="zh-CN" altLang="en-US" sz="200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635" y="106"/>
              <a:ext cx="977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Monotype Sorts"/>
                <a:buNone/>
              </a:pPr>
              <a:r>
                <a:rPr lang="zh-CN" altLang="en-US" sz="2000">
                  <a:solidFill>
                    <a:srgbClr val="0000CC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递归</a:t>
              </a:r>
              <a:endParaRPr lang="zh-CN" altLang="en-US" sz="200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  <a:p>
              <a:pPr algn="ctr" eaLnBrk="1" hangingPunct="1">
                <a:buFont typeface="Monotype Sorts"/>
                <a:buNone/>
              </a:pPr>
              <a:r>
                <a:rPr lang="zh-CN" altLang="en-US" sz="2000">
                  <a:solidFill>
                    <a:srgbClr val="0000CC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工作</a:t>
              </a:r>
              <a:endParaRPr lang="en-US" altLang="zh-CN" sz="200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  <a:p>
              <a:pPr algn="ctr" eaLnBrk="1" hangingPunct="1">
                <a:buFont typeface="Monotype Sorts"/>
                <a:buNone/>
              </a:pPr>
              <a:r>
                <a:rPr lang="zh-CN" altLang="en-US" sz="2000">
                  <a:solidFill>
                    <a:srgbClr val="0000CC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Wingdings" panose="05000000000000000000" pitchFamily="2" charset="2"/>
                </a:rPr>
                <a:t>记录</a:t>
              </a:r>
              <a:endParaRPr lang="zh-CN" altLang="en-US" sz="200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1" name="矩形 25"/>
          <p:cNvSpPr>
            <a:spLocks noChangeArrowheads="1"/>
          </p:cNvSpPr>
          <p:nvPr/>
        </p:nvSpPr>
        <p:spPr bwMode="auto">
          <a:xfrm>
            <a:off x="1151520" y="1772895"/>
            <a:ext cx="5536915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递归过程与递归工作记录</a:t>
            </a:r>
            <a:endParaRPr lang="zh-CN" altLang="en-US" dirty="0">
              <a:solidFill>
                <a:srgbClr val="0000CC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>
              <a:buFont typeface="宋体" pitchFamily="2" charset="-122"/>
              <a:buAutoNum type="circleNumDbPlain"/>
            </a:pP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每一次递归调用时，需要为过程中使用的</a:t>
            </a:r>
            <a:r>
              <a:rPr lang="zh-CN" altLang="en-US" sz="2000" dirty="0">
                <a:solidFill>
                  <a:srgbClr val="0000FF"/>
                </a:solidFill>
                <a:latin typeface="宋体" pitchFamily="2" charset="-122"/>
                <a:cs typeface="Times New Roman" panose="02020503050405090304" pitchFamily="18" charset="0"/>
              </a:rPr>
              <a:t>参数、局部变量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和</a:t>
            </a:r>
            <a:r>
              <a:rPr lang="zh-CN" altLang="en-US" sz="2000" dirty="0">
                <a:solidFill>
                  <a:srgbClr val="0000FF"/>
                </a:solidFill>
                <a:latin typeface="宋体" pitchFamily="2" charset="-122"/>
                <a:cs typeface="Times New Roman" panose="02020503050405090304" pitchFamily="18" charset="0"/>
              </a:rPr>
              <a:t>返回地址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等另外分配存储空间；</a:t>
            </a:r>
            <a:endParaRPr lang="zh-CN" altLang="en-US" sz="2000" dirty="0">
              <a:latin typeface="宋体" pitchFamily="2" charset="-122"/>
              <a:cs typeface="Times New Roman" panose="02020503050405090304" pitchFamily="18" charset="0"/>
            </a:endParaRPr>
          </a:p>
          <a:p>
            <a:pPr>
              <a:buFont typeface="宋体" pitchFamily="2" charset="-122"/>
              <a:buAutoNum type="circleNumDbPlain"/>
            </a:pP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每层递归调用需分配的空间形成</a:t>
            </a:r>
            <a:r>
              <a:rPr lang="zh-CN" altLang="en-US" sz="2000" dirty="0">
                <a:solidFill>
                  <a:srgbClr val="0000FF"/>
                </a:solidFill>
                <a:latin typeface="宋体" pitchFamily="2" charset="-122"/>
                <a:cs typeface="Times New Roman" panose="02020503050405090304" pitchFamily="18" charset="0"/>
              </a:rPr>
              <a:t>递归工作记录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，按</a:t>
            </a:r>
            <a:r>
              <a:rPr lang="zh-CN" altLang="en-US" sz="2000" dirty="0">
                <a:solidFill>
                  <a:srgbClr val="0000FF"/>
                </a:solidFill>
                <a:latin typeface="宋体" pitchFamily="2" charset="-122"/>
                <a:cs typeface="Times New Roman" panose="02020503050405090304" pitchFamily="18" charset="0"/>
              </a:rPr>
              <a:t>栈结构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组织，即</a:t>
            </a:r>
            <a:r>
              <a:rPr lang="en-US" altLang="zh-CN" sz="2000" dirty="0">
                <a:latin typeface="宋体" pitchFamily="2" charset="-122"/>
                <a:cs typeface="Times New Roman" panose="02020503050405090304" pitchFamily="18" charset="0"/>
              </a:rPr>
              <a:t>LIFO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。</a:t>
            </a:r>
            <a:endParaRPr lang="zh-CN" altLang="en-US" sz="2000" dirty="0">
              <a:latin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2" name="矩形 26"/>
          <p:cNvSpPr>
            <a:spLocks noChangeArrowheads="1"/>
          </p:cNvSpPr>
          <p:nvPr/>
        </p:nvSpPr>
        <p:spPr bwMode="auto">
          <a:xfrm>
            <a:off x="1139167" y="3806147"/>
            <a:ext cx="82486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递归函数的内部执行过程</a:t>
            </a:r>
            <a:endParaRPr lang="zh-CN" altLang="en-US" dirty="0">
              <a:solidFill>
                <a:srgbClr val="0000CC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>
              <a:buFont typeface="宋体" pitchFamily="2" charset="-122"/>
              <a:buAutoNum type="circleNumDbPlain"/>
            </a:pPr>
            <a:r>
              <a:rPr lang="zh-CN" altLang="en-US" sz="2000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建栈：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运行开始时，首先为递归调用</a:t>
            </a:r>
            <a:r>
              <a:rPr lang="zh-CN" altLang="en-US" sz="2000" dirty="0">
                <a:solidFill>
                  <a:srgbClr val="FF0000"/>
                </a:solidFill>
                <a:latin typeface="宋体" pitchFamily="2" charset="-122"/>
                <a:cs typeface="Times New Roman" panose="02020503050405090304" pitchFamily="18" charset="0"/>
              </a:rPr>
              <a:t>建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立一个工作</a:t>
            </a:r>
            <a:r>
              <a:rPr lang="zh-CN" altLang="en-US" sz="2000" dirty="0">
                <a:solidFill>
                  <a:srgbClr val="FF0000"/>
                </a:solidFill>
                <a:latin typeface="宋体" pitchFamily="2" charset="-122"/>
                <a:cs typeface="Times New Roman" panose="02020503050405090304" pitchFamily="18" charset="0"/>
              </a:rPr>
              <a:t>栈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，其结构包括值参、局部变量和返回地址；</a:t>
            </a:r>
            <a:endParaRPr lang="zh-CN" altLang="en-US" sz="2000" dirty="0">
              <a:latin typeface="宋体" pitchFamily="2" charset="-122"/>
              <a:cs typeface="Times New Roman" panose="02020503050405090304" pitchFamily="18" charset="0"/>
            </a:endParaRPr>
          </a:p>
          <a:p>
            <a:pPr>
              <a:buFont typeface="宋体" pitchFamily="2" charset="-122"/>
              <a:buAutoNum type="circleNumDbPlain"/>
            </a:pPr>
            <a:r>
              <a:rPr lang="zh-CN" altLang="en-US" sz="2000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压栈：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每次执行递归调用之前，把递归函数的值参和局部变量的当前值以及调用后的返回地址</a:t>
            </a:r>
            <a:r>
              <a:rPr lang="zh-CN" altLang="en-US" sz="2000" dirty="0">
                <a:solidFill>
                  <a:srgbClr val="FF0000"/>
                </a:solidFill>
                <a:latin typeface="宋体" pitchFamily="2" charset="-122"/>
                <a:cs typeface="Times New Roman" panose="02020503050405090304" pitchFamily="18" charset="0"/>
              </a:rPr>
              <a:t>压栈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；</a:t>
            </a:r>
            <a:endParaRPr lang="zh-CN" altLang="en-US" sz="2000" dirty="0">
              <a:latin typeface="宋体" pitchFamily="2" charset="-122"/>
              <a:cs typeface="Times New Roman" panose="02020503050405090304" pitchFamily="18" charset="0"/>
            </a:endParaRPr>
          </a:p>
          <a:p>
            <a:pPr>
              <a:buFont typeface="宋体" pitchFamily="2" charset="-122"/>
              <a:buAutoNum type="circleNumDbPlain"/>
            </a:pPr>
            <a:r>
              <a:rPr lang="zh-CN" altLang="en-US" sz="2000" dirty="0">
                <a:solidFill>
                  <a:srgbClr val="0000CC"/>
                </a:solidFill>
                <a:latin typeface="宋体" pitchFamily="2" charset="-122"/>
                <a:cs typeface="Times New Roman" panose="02020503050405090304" pitchFamily="18" charset="0"/>
              </a:rPr>
              <a:t>出栈：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每次递归调用结束后，将栈顶元素</a:t>
            </a:r>
            <a:r>
              <a:rPr lang="zh-CN" altLang="en-US" sz="2000" dirty="0">
                <a:solidFill>
                  <a:srgbClr val="FF0000"/>
                </a:solidFill>
                <a:latin typeface="宋体" pitchFamily="2" charset="-122"/>
                <a:cs typeface="Times New Roman" panose="02020503050405090304" pitchFamily="18" charset="0"/>
              </a:rPr>
              <a:t>出栈</a:t>
            </a:r>
            <a:r>
              <a:rPr lang="zh-CN" altLang="en-US" sz="2000" dirty="0">
                <a:latin typeface="宋体" pitchFamily="2" charset="-122"/>
                <a:cs typeface="Times New Roman" panose="02020503050405090304" pitchFamily="18" charset="0"/>
              </a:rPr>
              <a:t>，使相应的值参和局部变量恢复为调用前的值，然后转向返回地址指定的位置继续执行。</a:t>
            </a:r>
            <a:endParaRPr lang="zh-CN" altLang="en-US" sz="2000" dirty="0">
              <a:latin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C69E-11F2-4E78-89E8-3C227C6E1C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12E-FB54-48E5-862B-D6F85AB76F95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10718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一个栈的入栈序列是</a:t>
            </a:r>
            <a:r>
              <a:rPr lang="en-US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a, b, c, d, e</a:t>
            </a:r>
            <a:r>
              <a:rPr lang="zh-CN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，则栈的不可能的出栈序列是</a:t>
            </a:r>
            <a:r>
              <a:rPr lang="zh-CN" altLang="en-US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（可以按照上述先后顺序在任意时刻执行入栈和出栈操作，但每个元素只能入栈和出栈一次）</a:t>
            </a:r>
            <a:r>
              <a:rPr lang="en-US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?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edcba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cdeba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debca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abcde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7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栈的练习：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C69E-11F2-4E78-89E8-3C227C6E1C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12E-FB54-48E5-862B-D6F85AB76F95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10718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一个栈的入栈序列是</a:t>
            </a:r>
            <a:r>
              <a:rPr lang="en-US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a, b, c, d, e</a:t>
            </a:r>
            <a:r>
              <a:rPr lang="zh-CN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，则栈的不可能的出栈序列是</a:t>
            </a:r>
            <a:r>
              <a:rPr lang="zh-CN" altLang="en-US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（可以按照上述先后顺序在任意时刻执行入栈和出栈操作，但每个元素只能入栈和出栈一次）</a:t>
            </a:r>
            <a:r>
              <a:rPr lang="en-US" altLang="zh-CN" sz="2800" dirty="0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?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edcba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cdeba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debca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 err="1">
                <a:solidFill>
                  <a:srgbClr val="333333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abcde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7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栈的练习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TYPE" val="ProblemTypeMarker"/>
</p:tagLst>
</file>

<file path=ppt/tags/tag3.xml><?xml version="1.0" encoding="utf-8"?>
<p:tagLst xmlns:p="http://schemas.openxmlformats.org/presentationml/2006/main">
  <p:tag name="RAINPROBLEMTYPE" val="ProblemTypeMark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5&quot;]}]"/>
</p:tagLst>
</file>

<file path=ppt/tags/tag7.xml><?xml version="1.0" encoding="utf-8"?>
<p:tagLst xmlns:p="http://schemas.openxmlformats.org/presentationml/2006/main">
  <p:tag name="RAINPROBLEM" val="ProblemBody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5&quot;]}]"/>
</p:tagLst>
</file>

<file path=ppt/tags/tag13.xml><?xml version="1.0" encoding="utf-8"?>
<p:tagLst xmlns:p="http://schemas.openxmlformats.org/presentationml/2006/main">
  <p:tag name="RAINPROBLEM" val="ProblemBody"/>
</p:tagLst>
</file>

<file path=ppt/tags/tag14.xml><?xml version="1.0" encoding="utf-8"?>
<p:tagLst xmlns:p="http://schemas.openxmlformats.org/presentationml/2006/main">
  <p:tag name="RAINPROBLEM" val="ProblemItem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" val="MultipleChoice"/>
  <p:tag name="PROBLEMSCORE" val="1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Item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" val="MultipleChoice"/>
  <p:tag name="PROBLEMSCORE" val="1.0"/>
</p:tagLst>
</file>

<file path=ppt/tags/tag41.xml><?xml version="1.0" encoding="utf-8"?>
<p:tagLst xmlns:p="http://schemas.openxmlformats.org/presentationml/2006/main">
  <p:tag name="COMMONDATA" val="eyJoZGlkIjoiYWViZDVlNWFlNTk1MTUzYzczMzM2ZDA3NTNlNGExYzUifQ=="/>
</p:tagLst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6237</Words>
  <Application>WPS 演示</Application>
  <PresentationFormat>宽屏</PresentationFormat>
  <Paragraphs>858</Paragraphs>
  <Slides>38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79" baseType="lpstr">
      <vt:lpstr>Arial</vt:lpstr>
      <vt:lpstr>宋体</vt:lpstr>
      <vt:lpstr>Wingdings</vt:lpstr>
      <vt:lpstr>汉仪书宋二KW</vt:lpstr>
      <vt:lpstr>微软雅黑</vt:lpstr>
      <vt:lpstr>汉仪旗黑</vt:lpstr>
      <vt:lpstr>Times New Roman</vt:lpstr>
      <vt:lpstr>Calibri</vt:lpstr>
      <vt:lpstr>Helvetica Neue</vt:lpstr>
      <vt:lpstr>等线</vt:lpstr>
      <vt:lpstr>黑体</vt:lpstr>
      <vt:lpstr>Microsoft YaHei Light</vt:lpstr>
      <vt:lpstr>Arial</vt:lpstr>
      <vt:lpstr>宋体</vt:lpstr>
      <vt:lpstr>Constantia</vt:lpstr>
      <vt:lpstr>楷体_GB2312</vt:lpstr>
      <vt:lpstr>Times New Roman</vt:lpstr>
      <vt:lpstr>汉仪中等线KW</vt:lpstr>
      <vt:lpstr>汉仪中黑KW</vt:lpstr>
      <vt:lpstr>苹方-简</vt:lpstr>
      <vt:lpstr>宋体</vt:lpstr>
      <vt:lpstr>Arial Unicode MS</vt:lpstr>
      <vt:lpstr>仿宋</vt:lpstr>
      <vt:lpstr>Calibri</vt:lpstr>
      <vt:lpstr>Monotype Sorts</vt:lpstr>
      <vt:lpstr>黑体</vt:lpstr>
      <vt:lpstr>Calibri Light</vt:lpstr>
      <vt:lpstr>等线 Light</vt:lpstr>
      <vt:lpstr>汉仪楷体简</vt:lpstr>
      <vt:lpstr>方正仿宋_GBK</vt:lpstr>
      <vt:lpstr>Thonburi</vt:lpstr>
      <vt:lpstr>Microsoft YaHei Light</vt:lpstr>
      <vt:lpstr>Monotype Sorts</vt:lpstr>
      <vt:lpstr>Wingdings</vt:lpstr>
      <vt:lpstr>仿宋</vt:lpstr>
      <vt:lpstr>微软雅黑</vt:lpstr>
      <vt:lpstr>楷体_GB2312</vt:lpstr>
      <vt:lpstr>等线</vt:lpstr>
      <vt:lpstr>黑体</vt:lpstr>
      <vt:lpstr>自定义设计方案</vt:lpstr>
      <vt:lpstr>默认设计模板</vt:lpstr>
      <vt:lpstr>PowerPoint 演示文稿</vt:lpstr>
      <vt:lpstr>《程序设计思维与实践》课程内容结构</vt:lpstr>
      <vt:lpstr>学习内容</vt:lpstr>
      <vt:lpstr>14.1  数制转换</vt:lpstr>
      <vt:lpstr>14.1  数制转换</vt:lpstr>
      <vt:lpstr>14.1  数制转换</vt:lpstr>
      <vt:lpstr>14.2  括号匹配的检验</vt:lpstr>
      <vt:lpstr>14.2  括号匹配的检验: 算法过程</vt:lpstr>
      <vt:lpstr>14.2  括号匹配的检验算法描述(伪代码)</vt:lpstr>
      <vt:lpstr>14.2  括号匹配的检验：算法描述（伪代码）</vt:lpstr>
      <vt:lpstr>14.3 行编辑程序问题</vt:lpstr>
      <vt:lpstr>14.3 行编辑程序问题</vt:lpstr>
      <vt:lpstr>14.3 行编辑程序问题实现算法</vt:lpstr>
      <vt:lpstr>14.3 行编辑程序问题</vt:lpstr>
      <vt:lpstr>14.3 行编辑程序问题</vt:lpstr>
      <vt:lpstr>14.4 表达式求值</vt:lpstr>
      <vt:lpstr>14.4 表达式求值</vt:lpstr>
      <vt:lpstr>14.4 表达式求值</vt:lpstr>
      <vt:lpstr>14.4 表达式求值</vt:lpstr>
      <vt:lpstr>14.4 表达式求值</vt:lpstr>
      <vt:lpstr>14.4 表达式求值</vt:lpstr>
      <vt:lpstr>PowerPoint 演示文稿</vt:lpstr>
      <vt:lpstr>PowerPoint 演示文稿</vt:lpstr>
      <vt:lpstr>14.4 表达式求值</vt:lpstr>
      <vt:lpstr>14.4 表达式求值（C实现，参考）</vt:lpstr>
      <vt:lpstr>14.4 表达式求值（C实现，参考）</vt:lpstr>
      <vt:lpstr>14.4 表达式求值（C实现，参考）</vt:lpstr>
      <vt:lpstr>14.5 栈与递归的实现 （递归的简要回顾）</vt:lpstr>
      <vt:lpstr>14.5 栈与递归的实现</vt:lpstr>
      <vt:lpstr>14.5 栈与递归的实现</vt:lpstr>
      <vt:lpstr>14.5 栈与递归的实现</vt:lpstr>
      <vt:lpstr>14.5 栈与递归的实现</vt:lpstr>
      <vt:lpstr>14.5 栈与递归的实现</vt:lpstr>
      <vt:lpstr>14.5 栈与递归的实现</vt:lpstr>
      <vt:lpstr>14.5 栈与递归的实现</vt:lpstr>
      <vt:lpstr>14.5 栈与递归的实现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AAADX</cp:lastModifiedBy>
  <cp:revision>308</cp:revision>
  <dcterms:created xsi:type="dcterms:W3CDTF">2025-12-02T08:56:51Z</dcterms:created>
  <dcterms:modified xsi:type="dcterms:W3CDTF">2025-12-02T08:56:51Z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5C5895A12F3C44538F2D4F005174432E_12</vt:lpwstr>
  </property>
  <property fmtid="{D5CDD505-2E9C-101B-9397-08002B2CF9AE}" pid="3" name="KSOProductBuildVer">
    <vt:lpwstr>2052-12.1.22522.22522</vt:lpwstr>
  </property>
</Properties>
</file>