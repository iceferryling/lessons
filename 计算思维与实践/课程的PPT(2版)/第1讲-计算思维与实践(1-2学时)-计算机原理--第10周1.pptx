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</p:sldMasterIdLst>
  <p:notesMasterIdLst>
    <p:notesMasterId r:id="rId52"/>
  </p:notesMasterIdLst>
  <p:sldIdLst>
    <p:sldId id="259" r:id="rId4"/>
    <p:sldId id="1229" r:id="rId5"/>
    <p:sldId id="1012" r:id="rId6"/>
    <p:sldId id="920" r:id="rId7"/>
    <p:sldId id="927" r:id="rId8"/>
    <p:sldId id="1014" r:id="rId9"/>
    <p:sldId id="1030" r:id="rId10"/>
    <p:sldId id="1032" r:id="rId11"/>
    <p:sldId id="1031" r:id="rId12"/>
    <p:sldId id="1052" r:id="rId13"/>
    <p:sldId id="1053" r:id="rId14"/>
    <p:sldId id="1015" r:id="rId15"/>
    <p:sldId id="1016" r:id="rId16"/>
    <p:sldId id="513" r:id="rId17"/>
    <p:sldId id="519" r:id="rId18"/>
    <p:sldId id="451" r:id="rId19"/>
    <p:sldId id="470" r:id="rId20"/>
    <p:sldId id="452" r:id="rId21"/>
    <p:sldId id="453" r:id="rId22"/>
    <p:sldId id="455" r:id="rId23"/>
    <p:sldId id="456" r:id="rId24"/>
    <p:sldId id="457" r:id="rId25"/>
    <p:sldId id="458" r:id="rId26"/>
    <p:sldId id="568" r:id="rId27"/>
    <p:sldId id="569" r:id="rId28"/>
    <p:sldId id="565" r:id="rId29"/>
    <p:sldId id="566" r:id="rId30"/>
    <p:sldId id="567" r:id="rId31"/>
    <p:sldId id="530" r:id="rId32"/>
    <p:sldId id="531" r:id="rId33"/>
    <p:sldId id="538" r:id="rId34"/>
    <p:sldId id="539" r:id="rId35"/>
    <p:sldId id="540" r:id="rId36"/>
    <p:sldId id="593" r:id="rId37"/>
    <p:sldId id="594" r:id="rId38"/>
    <p:sldId id="595" r:id="rId39"/>
    <p:sldId id="590" r:id="rId40"/>
    <p:sldId id="591" r:id="rId41"/>
    <p:sldId id="516" r:id="rId42"/>
    <p:sldId id="1054" r:id="rId43"/>
    <p:sldId id="938" r:id="rId44"/>
    <p:sldId id="939" r:id="rId45"/>
    <p:sldId id="940" r:id="rId46"/>
    <p:sldId id="941" r:id="rId47"/>
    <p:sldId id="942" r:id="rId48"/>
    <p:sldId id="1013" r:id="rId49"/>
    <p:sldId id="951" r:id="rId50"/>
    <p:sldId id="105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0000FF"/>
    <a:srgbClr val="0066FF"/>
    <a:srgbClr val="0066CC"/>
    <a:srgbClr val="00B050"/>
    <a:srgbClr val="CC0000"/>
    <a:srgbClr val="009900"/>
    <a:srgbClr val="FFFF66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97" autoAdjust="0"/>
    <p:restoredTop sz="94414" autoAdjust="0"/>
  </p:normalViewPr>
  <p:slideViewPr>
    <p:cSldViewPr snapToGrid="0" showGuides="1">
      <p:cViewPr varScale="1">
        <p:scale>
          <a:sx n="117" d="100"/>
          <a:sy n="117" d="100"/>
        </p:scale>
        <p:origin x="200" y="216"/>
      </p:cViewPr>
      <p:guideLst>
        <p:guide orient="horz" pos="2160"/>
        <p:guide pos="3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8EE71060-7622-4D5E-B111-19C16964DD8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FC01B2-C5D2-184B-87A0-BE030471D74E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1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514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EFD53E6A-9BEC-4D83-B58E-CF9BE57F060F}" type="slidenum">
              <a:rPr lang="en-US" altLang="zh-CN" sz="1300" b="0">
                <a:latin typeface="Times New Roman" panose="02020503050405090304" pitchFamily="18" charset="0"/>
                <a:ea typeface="宋体" pitchFamily="2" charset="-122"/>
              </a:rPr>
              <a:t>4</a:t>
            </a:fld>
            <a:endParaRPr lang="en-US" altLang="zh-CN" sz="1300" b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728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51138" y="531813"/>
            <a:ext cx="4730750" cy="2662237"/>
          </a:xfrm>
        </p:spPr>
      </p:sp>
      <p:sp>
        <p:nvSpPr>
          <p:cNvPr id="1728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994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AB031DC-3F4A-4134-B37C-B913806B865F}" type="slidenum">
              <a:rPr lang="en-US" altLang="zh-CN" sz="1300" b="0">
                <a:latin typeface="Times New Roman" panose="02020503050405090304" pitchFamily="18" charset="0"/>
                <a:ea typeface="宋体" pitchFamily="2" charset="-122"/>
              </a:rPr>
              <a:t>5</a:t>
            </a:fld>
            <a:endParaRPr lang="en-US" altLang="zh-CN" sz="1300" b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748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51138" y="531813"/>
            <a:ext cx="4730750" cy="2662237"/>
          </a:xfrm>
        </p:spPr>
      </p:sp>
      <p:sp>
        <p:nvSpPr>
          <p:cNvPr id="17489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994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5AB031DC-3F4A-4134-B37C-B913806B865F}" type="slidenum">
              <a:rPr lang="en-US" altLang="zh-CN" sz="1300" b="0">
                <a:latin typeface="Times New Roman" panose="02020503050405090304" pitchFamily="18" charset="0"/>
                <a:ea typeface="宋体" pitchFamily="2" charset="-122"/>
              </a:rPr>
              <a:t>6</a:t>
            </a:fld>
            <a:endParaRPr lang="en-US" altLang="zh-CN" sz="1300" b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748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51138" y="531813"/>
            <a:ext cx="4730750" cy="2662237"/>
          </a:xfrm>
        </p:spPr>
      </p:sp>
      <p:sp>
        <p:nvSpPr>
          <p:cNvPr id="17489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618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8B015D2-9412-4E88-ADD9-BA7E284A1BF4}" type="slidenum">
              <a:rPr lang="en-US" altLang="zh-CN" sz="1300" b="0">
                <a:latin typeface="Times New Roman" panose="02020503050405090304" pitchFamily="18" charset="0"/>
                <a:ea typeface="宋体" pitchFamily="2" charset="-122"/>
              </a:rPr>
              <a:t>9</a:t>
            </a:fld>
            <a:endParaRPr lang="en-US" altLang="zh-CN" sz="1300" b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775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51138" y="531813"/>
            <a:ext cx="4730750" cy="2662237"/>
          </a:xfrm>
        </p:spPr>
      </p:sp>
      <p:sp>
        <p:nvSpPr>
          <p:cNvPr id="17756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618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8B015D2-9412-4E88-ADD9-BA7E284A1BF4}" type="slidenum">
              <a:rPr lang="en-US" altLang="zh-CN" sz="1300" b="0">
                <a:latin typeface="Times New Roman" panose="02020503050405090304" pitchFamily="18" charset="0"/>
                <a:ea typeface="宋体" pitchFamily="2" charset="-122"/>
              </a:rPr>
              <a:t>10</a:t>
            </a:fld>
            <a:endParaRPr lang="en-US" altLang="zh-CN" sz="1300" b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775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51138" y="531813"/>
            <a:ext cx="4730750" cy="2662237"/>
          </a:xfrm>
        </p:spPr>
      </p:sp>
      <p:sp>
        <p:nvSpPr>
          <p:cNvPr id="17756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618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B8B015D2-9412-4E88-ADD9-BA7E284A1BF4}" type="slidenum">
              <a:rPr lang="en-US" altLang="zh-CN" sz="1300" b="0">
                <a:latin typeface="Times New Roman" panose="02020503050405090304" pitchFamily="18" charset="0"/>
                <a:ea typeface="宋体" pitchFamily="2" charset="-122"/>
              </a:rPr>
              <a:t>11</a:t>
            </a:fld>
            <a:endParaRPr lang="en-US" altLang="zh-CN" sz="1300" b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775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51138" y="531813"/>
            <a:ext cx="4730750" cy="2662237"/>
          </a:xfrm>
        </p:spPr>
      </p:sp>
      <p:sp>
        <p:nvSpPr>
          <p:cNvPr id="17756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zh-CN" altLang="en-US"/>
              <a:t>阶段</a:t>
            </a:r>
            <a:r>
              <a:rPr lang="en-US" altLang="zh-CN"/>
              <a:t>1</a:t>
            </a:r>
            <a:r>
              <a:rPr lang="zh-CN" altLang="en-US"/>
              <a:t>：取指（</a:t>
            </a:r>
            <a:r>
              <a:rPr lang="en-US" altLang="zh-CN"/>
              <a:t>Fetch</a:t>
            </a:r>
            <a:r>
              <a:rPr lang="zh-CN" altLang="en-US"/>
              <a:t>）</a:t>
            </a:r>
            <a:r>
              <a:rPr lang="en-US" altLang="zh-CN"/>
              <a:t>:</a:t>
            </a:r>
            <a:endParaRPr lang="zh-CN" altLang="en-US"/>
          </a:p>
          <a:p>
            <a:r>
              <a:rPr lang="zh-CN" altLang="en-US"/>
              <a:t>控制器（</a:t>
            </a:r>
            <a:r>
              <a:rPr lang="en-US" altLang="zh-CN"/>
              <a:t>CU</a:t>
            </a:r>
            <a:r>
              <a:rPr lang="zh-CN" altLang="en-US"/>
              <a:t>）根据</a:t>
            </a:r>
            <a:r>
              <a:rPr lang="en-US" altLang="zh-CN"/>
              <a:t> PC </a:t>
            </a:r>
            <a:r>
              <a:rPr lang="zh-CN" altLang="en-US"/>
              <a:t>中的地址，向存储器发出</a:t>
            </a:r>
            <a:r>
              <a:rPr lang="en-US" altLang="zh-CN"/>
              <a:t>“</a:t>
            </a:r>
            <a:r>
              <a:rPr lang="zh-CN" altLang="en-US"/>
              <a:t>取指</a:t>
            </a:r>
            <a:r>
              <a:rPr lang="en-US" altLang="zh-CN"/>
              <a:t>”</a:t>
            </a:r>
            <a:r>
              <a:rPr lang="zh-CN" altLang="en-US"/>
              <a:t>信号。</a:t>
            </a:r>
          </a:p>
          <a:p>
            <a:r>
              <a:rPr lang="zh-CN" altLang="en-US"/>
              <a:t>存储器把该地址对应的指令内容送入</a:t>
            </a:r>
            <a:r>
              <a:rPr lang="en-US" altLang="zh-CN"/>
              <a:t> IR</a:t>
            </a:r>
            <a:r>
              <a:rPr lang="zh-CN" altLang="en-US"/>
              <a:t>（指令寄存器）。</a:t>
            </a:r>
          </a:p>
          <a:p>
            <a:r>
              <a:rPr lang="en-US" altLang="zh-CN"/>
              <a:t>PC</a:t>
            </a:r>
            <a:r>
              <a:rPr lang="zh-CN" altLang="en-US"/>
              <a:t>自动</a:t>
            </a:r>
            <a:r>
              <a:rPr lang="en-US" altLang="zh-CN"/>
              <a:t>+1</a:t>
            </a:r>
            <a:r>
              <a:rPr lang="zh-CN" altLang="en-US"/>
              <a:t>（或加上指令长度），指向下一条指令的地址。</a:t>
            </a:r>
          </a:p>
          <a:p>
            <a:endParaRPr lang="zh-CN" altLang="en-US"/>
          </a:p>
          <a:p>
            <a:r>
              <a:rPr lang="zh-CN" altLang="en-US"/>
              <a:t>阶段</a:t>
            </a:r>
            <a:r>
              <a:rPr lang="en-US" altLang="zh-CN"/>
              <a:t>2</a:t>
            </a:r>
            <a:r>
              <a:rPr lang="zh-CN" altLang="en-US"/>
              <a:t>：译码（</a:t>
            </a:r>
            <a:r>
              <a:rPr lang="en-US" altLang="zh-CN"/>
              <a:t>Decode</a:t>
            </a:r>
            <a:r>
              <a:rPr lang="zh-CN" altLang="en-US"/>
              <a:t>）</a:t>
            </a:r>
            <a:r>
              <a:rPr lang="en-US" altLang="zh-CN"/>
              <a:t>:</a:t>
            </a:r>
          </a:p>
          <a:p>
            <a:r>
              <a:rPr lang="zh-CN" altLang="en-US"/>
              <a:t>控制器读取</a:t>
            </a:r>
            <a:r>
              <a:rPr lang="en-US" altLang="zh-CN"/>
              <a:t> IR </a:t>
            </a:r>
            <a:r>
              <a:rPr lang="zh-CN" altLang="en-US"/>
              <a:t>中的指令内容，分析操作码（</a:t>
            </a:r>
            <a:r>
              <a:rPr lang="en-US" altLang="zh-CN"/>
              <a:t>opcode</a:t>
            </a:r>
            <a:r>
              <a:rPr lang="zh-CN" altLang="en-US"/>
              <a:t>）和操作数地址。</a:t>
            </a:r>
          </a:p>
          <a:p>
            <a:r>
              <a:rPr lang="zh-CN" altLang="en-US"/>
              <a:t>控制器判断这条指令要做什么（加法、存取、跳转等）。</a:t>
            </a:r>
          </a:p>
          <a:p>
            <a:r>
              <a:rPr lang="" altLang="en-US"/>
              <a:t>️</a:t>
            </a:r>
            <a:r>
              <a:rPr lang="zh-CN" altLang="en-US"/>
              <a:t>控制器产生一系列控制信号，分别送到运算器、寄存器、存储器等部件。</a:t>
            </a:r>
          </a:p>
          <a:p>
            <a:endParaRPr lang="zh-CN" altLang="en-US"/>
          </a:p>
          <a:p>
            <a:r>
              <a:rPr lang="zh-CN" altLang="en-US"/>
              <a:t>阶段</a:t>
            </a:r>
            <a:r>
              <a:rPr lang="en-US" altLang="zh-CN"/>
              <a:t>3</a:t>
            </a:r>
            <a:r>
              <a:rPr lang="zh-CN" altLang="en-US"/>
              <a:t>：执行（</a:t>
            </a:r>
            <a:r>
              <a:rPr lang="en-US" altLang="zh-CN"/>
              <a:t>Execute</a:t>
            </a:r>
            <a:r>
              <a:rPr lang="zh-CN" altLang="en-US"/>
              <a:t>）</a:t>
            </a:r>
          </a:p>
          <a:p>
            <a:endParaRPr lang="en-US" altLang="zh-CN"/>
          </a:p>
          <a:p>
            <a:r>
              <a:rPr lang="zh-CN" altLang="en-US"/>
              <a:t>若是计算任务：</a:t>
            </a:r>
          </a:p>
          <a:p>
            <a:endParaRPr lang="en-US" altLang="zh-CN"/>
          </a:p>
          <a:p>
            <a:r>
              <a:rPr lang="zh-CN" altLang="en-US"/>
              <a:t>控制器命令</a:t>
            </a:r>
            <a:r>
              <a:rPr lang="en-US" altLang="zh-CN"/>
              <a:t> </a:t>
            </a:r>
            <a:r>
              <a:rPr lang="zh-CN" altLang="en-US"/>
              <a:t>运算器（</a:t>
            </a:r>
            <a:r>
              <a:rPr lang="en-US" altLang="zh-CN"/>
              <a:t>ALU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从寄存器或内存中取出操作数；</a:t>
            </a:r>
          </a:p>
          <a:p>
            <a:endParaRPr lang="en-US" altLang="zh-CN"/>
          </a:p>
          <a:p>
            <a:r>
              <a:rPr lang="zh-CN" altLang="en-US"/>
              <a:t>执行运算（例如加法、逻辑与等）。</a:t>
            </a:r>
          </a:p>
          <a:p>
            <a:endParaRPr lang="en-US" altLang="zh-CN"/>
          </a:p>
          <a:p>
            <a:r>
              <a:rPr lang="zh-CN" altLang="en-US"/>
              <a:t>若是存取任务：</a:t>
            </a:r>
          </a:p>
          <a:p>
            <a:endParaRPr lang="en-US" altLang="zh-CN"/>
          </a:p>
          <a:p>
            <a:r>
              <a:rPr lang="zh-CN" altLang="en-US"/>
              <a:t>控制器命令存储器读</a:t>
            </a:r>
            <a:r>
              <a:rPr lang="en-US" altLang="zh-CN"/>
              <a:t>/</a:t>
            </a:r>
            <a:r>
              <a:rPr lang="zh-CN" altLang="en-US"/>
              <a:t>写数据。</a:t>
            </a:r>
          </a:p>
          <a:p>
            <a:endParaRPr lang="en-US" altLang="zh-CN"/>
          </a:p>
          <a:p>
            <a:r>
              <a:rPr lang="zh-CN" altLang="en-US"/>
              <a:t>执行结果返回到寄存器或存储器。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地址线（</a:t>
            </a:r>
            <a:r>
              <a:rPr lang="en-US" altLang="zh-CN"/>
              <a:t>Address Bus</a:t>
            </a:r>
            <a:r>
              <a:rPr lang="zh-CN" altLang="en-US"/>
              <a:t>）</a:t>
            </a:r>
            <a:r>
              <a:rPr lang="en-US" altLang="zh-CN"/>
              <a:t>:</a:t>
            </a:r>
            <a:r>
              <a:rPr lang="zh-CN" altLang="en-US"/>
              <a:t>指明访问的存储单元或设备地址</a:t>
            </a:r>
            <a:r>
              <a:rPr lang="en-US" altLang="zh-CN"/>
              <a:t>, </a:t>
            </a:r>
            <a:r>
              <a:rPr lang="zh-CN" altLang="en-US"/>
              <a:t>决定</a:t>
            </a:r>
            <a:r>
              <a:rPr lang="en-US" altLang="zh-CN"/>
              <a:t>“</a:t>
            </a:r>
            <a:r>
              <a:rPr lang="zh-CN" altLang="en-US"/>
              <a:t>去哪里</a:t>
            </a:r>
            <a:r>
              <a:rPr lang="en-US" altLang="zh-CN"/>
              <a:t>”</a:t>
            </a:r>
          </a:p>
          <a:p>
            <a:r>
              <a:rPr lang="zh-CN" altLang="en-US"/>
              <a:t>数据线（</a:t>
            </a:r>
            <a:r>
              <a:rPr lang="en-US" altLang="zh-CN"/>
              <a:t>Data Bus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传输实际的数据或指令内容</a:t>
            </a:r>
            <a:r>
              <a:rPr lang="en-US" altLang="zh-CN"/>
              <a:t> </a:t>
            </a:r>
            <a:r>
              <a:rPr lang="zh-CN" altLang="en-US"/>
              <a:t>负责</a:t>
            </a:r>
            <a:r>
              <a:rPr lang="en-US" altLang="zh-CN"/>
              <a:t>“</a:t>
            </a:r>
            <a:r>
              <a:rPr lang="zh-CN" altLang="en-US"/>
              <a:t>传什么</a:t>
            </a:r>
            <a:r>
              <a:rPr lang="en-US" altLang="zh-CN"/>
              <a:t>”</a:t>
            </a:r>
          </a:p>
          <a:p>
            <a:r>
              <a:rPr lang="zh-CN" altLang="en-US"/>
              <a:t>控制线（</a:t>
            </a:r>
            <a:r>
              <a:rPr lang="en-US" altLang="zh-CN"/>
              <a:t>Control Bus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传递控制与状态信号</a:t>
            </a:r>
            <a:r>
              <a:rPr lang="en-US" altLang="zh-CN"/>
              <a:t> </a:t>
            </a:r>
            <a:r>
              <a:rPr lang="zh-CN" altLang="en-US"/>
              <a:t>指挥</a:t>
            </a:r>
            <a:r>
              <a:rPr lang="en-US" altLang="zh-CN"/>
              <a:t>“</a:t>
            </a:r>
            <a:r>
              <a:rPr lang="zh-CN" altLang="en-US"/>
              <a:t>怎么做</a:t>
            </a:r>
            <a:r>
              <a:rPr lang="en-US" altLang="zh-CN"/>
              <a:t>”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一条机器指令的执行可以分为多个节拍周期</a:t>
            </a:r>
            <a:r>
              <a:rPr lang="en-US" altLang="zh-CN"/>
              <a:t>，</a:t>
            </a:r>
            <a:r>
              <a:rPr lang="zh-CN" altLang="en-US"/>
              <a:t>控制器发出</a:t>
            </a:r>
            <a:r>
              <a:rPr lang="en-US" altLang="zh-CN"/>
              <a:t>“</a:t>
            </a:r>
            <a:r>
              <a:rPr lang="zh-CN" altLang="en-US"/>
              <a:t>取指</a:t>
            </a:r>
            <a:r>
              <a:rPr lang="en-US" altLang="zh-CN"/>
              <a:t>”</a:t>
            </a:r>
            <a:r>
              <a:rPr lang="zh-CN" altLang="en-US"/>
              <a:t>命令，从内存读取指令</a:t>
            </a:r>
            <a:r>
              <a:rPr lang="en-US" altLang="zh-CN"/>
              <a:t>，</a:t>
            </a:r>
            <a:r>
              <a:rPr lang="zh-CN" altLang="en-US"/>
              <a:t>指令进入指令寄存器，控制器进行译码</a:t>
            </a:r>
            <a:r>
              <a:rPr lang="en-US" altLang="zh-CN"/>
              <a:t>，</a:t>
            </a:r>
            <a:r>
              <a:rPr lang="zh-CN" altLang="en-US"/>
              <a:t>运算器执行操作（如加法）</a:t>
            </a:r>
            <a:r>
              <a:rPr lang="en-US" altLang="zh-CN"/>
              <a:t>，</a:t>
            </a:r>
            <a:r>
              <a:rPr lang="zh-CN" altLang="en-US"/>
              <a:t>将结果写回寄存器或内存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642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F37843DE-EF2C-436B-90B4-60266CF3D2AA}" type="slidenum">
              <a:rPr lang="en-US" altLang="zh-CN" sz="1300" b="0" i="0">
                <a:latin typeface="Times New Roman" panose="02020503050405090304" pitchFamily="18" charset="0"/>
                <a:ea typeface="宋体" pitchFamily="2" charset="-122"/>
              </a:rPr>
              <a:t>29</a:t>
            </a:fld>
            <a:endParaRPr lang="en-US" altLang="zh-CN" sz="1300" b="0" i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52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06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690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67A6C097-39A6-4E22-A240-D42743E0913A}" type="slidenum">
              <a:rPr lang="en-US" altLang="zh-CN" sz="1300" b="0" i="0">
                <a:latin typeface="Times New Roman" panose="02020503050405090304" pitchFamily="18" charset="0"/>
                <a:ea typeface="宋体" pitchFamily="2" charset="-122"/>
              </a:rPr>
              <a:t>30</a:t>
            </a:fld>
            <a:endParaRPr lang="en-US" altLang="zh-CN" sz="1300" b="0" i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52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26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970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6C60717-68D7-4B07-A911-45D6796FACC6}" type="slidenum">
              <a:rPr lang="en-US" altLang="zh-CN" sz="1300" b="0" i="0">
                <a:latin typeface="Times New Roman" panose="02020503050405090304" pitchFamily="18" charset="0"/>
                <a:ea typeface="宋体" pitchFamily="2" charset="-122"/>
              </a:rPr>
              <a:t>32</a:t>
            </a:fld>
            <a:endParaRPr lang="en-US" altLang="zh-CN" sz="1300" b="0" i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19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199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114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805180" indent="-30988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735F3707-7BD1-4941-AFFB-B5E1ECD3B22C}" type="slidenum">
              <a:rPr lang="en-US" altLang="zh-CN" sz="1300" b="0" i="0">
                <a:latin typeface="Times New Roman" panose="02020503050405090304" pitchFamily="18" charset="0"/>
                <a:ea typeface="宋体" pitchFamily="2" charset="-122"/>
              </a:rPr>
              <a:t>33</a:t>
            </a:fld>
            <a:endParaRPr lang="en-US" altLang="zh-CN" sz="1300" b="0" i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26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61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A8C186-EA35-4F21-8DA6-E91D7A38D2CE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6567" y="222251"/>
            <a:ext cx="2880784" cy="59547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294218" y="222251"/>
            <a:ext cx="8439149" cy="59547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5584" cy="166832"/>
          </a:xfrm>
          <a:prstGeom prst="rect">
            <a:avLst/>
          </a:prstGeom>
          <a:gradFill flip="none" rotWithShape="1">
            <a:gsLst>
              <a:gs pos="0">
                <a:srgbClr val="0066CC">
                  <a:shade val="30000"/>
                  <a:satMod val="115000"/>
                </a:srgbClr>
              </a:gs>
              <a:gs pos="50000">
                <a:srgbClr val="0066CC">
                  <a:shade val="67500"/>
                  <a:satMod val="115000"/>
                </a:srgbClr>
              </a:gs>
              <a:gs pos="100000">
                <a:srgbClr val="0066CC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702733" y="996950"/>
            <a:ext cx="11489267" cy="166832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0" eaLnBrk="1" hangingPunct="1"/>
            <a:endParaRPr lang="zh-CN" altLang="en-US" sz="240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22873" y="935906"/>
            <a:ext cx="34176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CC6AFE6F-DA54-4337-ADC7-9B4643189B01}" type="slidenum">
              <a:rPr lang="en-US" altLang="zh-CN" sz="1000" b="1" smtClean="0">
                <a:solidFill>
                  <a:schemeClr val="bg1"/>
                </a:solidFill>
                <a:ea typeface="宋体" pitchFamily="2" charset="-122"/>
              </a:rPr>
              <a:t>‹#›</a:t>
            </a:fld>
            <a:endParaRPr lang="en-US" altLang="zh-CN" sz="1000" b="1" dirty="0">
              <a:solidFill>
                <a:schemeClr val="bg1"/>
              </a:solidFill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5584" cy="166832"/>
          </a:xfrm>
          <a:prstGeom prst="rect">
            <a:avLst/>
          </a:prstGeom>
          <a:gradFill flip="none" rotWithShape="1">
            <a:gsLst>
              <a:gs pos="0">
                <a:srgbClr val="0066CC">
                  <a:shade val="30000"/>
                  <a:satMod val="115000"/>
                </a:srgbClr>
              </a:gs>
              <a:gs pos="50000">
                <a:srgbClr val="0066CC">
                  <a:shade val="67500"/>
                  <a:satMod val="115000"/>
                </a:srgbClr>
              </a:gs>
              <a:gs pos="100000">
                <a:srgbClr val="0066CC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1027" name="Rectangle 10"/>
          <p:cNvSpPr>
            <a:spLocks noChangeArrowheads="1"/>
          </p:cNvSpPr>
          <p:nvPr userDrawn="1"/>
        </p:nvSpPr>
        <p:spPr bwMode="auto">
          <a:xfrm>
            <a:off x="702733" y="996950"/>
            <a:ext cx="11489267" cy="166832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0" eaLnBrk="1" hangingPunct="1"/>
            <a:endParaRPr lang="zh-CN" altLang="en-US" sz="1800"/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322873" y="935906"/>
            <a:ext cx="34176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CC6AFE6F-DA54-4337-ADC7-9B4643189B01}" type="slidenum">
              <a:rPr lang="en-US" altLang="zh-CN" sz="1000" b="1" smtClean="0">
                <a:solidFill>
                  <a:schemeClr val="bg1"/>
                </a:solidFill>
                <a:ea typeface="宋体" pitchFamily="2" charset="-122"/>
              </a:rPr>
              <a:t>‹#›</a:t>
            </a:fld>
            <a:endParaRPr lang="en-US" altLang="zh-CN" sz="1000" b="1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94218" y="222251"/>
            <a:ext cx="11523133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9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5584" cy="166832"/>
          </a:xfrm>
          <a:prstGeom prst="rect">
            <a:avLst/>
          </a:prstGeom>
          <a:gradFill flip="none" rotWithShape="1">
            <a:gsLst>
              <a:gs pos="0">
                <a:srgbClr val="0066CC">
                  <a:shade val="30000"/>
                  <a:satMod val="115000"/>
                </a:srgbClr>
              </a:gs>
              <a:gs pos="50000">
                <a:srgbClr val="0066CC">
                  <a:shade val="67500"/>
                  <a:satMod val="115000"/>
                </a:srgbClr>
              </a:gs>
              <a:gs pos="100000">
                <a:srgbClr val="0066CC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702733" y="996950"/>
            <a:ext cx="11489267" cy="166832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0" eaLnBrk="1" hangingPunct="1"/>
            <a:endParaRPr lang="zh-CN" altLang="en-US" sz="2400"/>
          </a:p>
        </p:txBody>
      </p:sp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322873" y="935906"/>
            <a:ext cx="34176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CC6AFE6F-DA54-4337-ADC7-9B4643189B01}" type="slidenum">
              <a:rPr lang="en-US" altLang="zh-CN" sz="1000" b="1" smtClean="0">
                <a:solidFill>
                  <a:schemeClr val="bg1"/>
                </a:solidFill>
                <a:ea typeface="宋体" pitchFamily="2" charset="-122"/>
              </a:rPr>
              <a:t>‹#›</a:t>
            </a:fld>
            <a:endParaRPr lang="en-US" altLang="zh-CN" sz="1000" b="1" dirty="0">
              <a:solidFill>
                <a:schemeClr val="bg1"/>
              </a:solidFill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09930" y="3513455"/>
            <a:ext cx="10029825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Times New Roman" panose="02020503050405090304" pitchFamily="18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Arial" panose="020B0604020202090204" pitchFamily="34" charset="0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邓翔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Email: dengxiang@hit.edu.cn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哈尔滨工业大学</a:t>
            </a:r>
            <a:r>
              <a:rPr kumimoji="1" lang="en-US" altLang="zh-CN" sz="2800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（</a:t>
            </a:r>
            <a:r>
              <a:rPr kumimoji="1" lang="zh-CN" altLang="en-US" sz="2800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深圳</a:t>
            </a:r>
            <a:r>
              <a:rPr kumimoji="1" lang="en-US" altLang="zh-CN" sz="2800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）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Light" panose="020B0503020204020204" pitchFamily="34" charset="-122"/>
              <a:ea typeface="Microsoft YaHei Light" panose="020B0503020204020204" pitchFamily="34" charset="-122"/>
              <a:cs typeface="+mn-cs"/>
            </a:endParaRPr>
          </a:p>
        </p:txBody>
      </p:sp>
      <p:sp>
        <p:nvSpPr>
          <p:cNvPr id="7" name="Rectangle 2"/>
          <p:cNvSpPr>
            <a:spLocks noGrp="1"/>
          </p:cNvSpPr>
          <p:nvPr>
            <p:ph type="ctrTitle"/>
          </p:nvPr>
        </p:nvSpPr>
        <p:spPr>
          <a:xfrm>
            <a:off x="1960739" y="1851985"/>
            <a:ext cx="7773987" cy="1154112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eaLnBrk="1" hangingPunct="1">
              <a:buClrTx/>
              <a:buSzTx/>
              <a:buFontTx/>
            </a:pPr>
            <a:r>
              <a:rPr lang="en-US" altLang="zh-CN" sz="4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《</a:t>
            </a:r>
            <a:r>
              <a:rPr lang="zh-CN" altLang="en-US" sz="4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计算思维与实践</a:t>
            </a:r>
            <a:r>
              <a:rPr lang="en-US" altLang="zh-CN" sz="4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》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-1254"/>
            <a:ext cx="12209816" cy="115411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1" tIns="48216" rIns="96431" bIns="482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65" y="181881"/>
            <a:ext cx="46355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1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fld>
            <a:endParaRPr kumimoji="1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 flipH="1">
            <a:off x="-4" y="0"/>
            <a:ext cx="12192001" cy="6861398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b="1" dirty="0">
                <a:solidFill>
                  <a:schemeClr val="bg1">
                    <a:lumMod val="9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计算机原理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00260" y="930849"/>
            <a:ext cx="7991475" cy="1470025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zh-CN" altLang="en-US" sz="4000" b="1" dirty="0">
                <a:solidFill>
                  <a:schemeClr val="bg1">
                    <a:lumMod val="9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程序设计基础</a:t>
            </a:r>
            <a:r>
              <a:rPr lang="en-US" altLang="zh-CN" sz="4000" b="1" dirty="0">
                <a:solidFill>
                  <a:schemeClr val="bg1">
                    <a:lumMod val="9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Ⅰ</a:t>
            </a:r>
            <a:endParaRPr lang="zh-CN" altLang="en-US" sz="4000" b="1" dirty="0">
              <a:solidFill>
                <a:schemeClr val="bg1">
                  <a:lumMod val="9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00" name="Line 7"/>
          <p:cNvSpPr>
            <a:spLocks noChangeShapeType="1"/>
          </p:cNvSpPr>
          <p:nvPr/>
        </p:nvSpPr>
        <p:spPr bwMode="auto">
          <a:xfrm flipV="1">
            <a:off x="2070633" y="2085141"/>
            <a:ext cx="8196198" cy="1294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0806" y="260846"/>
            <a:ext cx="11073674" cy="683370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计算机结构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726396" y="1470479"/>
            <a:ext cx="8860290" cy="2837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dirty="0">
                <a:solidFill>
                  <a:prstClr val="black"/>
                </a:solidFill>
              </a:rPr>
              <a:t>一、</a:t>
            </a:r>
            <a:r>
              <a:rPr kumimoji="0" lang="zh-CN" altLang="en-US" sz="2800" dirty="0">
                <a:solidFill>
                  <a:srgbClr val="FF0000"/>
                </a:solidFill>
              </a:rPr>
              <a:t>冯</a:t>
            </a:r>
            <a:r>
              <a:rPr kumimoji="0" lang="en-US" altLang="zh-CN" sz="2800" dirty="0">
                <a:solidFill>
                  <a:srgbClr val="FF0000"/>
                </a:solidFill>
              </a:rPr>
              <a:t>.</a:t>
            </a:r>
            <a:r>
              <a:rPr kumimoji="0" lang="zh-CN" altLang="en-US" sz="2800" dirty="0">
                <a:solidFill>
                  <a:srgbClr val="FF0000"/>
                </a:solidFill>
              </a:rPr>
              <a:t>诺伊曼计算机的功能与构成</a:t>
            </a: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dirty="0"/>
              <a:t>二、</a:t>
            </a:r>
            <a:r>
              <a:rPr kumimoji="0" lang="zh-CN" altLang="en-US" sz="2800" dirty="0">
                <a:solidFill>
                  <a:srgbClr val="FF0000"/>
                </a:solidFill>
              </a:rPr>
              <a:t>存储器的基本概念</a:t>
            </a:r>
            <a:endParaRPr kumimoji="0" lang="en-US" altLang="zh-CN" sz="2800" dirty="0">
              <a:solidFill>
                <a:srgbClr val="FF0000"/>
              </a:solidFill>
            </a:endParaRP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/>
              <a:t>三、</a:t>
            </a:r>
            <a:r>
              <a:rPr lang="zh-CN" altLang="en-US" sz="2800" dirty="0">
                <a:solidFill>
                  <a:srgbClr val="FF0000"/>
                </a:solidFill>
              </a:rPr>
              <a:t>自动存取：存储器的工作原理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dirty="0"/>
              <a:t>四、</a:t>
            </a:r>
            <a:r>
              <a:rPr kumimoji="0" lang="zh-CN" altLang="en-US" sz="2800" dirty="0">
                <a:solidFill>
                  <a:srgbClr val="FF0000"/>
                </a:solidFill>
              </a:rPr>
              <a:t>计算器及控制器的基本结构</a:t>
            </a:r>
            <a:endParaRPr kumimoji="0" lang="en-US" altLang="zh-CN" sz="2800" dirty="0">
              <a:solidFill>
                <a:srgbClr val="FF0000"/>
              </a:solidFill>
            </a:endParaRP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/>
              <a:t>五、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一台典型的计算机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计算机器的基本功能</a:t>
            </a:r>
            <a:endParaRPr kumimoji="1"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诺伊曼计算机的功能与构成</a:t>
            </a:r>
          </a:p>
        </p:txBody>
      </p:sp>
      <p:sp>
        <p:nvSpPr>
          <p:cNvPr id="1727490" name="AutoShape 2"/>
          <p:cNvSpPr>
            <a:spLocks noChangeArrowheads="1"/>
          </p:cNvSpPr>
          <p:nvPr/>
        </p:nvSpPr>
        <p:spPr bwMode="auto">
          <a:xfrm>
            <a:off x="3354839" y="4635371"/>
            <a:ext cx="927100" cy="331787"/>
          </a:xfrm>
          <a:prstGeom prst="rightArrow">
            <a:avLst>
              <a:gd name="adj1" fmla="val 50000"/>
              <a:gd name="adj2" fmla="val 6985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7493" name="Text Box 5"/>
          <p:cNvSpPr txBox="1">
            <a:spLocks noChangeArrowheads="1"/>
          </p:cNvSpPr>
          <p:nvPr/>
        </p:nvSpPr>
        <p:spPr bwMode="auto">
          <a:xfrm>
            <a:off x="4281939" y="4109908"/>
            <a:ext cx="4093437" cy="1259919"/>
          </a:xfrm>
          <a:prstGeom prst="round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计算机器</a:t>
            </a:r>
            <a:endParaRPr kumimoji="0" lang="en-US" altLang="zh-CN" sz="28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0"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按计算规则</a:t>
            </a:r>
            <a:r>
              <a:rPr kumimoji="0"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</a:t>
            </a:r>
            <a:r>
              <a:rPr kumimoji="0"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对输入</a:t>
            </a:r>
            <a:r>
              <a:rPr kumimoji="0"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（数据）</a:t>
            </a:r>
            <a:r>
              <a:rPr kumimoji="0"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进行变换，得到输出</a:t>
            </a:r>
            <a:r>
              <a:rPr kumimoji="0"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（数据）</a:t>
            </a:r>
            <a:r>
              <a:rPr kumimoji="0"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27494" name="AutoShape 6"/>
          <p:cNvSpPr>
            <a:spLocks noChangeArrowheads="1"/>
          </p:cNvSpPr>
          <p:nvPr/>
        </p:nvSpPr>
        <p:spPr bwMode="auto">
          <a:xfrm>
            <a:off x="8388076" y="4582983"/>
            <a:ext cx="911225" cy="331787"/>
          </a:xfrm>
          <a:prstGeom prst="rightArrow">
            <a:avLst>
              <a:gd name="adj1" fmla="val 50000"/>
              <a:gd name="adj2" fmla="val 6866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27496" name="Group 8"/>
          <p:cNvGrpSpPr/>
          <p:nvPr/>
        </p:nvGrpSpPr>
        <p:grpSpPr bwMode="auto">
          <a:xfrm>
            <a:off x="1699076" y="4035296"/>
            <a:ext cx="1690688" cy="1531937"/>
            <a:chOff x="272" y="799"/>
            <a:chExt cx="1065" cy="965"/>
          </a:xfrm>
        </p:grpSpPr>
        <p:sp>
          <p:nvSpPr>
            <p:cNvPr id="2" name="AutoShape 39"/>
            <p:cNvSpPr>
              <a:spLocks noChangeArrowheads="1"/>
            </p:cNvSpPr>
            <p:nvPr/>
          </p:nvSpPr>
          <p:spPr bwMode="gray">
            <a:xfrm>
              <a:off x="272" y="799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" name="Oval 40"/>
            <p:cNvSpPr>
              <a:spLocks noChangeArrowheads="1"/>
            </p:cNvSpPr>
            <p:nvPr/>
          </p:nvSpPr>
          <p:spPr bwMode="gray">
            <a:xfrm>
              <a:off x="360" y="879"/>
              <a:ext cx="889" cy="806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" name="Text Box 84"/>
            <p:cNvSpPr txBox="1">
              <a:spLocks noChangeArrowheads="1"/>
            </p:cNvSpPr>
            <p:nvPr/>
          </p:nvSpPr>
          <p:spPr bwMode="auto">
            <a:xfrm>
              <a:off x="363" y="1023"/>
              <a:ext cx="881" cy="44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4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输入</a:t>
              </a:r>
            </a:p>
          </p:txBody>
        </p:sp>
      </p:grpSp>
      <p:grpSp>
        <p:nvGrpSpPr>
          <p:cNvPr id="1727543" name="Group 55"/>
          <p:cNvGrpSpPr/>
          <p:nvPr/>
        </p:nvGrpSpPr>
        <p:grpSpPr bwMode="auto">
          <a:xfrm>
            <a:off x="5202239" y="1877882"/>
            <a:ext cx="1928813" cy="1466850"/>
            <a:chOff x="2264" y="664"/>
            <a:chExt cx="1215" cy="924"/>
          </a:xfrm>
        </p:grpSpPr>
        <p:sp>
          <p:nvSpPr>
            <p:cNvPr id="14" name="AutoShape 39"/>
            <p:cNvSpPr>
              <a:spLocks noChangeArrowheads="1"/>
            </p:cNvSpPr>
            <p:nvPr/>
          </p:nvSpPr>
          <p:spPr bwMode="gray">
            <a:xfrm>
              <a:off x="2264" y="664"/>
              <a:ext cx="1215" cy="924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00800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5" name="Oval 40"/>
            <p:cNvSpPr>
              <a:spLocks noChangeArrowheads="1"/>
            </p:cNvSpPr>
            <p:nvPr/>
          </p:nvSpPr>
          <p:spPr bwMode="gray">
            <a:xfrm>
              <a:off x="2364" y="741"/>
              <a:ext cx="1015" cy="771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" name="Text Box 84"/>
            <p:cNvSpPr txBox="1">
              <a:spLocks noChangeArrowheads="1"/>
            </p:cNvSpPr>
            <p:nvPr/>
          </p:nvSpPr>
          <p:spPr bwMode="auto">
            <a:xfrm>
              <a:off x="2321" y="846"/>
              <a:ext cx="1110" cy="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en-US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计算规则</a:t>
              </a:r>
              <a:endParaRPr kumimoji="0" lang="en-US" altLang="zh-CN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 eaLnBrk="1" hangingPunct="1"/>
              <a:r>
                <a:rPr kumimoji="0" lang="en-US" altLang="zh-CN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kumimoji="0" lang="zh-CN" altLang="en-US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程序</a:t>
              </a:r>
              <a:r>
                <a:rPr kumimoji="0" lang="en-US" altLang="zh-CN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r>
                <a:rPr kumimoji="0" lang="zh-CN" altLang="en-US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指令</a:t>
              </a:r>
              <a:r>
                <a:rPr kumimoji="0" lang="en-US" altLang="zh-CN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</a:p>
          </p:txBody>
        </p:sp>
      </p:grpSp>
      <p:sp>
        <p:nvSpPr>
          <p:cNvPr id="1727504" name="AutoShape 16"/>
          <p:cNvSpPr>
            <a:spLocks noChangeArrowheads="1"/>
          </p:cNvSpPr>
          <p:nvPr/>
        </p:nvSpPr>
        <p:spPr bwMode="auto">
          <a:xfrm rot="5400000">
            <a:off x="5783264" y="3581270"/>
            <a:ext cx="820737" cy="331788"/>
          </a:xfrm>
          <a:prstGeom prst="rightArrow">
            <a:avLst>
              <a:gd name="adj1" fmla="val 50000"/>
              <a:gd name="adj2" fmla="val 6184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27538" name="Group 50"/>
          <p:cNvGrpSpPr/>
          <p:nvPr/>
        </p:nvGrpSpPr>
        <p:grpSpPr bwMode="auto">
          <a:xfrm>
            <a:off x="3735839" y="5728364"/>
            <a:ext cx="2473325" cy="968375"/>
            <a:chOff x="1476" y="3792"/>
            <a:chExt cx="1558" cy="610"/>
          </a:xfrm>
        </p:grpSpPr>
        <p:sp>
          <p:nvSpPr>
            <p:cNvPr id="6" name="AutoShape 39"/>
            <p:cNvSpPr>
              <a:spLocks noChangeArrowheads="1"/>
            </p:cNvSpPr>
            <p:nvPr/>
          </p:nvSpPr>
          <p:spPr bwMode="gray">
            <a:xfrm>
              <a:off x="1476" y="3792"/>
              <a:ext cx="1558" cy="610"/>
            </a:xfrm>
            <a:prstGeom prst="roundRect">
              <a:avLst>
                <a:gd name="adj" fmla="val 16667"/>
              </a:avLst>
            </a:prstGeom>
            <a:solidFill>
              <a:srgbClr val="B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" name="Oval 40"/>
            <p:cNvSpPr>
              <a:spLocks noChangeArrowheads="1"/>
            </p:cNvSpPr>
            <p:nvPr/>
          </p:nvSpPr>
          <p:spPr bwMode="gray">
            <a:xfrm>
              <a:off x="1528" y="3842"/>
              <a:ext cx="1454" cy="509"/>
            </a:xfrm>
            <a:prstGeom prst="roundRect">
              <a:avLst>
                <a:gd name="adj" fmla="val 16667"/>
              </a:avLst>
            </a:prstGeom>
            <a:solidFill>
              <a:srgbClr val="6600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" name="Text Box 84"/>
            <p:cNvSpPr>
              <a:spLocks noChangeArrowheads="1"/>
            </p:cNvSpPr>
            <p:nvPr/>
          </p:nvSpPr>
          <p:spPr bwMode="auto">
            <a:xfrm>
              <a:off x="1596" y="3854"/>
              <a:ext cx="1316" cy="493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输入</a:t>
              </a:r>
              <a:r>
                <a:rPr kumimoji="0" lang="en-US" altLang="zh-CN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/</a:t>
              </a: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输出都是</a:t>
              </a:r>
              <a:r>
                <a:rPr kumimoji="0" lang="en-US" altLang="zh-CN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0</a:t>
              </a: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和</a:t>
              </a:r>
              <a:r>
                <a:rPr kumimoji="0" lang="en-US" altLang="zh-CN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1</a:t>
              </a: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的形式表达</a:t>
              </a:r>
            </a:p>
          </p:txBody>
        </p:sp>
      </p:grpSp>
      <p:grpSp>
        <p:nvGrpSpPr>
          <p:cNvPr id="1727527" name="Group 39"/>
          <p:cNvGrpSpPr/>
          <p:nvPr/>
        </p:nvGrpSpPr>
        <p:grpSpPr bwMode="auto">
          <a:xfrm>
            <a:off x="9267551" y="3944808"/>
            <a:ext cx="1690687" cy="1531937"/>
            <a:chOff x="272" y="799"/>
            <a:chExt cx="1065" cy="965"/>
          </a:xfrm>
        </p:grpSpPr>
        <p:sp>
          <p:nvSpPr>
            <p:cNvPr id="9" name="AutoShape 39"/>
            <p:cNvSpPr>
              <a:spLocks noChangeArrowheads="1"/>
            </p:cNvSpPr>
            <p:nvPr/>
          </p:nvSpPr>
          <p:spPr bwMode="gray">
            <a:xfrm>
              <a:off x="272" y="799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" name="Oval 40"/>
            <p:cNvSpPr>
              <a:spLocks noChangeArrowheads="1"/>
            </p:cNvSpPr>
            <p:nvPr/>
          </p:nvSpPr>
          <p:spPr bwMode="gray">
            <a:xfrm>
              <a:off x="360" y="879"/>
              <a:ext cx="889" cy="806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1" name="Text Box 84"/>
            <p:cNvSpPr txBox="1">
              <a:spLocks noChangeArrowheads="1"/>
            </p:cNvSpPr>
            <p:nvPr/>
          </p:nvSpPr>
          <p:spPr bwMode="auto">
            <a:xfrm>
              <a:off x="363" y="1023"/>
              <a:ext cx="881" cy="44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4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输出</a:t>
              </a:r>
            </a:p>
          </p:txBody>
        </p:sp>
      </p:grpSp>
      <p:grpSp>
        <p:nvGrpSpPr>
          <p:cNvPr id="1727544" name="Group 56"/>
          <p:cNvGrpSpPr/>
          <p:nvPr/>
        </p:nvGrpSpPr>
        <p:grpSpPr bwMode="auto">
          <a:xfrm>
            <a:off x="6316664" y="5721220"/>
            <a:ext cx="2419350" cy="968375"/>
            <a:chOff x="2197" y="3430"/>
            <a:chExt cx="1524" cy="610"/>
          </a:xfrm>
        </p:grpSpPr>
        <p:sp>
          <p:nvSpPr>
            <p:cNvPr id="12" name="AutoShape 39"/>
            <p:cNvSpPr>
              <a:spLocks noChangeArrowheads="1"/>
            </p:cNvSpPr>
            <p:nvPr/>
          </p:nvSpPr>
          <p:spPr bwMode="gray">
            <a:xfrm>
              <a:off x="2197" y="3430"/>
              <a:ext cx="1524" cy="610"/>
            </a:xfrm>
            <a:prstGeom prst="roundRect">
              <a:avLst>
                <a:gd name="adj" fmla="val 16667"/>
              </a:avLst>
            </a:prstGeom>
            <a:solidFill>
              <a:srgbClr val="B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3" name="Oval 40"/>
            <p:cNvSpPr>
              <a:spLocks noChangeArrowheads="1"/>
            </p:cNvSpPr>
            <p:nvPr/>
          </p:nvSpPr>
          <p:spPr bwMode="gray">
            <a:xfrm>
              <a:off x="2249" y="3481"/>
              <a:ext cx="1419" cy="509"/>
            </a:xfrm>
            <a:prstGeom prst="roundRect">
              <a:avLst>
                <a:gd name="adj" fmla="val 16667"/>
              </a:avLst>
            </a:prstGeom>
            <a:solidFill>
              <a:srgbClr val="6600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7" name="Text Box 84"/>
            <p:cNvSpPr>
              <a:spLocks noChangeArrowheads="1"/>
            </p:cNvSpPr>
            <p:nvPr/>
          </p:nvSpPr>
          <p:spPr bwMode="auto">
            <a:xfrm>
              <a:off x="2317" y="3493"/>
              <a:ext cx="1318" cy="279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计算规则表达？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469710" y="4356802"/>
            <a:ext cx="812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448972" y="4323137"/>
            <a:ext cx="812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242623" y="3488065"/>
            <a:ext cx="812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7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7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27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27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27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27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27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27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27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27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27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27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27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27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27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27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27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27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7490" grpId="0" animBg="1"/>
      <p:bldP spid="1727494" grpId="0" animBg="1"/>
      <p:bldP spid="1727504" grpId="0" animBg="1"/>
      <p:bldP spid="16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86289" y="3137273"/>
            <a:ext cx="2350707" cy="1789295"/>
          </a:xfrm>
          <a:prstGeom prst="rect">
            <a:avLst/>
          </a:prstGeom>
        </p:spPr>
      </p:pic>
      <p:pic>
        <p:nvPicPr>
          <p:cNvPr id="38" name="Picture 4" descr="memory1-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70" y="4895290"/>
            <a:ext cx="4783689" cy="1119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圆角矩形 32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冯</a:t>
            </a: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诺伊曼计算机的构成</a:t>
            </a:r>
          </a:p>
        </p:txBody>
      </p:sp>
      <p:sp>
        <p:nvSpPr>
          <p:cNvPr id="34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诺伊曼计算机的功能与构成</a:t>
            </a:r>
          </a:p>
        </p:txBody>
      </p:sp>
      <p:grpSp>
        <p:nvGrpSpPr>
          <p:cNvPr id="1747970" name="Group 2"/>
          <p:cNvGrpSpPr/>
          <p:nvPr/>
        </p:nvGrpSpPr>
        <p:grpSpPr bwMode="auto">
          <a:xfrm>
            <a:off x="5590598" y="5507233"/>
            <a:ext cx="1690687" cy="1095375"/>
            <a:chOff x="272" y="799"/>
            <a:chExt cx="1065" cy="965"/>
          </a:xfrm>
        </p:grpSpPr>
        <p:sp>
          <p:nvSpPr>
            <p:cNvPr id="2" name="AutoShape 39"/>
            <p:cNvSpPr>
              <a:spLocks noChangeArrowheads="1"/>
            </p:cNvSpPr>
            <p:nvPr/>
          </p:nvSpPr>
          <p:spPr bwMode="gray">
            <a:xfrm>
              <a:off x="272" y="799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" name="Oval 40"/>
            <p:cNvSpPr>
              <a:spLocks noChangeArrowheads="1"/>
            </p:cNvSpPr>
            <p:nvPr/>
          </p:nvSpPr>
          <p:spPr bwMode="gray">
            <a:xfrm>
              <a:off x="360" y="879"/>
              <a:ext cx="889" cy="807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" name="Text Box 84"/>
            <p:cNvSpPr txBox="1">
              <a:spLocks noChangeArrowheads="1"/>
            </p:cNvSpPr>
            <p:nvPr/>
          </p:nvSpPr>
          <p:spPr bwMode="auto">
            <a:xfrm>
              <a:off x="363" y="1023"/>
              <a:ext cx="881" cy="4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8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运算器</a:t>
              </a:r>
            </a:p>
          </p:txBody>
        </p:sp>
      </p:grpSp>
      <p:grpSp>
        <p:nvGrpSpPr>
          <p:cNvPr id="1747974" name="Group 6"/>
          <p:cNvGrpSpPr/>
          <p:nvPr/>
        </p:nvGrpSpPr>
        <p:grpSpPr bwMode="auto">
          <a:xfrm>
            <a:off x="6344281" y="3704466"/>
            <a:ext cx="1981200" cy="1466850"/>
            <a:chOff x="3851" y="962"/>
            <a:chExt cx="1248" cy="924"/>
          </a:xfrm>
        </p:grpSpPr>
        <p:sp>
          <p:nvSpPr>
            <p:cNvPr id="5" name="AutoShape 39"/>
            <p:cNvSpPr>
              <a:spLocks noChangeArrowheads="1"/>
            </p:cNvSpPr>
            <p:nvPr/>
          </p:nvSpPr>
          <p:spPr bwMode="gray">
            <a:xfrm>
              <a:off x="3851" y="962"/>
              <a:ext cx="1215" cy="924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" name="Oval 40"/>
            <p:cNvSpPr>
              <a:spLocks noChangeArrowheads="1"/>
            </p:cNvSpPr>
            <p:nvPr/>
          </p:nvSpPr>
          <p:spPr bwMode="gray">
            <a:xfrm>
              <a:off x="3951" y="1031"/>
              <a:ext cx="1015" cy="771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" name="Text Box 84"/>
            <p:cNvSpPr txBox="1">
              <a:spLocks noChangeArrowheads="1"/>
            </p:cNvSpPr>
            <p:nvPr/>
          </p:nvSpPr>
          <p:spPr bwMode="auto">
            <a:xfrm>
              <a:off x="3852" y="1120"/>
              <a:ext cx="1247" cy="67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中央处理单元</a:t>
              </a:r>
            </a:p>
            <a:p>
              <a:pPr algn="ctr" eaLnBrk="1" hangingPunct="1"/>
              <a:r>
                <a:rPr kumimoji="0" lang="en-US" altLang="zh-CN" sz="44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CPU</a:t>
              </a:r>
            </a:p>
          </p:txBody>
        </p:sp>
      </p:grpSp>
      <p:grpSp>
        <p:nvGrpSpPr>
          <p:cNvPr id="1747978" name="Group 10"/>
          <p:cNvGrpSpPr/>
          <p:nvPr/>
        </p:nvGrpSpPr>
        <p:grpSpPr bwMode="auto">
          <a:xfrm>
            <a:off x="7292398" y="5521520"/>
            <a:ext cx="1690687" cy="1095375"/>
            <a:chOff x="272" y="799"/>
            <a:chExt cx="1065" cy="965"/>
          </a:xfrm>
        </p:grpSpPr>
        <p:sp>
          <p:nvSpPr>
            <p:cNvPr id="8" name="AutoShape 39"/>
            <p:cNvSpPr>
              <a:spLocks noChangeArrowheads="1"/>
            </p:cNvSpPr>
            <p:nvPr/>
          </p:nvSpPr>
          <p:spPr bwMode="gray">
            <a:xfrm>
              <a:off x="272" y="799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9" name="Oval 40"/>
            <p:cNvSpPr>
              <a:spLocks noChangeArrowheads="1"/>
            </p:cNvSpPr>
            <p:nvPr/>
          </p:nvSpPr>
          <p:spPr bwMode="gray">
            <a:xfrm>
              <a:off x="360" y="879"/>
              <a:ext cx="889" cy="807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" name="Text Box 84"/>
            <p:cNvSpPr txBox="1">
              <a:spLocks noChangeArrowheads="1"/>
            </p:cNvSpPr>
            <p:nvPr/>
          </p:nvSpPr>
          <p:spPr bwMode="auto">
            <a:xfrm>
              <a:off x="363" y="1023"/>
              <a:ext cx="881" cy="4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8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控制器</a:t>
              </a:r>
            </a:p>
          </p:txBody>
        </p:sp>
      </p:grpSp>
      <p:sp>
        <p:nvSpPr>
          <p:cNvPr id="1747982" name="AutoShape 14"/>
          <p:cNvSpPr/>
          <p:nvPr/>
        </p:nvSpPr>
        <p:spPr bwMode="auto">
          <a:xfrm rot="5400000">
            <a:off x="7230484" y="4375185"/>
            <a:ext cx="304800" cy="1897063"/>
          </a:xfrm>
          <a:prstGeom prst="leftBrace">
            <a:avLst>
              <a:gd name="adj1" fmla="val 51866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47983" name="Group 15"/>
          <p:cNvGrpSpPr/>
          <p:nvPr/>
        </p:nvGrpSpPr>
        <p:grpSpPr bwMode="auto">
          <a:xfrm>
            <a:off x="3133518" y="3704466"/>
            <a:ext cx="1981200" cy="1466850"/>
            <a:chOff x="1147" y="2134"/>
            <a:chExt cx="1248" cy="924"/>
          </a:xfrm>
        </p:grpSpPr>
        <p:sp>
          <p:nvSpPr>
            <p:cNvPr id="14" name="AutoShape 39"/>
            <p:cNvSpPr>
              <a:spLocks noChangeArrowheads="1"/>
            </p:cNvSpPr>
            <p:nvPr/>
          </p:nvSpPr>
          <p:spPr bwMode="gray">
            <a:xfrm>
              <a:off x="1147" y="2134"/>
              <a:ext cx="1215" cy="924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5" name="Oval 40"/>
            <p:cNvSpPr>
              <a:spLocks noChangeArrowheads="1"/>
            </p:cNvSpPr>
            <p:nvPr/>
          </p:nvSpPr>
          <p:spPr bwMode="gray">
            <a:xfrm>
              <a:off x="1247" y="2210"/>
              <a:ext cx="1015" cy="771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1" name="Text Box 84"/>
            <p:cNvSpPr txBox="1">
              <a:spLocks noChangeArrowheads="1"/>
            </p:cNvSpPr>
            <p:nvPr/>
          </p:nvSpPr>
          <p:spPr bwMode="auto">
            <a:xfrm>
              <a:off x="1148" y="2298"/>
              <a:ext cx="1247" cy="52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en-US" sz="28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存储器</a:t>
              </a:r>
              <a:endParaRPr kumimoji="0" lang="en-US" altLang="zh-CN" sz="2800" dirty="0">
                <a:solidFill>
                  <a:srgbClr val="FFFFFF"/>
                </a:solidFill>
                <a:ea typeface="华文中宋" panose="02010600040101010101" pitchFamily="2" charset="-122"/>
              </a:endParaRPr>
            </a:p>
            <a:p>
              <a:pPr algn="ctr" eaLnBrk="1" hangingPunct="1"/>
              <a:r>
                <a:rPr kumimoji="0" lang="en-US" altLang="zh-CN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(</a:t>
              </a:r>
              <a:r>
                <a:rPr kumimoji="0" lang="zh-CN" altLang="en-US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主存或内存</a:t>
              </a:r>
              <a:r>
                <a:rPr kumimoji="0" lang="en-US" altLang="zh-CN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)</a:t>
              </a:r>
              <a:endParaRPr kumimoji="0" lang="zh-CN" altLang="en-US" sz="2000" dirty="0">
                <a:solidFill>
                  <a:srgbClr val="FFFFFF"/>
                </a:solidFill>
                <a:ea typeface="华文中宋" panose="02010600040101010101" pitchFamily="2" charset="-122"/>
              </a:endParaRPr>
            </a:p>
          </p:txBody>
        </p:sp>
      </p:grpSp>
      <p:sp>
        <p:nvSpPr>
          <p:cNvPr id="1747987" name="Line 19"/>
          <p:cNvSpPr>
            <a:spLocks noChangeShapeType="1"/>
          </p:cNvSpPr>
          <p:nvPr/>
        </p:nvSpPr>
        <p:spPr bwMode="auto">
          <a:xfrm>
            <a:off x="5057198" y="4521377"/>
            <a:ext cx="128587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47988" name="Group 20"/>
          <p:cNvGrpSpPr/>
          <p:nvPr/>
        </p:nvGrpSpPr>
        <p:grpSpPr bwMode="auto">
          <a:xfrm>
            <a:off x="4222956" y="1972454"/>
            <a:ext cx="1331913" cy="976312"/>
            <a:chOff x="1710" y="840"/>
            <a:chExt cx="839" cy="532"/>
          </a:xfrm>
        </p:grpSpPr>
        <p:sp>
          <p:nvSpPr>
            <p:cNvPr id="12" name="AutoShape 39"/>
            <p:cNvSpPr>
              <a:spLocks noChangeArrowheads="1"/>
            </p:cNvSpPr>
            <p:nvPr/>
          </p:nvSpPr>
          <p:spPr bwMode="gray">
            <a:xfrm>
              <a:off x="1710" y="840"/>
              <a:ext cx="839" cy="532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3" name="Oval 40"/>
            <p:cNvSpPr>
              <a:spLocks noChangeArrowheads="1"/>
            </p:cNvSpPr>
            <p:nvPr/>
          </p:nvSpPr>
          <p:spPr bwMode="gray">
            <a:xfrm>
              <a:off x="1779" y="884"/>
              <a:ext cx="701" cy="444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7" name="Text Box 84"/>
            <p:cNvSpPr txBox="1">
              <a:spLocks noChangeArrowheads="1"/>
            </p:cNvSpPr>
            <p:nvPr/>
          </p:nvSpPr>
          <p:spPr bwMode="auto">
            <a:xfrm>
              <a:off x="1782" y="943"/>
              <a:ext cx="694" cy="28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8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程序</a:t>
              </a:r>
            </a:p>
          </p:txBody>
        </p:sp>
      </p:grpSp>
      <p:grpSp>
        <p:nvGrpSpPr>
          <p:cNvPr id="1747992" name="Group 24"/>
          <p:cNvGrpSpPr/>
          <p:nvPr/>
        </p:nvGrpSpPr>
        <p:grpSpPr bwMode="auto">
          <a:xfrm>
            <a:off x="5581856" y="1961342"/>
            <a:ext cx="1331913" cy="976313"/>
            <a:chOff x="2782" y="849"/>
            <a:chExt cx="839" cy="532"/>
          </a:xfrm>
        </p:grpSpPr>
        <p:sp>
          <p:nvSpPr>
            <p:cNvPr id="20" name="AutoShape 39"/>
            <p:cNvSpPr>
              <a:spLocks noChangeArrowheads="1"/>
            </p:cNvSpPr>
            <p:nvPr/>
          </p:nvSpPr>
          <p:spPr bwMode="gray">
            <a:xfrm>
              <a:off x="2782" y="849"/>
              <a:ext cx="839" cy="532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gray">
            <a:xfrm>
              <a:off x="2851" y="893"/>
              <a:ext cx="701" cy="444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84"/>
            <p:cNvSpPr txBox="1">
              <a:spLocks noChangeArrowheads="1"/>
            </p:cNvSpPr>
            <p:nvPr/>
          </p:nvSpPr>
          <p:spPr bwMode="auto">
            <a:xfrm>
              <a:off x="2854" y="952"/>
              <a:ext cx="694" cy="28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8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数据</a:t>
              </a:r>
            </a:p>
          </p:txBody>
        </p:sp>
      </p:grpSp>
      <p:sp>
        <p:nvSpPr>
          <p:cNvPr id="1747996" name="AutoShape 28"/>
          <p:cNvSpPr>
            <a:spLocks noChangeArrowheads="1"/>
          </p:cNvSpPr>
          <p:nvPr/>
        </p:nvSpPr>
        <p:spPr bwMode="auto">
          <a:xfrm rot="2228834">
            <a:off x="5044309" y="2919828"/>
            <a:ext cx="252412" cy="939800"/>
          </a:xfrm>
          <a:prstGeom prst="downArrow">
            <a:avLst>
              <a:gd name="adj1" fmla="val 50000"/>
              <a:gd name="adj2" fmla="val 93082"/>
            </a:avLst>
          </a:prstGeom>
          <a:solidFill>
            <a:srgbClr val="8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747997" name="AutoShape 29"/>
          <p:cNvSpPr>
            <a:spLocks noChangeArrowheads="1"/>
          </p:cNvSpPr>
          <p:nvPr/>
        </p:nvSpPr>
        <p:spPr bwMode="auto">
          <a:xfrm rot="19371166" flipH="1">
            <a:off x="6028559" y="2919828"/>
            <a:ext cx="252412" cy="939800"/>
          </a:xfrm>
          <a:prstGeom prst="downArrow">
            <a:avLst>
              <a:gd name="adj1" fmla="val 50000"/>
              <a:gd name="adj2" fmla="val 93082"/>
            </a:avLst>
          </a:prstGeom>
          <a:solidFill>
            <a:srgbClr val="8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747998" name="Text Box 30"/>
          <p:cNvSpPr txBox="1">
            <a:spLocks noChangeArrowheads="1"/>
          </p:cNvSpPr>
          <p:nvPr/>
        </p:nvSpPr>
        <p:spPr bwMode="auto">
          <a:xfrm>
            <a:off x="3680647" y="3037304"/>
            <a:ext cx="1247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程序与数据的保存</a:t>
            </a:r>
          </a:p>
        </p:txBody>
      </p:sp>
      <p:sp>
        <p:nvSpPr>
          <p:cNvPr id="1747999" name="Text Box 31"/>
          <p:cNvSpPr txBox="1">
            <a:spLocks noChangeArrowheads="1"/>
          </p:cNvSpPr>
          <p:nvPr/>
        </p:nvSpPr>
        <p:spPr bwMode="auto">
          <a:xfrm>
            <a:off x="6215884" y="3038892"/>
            <a:ext cx="15033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/>
              <a:t>程序执行与数据计算</a:t>
            </a: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7955458" y="1986121"/>
            <a:ext cx="3496313" cy="1123712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kumimoji="0" lang="zh-CN" altLang="en-US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微处理器</a:t>
            </a:r>
            <a:r>
              <a:rPr kumimoji="0" lang="en-US" altLang="zh-CN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芯片</a:t>
            </a:r>
            <a:r>
              <a:rPr kumimoji="0" lang="en-US" altLang="zh-CN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可能包含多个</a:t>
            </a:r>
            <a:r>
              <a:rPr kumimoji="0" lang="en-US" altLang="zh-CN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CPU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（即多核，</a:t>
            </a:r>
            <a:r>
              <a:rPr kumimoji="0" lang="en-US" altLang="zh-CN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个控制器</a:t>
            </a:r>
            <a:r>
              <a:rPr kumimoji="0" lang="en-US" altLang="zh-CN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个运算器）</a:t>
            </a:r>
            <a:endParaRPr lang="en-US" altLang="zh-CN" dirty="0">
              <a:solidFill>
                <a:schemeClr val="bg1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37" name="Group 8"/>
          <p:cNvGrpSpPr/>
          <p:nvPr/>
        </p:nvGrpSpPr>
        <p:grpSpPr bwMode="auto">
          <a:xfrm>
            <a:off x="620884" y="2001744"/>
            <a:ext cx="1207916" cy="1123593"/>
            <a:chOff x="272" y="799"/>
            <a:chExt cx="1065" cy="965"/>
          </a:xfrm>
        </p:grpSpPr>
        <p:sp>
          <p:nvSpPr>
            <p:cNvPr id="39" name="AutoShape 39"/>
            <p:cNvSpPr>
              <a:spLocks noChangeArrowheads="1"/>
            </p:cNvSpPr>
            <p:nvPr/>
          </p:nvSpPr>
          <p:spPr bwMode="gray">
            <a:xfrm>
              <a:off x="272" y="799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gray">
            <a:xfrm>
              <a:off x="360" y="879"/>
              <a:ext cx="889" cy="806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2" name="Text Box 84"/>
            <p:cNvSpPr txBox="1">
              <a:spLocks noChangeArrowheads="1"/>
            </p:cNvSpPr>
            <p:nvPr/>
          </p:nvSpPr>
          <p:spPr bwMode="auto">
            <a:xfrm>
              <a:off x="363" y="1023"/>
              <a:ext cx="881" cy="21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输入设备</a:t>
              </a:r>
            </a:p>
          </p:txBody>
        </p:sp>
      </p:grpSp>
      <p:grpSp>
        <p:nvGrpSpPr>
          <p:cNvPr id="43" name="Group 8"/>
          <p:cNvGrpSpPr/>
          <p:nvPr/>
        </p:nvGrpSpPr>
        <p:grpSpPr bwMode="auto">
          <a:xfrm>
            <a:off x="664100" y="3368816"/>
            <a:ext cx="1207916" cy="1123593"/>
            <a:chOff x="272" y="799"/>
            <a:chExt cx="1065" cy="965"/>
          </a:xfrm>
        </p:grpSpPr>
        <p:sp>
          <p:nvSpPr>
            <p:cNvPr id="44" name="AutoShape 39"/>
            <p:cNvSpPr>
              <a:spLocks noChangeArrowheads="1"/>
            </p:cNvSpPr>
            <p:nvPr/>
          </p:nvSpPr>
          <p:spPr bwMode="gray">
            <a:xfrm>
              <a:off x="272" y="799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5" name="Oval 40"/>
            <p:cNvSpPr>
              <a:spLocks noChangeArrowheads="1"/>
            </p:cNvSpPr>
            <p:nvPr/>
          </p:nvSpPr>
          <p:spPr bwMode="gray">
            <a:xfrm>
              <a:off x="360" y="879"/>
              <a:ext cx="889" cy="806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6" name="Text Box 84"/>
            <p:cNvSpPr txBox="1">
              <a:spLocks noChangeArrowheads="1"/>
            </p:cNvSpPr>
            <p:nvPr/>
          </p:nvSpPr>
          <p:spPr bwMode="auto">
            <a:xfrm>
              <a:off x="363" y="1023"/>
              <a:ext cx="881" cy="60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输出设备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冯</a:t>
            </a: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诺伊曼计算机器的核心</a:t>
            </a:r>
          </a:p>
        </p:txBody>
      </p:sp>
      <p:sp>
        <p:nvSpPr>
          <p:cNvPr id="34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诺伊曼计算机的功能与构成</a:t>
            </a:r>
          </a:p>
        </p:txBody>
      </p:sp>
      <p:grpSp>
        <p:nvGrpSpPr>
          <p:cNvPr id="1747970" name="Group 2"/>
          <p:cNvGrpSpPr/>
          <p:nvPr/>
        </p:nvGrpSpPr>
        <p:grpSpPr bwMode="auto">
          <a:xfrm>
            <a:off x="5590598" y="5507233"/>
            <a:ext cx="1690687" cy="1095375"/>
            <a:chOff x="272" y="799"/>
            <a:chExt cx="1065" cy="965"/>
          </a:xfrm>
        </p:grpSpPr>
        <p:sp>
          <p:nvSpPr>
            <p:cNvPr id="2" name="AutoShape 39"/>
            <p:cNvSpPr>
              <a:spLocks noChangeArrowheads="1"/>
            </p:cNvSpPr>
            <p:nvPr/>
          </p:nvSpPr>
          <p:spPr bwMode="gray">
            <a:xfrm>
              <a:off x="272" y="799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" name="Oval 40"/>
            <p:cNvSpPr>
              <a:spLocks noChangeArrowheads="1"/>
            </p:cNvSpPr>
            <p:nvPr/>
          </p:nvSpPr>
          <p:spPr bwMode="gray">
            <a:xfrm>
              <a:off x="360" y="879"/>
              <a:ext cx="889" cy="807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" name="Text Box 84"/>
            <p:cNvSpPr txBox="1">
              <a:spLocks noChangeArrowheads="1"/>
            </p:cNvSpPr>
            <p:nvPr/>
          </p:nvSpPr>
          <p:spPr bwMode="auto">
            <a:xfrm>
              <a:off x="363" y="1023"/>
              <a:ext cx="881" cy="4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8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运算器</a:t>
              </a:r>
            </a:p>
          </p:txBody>
        </p:sp>
      </p:grpSp>
      <p:grpSp>
        <p:nvGrpSpPr>
          <p:cNvPr id="1747974" name="Group 6"/>
          <p:cNvGrpSpPr/>
          <p:nvPr/>
        </p:nvGrpSpPr>
        <p:grpSpPr bwMode="auto">
          <a:xfrm>
            <a:off x="6344281" y="3704466"/>
            <a:ext cx="1981200" cy="1466850"/>
            <a:chOff x="3851" y="962"/>
            <a:chExt cx="1248" cy="924"/>
          </a:xfrm>
        </p:grpSpPr>
        <p:sp>
          <p:nvSpPr>
            <p:cNvPr id="5" name="AutoShape 39"/>
            <p:cNvSpPr>
              <a:spLocks noChangeArrowheads="1"/>
            </p:cNvSpPr>
            <p:nvPr/>
          </p:nvSpPr>
          <p:spPr bwMode="gray">
            <a:xfrm>
              <a:off x="3851" y="962"/>
              <a:ext cx="1215" cy="924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" name="Oval 40"/>
            <p:cNvSpPr>
              <a:spLocks noChangeArrowheads="1"/>
            </p:cNvSpPr>
            <p:nvPr/>
          </p:nvSpPr>
          <p:spPr bwMode="gray">
            <a:xfrm>
              <a:off x="3951" y="1031"/>
              <a:ext cx="1015" cy="771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" name="Text Box 84"/>
            <p:cNvSpPr txBox="1">
              <a:spLocks noChangeArrowheads="1"/>
            </p:cNvSpPr>
            <p:nvPr/>
          </p:nvSpPr>
          <p:spPr bwMode="auto">
            <a:xfrm>
              <a:off x="3852" y="1120"/>
              <a:ext cx="1247" cy="67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中央处理单元</a:t>
              </a:r>
            </a:p>
            <a:p>
              <a:pPr algn="ctr" eaLnBrk="1" hangingPunct="1"/>
              <a:r>
                <a:rPr kumimoji="0" lang="en-US" altLang="zh-CN" sz="4400">
                  <a:solidFill>
                    <a:srgbClr val="FFFFFF"/>
                  </a:solidFill>
                  <a:ea typeface="华文中宋" panose="02010600040101010101" pitchFamily="2" charset="-122"/>
                </a:rPr>
                <a:t>CPU</a:t>
              </a:r>
            </a:p>
          </p:txBody>
        </p:sp>
      </p:grpSp>
      <p:grpSp>
        <p:nvGrpSpPr>
          <p:cNvPr id="1747978" name="Group 10"/>
          <p:cNvGrpSpPr/>
          <p:nvPr/>
        </p:nvGrpSpPr>
        <p:grpSpPr bwMode="auto">
          <a:xfrm>
            <a:off x="7292398" y="5521520"/>
            <a:ext cx="1690687" cy="1095375"/>
            <a:chOff x="272" y="799"/>
            <a:chExt cx="1065" cy="965"/>
          </a:xfrm>
        </p:grpSpPr>
        <p:sp>
          <p:nvSpPr>
            <p:cNvPr id="8" name="AutoShape 39"/>
            <p:cNvSpPr>
              <a:spLocks noChangeArrowheads="1"/>
            </p:cNvSpPr>
            <p:nvPr/>
          </p:nvSpPr>
          <p:spPr bwMode="gray">
            <a:xfrm>
              <a:off x="272" y="799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9" name="Oval 40"/>
            <p:cNvSpPr>
              <a:spLocks noChangeArrowheads="1"/>
            </p:cNvSpPr>
            <p:nvPr/>
          </p:nvSpPr>
          <p:spPr bwMode="gray">
            <a:xfrm>
              <a:off x="360" y="879"/>
              <a:ext cx="889" cy="807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" name="Text Box 84"/>
            <p:cNvSpPr txBox="1">
              <a:spLocks noChangeArrowheads="1"/>
            </p:cNvSpPr>
            <p:nvPr/>
          </p:nvSpPr>
          <p:spPr bwMode="auto">
            <a:xfrm>
              <a:off x="363" y="1023"/>
              <a:ext cx="881" cy="4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8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控制器</a:t>
              </a:r>
            </a:p>
          </p:txBody>
        </p:sp>
      </p:grpSp>
      <p:sp>
        <p:nvSpPr>
          <p:cNvPr id="1747982" name="AutoShape 14"/>
          <p:cNvSpPr/>
          <p:nvPr/>
        </p:nvSpPr>
        <p:spPr bwMode="auto">
          <a:xfrm rot="5400000">
            <a:off x="7230484" y="4375185"/>
            <a:ext cx="304800" cy="1897063"/>
          </a:xfrm>
          <a:prstGeom prst="leftBrace">
            <a:avLst>
              <a:gd name="adj1" fmla="val 51866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47983" name="Group 15"/>
          <p:cNvGrpSpPr/>
          <p:nvPr/>
        </p:nvGrpSpPr>
        <p:grpSpPr bwMode="auto">
          <a:xfrm>
            <a:off x="3133518" y="3704466"/>
            <a:ext cx="1981200" cy="1466850"/>
            <a:chOff x="1147" y="2134"/>
            <a:chExt cx="1248" cy="924"/>
          </a:xfrm>
        </p:grpSpPr>
        <p:sp>
          <p:nvSpPr>
            <p:cNvPr id="14" name="AutoShape 39"/>
            <p:cNvSpPr>
              <a:spLocks noChangeArrowheads="1"/>
            </p:cNvSpPr>
            <p:nvPr/>
          </p:nvSpPr>
          <p:spPr bwMode="gray">
            <a:xfrm>
              <a:off x="1147" y="2134"/>
              <a:ext cx="1215" cy="924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5" name="Oval 40"/>
            <p:cNvSpPr>
              <a:spLocks noChangeArrowheads="1"/>
            </p:cNvSpPr>
            <p:nvPr/>
          </p:nvSpPr>
          <p:spPr bwMode="gray">
            <a:xfrm>
              <a:off x="1247" y="2210"/>
              <a:ext cx="1015" cy="771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1" name="Text Box 84"/>
            <p:cNvSpPr txBox="1">
              <a:spLocks noChangeArrowheads="1"/>
            </p:cNvSpPr>
            <p:nvPr/>
          </p:nvSpPr>
          <p:spPr bwMode="auto">
            <a:xfrm>
              <a:off x="1148" y="2298"/>
              <a:ext cx="1247" cy="52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lvl="0" algn="ctr" eaLnBrk="1" hangingPunct="1"/>
              <a:r>
                <a:rPr kumimoji="0" lang="zh-CN" altLang="en-US" sz="28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存储器</a:t>
              </a:r>
              <a:endParaRPr kumimoji="0" lang="en-US" altLang="zh-CN" sz="2800" dirty="0">
                <a:solidFill>
                  <a:srgbClr val="FFFFFF"/>
                </a:solidFill>
                <a:ea typeface="华文中宋" panose="02010600040101010101" pitchFamily="2" charset="-122"/>
              </a:endParaRPr>
            </a:p>
            <a:p>
              <a:pPr lvl="0" algn="ctr" eaLnBrk="1" hangingPunct="1"/>
              <a:r>
                <a:rPr kumimoji="0" lang="en-US" altLang="zh-CN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(</a:t>
              </a:r>
              <a:r>
                <a:rPr kumimoji="0" lang="zh-CN" altLang="en-US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主存或内存</a:t>
              </a:r>
              <a:r>
                <a:rPr kumimoji="0" lang="en-US" altLang="zh-CN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)</a:t>
              </a:r>
              <a:endParaRPr kumimoji="0" lang="zh-CN" altLang="en-US" sz="2000" dirty="0">
                <a:solidFill>
                  <a:srgbClr val="FFFFFF"/>
                </a:solidFill>
                <a:ea typeface="华文中宋" panose="02010600040101010101" pitchFamily="2" charset="-122"/>
              </a:endParaRPr>
            </a:p>
          </p:txBody>
        </p:sp>
      </p:grpSp>
      <p:sp>
        <p:nvSpPr>
          <p:cNvPr id="1747987" name="Line 19"/>
          <p:cNvSpPr>
            <a:spLocks noChangeShapeType="1"/>
          </p:cNvSpPr>
          <p:nvPr/>
        </p:nvSpPr>
        <p:spPr bwMode="auto">
          <a:xfrm>
            <a:off x="5057198" y="4521377"/>
            <a:ext cx="128587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47988" name="Group 20"/>
          <p:cNvGrpSpPr/>
          <p:nvPr/>
        </p:nvGrpSpPr>
        <p:grpSpPr bwMode="auto">
          <a:xfrm>
            <a:off x="4222956" y="1972454"/>
            <a:ext cx="1331913" cy="976312"/>
            <a:chOff x="1710" y="840"/>
            <a:chExt cx="839" cy="532"/>
          </a:xfrm>
        </p:grpSpPr>
        <p:sp>
          <p:nvSpPr>
            <p:cNvPr id="12" name="AutoShape 39"/>
            <p:cNvSpPr>
              <a:spLocks noChangeArrowheads="1"/>
            </p:cNvSpPr>
            <p:nvPr/>
          </p:nvSpPr>
          <p:spPr bwMode="gray">
            <a:xfrm>
              <a:off x="1710" y="840"/>
              <a:ext cx="839" cy="532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3" name="Oval 40"/>
            <p:cNvSpPr>
              <a:spLocks noChangeArrowheads="1"/>
            </p:cNvSpPr>
            <p:nvPr/>
          </p:nvSpPr>
          <p:spPr bwMode="gray">
            <a:xfrm>
              <a:off x="1779" y="884"/>
              <a:ext cx="701" cy="444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7" name="Text Box 84"/>
            <p:cNvSpPr txBox="1">
              <a:spLocks noChangeArrowheads="1"/>
            </p:cNvSpPr>
            <p:nvPr/>
          </p:nvSpPr>
          <p:spPr bwMode="auto">
            <a:xfrm>
              <a:off x="1782" y="943"/>
              <a:ext cx="694" cy="28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8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程序</a:t>
              </a:r>
            </a:p>
          </p:txBody>
        </p:sp>
      </p:grpSp>
      <p:grpSp>
        <p:nvGrpSpPr>
          <p:cNvPr id="1747992" name="Group 24"/>
          <p:cNvGrpSpPr/>
          <p:nvPr/>
        </p:nvGrpSpPr>
        <p:grpSpPr bwMode="auto">
          <a:xfrm>
            <a:off x="5581856" y="1961342"/>
            <a:ext cx="1331913" cy="976313"/>
            <a:chOff x="2782" y="849"/>
            <a:chExt cx="839" cy="532"/>
          </a:xfrm>
        </p:grpSpPr>
        <p:sp>
          <p:nvSpPr>
            <p:cNvPr id="20" name="AutoShape 39"/>
            <p:cNvSpPr>
              <a:spLocks noChangeArrowheads="1"/>
            </p:cNvSpPr>
            <p:nvPr/>
          </p:nvSpPr>
          <p:spPr bwMode="gray">
            <a:xfrm>
              <a:off x="2782" y="849"/>
              <a:ext cx="839" cy="532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gray">
            <a:xfrm>
              <a:off x="2851" y="893"/>
              <a:ext cx="701" cy="444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84"/>
            <p:cNvSpPr txBox="1">
              <a:spLocks noChangeArrowheads="1"/>
            </p:cNvSpPr>
            <p:nvPr/>
          </p:nvSpPr>
          <p:spPr bwMode="auto">
            <a:xfrm>
              <a:off x="2854" y="952"/>
              <a:ext cx="694" cy="28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8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数据</a:t>
              </a:r>
            </a:p>
          </p:txBody>
        </p:sp>
      </p:grpSp>
      <p:sp>
        <p:nvSpPr>
          <p:cNvPr id="1747996" name="AutoShape 28"/>
          <p:cNvSpPr>
            <a:spLocks noChangeArrowheads="1"/>
          </p:cNvSpPr>
          <p:nvPr/>
        </p:nvSpPr>
        <p:spPr bwMode="auto">
          <a:xfrm rot="2228834">
            <a:off x="5044309" y="2919828"/>
            <a:ext cx="252412" cy="939800"/>
          </a:xfrm>
          <a:prstGeom prst="downArrow">
            <a:avLst>
              <a:gd name="adj1" fmla="val 50000"/>
              <a:gd name="adj2" fmla="val 93082"/>
            </a:avLst>
          </a:prstGeom>
          <a:solidFill>
            <a:srgbClr val="8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747997" name="AutoShape 29"/>
          <p:cNvSpPr>
            <a:spLocks noChangeArrowheads="1"/>
          </p:cNvSpPr>
          <p:nvPr/>
        </p:nvSpPr>
        <p:spPr bwMode="auto">
          <a:xfrm rot="19371166" flipH="1">
            <a:off x="6028559" y="2919828"/>
            <a:ext cx="252412" cy="939800"/>
          </a:xfrm>
          <a:prstGeom prst="downArrow">
            <a:avLst>
              <a:gd name="adj1" fmla="val 50000"/>
              <a:gd name="adj2" fmla="val 93082"/>
            </a:avLst>
          </a:prstGeom>
          <a:solidFill>
            <a:srgbClr val="8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747998" name="Text Box 30"/>
          <p:cNvSpPr txBox="1">
            <a:spLocks noChangeArrowheads="1"/>
          </p:cNvSpPr>
          <p:nvPr/>
        </p:nvSpPr>
        <p:spPr bwMode="auto">
          <a:xfrm>
            <a:off x="3680647" y="3037304"/>
            <a:ext cx="1247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程序与数据的保存</a:t>
            </a:r>
          </a:p>
        </p:txBody>
      </p:sp>
      <p:sp>
        <p:nvSpPr>
          <p:cNvPr id="1747999" name="Text Box 31"/>
          <p:cNvSpPr txBox="1">
            <a:spLocks noChangeArrowheads="1"/>
          </p:cNvSpPr>
          <p:nvPr/>
        </p:nvSpPr>
        <p:spPr bwMode="auto">
          <a:xfrm>
            <a:off x="6215884" y="3038892"/>
            <a:ext cx="15033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/>
              <a:t>程序执行与数据计算</a:t>
            </a:r>
          </a:p>
        </p:txBody>
      </p:sp>
      <p:sp>
        <p:nvSpPr>
          <p:cNvPr id="37" name="任意多边形 36"/>
          <p:cNvSpPr/>
          <p:nvPr/>
        </p:nvSpPr>
        <p:spPr bwMode="auto">
          <a:xfrm>
            <a:off x="1654113" y="5049079"/>
            <a:ext cx="1898374" cy="675861"/>
          </a:xfrm>
          <a:custGeom>
            <a:avLst/>
            <a:gdLst>
              <a:gd name="connsiteX0" fmla="*/ 1898374 w 1898374"/>
              <a:gd name="connsiteY0" fmla="*/ 0 h 675861"/>
              <a:gd name="connsiteX1" fmla="*/ 1500808 w 1898374"/>
              <a:gd name="connsiteY1" fmla="*/ 675861 h 675861"/>
              <a:gd name="connsiteX2" fmla="*/ 0 w 1898374"/>
              <a:gd name="connsiteY2" fmla="*/ 665921 h 67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8374" h="675861">
                <a:moveTo>
                  <a:pt x="1898374" y="0"/>
                </a:moveTo>
                <a:lnTo>
                  <a:pt x="1500808" y="675861"/>
                </a:lnTo>
                <a:lnTo>
                  <a:pt x="0" y="665921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68715" y="3415960"/>
            <a:ext cx="25682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存储单元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为单位进行存储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一个存储单元可以是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位或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64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按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编号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访问存储单元</a:t>
            </a:r>
          </a:p>
        </p:txBody>
      </p:sp>
      <p:sp>
        <p:nvSpPr>
          <p:cNvPr id="41" name="任意多边形 40"/>
          <p:cNvSpPr/>
          <p:nvPr/>
        </p:nvSpPr>
        <p:spPr bwMode="auto">
          <a:xfrm flipH="1">
            <a:off x="8091920" y="4827217"/>
            <a:ext cx="2302068" cy="934279"/>
          </a:xfrm>
          <a:custGeom>
            <a:avLst/>
            <a:gdLst>
              <a:gd name="connsiteX0" fmla="*/ 1898374 w 1898374"/>
              <a:gd name="connsiteY0" fmla="*/ 0 h 675861"/>
              <a:gd name="connsiteX1" fmla="*/ 1500808 w 1898374"/>
              <a:gd name="connsiteY1" fmla="*/ 675861 h 675861"/>
              <a:gd name="connsiteX2" fmla="*/ 0 w 1898374"/>
              <a:gd name="connsiteY2" fmla="*/ 665921 h 675861"/>
              <a:gd name="connsiteX0-1" fmla="*/ 1898374 w 1898374"/>
              <a:gd name="connsiteY0-2" fmla="*/ 0 h 675861"/>
              <a:gd name="connsiteX1-3" fmla="*/ 1148372 w 1898374"/>
              <a:gd name="connsiteY1-4" fmla="*/ 675861 h 675861"/>
              <a:gd name="connsiteX2-5" fmla="*/ 0 w 1898374"/>
              <a:gd name="connsiteY2-6" fmla="*/ 665921 h 6758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898374" h="675861">
                <a:moveTo>
                  <a:pt x="1898374" y="0"/>
                </a:moveTo>
                <a:lnTo>
                  <a:pt x="1148372" y="675861"/>
                </a:lnTo>
                <a:lnTo>
                  <a:pt x="0" y="665921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948808" y="3183772"/>
            <a:ext cx="23399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指令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为单位进行读取并执行。一条指令可以保存在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个或多个存储单元中。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基本的运算指令就是两个数的加、减、乘、除等运算。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79652" y="2382714"/>
            <a:ext cx="6501711" cy="3649785"/>
          </a:xfrm>
          <a:prstGeom prst="rect">
            <a:avLst/>
          </a:prstGeom>
        </p:spPr>
      </p:pic>
      <p:sp>
        <p:nvSpPr>
          <p:cNvPr id="35" name="圆角矩形 34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什么是存储器？</a:t>
            </a:r>
            <a:endParaRPr kumimoji="1"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67428" name="Rectangle 4"/>
          <p:cNvSpPr>
            <a:spLocks noChangeArrowheads="1"/>
          </p:cNvSpPr>
          <p:nvPr/>
        </p:nvSpPr>
        <p:spPr bwMode="auto">
          <a:xfrm>
            <a:off x="6565900" y="2581276"/>
            <a:ext cx="430470" cy="2022474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7429" name="Rectangle 5"/>
          <p:cNvSpPr>
            <a:spLocks noChangeArrowheads="1"/>
          </p:cNvSpPr>
          <p:nvPr/>
        </p:nvSpPr>
        <p:spPr bwMode="auto">
          <a:xfrm>
            <a:off x="7755828" y="4833620"/>
            <a:ext cx="1807271" cy="31496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存储器的基本概念</a:t>
            </a:r>
          </a:p>
        </p:txBody>
      </p:sp>
      <p:sp>
        <p:nvSpPr>
          <p:cNvPr id="3" name="矩形 2"/>
          <p:cNvSpPr/>
          <p:nvPr/>
        </p:nvSpPr>
        <p:spPr>
          <a:xfrm>
            <a:off x="707570" y="2376820"/>
            <a:ext cx="378823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能够按地址读或写每一个存储单元的部件。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地址：是一个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0/1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编码，每一个编码指向一个存储单元，通常记为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aseline="-25000" dirty="0" err="1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存储单元：一个存储单位可以保存一个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位的数据，通常记为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baseline="-25000" dirty="0" err="1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baseline="-25000" dirty="0" err="1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对比宿舍楼，理解存储器的相关概念</a:t>
            </a:r>
            <a:endParaRPr kumimoji="1"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767431" name="Group 7"/>
          <p:cNvGraphicFramePr>
            <a:graphicFrameLocks noGrp="1"/>
          </p:cNvGraphicFramePr>
          <p:nvPr>
            <p:ph/>
          </p:nvPr>
        </p:nvGraphicFramePr>
        <p:xfrm>
          <a:off x="1001713" y="2510790"/>
          <a:ext cx="3365500" cy="2164080"/>
        </p:xfrm>
        <a:graphic>
          <a:graphicData uri="http://schemas.openxmlformats.org/drawingml/2006/table">
            <a:tbl>
              <a:tblPr/>
              <a:tblGrid>
                <a:gridCol w="1684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1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    存储器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E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    宿舍楼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存储单元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房间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存储位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存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或存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床位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住人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/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不住人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地址编码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n-1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…A</a:t>
                      </a:r>
                      <a:r>
                        <a:rPr kumimoji="1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房间号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单元控制线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1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房间钥匙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输出缓冲器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公共的走廊及大门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… 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67457" name="Rectangle 33"/>
          <p:cNvSpPr>
            <a:spLocks noChangeArrowheads="1"/>
          </p:cNvSpPr>
          <p:nvPr/>
        </p:nvSpPr>
        <p:spPr bwMode="auto">
          <a:xfrm>
            <a:off x="974726" y="2004378"/>
            <a:ext cx="172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2"/>
                </a:solidFill>
                <a:latin typeface="Times New Roman" panose="02020503050405090304" pitchFamily="18" charset="0"/>
              </a:rPr>
              <a:t>概念映射</a:t>
            </a:r>
          </a:p>
        </p:txBody>
      </p:sp>
      <p:sp>
        <p:nvSpPr>
          <p:cNvPr id="1767458" name="Text Box 34"/>
          <p:cNvSpPr txBox="1">
            <a:spLocks noChangeArrowheads="1"/>
          </p:cNvSpPr>
          <p:nvPr/>
        </p:nvSpPr>
        <p:spPr bwMode="auto">
          <a:xfrm>
            <a:off x="952185" y="4888866"/>
            <a:ext cx="3616325" cy="783193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zh-CN" altLang="en-US">
                <a:solidFill>
                  <a:srgbClr val="FFFFEF"/>
                </a:solidFill>
              </a:rPr>
              <a:t>从存储器与宿舍楼的概念对比中，你能发现什么异同吗？</a:t>
            </a:r>
            <a:endParaRPr lang="en-US" altLang="zh-CN">
              <a:solidFill>
                <a:srgbClr val="FFFFEF"/>
              </a:solidFill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自动存取：存储器的工作原理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79652" y="2382714"/>
            <a:ext cx="6501711" cy="364978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7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7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67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67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67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67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7457" grpId="0"/>
      <p:bldP spid="176745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圆角矩形 24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存储器的容量</a:t>
            </a:r>
          </a:p>
        </p:txBody>
      </p:sp>
      <p:grpSp>
        <p:nvGrpSpPr>
          <p:cNvPr id="12" name="Group 2"/>
          <p:cNvGrpSpPr/>
          <p:nvPr/>
        </p:nvGrpSpPr>
        <p:grpSpPr bwMode="auto">
          <a:xfrm>
            <a:off x="9663253" y="4330934"/>
            <a:ext cx="1981200" cy="1466850"/>
            <a:chOff x="3851" y="962"/>
            <a:chExt cx="1248" cy="924"/>
          </a:xfrm>
        </p:grpSpPr>
        <p:sp>
          <p:nvSpPr>
            <p:cNvPr id="2" name="AutoShape 39"/>
            <p:cNvSpPr>
              <a:spLocks noChangeArrowheads="1"/>
            </p:cNvSpPr>
            <p:nvPr/>
          </p:nvSpPr>
          <p:spPr bwMode="gray">
            <a:xfrm>
              <a:off x="3851" y="962"/>
              <a:ext cx="1215" cy="924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" name="Oval 40"/>
            <p:cNvSpPr>
              <a:spLocks noChangeArrowheads="1"/>
            </p:cNvSpPr>
            <p:nvPr/>
          </p:nvSpPr>
          <p:spPr bwMode="gray">
            <a:xfrm>
              <a:off x="3951" y="1031"/>
              <a:ext cx="1015" cy="771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" name="Text Box 84"/>
            <p:cNvSpPr txBox="1">
              <a:spLocks noChangeArrowheads="1"/>
            </p:cNvSpPr>
            <p:nvPr/>
          </p:nvSpPr>
          <p:spPr bwMode="auto">
            <a:xfrm>
              <a:off x="3852" y="1120"/>
              <a:ext cx="1247" cy="51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en-US" sz="28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存储单元</a:t>
              </a:r>
            </a:p>
            <a:p>
              <a:pPr algn="ctr" eaLnBrk="1" hangingPunct="1"/>
              <a:r>
                <a:rPr kumimoji="0" lang="en-US" altLang="zh-CN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(</a:t>
              </a: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的内容</a:t>
              </a:r>
              <a:r>
                <a:rPr kumimoji="0" lang="en-US" altLang="zh-CN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)</a:t>
              </a:r>
              <a:endParaRPr kumimoji="0" lang="en-US" altLang="zh-CN" sz="2000">
                <a:solidFill>
                  <a:srgbClr val="FFFFFF"/>
                </a:solidFill>
                <a:ea typeface="华文中宋" panose="02010600040101010101" pitchFamily="2" charset="-122"/>
              </a:endParaRPr>
            </a:p>
          </p:txBody>
        </p:sp>
      </p:grpSp>
      <p:grpSp>
        <p:nvGrpSpPr>
          <p:cNvPr id="22" name="Group 6"/>
          <p:cNvGrpSpPr/>
          <p:nvPr/>
        </p:nvGrpSpPr>
        <p:grpSpPr bwMode="auto">
          <a:xfrm>
            <a:off x="6391416" y="4330934"/>
            <a:ext cx="1981200" cy="1466850"/>
            <a:chOff x="1147" y="2134"/>
            <a:chExt cx="1248" cy="924"/>
          </a:xfrm>
        </p:grpSpPr>
        <p:sp>
          <p:nvSpPr>
            <p:cNvPr id="14" name="AutoShape 39"/>
            <p:cNvSpPr>
              <a:spLocks noChangeArrowheads="1"/>
            </p:cNvSpPr>
            <p:nvPr/>
          </p:nvSpPr>
          <p:spPr bwMode="gray">
            <a:xfrm>
              <a:off x="1147" y="2134"/>
              <a:ext cx="1215" cy="924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5" name="Oval 40"/>
            <p:cNvSpPr>
              <a:spLocks noChangeArrowheads="1"/>
            </p:cNvSpPr>
            <p:nvPr/>
          </p:nvSpPr>
          <p:spPr bwMode="gray">
            <a:xfrm>
              <a:off x="1247" y="2210"/>
              <a:ext cx="1015" cy="771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" name="Text Box 84"/>
            <p:cNvSpPr txBox="1">
              <a:spLocks noChangeArrowheads="1"/>
            </p:cNvSpPr>
            <p:nvPr/>
          </p:nvSpPr>
          <p:spPr bwMode="auto">
            <a:xfrm>
              <a:off x="1148" y="2298"/>
              <a:ext cx="1247" cy="5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2000">
                  <a:solidFill>
                    <a:srgbClr val="FFFFFF"/>
                  </a:solidFill>
                  <a:ea typeface="华文中宋" panose="02010600040101010101" pitchFamily="2" charset="-122"/>
                </a:rPr>
                <a:t>(</a:t>
              </a:r>
              <a:r>
                <a:rPr kumimoji="0" lang="zh-CN" altLang="en-US" sz="2000">
                  <a:solidFill>
                    <a:srgbClr val="FFFFFF"/>
                  </a:solidFill>
                  <a:ea typeface="华文中宋" panose="02010600040101010101" pitchFamily="2" charset="-122"/>
                </a:rPr>
                <a:t>存储单元的</a:t>
              </a:r>
              <a:r>
                <a:rPr kumimoji="0" lang="en-US" altLang="zh-CN" sz="2000">
                  <a:solidFill>
                    <a:srgbClr val="FFFFFF"/>
                  </a:solidFill>
                  <a:ea typeface="华文中宋" panose="02010600040101010101" pitchFamily="2" charset="-122"/>
                </a:rPr>
                <a:t>)</a:t>
              </a:r>
              <a:r>
                <a:rPr kumimoji="0" lang="zh-CN" altLang="en-US" sz="3200">
                  <a:solidFill>
                    <a:srgbClr val="FFFFFF"/>
                  </a:solidFill>
                  <a:ea typeface="华文中宋" panose="02010600040101010101" pitchFamily="2" charset="-122"/>
                </a:rPr>
                <a:t>地址</a:t>
              </a:r>
            </a:p>
          </p:txBody>
        </p:sp>
      </p:grpSp>
      <p:grpSp>
        <p:nvGrpSpPr>
          <p:cNvPr id="23" name="Group 10"/>
          <p:cNvGrpSpPr/>
          <p:nvPr/>
        </p:nvGrpSpPr>
        <p:grpSpPr bwMode="auto">
          <a:xfrm>
            <a:off x="6689866" y="3380022"/>
            <a:ext cx="1331912" cy="976313"/>
            <a:chOff x="1317" y="843"/>
            <a:chExt cx="839" cy="615"/>
          </a:xfrm>
        </p:grpSpPr>
        <p:sp>
          <p:nvSpPr>
            <p:cNvPr id="6" name="AutoShape 39"/>
            <p:cNvSpPr>
              <a:spLocks noChangeArrowheads="1"/>
            </p:cNvSpPr>
            <p:nvPr/>
          </p:nvSpPr>
          <p:spPr bwMode="gray">
            <a:xfrm>
              <a:off x="1317" y="843"/>
              <a:ext cx="839" cy="61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" name="Oval 40"/>
            <p:cNvSpPr>
              <a:spLocks noChangeArrowheads="1"/>
            </p:cNvSpPr>
            <p:nvPr/>
          </p:nvSpPr>
          <p:spPr bwMode="gray">
            <a:xfrm>
              <a:off x="1386" y="894"/>
              <a:ext cx="701" cy="513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" name="Text Box 84"/>
            <p:cNvSpPr txBox="1">
              <a:spLocks noChangeArrowheads="1"/>
            </p:cNvSpPr>
            <p:nvPr/>
          </p:nvSpPr>
          <p:spPr bwMode="auto">
            <a:xfrm>
              <a:off x="1389" y="892"/>
              <a:ext cx="694" cy="52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地址 空间</a:t>
              </a:r>
            </a:p>
          </p:txBody>
        </p:sp>
      </p:grpSp>
      <p:grpSp>
        <p:nvGrpSpPr>
          <p:cNvPr id="24" name="Group 14"/>
          <p:cNvGrpSpPr/>
          <p:nvPr/>
        </p:nvGrpSpPr>
        <p:grpSpPr bwMode="auto">
          <a:xfrm>
            <a:off x="9983929" y="3372084"/>
            <a:ext cx="1331913" cy="977900"/>
            <a:chOff x="2766" y="760"/>
            <a:chExt cx="839" cy="616"/>
          </a:xfrm>
        </p:grpSpPr>
        <p:sp>
          <p:nvSpPr>
            <p:cNvPr id="9" name="AutoShape 39"/>
            <p:cNvSpPr>
              <a:spLocks noChangeArrowheads="1"/>
            </p:cNvSpPr>
            <p:nvPr/>
          </p:nvSpPr>
          <p:spPr bwMode="gray">
            <a:xfrm>
              <a:off x="2766" y="760"/>
              <a:ext cx="839" cy="616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" name="Oval 40"/>
            <p:cNvSpPr>
              <a:spLocks noChangeArrowheads="1"/>
            </p:cNvSpPr>
            <p:nvPr/>
          </p:nvSpPr>
          <p:spPr bwMode="gray">
            <a:xfrm>
              <a:off x="2835" y="811"/>
              <a:ext cx="701" cy="514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1" name="Text Box 84"/>
            <p:cNvSpPr txBox="1">
              <a:spLocks noChangeArrowheads="1"/>
            </p:cNvSpPr>
            <p:nvPr/>
          </p:nvSpPr>
          <p:spPr bwMode="auto">
            <a:xfrm>
              <a:off x="2838" y="810"/>
              <a:ext cx="694" cy="52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存储 字长</a:t>
              </a:r>
            </a:p>
          </p:txBody>
        </p:sp>
      </p:grpSp>
      <p:grpSp>
        <p:nvGrpSpPr>
          <p:cNvPr id="26" name="Group 19"/>
          <p:cNvGrpSpPr/>
          <p:nvPr/>
        </p:nvGrpSpPr>
        <p:grpSpPr bwMode="auto">
          <a:xfrm>
            <a:off x="8294829" y="1967147"/>
            <a:ext cx="1331913" cy="976313"/>
            <a:chOff x="1317" y="843"/>
            <a:chExt cx="839" cy="615"/>
          </a:xfrm>
        </p:grpSpPr>
        <p:sp>
          <p:nvSpPr>
            <p:cNvPr id="20" name="AutoShape 39"/>
            <p:cNvSpPr>
              <a:spLocks noChangeArrowheads="1"/>
            </p:cNvSpPr>
            <p:nvPr/>
          </p:nvSpPr>
          <p:spPr bwMode="gray">
            <a:xfrm>
              <a:off x="1317" y="843"/>
              <a:ext cx="839" cy="61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gray">
            <a:xfrm>
              <a:off x="1386" y="894"/>
              <a:ext cx="701" cy="513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84"/>
            <p:cNvSpPr txBox="1">
              <a:spLocks noChangeArrowheads="1"/>
            </p:cNvSpPr>
            <p:nvPr/>
          </p:nvSpPr>
          <p:spPr bwMode="auto">
            <a:xfrm>
              <a:off x="1389" y="892"/>
              <a:ext cx="694" cy="52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存储 容量</a:t>
              </a:r>
            </a:p>
          </p:txBody>
        </p:sp>
      </p:grpSp>
      <p:sp>
        <p:nvSpPr>
          <p:cNvPr id="1774615" name="AutoShape 23"/>
          <p:cNvSpPr/>
          <p:nvPr/>
        </p:nvSpPr>
        <p:spPr bwMode="auto">
          <a:xfrm rot="5400000">
            <a:off x="8817910" y="1815540"/>
            <a:ext cx="304800" cy="2665413"/>
          </a:xfrm>
          <a:prstGeom prst="leftBrace">
            <a:avLst>
              <a:gd name="adj1" fmla="val 7287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4616" name="Line 24"/>
          <p:cNvSpPr>
            <a:spLocks noChangeShapeType="1"/>
          </p:cNvSpPr>
          <p:nvPr/>
        </p:nvSpPr>
        <p:spPr bwMode="auto">
          <a:xfrm>
            <a:off x="8310704" y="5078646"/>
            <a:ext cx="1350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存储器的基本概念</a:t>
            </a:r>
          </a:p>
        </p:txBody>
      </p:sp>
      <p:sp>
        <p:nvSpPr>
          <p:cNvPr id="13" name="矩形 12"/>
          <p:cNvSpPr/>
          <p:nvPr/>
        </p:nvSpPr>
        <p:spPr>
          <a:xfrm>
            <a:off x="721195" y="1860288"/>
            <a:ext cx="4172937" cy="40421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地址编码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位： 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aseline="-250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地址空间：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8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00000000…00000000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00000000…00000001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… …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11111111…11111111</a:t>
            </a:r>
          </a:p>
          <a:p>
            <a:pPr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存储字长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位：</a:t>
            </a:r>
            <a:r>
              <a:rPr lang="en-US" altLang="zh-CN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baseline="-250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baseline="-250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8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每个存储单元都是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endParaRPr lang="en-US" altLang="zh-CN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存储容量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aseline="30000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 m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Bit(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= </a:t>
            </a:r>
            <a:r>
              <a:rPr lang="en-US" altLang="zh-CN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aseline="30000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 m/8 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Byte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（字节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存储容量的单位：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为换算单位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右大括号 16"/>
          <p:cNvSpPr/>
          <p:nvPr/>
        </p:nvSpPr>
        <p:spPr bwMode="auto">
          <a:xfrm>
            <a:off x="4166550" y="2638313"/>
            <a:ext cx="251460" cy="1405731"/>
          </a:xfrm>
          <a:prstGeom prst="rightBrace">
            <a:avLst>
              <a:gd name="adj1" fmla="val 10530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18010" y="3126470"/>
            <a:ext cx="17219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2</a:t>
            </a:r>
            <a:r>
              <a:rPr lang="en-US" altLang="zh-CN" baseline="30000" dirty="0" err="1"/>
              <a:t>n</a:t>
            </a:r>
            <a:r>
              <a:rPr lang="zh-CN" altLang="en-US" dirty="0"/>
              <a:t>个存储单元</a:t>
            </a:r>
          </a:p>
        </p:txBody>
      </p:sp>
      <p:sp>
        <p:nvSpPr>
          <p:cNvPr id="19" name="矩形 18"/>
          <p:cNvSpPr/>
          <p:nvPr/>
        </p:nvSpPr>
        <p:spPr>
          <a:xfrm>
            <a:off x="1774969" y="5872262"/>
            <a:ext cx="66815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KB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Byte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运算器的基本结构</a:t>
            </a: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2224089" y="1904152"/>
            <a:ext cx="4340225" cy="16843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Freeform 4"/>
          <p:cNvSpPr/>
          <p:nvPr/>
        </p:nvSpPr>
        <p:spPr bwMode="auto">
          <a:xfrm>
            <a:off x="3633788" y="2401041"/>
            <a:ext cx="914400" cy="307975"/>
          </a:xfrm>
          <a:custGeom>
            <a:avLst/>
            <a:gdLst>
              <a:gd name="T0" fmla="*/ 599 w 599"/>
              <a:gd name="T1" fmla="*/ 176 h 179"/>
              <a:gd name="T2" fmla="*/ 248 w 599"/>
              <a:gd name="T3" fmla="*/ 179 h 179"/>
              <a:gd name="T4" fmla="*/ 248 w 599"/>
              <a:gd name="T5" fmla="*/ 2 h 179"/>
              <a:gd name="T6" fmla="*/ 0 w 599"/>
              <a:gd name="T7" fmla="*/ 0 h 179"/>
              <a:gd name="T8" fmla="*/ 0 w 599"/>
              <a:gd name="T9" fmla="*/ 146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9" h="179">
                <a:moveTo>
                  <a:pt x="599" y="176"/>
                </a:moveTo>
                <a:lnTo>
                  <a:pt x="248" y="179"/>
                </a:lnTo>
                <a:lnTo>
                  <a:pt x="248" y="2"/>
                </a:lnTo>
                <a:lnTo>
                  <a:pt x="0" y="0"/>
                </a:lnTo>
                <a:lnTo>
                  <a:pt x="0" y="146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4873626" y="1900977"/>
            <a:ext cx="1331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r>
              <a:rPr kumimoji="0" lang="en-US" altLang="zh-CN" sz="1400">
                <a:solidFill>
                  <a:srgbClr val="FF0000"/>
                </a:solidFill>
              </a:rPr>
              <a:t>(</a:t>
            </a:r>
            <a:r>
              <a:rPr kumimoji="0" lang="zh-CN" altLang="en-US" sz="1400">
                <a:solidFill>
                  <a:srgbClr val="FF0000"/>
                </a:solidFill>
              </a:rPr>
              <a:t>数据</a:t>
            </a:r>
            <a:r>
              <a:rPr kumimoji="0" lang="en-US" altLang="zh-CN" sz="1400">
                <a:solidFill>
                  <a:srgbClr val="FF0000"/>
                </a:solidFill>
              </a:rPr>
              <a:t>)</a:t>
            </a:r>
            <a:r>
              <a:rPr kumimoji="0" lang="zh-CN" altLang="en-US" sz="1400">
                <a:solidFill>
                  <a:srgbClr val="FF0000"/>
                </a:solidFill>
              </a:rPr>
              <a:t>寄存器</a:t>
            </a: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4554539" y="2235941"/>
            <a:ext cx="1838325" cy="2809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  <a:endParaRPr kumimoji="0" lang="en-US" altLang="zh-CN" sz="1600" dirty="0"/>
          </a:p>
        </p:txBody>
      </p:sp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4554539" y="2561377"/>
            <a:ext cx="1838325" cy="280988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4554539" y="2886816"/>
            <a:ext cx="1838325" cy="2809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4554539" y="3213841"/>
            <a:ext cx="1838325" cy="28257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grpSp>
        <p:nvGrpSpPr>
          <p:cNvPr id="37" name="Group 10"/>
          <p:cNvGrpSpPr/>
          <p:nvPr/>
        </p:nvGrpSpPr>
        <p:grpSpPr bwMode="auto">
          <a:xfrm>
            <a:off x="2289175" y="2620116"/>
            <a:ext cx="1512888" cy="695325"/>
            <a:chOff x="2534" y="361"/>
            <a:chExt cx="953" cy="438"/>
          </a:xfrm>
        </p:grpSpPr>
        <p:sp>
          <p:nvSpPr>
            <p:cNvPr id="38" name="Freeform 11"/>
            <p:cNvSpPr/>
            <p:nvPr/>
          </p:nvSpPr>
          <p:spPr bwMode="auto">
            <a:xfrm>
              <a:off x="2534" y="361"/>
              <a:ext cx="953" cy="438"/>
            </a:xfrm>
            <a:custGeom>
              <a:avLst/>
              <a:gdLst>
                <a:gd name="T0" fmla="*/ 267 w 953"/>
                <a:gd name="T1" fmla="*/ 11 h 438"/>
                <a:gd name="T2" fmla="*/ 0 w 953"/>
                <a:gd name="T3" fmla="*/ 11 h 438"/>
                <a:gd name="T4" fmla="*/ 184 w 953"/>
                <a:gd name="T5" fmla="*/ 438 h 438"/>
                <a:gd name="T6" fmla="*/ 810 w 953"/>
                <a:gd name="T7" fmla="*/ 438 h 438"/>
                <a:gd name="T8" fmla="*/ 953 w 953"/>
                <a:gd name="T9" fmla="*/ 0 h 438"/>
                <a:gd name="T10" fmla="*/ 707 w 953"/>
                <a:gd name="T11" fmla="*/ 0 h 438"/>
                <a:gd name="T12" fmla="*/ 676 w 953"/>
                <a:gd name="T13" fmla="*/ 115 h 438"/>
                <a:gd name="T14" fmla="*/ 315 w 953"/>
                <a:gd name="T15" fmla="*/ 115 h 438"/>
                <a:gd name="T16" fmla="*/ 267 w 953"/>
                <a:gd name="T17" fmla="*/ 11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3" h="438">
                  <a:moveTo>
                    <a:pt x="267" y="11"/>
                  </a:moveTo>
                  <a:lnTo>
                    <a:pt x="0" y="11"/>
                  </a:lnTo>
                  <a:lnTo>
                    <a:pt x="184" y="438"/>
                  </a:lnTo>
                  <a:lnTo>
                    <a:pt x="810" y="438"/>
                  </a:lnTo>
                  <a:lnTo>
                    <a:pt x="953" y="0"/>
                  </a:lnTo>
                  <a:lnTo>
                    <a:pt x="707" y="0"/>
                  </a:lnTo>
                  <a:lnTo>
                    <a:pt x="676" y="115"/>
                  </a:lnTo>
                  <a:lnTo>
                    <a:pt x="315" y="115"/>
                  </a:lnTo>
                  <a:lnTo>
                    <a:pt x="267" y="1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2718" y="493"/>
              <a:ext cx="6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9" tIns="45716" rIns="91429" bIns="45716">
              <a:spAutoFit/>
            </a:bodyPr>
            <a:lstStyle/>
            <a:p>
              <a:r>
                <a:rPr kumimoji="0" lang="zh-CN" altLang="en-US" sz="1200" b="0"/>
                <a:t>算术、逻辑及移位运算</a:t>
              </a:r>
            </a:p>
          </p:txBody>
        </p:sp>
      </p:grpSp>
      <p:sp>
        <p:nvSpPr>
          <p:cNvPr id="40" name="Freeform 13"/>
          <p:cNvSpPr/>
          <p:nvPr/>
        </p:nvSpPr>
        <p:spPr bwMode="auto">
          <a:xfrm>
            <a:off x="3035300" y="2780453"/>
            <a:ext cx="1500188" cy="741363"/>
          </a:xfrm>
          <a:custGeom>
            <a:avLst/>
            <a:gdLst>
              <a:gd name="T0" fmla="*/ 1 w 945"/>
              <a:gd name="T1" fmla="*/ 343 h 467"/>
              <a:gd name="T2" fmla="*/ 0 w 945"/>
              <a:gd name="T3" fmla="*/ 467 h 467"/>
              <a:gd name="T4" fmla="*/ 607 w 945"/>
              <a:gd name="T5" fmla="*/ 467 h 467"/>
              <a:gd name="T6" fmla="*/ 607 w 945"/>
              <a:gd name="T7" fmla="*/ 0 h 467"/>
              <a:gd name="T8" fmla="*/ 945 w 945"/>
              <a:gd name="T9" fmla="*/ 0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5" h="467">
                <a:moveTo>
                  <a:pt x="1" y="343"/>
                </a:moveTo>
                <a:lnTo>
                  <a:pt x="0" y="467"/>
                </a:lnTo>
                <a:lnTo>
                  <a:pt x="607" y="467"/>
                </a:lnTo>
                <a:lnTo>
                  <a:pt x="607" y="0"/>
                </a:lnTo>
                <a:lnTo>
                  <a:pt x="945" y="0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4162425" y="2545503"/>
            <a:ext cx="433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800">
                <a:solidFill>
                  <a:srgbClr val="FF0066"/>
                </a:solidFill>
              </a:rPr>
              <a:t>R</a:t>
            </a:r>
            <a:r>
              <a:rPr kumimoji="0" lang="en-US" altLang="zh-CN" sz="1800" baseline="-25000">
                <a:solidFill>
                  <a:srgbClr val="FF0066"/>
                </a:solidFill>
              </a:rPr>
              <a:t>0</a:t>
            </a:r>
          </a:p>
        </p:txBody>
      </p:sp>
      <p:sp>
        <p:nvSpPr>
          <p:cNvPr id="42" name="Rectangle 15"/>
          <p:cNvSpPr>
            <a:spLocks noChangeArrowheads="1"/>
          </p:cNvSpPr>
          <p:nvPr/>
        </p:nvSpPr>
        <p:spPr bwMode="auto">
          <a:xfrm>
            <a:off x="4162425" y="2164503"/>
            <a:ext cx="433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800">
                <a:solidFill>
                  <a:srgbClr val="FF0066"/>
                </a:solidFill>
              </a:rPr>
              <a:t>R</a:t>
            </a:r>
            <a:r>
              <a:rPr kumimoji="0" lang="en-US" altLang="zh-CN" sz="1800" baseline="-25000">
                <a:solidFill>
                  <a:srgbClr val="FF0066"/>
                </a:solidFill>
              </a:rPr>
              <a:t>1</a:t>
            </a:r>
          </a:p>
        </p:txBody>
      </p:sp>
      <p:grpSp>
        <p:nvGrpSpPr>
          <p:cNvPr id="43" name="Group 16"/>
          <p:cNvGrpSpPr/>
          <p:nvPr/>
        </p:nvGrpSpPr>
        <p:grpSpPr bwMode="auto">
          <a:xfrm>
            <a:off x="2009776" y="1488227"/>
            <a:ext cx="1279525" cy="952500"/>
            <a:chOff x="1348" y="1728"/>
            <a:chExt cx="806" cy="600"/>
          </a:xfrm>
        </p:grpSpPr>
        <p:sp>
          <p:nvSpPr>
            <p:cNvPr id="44" name="AutoShape 39"/>
            <p:cNvSpPr>
              <a:spLocks noChangeArrowheads="1"/>
            </p:cNvSpPr>
            <p:nvPr/>
          </p:nvSpPr>
          <p:spPr bwMode="gray">
            <a:xfrm>
              <a:off x="1348" y="1728"/>
              <a:ext cx="806" cy="600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5" name="Oval 40"/>
            <p:cNvSpPr>
              <a:spLocks noChangeArrowheads="1"/>
            </p:cNvSpPr>
            <p:nvPr/>
          </p:nvSpPr>
          <p:spPr bwMode="gray">
            <a:xfrm>
              <a:off x="1415" y="1777"/>
              <a:ext cx="672" cy="502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6" name="Text Box 84"/>
            <p:cNvSpPr txBox="1">
              <a:spLocks noChangeArrowheads="1"/>
            </p:cNvSpPr>
            <p:nvPr/>
          </p:nvSpPr>
          <p:spPr bwMode="auto">
            <a:xfrm>
              <a:off x="1416" y="1903"/>
              <a:ext cx="667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运算器</a:t>
              </a:r>
              <a:endParaRPr kumimoji="0" lang="en-US" altLang="zh-CN" sz="2000">
                <a:solidFill>
                  <a:srgbClr val="FFFFFF"/>
                </a:solidFill>
                <a:latin typeface="宋体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47" name="Freeform 20"/>
          <p:cNvSpPr/>
          <p:nvPr/>
        </p:nvSpPr>
        <p:spPr bwMode="auto">
          <a:xfrm>
            <a:off x="2571750" y="2339127"/>
            <a:ext cx="1963738" cy="317500"/>
          </a:xfrm>
          <a:custGeom>
            <a:avLst/>
            <a:gdLst>
              <a:gd name="T0" fmla="*/ 1237 w 1237"/>
              <a:gd name="T1" fmla="*/ 0 h 130"/>
              <a:gd name="T2" fmla="*/ 1191 w 1237"/>
              <a:gd name="T3" fmla="*/ 0 h 130"/>
              <a:gd name="T4" fmla="*/ 0 w 1237"/>
              <a:gd name="T5" fmla="*/ 0 h 130"/>
              <a:gd name="T6" fmla="*/ 0 w 1237"/>
              <a:gd name="T7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7" h="130">
                <a:moveTo>
                  <a:pt x="1237" y="0"/>
                </a:moveTo>
                <a:cubicBezTo>
                  <a:pt x="1222" y="0"/>
                  <a:pt x="1206" y="0"/>
                  <a:pt x="1191" y="0"/>
                </a:cubicBezTo>
                <a:lnTo>
                  <a:pt x="0" y="0"/>
                </a:lnTo>
                <a:lnTo>
                  <a:pt x="0" y="130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2133601" y="3815502"/>
            <a:ext cx="2315057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400"/>
              <a:t>(</a:t>
            </a:r>
            <a:r>
              <a:rPr lang="zh-CN" altLang="en-US" sz="2400"/>
              <a:t>数据</a:t>
            </a:r>
            <a:r>
              <a:rPr lang="en-US" altLang="zh-CN" sz="2400"/>
              <a:t>)</a:t>
            </a:r>
            <a:r>
              <a:rPr lang="zh-CN" altLang="en-US" sz="2400"/>
              <a:t>寄存器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/>
              <a:t>算术逻辑部件</a:t>
            </a:r>
          </a:p>
        </p:txBody>
      </p:sp>
      <p:sp>
        <p:nvSpPr>
          <p:cNvPr id="49" name="Text Box 22"/>
          <p:cNvSpPr txBox="1">
            <a:spLocks noChangeArrowheads="1"/>
          </p:cNvSpPr>
          <p:nvPr/>
        </p:nvSpPr>
        <p:spPr bwMode="auto">
          <a:xfrm>
            <a:off x="2184400" y="4999777"/>
            <a:ext cx="6483350" cy="1311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pPr>
              <a:spcBef>
                <a:spcPct val="30000"/>
              </a:spcBef>
            </a:pPr>
            <a:r>
              <a:rPr kumimoji="0" lang="en-US" altLang="zh-CN" sz="2400">
                <a:solidFill>
                  <a:schemeClr val="accent2"/>
                </a:solidFill>
              </a:rPr>
              <a:t>R</a:t>
            </a:r>
            <a:r>
              <a:rPr kumimoji="0" lang="en-US" altLang="zh-CN" sz="2400" baseline="-25000">
                <a:solidFill>
                  <a:schemeClr val="accent2"/>
                </a:solidFill>
              </a:rPr>
              <a:t>0 </a:t>
            </a:r>
            <a:r>
              <a:rPr kumimoji="0" lang="en-US" altLang="zh-CN" sz="2400">
                <a:solidFill>
                  <a:schemeClr val="accent2"/>
                </a:solidFill>
              </a:rPr>
              <a:t>= R</a:t>
            </a:r>
            <a:r>
              <a:rPr kumimoji="0" lang="en-US" altLang="zh-CN" sz="2400" baseline="-25000">
                <a:solidFill>
                  <a:schemeClr val="accent2"/>
                </a:solidFill>
              </a:rPr>
              <a:t>1</a:t>
            </a:r>
            <a:r>
              <a:rPr kumimoji="0" lang="en-US" altLang="zh-CN" sz="2400">
                <a:solidFill>
                  <a:schemeClr val="accent2"/>
                </a:solidFill>
              </a:rPr>
              <a:t>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</a:t>
            </a:r>
            <a:r>
              <a:rPr kumimoji="0" lang="en-US" altLang="zh-CN" sz="2400">
                <a:solidFill>
                  <a:schemeClr val="accent2"/>
                </a:solidFill>
              </a:rPr>
              <a:t> R</a:t>
            </a:r>
            <a:r>
              <a:rPr kumimoji="0" lang="en-US" altLang="zh-CN" sz="2400" baseline="-25000">
                <a:solidFill>
                  <a:schemeClr val="accent2"/>
                </a:solidFill>
              </a:rPr>
              <a:t>0 </a:t>
            </a:r>
          </a:p>
          <a:p>
            <a:pPr>
              <a:spcBef>
                <a:spcPct val="30000"/>
              </a:spcBef>
            </a:pPr>
            <a:r>
              <a:rPr kumimoji="0" lang="en-US" altLang="zh-CN" sz="2400">
                <a:solidFill>
                  <a:schemeClr val="accent2"/>
                </a:solidFill>
              </a:rPr>
              <a:t>(</a:t>
            </a:r>
            <a:r>
              <a:rPr kumimoji="0" lang="zh-CN" altLang="en-US" sz="2400">
                <a:solidFill>
                  <a:schemeClr val="accent2"/>
                </a:solidFill>
              </a:rPr>
              <a:t>赋值</a:t>
            </a:r>
            <a:r>
              <a:rPr kumimoji="0" lang="en-US" altLang="zh-CN" sz="2400">
                <a:solidFill>
                  <a:schemeClr val="accent2"/>
                </a:solidFill>
              </a:rPr>
              <a:t>, R</a:t>
            </a:r>
            <a:r>
              <a:rPr kumimoji="0" lang="en-US" altLang="zh-CN" sz="2400" baseline="-25000">
                <a:solidFill>
                  <a:schemeClr val="accent2"/>
                </a:solidFill>
              </a:rPr>
              <a:t>0</a:t>
            </a:r>
            <a:r>
              <a:rPr kumimoji="0" lang="zh-CN" altLang="en-US" sz="2400">
                <a:solidFill>
                  <a:schemeClr val="accent2"/>
                </a:solidFill>
              </a:rPr>
              <a:t>既是一个操作数，又保存运算结果</a:t>
            </a:r>
            <a:r>
              <a:rPr kumimoji="0" lang="en-US" altLang="zh-CN" sz="2400">
                <a:solidFill>
                  <a:schemeClr val="accent2"/>
                </a:solidFill>
              </a:rPr>
              <a:t>)</a:t>
            </a:r>
            <a:r>
              <a:rPr kumimoji="0" lang="zh-CN" altLang="en-US" sz="2400">
                <a:solidFill>
                  <a:schemeClr val="accent2"/>
                </a:solidFill>
              </a:rPr>
              <a:t>。其中</a:t>
            </a:r>
            <a:r>
              <a:rPr kumimoji="0" lang="zh-CN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为算术、逻辑及移位运算符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控制器的基本结构</a:t>
            </a: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2224089" y="1457115"/>
            <a:ext cx="4340225" cy="16843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2822575" y="3676441"/>
            <a:ext cx="3536950" cy="1452563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Freeform 4"/>
          <p:cNvSpPr/>
          <p:nvPr/>
        </p:nvSpPr>
        <p:spPr bwMode="auto">
          <a:xfrm>
            <a:off x="3633788" y="1954004"/>
            <a:ext cx="914400" cy="307975"/>
          </a:xfrm>
          <a:custGeom>
            <a:avLst/>
            <a:gdLst>
              <a:gd name="T0" fmla="*/ 599 w 599"/>
              <a:gd name="T1" fmla="*/ 176 h 179"/>
              <a:gd name="T2" fmla="*/ 248 w 599"/>
              <a:gd name="T3" fmla="*/ 179 h 179"/>
              <a:gd name="T4" fmla="*/ 248 w 599"/>
              <a:gd name="T5" fmla="*/ 2 h 179"/>
              <a:gd name="T6" fmla="*/ 0 w 599"/>
              <a:gd name="T7" fmla="*/ 0 h 179"/>
              <a:gd name="T8" fmla="*/ 0 w 599"/>
              <a:gd name="T9" fmla="*/ 146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9" h="179">
                <a:moveTo>
                  <a:pt x="599" y="176"/>
                </a:moveTo>
                <a:lnTo>
                  <a:pt x="248" y="179"/>
                </a:lnTo>
                <a:lnTo>
                  <a:pt x="248" y="2"/>
                </a:lnTo>
                <a:lnTo>
                  <a:pt x="0" y="0"/>
                </a:lnTo>
                <a:lnTo>
                  <a:pt x="0" y="146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922588" y="3798679"/>
            <a:ext cx="908050" cy="4667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pPr algn="ctr"/>
            <a:r>
              <a:rPr kumimoji="0" lang="zh-CN" altLang="en-US" sz="1200" b="0"/>
              <a:t>时钟与节拍发生器</a:t>
            </a: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2922588" y="4708316"/>
            <a:ext cx="908050" cy="2841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pPr algn="ctr"/>
            <a:r>
              <a:rPr kumimoji="0" lang="zh-CN" altLang="en-US" sz="1200" b="0"/>
              <a:t>信号控制</a:t>
            </a: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4424364" y="4041566"/>
            <a:ext cx="1781175" cy="28257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50" name="Rectangle 8"/>
          <p:cNvSpPr>
            <a:spLocks noChangeArrowheads="1"/>
          </p:cNvSpPr>
          <p:nvPr/>
        </p:nvSpPr>
        <p:spPr bwMode="auto">
          <a:xfrm>
            <a:off x="4383089" y="4733715"/>
            <a:ext cx="1830387" cy="279400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51" name="Rectangle 9"/>
          <p:cNvSpPr>
            <a:spLocks noChangeArrowheads="1"/>
          </p:cNvSpPr>
          <p:nvPr/>
        </p:nvSpPr>
        <p:spPr bwMode="auto">
          <a:xfrm>
            <a:off x="5237163" y="3747878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400">
                <a:solidFill>
                  <a:srgbClr val="FF0066"/>
                </a:solidFill>
              </a:rPr>
              <a:t>PC</a:t>
            </a:r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5237163" y="4441615"/>
            <a:ext cx="361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400">
                <a:solidFill>
                  <a:srgbClr val="FF0066"/>
                </a:solidFill>
              </a:rPr>
              <a:t>IR</a:t>
            </a:r>
          </a:p>
        </p:txBody>
      </p:sp>
      <p:sp>
        <p:nvSpPr>
          <p:cNvPr id="53" name="Rectangle 11"/>
          <p:cNvSpPr>
            <a:spLocks noChangeArrowheads="1"/>
          </p:cNvSpPr>
          <p:nvPr/>
        </p:nvSpPr>
        <p:spPr bwMode="auto">
          <a:xfrm>
            <a:off x="4554539" y="1788904"/>
            <a:ext cx="1838325" cy="2809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  <a:endParaRPr kumimoji="0" lang="en-US" altLang="zh-CN" sz="1600" dirty="0"/>
          </a:p>
        </p:txBody>
      </p:sp>
      <p:sp>
        <p:nvSpPr>
          <p:cNvPr id="54" name="Rectangle 12"/>
          <p:cNvSpPr>
            <a:spLocks noChangeArrowheads="1"/>
          </p:cNvSpPr>
          <p:nvPr/>
        </p:nvSpPr>
        <p:spPr bwMode="auto">
          <a:xfrm>
            <a:off x="4554539" y="2114340"/>
            <a:ext cx="1838325" cy="280988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55" name="Rectangle 13"/>
          <p:cNvSpPr>
            <a:spLocks noChangeArrowheads="1"/>
          </p:cNvSpPr>
          <p:nvPr/>
        </p:nvSpPr>
        <p:spPr bwMode="auto">
          <a:xfrm>
            <a:off x="4554539" y="2439779"/>
            <a:ext cx="1838325" cy="2809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4554539" y="2766804"/>
            <a:ext cx="1838325" cy="28257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57" name="Line 15"/>
          <p:cNvSpPr>
            <a:spLocks noChangeShapeType="1"/>
          </p:cNvSpPr>
          <p:nvPr/>
        </p:nvSpPr>
        <p:spPr bwMode="auto">
          <a:xfrm flipH="1" flipV="1">
            <a:off x="3838576" y="4848015"/>
            <a:ext cx="525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Line 16"/>
          <p:cNvSpPr>
            <a:spLocks noChangeShapeType="1"/>
          </p:cNvSpPr>
          <p:nvPr/>
        </p:nvSpPr>
        <p:spPr bwMode="auto">
          <a:xfrm>
            <a:off x="3376613" y="4333666"/>
            <a:ext cx="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9" name="Group 17"/>
          <p:cNvGrpSpPr/>
          <p:nvPr/>
        </p:nvGrpSpPr>
        <p:grpSpPr bwMode="auto">
          <a:xfrm>
            <a:off x="2289175" y="2173079"/>
            <a:ext cx="1512888" cy="695325"/>
            <a:chOff x="2534" y="361"/>
            <a:chExt cx="953" cy="438"/>
          </a:xfrm>
        </p:grpSpPr>
        <p:sp>
          <p:nvSpPr>
            <p:cNvPr id="60" name="Freeform 18"/>
            <p:cNvSpPr/>
            <p:nvPr/>
          </p:nvSpPr>
          <p:spPr bwMode="auto">
            <a:xfrm>
              <a:off x="2534" y="361"/>
              <a:ext cx="953" cy="438"/>
            </a:xfrm>
            <a:custGeom>
              <a:avLst/>
              <a:gdLst>
                <a:gd name="T0" fmla="*/ 267 w 953"/>
                <a:gd name="T1" fmla="*/ 11 h 438"/>
                <a:gd name="T2" fmla="*/ 0 w 953"/>
                <a:gd name="T3" fmla="*/ 11 h 438"/>
                <a:gd name="T4" fmla="*/ 184 w 953"/>
                <a:gd name="T5" fmla="*/ 438 h 438"/>
                <a:gd name="T6" fmla="*/ 810 w 953"/>
                <a:gd name="T7" fmla="*/ 438 h 438"/>
                <a:gd name="T8" fmla="*/ 953 w 953"/>
                <a:gd name="T9" fmla="*/ 0 h 438"/>
                <a:gd name="T10" fmla="*/ 707 w 953"/>
                <a:gd name="T11" fmla="*/ 0 h 438"/>
                <a:gd name="T12" fmla="*/ 676 w 953"/>
                <a:gd name="T13" fmla="*/ 115 h 438"/>
                <a:gd name="T14" fmla="*/ 315 w 953"/>
                <a:gd name="T15" fmla="*/ 115 h 438"/>
                <a:gd name="T16" fmla="*/ 267 w 953"/>
                <a:gd name="T17" fmla="*/ 11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3" h="438">
                  <a:moveTo>
                    <a:pt x="267" y="11"/>
                  </a:moveTo>
                  <a:lnTo>
                    <a:pt x="0" y="11"/>
                  </a:lnTo>
                  <a:lnTo>
                    <a:pt x="184" y="438"/>
                  </a:lnTo>
                  <a:lnTo>
                    <a:pt x="810" y="438"/>
                  </a:lnTo>
                  <a:lnTo>
                    <a:pt x="953" y="0"/>
                  </a:lnTo>
                  <a:lnTo>
                    <a:pt x="707" y="0"/>
                  </a:lnTo>
                  <a:lnTo>
                    <a:pt x="676" y="115"/>
                  </a:lnTo>
                  <a:lnTo>
                    <a:pt x="315" y="115"/>
                  </a:lnTo>
                  <a:lnTo>
                    <a:pt x="267" y="1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19"/>
            <p:cNvSpPr txBox="1">
              <a:spLocks noChangeArrowheads="1"/>
            </p:cNvSpPr>
            <p:nvPr/>
          </p:nvSpPr>
          <p:spPr bwMode="auto">
            <a:xfrm>
              <a:off x="2718" y="493"/>
              <a:ext cx="6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9" tIns="45716" rIns="91429" bIns="45716">
              <a:spAutoFit/>
            </a:bodyPr>
            <a:lstStyle/>
            <a:p>
              <a:r>
                <a:rPr kumimoji="0" lang="zh-CN" altLang="en-US" sz="1200" b="0"/>
                <a:t>算术、逻辑及移位运算</a:t>
              </a:r>
            </a:p>
          </p:txBody>
        </p:sp>
      </p:grpSp>
      <p:sp>
        <p:nvSpPr>
          <p:cNvPr id="62" name="Freeform 21"/>
          <p:cNvSpPr/>
          <p:nvPr/>
        </p:nvSpPr>
        <p:spPr bwMode="auto">
          <a:xfrm>
            <a:off x="3625851" y="4324141"/>
            <a:ext cx="1585913" cy="377825"/>
          </a:xfrm>
          <a:custGeom>
            <a:avLst/>
            <a:gdLst>
              <a:gd name="T0" fmla="*/ 0 w 998"/>
              <a:gd name="T1" fmla="*/ 238 h 238"/>
              <a:gd name="T2" fmla="*/ 0 w 998"/>
              <a:gd name="T3" fmla="*/ 107 h 238"/>
              <a:gd name="T4" fmla="*/ 998 w 998"/>
              <a:gd name="T5" fmla="*/ 107 h 238"/>
              <a:gd name="T6" fmla="*/ 998 w 998"/>
              <a:gd name="T7" fmla="*/ 0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98" h="238">
                <a:moveTo>
                  <a:pt x="0" y="238"/>
                </a:moveTo>
                <a:lnTo>
                  <a:pt x="0" y="107"/>
                </a:lnTo>
                <a:lnTo>
                  <a:pt x="998" y="107"/>
                </a:lnTo>
                <a:lnTo>
                  <a:pt x="998" y="0"/>
                </a:lnTo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22"/>
          <p:cNvSpPr/>
          <p:nvPr/>
        </p:nvSpPr>
        <p:spPr bwMode="auto">
          <a:xfrm>
            <a:off x="3035300" y="2333416"/>
            <a:ext cx="1500188" cy="741363"/>
          </a:xfrm>
          <a:custGeom>
            <a:avLst/>
            <a:gdLst>
              <a:gd name="T0" fmla="*/ 1 w 945"/>
              <a:gd name="T1" fmla="*/ 343 h 467"/>
              <a:gd name="T2" fmla="*/ 0 w 945"/>
              <a:gd name="T3" fmla="*/ 467 h 467"/>
              <a:gd name="T4" fmla="*/ 607 w 945"/>
              <a:gd name="T5" fmla="*/ 467 h 467"/>
              <a:gd name="T6" fmla="*/ 607 w 945"/>
              <a:gd name="T7" fmla="*/ 0 h 467"/>
              <a:gd name="T8" fmla="*/ 945 w 945"/>
              <a:gd name="T9" fmla="*/ 0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5" h="467">
                <a:moveTo>
                  <a:pt x="1" y="343"/>
                </a:moveTo>
                <a:lnTo>
                  <a:pt x="0" y="467"/>
                </a:lnTo>
                <a:lnTo>
                  <a:pt x="607" y="467"/>
                </a:lnTo>
                <a:lnTo>
                  <a:pt x="607" y="0"/>
                </a:lnTo>
                <a:lnTo>
                  <a:pt x="945" y="0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23"/>
          <p:cNvSpPr>
            <a:spLocks noChangeArrowheads="1"/>
          </p:cNvSpPr>
          <p:nvPr/>
        </p:nvSpPr>
        <p:spPr bwMode="auto">
          <a:xfrm>
            <a:off x="4162425" y="2098466"/>
            <a:ext cx="433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800">
                <a:solidFill>
                  <a:srgbClr val="FF0066"/>
                </a:solidFill>
              </a:rPr>
              <a:t>R</a:t>
            </a:r>
            <a:r>
              <a:rPr kumimoji="0" lang="en-US" altLang="zh-CN" sz="1800" baseline="-25000">
                <a:solidFill>
                  <a:srgbClr val="FF0066"/>
                </a:solidFill>
              </a:rPr>
              <a:t>0</a:t>
            </a:r>
          </a:p>
        </p:txBody>
      </p:sp>
      <p:sp>
        <p:nvSpPr>
          <p:cNvPr id="65" name="Rectangle 24"/>
          <p:cNvSpPr>
            <a:spLocks noChangeArrowheads="1"/>
          </p:cNvSpPr>
          <p:nvPr/>
        </p:nvSpPr>
        <p:spPr bwMode="auto">
          <a:xfrm>
            <a:off x="4162425" y="1717466"/>
            <a:ext cx="433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800">
                <a:solidFill>
                  <a:srgbClr val="FF0066"/>
                </a:solidFill>
              </a:rPr>
              <a:t>R</a:t>
            </a:r>
            <a:r>
              <a:rPr kumimoji="0" lang="en-US" altLang="zh-CN" sz="1800" baseline="-25000">
                <a:solidFill>
                  <a:srgbClr val="FF0066"/>
                </a:solidFill>
              </a:rPr>
              <a:t>1</a:t>
            </a:r>
          </a:p>
        </p:txBody>
      </p:sp>
      <p:grpSp>
        <p:nvGrpSpPr>
          <p:cNvPr id="66" name="Group 26"/>
          <p:cNvGrpSpPr/>
          <p:nvPr/>
        </p:nvGrpSpPr>
        <p:grpSpPr bwMode="auto">
          <a:xfrm>
            <a:off x="3676651" y="3184315"/>
            <a:ext cx="1279525" cy="952500"/>
            <a:chOff x="1348" y="1728"/>
            <a:chExt cx="806" cy="600"/>
          </a:xfrm>
        </p:grpSpPr>
        <p:sp>
          <p:nvSpPr>
            <p:cNvPr id="67" name="AutoShape 39"/>
            <p:cNvSpPr>
              <a:spLocks noChangeArrowheads="1"/>
            </p:cNvSpPr>
            <p:nvPr/>
          </p:nvSpPr>
          <p:spPr bwMode="gray">
            <a:xfrm>
              <a:off x="1348" y="1728"/>
              <a:ext cx="806" cy="600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8" name="Oval 40"/>
            <p:cNvSpPr>
              <a:spLocks noChangeArrowheads="1"/>
            </p:cNvSpPr>
            <p:nvPr/>
          </p:nvSpPr>
          <p:spPr bwMode="gray">
            <a:xfrm>
              <a:off x="1415" y="1777"/>
              <a:ext cx="672" cy="502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9" name="Text Box 84"/>
            <p:cNvSpPr txBox="1">
              <a:spLocks noChangeArrowheads="1"/>
            </p:cNvSpPr>
            <p:nvPr/>
          </p:nvSpPr>
          <p:spPr bwMode="auto">
            <a:xfrm>
              <a:off x="1416" y="1903"/>
              <a:ext cx="667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控制器</a:t>
              </a:r>
              <a:endParaRPr kumimoji="0" lang="en-US" altLang="zh-CN" sz="2000">
                <a:solidFill>
                  <a:srgbClr val="FFFFFF"/>
                </a:solidFill>
                <a:latin typeface="宋体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70" name="Group 30"/>
          <p:cNvGrpSpPr/>
          <p:nvPr/>
        </p:nvGrpSpPr>
        <p:grpSpPr bwMode="auto">
          <a:xfrm>
            <a:off x="2009776" y="1041190"/>
            <a:ext cx="1279525" cy="952500"/>
            <a:chOff x="1348" y="1728"/>
            <a:chExt cx="806" cy="600"/>
          </a:xfrm>
        </p:grpSpPr>
        <p:sp>
          <p:nvSpPr>
            <p:cNvPr id="71" name="AutoShape 39"/>
            <p:cNvSpPr>
              <a:spLocks noChangeArrowheads="1"/>
            </p:cNvSpPr>
            <p:nvPr/>
          </p:nvSpPr>
          <p:spPr bwMode="gray">
            <a:xfrm>
              <a:off x="1348" y="1728"/>
              <a:ext cx="806" cy="600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2" name="Oval 40"/>
            <p:cNvSpPr>
              <a:spLocks noChangeArrowheads="1"/>
            </p:cNvSpPr>
            <p:nvPr/>
          </p:nvSpPr>
          <p:spPr bwMode="gray">
            <a:xfrm>
              <a:off x="1415" y="1777"/>
              <a:ext cx="672" cy="502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3" name="Text Box 84"/>
            <p:cNvSpPr txBox="1">
              <a:spLocks noChangeArrowheads="1"/>
            </p:cNvSpPr>
            <p:nvPr/>
          </p:nvSpPr>
          <p:spPr bwMode="auto">
            <a:xfrm>
              <a:off x="1416" y="1903"/>
              <a:ext cx="667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运算器</a:t>
              </a:r>
              <a:endParaRPr kumimoji="0" lang="en-US" altLang="zh-CN" sz="2000">
                <a:solidFill>
                  <a:srgbClr val="FFFFFF"/>
                </a:solidFill>
                <a:latin typeface="宋体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74" name="Freeform 34"/>
          <p:cNvSpPr/>
          <p:nvPr/>
        </p:nvSpPr>
        <p:spPr bwMode="auto">
          <a:xfrm>
            <a:off x="2571750" y="1892090"/>
            <a:ext cx="1963738" cy="317500"/>
          </a:xfrm>
          <a:custGeom>
            <a:avLst/>
            <a:gdLst>
              <a:gd name="T0" fmla="*/ 1237 w 1237"/>
              <a:gd name="T1" fmla="*/ 0 h 130"/>
              <a:gd name="T2" fmla="*/ 1191 w 1237"/>
              <a:gd name="T3" fmla="*/ 0 h 130"/>
              <a:gd name="T4" fmla="*/ 0 w 1237"/>
              <a:gd name="T5" fmla="*/ 0 h 130"/>
              <a:gd name="T6" fmla="*/ 0 w 1237"/>
              <a:gd name="T7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7" h="130">
                <a:moveTo>
                  <a:pt x="1237" y="0"/>
                </a:moveTo>
                <a:cubicBezTo>
                  <a:pt x="1222" y="0"/>
                  <a:pt x="1206" y="0"/>
                  <a:pt x="1191" y="0"/>
                </a:cubicBezTo>
                <a:lnTo>
                  <a:pt x="0" y="0"/>
                </a:lnTo>
                <a:lnTo>
                  <a:pt x="0" y="130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Text Box 35"/>
          <p:cNvSpPr txBox="1">
            <a:spLocks noChangeArrowheads="1"/>
          </p:cNvSpPr>
          <p:nvPr/>
        </p:nvSpPr>
        <p:spPr bwMode="auto">
          <a:xfrm>
            <a:off x="4873626" y="1453940"/>
            <a:ext cx="1331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r>
              <a:rPr kumimoji="0" lang="en-US" altLang="zh-CN" sz="1400">
                <a:solidFill>
                  <a:srgbClr val="FF0000"/>
                </a:solidFill>
              </a:rPr>
              <a:t>(</a:t>
            </a:r>
            <a:r>
              <a:rPr kumimoji="0" lang="zh-CN" altLang="en-US" sz="1400">
                <a:solidFill>
                  <a:srgbClr val="FF0000"/>
                </a:solidFill>
              </a:rPr>
              <a:t>数据</a:t>
            </a:r>
            <a:r>
              <a:rPr kumimoji="0" lang="en-US" altLang="zh-CN" sz="1400">
                <a:solidFill>
                  <a:srgbClr val="FF0000"/>
                </a:solidFill>
              </a:rPr>
              <a:t>)</a:t>
            </a:r>
            <a:r>
              <a:rPr kumimoji="0" lang="zh-CN" altLang="en-US" sz="1400">
                <a:solidFill>
                  <a:srgbClr val="FF0000"/>
                </a:solidFill>
              </a:rPr>
              <a:t>寄存器</a:t>
            </a:r>
          </a:p>
        </p:txBody>
      </p:sp>
      <p:sp>
        <p:nvSpPr>
          <p:cNvPr id="76" name="Text Box 37"/>
          <p:cNvSpPr txBox="1">
            <a:spLocks noChangeArrowheads="1"/>
          </p:cNvSpPr>
          <p:nvPr/>
        </p:nvSpPr>
        <p:spPr bwMode="auto">
          <a:xfrm>
            <a:off x="7043793" y="3074779"/>
            <a:ext cx="2933816" cy="201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程序计数器</a:t>
            </a:r>
            <a:r>
              <a:rPr lang="en-US" altLang="zh-CN" sz="2400" dirty="0"/>
              <a:t>PC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指令寄存器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信号控制器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时钟与节拍发生器</a:t>
            </a:r>
          </a:p>
        </p:txBody>
      </p:sp>
      <p:sp>
        <p:nvSpPr>
          <p:cNvPr id="77" name="Text Box 39"/>
          <p:cNvSpPr txBox="1">
            <a:spLocks noChangeArrowheads="1"/>
          </p:cNvSpPr>
          <p:nvPr/>
        </p:nvSpPr>
        <p:spPr bwMode="auto">
          <a:xfrm>
            <a:off x="7043793" y="5112457"/>
            <a:ext cx="359092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pPr>
              <a:spcBef>
                <a:spcPct val="30000"/>
              </a:spcBef>
            </a:pPr>
            <a:r>
              <a:rPr kumimoji="0" lang="zh-CN" altLang="en-US" b="0" dirty="0"/>
              <a:t>注：</a:t>
            </a:r>
          </a:p>
          <a:p>
            <a:pPr>
              <a:spcBef>
                <a:spcPct val="30000"/>
              </a:spcBef>
            </a:pPr>
            <a:r>
              <a:rPr kumimoji="0" lang="en-US" altLang="zh-CN" b="0" dirty="0"/>
              <a:t>PC</a:t>
            </a:r>
            <a:r>
              <a:rPr kumimoji="0" lang="zh-CN" altLang="en-US" b="0" dirty="0"/>
              <a:t>：程序计数器</a:t>
            </a:r>
            <a:r>
              <a:rPr kumimoji="0" lang="en-US" altLang="zh-CN" b="0" dirty="0"/>
              <a:t>---</a:t>
            </a:r>
            <a:r>
              <a:rPr kumimoji="0" lang="zh-CN" altLang="en-US" b="0" dirty="0"/>
              <a:t>存储下一要执行指令的地址</a:t>
            </a:r>
          </a:p>
          <a:p>
            <a:pPr>
              <a:spcBef>
                <a:spcPct val="30000"/>
              </a:spcBef>
            </a:pPr>
            <a:r>
              <a:rPr kumimoji="0" lang="en-US" altLang="zh-CN" b="0" dirty="0"/>
              <a:t>IR</a:t>
            </a:r>
            <a:r>
              <a:rPr kumimoji="0" lang="zh-CN" altLang="en-US" b="0" dirty="0"/>
              <a:t>：指令寄存器</a:t>
            </a:r>
            <a:r>
              <a:rPr kumimoji="0" lang="en-US" altLang="zh-CN" b="0" dirty="0"/>
              <a:t>---</a:t>
            </a:r>
            <a:r>
              <a:rPr kumimoji="0" lang="zh-CN" altLang="en-US" b="0" dirty="0"/>
              <a:t>存储当前指令内容       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531" name="Rectangle 3"/>
          <p:cNvSpPr>
            <a:spLocks noChangeArrowheads="1"/>
          </p:cNvSpPr>
          <p:nvPr/>
        </p:nvSpPr>
        <p:spPr bwMode="auto">
          <a:xfrm>
            <a:off x="6877050" y="3081339"/>
            <a:ext cx="3449638" cy="372427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75551" y="3830638"/>
            <a:ext cx="2679698" cy="2922588"/>
          </a:xfrm>
          <a:prstGeom prst="rect">
            <a:avLst/>
          </a:prstGeom>
        </p:spPr>
      </p:pic>
      <p:sp>
        <p:nvSpPr>
          <p:cNvPr id="1814530" name="Rectangle 2"/>
          <p:cNvSpPr>
            <a:spLocks noChangeArrowheads="1"/>
          </p:cNvSpPr>
          <p:nvPr/>
        </p:nvSpPr>
        <p:spPr bwMode="auto">
          <a:xfrm>
            <a:off x="2224089" y="1104900"/>
            <a:ext cx="4340225" cy="16843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32" name="Rectangle 4"/>
          <p:cNvSpPr>
            <a:spLocks noChangeArrowheads="1"/>
          </p:cNvSpPr>
          <p:nvPr/>
        </p:nvSpPr>
        <p:spPr bwMode="auto">
          <a:xfrm>
            <a:off x="2822575" y="3324226"/>
            <a:ext cx="3536950" cy="1452563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33" name="Freeform 5"/>
          <p:cNvSpPr/>
          <p:nvPr/>
        </p:nvSpPr>
        <p:spPr bwMode="auto">
          <a:xfrm>
            <a:off x="3633788" y="1601789"/>
            <a:ext cx="914400" cy="307975"/>
          </a:xfrm>
          <a:custGeom>
            <a:avLst/>
            <a:gdLst>
              <a:gd name="T0" fmla="*/ 599 w 599"/>
              <a:gd name="T1" fmla="*/ 176 h 179"/>
              <a:gd name="T2" fmla="*/ 248 w 599"/>
              <a:gd name="T3" fmla="*/ 179 h 179"/>
              <a:gd name="T4" fmla="*/ 248 w 599"/>
              <a:gd name="T5" fmla="*/ 2 h 179"/>
              <a:gd name="T6" fmla="*/ 0 w 599"/>
              <a:gd name="T7" fmla="*/ 0 h 179"/>
              <a:gd name="T8" fmla="*/ 0 w 599"/>
              <a:gd name="T9" fmla="*/ 146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9" h="179">
                <a:moveTo>
                  <a:pt x="599" y="176"/>
                </a:moveTo>
                <a:lnTo>
                  <a:pt x="248" y="179"/>
                </a:lnTo>
                <a:lnTo>
                  <a:pt x="248" y="2"/>
                </a:lnTo>
                <a:lnTo>
                  <a:pt x="0" y="0"/>
                </a:lnTo>
                <a:lnTo>
                  <a:pt x="0" y="146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35" name="Text Box 7"/>
          <p:cNvSpPr txBox="1">
            <a:spLocks noChangeArrowheads="1"/>
          </p:cNvSpPr>
          <p:nvPr/>
        </p:nvSpPr>
        <p:spPr bwMode="auto">
          <a:xfrm>
            <a:off x="2922588" y="3446464"/>
            <a:ext cx="908050" cy="4667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时钟与节拍发生器</a:t>
            </a:r>
          </a:p>
        </p:txBody>
      </p:sp>
      <p:sp>
        <p:nvSpPr>
          <p:cNvPr id="1814536" name="Text Box 8"/>
          <p:cNvSpPr txBox="1">
            <a:spLocks noChangeArrowheads="1"/>
          </p:cNvSpPr>
          <p:nvPr/>
        </p:nvSpPr>
        <p:spPr bwMode="auto">
          <a:xfrm>
            <a:off x="2922588" y="4356101"/>
            <a:ext cx="908050" cy="2841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信号控制</a:t>
            </a:r>
          </a:p>
        </p:txBody>
      </p:sp>
      <p:sp>
        <p:nvSpPr>
          <p:cNvPr id="1814537" name="Rectangle 9"/>
          <p:cNvSpPr>
            <a:spLocks noChangeArrowheads="1"/>
          </p:cNvSpPr>
          <p:nvPr/>
        </p:nvSpPr>
        <p:spPr bwMode="auto">
          <a:xfrm>
            <a:off x="4424364" y="3689351"/>
            <a:ext cx="1781175" cy="28257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1814538" name="Rectangle 10"/>
          <p:cNvSpPr>
            <a:spLocks noChangeArrowheads="1"/>
          </p:cNvSpPr>
          <p:nvPr/>
        </p:nvSpPr>
        <p:spPr bwMode="auto">
          <a:xfrm>
            <a:off x="4383089" y="4381500"/>
            <a:ext cx="1830387" cy="279400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1814539" name="Rectangle 11"/>
          <p:cNvSpPr>
            <a:spLocks noChangeArrowheads="1"/>
          </p:cNvSpPr>
          <p:nvPr/>
        </p:nvSpPr>
        <p:spPr bwMode="auto">
          <a:xfrm>
            <a:off x="5237163" y="3395663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PC</a:t>
            </a:r>
          </a:p>
        </p:txBody>
      </p:sp>
      <p:sp>
        <p:nvSpPr>
          <p:cNvPr id="1814540" name="Rectangle 12"/>
          <p:cNvSpPr>
            <a:spLocks noChangeArrowheads="1"/>
          </p:cNvSpPr>
          <p:nvPr/>
        </p:nvSpPr>
        <p:spPr bwMode="auto">
          <a:xfrm>
            <a:off x="5237163" y="4089400"/>
            <a:ext cx="361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IR</a:t>
            </a:r>
          </a:p>
        </p:txBody>
      </p:sp>
      <p:sp>
        <p:nvSpPr>
          <p:cNvPr id="1814541" name="Rectangle 13"/>
          <p:cNvSpPr>
            <a:spLocks noChangeArrowheads="1"/>
          </p:cNvSpPr>
          <p:nvPr/>
        </p:nvSpPr>
        <p:spPr bwMode="auto">
          <a:xfrm>
            <a:off x="4554539" y="1436689"/>
            <a:ext cx="1838325" cy="2809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42" name="Rectangle 14"/>
          <p:cNvSpPr>
            <a:spLocks noChangeArrowheads="1"/>
          </p:cNvSpPr>
          <p:nvPr/>
        </p:nvSpPr>
        <p:spPr bwMode="auto">
          <a:xfrm>
            <a:off x="4554539" y="1762125"/>
            <a:ext cx="1838325" cy="280988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1814543" name="Rectangle 15"/>
          <p:cNvSpPr>
            <a:spLocks noChangeArrowheads="1"/>
          </p:cNvSpPr>
          <p:nvPr/>
        </p:nvSpPr>
        <p:spPr bwMode="auto">
          <a:xfrm>
            <a:off x="4554539" y="2087564"/>
            <a:ext cx="1838325" cy="2809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1814544" name="Rectangle 16"/>
          <p:cNvSpPr>
            <a:spLocks noChangeArrowheads="1"/>
          </p:cNvSpPr>
          <p:nvPr/>
        </p:nvSpPr>
        <p:spPr bwMode="auto">
          <a:xfrm>
            <a:off x="4554539" y="2414589"/>
            <a:ext cx="1838325" cy="28257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1814545" name="Rectangle 17"/>
          <p:cNvSpPr>
            <a:spLocks noChangeArrowheads="1"/>
          </p:cNvSpPr>
          <p:nvPr/>
        </p:nvSpPr>
        <p:spPr bwMode="auto">
          <a:xfrm>
            <a:off x="8773319" y="4071144"/>
            <a:ext cx="1462088" cy="2206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46" name="Line 18"/>
          <p:cNvSpPr>
            <a:spLocks noChangeShapeType="1"/>
          </p:cNvSpPr>
          <p:nvPr/>
        </p:nvSpPr>
        <p:spPr bwMode="auto">
          <a:xfrm flipH="1" flipV="1">
            <a:off x="3838576" y="4495800"/>
            <a:ext cx="525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47" name="Line 19"/>
          <p:cNvSpPr>
            <a:spLocks noChangeShapeType="1"/>
          </p:cNvSpPr>
          <p:nvPr/>
        </p:nvSpPr>
        <p:spPr bwMode="auto">
          <a:xfrm>
            <a:off x="3376613" y="3981451"/>
            <a:ext cx="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1814548" name="Group 20"/>
          <p:cNvGrpSpPr/>
          <p:nvPr/>
        </p:nvGrpSpPr>
        <p:grpSpPr bwMode="auto">
          <a:xfrm>
            <a:off x="2289175" y="1820864"/>
            <a:ext cx="1512888" cy="695325"/>
            <a:chOff x="2534" y="361"/>
            <a:chExt cx="953" cy="438"/>
          </a:xfrm>
        </p:grpSpPr>
        <p:sp>
          <p:nvSpPr>
            <p:cNvPr id="1814549" name="Freeform 21"/>
            <p:cNvSpPr/>
            <p:nvPr/>
          </p:nvSpPr>
          <p:spPr bwMode="auto">
            <a:xfrm>
              <a:off x="2534" y="361"/>
              <a:ext cx="953" cy="438"/>
            </a:xfrm>
            <a:custGeom>
              <a:avLst/>
              <a:gdLst>
                <a:gd name="T0" fmla="*/ 267 w 953"/>
                <a:gd name="T1" fmla="*/ 11 h 438"/>
                <a:gd name="T2" fmla="*/ 0 w 953"/>
                <a:gd name="T3" fmla="*/ 11 h 438"/>
                <a:gd name="T4" fmla="*/ 184 w 953"/>
                <a:gd name="T5" fmla="*/ 438 h 438"/>
                <a:gd name="T6" fmla="*/ 810 w 953"/>
                <a:gd name="T7" fmla="*/ 438 h 438"/>
                <a:gd name="T8" fmla="*/ 953 w 953"/>
                <a:gd name="T9" fmla="*/ 0 h 438"/>
                <a:gd name="T10" fmla="*/ 707 w 953"/>
                <a:gd name="T11" fmla="*/ 0 h 438"/>
                <a:gd name="T12" fmla="*/ 676 w 953"/>
                <a:gd name="T13" fmla="*/ 115 h 438"/>
                <a:gd name="T14" fmla="*/ 315 w 953"/>
                <a:gd name="T15" fmla="*/ 115 h 438"/>
                <a:gd name="T16" fmla="*/ 267 w 953"/>
                <a:gd name="T17" fmla="*/ 11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3" h="438">
                  <a:moveTo>
                    <a:pt x="267" y="11"/>
                  </a:moveTo>
                  <a:lnTo>
                    <a:pt x="0" y="11"/>
                  </a:lnTo>
                  <a:lnTo>
                    <a:pt x="184" y="438"/>
                  </a:lnTo>
                  <a:lnTo>
                    <a:pt x="810" y="438"/>
                  </a:lnTo>
                  <a:lnTo>
                    <a:pt x="953" y="0"/>
                  </a:lnTo>
                  <a:lnTo>
                    <a:pt x="707" y="0"/>
                  </a:lnTo>
                  <a:lnTo>
                    <a:pt x="676" y="115"/>
                  </a:lnTo>
                  <a:lnTo>
                    <a:pt x="315" y="115"/>
                  </a:lnTo>
                  <a:lnTo>
                    <a:pt x="267" y="1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14550" name="Text Box 22"/>
            <p:cNvSpPr txBox="1">
              <a:spLocks noChangeArrowheads="1"/>
            </p:cNvSpPr>
            <p:nvPr/>
          </p:nvSpPr>
          <p:spPr bwMode="auto">
            <a:xfrm>
              <a:off x="2718" y="493"/>
              <a:ext cx="6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9" tIns="45716" rIns="91429" bIns="45716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rPr>
                <a:t>算术、逻辑及移位运算</a:t>
              </a:r>
            </a:p>
          </p:txBody>
        </p:sp>
      </p:grpSp>
      <p:sp>
        <p:nvSpPr>
          <p:cNvPr id="1814552" name="Freeform 24"/>
          <p:cNvSpPr/>
          <p:nvPr/>
        </p:nvSpPr>
        <p:spPr bwMode="auto">
          <a:xfrm>
            <a:off x="3625851" y="3971926"/>
            <a:ext cx="1585913" cy="377825"/>
          </a:xfrm>
          <a:custGeom>
            <a:avLst/>
            <a:gdLst>
              <a:gd name="T0" fmla="*/ 0 w 998"/>
              <a:gd name="T1" fmla="*/ 238 h 238"/>
              <a:gd name="T2" fmla="*/ 0 w 998"/>
              <a:gd name="T3" fmla="*/ 107 h 238"/>
              <a:gd name="T4" fmla="*/ 998 w 998"/>
              <a:gd name="T5" fmla="*/ 107 h 238"/>
              <a:gd name="T6" fmla="*/ 998 w 998"/>
              <a:gd name="T7" fmla="*/ 0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98" h="238">
                <a:moveTo>
                  <a:pt x="0" y="238"/>
                </a:moveTo>
                <a:lnTo>
                  <a:pt x="0" y="107"/>
                </a:lnTo>
                <a:lnTo>
                  <a:pt x="998" y="107"/>
                </a:lnTo>
                <a:lnTo>
                  <a:pt x="998" y="0"/>
                </a:lnTo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53" name="Line 25"/>
          <p:cNvSpPr>
            <a:spLocks noChangeShapeType="1"/>
          </p:cNvSpPr>
          <p:nvPr/>
        </p:nvSpPr>
        <p:spPr bwMode="auto">
          <a:xfrm>
            <a:off x="7243764" y="4181475"/>
            <a:ext cx="3397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60" name="Line 32"/>
          <p:cNvSpPr>
            <a:spLocks noChangeShapeType="1"/>
          </p:cNvSpPr>
          <p:nvPr/>
        </p:nvSpPr>
        <p:spPr bwMode="auto">
          <a:xfrm flipV="1">
            <a:off x="9504363" y="3529013"/>
            <a:ext cx="3229" cy="555626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61" name="Rectangle 33"/>
          <p:cNvSpPr>
            <a:spLocks noChangeArrowheads="1"/>
          </p:cNvSpPr>
          <p:nvPr/>
        </p:nvSpPr>
        <p:spPr bwMode="auto">
          <a:xfrm>
            <a:off x="8505826" y="3224214"/>
            <a:ext cx="1781175" cy="28257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1814563" name="Rectangle 35"/>
          <p:cNvSpPr>
            <a:spLocks noChangeArrowheads="1"/>
          </p:cNvSpPr>
          <p:nvPr/>
        </p:nvSpPr>
        <p:spPr bwMode="auto">
          <a:xfrm>
            <a:off x="7004051" y="4084639"/>
            <a:ext cx="303213" cy="16906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91429" tIns="45716" rIns="91429" bIns="4571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</a:p>
        </p:txBody>
      </p:sp>
      <p:sp>
        <p:nvSpPr>
          <p:cNvPr id="1814565" name="Text Box 37"/>
          <p:cNvSpPr txBox="1">
            <a:spLocks noChangeArrowheads="1"/>
          </p:cNvSpPr>
          <p:nvPr/>
        </p:nvSpPr>
        <p:spPr bwMode="auto">
          <a:xfrm>
            <a:off x="6865938" y="5767388"/>
            <a:ext cx="539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地址</a:t>
            </a:r>
          </a:p>
        </p:txBody>
      </p:sp>
      <p:sp>
        <p:nvSpPr>
          <p:cNvPr id="1814566" name="Text Box 38"/>
          <p:cNvSpPr txBox="1">
            <a:spLocks noChangeArrowheads="1"/>
          </p:cNvSpPr>
          <p:nvPr/>
        </p:nvSpPr>
        <p:spPr bwMode="auto">
          <a:xfrm>
            <a:off x="7997825" y="3189288"/>
            <a:ext cx="539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内容</a:t>
            </a:r>
          </a:p>
        </p:txBody>
      </p:sp>
      <p:sp>
        <p:nvSpPr>
          <p:cNvPr id="1814568" name="Freeform 40"/>
          <p:cNvSpPr/>
          <p:nvPr/>
        </p:nvSpPr>
        <p:spPr bwMode="auto">
          <a:xfrm>
            <a:off x="3035300" y="1981201"/>
            <a:ext cx="1500188" cy="741363"/>
          </a:xfrm>
          <a:custGeom>
            <a:avLst/>
            <a:gdLst>
              <a:gd name="T0" fmla="*/ 1 w 945"/>
              <a:gd name="T1" fmla="*/ 343 h 467"/>
              <a:gd name="T2" fmla="*/ 0 w 945"/>
              <a:gd name="T3" fmla="*/ 467 h 467"/>
              <a:gd name="T4" fmla="*/ 607 w 945"/>
              <a:gd name="T5" fmla="*/ 467 h 467"/>
              <a:gd name="T6" fmla="*/ 607 w 945"/>
              <a:gd name="T7" fmla="*/ 0 h 467"/>
              <a:gd name="T8" fmla="*/ 945 w 945"/>
              <a:gd name="T9" fmla="*/ 0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5" h="467">
                <a:moveTo>
                  <a:pt x="1" y="343"/>
                </a:moveTo>
                <a:lnTo>
                  <a:pt x="0" y="467"/>
                </a:lnTo>
                <a:lnTo>
                  <a:pt x="607" y="467"/>
                </a:lnTo>
                <a:lnTo>
                  <a:pt x="607" y="0"/>
                </a:lnTo>
                <a:lnTo>
                  <a:pt x="945" y="0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69" name="Rectangle 41"/>
          <p:cNvSpPr>
            <a:spLocks noChangeArrowheads="1"/>
          </p:cNvSpPr>
          <p:nvPr/>
        </p:nvSpPr>
        <p:spPr bwMode="auto">
          <a:xfrm>
            <a:off x="4162425" y="1746251"/>
            <a:ext cx="433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0</a:t>
            </a:r>
          </a:p>
        </p:txBody>
      </p:sp>
      <p:sp>
        <p:nvSpPr>
          <p:cNvPr id="1814570" name="Rectangle 42"/>
          <p:cNvSpPr>
            <a:spLocks noChangeArrowheads="1"/>
          </p:cNvSpPr>
          <p:nvPr/>
        </p:nvSpPr>
        <p:spPr bwMode="auto">
          <a:xfrm>
            <a:off x="4162425" y="1365251"/>
            <a:ext cx="433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1800" b="1" i="0" u="none" strike="noStrike" kern="1200" cap="none" spc="0" normalizeH="0" baseline="-25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1</a:t>
            </a:r>
          </a:p>
        </p:txBody>
      </p:sp>
      <p:grpSp>
        <p:nvGrpSpPr>
          <p:cNvPr id="1814574" name="Group 46"/>
          <p:cNvGrpSpPr/>
          <p:nvPr/>
        </p:nvGrpSpPr>
        <p:grpSpPr bwMode="auto">
          <a:xfrm>
            <a:off x="5740401" y="5688013"/>
            <a:ext cx="1279525" cy="952500"/>
            <a:chOff x="3254" y="3470"/>
            <a:chExt cx="848" cy="729"/>
          </a:xfrm>
        </p:grpSpPr>
        <p:sp>
          <p:nvSpPr>
            <p:cNvPr id="2" name="AutoShape 39"/>
            <p:cNvSpPr>
              <a:spLocks noChangeArrowheads="1"/>
            </p:cNvSpPr>
            <p:nvPr/>
          </p:nvSpPr>
          <p:spPr bwMode="gray">
            <a:xfrm>
              <a:off x="3254" y="3470"/>
              <a:ext cx="848" cy="72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  <p:sp>
          <p:nvSpPr>
            <p:cNvPr id="3" name="Oval 40"/>
            <p:cNvSpPr>
              <a:spLocks noChangeArrowheads="1"/>
            </p:cNvSpPr>
            <p:nvPr/>
          </p:nvSpPr>
          <p:spPr bwMode="gray">
            <a:xfrm>
              <a:off x="3324" y="3530"/>
              <a:ext cx="707" cy="610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  <p:sp>
          <p:nvSpPr>
            <p:cNvPr id="4" name="Text Box 84"/>
            <p:cNvSpPr txBox="1">
              <a:spLocks noChangeArrowheads="1"/>
            </p:cNvSpPr>
            <p:nvPr/>
          </p:nvSpPr>
          <p:spPr bwMode="auto">
            <a:xfrm>
              <a:off x="3326" y="3576"/>
              <a:ext cx="702" cy="53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itchFamily="2" charset="-122"/>
                  <a:ea typeface="华文中宋" panose="02010600040101010101" pitchFamily="2" charset="-122"/>
                  <a:cs typeface="+mn-cs"/>
                </a:rPr>
                <a:t>存储器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itchFamily="2" charset="-122"/>
                  <a:ea typeface="华文中宋" panose="02010600040101010101" pitchFamily="2" charset="-122"/>
                  <a:cs typeface="+mn-cs"/>
                </a:rPr>
                <a:t>(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itchFamily="2" charset="-122"/>
                  <a:ea typeface="华文中宋" panose="02010600040101010101" pitchFamily="2" charset="-122"/>
                  <a:cs typeface="+mn-cs"/>
                </a:rPr>
                <a:t>内存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itchFamily="2" charset="-122"/>
                  <a:ea typeface="华文中宋" panose="02010600040101010101" pitchFamily="2" charset="-122"/>
                  <a:cs typeface="+mn-cs"/>
                </a:rPr>
                <a:t>)</a:t>
              </a:r>
            </a:p>
          </p:txBody>
        </p:sp>
      </p:grpSp>
      <p:grpSp>
        <p:nvGrpSpPr>
          <p:cNvPr id="1814578" name="Group 50"/>
          <p:cNvGrpSpPr/>
          <p:nvPr/>
        </p:nvGrpSpPr>
        <p:grpSpPr bwMode="auto">
          <a:xfrm>
            <a:off x="3676651" y="2832100"/>
            <a:ext cx="1279525" cy="952500"/>
            <a:chOff x="1348" y="1728"/>
            <a:chExt cx="806" cy="600"/>
          </a:xfrm>
        </p:grpSpPr>
        <p:sp>
          <p:nvSpPr>
            <p:cNvPr id="5" name="AutoShape 39"/>
            <p:cNvSpPr>
              <a:spLocks noChangeArrowheads="1"/>
            </p:cNvSpPr>
            <p:nvPr/>
          </p:nvSpPr>
          <p:spPr bwMode="gray">
            <a:xfrm>
              <a:off x="1348" y="1728"/>
              <a:ext cx="806" cy="600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  <p:sp>
          <p:nvSpPr>
            <p:cNvPr id="6" name="Oval 40"/>
            <p:cNvSpPr>
              <a:spLocks noChangeArrowheads="1"/>
            </p:cNvSpPr>
            <p:nvPr/>
          </p:nvSpPr>
          <p:spPr bwMode="gray">
            <a:xfrm>
              <a:off x="1415" y="1777"/>
              <a:ext cx="672" cy="502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  <p:sp>
          <p:nvSpPr>
            <p:cNvPr id="7" name="Text Box 84"/>
            <p:cNvSpPr txBox="1">
              <a:spLocks noChangeArrowheads="1"/>
            </p:cNvSpPr>
            <p:nvPr/>
          </p:nvSpPr>
          <p:spPr bwMode="auto">
            <a:xfrm>
              <a:off x="1416" y="1903"/>
              <a:ext cx="667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itchFamily="2" charset="-122"/>
                  <a:ea typeface="华文中宋" panose="02010600040101010101" pitchFamily="2" charset="-122"/>
                  <a:cs typeface="+mn-cs"/>
                </a:rPr>
                <a:t>控制器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1814582" name="Group 54"/>
          <p:cNvGrpSpPr/>
          <p:nvPr/>
        </p:nvGrpSpPr>
        <p:grpSpPr bwMode="auto">
          <a:xfrm>
            <a:off x="2009776" y="688975"/>
            <a:ext cx="1279525" cy="952500"/>
            <a:chOff x="1348" y="1728"/>
            <a:chExt cx="806" cy="600"/>
          </a:xfrm>
        </p:grpSpPr>
        <p:sp>
          <p:nvSpPr>
            <p:cNvPr id="8" name="AutoShape 39"/>
            <p:cNvSpPr>
              <a:spLocks noChangeArrowheads="1"/>
            </p:cNvSpPr>
            <p:nvPr/>
          </p:nvSpPr>
          <p:spPr bwMode="gray">
            <a:xfrm>
              <a:off x="1348" y="1728"/>
              <a:ext cx="806" cy="600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  <p:sp>
          <p:nvSpPr>
            <p:cNvPr id="9" name="Oval 40"/>
            <p:cNvSpPr>
              <a:spLocks noChangeArrowheads="1"/>
            </p:cNvSpPr>
            <p:nvPr/>
          </p:nvSpPr>
          <p:spPr bwMode="gray">
            <a:xfrm>
              <a:off x="1415" y="1777"/>
              <a:ext cx="672" cy="502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  <p:sp>
          <p:nvSpPr>
            <p:cNvPr id="10" name="Text Box 84"/>
            <p:cNvSpPr txBox="1">
              <a:spLocks noChangeArrowheads="1"/>
            </p:cNvSpPr>
            <p:nvPr/>
          </p:nvSpPr>
          <p:spPr bwMode="auto">
            <a:xfrm>
              <a:off x="1416" y="1903"/>
              <a:ext cx="667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itchFamily="2" charset="-122"/>
                  <a:ea typeface="华文中宋" panose="02010600040101010101" pitchFamily="2" charset="-122"/>
                  <a:cs typeface="+mn-cs"/>
                </a:rPr>
                <a:t>运算器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sp>
        <p:nvSpPr>
          <p:cNvPr id="1814586" name="Freeform 58"/>
          <p:cNvSpPr/>
          <p:nvPr/>
        </p:nvSpPr>
        <p:spPr bwMode="auto">
          <a:xfrm>
            <a:off x="2571750" y="1539875"/>
            <a:ext cx="1963738" cy="317500"/>
          </a:xfrm>
          <a:custGeom>
            <a:avLst/>
            <a:gdLst>
              <a:gd name="T0" fmla="*/ 1237 w 1237"/>
              <a:gd name="T1" fmla="*/ 0 h 130"/>
              <a:gd name="T2" fmla="*/ 1191 w 1237"/>
              <a:gd name="T3" fmla="*/ 0 h 130"/>
              <a:gd name="T4" fmla="*/ 0 w 1237"/>
              <a:gd name="T5" fmla="*/ 0 h 130"/>
              <a:gd name="T6" fmla="*/ 0 w 1237"/>
              <a:gd name="T7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7" h="130">
                <a:moveTo>
                  <a:pt x="1237" y="0"/>
                </a:moveTo>
                <a:cubicBezTo>
                  <a:pt x="1222" y="0"/>
                  <a:pt x="1206" y="0"/>
                  <a:pt x="1191" y="0"/>
                </a:cubicBezTo>
                <a:lnTo>
                  <a:pt x="0" y="0"/>
                </a:lnTo>
                <a:lnTo>
                  <a:pt x="0" y="130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14587" name="Text Box 59"/>
          <p:cNvSpPr txBox="1">
            <a:spLocks noChangeArrowheads="1"/>
          </p:cNvSpPr>
          <p:nvPr/>
        </p:nvSpPr>
        <p:spPr bwMode="auto">
          <a:xfrm>
            <a:off x="4873626" y="1101725"/>
            <a:ext cx="1331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(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数据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)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寄存器</a:t>
            </a:r>
          </a:p>
        </p:txBody>
      </p:sp>
      <p:sp>
        <p:nvSpPr>
          <p:cNvPr id="1814588" name="Text Box 60"/>
          <p:cNvSpPr txBox="1">
            <a:spLocks noChangeArrowheads="1"/>
          </p:cNvSpPr>
          <p:nvPr/>
        </p:nvSpPr>
        <p:spPr bwMode="auto">
          <a:xfrm>
            <a:off x="3433764" y="5616575"/>
            <a:ext cx="2315057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存储单元地址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存储单元内容</a:t>
            </a:r>
          </a:p>
        </p:txBody>
      </p:sp>
      <p:sp>
        <p:nvSpPr>
          <p:cNvPr id="66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一台典型的计算机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531" name="Rectangle 3"/>
          <p:cNvSpPr>
            <a:spLocks noChangeArrowheads="1"/>
          </p:cNvSpPr>
          <p:nvPr/>
        </p:nvSpPr>
        <p:spPr bwMode="auto">
          <a:xfrm>
            <a:off x="6877050" y="3081339"/>
            <a:ext cx="3449638" cy="372427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58087" y="3833558"/>
            <a:ext cx="2679698" cy="2922588"/>
          </a:xfrm>
          <a:prstGeom prst="rect">
            <a:avLst/>
          </a:prstGeom>
        </p:spPr>
      </p:pic>
      <p:sp>
        <p:nvSpPr>
          <p:cNvPr id="1814530" name="Rectangle 2"/>
          <p:cNvSpPr>
            <a:spLocks noChangeArrowheads="1"/>
          </p:cNvSpPr>
          <p:nvPr/>
        </p:nvSpPr>
        <p:spPr bwMode="auto">
          <a:xfrm>
            <a:off x="2224089" y="1104900"/>
            <a:ext cx="4340225" cy="16843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4532" name="Rectangle 4"/>
          <p:cNvSpPr>
            <a:spLocks noChangeArrowheads="1"/>
          </p:cNvSpPr>
          <p:nvPr/>
        </p:nvSpPr>
        <p:spPr bwMode="auto">
          <a:xfrm>
            <a:off x="2822575" y="3324226"/>
            <a:ext cx="3536950" cy="1452563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4533" name="Freeform 5"/>
          <p:cNvSpPr/>
          <p:nvPr/>
        </p:nvSpPr>
        <p:spPr bwMode="auto">
          <a:xfrm>
            <a:off x="3633788" y="1601789"/>
            <a:ext cx="914400" cy="307975"/>
          </a:xfrm>
          <a:custGeom>
            <a:avLst/>
            <a:gdLst>
              <a:gd name="T0" fmla="*/ 599 w 599"/>
              <a:gd name="T1" fmla="*/ 176 h 179"/>
              <a:gd name="T2" fmla="*/ 248 w 599"/>
              <a:gd name="T3" fmla="*/ 179 h 179"/>
              <a:gd name="T4" fmla="*/ 248 w 599"/>
              <a:gd name="T5" fmla="*/ 2 h 179"/>
              <a:gd name="T6" fmla="*/ 0 w 599"/>
              <a:gd name="T7" fmla="*/ 0 h 179"/>
              <a:gd name="T8" fmla="*/ 0 w 599"/>
              <a:gd name="T9" fmla="*/ 146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9" h="179">
                <a:moveTo>
                  <a:pt x="599" y="176"/>
                </a:moveTo>
                <a:lnTo>
                  <a:pt x="248" y="179"/>
                </a:lnTo>
                <a:lnTo>
                  <a:pt x="248" y="2"/>
                </a:lnTo>
                <a:lnTo>
                  <a:pt x="0" y="0"/>
                </a:lnTo>
                <a:lnTo>
                  <a:pt x="0" y="146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35" name="Text Box 7"/>
          <p:cNvSpPr txBox="1">
            <a:spLocks noChangeArrowheads="1"/>
          </p:cNvSpPr>
          <p:nvPr/>
        </p:nvSpPr>
        <p:spPr bwMode="auto">
          <a:xfrm>
            <a:off x="2922588" y="3446464"/>
            <a:ext cx="908050" cy="4667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pPr algn="ctr"/>
            <a:r>
              <a:rPr kumimoji="0" lang="zh-CN" altLang="en-US" sz="1200" b="0"/>
              <a:t>时钟与节拍发生器</a:t>
            </a:r>
          </a:p>
        </p:txBody>
      </p:sp>
      <p:sp>
        <p:nvSpPr>
          <p:cNvPr id="1814536" name="Text Box 8"/>
          <p:cNvSpPr txBox="1">
            <a:spLocks noChangeArrowheads="1"/>
          </p:cNvSpPr>
          <p:nvPr/>
        </p:nvSpPr>
        <p:spPr bwMode="auto">
          <a:xfrm>
            <a:off x="2922588" y="4356101"/>
            <a:ext cx="908050" cy="2841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pPr algn="ctr"/>
            <a:r>
              <a:rPr kumimoji="0" lang="zh-CN" altLang="en-US" sz="1200" b="0"/>
              <a:t>信号控制</a:t>
            </a:r>
          </a:p>
        </p:txBody>
      </p:sp>
      <p:sp>
        <p:nvSpPr>
          <p:cNvPr id="1814537" name="Rectangle 9"/>
          <p:cNvSpPr>
            <a:spLocks noChangeArrowheads="1"/>
          </p:cNvSpPr>
          <p:nvPr/>
        </p:nvSpPr>
        <p:spPr bwMode="auto">
          <a:xfrm>
            <a:off x="4424364" y="3689351"/>
            <a:ext cx="1781175" cy="28257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1814538" name="Rectangle 10"/>
          <p:cNvSpPr>
            <a:spLocks noChangeArrowheads="1"/>
          </p:cNvSpPr>
          <p:nvPr/>
        </p:nvSpPr>
        <p:spPr bwMode="auto">
          <a:xfrm>
            <a:off x="4383089" y="4381500"/>
            <a:ext cx="1830387" cy="279400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1814539" name="Rectangle 11"/>
          <p:cNvSpPr>
            <a:spLocks noChangeArrowheads="1"/>
          </p:cNvSpPr>
          <p:nvPr/>
        </p:nvSpPr>
        <p:spPr bwMode="auto">
          <a:xfrm>
            <a:off x="5237163" y="3395663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400">
                <a:solidFill>
                  <a:srgbClr val="FF0066"/>
                </a:solidFill>
              </a:rPr>
              <a:t>PC</a:t>
            </a:r>
          </a:p>
        </p:txBody>
      </p:sp>
      <p:sp>
        <p:nvSpPr>
          <p:cNvPr id="1814540" name="Rectangle 12"/>
          <p:cNvSpPr>
            <a:spLocks noChangeArrowheads="1"/>
          </p:cNvSpPr>
          <p:nvPr/>
        </p:nvSpPr>
        <p:spPr bwMode="auto">
          <a:xfrm>
            <a:off x="5237163" y="4089400"/>
            <a:ext cx="361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400">
                <a:solidFill>
                  <a:srgbClr val="FF0066"/>
                </a:solidFill>
              </a:rPr>
              <a:t>IR</a:t>
            </a:r>
          </a:p>
        </p:txBody>
      </p:sp>
      <p:sp>
        <p:nvSpPr>
          <p:cNvPr id="1814541" name="Rectangle 13"/>
          <p:cNvSpPr>
            <a:spLocks noChangeArrowheads="1"/>
          </p:cNvSpPr>
          <p:nvPr/>
        </p:nvSpPr>
        <p:spPr bwMode="auto">
          <a:xfrm>
            <a:off x="4554539" y="1436689"/>
            <a:ext cx="1838325" cy="2809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  <a:endParaRPr kumimoji="0" lang="en-US" altLang="zh-CN" sz="1600" dirty="0"/>
          </a:p>
        </p:txBody>
      </p:sp>
      <p:sp>
        <p:nvSpPr>
          <p:cNvPr id="1814542" name="Rectangle 14"/>
          <p:cNvSpPr>
            <a:spLocks noChangeArrowheads="1"/>
          </p:cNvSpPr>
          <p:nvPr/>
        </p:nvSpPr>
        <p:spPr bwMode="auto">
          <a:xfrm>
            <a:off x="4554539" y="1762125"/>
            <a:ext cx="1838325" cy="280988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1814543" name="Rectangle 15"/>
          <p:cNvSpPr>
            <a:spLocks noChangeArrowheads="1"/>
          </p:cNvSpPr>
          <p:nvPr/>
        </p:nvSpPr>
        <p:spPr bwMode="auto">
          <a:xfrm>
            <a:off x="4554539" y="2087564"/>
            <a:ext cx="1838325" cy="2809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1814544" name="Rectangle 16"/>
          <p:cNvSpPr>
            <a:spLocks noChangeArrowheads="1"/>
          </p:cNvSpPr>
          <p:nvPr/>
        </p:nvSpPr>
        <p:spPr bwMode="auto">
          <a:xfrm>
            <a:off x="4554539" y="2414589"/>
            <a:ext cx="1838325" cy="28257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1814545" name="Rectangle 17"/>
          <p:cNvSpPr>
            <a:spLocks noChangeArrowheads="1"/>
          </p:cNvSpPr>
          <p:nvPr/>
        </p:nvSpPr>
        <p:spPr bwMode="auto">
          <a:xfrm>
            <a:off x="8768556" y="4071144"/>
            <a:ext cx="1462088" cy="22066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4546" name="Line 18"/>
          <p:cNvSpPr>
            <a:spLocks noChangeShapeType="1"/>
          </p:cNvSpPr>
          <p:nvPr/>
        </p:nvSpPr>
        <p:spPr bwMode="auto">
          <a:xfrm flipH="1" flipV="1">
            <a:off x="3838576" y="4495800"/>
            <a:ext cx="525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47" name="Line 19"/>
          <p:cNvSpPr>
            <a:spLocks noChangeShapeType="1"/>
          </p:cNvSpPr>
          <p:nvPr/>
        </p:nvSpPr>
        <p:spPr bwMode="auto">
          <a:xfrm>
            <a:off x="3376613" y="3981451"/>
            <a:ext cx="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14548" name="Group 20"/>
          <p:cNvGrpSpPr/>
          <p:nvPr/>
        </p:nvGrpSpPr>
        <p:grpSpPr bwMode="auto">
          <a:xfrm>
            <a:off x="2289175" y="1820864"/>
            <a:ext cx="1512888" cy="695325"/>
            <a:chOff x="2534" y="361"/>
            <a:chExt cx="953" cy="438"/>
          </a:xfrm>
        </p:grpSpPr>
        <p:sp>
          <p:nvSpPr>
            <p:cNvPr id="1814549" name="Freeform 21"/>
            <p:cNvSpPr/>
            <p:nvPr/>
          </p:nvSpPr>
          <p:spPr bwMode="auto">
            <a:xfrm>
              <a:off x="2534" y="361"/>
              <a:ext cx="953" cy="438"/>
            </a:xfrm>
            <a:custGeom>
              <a:avLst/>
              <a:gdLst>
                <a:gd name="T0" fmla="*/ 267 w 953"/>
                <a:gd name="T1" fmla="*/ 11 h 438"/>
                <a:gd name="T2" fmla="*/ 0 w 953"/>
                <a:gd name="T3" fmla="*/ 11 h 438"/>
                <a:gd name="T4" fmla="*/ 184 w 953"/>
                <a:gd name="T5" fmla="*/ 438 h 438"/>
                <a:gd name="T6" fmla="*/ 810 w 953"/>
                <a:gd name="T7" fmla="*/ 438 h 438"/>
                <a:gd name="T8" fmla="*/ 953 w 953"/>
                <a:gd name="T9" fmla="*/ 0 h 438"/>
                <a:gd name="T10" fmla="*/ 707 w 953"/>
                <a:gd name="T11" fmla="*/ 0 h 438"/>
                <a:gd name="T12" fmla="*/ 676 w 953"/>
                <a:gd name="T13" fmla="*/ 115 h 438"/>
                <a:gd name="T14" fmla="*/ 315 w 953"/>
                <a:gd name="T15" fmla="*/ 115 h 438"/>
                <a:gd name="T16" fmla="*/ 267 w 953"/>
                <a:gd name="T17" fmla="*/ 11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3" h="438">
                  <a:moveTo>
                    <a:pt x="267" y="11"/>
                  </a:moveTo>
                  <a:lnTo>
                    <a:pt x="0" y="11"/>
                  </a:lnTo>
                  <a:lnTo>
                    <a:pt x="184" y="438"/>
                  </a:lnTo>
                  <a:lnTo>
                    <a:pt x="810" y="438"/>
                  </a:lnTo>
                  <a:lnTo>
                    <a:pt x="953" y="0"/>
                  </a:lnTo>
                  <a:lnTo>
                    <a:pt x="707" y="0"/>
                  </a:lnTo>
                  <a:lnTo>
                    <a:pt x="676" y="115"/>
                  </a:lnTo>
                  <a:lnTo>
                    <a:pt x="315" y="115"/>
                  </a:lnTo>
                  <a:lnTo>
                    <a:pt x="267" y="1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4550" name="Text Box 22"/>
            <p:cNvSpPr txBox="1">
              <a:spLocks noChangeArrowheads="1"/>
            </p:cNvSpPr>
            <p:nvPr/>
          </p:nvSpPr>
          <p:spPr bwMode="auto">
            <a:xfrm>
              <a:off x="2718" y="493"/>
              <a:ext cx="6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9" tIns="45716" rIns="91429" bIns="45716">
              <a:spAutoFit/>
            </a:bodyPr>
            <a:lstStyle/>
            <a:p>
              <a:r>
                <a:rPr kumimoji="0" lang="zh-CN" altLang="en-US" sz="1200" b="0"/>
                <a:t>算术、逻辑及移位运算</a:t>
              </a:r>
            </a:p>
          </p:txBody>
        </p:sp>
      </p:grpSp>
      <p:sp>
        <p:nvSpPr>
          <p:cNvPr id="1814551" name="Freeform 23"/>
          <p:cNvSpPr/>
          <p:nvPr/>
        </p:nvSpPr>
        <p:spPr bwMode="auto">
          <a:xfrm>
            <a:off x="2139951" y="2274888"/>
            <a:ext cx="777875" cy="2220912"/>
          </a:xfrm>
          <a:custGeom>
            <a:avLst/>
            <a:gdLst>
              <a:gd name="T0" fmla="*/ 490 w 490"/>
              <a:gd name="T1" fmla="*/ 1398 h 1398"/>
              <a:gd name="T2" fmla="*/ 0 w 490"/>
              <a:gd name="T3" fmla="*/ 1398 h 1398"/>
              <a:gd name="T4" fmla="*/ 0 w 490"/>
              <a:gd name="T5" fmla="*/ 0 h 1398"/>
              <a:gd name="T6" fmla="*/ 237 w 490"/>
              <a:gd name="T7" fmla="*/ 0 h 1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0" h="1398">
                <a:moveTo>
                  <a:pt x="490" y="1398"/>
                </a:moveTo>
                <a:lnTo>
                  <a:pt x="0" y="1398"/>
                </a:lnTo>
                <a:lnTo>
                  <a:pt x="0" y="0"/>
                </a:lnTo>
                <a:lnTo>
                  <a:pt x="237" y="0"/>
                </a:lnTo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52" name="Freeform 24"/>
          <p:cNvSpPr/>
          <p:nvPr/>
        </p:nvSpPr>
        <p:spPr bwMode="auto">
          <a:xfrm>
            <a:off x="3625851" y="3971926"/>
            <a:ext cx="1585913" cy="377825"/>
          </a:xfrm>
          <a:custGeom>
            <a:avLst/>
            <a:gdLst>
              <a:gd name="T0" fmla="*/ 0 w 998"/>
              <a:gd name="T1" fmla="*/ 238 h 238"/>
              <a:gd name="T2" fmla="*/ 0 w 998"/>
              <a:gd name="T3" fmla="*/ 107 h 238"/>
              <a:gd name="T4" fmla="*/ 998 w 998"/>
              <a:gd name="T5" fmla="*/ 107 h 238"/>
              <a:gd name="T6" fmla="*/ 998 w 998"/>
              <a:gd name="T7" fmla="*/ 0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98" h="238">
                <a:moveTo>
                  <a:pt x="0" y="238"/>
                </a:moveTo>
                <a:lnTo>
                  <a:pt x="0" y="107"/>
                </a:lnTo>
                <a:lnTo>
                  <a:pt x="998" y="107"/>
                </a:lnTo>
                <a:lnTo>
                  <a:pt x="998" y="0"/>
                </a:lnTo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53" name="Line 25"/>
          <p:cNvSpPr>
            <a:spLocks noChangeShapeType="1"/>
          </p:cNvSpPr>
          <p:nvPr/>
        </p:nvSpPr>
        <p:spPr bwMode="auto">
          <a:xfrm>
            <a:off x="7243764" y="4181475"/>
            <a:ext cx="3397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54" name="Line 26"/>
          <p:cNvSpPr>
            <a:spLocks noChangeShapeType="1"/>
          </p:cNvSpPr>
          <p:nvPr/>
        </p:nvSpPr>
        <p:spPr bwMode="auto">
          <a:xfrm>
            <a:off x="7804150" y="1447801"/>
            <a:ext cx="0" cy="15541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55" name="Line 27"/>
          <p:cNvSpPr>
            <a:spLocks noChangeShapeType="1"/>
          </p:cNvSpPr>
          <p:nvPr/>
        </p:nvSpPr>
        <p:spPr bwMode="auto">
          <a:xfrm flipH="1">
            <a:off x="6392864" y="1579563"/>
            <a:ext cx="1400175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56" name="Line 28"/>
          <p:cNvSpPr>
            <a:spLocks noChangeShapeType="1"/>
          </p:cNvSpPr>
          <p:nvPr/>
        </p:nvSpPr>
        <p:spPr bwMode="auto">
          <a:xfrm flipH="1">
            <a:off x="6392864" y="1897063"/>
            <a:ext cx="1400175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57" name="Line 29"/>
          <p:cNvSpPr>
            <a:spLocks noChangeShapeType="1"/>
          </p:cNvSpPr>
          <p:nvPr/>
        </p:nvSpPr>
        <p:spPr bwMode="auto">
          <a:xfrm flipH="1">
            <a:off x="6392864" y="2227263"/>
            <a:ext cx="1400175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58" name="Line 30"/>
          <p:cNvSpPr>
            <a:spLocks noChangeShapeType="1"/>
          </p:cNvSpPr>
          <p:nvPr/>
        </p:nvSpPr>
        <p:spPr bwMode="auto">
          <a:xfrm flipH="1">
            <a:off x="6392864" y="2544763"/>
            <a:ext cx="1400175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59" name="Freeform 31"/>
          <p:cNvSpPr/>
          <p:nvPr/>
        </p:nvSpPr>
        <p:spPr bwMode="auto">
          <a:xfrm>
            <a:off x="7818438" y="2233614"/>
            <a:ext cx="1606550" cy="966787"/>
          </a:xfrm>
          <a:custGeom>
            <a:avLst/>
            <a:gdLst>
              <a:gd name="T0" fmla="*/ 0 w 1440"/>
              <a:gd name="T1" fmla="*/ 0 h 255"/>
              <a:gd name="T2" fmla="*/ 1440 w 1440"/>
              <a:gd name="T3" fmla="*/ 0 h 255"/>
              <a:gd name="T4" fmla="*/ 1440 w 1440"/>
              <a:gd name="T5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0" h="255">
                <a:moveTo>
                  <a:pt x="0" y="0"/>
                </a:moveTo>
                <a:lnTo>
                  <a:pt x="1440" y="0"/>
                </a:lnTo>
                <a:lnTo>
                  <a:pt x="1440" y="255"/>
                </a:lnTo>
              </a:path>
            </a:pathLst>
          </a:custGeom>
          <a:noFill/>
          <a:ln w="57150" cmpd="sng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60" name="Line 32"/>
          <p:cNvSpPr>
            <a:spLocks noChangeShapeType="1"/>
          </p:cNvSpPr>
          <p:nvPr/>
        </p:nvSpPr>
        <p:spPr bwMode="auto">
          <a:xfrm flipH="1" flipV="1">
            <a:off x="9527528" y="3482707"/>
            <a:ext cx="0" cy="645858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61" name="Rectangle 33"/>
          <p:cNvSpPr>
            <a:spLocks noChangeArrowheads="1"/>
          </p:cNvSpPr>
          <p:nvPr/>
        </p:nvSpPr>
        <p:spPr bwMode="auto">
          <a:xfrm>
            <a:off x="8505826" y="3224214"/>
            <a:ext cx="1781175" cy="28257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 anchor="ctr"/>
          <a:lstStyle/>
          <a:p>
            <a:pPr algn="ctr"/>
            <a:r>
              <a:rPr kumimoji="0" lang="en-US" altLang="zh-CN" sz="1400" dirty="0"/>
              <a:t> </a:t>
            </a:r>
          </a:p>
        </p:txBody>
      </p:sp>
      <p:sp>
        <p:nvSpPr>
          <p:cNvPr id="1814562" name="Freeform 34"/>
          <p:cNvSpPr/>
          <p:nvPr/>
        </p:nvSpPr>
        <p:spPr bwMode="auto">
          <a:xfrm>
            <a:off x="6224588" y="2859088"/>
            <a:ext cx="1579562" cy="1662112"/>
          </a:xfrm>
          <a:custGeom>
            <a:avLst/>
            <a:gdLst>
              <a:gd name="T0" fmla="*/ 996 w 996"/>
              <a:gd name="T1" fmla="*/ 0 h 1194"/>
              <a:gd name="T2" fmla="*/ 272 w 996"/>
              <a:gd name="T3" fmla="*/ 0 h 1194"/>
              <a:gd name="T4" fmla="*/ 272 w 996"/>
              <a:gd name="T5" fmla="*/ 1194 h 1194"/>
              <a:gd name="T6" fmla="*/ 0 w 996"/>
              <a:gd name="T7" fmla="*/ 1194 h 1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96" h="1194">
                <a:moveTo>
                  <a:pt x="996" y="0"/>
                </a:moveTo>
                <a:lnTo>
                  <a:pt x="272" y="0"/>
                </a:lnTo>
                <a:lnTo>
                  <a:pt x="272" y="1194"/>
                </a:lnTo>
                <a:lnTo>
                  <a:pt x="0" y="1194"/>
                </a:lnTo>
              </a:path>
            </a:pathLst>
          </a:custGeom>
          <a:noFill/>
          <a:ln w="57150" cmpd="sng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63" name="Rectangle 35"/>
          <p:cNvSpPr>
            <a:spLocks noChangeArrowheads="1"/>
          </p:cNvSpPr>
          <p:nvPr/>
        </p:nvSpPr>
        <p:spPr bwMode="auto">
          <a:xfrm>
            <a:off x="7004051" y="4084639"/>
            <a:ext cx="303213" cy="1690687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91429" tIns="45716" rIns="91429" bIns="45716" anchor="ctr"/>
          <a:lstStyle/>
          <a:p>
            <a:pPr algn="ctr"/>
            <a:r>
              <a:rPr kumimoji="0" lang="en-US" altLang="zh-CN" sz="1400"/>
              <a:t>00000000 00000000</a:t>
            </a:r>
          </a:p>
        </p:txBody>
      </p:sp>
      <p:sp>
        <p:nvSpPr>
          <p:cNvPr id="1814564" name="Freeform 36"/>
          <p:cNvSpPr/>
          <p:nvPr/>
        </p:nvSpPr>
        <p:spPr bwMode="auto">
          <a:xfrm>
            <a:off x="6197600" y="3813175"/>
            <a:ext cx="927100" cy="249238"/>
          </a:xfrm>
          <a:custGeom>
            <a:avLst/>
            <a:gdLst>
              <a:gd name="T0" fmla="*/ 0 w 584"/>
              <a:gd name="T1" fmla="*/ 0 h 156"/>
              <a:gd name="T2" fmla="*/ 584 w 584"/>
              <a:gd name="T3" fmla="*/ 0 h 156"/>
              <a:gd name="T4" fmla="*/ 584 w 584"/>
              <a:gd name="T5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84" h="156">
                <a:moveTo>
                  <a:pt x="0" y="0"/>
                </a:moveTo>
                <a:lnTo>
                  <a:pt x="584" y="0"/>
                </a:lnTo>
                <a:lnTo>
                  <a:pt x="584" y="156"/>
                </a:lnTo>
              </a:path>
            </a:pathLst>
          </a:custGeom>
          <a:noFill/>
          <a:ln w="28575" cmpd="sng">
            <a:solidFill>
              <a:srgbClr val="FF006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65" name="Text Box 37"/>
          <p:cNvSpPr txBox="1">
            <a:spLocks noChangeArrowheads="1"/>
          </p:cNvSpPr>
          <p:nvPr/>
        </p:nvSpPr>
        <p:spPr bwMode="auto">
          <a:xfrm>
            <a:off x="6865938" y="5767388"/>
            <a:ext cx="539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zh-CN" altLang="en-US" sz="1400">
                <a:solidFill>
                  <a:srgbClr val="FF0000"/>
                </a:solidFill>
              </a:rPr>
              <a:t>地址</a:t>
            </a:r>
          </a:p>
        </p:txBody>
      </p:sp>
      <p:sp>
        <p:nvSpPr>
          <p:cNvPr id="1814566" name="Text Box 38"/>
          <p:cNvSpPr txBox="1">
            <a:spLocks noChangeArrowheads="1"/>
          </p:cNvSpPr>
          <p:nvPr/>
        </p:nvSpPr>
        <p:spPr bwMode="auto">
          <a:xfrm>
            <a:off x="7997825" y="3189288"/>
            <a:ext cx="539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zh-CN" altLang="en-US" sz="1400">
                <a:solidFill>
                  <a:srgbClr val="FF0000"/>
                </a:solidFill>
              </a:rPr>
              <a:t>内容</a:t>
            </a:r>
          </a:p>
        </p:txBody>
      </p:sp>
      <p:sp>
        <p:nvSpPr>
          <p:cNvPr id="1814567" name="Freeform 39"/>
          <p:cNvSpPr/>
          <p:nvPr/>
        </p:nvSpPr>
        <p:spPr bwMode="auto">
          <a:xfrm>
            <a:off x="5545139" y="4662488"/>
            <a:ext cx="1474787" cy="354012"/>
          </a:xfrm>
          <a:custGeom>
            <a:avLst/>
            <a:gdLst>
              <a:gd name="T0" fmla="*/ 0 w 905"/>
              <a:gd name="T1" fmla="*/ 0 h 222"/>
              <a:gd name="T2" fmla="*/ 0 w 905"/>
              <a:gd name="T3" fmla="*/ 222 h 222"/>
              <a:gd name="T4" fmla="*/ 905 w 905"/>
              <a:gd name="T5" fmla="*/ 222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5" h="222">
                <a:moveTo>
                  <a:pt x="0" y="0"/>
                </a:moveTo>
                <a:lnTo>
                  <a:pt x="0" y="222"/>
                </a:lnTo>
                <a:lnTo>
                  <a:pt x="905" y="222"/>
                </a:lnTo>
              </a:path>
            </a:pathLst>
          </a:custGeom>
          <a:noFill/>
          <a:ln w="28575" cmpd="sng">
            <a:solidFill>
              <a:srgbClr val="FF006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68" name="Freeform 40"/>
          <p:cNvSpPr/>
          <p:nvPr/>
        </p:nvSpPr>
        <p:spPr bwMode="auto">
          <a:xfrm>
            <a:off x="3035300" y="1981201"/>
            <a:ext cx="1500188" cy="741363"/>
          </a:xfrm>
          <a:custGeom>
            <a:avLst/>
            <a:gdLst>
              <a:gd name="T0" fmla="*/ 1 w 945"/>
              <a:gd name="T1" fmla="*/ 343 h 467"/>
              <a:gd name="T2" fmla="*/ 0 w 945"/>
              <a:gd name="T3" fmla="*/ 467 h 467"/>
              <a:gd name="T4" fmla="*/ 607 w 945"/>
              <a:gd name="T5" fmla="*/ 467 h 467"/>
              <a:gd name="T6" fmla="*/ 607 w 945"/>
              <a:gd name="T7" fmla="*/ 0 h 467"/>
              <a:gd name="T8" fmla="*/ 945 w 945"/>
              <a:gd name="T9" fmla="*/ 0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5" h="467">
                <a:moveTo>
                  <a:pt x="1" y="343"/>
                </a:moveTo>
                <a:lnTo>
                  <a:pt x="0" y="467"/>
                </a:lnTo>
                <a:lnTo>
                  <a:pt x="607" y="467"/>
                </a:lnTo>
                <a:lnTo>
                  <a:pt x="607" y="0"/>
                </a:lnTo>
                <a:lnTo>
                  <a:pt x="945" y="0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69" name="Rectangle 41"/>
          <p:cNvSpPr>
            <a:spLocks noChangeArrowheads="1"/>
          </p:cNvSpPr>
          <p:nvPr/>
        </p:nvSpPr>
        <p:spPr bwMode="auto">
          <a:xfrm>
            <a:off x="4162425" y="1746251"/>
            <a:ext cx="433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800">
                <a:solidFill>
                  <a:srgbClr val="FF0066"/>
                </a:solidFill>
              </a:rPr>
              <a:t>R</a:t>
            </a:r>
            <a:r>
              <a:rPr kumimoji="0" lang="en-US" altLang="zh-CN" sz="1800" baseline="-25000">
                <a:solidFill>
                  <a:srgbClr val="FF0066"/>
                </a:solidFill>
              </a:rPr>
              <a:t>0</a:t>
            </a:r>
          </a:p>
        </p:txBody>
      </p:sp>
      <p:sp>
        <p:nvSpPr>
          <p:cNvPr id="1814570" name="Rectangle 42"/>
          <p:cNvSpPr>
            <a:spLocks noChangeArrowheads="1"/>
          </p:cNvSpPr>
          <p:nvPr/>
        </p:nvSpPr>
        <p:spPr bwMode="auto">
          <a:xfrm>
            <a:off x="4162425" y="1365251"/>
            <a:ext cx="433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kumimoji="0" lang="en-US" altLang="zh-CN" sz="1800">
                <a:solidFill>
                  <a:srgbClr val="FF0066"/>
                </a:solidFill>
              </a:rPr>
              <a:t>R</a:t>
            </a:r>
            <a:r>
              <a:rPr kumimoji="0" lang="en-US" altLang="zh-CN" sz="1800" baseline="-250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1814571" name="Freeform 43"/>
          <p:cNvSpPr/>
          <p:nvPr/>
        </p:nvSpPr>
        <p:spPr bwMode="auto">
          <a:xfrm>
            <a:off x="3402013" y="4676776"/>
            <a:ext cx="3467100" cy="720725"/>
          </a:xfrm>
          <a:custGeom>
            <a:avLst/>
            <a:gdLst>
              <a:gd name="T0" fmla="*/ 0 w 2434"/>
              <a:gd name="T1" fmla="*/ 0 h 453"/>
              <a:gd name="T2" fmla="*/ 0 w 2434"/>
              <a:gd name="T3" fmla="*/ 453 h 453"/>
              <a:gd name="T4" fmla="*/ 2434 w 2434"/>
              <a:gd name="T5" fmla="*/ 453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34" h="453">
                <a:moveTo>
                  <a:pt x="0" y="0"/>
                </a:moveTo>
                <a:lnTo>
                  <a:pt x="0" y="453"/>
                </a:lnTo>
                <a:lnTo>
                  <a:pt x="2434" y="453"/>
                </a:lnTo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72" name="Freeform 44"/>
          <p:cNvSpPr/>
          <p:nvPr/>
        </p:nvSpPr>
        <p:spPr bwMode="auto">
          <a:xfrm>
            <a:off x="3614738" y="4676775"/>
            <a:ext cx="1600200" cy="444500"/>
          </a:xfrm>
          <a:custGeom>
            <a:avLst/>
            <a:gdLst>
              <a:gd name="T0" fmla="*/ 0 w 957"/>
              <a:gd name="T1" fmla="*/ 9 h 280"/>
              <a:gd name="T2" fmla="*/ 0 w 957"/>
              <a:gd name="T3" fmla="*/ 280 h 280"/>
              <a:gd name="T4" fmla="*/ 957 w 957"/>
              <a:gd name="T5" fmla="*/ 280 h 280"/>
              <a:gd name="T6" fmla="*/ 957 w 957"/>
              <a:gd name="T7" fmla="*/ 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57" h="280">
                <a:moveTo>
                  <a:pt x="0" y="9"/>
                </a:moveTo>
                <a:lnTo>
                  <a:pt x="0" y="280"/>
                </a:lnTo>
                <a:lnTo>
                  <a:pt x="957" y="280"/>
                </a:lnTo>
                <a:lnTo>
                  <a:pt x="957" y="0"/>
                </a:lnTo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73" name="Freeform 45"/>
          <p:cNvSpPr/>
          <p:nvPr/>
        </p:nvSpPr>
        <p:spPr bwMode="auto">
          <a:xfrm>
            <a:off x="1974850" y="942976"/>
            <a:ext cx="5818188" cy="4435475"/>
          </a:xfrm>
          <a:custGeom>
            <a:avLst/>
            <a:gdLst>
              <a:gd name="T0" fmla="*/ 754 w 3664"/>
              <a:gd name="T1" fmla="*/ 2503 h 2960"/>
              <a:gd name="T2" fmla="*/ 745 w 3664"/>
              <a:gd name="T3" fmla="*/ 2960 h 2960"/>
              <a:gd name="T4" fmla="*/ 0 w 3664"/>
              <a:gd name="T5" fmla="*/ 2960 h 2960"/>
              <a:gd name="T6" fmla="*/ 2 w 3664"/>
              <a:gd name="T7" fmla="*/ 0 h 2960"/>
              <a:gd name="T8" fmla="*/ 3664 w 3664"/>
              <a:gd name="T9" fmla="*/ 0 h 2960"/>
              <a:gd name="T10" fmla="*/ 3664 w 3664"/>
              <a:gd name="T11" fmla="*/ 437 h 2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64" h="2960">
                <a:moveTo>
                  <a:pt x="754" y="2503"/>
                </a:moveTo>
                <a:lnTo>
                  <a:pt x="745" y="2960"/>
                </a:lnTo>
                <a:lnTo>
                  <a:pt x="0" y="2960"/>
                </a:lnTo>
                <a:lnTo>
                  <a:pt x="2" y="0"/>
                </a:lnTo>
                <a:lnTo>
                  <a:pt x="3664" y="0"/>
                </a:lnTo>
                <a:lnTo>
                  <a:pt x="3664" y="437"/>
                </a:lnTo>
              </a:path>
            </a:pathLst>
          </a:cu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14574" name="Group 46"/>
          <p:cNvGrpSpPr/>
          <p:nvPr/>
        </p:nvGrpSpPr>
        <p:grpSpPr bwMode="auto">
          <a:xfrm>
            <a:off x="5740401" y="5688013"/>
            <a:ext cx="1279525" cy="952500"/>
            <a:chOff x="3254" y="3470"/>
            <a:chExt cx="848" cy="729"/>
          </a:xfrm>
        </p:grpSpPr>
        <p:sp>
          <p:nvSpPr>
            <p:cNvPr id="2" name="AutoShape 39"/>
            <p:cNvSpPr>
              <a:spLocks noChangeArrowheads="1"/>
            </p:cNvSpPr>
            <p:nvPr/>
          </p:nvSpPr>
          <p:spPr bwMode="gray">
            <a:xfrm>
              <a:off x="3254" y="3470"/>
              <a:ext cx="848" cy="72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" name="Oval 40"/>
            <p:cNvSpPr>
              <a:spLocks noChangeArrowheads="1"/>
            </p:cNvSpPr>
            <p:nvPr/>
          </p:nvSpPr>
          <p:spPr bwMode="gray">
            <a:xfrm>
              <a:off x="3324" y="3530"/>
              <a:ext cx="707" cy="610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" name="Text Box 84"/>
            <p:cNvSpPr txBox="1">
              <a:spLocks noChangeArrowheads="1"/>
            </p:cNvSpPr>
            <p:nvPr/>
          </p:nvSpPr>
          <p:spPr bwMode="auto">
            <a:xfrm>
              <a:off x="3326" y="3576"/>
              <a:ext cx="702" cy="53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存储器</a:t>
              </a:r>
              <a:r>
                <a:rPr kumimoji="0" lang="en-US" altLang="zh-CN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(</a:t>
              </a: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内存</a:t>
              </a:r>
              <a:r>
                <a:rPr kumimoji="0" lang="en-US" altLang="zh-CN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)</a:t>
              </a:r>
            </a:p>
          </p:txBody>
        </p:sp>
      </p:grpSp>
      <p:grpSp>
        <p:nvGrpSpPr>
          <p:cNvPr id="1814578" name="Group 50"/>
          <p:cNvGrpSpPr/>
          <p:nvPr/>
        </p:nvGrpSpPr>
        <p:grpSpPr bwMode="auto">
          <a:xfrm>
            <a:off x="3676651" y="2832100"/>
            <a:ext cx="1279525" cy="952500"/>
            <a:chOff x="1348" y="1728"/>
            <a:chExt cx="806" cy="600"/>
          </a:xfrm>
        </p:grpSpPr>
        <p:sp>
          <p:nvSpPr>
            <p:cNvPr id="5" name="AutoShape 39"/>
            <p:cNvSpPr>
              <a:spLocks noChangeArrowheads="1"/>
            </p:cNvSpPr>
            <p:nvPr/>
          </p:nvSpPr>
          <p:spPr bwMode="gray">
            <a:xfrm>
              <a:off x="1348" y="1728"/>
              <a:ext cx="806" cy="600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" name="Oval 40"/>
            <p:cNvSpPr>
              <a:spLocks noChangeArrowheads="1"/>
            </p:cNvSpPr>
            <p:nvPr/>
          </p:nvSpPr>
          <p:spPr bwMode="gray">
            <a:xfrm>
              <a:off x="1415" y="1777"/>
              <a:ext cx="672" cy="502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" name="Text Box 84"/>
            <p:cNvSpPr txBox="1">
              <a:spLocks noChangeArrowheads="1"/>
            </p:cNvSpPr>
            <p:nvPr/>
          </p:nvSpPr>
          <p:spPr bwMode="auto">
            <a:xfrm>
              <a:off x="1416" y="1903"/>
              <a:ext cx="667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控制器</a:t>
              </a:r>
              <a:endParaRPr kumimoji="0" lang="en-US" altLang="zh-CN" sz="2000">
                <a:solidFill>
                  <a:srgbClr val="FFFFFF"/>
                </a:solidFill>
                <a:latin typeface="宋体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1814582" name="Group 54"/>
          <p:cNvGrpSpPr/>
          <p:nvPr/>
        </p:nvGrpSpPr>
        <p:grpSpPr bwMode="auto">
          <a:xfrm>
            <a:off x="2009776" y="688975"/>
            <a:ext cx="1279525" cy="952500"/>
            <a:chOff x="1348" y="1728"/>
            <a:chExt cx="806" cy="600"/>
          </a:xfrm>
        </p:grpSpPr>
        <p:sp>
          <p:nvSpPr>
            <p:cNvPr id="8" name="AutoShape 39"/>
            <p:cNvSpPr>
              <a:spLocks noChangeArrowheads="1"/>
            </p:cNvSpPr>
            <p:nvPr/>
          </p:nvSpPr>
          <p:spPr bwMode="gray">
            <a:xfrm>
              <a:off x="1348" y="1728"/>
              <a:ext cx="806" cy="600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9" name="Oval 40"/>
            <p:cNvSpPr>
              <a:spLocks noChangeArrowheads="1"/>
            </p:cNvSpPr>
            <p:nvPr/>
          </p:nvSpPr>
          <p:spPr bwMode="gray">
            <a:xfrm>
              <a:off x="1415" y="1777"/>
              <a:ext cx="672" cy="502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" name="Text Box 84"/>
            <p:cNvSpPr txBox="1">
              <a:spLocks noChangeArrowheads="1"/>
            </p:cNvSpPr>
            <p:nvPr/>
          </p:nvSpPr>
          <p:spPr bwMode="auto">
            <a:xfrm>
              <a:off x="1416" y="1903"/>
              <a:ext cx="667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运算器</a:t>
              </a:r>
              <a:endParaRPr kumimoji="0" lang="en-US" altLang="zh-CN" sz="2000">
                <a:solidFill>
                  <a:srgbClr val="FFFFFF"/>
                </a:solidFill>
                <a:latin typeface="宋体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1814586" name="Freeform 58"/>
          <p:cNvSpPr/>
          <p:nvPr/>
        </p:nvSpPr>
        <p:spPr bwMode="auto">
          <a:xfrm>
            <a:off x="2571750" y="1539875"/>
            <a:ext cx="1963738" cy="317500"/>
          </a:xfrm>
          <a:custGeom>
            <a:avLst/>
            <a:gdLst>
              <a:gd name="T0" fmla="*/ 1237 w 1237"/>
              <a:gd name="T1" fmla="*/ 0 h 130"/>
              <a:gd name="T2" fmla="*/ 1191 w 1237"/>
              <a:gd name="T3" fmla="*/ 0 h 130"/>
              <a:gd name="T4" fmla="*/ 0 w 1237"/>
              <a:gd name="T5" fmla="*/ 0 h 130"/>
              <a:gd name="T6" fmla="*/ 0 w 1237"/>
              <a:gd name="T7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7" h="130">
                <a:moveTo>
                  <a:pt x="1237" y="0"/>
                </a:moveTo>
                <a:cubicBezTo>
                  <a:pt x="1222" y="0"/>
                  <a:pt x="1206" y="0"/>
                  <a:pt x="1191" y="0"/>
                </a:cubicBezTo>
                <a:lnTo>
                  <a:pt x="0" y="0"/>
                </a:lnTo>
                <a:lnTo>
                  <a:pt x="0" y="130"/>
                </a:lnTo>
              </a:path>
            </a:pathLst>
          </a:custGeom>
          <a:noFill/>
          <a:ln w="19050" cmpd="sng">
            <a:solidFill>
              <a:schemeClr val="bg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4587" name="Text Box 59"/>
          <p:cNvSpPr txBox="1">
            <a:spLocks noChangeArrowheads="1"/>
          </p:cNvSpPr>
          <p:nvPr/>
        </p:nvSpPr>
        <p:spPr bwMode="auto">
          <a:xfrm>
            <a:off x="4873626" y="1101725"/>
            <a:ext cx="1331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6" rIns="91429" bIns="45716">
            <a:spAutoFit/>
          </a:bodyPr>
          <a:lstStyle/>
          <a:p>
            <a:r>
              <a:rPr kumimoji="0" lang="en-US" altLang="zh-CN" sz="1400">
                <a:solidFill>
                  <a:srgbClr val="FF0000"/>
                </a:solidFill>
              </a:rPr>
              <a:t>(</a:t>
            </a:r>
            <a:r>
              <a:rPr kumimoji="0" lang="zh-CN" altLang="en-US" sz="1400">
                <a:solidFill>
                  <a:srgbClr val="FF0000"/>
                </a:solidFill>
              </a:rPr>
              <a:t>数据</a:t>
            </a:r>
            <a:r>
              <a:rPr kumimoji="0" lang="en-US" altLang="zh-CN" sz="1400">
                <a:solidFill>
                  <a:srgbClr val="FF0000"/>
                </a:solidFill>
              </a:rPr>
              <a:t>)</a:t>
            </a:r>
            <a:r>
              <a:rPr kumimoji="0" lang="zh-CN" altLang="en-US" sz="1400">
                <a:solidFill>
                  <a:srgbClr val="FF0000"/>
                </a:solidFill>
              </a:rPr>
              <a:t>寄存器</a:t>
            </a:r>
          </a:p>
        </p:txBody>
      </p:sp>
      <p:sp>
        <p:nvSpPr>
          <p:cNvPr id="66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一台典型的计算机</a:t>
            </a:r>
          </a:p>
        </p:txBody>
      </p:sp>
      <p:grpSp>
        <p:nvGrpSpPr>
          <p:cNvPr id="67" name="Group 38"/>
          <p:cNvGrpSpPr/>
          <p:nvPr/>
        </p:nvGrpSpPr>
        <p:grpSpPr bwMode="auto">
          <a:xfrm>
            <a:off x="1768474" y="5638802"/>
            <a:ext cx="2593975" cy="1200150"/>
            <a:chOff x="3374" y="3409"/>
            <a:chExt cx="1634" cy="756"/>
          </a:xfrm>
        </p:grpSpPr>
        <p:sp>
          <p:nvSpPr>
            <p:cNvPr id="68" name="Text Box 39"/>
            <p:cNvSpPr txBox="1">
              <a:spLocks noChangeArrowheads="1"/>
            </p:cNvSpPr>
            <p:nvPr/>
          </p:nvSpPr>
          <p:spPr bwMode="auto">
            <a:xfrm>
              <a:off x="3374" y="3409"/>
              <a:ext cx="163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29" tIns="45716" rIns="91429" bIns="45716"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kumimoji="0" lang="en-US" altLang="zh-CN" b="0" dirty="0"/>
                <a:t> </a:t>
              </a:r>
              <a:r>
                <a:rPr kumimoji="0" lang="zh-CN" altLang="en-US" b="0" dirty="0"/>
                <a:t>             信号控制线</a:t>
              </a:r>
            </a:p>
            <a:p>
              <a:pPr>
                <a:spcBef>
                  <a:spcPct val="30000"/>
                </a:spcBef>
              </a:pPr>
              <a:r>
                <a:rPr kumimoji="0" lang="zh-CN" altLang="en-US" b="0" dirty="0"/>
                <a:t>              数据线</a:t>
              </a:r>
            </a:p>
            <a:p>
              <a:pPr>
                <a:spcBef>
                  <a:spcPct val="30000"/>
                </a:spcBef>
              </a:pPr>
              <a:r>
                <a:rPr kumimoji="0" lang="zh-CN" altLang="en-US" b="0" dirty="0"/>
                <a:t>              地址线</a:t>
              </a:r>
            </a:p>
          </p:txBody>
        </p:sp>
        <p:grpSp>
          <p:nvGrpSpPr>
            <p:cNvPr id="69" name="Group 40"/>
            <p:cNvGrpSpPr/>
            <p:nvPr/>
          </p:nvGrpSpPr>
          <p:grpSpPr bwMode="auto">
            <a:xfrm>
              <a:off x="3463" y="3519"/>
              <a:ext cx="465" cy="515"/>
              <a:chOff x="1589" y="3678"/>
              <a:chExt cx="214" cy="264"/>
            </a:xfrm>
          </p:grpSpPr>
          <p:sp>
            <p:nvSpPr>
              <p:cNvPr id="70" name="Line 41"/>
              <p:cNvSpPr>
                <a:spLocks noChangeShapeType="1"/>
              </p:cNvSpPr>
              <p:nvPr/>
            </p:nvSpPr>
            <p:spPr bwMode="auto">
              <a:xfrm>
                <a:off x="1597" y="3678"/>
                <a:ext cx="206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42"/>
              <p:cNvSpPr>
                <a:spLocks noChangeShapeType="1"/>
              </p:cNvSpPr>
              <p:nvPr/>
            </p:nvSpPr>
            <p:spPr bwMode="auto">
              <a:xfrm>
                <a:off x="1597" y="3806"/>
                <a:ext cx="206" cy="0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43"/>
              <p:cNvSpPr>
                <a:spLocks noChangeShapeType="1"/>
              </p:cNvSpPr>
              <p:nvPr/>
            </p:nvSpPr>
            <p:spPr bwMode="auto">
              <a:xfrm>
                <a:off x="1589" y="3942"/>
                <a:ext cx="206" cy="0"/>
              </a:xfrm>
              <a:prstGeom prst="line">
                <a:avLst/>
              </a:prstGeom>
              <a:noFill/>
              <a:ln w="57150">
                <a:solidFill>
                  <a:srgbClr val="FF0066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3" name="圆角矩形 72"/>
          <p:cNvSpPr/>
          <p:nvPr/>
        </p:nvSpPr>
        <p:spPr>
          <a:xfrm>
            <a:off x="8321675" y="1247230"/>
            <a:ext cx="3130096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各部件的连接与控制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0806" y="111760"/>
            <a:ext cx="11073674" cy="87861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数据表达与自动计算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362330" y="1254348"/>
            <a:ext cx="7513595" cy="451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C00000">
                        <a:shade val="30000"/>
                        <a:satMod val="115000"/>
                      </a:srgbClr>
                    </a:gs>
                    <a:gs pos="50000">
                      <a:srgbClr val="C00000">
                        <a:shade val="67500"/>
                        <a:satMod val="115000"/>
                      </a:srgbClr>
                    </a:gs>
                    <a:gs pos="100000">
                      <a:srgbClr val="C0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数值性信息的表达：计数制与机器数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二、机器数的加减法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三、</a:t>
            </a:r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的计算：基本逻辑运算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</a:rPr>
              <a:t>四、用电子技术实现</a:t>
            </a:r>
            <a:r>
              <a:rPr lang="en-US" altLang="zh-CN" sz="2800" b="1" dirty="0">
                <a:solidFill>
                  <a:srgbClr val="C00000"/>
                </a:solidFill>
              </a:rPr>
              <a:t>0</a:t>
            </a:r>
            <a:r>
              <a:rPr lang="zh-CN" altLang="en-US" sz="2800" b="1" dirty="0">
                <a:solidFill>
                  <a:srgbClr val="C00000"/>
                </a:solidFill>
              </a:rPr>
              <a:t>和</a:t>
            </a:r>
            <a:r>
              <a:rPr lang="en-US" altLang="zh-CN" sz="2800" b="1" dirty="0">
                <a:solidFill>
                  <a:srgbClr val="C00000"/>
                </a:solidFill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</a:rPr>
              <a:t>及其逻辑运算  </a:t>
            </a:r>
            <a:r>
              <a:rPr lang="en-US" altLang="zh-CN" sz="2800" b="1" dirty="0">
                <a:solidFill>
                  <a:srgbClr val="C00000"/>
                </a:solidFill>
              </a:rPr>
              <a:t>(</a:t>
            </a:r>
            <a:r>
              <a:rPr lang="zh-CN" altLang="en-US" sz="2800" b="1" dirty="0">
                <a:solidFill>
                  <a:srgbClr val="C00000"/>
                </a:solidFill>
              </a:rPr>
              <a:t>选讲</a:t>
            </a:r>
            <a:r>
              <a:rPr lang="en-US" altLang="zh-CN" sz="2800" b="1" dirty="0">
                <a:solidFill>
                  <a:srgbClr val="C00000"/>
                </a:solidFill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五、加法运算的电路实现                        </a:t>
            </a:r>
            <a:r>
              <a:rPr lang="en-US" altLang="zh-CN" sz="2800" b="1" dirty="0">
                <a:solidFill>
                  <a:srgbClr val="C00000"/>
                </a:solidFill>
              </a:rPr>
              <a:t>(</a:t>
            </a:r>
            <a:r>
              <a:rPr lang="zh-CN" altLang="en-US" sz="2800" b="1" dirty="0">
                <a:solidFill>
                  <a:srgbClr val="C00000"/>
                </a:solidFill>
              </a:rPr>
              <a:t>选讲</a:t>
            </a:r>
            <a:r>
              <a:rPr lang="en-US" altLang="zh-CN" sz="2800" b="1" dirty="0">
                <a:solidFill>
                  <a:srgbClr val="C00000"/>
                </a:solidFill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A50021"/>
                </a:solidFill>
              </a:rPr>
              <a:t>六、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数值性信息的表达：浮点数            </a:t>
            </a:r>
            <a:r>
              <a:rPr lang="en-US" altLang="zh-CN" sz="2800" b="1" dirty="0">
                <a:solidFill>
                  <a:srgbClr val="C00000"/>
                </a:solidFill>
              </a:rPr>
              <a:t>(</a:t>
            </a:r>
            <a:r>
              <a:rPr lang="zh-CN" altLang="en-US" sz="2800" b="1" dirty="0">
                <a:solidFill>
                  <a:srgbClr val="C00000"/>
                </a:solidFill>
              </a:rPr>
              <a:t>选讲</a:t>
            </a:r>
            <a:r>
              <a:rPr lang="en-US" altLang="zh-CN" sz="2800" b="1" dirty="0">
                <a:solidFill>
                  <a:srgbClr val="C00000"/>
                </a:solidFill>
              </a:rPr>
              <a:t>)</a:t>
            </a:r>
            <a:endParaRPr lang="en-US" altLang="zh-CN" sz="2800" b="1" dirty="0">
              <a:solidFill>
                <a:srgbClr val="A50021"/>
              </a:solidFill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rgbClr val="A50021"/>
                </a:solidFill>
              </a:rPr>
              <a:t>七、非数值性信息的表达：编码与组合</a:t>
            </a:r>
            <a:endParaRPr lang="en-US" altLang="zh-CN" sz="2800" b="1" dirty="0">
              <a:solidFill>
                <a:srgbClr val="A50021"/>
              </a:solidFill>
            </a:endParaRPr>
          </a:p>
          <a:p>
            <a:pPr>
              <a:lnSpc>
                <a:spcPct val="130000"/>
              </a:lnSpc>
              <a:defRPr/>
            </a:pPr>
            <a:endParaRPr lang="en-US" altLang="zh-CN" sz="2800" b="1" dirty="0">
              <a:solidFill>
                <a:srgbClr val="A5002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计数制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数值性信息的表达：计数制与机器数</a:t>
            </a:r>
          </a:p>
        </p:txBody>
      </p:sp>
      <p:grpSp>
        <p:nvGrpSpPr>
          <p:cNvPr id="28" name="Group 2"/>
          <p:cNvGrpSpPr/>
          <p:nvPr/>
        </p:nvGrpSpPr>
        <p:grpSpPr bwMode="auto">
          <a:xfrm>
            <a:off x="2687784" y="3860382"/>
            <a:ext cx="1646759" cy="1118974"/>
            <a:chOff x="486" y="2211"/>
            <a:chExt cx="898" cy="748"/>
          </a:xfrm>
        </p:grpSpPr>
        <p:sp>
          <p:nvSpPr>
            <p:cNvPr id="29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0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1" name="Text Box 84"/>
            <p:cNvSpPr txBox="1">
              <a:spLocks noChangeArrowheads="1"/>
            </p:cNvSpPr>
            <p:nvPr/>
          </p:nvSpPr>
          <p:spPr bwMode="auto">
            <a:xfrm>
              <a:off x="563" y="2422"/>
              <a:ext cx="743" cy="30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二进制 </a:t>
              </a:r>
            </a:p>
          </p:txBody>
        </p:sp>
      </p:grpSp>
      <p:grpSp>
        <p:nvGrpSpPr>
          <p:cNvPr id="32" name="Group 2"/>
          <p:cNvGrpSpPr/>
          <p:nvPr/>
        </p:nvGrpSpPr>
        <p:grpSpPr bwMode="auto">
          <a:xfrm>
            <a:off x="2689085" y="5331723"/>
            <a:ext cx="1644157" cy="1237866"/>
            <a:chOff x="486" y="2211"/>
            <a:chExt cx="898" cy="748"/>
          </a:xfrm>
        </p:grpSpPr>
        <p:sp>
          <p:nvSpPr>
            <p:cNvPr id="33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4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5" name="Text Box 84"/>
            <p:cNvSpPr txBox="1">
              <a:spLocks noChangeArrowheads="1"/>
            </p:cNvSpPr>
            <p:nvPr/>
          </p:nvSpPr>
          <p:spPr bwMode="auto">
            <a:xfrm>
              <a:off x="644" y="2292"/>
              <a:ext cx="582" cy="5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十六进制</a:t>
              </a:r>
            </a:p>
          </p:txBody>
        </p:sp>
      </p:grpSp>
      <p:grpSp>
        <p:nvGrpSpPr>
          <p:cNvPr id="13" name="Group 2"/>
          <p:cNvGrpSpPr/>
          <p:nvPr/>
        </p:nvGrpSpPr>
        <p:grpSpPr bwMode="auto">
          <a:xfrm>
            <a:off x="2687784" y="2389040"/>
            <a:ext cx="1646759" cy="1118974"/>
            <a:chOff x="486" y="2211"/>
            <a:chExt cx="898" cy="748"/>
          </a:xfrm>
        </p:grpSpPr>
        <p:sp>
          <p:nvSpPr>
            <p:cNvPr id="14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5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84"/>
            <p:cNvSpPr txBox="1">
              <a:spLocks noChangeArrowheads="1"/>
            </p:cNvSpPr>
            <p:nvPr/>
          </p:nvSpPr>
          <p:spPr bwMode="auto">
            <a:xfrm>
              <a:off x="563" y="2422"/>
              <a:ext cx="743" cy="30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十进制 </a:t>
              </a:r>
            </a:p>
          </p:txBody>
        </p:sp>
      </p:grp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4470245" y="2166817"/>
            <a:ext cx="6151043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有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0,1,2,3,4,5,6,7,8,9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共十个数码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数码的位置规定了数码的等级“权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/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数位”：</a:t>
            </a:r>
            <a:r>
              <a:rPr lang="en-US" altLang="zh-CN" sz="2000" dirty="0" err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10</a:t>
            </a:r>
            <a:r>
              <a:rPr lang="en-US" altLang="zh-CN" sz="2000" baseline="30000" dirty="0" err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i</a:t>
            </a:r>
            <a:endParaRPr lang="en-US" altLang="zh-CN" sz="2000" baseline="30000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逢十进一、借一当十。高数位的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相当于低数位的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10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470245" y="3773538"/>
            <a:ext cx="6151043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有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0,1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共两个数码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数码的位置规定了数码的等级“权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/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数位”：</a:t>
            </a:r>
            <a:r>
              <a:rPr lang="en-US" altLang="zh-CN" sz="2000" dirty="0" err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2</a:t>
            </a:r>
            <a:r>
              <a:rPr lang="en-US" altLang="zh-CN" sz="2000" baseline="30000" dirty="0" err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i</a:t>
            </a:r>
            <a:endParaRPr lang="en-US" altLang="zh-CN" sz="2000" baseline="30000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逢二进一、借一当二。高数位的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相当于低数位的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2</a:t>
            </a: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4468729" y="5276927"/>
            <a:ext cx="668324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有</a:t>
            </a:r>
            <a:r>
              <a:rPr lang="en-US" altLang="zh-CN" sz="2000" dirty="0" err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0,1,2,3,4,5,6,7,8,9,A,B,C,D,E,F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共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16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个数码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数码的位置规定了数码的等级“权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/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数位”：</a:t>
            </a:r>
            <a:r>
              <a:rPr lang="en-US" altLang="zh-CN" sz="2000" dirty="0" err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16</a:t>
            </a:r>
            <a:r>
              <a:rPr lang="en-US" altLang="zh-CN" sz="2000" baseline="30000" dirty="0" err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i</a:t>
            </a:r>
            <a:endParaRPr lang="en-US" altLang="zh-CN" sz="2000" baseline="30000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逢十六进一、借一当十六。高数位的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en-US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相当于低数位的</a:t>
            </a:r>
            <a:r>
              <a:rPr lang="en-US" altLang="zh-CN" sz="2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16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65933" y="270468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日常使用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454671" y="4104716"/>
            <a:ext cx="1233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机器内部使用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464388" y="5566778"/>
            <a:ext cx="1213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辅助辨识机器数据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293" name="Text Box 5"/>
          <p:cNvSpPr txBox="1">
            <a:spLocks noChangeArrowheads="1"/>
          </p:cNvSpPr>
          <p:nvPr/>
        </p:nvSpPr>
        <p:spPr bwMode="auto">
          <a:xfrm>
            <a:off x="3421691" y="5444201"/>
            <a:ext cx="74406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=1×2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7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6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5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4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+0×2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3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+0×2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+0×2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=  (245.25)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十</a:t>
            </a:r>
          </a:p>
        </p:txBody>
      </p:sp>
      <p:sp>
        <p:nvSpPr>
          <p:cNvPr id="1548294" name="Rectangle 6"/>
          <p:cNvSpPr>
            <a:spLocks noChangeArrowheads="1"/>
          </p:cNvSpPr>
          <p:nvPr/>
        </p:nvSpPr>
        <p:spPr bwMode="auto">
          <a:xfrm>
            <a:off x="3053390" y="4701252"/>
            <a:ext cx="5086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隶书" panose="02010509060101010101" pitchFamily="49" charset="-122"/>
                <a:cs typeface="+mn-cs"/>
              </a:rPr>
              <a:t>例如：     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(1 1 1 1 0 1 0 1 . 0 1)</a:t>
            </a:r>
            <a:r>
              <a:rPr kumimoji="0" lang="zh-CN" alt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二 </a:t>
            </a:r>
          </a:p>
        </p:txBody>
      </p:sp>
      <p:grpSp>
        <p:nvGrpSpPr>
          <p:cNvPr id="1548295" name="Group 7"/>
          <p:cNvGrpSpPr/>
          <p:nvPr/>
        </p:nvGrpSpPr>
        <p:grpSpPr bwMode="auto">
          <a:xfrm>
            <a:off x="4736140" y="4083714"/>
            <a:ext cx="3124200" cy="519112"/>
            <a:chOff x="1116" y="2448"/>
            <a:chExt cx="1968" cy="327"/>
          </a:xfrm>
        </p:grpSpPr>
        <p:sp>
          <p:nvSpPr>
            <p:cNvPr id="1548296" name="Rectangle 8"/>
            <p:cNvSpPr>
              <a:spLocks noChangeArrowheads="1"/>
            </p:cNvSpPr>
            <p:nvPr/>
          </p:nvSpPr>
          <p:spPr bwMode="auto">
            <a:xfrm>
              <a:off x="1116" y="2448"/>
              <a:ext cx="19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7 6 5 4 3 2 1 0 .-1 -2</a:t>
              </a:r>
            </a:p>
          </p:txBody>
        </p:sp>
        <p:sp>
          <p:nvSpPr>
            <p:cNvPr id="1548297" name="Line 9"/>
            <p:cNvSpPr>
              <a:spLocks noChangeShapeType="1"/>
            </p:cNvSpPr>
            <p:nvPr/>
          </p:nvSpPr>
          <p:spPr bwMode="auto">
            <a:xfrm>
              <a:off x="1116" y="276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</p:grpSp>
      <p:sp>
        <p:nvSpPr>
          <p:cNvPr id="1548298" name="Rectangle 10"/>
          <p:cNvSpPr>
            <a:spLocks noChangeArrowheads="1"/>
          </p:cNvSpPr>
          <p:nvPr/>
        </p:nvSpPr>
        <p:spPr bwMode="auto">
          <a:xfrm>
            <a:off x="4750429" y="3717001"/>
            <a:ext cx="31598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7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6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5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4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3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. 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 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0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</a:p>
        </p:txBody>
      </p:sp>
      <p:sp>
        <p:nvSpPr>
          <p:cNvPr id="1548299" name="Line 11"/>
          <p:cNvSpPr>
            <a:spLocks noChangeShapeType="1"/>
          </p:cNvSpPr>
          <p:nvPr/>
        </p:nvSpPr>
        <p:spPr bwMode="auto">
          <a:xfrm>
            <a:off x="8246104" y="3951951"/>
            <a:ext cx="1131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1548300" name="Text Box 12"/>
          <p:cNvSpPr txBox="1">
            <a:spLocks noChangeArrowheads="1"/>
          </p:cNvSpPr>
          <p:nvPr/>
        </p:nvSpPr>
        <p:spPr bwMode="auto">
          <a:xfrm>
            <a:off x="9387515" y="3769389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数位的权值</a:t>
            </a:r>
          </a:p>
        </p:txBody>
      </p:sp>
      <p:sp>
        <p:nvSpPr>
          <p:cNvPr id="1548301" name="Line 13"/>
          <p:cNvSpPr>
            <a:spLocks noChangeShapeType="1"/>
          </p:cNvSpPr>
          <p:nvPr/>
        </p:nvSpPr>
        <p:spPr bwMode="auto">
          <a:xfrm>
            <a:off x="8233404" y="4339301"/>
            <a:ext cx="1131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1548302" name="Text Box 14"/>
          <p:cNvSpPr txBox="1">
            <a:spLocks noChangeArrowheads="1"/>
          </p:cNvSpPr>
          <p:nvPr/>
        </p:nvSpPr>
        <p:spPr bwMode="auto">
          <a:xfrm>
            <a:off x="9374816" y="4156739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数位</a:t>
            </a:r>
          </a:p>
        </p:txBody>
      </p:sp>
      <p:sp>
        <p:nvSpPr>
          <p:cNvPr id="1548303" name="Line 15"/>
          <p:cNvSpPr>
            <a:spLocks noChangeShapeType="1"/>
          </p:cNvSpPr>
          <p:nvPr/>
        </p:nvSpPr>
        <p:spPr bwMode="auto">
          <a:xfrm>
            <a:off x="8234990" y="4955251"/>
            <a:ext cx="113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1548304" name="Text Box 16"/>
          <p:cNvSpPr txBox="1">
            <a:spLocks noChangeArrowheads="1"/>
          </p:cNvSpPr>
          <p:nvPr/>
        </p:nvSpPr>
        <p:spPr bwMode="auto">
          <a:xfrm>
            <a:off x="9376403" y="4772689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二进制数</a:t>
            </a:r>
          </a:p>
        </p:txBody>
      </p:sp>
      <p:sp>
        <p:nvSpPr>
          <p:cNvPr id="1548306" name="Rectangle 18"/>
          <p:cNvSpPr>
            <a:spLocks noChangeArrowheads="1"/>
          </p:cNvSpPr>
          <p:nvPr/>
        </p:nvSpPr>
        <p:spPr bwMode="auto">
          <a:xfrm>
            <a:off x="707570" y="1975051"/>
            <a:ext cx="6022975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0,1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共两个数码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数码的位置规定了数码的等级“权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数位”：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</a:t>
            </a:r>
            <a:r>
              <a:rPr kumimoji="0" lang="en-US" altLang="zh-CN" sz="20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i</a:t>
            </a:r>
            <a:endParaRPr kumimoji="0" lang="en-US" altLang="zh-CN" sz="20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逢二进一、借一当二。高数位的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相当于低数位的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“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二”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----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基值，二进制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计数制 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8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8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82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48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8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8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48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48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48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8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8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48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48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48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48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48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48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48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48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4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4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82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8293" grpId="0" autoUpdateAnimBg="0"/>
      <p:bldP spid="1548294" grpId="0" autoUpdateAnimBg="0"/>
      <p:bldP spid="1548300" grpId="0"/>
      <p:bldP spid="1548302" grpId="0"/>
      <p:bldP spid="154830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0370" name="Picture 3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444" y="1996807"/>
            <a:ext cx="2148724" cy="207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50341" name="Rectangle 5"/>
          <p:cNvSpPr>
            <a:spLocks noChangeArrowheads="1"/>
          </p:cNvSpPr>
          <p:nvPr/>
        </p:nvSpPr>
        <p:spPr bwMode="auto">
          <a:xfrm>
            <a:off x="2136450" y="4655965"/>
            <a:ext cx="54816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(d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n-1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n-2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……d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. d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……d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-m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 </a:t>
            </a:r>
            <a:endParaRPr kumimoji="0" lang="zh-CN" altLang="en-US" sz="2800" b="0" i="0" u="none" strike="noStrike" kern="1200" cap="none" spc="0" normalizeH="0" baseline="-2500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</p:txBody>
      </p:sp>
      <p:sp>
        <p:nvSpPr>
          <p:cNvPr id="1550342" name="Rectangle 6"/>
          <p:cNvSpPr>
            <a:spLocks noChangeArrowheads="1"/>
          </p:cNvSpPr>
          <p:nvPr/>
        </p:nvSpPr>
        <p:spPr bwMode="auto">
          <a:xfrm>
            <a:off x="2226619" y="4139220"/>
            <a:ext cx="50145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n-1  n-2  …  2 1 0  . -1 -2  …  -m</a:t>
            </a:r>
          </a:p>
        </p:txBody>
      </p:sp>
      <p:sp>
        <p:nvSpPr>
          <p:cNvPr id="1550343" name="Line 7"/>
          <p:cNvSpPr>
            <a:spLocks noChangeShapeType="1"/>
          </p:cNvSpPr>
          <p:nvPr/>
        </p:nvSpPr>
        <p:spPr bwMode="auto">
          <a:xfrm>
            <a:off x="2547612" y="4605165"/>
            <a:ext cx="4473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1550344" name="Rectangle 8"/>
          <p:cNvSpPr>
            <a:spLocks noChangeArrowheads="1"/>
          </p:cNvSpPr>
          <p:nvPr/>
        </p:nvSpPr>
        <p:spPr bwMode="auto">
          <a:xfrm>
            <a:off x="2369795" y="3747855"/>
            <a:ext cx="47307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n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n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 .… …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 .  r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-1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-2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……  r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-m</a:t>
            </a:r>
          </a:p>
        </p:txBody>
      </p:sp>
      <p:sp>
        <p:nvSpPr>
          <p:cNvPr id="1550345" name="Text Box 9"/>
          <p:cNvSpPr txBox="1">
            <a:spLocks noChangeArrowheads="1"/>
          </p:cNvSpPr>
          <p:nvPr/>
        </p:nvSpPr>
        <p:spPr bwMode="auto">
          <a:xfrm>
            <a:off x="1680837" y="5311602"/>
            <a:ext cx="8861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+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-m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90204"/>
              <a:ea typeface="隶书" panose="02010509060101010101" pitchFamily="49" charset="-122"/>
              <a:cs typeface="+mn-cs"/>
            </a:endParaRPr>
          </a:p>
        </p:txBody>
      </p:sp>
      <p:grpSp>
        <p:nvGrpSpPr>
          <p:cNvPr id="1550346" name="Group 10"/>
          <p:cNvGrpSpPr/>
          <p:nvPr/>
        </p:nvGrpSpPr>
        <p:grpSpPr bwMode="auto">
          <a:xfrm>
            <a:off x="8291186" y="5768802"/>
            <a:ext cx="1384300" cy="838200"/>
            <a:chOff x="4416" y="2160"/>
            <a:chExt cx="872" cy="528"/>
          </a:xfrm>
        </p:grpSpPr>
        <p:grpSp>
          <p:nvGrpSpPr>
            <p:cNvPr id="1550347" name="Group 11"/>
            <p:cNvGrpSpPr/>
            <p:nvPr/>
          </p:nvGrpSpPr>
          <p:grpSpPr bwMode="auto">
            <a:xfrm>
              <a:off x="4752" y="2160"/>
              <a:ext cx="536" cy="528"/>
              <a:chOff x="4779" y="2220"/>
              <a:chExt cx="536" cy="528"/>
            </a:xfrm>
          </p:grpSpPr>
          <p:sp>
            <p:nvSpPr>
              <p:cNvPr id="1550348" name="Rectangle 12"/>
              <p:cNvSpPr>
                <a:spLocks noChangeArrowheads="1"/>
              </p:cNvSpPr>
              <p:nvPr/>
            </p:nvSpPr>
            <p:spPr bwMode="auto">
              <a:xfrm>
                <a:off x="4809" y="2283"/>
                <a:ext cx="206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隶书" panose="02010509060101010101" pitchFamily="49" charset="-122"/>
                    <a:cs typeface="+mn-cs"/>
                  </a:rPr>
                  <a:t>å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49" name="Rectangle 13"/>
              <p:cNvSpPr>
                <a:spLocks noChangeArrowheads="1"/>
              </p:cNvSpPr>
              <p:nvPr/>
            </p:nvSpPr>
            <p:spPr bwMode="auto">
              <a:xfrm>
                <a:off x="4892" y="2220"/>
                <a:ext cx="6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隶书" panose="02010509060101010101" pitchFamily="49" charset="-122"/>
                    <a:cs typeface="+mn-cs"/>
                  </a:rPr>
                  <a:t>-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0" name="Rectangle 14"/>
              <p:cNvSpPr>
                <a:spLocks noChangeArrowheads="1"/>
              </p:cNvSpPr>
              <p:nvPr/>
            </p:nvSpPr>
            <p:spPr bwMode="auto">
              <a:xfrm>
                <a:off x="4887" y="2599"/>
                <a:ext cx="6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隶书" panose="02010509060101010101" pitchFamily="49" charset="-122"/>
                    <a:cs typeface="+mn-cs"/>
                  </a:rPr>
                  <a:t>-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1" name="Rectangle 15"/>
              <p:cNvSpPr>
                <a:spLocks noChangeArrowheads="1"/>
              </p:cNvSpPr>
              <p:nvPr/>
            </p:nvSpPr>
            <p:spPr bwMode="auto">
              <a:xfrm>
                <a:off x="4819" y="2599"/>
                <a:ext cx="6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隶书" panose="02010509060101010101" pitchFamily="49" charset="-122"/>
                    <a:cs typeface="+mn-cs"/>
                  </a:rPr>
                  <a:t>=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2" name="Rectangle 16"/>
              <p:cNvSpPr>
                <a:spLocks noChangeArrowheads="1"/>
              </p:cNvSpPr>
              <p:nvPr/>
            </p:nvSpPr>
            <p:spPr bwMode="auto">
              <a:xfrm>
                <a:off x="4947" y="2232"/>
                <a:ext cx="5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隶书" panose="02010509060101010101" pitchFamily="49" charset="-122"/>
                    <a:cs typeface="+mn-cs"/>
                  </a:rPr>
                  <a:t>1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3" name="Rectangle 17"/>
              <p:cNvSpPr>
                <a:spLocks noChangeArrowheads="1"/>
              </p:cNvSpPr>
              <p:nvPr/>
            </p:nvSpPr>
            <p:spPr bwMode="auto">
              <a:xfrm>
                <a:off x="4829" y="2233"/>
                <a:ext cx="5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隶书" panose="02010509060101010101" pitchFamily="49" charset="-122"/>
                    <a:cs typeface="+mn-cs"/>
                  </a:rPr>
                  <a:t>n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4" name="Rectangle 18"/>
              <p:cNvSpPr>
                <a:spLocks noChangeArrowheads="1"/>
              </p:cNvSpPr>
              <p:nvPr/>
            </p:nvSpPr>
            <p:spPr bwMode="auto">
              <a:xfrm>
                <a:off x="4958" y="2612"/>
                <a:ext cx="88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隶书" panose="02010509060101010101" pitchFamily="49" charset="-122"/>
                    <a:cs typeface="+mn-cs"/>
                  </a:rPr>
                  <a:t>m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5" name="Rectangle 19"/>
              <p:cNvSpPr>
                <a:spLocks noChangeArrowheads="1"/>
              </p:cNvSpPr>
              <p:nvPr/>
            </p:nvSpPr>
            <p:spPr bwMode="auto">
              <a:xfrm>
                <a:off x="4779" y="2612"/>
                <a:ext cx="3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隶书" panose="02010509060101010101" pitchFamily="49" charset="-122"/>
                    <a:cs typeface="+mn-cs"/>
                  </a:rPr>
                  <a:t>i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6" name="Rectangle 20"/>
              <p:cNvSpPr>
                <a:spLocks noChangeArrowheads="1"/>
              </p:cNvSpPr>
              <p:nvPr/>
            </p:nvSpPr>
            <p:spPr bwMode="auto">
              <a:xfrm>
                <a:off x="5144" y="2476"/>
                <a:ext cx="3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隶书" panose="02010509060101010101" pitchFamily="49" charset="-122"/>
                    <a:cs typeface="+mn-cs"/>
                  </a:rPr>
                  <a:t>i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7" name="Rectangle 21"/>
              <p:cNvSpPr>
                <a:spLocks noChangeArrowheads="1"/>
              </p:cNvSpPr>
              <p:nvPr/>
            </p:nvSpPr>
            <p:spPr bwMode="auto">
              <a:xfrm>
                <a:off x="5293" y="2396"/>
                <a:ext cx="22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隶书" panose="02010509060101010101" pitchFamily="49" charset="-122"/>
                    <a:cs typeface="+mn-cs"/>
                  </a:rPr>
                  <a:t>i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8" name="Rectangle 22"/>
              <p:cNvSpPr>
                <a:spLocks noChangeArrowheads="1"/>
              </p:cNvSpPr>
              <p:nvPr/>
            </p:nvSpPr>
            <p:spPr bwMode="auto">
              <a:xfrm>
                <a:off x="5188" y="2357"/>
                <a:ext cx="6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隶书" panose="02010509060101010101" pitchFamily="49" charset="-122"/>
                    <a:cs typeface="+mn-cs"/>
                  </a:rPr>
                  <a:t>r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550359" name="Rectangle 23"/>
              <p:cNvSpPr>
                <a:spLocks noChangeArrowheads="1"/>
              </p:cNvSpPr>
              <p:nvPr/>
            </p:nvSpPr>
            <p:spPr bwMode="auto">
              <a:xfrm>
                <a:off x="5040" y="2357"/>
                <a:ext cx="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隶书" panose="02010509060101010101" pitchFamily="49" charset="-122"/>
                    <a:cs typeface="+mn-cs"/>
                  </a:rPr>
                  <a:t>d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</p:grpSp>
        <p:sp>
          <p:nvSpPr>
            <p:cNvPr id="1550360" name="Text Box 24"/>
            <p:cNvSpPr txBox="1">
              <a:spLocks noChangeArrowheads="1"/>
            </p:cNvSpPr>
            <p:nvPr/>
          </p:nvSpPr>
          <p:spPr bwMode="auto">
            <a:xfrm>
              <a:off x="4416" y="2304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rPr>
                <a:t>=</a:t>
              </a:r>
            </a:p>
          </p:txBody>
        </p:sp>
      </p:grpSp>
      <p:sp>
        <p:nvSpPr>
          <p:cNvPr id="1550361" name="Text Box 25"/>
          <p:cNvSpPr txBox="1">
            <a:spLocks noChangeArrowheads="1"/>
          </p:cNvSpPr>
          <p:nvPr/>
        </p:nvSpPr>
        <p:spPr bwMode="auto">
          <a:xfrm>
            <a:off x="7927649" y="3752677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数位的权值</a:t>
            </a:r>
          </a:p>
        </p:txBody>
      </p:sp>
      <p:sp>
        <p:nvSpPr>
          <p:cNvPr id="1550362" name="Text Box 26"/>
          <p:cNvSpPr txBox="1">
            <a:spLocks noChangeArrowheads="1"/>
          </p:cNvSpPr>
          <p:nvPr/>
        </p:nvSpPr>
        <p:spPr bwMode="auto">
          <a:xfrm>
            <a:off x="8286425" y="4140027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数位</a:t>
            </a:r>
          </a:p>
        </p:txBody>
      </p:sp>
      <p:sp>
        <p:nvSpPr>
          <p:cNvPr id="1550363" name="Line 27"/>
          <p:cNvSpPr>
            <a:spLocks noChangeShapeType="1"/>
          </p:cNvSpPr>
          <p:nvPr/>
        </p:nvSpPr>
        <p:spPr bwMode="auto">
          <a:xfrm>
            <a:off x="7073575" y="3935240"/>
            <a:ext cx="858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1550364" name="Line 28"/>
          <p:cNvSpPr>
            <a:spLocks noChangeShapeType="1"/>
          </p:cNvSpPr>
          <p:nvPr/>
        </p:nvSpPr>
        <p:spPr bwMode="auto">
          <a:xfrm>
            <a:off x="7435525" y="4322590"/>
            <a:ext cx="858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1550365" name="Line 29"/>
          <p:cNvSpPr>
            <a:spLocks noChangeShapeType="1"/>
          </p:cNvSpPr>
          <p:nvPr/>
        </p:nvSpPr>
        <p:spPr bwMode="auto">
          <a:xfrm>
            <a:off x="7437111" y="4938540"/>
            <a:ext cx="858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1550366" name="Text Box 30"/>
          <p:cNvSpPr txBox="1">
            <a:spLocks noChangeArrowheads="1"/>
          </p:cNvSpPr>
          <p:nvPr/>
        </p:nvSpPr>
        <p:spPr bwMode="auto">
          <a:xfrm>
            <a:off x="8288012" y="4767090"/>
            <a:ext cx="9541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进制数</a:t>
            </a:r>
          </a:p>
        </p:txBody>
      </p:sp>
      <p:sp>
        <p:nvSpPr>
          <p:cNvPr id="33" name="标题 1"/>
          <p:cNvSpPr txBox="1"/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计数制 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任意进制 暨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Rectangle 18"/>
          <p:cNvSpPr>
            <a:spLocks noChangeArrowheads="1"/>
          </p:cNvSpPr>
          <p:nvPr/>
        </p:nvSpPr>
        <p:spPr bwMode="auto">
          <a:xfrm>
            <a:off x="654993" y="1947194"/>
            <a:ext cx="5703806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0,1,…,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共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个数码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数码的位置规定了数码的等级“权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数位”：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i</a:t>
            </a:r>
            <a:endParaRPr kumimoji="0" lang="en-US" altLang="zh-CN" sz="20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逢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进一、借一当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。高数位的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相当于低数位的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“r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”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----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基值，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进制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0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0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0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0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50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50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50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50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50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50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50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50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5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5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50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50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50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50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50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50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50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50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0341" grpId="0"/>
      <p:bldP spid="1550342" grpId="0"/>
      <p:bldP spid="1550344" grpId="0"/>
      <p:bldP spid="1550345" grpId="0"/>
      <p:bldP spid="1550361" grpId="0"/>
      <p:bldP spid="1550362" grpId="0"/>
      <p:bldP spid="155036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367" name="Rectangle 31"/>
          <p:cNvSpPr>
            <a:spLocks noChangeArrowheads="1"/>
          </p:cNvSpPr>
          <p:nvPr/>
        </p:nvSpPr>
        <p:spPr bwMode="auto">
          <a:xfrm>
            <a:off x="788598" y="2176169"/>
            <a:ext cx="8910038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十六进制：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0,1,2,3,4,5,6,7,8,9,A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(10)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, B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(11)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,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C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(12)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,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(13)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,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(14)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, 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(15)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八进制：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0,1,2,3,4,5,6,7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十进制：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0,1,2,3,4,5,6,7,8,9</a:t>
            </a:r>
          </a:p>
        </p:txBody>
      </p:sp>
      <p:sp>
        <p:nvSpPr>
          <p:cNvPr id="1550368" name="Rectangle 32"/>
          <p:cNvSpPr>
            <a:spLocks noChangeArrowheads="1"/>
          </p:cNvSpPr>
          <p:nvPr/>
        </p:nvSpPr>
        <p:spPr bwMode="auto">
          <a:xfrm>
            <a:off x="1046473" y="4549363"/>
            <a:ext cx="9586961" cy="1055608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(365.2)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,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11011.01)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,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3460.32)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八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,   (596.12)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十六</a:t>
            </a:r>
            <a:endParaRPr kumimoji="0" lang="en-US" altLang="zh-CN" sz="2800" b="0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50305040509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ea typeface="楷体_GB2312" pitchFamily="49" charset="-122"/>
                <a:cs typeface="+mn-cs"/>
              </a:rPr>
              <a:t>365.2 D      11011.01 B         3460.32 O    596.12 H        34AH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50305040509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3" name="标题 1"/>
          <p:cNvSpPr txBox="1"/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计数制 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几种特殊的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0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0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50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50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0367" grpId="0"/>
      <p:bldP spid="155036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362" name="Rectangle 2"/>
          <p:cNvSpPr>
            <a:spLocks noChangeArrowheads="1"/>
          </p:cNvSpPr>
          <p:nvPr/>
        </p:nvSpPr>
        <p:spPr bwMode="auto">
          <a:xfrm>
            <a:off x="1046191" y="2019061"/>
            <a:ext cx="5468938" cy="43195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(7 5 3 . 3 7)</a:t>
            </a:r>
            <a:r>
              <a:rPr kumimoji="0" lang="zh-CN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八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 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7 5 3 . 3 7  O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=7×8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+5×8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+3×8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+3×8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+7×8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-2   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491.484375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)</a:t>
            </a:r>
            <a:r>
              <a:rPr kumimoji="0" lang="zh-CN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十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EF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(7 5 3 . 3 7)</a:t>
            </a:r>
            <a:r>
              <a:rPr kumimoji="0" lang="zh-CN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十六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7 5 3 . 3 7  H =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7 5 3 . 3 7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=7×16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+5×16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+3×16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+3×16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+7×16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-2 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1875.2148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)</a:t>
            </a:r>
            <a:r>
              <a:rPr kumimoji="0" lang="zh-CN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十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FFFFEF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(7 5 3 . 3 7)</a:t>
            </a:r>
            <a:r>
              <a:rPr kumimoji="0" lang="zh-CN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十二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=7×12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+5×12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+3×12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+3×12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+7×12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-2 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1071.2986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)</a:t>
            </a:r>
            <a:r>
              <a:rPr kumimoji="0" lang="zh-CN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十</a:t>
            </a:r>
          </a:p>
        </p:txBody>
      </p:sp>
      <p:sp>
        <p:nvSpPr>
          <p:cNvPr id="1551363" name="Text Box 3"/>
          <p:cNvSpPr txBox="1">
            <a:spLocks noChangeArrowheads="1"/>
          </p:cNvSpPr>
          <p:nvPr/>
        </p:nvSpPr>
        <p:spPr bwMode="auto">
          <a:xfrm>
            <a:off x="944592" y="6330711"/>
            <a:ext cx="64171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同一个数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串，由于进制不同其所表达的数值大小也是不同的</a:t>
            </a:r>
          </a:p>
        </p:txBody>
      </p:sp>
      <p:sp>
        <p:nvSpPr>
          <p:cNvPr id="1551364" name="Rectangle 4"/>
          <p:cNvSpPr>
            <a:spLocks noChangeArrowheads="1"/>
          </p:cNvSpPr>
          <p:nvPr/>
        </p:nvSpPr>
        <p:spPr bwMode="auto">
          <a:xfrm>
            <a:off x="7716779" y="2019061"/>
            <a:ext cx="3105150" cy="32670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245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的十进制表示记为：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245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245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的二进制表示记为：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11110101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245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的八进制表示记为：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365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245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的十六进制表示记为：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EF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F5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</p:txBody>
      </p:sp>
      <p:sp>
        <p:nvSpPr>
          <p:cNvPr id="1551365" name="Text Box 5"/>
          <p:cNvSpPr txBox="1">
            <a:spLocks noChangeArrowheads="1"/>
          </p:cNvSpPr>
          <p:nvPr/>
        </p:nvSpPr>
        <p:spPr bwMode="auto">
          <a:xfrm>
            <a:off x="7632641" y="5300423"/>
            <a:ext cx="3289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同一个数值，用不同进制表达，结果也是不同的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计数制 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一个数值用不同进制表示，其数码串是不同的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51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51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1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1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51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51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51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51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51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51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1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1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51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51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51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51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51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51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5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5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5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5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5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5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5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5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5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55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5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55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5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5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5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55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1362" grpId="0" build="p" autoUpdateAnimBg="0"/>
      <p:bldP spid="1551364" grpId="0" build="p" autoUpdateAnimBg="0"/>
      <p:bldP spid="15513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598" name="Text Box 6"/>
          <p:cNvSpPr txBox="1">
            <a:spLocks noChangeArrowheads="1"/>
          </p:cNvSpPr>
          <p:nvPr/>
        </p:nvSpPr>
        <p:spPr bwMode="auto">
          <a:xfrm>
            <a:off x="2645570" y="2640528"/>
            <a:ext cx="65500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 = (d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n-1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n-2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……d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.d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……d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-m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)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</a:p>
        </p:txBody>
      </p:sp>
      <p:sp>
        <p:nvSpPr>
          <p:cNvPr id="1646599" name="Text Box 7"/>
          <p:cNvSpPr txBox="1">
            <a:spLocks noChangeArrowheads="1"/>
          </p:cNvSpPr>
          <p:nvPr/>
        </p:nvSpPr>
        <p:spPr bwMode="auto">
          <a:xfrm>
            <a:off x="3043238" y="428364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646600" name="Text Box 8"/>
          <p:cNvSpPr txBox="1">
            <a:spLocks noChangeArrowheads="1"/>
          </p:cNvSpPr>
          <p:nvPr/>
        </p:nvSpPr>
        <p:spPr bwMode="auto">
          <a:xfrm>
            <a:off x="8343901" y="369309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646601" name="Text Box 9"/>
          <p:cNvSpPr txBox="1">
            <a:spLocks noChangeArrowheads="1"/>
          </p:cNvSpPr>
          <p:nvPr/>
        </p:nvSpPr>
        <p:spPr bwMode="auto">
          <a:xfrm>
            <a:off x="1398588" y="3212028"/>
            <a:ext cx="8836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 d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+d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 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+ d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-m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90204"/>
              <a:ea typeface="隶书" panose="02010509060101010101" pitchFamily="49" charset="-122"/>
              <a:cs typeface="+mn-cs"/>
            </a:endParaRPr>
          </a:p>
        </p:txBody>
      </p:sp>
      <p:grpSp>
        <p:nvGrpSpPr>
          <p:cNvPr id="1646602" name="Group 10"/>
          <p:cNvGrpSpPr/>
          <p:nvPr/>
        </p:nvGrpSpPr>
        <p:grpSpPr bwMode="auto">
          <a:xfrm>
            <a:off x="10005219" y="3021528"/>
            <a:ext cx="1377950" cy="838200"/>
            <a:chOff x="4416" y="2160"/>
            <a:chExt cx="868" cy="528"/>
          </a:xfrm>
        </p:grpSpPr>
        <p:grpSp>
          <p:nvGrpSpPr>
            <p:cNvPr id="1646603" name="Group 11"/>
            <p:cNvGrpSpPr/>
            <p:nvPr/>
          </p:nvGrpSpPr>
          <p:grpSpPr bwMode="auto">
            <a:xfrm>
              <a:off x="4752" y="2160"/>
              <a:ext cx="532" cy="528"/>
              <a:chOff x="4779" y="2220"/>
              <a:chExt cx="532" cy="528"/>
            </a:xfrm>
          </p:grpSpPr>
          <p:sp>
            <p:nvSpPr>
              <p:cNvPr id="1646604" name="Rectangle 12"/>
              <p:cNvSpPr>
                <a:spLocks noChangeArrowheads="1"/>
              </p:cNvSpPr>
              <p:nvPr/>
            </p:nvSpPr>
            <p:spPr bwMode="auto">
              <a:xfrm>
                <a:off x="4809" y="2283"/>
                <a:ext cx="171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  <a:sym typeface="Symbol" panose="05050102010706020507" pitchFamily="18" charset="2"/>
                  </a:rPr>
                  <a:t>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1646605" name="Rectangle 13"/>
              <p:cNvSpPr>
                <a:spLocks noChangeArrowheads="1"/>
              </p:cNvSpPr>
              <p:nvPr/>
            </p:nvSpPr>
            <p:spPr bwMode="auto">
              <a:xfrm>
                <a:off x="4892" y="2220"/>
                <a:ext cx="3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-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646606" name="Rectangle 14"/>
              <p:cNvSpPr>
                <a:spLocks noChangeArrowheads="1"/>
              </p:cNvSpPr>
              <p:nvPr/>
            </p:nvSpPr>
            <p:spPr bwMode="auto">
              <a:xfrm>
                <a:off x="4887" y="2599"/>
                <a:ext cx="3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-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646607" name="Rectangle 15"/>
              <p:cNvSpPr>
                <a:spLocks noChangeArrowheads="1"/>
              </p:cNvSpPr>
              <p:nvPr/>
            </p:nvSpPr>
            <p:spPr bwMode="auto">
              <a:xfrm>
                <a:off x="4819" y="2599"/>
                <a:ext cx="66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=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646608" name="Rectangle 16"/>
              <p:cNvSpPr>
                <a:spLocks noChangeArrowheads="1"/>
              </p:cNvSpPr>
              <p:nvPr/>
            </p:nvSpPr>
            <p:spPr bwMode="auto">
              <a:xfrm>
                <a:off x="4947" y="2232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1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646609" name="Rectangle 17"/>
              <p:cNvSpPr>
                <a:spLocks noChangeArrowheads="1"/>
              </p:cNvSpPr>
              <p:nvPr/>
            </p:nvSpPr>
            <p:spPr bwMode="auto">
              <a:xfrm>
                <a:off x="4829" y="2233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n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646610" name="Rectangle 18"/>
              <p:cNvSpPr>
                <a:spLocks noChangeArrowheads="1"/>
              </p:cNvSpPr>
              <p:nvPr/>
            </p:nvSpPr>
            <p:spPr bwMode="auto">
              <a:xfrm>
                <a:off x="4958" y="2612"/>
                <a:ext cx="94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m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646611" name="Rectangle 19"/>
              <p:cNvSpPr>
                <a:spLocks noChangeArrowheads="1"/>
              </p:cNvSpPr>
              <p:nvPr/>
            </p:nvSpPr>
            <p:spPr bwMode="auto">
              <a:xfrm>
                <a:off x="4779" y="2612"/>
                <a:ext cx="2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i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646612" name="Rectangle 20"/>
              <p:cNvSpPr>
                <a:spLocks noChangeArrowheads="1"/>
              </p:cNvSpPr>
              <p:nvPr/>
            </p:nvSpPr>
            <p:spPr bwMode="auto">
              <a:xfrm>
                <a:off x="5144" y="2476"/>
                <a:ext cx="2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i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646613" name="Rectangle 21"/>
              <p:cNvSpPr>
                <a:spLocks noChangeArrowheads="1"/>
              </p:cNvSpPr>
              <p:nvPr/>
            </p:nvSpPr>
            <p:spPr bwMode="auto">
              <a:xfrm>
                <a:off x="5293" y="2396"/>
                <a:ext cx="18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i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1646614" name="Rectangle 22"/>
              <p:cNvSpPr>
                <a:spLocks noChangeArrowheads="1"/>
              </p:cNvSpPr>
              <p:nvPr/>
            </p:nvSpPr>
            <p:spPr bwMode="auto">
              <a:xfrm>
                <a:off x="5188" y="2357"/>
                <a:ext cx="6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r</a:t>
                </a:r>
              </a:p>
            </p:txBody>
          </p:sp>
          <p:sp>
            <p:nvSpPr>
              <p:cNvPr id="1646615" name="Rectangle 23"/>
              <p:cNvSpPr>
                <a:spLocks noChangeArrowheads="1"/>
              </p:cNvSpPr>
              <p:nvPr/>
            </p:nvSpPr>
            <p:spPr bwMode="auto">
              <a:xfrm>
                <a:off x="5040" y="2357"/>
                <a:ext cx="10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90204"/>
                    <a:ea typeface="隶书" panose="02010509060101010101" pitchFamily="49" charset="-122"/>
                    <a:cs typeface="+mn-cs"/>
                  </a:rPr>
                  <a:t>d</a:t>
                </a:r>
              </a:p>
            </p:txBody>
          </p:sp>
        </p:grpSp>
        <p:sp>
          <p:nvSpPr>
            <p:cNvPr id="1646616" name="Text Box 24"/>
            <p:cNvSpPr txBox="1">
              <a:spLocks noChangeArrowheads="1"/>
            </p:cNvSpPr>
            <p:nvPr/>
          </p:nvSpPr>
          <p:spPr bwMode="auto">
            <a:xfrm>
              <a:off x="4416" y="2304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90204"/>
                  <a:ea typeface="隶书" panose="02010509060101010101" pitchFamily="49" charset="-122"/>
                  <a:cs typeface="+mn-cs"/>
                </a:rPr>
                <a:t>=</a:t>
              </a:r>
            </a:p>
          </p:txBody>
        </p:sp>
      </p:grpSp>
      <p:sp>
        <p:nvSpPr>
          <p:cNvPr id="1646617" name="Text Box 25"/>
          <p:cNvSpPr txBox="1">
            <a:spLocks noChangeArrowheads="1"/>
          </p:cNvSpPr>
          <p:nvPr/>
        </p:nvSpPr>
        <p:spPr bwMode="auto">
          <a:xfrm>
            <a:off x="1674813" y="4774182"/>
            <a:ext cx="78628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=1×2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7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6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5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4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+0×2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3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+0×2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+0×2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-1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+1×2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-2     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  (245.25)</a:t>
            </a:r>
            <a:r>
              <a:rPr kumimoji="0" lang="zh-CN" alt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十</a:t>
            </a:r>
          </a:p>
        </p:txBody>
      </p:sp>
      <p:sp>
        <p:nvSpPr>
          <p:cNvPr id="1646618" name="Rectangle 26"/>
          <p:cNvSpPr>
            <a:spLocks noChangeArrowheads="1"/>
          </p:cNvSpPr>
          <p:nvPr/>
        </p:nvSpPr>
        <p:spPr bwMode="auto">
          <a:xfrm>
            <a:off x="1594423" y="5931796"/>
            <a:ext cx="79512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F5.4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十六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F×16</a:t>
            </a:r>
            <a:r>
              <a:rPr kumimoji="0" lang="en-US" altLang="zh-CN" sz="28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+5×16</a:t>
            </a:r>
            <a:r>
              <a:rPr kumimoji="0" lang="en-US" altLang="zh-CN" sz="28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+4×16</a:t>
            </a:r>
            <a:r>
              <a:rPr kumimoji="0" lang="en-US" altLang="zh-CN" sz="2800" b="0" i="0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-1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 (245.25)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十</a:t>
            </a:r>
          </a:p>
        </p:txBody>
      </p:sp>
      <p:sp>
        <p:nvSpPr>
          <p:cNvPr id="1646619" name="Rectangle 27"/>
          <p:cNvSpPr>
            <a:spLocks noChangeArrowheads="1"/>
          </p:cNvSpPr>
          <p:nvPr/>
        </p:nvSpPr>
        <p:spPr bwMode="auto">
          <a:xfrm>
            <a:off x="1839914" y="4261420"/>
            <a:ext cx="50193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隶书" panose="02010509060101010101" pitchFamily="49" charset="-122"/>
                <a:cs typeface="+mn-cs"/>
              </a:rPr>
              <a:t>   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(1 1 1 1 0 1 0 1 . 0 1)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二 </a:t>
            </a:r>
          </a:p>
        </p:txBody>
      </p:sp>
      <p:grpSp>
        <p:nvGrpSpPr>
          <p:cNvPr id="1646620" name="Group 28"/>
          <p:cNvGrpSpPr/>
          <p:nvPr/>
        </p:nvGrpSpPr>
        <p:grpSpPr bwMode="auto">
          <a:xfrm>
            <a:off x="3001963" y="3804220"/>
            <a:ext cx="3390900" cy="519112"/>
            <a:chOff x="1116" y="2447"/>
            <a:chExt cx="2136" cy="327"/>
          </a:xfrm>
        </p:grpSpPr>
        <p:sp>
          <p:nvSpPr>
            <p:cNvPr id="1646621" name="Rectangle 29"/>
            <p:cNvSpPr>
              <a:spLocks noChangeArrowheads="1"/>
            </p:cNvSpPr>
            <p:nvPr/>
          </p:nvSpPr>
          <p:spPr bwMode="auto">
            <a:xfrm>
              <a:off x="1116" y="2447"/>
              <a:ext cx="21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" panose="020B0604020202090204"/>
                  <a:ea typeface="宋体"/>
                  <a:cs typeface="+mn-cs"/>
                </a:rPr>
                <a:t>7 6 5 4 3 2 1 0 .-1 -2</a:t>
              </a:r>
            </a:p>
          </p:txBody>
        </p:sp>
        <p:sp>
          <p:nvSpPr>
            <p:cNvPr id="1646622" name="Line 30"/>
            <p:cNvSpPr>
              <a:spLocks noChangeShapeType="1"/>
            </p:cNvSpPr>
            <p:nvPr/>
          </p:nvSpPr>
          <p:spPr bwMode="auto">
            <a:xfrm>
              <a:off x="1116" y="276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</p:grpSp>
      <p:sp>
        <p:nvSpPr>
          <p:cNvPr id="31" name="标题 1"/>
          <p:cNvSpPr txBox="1"/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计数制：计数制之间的转换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进制转换为十进制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4528" y="2013739"/>
            <a:ext cx="5949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已知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进制的数码串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-n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求十进制的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6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6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6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6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6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6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6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6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466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6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6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6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6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466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46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46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466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6598" grpId="0" autoUpdateAnimBg="0"/>
      <p:bldP spid="1646601" grpId="0" autoUpdateAnimBg="0"/>
      <p:bldP spid="1646617" grpId="0" autoUpdateAnimBg="0"/>
      <p:bldP spid="1646618" grpId="0" autoUpdateAnimBg="0"/>
      <p:bldP spid="164661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621" name="Text Box 5"/>
          <p:cNvSpPr txBox="1">
            <a:spLocks noChangeArrowheads="1"/>
          </p:cNvSpPr>
          <p:nvPr/>
        </p:nvSpPr>
        <p:spPr bwMode="auto">
          <a:xfrm>
            <a:off x="2687999" y="2468050"/>
            <a:ext cx="5997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 = (d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n-1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n-2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……d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)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</a:p>
        </p:txBody>
      </p:sp>
      <p:sp>
        <p:nvSpPr>
          <p:cNvPr id="1647622" name="Text Box 6"/>
          <p:cNvSpPr txBox="1">
            <a:spLocks noChangeArrowheads="1"/>
          </p:cNvSpPr>
          <p:nvPr/>
        </p:nvSpPr>
        <p:spPr bwMode="auto">
          <a:xfrm>
            <a:off x="3124561" y="3083190"/>
            <a:ext cx="5208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=d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n-1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 d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n-2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n-2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+d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 d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 d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</a:p>
        </p:txBody>
      </p:sp>
      <p:sp>
        <p:nvSpPr>
          <p:cNvPr id="1647623" name="Rectangle 7"/>
          <p:cNvSpPr>
            <a:spLocks noChangeArrowheads="1"/>
          </p:cNvSpPr>
          <p:nvPr/>
        </p:nvSpPr>
        <p:spPr bwMode="auto">
          <a:xfrm>
            <a:off x="1839400" y="3774242"/>
            <a:ext cx="4381328" cy="2813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(N/r)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的余数为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endParaRPr kumimoji="0" lang="en-US" altLang="zh-CN" sz="2400" b="0" i="0" u="none" strike="noStrike" kern="1200" cap="none" spc="0" normalizeH="0" baseline="-2500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((N/r)/r)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的余数为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1</a:t>
            </a:r>
            <a:endParaRPr kumimoji="0" lang="en-US" altLang="zh-CN" sz="2400" b="0" i="0" u="none" strike="noStrike" kern="1200" cap="none" spc="0" normalizeH="0" baseline="-2500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(((N/r)/r)/r)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的余数为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2</a:t>
            </a:r>
            <a:endParaRPr kumimoji="0" lang="en-US" altLang="zh-CN" sz="2400" b="0" i="0" u="none" strike="noStrike" kern="1200" cap="none" spc="0" normalizeH="0" baseline="-2500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 ...</a:t>
            </a:r>
            <a:endParaRPr kumimoji="0" lang="en-US" altLang="zh-CN" sz="2400" b="0" i="0" u="none" strike="noStrike" kern="1200" cap="none" spc="0" normalizeH="0" baseline="-2500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(…(((N/r)/r)/r)…/r)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的余数为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-2500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</p:txBody>
      </p:sp>
      <p:sp>
        <p:nvSpPr>
          <p:cNvPr id="1647624" name="Rectangle 8"/>
          <p:cNvSpPr>
            <a:spLocks noChangeArrowheads="1"/>
          </p:cNvSpPr>
          <p:nvPr/>
        </p:nvSpPr>
        <p:spPr bwMode="auto">
          <a:xfrm>
            <a:off x="7252342" y="4342605"/>
            <a:ext cx="12025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(245)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</p:txBody>
      </p:sp>
      <p:grpSp>
        <p:nvGrpSpPr>
          <p:cNvPr id="1647625" name="Group 9"/>
          <p:cNvGrpSpPr/>
          <p:nvPr/>
        </p:nvGrpSpPr>
        <p:grpSpPr bwMode="auto">
          <a:xfrm>
            <a:off x="7405255" y="5042365"/>
            <a:ext cx="1882775" cy="911225"/>
            <a:chOff x="3686" y="3242"/>
            <a:chExt cx="1186" cy="574"/>
          </a:xfrm>
        </p:grpSpPr>
        <p:sp>
          <p:nvSpPr>
            <p:cNvPr id="1647626" name="Text Box 10"/>
            <p:cNvSpPr txBox="1">
              <a:spLocks noChangeArrowheads="1"/>
            </p:cNvSpPr>
            <p:nvPr/>
          </p:nvSpPr>
          <p:spPr bwMode="auto">
            <a:xfrm>
              <a:off x="4032" y="3242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245</a:t>
              </a:r>
            </a:p>
          </p:txBody>
        </p:sp>
        <p:sp>
          <p:nvSpPr>
            <p:cNvPr id="1647627" name="Freeform 11"/>
            <p:cNvSpPr/>
            <p:nvPr/>
          </p:nvSpPr>
          <p:spPr bwMode="auto">
            <a:xfrm>
              <a:off x="3984" y="3264"/>
              <a:ext cx="432" cy="288"/>
            </a:xfrm>
            <a:custGeom>
              <a:avLst/>
              <a:gdLst>
                <a:gd name="T0" fmla="*/ 0 w 576"/>
                <a:gd name="T1" fmla="*/ 0 h 288"/>
                <a:gd name="T2" fmla="*/ 0 w 576"/>
                <a:gd name="T3" fmla="*/ 288 h 288"/>
                <a:gd name="T4" fmla="*/ 576 w 576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6" h="288">
                  <a:moveTo>
                    <a:pt x="0" y="0"/>
                  </a:moveTo>
                  <a:lnTo>
                    <a:pt x="0" y="288"/>
                  </a:lnTo>
                  <a:lnTo>
                    <a:pt x="576" y="2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  <p:sp>
          <p:nvSpPr>
            <p:cNvPr id="1647628" name="Text Box 12"/>
            <p:cNvSpPr txBox="1">
              <a:spLocks noChangeArrowheads="1"/>
            </p:cNvSpPr>
            <p:nvPr/>
          </p:nvSpPr>
          <p:spPr bwMode="auto">
            <a:xfrm>
              <a:off x="3686" y="324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16</a:t>
              </a:r>
            </a:p>
          </p:txBody>
        </p:sp>
        <p:sp>
          <p:nvSpPr>
            <p:cNvPr id="1647629" name="Line 13"/>
            <p:cNvSpPr>
              <a:spLocks noChangeShapeType="1"/>
            </p:cNvSpPr>
            <p:nvPr/>
          </p:nvSpPr>
          <p:spPr bwMode="auto">
            <a:xfrm>
              <a:off x="4416" y="36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  <p:sp>
          <p:nvSpPr>
            <p:cNvPr id="1647630" name="Text Box 14"/>
            <p:cNvSpPr txBox="1">
              <a:spLocks noChangeArrowheads="1"/>
            </p:cNvSpPr>
            <p:nvPr/>
          </p:nvSpPr>
          <p:spPr bwMode="auto">
            <a:xfrm>
              <a:off x="4660" y="35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5</a:t>
              </a:r>
            </a:p>
          </p:txBody>
        </p:sp>
        <p:sp>
          <p:nvSpPr>
            <p:cNvPr id="1647631" name="Text Box 15"/>
            <p:cNvSpPr txBox="1">
              <a:spLocks noChangeArrowheads="1"/>
            </p:cNvSpPr>
            <p:nvPr/>
          </p:nvSpPr>
          <p:spPr bwMode="auto">
            <a:xfrm>
              <a:off x="4132" y="35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15</a:t>
              </a:r>
            </a:p>
          </p:txBody>
        </p:sp>
      </p:grpSp>
      <p:grpSp>
        <p:nvGrpSpPr>
          <p:cNvPr id="1647632" name="Group 16"/>
          <p:cNvGrpSpPr/>
          <p:nvPr/>
        </p:nvGrpSpPr>
        <p:grpSpPr bwMode="auto">
          <a:xfrm>
            <a:off x="7541780" y="5496389"/>
            <a:ext cx="2287587" cy="952500"/>
            <a:chOff x="3772" y="3528"/>
            <a:chExt cx="1441" cy="600"/>
          </a:xfrm>
        </p:grpSpPr>
        <p:sp>
          <p:nvSpPr>
            <p:cNvPr id="1647633" name="Freeform 17"/>
            <p:cNvSpPr/>
            <p:nvPr/>
          </p:nvSpPr>
          <p:spPr bwMode="auto">
            <a:xfrm>
              <a:off x="4080" y="3552"/>
              <a:ext cx="384" cy="288"/>
            </a:xfrm>
            <a:custGeom>
              <a:avLst/>
              <a:gdLst>
                <a:gd name="T0" fmla="*/ 0 w 336"/>
                <a:gd name="T1" fmla="*/ 0 h 240"/>
                <a:gd name="T2" fmla="*/ 0 w 336"/>
                <a:gd name="T3" fmla="*/ 240 h 240"/>
                <a:gd name="T4" fmla="*/ 336 w 336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" h="240">
                  <a:moveTo>
                    <a:pt x="0" y="0"/>
                  </a:moveTo>
                  <a:lnTo>
                    <a:pt x="0" y="240"/>
                  </a:lnTo>
                  <a:lnTo>
                    <a:pt x="336" y="2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  <p:sp>
          <p:nvSpPr>
            <p:cNvPr id="1647634" name="Text Box 18"/>
            <p:cNvSpPr txBox="1">
              <a:spLocks noChangeArrowheads="1"/>
            </p:cNvSpPr>
            <p:nvPr/>
          </p:nvSpPr>
          <p:spPr bwMode="auto">
            <a:xfrm>
              <a:off x="3772" y="35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16</a:t>
              </a:r>
            </a:p>
          </p:txBody>
        </p:sp>
        <p:sp>
          <p:nvSpPr>
            <p:cNvPr id="1647635" name="Text Box 19"/>
            <p:cNvSpPr txBox="1">
              <a:spLocks noChangeArrowheads="1"/>
            </p:cNvSpPr>
            <p:nvPr/>
          </p:nvSpPr>
          <p:spPr bwMode="auto">
            <a:xfrm>
              <a:off x="4216" y="38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0</a:t>
              </a:r>
            </a:p>
          </p:txBody>
        </p:sp>
        <p:sp>
          <p:nvSpPr>
            <p:cNvPr id="1647636" name="Line 20"/>
            <p:cNvSpPr>
              <a:spLocks noChangeShapeType="1"/>
            </p:cNvSpPr>
            <p:nvPr/>
          </p:nvSpPr>
          <p:spPr bwMode="auto">
            <a:xfrm>
              <a:off x="4416" y="39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  <p:sp>
          <p:nvSpPr>
            <p:cNvPr id="1647637" name="Text Box 21"/>
            <p:cNvSpPr txBox="1">
              <a:spLocks noChangeArrowheads="1"/>
            </p:cNvSpPr>
            <p:nvPr/>
          </p:nvSpPr>
          <p:spPr bwMode="auto">
            <a:xfrm>
              <a:off x="4660" y="3840"/>
              <a:ext cx="5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15(F)</a:t>
              </a:r>
            </a:p>
          </p:txBody>
        </p:sp>
      </p:grpSp>
      <p:sp>
        <p:nvSpPr>
          <p:cNvPr id="1647638" name="Rectangle 22"/>
          <p:cNvSpPr>
            <a:spLocks noChangeArrowheads="1"/>
          </p:cNvSpPr>
          <p:nvPr/>
        </p:nvSpPr>
        <p:spPr bwMode="auto">
          <a:xfrm>
            <a:off x="8336983" y="4351795"/>
            <a:ext cx="15954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= (F5)</a:t>
            </a:r>
            <a:r>
              <a:rPr kumimoji="0" lang="zh-CN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十六</a:t>
            </a:r>
            <a:endParaRPr kumimoji="0" lang="zh-CN" altLang="en-US" sz="2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</p:txBody>
      </p:sp>
      <p:sp>
        <p:nvSpPr>
          <p:cNvPr id="1647644" name="Text Box 28"/>
          <p:cNvSpPr txBox="1">
            <a:spLocks noChangeArrowheads="1"/>
          </p:cNvSpPr>
          <p:nvPr/>
        </p:nvSpPr>
        <p:spPr bwMode="auto">
          <a:xfrm>
            <a:off x="7303124" y="3774242"/>
            <a:ext cx="2067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“除基取余”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计数制：计数制之间的转换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十进制转换为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整数部分转换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4528" y="2013739"/>
            <a:ext cx="72619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已知十进制整数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进制的数码串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7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7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7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7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7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7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7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7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76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76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7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7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47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47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47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47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47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47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70" decel="100000"/>
                                        <p:tgtEl>
                                          <p:spTgt spid="16476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770" decel="100000"/>
                                        <p:tgtEl>
                                          <p:spTgt spid="164764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4764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4" dur="770" fill="hold"/>
                                        <p:tgtEl>
                                          <p:spTgt spid="1647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47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6" dur="770" fill="hold"/>
                                        <p:tgtEl>
                                          <p:spTgt spid="1647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47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7624" grpId="0" autoUpdateAnimBg="0"/>
      <p:bldP spid="1647638" grpId="0" autoUpdateAnimBg="0"/>
      <p:bldP spid="16476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45" name="Rectangle 5"/>
          <p:cNvSpPr>
            <a:spLocks noChangeArrowheads="1"/>
          </p:cNvSpPr>
          <p:nvPr/>
        </p:nvSpPr>
        <p:spPr bwMode="auto">
          <a:xfrm>
            <a:off x="424551" y="3612686"/>
            <a:ext cx="6946132" cy="2770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的整数部分为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((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)</a:t>
            </a:r>
            <a:r>
              <a:rPr lang="zh-CN" altLang="en-US" sz="1100" dirty="0">
                <a:solidFill>
                  <a:srgbClr val="333399"/>
                </a:solidFill>
                <a:latin typeface="Times New Roman" panose="02020503050405090304" pitchFamily="18" charset="0"/>
                <a:ea typeface="宋体"/>
              </a:rPr>
              <a:t>小数部分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的整数部分为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 ...</a:t>
            </a:r>
            <a:endParaRPr kumimoji="0" lang="en-US" altLang="zh-CN" sz="2400" b="0" i="0" u="none" strike="noStrike" kern="1200" cap="none" spc="0" normalizeH="0" baseline="-2500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  <a:p>
            <a:pPr>
              <a:lnSpc>
                <a:spcPct val="130000"/>
              </a:lnSpc>
              <a:defRPr/>
            </a:pP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(…(((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)</a:t>
            </a:r>
            <a:r>
              <a:rPr lang="zh-CN" altLang="en-US" sz="1100" dirty="0">
                <a:solidFill>
                  <a:srgbClr val="333399"/>
                </a:solidFill>
                <a:latin typeface="Times New Roman" panose="02020503050405090304" pitchFamily="18" charset="0"/>
              </a:rPr>
              <a:t>小数部分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r)</a:t>
            </a:r>
            <a:r>
              <a:rPr lang="zh-CN" altLang="en-US" sz="1100" dirty="0">
                <a:solidFill>
                  <a:srgbClr val="333399"/>
                </a:solidFill>
                <a:latin typeface="Times New Roman" panose="02020503050405090304" pitchFamily="18" charset="0"/>
              </a:rPr>
              <a:t>小数部分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r)</a:t>
            </a:r>
            <a:r>
              <a:rPr lang="zh-CN" altLang="en-US" sz="1100" dirty="0">
                <a:solidFill>
                  <a:srgbClr val="333399"/>
                </a:solidFill>
                <a:latin typeface="Times New Roman" panose="02020503050405090304" pitchFamily="18" charset="0"/>
              </a:rPr>
              <a:t>小数部分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的整数部分为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n-1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注：每次相乘都是去掉整数后的小数部分相乘。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若最终为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，则结束，否则计算到要求位数即可。</a:t>
            </a:r>
          </a:p>
        </p:txBody>
      </p:sp>
      <p:sp>
        <p:nvSpPr>
          <p:cNvPr id="1648646" name="Text Box 6"/>
          <p:cNvSpPr txBox="1">
            <a:spLocks noChangeArrowheads="1"/>
          </p:cNvSpPr>
          <p:nvPr/>
        </p:nvSpPr>
        <p:spPr bwMode="auto">
          <a:xfrm>
            <a:off x="1206500" y="2516056"/>
            <a:ext cx="5937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N = (0.d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……d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-m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)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r</a:t>
            </a:r>
          </a:p>
        </p:txBody>
      </p:sp>
      <p:sp>
        <p:nvSpPr>
          <p:cNvPr id="1648647" name="Text Box 7"/>
          <p:cNvSpPr txBox="1">
            <a:spLocks noChangeArrowheads="1"/>
          </p:cNvSpPr>
          <p:nvPr/>
        </p:nvSpPr>
        <p:spPr bwMode="auto">
          <a:xfrm>
            <a:off x="5008564" y="2592256"/>
            <a:ext cx="3760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= d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+d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-2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+ 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…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+ d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-m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 r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-m 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90204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648648" name="Rectangle 8"/>
          <p:cNvSpPr>
            <a:spLocks noChangeArrowheads="1"/>
          </p:cNvSpPr>
          <p:nvPr/>
        </p:nvSpPr>
        <p:spPr bwMode="auto">
          <a:xfrm>
            <a:off x="6489246" y="3891290"/>
            <a:ext cx="1471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(0.525)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十</a:t>
            </a:r>
          </a:p>
        </p:txBody>
      </p:sp>
      <p:sp>
        <p:nvSpPr>
          <p:cNvPr id="1648649" name="Rectangle 9"/>
          <p:cNvSpPr>
            <a:spLocks noChangeArrowheads="1"/>
          </p:cNvSpPr>
          <p:nvPr/>
        </p:nvSpPr>
        <p:spPr bwMode="auto">
          <a:xfrm>
            <a:off x="6468488" y="4471987"/>
            <a:ext cx="2178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= (0.8666)</a:t>
            </a:r>
            <a:r>
              <a:rPr kumimoji="0" lang="zh-CN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rPr>
              <a:t>十六</a:t>
            </a:r>
            <a:endParaRPr kumimoji="0" lang="zh-CN" altLang="en-US" sz="2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/>
              <a:cs typeface="+mn-cs"/>
            </a:endParaRPr>
          </a:p>
        </p:txBody>
      </p:sp>
      <p:grpSp>
        <p:nvGrpSpPr>
          <p:cNvPr id="1648650" name="Group 10"/>
          <p:cNvGrpSpPr/>
          <p:nvPr/>
        </p:nvGrpSpPr>
        <p:grpSpPr bwMode="auto">
          <a:xfrm>
            <a:off x="9371231" y="4641850"/>
            <a:ext cx="1447800" cy="819150"/>
            <a:chOff x="4464" y="3180"/>
            <a:chExt cx="912" cy="516"/>
          </a:xfrm>
        </p:grpSpPr>
        <p:sp>
          <p:nvSpPr>
            <p:cNvPr id="1648651" name="Rectangle 11"/>
            <p:cNvSpPr>
              <a:spLocks noChangeArrowheads="1"/>
            </p:cNvSpPr>
            <p:nvPr/>
          </p:nvSpPr>
          <p:spPr bwMode="auto">
            <a:xfrm>
              <a:off x="5020" y="318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16</a:t>
              </a:r>
            </a:p>
          </p:txBody>
        </p:sp>
        <p:sp>
          <p:nvSpPr>
            <p:cNvPr id="1648652" name="Rectangle 12"/>
            <p:cNvSpPr>
              <a:spLocks noChangeArrowheads="1"/>
            </p:cNvSpPr>
            <p:nvPr/>
          </p:nvSpPr>
          <p:spPr bwMode="auto">
            <a:xfrm>
              <a:off x="4540" y="3408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6         .4</a:t>
              </a:r>
            </a:p>
          </p:txBody>
        </p:sp>
        <p:sp>
          <p:nvSpPr>
            <p:cNvPr id="1648653" name="Line 13"/>
            <p:cNvSpPr>
              <a:spLocks noChangeShapeType="1"/>
            </p:cNvSpPr>
            <p:nvPr/>
          </p:nvSpPr>
          <p:spPr bwMode="auto">
            <a:xfrm>
              <a:off x="4464" y="345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  <p:sp>
          <p:nvSpPr>
            <p:cNvPr id="1648654" name="Text Box 14"/>
            <p:cNvSpPr txBox="1">
              <a:spLocks noChangeArrowheads="1"/>
            </p:cNvSpPr>
            <p:nvPr/>
          </p:nvSpPr>
          <p:spPr bwMode="auto">
            <a:xfrm>
              <a:off x="4839" y="3192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  <a:sym typeface="Symbol" panose="05050102010706020507" pitchFamily="18" charset="2"/>
                </a:rPr>
                <a:t>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endParaRPr>
            </a:p>
          </p:txBody>
        </p:sp>
      </p:grpSp>
      <p:grpSp>
        <p:nvGrpSpPr>
          <p:cNvPr id="1648655" name="Group 15"/>
          <p:cNvGrpSpPr/>
          <p:nvPr/>
        </p:nvGrpSpPr>
        <p:grpSpPr bwMode="auto">
          <a:xfrm>
            <a:off x="9352181" y="3937000"/>
            <a:ext cx="1447800" cy="838200"/>
            <a:chOff x="4452" y="2736"/>
            <a:chExt cx="912" cy="528"/>
          </a:xfrm>
        </p:grpSpPr>
        <p:sp>
          <p:nvSpPr>
            <p:cNvPr id="1648656" name="Rectangle 16"/>
            <p:cNvSpPr>
              <a:spLocks noChangeArrowheads="1"/>
            </p:cNvSpPr>
            <p:nvPr/>
          </p:nvSpPr>
          <p:spPr bwMode="auto">
            <a:xfrm>
              <a:off x="5032" y="274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16</a:t>
              </a:r>
            </a:p>
          </p:txBody>
        </p:sp>
        <p:sp>
          <p:nvSpPr>
            <p:cNvPr id="1648657" name="Line 17"/>
            <p:cNvSpPr>
              <a:spLocks noChangeShapeType="1"/>
            </p:cNvSpPr>
            <p:nvPr/>
          </p:nvSpPr>
          <p:spPr bwMode="auto">
            <a:xfrm>
              <a:off x="4452" y="3000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  <p:sp>
          <p:nvSpPr>
            <p:cNvPr id="1648658" name="Rectangle 18"/>
            <p:cNvSpPr>
              <a:spLocks noChangeArrowheads="1"/>
            </p:cNvSpPr>
            <p:nvPr/>
          </p:nvSpPr>
          <p:spPr bwMode="auto">
            <a:xfrm>
              <a:off x="4548" y="2976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6         .4</a:t>
              </a:r>
            </a:p>
          </p:txBody>
        </p:sp>
        <p:sp>
          <p:nvSpPr>
            <p:cNvPr id="1648659" name="Text Box 19"/>
            <p:cNvSpPr txBox="1">
              <a:spLocks noChangeArrowheads="1"/>
            </p:cNvSpPr>
            <p:nvPr/>
          </p:nvSpPr>
          <p:spPr bwMode="auto">
            <a:xfrm>
              <a:off x="4839" y="2736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  <a:sym typeface="Symbol" panose="05050102010706020507" pitchFamily="18" charset="2"/>
                </a:rPr>
                <a:t>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endParaRPr>
            </a:p>
          </p:txBody>
        </p:sp>
      </p:grpSp>
      <p:grpSp>
        <p:nvGrpSpPr>
          <p:cNvPr id="1648660" name="Group 20"/>
          <p:cNvGrpSpPr/>
          <p:nvPr/>
        </p:nvGrpSpPr>
        <p:grpSpPr bwMode="auto">
          <a:xfrm>
            <a:off x="9371231" y="2870200"/>
            <a:ext cx="1447800" cy="1219200"/>
            <a:chOff x="4464" y="2064"/>
            <a:chExt cx="912" cy="768"/>
          </a:xfrm>
        </p:grpSpPr>
        <p:sp>
          <p:nvSpPr>
            <p:cNvPr id="1648661" name="Rectangle 21"/>
            <p:cNvSpPr>
              <a:spLocks noChangeArrowheads="1"/>
            </p:cNvSpPr>
            <p:nvPr/>
          </p:nvSpPr>
          <p:spPr bwMode="auto">
            <a:xfrm>
              <a:off x="4812" y="2064"/>
              <a:ext cx="5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0.525</a:t>
              </a:r>
            </a:p>
          </p:txBody>
        </p:sp>
        <p:sp>
          <p:nvSpPr>
            <p:cNvPr id="1648662" name="Rectangle 22"/>
            <p:cNvSpPr>
              <a:spLocks noChangeArrowheads="1"/>
            </p:cNvSpPr>
            <p:nvPr/>
          </p:nvSpPr>
          <p:spPr bwMode="auto">
            <a:xfrm>
              <a:off x="5044" y="23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16</a:t>
              </a:r>
            </a:p>
          </p:txBody>
        </p:sp>
        <p:sp>
          <p:nvSpPr>
            <p:cNvPr id="1648663" name="Line 23"/>
            <p:cNvSpPr>
              <a:spLocks noChangeShapeType="1"/>
            </p:cNvSpPr>
            <p:nvPr/>
          </p:nvSpPr>
          <p:spPr bwMode="auto">
            <a:xfrm>
              <a:off x="4464" y="255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  <p:sp>
          <p:nvSpPr>
            <p:cNvPr id="1648664" name="Rectangle 24"/>
            <p:cNvSpPr>
              <a:spLocks noChangeArrowheads="1"/>
            </p:cNvSpPr>
            <p:nvPr/>
          </p:nvSpPr>
          <p:spPr bwMode="auto">
            <a:xfrm>
              <a:off x="4552" y="2544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8         .4</a:t>
              </a:r>
            </a:p>
          </p:txBody>
        </p:sp>
        <p:sp>
          <p:nvSpPr>
            <p:cNvPr id="1648665" name="Text Box 25"/>
            <p:cNvSpPr txBox="1">
              <a:spLocks noChangeArrowheads="1"/>
            </p:cNvSpPr>
            <p:nvPr/>
          </p:nvSpPr>
          <p:spPr bwMode="auto">
            <a:xfrm>
              <a:off x="4839" y="2304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  <a:sym typeface="Symbol" panose="05050102010706020507" pitchFamily="18" charset="2"/>
                </a:rPr>
                <a:t>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endParaRPr>
            </a:p>
          </p:txBody>
        </p:sp>
      </p:grpSp>
      <p:grpSp>
        <p:nvGrpSpPr>
          <p:cNvPr id="1648666" name="Group 26"/>
          <p:cNvGrpSpPr/>
          <p:nvPr/>
        </p:nvGrpSpPr>
        <p:grpSpPr bwMode="auto">
          <a:xfrm>
            <a:off x="9371231" y="5327650"/>
            <a:ext cx="1447800" cy="819150"/>
            <a:chOff x="4464" y="3612"/>
            <a:chExt cx="912" cy="516"/>
          </a:xfrm>
        </p:grpSpPr>
        <p:sp>
          <p:nvSpPr>
            <p:cNvPr id="1648667" name="Rectangle 27"/>
            <p:cNvSpPr>
              <a:spLocks noChangeArrowheads="1"/>
            </p:cNvSpPr>
            <p:nvPr/>
          </p:nvSpPr>
          <p:spPr bwMode="auto">
            <a:xfrm>
              <a:off x="5020" y="361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16</a:t>
              </a:r>
            </a:p>
          </p:txBody>
        </p:sp>
        <p:sp>
          <p:nvSpPr>
            <p:cNvPr id="1648668" name="Rectangle 28"/>
            <p:cNvSpPr>
              <a:spLocks noChangeArrowheads="1"/>
            </p:cNvSpPr>
            <p:nvPr/>
          </p:nvSpPr>
          <p:spPr bwMode="auto">
            <a:xfrm>
              <a:off x="4540" y="3840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</a:rPr>
                <a:t>6         .4</a:t>
              </a:r>
            </a:p>
          </p:txBody>
        </p:sp>
        <p:sp>
          <p:nvSpPr>
            <p:cNvPr id="1648669" name="Line 29"/>
            <p:cNvSpPr>
              <a:spLocks noChangeShapeType="1"/>
            </p:cNvSpPr>
            <p:nvPr/>
          </p:nvSpPr>
          <p:spPr bwMode="auto">
            <a:xfrm>
              <a:off x="4464" y="3888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endParaRPr>
            </a:p>
          </p:txBody>
        </p:sp>
        <p:sp>
          <p:nvSpPr>
            <p:cNvPr id="1648670" name="Text Box 30"/>
            <p:cNvSpPr txBox="1">
              <a:spLocks noChangeArrowheads="1"/>
            </p:cNvSpPr>
            <p:nvPr/>
          </p:nvSpPr>
          <p:spPr bwMode="auto">
            <a:xfrm>
              <a:off x="4839" y="3624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/>
                  <a:cs typeface="+mn-cs"/>
                  <a:sym typeface="Symbol" panose="05050102010706020507" pitchFamily="18" charset="2"/>
                </a:rPr>
                <a:t>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pitchFamily="18" charset="0"/>
                <a:ea typeface="宋体"/>
                <a:cs typeface="+mn-cs"/>
              </a:endParaRPr>
            </a:p>
          </p:txBody>
        </p:sp>
      </p:grpSp>
      <p:sp>
        <p:nvSpPr>
          <p:cNvPr id="1648676" name="Text Box 36"/>
          <p:cNvSpPr txBox="1">
            <a:spLocks noChangeArrowheads="1"/>
          </p:cNvSpPr>
          <p:nvPr/>
        </p:nvSpPr>
        <p:spPr bwMode="auto">
          <a:xfrm>
            <a:off x="9060418" y="6184899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“乘基取整”</a:t>
            </a:r>
          </a:p>
        </p:txBody>
      </p:sp>
      <p:sp>
        <p:nvSpPr>
          <p:cNvPr id="35" name="标题 1"/>
          <p:cNvSpPr txBox="1"/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计数制：计数制之间的转换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十进制转换为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小数部分转换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4528" y="2013739"/>
            <a:ext cx="71064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已知十进制小数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进制的数码串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0.d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…d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-m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8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8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8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8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8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8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8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48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48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48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48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4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4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48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48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48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48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48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48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48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48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70" decel="100000"/>
                                        <p:tgtEl>
                                          <p:spTgt spid="16486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770" decel="100000"/>
                                        <p:tgtEl>
                                          <p:spTgt spid="164867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4867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0" dur="770" fill="hold"/>
                                        <p:tgtEl>
                                          <p:spTgt spid="164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4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2" dur="770" fill="hold"/>
                                        <p:tgtEl>
                                          <p:spTgt spid="164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4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48" grpId="0" autoUpdateAnimBg="0"/>
      <p:bldP spid="1648649" grpId="0" autoUpdateAnimBg="0"/>
      <p:bldP spid="164867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003" name="Text Box 3"/>
          <p:cNvSpPr txBox="1">
            <a:spLocks noChangeArrowheads="1"/>
          </p:cNvSpPr>
          <p:nvPr/>
        </p:nvSpPr>
        <p:spPr bwMode="auto">
          <a:xfrm>
            <a:off x="1695450" y="269875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计数制：计数制之间的转换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二进制与八进制、十六进制的转换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5800" y="1921205"/>
            <a:ext cx="103708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二进制转换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十六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从小数点开始分别向左和向右划分数位，每隔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一组，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最后一组若不足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/4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则补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0,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再将每组二进制数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转换为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六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进制数。</a:t>
            </a: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十六进制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转换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二进制：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十六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进制数转换为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二进制数按次序写出。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83809" y="4511478"/>
            <a:ext cx="43043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00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11  0101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.1011  11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00</a:t>
            </a:r>
            <a:endParaRPr kumimoji="0" lang="zh-CN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8063" y="4513425"/>
            <a:ext cx="45929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0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10  110  101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. 101   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00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8012" y="5133974"/>
            <a:ext cx="53303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2      6      5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.    5      4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）</a:t>
            </a:r>
            <a:r>
              <a:rPr kumimoji="0" lang="zh-CN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八</a:t>
            </a:r>
            <a:endParaRPr kumimoji="0" lang="zh-CN" altLang="en-US" sz="3200" b="0" i="0" u="none" strike="noStrike" kern="1200" cap="none" spc="0" normalizeH="0" baseline="-25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91795" y="5119619"/>
            <a:ext cx="53254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3        5 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.    B      C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）</a:t>
            </a:r>
            <a:r>
              <a:rPr kumimoji="0" lang="zh-CN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Arial" panose="020B0604020202090204" pitchFamily="34" charset="0"/>
              </a:rPr>
              <a:t>十六</a:t>
            </a:r>
            <a:endParaRPr kumimoji="0" lang="zh-CN" altLang="en-US" sz="3200" b="0" i="0" u="none" strike="noStrike" kern="1200" cap="none" spc="0" normalizeH="0" baseline="-25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90204"/>
              <a:ea typeface="宋体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7078980" y="5021580"/>
            <a:ext cx="3093720" cy="2286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029273" y="5046387"/>
            <a:ext cx="3564015" cy="1143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机器数：机器字长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数值性信息的表达：机器数</a:t>
            </a:r>
          </a:p>
        </p:txBody>
      </p:sp>
      <p:sp>
        <p:nvSpPr>
          <p:cNvPr id="2" name="矩形 1"/>
          <p:cNvSpPr/>
          <p:nvPr/>
        </p:nvSpPr>
        <p:spPr>
          <a:xfrm>
            <a:off x="672366" y="1963726"/>
            <a:ext cx="107442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【机器字长】是指机器内部进行数据处理、信息传输等的基本单元所包含的二进制位数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，通常是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8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位、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16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位、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32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位、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64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位等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0987" y="2898161"/>
            <a:ext cx="10153388" cy="2144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en-US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例：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78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十</a:t>
            </a:r>
            <a:r>
              <a:rPr lang="en-US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 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转换成二进制数</a:t>
            </a:r>
            <a:r>
              <a:rPr lang="zh-CN" altLang="en-US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。不同字长的表示，结果是不同的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 </a:t>
            </a:r>
            <a:endParaRPr lang="zh-CN" altLang="zh-CN" sz="24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78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十</a:t>
            </a:r>
            <a:r>
              <a:rPr lang="en-US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  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=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1001110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4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2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78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十</a:t>
            </a:r>
            <a:r>
              <a:rPr lang="en-US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  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=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01001110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4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3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78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十</a:t>
            </a:r>
            <a:r>
              <a:rPr lang="en-US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  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=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00000000 01001110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4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4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78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十</a:t>
            </a:r>
            <a:r>
              <a:rPr lang="en-US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  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=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00000000 00000000 00000000 01001110</a:t>
            </a:r>
            <a:r>
              <a:rPr lang="zh-CN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4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4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grpSp>
        <p:nvGrpSpPr>
          <p:cNvPr id="29" name="Group 30"/>
          <p:cNvGrpSpPr/>
          <p:nvPr/>
        </p:nvGrpSpPr>
        <p:grpSpPr bwMode="auto">
          <a:xfrm>
            <a:off x="6506690" y="5243077"/>
            <a:ext cx="1125538" cy="1022350"/>
            <a:chOff x="2662" y="489"/>
            <a:chExt cx="575" cy="539"/>
          </a:xfrm>
        </p:grpSpPr>
        <p:sp>
          <p:nvSpPr>
            <p:cNvPr id="30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Text Box 84"/>
            <p:cNvSpPr txBox="1">
              <a:spLocks noChangeArrowheads="1"/>
            </p:cNvSpPr>
            <p:nvPr/>
          </p:nvSpPr>
          <p:spPr bwMode="auto">
            <a:xfrm>
              <a:off x="2682" y="644"/>
              <a:ext cx="5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3" name="Group 30"/>
          <p:cNvGrpSpPr/>
          <p:nvPr/>
        </p:nvGrpSpPr>
        <p:grpSpPr bwMode="auto">
          <a:xfrm>
            <a:off x="5215161" y="5207739"/>
            <a:ext cx="1125538" cy="1022350"/>
            <a:chOff x="2662" y="489"/>
            <a:chExt cx="575" cy="539"/>
          </a:xfrm>
        </p:grpSpPr>
        <p:sp>
          <p:nvSpPr>
            <p:cNvPr id="34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Text Box 84"/>
            <p:cNvSpPr txBox="1">
              <a:spLocks noChangeArrowheads="1"/>
            </p:cNvSpPr>
            <p:nvPr/>
          </p:nvSpPr>
          <p:spPr bwMode="auto">
            <a:xfrm>
              <a:off x="2682" y="566"/>
              <a:ext cx="5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noProof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数的表示范围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7" name="Group 30"/>
          <p:cNvGrpSpPr/>
          <p:nvPr/>
        </p:nvGrpSpPr>
        <p:grpSpPr bwMode="auto">
          <a:xfrm>
            <a:off x="3923633" y="5219120"/>
            <a:ext cx="1125538" cy="1022350"/>
            <a:chOff x="2662" y="489"/>
            <a:chExt cx="575" cy="539"/>
          </a:xfrm>
        </p:grpSpPr>
        <p:sp>
          <p:nvSpPr>
            <p:cNvPr id="38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Text Box 84"/>
            <p:cNvSpPr txBox="1">
              <a:spLocks noChangeArrowheads="1"/>
            </p:cNvSpPr>
            <p:nvPr/>
          </p:nvSpPr>
          <p:spPr bwMode="auto">
            <a:xfrm>
              <a:off x="2676" y="566"/>
              <a:ext cx="5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机器  字长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9819250" y="3333943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未考虑机器字长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0203970" y="3739635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位机器字长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0075730" y="4145327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位机器字长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10075730" y="455101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位机器字长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机器数：有符号数和无符号数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数值性信息的表达：机器数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153297" y="192098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位机器字长</a:t>
            </a:r>
          </a:p>
        </p:txBody>
      </p:sp>
      <p:grpSp>
        <p:nvGrpSpPr>
          <p:cNvPr id="23" name="Group 2"/>
          <p:cNvGrpSpPr/>
          <p:nvPr/>
        </p:nvGrpSpPr>
        <p:grpSpPr bwMode="auto">
          <a:xfrm>
            <a:off x="871286" y="4512146"/>
            <a:ext cx="1646759" cy="1118974"/>
            <a:chOff x="486" y="2211"/>
            <a:chExt cx="898" cy="748"/>
          </a:xfrm>
        </p:grpSpPr>
        <p:sp>
          <p:nvSpPr>
            <p:cNvPr id="26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7" name="Oval 40"/>
            <p:cNvSpPr>
              <a:spLocks noChangeArrowheads="1"/>
            </p:cNvSpPr>
            <p:nvPr/>
          </p:nvSpPr>
          <p:spPr bwMode="gray">
            <a:xfrm>
              <a:off x="560" y="2264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8" name="Text Box 84"/>
            <p:cNvSpPr txBox="1">
              <a:spLocks noChangeArrowheads="1"/>
            </p:cNvSpPr>
            <p:nvPr/>
          </p:nvSpPr>
          <p:spPr bwMode="auto">
            <a:xfrm>
              <a:off x="563" y="2422"/>
              <a:ext cx="798" cy="3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有符号数 </a:t>
              </a:r>
            </a:p>
          </p:txBody>
        </p:sp>
      </p:grpSp>
      <p:grpSp>
        <p:nvGrpSpPr>
          <p:cNvPr id="45" name="Group 2"/>
          <p:cNvGrpSpPr/>
          <p:nvPr/>
        </p:nvGrpSpPr>
        <p:grpSpPr bwMode="auto">
          <a:xfrm>
            <a:off x="871286" y="2726376"/>
            <a:ext cx="1646759" cy="1118974"/>
            <a:chOff x="486" y="2211"/>
            <a:chExt cx="898" cy="748"/>
          </a:xfrm>
        </p:grpSpPr>
        <p:sp>
          <p:nvSpPr>
            <p:cNvPr id="46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7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8" name="Text Box 84"/>
            <p:cNvSpPr txBox="1">
              <a:spLocks noChangeArrowheads="1"/>
            </p:cNvSpPr>
            <p:nvPr/>
          </p:nvSpPr>
          <p:spPr bwMode="auto">
            <a:xfrm>
              <a:off x="524" y="2408"/>
              <a:ext cx="821" cy="3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无符号数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2828604" y="2654007"/>
            <a:ext cx="84737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无符号机器数的表示范围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：</a:t>
            </a:r>
            <a:r>
              <a:rPr lang="en-US" altLang="zh-CN" sz="2800" b="1" dirty="0">
                <a:solidFill>
                  <a:srgbClr val="A5002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 </a:t>
            </a:r>
            <a:r>
              <a:rPr lang="zh-CN" altLang="en-US" sz="2800" b="1" dirty="0">
                <a:solidFill>
                  <a:srgbClr val="A5002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  <a:sym typeface="Symbol" panose="05050102010706020507" pitchFamily="18" charset="2"/>
              </a:rPr>
              <a:t> </a:t>
            </a:r>
            <a:r>
              <a:rPr lang="en-US" altLang="zh-CN" sz="2800" b="1" dirty="0">
                <a:solidFill>
                  <a:srgbClr val="A5002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X &lt;2</a:t>
            </a:r>
            <a:r>
              <a:rPr lang="en-US" altLang="zh-CN" sz="2800" b="1" baseline="30000" dirty="0">
                <a:solidFill>
                  <a:srgbClr val="A5002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16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，即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503050405090304" pitchFamily="18" charset="0"/>
              </a:rPr>
              <a:t>至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65,535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21579" y="3330681"/>
            <a:ext cx="4801314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00000000 00000000</a:t>
            </a: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8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8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333030" y="3342648"/>
            <a:ext cx="4339650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11111111 11111111</a:t>
            </a: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8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8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763057" y="3582032"/>
            <a:ext cx="72934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059922" y="4102926"/>
            <a:ext cx="81259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数的符号也用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表达，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表“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”号，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表“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”号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2398671" y="4766647"/>
            <a:ext cx="4801314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4400" b="1" dirty="0">
                <a:solidFill>
                  <a:srgbClr val="A5002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0000000 00000000</a:t>
            </a: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8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8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430819" y="4754624"/>
            <a:ext cx="4339650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4400" b="1" dirty="0">
                <a:solidFill>
                  <a:srgbClr val="A5002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1111111 11111111</a:t>
            </a: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8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8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382344" y="5374121"/>
            <a:ext cx="4801314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4400" b="1" dirty="0">
                <a:solidFill>
                  <a:srgbClr val="A5002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0000000 00000000</a:t>
            </a: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8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8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430819" y="5402519"/>
            <a:ext cx="4339650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lang="en-US" altLang="zh-CN" sz="4400" b="1" dirty="0">
                <a:solidFill>
                  <a:srgbClr val="A5002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1111111 11111111</a:t>
            </a:r>
            <a:r>
              <a:rPr lang="zh-CN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lang="zh-CN" altLang="zh-CN" sz="2800" b="1" baseline="-25000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二</a:t>
            </a:r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	</a:t>
            </a:r>
            <a:endParaRPr lang="zh-CN" altLang="zh-CN" sz="28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707570" y="3973258"/>
            <a:ext cx="10874830" cy="10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30"/>
          <p:cNvGrpSpPr/>
          <p:nvPr/>
        </p:nvGrpSpPr>
        <p:grpSpPr bwMode="auto">
          <a:xfrm>
            <a:off x="6544641" y="5802992"/>
            <a:ext cx="1772355" cy="1022350"/>
            <a:chOff x="2662" y="489"/>
            <a:chExt cx="575" cy="539"/>
          </a:xfrm>
        </p:grpSpPr>
        <p:sp>
          <p:nvSpPr>
            <p:cNvPr id="55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Text Box 84"/>
            <p:cNvSpPr txBox="1">
              <a:spLocks noChangeArrowheads="1"/>
            </p:cNvSpPr>
            <p:nvPr/>
          </p:nvSpPr>
          <p:spPr bwMode="auto">
            <a:xfrm>
              <a:off x="2676" y="566"/>
              <a:ext cx="5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有符号数的表示范围？ 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8" name="Group 30"/>
          <p:cNvGrpSpPr/>
          <p:nvPr/>
        </p:nvGrpSpPr>
        <p:grpSpPr bwMode="auto">
          <a:xfrm>
            <a:off x="4524734" y="5791611"/>
            <a:ext cx="1772355" cy="1022350"/>
            <a:chOff x="2662" y="489"/>
            <a:chExt cx="575" cy="539"/>
          </a:xfrm>
        </p:grpSpPr>
        <p:sp>
          <p:nvSpPr>
            <p:cNvPr id="59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Text Box 84"/>
            <p:cNvSpPr txBox="1">
              <a:spLocks noChangeArrowheads="1"/>
            </p:cNvSpPr>
            <p:nvPr/>
          </p:nvSpPr>
          <p:spPr bwMode="auto">
            <a:xfrm>
              <a:off x="2676" y="566"/>
              <a:ext cx="5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有符号数的大小？ 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9" grpId="0"/>
      <p:bldP spid="17" grpId="0"/>
      <p:bldP spid="50" grpId="0"/>
      <p:bldP spid="51" grpId="0"/>
      <p:bldP spid="52" grpId="0"/>
      <p:bldP spid="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390" name="Text Box 6"/>
          <p:cNvSpPr txBox="1">
            <a:spLocks noChangeArrowheads="1"/>
          </p:cNvSpPr>
          <p:nvPr/>
        </p:nvSpPr>
        <p:spPr bwMode="auto">
          <a:xfrm>
            <a:off x="5199329" y="2089030"/>
            <a:ext cx="10118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/>
              <a:t>+  244 </a:t>
            </a:r>
            <a:endParaRPr lang="zh-CN" altLang="en-US" sz="2400" dirty="0"/>
          </a:p>
        </p:txBody>
      </p:sp>
      <p:sp>
        <p:nvSpPr>
          <p:cNvPr id="1552391" name="Text Box 7"/>
          <p:cNvSpPr txBox="1">
            <a:spLocks noChangeArrowheads="1"/>
          </p:cNvSpPr>
          <p:nvPr/>
        </p:nvSpPr>
        <p:spPr bwMode="auto">
          <a:xfrm>
            <a:off x="3752521" y="3029895"/>
            <a:ext cx="2574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+</a:t>
            </a:r>
            <a:r>
              <a:rPr lang="en-US" altLang="zh-CN" sz="2400" dirty="0"/>
              <a:t>  </a:t>
            </a:r>
            <a:r>
              <a:rPr lang="en-US" altLang="zh-CN" sz="2800" dirty="0">
                <a:latin typeface="Times New Roman" panose="02020503050405090304" pitchFamily="18" charset="0"/>
              </a:rPr>
              <a:t>1 1 1 1 0 1 0 0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1552394" name="Text Box 10"/>
          <p:cNvSpPr txBox="1">
            <a:spLocks noChangeArrowheads="1"/>
          </p:cNvSpPr>
          <p:nvPr/>
        </p:nvSpPr>
        <p:spPr bwMode="auto">
          <a:xfrm>
            <a:off x="3755696" y="3831130"/>
            <a:ext cx="26035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dirty="0"/>
              <a:t> </a:t>
            </a:r>
            <a:r>
              <a:rPr lang="en-US" altLang="zh-CN" sz="2800" dirty="0">
                <a:latin typeface="Times New Roman" panose="02020503050405090304" pitchFamily="18" charset="0"/>
              </a:rPr>
              <a:t>1 1 1 1 0 1 0 0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1552395" name="Text Box 11"/>
          <p:cNvSpPr txBox="1">
            <a:spLocks noChangeArrowheads="1"/>
          </p:cNvSpPr>
          <p:nvPr/>
        </p:nvSpPr>
        <p:spPr bwMode="auto">
          <a:xfrm>
            <a:off x="8089118" y="2048821"/>
            <a:ext cx="9525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-  244 </a:t>
            </a:r>
            <a:endParaRPr lang="zh-CN" altLang="en-US" sz="2400"/>
          </a:p>
        </p:txBody>
      </p:sp>
      <p:sp>
        <p:nvSpPr>
          <p:cNvPr id="1552396" name="Text Box 12"/>
          <p:cNvSpPr txBox="1">
            <a:spLocks noChangeArrowheads="1"/>
          </p:cNvSpPr>
          <p:nvPr/>
        </p:nvSpPr>
        <p:spPr bwMode="auto">
          <a:xfrm>
            <a:off x="7842603" y="3029895"/>
            <a:ext cx="27158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-</a:t>
            </a:r>
            <a:r>
              <a:rPr lang="en-US" altLang="zh-CN" sz="2400" dirty="0"/>
              <a:t>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1 1 1 1 0 1 0 0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52397" name="Text Box 13"/>
          <p:cNvSpPr txBox="1">
            <a:spLocks noChangeArrowheads="1"/>
          </p:cNvSpPr>
          <p:nvPr/>
        </p:nvSpPr>
        <p:spPr bwMode="auto">
          <a:xfrm>
            <a:off x="7809266" y="3829542"/>
            <a:ext cx="28216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1</a:t>
            </a:r>
            <a:r>
              <a:rPr lang="en-US" altLang="zh-CN" sz="2400" dirty="0"/>
              <a:t>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1 1 1 1 0 1 0 0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52398" name="Text Box 14"/>
          <p:cNvSpPr txBox="1">
            <a:spLocks noChangeArrowheads="1"/>
          </p:cNvSpPr>
          <p:nvPr/>
        </p:nvSpPr>
        <p:spPr bwMode="auto">
          <a:xfrm>
            <a:off x="3755696" y="4597892"/>
            <a:ext cx="26035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dirty="0"/>
              <a:t> </a:t>
            </a:r>
            <a:r>
              <a:rPr lang="en-US" altLang="zh-CN" sz="2800" dirty="0">
                <a:latin typeface="Times New Roman" panose="02020503050405090304" pitchFamily="18" charset="0"/>
              </a:rPr>
              <a:t>1 1 1 1 0 1 0 0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1552399" name="Text Box 15"/>
          <p:cNvSpPr txBox="1">
            <a:spLocks noChangeArrowheads="1"/>
          </p:cNvSpPr>
          <p:nvPr/>
        </p:nvSpPr>
        <p:spPr bwMode="auto">
          <a:xfrm>
            <a:off x="7809266" y="4596305"/>
            <a:ext cx="28376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dirty="0"/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0 0 0 0 1 0 1 1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52400" name="Text Box 16"/>
          <p:cNvSpPr txBox="1">
            <a:spLocks noChangeArrowheads="1"/>
          </p:cNvSpPr>
          <p:nvPr/>
        </p:nvSpPr>
        <p:spPr bwMode="auto">
          <a:xfrm>
            <a:off x="3755696" y="5925038"/>
            <a:ext cx="26196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</a:t>
            </a:r>
            <a:r>
              <a:rPr lang="en-US" altLang="zh-CN" sz="2800" dirty="0">
                <a:latin typeface="Times New Roman" panose="02020503050405090304" pitchFamily="18" charset="0"/>
              </a:rPr>
              <a:t>1 1 1 1 0 1 0 0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1552401" name="Text Box 17"/>
          <p:cNvSpPr txBox="1">
            <a:spLocks noChangeArrowheads="1"/>
          </p:cNvSpPr>
          <p:nvPr/>
        </p:nvSpPr>
        <p:spPr bwMode="auto">
          <a:xfrm>
            <a:off x="7809266" y="5923451"/>
            <a:ext cx="28376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dirty="0"/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0 0 0 0 1 1 0 0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52402" name="Line 18"/>
          <p:cNvSpPr>
            <a:spLocks noChangeShapeType="1"/>
          </p:cNvSpPr>
          <p:nvPr/>
        </p:nvSpPr>
        <p:spPr bwMode="auto">
          <a:xfrm>
            <a:off x="1107295" y="2688817"/>
            <a:ext cx="9768940" cy="2059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2403" name="Line 19"/>
          <p:cNvSpPr>
            <a:spLocks noChangeShapeType="1"/>
          </p:cNvSpPr>
          <p:nvPr/>
        </p:nvSpPr>
        <p:spPr bwMode="auto">
          <a:xfrm>
            <a:off x="7062004" y="2099621"/>
            <a:ext cx="0" cy="4598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2404" name="Line 20"/>
          <p:cNvSpPr>
            <a:spLocks noChangeShapeType="1"/>
          </p:cNvSpPr>
          <p:nvPr/>
        </p:nvSpPr>
        <p:spPr bwMode="auto">
          <a:xfrm>
            <a:off x="3109131" y="2105971"/>
            <a:ext cx="0" cy="4598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2405" name="Text Box 21"/>
          <p:cNvSpPr txBox="1">
            <a:spLocks noChangeArrowheads="1"/>
          </p:cNvSpPr>
          <p:nvPr/>
        </p:nvSpPr>
        <p:spPr bwMode="auto">
          <a:xfrm>
            <a:off x="1186669" y="2078982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/>
              <a:t>十进制数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  <p:sp>
        <p:nvSpPr>
          <p:cNvPr id="1552406" name="Text Box 22"/>
          <p:cNvSpPr txBox="1">
            <a:spLocks noChangeArrowheads="1"/>
          </p:cNvSpPr>
          <p:nvPr/>
        </p:nvSpPr>
        <p:spPr bwMode="auto">
          <a:xfrm>
            <a:off x="1232706" y="307434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/>
              <a:t>二进制数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1552407" name="Text Box 23"/>
          <p:cNvSpPr txBox="1">
            <a:spLocks noChangeArrowheads="1"/>
          </p:cNvSpPr>
          <p:nvPr/>
        </p:nvSpPr>
        <p:spPr bwMode="auto">
          <a:xfrm>
            <a:off x="1094594" y="3883517"/>
            <a:ext cx="180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/>
              <a:t>机器数</a:t>
            </a:r>
            <a:r>
              <a:rPr lang="en-US" altLang="zh-CN" sz="2400"/>
              <a:t>-</a:t>
            </a:r>
            <a:r>
              <a:rPr lang="zh-CN" altLang="en-US" sz="2400"/>
              <a:t>原码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  <p:sp>
        <p:nvSpPr>
          <p:cNvPr id="1552408" name="Text Box 24"/>
          <p:cNvSpPr txBox="1">
            <a:spLocks noChangeArrowheads="1"/>
          </p:cNvSpPr>
          <p:nvPr/>
        </p:nvSpPr>
        <p:spPr bwMode="auto">
          <a:xfrm>
            <a:off x="1094594" y="4620117"/>
            <a:ext cx="180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/>
              <a:t>机器数</a:t>
            </a:r>
            <a:r>
              <a:rPr lang="en-US" altLang="zh-CN" sz="2400"/>
              <a:t>-</a:t>
            </a:r>
            <a:r>
              <a:rPr lang="zh-CN" altLang="en-US" sz="2400"/>
              <a:t>反码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  <p:sp>
        <p:nvSpPr>
          <p:cNvPr id="1552409" name="Text Box 25"/>
          <p:cNvSpPr txBox="1">
            <a:spLocks noChangeArrowheads="1"/>
          </p:cNvSpPr>
          <p:nvPr/>
        </p:nvSpPr>
        <p:spPr bwMode="auto">
          <a:xfrm>
            <a:off x="1107294" y="5974250"/>
            <a:ext cx="180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/>
              <a:t>机器数</a:t>
            </a:r>
            <a:r>
              <a:rPr lang="en-US" altLang="zh-CN" sz="2400"/>
              <a:t>-</a:t>
            </a:r>
            <a:r>
              <a:rPr lang="zh-CN" altLang="en-US" sz="2400"/>
              <a:t>补码</a:t>
            </a:r>
            <a:endParaRPr lang="zh-CN" altLang="en-US" sz="2800">
              <a:latin typeface="Times New Roman" panose="02020503050405090304" pitchFamily="18" charset="0"/>
            </a:endParaRPr>
          </a:p>
        </p:txBody>
      </p:sp>
      <p:sp>
        <p:nvSpPr>
          <p:cNvPr id="1552410" name="Text Box 26"/>
          <p:cNvSpPr txBox="1">
            <a:spLocks noChangeArrowheads="1"/>
          </p:cNvSpPr>
          <p:nvPr/>
        </p:nvSpPr>
        <p:spPr bwMode="auto">
          <a:xfrm>
            <a:off x="7727848" y="5185267"/>
            <a:ext cx="29209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加</a:t>
            </a:r>
            <a:r>
              <a:rPr lang="zh-CN" altLang="en-US" sz="2400" dirty="0"/>
              <a:t>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0 0 0 0 0 0 0 1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52411" name="Line 27"/>
          <p:cNvSpPr>
            <a:spLocks noChangeShapeType="1"/>
          </p:cNvSpPr>
          <p:nvPr/>
        </p:nvSpPr>
        <p:spPr bwMode="auto">
          <a:xfrm>
            <a:off x="7842603" y="5695144"/>
            <a:ext cx="2689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2412" name="Line 28"/>
          <p:cNvSpPr>
            <a:spLocks noChangeShapeType="1"/>
          </p:cNvSpPr>
          <p:nvPr/>
        </p:nvSpPr>
        <p:spPr bwMode="auto">
          <a:xfrm>
            <a:off x="10618048" y="4795234"/>
            <a:ext cx="0" cy="1209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带符号的机器数：原码、反码和补码</a:t>
            </a:r>
          </a:p>
        </p:txBody>
      </p:sp>
      <p:sp>
        <p:nvSpPr>
          <p:cNvPr id="25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数值性信息的表达：机器数</a:t>
            </a:r>
          </a:p>
        </p:txBody>
      </p:sp>
      <p:grpSp>
        <p:nvGrpSpPr>
          <p:cNvPr id="26" name="Group 2"/>
          <p:cNvGrpSpPr/>
          <p:nvPr/>
        </p:nvGrpSpPr>
        <p:grpSpPr bwMode="auto">
          <a:xfrm>
            <a:off x="9229475" y="1811841"/>
            <a:ext cx="1646759" cy="1118974"/>
            <a:chOff x="486" y="2211"/>
            <a:chExt cx="898" cy="748"/>
          </a:xfrm>
        </p:grpSpPr>
        <p:sp>
          <p:nvSpPr>
            <p:cNvPr id="27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8" name="Oval 40"/>
            <p:cNvSpPr>
              <a:spLocks noChangeArrowheads="1"/>
            </p:cNvSpPr>
            <p:nvPr/>
          </p:nvSpPr>
          <p:spPr bwMode="gray">
            <a:xfrm>
              <a:off x="560" y="2264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9" name="Text Box 84"/>
            <p:cNvSpPr txBox="1">
              <a:spLocks noChangeArrowheads="1"/>
            </p:cNvSpPr>
            <p:nvPr/>
          </p:nvSpPr>
          <p:spPr bwMode="auto">
            <a:xfrm>
              <a:off x="563" y="2422"/>
              <a:ext cx="798" cy="3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负数</a:t>
              </a:r>
            </a:p>
          </p:txBody>
        </p:sp>
      </p:grpSp>
      <p:grpSp>
        <p:nvGrpSpPr>
          <p:cNvPr id="30" name="Group 2"/>
          <p:cNvGrpSpPr/>
          <p:nvPr/>
        </p:nvGrpSpPr>
        <p:grpSpPr bwMode="auto">
          <a:xfrm>
            <a:off x="3296984" y="1811841"/>
            <a:ext cx="1646759" cy="1118974"/>
            <a:chOff x="486" y="2211"/>
            <a:chExt cx="898" cy="748"/>
          </a:xfrm>
        </p:grpSpPr>
        <p:sp>
          <p:nvSpPr>
            <p:cNvPr id="31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2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3" name="Text Box 84"/>
            <p:cNvSpPr txBox="1">
              <a:spLocks noChangeArrowheads="1"/>
            </p:cNvSpPr>
            <p:nvPr/>
          </p:nvSpPr>
          <p:spPr bwMode="auto">
            <a:xfrm>
              <a:off x="524" y="2408"/>
              <a:ext cx="821" cy="3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正数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2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2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2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2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52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52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52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52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52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52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52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52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52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52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52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52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2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2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52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52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52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52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52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52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52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52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52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52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52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52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2391" grpId="0"/>
      <p:bldP spid="1552394" grpId="0"/>
      <p:bldP spid="1552396" grpId="0"/>
      <p:bldP spid="1552397" grpId="0"/>
      <p:bldP spid="1552398" grpId="0"/>
      <p:bldP spid="1552399" grpId="0"/>
      <p:bldP spid="1552400" grpId="0"/>
      <p:bldP spid="1552401" grpId="0"/>
      <p:bldP spid="1552406" grpId="0"/>
      <p:bldP spid="1552407" grpId="0"/>
      <p:bldP spid="1552408" grpId="0"/>
      <p:bldP spid="1552409" grpId="0"/>
      <p:bldP spid="15524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1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085" y="2166817"/>
            <a:ext cx="6993845" cy="4456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圆角矩形 4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机器数：原码、反码和补码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数值性信息的表达：机器数</a:t>
            </a:r>
          </a:p>
        </p:txBody>
      </p:sp>
      <p:grpSp>
        <p:nvGrpSpPr>
          <p:cNvPr id="7" name="Group 2"/>
          <p:cNvGrpSpPr/>
          <p:nvPr/>
        </p:nvGrpSpPr>
        <p:grpSpPr bwMode="auto">
          <a:xfrm>
            <a:off x="751543" y="4625066"/>
            <a:ext cx="1646759" cy="1118974"/>
            <a:chOff x="486" y="2211"/>
            <a:chExt cx="898" cy="748"/>
          </a:xfrm>
        </p:grpSpPr>
        <p:sp>
          <p:nvSpPr>
            <p:cNvPr id="8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9" name="Oval 40"/>
            <p:cNvSpPr>
              <a:spLocks noChangeArrowheads="1"/>
            </p:cNvSpPr>
            <p:nvPr/>
          </p:nvSpPr>
          <p:spPr bwMode="gray">
            <a:xfrm>
              <a:off x="560" y="2264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" name="Text Box 84"/>
            <p:cNvSpPr txBox="1">
              <a:spLocks noChangeArrowheads="1"/>
            </p:cNvSpPr>
            <p:nvPr/>
          </p:nvSpPr>
          <p:spPr bwMode="auto">
            <a:xfrm>
              <a:off x="563" y="2422"/>
              <a:ext cx="798" cy="3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负数</a:t>
              </a:r>
            </a:p>
          </p:txBody>
        </p:sp>
      </p:grpSp>
      <p:grpSp>
        <p:nvGrpSpPr>
          <p:cNvPr id="11" name="Group 2"/>
          <p:cNvGrpSpPr/>
          <p:nvPr/>
        </p:nvGrpSpPr>
        <p:grpSpPr bwMode="auto">
          <a:xfrm>
            <a:off x="751543" y="2726376"/>
            <a:ext cx="1646759" cy="1118974"/>
            <a:chOff x="486" y="2211"/>
            <a:chExt cx="898" cy="748"/>
          </a:xfrm>
        </p:grpSpPr>
        <p:sp>
          <p:nvSpPr>
            <p:cNvPr id="12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3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4" name="Text Box 84"/>
            <p:cNvSpPr txBox="1">
              <a:spLocks noChangeArrowheads="1"/>
            </p:cNvSpPr>
            <p:nvPr/>
          </p:nvSpPr>
          <p:spPr bwMode="auto">
            <a:xfrm>
              <a:off x="524" y="2408"/>
              <a:ext cx="821" cy="3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正数</a:t>
              </a:r>
            </a:p>
          </p:txBody>
        </p:sp>
      </p:grp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622141" y="2839587"/>
            <a:ext cx="193284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原码、反码和补码是一样的</a:t>
            </a:r>
            <a:endParaRPr lang="en-US" altLang="zh-CN" sz="20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590537" y="4168890"/>
            <a:ext cx="193284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原码、反码和补码表示的大小是不同的</a:t>
            </a:r>
            <a:endParaRPr lang="en-US" altLang="zh-CN" sz="20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2622141" y="5290042"/>
            <a:ext cx="193284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原码、反码和补码的表示范围也是不同的</a:t>
            </a:r>
            <a:endParaRPr lang="en-US" altLang="zh-CN" sz="2000" b="1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2349689" y="4168889"/>
            <a:ext cx="371742" cy="2136815"/>
          </a:xfrm>
          <a:prstGeom prst="leftBrace">
            <a:avLst>
              <a:gd name="adj1" fmla="val 11082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498771" y="5475514"/>
            <a:ext cx="5143273" cy="8084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412" name="Rectangle 4"/>
          <p:cNvSpPr>
            <a:spLocks noChangeArrowheads="1"/>
          </p:cNvSpPr>
          <p:nvPr/>
        </p:nvSpPr>
        <p:spPr bwMode="auto">
          <a:xfrm>
            <a:off x="6931703" y="3179540"/>
            <a:ext cx="155098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0  1010</a:t>
            </a:r>
          </a:p>
        </p:txBody>
      </p:sp>
      <p:sp>
        <p:nvSpPr>
          <p:cNvPr id="1553413" name="Rectangle 5"/>
          <p:cNvSpPr>
            <a:spLocks noChangeArrowheads="1"/>
          </p:cNvSpPr>
          <p:nvPr/>
        </p:nvSpPr>
        <p:spPr bwMode="auto">
          <a:xfrm>
            <a:off x="6355441" y="3682778"/>
            <a:ext cx="21320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+)  1  1101</a:t>
            </a:r>
          </a:p>
        </p:txBody>
      </p:sp>
      <p:sp>
        <p:nvSpPr>
          <p:cNvPr id="1553414" name="Line 6"/>
          <p:cNvSpPr>
            <a:spLocks noChangeShapeType="1"/>
          </p:cNvSpPr>
          <p:nvPr/>
        </p:nvSpPr>
        <p:spPr bwMode="auto">
          <a:xfrm>
            <a:off x="6577691" y="4260628"/>
            <a:ext cx="194468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15" name="Text Box 7"/>
          <p:cNvSpPr txBox="1">
            <a:spLocks noChangeArrowheads="1"/>
          </p:cNvSpPr>
          <p:nvPr/>
        </p:nvSpPr>
        <p:spPr bwMode="auto">
          <a:xfrm>
            <a:off x="8108040" y="4262216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53416" name="Text Box 8"/>
          <p:cNvSpPr txBox="1">
            <a:spLocks noChangeArrowheads="1"/>
          </p:cNvSpPr>
          <p:nvPr/>
        </p:nvSpPr>
        <p:spPr bwMode="auto">
          <a:xfrm>
            <a:off x="7904840" y="4262216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53417" name="Text Box 9"/>
          <p:cNvSpPr txBox="1">
            <a:spLocks noChangeArrowheads="1"/>
          </p:cNvSpPr>
          <p:nvPr/>
        </p:nvSpPr>
        <p:spPr bwMode="auto">
          <a:xfrm>
            <a:off x="7690528" y="4262216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53418" name="Text Box 10"/>
          <p:cNvSpPr txBox="1">
            <a:spLocks noChangeArrowheads="1"/>
          </p:cNvSpPr>
          <p:nvPr/>
        </p:nvSpPr>
        <p:spPr bwMode="auto">
          <a:xfrm>
            <a:off x="7458753" y="4262216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19" name="Text Box 11"/>
          <p:cNvSpPr txBox="1">
            <a:spLocks noChangeArrowheads="1"/>
          </p:cNvSpPr>
          <p:nvPr/>
        </p:nvSpPr>
        <p:spPr bwMode="auto">
          <a:xfrm>
            <a:off x="7000512" y="4262216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20" name="Rectangle 12"/>
          <p:cNvSpPr>
            <a:spLocks noChangeArrowheads="1"/>
          </p:cNvSpPr>
          <p:nvPr/>
        </p:nvSpPr>
        <p:spPr bwMode="auto">
          <a:xfrm>
            <a:off x="6139541" y="2630265"/>
            <a:ext cx="2644774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(10) + (-3) = (7)</a:t>
            </a:r>
          </a:p>
        </p:txBody>
      </p:sp>
      <p:sp>
        <p:nvSpPr>
          <p:cNvPr id="1553421" name="Line 13"/>
          <p:cNvSpPr>
            <a:spLocks noChangeShapeType="1"/>
          </p:cNvSpPr>
          <p:nvPr/>
        </p:nvSpPr>
        <p:spPr bwMode="auto">
          <a:xfrm>
            <a:off x="7331753" y="4190778"/>
            <a:ext cx="71437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22" name="Line 14"/>
          <p:cNvSpPr>
            <a:spLocks noChangeShapeType="1"/>
          </p:cNvSpPr>
          <p:nvPr/>
        </p:nvSpPr>
        <p:spPr bwMode="auto">
          <a:xfrm>
            <a:off x="6968216" y="4190778"/>
            <a:ext cx="71437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23" name="Line 15"/>
          <p:cNvSpPr>
            <a:spLocks noChangeShapeType="1"/>
          </p:cNvSpPr>
          <p:nvPr/>
        </p:nvSpPr>
        <p:spPr bwMode="auto">
          <a:xfrm>
            <a:off x="6428466" y="3179540"/>
            <a:ext cx="2214562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27" name="Rectangle 19"/>
          <p:cNvSpPr>
            <a:spLocks noChangeArrowheads="1"/>
          </p:cNvSpPr>
          <p:nvPr/>
        </p:nvSpPr>
        <p:spPr bwMode="auto">
          <a:xfrm>
            <a:off x="1172596" y="3138813"/>
            <a:ext cx="15049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0  0111</a:t>
            </a:r>
          </a:p>
        </p:txBody>
      </p:sp>
      <p:sp>
        <p:nvSpPr>
          <p:cNvPr id="1553428" name="Rectangle 20"/>
          <p:cNvSpPr>
            <a:spLocks noChangeArrowheads="1"/>
          </p:cNvSpPr>
          <p:nvPr/>
        </p:nvSpPr>
        <p:spPr bwMode="auto">
          <a:xfrm>
            <a:off x="562159" y="3642051"/>
            <a:ext cx="21320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+)  0  0011</a:t>
            </a:r>
          </a:p>
        </p:txBody>
      </p:sp>
      <p:sp>
        <p:nvSpPr>
          <p:cNvPr id="1553429" name="Line 21"/>
          <p:cNvSpPr>
            <a:spLocks noChangeShapeType="1"/>
          </p:cNvSpPr>
          <p:nvPr/>
        </p:nvSpPr>
        <p:spPr bwMode="auto">
          <a:xfrm>
            <a:off x="704283" y="4219901"/>
            <a:ext cx="19446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30" name="Text Box 22"/>
          <p:cNvSpPr txBox="1">
            <a:spLocks noChangeArrowheads="1"/>
          </p:cNvSpPr>
          <p:nvPr/>
        </p:nvSpPr>
        <p:spPr bwMode="auto">
          <a:xfrm>
            <a:off x="2282087" y="4221489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31" name="Text Box 23"/>
          <p:cNvSpPr txBox="1">
            <a:spLocks noChangeArrowheads="1"/>
          </p:cNvSpPr>
          <p:nvPr/>
        </p:nvSpPr>
        <p:spPr bwMode="auto">
          <a:xfrm>
            <a:off x="2037322" y="4221489"/>
            <a:ext cx="5261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 </a:t>
            </a:r>
          </a:p>
        </p:txBody>
      </p:sp>
      <p:sp>
        <p:nvSpPr>
          <p:cNvPr id="1553432" name="Text Box 24"/>
          <p:cNvSpPr txBox="1">
            <a:spLocks noChangeArrowheads="1"/>
          </p:cNvSpPr>
          <p:nvPr/>
        </p:nvSpPr>
        <p:spPr bwMode="auto">
          <a:xfrm>
            <a:off x="1823010" y="4221489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33" name="Text Box 25"/>
          <p:cNvSpPr txBox="1">
            <a:spLocks noChangeArrowheads="1"/>
          </p:cNvSpPr>
          <p:nvPr/>
        </p:nvSpPr>
        <p:spPr bwMode="auto">
          <a:xfrm>
            <a:off x="1566296" y="4221489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53434" name="Text Box 26"/>
          <p:cNvSpPr txBox="1">
            <a:spLocks noChangeArrowheads="1"/>
          </p:cNvSpPr>
          <p:nvPr/>
        </p:nvSpPr>
        <p:spPr bwMode="auto">
          <a:xfrm>
            <a:off x="1152044" y="4221489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35" name="Rectangle 27"/>
          <p:cNvSpPr>
            <a:spLocks noChangeArrowheads="1"/>
          </p:cNvSpPr>
          <p:nvPr/>
        </p:nvSpPr>
        <p:spPr bwMode="auto">
          <a:xfrm>
            <a:off x="266133" y="2589538"/>
            <a:ext cx="31543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(+7) + (+3) = (+10)</a:t>
            </a:r>
          </a:p>
        </p:txBody>
      </p:sp>
      <p:sp>
        <p:nvSpPr>
          <p:cNvPr id="1553436" name="Line 28"/>
          <p:cNvSpPr>
            <a:spLocks noChangeShapeType="1"/>
          </p:cNvSpPr>
          <p:nvPr/>
        </p:nvSpPr>
        <p:spPr bwMode="auto">
          <a:xfrm>
            <a:off x="551089" y="3158335"/>
            <a:ext cx="2214563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38" name="Line 30"/>
          <p:cNvSpPr>
            <a:spLocks noChangeShapeType="1"/>
          </p:cNvSpPr>
          <p:nvPr/>
        </p:nvSpPr>
        <p:spPr bwMode="auto">
          <a:xfrm>
            <a:off x="2273526" y="4166398"/>
            <a:ext cx="71438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39" name="Line 31"/>
          <p:cNvSpPr>
            <a:spLocks noChangeShapeType="1"/>
          </p:cNvSpPr>
          <p:nvPr/>
        </p:nvSpPr>
        <p:spPr bwMode="auto">
          <a:xfrm>
            <a:off x="2057626" y="4166398"/>
            <a:ext cx="71438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40" name="Line 32"/>
          <p:cNvSpPr>
            <a:spLocks noChangeShapeType="1"/>
          </p:cNvSpPr>
          <p:nvPr/>
        </p:nvSpPr>
        <p:spPr bwMode="auto">
          <a:xfrm>
            <a:off x="1841726" y="4166398"/>
            <a:ext cx="71438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43" name="Rectangle 35"/>
          <p:cNvSpPr>
            <a:spLocks noChangeArrowheads="1"/>
          </p:cNvSpPr>
          <p:nvPr/>
        </p:nvSpPr>
        <p:spPr bwMode="auto">
          <a:xfrm>
            <a:off x="9248084" y="4857528"/>
            <a:ext cx="1550986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1  1001</a:t>
            </a:r>
          </a:p>
        </p:txBody>
      </p:sp>
      <p:sp>
        <p:nvSpPr>
          <p:cNvPr id="1553444" name="Rectangle 36"/>
          <p:cNvSpPr>
            <a:spLocks noChangeArrowheads="1"/>
          </p:cNvSpPr>
          <p:nvPr/>
        </p:nvSpPr>
        <p:spPr bwMode="auto">
          <a:xfrm>
            <a:off x="8671822" y="5360765"/>
            <a:ext cx="2154236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+)  1  0100</a:t>
            </a:r>
          </a:p>
        </p:txBody>
      </p:sp>
      <p:sp>
        <p:nvSpPr>
          <p:cNvPr id="1553445" name="Line 37"/>
          <p:cNvSpPr>
            <a:spLocks noChangeShapeType="1"/>
          </p:cNvSpPr>
          <p:nvPr/>
        </p:nvSpPr>
        <p:spPr bwMode="auto">
          <a:xfrm>
            <a:off x="8916297" y="5938615"/>
            <a:ext cx="1944686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46" name="Text Box 38"/>
          <p:cNvSpPr txBox="1">
            <a:spLocks noChangeArrowheads="1"/>
          </p:cNvSpPr>
          <p:nvPr/>
        </p:nvSpPr>
        <p:spPr bwMode="auto">
          <a:xfrm>
            <a:off x="10427596" y="5940202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53447" name="Text Box 39"/>
          <p:cNvSpPr txBox="1">
            <a:spLocks noChangeArrowheads="1"/>
          </p:cNvSpPr>
          <p:nvPr/>
        </p:nvSpPr>
        <p:spPr bwMode="auto">
          <a:xfrm>
            <a:off x="10192646" y="5940202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48" name="Text Box 40"/>
          <p:cNvSpPr txBox="1">
            <a:spLocks noChangeArrowheads="1"/>
          </p:cNvSpPr>
          <p:nvPr/>
        </p:nvSpPr>
        <p:spPr bwMode="auto">
          <a:xfrm>
            <a:off x="9978334" y="5940202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53449" name="Text Box 41"/>
          <p:cNvSpPr txBox="1">
            <a:spLocks noChangeArrowheads="1"/>
          </p:cNvSpPr>
          <p:nvPr/>
        </p:nvSpPr>
        <p:spPr bwMode="auto">
          <a:xfrm>
            <a:off x="9730684" y="5940202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53450" name="Text Box 42"/>
          <p:cNvSpPr txBox="1">
            <a:spLocks noChangeArrowheads="1"/>
          </p:cNvSpPr>
          <p:nvPr/>
        </p:nvSpPr>
        <p:spPr bwMode="auto">
          <a:xfrm>
            <a:off x="9302059" y="5940202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51" name="Rectangle 43"/>
          <p:cNvSpPr>
            <a:spLocks noChangeArrowheads="1"/>
          </p:cNvSpPr>
          <p:nvPr/>
        </p:nvSpPr>
        <p:spPr bwMode="auto">
          <a:xfrm>
            <a:off x="8909947" y="4260628"/>
            <a:ext cx="304641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(-7) + (-12) = 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溢出</a:t>
            </a:r>
          </a:p>
        </p:txBody>
      </p:sp>
      <p:sp>
        <p:nvSpPr>
          <p:cNvPr id="1553452" name="Line 44"/>
          <p:cNvSpPr>
            <a:spLocks noChangeShapeType="1"/>
          </p:cNvSpPr>
          <p:nvPr/>
        </p:nvSpPr>
        <p:spPr bwMode="auto">
          <a:xfrm>
            <a:off x="8932172" y="4874990"/>
            <a:ext cx="2214561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54" name="Line 46"/>
          <p:cNvSpPr>
            <a:spLocks noChangeShapeType="1"/>
          </p:cNvSpPr>
          <p:nvPr/>
        </p:nvSpPr>
        <p:spPr bwMode="auto">
          <a:xfrm>
            <a:off x="9294184" y="5857652"/>
            <a:ext cx="71437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58" name="Rectangle 50"/>
          <p:cNvSpPr>
            <a:spLocks noChangeArrowheads="1"/>
          </p:cNvSpPr>
          <p:nvPr/>
        </p:nvSpPr>
        <p:spPr bwMode="auto">
          <a:xfrm>
            <a:off x="3956503" y="4787111"/>
            <a:ext cx="1527174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1  1011</a:t>
            </a:r>
          </a:p>
        </p:txBody>
      </p:sp>
      <p:sp>
        <p:nvSpPr>
          <p:cNvPr id="1553459" name="Rectangle 51"/>
          <p:cNvSpPr>
            <a:spLocks noChangeArrowheads="1"/>
          </p:cNvSpPr>
          <p:nvPr/>
        </p:nvSpPr>
        <p:spPr bwMode="auto">
          <a:xfrm>
            <a:off x="3380240" y="5290349"/>
            <a:ext cx="21542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+)  1  1001</a:t>
            </a:r>
          </a:p>
        </p:txBody>
      </p:sp>
      <p:sp>
        <p:nvSpPr>
          <p:cNvPr id="1553460" name="Line 52"/>
          <p:cNvSpPr>
            <a:spLocks noChangeShapeType="1"/>
          </p:cNvSpPr>
          <p:nvPr/>
        </p:nvSpPr>
        <p:spPr bwMode="auto">
          <a:xfrm>
            <a:off x="3572328" y="5868199"/>
            <a:ext cx="194468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61" name="Text Box 53"/>
          <p:cNvSpPr txBox="1">
            <a:spLocks noChangeArrowheads="1"/>
          </p:cNvSpPr>
          <p:nvPr/>
        </p:nvSpPr>
        <p:spPr bwMode="auto">
          <a:xfrm>
            <a:off x="5102677" y="5869787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62" name="Text Box 54"/>
          <p:cNvSpPr txBox="1">
            <a:spLocks noChangeArrowheads="1"/>
          </p:cNvSpPr>
          <p:nvPr/>
        </p:nvSpPr>
        <p:spPr bwMode="auto">
          <a:xfrm>
            <a:off x="4899477" y="5869787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63" name="Text Box 55"/>
          <p:cNvSpPr txBox="1">
            <a:spLocks noChangeArrowheads="1"/>
          </p:cNvSpPr>
          <p:nvPr/>
        </p:nvSpPr>
        <p:spPr bwMode="auto">
          <a:xfrm>
            <a:off x="4685165" y="5869787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53464" name="Text Box 56"/>
          <p:cNvSpPr txBox="1">
            <a:spLocks noChangeArrowheads="1"/>
          </p:cNvSpPr>
          <p:nvPr/>
        </p:nvSpPr>
        <p:spPr bwMode="auto">
          <a:xfrm>
            <a:off x="4453390" y="5869787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</p:txBody>
      </p:sp>
      <p:sp>
        <p:nvSpPr>
          <p:cNvPr id="1553465" name="Text Box 57"/>
          <p:cNvSpPr txBox="1">
            <a:spLocks noChangeArrowheads="1"/>
          </p:cNvSpPr>
          <p:nvPr/>
        </p:nvSpPr>
        <p:spPr bwMode="auto">
          <a:xfrm>
            <a:off x="4003462" y="5869787"/>
            <a:ext cx="41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53466" name="Rectangle 58"/>
          <p:cNvSpPr>
            <a:spLocks noChangeArrowheads="1"/>
          </p:cNvSpPr>
          <p:nvPr/>
        </p:nvSpPr>
        <p:spPr bwMode="auto">
          <a:xfrm>
            <a:off x="3134178" y="4237836"/>
            <a:ext cx="2886074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(-5) + (-7) = (-12)</a:t>
            </a:r>
          </a:p>
        </p:txBody>
      </p:sp>
      <p:sp>
        <p:nvSpPr>
          <p:cNvPr id="1553467" name="Line 59"/>
          <p:cNvSpPr>
            <a:spLocks noChangeShapeType="1"/>
          </p:cNvSpPr>
          <p:nvPr/>
        </p:nvSpPr>
        <p:spPr bwMode="auto">
          <a:xfrm>
            <a:off x="4283190" y="5798349"/>
            <a:ext cx="71437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68" name="Line 60"/>
          <p:cNvSpPr>
            <a:spLocks noChangeShapeType="1"/>
          </p:cNvSpPr>
          <p:nvPr/>
        </p:nvSpPr>
        <p:spPr bwMode="auto">
          <a:xfrm>
            <a:off x="3962853" y="5798349"/>
            <a:ext cx="71437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3469" name="Line 61"/>
          <p:cNvSpPr>
            <a:spLocks noChangeShapeType="1"/>
          </p:cNvSpPr>
          <p:nvPr/>
        </p:nvSpPr>
        <p:spPr bwMode="auto">
          <a:xfrm>
            <a:off x="3423103" y="4787111"/>
            <a:ext cx="2214562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补码的加减法：符号位与数值位一起参与运算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4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机器数的加减法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682403" y="1961437"/>
            <a:ext cx="6681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位机器字长（</a:t>
            </a:r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位符号位，</a:t>
            </a:r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位数值位）</a:t>
            </a:r>
          </a:p>
        </p:txBody>
      </p:sp>
      <p:grpSp>
        <p:nvGrpSpPr>
          <p:cNvPr id="60" name="Group 2"/>
          <p:cNvGrpSpPr/>
          <p:nvPr/>
        </p:nvGrpSpPr>
        <p:grpSpPr bwMode="auto">
          <a:xfrm>
            <a:off x="6079868" y="5511340"/>
            <a:ext cx="2123641" cy="1187158"/>
            <a:chOff x="486" y="2211"/>
            <a:chExt cx="898" cy="748"/>
          </a:xfrm>
        </p:grpSpPr>
        <p:sp>
          <p:nvSpPr>
            <p:cNvPr id="61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2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6" name="Text Box 84"/>
            <p:cNvSpPr txBox="1">
              <a:spLocks noChangeArrowheads="1"/>
            </p:cNvSpPr>
            <p:nvPr/>
          </p:nvSpPr>
          <p:spPr bwMode="auto">
            <a:xfrm>
              <a:off x="524" y="2328"/>
              <a:ext cx="821" cy="5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补码再求补即为原码 </a:t>
              </a:r>
            </a:p>
          </p:txBody>
        </p:sp>
      </p:grpSp>
      <p:sp>
        <p:nvSpPr>
          <p:cNvPr id="67" name="Line 59"/>
          <p:cNvSpPr>
            <a:spLocks noChangeShapeType="1"/>
          </p:cNvSpPr>
          <p:nvPr/>
        </p:nvSpPr>
        <p:spPr bwMode="auto">
          <a:xfrm>
            <a:off x="5078025" y="5789463"/>
            <a:ext cx="71437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68" name="Line 59"/>
          <p:cNvSpPr>
            <a:spLocks noChangeShapeType="1"/>
          </p:cNvSpPr>
          <p:nvPr/>
        </p:nvSpPr>
        <p:spPr bwMode="auto">
          <a:xfrm>
            <a:off x="4834425" y="5790663"/>
            <a:ext cx="71437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61289" y="5656174"/>
            <a:ext cx="2758241" cy="752939"/>
            <a:chOff x="1361289" y="5656174"/>
            <a:chExt cx="2758241" cy="752939"/>
          </a:xfrm>
        </p:grpSpPr>
        <p:sp>
          <p:nvSpPr>
            <p:cNvPr id="2" name="椭圆 1"/>
            <p:cNvSpPr/>
            <p:nvPr/>
          </p:nvSpPr>
          <p:spPr>
            <a:xfrm>
              <a:off x="3866196" y="5656174"/>
              <a:ext cx="253334" cy="407887"/>
            </a:xfrm>
            <a:prstGeom prst="ellipse">
              <a:avLst/>
            </a:prstGeom>
            <a:noFill/>
            <a:ln>
              <a:solidFill>
                <a:srgbClr val="A5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2219498" y="6043353"/>
              <a:ext cx="1753986" cy="365760"/>
            </a:xfrm>
            <a:custGeom>
              <a:avLst/>
              <a:gdLst>
                <a:gd name="connsiteX0" fmla="*/ 1753986 w 1753986"/>
                <a:gd name="connsiteY0" fmla="*/ 0 h 365760"/>
                <a:gd name="connsiteX1" fmla="*/ 864524 w 1753986"/>
                <a:gd name="connsiteY1" fmla="*/ 365760 h 365760"/>
                <a:gd name="connsiteX2" fmla="*/ 0 w 1753986"/>
                <a:gd name="connsiteY2" fmla="*/ 357447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3986" h="365760">
                  <a:moveTo>
                    <a:pt x="1753986" y="0"/>
                  </a:moveTo>
                  <a:lnTo>
                    <a:pt x="864524" y="365760"/>
                  </a:lnTo>
                  <a:lnTo>
                    <a:pt x="0" y="357447"/>
                  </a:lnTo>
                </a:path>
              </a:pathLst>
            </a:custGeom>
            <a:noFill/>
            <a:ln>
              <a:solidFill>
                <a:srgbClr val="A5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361289" y="6048781"/>
              <a:ext cx="20457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zh-CN" altLang="en-US" sz="1600" b="1" dirty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受字长限制自动舍弃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3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3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3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3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53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53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53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53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53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53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53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53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53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53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53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53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3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3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53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53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53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53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53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53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53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53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53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53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53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53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53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53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53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53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53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53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53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53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53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53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53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553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553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553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553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553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53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553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553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553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553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553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553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553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553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553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553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553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55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55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553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553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553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553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553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553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553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553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553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553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553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553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553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553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553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553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553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553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553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553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553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1553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553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1553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1553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553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553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553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553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553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553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553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553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553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1553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553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3412" grpId="0"/>
      <p:bldP spid="1553413" grpId="0"/>
      <p:bldP spid="1553414" grpId="0" animBg="1"/>
      <p:bldP spid="1553415" grpId="0"/>
      <p:bldP spid="1553416" grpId="0"/>
      <p:bldP spid="1553417" grpId="0"/>
      <p:bldP spid="1553418" grpId="0"/>
      <p:bldP spid="1553419" grpId="0"/>
      <p:bldP spid="1553420" grpId="0"/>
      <p:bldP spid="1553421" grpId="0" animBg="1"/>
      <p:bldP spid="1553422" grpId="0" animBg="1"/>
      <p:bldP spid="1553423" grpId="0" animBg="1"/>
      <p:bldP spid="1553427" grpId="0"/>
      <p:bldP spid="1553428" grpId="0"/>
      <p:bldP spid="1553429" grpId="0" animBg="1"/>
      <p:bldP spid="1553430" grpId="0"/>
      <p:bldP spid="1553431" grpId="0"/>
      <p:bldP spid="1553432" grpId="0"/>
      <p:bldP spid="1553433" grpId="0"/>
      <p:bldP spid="1553434" grpId="0"/>
      <p:bldP spid="1553435" grpId="0"/>
      <p:bldP spid="1553436" grpId="0" animBg="1"/>
      <p:bldP spid="1553438" grpId="0" animBg="1"/>
      <p:bldP spid="1553439" grpId="0" animBg="1"/>
      <p:bldP spid="1553440" grpId="0" animBg="1"/>
      <p:bldP spid="1553443" grpId="0"/>
      <p:bldP spid="1553444" grpId="0"/>
      <p:bldP spid="1553445" grpId="0" animBg="1"/>
      <p:bldP spid="1553446" grpId="0"/>
      <p:bldP spid="1553447" grpId="0"/>
      <p:bldP spid="1553448" grpId="0"/>
      <p:bldP spid="1553449" grpId="0"/>
      <p:bldP spid="1553450" grpId="0"/>
      <p:bldP spid="1553451" grpId="0"/>
      <p:bldP spid="1553452" grpId="0" animBg="1"/>
      <p:bldP spid="1553454" grpId="0" animBg="1"/>
      <p:bldP spid="1553458" grpId="0"/>
      <p:bldP spid="1553459" grpId="0"/>
      <p:bldP spid="1553460" grpId="0" animBg="1"/>
      <p:bldP spid="1553461" grpId="0"/>
      <p:bldP spid="1553462" grpId="0"/>
      <p:bldP spid="1553463" grpId="0"/>
      <p:bldP spid="1553464" grpId="0"/>
      <p:bldP spid="1553465" grpId="0"/>
      <p:bldP spid="1553466" grpId="0"/>
      <p:bldP spid="1553467" grpId="0" animBg="1"/>
      <p:bldP spid="1553468" grpId="0" animBg="1"/>
      <p:bldP spid="1553469" grpId="0" animBg="1"/>
      <p:bldP spid="67" grpId="0" animBg="1"/>
      <p:bldP spid="6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722" name="Text Box 106"/>
          <p:cNvSpPr txBox="1">
            <a:spLocks noChangeArrowheads="1"/>
          </p:cNvSpPr>
          <p:nvPr/>
        </p:nvSpPr>
        <p:spPr bwMode="auto">
          <a:xfrm>
            <a:off x="768650" y="1943016"/>
            <a:ext cx="10551634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一个命题由语句表述，即内容为“真”或为“假”的一个判断语句！</a:t>
            </a:r>
          </a:p>
          <a:p>
            <a:pPr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命题的运算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如果命题由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X, Y, Z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等表示，其值可能为“真”或为“假” ，则两个命题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X, Y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之间是可以进行运算的：</a:t>
            </a:r>
          </a:p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(AND): </a:t>
            </a:r>
            <a:r>
              <a:rPr lang="zh-CN" altLang="en-US" dirty="0">
                <a:ea typeface="华文宋体" panose="02010600040101010101" pitchFamily="2" charset="-122"/>
              </a:rPr>
              <a:t>当</a:t>
            </a:r>
            <a:r>
              <a:rPr lang="en-US" altLang="zh-CN" dirty="0">
                <a:ea typeface="华文宋体" panose="02010600040101010101" pitchFamily="2" charset="-122"/>
              </a:rPr>
              <a:t>X</a:t>
            </a:r>
            <a:r>
              <a:rPr lang="zh-CN" altLang="en-US" dirty="0">
                <a:ea typeface="华文宋体" panose="02010600040101010101" pitchFamily="2" charset="-122"/>
              </a:rPr>
              <a:t>和</a:t>
            </a:r>
            <a:r>
              <a:rPr lang="en-US" altLang="zh-CN" dirty="0">
                <a:ea typeface="华文宋体" panose="02010600040101010101" pitchFamily="2" charset="-122"/>
              </a:rPr>
              <a:t>Y</a:t>
            </a:r>
            <a:r>
              <a:rPr lang="zh-CN" altLang="en-US" dirty="0">
                <a:ea typeface="华文宋体" panose="02010600040101010101" pitchFamily="2" charset="-122"/>
              </a:rPr>
              <a:t>都为真时</a:t>
            </a:r>
            <a:r>
              <a:rPr lang="en-US" altLang="zh-CN" dirty="0">
                <a:ea typeface="华文宋体" panose="02010600040101010101" pitchFamily="2" charset="-122"/>
              </a:rPr>
              <a:t>, X AND Y</a:t>
            </a:r>
            <a:r>
              <a:rPr lang="zh-CN" altLang="en-US" dirty="0">
                <a:ea typeface="华文宋体" panose="02010600040101010101" pitchFamily="2" charset="-122"/>
              </a:rPr>
              <a:t>也为真</a:t>
            </a:r>
            <a:r>
              <a:rPr lang="en-US" altLang="zh-CN" dirty="0">
                <a:ea typeface="华文宋体" panose="02010600040101010101" pitchFamily="2" charset="-122"/>
              </a:rPr>
              <a:t>;  </a:t>
            </a:r>
            <a:r>
              <a:rPr lang="zh-CN" altLang="en-US" dirty="0">
                <a:ea typeface="华文宋体" panose="02010600040101010101" pitchFamily="2" charset="-122"/>
              </a:rPr>
              <a:t>其他情况</a:t>
            </a:r>
            <a:r>
              <a:rPr lang="en-US" altLang="zh-CN" dirty="0">
                <a:ea typeface="华文宋体" panose="02010600040101010101" pitchFamily="2" charset="-122"/>
              </a:rPr>
              <a:t>, X AND Y</a:t>
            </a:r>
            <a:r>
              <a:rPr lang="zh-CN" altLang="en-US" dirty="0">
                <a:ea typeface="华文宋体" panose="02010600040101010101" pitchFamily="2" charset="-122"/>
              </a:rPr>
              <a:t>均为假。 </a:t>
            </a:r>
            <a:endParaRPr lang="zh-CN" altLang="en-US" sz="2000" dirty="0">
              <a:solidFill>
                <a:schemeClr val="accent2"/>
              </a:solidFill>
              <a:ea typeface="华文宋体" panose="02010600040101010101" pitchFamily="2" charset="-122"/>
            </a:endParaRPr>
          </a:p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(OR): </a:t>
            </a:r>
            <a:r>
              <a:rPr lang="zh-CN" altLang="en-US" dirty="0">
                <a:ea typeface="华文宋体" panose="02010600040101010101" pitchFamily="2" charset="-122"/>
              </a:rPr>
              <a:t>当</a:t>
            </a:r>
            <a:r>
              <a:rPr lang="en-US" altLang="zh-CN" dirty="0">
                <a:ea typeface="华文宋体" panose="02010600040101010101" pitchFamily="2" charset="-122"/>
              </a:rPr>
              <a:t>X</a:t>
            </a:r>
            <a:r>
              <a:rPr lang="zh-CN" altLang="en-US" dirty="0">
                <a:ea typeface="华文宋体" panose="02010600040101010101" pitchFamily="2" charset="-122"/>
              </a:rPr>
              <a:t>和</a:t>
            </a:r>
            <a:r>
              <a:rPr lang="en-US" altLang="zh-CN" dirty="0">
                <a:ea typeface="华文宋体" panose="02010600040101010101" pitchFamily="2" charset="-122"/>
              </a:rPr>
              <a:t>Y</a:t>
            </a:r>
            <a:r>
              <a:rPr lang="zh-CN" altLang="en-US" dirty="0">
                <a:ea typeface="华文宋体" panose="02010600040101010101" pitchFamily="2" charset="-122"/>
              </a:rPr>
              <a:t>都为假时</a:t>
            </a:r>
            <a:r>
              <a:rPr lang="en-US" altLang="zh-CN" dirty="0">
                <a:ea typeface="华文宋体" panose="02010600040101010101" pitchFamily="2" charset="-122"/>
              </a:rPr>
              <a:t>, X OR Y</a:t>
            </a:r>
            <a:r>
              <a:rPr lang="zh-CN" altLang="en-US" dirty="0">
                <a:ea typeface="华文宋体" panose="02010600040101010101" pitchFamily="2" charset="-122"/>
              </a:rPr>
              <a:t>也为假</a:t>
            </a:r>
            <a:r>
              <a:rPr lang="en-US" altLang="zh-CN" dirty="0">
                <a:ea typeface="华文宋体" panose="02010600040101010101" pitchFamily="2" charset="-122"/>
              </a:rPr>
              <a:t>; </a:t>
            </a:r>
            <a:r>
              <a:rPr lang="zh-CN" altLang="en-US" dirty="0">
                <a:ea typeface="华文宋体" panose="02010600040101010101" pitchFamily="2" charset="-122"/>
              </a:rPr>
              <a:t>其他情况</a:t>
            </a:r>
            <a:r>
              <a:rPr lang="en-US" altLang="zh-CN" dirty="0">
                <a:ea typeface="华文宋体" panose="02010600040101010101" pitchFamily="2" charset="-122"/>
              </a:rPr>
              <a:t>, X OR Y</a:t>
            </a:r>
            <a:r>
              <a:rPr lang="zh-CN" altLang="en-US" dirty="0">
                <a:ea typeface="华文宋体" panose="02010600040101010101" pitchFamily="2" charset="-122"/>
              </a:rPr>
              <a:t>均为真。 </a:t>
            </a:r>
            <a:endParaRPr lang="zh-CN" altLang="en-US" sz="2000" dirty="0">
              <a:solidFill>
                <a:schemeClr val="accent2"/>
              </a:solidFill>
              <a:ea typeface="华文宋体" panose="02010600040101010101" pitchFamily="2" charset="-122"/>
            </a:endParaRPr>
          </a:p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(NOT): </a:t>
            </a:r>
            <a:r>
              <a:rPr lang="zh-CN" altLang="en-US" dirty="0">
                <a:ea typeface="华文宋体" panose="02010600040101010101" pitchFamily="2" charset="-122"/>
              </a:rPr>
              <a:t>当</a:t>
            </a:r>
            <a:r>
              <a:rPr lang="en-US" altLang="zh-CN" dirty="0">
                <a:ea typeface="华文宋体" panose="02010600040101010101" pitchFamily="2" charset="-122"/>
              </a:rPr>
              <a:t>X</a:t>
            </a:r>
            <a:r>
              <a:rPr lang="zh-CN" altLang="en-US" dirty="0">
                <a:ea typeface="华文宋体" panose="02010600040101010101" pitchFamily="2" charset="-122"/>
              </a:rPr>
              <a:t>为真时</a:t>
            </a:r>
            <a:r>
              <a:rPr lang="en-US" altLang="zh-CN" dirty="0">
                <a:ea typeface="华文宋体" panose="02010600040101010101" pitchFamily="2" charset="-122"/>
              </a:rPr>
              <a:t>, NOT X</a:t>
            </a:r>
            <a:r>
              <a:rPr lang="zh-CN" altLang="en-US" dirty="0">
                <a:ea typeface="华文宋体" panose="02010600040101010101" pitchFamily="2" charset="-122"/>
              </a:rPr>
              <a:t>为假</a:t>
            </a:r>
            <a:r>
              <a:rPr lang="en-US" altLang="zh-CN" dirty="0">
                <a:ea typeface="华文宋体" panose="02010600040101010101" pitchFamily="2" charset="-122"/>
              </a:rPr>
              <a:t>;</a:t>
            </a:r>
            <a:r>
              <a:rPr lang="zh-CN" altLang="en-US" dirty="0">
                <a:ea typeface="华文宋体" panose="02010600040101010101" pitchFamily="2" charset="-122"/>
              </a:rPr>
              <a:t>当</a:t>
            </a:r>
            <a:r>
              <a:rPr lang="en-US" altLang="zh-CN" dirty="0">
                <a:ea typeface="华文宋体" panose="02010600040101010101" pitchFamily="2" charset="-122"/>
              </a:rPr>
              <a:t>X</a:t>
            </a:r>
            <a:r>
              <a:rPr lang="zh-CN" altLang="en-US" dirty="0">
                <a:ea typeface="华文宋体" panose="02010600040101010101" pitchFamily="2" charset="-122"/>
              </a:rPr>
              <a:t>为假时</a:t>
            </a:r>
            <a:r>
              <a:rPr lang="en-US" altLang="zh-CN" dirty="0">
                <a:ea typeface="华文宋体" panose="02010600040101010101" pitchFamily="2" charset="-122"/>
              </a:rPr>
              <a:t>, NOT X</a:t>
            </a:r>
            <a:r>
              <a:rPr lang="zh-CN" altLang="en-US" dirty="0">
                <a:ea typeface="华文宋体" panose="02010600040101010101" pitchFamily="2" charset="-122"/>
              </a:rPr>
              <a:t>为真。 </a:t>
            </a:r>
            <a:endParaRPr lang="zh-CN" altLang="en-US" sz="2000" dirty="0">
              <a:solidFill>
                <a:schemeClr val="accent2"/>
              </a:solidFill>
              <a:ea typeface="华文宋体" panose="02010600040101010101" pitchFamily="2" charset="-122"/>
            </a:endParaRPr>
          </a:p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异或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XOR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): </a:t>
            </a:r>
            <a:r>
              <a:rPr lang="zh-CN" altLang="en-US" dirty="0">
                <a:ea typeface="华文宋体" panose="02010600040101010101" pitchFamily="2" charset="-122"/>
              </a:rPr>
              <a:t>当</a:t>
            </a:r>
            <a:r>
              <a:rPr lang="en-US" altLang="zh-CN" dirty="0">
                <a:ea typeface="华文宋体" panose="02010600040101010101" pitchFamily="2" charset="-122"/>
              </a:rPr>
              <a:t>X</a:t>
            </a:r>
            <a:r>
              <a:rPr lang="zh-CN" altLang="en-US" dirty="0">
                <a:ea typeface="华文宋体" panose="02010600040101010101" pitchFamily="2" charset="-122"/>
              </a:rPr>
              <a:t>和</a:t>
            </a:r>
            <a:r>
              <a:rPr lang="en-US" altLang="zh-CN" dirty="0">
                <a:ea typeface="华文宋体" panose="02010600040101010101" pitchFamily="2" charset="-122"/>
              </a:rPr>
              <a:t>Y</a:t>
            </a:r>
            <a:r>
              <a:rPr lang="zh-CN" altLang="en-US" dirty="0">
                <a:ea typeface="华文宋体" panose="02010600040101010101" pitchFamily="2" charset="-122"/>
              </a:rPr>
              <a:t>都为真或都为假时</a:t>
            </a:r>
            <a:r>
              <a:rPr lang="en-US" altLang="zh-CN" dirty="0">
                <a:ea typeface="华文宋体" panose="02010600040101010101" pitchFamily="2" charset="-122"/>
              </a:rPr>
              <a:t>, X </a:t>
            </a:r>
            <a:r>
              <a:rPr lang="en-US" altLang="zh-CN" dirty="0" err="1">
                <a:ea typeface="华文宋体" panose="02010600040101010101" pitchFamily="2" charset="-122"/>
              </a:rPr>
              <a:t>XOR</a:t>
            </a:r>
            <a:r>
              <a:rPr lang="en-US" altLang="zh-CN" dirty="0">
                <a:ea typeface="华文宋体" panose="02010600040101010101" pitchFamily="2" charset="-122"/>
              </a:rPr>
              <a:t> Y</a:t>
            </a:r>
            <a:r>
              <a:rPr lang="zh-CN" altLang="en-US" dirty="0">
                <a:ea typeface="华文宋体" panose="02010600040101010101" pitchFamily="2" charset="-122"/>
              </a:rPr>
              <a:t>为假</a:t>
            </a:r>
            <a:r>
              <a:rPr lang="en-US" altLang="zh-CN" dirty="0">
                <a:ea typeface="华文宋体" panose="02010600040101010101" pitchFamily="2" charset="-122"/>
              </a:rPr>
              <a:t>; </a:t>
            </a:r>
            <a:r>
              <a:rPr lang="zh-CN" altLang="en-US" dirty="0">
                <a:ea typeface="华文宋体" panose="02010600040101010101" pitchFamily="2" charset="-122"/>
              </a:rPr>
              <a:t>否则</a:t>
            </a:r>
            <a:r>
              <a:rPr lang="en-US" altLang="zh-CN" dirty="0">
                <a:ea typeface="华文宋体" panose="02010600040101010101" pitchFamily="2" charset="-122"/>
              </a:rPr>
              <a:t>, X </a:t>
            </a:r>
            <a:r>
              <a:rPr lang="en-US" altLang="zh-CN" dirty="0" err="1">
                <a:ea typeface="华文宋体" panose="02010600040101010101" pitchFamily="2" charset="-122"/>
              </a:rPr>
              <a:t>XOR</a:t>
            </a:r>
            <a:r>
              <a:rPr lang="en-US" altLang="zh-CN" dirty="0">
                <a:ea typeface="华文宋体" panose="02010600040101010101" pitchFamily="2" charset="-122"/>
              </a:rPr>
              <a:t> Y</a:t>
            </a:r>
            <a:r>
              <a:rPr lang="zh-CN" altLang="en-US" dirty="0">
                <a:ea typeface="华文宋体" panose="02010600040101010101" pitchFamily="2" charset="-122"/>
              </a:rPr>
              <a:t>为真。 </a:t>
            </a:r>
          </a:p>
        </p:txBody>
      </p:sp>
      <p:grpSp>
        <p:nvGrpSpPr>
          <p:cNvPr id="1519618" name="Group 2"/>
          <p:cNvGrpSpPr/>
          <p:nvPr/>
        </p:nvGrpSpPr>
        <p:grpSpPr bwMode="auto">
          <a:xfrm>
            <a:off x="10219020" y="4611111"/>
            <a:ext cx="1282826" cy="865263"/>
            <a:chOff x="2640" y="720"/>
            <a:chExt cx="1452" cy="1248"/>
          </a:xfrm>
        </p:grpSpPr>
        <p:grpSp>
          <p:nvGrpSpPr>
            <p:cNvPr id="1519619" name="Group 3"/>
            <p:cNvGrpSpPr/>
            <p:nvPr/>
          </p:nvGrpSpPr>
          <p:grpSpPr bwMode="auto">
            <a:xfrm rot="4638690">
              <a:off x="3305" y="775"/>
              <a:ext cx="352" cy="241"/>
              <a:chOff x="4034" y="2080"/>
              <a:chExt cx="862" cy="452"/>
            </a:xfrm>
          </p:grpSpPr>
          <p:grpSp>
            <p:nvGrpSpPr>
              <p:cNvPr id="1519620" name="Group 4"/>
              <p:cNvGrpSpPr/>
              <p:nvPr/>
            </p:nvGrpSpPr>
            <p:grpSpPr bwMode="auto">
              <a:xfrm>
                <a:off x="4034" y="2080"/>
                <a:ext cx="326" cy="452"/>
                <a:chOff x="4034" y="2080"/>
                <a:chExt cx="326" cy="452"/>
              </a:xfrm>
            </p:grpSpPr>
            <p:sp>
              <p:nvSpPr>
                <p:cNvPr id="1519621" name="Oval 5"/>
                <p:cNvSpPr>
                  <a:spLocks noChangeArrowheads="1"/>
                </p:cNvSpPr>
                <p:nvPr/>
              </p:nvSpPr>
              <p:spPr bwMode="auto">
                <a:xfrm>
                  <a:off x="4034" y="2107"/>
                  <a:ext cx="326" cy="425"/>
                </a:xfrm>
                <a:prstGeom prst="ellipse">
                  <a:avLst/>
                </a:prstGeom>
                <a:solidFill>
                  <a:srgbClr val="606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22" name="Oval 6"/>
                <p:cNvSpPr>
                  <a:spLocks noChangeArrowheads="1"/>
                </p:cNvSpPr>
                <p:nvPr/>
              </p:nvSpPr>
              <p:spPr bwMode="auto">
                <a:xfrm>
                  <a:off x="4034" y="2080"/>
                  <a:ext cx="326" cy="424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23" name="Oval 7"/>
                <p:cNvSpPr>
                  <a:spLocks noChangeArrowheads="1"/>
                </p:cNvSpPr>
                <p:nvPr/>
              </p:nvSpPr>
              <p:spPr bwMode="auto">
                <a:xfrm>
                  <a:off x="4048" y="2098"/>
                  <a:ext cx="298" cy="404"/>
                </a:xfrm>
                <a:prstGeom prst="ellipse">
                  <a:avLst/>
                </a:prstGeom>
                <a:solidFill>
                  <a:srgbClr val="A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519624" name="Group 8"/>
                <p:cNvGrpSpPr/>
                <p:nvPr/>
              </p:nvGrpSpPr>
              <p:grpSpPr bwMode="auto">
                <a:xfrm>
                  <a:off x="4063" y="2243"/>
                  <a:ext cx="77" cy="118"/>
                  <a:chOff x="4063" y="2243"/>
                  <a:chExt cx="77" cy="118"/>
                </a:xfrm>
              </p:grpSpPr>
              <p:sp>
                <p:nvSpPr>
                  <p:cNvPr id="1519625" name="Oval 9"/>
                  <p:cNvSpPr>
                    <a:spLocks noChangeArrowheads="1"/>
                  </p:cNvSpPr>
                  <p:nvPr/>
                </p:nvSpPr>
                <p:spPr bwMode="auto">
                  <a:xfrm>
                    <a:off x="4063" y="2243"/>
                    <a:ext cx="77" cy="118"/>
                  </a:xfrm>
                  <a:prstGeom prst="ellipse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9626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2269"/>
                    <a:ext cx="61" cy="92"/>
                  </a:xfrm>
                  <a:prstGeom prst="ellipse">
                    <a:avLst/>
                  </a:pr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19627" name="Group 11"/>
              <p:cNvGrpSpPr/>
              <p:nvPr/>
            </p:nvGrpSpPr>
            <p:grpSpPr bwMode="auto">
              <a:xfrm>
                <a:off x="4334" y="2220"/>
                <a:ext cx="562" cy="172"/>
                <a:chOff x="4334" y="2220"/>
                <a:chExt cx="562" cy="172"/>
              </a:xfrm>
            </p:grpSpPr>
            <p:sp>
              <p:nvSpPr>
                <p:cNvPr id="1519628" name="Freeform 12"/>
                <p:cNvSpPr/>
                <p:nvPr/>
              </p:nvSpPr>
              <p:spPr bwMode="auto">
                <a:xfrm>
                  <a:off x="4334" y="2243"/>
                  <a:ext cx="562" cy="149"/>
                </a:xfrm>
                <a:custGeom>
                  <a:avLst/>
                  <a:gdLst>
                    <a:gd name="T0" fmla="*/ 0 w 1124"/>
                    <a:gd name="T1" fmla="*/ 0 h 297"/>
                    <a:gd name="T2" fmla="*/ 1124 w 1124"/>
                    <a:gd name="T3" fmla="*/ 99 h 297"/>
                    <a:gd name="T4" fmla="*/ 1124 w 1124"/>
                    <a:gd name="T5" fmla="*/ 149 h 297"/>
                    <a:gd name="T6" fmla="*/ 1050 w 1124"/>
                    <a:gd name="T7" fmla="*/ 297 h 297"/>
                    <a:gd name="T8" fmla="*/ 900 w 1124"/>
                    <a:gd name="T9" fmla="*/ 297 h 297"/>
                    <a:gd name="T10" fmla="*/ 900 w 1124"/>
                    <a:gd name="T11" fmla="*/ 224 h 297"/>
                    <a:gd name="T12" fmla="*/ 824 w 1124"/>
                    <a:gd name="T13" fmla="*/ 224 h 297"/>
                    <a:gd name="T14" fmla="*/ 824 w 1124"/>
                    <a:gd name="T15" fmla="*/ 297 h 297"/>
                    <a:gd name="T16" fmla="*/ 751 w 1124"/>
                    <a:gd name="T17" fmla="*/ 297 h 297"/>
                    <a:gd name="T18" fmla="*/ 751 w 1124"/>
                    <a:gd name="T19" fmla="*/ 224 h 297"/>
                    <a:gd name="T20" fmla="*/ 600 w 1124"/>
                    <a:gd name="T21" fmla="*/ 224 h 297"/>
                    <a:gd name="T22" fmla="*/ 600 w 1124"/>
                    <a:gd name="T23" fmla="*/ 297 h 297"/>
                    <a:gd name="T24" fmla="*/ 525 w 1124"/>
                    <a:gd name="T25" fmla="*/ 297 h 297"/>
                    <a:gd name="T26" fmla="*/ 450 w 1124"/>
                    <a:gd name="T27" fmla="*/ 224 h 297"/>
                    <a:gd name="T28" fmla="*/ 375 w 1124"/>
                    <a:gd name="T29" fmla="*/ 297 h 297"/>
                    <a:gd name="T30" fmla="*/ 299 w 1124"/>
                    <a:gd name="T31" fmla="*/ 224 h 297"/>
                    <a:gd name="T32" fmla="*/ 299 w 1124"/>
                    <a:gd name="T33" fmla="*/ 297 h 297"/>
                    <a:gd name="T34" fmla="*/ 224 w 1124"/>
                    <a:gd name="T35" fmla="*/ 297 h 297"/>
                    <a:gd name="T36" fmla="*/ 224 w 1124"/>
                    <a:gd name="T37" fmla="*/ 224 h 297"/>
                    <a:gd name="T38" fmla="*/ 150 w 1124"/>
                    <a:gd name="T39" fmla="*/ 224 h 297"/>
                    <a:gd name="T40" fmla="*/ 74 w 1124"/>
                    <a:gd name="T41" fmla="*/ 297 h 297"/>
                    <a:gd name="T42" fmla="*/ 0 w 1124"/>
                    <a:gd name="T43" fmla="*/ 297 h 297"/>
                    <a:gd name="T44" fmla="*/ 0 w 1124"/>
                    <a:gd name="T45" fmla="*/ 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124" h="297">
                      <a:moveTo>
                        <a:pt x="0" y="0"/>
                      </a:moveTo>
                      <a:lnTo>
                        <a:pt x="1124" y="99"/>
                      </a:lnTo>
                      <a:lnTo>
                        <a:pt x="1124" y="149"/>
                      </a:lnTo>
                      <a:lnTo>
                        <a:pt x="1050" y="297"/>
                      </a:lnTo>
                      <a:lnTo>
                        <a:pt x="900" y="297"/>
                      </a:lnTo>
                      <a:lnTo>
                        <a:pt x="900" y="224"/>
                      </a:lnTo>
                      <a:lnTo>
                        <a:pt x="824" y="224"/>
                      </a:lnTo>
                      <a:lnTo>
                        <a:pt x="824" y="297"/>
                      </a:lnTo>
                      <a:lnTo>
                        <a:pt x="751" y="297"/>
                      </a:lnTo>
                      <a:lnTo>
                        <a:pt x="751" y="224"/>
                      </a:lnTo>
                      <a:lnTo>
                        <a:pt x="600" y="224"/>
                      </a:lnTo>
                      <a:lnTo>
                        <a:pt x="600" y="297"/>
                      </a:lnTo>
                      <a:lnTo>
                        <a:pt x="525" y="297"/>
                      </a:lnTo>
                      <a:lnTo>
                        <a:pt x="450" y="224"/>
                      </a:lnTo>
                      <a:lnTo>
                        <a:pt x="375" y="297"/>
                      </a:lnTo>
                      <a:lnTo>
                        <a:pt x="299" y="224"/>
                      </a:lnTo>
                      <a:lnTo>
                        <a:pt x="299" y="297"/>
                      </a:lnTo>
                      <a:lnTo>
                        <a:pt x="224" y="297"/>
                      </a:lnTo>
                      <a:lnTo>
                        <a:pt x="224" y="224"/>
                      </a:lnTo>
                      <a:lnTo>
                        <a:pt x="150" y="224"/>
                      </a:lnTo>
                      <a:lnTo>
                        <a:pt x="74" y="297"/>
                      </a:lnTo>
                      <a:lnTo>
                        <a:pt x="0" y="29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29" name="Freeform 13"/>
                <p:cNvSpPr/>
                <p:nvPr/>
              </p:nvSpPr>
              <p:spPr bwMode="auto">
                <a:xfrm>
                  <a:off x="4334" y="2220"/>
                  <a:ext cx="562" cy="148"/>
                </a:xfrm>
                <a:custGeom>
                  <a:avLst/>
                  <a:gdLst>
                    <a:gd name="T0" fmla="*/ 0 w 1124"/>
                    <a:gd name="T1" fmla="*/ 0 h 296"/>
                    <a:gd name="T2" fmla="*/ 1050 w 1124"/>
                    <a:gd name="T3" fmla="*/ 0 h 296"/>
                    <a:gd name="T4" fmla="*/ 1124 w 1124"/>
                    <a:gd name="T5" fmla="*/ 147 h 296"/>
                    <a:gd name="T6" fmla="*/ 1050 w 1124"/>
                    <a:gd name="T7" fmla="*/ 296 h 296"/>
                    <a:gd name="T8" fmla="*/ 900 w 1124"/>
                    <a:gd name="T9" fmla="*/ 296 h 296"/>
                    <a:gd name="T10" fmla="*/ 900 w 1124"/>
                    <a:gd name="T11" fmla="*/ 222 h 296"/>
                    <a:gd name="T12" fmla="*/ 824 w 1124"/>
                    <a:gd name="T13" fmla="*/ 222 h 296"/>
                    <a:gd name="T14" fmla="*/ 824 w 1124"/>
                    <a:gd name="T15" fmla="*/ 296 h 296"/>
                    <a:gd name="T16" fmla="*/ 751 w 1124"/>
                    <a:gd name="T17" fmla="*/ 296 h 296"/>
                    <a:gd name="T18" fmla="*/ 751 w 1124"/>
                    <a:gd name="T19" fmla="*/ 222 h 296"/>
                    <a:gd name="T20" fmla="*/ 600 w 1124"/>
                    <a:gd name="T21" fmla="*/ 222 h 296"/>
                    <a:gd name="T22" fmla="*/ 600 w 1124"/>
                    <a:gd name="T23" fmla="*/ 296 h 296"/>
                    <a:gd name="T24" fmla="*/ 525 w 1124"/>
                    <a:gd name="T25" fmla="*/ 296 h 296"/>
                    <a:gd name="T26" fmla="*/ 450 w 1124"/>
                    <a:gd name="T27" fmla="*/ 222 h 296"/>
                    <a:gd name="T28" fmla="*/ 375 w 1124"/>
                    <a:gd name="T29" fmla="*/ 296 h 296"/>
                    <a:gd name="T30" fmla="*/ 299 w 1124"/>
                    <a:gd name="T31" fmla="*/ 222 h 296"/>
                    <a:gd name="T32" fmla="*/ 299 w 1124"/>
                    <a:gd name="T33" fmla="*/ 296 h 296"/>
                    <a:gd name="T34" fmla="*/ 224 w 1124"/>
                    <a:gd name="T35" fmla="*/ 296 h 296"/>
                    <a:gd name="T36" fmla="*/ 224 w 1124"/>
                    <a:gd name="T37" fmla="*/ 222 h 296"/>
                    <a:gd name="T38" fmla="*/ 150 w 1124"/>
                    <a:gd name="T39" fmla="*/ 222 h 296"/>
                    <a:gd name="T40" fmla="*/ 74 w 1124"/>
                    <a:gd name="T41" fmla="*/ 296 h 296"/>
                    <a:gd name="T42" fmla="*/ 0 w 1124"/>
                    <a:gd name="T43" fmla="*/ 296 h 296"/>
                    <a:gd name="T44" fmla="*/ 0 w 1124"/>
                    <a:gd name="T45" fmla="*/ 0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124" h="296">
                      <a:moveTo>
                        <a:pt x="0" y="0"/>
                      </a:moveTo>
                      <a:lnTo>
                        <a:pt x="1050" y="0"/>
                      </a:lnTo>
                      <a:lnTo>
                        <a:pt x="1124" y="147"/>
                      </a:lnTo>
                      <a:lnTo>
                        <a:pt x="1050" y="296"/>
                      </a:lnTo>
                      <a:lnTo>
                        <a:pt x="900" y="296"/>
                      </a:lnTo>
                      <a:lnTo>
                        <a:pt x="900" y="222"/>
                      </a:lnTo>
                      <a:lnTo>
                        <a:pt x="824" y="222"/>
                      </a:lnTo>
                      <a:lnTo>
                        <a:pt x="824" y="296"/>
                      </a:lnTo>
                      <a:lnTo>
                        <a:pt x="751" y="296"/>
                      </a:lnTo>
                      <a:lnTo>
                        <a:pt x="751" y="222"/>
                      </a:lnTo>
                      <a:lnTo>
                        <a:pt x="600" y="222"/>
                      </a:lnTo>
                      <a:lnTo>
                        <a:pt x="600" y="296"/>
                      </a:lnTo>
                      <a:lnTo>
                        <a:pt x="525" y="296"/>
                      </a:lnTo>
                      <a:lnTo>
                        <a:pt x="450" y="222"/>
                      </a:lnTo>
                      <a:lnTo>
                        <a:pt x="375" y="296"/>
                      </a:lnTo>
                      <a:lnTo>
                        <a:pt x="299" y="222"/>
                      </a:lnTo>
                      <a:lnTo>
                        <a:pt x="299" y="296"/>
                      </a:lnTo>
                      <a:lnTo>
                        <a:pt x="224" y="296"/>
                      </a:lnTo>
                      <a:lnTo>
                        <a:pt x="224" y="222"/>
                      </a:lnTo>
                      <a:lnTo>
                        <a:pt x="150" y="222"/>
                      </a:lnTo>
                      <a:lnTo>
                        <a:pt x="74" y="296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30" name="Freeform 14"/>
                <p:cNvSpPr/>
                <p:nvPr/>
              </p:nvSpPr>
              <p:spPr bwMode="auto">
                <a:xfrm>
                  <a:off x="4382" y="2256"/>
                  <a:ext cx="514" cy="38"/>
                </a:xfrm>
                <a:custGeom>
                  <a:avLst/>
                  <a:gdLst>
                    <a:gd name="T0" fmla="*/ 0 w 1029"/>
                    <a:gd name="T1" fmla="*/ 0 h 75"/>
                    <a:gd name="T2" fmla="*/ 994 w 1029"/>
                    <a:gd name="T3" fmla="*/ 0 h 75"/>
                    <a:gd name="T4" fmla="*/ 1029 w 1029"/>
                    <a:gd name="T5" fmla="*/ 75 h 75"/>
                    <a:gd name="T6" fmla="*/ 0 w 1029"/>
                    <a:gd name="T7" fmla="*/ 75 h 75"/>
                    <a:gd name="T8" fmla="*/ 0 w 1029"/>
                    <a:gd name="T9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29" h="75">
                      <a:moveTo>
                        <a:pt x="0" y="0"/>
                      </a:moveTo>
                      <a:lnTo>
                        <a:pt x="994" y="0"/>
                      </a:lnTo>
                      <a:lnTo>
                        <a:pt x="1029" y="75"/>
                      </a:lnTo>
                      <a:lnTo>
                        <a:pt x="0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31" name="Rectangle 15"/>
                <p:cNvSpPr>
                  <a:spLocks noChangeArrowheads="1"/>
                </p:cNvSpPr>
                <p:nvPr/>
              </p:nvSpPr>
              <p:spPr bwMode="auto">
                <a:xfrm>
                  <a:off x="4390" y="2319"/>
                  <a:ext cx="486" cy="6"/>
                </a:xfrm>
                <a:prstGeom prst="rect">
                  <a:avLst/>
                </a:pr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32" name="Rectangle 16"/>
                <p:cNvSpPr>
                  <a:spLocks noChangeArrowheads="1"/>
                </p:cNvSpPr>
                <p:nvPr/>
              </p:nvSpPr>
              <p:spPr bwMode="auto">
                <a:xfrm>
                  <a:off x="4373" y="2227"/>
                  <a:ext cx="486" cy="6"/>
                </a:xfrm>
                <a:prstGeom prst="rect">
                  <a:avLst/>
                </a:pr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19633" name="Group 17"/>
            <p:cNvGrpSpPr/>
            <p:nvPr/>
          </p:nvGrpSpPr>
          <p:grpSpPr bwMode="auto">
            <a:xfrm>
              <a:off x="2640" y="816"/>
              <a:ext cx="1452" cy="1152"/>
              <a:chOff x="2196" y="1200"/>
              <a:chExt cx="2748" cy="1200"/>
            </a:xfrm>
          </p:grpSpPr>
          <p:sp>
            <p:nvSpPr>
              <p:cNvPr id="1519634" name="AutoShape 18"/>
              <p:cNvSpPr>
                <a:spLocks noChangeArrowheads="1"/>
              </p:cNvSpPr>
              <p:nvPr/>
            </p:nvSpPr>
            <p:spPr bwMode="auto">
              <a:xfrm flipV="1">
                <a:off x="2196" y="1248"/>
                <a:ext cx="912" cy="1152"/>
              </a:xfrm>
              <a:custGeom>
                <a:avLst/>
                <a:gdLst>
                  <a:gd name="G0" fmla="+- 9002 0 0"/>
                  <a:gd name="G1" fmla="+- 11702626 0 0"/>
                  <a:gd name="G2" fmla="+- 0 0 11702626"/>
                  <a:gd name="T0" fmla="*/ 0 256 1"/>
                  <a:gd name="T1" fmla="*/ 180 256 1"/>
                  <a:gd name="G3" fmla="+- 11702626 T0 T1"/>
                  <a:gd name="T2" fmla="*/ 0 256 1"/>
                  <a:gd name="T3" fmla="*/ 90 256 1"/>
                  <a:gd name="G4" fmla="+- 11702626 T2 T3"/>
                  <a:gd name="G5" fmla="*/ G4 2 1"/>
                  <a:gd name="T4" fmla="*/ 90 256 1"/>
                  <a:gd name="T5" fmla="*/ 0 256 1"/>
                  <a:gd name="G6" fmla="+- 11702626 T4 T5"/>
                  <a:gd name="G7" fmla="*/ G6 2 1"/>
                  <a:gd name="G8" fmla="abs 11702626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9002"/>
                  <a:gd name="G18" fmla="*/ 9002 1 2"/>
                  <a:gd name="G19" fmla="+- G18 5400 0"/>
                  <a:gd name="G20" fmla="cos G19 11702626"/>
                  <a:gd name="G21" fmla="sin G19 11702626"/>
                  <a:gd name="G22" fmla="+- G20 10800 0"/>
                  <a:gd name="G23" fmla="+- G21 10800 0"/>
                  <a:gd name="G24" fmla="+- 10800 0 G20"/>
                  <a:gd name="G25" fmla="+- 9002 10800 0"/>
                  <a:gd name="G26" fmla="?: G9 G17 G25"/>
                  <a:gd name="G27" fmla="?: G9 0 21600"/>
                  <a:gd name="G28" fmla="cos 10800 11702626"/>
                  <a:gd name="G29" fmla="sin 10800 11702626"/>
                  <a:gd name="G30" fmla="sin 9002 11702626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02626 G34 0"/>
                  <a:gd name="G36" fmla="?: G6 G35 G31"/>
                  <a:gd name="G37" fmla="+- 21600 0 G36"/>
                  <a:gd name="G38" fmla="?: G4 0 G33"/>
                  <a:gd name="G39" fmla="?: 11702626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902 w 21600"/>
                  <a:gd name="T15" fmla="*/ 11047 h 21600"/>
                  <a:gd name="T16" fmla="*/ 10800 w 21600"/>
                  <a:gd name="T17" fmla="*/ 1798 h 21600"/>
                  <a:gd name="T18" fmla="*/ 20698 w 21600"/>
                  <a:gd name="T19" fmla="*/ 1104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800" y="11024"/>
                    </a:moveTo>
                    <a:cubicBezTo>
                      <a:pt x="1798" y="10950"/>
                      <a:pt x="1798" y="10875"/>
                      <a:pt x="1798" y="10800"/>
                    </a:cubicBezTo>
                    <a:cubicBezTo>
                      <a:pt x="1798" y="5828"/>
                      <a:pt x="5828" y="1798"/>
                      <a:pt x="10800" y="1798"/>
                    </a:cubicBezTo>
                    <a:cubicBezTo>
                      <a:pt x="15771" y="1798"/>
                      <a:pt x="19802" y="5828"/>
                      <a:pt x="19802" y="10800"/>
                    </a:cubicBezTo>
                    <a:cubicBezTo>
                      <a:pt x="19801" y="10875"/>
                      <a:pt x="19801" y="10950"/>
                      <a:pt x="19799" y="11024"/>
                    </a:cubicBezTo>
                    <a:lnTo>
                      <a:pt x="21596" y="11069"/>
                    </a:lnTo>
                    <a:cubicBezTo>
                      <a:pt x="21598" y="10979"/>
                      <a:pt x="21600" y="10889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0889"/>
                      <a:pt x="1" y="10979"/>
                      <a:pt x="3" y="110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9635" name="AutoShape 19"/>
              <p:cNvSpPr>
                <a:spLocks noChangeArrowheads="1"/>
              </p:cNvSpPr>
              <p:nvPr/>
            </p:nvSpPr>
            <p:spPr bwMode="auto">
              <a:xfrm flipV="1">
                <a:off x="4032" y="1200"/>
                <a:ext cx="912" cy="1152"/>
              </a:xfrm>
              <a:custGeom>
                <a:avLst/>
                <a:gdLst>
                  <a:gd name="G0" fmla="+- 9002 0 0"/>
                  <a:gd name="G1" fmla="+- 11702626 0 0"/>
                  <a:gd name="G2" fmla="+- 0 0 11702626"/>
                  <a:gd name="T0" fmla="*/ 0 256 1"/>
                  <a:gd name="T1" fmla="*/ 180 256 1"/>
                  <a:gd name="G3" fmla="+- 11702626 T0 T1"/>
                  <a:gd name="T2" fmla="*/ 0 256 1"/>
                  <a:gd name="T3" fmla="*/ 90 256 1"/>
                  <a:gd name="G4" fmla="+- 11702626 T2 T3"/>
                  <a:gd name="G5" fmla="*/ G4 2 1"/>
                  <a:gd name="T4" fmla="*/ 90 256 1"/>
                  <a:gd name="T5" fmla="*/ 0 256 1"/>
                  <a:gd name="G6" fmla="+- 11702626 T4 T5"/>
                  <a:gd name="G7" fmla="*/ G6 2 1"/>
                  <a:gd name="G8" fmla="abs 11702626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9002"/>
                  <a:gd name="G18" fmla="*/ 9002 1 2"/>
                  <a:gd name="G19" fmla="+- G18 5400 0"/>
                  <a:gd name="G20" fmla="cos G19 11702626"/>
                  <a:gd name="G21" fmla="sin G19 11702626"/>
                  <a:gd name="G22" fmla="+- G20 10800 0"/>
                  <a:gd name="G23" fmla="+- G21 10800 0"/>
                  <a:gd name="G24" fmla="+- 10800 0 G20"/>
                  <a:gd name="G25" fmla="+- 9002 10800 0"/>
                  <a:gd name="G26" fmla="?: G9 G17 G25"/>
                  <a:gd name="G27" fmla="?: G9 0 21600"/>
                  <a:gd name="G28" fmla="cos 10800 11702626"/>
                  <a:gd name="G29" fmla="sin 10800 11702626"/>
                  <a:gd name="G30" fmla="sin 9002 11702626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02626 G34 0"/>
                  <a:gd name="G36" fmla="?: G6 G35 G31"/>
                  <a:gd name="G37" fmla="+- 21600 0 G36"/>
                  <a:gd name="G38" fmla="?: G4 0 G33"/>
                  <a:gd name="G39" fmla="?: 11702626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902 w 21600"/>
                  <a:gd name="T15" fmla="*/ 11047 h 21600"/>
                  <a:gd name="T16" fmla="*/ 10800 w 21600"/>
                  <a:gd name="T17" fmla="*/ 1798 h 21600"/>
                  <a:gd name="T18" fmla="*/ 20698 w 21600"/>
                  <a:gd name="T19" fmla="*/ 1104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800" y="11024"/>
                    </a:moveTo>
                    <a:cubicBezTo>
                      <a:pt x="1798" y="10950"/>
                      <a:pt x="1798" y="10875"/>
                      <a:pt x="1798" y="10800"/>
                    </a:cubicBezTo>
                    <a:cubicBezTo>
                      <a:pt x="1798" y="5828"/>
                      <a:pt x="5828" y="1798"/>
                      <a:pt x="10800" y="1798"/>
                    </a:cubicBezTo>
                    <a:cubicBezTo>
                      <a:pt x="15771" y="1798"/>
                      <a:pt x="19802" y="5828"/>
                      <a:pt x="19802" y="10800"/>
                    </a:cubicBezTo>
                    <a:cubicBezTo>
                      <a:pt x="19801" y="10875"/>
                      <a:pt x="19801" y="10950"/>
                      <a:pt x="19799" y="11024"/>
                    </a:cubicBezTo>
                    <a:lnTo>
                      <a:pt x="21596" y="11069"/>
                    </a:lnTo>
                    <a:cubicBezTo>
                      <a:pt x="21598" y="10979"/>
                      <a:pt x="21600" y="10889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0889"/>
                      <a:pt x="1" y="10979"/>
                      <a:pt x="3" y="110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9636" name="Freeform 20"/>
              <p:cNvSpPr/>
              <p:nvPr/>
            </p:nvSpPr>
            <p:spPr bwMode="auto">
              <a:xfrm>
                <a:off x="2838" y="1541"/>
                <a:ext cx="837" cy="694"/>
              </a:xfrm>
              <a:custGeom>
                <a:avLst/>
                <a:gdLst>
                  <a:gd name="T0" fmla="*/ 654 w 837"/>
                  <a:gd name="T1" fmla="*/ 540 h 694"/>
                  <a:gd name="T2" fmla="*/ 587 w 837"/>
                  <a:gd name="T3" fmla="*/ 600 h 694"/>
                  <a:gd name="T4" fmla="*/ 523 w 837"/>
                  <a:gd name="T5" fmla="*/ 646 h 694"/>
                  <a:gd name="T6" fmla="*/ 468 w 837"/>
                  <a:gd name="T7" fmla="*/ 680 h 694"/>
                  <a:gd name="T8" fmla="*/ 426 w 837"/>
                  <a:gd name="T9" fmla="*/ 694 h 694"/>
                  <a:gd name="T10" fmla="*/ 388 w 837"/>
                  <a:gd name="T11" fmla="*/ 689 h 694"/>
                  <a:gd name="T12" fmla="*/ 305 w 837"/>
                  <a:gd name="T13" fmla="*/ 642 h 694"/>
                  <a:gd name="T14" fmla="*/ 181 w 837"/>
                  <a:gd name="T15" fmla="*/ 540 h 694"/>
                  <a:gd name="T16" fmla="*/ 66 w 837"/>
                  <a:gd name="T17" fmla="*/ 400 h 694"/>
                  <a:gd name="T18" fmla="*/ 4 w 837"/>
                  <a:gd name="T19" fmla="*/ 231 h 694"/>
                  <a:gd name="T20" fmla="*/ 7 w 837"/>
                  <a:gd name="T21" fmla="*/ 132 h 694"/>
                  <a:gd name="T22" fmla="*/ 39 w 837"/>
                  <a:gd name="T23" fmla="*/ 70 h 694"/>
                  <a:gd name="T24" fmla="*/ 98 w 837"/>
                  <a:gd name="T25" fmla="*/ 23 h 694"/>
                  <a:gd name="T26" fmla="*/ 185 w 837"/>
                  <a:gd name="T27" fmla="*/ 1 h 694"/>
                  <a:gd name="T28" fmla="*/ 284 w 837"/>
                  <a:gd name="T29" fmla="*/ 17 h 694"/>
                  <a:gd name="T30" fmla="*/ 355 w 837"/>
                  <a:gd name="T31" fmla="*/ 76 h 694"/>
                  <a:gd name="T32" fmla="*/ 399 w 837"/>
                  <a:gd name="T33" fmla="*/ 143 h 694"/>
                  <a:gd name="T34" fmla="*/ 418 w 837"/>
                  <a:gd name="T35" fmla="*/ 184 h 694"/>
                  <a:gd name="T36" fmla="*/ 425 w 837"/>
                  <a:gd name="T37" fmla="*/ 169 h 694"/>
                  <a:gd name="T38" fmla="*/ 457 w 837"/>
                  <a:gd name="T39" fmla="*/ 110 h 694"/>
                  <a:gd name="T40" fmla="*/ 515 w 837"/>
                  <a:gd name="T41" fmla="*/ 43 h 694"/>
                  <a:gd name="T42" fmla="*/ 600 w 837"/>
                  <a:gd name="T43" fmla="*/ 2 h 694"/>
                  <a:gd name="T44" fmla="*/ 701 w 837"/>
                  <a:gd name="T45" fmla="*/ 8 h 694"/>
                  <a:gd name="T46" fmla="*/ 773 w 837"/>
                  <a:gd name="T47" fmla="*/ 44 h 694"/>
                  <a:gd name="T48" fmla="*/ 817 w 837"/>
                  <a:gd name="T49" fmla="*/ 99 h 694"/>
                  <a:gd name="T50" fmla="*/ 835 w 837"/>
                  <a:gd name="T51" fmla="*/ 168 h 694"/>
                  <a:gd name="T52" fmla="*/ 828 w 837"/>
                  <a:gd name="T53" fmla="*/ 264 h 694"/>
                  <a:gd name="T54" fmla="*/ 789 w 837"/>
                  <a:gd name="T55" fmla="*/ 315 h 694"/>
                  <a:gd name="T56" fmla="*/ 759 w 837"/>
                  <a:gd name="T57" fmla="*/ 285 h 694"/>
                  <a:gd name="T58" fmla="*/ 774 w 837"/>
                  <a:gd name="T59" fmla="*/ 212 h 694"/>
                  <a:gd name="T60" fmla="*/ 752 w 837"/>
                  <a:gd name="T61" fmla="*/ 117 h 694"/>
                  <a:gd name="T62" fmla="*/ 663 w 837"/>
                  <a:gd name="T63" fmla="*/ 66 h 694"/>
                  <a:gd name="T64" fmla="*/ 551 w 837"/>
                  <a:gd name="T65" fmla="*/ 97 h 694"/>
                  <a:gd name="T66" fmla="*/ 469 w 837"/>
                  <a:gd name="T67" fmla="*/ 202 h 694"/>
                  <a:gd name="T68" fmla="*/ 429 w 837"/>
                  <a:gd name="T69" fmla="*/ 252 h 694"/>
                  <a:gd name="T70" fmla="*/ 392 w 837"/>
                  <a:gd name="T71" fmla="*/ 241 h 694"/>
                  <a:gd name="T72" fmla="*/ 333 w 837"/>
                  <a:gd name="T73" fmla="*/ 144 h 694"/>
                  <a:gd name="T74" fmla="*/ 238 w 837"/>
                  <a:gd name="T75" fmla="*/ 67 h 694"/>
                  <a:gd name="T76" fmla="*/ 120 w 837"/>
                  <a:gd name="T77" fmla="*/ 83 h 694"/>
                  <a:gd name="T78" fmla="*/ 65 w 837"/>
                  <a:gd name="T79" fmla="*/ 164 h 694"/>
                  <a:gd name="T80" fmla="*/ 85 w 837"/>
                  <a:gd name="T81" fmla="*/ 302 h 694"/>
                  <a:gd name="T82" fmla="*/ 167 w 837"/>
                  <a:gd name="T83" fmla="*/ 438 h 694"/>
                  <a:gd name="T84" fmla="*/ 274 w 837"/>
                  <a:gd name="T85" fmla="*/ 550 h 694"/>
                  <a:gd name="T86" fmla="*/ 370 w 837"/>
                  <a:gd name="T87" fmla="*/ 621 h 694"/>
                  <a:gd name="T88" fmla="*/ 409 w 837"/>
                  <a:gd name="T89" fmla="*/ 637 h 694"/>
                  <a:gd name="T90" fmla="*/ 442 w 837"/>
                  <a:gd name="T91" fmla="*/ 634 h 694"/>
                  <a:gd name="T92" fmla="*/ 479 w 837"/>
                  <a:gd name="T93" fmla="*/ 613 h 694"/>
                  <a:gd name="T94" fmla="*/ 529 w 837"/>
                  <a:gd name="T95" fmla="*/ 577 h 694"/>
                  <a:gd name="T96" fmla="*/ 586 w 837"/>
                  <a:gd name="T97" fmla="*/ 529 h 694"/>
                  <a:gd name="T98" fmla="*/ 643 w 837"/>
                  <a:gd name="T99" fmla="*/ 470 h 694"/>
                  <a:gd name="T100" fmla="*/ 696 w 837"/>
                  <a:gd name="T101" fmla="*/ 437 h 694"/>
                  <a:gd name="T102" fmla="*/ 717 w 837"/>
                  <a:gd name="T103" fmla="*/ 471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37" h="694">
                    <a:moveTo>
                      <a:pt x="704" y="488"/>
                    </a:moveTo>
                    <a:lnTo>
                      <a:pt x="688" y="507"/>
                    </a:lnTo>
                    <a:lnTo>
                      <a:pt x="671" y="524"/>
                    </a:lnTo>
                    <a:lnTo>
                      <a:pt x="654" y="540"/>
                    </a:lnTo>
                    <a:lnTo>
                      <a:pt x="638" y="556"/>
                    </a:lnTo>
                    <a:lnTo>
                      <a:pt x="621" y="572"/>
                    </a:lnTo>
                    <a:lnTo>
                      <a:pt x="604" y="585"/>
                    </a:lnTo>
                    <a:lnTo>
                      <a:pt x="587" y="600"/>
                    </a:lnTo>
                    <a:lnTo>
                      <a:pt x="570" y="612"/>
                    </a:lnTo>
                    <a:lnTo>
                      <a:pt x="554" y="624"/>
                    </a:lnTo>
                    <a:lnTo>
                      <a:pt x="538" y="635"/>
                    </a:lnTo>
                    <a:lnTo>
                      <a:pt x="523" y="646"/>
                    </a:lnTo>
                    <a:lnTo>
                      <a:pt x="508" y="656"/>
                    </a:lnTo>
                    <a:lnTo>
                      <a:pt x="494" y="665"/>
                    </a:lnTo>
                    <a:lnTo>
                      <a:pt x="480" y="672"/>
                    </a:lnTo>
                    <a:lnTo>
                      <a:pt x="468" y="680"/>
                    </a:lnTo>
                    <a:lnTo>
                      <a:pt x="457" y="686"/>
                    </a:lnTo>
                    <a:lnTo>
                      <a:pt x="447" y="689"/>
                    </a:lnTo>
                    <a:lnTo>
                      <a:pt x="437" y="692"/>
                    </a:lnTo>
                    <a:lnTo>
                      <a:pt x="426" y="694"/>
                    </a:lnTo>
                    <a:lnTo>
                      <a:pt x="417" y="694"/>
                    </a:lnTo>
                    <a:lnTo>
                      <a:pt x="407" y="693"/>
                    </a:lnTo>
                    <a:lnTo>
                      <a:pt x="397" y="692"/>
                    </a:lnTo>
                    <a:lnTo>
                      <a:pt x="388" y="689"/>
                    </a:lnTo>
                    <a:lnTo>
                      <a:pt x="381" y="686"/>
                    </a:lnTo>
                    <a:lnTo>
                      <a:pt x="359" y="675"/>
                    </a:lnTo>
                    <a:lnTo>
                      <a:pt x="333" y="659"/>
                    </a:lnTo>
                    <a:lnTo>
                      <a:pt x="305" y="642"/>
                    </a:lnTo>
                    <a:lnTo>
                      <a:pt x="276" y="620"/>
                    </a:lnTo>
                    <a:lnTo>
                      <a:pt x="244" y="596"/>
                    </a:lnTo>
                    <a:lnTo>
                      <a:pt x="212" y="569"/>
                    </a:lnTo>
                    <a:lnTo>
                      <a:pt x="181" y="540"/>
                    </a:lnTo>
                    <a:lnTo>
                      <a:pt x="150" y="508"/>
                    </a:lnTo>
                    <a:lnTo>
                      <a:pt x="120" y="475"/>
                    </a:lnTo>
                    <a:lnTo>
                      <a:pt x="92" y="438"/>
                    </a:lnTo>
                    <a:lnTo>
                      <a:pt x="66" y="400"/>
                    </a:lnTo>
                    <a:lnTo>
                      <a:pt x="44" y="360"/>
                    </a:lnTo>
                    <a:lnTo>
                      <a:pt x="26" y="319"/>
                    </a:lnTo>
                    <a:lnTo>
                      <a:pt x="12" y="275"/>
                    </a:lnTo>
                    <a:lnTo>
                      <a:pt x="4" y="231"/>
                    </a:lnTo>
                    <a:lnTo>
                      <a:pt x="0" y="186"/>
                    </a:lnTo>
                    <a:lnTo>
                      <a:pt x="1" y="168"/>
                    </a:lnTo>
                    <a:lnTo>
                      <a:pt x="4" y="149"/>
                    </a:lnTo>
                    <a:lnTo>
                      <a:pt x="7" y="132"/>
                    </a:lnTo>
                    <a:lnTo>
                      <a:pt x="12" y="115"/>
                    </a:lnTo>
                    <a:lnTo>
                      <a:pt x="20" y="99"/>
                    </a:lnTo>
                    <a:lnTo>
                      <a:pt x="28" y="84"/>
                    </a:lnTo>
                    <a:lnTo>
                      <a:pt x="39" y="70"/>
                    </a:lnTo>
                    <a:lnTo>
                      <a:pt x="52" y="56"/>
                    </a:lnTo>
                    <a:lnTo>
                      <a:pt x="65" y="44"/>
                    </a:lnTo>
                    <a:lnTo>
                      <a:pt x="81" y="33"/>
                    </a:lnTo>
                    <a:lnTo>
                      <a:pt x="98" y="23"/>
                    </a:lnTo>
                    <a:lnTo>
                      <a:pt x="116" y="15"/>
                    </a:lnTo>
                    <a:lnTo>
                      <a:pt x="137" y="8"/>
                    </a:lnTo>
                    <a:lnTo>
                      <a:pt x="161" y="4"/>
                    </a:lnTo>
                    <a:lnTo>
                      <a:pt x="185" y="1"/>
                    </a:lnTo>
                    <a:lnTo>
                      <a:pt x="211" y="0"/>
                    </a:lnTo>
                    <a:lnTo>
                      <a:pt x="237" y="2"/>
                    </a:lnTo>
                    <a:lnTo>
                      <a:pt x="261" y="8"/>
                    </a:lnTo>
                    <a:lnTo>
                      <a:pt x="284" y="17"/>
                    </a:lnTo>
                    <a:lnTo>
                      <a:pt x="304" y="29"/>
                    </a:lnTo>
                    <a:lnTo>
                      <a:pt x="323" y="43"/>
                    </a:lnTo>
                    <a:lnTo>
                      <a:pt x="341" y="59"/>
                    </a:lnTo>
                    <a:lnTo>
                      <a:pt x="355" y="76"/>
                    </a:lnTo>
                    <a:lnTo>
                      <a:pt x="369" y="93"/>
                    </a:lnTo>
                    <a:lnTo>
                      <a:pt x="381" y="110"/>
                    </a:lnTo>
                    <a:lnTo>
                      <a:pt x="391" y="127"/>
                    </a:lnTo>
                    <a:lnTo>
                      <a:pt x="399" y="143"/>
                    </a:lnTo>
                    <a:lnTo>
                      <a:pt x="407" y="157"/>
                    </a:lnTo>
                    <a:lnTo>
                      <a:pt x="412" y="169"/>
                    </a:lnTo>
                    <a:lnTo>
                      <a:pt x="417" y="177"/>
                    </a:lnTo>
                    <a:lnTo>
                      <a:pt x="418" y="184"/>
                    </a:lnTo>
                    <a:lnTo>
                      <a:pt x="419" y="186"/>
                    </a:lnTo>
                    <a:lnTo>
                      <a:pt x="420" y="184"/>
                    </a:lnTo>
                    <a:lnTo>
                      <a:pt x="421" y="177"/>
                    </a:lnTo>
                    <a:lnTo>
                      <a:pt x="425" y="169"/>
                    </a:lnTo>
                    <a:lnTo>
                      <a:pt x="431" y="157"/>
                    </a:lnTo>
                    <a:lnTo>
                      <a:pt x="437" y="143"/>
                    </a:lnTo>
                    <a:lnTo>
                      <a:pt x="446" y="127"/>
                    </a:lnTo>
                    <a:lnTo>
                      <a:pt x="457" y="110"/>
                    </a:lnTo>
                    <a:lnTo>
                      <a:pt x="468" y="93"/>
                    </a:lnTo>
                    <a:lnTo>
                      <a:pt x="481" y="76"/>
                    </a:lnTo>
                    <a:lnTo>
                      <a:pt x="497" y="59"/>
                    </a:lnTo>
                    <a:lnTo>
                      <a:pt x="515" y="43"/>
                    </a:lnTo>
                    <a:lnTo>
                      <a:pt x="533" y="29"/>
                    </a:lnTo>
                    <a:lnTo>
                      <a:pt x="554" y="17"/>
                    </a:lnTo>
                    <a:lnTo>
                      <a:pt x="577" y="8"/>
                    </a:lnTo>
                    <a:lnTo>
                      <a:pt x="600" y="2"/>
                    </a:lnTo>
                    <a:lnTo>
                      <a:pt x="627" y="0"/>
                    </a:lnTo>
                    <a:lnTo>
                      <a:pt x="653" y="1"/>
                    </a:lnTo>
                    <a:lnTo>
                      <a:pt x="677" y="4"/>
                    </a:lnTo>
                    <a:lnTo>
                      <a:pt x="701" y="8"/>
                    </a:lnTo>
                    <a:lnTo>
                      <a:pt x="722" y="15"/>
                    </a:lnTo>
                    <a:lnTo>
                      <a:pt x="740" y="23"/>
                    </a:lnTo>
                    <a:lnTo>
                      <a:pt x="757" y="33"/>
                    </a:lnTo>
                    <a:lnTo>
                      <a:pt x="773" y="44"/>
                    </a:lnTo>
                    <a:lnTo>
                      <a:pt x="786" y="56"/>
                    </a:lnTo>
                    <a:lnTo>
                      <a:pt x="799" y="70"/>
                    </a:lnTo>
                    <a:lnTo>
                      <a:pt x="808" y="84"/>
                    </a:lnTo>
                    <a:lnTo>
                      <a:pt x="817" y="99"/>
                    </a:lnTo>
                    <a:lnTo>
                      <a:pt x="824" y="115"/>
                    </a:lnTo>
                    <a:lnTo>
                      <a:pt x="829" y="132"/>
                    </a:lnTo>
                    <a:lnTo>
                      <a:pt x="833" y="149"/>
                    </a:lnTo>
                    <a:lnTo>
                      <a:pt x="835" y="168"/>
                    </a:lnTo>
                    <a:lnTo>
                      <a:pt x="837" y="186"/>
                    </a:lnTo>
                    <a:lnTo>
                      <a:pt x="835" y="213"/>
                    </a:lnTo>
                    <a:lnTo>
                      <a:pt x="833" y="239"/>
                    </a:lnTo>
                    <a:lnTo>
                      <a:pt x="828" y="264"/>
                    </a:lnTo>
                    <a:lnTo>
                      <a:pt x="821" y="290"/>
                    </a:lnTo>
                    <a:lnTo>
                      <a:pt x="812" y="305"/>
                    </a:lnTo>
                    <a:lnTo>
                      <a:pt x="801" y="312"/>
                    </a:lnTo>
                    <a:lnTo>
                      <a:pt x="789" y="315"/>
                    </a:lnTo>
                    <a:lnTo>
                      <a:pt x="778" y="313"/>
                    </a:lnTo>
                    <a:lnTo>
                      <a:pt x="768" y="307"/>
                    </a:lnTo>
                    <a:lnTo>
                      <a:pt x="761" y="297"/>
                    </a:lnTo>
                    <a:lnTo>
                      <a:pt x="759" y="285"/>
                    </a:lnTo>
                    <a:lnTo>
                      <a:pt x="763" y="271"/>
                    </a:lnTo>
                    <a:lnTo>
                      <a:pt x="769" y="252"/>
                    </a:lnTo>
                    <a:lnTo>
                      <a:pt x="773" y="233"/>
                    </a:lnTo>
                    <a:lnTo>
                      <a:pt x="774" y="212"/>
                    </a:lnTo>
                    <a:lnTo>
                      <a:pt x="774" y="192"/>
                    </a:lnTo>
                    <a:lnTo>
                      <a:pt x="772" y="164"/>
                    </a:lnTo>
                    <a:lnTo>
                      <a:pt x="764" y="139"/>
                    </a:lnTo>
                    <a:lnTo>
                      <a:pt x="752" y="117"/>
                    </a:lnTo>
                    <a:lnTo>
                      <a:pt x="736" y="98"/>
                    </a:lnTo>
                    <a:lnTo>
                      <a:pt x="715" y="83"/>
                    </a:lnTo>
                    <a:lnTo>
                      <a:pt x="691" y="72"/>
                    </a:lnTo>
                    <a:lnTo>
                      <a:pt x="663" y="66"/>
                    </a:lnTo>
                    <a:lnTo>
                      <a:pt x="630" y="64"/>
                    </a:lnTo>
                    <a:lnTo>
                      <a:pt x="603" y="67"/>
                    </a:lnTo>
                    <a:lnTo>
                      <a:pt x="577" y="79"/>
                    </a:lnTo>
                    <a:lnTo>
                      <a:pt x="551" y="97"/>
                    </a:lnTo>
                    <a:lnTo>
                      <a:pt x="528" y="119"/>
                    </a:lnTo>
                    <a:lnTo>
                      <a:pt x="507" y="144"/>
                    </a:lnTo>
                    <a:lnTo>
                      <a:pt x="488" y="173"/>
                    </a:lnTo>
                    <a:lnTo>
                      <a:pt x="469" y="202"/>
                    </a:lnTo>
                    <a:lnTo>
                      <a:pt x="455" y="230"/>
                    </a:lnTo>
                    <a:lnTo>
                      <a:pt x="447" y="241"/>
                    </a:lnTo>
                    <a:lnTo>
                      <a:pt x="437" y="248"/>
                    </a:lnTo>
                    <a:lnTo>
                      <a:pt x="429" y="252"/>
                    </a:lnTo>
                    <a:lnTo>
                      <a:pt x="419" y="253"/>
                    </a:lnTo>
                    <a:lnTo>
                      <a:pt x="409" y="252"/>
                    </a:lnTo>
                    <a:lnTo>
                      <a:pt x="401" y="248"/>
                    </a:lnTo>
                    <a:lnTo>
                      <a:pt x="392" y="241"/>
                    </a:lnTo>
                    <a:lnTo>
                      <a:pt x="385" y="230"/>
                    </a:lnTo>
                    <a:lnTo>
                      <a:pt x="370" y="202"/>
                    </a:lnTo>
                    <a:lnTo>
                      <a:pt x="353" y="173"/>
                    </a:lnTo>
                    <a:lnTo>
                      <a:pt x="333" y="144"/>
                    </a:lnTo>
                    <a:lnTo>
                      <a:pt x="311" y="119"/>
                    </a:lnTo>
                    <a:lnTo>
                      <a:pt x="288" y="97"/>
                    </a:lnTo>
                    <a:lnTo>
                      <a:pt x="263" y="79"/>
                    </a:lnTo>
                    <a:lnTo>
                      <a:pt x="238" y="67"/>
                    </a:lnTo>
                    <a:lnTo>
                      <a:pt x="211" y="64"/>
                    </a:lnTo>
                    <a:lnTo>
                      <a:pt x="176" y="66"/>
                    </a:lnTo>
                    <a:lnTo>
                      <a:pt x="146" y="72"/>
                    </a:lnTo>
                    <a:lnTo>
                      <a:pt x="120" y="83"/>
                    </a:lnTo>
                    <a:lnTo>
                      <a:pt x="99" y="98"/>
                    </a:lnTo>
                    <a:lnTo>
                      <a:pt x="83" y="117"/>
                    </a:lnTo>
                    <a:lnTo>
                      <a:pt x="72" y="139"/>
                    </a:lnTo>
                    <a:lnTo>
                      <a:pt x="65" y="164"/>
                    </a:lnTo>
                    <a:lnTo>
                      <a:pt x="63" y="192"/>
                    </a:lnTo>
                    <a:lnTo>
                      <a:pt x="65" y="229"/>
                    </a:lnTo>
                    <a:lnTo>
                      <a:pt x="74" y="266"/>
                    </a:lnTo>
                    <a:lnTo>
                      <a:pt x="85" y="302"/>
                    </a:lnTo>
                    <a:lnTo>
                      <a:pt x="102" y="338"/>
                    </a:lnTo>
                    <a:lnTo>
                      <a:pt x="120" y="372"/>
                    </a:lnTo>
                    <a:lnTo>
                      <a:pt x="142" y="406"/>
                    </a:lnTo>
                    <a:lnTo>
                      <a:pt x="167" y="438"/>
                    </a:lnTo>
                    <a:lnTo>
                      <a:pt x="192" y="469"/>
                    </a:lnTo>
                    <a:lnTo>
                      <a:pt x="219" y="498"/>
                    </a:lnTo>
                    <a:lnTo>
                      <a:pt x="248" y="525"/>
                    </a:lnTo>
                    <a:lnTo>
                      <a:pt x="274" y="550"/>
                    </a:lnTo>
                    <a:lnTo>
                      <a:pt x="300" y="572"/>
                    </a:lnTo>
                    <a:lnTo>
                      <a:pt x="326" y="591"/>
                    </a:lnTo>
                    <a:lnTo>
                      <a:pt x="349" y="607"/>
                    </a:lnTo>
                    <a:lnTo>
                      <a:pt x="370" y="621"/>
                    </a:lnTo>
                    <a:lnTo>
                      <a:pt x="388" y="631"/>
                    </a:lnTo>
                    <a:lnTo>
                      <a:pt x="395" y="633"/>
                    </a:lnTo>
                    <a:lnTo>
                      <a:pt x="402" y="635"/>
                    </a:lnTo>
                    <a:lnTo>
                      <a:pt x="409" y="637"/>
                    </a:lnTo>
                    <a:lnTo>
                      <a:pt x="418" y="637"/>
                    </a:lnTo>
                    <a:lnTo>
                      <a:pt x="425" y="637"/>
                    </a:lnTo>
                    <a:lnTo>
                      <a:pt x="434" y="635"/>
                    </a:lnTo>
                    <a:lnTo>
                      <a:pt x="442" y="634"/>
                    </a:lnTo>
                    <a:lnTo>
                      <a:pt x="450" y="631"/>
                    </a:lnTo>
                    <a:lnTo>
                      <a:pt x="458" y="626"/>
                    </a:lnTo>
                    <a:lnTo>
                      <a:pt x="468" y="620"/>
                    </a:lnTo>
                    <a:lnTo>
                      <a:pt x="479" y="613"/>
                    </a:lnTo>
                    <a:lnTo>
                      <a:pt x="491" y="605"/>
                    </a:lnTo>
                    <a:lnTo>
                      <a:pt x="504" y="596"/>
                    </a:lnTo>
                    <a:lnTo>
                      <a:pt x="516" y="588"/>
                    </a:lnTo>
                    <a:lnTo>
                      <a:pt x="529" y="577"/>
                    </a:lnTo>
                    <a:lnTo>
                      <a:pt x="543" y="566"/>
                    </a:lnTo>
                    <a:lnTo>
                      <a:pt x="557" y="555"/>
                    </a:lnTo>
                    <a:lnTo>
                      <a:pt x="571" y="542"/>
                    </a:lnTo>
                    <a:lnTo>
                      <a:pt x="586" y="529"/>
                    </a:lnTo>
                    <a:lnTo>
                      <a:pt x="600" y="515"/>
                    </a:lnTo>
                    <a:lnTo>
                      <a:pt x="615" y="501"/>
                    </a:lnTo>
                    <a:lnTo>
                      <a:pt x="628" y="486"/>
                    </a:lnTo>
                    <a:lnTo>
                      <a:pt x="643" y="470"/>
                    </a:lnTo>
                    <a:lnTo>
                      <a:pt x="657" y="454"/>
                    </a:lnTo>
                    <a:lnTo>
                      <a:pt x="669" y="443"/>
                    </a:lnTo>
                    <a:lnTo>
                      <a:pt x="682" y="438"/>
                    </a:lnTo>
                    <a:lnTo>
                      <a:pt x="696" y="437"/>
                    </a:lnTo>
                    <a:lnTo>
                      <a:pt x="708" y="440"/>
                    </a:lnTo>
                    <a:lnTo>
                      <a:pt x="717" y="447"/>
                    </a:lnTo>
                    <a:lnTo>
                      <a:pt x="719" y="457"/>
                    </a:lnTo>
                    <a:lnTo>
                      <a:pt x="717" y="471"/>
                    </a:lnTo>
                    <a:lnTo>
                      <a:pt x="704" y="488"/>
                    </a:lnTo>
                    <a:close/>
                  </a:path>
                </a:pathLst>
              </a:custGeom>
              <a:solidFill>
                <a:srgbClr val="F7B2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9637" name="Freeform 21"/>
              <p:cNvSpPr/>
              <p:nvPr/>
            </p:nvSpPr>
            <p:spPr bwMode="auto">
              <a:xfrm>
                <a:off x="2843" y="1547"/>
                <a:ext cx="826" cy="682"/>
              </a:xfrm>
              <a:custGeom>
                <a:avLst/>
                <a:gdLst>
                  <a:gd name="T0" fmla="*/ 643 w 826"/>
                  <a:gd name="T1" fmla="*/ 531 h 682"/>
                  <a:gd name="T2" fmla="*/ 574 w 826"/>
                  <a:gd name="T3" fmla="*/ 591 h 682"/>
                  <a:gd name="T4" fmla="*/ 511 w 826"/>
                  <a:gd name="T5" fmla="*/ 638 h 682"/>
                  <a:gd name="T6" fmla="*/ 459 w 826"/>
                  <a:gd name="T7" fmla="*/ 670 h 682"/>
                  <a:gd name="T8" fmla="*/ 421 w 826"/>
                  <a:gd name="T9" fmla="*/ 682 h 682"/>
                  <a:gd name="T10" fmla="*/ 386 w 826"/>
                  <a:gd name="T11" fmla="*/ 677 h 682"/>
                  <a:gd name="T12" fmla="*/ 298 w 826"/>
                  <a:gd name="T13" fmla="*/ 627 h 682"/>
                  <a:gd name="T14" fmla="*/ 173 w 826"/>
                  <a:gd name="T15" fmla="*/ 524 h 682"/>
                  <a:gd name="T16" fmla="*/ 62 w 826"/>
                  <a:gd name="T17" fmla="*/ 387 h 682"/>
                  <a:gd name="T18" fmla="*/ 2 w 826"/>
                  <a:gd name="T19" fmla="*/ 224 h 682"/>
                  <a:gd name="T20" fmla="*/ 7 w 826"/>
                  <a:gd name="T21" fmla="*/ 127 h 682"/>
                  <a:gd name="T22" fmla="*/ 38 w 826"/>
                  <a:gd name="T23" fmla="*/ 67 h 682"/>
                  <a:gd name="T24" fmla="*/ 97 w 826"/>
                  <a:gd name="T25" fmla="*/ 22 h 682"/>
                  <a:gd name="T26" fmla="*/ 181 w 826"/>
                  <a:gd name="T27" fmla="*/ 1 h 682"/>
                  <a:gd name="T28" fmla="*/ 277 w 826"/>
                  <a:gd name="T29" fmla="*/ 17 h 682"/>
                  <a:gd name="T30" fmla="*/ 347 w 826"/>
                  <a:gd name="T31" fmla="*/ 73 h 682"/>
                  <a:gd name="T32" fmla="*/ 390 w 826"/>
                  <a:gd name="T33" fmla="*/ 138 h 682"/>
                  <a:gd name="T34" fmla="*/ 408 w 826"/>
                  <a:gd name="T35" fmla="*/ 179 h 682"/>
                  <a:gd name="T36" fmla="*/ 416 w 826"/>
                  <a:gd name="T37" fmla="*/ 189 h 682"/>
                  <a:gd name="T38" fmla="*/ 423 w 826"/>
                  <a:gd name="T39" fmla="*/ 173 h 682"/>
                  <a:gd name="T40" fmla="*/ 447 w 826"/>
                  <a:gd name="T41" fmla="*/ 124 h 682"/>
                  <a:gd name="T42" fmla="*/ 497 w 826"/>
                  <a:gd name="T43" fmla="*/ 58 h 682"/>
                  <a:gd name="T44" fmla="*/ 573 w 826"/>
                  <a:gd name="T45" fmla="*/ 7 h 682"/>
                  <a:gd name="T46" fmla="*/ 670 w 826"/>
                  <a:gd name="T47" fmla="*/ 4 h 682"/>
                  <a:gd name="T48" fmla="*/ 747 w 826"/>
                  <a:gd name="T49" fmla="*/ 31 h 682"/>
                  <a:gd name="T50" fmla="*/ 797 w 826"/>
                  <a:gd name="T51" fmla="*/ 81 h 682"/>
                  <a:gd name="T52" fmla="*/ 822 w 826"/>
                  <a:gd name="T53" fmla="*/ 145 h 682"/>
                  <a:gd name="T54" fmla="*/ 822 w 826"/>
                  <a:gd name="T55" fmla="*/ 236 h 682"/>
                  <a:gd name="T56" fmla="*/ 801 w 826"/>
                  <a:gd name="T57" fmla="*/ 296 h 682"/>
                  <a:gd name="T58" fmla="*/ 774 w 826"/>
                  <a:gd name="T59" fmla="*/ 302 h 682"/>
                  <a:gd name="T60" fmla="*/ 761 w 826"/>
                  <a:gd name="T61" fmla="*/ 282 h 682"/>
                  <a:gd name="T62" fmla="*/ 773 w 826"/>
                  <a:gd name="T63" fmla="*/ 225 h 682"/>
                  <a:gd name="T64" fmla="*/ 766 w 826"/>
                  <a:gd name="T65" fmla="*/ 133 h 682"/>
                  <a:gd name="T66" fmla="*/ 718 w 826"/>
                  <a:gd name="T67" fmla="*/ 75 h 682"/>
                  <a:gd name="T68" fmla="*/ 659 w 826"/>
                  <a:gd name="T69" fmla="*/ 54 h 682"/>
                  <a:gd name="T70" fmla="*/ 563 w 826"/>
                  <a:gd name="T71" fmla="*/ 71 h 682"/>
                  <a:gd name="T72" fmla="*/ 472 w 826"/>
                  <a:gd name="T73" fmla="*/ 174 h 682"/>
                  <a:gd name="T74" fmla="*/ 431 w 826"/>
                  <a:gd name="T75" fmla="*/ 238 h 682"/>
                  <a:gd name="T76" fmla="*/ 398 w 826"/>
                  <a:gd name="T77" fmla="*/ 238 h 682"/>
                  <a:gd name="T78" fmla="*/ 358 w 826"/>
                  <a:gd name="T79" fmla="*/ 174 h 682"/>
                  <a:gd name="T80" fmla="*/ 266 w 826"/>
                  <a:gd name="T81" fmla="*/ 71 h 682"/>
                  <a:gd name="T82" fmla="*/ 141 w 826"/>
                  <a:gd name="T83" fmla="*/ 60 h 682"/>
                  <a:gd name="T84" fmla="*/ 62 w 826"/>
                  <a:gd name="T85" fmla="*/ 129 h 682"/>
                  <a:gd name="T86" fmla="*/ 62 w 826"/>
                  <a:gd name="T87" fmla="*/ 260 h 682"/>
                  <a:gd name="T88" fmla="*/ 132 w 826"/>
                  <a:gd name="T89" fmla="*/ 402 h 682"/>
                  <a:gd name="T90" fmla="*/ 238 w 826"/>
                  <a:gd name="T91" fmla="*/ 522 h 682"/>
                  <a:gd name="T92" fmla="*/ 341 w 826"/>
                  <a:gd name="T93" fmla="*/ 606 h 682"/>
                  <a:gd name="T94" fmla="*/ 394 w 826"/>
                  <a:gd name="T95" fmla="*/ 634 h 682"/>
                  <a:gd name="T96" fmla="*/ 430 w 826"/>
                  <a:gd name="T97" fmla="*/ 636 h 682"/>
                  <a:gd name="T98" fmla="*/ 465 w 826"/>
                  <a:gd name="T99" fmla="*/ 620 h 682"/>
                  <a:gd name="T100" fmla="*/ 511 w 826"/>
                  <a:gd name="T101" fmla="*/ 588 h 682"/>
                  <a:gd name="T102" fmla="*/ 567 w 826"/>
                  <a:gd name="T103" fmla="*/ 542 h 682"/>
                  <a:gd name="T104" fmla="*/ 627 w 826"/>
                  <a:gd name="T105" fmla="*/ 485 h 682"/>
                  <a:gd name="T106" fmla="*/ 665 w 826"/>
                  <a:gd name="T107" fmla="*/ 443 h 682"/>
                  <a:gd name="T108" fmla="*/ 686 w 826"/>
                  <a:gd name="T109" fmla="*/ 436 h 682"/>
                  <a:gd name="T110" fmla="*/ 703 w 826"/>
                  <a:gd name="T111" fmla="*/ 440 h 682"/>
                  <a:gd name="T112" fmla="*/ 707 w 826"/>
                  <a:gd name="T113" fmla="*/ 460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26" h="682">
                    <a:moveTo>
                      <a:pt x="694" y="479"/>
                    </a:moveTo>
                    <a:lnTo>
                      <a:pt x="677" y="497"/>
                    </a:lnTo>
                    <a:lnTo>
                      <a:pt x="660" y="516"/>
                    </a:lnTo>
                    <a:lnTo>
                      <a:pt x="643" y="531"/>
                    </a:lnTo>
                    <a:lnTo>
                      <a:pt x="626" y="549"/>
                    </a:lnTo>
                    <a:lnTo>
                      <a:pt x="609" y="563"/>
                    </a:lnTo>
                    <a:lnTo>
                      <a:pt x="592" y="578"/>
                    </a:lnTo>
                    <a:lnTo>
                      <a:pt x="574" y="591"/>
                    </a:lnTo>
                    <a:lnTo>
                      <a:pt x="557" y="605"/>
                    </a:lnTo>
                    <a:lnTo>
                      <a:pt x="541" y="617"/>
                    </a:lnTo>
                    <a:lnTo>
                      <a:pt x="525" y="628"/>
                    </a:lnTo>
                    <a:lnTo>
                      <a:pt x="511" y="638"/>
                    </a:lnTo>
                    <a:lnTo>
                      <a:pt x="496" y="648"/>
                    </a:lnTo>
                    <a:lnTo>
                      <a:pt x="483" y="655"/>
                    </a:lnTo>
                    <a:lnTo>
                      <a:pt x="470" y="662"/>
                    </a:lnTo>
                    <a:lnTo>
                      <a:pt x="459" y="670"/>
                    </a:lnTo>
                    <a:lnTo>
                      <a:pt x="450" y="675"/>
                    </a:lnTo>
                    <a:lnTo>
                      <a:pt x="440" y="678"/>
                    </a:lnTo>
                    <a:lnTo>
                      <a:pt x="430" y="681"/>
                    </a:lnTo>
                    <a:lnTo>
                      <a:pt x="421" y="682"/>
                    </a:lnTo>
                    <a:lnTo>
                      <a:pt x="412" y="682"/>
                    </a:lnTo>
                    <a:lnTo>
                      <a:pt x="402" y="682"/>
                    </a:lnTo>
                    <a:lnTo>
                      <a:pt x="393" y="680"/>
                    </a:lnTo>
                    <a:lnTo>
                      <a:pt x="386" y="677"/>
                    </a:lnTo>
                    <a:lnTo>
                      <a:pt x="378" y="675"/>
                    </a:lnTo>
                    <a:lnTo>
                      <a:pt x="354" y="661"/>
                    </a:lnTo>
                    <a:lnTo>
                      <a:pt x="327" y="645"/>
                    </a:lnTo>
                    <a:lnTo>
                      <a:pt x="298" y="627"/>
                    </a:lnTo>
                    <a:lnTo>
                      <a:pt x="267" y="605"/>
                    </a:lnTo>
                    <a:lnTo>
                      <a:pt x="236" y="580"/>
                    </a:lnTo>
                    <a:lnTo>
                      <a:pt x="205" y="554"/>
                    </a:lnTo>
                    <a:lnTo>
                      <a:pt x="173" y="524"/>
                    </a:lnTo>
                    <a:lnTo>
                      <a:pt x="143" y="494"/>
                    </a:lnTo>
                    <a:lnTo>
                      <a:pt x="114" y="459"/>
                    </a:lnTo>
                    <a:lnTo>
                      <a:pt x="87" y="424"/>
                    </a:lnTo>
                    <a:lnTo>
                      <a:pt x="62" y="387"/>
                    </a:lnTo>
                    <a:lnTo>
                      <a:pt x="42" y="348"/>
                    </a:lnTo>
                    <a:lnTo>
                      <a:pt x="25" y="307"/>
                    </a:lnTo>
                    <a:lnTo>
                      <a:pt x="11" y="266"/>
                    </a:lnTo>
                    <a:lnTo>
                      <a:pt x="2" y="224"/>
                    </a:lnTo>
                    <a:lnTo>
                      <a:pt x="0" y="180"/>
                    </a:lnTo>
                    <a:lnTo>
                      <a:pt x="1" y="162"/>
                    </a:lnTo>
                    <a:lnTo>
                      <a:pt x="4" y="145"/>
                    </a:lnTo>
                    <a:lnTo>
                      <a:pt x="7" y="127"/>
                    </a:lnTo>
                    <a:lnTo>
                      <a:pt x="13" y="111"/>
                    </a:lnTo>
                    <a:lnTo>
                      <a:pt x="20" y="96"/>
                    </a:lnTo>
                    <a:lnTo>
                      <a:pt x="28" y="81"/>
                    </a:lnTo>
                    <a:lnTo>
                      <a:pt x="38" y="67"/>
                    </a:lnTo>
                    <a:lnTo>
                      <a:pt x="49" y="55"/>
                    </a:lnTo>
                    <a:lnTo>
                      <a:pt x="64" y="42"/>
                    </a:lnTo>
                    <a:lnTo>
                      <a:pt x="80" y="31"/>
                    </a:lnTo>
                    <a:lnTo>
                      <a:pt x="97" y="22"/>
                    </a:lnTo>
                    <a:lnTo>
                      <a:pt x="116" y="13"/>
                    </a:lnTo>
                    <a:lnTo>
                      <a:pt x="137" y="7"/>
                    </a:lnTo>
                    <a:lnTo>
                      <a:pt x="158" y="4"/>
                    </a:lnTo>
                    <a:lnTo>
                      <a:pt x="181" y="1"/>
                    </a:lnTo>
                    <a:lnTo>
                      <a:pt x="206" y="0"/>
                    </a:lnTo>
                    <a:lnTo>
                      <a:pt x="232" y="2"/>
                    </a:lnTo>
                    <a:lnTo>
                      <a:pt x="255" y="7"/>
                    </a:lnTo>
                    <a:lnTo>
                      <a:pt x="277" y="17"/>
                    </a:lnTo>
                    <a:lnTo>
                      <a:pt x="296" y="28"/>
                    </a:lnTo>
                    <a:lnTo>
                      <a:pt x="315" y="42"/>
                    </a:lnTo>
                    <a:lnTo>
                      <a:pt x="331" y="58"/>
                    </a:lnTo>
                    <a:lnTo>
                      <a:pt x="347" y="73"/>
                    </a:lnTo>
                    <a:lnTo>
                      <a:pt x="359" y="91"/>
                    </a:lnTo>
                    <a:lnTo>
                      <a:pt x="371" y="107"/>
                    </a:lnTo>
                    <a:lnTo>
                      <a:pt x="381" y="124"/>
                    </a:lnTo>
                    <a:lnTo>
                      <a:pt x="390" y="138"/>
                    </a:lnTo>
                    <a:lnTo>
                      <a:pt x="397" y="152"/>
                    </a:lnTo>
                    <a:lnTo>
                      <a:pt x="402" y="164"/>
                    </a:lnTo>
                    <a:lnTo>
                      <a:pt x="405" y="173"/>
                    </a:lnTo>
                    <a:lnTo>
                      <a:pt x="408" y="179"/>
                    </a:lnTo>
                    <a:lnTo>
                      <a:pt x="409" y="181"/>
                    </a:lnTo>
                    <a:lnTo>
                      <a:pt x="414" y="197"/>
                    </a:lnTo>
                    <a:lnTo>
                      <a:pt x="415" y="195"/>
                    </a:lnTo>
                    <a:lnTo>
                      <a:pt x="416" y="189"/>
                    </a:lnTo>
                    <a:lnTo>
                      <a:pt x="418" y="184"/>
                    </a:lnTo>
                    <a:lnTo>
                      <a:pt x="419" y="181"/>
                    </a:lnTo>
                    <a:lnTo>
                      <a:pt x="420" y="179"/>
                    </a:lnTo>
                    <a:lnTo>
                      <a:pt x="423" y="173"/>
                    </a:lnTo>
                    <a:lnTo>
                      <a:pt x="426" y="164"/>
                    </a:lnTo>
                    <a:lnTo>
                      <a:pt x="431" y="152"/>
                    </a:lnTo>
                    <a:lnTo>
                      <a:pt x="438" y="138"/>
                    </a:lnTo>
                    <a:lnTo>
                      <a:pt x="447" y="124"/>
                    </a:lnTo>
                    <a:lnTo>
                      <a:pt x="457" y="107"/>
                    </a:lnTo>
                    <a:lnTo>
                      <a:pt x="469" y="91"/>
                    </a:lnTo>
                    <a:lnTo>
                      <a:pt x="481" y="73"/>
                    </a:lnTo>
                    <a:lnTo>
                      <a:pt x="497" y="58"/>
                    </a:lnTo>
                    <a:lnTo>
                      <a:pt x="513" y="42"/>
                    </a:lnTo>
                    <a:lnTo>
                      <a:pt x="532" y="28"/>
                    </a:lnTo>
                    <a:lnTo>
                      <a:pt x="551" y="17"/>
                    </a:lnTo>
                    <a:lnTo>
                      <a:pt x="573" y="7"/>
                    </a:lnTo>
                    <a:lnTo>
                      <a:pt x="596" y="2"/>
                    </a:lnTo>
                    <a:lnTo>
                      <a:pt x="622" y="0"/>
                    </a:lnTo>
                    <a:lnTo>
                      <a:pt x="647" y="1"/>
                    </a:lnTo>
                    <a:lnTo>
                      <a:pt x="670" y="4"/>
                    </a:lnTo>
                    <a:lnTo>
                      <a:pt x="691" y="7"/>
                    </a:lnTo>
                    <a:lnTo>
                      <a:pt x="712" y="13"/>
                    </a:lnTo>
                    <a:lnTo>
                      <a:pt x="730" y="22"/>
                    </a:lnTo>
                    <a:lnTo>
                      <a:pt x="747" y="31"/>
                    </a:lnTo>
                    <a:lnTo>
                      <a:pt x="763" y="42"/>
                    </a:lnTo>
                    <a:lnTo>
                      <a:pt x="777" y="55"/>
                    </a:lnTo>
                    <a:lnTo>
                      <a:pt x="788" y="67"/>
                    </a:lnTo>
                    <a:lnTo>
                      <a:pt x="797" y="81"/>
                    </a:lnTo>
                    <a:lnTo>
                      <a:pt x="806" y="96"/>
                    </a:lnTo>
                    <a:lnTo>
                      <a:pt x="813" y="111"/>
                    </a:lnTo>
                    <a:lnTo>
                      <a:pt x="818" y="127"/>
                    </a:lnTo>
                    <a:lnTo>
                      <a:pt x="822" y="145"/>
                    </a:lnTo>
                    <a:lnTo>
                      <a:pt x="824" y="162"/>
                    </a:lnTo>
                    <a:lnTo>
                      <a:pt x="826" y="180"/>
                    </a:lnTo>
                    <a:lnTo>
                      <a:pt x="824" y="209"/>
                    </a:lnTo>
                    <a:lnTo>
                      <a:pt x="822" y="236"/>
                    </a:lnTo>
                    <a:lnTo>
                      <a:pt x="817" y="260"/>
                    </a:lnTo>
                    <a:lnTo>
                      <a:pt x="811" y="282"/>
                    </a:lnTo>
                    <a:lnTo>
                      <a:pt x="806" y="290"/>
                    </a:lnTo>
                    <a:lnTo>
                      <a:pt x="801" y="296"/>
                    </a:lnTo>
                    <a:lnTo>
                      <a:pt x="794" y="301"/>
                    </a:lnTo>
                    <a:lnTo>
                      <a:pt x="786" y="304"/>
                    </a:lnTo>
                    <a:lnTo>
                      <a:pt x="780" y="304"/>
                    </a:lnTo>
                    <a:lnTo>
                      <a:pt x="774" y="302"/>
                    </a:lnTo>
                    <a:lnTo>
                      <a:pt x="769" y="299"/>
                    </a:lnTo>
                    <a:lnTo>
                      <a:pt x="764" y="294"/>
                    </a:lnTo>
                    <a:lnTo>
                      <a:pt x="762" y="288"/>
                    </a:lnTo>
                    <a:lnTo>
                      <a:pt x="761" y="282"/>
                    </a:lnTo>
                    <a:lnTo>
                      <a:pt x="761" y="274"/>
                    </a:lnTo>
                    <a:lnTo>
                      <a:pt x="763" y="267"/>
                    </a:lnTo>
                    <a:lnTo>
                      <a:pt x="769" y="246"/>
                    </a:lnTo>
                    <a:lnTo>
                      <a:pt x="773" y="225"/>
                    </a:lnTo>
                    <a:lnTo>
                      <a:pt x="774" y="206"/>
                    </a:lnTo>
                    <a:lnTo>
                      <a:pt x="774" y="186"/>
                    </a:lnTo>
                    <a:lnTo>
                      <a:pt x="772" y="159"/>
                    </a:lnTo>
                    <a:lnTo>
                      <a:pt x="766" y="133"/>
                    </a:lnTo>
                    <a:lnTo>
                      <a:pt x="754" y="111"/>
                    </a:lnTo>
                    <a:lnTo>
                      <a:pt x="740" y="92"/>
                    </a:lnTo>
                    <a:lnTo>
                      <a:pt x="729" y="83"/>
                    </a:lnTo>
                    <a:lnTo>
                      <a:pt x="718" y="75"/>
                    </a:lnTo>
                    <a:lnTo>
                      <a:pt x="704" y="67"/>
                    </a:lnTo>
                    <a:lnTo>
                      <a:pt x="691" y="62"/>
                    </a:lnTo>
                    <a:lnTo>
                      <a:pt x="676" y="58"/>
                    </a:lnTo>
                    <a:lnTo>
                      <a:pt x="659" y="54"/>
                    </a:lnTo>
                    <a:lnTo>
                      <a:pt x="643" y="53"/>
                    </a:lnTo>
                    <a:lnTo>
                      <a:pt x="625" y="51"/>
                    </a:lnTo>
                    <a:lnTo>
                      <a:pt x="593" y="56"/>
                    </a:lnTo>
                    <a:lnTo>
                      <a:pt x="563" y="71"/>
                    </a:lnTo>
                    <a:lnTo>
                      <a:pt x="536" y="92"/>
                    </a:lnTo>
                    <a:lnTo>
                      <a:pt x="512" y="118"/>
                    </a:lnTo>
                    <a:lnTo>
                      <a:pt x="490" y="146"/>
                    </a:lnTo>
                    <a:lnTo>
                      <a:pt x="472" y="174"/>
                    </a:lnTo>
                    <a:lnTo>
                      <a:pt x="456" y="200"/>
                    </a:lnTo>
                    <a:lnTo>
                      <a:pt x="443" y="222"/>
                    </a:lnTo>
                    <a:lnTo>
                      <a:pt x="437" y="230"/>
                    </a:lnTo>
                    <a:lnTo>
                      <a:pt x="431" y="238"/>
                    </a:lnTo>
                    <a:lnTo>
                      <a:pt x="423" y="241"/>
                    </a:lnTo>
                    <a:lnTo>
                      <a:pt x="414" y="242"/>
                    </a:lnTo>
                    <a:lnTo>
                      <a:pt x="405" y="241"/>
                    </a:lnTo>
                    <a:lnTo>
                      <a:pt x="398" y="238"/>
                    </a:lnTo>
                    <a:lnTo>
                      <a:pt x="391" y="230"/>
                    </a:lnTo>
                    <a:lnTo>
                      <a:pt x="385" y="222"/>
                    </a:lnTo>
                    <a:lnTo>
                      <a:pt x="374" y="200"/>
                    </a:lnTo>
                    <a:lnTo>
                      <a:pt x="358" y="174"/>
                    </a:lnTo>
                    <a:lnTo>
                      <a:pt x="339" y="146"/>
                    </a:lnTo>
                    <a:lnTo>
                      <a:pt x="317" y="118"/>
                    </a:lnTo>
                    <a:lnTo>
                      <a:pt x="293" y="92"/>
                    </a:lnTo>
                    <a:lnTo>
                      <a:pt x="266" y="71"/>
                    </a:lnTo>
                    <a:lnTo>
                      <a:pt x="238" y="56"/>
                    </a:lnTo>
                    <a:lnTo>
                      <a:pt x="206" y="51"/>
                    </a:lnTo>
                    <a:lnTo>
                      <a:pt x="171" y="54"/>
                    </a:lnTo>
                    <a:lnTo>
                      <a:pt x="141" y="60"/>
                    </a:lnTo>
                    <a:lnTo>
                      <a:pt x="114" y="71"/>
                    </a:lnTo>
                    <a:lnTo>
                      <a:pt x="93" y="87"/>
                    </a:lnTo>
                    <a:lnTo>
                      <a:pt x="75" y="105"/>
                    </a:lnTo>
                    <a:lnTo>
                      <a:pt x="62" y="129"/>
                    </a:lnTo>
                    <a:lnTo>
                      <a:pt x="55" y="156"/>
                    </a:lnTo>
                    <a:lnTo>
                      <a:pt x="53" y="186"/>
                    </a:lnTo>
                    <a:lnTo>
                      <a:pt x="55" y="223"/>
                    </a:lnTo>
                    <a:lnTo>
                      <a:pt x="62" y="260"/>
                    </a:lnTo>
                    <a:lnTo>
                      <a:pt x="75" y="296"/>
                    </a:lnTo>
                    <a:lnTo>
                      <a:pt x="91" y="332"/>
                    </a:lnTo>
                    <a:lnTo>
                      <a:pt x="110" y="367"/>
                    </a:lnTo>
                    <a:lnTo>
                      <a:pt x="132" y="402"/>
                    </a:lnTo>
                    <a:lnTo>
                      <a:pt x="157" y="434"/>
                    </a:lnTo>
                    <a:lnTo>
                      <a:pt x="183" y="465"/>
                    </a:lnTo>
                    <a:lnTo>
                      <a:pt x="209" y="495"/>
                    </a:lnTo>
                    <a:lnTo>
                      <a:pt x="238" y="522"/>
                    </a:lnTo>
                    <a:lnTo>
                      <a:pt x="265" y="547"/>
                    </a:lnTo>
                    <a:lnTo>
                      <a:pt x="292" y="569"/>
                    </a:lnTo>
                    <a:lnTo>
                      <a:pt x="317" y="589"/>
                    </a:lnTo>
                    <a:lnTo>
                      <a:pt x="341" y="606"/>
                    </a:lnTo>
                    <a:lnTo>
                      <a:pt x="363" y="620"/>
                    </a:lnTo>
                    <a:lnTo>
                      <a:pt x="381" y="629"/>
                    </a:lnTo>
                    <a:lnTo>
                      <a:pt x="387" y="632"/>
                    </a:lnTo>
                    <a:lnTo>
                      <a:pt x="394" y="634"/>
                    </a:lnTo>
                    <a:lnTo>
                      <a:pt x="403" y="636"/>
                    </a:lnTo>
                    <a:lnTo>
                      <a:pt x="412" y="637"/>
                    </a:lnTo>
                    <a:lnTo>
                      <a:pt x="420" y="637"/>
                    </a:lnTo>
                    <a:lnTo>
                      <a:pt x="430" y="636"/>
                    </a:lnTo>
                    <a:lnTo>
                      <a:pt x="438" y="633"/>
                    </a:lnTo>
                    <a:lnTo>
                      <a:pt x="447" y="629"/>
                    </a:lnTo>
                    <a:lnTo>
                      <a:pt x="456" y="625"/>
                    </a:lnTo>
                    <a:lnTo>
                      <a:pt x="465" y="620"/>
                    </a:lnTo>
                    <a:lnTo>
                      <a:pt x="475" y="612"/>
                    </a:lnTo>
                    <a:lnTo>
                      <a:pt x="486" y="605"/>
                    </a:lnTo>
                    <a:lnTo>
                      <a:pt x="499" y="596"/>
                    </a:lnTo>
                    <a:lnTo>
                      <a:pt x="511" y="588"/>
                    </a:lnTo>
                    <a:lnTo>
                      <a:pt x="524" y="577"/>
                    </a:lnTo>
                    <a:lnTo>
                      <a:pt x="539" y="566"/>
                    </a:lnTo>
                    <a:lnTo>
                      <a:pt x="552" y="555"/>
                    </a:lnTo>
                    <a:lnTo>
                      <a:pt x="567" y="542"/>
                    </a:lnTo>
                    <a:lnTo>
                      <a:pt x="582" y="529"/>
                    </a:lnTo>
                    <a:lnTo>
                      <a:pt x="596" y="514"/>
                    </a:lnTo>
                    <a:lnTo>
                      <a:pt x="612" y="500"/>
                    </a:lnTo>
                    <a:lnTo>
                      <a:pt x="627" y="485"/>
                    </a:lnTo>
                    <a:lnTo>
                      <a:pt x="642" y="469"/>
                    </a:lnTo>
                    <a:lnTo>
                      <a:pt x="657" y="452"/>
                    </a:lnTo>
                    <a:lnTo>
                      <a:pt x="661" y="447"/>
                    </a:lnTo>
                    <a:lnTo>
                      <a:pt x="665" y="443"/>
                    </a:lnTo>
                    <a:lnTo>
                      <a:pt x="670" y="441"/>
                    </a:lnTo>
                    <a:lnTo>
                      <a:pt x="676" y="438"/>
                    </a:lnTo>
                    <a:lnTo>
                      <a:pt x="681" y="437"/>
                    </a:lnTo>
                    <a:lnTo>
                      <a:pt x="686" y="436"/>
                    </a:lnTo>
                    <a:lnTo>
                      <a:pt x="690" y="436"/>
                    </a:lnTo>
                    <a:lnTo>
                      <a:pt x="694" y="436"/>
                    </a:lnTo>
                    <a:lnTo>
                      <a:pt x="699" y="437"/>
                    </a:lnTo>
                    <a:lnTo>
                      <a:pt x="703" y="440"/>
                    </a:lnTo>
                    <a:lnTo>
                      <a:pt x="707" y="443"/>
                    </a:lnTo>
                    <a:lnTo>
                      <a:pt x="708" y="447"/>
                    </a:lnTo>
                    <a:lnTo>
                      <a:pt x="709" y="453"/>
                    </a:lnTo>
                    <a:lnTo>
                      <a:pt x="707" y="460"/>
                    </a:lnTo>
                    <a:lnTo>
                      <a:pt x="702" y="470"/>
                    </a:lnTo>
                    <a:lnTo>
                      <a:pt x="694" y="479"/>
                    </a:lnTo>
                    <a:close/>
                  </a:path>
                </a:pathLst>
              </a:custGeom>
              <a:solidFill>
                <a:srgbClr val="99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9638" name="Freeform 22"/>
              <p:cNvSpPr/>
              <p:nvPr/>
            </p:nvSpPr>
            <p:spPr bwMode="auto">
              <a:xfrm>
                <a:off x="2832" y="1536"/>
                <a:ext cx="848" cy="704"/>
              </a:xfrm>
              <a:custGeom>
                <a:avLst/>
                <a:gdLst>
                  <a:gd name="T0" fmla="*/ 615 w 848"/>
                  <a:gd name="T1" fmla="*/ 503 h 704"/>
                  <a:gd name="T2" fmla="*/ 557 w 848"/>
                  <a:gd name="T3" fmla="*/ 557 h 704"/>
                  <a:gd name="T4" fmla="*/ 505 w 848"/>
                  <a:gd name="T5" fmla="*/ 599 h 704"/>
                  <a:gd name="T6" fmla="*/ 462 w 848"/>
                  <a:gd name="T7" fmla="*/ 626 h 704"/>
                  <a:gd name="T8" fmla="*/ 431 w 848"/>
                  <a:gd name="T9" fmla="*/ 636 h 704"/>
                  <a:gd name="T10" fmla="*/ 403 w 848"/>
                  <a:gd name="T11" fmla="*/ 633 h 704"/>
                  <a:gd name="T12" fmla="*/ 334 w 848"/>
                  <a:gd name="T13" fmla="*/ 590 h 704"/>
                  <a:gd name="T14" fmla="*/ 229 w 848"/>
                  <a:gd name="T15" fmla="*/ 498 h 704"/>
                  <a:gd name="T16" fmla="*/ 131 w 848"/>
                  <a:gd name="T17" fmla="*/ 373 h 704"/>
                  <a:gd name="T18" fmla="*/ 77 w 848"/>
                  <a:gd name="T19" fmla="*/ 233 h 704"/>
                  <a:gd name="T20" fmla="*/ 93 w 848"/>
                  <a:gd name="T21" fmla="*/ 127 h 704"/>
                  <a:gd name="T22" fmla="*/ 140 w 848"/>
                  <a:gd name="T23" fmla="*/ 88 h 704"/>
                  <a:gd name="T24" fmla="*/ 198 w 848"/>
                  <a:gd name="T25" fmla="*/ 73 h 704"/>
                  <a:gd name="T26" fmla="*/ 299 w 848"/>
                  <a:gd name="T27" fmla="*/ 113 h 704"/>
                  <a:gd name="T28" fmla="*/ 375 w 848"/>
                  <a:gd name="T29" fmla="*/ 217 h 704"/>
                  <a:gd name="T30" fmla="*/ 398 w 848"/>
                  <a:gd name="T31" fmla="*/ 253 h 704"/>
                  <a:gd name="T32" fmla="*/ 420 w 848"/>
                  <a:gd name="T33" fmla="*/ 264 h 704"/>
                  <a:gd name="T34" fmla="*/ 442 w 848"/>
                  <a:gd name="T35" fmla="*/ 261 h 704"/>
                  <a:gd name="T36" fmla="*/ 461 w 848"/>
                  <a:gd name="T37" fmla="*/ 244 h 704"/>
                  <a:gd name="T38" fmla="*/ 508 w 848"/>
                  <a:gd name="T39" fmla="*/ 164 h 704"/>
                  <a:gd name="T40" fmla="*/ 606 w 848"/>
                  <a:gd name="T41" fmla="*/ 78 h 704"/>
                  <a:gd name="T42" fmla="*/ 683 w 848"/>
                  <a:gd name="T43" fmla="*/ 80 h 704"/>
                  <a:gd name="T44" fmla="*/ 732 w 848"/>
                  <a:gd name="T45" fmla="*/ 103 h 704"/>
                  <a:gd name="T46" fmla="*/ 773 w 848"/>
                  <a:gd name="T47" fmla="*/ 173 h 704"/>
                  <a:gd name="T48" fmla="*/ 770 w 848"/>
                  <a:gd name="T49" fmla="*/ 255 h 704"/>
                  <a:gd name="T50" fmla="*/ 762 w 848"/>
                  <a:gd name="T51" fmla="*/ 302 h 704"/>
                  <a:gd name="T52" fmla="*/ 790 w 848"/>
                  <a:gd name="T53" fmla="*/ 326 h 704"/>
                  <a:gd name="T54" fmla="*/ 826 w 848"/>
                  <a:gd name="T55" fmla="*/ 307 h 704"/>
                  <a:gd name="T56" fmla="*/ 846 w 848"/>
                  <a:gd name="T57" fmla="*/ 222 h 704"/>
                  <a:gd name="T58" fmla="*/ 840 w 848"/>
                  <a:gd name="T59" fmla="*/ 135 h 704"/>
                  <a:gd name="T60" fmla="*/ 808 w 848"/>
                  <a:gd name="T61" fmla="*/ 72 h 704"/>
                  <a:gd name="T62" fmla="*/ 747 w 848"/>
                  <a:gd name="T63" fmla="*/ 23 h 704"/>
                  <a:gd name="T64" fmla="*/ 659 w 848"/>
                  <a:gd name="T65" fmla="*/ 1 h 704"/>
                  <a:gd name="T66" fmla="*/ 559 w 848"/>
                  <a:gd name="T67" fmla="*/ 17 h 704"/>
                  <a:gd name="T68" fmla="*/ 485 w 848"/>
                  <a:gd name="T69" fmla="*/ 76 h 704"/>
                  <a:gd name="T70" fmla="*/ 440 w 848"/>
                  <a:gd name="T71" fmla="*/ 144 h 704"/>
                  <a:gd name="T72" fmla="*/ 421 w 848"/>
                  <a:gd name="T73" fmla="*/ 187 h 704"/>
                  <a:gd name="T74" fmla="*/ 426 w 848"/>
                  <a:gd name="T75" fmla="*/ 181 h 704"/>
                  <a:gd name="T76" fmla="*/ 402 w 848"/>
                  <a:gd name="T77" fmla="*/ 129 h 704"/>
                  <a:gd name="T78" fmla="*/ 349 w 848"/>
                  <a:gd name="T79" fmla="*/ 60 h 704"/>
                  <a:gd name="T80" fmla="*/ 268 w 848"/>
                  <a:gd name="T81" fmla="*/ 9 h 704"/>
                  <a:gd name="T82" fmla="*/ 162 w 848"/>
                  <a:gd name="T83" fmla="*/ 5 h 704"/>
                  <a:gd name="T84" fmla="*/ 78 w 848"/>
                  <a:gd name="T85" fmla="*/ 37 h 704"/>
                  <a:gd name="T86" fmla="*/ 27 w 848"/>
                  <a:gd name="T87" fmla="*/ 92 h 704"/>
                  <a:gd name="T88" fmla="*/ 2 w 848"/>
                  <a:gd name="T89" fmla="*/ 158 h 704"/>
                  <a:gd name="T90" fmla="*/ 11 w 848"/>
                  <a:gd name="T91" fmla="*/ 279 h 704"/>
                  <a:gd name="T92" fmla="*/ 88 w 848"/>
                  <a:gd name="T93" fmla="*/ 440 h 704"/>
                  <a:gd name="T94" fmla="*/ 208 w 848"/>
                  <a:gd name="T95" fmla="*/ 572 h 704"/>
                  <a:gd name="T96" fmla="*/ 332 w 848"/>
                  <a:gd name="T97" fmla="*/ 666 h 704"/>
                  <a:gd name="T98" fmla="*/ 402 w 848"/>
                  <a:gd name="T99" fmla="*/ 702 h 704"/>
                  <a:gd name="T100" fmla="*/ 445 w 848"/>
                  <a:gd name="T101" fmla="*/ 703 h 704"/>
                  <a:gd name="T102" fmla="*/ 487 w 848"/>
                  <a:gd name="T103" fmla="*/ 683 h 704"/>
                  <a:gd name="T104" fmla="*/ 543 w 848"/>
                  <a:gd name="T105" fmla="*/ 648 h 704"/>
                  <a:gd name="T106" fmla="*/ 610 w 848"/>
                  <a:gd name="T107" fmla="*/ 598 h 704"/>
                  <a:gd name="T108" fmla="*/ 680 w 848"/>
                  <a:gd name="T109" fmla="*/ 534 h 704"/>
                  <a:gd name="T110" fmla="*/ 730 w 848"/>
                  <a:gd name="T111" fmla="*/ 471 h 704"/>
                  <a:gd name="T112" fmla="*/ 721 w 848"/>
                  <a:gd name="T113" fmla="*/ 443 h 704"/>
                  <a:gd name="T114" fmla="*/ 693 w 848"/>
                  <a:gd name="T115" fmla="*/ 437 h 704"/>
                  <a:gd name="T116" fmla="*/ 669 w 848"/>
                  <a:gd name="T117" fmla="*/ 446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48" h="704">
                    <a:moveTo>
                      <a:pt x="659" y="456"/>
                    </a:moveTo>
                    <a:lnTo>
                      <a:pt x="644" y="471"/>
                    </a:lnTo>
                    <a:lnTo>
                      <a:pt x="630" y="487"/>
                    </a:lnTo>
                    <a:lnTo>
                      <a:pt x="615" y="503"/>
                    </a:lnTo>
                    <a:lnTo>
                      <a:pt x="600" y="518"/>
                    </a:lnTo>
                    <a:lnTo>
                      <a:pt x="585" y="531"/>
                    </a:lnTo>
                    <a:lnTo>
                      <a:pt x="572" y="545"/>
                    </a:lnTo>
                    <a:lnTo>
                      <a:pt x="557" y="557"/>
                    </a:lnTo>
                    <a:lnTo>
                      <a:pt x="544" y="568"/>
                    </a:lnTo>
                    <a:lnTo>
                      <a:pt x="529" y="579"/>
                    </a:lnTo>
                    <a:lnTo>
                      <a:pt x="517" y="590"/>
                    </a:lnTo>
                    <a:lnTo>
                      <a:pt x="505" y="599"/>
                    </a:lnTo>
                    <a:lnTo>
                      <a:pt x="492" y="607"/>
                    </a:lnTo>
                    <a:lnTo>
                      <a:pt x="481" y="615"/>
                    </a:lnTo>
                    <a:lnTo>
                      <a:pt x="470" y="621"/>
                    </a:lnTo>
                    <a:lnTo>
                      <a:pt x="462" y="626"/>
                    </a:lnTo>
                    <a:lnTo>
                      <a:pt x="453" y="631"/>
                    </a:lnTo>
                    <a:lnTo>
                      <a:pt x="446" y="633"/>
                    </a:lnTo>
                    <a:lnTo>
                      <a:pt x="438" y="636"/>
                    </a:lnTo>
                    <a:lnTo>
                      <a:pt x="431" y="636"/>
                    </a:lnTo>
                    <a:lnTo>
                      <a:pt x="424" y="636"/>
                    </a:lnTo>
                    <a:lnTo>
                      <a:pt x="416" y="636"/>
                    </a:lnTo>
                    <a:lnTo>
                      <a:pt x="409" y="634"/>
                    </a:lnTo>
                    <a:lnTo>
                      <a:pt x="403" y="633"/>
                    </a:lnTo>
                    <a:lnTo>
                      <a:pt x="397" y="631"/>
                    </a:lnTo>
                    <a:lnTo>
                      <a:pt x="378" y="621"/>
                    </a:lnTo>
                    <a:lnTo>
                      <a:pt x="358" y="607"/>
                    </a:lnTo>
                    <a:lnTo>
                      <a:pt x="334" y="590"/>
                    </a:lnTo>
                    <a:lnTo>
                      <a:pt x="310" y="572"/>
                    </a:lnTo>
                    <a:lnTo>
                      <a:pt x="283" y="550"/>
                    </a:lnTo>
                    <a:lnTo>
                      <a:pt x="256" y="525"/>
                    </a:lnTo>
                    <a:lnTo>
                      <a:pt x="229" y="498"/>
                    </a:lnTo>
                    <a:lnTo>
                      <a:pt x="203" y="469"/>
                    </a:lnTo>
                    <a:lnTo>
                      <a:pt x="178" y="440"/>
                    </a:lnTo>
                    <a:lnTo>
                      <a:pt x="153" y="408"/>
                    </a:lnTo>
                    <a:lnTo>
                      <a:pt x="131" y="373"/>
                    </a:lnTo>
                    <a:lnTo>
                      <a:pt x="113" y="339"/>
                    </a:lnTo>
                    <a:lnTo>
                      <a:pt x="97" y="305"/>
                    </a:lnTo>
                    <a:lnTo>
                      <a:pt x="85" y="269"/>
                    </a:lnTo>
                    <a:lnTo>
                      <a:pt x="77" y="233"/>
                    </a:lnTo>
                    <a:lnTo>
                      <a:pt x="75" y="197"/>
                    </a:lnTo>
                    <a:lnTo>
                      <a:pt x="77" y="171"/>
                    </a:lnTo>
                    <a:lnTo>
                      <a:pt x="83" y="148"/>
                    </a:lnTo>
                    <a:lnTo>
                      <a:pt x="93" y="127"/>
                    </a:lnTo>
                    <a:lnTo>
                      <a:pt x="107" y="110"/>
                    </a:lnTo>
                    <a:lnTo>
                      <a:pt x="116" y="102"/>
                    </a:lnTo>
                    <a:lnTo>
                      <a:pt x="127" y="94"/>
                    </a:lnTo>
                    <a:lnTo>
                      <a:pt x="140" y="88"/>
                    </a:lnTo>
                    <a:lnTo>
                      <a:pt x="153" y="82"/>
                    </a:lnTo>
                    <a:lnTo>
                      <a:pt x="167" y="78"/>
                    </a:lnTo>
                    <a:lnTo>
                      <a:pt x="182" y="76"/>
                    </a:lnTo>
                    <a:lnTo>
                      <a:pt x="198" y="73"/>
                    </a:lnTo>
                    <a:lnTo>
                      <a:pt x="217" y="73"/>
                    </a:lnTo>
                    <a:lnTo>
                      <a:pt x="246" y="78"/>
                    </a:lnTo>
                    <a:lnTo>
                      <a:pt x="273" y="92"/>
                    </a:lnTo>
                    <a:lnTo>
                      <a:pt x="299" y="113"/>
                    </a:lnTo>
                    <a:lnTo>
                      <a:pt x="322" y="137"/>
                    </a:lnTo>
                    <a:lnTo>
                      <a:pt x="343" y="164"/>
                    </a:lnTo>
                    <a:lnTo>
                      <a:pt x="360" y="191"/>
                    </a:lnTo>
                    <a:lnTo>
                      <a:pt x="375" y="217"/>
                    </a:lnTo>
                    <a:lnTo>
                      <a:pt x="386" y="238"/>
                    </a:lnTo>
                    <a:lnTo>
                      <a:pt x="389" y="244"/>
                    </a:lnTo>
                    <a:lnTo>
                      <a:pt x="394" y="249"/>
                    </a:lnTo>
                    <a:lnTo>
                      <a:pt x="398" y="253"/>
                    </a:lnTo>
                    <a:lnTo>
                      <a:pt x="404" y="257"/>
                    </a:lnTo>
                    <a:lnTo>
                      <a:pt x="409" y="261"/>
                    </a:lnTo>
                    <a:lnTo>
                      <a:pt x="414" y="263"/>
                    </a:lnTo>
                    <a:lnTo>
                      <a:pt x="420" y="264"/>
                    </a:lnTo>
                    <a:lnTo>
                      <a:pt x="425" y="264"/>
                    </a:lnTo>
                    <a:lnTo>
                      <a:pt x="431" y="264"/>
                    </a:lnTo>
                    <a:lnTo>
                      <a:pt x="437" y="263"/>
                    </a:lnTo>
                    <a:lnTo>
                      <a:pt x="442" y="261"/>
                    </a:lnTo>
                    <a:lnTo>
                      <a:pt x="447" y="257"/>
                    </a:lnTo>
                    <a:lnTo>
                      <a:pt x="452" y="253"/>
                    </a:lnTo>
                    <a:lnTo>
                      <a:pt x="457" y="249"/>
                    </a:lnTo>
                    <a:lnTo>
                      <a:pt x="461" y="244"/>
                    </a:lnTo>
                    <a:lnTo>
                      <a:pt x="464" y="238"/>
                    </a:lnTo>
                    <a:lnTo>
                      <a:pt x="475" y="217"/>
                    </a:lnTo>
                    <a:lnTo>
                      <a:pt x="491" y="191"/>
                    </a:lnTo>
                    <a:lnTo>
                      <a:pt x="508" y="164"/>
                    </a:lnTo>
                    <a:lnTo>
                      <a:pt x="530" y="137"/>
                    </a:lnTo>
                    <a:lnTo>
                      <a:pt x="554" y="113"/>
                    </a:lnTo>
                    <a:lnTo>
                      <a:pt x="579" y="92"/>
                    </a:lnTo>
                    <a:lnTo>
                      <a:pt x="606" y="78"/>
                    </a:lnTo>
                    <a:lnTo>
                      <a:pt x="636" y="73"/>
                    </a:lnTo>
                    <a:lnTo>
                      <a:pt x="653" y="75"/>
                    </a:lnTo>
                    <a:lnTo>
                      <a:pt x="668" y="76"/>
                    </a:lnTo>
                    <a:lnTo>
                      <a:pt x="683" y="80"/>
                    </a:lnTo>
                    <a:lnTo>
                      <a:pt x="697" y="83"/>
                    </a:lnTo>
                    <a:lnTo>
                      <a:pt x="709" y="88"/>
                    </a:lnTo>
                    <a:lnTo>
                      <a:pt x="721" y="96"/>
                    </a:lnTo>
                    <a:lnTo>
                      <a:pt x="732" y="103"/>
                    </a:lnTo>
                    <a:lnTo>
                      <a:pt x="742" y="111"/>
                    </a:lnTo>
                    <a:lnTo>
                      <a:pt x="757" y="129"/>
                    </a:lnTo>
                    <a:lnTo>
                      <a:pt x="767" y="149"/>
                    </a:lnTo>
                    <a:lnTo>
                      <a:pt x="773" y="173"/>
                    </a:lnTo>
                    <a:lnTo>
                      <a:pt x="775" y="197"/>
                    </a:lnTo>
                    <a:lnTo>
                      <a:pt x="775" y="216"/>
                    </a:lnTo>
                    <a:lnTo>
                      <a:pt x="774" y="235"/>
                    </a:lnTo>
                    <a:lnTo>
                      <a:pt x="770" y="255"/>
                    </a:lnTo>
                    <a:lnTo>
                      <a:pt x="764" y="273"/>
                    </a:lnTo>
                    <a:lnTo>
                      <a:pt x="761" y="283"/>
                    </a:lnTo>
                    <a:lnTo>
                      <a:pt x="761" y="293"/>
                    </a:lnTo>
                    <a:lnTo>
                      <a:pt x="762" y="302"/>
                    </a:lnTo>
                    <a:lnTo>
                      <a:pt x="767" y="311"/>
                    </a:lnTo>
                    <a:lnTo>
                      <a:pt x="773" y="318"/>
                    </a:lnTo>
                    <a:lnTo>
                      <a:pt x="781" y="323"/>
                    </a:lnTo>
                    <a:lnTo>
                      <a:pt x="790" y="326"/>
                    </a:lnTo>
                    <a:lnTo>
                      <a:pt x="800" y="326"/>
                    </a:lnTo>
                    <a:lnTo>
                      <a:pt x="810" y="322"/>
                    </a:lnTo>
                    <a:lnTo>
                      <a:pt x="818" y="316"/>
                    </a:lnTo>
                    <a:lnTo>
                      <a:pt x="826" y="307"/>
                    </a:lnTo>
                    <a:lnTo>
                      <a:pt x="832" y="296"/>
                    </a:lnTo>
                    <a:lnTo>
                      <a:pt x="839" y="274"/>
                    </a:lnTo>
                    <a:lnTo>
                      <a:pt x="844" y="249"/>
                    </a:lnTo>
                    <a:lnTo>
                      <a:pt x="846" y="222"/>
                    </a:lnTo>
                    <a:lnTo>
                      <a:pt x="848" y="191"/>
                    </a:lnTo>
                    <a:lnTo>
                      <a:pt x="846" y="171"/>
                    </a:lnTo>
                    <a:lnTo>
                      <a:pt x="844" y="153"/>
                    </a:lnTo>
                    <a:lnTo>
                      <a:pt x="840" y="135"/>
                    </a:lnTo>
                    <a:lnTo>
                      <a:pt x="834" y="118"/>
                    </a:lnTo>
                    <a:lnTo>
                      <a:pt x="827" y="102"/>
                    </a:lnTo>
                    <a:lnTo>
                      <a:pt x="818" y="86"/>
                    </a:lnTo>
                    <a:lnTo>
                      <a:pt x="808" y="72"/>
                    </a:lnTo>
                    <a:lnTo>
                      <a:pt x="796" y="59"/>
                    </a:lnTo>
                    <a:lnTo>
                      <a:pt x="781" y="45"/>
                    </a:lnTo>
                    <a:lnTo>
                      <a:pt x="764" y="33"/>
                    </a:lnTo>
                    <a:lnTo>
                      <a:pt x="747" y="23"/>
                    </a:lnTo>
                    <a:lnTo>
                      <a:pt x="726" y="15"/>
                    </a:lnTo>
                    <a:lnTo>
                      <a:pt x="705" y="9"/>
                    </a:lnTo>
                    <a:lnTo>
                      <a:pt x="682" y="4"/>
                    </a:lnTo>
                    <a:lnTo>
                      <a:pt x="659" y="1"/>
                    </a:lnTo>
                    <a:lnTo>
                      <a:pt x="633" y="0"/>
                    </a:lnTo>
                    <a:lnTo>
                      <a:pt x="606" y="2"/>
                    </a:lnTo>
                    <a:lnTo>
                      <a:pt x="582" y="9"/>
                    </a:lnTo>
                    <a:lnTo>
                      <a:pt x="559" y="17"/>
                    </a:lnTo>
                    <a:lnTo>
                      <a:pt x="538" y="29"/>
                    </a:lnTo>
                    <a:lnTo>
                      <a:pt x="518" y="44"/>
                    </a:lnTo>
                    <a:lnTo>
                      <a:pt x="501" y="60"/>
                    </a:lnTo>
                    <a:lnTo>
                      <a:pt x="485" y="76"/>
                    </a:lnTo>
                    <a:lnTo>
                      <a:pt x="472" y="94"/>
                    </a:lnTo>
                    <a:lnTo>
                      <a:pt x="459" y="111"/>
                    </a:lnTo>
                    <a:lnTo>
                      <a:pt x="448" y="129"/>
                    </a:lnTo>
                    <a:lnTo>
                      <a:pt x="440" y="144"/>
                    </a:lnTo>
                    <a:lnTo>
                      <a:pt x="432" y="159"/>
                    </a:lnTo>
                    <a:lnTo>
                      <a:pt x="427" y="171"/>
                    </a:lnTo>
                    <a:lnTo>
                      <a:pt x="424" y="181"/>
                    </a:lnTo>
                    <a:lnTo>
                      <a:pt x="421" y="187"/>
                    </a:lnTo>
                    <a:lnTo>
                      <a:pt x="420" y="190"/>
                    </a:lnTo>
                    <a:lnTo>
                      <a:pt x="430" y="190"/>
                    </a:lnTo>
                    <a:lnTo>
                      <a:pt x="429" y="187"/>
                    </a:lnTo>
                    <a:lnTo>
                      <a:pt x="426" y="181"/>
                    </a:lnTo>
                    <a:lnTo>
                      <a:pt x="423" y="171"/>
                    </a:lnTo>
                    <a:lnTo>
                      <a:pt x="418" y="159"/>
                    </a:lnTo>
                    <a:lnTo>
                      <a:pt x="410" y="144"/>
                    </a:lnTo>
                    <a:lnTo>
                      <a:pt x="402" y="129"/>
                    </a:lnTo>
                    <a:lnTo>
                      <a:pt x="391" y="111"/>
                    </a:lnTo>
                    <a:lnTo>
                      <a:pt x="378" y="94"/>
                    </a:lnTo>
                    <a:lnTo>
                      <a:pt x="365" y="76"/>
                    </a:lnTo>
                    <a:lnTo>
                      <a:pt x="349" y="60"/>
                    </a:lnTo>
                    <a:lnTo>
                      <a:pt x="332" y="44"/>
                    </a:lnTo>
                    <a:lnTo>
                      <a:pt x="312" y="29"/>
                    </a:lnTo>
                    <a:lnTo>
                      <a:pt x="292" y="17"/>
                    </a:lnTo>
                    <a:lnTo>
                      <a:pt x="268" y="9"/>
                    </a:lnTo>
                    <a:lnTo>
                      <a:pt x="244" y="2"/>
                    </a:lnTo>
                    <a:lnTo>
                      <a:pt x="217" y="0"/>
                    </a:lnTo>
                    <a:lnTo>
                      <a:pt x="189" y="1"/>
                    </a:lnTo>
                    <a:lnTo>
                      <a:pt x="162" y="5"/>
                    </a:lnTo>
                    <a:lnTo>
                      <a:pt x="137" y="10"/>
                    </a:lnTo>
                    <a:lnTo>
                      <a:pt x="116" y="17"/>
                    </a:lnTo>
                    <a:lnTo>
                      <a:pt x="96" y="27"/>
                    </a:lnTo>
                    <a:lnTo>
                      <a:pt x="78" y="37"/>
                    </a:lnTo>
                    <a:lnTo>
                      <a:pt x="62" y="49"/>
                    </a:lnTo>
                    <a:lnTo>
                      <a:pt x="49" y="62"/>
                    </a:lnTo>
                    <a:lnTo>
                      <a:pt x="37" y="77"/>
                    </a:lnTo>
                    <a:lnTo>
                      <a:pt x="27" y="92"/>
                    </a:lnTo>
                    <a:lnTo>
                      <a:pt x="18" y="108"/>
                    </a:lnTo>
                    <a:lnTo>
                      <a:pt x="11" y="124"/>
                    </a:lnTo>
                    <a:lnTo>
                      <a:pt x="6" y="141"/>
                    </a:lnTo>
                    <a:lnTo>
                      <a:pt x="2" y="158"/>
                    </a:lnTo>
                    <a:lnTo>
                      <a:pt x="1" y="174"/>
                    </a:lnTo>
                    <a:lnTo>
                      <a:pt x="0" y="191"/>
                    </a:lnTo>
                    <a:lnTo>
                      <a:pt x="2" y="235"/>
                    </a:lnTo>
                    <a:lnTo>
                      <a:pt x="11" y="279"/>
                    </a:lnTo>
                    <a:lnTo>
                      <a:pt x="24" y="322"/>
                    </a:lnTo>
                    <a:lnTo>
                      <a:pt x="43" y="362"/>
                    </a:lnTo>
                    <a:lnTo>
                      <a:pt x="64" y="402"/>
                    </a:lnTo>
                    <a:lnTo>
                      <a:pt x="88" y="440"/>
                    </a:lnTo>
                    <a:lnTo>
                      <a:pt x="116" y="476"/>
                    </a:lnTo>
                    <a:lnTo>
                      <a:pt x="146" y="511"/>
                    </a:lnTo>
                    <a:lnTo>
                      <a:pt x="176" y="542"/>
                    </a:lnTo>
                    <a:lnTo>
                      <a:pt x="208" y="572"/>
                    </a:lnTo>
                    <a:lnTo>
                      <a:pt x="240" y="600"/>
                    </a:lnTo>
                    <a:lnTo>
                      <a:pt x="272" y="625"/>
                    </a:lnTo>
                    <a:lnTo>
                      <a:pt x="303" y="647"/>
                    </a:lnTo>
                    <a:lnTo>
                      <a:pt x="332" y="666"/>
                    </a:lnTo>
                    <a:lnTo>
                      <a:pt x="360" y="682"/>
                    </a:lnTo>
                    <a:lnTo>
                      <a:pt x="385" y="696"/>
                    </a:lnTo>
                    <a:lnTo>
                      <a:pt x="393" y="699"/>
                    </a:lnTo>
                    <a:lnTo>
                      <a:pt x="402" y="702"/>
                    </a:lnTo>
                    <a:lnTo>
                      <a:pt x="412" y="703"/>
                    </a:lnTo>
                    <a:lnTo>
                      <a:pt x="423" y="704"/>
                    </a:lnTo>
                    <a:lnTo>
                      <a:pt x="434" y="704"/>
                    </a:lnTo>
                    <a:lnTo>
                      <a:pt x="445" y="703"/>
                    </a:lnTo>
                    <a:lnTo>
                      <a:pt x="456" y="699"/>
                    </a:lnTo>
                    <a:lnTo>
                      <a:pt x="465" y="696"/>
                    </a:lnTo>
                    <a:lnTo>
                      <a:pt x="475" y="691"/>
                    </a:lnTo>
                    <a:lnTo>
                      <a:pt x="487" y="683"/>
                    </a:lnTo>
                    <a:lnTo>
                      <a:pt x="500" y="676"/>
                    </a:lnTo>
                    <a:lnTo>
                      <a:pt x="513" y="667"/>
                    </a:lnTo>
                    <a:lnTo>
                      <a:pt x="528" y="659"/>
                    </a:lnTo>
                    <a:lnTo>
                      <a:pt x="543" y="648"/>
                    </a:lnTo>
                    <a:lnTo>
                      <a:pt x="559" y="637"/>
                    </a:lnTo>
                    <a:lnTo>
                      <a:pt x="576" y="625"/>
                    </a:lnTo>
                    <a:lnTo>
                      <a:pt x="592" y="612"/>
                    </a:lnTo>
                    <a:lnTo>
                      <a:pt x="610" y="598"/>
                    </a:lnTo>
                    <a:lnTo>
                      <a:pt x="627" y="583"/>
                    </a:lnTo>
                    <a:lnTo>
                      <a:pt x="644" y="567"/>
                    </a:lnTo>
                    <a:lnTo>
                      <a:pt x="663" y="551"/>
                    </a:lnTo>
                    <a:lnTo>
                      <a:pt x="680" y="534"/>
                    </a:lnTo>
                    <a:lnTo>
                      <a:pt x="697" y="516"/>
                    </a:lnTo>
                    <a:lnTo>
                      <a:pt x="714" y="497"/>
                    </a:lnTo>
                    <a:lnTo>
                      <a:pt x="725" y="482"/>
                    </a:lnTo>
                    <a:lnTo>
                      <a:pt x="730" y="471"/>
                    </a:lnTo>
                    <a:lnTo>
                      <a:pt x="731" y="462"/>
                    </a:lnTo>
                    <a:lnTo>
                      <a:pt x="730" y="454"/>
                    </a:lnTo>
                    <a:lnTo>
                      <a:pt x="726" y="448"/>
                    </a:lnTo>
                    <a:lnTo>
                      <a:pt x="721" y="443"/>
                    </a:lnTo>
                    <a:lnTo>
                      <a:pt x="714" y="440"/>
                    </a:lnTo>
                    <a:lnTo>
                      <a:pt x="707" y="437"/>
                    </a:lnTo>
                    <a:lnTo>
                      <a:pt x="701" y="437"/>
                    </a:lnTo>
                    <a:lnTo>
                      <a:pt x="693" y="437"/>
                    </a:lnTo>
                    <a:lnTo>
                      <a:pt x="687" y="438"/>
                    </a:lnTo>
                    <a:lnTo>
                      <a:pt x="681" y="440"/>
                    </a:lnTo>
                    <a:lnTo>
                      <a:pt x="675" y="442"/>
                    </a:lnTo>
                    <a:lnTo>
                      <a:pt x="669" y="446"/>
                    </a:lnTo>
                    <a:lnTo>
                      <a:pt x="664" y="451"/>
                    </a:lnTo>
                    <a:lnTo>
                      <a:pt x="659" y="456"/>
                    </a:lnTo>
                    <a:close/>
                  </a:path>
                </a:pathLst>
              </a:custGeom>
              <a:solidFill>
                <a:srgbClr val="99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9639" name="Freeform 23"/>
              <p:cNvSpPr/>
              <p:nvPr/>
            </p:nvSpPr>
            <p:spPr bwMode="auto">
              <a:xfrm>
                <a:off x="3073" y="1562"/>
                <a:ext cx="63" cy="35"/>
              </a:xfrm>
              <a:custGeom>
                <a:avLst/>
                <a:gdLst>
                  <a:gd name="T0" fmla="*/ 0 w 63"/>
                  <a:gd name="T1" fmla="*/ 12 h 35"/>
                  <a:gd name="T2" fmla="*/ 9 w 63"/>
                  <a:gd name="T3" fmla="*/ 12 h 35"/>
                  <a:gd name="T4" fmla="*/ 16 w 63"/>
                  <a:gd name="T5" fmla="*/ 13 h 35"/>
                  <a:gd name="T6" fmla="*/ 25 w 63"/>
                  <a:gd name="T7" fmla="*/ 14 h 35"/>
                  <a:gd name="T8" fmla="*/ 33 w 63"/>
                  <a:gd name="T9" fmla="*/ 17 h 35"/>
                  <a:gd name="T10" fmla="*/ 41 w 63"/>
                  <a:gd name="T11" fmla="*/ 21 h 35"/>
                  <a:gd name="T12" fmla="*/ 48 w 63"/>
                  <a:gd name="T13" fmla="*/ 24 h 35"/>
                  <a:gd name="T14" fmla="*/ 55 w 63"/>
                  <a:gd name="T15" fmla="*/ 29 h 35"/>
                  <a:gd name="T16" fmla="*/ 62 w 63"/>
                  <a:gd name="T17" fmla="*/ 35 h 35"/>
                  <a:gd name="T18" fmla="*/ 63 w 63"/>
                  <a:gd name="T19" fmla="*/ 18 h 35"/>
                  <a:gd name="T20" fmla="*/ 62 w 63"/>
                  <a:gd name="T21" fmla="*/ 17 h 35"/>
                  <a:gd name="T22" fmla="*/ 57 w 63"/>
                  <a:gd name="T23" fmla="*/ 16 h 35"/>
                  <a:gd name="T24" fmla="*/ 51 w 63"/>
                  <a:gd name="T25" fmla="*/ 12 h 35"/>
                  <a:gd name="T26" fmla="*/ 43 w 63"/>
                  <a:gd name="T27" fmla="*/ 8 h 35"/>
                  <a:gd name="T28" fmla="*/ 35 w 63"/>
                  <a:gd name="T29" fmla="*/ 5 h 35"/>
                  <a:gd name="T30" fmla="*/ 25 w 63"/>
                  <a:gd name="T31" fmla="*/ 2 h 35"/>
                  <a:gd name="T32" fmla="*/ 15 w 63"/>
                  <a:gd name="T33" fmla="*/ 0 h 35"/>
                  <a:gd name="T34" fmla="*/ 5 w 63"/>
                  <a:gd name="T35" fmla="*/ 0 h 35"/>
                  <a:gd name="T36" fmla="*/ 0 w 63"/>
                  <a:gd name="T37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3" h="35">
                    <a:moveTo>
                      <a:pt x="0" y="12"/>
                    </a:moveTo>
                    <a:lnTo>
                      <a:pt x="9" y="12"/>
                    </a:lnTo>
                    <a:lnTo>
                      <a:pt x="16" y="13"/>
                    </a:lnTo>
                    <a:lnTo>
                      <a:pt x="25" y="14"/>
                    </a:lnTo>
                    <a:lnTo>
                      <a:pt x="33" y="17"/>
                    </a:lnTo>
                    <a:lnTo>
                      <a:pt x="41" y="21"/>
                    </a:lnTo>
                    <a:lnTo>
                      <a:pt x="48" y="24"/>
                    </a:lnTo>
                    <a:lnTo>
                      <a:pt x="55" y="29"/>
                    </a:lnTo>
                    <a:lnTo>
                      <a:pt x="62" y="35"/>
                    </a:lnTo>
                    <a:lnTo>
                      <a:pt x="63" y="18"/>
                    </a:lnTo>
                    <a:lnTo>
                      <a:pt x="62" y="17"/>
                    </a:lnTo>
                    <a:lnTo>
                      <a:pt x="57" y="16"/>
                    </a:lnTo>
                    <a:lnTo>
                      <a:pt x="51" y="12"/>
                    </a:lnTo>
                    <a:lnTo>
                      <a:pt x="43" y="8"/>
                    </a:lnTo>
                    <a:lnTo>
                      <a:pt x="35" y="5"/>
                    </a:lnTo>
                    <a:lnTo>
                      <a:pt x="25" y="2"/>
                    </a:lnTo>
                    <a:lnTo>
                      <a:pt x="15" y="0"/>
                    </a:lnTo>
                    <a:lnTo>
                      <a:pt x="5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19640" name="Group 24"/>
              <p:cNvGrpSpPr/>
              <p:nvPr/>
            </p:nvGrpSpPr>
            <p:grpSpPr bwMode="auto">
              <a:xfrm>
                <a:off x="3490" y="1537"/>
                <a:ext cx="848" cy="704"/>
                <a:chOff x="3466" y="1537"/>
                <a:chExt cx="848" cy="704"/>
              </a:xfrm>
            </p:grpSpPr>
            <p:sp>
              <p:nvSpPr>
                <p:cNvPr id="1519641" name="Freeform 25"/>
                <p:cNvSpPr/>
                <p:nvPr/>
              </p:nvSpPr>
              <p:spPr bwMode="auto">
                <a:xfrm>
                  <a:off x="3473" y="1542"/>
                  <a:ext cx="417" cy="694"/>
                </a:xfrm>
                <a:custGeom>
                  <a:avLst/>
                  <a:gdLst>
                    <a:gd name="T0" fmla="*/ 183 w 417"/>
                    <a:gd name="T1" fmla="*/ 1 h 694"/>
                    <a:gd name="T2" fmla="*/ 137 w 417"/>
                    <a:gd name="T3" fmla="*/ 9 h 694"/>
                    <a:gd name="T4" fmla="*/ 96 w 417"/>
                    <a:gd name="T5" fmla="*/ 23 h 694"/>
                    <a:gd name="T6" fmla="*/ 64 w 417"/>
                    <a:gd name="T7" fmla="*/ 44 h 694"/>
                    <a:gd name="T8" fmla="*/ 39 w 417"/>
                    <a:gd name="T9" fmla="*/ 70 h 694"/>
                    <a:gd name="T10" fmla="*/ 19 w 417"/>
                    <a:gd name="T11" fmla="*/ 99 h 694"/>
                    <a:gd name="T12" fmla="*/ 7 w 417"/>
                    <a:gd name="T13" fmla="*/ 132 h 694"/>
                    <a:gd name="T14" fmla="*/ 1 w 417"/>
                    <a:gd name="T15" fmla="*/ 168 h 694"/>
                    <a:gd name="T16" fmla="*/ 3 w 417"/>
                    <a:gd name="T17" fmla="*/ 232 h 694"/>
                    <a:gd name="T18" fmla="*/ 25 w 417"/>
                    <a:gd name="T19" fmla="*/ 320 h 694"/>
                    <a:gd name="T20" fmla="*/ 66 w 417"/>
                    <a:gd name="T21" fmla="*/ 401 h 694"/>
                    <a:gd name="T22" fmla="*/ 118 w 417"/>
                    <a:gd name="T23" fmla="*/ 475 h 694"/>
                    <a:gd name="T24" fmla="*/ 180 w 417"/>
                    <a:gd name="T25" fmla="*/ 540 h 694"/>
                    <a:gd name="T26" fmla="*/ 243 w 417"/>
                    <a:gd name="T27" fmla="*/ 596 h 694"/>
                    <a:gd name="T28" fmla="*/ 303 w 417"/>
                    <a:gd name="T29" fmla="*/ 642 h 694"/>
                    <a:gd name="T30" fmla="*/ 357 w 417"/>
                    <a:gd name="T31" fmla="*/ 675 h 694"/>
                    <a:gd name="T32" fmla="*/ 383 w 417"/>
                    <a:gd name="T33" fmla="*/ 687 h 694"/>
                    <a:gd name="T34" fmla="*/ 392 w 417"/>
                    <a:gd name="T35" fmla="*/ 691 h 694"/>
                    <a:gd name="T36" fmla="*/ 401 w 417"/>
                    <a:gd name="T37" fmla="*/ 693 h 694"/>
                    <a:gd name="T38" fmla="*/ 412 w 417"/>
                    <a:gd name="T39" fmla="*/ 694 h 694"/>
                    <a:gd name="T40" fmla="*/ 417 w 417"/>
                    <a:gd name="T41" fmla="*/ 637 h 694"/>
                    <a:gd name="T42" fmla="*/ 400 w 417"/>
                    <a:gd name="T43" fmla="*/ 636 h 694"/>
                    <a:gd name="T44" fmla="*/ 387 w 417"/>
                    <a:gd name="T45" fmla="*/ 631 h 694"/>
                    <a:gd name="T46" fmla="*/ 347 w 417"/>
                    <a:gd name="T47" fmla="*/ 607 h 694"/>
                    <a:gd name="T48" fmla="*/ 300 w 417"/>
                    <a:gd name="T49" fmla="*/ 572 h 694"/>
                    <a:gd name="T50" fmla="*/ 246 w 417"/>
                    <a:gd name="T51" fmla="*/ 525 h 694"/>
                    <a:gd name="T52" fmla="*/ 192 w 417"/>
                    <a:gd name="T53" fmla="*/ 469 h 694"/>
                    <a:gd name="T54" fmla="*/ 142 w 417"/>
                    <a:gd name="T55" fmla="*/ 407 h 694"/>
                    <a:gd name="T56" fmla="*/ 100 w 417"/>
                    <a:gd name="T57" fmla="*/ 338 h 694"/>
                    <a:gd name="T58" fmla="*/ 72 w 417"/>
                    <a:gd name="T59" fmla="*/ 266 h 694"/>
                    <a:gd name="T60" fmla="*/ 62 w 417"/>
                    <a:gd name="T61" fmla="*/ 192 h 694"/>
                    <a:gd name="T62" fmla="*/ 72 w 417"/>
                    <a:gd name="T63" fmla="*/ 140 h 694"/>
                    <a:gd name="T64" fmla="*/ 99 w 417"/>
                    <a:gd name="T65" fmla="*/ 98 h 694"/>
                    <a:gd name="T66" fmla="*/ 145 w 417"/>
                    <a:gd name="T67" fmla="*/ 72 h 694"/>
                    <a:gd name="T68" fmla="*/ 209 w 417"/>
                    <a:gd name="T69" fmla="*/ 64 h 694"/>
                    <a:gd name="T70" fmla="*/ 262 w 417"/>
                    <a:gd name="T71" fmla="*/ 80 h 694"/>
                    <a:gd name="T72" fmla="*/ 309 w 417"/>
                    <a:gd name="T73" fmla="*/ 119 h 694"/>
                    <a:gd name="T74" fmla="*/ 350 w 417"/>
                    <a:gd name="T75" fmla="*/ 173 h 694"/>
                    <a:gd name="T76" fmla="*/ 383 w 417"/>
                    <a:gd name="T77" fmla="*/ 230 h 694"/>
                    <a:gd name="T78" fmla="*/ 399 w 417"/>
                    <a:gd name="T79" fmla="*/ 247 h 694"/>
                    <a:gd name="T80" fmla="*/ 417 w 417"/>
                    <a:gd name="T81" fmla="*/ 254 h 694"/>
                    <a:gd name="T82" fmla="*/ 416 w 417"/>
                    <a:gd name="T83" fmla="*/ 184 h 694"/>
                    <a:gd name="T84" fmla="*/ 410 w 417"/>
                    <a:gd name="T85" fmla="*/ 169 h 694"/>
                    <a:gd name="T86" fmla="*/ 398 w 417"/>
                    <a:gd name="T87" fmla="*/ 143 h 694"/>
                    <a:gd name="T88" fmla="*/ 379 w 417"/>
                    <a:gd name="T89" fmla="*/ 110 h 694"/>
                    <a:gd name="T90" fmla="*/ 354 w 417"/>
                    <a:gd name="T91" fmla="*/ 76 h 694"/>
                    <a:gd name="T92" fmla="*/ 322 w 417"/>
                    <a:gd name="T93" fmla="*/ 43 h 694"/>
                    <a:gd name="T94" fmla="*/ 282 w 417"/>
                    <a:gd name="T95" fmla="*/ 17 h 694"/>
                    <a:gd name="T96" fmla="*/ 235 w 417"/>
                    <a:gd name="T97" fmla="*/ 3 h 6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17" h="694">
                      <a:moveTo>
                        <a:pt x="209" y="0"/>
                      </a:moveTo>
                      <a:lnTo>
                        <a:pt x="183" y="1"/>
                      </a:lnTo>
                      <a:lnTo>
                        <a:pt x="159" y="4"/>
                      </a:lnTo>
                      <a:lnTo>
                        <a:pt x="137" y="9"/>
                      </a:lnTo>
                      <a:lnTo>
                        <a:pt x="116" y="15"/>
                      </a:lnTo>
                      <a:lnTo>
                        <a:pt x="96" y="23"/>
                      </a:lnTo>
                      <a:lnTo>
                        <a:pt x="79" y="33"/>
                      </a:lnTo>
                      <a:lnTo>
                        <a:pt x="64" y="44"/>
                      </a:lnTo>
                      <a:lnTo>
                        <a:pt x="51" y="56"/>
                      </a:lnTo>
                      <a:lnTo>
                        <a:pt x="39" y="70"/>
                      </a:lnTo>
                      <a:lnTo>
                        <a:pt x="28" y="85"/>
                      </a:lnTo>
                      <a:lnTo>
                        <a:pt x="19" y="99"/>
                      </a:lnTo>
                      <a:lnTo>
                        <a:pt x="12" y="115"/>
                      </a:lnTo>
                      <a:lnTo>
                        <a:pt x="7" y="132"/>
                      </a:lnTo>
                      <a:lnTo>
                        <a:pt x="3" y="150"/>
                      </a:lnTo>
                      <a:lnTo>
                        <a:pt x="1" y="168"/>
                      </a:lnTo>
                      <a:lnTo>
                        <a:pt x="0" y="186"/>
                      </a:lnTo>
                      <a:lnTo>
                        <a:pt x="3" y="232"/>
                      </a:lnTo>
                      <a:lnTo>
                        <a:pt x="12" y="276"/>
                      </a:lnTo>
                      <a:lnTo>
                        <a:pt x="25" y="320"/>
                      </a:lnTo>
                      <a:lnTo>
                        <a:pt x="44" y="360"/>
                      </a:lnTo>
                      <a:lnTo>
                        <a:pt x="66" y="401"/>
                      </a:lnTo>
                      <a:lnTo>
                        <a:pt x="91" y="439"/>
                      </a:lnTo>
                      <a:lnTo>
                        <a:pt x="118" y="475"/>
                      </a:lnTo>
                      <a:lnTo>
                        <a:pt x="149" y="508"/>
                      </a:lnTo>
                      <a:lnTo>
                        <a:pt x="180" y="540"/>
                      </a:lnTo>
                      <a:lnTo>
                        <a:pt x="211" y="570"/>
                      </a:lnTo>
                      <a:lnTo>
                        <a:pt x="243" y="596"/>
                      </a:lnTo>
                      <a:lnTo>
                        <a:pt x="274" y="620"/>
                      </a:lnTo>
                      <a:lnTo>
                        <a:pt x="303" y="642"/>
                      </a:lnTo>
                      <a:lnTo>
                        <a:pt x="331" y="659"/>
                      </a:lnTo>
                      <a:lnTo>
                        <a:pt x="357" y="675"/>
                      </a:lnTo>
                      <a:lnTo>
                        <a:pt x="379" y="686"/>
                      </a:lnTo>
                      <a:lnTo>
                        <a:pt x="383" y="687"/>
                      </a:lnTo>
                      <a:lnTo>
                        <a:pt x="388" y="690"/>
                      </a:lnTo>
                      <a:lnTo>
                        <a:pt x="392" y="691"/>
                      </a:lnTo>
                      <a:lnTo>
                        <a:pt x="396" y="692"/>
                      </a:lnTo>
                      <a:lnTo>
                        <a:pt x="401" y="693"/>
                      </a:lnTo>
                      <a:lnTo>
                        <a:pt x="406" y="693"/>
                      </a:lnTo>
                      <a:lnTo>
                        <a:pt x="412" y="694"/>
                      </a:lnTo>
                      <a:lnTo>
                        <a:pt x="417" y="694"/>
                      </a:lnTo>
                      <a:lnTo>
                        <a:pt x="417" y="637"/>
                      </a:lnTo>
                      <a:lnTo>
                        <a:pt x="409" y="637"/>
                      </a:lnTo>
                      <a:lnTo>
                        <a:pt x="400" y="636"/>
                      </a:lnTo>
                      <a:lnTo>
                        <a:pt x="393" y="633"/>
                      </a:lnTo>
                      <a:lnTo>
                        <a:pt x="387" y="631"/>
                      </a:lnTo>
                      <a:lnTo>
                        <a:pt x="368" y="621"/>
                      </a:lnTo>
                      <a:lnTo>
                        <a:pt x="347" y="607"/>
                      </a:lnTo>
                      <a:lnTo>
                        <a:pt x="324" y="592"/>
                      </a:lnTo>
                      <a:lnTo>
                        <a:pt x="300" y="572"/>
                      </a:lnTo>
                      <a:lnTo>
                        <a:pt x="273" y="550"/>
                      </a:lnTo>
                      <a:lnTo>
                        <a:pt x="246" y="525"/>
                      </a:lnTo>
                      <a:lnTo>
                        <a:pt x="219" y="499"/>
                      </a:lnTo>
                      <a:lnTo>
                        <a:pt x="192" y="469"/>
                      </a:lnTo>
                      <a:lnTo>
                        <a:pt x="166" y="439"/>
                      </a:lnTo>
                      <a:lnTo>
                        <a:pt x="142" y="407"/>
                      </a:lnTo>
                      <a:lnTo>
                        <a:pt x="120" y="372"/>
                      </a:lnTo>
                      <a:lnTo>
                        <a:pt x="100" y="338"/>
                      </a:lnTo>
                      <a:lnTo>
                        <a:pt x="84" y="303"/>
                      </a:lnTo>
                      <a:lnTo>
                        <a:pt x="72" y="266"/>
                      </a:lnTo>
                      <a:lnTo>
                        <a:pt x="64" y="229"/>
                      </a:lnTo>
                      <a:lnTo>
                        <a:pt x="62" y="192"/>
                      </a:lnTo>
                      <a:lnTo>
                        <a:pt x="64" y="164"/>
                      </a:lnTo>
                      <a:lnTo>
                        <a:pt x="72" y="140"/>
                      </a:lnTo>
                      <a:lnTo>
                        <a:pt x="83" y="118"/>
                      </a:lnTo>
                      <a:lnTo>
                        <a:pt x="99" y="98"/>
                      </a:lnTo>
                      <a:lnTo>
                        <a:pt x="120" y="83"/>
                      </a:lnTo>
                      <a:lnTo>
                        <a:pt x="145" y="72"/>
                      </a:lnTo>
                      <a:lnTo>
                        <a:pt x="175" y="66"/>
                      </a:lnTo>
                      <a:lnTo>
                        <a:pt x="209" y="64"/>
                      </a:lnTo>
                      <a:lnTo>
                        <a:pt x="236" y="67"/>
                      </a:lnTo>
                      <a:lnTo>
                        <a:pt x="262" y="80"/>
                      </a:lnTo>
                      <a:lnTo>
                        <a:pt x="286" y="97"/>
                      </a:lnTo>
                      <a:lnTo>
                        <a:pt x="309" y="119"/>
                      </a:lnTo>
                      <a:lnTo>
                        <a:pt x="330" y="145"/>
                      </a:lnTo>
                      <a:lnTo>
                        <a:pt x="350" y="173"/>
                      </a:lnTo>
                      <a:lnTo>
                        <a:pt x="367" y="202"/>
                      </a:lnTo>
                      <a:lnTo>
                        <a:pt x="383" y="230"/>
                      </a:lnTo>
                      <a:lnTo>
                        <a:pt x="390" y="240"/>
                      </a:lnTo>
                      <a:lnTo>
                        <a:pt x="399" y="247"/>
                      </a:lnTo>
                      <a:lnTo>
                        <a:pt x="407" y="252"/>
                      </a:lnTo>
                      <a:lnTo>
                        <a:pt x="417" y="254"/>
                      </a:lnTo>
                      <a:lnTo>
                        <a:pt x="417" y="186"/>
                      </a:lnTo>
                      <a:lnTo>
                        <a:pt x="416" y="184"/>
                      </a:lnTo>
                      <a:lnTo>
                        <a:pt x="415" y="178"/>
                      </a:lnTo>
                      <a:lnTo>
                        <a:pt x="410" y="169"/>
                      </a:lnTo>
                      <a:lnTo>
                        <a:pt x="405" y="157"/>
                      </a:lnTo>
                      <a:lnTo>
                        <a:pt x="398" y="143"/>
                      </a:lnTo>
                      <a:lnTo>
                        <a:pt x="389" y="127"/>
                      </a:lnTo>
                      <a:lnTo>
                        <a:pt x="379" y="110"/>
                      </a:lnTo>
                      <a:lnTo>
                        <a:pt x="367" y="93"/>
                      </a:lnTo>
                      <a:lnTo>
                        <a:pt x="354" y="76"/>
                      </a:lnTo>
                      <a:lnTo>
                        <a:pt x="339" y="59"/>
                      </a:lnTo>
                      <a:lnTo>
                        <a:pt x="322" y="43"/>
                      </a:lnTo>
                      <a:lnTo>
                        <a:pt x="302" y="30"/>
                      </a:lnTo>
                      <a:lnTo>
                        <a:pt x="282" y="17"/>
                      </a:lnTo>
                      <a:lnTo>
                        <a:pt x="259" y="9"/>
                      </a:lnTo>
                      <a:lnTo>
                        <a:pt x="235" y="3"/>
                      </a:lnTo>
                      <a:lnTo>
                        <a:pt x="209" y="0"/>
                      </a:lnTo>
                      <a:close/>
                    </a:path>
                  </a:pathLst>
                </a:custGeom>
                <a:solidFill>
                  <a:srgbClr val="F7B2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42" name="Freeform 26"/>
                <p:cNvSpPr/>
                <p:nvPr/>
              </p:nvSpPr>
              <p:spPr bwMode="auto">
                <a:xfrm>
                  <a:off x="3697" y="1560"/>
                  <a:ext cx="63" cy="36"/>
                </a:xfrm>
                <a:custGeom>
                  <a:avLst/>
                  <a:gdLst>
                    <a:gd name="T0" fmla="*/ 0 w 63"/>
                    <a:gd name="T1" fmla="*/ 13 h 36"/>
                    <a:gd name="T2" fmla="*/ 8 w 63"/>
                    <a:gd name="T3" fmla="*/ 13 h 36"/>
                    <a:gd name="T4" fmla="*/ 16 w 63"/>
                    <a:gd name="T5" fmla="*/ 14 h 36"/>
                    <a:gd name="T6" fmla="*/ 24 w 63"/>
                    <a:gd name="T7" fmla="*/ 15 h 36"/>
                    <a:gd name="T8" fmla="*/ 33 w 63"/>
                    <a:gd name="T9" fmla="*/ 18 h 36"/>
                    <a:gd name="T10" fmla="*/ 40 w 63"/>
                    <a:gd name="T11" fmla="*/ 21 h 36"/>
                    <a:gd name="T12" fmla="*/ 47 w 63"/>
                    <a:gd name="T13" fmla="*/ 25 h 36"/>
                    <a:gd name="T14" fmla="*/ 55 w 63"/>
                    <a:gd name="T15" fmla="*/ 30 h 36"/>
                    <a:gd name="T16" fmla="*/ 61 w 63"/>
                    <a:gd name="T17" fmla="*/ 36 h 36"/>
                    <a:gd name="T18" fmla="*/ 63 w 63"/>
                    <a:gd name="T19" fmla="*/ 19 h 36"/>
                    <a:gd name="T20" fmla="*/ 62 w 63"/>
                    <a:gd name="T21" fmla="*/ 18 h 36"/>
                    <a:gd name="T22" fmla="*/ 57 w 63"/>
                    <a:gd name="T23" fmla="*/ 15 h 36"/>
                    <a:gd name="T24" fmla="*/ 51 w 63"/>
                    <a:gd name="T25" fmla="*/ 13 h 36"/>
                    <a:gd name="T26" fmla="*/ 44 w 63"/>
                    <a:gd name="T27" fmla="*/ 9 h 36"/>
                    <a:gd name="T28" fmla="*/ 34 w 63"/>
                    <a:gd name="T29" fmla="*/ 5 h 36"/>
                    <a:gd name="T30" fmla="*/ 24 w 63"/>
                    <a:gd name="T31" fmla="*/ 2 h 36"/>
                    <a:gd name="T32" fmla="*/ 14 w 63"/>
                    <a:gd name="T33" fmla="*/ 0 h 36"/>
                    <a:gd name="T34" fmla="*/ 5 w 63"/>
                    <a:gd name="T35" fmla="*/ 0 h 36"/>
                    <a:gd name="T36" fmla="*/ 0 w 63"/>
                    <a:gd name="T37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3" h="36">
                      <a:moveTo>
                        <a:pt x="0" y="13"/>
                      </a:moveTo>
                      <a:lnTo>
                        <a:pt x="8" y="13"/>
                      </a:lnTo>
                      <a:lnTo>
                        <a:pt x="16" y="14"/>
                      </a:lnTo>
                      <a:lnTo>
                        <a:pt x="24" y="15"/>
                      </a:lnTo>
                      <a:lnTo>
                        <a:pt x="33" y="18"/>
                      </a:lnTo>
                      <a:lnTo>
                        <a:pt x="40" y="21"/>
                      </a:lnTo>
                      <a:lnTo>
                        <a:pt x="47" y="25"/>
                      </a:lnTo>
                      <a:lnTo>
                        <a:pt x="55" y="30"/>
                      </a:lnTo>
                      <a:lnTo>
                        <a:pt x="61" y="36"/>
                      </a:lnTo>
                      <a:lnTo>
                        <a:pt x="63" y="19"/>
                      </a:lnTo>
                      <a:lnTo>
                        <a:pt x="62" y="18"/>
                      </a:lnTo>
                      <a:lnTo>
                        <a:pt x="57" y="15"/>
                      </a:lnTo>
                      <a:lnTo>
                        <a:pt x="51" y="13"/>
                      </a:lnTo>
                      <a:lnTo>
                        <a:pt x="44" y="9"/>
                      </a:lnTo>
                      <a:lnTo>
                        <a:pt x="34" y="5"/>
                      </a:lnTo>
                      <a:lnTo>
                        <a:pt x="24" y="2"/>
                      </a:lnTo>
                      <a:lnTo>
                        <a:pt x="14" y="0"/>
                      </a:lnTo>
                      <a:lnTo>
                        <a:pt x="5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43" name="Freeform 27"/>
                <p:cNvSpPr/>
                <p:nvPr/>
              </p:nvSpPr>
              <p:spPr bwMode="auto">
                <a:xfrm>
                  <a:off x="4178" y="1575"/>
                  <a:ext cx="65" cy="43"/>
                </a:xfrm>
                <a:custGeom>
                  <a:avLst/>
                  <a:gdLst>
                    <a:gd name="T0" fmla="*/ 59 w 65"/>
                    <a:gd name="T1" fmla="*/ 43 h 43"/>
                    <a:gd name="T2" fmla="*/ 53 w 65"/>
                    <a:gd name="T3" fmla="*/ 37 h 43"/>
                    <a:gd name="T4" fmla="*/ 47 w 65"/>
                    <a:gd name="T5" fmla="*/ 32 h 43"/>
                    <a:gd name="T6" fmla="*/ 40 w 65"/>
                    <a:gd name="T7" fmla="*/ 27 h 43"/>
                    <a:gd name="T8" fmla="*/ 33 w 65"/>
                    <a:gd name="T9" fmla="*/ 22 h 43"/>
                    <a:gd name="T10" fmla="*/ 26 w 65"/>
                    <a:gd name="T11" fmla="*/ 19 h 43"/>
                    <a:gd name="T12" fmla="*/ 17 w 65"/>
                    <a:gd name="T13" fmla="*/ 15 h 43"/>
                    <a:gd name="T14" fmla="*/ 9 w 65"/>
                    <a:gd name="T15" fmla="*/ 14 h 43"/>
                    <a:gd name="T16" fmla="*/ 0 w 65"/>
                    <a:gd name="T17" fmla="*/ 12 h 43"/>
                    <a:gd name="T18" fmla="*/ 12 w 65"/>
                    <a:gd name="T19" fmla="*/ 0 h 43"/>
                    <a:gd name="T20" fmla="*/ 14 w 65"/>
                    <a:gd name="T21" fmla="*/ 0 h 43"/>
                    <a:gd name="T22" fmla="*/ 18 w 65"/>
                    <a:gd name="T23" fmla="*/ 3 h 43"/>
                    <a:gd name="T24" fmla="*/ 25 w 65"/>
                    <a:gd name="T25" fmla="*/ 5 h 43"/>
                    <a:gd name="T26" fmla="*/ 33 w 65"/>
                    <a:gd name="T27" fmla="*/ 8 h 43"/>
                    <a:gd name="T28" fmla="*/ 42 w 65"/>
                    <a:gd name="T29" fmla="*/ 12 h 43"/>
                    <a:gd name="T30" fmla="*/ 50 w 65"/>
                    <a:gd name="T31" fmla="*/ 17 h 43"/>
                    <a:gd name="T32" fmla="*/ 58 w 65"/>
                    <a:gd name="T33" fmla="*/ 23 h 43"/>
                    <a:gd name="T34" fmla="*/ 65 w 65"/>
                    <a:gd name="T35" fmla="*/ 31 h 43"/>
                    <a:gd name="T36" fmla="*/ 59 w 65"/>
                    <a:gd name="T37" fmla="*/ 43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5" h="43">
                      <a:moveTo>
                        <a:pt x="59" y="43"/>
                      </a:moveTo>
                      <a:lnTo>
                        <a:pt x="53" y="37"/>
                      </a:lnTo>
                      <a:lnTo>
                        <a:pt x="47" y="32"/>
                      </a:lnTo>
                      <a:lnTo>
                        <a:pt x="40" y="27"/>
                      </a:lnTo>
                      <a:lnTo>
                        <a:pt x="33" y="22"/>
                      </a:lnTo>
                      <a:lnTo>
                        <a:pt x="26" y="19"/>
                      </a:lnTo>
                      <a:lnTo>
                        <a:pt x="17" y="15"/>
                      </a:lnTo>
                      <a:lnTo>
                        <a:pt x="9" y="14"/>
                      </a:lnTo>
                      <a:lnTo>
                        <a:pt x="0" y="12"/>
                      </a:lnTo>
                      <a:lnTo>
                        <a:pt x="12" y="0"/>
                      </a:lnTo>
                      <a:lnTo>
                        <a:pt x="14" y="0"/>
                      </a:lnTo>
                      <a:lnTo>
                        <a:pt x="18" y="3"/>
                      </a:lnTo>
                      <a:lnTo>
                        <a:pt x="25" y="5"/>
                      </a:lnTo>
                      <a:lnTo>
                        <a:pt x="33" y="8"/>
                      </a:lnTo>
                      <a:lnTo>
                        <a:pt x="42" y="12"/>
                      </a:lnTo>
                      <a:lnTo>
                        <a:pt x="50" y="17"/>
                      </a:lnTo>
                      <a:lnTo>
                        <a:pt x="58" y="23"/>
                      </a:lnTo>
                      <a:lnTo>
                        <a:pt x="65" y="31"/>
                      </a:lnTo>
                      <a:lnTo>
                        <a:pt x="59" y="4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44" name="Freeform 28"/>
                <p:cNvSpPr/>
                <p:nvPr/>
              </p:nvSpPr>
              <p:spPr bwMode="auto">
                <a:xfrm>
                  <a:off x="3466" y="1537"/>
                  <a:ext cx="425" cy="704"/>
                </a:xfrm>
                <a:custGeom>
                  <a:avLst/>
                  <a:gdLst>
                    <a:gd name="T0" fmla="*/ 424 w 425"/>
                    <a:gd name="T1" fmla="*/ 183 h 704"/>
                    <a:gd name="T2" fmla="*/ 418 w 425"/>
                    <a:gd name="T3" fmla="*/ 167 h 704"/>
                    <a:gd name="T4" fmla="*/ 406 w 425"/>
                    <a:gd name="T5" fmla="*/ 141 h 704"/>
                    <a:gd name="T6" fmla="*/ 387 w 425"/>
                    <a:gd name="T7" fmla="*/ 109 h 704"/>
                    <a:gd name="T8" fmla="*/ 362 w 425"/>
                    <a:gd name="T9" fmla="*/ 75 h 704"/>
                    <a:gd name="T10" fmla="*/ 330 w 425"/>
                    <a:gd name="T11" fmla="*/ 43 h 704"/>
                    <a:gd name="T12" fmla="*/ 289 w 425"/>
                    <a:gd name="T13" fmla="*/ 17 h 704"/>
                    <a:gd name="T14" fmla="*/ 243 w 425"/>
                    <a:gd name="T15" fmla="*/ 3 h 704"/>
                    <a:gd name="T16" fmla="*/ 188 w 425"/>
                    <a:gd name="T17" fmla="*/ 1 h 704"/>
                    <a:gd name="T18" fmla="*/ 136 w 425"/>
                    <a:gd name="T19" fmla="*/ 10 h 704"/>
                    <a:gd name="T20" fmla="*/ 96 w 425"/>
                    <a:gd name="T21" fmla="*/ 27 h 704"/>
                    <a:gd name="T22" fmla="*/ 62 w 425"/>
                    <a:gd name="T23" fmla="*/ 49 h 704"/>
                    <a:gd name="T24" fmla="*/ 37 w 425"/>
                    <a:gd name="T25" fmla="*/ 77 h 704"/>
                    <a:gd name="T26" fmla="*/ 19 w 425"/>
                    <a:gd name="T27" fmla="*/ 108 h 704"/>
                    <a:gd name="T28" fmla="*/ 7 w 425"/>
                    <a:gd name="T29" fmla="*/ 141 h 704"/>
                    <a:gd name="T30" fmla="*/ 2 w 425"/>
                    <a:gd name="T31" fmla="*/ 174 h 704"/>
                    <a:gd name="T32" fmla="*/ 3 w 425"/>
                    <a:gd name="T33" fmla="*/ 235 h 704"/>
                    <a:gd name="T34" fmla="*/ 25 w 425"/>
                    <a:gd name="T35" fmla="*/ 322 h 704"/>
                    <a:gd name="T36" fmla="*/ 64 w 425"/>
                    <a:gd name="T37" fmla="*/ 402 h 704"/>
                    <a:gd name="T38" fmla="*/ 116 w 425"/>
                    <a:gd name="T39" fmla="*/ 477 h 704"/>
                    <a:gd name="T40" fmla="*/ 176 w 425"/>
                    <a:gd name="T41" fmla="*/ 543 h 704"/>
                    <a:gd name="T42" fmla="*/ 239 w 425"/>
                    <a:gd name="T43" fmla="*/ 600 h 704"/>
                    <a:gd name="T44" fmla="*/ 302 w 425"/>
                    <a:gd name="T45" fmla="*/ 647 h 704"/>
                    <a:gd name="T46" fmla="*/ 359 w 425"/>
                    <a:gd name="T47" fmla="*/ 682 h 704"/>
                    <a:gd name="T48" fmla="*/ 389 w 425"/>
                    <a:gd name="T49" fmla="*/ 697 h 704"/>
                    <a:gd name="T50" fmla="*/ 397 w 425"/>
                    <a:gd name="T51" fmla="*/ 701 h 704"/>
                    <a:gd name="T52" fmla="*/ 408 w 425"/>
                    <a:gd name="T53" fmla="*/ 703 h 704"/>
                    <a:gd name="T54" fmla="*/ 419 w 425"/>
                    <a:gd name="T55" fmla="*/ 704 h 704"/>
                    <a:gd name="T56" fmla="*/ 424 w 425"/>
                    <a:gd name="T57" fmla="*/ 693 h 704"/>
                    <a:gd name="T58" fmla="*/ 405 w 425"/>
                    <a:gd name="T59" fmla="*/ 691 h 704"/>
                    <a:gd name="T60" fmla="*/ 389 w 425"/>
                    <a:gd name="T61" fmla="*/ 686 h 704"/>
                    <a:gd name="T62" fmla="*/ 337 w 425"/>
                    <a:gd name="T63" fmla="*/ 657 h 704"/>
                    <a:gd name="T64" fmla="*/ 277 w 425"/>
                    <a:gd name="T65" fmla="*/ 616 h 704"/>
                    <a:gd name="T66" fmla="*/ 215 w 425"/>
                    <a:gd name="T67" fmla="*/ 565 h 704"/>
                    <a:gd name="T68" fmla="*/ 154 w 425"/>
                    <a:gd name="T69" fmla="*/ 505 h 704"/>
                    <a:gd name="T70" fmla="*/ 98 w 425"/>
                    <a:gd name="T71" fmla="*/ 435 h 704"/>
                    <a:gd name="T72" fmla="*/ 53 w 425"/>
                    <a:gd name="T73" fmla="*/ 359 h 704"/>
                    <a:gd name="T74" fmla="*/ 22 w 425"/>
                    <a:gd name="T75" fmla="*/ 277 h 704"/>
                    <a:gd name="T76" fmla="*/ 11 w 425"/>
                    <a:gd name="T77" fmla="*/ 191 h 704"/>
                    <a:gd name="T78" fmla="*/ 15 w 425"/>
                    <a:gd name="T79" fmla="*/ 156 h 704"/>
                    <a:gd name="T80" fmla="*/ 24 w 425"/>
                    <a:gd name="T81" fmla="*/ 123 h 704"/>
                    <a:gd name="T82" fmla="*/ 40 w 425"/>
                    <a:gd name="T83" fmla="*/ 92 h 704"/>
                    <a:gd name="T84" fmla="*/ 60 w 425"/>
                    <a:gd name="T85" fmla="*/ 66 h 704"/>
                    <a:gd name="T86" fmla="*/ 91 w 425"/>
                    <a:gd name="T87" fmla="*/ 42 h 704"/>
                    <a:gd name="T88" fmla="*/ 128 w 425"/>
                    <a:gd name="T89" fmla="*/ 25 h 704"/>
                    <a:gd name="T90" fmla="*/ 169 w 425"/>
                    <a:gd name="T91" fmla="*/ 15 h 704"/>
                    <a:gd name="T92" fmla="*/ 216 w 425"/>
                    <a:gd name="T93" fmla="*/ 11 h 704"/>
                    <a:gd name="T94" fmla="*/ 265 w 425"/>
                    <a:gd name="T95" fmla="*/ 20 h 704"/>
                    <a:gd name="T96" fmla="*/ 307 w 425"/>
                    <a:gd name="T97" fmla="*/ 41 h 704"/>
                    <a:gd name="T98" fmla="*/ 343 w 425"/>
                    <a:gd name="T99" fmla="*/ 71 h 704"/>
                    <a:gd name="T100" fmla="*/ 373 w 425"/>
                    <a:gd name="T101" fmla="*/ 107 h 704"/>
                    <a:gd name="T102" fmla="*/ 395 w 425"/>
                    <a:gd name="T103" fmla="*/ 141 h 704"/>
                    <a:gd name="T104" fmla="*/ 412 w 425"/>
                    <a:gd name="T105" fmla="*/ 173 h 704"/>
                    <a:gd name="T106" fmla="*/ 422 w 425"/>
                    <a:gd name="T107" fmla="*/ 195 h 704"/>
                    <a:gd name="T108" fmla="*/ 425 w 425"/>
                    <a:gd name="T109" fmla="*/ 203 h 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25" h="704">
                      <a:moveTo>
                        <a:pt x="425" y="185"/>
                      </a:moveTo>
                      <a:lnTo>
                        <a:pt x="424" y="183"/>
                      </a:lnTo>
                      <a:lnTo>
                        <a:pt x="422" y="177"/>
                      </a:lnTo>
                      <a:lnTo>
                        <a:pt x="418" y="167"/>
                      </a:lnTo>
                      <a:lnTo>
                        <a:pt x="413" y="156"/>
                      </a:lnTo>
                      <a:lnTo>
                        <a:pt x="406" y="141"/>
                      </a:lnTo>
                      <a:lnTo>
                        <a:pt x="397" y="125"/>
                      </a:lnTo>
                      <a:lnTo>
                        <a:pt x="387" y="109"/>
                      </a:lnTo>
                      <a:lnTo>
                        <a:pt x="375" y="92"/>
                      </a:lnTo>
                      <a:lnTo>
                        <a:pt x="362" y="75"/>
                      </a:lnTo>
                      <a:lnTo>
                        <a:pt x="347" y="58"/>
                      </a:lnTo>
                      <a:lnTo>
                        <a:pt x="330" y="43"/>
                      </a:lnTo>
                      <a:lnTo>
                        <a:pt x="310" y="28"/>
                      </a:lnTo>
                      <a:lnTo>
                        <a:pt x="289" y="17"/>
                      </a:lnTo>
                      <a:lnTo>
                        <a:pt x="267" y="8"/>
                      </a:lnTo>
                      <a:lnTo>
                        <a:pt x="243" y="3"/>
                      </a:lnTo>
                      <a:lnTo>
                        <a:pt x="216" y="0"/>
                      </a:lnTo>
                      <a:lnTo>
                        <a:pt x="188" y="1"/>
                      </a:lnTo>
                      <a:lnTo>
                        <a:pt x="161" y="5"/>
                      </a:lnTo>
                      <a:lnTo>
                        <a:pt x="136" y="10"/>
                      </a:lnTo>
                      <a:lnTo>
                        <a:pt x="116" y="17"/>
                      </a:lnTo>
                      <a:lnTo>
                        <a:pt x="96" y="27"/>
                      </a:lnTo>
                      <a:lnTo>
                        <a:pt x="78" y="37"/>
                      </a:lnTo>
                      <a:lnTo>
                        <a:pt x="62" y="49"/>
                      </a:lnTo>
                      <a:lnTo>
                        <a:pt x="48" y="63"/>
                      </a:lnTo>
                      <a:lnTo>
                        <a:pt x="37" y="77"/>
                      </a:lnTo>
                      <a:lnTo>
                        <a:pt x="26" y="92"/>
                      </a:lnTo>
                      <a:lnTo>
                        <a:pt x="19" y="108"/>
                      </a:lnTo>
                      <a:lnTo>
                        <a:pt x="11" y="124"/>
                      </a:lnTo>
                      <a:lnTo>
                        <a:pt x="7" y="141"/>
                      </a:lnTo>
                      <a:lnTo>
                        <a:pt x="3" y="158"/>
                      </a:lnTo>
                      <a:lnTo>
                        <a:pt x="2" y="174"/>
                      </a:lnTo>
                      <a:lnTo>
                        <a:pt x="0" y="191"/>
                      </a:lnTo>
                      <a:lnTo>
                        <a:pt x="3" y="235"/>
                      </a:lnTo>
                      <a:lnTo>
                        <a:pt x="11" y="279"/>
                      </a:lnTo>
                      <a:lnTo>
                        <a:pt x="25" y="322"/>
                      </a:lnTo>
                      <a:lnTo>
                        <a:pt x="42" y="363"/>
                      </a:lnTo>
                      <a:lnTo>
                        <a:pt x="64" y="402"/>
                      </a:lnTo>
                      <a:lnTo>
                        <a:pt x="89" y="440"/>
                      </a:lnTo>
                      <a:lnTo>
                        <a:pt x="116" y="477"/>
                      </a:lnTo>
                      <a:lnTo>
                        <a:pt x="145" y="511"/>
                      </a:lnTo>
                      <a:lnTo>
                        <a:pt x="176" y="543"/>
                      </a:lnTo>
                      <a:lnTo>
                        <a:pt x="207" y="572"/>
                      </a:lnTo>
                      <a:lnTo>
                        <a:pt x="239" y="600"/>
                      </a:lnTo>
                      <a:lnTo>
                        <a:pt x="271" y="625"/>
                      </a:lnTo>
                      <a:lnTo>
                        <a:pt x="302" y="647"/>
                      </a:lnTo>
                      <a:lnTo>
                        <a:pt x="331" y="666"/>
                      </a:lnTo>
                      <a:lnTo>
                        <a:pt x="359" y="682"/>
                      </a:lnTo>
                      <a:lnTo>
                        <a:pt x="384" y="696"/>
                      </a:lnTo>
                      <a:lnTo>
                        <a:pt x="389" y="697"/>
                      </a:lnTo>
                      <a:lnTo>
                        <a:pt x="392" y="699"/>
                      </a:lnTo>
                      <a:lnTo>
                        <a:pt x="397" y="701"/>
                      </a:lnTo>
                      <a:lnTo>
                        <a:pt x="402" y="702"/>
                      </a:lnTo>
                      <a:lnTo>
                        <a:pt x="408" y="703"/>
                      </a:lnTo>
                      <a:lnTo>
                        <a:pt x="413" y="703"/>
                      </a:lnTo>
                      <a:lnTo>
                        <a:pt x="419" y="704"/>
                      </a:lnTo>
                      <a:lnTo>
                        <a:pt x="424" y="704"/>
                      </a:lnTo>
                      <a:lnTo>
                        <a:pt x="424" y="693"/>
                      </a:lnTo>
                      <a:lnTo>
                        <a:pt x="414" y="693"/>
                      </a:lnTo>
                      <a:lnTo>
                        <a:pt x="405" y="691"/>
                      </a:lnTo>
                      <a:lnTo>
                        <a:pt x="396" y="690"/>
                      </a:lnTo>
                      <a:lnTo>
                        <a:pt x="389" y="686"/>
                      </a:lnTo>
                      <a:lnTo>
                        <a:pt x="364" y="672"/>
                      </a:lnTo>
                      <a:lnTo>
                        <a:pt x="337" y="657"/>
                      </a:lnTo>
                      <a:lnTo>
                        <a:pt x="308" y="638"/>
                      </a:lnTo>
                      <a:lnTo>
                        <a:pt x="277" y="616"/>
                      </a:lnTo>
                      <a:lnTo>
                        <a:pt x="247" y="592"/>
                      </a:lnTo>
                      <a:lnTo>
                        <a:pt x="215" y="565"/>
                      </a:lnTo>
                      <a:lnTo>
                        <a:pt x="184" y="535"/>
                      </a:lnTo>
                      <a:lnTo>
                        <a:pt x="154" y="505"/>
                      </a:lnTo>
                      <a:lnTo>
                        <a:pt x="125" y="470"/>
                      </a:lnTo>
                      <a:lnTo>
                        <a:pt x="98" y="435"/>
                      </a:lnTo>
                      <a:lnTo>
                        <a:pt x="74" y="398"/>
                      </a:lnTo>
                      <a:lnTo>
                        <a:pt x="53" y="359"/>
                      </a:lnTo>
                      <a:lnTo>
                        <a:pt x="36" y="319"/>
                      </a:lnTo>
                      <a:lnTo>
                        <a:pt x="22" y="277"/>
                      </a:lnTo>
                      <a:lnTo>
                        <a:pt x="14" y="235"/>
                      </a:lnTo>
                      <a:lnTo>
                        <a:pt x="11" y="191"/>
                      </a:lnTo>
                      <a:lnTo>
                        <a:pt x="13" y="173"/>
                      </a:lnTo>
                      <a:lnTo>
                        <a:pt x="15" y="156"/>
                      </a:lnTo>
                      <a:lnTo>
                        <a:pt x="19" y="139"/>
                      </a:lnTo>
                      <a:lnTo>
                        <a:pt x="24" y="123"/>
                      </a:lnTo>
                      <a:lnTo>
                        <a:pt x="31" y="107"/>
                      </a:lnTo>
                      <a:lnTo>
                        <a:pt x="40" y="92"/>
                      </a:lnTo>
                      <a:lnTo>
                        <a:pt x="49" y="79"/>
                      </a:lnTo>
                      <a:lnTo>
                        <a:pt x="60" y="66"/>
                      </a:lnTo>
                      <a:lnTo>
                        <a:pt x="75" y="53"/>
                      </a:lnTo>
                      <a:lnTo>
                        <a:pt x="91" y="42"/>
                      </a:lnTo>
                      <a:lnTo>
                        <a:pt x="108" y="33"/>
                      </a:lnTo>
                      <a:lnTo>
                        <a:pt x="128" y="25"/>
                      </a:lnTo>
                      <a:lnTo>
                        <a:pt x="147" y="19"/>
                      </a:lnTo>
                      <a:lnTo>
                        <a:pt x="169" y="15"/>
                      </a:lnTo>
                      <a:lnTo>
                        <a:pt x="192" y="12"/>
                      </a:lnTo>
                      <a:lnTo>
                        <a:pt x="216" y="11"/>
                      </a:lnTo>
                      <a:lnTo>
                        <a:pt x="242" y="14"/>
                      </a:lnTo>
                      <a:lnTo>
                        <a:pt x="265" y="20"/>
                      </a:lnTo>
                      <a:lnTo>
                        <a:pt x="287" y="28"/>
                      </a:lnTo>
                      <a:lnTo>
                        <a:pt x="307" y="41"/>
                      </a:lnTo>
                      <a:lnTo>
                        <a:pt x="326" y="55"/>
                      </a:lnTo>
                      <a:lnTo>
                        <a:pt x="343" y="71"/>
                      </a:lnTo>
                      <a:lnTo>
                        <a:pt x="358" y="88"/>
                      </a:lnTo>
                      <a:lnTo>
                        <a:pt x="373" y="107"/>
                      </a:lnTo>
                      <a:lnTo>
                        <a:pt x="385" y="124"/>
                      </a:lnTo>
                      <a:lnTo>
                        <a:pt x="395" y="141"/>
                      </a:lnTo>
                      <a:lnTo>
                        <a:pt x="405" y="158"/>
                      </a:lnTo>
                      <a:lnTo>
                        <a:pt x="412" y="173"/>
                      </a:lnTo>
                      <a:lnTo>
                        <a:pt x="418" y="185"/>
                      </a:lnTo>
                      <a:lnTo>
                        <a:pt x="422" y="195"/>
                      </a:lnTo>
                      <a:lnTo>
                        <a:pt x="424" y="201"/>
                      </a:lnTo>
                      <a:lnTo>
                        <a:pt x="425" y="203"/>
                      </a:lnTo>
                      <a:lnTo>
                        <a:pt x="425" y="185"/>
                      </a:lnTo>
                      <a:close/>
                    </a:path>
                  </a:pathLst>
                </a:custGeom>
                <a:solidFill>
                  <a:srgbClr val="9900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45" name="Freeform 29"/>
                <p:cNvSpPr/>
                <p:nvPr/>
              </p:nvSpPr>
              <p:spPr bwMode="auto">
                <a:xfrm>
                  <a:off x="3517" y="1600"/>
                  <a:ext cx="361" cy="585"/>
                </a:xfrm>
                <a:custGeom>
                  <a:avLst/>
                  <a:gdLst>
                    <a:gd name="T0" fmla="*/ 353 w 361"/>
                    <a:gd name="T1" fmla="*/ 574 h 585"/>
                    <a:gd name="T2" fmla="*/ 339 w 361"/>
                    <a:gd name="T3" fmla="*/ 570 h 585"/>
                    <a:gd name="T4" fmla="*/ 315 w 361"/>
                    <a:gd name="T5" fmla="*/ 558 h 585"/>
                    <a:gd name="T6" fmla="*/ 271 w 361"/>
                    <a:gd name="T7" fmla="*/ 527 h 585"/>
                    <a:gd name="T8" fmla="*/ 219 w 361"/>
                    <a:gd name="T9" fmla="*/ 487 h 585"/>
                    <a:gd name="T10" fmla="*/ 165 w 361"/>
                    <a:gd name="T11" fmla="*/ 436 h 585"/>
                    <a:gd name="T12" fmla="*/ 114 w 361"/>
                    <a:gd name="T13" fmla="*/ 377 h 585"/>
                    <a:gd name="T14" fmla="*/ 68 w 361"/>
                    <a:gd name="T15" fmla="*/ 311 h 585"/>
                    <a:gd name="T16" fmla="*/ 34 w 361"/>
                    <a:gd name="T17" fmla="*/ 242 h 585"/>
                    <a:gd name="T18" fmla="*/ 15 w 361"/>
                    <a:gd name="T19" fmla="*/ 170 h 585"/>
                    <a:gd name="T20" fmla="*/ 15 w 361"/>
                    <a:gd name="T21" fmla="*/ 109 h 585"/>
                    <a:gd name="T22" fmla="*/ 29 w 361"/>
                    <a:gd name="T23" fmla="*/ 65 h 585"/>
                    <a:gd name="T24" fmla="*/ 53 w 361"/>
                    <a:gd name="T25" fmla="*/ 39 h 585"/>
                    <a:gd name="T26" fmla="*/ 76 w 361"/>
                    <a:gd name="T27" fmla="*/ 25 h 585"/>
                    <a:gd name="T28" fmla="*/ 103 w 361"/>
                    <a:gd name="T29" fmla="*/ 16 h 585"/>
                    <a:gd name="T30" fmla="*/ 135 w 361"/>
                    <a:gd name="T31" fmla="*/ 11 h 585"/>
                    <a:gd name="T32" fmla="*/ 182 w 361"/>
                    <a:gd name="T33" fmla="*/ 16 h 585"/>
                    <a:gd name="T34" fmla="*/ 235 w 361"/>
                    <a:gd name="T35" fmla="*/ 50 h 585"/>
                    <a:gd name="T36" fmla="*/ 278 w 361"/>
                    <a:gd name="T37" fmla="*/ 101 h 585"/>
                    <a:gd name="T38" fmla="*/ 310 w 361"/>
                    <a:gd name="T39" fmla="*/ 154 h 585"/>
                    <a:gd name="T40" fmla="*/ 324 w 361"/>
                    <a:gd name="T41" fmla="*/ 181 h 585"/>
                    <a:gd name="T42" fmla="*/ 334 w 361"/>
                    <a:gd name="T43" fmla="*/ 191 h 585"/>
                    <a:gd name="T44" fmla="*/ 344 w 361"/>
                    <a:gd name="T45" fmla="*/ 198 h 585"/>
                    <a:gd name="T46" fmla="*/ 355 w 361"/>
                    <a:gd name="T47" fmla="*/ 202 h 585"/>
                    <a:gd name="T48" fmla="*/ 361 w 361"/>
                    <a:gd name="T49" fmla="*/ 191 h 585"/>
                    <a:gd name="T50" fmla="*/ 344 w 361"/>
                    <a:gd name="T51" fmla="*/ 185 h 585"/>
                    <a:gd name="T52" fmla="*/ 331 w 361"/>
                    <a:gd name="T53" fmla="*/ 170 h 585"/>
                    <a:gd name="T54" fmla="*/ 305 w 361"/>
                    <a:gd name="T55" fmla="*/ 122 h 585"/>
                    <a:gd name="T56" fmla="*/ 264 w 361"/>
                    <a:gd name="T57" fmla="*/ 66 h 585"/>
                    <a:gd name="T58" fmla="*/ 213 w 361"/>
                    <a:gd name="T59" fmla="*/ 19 h 585"/>
                    <a:gd name="T60" fmla="*/ 153 w 361"/>
                    <a:gd name="T61" fmla="*/ 0 h 585"/>
                    <a:gd name="T62" fmla="*/ 88 w 361"/>
                    <a:gd name="T63" fmla="*/ 8 h 585"/>
                    <a:gd name="T64" fmla="*/ 40 w 361"/>
                    <a:gd name="T65" fmla="*/ 35 h 585"/>
                    <a:gd name="T66" fmla="*/ 10 w 361"/>
                    <a:gd name="T67" fmla="*/ 77 h 585"/>
                    <a:gd name="T68" fmla="*/ 0 w 361"/>
                    <a:gd name="T69" fmla="*/ 134 h 585"/>
                    <a:gd name="T70" fmla="*/ 10 w 361"/>
                    <a:gd name="T71" fmla="*/ 208 h 585"/>
                    <a:gd name="T72" fmla="*/ 38 w 361"/>
                    <a:gd name="T73" fmla="*/ 280 h 585"/>
                    <a:gd name="T74" fmla="*/ 80 w 361"/>
                    <a:gd name="T75" fmla="*/ 350 h 585"/>
                    <a:gd name="T76" fmla="*/ 130 w 361"/>
                    <a:gd name="T77" fmla="*/ 414 h 585"/>
                    <a:gd name="T78" fmla="*/ 185 w 361"/>
                    <a:gd name="T79" fmla="*/ 470 h 585"/>
                    <a:gd name="T80" fmla="*/ 239 w 361"/>
                    <a:gd name="T81" fmla="*/ 518 h 585"/>
                    <a:gd name="T82" fmla="*/ 288 w 361"/>
                    <a:gd name="T83" fmla="*/ 554 h 585"/>
                    <a:gd name="T84" fmla="*/ 328 w 361"/>
                    <a:gd name="T85" fmla="*/ 578 h 585"/>
                    <a:gd name="T86" fmla="*/ 343 w 361"/>
                    <a:gd name="T87" fmla="*/ 583 h 585"/>
                    <a:gd name="T88" fmla="*/ 361 w 361"/>
                    <a:gd name="T89" fmla="*/ 585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361" h="585">
                      <a:moveTo>
                        <a:pt x="361" y="574"/>
                      </a:moveTo>
                      <a:lnTo>
                        <a:pt x="353" y="574"/>
                      </a:lnTo>
                      <a:lnTo>
                        <a:pt x="345" y="573"/>
                      </a:lnTo>
                      <a:lnTo>
                        <a:pt x="339" y="570"/>
                      </a:lnTo>
                      <a:lnTo>
                        <a:pt x="333" y="568"/>
                      </a:lnTo>
                      <a:lnTo>
                        <a:pt x="315" y="558"/>
                      </a:lnTo>
                      <a:lnTo>
                        <a:pt x="294" y="545"/>
                      </a:lnTo>
                      <a:lnTo>
                        <a:pt x="271" y="527"/>
                      </a:lnTo>
                      <a:lnTo>
                        <a:pt x="245" y="509"/>
                      </a:lnTo>
                      <a:lnTo>
                        <a:pt x="219" y="487"/>
                      </a:lnTo>
                      <a:lnTo>
                        <a:pt x="192" y="463"/>
                      </a:lnTo>
                      <a:lnTo>
                        <a:pt x="165" y="436"/>
                      </a:lnTo>
                      <a:lnTo>
                        <a:pt x="140" y="406"/>
                      </a:lnTo>
                      <a:lnTo>
                        <a:pt x="114" y="377"/>
                      </a:lnTo>
                      <a:lnTo>
                        <a:pt x="91" y="345"/>
                      </a:lnTo>
                      <a:lnTo>
                        <a:pt x="68" y="311"/>
                      </a:lnTo>
                      <a:lnTo>
                        <a:pt x="50" y="276"/>
                      </a:lnTo>
                      <a:lnTo>
                        <a:pt x="34" y="242"/>
                      </a:lnTo>
                      <a:lnTo>
                        <a:pt x="22" y="207"/>
                      </a:lnTo>
                      <a:lnTo>
                        <a:pt x="15" y="170"/>
                      </a:lnTo>
                      <a:lnTo>
                        <a:pt x="12" y="134"/>
                      </a:lnTo>
                      <a:lnTo>
                        <a:pt x="15" y="109"/>
                      </a:lnTo>
                      <a:lnTo>
                        <a:pt x="20" y="85"/>
                      </a:lnTo>
                      <a:lnTo>
                        <a:pt x="29" y="65"/>
                      </a:lnTo>
                      <a:lnTo>
                        <a:pt x="43" y="47"/>
                      </a:lnTo>
                      <a:lnTo>
                        <a:pt x="53" y="39"/>
                      </a:lnTo>
                      <a:lnTo>
                        <a:pt x="64" y="32"/>
                      </a:lnTo>
                      <a:lnTo>
                        <a:pt x="76" y="25"/>
                      </a:lnTo>
                      <a:lnTo>
                        <a:pt x="89" y="19"/>
                      </a:lnTo>
                      <a:lnTo>
                        <a:pt x="103" y="16"/>
                      </a:lnTo>
                      <a:lnTo>
                        <a:pt x="119" y="13"/>
                      </a:lnTo>
                      <a:lnTo>
                        <a:pt x="135" y="11"/>
                      </a:lnTo>
                      <a:lnTo>
                        <a:pt x="153" y="11"/>
                      </a:lnTo>
                      <a:lnTo>
                        <a:pt x="182" y="16"/>
                      </a:lnTo>
                      <a:lnTo>
                        <a:pt x="209" y="29"/>
                      </a:lnTo>
                      <a:lnTo>
                        <a:pt x="235" y="50"/>
                      </a:lnTo>
                      <a:lnTo>
                        <a:pt x="258" y="74"/>
                      </a:lnTo>
                      <a:lnTo>
                        <a:pt x="278" y="101"/>
                      </a:lnTo>
                      <a:lnTo>
                        <a:pt x="296" y="128"/>
                      </a:lnTo>
                      <a:lnTo>
                        <a:pt x="310" y="154"/>
                      </a:lnTo>
                      <a:lnTo>
                        <a:pt x="321" y="175"/>
                      </a:lnTo>
                      <a:lnTo>
                        <a:pt x="324" y="181"/>
                      </a:lnTo>
                      <a:lnTo>
                        <a:pt x="329" y="186"/>
                      </a:lnTo>
                      <a:lnTo>
                        <a:pt x="334" y="191"/>
                      </a:lnTo>
                      <a:lnTo>
                        <a:pt x="339" y="194"/>
                      </a:lnTo>
                      <a:lnTo>
                        <a:pt x="344" y="198"/>
                      </a:lnTo>
                      <a:lnTo>
                        <a:pt x="349" y="200"/>
                      </a:lnTo>
                      <a:lnTo>
                        <a:pt x="355" y="202"/>
                      </a:lnTo>
                      <a:lnTo>
                        <a:pt x="360" y="202"/>
                      </a:lnTo>
                      <a:lnTo>
                        <a:pt x="361" y="191"/>
                      </a:lnTo>
                      <a:lnTo>
                        <a:pt x="353" y="189"/>
                      </a:lnTo>
                      <a:lnTo>
                        <a:pt x="344" y="185"/>
                      </a:lnTo>
                      <a:lnTo>
                        <a:pt x="337" y="178"/>
                      </a:lnTo>
                      <a:lnTo>
                        <a:pt x="331" y="170"/>
                      </a:lnTo>
                      <a:lnTo>
                        <a:pt x="320" y="148"/>
                      </a:lnTo>
                      <a:lnTo>
                        <a:pt x="305" y="122"/>
                      </a:lnTo>
                      <a:lnTo>
                        <a:pt x="287" y="94"/>
                      </a:lnTo>
                      <a:lnTo>
                        <a:pt x="264" y="66"/>
                      </a:lnTo>
                      <a:lnTo>
                        <a:pt x="240" y="40"/>
                      </a:lnTo>
                      <a:lnTo>
                        <a:pt x="213" y="19"/>
                      </a:lnTo>
                      <a:lnTo>
                        <a:pt x="185" y="5"/>
                      </a:lnTo>
                      <a:lnTo>
                        <a:pt x="153" y="0"/>
                      </a:lnTo>
                      <a:lnTo>
                        <a:pt x="119" y="2"/>
                      </a:lnTo>
                      <a:lnTo>
                        <a:pt x="88" y="8"/>
                      </a:lnTo>
                      <a:lnTo>
                        <a:pt x="62" y="19"/>
                      </a:lnTo>
                      <a:lnTo>
                        <a:pt x="40" y="35"/>
                      </a:lnTo>
                      <a:lnTo>
                        <a:pt x="23" y="54"/>
                      </a:lnTo>
                      <a:lnTo>
                        <a:pt x="10" y="77"/>
                      </a:lnTo>
                      <a:lnTo>
                        <a:pt x="2" y="104"/>
                      </a:lnTo>
                      <a:lnTo>
                        <a:pt x="0" y="134"/>
                      </a:lnTo>
                      <a:lnTo>
                        <a:pt x="2" y="171"/>
                      </a:lnTo>
                      <a:lnTo>
                        <a:pt x="10" y="208"/>
                      </a:lnTo>
                      <a:lnTo>
                        <a:pt x="22" y="245"/>
                      </a:lnTo>
                      <a:lnTo>
                        <a:pt x="38" y="280"/>
                      </a:lnTo>
                      <a:lnTo>
                        <a:pt x="57" y="316"/>
                      </a:lnTo>
                      <a:lnTo>
                        <a:pt x="80" y="350"/>
                      </a:lnTo>
                      <a:lnTo>
                        <a:pt x="104" y="382"/>
                      </a:lnTo>
                      <a:lnTo>
                        <a:pt x="130" y="414"/>
                      </a:lnTo>
                      <a:lnTo>
                        <a:pt x="157" y="443"/>
                      </a:lnTo>
                      <a:lnTo>
                        <a:pt x="185" y="470"/>
                      </a:lnTo>
                      <a:lnTo>
                        <a:pt x="212" y="496"/>
                      </a:lnTo>
                      <a:lnTo>
                        <a:pt x="239" y="518"/>
                      </a:lnTo>
                      <a:lnTo>
                        <a:pt x="264" y="537"/>
                      </a:lnTo>
                      <a:lnTo>
                        <a:pt x="288" y="554"/>
                      </a:lnTo>
                      <a:lnTo>
                        <a:pt x="310" y="568"/>
                      </a:lnTo>
                      <a:lnTo>
                        <a:pt x="328" y="578"/>
                      </a:lnTo>
                      <a:lnTo>
                        <a:pt x="336" y="580"/>
                      </a:lnTo>
                      <a:lnTo>
                        <a:pt x="343" y="583"/>
                      </a:lnTo>
                      <a:lnTo>
                        <a:pt x="353" y="584"/>
                      </a:lnTo>
                      <a:lnTo>
                        <a:pt x="361" y="585"/>
                      </a:lnTo>
                      <a:lnTo>
                        <a:pt x="361" y="574"/>
                      </a:lnTo>
                      <a:close/>
                    </a:path>
                  </a:pathLst>
                </a:custGeom>
                <a:solidFill>
                  <a:srgbClr val="9900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46" name="Freeform 30"/>
                <p:cNvSpPr/>
                <p:nvPr/>
              </p:nvSpPr>
              <p:spPr bwMode="auto">
                <a:xfrm>
                  <a:off x="3888" y="1537"/>
                  <a:ext cx="426" cy="704"/>
                </a:xfrm>
                <a:custGeom>
                  <a:avLst/>
                  <a:gdLst>
                    <a:gd name="T0" fmla="*/ 1 w 426"/>
                    <a:gd name="T1" fmla="*/ 183 h 704"/>
                    <a:gd name="T2" fmla="*/ 7 w 426"/>
                    <a:gd name="T3" fmla="*/ 167 h 704"/>
                    <a:gd name="T4" fmla="*/ 19 w 426"/>
                    <a:gd name="T5" fmla="*/ 141 h 704"/>
                    <a:gd name="T6" fmla="*/ 38 w 426"/>
                    <a:gd name="T7" fmla="*/ 109 h 704"/>
                    <a:gd name="T8" fmla="*/ 63 w 426"/>
                    <a:gd name="T9" fmla="*/ 75 h 704"/>
                    <a:gd name="T10" fmla="*/ 95 w 426"/>
                    <a:gd name="T11" fmla="*/ 43 h 704"/>
                    <a:gd name="T12" fmla="*/ 136 w 426"/>
                    <a:gd name="T13" fmla="*/ 17 h 704"/>
                    <a:gd name="T14" fmla="*/ 182 w 426"/>
                    <a:gd name="T15" fmla="*/ 3 h 704"/>
                    <a:gd name="T16" fmla="*/ 239 w 426"/>
                    <a:gd name="T17" fmla="*/ 1 h 704"/>
                    <a:gd name="T18" fmla="*/ 289 w 426"/>
                    <a:gd name="T19" fmla="*/ 10 h 704"/>
                    <a:gd name="T20" fmla="*/ 330 w 426"/>
                    <a:gd name="T21" fmla="*/ 27 h 704"/>
                    <a:gd name="T22" fmla="*/ 364 w 426"/>
                    <a:gd name="T23" fmla="*/ 49 h 704"/>
                    <a:gd name="T24" fmla="*/ 389 w 426"/>
                    <a:gd name="T25" fmla="*/ 77 h 704"/>
                    <a:gd name="T26" fmla="*/ 408 w 426"/>
                    <a:gd name="T27" fmla="*/ 108 h 704"/>
                    <a:gd name="T28" fmla="*/ 420 w 426"/>
                    <a:gd name="T29" fmla="*/ 141 h 704"/>
                    <a:gd name="T30" fmla="*/ 425 w 426"/>
                    <a:gd name="T31" fmla="*/ 174 h 704"/>
                    <a:gd name="T32" fmla="*/ 424 w 426"/>
                    <a:gd name="T33" fmla="*/ 235 h 704"/>
                    <a:gd name="T34" fmla="*/ 402 w 426"/>
                    <a:gd name="T35" fmla="*/ 322 h 704"/>
                    <a:gd name="T36" fmla="*/ 362 w 426"/>
                    <a:gd name="T37" fmla="*/ 402 h 704"/>
                    <a:gd name="T38" fmla="*/ 311 w 426"/>
                    <a:gd name="T39" fmla="*/ 477 h 704"/>
                    <a:gd name="T40" fmla="*/ 251 w 426"/>
                    <a:gd name="T41" fmla="*/ 543 h 704"/>
                    <a:gd name="T42" fmla="*/ 187 w 426"/>
                    <a:gd name="T43" fmla="*/ 600 h 704"/>
                    <a:gd name="T44" fmla="*/ 125 w 426"/>
                    <a:gd name="T45" fmla="*/ 647 h 704"/>
                    <a:gd name="T46" fmla="*/ 67 w 426"/>
                    <a:gd name="T47" fmla="*/ 682 h 704"/>
                    <a:gd name="T48" fmla="*/ 38 w 426"/>
                    <a:gd name="T49" fmla="*/ 697 h 704"/>
                    <a:gd name="T50" fmla="*/ 28 w 426"/>
                    <a:gd name="T51" fmla="*/ 701 h 704"/>
                    <a:gd name="T52" fmla="*/ 18 w 426"/>
                    <a:gd name="T53" fmla="*/ 703 h 704"/>
                    <a:gd name="T54" fmla="*/ 7 w 426"/>
                    <a:gd name="T55" fmla="*/ 704 h 704"/>
                    <a:gd name="T56" fmla="*/ 2 w 426"/>
                    <a:gd name="T57" fmla="*/ 693 h 704"/>
                    <a:gd name="T58" fmla="*/ 21 w 426"/>
                    <a:gd name="T59" fmla="*/ 691 h 704"/>
                    <a:gd name="T60" fmla="*/ 38 w 426"/>
                    <a:gd name="T61" fmla="*/ 686 h 704"/>
                    <a:gd name="T62" fmla="*/ 89 w 426"/>
                    <a:gd name="T63" fmla="*/ 657 h 704"/>
                    <a:gd name="T64" fmla="*/ 148 w 426"/>
                    <a:gd name="T65" fmla="*/ 616 h 704"/>
                    <a:gd name="T66" fmla="*/ 210 w 426"/>
                    <a:gd name="T67" fmla="*/ 565 h 704"/>
                    <a:gd name="T68" fmla="*/ 273 w 426"/>
                    <a:gd name="T69" fmla="*/ 505 h 704"/>
                    <a:gd name="T70" fmla="*/ 328 w 426"/>
                    <a:gd name="T71" fmla="*/ 435 h 704"/>
                    <a:gd name="T72" fmla="*/ 373 w 426"/>
                    <a:gd name="T73" fmla="*/ 359 h 704"/>
                    <a:gd name="T74" fmla="*/ 404 w 426"/>
                    <a:gd name="T75" fmla="*/ 277 h 704"/>
                    <a:gd name="T76" fmla="*/ 415 w 426"/>
                    <a:gd name="T77" fmla="*/ 191 h 704"/>
                    <a:gd name="T78" fmla="*/ 411 w 426"/>
                    <a:gd name="T79" fmla="*/ 156 h 704"/>
                    <a:gd name="T80" fmla="*/ 403 w 426"/>
                    <a:gd name="T81" fmla="*/ 123 h 704"/>
                    <a:gd name="T82" fmla="*/ 387 w 426"/>
                    <a:gd name="T83" fmla="*/ 92 h 704"/>
                    <a:gd name="T84" fmla="*/ 366 w 426"/>
                    <a:gd name="T85" fmla="*/ 66 h 704"/>
                    <a:gd name="T86" fmla="*/ 335 w 426"/>
                    <a:gd name="T87" fmla="*/ 42 h 704"/>
                    <a:gd name="T88" fmla="*/ 299 w 426"/>
                    <a:gd name="T89" fmla="*/ 25 h 704"/>
                    <a:gd name="T90" fmla="*/ 257 w 426"/>
                    <a:gd name="T91" fmla="*/ 15 h 704"/>
                    <a:gd name="T92" fmla="*/ 209 w 426"/>
                    <a:gd name="T93" fmla="*/ 11 h 704"/>
                    <a:gd name="T94" fmla="*/ 160 w 426"/>
                    <a:gd name="T95" fmla="*/ 20 h 704"/>
                    <a:gd name="T96" fmla="*/ 119 w 426"/>
                    <a:gd name="T97" fmla="*/ 41 h 704"/>
                    <a:gd name="T98" fmla="*/ 83 w 426"/>
                    <a:gd name="T99" fmla="*/ 71 h 704"/>
                    <a:gd name="T100" fmla="*/ 54 w 426"/>
                    <a:gd name="T101" fmla="*/ 107 h 704"/>
                    <a:gd name="T102" fmla="*/ 30 w 426"/>
                    <a:gd name="T103" fmla="*/ 141 h 704"/>
                    <a:gd name="T104" fmla="*/ 14 w 426"/>
                    <a:gd name="T105" fmla="*/ 173 h 704"/>
                    <a:gd name="T106" fmla="*/ 5 w 426"/>
                    <a:gd name="T107" fmla="*/ 195 h 704"/>
                    <a:gd name="T108" fmla="*/ 1 w 426"/>
                    <a:gd name="T109" fmla="*/ 203 h 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26" h="704">
                      <a:moveTo>
                        <a:pt x="0" y="185"/>
                      </a:moveTo>
                      <a:lnTo>
                        <a:pt x="1" y="183"/>
                      </a:lnTo>
                      <a:lnTo>
                        <a:pt x="3" y="177"/>
                      </a:lnTo>
                      <a:lnTo>
                        <a:pt x="7" y="167"/>
                      </a:lnTo>
                      <a:lnTo>
                        <a:pt x="12" y="156"/>
                      </a:lnTo>
                      <a:lnTo>
                        <a:pt x="19" y="141"/>
                      </a:lnTo>
                      <a:lnTo>
                        <a:pt x="28" y="125"/>
                      </a:lnTo>
                      <a:lnTo>
                        <a:pt x="38" y="109"/>
                      </a:lnTo>
                      <a:lnTo>
                        <a:pt x="50" y="92"/>
                      </a:lnTo>
                      <a:lnTo>
                        <a:pt x="63" y="75"/>
                      </a:lnTo>
                      <a:lnTo>
                        <a:pt x="78" y="58"/>
                      </a:lnTo>
                      <a:lnTo>
                        <a:pt x="95" y="43"/>
                      </a:lnTo>
                      <a:lnTo>
                        <a:pt x="115" y="28"/>
                      </a:lnTo>
                      <a:lnTo>
                        <a:pt x="136" y="17"/>
                      </a:lnTo>
                      <a:lnTo>
                        <a:pt x="158" y="8"/>
                      </a:lnTo>
                      <a:lnTo>
                        <a:pt x="182" y="3"/>
                      </a:lnTo>
                      <a:lnTo>
                        <a:pt x="209" y="0"/>
                      </a:lnTo>
                      <a:lnTo>
                        <a:pt x="239" y="1"/>
                      </a:lnTo>
                      <a:lnTo>
                        <a:pt x="264" y="5"/>
                      </a:lnTo>
                      <a:lnTo>
                        <a:pt x="289" y="10"/>
                      </a:lnTo>
                      <a:lnTo>
                        <a:pt x="311" y="17"/>
                      </a:lnTo>
                      <a:lnTo>
                        <a:pt x="330" y="27"/>
                      </a:lnTo>
                      <a:lnTo>
                        <a:pt x="349" y="37"/>
                      </a:lnTo>
                      <a:lnTo>
                        <a:pt x="364" y="49"/>
                      </a:lnTo>
                      <a:lnTo>
                        <a:pt x="378" y="63"/>
                      </a:lnTo>
                      <a:lnTo>
                        <a:pt x="389" y="77"/>
                      </a:lnTo>
                      <a:lnTo>
                        <a:pt x="400" y="92"/>
                      </a:lnTo>
                      <a:lnTo>
                        <a:pt x="408" y="108"/>
                      </a:lnTo>
                      <a:lnTo>
                        <a:pt x="415" y="124"/>
                      </a:lnTo>
                      <a:lnTo>
                        <a:pt x="420" y="141"/>
                      </a:lnTo>
                      <a:lnTo>
                        <a:pt x="424" y="158"/>
                      </a:lnTo>
                      <a:lnTo>
                        <a:pt x="425" y="174"/>
                      </a:lnTo>
                      <a:lnTo>
                        <a:pt x="426" y="191"/>
                      </a:lnTo>
                      <a:lnTo>
                        <a:pt x="424" y="235"/>
                      </a:lnTo>
                      <a:lnTo>
                        <a:pt x="415" y="279"/>
                      </a:lnTo>
                      <a:lnTo>
                        <a:pt x="402" y="322"/>
                      </a:lnTo>
                      <a:lnTo>
                        <a:pt x="383" y="363"/>
                      </a:lnTo>
                      <a:lnTo>
                        <a:pt x="362" y="402"/>
                      </a:lnTo>
                      <a:lnTo>
                        <a:pt x="338" y="440"/>
                      </a:lnTo>
                      <a:lnTo>
                        <a:pt x="311" y="477"/>
                      </a:lnTo>
                      <a:lnTo>
                        <a:pt x="281" y="511"/>
                      </a:lnTo>
                      <a:lnTo>
                        <a:pt x="251" y="543"/>
                      </a:lnTo>
                      <a:lnTo>
                        <a:pt x="219" y="572"/>
                      </a:lnTo>
                      <a:lnTo>
                        <a:pt x="187" y="600"/>
                      </a:lnTo>
                      <a:lnTo>
                        <a:pt x="155" y="625"/>
                      </a:lnTo>
                      <a:lnTo>
                        <a:pt x="125" y="647"/>
                      </a:lnTo>
                      <a:lnTo>
                        <a:pt x="95" y="666"/>
                      </a:lnTo>
                      <a:lnTo>
                        <a:pt x="67" y="682"/>
                      </a:lnTo>
                      <a:lnTo>
                        <a:pt x="43" y="696"/>
                      </a:lnTo>
                      <a:lnTo>
                        <a:pt x="38" y="697"/>
                      </a:lnTo>
                      <a:lnTo>
                        <a:pt x="33" y="699"/>
                      </a:lnTo>
                      <a:lnTo>
                        <a:pt x="28" y="701"/>
                      </a:lnTo>
                      <a:lnTo>
                        <a:pt x="23" y="702"/>
                      </a:lnTo>
                      <a:lnTo>
                        <a:pt x="18" y="703"/>
                      </a:lnTo>
                      <a:lnTo>
                        <a:pt x="12" y="703"/>
                      </a:lnTo>
                      <a:lnTo>
                        <a:pt x="7" y="704"/>
                      </a:lnTo>
                      <a:lnTo>
                        <a:pt x="2" y="704"/>
                      </a:lnTo>
                      <a:lnTo>
                        <a:pt x="2" y="693"/>
                      </a:lnTo>
                      <a:lnTo>
                        <a:pt x="12" y="693"/>
                      </a:lnTo>
                      <a:lnTo>
                        <a:pt x="21" y="691"/>
                      </a:lnTo>
                      <a:lnTo>
                        <a:pt x="30" y="690"/>
                      </a:lnTo>
                      <a:lnTo>
                        <a:pt x="38" y="686"/>
                      </a:lnTo>
                      <a:lnTo>
                        <a:pt x="62" y="672"/>
                      </a:lnTo>
                      <a:lnTo>
                        <a:pt x="89" y="657"/>
                      </a:lnTo>
                      <a:lnTo>
                        <a:pt x="119" y="638"/>
                      </a:lnTo>
                      <a:lnTo>
                        <a:pt x="148" y="616"/>
                      </a:lnTo>
                      <a:lnTo>
                        <a:pt x="180" y="592"/>
                      </a:lnTo>
                      <a:lnTo>
                        <a:pt x="210" y="565"/>
                      </a:lnTo>
                      <a:lnTo>
                        <a:pt x="242" y="535"/>
                      </a:lnTo>
                      <a:lnTo>
                        <a:pt x="273" y="505"/>
                      </a:lnTo>
                      <a:lnTo>
                        <a:pt x="301" y="470"/>
                      </a:lnTo>
                      <a:lnTo>
                        <a:pt x="328" y="435"/>
                      </a:lnTo>
                      <a:lnTo>
                        <a:pt x="353" y="398"/>
                      </a:lnTo>
                      <a:lnTo>
                        <a:pt x="373" y="359"/>
                      </a:lnTo>
                      <a:lnTo>
                        <a:pt x="390" y="319"/>
                      </a:lnTo>
                      <a:lnTo>
                        <a:pt x="404" y="277"/>
                      </a:lnTo>
                      <a:lnTo>
                        <a:pt x="413" y="235"/>
                      </a:lnTo>
                      <a:lnTo>
                        <a:pt x="415" y="191"/>
                      </a:lnTo>
                      <a:lnTo>
                        <a:pt x="414" y="173"/>
                      </a:lnTo>
                      <a:lnTo>
                        <a:pt x="411" y="156"/>
                      </a:lnTo>
                      <a:lnTo>
                        <a:pt x="408" y="139"/>
                      </a:lnTo>
                      <a:lnTo>
                        <a:pt x="403" y="123"/>
                      </a:lnTo>
                      <a:lnTo>
                        <a:pt x="395" y="107"/>
                      </a:lnTo>
                      <a:lnTo>
                        <a:pt x="387" y="92"/>
                      </a:lnTo>
                      <a:lnTo>
                        <a:pt x="377" y="79"/>
                      </a:lnTo>
                      <a:lnTo>
                        <a:pt x="366" y="66"/>
                      </a:lnTo>
                      <a:lnTo>
                        <a:pt x="351" y="53"/>
                      </a:lnTo>
                      <a:lnTo>
                        <a:pt x="335" y="42"/>
                      </a:lnTo>
                      <a:lnTo>
                        <a:pt x="318" y="33"/>
                      </a:lnTo>
                      <a:lnTo>
                        <a:pt x="299" y="25"/>
                      </a:lnTo>
                      <a:lnTo>
                        <a:pt x="279" y="19"/>
                      </a:lnTo>
                      <a:lnTo>
                        <a:pt x="257" y="15"/>
                      </a:lnTo>
                      <a:lnTo>
                        <a:pt x="234" y="12"/>
                      </a:lnTo>
                      <a:lnTo>
                        <a:pt x="209" y="11"/>
                      </a:lnTo>
                      <a:lnTo>
                        <a:pt x="183" y="14"/>
                      </a:lnTo>
                      <a:lnTo>
                        <a:pt x="160" y="20"/>
                      </a:lnTo>
                      <a:lnTo>
                        <a:pt x="138" y="28"/>
                      </a:lnTo>
                      <a:lnTo>
                        <a:pt x="119" y="41"/>
                      </a:lnTo>
                      <a:lnTo>
                        <a:pt x="99" y="55"/>
                      </a:lnTo>
                      <a:lnTo>
                        <a:pt x="83" y="71"/>
                      </a:lnTo>
                      <a:lnTo>
                        <a:pt x="67" y="88"/>
                      </a:lnTo>
                      <a:lnTo>
                        <a:pt x="54" y="107"/>
                      </a:lnTo>
                      <a:lnTo>
                        <a:pt x="41" y="124"/>
                      </a:lnTo>
                      <a:lnTo>
                        <a:pt x="30" y="141"/>
                      </a:lnTo>
                      <a:lnTo>
                        <a:pt x="22" y="158"/>
                      </a:lnTo>
                      <a:lnTo>
                        <a:pt x="14" y="173"/>
                      </a:lnTo>
                      <a:lnTo>
                        <a:pt x="8" y="185"/>
                      </a:lnTo>
                      <a:lnTo>
                        <a:pt x="5" y="195"/>
                      </a:lnTo>
                      <a:lnTo>
                        <a:pt x="2" y="201"/>
                      </a:lnTo>
                      <a:lnTo>
                        <a:pt x="1" y="203"/>
                      </a:lnTo>
                      <a:lnTo>
                        <a:pt x="0" y="185"/>
                      </a:lnTo>
                      <a:close/>
                    </a:path>
                  </a:pathLst>
                </a:custGeom>
                <a:solidFill>
                  <a:srgbClr val="9900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47" name="Freeform 31"/>
                <p:cNvSpPr/>
                <p:nvPr/>
              </p:nvSpPr>
              <p:spPr bwMode="auto">
                <a:xfrm>
                  <a:off x="3890" y="1600"/>
                  <a:ext cx="362" cy="585"/>
                </a:xfrm>
                <a:custGeom>
                  <a:avLst/>
                  <a:gdLst>
                    <a:gd name="T0" fmla="*/ 8 w 362"/>
                    <a:gd name="T1" fmla="*/ 574 h 585"/>
                    <a:gd name="T2" fmla="*/ 21 w 362"/>
                    <a:gd name="T3" fmla="*/ 570 h 585"/>
                    <a:gd name="T4" fmla="*/ 46 w 362"/>
                    <a:gd name="T5" fmla="*/ 558 h 585"/>
                    <a:gd name="T6" fmla="*/ 90 w 362"/>
                    <a:gd name="T7" fmla="*/ 527 h 585"/>
                    <a:gd name="T8" fmla="*/ 142 w 362"/>
                    <a:gd name="T9" fmla="*/ 487 h 585"/>
                    <a:gd name="T10" fmla="*/ 196 w 362"/>
                    <a:gd name="T11" fmla="*/ 436 h 585"/>
                    <a:gd name="T12" fmla="*/ 248 w 362"/>
                    <a:gd name="T13" fmla="*/ 377 h 585"/>
                    <a:gd name="T14" fmla="*/ 293 w 362"/>
                    <a:gd name="T15" fmla="*/ 311 h 585"/>
                    <a:gd name="T16" fmla="*/ 328 w 362"/>
                    <a:gd name="T17" fmla="*/ 242 h 585"/>
                    <a:gd name="T18" fmla="*/ 348 w 362"/>
                    <a:gd name="T19" fmla="*/ 170 h 585"/>
                    <a:gd name="T20" fmla="*/ 348 w 362"/>
                    <a:gd name="T21" fmla="*/ 109 h 585"/>
                    <a:gd name="T22" fmla="*/ 332 w 362"/>
                    <a:gd name="T23" fmla="*/ 65 h 585"/>
                    <a:gd name="T24" fmla="*/ 309 w 362"/>
                    <a:gd name="T25" fmla="*/ 39 h 585"/>
                    <a:gd name="T26" fmla="*/ 286 w 362"/>
                    <a:gd name="T27" fmla="*/ 25 h 585"/>
                    <a:gd name="T28" fmla="*/ 257 w 362"/>
                    <a:gd name="T29" fmla="*/ 16 h 585"/>
                    <a:gd name="T30" fmla="*/ 226 w 362"/>
                    <a:gd name="T31" fmla="*/ 11 h 585"/>
                    <a:gd name="T32" fmla="*/ 179 w 362"/>
                    <a:gd name="T33" fmla="*/ 16 h 585"/>
                    <a:gd name="T34" fmla="*/ 126 w 362"/>
                    <a:gd name="T35" fmla="*/ 50 h 585"/>
                    <a:gd name="T36" fmla="*/ 82 w 362"/>
                    <a:gd name="T37" fmla="*/ 101 h 585"/>
                    <a:gd name="T38" fmla="*/ 50 w 362"/>
                    <a:gd name="T39" fmla="*/ 154 h 585"/>
                    <a:gd name="T40" fmla="*/ 36 w 362"/>
                    <a:gd name="T41" fmla="*/ 181 h 585"/>
                    <a:gd name="T42" fmla="*/ 27 w 362"/>
                    <a:gd name="T43" fmla="*/ 191 h 585"/>
                    <a:gd name="T44" fmla="*/ 16 w 362"/>
                    <a:gd name="T45" fmla="*/ 198 h 585"/>
                    <a:gd name="T46" fmla="*/ 5 w 362"/>
                    <a:gd name="T47" fmla="*/ 202 h 585"/>
                    <a:gd name="T48" fmla="*/ 0 w 362"/>
                    <a:gd name="T49" fmla="*/ 191 h 585"/>
                    <a:gd name="T50" fmla="*/ 16 w 362"/>
                    <a:gd name="T51" fmla="*/ 185 h 585"/>
                    <a:gd name="T52" fmla="*/ 30 w 362"/>
                    <a:gd name="T53" fmla="*/ 170 h 585"/>
                    <a:gd name="T54" fmla="*/ 55 w 362"/>
                    <a:gd name="T55" fmla="*/ 122 h 585"/>
                    <a:gd name="T56" fmla="*/ 96 w 362"/>
                    <a:gd name="T57" fmla="*/ 66 h 585"/>
                    <a:gd name="T58" fmla="*/ 147 w 362"/>
                    <a:gd name="T59" fmla="*/ 19 h 585"/>
                    <a:gd name="T60" fmla="*/ 207 w 362"/>
                    <a:gd name="T61" fmla="*/ 0 h 585"/>
                    <a:gd name="T62" fmla="*/ 272 w 362"/>
                    <a:gd name="T63" fmla="*/ 8 h 585"/>
                    <a:gd name="T64" fmla="*/ 321 w 362"/>
                    <a:gd name="T65" fmla="*/ 35 h 585"/>
                    <a:gd name="T66" fmla="*/ 352 w 362"/>
                    <a:gd name="T67" fmla="*/ 77 h 585"/>
                    <a:gd name="T68" fmla="*/ 362 w 362"/>
                    <a:gd name="T69" fmla="*/ 134 h 585"/>
                    <a:gd name="T70" fmla="*/ 351 w 362"/>
                    <a:gd name="T71" fmla="*/ 208 h 585"/>
                    <a:gd name="T72" fmla="*/ 322 w 362"/>
                    <a:gd name="T73" fmla="*/ 280 h 585"/>
                    <a:gd name="T74" fmla="*/ 281 w 362"/>
                    <a:gd name="T75" fmla="*/ 350 h 585"/>
                    <a:gd name="T76" fmla="*/ 230 w 362"/>
                    <a:gd name="T77" fmla="*/ 414 h 585"/>
                    <a:gd name="T78" fmla="*/ 177 w 362"/>
                    <a:gd name="T79" fmla="*/ 470 h 585"/>
                    <a:gd name="T80" fmla="*/ 121 w 362"/>
                    <a:gd name="T81" fmla="*/ 518 h 585"/>
                    <a:gd name="T82" fmla="*/ 72 w 362"/>
                    <a:gd name="T83" fmla="*/ 554 h 585"/>
                    <a:gd name="T84" fmla="*/ 32 w 362"/>
                    <a:gd name="T85" fmla="*/ 578 h 585"/>
                    <a:gd name="T86" fmla="*/ 17 w 362"/>
                    <a:gd name="T87" fmla="*/ 583 h 585"/>
                    <a:gd name="T88" fmla="*/ 0 w 362"/>
                    <a:gd name="T89" fmla="*/ 585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362" h="585">
                      <a:moveTo>
                        <a:pt x="0" y="574"/>
                      </a:moveTo>
                      <a:lnTo>
                        <a:pt x="8" y="574"/>
                      </a:lnTo>
                      <a:lnTo>
                        <a:pt x="15" y="573"/>
                      </a:lnTo>
                      <a:lnTo>
                        <a:pt x="21" y="570"/>
                      </a:lnTo>
                      <a:lnTo>
                        <a:pt x="27" y="568"/>
                      </a:lnTo>
                      <a:lnTo>
                        <a:pt x="46" y="558"/>
                      </a:lnTo>
                      <a:lnTo>
                        <a:pt x="66" y="545"/>
                      </a:lnTo>
                      <a:lnTo>
                        <a:pt x="90" y="527"/>
                      </a:lnTo>
                      <a:lnTo>
                        <a:pt x="115" y="509"/>
                      </a:lnTo>
                      <a:lnTo>
                        <a:pt x="142" y="487"/>
                      </a:lnTo>
                      <a:lnTo>
                        <a:pt x="169" y="463"/>
                      </a:lnTo>
                      <a:lnTo>
                        <a:pt x="196" y="436"/>
                      </a:lnTo>
                      <a:lnTo>
                        <a:pt x="222" y="406"/>
                      </a:lnTo>
                      <a:lnTo>
                        <a:pt x="248" y="377"/>
                      </a:lnTo>
                      <a:lnTo>
                        <a:pt x="272" y="345"/>
                      </a:lnTo>
                      <a:lnTo>
                        <a:pt x="293" y="311"/>
                      </a:lnTo>
                      <a:lnTo>
                        <a:pt x="313" y="276"/>
                      </a:lnTo>
                      <a:lnTo>
                        <a:pt x="328" y="242"/>
                      </a:lnTo>
                      <a:lnTo>
                        <a:pt x="341" y="207"/>
                      </a:lnTo>
                      <a:lnTo>
                        <a:pt x="348" y="170"/>
                      </a:lnTo>
                      <a:lnTo>
                        <a:pt x="351" y="134"/>
                      </a:lnTo>
                      <a:lnTo>
                        <a:pt x="348" y="109"/>
                      </a:lnTo>
                      <a:lnTo>
                        <a:pt x="342" y="85"/>
                      </a:lnTo>
                      <a:lnTo>
                        <a:pt x="332" y="65"/>
                      </a:lnTo>
                      <a:lnTo>
                        <a:pt x="319" y="47"/>
                      </a:lnTo>
                      <a:lnTo>
                        <a:pt x="309" y="39"/>
                      </a:lnTo>
                      <a:lnTo>
                        <a:pt x="298" y="32"/>
                      </a:lnTo>
                      <a:lnTo>
                        <a:pt x="286" y="25"/>
                      </a:lnTo>
                      <a:lnTo>
                        <a:pt x="272" y="19"/>
                      </a:lnTo>
                      <a:lnTo>
                        <a:pt x="257" y="16"/>
                      </a:lnTo>
                      <a:lnTo>
                        <a:pt x="242" y="13"/>
                      </a:lnTo>
                      <a:lnTo>
                        <a:pt x="226" y="11"/>
                      </a:lnTo>
                      <a:lnTo>
                        <a:pt x="207" y="11"/>
                      </a:lnTo>
                      <a:lnTo>
                        <a:pt x="179" y="16"/>
                      </a:lnTo>
                      <a:lnTo>
                        <a:pt x="151" y="29"/>
                      </a:lnTo>
                      <a:lnTo>
                        <a:pt x="126" y="50"/>
                      </a:lnTo>
                      <a:lnTo>
                        <a:pt x="103" y="74"/>
                      </a:lnTo>
                      <a:lnTo>
                        <a:pt x="82" y="101"/>
                      </a:lnTo>
                      <a:lnTo>
                        <a:pt x="65" y="128"/>
                      </a:lnTo>
                      <a:lnTo>
                        <a:pt x="50" y="154"/>
                      </a:lnTo>
                      <a:lnTo>
                        <a:pt x="39" y="175"/>
                      </a:lnTo>
                      <a:lnTo>
                        <a:pt x="36" y="181"/>
                      </a:lnTo>
                      <a:lnTo>
                        <a:pt x="31" y="186"/>
                      </a:lnTo>
                      <a:lnTo>
                        <a:pt x="27" y="191"/>
                      </a:lnTo>
                      <a:lnTo>
                        <a:pt x="22" y="194"/>
                      </a:lnTo>
                      <a:lnTo>
                        <a:pt x="16" y="198"/>
                      </a:lnTo>
                      <a:lnTo>
                        <a:pt x="11" y="200"/>
                      </a:lnTo>
                      <a:lnTo>
                        <a:pt x="5" y="202"/>
                      </a:lnTo>
                      <a:lnTo>
                        <a:pt x="0" y="202"/>
                      </a:lnTo>
                      <a:lnTo>
                        <a:pt x="0" y="191"/>
                      </a:lnTo>
                      <a:lnTo>
                        <a:pt x="9" y="189"/>
                      </a:lnTo>
                      <a:lnTo>
                        <a:pt x="16" y="185"/>
                      </a:lnTo>
                      <a:lnTo>
                        <a:pt x="23" y="178"/>
                      </a:lnTo>
                      <a:lnTo>
                        <a:pt x="30" y="170"/>
                      </a:lnTo>
                      <a:lnTo>
                        <a:pt x="41" y="148"/>
                      </a:lnTo>
                      <a:lnTo>
                        <a:pt x="55" y="122"/>
                      </a:lnTo>
                      <a:lnTo>
                        <a:pt x="74" y="94"/>
                      </a:lnTo>
                      <a:lnTo>
                        <a:pt x="96" y="66"/>
                      </a:lnTo>
                      <a:lnTo>
                        <a:pt x="120" y="40"/>
                      </a:lnTo>
                      <a:lnTo>
                        <a:pt x="147" y="19"/>
                      </a:lnTo>
                      <a:lnTo>
                        <a:pt x="177" y="5"/>
                      </a:lnTo>
                      <a:lnTo>
                        <a:pt x="207" y="0"/>
                      </a:lnTo>
                      <a:lnTo>
                        <a:pt x="242" y="2"/>
                      </a:lnTo>
                      <a:lnTo>
                        <a:pt x="272" y="8"/>
                      </a:lnTo>
                      <a:lnTo>
                        <a:pt x="299" y="19"/>
                      </a:lnTo>
                      <a:lnTo>
                        <a:pt x="321" y="35"/>
                      </a:lnTo>
                      <a:lnTo>
                        <a:pt x="338" y="54"/>
                      </a:lnTo>
                      <a:lnTo>
                        <a:pt x="352" y="77"/>
                      </a:lnTo>
                      <a:lnTo>
                        <a:pt x="359" y="104"/>
                      </a:lnTo>
                      <a:lnTo>
                        <a:pt x="362" y="134"/>
                      </a:lnTo>
                      <a:lnTo>
                        <a:pt x="359" y="171"/>
                      </a:lnTo>
                      <a:lnTo>
                        <a:pt x="351" y="208"/>
                      </a:lnTo>
                      <a:lnTo>
                        <a:pt x="339" y="245"/>
                      </a:lnTo>
                      <a:lnTo>
                        <a:pt x="322" y="280"/>
                      </a:lnTo>
                      <a:lnTo>
                        <a:pt x="304" y="316"/>
                      </a:lnTo>
                      <a:lnTo>
                        <a:pt x="281" y="350"/>
                      </a:lnTo>
                      <a:lnTo>
                        <a:pt x="256" y="382"/>
                      </a:lnTo>
                      <a:lnTo>
                        <a:pt x="230" y="414"/>
                      </a:lnTo>
                      <a:lnTo>
                        <a:pt x="204" y="443"/>
                      </a:lnTo>
                      <a:lnTo>
                        <a:pt x="177" y="470"/>
                      </a:lnTo>
                      <a:lnTo>
                        <a:pt x="148" y="496"/>
                      </a:lnTo>
                      <a:lnTo>
                        <a:pt x="121" y="518"/>
                      </a:lnTo>
                      <a:lnTo>
                        <a:pt x="96" y="537"/>
                      </a:lnTo>
                      <a:lnTo>
                        <a:pt x="72" y="554"/>
                      </a:lnTo>
                      <a:lnTo>
                        <a:pt x="50" y="568"/>
                      </a:lnTo>
                      <a:lnTo>
                        <a:pt x="32" y="578"/>
                      </a:lnTo>
                      <a:lnTo>
                        <a:pt x="25" y="580"/>
                      </a:lnTo>
                      <a:lnTo>
                        <a:pt x="17" y="583"/>
                      </a:lnTo>
                      <a:lnTo>
                        <a:pt x="9" y="584"/>
                      </a:lnTo>
                      <a:lnTo>
                        <a:pt x="0" y="585"/>
                      </a:lnTo>
                      <a:lnTo>
                        <a:pt x="0" y="574"/>
                      </a:lnTo>
                      <a:close/>
                    </a:path>
                  </a:pathLst>
                </a:custGeom>
                <a:solidFill>
                  <a:srgbClr val="9900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48" name="Freeform 32"/>
                <p:cNvSpPr/>
                <p:nvPr/>
              </p:nvSpPr>
              <p:spPr bwMode="auto">
                <a:xfrm>
                  <a:off x="3515" y="1562"/>
                  <a:ext cx="64" cy="35"/>
                </a:xfrm>
                <a:custGeom>
                  <a:avLst/>
                  <a:gdLst>
                    <a:gd name="T0" fmla="*/ 0 w 64"/>
                    <a:gd name="T1" fmla="*/ 12 h 35"/>
                    <a:gd name="T2" fmla="*/ 9 w 64"/>
                    <a:gd name="T3" fmla="*/ 12 h 35"/>
                    <a:gd name="T4" fmla="*/ 16 w 64"/>
                    <a:gd name="T5" fmla="*/ 13 h 35"/>
                    <a:gd name="T6" fmla="*/ 25 w 64"/>
                    <a:gd name="T7" fmla="*/ 14 h 35"/>
                    <a:gd name="T8" fmla="*/ 34 w 64"/>
                    <a:gd name="T9" fmla="*/ 17 h 35"/>
                    <a:gd name="T10" fmla="*/ 41 w 64"/>
                    <a:gd name="T11" fmla="*/ 21 h 35"/>
                    <a:gd name="T12" fmla="*/ 48 w 64"/>
                    <a:gd name="T13" fmla="*/ 24 h 35"/>
                    <a:gd name="T14" fmla="*/ 56 w 64"/>
                    <a:gd name="T15" fmla="*/ 29 h 35"/>
                    <a:gd name="T16" fmla="*/ 62 w 64"/>
                    <a:gd name="T17" fmla="*/ 35 h 35"/>
                    <a:gd name="T18" fmla="*/ 64 w 64"/>
                    <a:gd name="T19" fmla="*/ 18 h 35"/>
                    <a:gd name="T20" fmla="*/ 63 w 64"/>
                    <a:gd name="T21" fmla="*/ 17 h 35"/>
                    <a:gd name="T22" fmla="*/ 58 w 64"/>
                    <a:gd name="T23" fmla="*/ 16 h 35"/>
                    <a:gd name="T24" fmla="*/ 52 w 64"/>
                    <a:gd name="T25" fmla="*/ 12 h 35"/>
                    <a:gd name="T26" fmla="*/ 45 w 64"/>
                    <a:gd name="T27" fmla="*/ 8 h 35"/>
                    <a:gd name="T28" fmla="*/ 35 w 64"/>
                    <a:gd name="T29" fmla="*/ 5 h 35"/>
                    <a:gd name="T30" fmla="*/ 25 w 64"/>
                    <a:gd name="T31" fmla="*/ 2 h 35"/>
                    <a:gd name="T32" fmla="*/ 15 w 64"/>
                    <a:gd name="T33" fmla="*/ 0 h 35"/>
                    <a:gd name="T34" fmla="*/ 5 w 64"/>
                    <a:gd name="T35" fmla="*/ 0 h 35"/>
                    <a:gd name="T36" fmla="*/ 0 w 64"/>
                    <a:gd name="T37" fmla="*/ 12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4" h="35">
                      <a:moveTo>
                        <a:pt x="0" y="12"/>
                      </a:moveTo>
                      <a:lnTo>
                        <a:pt x="9" y="12"/>
                      </a:lnTo>
                      <a:lnTo>
                        <a:pt x="16" y="13"/>
                      </a:lnTo>
                      <a:lnTo>
                        <a:pt x="25" y="14"/>
                      </a:lnTo>
                      <a:lnTo>
                        <a:pt x="34" y="17"/>
                      </a:lnTo>
                      <a:lnTo>
                        <a:pt x="41" y="21"/>
                      </a:lnTo>
                      <a:lnTo>
                        <a:pt x="48" y="24"/>
                      </a:lnTo>
                      <a:lnTo>
                        <a:pt x="56" y="29"/>
                      </a:lnTo>
                      <a:lnTo>
                        <a:pt x="62" y="35"/>
                      </a:lnTo>
                      <a:lnTo>
                        <a:pt x="64" y="18"/>
                      </a:lnTo>
                      <a:lnTo>
                        <a:pt x="63" y="17"/>
                      </a:lnTo>
                      <a:lnTo>
                        <a:pt x="58" y="16"/>
                      </a:lnTo>
                      <a:lnTo>
                        <a:pt x="52" y="12"/>
                      </a:lnTo>
                      <a:lnTo>
                        <a:pt x="45" y="8"/>
                      </a:lnTo>
                      <a:lnTo>
                        <a:pt x="35" y="5"/>
                      </a:lnTo>
                      <a:lnTo>
                        <a:pt x="25" y="2"/>
                      </a:lnTo>
                      <a:lnTo>
                        <a:pt x="15" y="0"/>
                      </a:lnTo>
                      <a:lnTo>
                        <a:pt x="5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49" name="Freeform 33"/>
                <p:cNvSpPr/>
                <p:nvPr/>
              </p:nvSpPr>
              <p:spPr bwMode="auto">
                <a:xfrm>
                  <a:off x="3876" y="1542"/>
                  <a:ext cx="419" cy="694"/>
                </a:xfrm>
                <a:custGeom>
                  <a:avLst/>
                  <a:gdLst>
                    <a:gd name="T0" fmla="*/ 234 w 419"/>
                    <a:gd name="T1" fmla="*/ 1 h 694"/>
                    <a:gd name="T2" fmla="*/ 281 w 419"/>
                    <a:gd name="T3" fmla="*/ 9 h 694"/>
                    <a:gd name="T4" fmla="*/ 321 w 419"/>
                    <a:gd name="T5" fmla="*/ 23 h 694"/>
                    <a:gd name="T6" fmla="*/ 354 w 419"/>
                    <a:gd name="T7" fmla="*/ 44 h 694"/>
                    <a:gd name="T8" fmla="*/ 380 w 419"/>
                    <a:gd name="T9" fmla="*/ 70 h 694"/>
                    <a:gd name="T10" fmla="*/ 400 w 419"/>
                    <a:gd name="T11" fmla="*/ 99 h 694"/>
                    <a:gd name="T12" fmla="*/ 412 w 419"/>
                    <a:gd name="T13" fmla="*/ 132 h 694"/>
                    <a:gd name="T14" fmla="*/ 418 w 419"/>
                    <a:gd name="T15" fmla="*/ 168 h 694"/>
                    <a:gd name="T16" fmla="*/ 415 w 419"/>
                    <a:gd name="T17" fmla="*/ 232 h 694"/>
                    <a:gd name="T18" fmla="*/ 393 w 419"/>
                    <a:gd name="T19" fmla="*/ 320 h 694"/>
                    <a:gd name="T20" fmla="*/ 353 w 419"/>
                    <a:gd name="T21" fmla="*/ 401 h 694"/>
                    <a:gd name="T22" fmla="*/ 299 w 419"/>
                    <a:gd name="T23" fmla="*/ 475 h 694"/>
                    <a:gd name="T24" fmla="*/ 238 w 419"/>
                    <a:gd name="T25" fmla="*/ 540 h 694"/>
                    <a:gd name="T26" fmla="*/ 174 w 419"/>
                    <a:gd name="T27" fmla="*/ 596 h 694"/>
                    <a:gd name="T28" fmla="*/ 113 w 419"/>
                    <a:gd name="T29" fmla="*/ 642 h 694"/>
                    <a:gd name="T30" fmla="*/ 60 w 419"/>
                    <a:gd name="T31" fmla="*/ 675 h 694"/>
                    <a:gd name="T32" fmla="*/ 35 w 419"/>
                    <a:gd name="T33" fmla="*/ 687 h 694"/>
                    <a:gd name="T34" fmla="*/ 25 w 419"/>
                    <a:gd name="T35" fmla="*/ 691 h 694"/>
                    <a:gd name="T36" fmla="*/ 15 w 419"/>
                    <a:gd name="T37" fmla="*/ 693 h 694"/>
                    <a:gd name="T38" fmla="*/ 5 w 419"/>
                    <a:gd name="T39" fmla="*/ 694 h 694"/>
                    <a:gd name="T40" fmla="*/ 0 w 419"/>
                    <a:gd name="T41" fmla="*/ 637 h 694"/>
                    <a:gd name="T42" fmla="*/ 16 w 419"/>
                    <a:gd name="T43" fmla="*/ 636 h 694"/>
                    <a:gd name="T44" fmla="*/ 30 w 419"/>
                    <a:gd name="T45" fmla="*/ 631 h 694"/>
                    <a:gd name="T46" fmla="*/ 69 w 419"/>
                    <a:gd name="T47" fmla="*/ 607 h 694"/>
                    <a:gd name="T48" fmla="*/ 118 w 419"/>
                    <a:gd name="T49" fmla="*/ 572 h 694"/>
                    <a:gd name="T50" fmla="*/ 170 w 419"/>
                    <a:gd name="T51" fmla="*/ 525 h 694"/>
                    <a:gd name="T52" fmla="*/ 226 w 419"/>
                    <a:gd name="T53" fmla="*/ 469 h 694"/>
                    <a:gd name="T54" fmla="*/ 276 w 419"/>
                    <a:gd name="T55" fmla="*/ 407 h 694"/>
                    <a:gd name="T56" fmla="*/ 316 w 419"/>
                    <a:gd name="T57" fmla="*/ 338 h 694"/>
                    <a:gd name="T58" fmla="*/ 344 w 419"/>
                    <a:gd name="T59" fmla="*/ 266 h 694"/>
                    <a:gd name="T60" fmla="*/ 355 w 419"/>
                    <a:gd name="T61" fmla="*/ 192 h 694"/>
                    <a:gd name="T62" fmla="*/ 346 w 419"/>
                    <a:gd name="T63" fmla="*/ 140 h 694"/>
                    <a:gd name="T64" fmla="*/ 319 w 419"/>
                    <a:gd name="T65" fmla="*/ 98 h 694"/>
                    <a:gd name="T66" fmla="*/ 272 w 419"/>
                    <a:gd name="T67" fmla="*/ 72 h 694"/>
                    <a:gd name="T68" fmla="*/ 207 w 419"/>
                    <a:gd name="T69" fmla="*/ 64 h 694"/>
                    <a:gd name="T70" fmla="*/ 155 w 419"/>
                    <a:gd name="T71" fmla="*/ 80 h 694"/>
                    <a:gd name="T72" fmla="*/ 108 w 419"/>
                    <a:gd name="T73" fmla="*/ 119 h 694"/>
                    <a:gd name="T74" fmla="*/ 66 w 419"/>
                    <a:gd name="T75" fmla="*/ 173 h 694"/>
                    <a:gd name="T76" fmla="*/ 35 w 419"/>
                    <a:gd name="T77" fmla="*/ 230 h 694"/>
                    <a:gd name="T78" fmla="*/ 19 w 419"/>
                    <a:gd name="T79" fmla="*/ 247 h 694"/>
                    <a:gd name="T80" fmla="*/ 0 w 419"/>
                    <a:gd name="T81" fmla="*/ 254 h 694"/>
                    <a:gd name="T82" fmla="*/ 1 w 419"/>
                    <a:gd name="T83" fmla="*/ 184 h 694"/>
                    <a:gd name="T84" fmla="*/ 6 w 419"/>
                    <a:gd name="T85" fmla="*/ 169 h 694"/>
                    <a:gd name="T86" fmla="*/ 19 w 419"/>
                    <a:gd name="T87" fmla="*/ 143 h 694"/>
                    <a:gd name="T88" fmla="*/ 38 w 419"/>
                    <a:gd name="T89" fmla="*/ 110 h 694"/>
                    <a:gd name="T90" fmla="*/ 63 w 419"/>
                    <a:gd name="T91" fmla="*/ 76 h 694"/>
                    <a:gd name="T92" fmla="*/ 96 w 419"/>
                    <a:gd name="T93" fmla="*/ 43 h 694"/>
                    <a:gd name="T94" fmla="*/ 135 w 419"/>
                    <a:gd name="T95" fmla="*/ 17 h 694"/>
                    <a:gd name="T96" fmla="*/ 181 w 419"/>
                    <a:gd name="T97" fmla="*/ 3 h 6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19" h="694">
                      <a:moveTo>
                        <a:pt x="207" y="0"/>
                      </a:moveTo>
                      <a:lnTo>
                        <a:pt x="234" y="1"/>
                      </a:lnTo>
                      <a:lnTo>
                        <a:pt x="259" y="4"/>
                      </a:lnTo>
                      <a:lnTo>
                        <a:pt x="281" y="9"/>
                      </a:lnTo>
                      <a:lnTo>
                        <a:pt x="302" y="15"/>
                      </a:lnTo>
                      <a:lnTo>
                        <a:pt x="321" y="23"/>
                      </a:lnTo>
                      <a:lnTo>
                        <a:pt x="338" y="33"/>
                      </a:lnTo>
                      <a:lnTo>
                        <a:pt x="354" y="44"/>
                      </a:lnTo>
                      <a:lnTo>
                        <a:pt x="368" y="56"/>
                      </a:lnTo>
                      <a:lnTo>
                        <a:pt x="380" y="70"/>
                      </a:lnTo>
                      <a:lnTo>
                        <a:pt x="391" y="85"/>
                      </a:lnTo>
                      <a:lnTo>
                        <a:pt x="400" y="99"/>
                      </a:lnTo>
                      <a:lnTo>
                        <a:pt x="407" y="115"/>
                      </a:lnTo>
                      <a:lnTo>
                        <a:pt x="412" y="132"/>
                      </a:lnTo>
                      <a:lnTo>
                        <a:pt x="415" y="150"/>
                      </a:lnTo>
                      <a:lnTo>
                        <a:pt x="418" y="168"/>
                      </a:lnTo>
                      <a:lnTo>
                        <a:pt x="419" y="186"/>
                      </a:lnTo>
                      <a:lnTo>
                        <a:pt x="415" y="232"/>
                      </a:lnTo>
                      <a:lnTo>
                        <a:pt x="407" y="276"/>
                      </a:lnTo>
                      <a:lnTo>
                        <a:pt x="393" y="320"/>
                      </a:lnTo>
                      <a:lnTo>
                        <a:pt x="375" y="360"/>
                      </a:lnTo>
                      <a:lnTo>
                        <a:pt x="353" y="401"/>
                      </a:lnTo>
                      <a:lnTo>
                        <a:pt x="327" y="439"/>
                      </a:lnTo>
                      <a:lnTo>
                        <a:pt x="299" y="475"/>
                      </a:lnTo>
                      <a:lnTo>
                        <a:pt x="270" y="508"/>
                      </a:lnTo>
                      <a:lnTo>
                        <a:pt x="238" y="540"/>
                      </a:lnTo>
                      <a:lnTo>
                        <a:pt x="206" y="570"/>
                      </a:lnTo>
                      <a:lnTo>
                        <a:pt x="174" y="596"/>
                      </a:lnTo>
                      <a:lnTo>
                        <a:pt x="144" y="620"/>
                      </a:lnTo>
                      <a:lnTo>
                        <a:pt x="113" y="642"/>
                      </a:lnTo>
                      <a:lnTo>
                        <a:pt x="86" y="659"/>
                      </a:lnTo>
                      <a:lnTo>
                        <a:pt x="60" y="675"/>
                      </a:lnTo>
                      <a:lnTo>
                        <a:pt x="38" y="686"/>
                      </a:lnTo>
                      <a:lnTo>
                        <a:pt x="35" y="687"/>
                      </a:lnTo>
                      <a:lnTo>
                        <a:pt x="30" y="690"/>
                      </a:lnTo>
                      <a:lnTo>
                        <a:pt x="25" y="691"/>
                      </a:lnTo>
                      <a:lnTo>
                        <a:pt x="20" y="692"/>
                      </a:lnTo>
                      <a:lnTo>
                        <a:pt x="15" y="693"/>
                      </a:lnTo>
                      <a:lnTo>
                        <a:pt x="10" y="693"/>
                      </a:lnTo>
                      <a:lnTo>
                        <a:pt x="5" y="694"/>
                      </a:lnTo>
                      <a:lnTo>
                        <a:pt x="0" y="694"/>
                      </a:lnTo>
                      <a:lnTo>
                        <a:pt x="0" y="637"/>
                      </a:lnTo>
                      <a:lnTo>
                        <a:pt x="9" y="637"/>
                      </a:lnTo>
                      <a:lnTo>
                        <a:pt x="16" y="636"/>
                      </a:lnTo>
                      <a:lnTo>
                        <a:pt x="23" y="633"/>
                      </a:lnTo>
                      <a:lnTo>
                        <a:pt x="30" y="631"/>
                      </a:lnTo>
                      <a:lnTo>
                        <a:pt x="48" y="621"/>
                      </a:lnTo>
                      <a:lnTo>
                        <a:pt x="69" y="607"/>
                      </a:lnTo>
                      <a:lnTo>
                        <a:pt x="92" y="592"/>
                      </a:lnTo>
                      <a:lnTo>
                        <a:pt x="118" y="572"/>
                      </a:lnTo>
                      <a:lnTo>
                        <a:pt x="144" y="550"/>
                      </a:lnTo>
                      <a:lnTo>
                        <a:pt x="170" y="525"/>
                      </a:lnTo>
                      <a:lnTo>
                        <a:pt x="199" y="499"/>
                      </a:lnTo>
                      <a:lnTo>
                        <a:pt x="226" y="469"/>
                      </a:lnTo>
                      <a:lnTo>
                        <a:pt x="251" y="439"/>
                      </a:lnTo>
                      <a:lnTo>
                        <a:pt x="276" y="407"/>
                      </a:lnTo>
                      <a:lnTo>
                        <a:pt x="298" y="372"/>
                      </a:lnTo>
                      <a:lnTo>
                        <a:pt x="316" y="338"/>
                      </a:lnTo>
                      <a:lnTo>
                        <a:pt x="333" y="303"/>
                      </a:lnTo>
                      <a:lnTo>
                        <a:pt x="344" y="266"/>
                      </a:lnTo>
                      <a:lnTo>
                        <a:pt x="353" y="229"/>
                      </a:lnTo>
                      <a:lnTo>
                        <a:pt x="355" y="192"/>
                      </a:lnTo>
                      <a:lnTo>
                        <a:pt x="353" y="164"/>
                      </a:lnTo>
                      <a:lnTo>
                        <a:pt x="346" y="140"/>
                      </a:lnTo>
                      <a:lnTo>
                        <a:pt x="335" y="118"/>
                      </a:lnTo>
                      <a:lnTo>
                        <a:pt x="319" y="98"/>
                      </a:lnTo>
                      <a:lnTo>
                        <a:pt x="298" y="83"/>
                      </a:lnTo>
                      <a:lnTo>
                        <a:pt x="272" y="72"/>
                      </a:lnTo>
                      <a:lnTo>
                        <a:pt x="242" y="66"/>
                      </a:lnTo>
                      <a:lnTo>
                        <a:pt x="207" y="64"/>
                      </a:lnTo>
                      <a:lnTo>
                        <a:pt x="180" y="67"/>
                      </a:lnTo>
                      <a:lnTo>
                        <a:pt x="155" y="80"/>
                      </a:lnTo>
                      <a:lnTo>
                        <a:pt x="130" y="97"/>
                      </a:lnTo>
                      <a:lnTo>
                        <a:pt x="108" y="119"/>
                      </a:lnTo>
                      <a:lnTo>
                        <a:pt x="86" y="145"/>
                      </a:lnTo>
                      <a:lnTo>
                        <a:pt x="66" y="173"/>
                      </a:lnTo>
                      <a:lnTo>
                        <a:pt x="49" y="202"/>
                      </a:lnTo>
                      <a:lnTo>
                        <a:pt x="35" y="230"/>
                      </a:lnTo>
                      <a:lnTo>
                        <a:pt x="27" y="240"/>
                      </a:lnTo>
                      <a:lnTo>
                        <a:pt x="19" y="247"/>
                      </a:lnTo>
                      <a:lnTo>
                        <a:pt x="9" y="252"/>
                      </a:lnTo>
                      <a:lnTo>
                        <a:pt x="0" y="254"/>
                      </a:lnTo>
                      <a:lnTo>
                        <a:pt x="0" y="186"/>
                      </a:lnTo>
                      <a:lnTo>
                        <a:pt x="1" y="184"/>
                      </a:lnTo>
                      <a:lnTo>
                        <a:pt x="3" y="178"/>
                      </a:lnTo>
                      <a:lnTo>
                        <a:pt x="6" y="169"/>
                      </a:lnTo>
                      <a:lnTo>
                        <a:pt x="12" y="157"/>
                      </a:lnTo>
                      <a:lnTo>
                        <a:pt x="19" y="143"/>
                      </a:lnTo>
                      <a:lnTo>
                        <a:pt x="27" y="127"/>
                      </a:lnTo>
                      <a:lnTo>
                        <a:pt x="38" y="110"/>
                      </a:lnTo>
                      <a:lnTo>
                        <a:pt x="49" y="93"/>
                      </a:lnTo>
                      <a:lnTo>
                        <a:pt x="63" y="76"/>
                      </a:lnTo>
                      <a:lnTo>
                        <a:pt x="79" y="59"/>
                      </a:lnTo>
                      <a:lnTo>
                        <a:pt x="96" y="43"/>
                      </a:lnTo>
                      <a:lnTo>
                        <a:pt x="114" y="30"/>
                      </a:lnTo>
                      <a:lnTo>
                        <a:pt x="135" y="17"/>
                      </a:lnTo>
                      <a:lnTo>
                        <a:pt x="157" y="9"/>
                      </a:lnTo>
                      <a:lnTo>
                        <a:pt x="181" y="3"/>
                      </a:lnTo>
                      <a:lnTo>
                        <a:pt x="207" y="0"/>
                      </a:lnTo>
                      <a:close/>
                    </a:path>
                  </a:pathLst>
                </a:custGeom>
                <a:solidFill>
                  <a:srgbClr val="F7B2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19650" name="AutoShape 34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1152"/>
              </a:xfrm>
              <a:custGeom>
                <a:avLst/>
                <a:gdLst>
                  <a:gd name="G0" fmla="+- 9002 0 0"/>
                  <a:gd name="G1" fmla="+- 11702626 0 0"/>
                  <a:gd name="G2" fmla="+- 0 0 11702626"/>
                  <a:gd name="T0" fmla="*/ 0 256 1"/>
                  <a:gd name="T1" fmla="*/ 180 256 1"/>
                  <a:gd name="G3" fmla="+- 11702626 T0 T1"/>
                  <a:gd name="T2" fmla="*/ 0 256 1"/>
                  <a:gd name="T3" fmla="*/ 90 256 1"/>
                  <a:gd name="G4" fmla="+- 11702626 T2 T3"/>
                  <a:gd name="G5" fmla="*/ G4 2 1"/>
                  <a:gd name="T4" fmla="*/ 90 256 1"/>
                  <a:gd name="T5" fmla="*/ 0 256 1"/>
                  <a:gd name="G6" fmla="+- 11702626 T4 T5"/>
                  <a:gd name="G7" fmla="*/ G6 2 1"/>
                  <a:gd name="G8" fmla="abs 11702626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9002"/>
                  <a:gd name="G18" fmla="*/ 9002 1 2"/>
                  <a:gd name="G19" fmla="+- G18 5400 0"/>
                  <a:gd name="G20" fmla="cos G19 11702626"/>
                  <a:gd name="G21" fmla="sin G19 11702626"/>
                  <a:gd name="G22" fmla="+- G20 10800 0"/>
                  <a:gd name="G23" fmla="+- G21 10800 0"/>
                  <a:gd name="G24" fmla="+- 10800 0 G20"/>
                  <a:gd name="G25" fmla="+- 9002 10800 0"/>
                  <a:gd name="G26" fmla="?: G9 G17 G25"/>
                  <a:gd name="G27" fmla="?: G9 0 21600"/>
                  <a:gd name="G28" fmla="cos 10800 11702626"/>
                  <a:gd name="G29" fmla="sin 10800 11702626"/>
                  <a:gd name="G30" fmla="sin 9002 11702626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02626 G34 0"/>
                  <a:gd name="G36" fmla="?: G6 G35 G31"/>
                  <a:gd name="G37" fmla="+- 21600 0 G36"/>
                  <a:gd name="G38" fmla="?: G4 0 G33"/>
                  <a:gd name="G39" fmla="?: 11702626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902 w 21600"/>
                  <a:gd name="T15" fmla="*/ 11047 h 21600"/>
                  <a:gd name="T16" fmla="*/ 10800 w 21600"/>
                  <a:gd name="T17" fmla="*/ 1798 h 21600"/>
                  <a:gd name="T18" fmla="*/ 20698 w 21600"/>
                  <a:gd name="T19" fmla="*/ 1104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800" y="11024"/>
                    </a:moveTo>
                    <a:cubicBezTo>
                      <a:pt x="1798" y="10950"/>
                      <a:pt x="1798" y="10875"/>
                      <a:pt x="1798" y="10800"/>
                    </a:cubicBezTo>
                    <a:cubicBezTo>
                      <a:pt x="1798" y="5828"/>
                      <a:pt x="5828" y="1798"/>
                      <a:pt x="10800" y="1798"/>
                    </a:cubicBezTo>
                    <a:cubicBezTo>
                      <a:pt x="15771" y="1798"/>
                      <a:pt x="19802" y="5828"/>
                      <a:pt x="19802" y="10800"/>
                    </a:cubicBezTo>
                    <a:cubicBezTo>
                      <a:pt x="19801" y="10875"/>
                      <a:pt x="19801" y="10950"/>
                      <a:pt x="19799" y="11024"/>
                    </a:cubicBezTo>
                    <a:lnTo>
                      <a:pt x="21596" y="11069"/>
                    </a:lnTo>
                    <a:cubicBezTo>
                      <a:pt x="21598" y="10979"/>
                      <a:pt x="21600" y="10889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0889"/>
                      <a:pt x="1" y="10979"/>
                      <a:pt x="3" y="110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9651" name="AutoShape 35"/>
              <p:cNvSpPr>
                <a:spLocks noChangeArrowheads="1"/>
              </p:cNvSpPr>
              <p:nvPr/>
            </p:nvSpPr>
            <p:spPr bwMode="auto">
              <a:xfrm>
                <a:off x="2196" y="1248"/>
                <a:ext cx="912" cy="1152"/>
              </a:xfrm>
              <a:custGeom>
                <a:avLst/>
                <a:gdLst>
                  <a:gd name="G0" fmla="+- 9002 0 0"/>
                  <a:gd name="G1" fmla="+- 11702626 0 0"/>
                  <a:gd name="G2" fmla="+- 0 0 11702626"/>
                  <a:gd name="T0" fmla="*/ 0 256 1"/>
                  <a:gd name="T1" fmla="*/ 180 256 1"/>
                  <a:gd name="G3" fmla="+- 11702626 T0 T1"/>
                  <a:gd name="T2" fmla="*/ 0 256 1"/>
                  <a:gd name="T3" fmla="*/ 90 256 1"/>
                  <a:gd name="G4" fmla="+- 11702626 T2 T3"/>
                  <a:gd name="G5" fmla="*/ G4 2 1"/>
                  <a:gd name="T4" fmla="*/ 90 256 1"/>
                  <a:gd name="T5" fmla="*/ 0 256 1"/>
                  <a:gd name="G6" fmla="+- 11702626 T4 T5"/>
                  <a:gd name="G7" fmla="*/ G6 2 1"/>
                  <a:gd name="G8" fmla="abs 11702626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9002"/>
                  <a:gd name="G18" fmla="*/ 9002 1 2"/>
                  <a:gd name="G19" fmla="+- G18 5400 0"/>
                  <a:gd name="G20" fmla="cos G19 11702626"/>
                  <a:gd name="G21" fmla="sin G19 11702626"/>
                  <a:gd name="G22" fmla="+- G20 10800 0"/>
                  <a:gd name="G23" fmla="+- G21 10800 0"/>
                  <a:gd name="G24" fmla="+- 10800 0 G20"/>
                  <a:gd name="G25" fmla="+- 9002 10800 0"/>
                  <a:gd name="G26" fmla="?: G9 G17 G25"/>
                  <a:gd name="G27" fmla="?: G9 0 21600"/>
                  <a:gd name="G28" fmla="cos 10800 11702626"/>
                  <a:gd name="G29" fmla="sin 10800 11702626"/>
                  <a:gd name="G30" fmla="sin 9002 11702626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02626 G34 0"/>
                  <a:gd name="G36" fmla="?: G6 G35 G31"/>
                  <a:gd name="G37" fmla="+- 21600 0 G36"/>
                  <a:gd name="G38" fmla="?: G4 0 G33"/>
                  <a:gd name="G39" fmla="?: 11702626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902 w 21600"/>
                  <a:gd name="T15" fmla="*/ 11047 h 21600"/>
                  <a:gd name="T16" fmla="*/ 10800 w 21600"/>
                  <a:gd name="T17" fmla="*/ 1798 h 21600"/>
                  <a:gd name="T18" fmla="*/ 20698 w 21600"/>
                  <a:gd name="T19" fmla="*/ 1104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800" y="11024"/>
                    </a:moveTo>
                    <a:cubicBezTo>
                      <a:pt x="1798" y="10950"/>
                      <a:pt x="1798" y="10875"/>
                      <a:pt x="1798" y="10800"/>
                    </a:cubicBezTo>
                    <a:cubicBezTo>
                      <a:pt x="1798" y="5828"/>
                      <a:pt x="5828" y="1798"/>
                      <a:pt x="10800" y="1798"/>
                    </a:cubicBezTo>
                    <a:cubicBezTo>
                      <a:pt x="15771" y="1798"/>
                      <a:pt x="19802" y="5828"/>
                      <a:pt x="19802" y="10800"/>
                    </a:cubicBezTo>
                    <a:cubicBezTo>
                      <a:pt x="19801" y="10875"/>
                      <a:pt x="19801" y="10950"/>
                      <a:pt x="19799" y="11024"/>
                    </a:cubicBezTo>
                    <a:lnTo>
                      <a:pt x="21596" y="11069"/>
                    </a:lnTo>
                    <a:cubicBezTo>
                      <a:pt x="21598" y="10979"/>
                      <a:pt x="21600" y="10889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0889"/>
                      <a:pt x="1" y="10979"/>
                      <a:pt x="3" y="110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19652" name="Group 36"/>
            <p:cNvGrpSpPr/>
            <p:nvPr/>
          </p:nvGrpSpPr>
          <p:grpSpPr bwMode="auto">
            <a:xfrm rot="4638690">
              <a:off x="3017" y="775"/>
              <a:ext cx="352" cy="241"/>
              <a:chOff x="4034" y="2080"/>
              <a:chExt cx="862" cy="452"/>
            </a:xfrm>
          </p:grpSpPr>
          <p:grpSp>
            <p:nvGrpSpPr>
              <p:cNvPr id="1519653" name="Group 37"/>
              <p:cNvGrpSpPr/>
              <p:nvPr/>
            </p:nvGrpSpPr>
            <p:grpSpPr bwMode="auto">
              <a:xfrm>
                <a:off x="4034" y="2080"/>
                <a:ext cx="326" cy="452"/>
                <a:chOff x="4034" y="2080"/>
                <a:chExt cx="326" cy="452"/>
              </a:xfrm>
            </p:grpSpPr>
            <p:sp>
              <p:nvSpPr>
                <p:cNvPr id="1519654" name="Oval 38"/>
                <p:cNvSpPr>
                  <a:spLocks noChangeArrowheads="1"/>
                </p:cNvSpPr>
                <p:nvPr/>
              </p:nvSpPr>
              <p:spPr bwMode="auto">
                <a:xfrm>
                  <a:off x="4034" y="2107"/>
                  <a:ext cx="326" cy="425"/>
                </a:xfrm>
                <a:prstGeom prst="ellipse">
                  <a:avLst/>
                </a:prstGeom>
                <a:solidFill>
                  <a:srgbClr val="606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55" name="Oval 39"/>
                <p:cNvSpPr>
                  <a:spLocks noChangeArrowheads="1"/>
                </p:cNvSpPr>
                <p:nvPr/>
              </p:nvSpPr>
              <p:spPr bwMode="auto">
                <a:xfrm>
                  <a:off x="4034" y="2080"/>
                  <a:ext cx="326" cy="424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56" name="Oval 40"/>
                <p:cNvSpPr>
                  <a:spLocks noChangeArrowheads="1"/>
                </p:cNvSpPr>
                <p:nvPr/>
              </p:nvSpPr>
              <p:spPr bwMode="auto">
                <a:xfrm>
                  <a:off x="4048" y="2098"/>
                  <a:ext cx="298" cy="404"/>
                </a:xfrm>
                <a:prstGeom prst="ellipse">
                  <a:avLst/>
                </a:prstGeom>
                <a:solidFill>
                  <a:srgbClr val="A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519657" name="Group 41"/>
                <p:cNvGrpSpPr/>
                <p:nvPr/>
              </p:nvGrpSpPr>
              <p:grpSpPr bwMode="auto">
                <a:xfrm>
                  <a:off x="4063" y="2243"/>
                  <a:ext cx="77" cy="118"/>
                  <a:chOff x="4063" y="2243"/>
                  <a:chExt cx="77" cy="118"/>
                </a:xfrm>
              </p:grpSpPr>
              <p:sp>
                <p:nvSpPr>
                  <p:cNvPr id="1519658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4063" y="2243"/>
                    <a:ext cx="77" cy="118"/>
                  </a:xfrm>
                  <a:prstGeom prst="ellipse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9659" name="Oval 43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2269"/>
                    <a:ext cx="61" cy="92"/>
                  </a:xfrm>
                  <a:prstGeom prst="ellipse">
                    <a:avLst/>
                  </a:pr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19660" name="Group 44"/>
              <p:cNvGrpSpPr/>
              <p:nvPr/>
            </p:nvGrpSpPr>
            <p:grpSpPr bwMode="auto">
              <a:xfrm>
                <a:off x="4334" y="2220"/>
                <a:ext cx="562" cy="172"/>
                <a:chOff x="4334" y="2220"/>
                <a:chExt cx="562" cy="172"/>
              </a:xfrm>
            </p:grpSpPr>
            <p:sp>
              <p:nvSpPr>
                <p:cNvPr id="1519661" name="Freeform 45"/>
                <p:cNvSpPr/>
                <p:nvPr/>
              </p:nvSpPr>
              <p:spPr bwMode="auto">
                <a:xfrm>
                  <a:off x="4334" y="2243"/>
                  <a:ext cx="562" cy="149"/>
                </a:xfrm>
                <a:custGeom>
                  <a:avLst/>
                  <a:gdLst>
                    <a:gd name="T0" fmla="*/ 0 w 1124"/>
                    <a:gd name="T1" fmla="*/ 0 h 297"/>
                    <a:gd name="T2" fmla="*/ 1124 w 1124"/>
                    <a:gd name="T3" fmla="*/ 99 h 297"/>
                    <a:gd name="T4" fmla="*/ 1124 w 1124"/>
                    <a:gd name="T5" fmla="*/ 149 h 297"/>
                    <a:gd name="T6" fmla="*/ 1050 w 1124"/>
                    <a:gd name="T7" fmla="*/ 297 h 297"/>
                    <a:gd name="T8" fmla="*/ 900 w 1124"/>
                    <a:gd name="T9" fmla="*/ 297 h 297"/>
                    <a:gd name="T10" fmla="*/ 900 w 1124"/>
                    <a:gd name="T11" fmla="*/ 224 h 297"/>
                    <a:gd name="T12" fmla="*/ 824 w 1124"/>
                    <a:gd name="T13" fmla="*/ 224 h 297"/>
                    <a:gd name="T14" fmla="*/ 824 w 1124"/>
                    <a:gd name="T15" fmla="*/ 297 h 297"/>
                    <a:gd name="T16" fmla="*/ 751 w 1124"/>
                    <a:gd name="T17" fmla="*/ 297 h 297"/>
                    <a:gd name="T18" fmla="*/ 751 w 1124"/>
                    <a:gd name="T19" fmla="*/ 224 h 297"/>
                    <a:gd name="T20" fmla="*/ 600 w 1124"/>
                    <a:gd name="T21" fmla="*/ 224 h 297"/>
                    <a:gd name="T22" fmla="*/ 600 w 1124"/>
                    <a:gd name="T23" fmla="*/ 297 h 297"/>
                    <a:gd name="T24" fmla="*/ 525 w 1124"/>
                    <a:gd name="T25" fmla="*/ 297 h 297"/>
                    <a:gd name="T26" fmla="*/ 450 w 1124"/>
                    <a:gd name="T27" fmla="*/ 224 h 297"/>
                    <a:gd name="T28" fmla="*/ 375 w 1124"/>
                    <a:gd name="T29" fmla="*/ 297 h 297"/>
                    <a:gd name="T30" fmla="*/ 299 w 1124"/>
                    <a:gd name="T31" fmla="*/ 224 h 297"/>
                    <a:gd name="T32" fmla="*/ 299 w 1124"/>
                    <a:gd name="T33" fmla="*/ 297 h 297"/>
                    <a:gd name="T34" fmla="*/ 224 w 1124"/>
                    <a:gd name="T35" fmla="*/ 297 h 297"/>
                    <a:gd name="T36" fmla="*/ 224 w 1124"/>
                    <a:gd name="T37" fmla="*/ 224 h 297"/>
                    <a:gd name="T38" fmla="*/ 150 w 1124"/>
                    <a:gd name="T39" fmla="*/ 224 h 297"/>
                    <a:gd name="T40" fmla="*/ 74 w 1124"/>
                    <a:gd name="T41" fmla="*/ 297 h 297"/>
                    <a:gd name="T42" fmla="*/ 0 w 1124"/>
                    <a:gd name="T43" fmla="*/ 297 h 297"/>
                    <a:gd name="T44" fmla="*/ 0 w 1124"/>
                    <a:gd name="T45" fmla="*/ 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124" h="297">
                      <a:moveTo>
                        <a:pt x="0" y="0"/>
                      </a:moveTo>
                      <a:lnTo>
                        <a:pt x="1124" y="99"/>
                      </a:lnTo>
                      <a:lnTo>
                        <a:pt x="1124" y="149"/>
                      </a:lnTo>
                      <a:lnTo>
                        <a:pt x="1050" y="297"/>
                      </a:lnTo>
                      <a:lnTo>
                        <a:pt x="900" y="297"/>
                      </a:lnTo>
                      <a:lnTo>
                        <a:pt x="900" y="224"/>
                      </a:lnTo>
                      <a:lnTo>
                        <a:pt x="824" y="224"/>
                      </a:lnTo>
                      <a:lnTo>
                        <a:pt x="824" y="297"/>
                      </a:lnTo>
                      <a:lnTo>
                        <a:pt x="751" y="297"/>
                      </a:lnTo>
                      <a:lnTo>
                        <a:pt x="751" y="224"/>
                      </a:lnTo>
                      <a:lnTo>
                        <a:pt x="600" y="224"/>
                      </a:lnTo>
                      <a:lnTo>
                        <a:pt x="600" y="297"/>
                      </a:lnTo>
                      <a:lnTo>
                        <a:pt x="525" y="297"/>
                      </a:lnTo>
                      <a:lnTo>
                        <a:pt x="450" y="224"/>
                      </a:lnTo>
                      <a:lnTo>
                        <a:pt x="375" y="297"/>
                      </a:lnTo>
                      <a:lnTo>
                        <a:pt x="299" y="224"/>
                      </a:lnTo>
                      <a:lnTo>
                        <a:pt x="299" y="297"/>
                      </a:lnTo>
                      <a:lnTo>
                        <a:pt x="224" y="297"/>
                      </a:lnTo>
                      <a:lnTo>
                        <a:pt x="224" y="224"/>
                      </a:lnTo>
                      <a:lnTo>
                        <a:pt x="150" y="224"/>
                      </a:lnTo>
                      <a:lnTo>
                        <a:pt x="74" y="297"/>
                      </a:lnTo>
                      <a:lnTo>
                        <a:pt x="0" y="29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62" name="Freeform 46"/>
                <p:cNvSpPr/>
                <p:nvPr/>
              </p:nvSpPr>
              <p:spPr bwMode="auto">
                <a:xfrm>
                  <a:off x="4334" y="2220"/>
                  <a:ext cx="562" cy="148"/>
                </a:xfrm>
                <a:custGeom>
                  <a:avLst/>
                  <a:gdLst>
                    <a:gd name="T0" fmla="*/ 0 w 1124"/>
                    <a:gd name="T1" fmla="*/ 0 h 296"/>
                    <a:gd name="T2" fmla="*/ 1050 w 1124"/>
                    <a:gd name="T3" fmla="*/ 0 h 296"/>
                    <a:gd name="T4" fmla="*/ 1124 w 1124"/>
                    <a:gd name="T5" fmla="*/ 147 h 296"/>
                    <a:gd name="T6" fmla="*/ 1050 w 1124"/>
                    <a:gd name="T7" fmla="*/ 296 h 296"/>
                    <a:gd name="T8" fmla="*/ 900 w 1124"/>
                    <a:gd name="T9" fmla="*/ 296 h 296"/>
                    <a:gd name="T10" fmla="*/ 900 w 1124"/>
                    <a:gd name="T11" fmla="*/ 222 h 296"/>
                    <a:gd name="T12" fmla="*/ 824 w 1124"/>
                    <a:gd name="T13" fmla="*/ 222 h 296"/>
                    <a:gd name="T14" fmla="*/ 824 w 1124"/>
                    <a:gd name="T15" fmla="*/ 296 h 296"/>
                    <a:gd name="T16" fmla="*/ 751 w 1124"/>
                    <a:gd name="T17" fmla="*/ 296 h 296"/>
                    <a:gd name="T18" fmla="*/ 751 w 1124"/>
                    <a:gd name="T19" fmla="*/ 222 h 296"/>
                    <a:gd name="T20" fmla="*/ 600 w 1124"/>
                    <a:gd name="T21" fmla="*/ 222 h 296"/>
                    <a:gd name="T22" fmla="*/ 600 w 1124"/>
                    <a:gd name="T23" fmla="*/ 296 h 296"/>
                    <a:gd name="T24" fmla="*/ 525 w 1124"/>
                    <a:gd name="T25" fmla="*/ 296 h 296"/>
                    <a:gd name="T26" fmla="*/ 450 w 1124"/>
                    <a:gd name="T27" fmla="*/ 222 h 296"/>
                    <a:gd name="T28" fmla="*/ 375 w 1124"/>
                    <a:gd name="T29" fmla="*/ 296 h 296"/>
                    <a:gd name="T30" fmla="*/ 299 w 1124"/>
                    <a:gd name="T31" fmla="*/ 222 h 296"/>
                    <a:gd name="T32" fmla="*/ 299 w 1124"/>
                    <a:gd name="T33" fmla="*/ 296 h 296"/>
                    <a:gd name="T34" fmla="*/ 224 w 1124"/>
                    <a:gd name="T35" fmla="*/ 296 h 296"/>
                    <a:gd name="T36" fmla="*/ 224 w 1124"/>
                    <a:gd name="T37" fmla="*/ 222 h 296"/>
                    <a:gd name="T38" fmla="*/ 150 w 1124"/>
                    <a:gd name="T39" fmla="*/ 222 h 296"/>
                    <a:gd name="T40" fmla="*/ 74 w 1124"/>
                    <a:gd name="T41" fmla="*/ 296 h 296"/>
                    <a:gd name="T42" fmla="*/ 0 w 1124"/>
                    <a:gd name="T43" fmla="*/ 296 h 296"/>
                    <a:gd name="T44" fmla="*/ 0 w 1124"/>
                    <a:gd name="T45" fmla="*/ 0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124" h="296">
                      <a:moveTo>
                        <a:pt x="0" y="0"/>
                      </a:moveTo>
                      <a:lnTo>
                        <a:pt x="1050" y="0"/>
                      </a:lnTo>
                      <a:lnTo>
                        <a:pt x="1124" y="147"/>
                      </a:lnTo>
                      <a:lnTo>
                        <a:pt x="1050" y="296"/>
                      </a:lnTo>
                      <a:lnTo>
                        <a:pt x="900" y="296"/>
                      </a:lnTo>
                      <a:lnTo>
                        <a:pt x="900" y="222"/>
                      </a:lnTo>
                      <a:lnTo>
                        <a:pt x="824" y="222"/>
                      </a:lnTo>
                      <a:lnTo>
                        <a:pt x="824" y="296"/>
                      </a:lnTo>
                      <a:lnTo>
                        <a:pt x="751" y="296"/>
                      </a:lnTo>
                      <a:lnTo>
                        <a:pt x="751" y="222"/>
                      </a:lnTo>
                      <a:lnTo>
                        <a:pt x="600" y="222"/>
                      </a:lnTo>
                      <a:lnTo>
                        <a:pt x="600" y="296"/>
                      </a:lnTo>
                      <a:lnTo>
                        <a:pt x="525" y="296"/>
                      </a:lnTo>
                      <a:lnTo>
                        <a:pt x="450" y="222"/>
                      </a:lnTo>
                      <a:lnTo>
                        <a:pt x="375" y="296"/>
                      </a:lnTo>
                      <a:lnTo>
                        <a:pt x="299" y="222"/>
                      </a:lnTo>
                      <a:lnTo>
                        <a:pt x="299" y="296"/>
                      </a:lnTo>
                      <a:lnTo>
                        <a:pt x="224" y="296"/>
                      </a:lnTo>
                      <a:lnTo>
                        <a:pt x="224" y="222"/>
                      </a:lnTo>
                      <a:lnTo>
                        <a:pt x="150" y="222"/>
                      </a:lnTo>
                      <a:lnTo>
                        <a:pt x="74" y="296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63" name="Freeform 47"/>
                <p:cNvSpPr/>
                <p:nvPr/>
              </p:nvSpPr>
              <p:spPr bwMode="auto">
                <a:xfrm>
                  <a:off x="4382" y="2256"/>
                  <a:ext cx="514" cy="38"/>
                </a:xfrm>
                <a:custGeom>
                  <a:avLst/>
                  <a:gdLst>
                    <a:gd name="T0" fmla="*/ 0 w 1029"/>
                    <a:gd name="T1" fmla="*/ 0 h 75"/>
                    <a:gd name="T2" fmla="*/ 994 w 1029"/>
                    <a:gd name="T3" fmla="*/ 0 h 75"/>
                    <a:gd name="T4" fmla="*/ 1029 w 1029"/>
                    <a:gd name="T5" fmla="*/ 75 h 75"/>
                    <a:gd name="T6" fmla="*/ 0 w 1029"/>
                    <a:gd name="T7" fmla="*/ 75 h 75"/>
                    <a:gd name="T8" fmla="*/ 0 w 1029"/>
                    <a:gd name="T9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29" h="75">
                      <a:moveTo>
                        <a:pt x="0" y="0"/>
                      </a:moveTo>
                      <a:lnTo>
                        <a:pt x="994" y="0"/>
                      </a:lnTo>
                      <a:lnTo>
                        <a:pt x="1029" y="75"/>
                      </a:lnTo>
                      <a:lnTo>
                        <a:pt x="0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64" name="Rectangle 48"/>
                <p:cNvSpPr>
                  <a:spLocks noChangeArrowheads="1"/>
                </p:cNvSpPr>
                <p:nvPr/>
              </p:nvSpPr>
              <p:spPr bwMode="auto">
                <a:xfrm>
                  <a:off x="4390" y="2319"/>
                  <a:ext cx="486" cy="6"/>
                </a:xfrm>
                <a:prstGeom prst="rect">
                  <a:avLst/>
                </a:pr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65" name="Rectangle 49"/>
                <p:cNvSpPr>
                  <a:spLocks noChangeArrowheads="1"/>
                </p:cNvSpPr>
                <p:nvPr/>
              </p:nvSpPr>
              <p:spPr bwMode="auto">
                <a:xfrm>
                  <a:off x="4373" y="2227"/>
                  <a:ext cx="486" cy="6"/>
                </a:xfrm>
                <a:prstGeom prst="rect">
                  <a:avLst/>
                </a:pr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519666" name="Group 50"/>
          <p:cNvGrpSpPr/>
          <p:nvPr/>
        </p:nvGrpSpPr>
        <p:grpSpPr bwMode="auto">
          <a:xfrm>
            <a:off x="10233749" y="2894449"/>
            <a:ext cx="1139370" cy="1144442"/>
            <a:chOff x="2352" y="2160"/>
            <a:chExt cx="1476" cy="1600"/>
          </a:xfrm>
        </p:grpSpPr>
        <p:grpSp>
          <p:nvGrpSpPr>
            <p:cNvPr id="1519667" name="Group 51"/>
            <p:cNvGrpSpPr/>
            <p:nvPr/>
          </p:nvGrpSpPr>
          <p:grpSpPr bwMode="auto">
            <a:xfrm>
              <a:off x="2352" y="2400"/>
              <a:ext cx="1476" cy="1104"/>
              <a:chOff x="2268" y="2592"/>
              <a:chExt cx="2148" cy="1152"/>
            </a:xfrm>
          </p:grpSpPr>
          <p:sp>
            <p:nvSpPr>
              <p:cNvPr id="1519668" name="AutoShape 52"/>
              <p:cNvSpPr>
                <a:spLocks noChangeArrowheads="1"/>
              </p:cNvSpPr>
              <p:nvPr/>
            </p:nvSpPr>
            <p:spPr bwMode="auto">
              <a:xfrm flipV="1">
                <a:off x="2268" y="2592"/>
                <a:ext cx="912" cy="1152"/>
              </a:xfrm>
              <a:custGeom>
                <a:avLst/>
                <a:gdLst>
                  <a:gd name="G0" fmla="+- 9002 0 0"/>
                  <a:gd name="G1" fmla="+- 11702626 0 0"/>
                  <a:gd name="G2" fmla="+- 0 0 11702626"/>
                  <a:gd name="T0" fmla="*/ 0 256 1"/>
                  <a:gd name="T1" fmla="*/ 180 256 1"/>
                  <a:gd name="G3" fmla="+- 11702626 T0 T1"/>
                  <a:gd name="T2" fmla="*/ 0 256 1"/>
                  <a:gd name="T3" fmla="*/ 90 256 1"/>
                  <a:gd name="G4" fmla="+- 11702626 T2 T3"/>
                  <a:gd name="G5" fmla="*/ G4 2 1"/>
                  <a:gd name="T4" fmla="*/ 90 256 1"/>
                  <a:gd name="T5" fmla="*/ 0 256 1"/>
                  <a:gd name="G6" fmla="+- 11702626 T4 T5"/>
                  <a:gd name="G7" fmla="*/ G6 2 1"/>
                  <a:gd name="G8" fmla="abs 11702626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9002"/>
                  <a:gd name="G18" fmla="*/ 9002 1 2"/>
                  <a:gd name="G19" fmla="+- G18 5400 0"/>
                  <a:gd name="G20" fmla="cos G19 11702626"/>
                  <a:gd name="G21" fmla="sin G19 11702626"/>
                  <a:gd name="G22" fmla="+- G20 10800 0"/>
                  <a:gd name="G23" fmla="+- G21 10800 0"/>
                  <a:gd name="G24" fmla="+- 10800 0 G20"/>
                  <a:gd name="G25" fmla="+- 9002 10800 0"/>
                  <a:gd name="G26" fmla="?: G9 G17 G25"/>
                  <a:gd name="G27" fmla="?: G9 0 21600"/>
                  <a:gd name="G28" fmla="cos 10800 11702626"/>
                  <a:gd name="G29" fmla="sin 10800 11702626"/>
                  <a:gd name="G30" fmla="sin 9002 11702626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02626 G34 0"/>
                  <a:gd name="G36" fmla="?: G6 G35 G31"/>
                  <a:gd name="G37" fmla="+- 21600 0 G36"/>
                  <a:gd name="G38" fmla="?: G4 0 G33"/>
                  <a:gd name="G39" fmla="?: 11702626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902 w 21600"/>
                  <a:gd name="T15" fmla="*/ 11047 h 21600"/>
                  <a:gd name="T16" fmla="*/ 10800 w 21600"/>
                  <a:gd name="T17" fmla="*/ 1798 h 21600"/>
                  <a:gd name="T18" fmla="*/ 20698 w 21600"/>
                  <a:gd name="T19" fmla="*/ 1104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800" y="11024"/>
                    </a:moveTo>
                    <a:cubicBezTo>
                      <a:pt x="1798" y="10950"/>
                      <a:pt x="1798" y="10875"/>
                      <a:pt x="1798" y="10800"/>
                    </a:cubicBezTo>
                    <a:cubicBezTo>
                      <a:pt x="1798" y="5828"/>
                      <a:pt x="5828" y="1798"/>
                      <a:pt x="10800" y="1798"/>
                    </a:cubicBezTo>
                    <a:cubicBezTo>
                      <a:pt x="15771" y="1798"/>
                      <a:pt x="19802" y="5828"/>
                      <a:pt x="19802" y="10800"/>
                    </a:cubicBezTo>
                    <a:cubicBezTo>
                      <a:pt x="19801" y="10875"/>
                      <a:pt x="19801" y="10950"/>
                      <a:pt x="19799" y="11024"/>
                    </a:cubicBezTo>
                    <a:lnTo>
                      <a:pt x="21596" y="11069"/>
                    </a:lnTo>
                    <a:cubicBezTo>
                      <a:pt x="21598" y="10979"/>
                      <a:pt x="21600" y="10889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0889"/>
                      <a:pt x="1" y="10979"/>
                      <a:pt x="3" y="110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9669" name="AutoShape 53"/>
              <p:cNvSpPr>
                <a:spLocks noChangeArrowheads="1"/>
              </p:cNvSpPr>
              <p:nvPr/>
            </p:nvSpPr>
            <p:spPr bwMode="auto">
              <a:xfrm flipV="1">
                <a:off x="3504" y="2592"/>
                <a:ext cx="912" cy="1152"/>
              </a:xfrm>
              <a:custGeom>
                <a:avLst/>
                <a:gdLst>
                  <a:gd name="G0" fmla="+- 9002 0 0"/>
                  <a:gd name="G1" fmla="+- 11702626 0 0"/>
                  <a:gd name="G2" fmla="+- 0 0 11702626"/>
                  <a:gd name="T0" fmla="*/ 0 256 1"/>
                  <a:gd name="T1" fmla="*/ 180 256 1"/>
                  <a:gd name="G3" fmla="+- 11702626 T0 T1"/>
                  <a:gd name="T2" fmla="*/ 0 256 1"/>
                  <a:gd name="T3" fmla="*/ 90 256 1"/>
                  <a:gd name="G4" fmla="+- 11702626 T2 T3"/>
                  <a:gd name="G5" fmla="*/ G4 2 1"/>
                  <a:gd name="T4" fmla="*/ 90 256 1"/>
                  <a:gd name="T5" fmla="*/ 0 256 1"/>
                  <a:gd name="G6" fmla="+- 11702626 T4 T5"/>
                  <a:gd name="G7" fmla="*/ G6 2 1"/>
                  <a:gd name="G8" fmla="abs 11702626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9002"/>
                  <a:gd name="G18" fmla="*/ 9002 1 2"/>
                  <a:gd name="G19" fmla="+- G18 5400 0"/>
                  <a:gd name="G20" fmla="cos G19 11702626"/>
                  <a:gd name="G21" fmla="sin G19 11702626"/>
                  <a:gd name="G22" fmla="+- G20 10800 0"/>
                  <a:gd name="G23" fmla="+- G21 10800 0"/>
                  <a:gd name="G24" fmla="+- 10800 0 G20"/>
                  <a:gd name="G25" fmla="+- 9002 10800 0"/>
                  <a:gd name="G26" fmla="?: G9 G17 G25"/>
                  <a:gd name="G27" fmla="?: G9 0 21600"/>
                  <a:gd name="G28" fmla="cos 10800 11702626"/>
                  <a:gd name="G29" fmla="sin 10800 11702626"/>
                  <a:gd name="G30" fmla="sin 9002 11702626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02626 G34 0"/>
                  <a:gd name="G36" fmla="?: G6 G35 G31"/>
                  <a:gd name="G37" fmla="+- 21600 0 G36"/>
                  <a:gd name="G38" fmla="?: G4 0 G33"/>
                  <a:gd name="G39" fmla="?: 11702626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902 w 21600"/>
                  <a:gd name="T15" fmla="*/ 11047 h 21600"/>
                  <a:gd name="T16" fmla="*/ 10800 w 21600"/>
                  <a:gd name="T17" fmla="*/ 1798 h 21600"/>
                  <a:gd name="T18" fmla="*/ 20698 w 21600"/>
                  <a:gd name="T19" fmla="*/ 1104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800" y="11024"/>
                    </a:moveTo>
                    <a:cubicBezTo>
                      <a:pt x="1798" y="10950"/>
                      <a:pt x="1798" y="10875"/>
                      <a:pt x="1798" y="10800"/>
                    </a:cubicBezTo>
                    <a:cubicBezTo>
                      <a:pt x="1798" y="5828"/>
                      <a:pt x="5828" y="1798"/>
                      <a:pt x="10800" y="1798"/>
                    </a:cubicBezTo>
                    <a:cubicBezTo>
                      <a:pt x="15771" y="1798"/>
                      <a:pt x="19802" y="5828"/>
                      <a:pt x="19802" y="10800"/>
                    </a:cubicBezTo>
                    <a:cubicBezTo>
                      <a:pt x="19801" y="10875"/>
                      <a:pt x="19801" y="10950"/>
                      <a:pt x="19799" y="11024"/>
                    </a:cubicBezTo>
                    <a:lnTo>
                      <a:pt x="21596" y="11069"/>
                    </a:lnTo>
                    <a:cubicBezTo>
                      <a:pt x="21598" y="10979"/>
                      <a:pt x="21600" y="10889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0889"/>
                      <a:pt x="1" y="10979"/>
                      <a:pt x="3" y="110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19670" name="Group 54"/>
              <p:cNvGrpSpPr/>
              <p:nvPr/>
            </p:nvGrpSpPr>
            <p:grpSpPr bwMode="auto">
              <a:xfrm>
                <a:off x="2928" y="2704"/>
                <a:ext cx="848" cy="704"/>
                <a:chOff x="2320" y="1552"/>
                <a:chExt cx="848" cy="704"/>
              </a:xfrm>
            </p:grpSpPr>
            <p:sp>
              <p:nvSpPr>
                <p:cNvPr id="1519671" name="Freeform 55"/>
                <p:cNvSpPr/>
                <p:nvPr/>
              </p:nvSpPr>
              <p:spPr bwMode="auto">
                <a:xfrm>
                  <a:off x="2327" y="1557"/>
                  <a:ext cx="417" cy="694"/>
                </a:xfrm>
                <a:custGeom>
                  <a:avLst/>
                  <a:gdLst>
                    <a:gd name="T0" fmla="*/ 183 w 417"/>
                    <a:gd name="T1" fmla="*/ 1 h 694"/>
                    <a:gd name="T2" fmla="*/ 137 w 417"/>
                    <a:gd name="T3" fmla="*/ 9 h 694"/>
                    <a:gd name="T4" fmla="*/ 96 w 417"/>
                    <a:gd name="T5" fmla="*/ 23 h 694"/>
                    <a:gd name="T6" fmla="*/ 64 w 417"/>
                    <a:gd name="T7" fmla="*/ 44 h 694"/>
                    <a:gd name="T8" fmla="*/ 39 w 417"/>
                    <a:gd name="T9" fmla="*/ 70 h 694"/>
                    <a:gd name="T10" fmla="*/ 19 w 417"/>
                    <a:gd name="T11" fmla="*/ 99 h 694"/>
                    <a:gd name="T12" fmla="*/ 7 w 417"/>
                    <a:gd name="T13" fmla="*/ 132 h 694"/>
                    <a:gd name="T14" fmla="*/ 1 w 417"/>
                    <a:gd name="T15" fmla="*/ 168 h 694"/>
                    <a:gd name="T16" fmla="*/ 3 w 417"/>
                    <a:gd name="T17" fmla="*/ 232 h 694"/>
                    <a:gd name="T18" fmla="*/ 25 w 417"/>
                    <a:gd name="T19" fmla="*/ 320 h 694"/>
                    <a:gd name="T20" fmla="*/ 66 w 417"/>
                    <a:gd name="T21" fmla="*/ 401 h 694"/>
                    <a:gd name="T22" fmla="*/ 118 w 417"/>
                    <a:gd name="T23" fmla="*/ 475 h 694"/>
                    <a:gd name="T24" fmla="*/ 180 w 417"/>
                    <a:gd name="T25" fmla="*/ 540 h 694"/>
                    <a:gd name="T26" fmla="*/ 243 w 417"/>
                    <a:gd name="T27" fmla="*/ 596 h 694"/>
                    <a:gd name="T28" fmla="*/ 303 w 417"/>
                    <a:gd name="T29" fmla="*/ 642 h 694"/>
                    <a:gd name="T30" fmla="*/ 357 w 417"/>
                    <a:gd name="T31" fmla="*/ 675 h 694"/>
                    <a:gd name="T32" fmla="*/ 383 w 417"/>
                    <a:gd name="T33" fmla="*/ 687 h 694"/>
                    <a:gd name="T34" fmla="*/ 392 w 417"/>
                    <a:gd name="T35" fmla="*/ 691 h 694"/>
                    <a:gd name="T36" fmla="*/ 401 w 417"/>
                    <a:gd name="T37" fmla="*/ 693 h 694"/>
                    <a:gd name="T38" fmla="*/ 412 w 417"/>
                    <a:gd name="T39" fmla="*/ 694 h 694"/>
                    <a:gd name="T40" fmla="*/ 417 w 417"/>
                    <a:gd name="T41" fmla="*/ 637 h 694"/>
                    <a:gd name="T42" fmla="*/ 400 w 417"/>
                    <a:gd name="T43" fmla="*/ 636 h 694"/>
                    <a:gd name="T44" fmla="*/ 387 w 417"/>
                    <a:gd name="T45" fmla="*/ 631 h 694"/>
                    <a:gd name="T46" fmla="*/ 347 w 417"/>
                    <a:gd name="T47" fmla="*/ 607 h 694"/>
                    <a:gd name="T48" fmla="*/ 300 w 417"/>
                    <a:gd name="T49" fmla="*/ 572 h 694"/>
                    <a:gd name="T50" fmla="*/ 246 w 417"/>
                    <a:gd name="T51" fmla="*/ 525 h 694"/>
                    <a:gd name="T52" fmla="*/ 192 w 417"/>
                    <a:gd name="T53" fmla="*/ 469 h 694"/>
                    <a:gd name="T54" fmla="*/ 142 w 417"/>
                    <a:gd name="T55" fmla="*/ 407 h 694"/>
                    <a:gd name="T56" fmla="*/ 100 w 417"/>
                    <a:gd name="T57" fmla="*/ 338 h 694"/>
                    <a:gd name="T58" fmla="*/ 72 w 417"/>
                    <a:gd name="T59" fmla="*/ 266 h 694"/>
                    <a:gd name="T60" fmla="*/ 62 w 417"/>
                    <a:gd name="T61" fmla="*/ 192 h 694"/>
                    <a:gd name="T62" fmla="*/ 72 w 417"/>
                    <a:gd name="T63" fmla="*/ 140 h 694"/>
                    <a:gd name="T64" fmla="*/ 99 w 417"/>
                    <a:gd name="T65" fmla="*/ 98 h 694"/>
                    <a:gd name="T66" fmla="*/ 145 w 417"/>
                    <a:gd name="T67" fmla="*/ 72 h 694"/>
                    <a:gd name="T68" fmla="*/ 209 w 417"/>
                    <a:gd name="T69" fmla="*/ 64 h 694"/>
                    <a:gd name="T70" fmla="*/ 262 w 417"/>
                    <a:gd name="T71" fmla="*/ 80 h 694"/>
                    <a:gd name="T72" fmla="*/ 309 w 417"/>
                    <a:gd name="T73" fmla="*/ 119 h 694"/>
                    <a:gd name="T74" fmla="*/ 350 w 417"/>
                    <a:gd name="T75" fmla="*/ 173 h 694"/>
                    <a:gd name="T76" fmla="*/ 383 w 417"/>
                    <a:gd name="T77" fmla="*/ 230 h 694"/>
                    <a:gd name="T78" fmla="*/ 399 w 417"/>
                    <a:gd name="T79" fmla="*/ 247 h 694"/>
                    <a:gd name="T80" fmla="*/ 417 w 417"/>
                    <a:gd name="T81" fmla="*/ 254 h 694"/>
                    <a:gd name="T82" fmla="*/ 416 w 417"/>
                    <a:gd name="T83" fmla="*/ 184 h 694"/>
                    <a:gd name="T84" fmla="*/ 410 w 417"/>
                    <a:gd name="T85" fmla="*/ 169 h 694"/>
                    <a:gd name="T86" fmla="*/ 398 w 417"/>
                    <a:gd name="T87" fmla="*/ 143 h 694"/>
                    <a:gd name="T88" fmla="*/ 379 w 417"/>
                    <a:gd name="T89" fmla="*/ 110 h 694"/>
                    <a:gd name="T90" fmla="*/ 354 w 417"/>
                    <a:gd name="T91" fmla="*/ 76 h 694"/>
                    <a:gd name="T92" fmla="*/ 322 w 417"/>
                    <a:gd name="T93" fmla="*/ 43 h 694"/>
                    <a:gd name="T94" fmla="*/ 282 w 417"/>
                    <a:gd name="T95" fmla="*/ 17 h 694"/>
                    <a:gd name="T96" fmla="*/ 235 w 417"/>
                    <a:gd name="T97" fmla="*/ 3 h 6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17" h="694">
                      <a:moveTo>
                        <a:pt x="209" y="0"/>
                      </a:moveTo>
                      <a:lnTo>
                        <a:pt x="183" y="1"/>
                      </a:lnTo>
                      <a:lnTo>
                        <a:pt x="159" y="4"/>
                      </a:lnTo>
                      <a:lnTo>
                        <a:pt x="137" y="9"/>
                      </a:lnTo>
                      <a:lnTo>
                        <a:pt x="116" y="15"/>
                      </a:lnTo>
                      <a:lnTo>
                        <a:pt x="96" y="23"/>
                      </a:lnTo>
                      <a:lnTo>
                        <a:pt x="79" y="33"/>
                      </a:lnTo>
                      <a:lnTo>
                        <a:pt x="64" y="44"/>
                      </a:lnTo>
                      <a:lnTo>
                        <a:pt x="51" y="56"/>
                      </a:lnTo>
                      <a:lnTo>
                        <a:pt x="39" y="70"/>
                      </a:lnTo>
                      <a:lnTo>
                        <a:pt x="28" y="85"/>
                      </a:lnTo>
                      <a:lnTo>
                        <a:pt x="19" y="99"/>
                      </a:lnTo>
                      <a:lnTo>
                        <a:pt x="12" y="115"/>
                      </a:lnTo>
                      <a:lnTo>
                        <a:pt x="7" y="132"/>
                      </a:lnTo>
                      <a:lnTo>
                        <a:pt x="3" y="150"/>
                      </a:lnTo>
                      <a:lnTo>
                        <a:pt x="1" y="168"/>
                      </a:lnTo>
                      <a:lnTo>
                        <a:pt x="0" y="186"/>
                      </a:lnTo>
                      <a:lnTo>
                        <a:pt x="3" y="232"/>
                      </a:lnTo>
                      <a:lnTo>
                        <a:pt x="12" y="276"/>
                      </a:lnTo>
                      <a:lnTo>
                        <a:pt x="25" y="320"/>
                      </a:lnTo>
                      <a:lnTo>
                        <a:pt x="44" y="360"/>
                      </a:lnTo>
                      <a:lnTo>
                        <a:pt x="66" y="401"/>
                      </a:lnTo>
                      <a:lnTo>
                        <a:pt x="91" y="439"/>
                      </a:lnTo>
                      <a:lnTo>
                        <a:pt x="118" y="475"/>
                      </a:lnTo>
                      <a:lnTo>
                        <a:pt x="149" y="508"/>
                      </a:lnTo>
                      <a:lnTo>
                        <a:pt x="180" y="540"/>
                      </a:lnTo>
                      <a:lnTo>
                        <a:pt x="211" y="570"/>
                      </a:lnTo>
                      <a:lnTo>
                        <a:pt x="243" y="596"/>
                      </a:lnTo>
                      <a:lnTo>
                        <a:pt x="274" y="620"/>
                      </a:lnTo>
                      <a:lnTo>
                        <a:pt x="303" y="642"/>
                      </a:lnTo>
                      <a:lnTo>
                        <a:pt x="331" y="659"/>
                      </a:lnTo>
                      <a:lnTo>
                        <a:pt x="357" y="675"/>
                      </a:lnTo>
                      <a:lnTo>
                        <a:pt x="379" y="686"/>
                      </a:lnTo>
                      <a:lnTo>
                        <a:pt x="383" y="687"/>
                      </a:lnTo>
                      <a:lnTo>
                        <a:pt x="388" y="690"/>
                      </a:lnTo>
                      <a:lnTo>
                        <a:pt x="392" y="691"/>
                      </a:lnTo>
                      <a:lnTo>
                        <a:pt x="396" y="692"/>
                      </a:lnTo>
                      <a:lnTo>
                        <a:pt x="401" y="693"/>
                      </a:lnTo>
                      <a:lnTo>
                        <a:pt x="406" y="693"/>
                      </a:lnTo>
                      <a:lnTo>
                        <a:pt x="412" y="694"/>
                      </a:lnTo>
                      <a:lnTo>
                        <a:pt x="417" y="694"/>
                      </a:lnTo>
                      <a:lnTo>
                        <a:pt x="417" y="637"/>
                      </a:lnTo>
                      <a:lnTo>
                        <a:pt x="409" y="637"/>
                      </a:lnTo>
                      <a:lnTo>
                        <a:pt x="400" y="636"/>
                      </a:lnTo>
                      <a:lnTo>
                        <a:pt x="393" y="633"/>
                      </a:lnTo>
                      <a:lnTo>
                        <a:pt x="387" y="631"/>
                      </a:lnTo>
                      <a:lnTo>
                        <a:pt x="368" y="621"/>
                      </a:lnTo>
                      <a:lnTo>
                        <a:pt x="347" y="607"/>
                      </a:lnTo>
                      <a:lnTo>
                        <a:pt x="324" y="592"/>
                      </a:lnTo>
                      <a:lnTo>
                        <a:pt x="300" y="572"/>
                      </a:lnTo>
                      <a:lnTo>
                        <a:pt x="273" y="550"/>
                      </a:lnTo>
                      <a:lnTo>
                        <a:pt x="246" y="525"/>
                      </a:lnTo>
                      <a:lnTo>
                        <a:pt x="219" y="499"/>
                      </a:lnTo>
                      <a:lnTo>
                        <a:pt x="192" y="469"/>
                      </a:lnTo>
                      <a:lnTo>
                        <a:pt x="166" y="439"/>
                      </a:lnTo>
                      <a:lnTo>
                        <a:pt x="142" y="407"/>
                      </a:lnTo>
                      <a:lnTo>
                        <a:pt x="120" y="372"/>
                      </a:lnTo>
                      <a:lnTo>
                        <a:pt x="100" y="338"/>
                      </a:lnTo>
                      <a:lnTo>
                        <a:pt x="84" y="303"/>
                      </a:lnTo>
                      <a:lnTo>
                        <a:pt x="72" y="266"/>
                      </a:lnTo>
                      <a:lnTo>
                        <a:pt x="64" y="229"/>
                      </a:lnTo>
                      <a:lnTo>
                        <a:pt x="62" y="192"/>
                      </a:lnTo>
                      <a:lnTo>
                        <a:pt x="64" y="164"/>
                      </a:lnTo>
                      <a:lnTo>
                        <a:pt x="72" y="140"/>
                      </a:lnTo>
                      <a:lnTo>
                        <a:pt x="83" y="118"/>
                      </a:lnTo>
                      <a:lnTo>
                        <a:pt x="99" y="98"/>
                      </a:lnTo>
                      <a:lnTo>
                        <a:pt x="120" y="83"/>
                      </a:lnTo>
                      <a:lnTo>
                        <a:pt x="145" y="72"/>
                      </a:lnTo>
                      <a:lnTo>
                        <a:pt x="175" y="66"/>
                      </a:lnTo>
                      <a:lnTo>
                        <a:pt x="209" y="64"/>
                      </a:lnTo>
                      <a:lnTo>
                        <a:pt x="236" y="67"/>
                      </a:lnTo>
                      <a:lnTo>
                        <a:pt x="262" y="80"/>
                      </a:lnTo>
                      <a:lnTo>
                        <a:pt x="286" y="97"/>
                      </a:lnTo>
                      <a:lnTo>
                        <a:pt x="309" y="119"/>
                      </a:lnTo>
                      <a:lnTo>
                        <a:pt x="330" y="145"/>
                      </a:lnTo>
                      <a:lnTo>
                        <a:pt x="350" y="173"/>
                      </a:lnTo>
                      <a:lnTo>
                        <a:pt x="367" y="202"/>
                      </a:lnTo>
                      <a:lnTo>
                        <a:pt x="383" y="230"/>
                      </a:lnTo>
                      <a:lnTo>
                        <a:pt x="390" y="240"/>
                      </a:lnTo>
                      <a:lnTo>
                        <a:pt x="399" y="247"/>
                      </a:lnTo>
                      <a:lnTo>
                        <a:pt x="407" y="252"/>
                      </a:lnTo>
                      <a:lnTo>
                        <a:pt x="417" y="254"/>
                      </a:lnTo>
                      <a:lnTo>
                        <a:pt x="417" y="186"/>
                      </a:lnTo>
                      <a:lnTo>
                        <a:pt x="416" y="184"/>
                      </a:lnTo>
                      <a:lnTo>
                        <a:pt x="415" y="178"/>
                      </a:lnTo>
                      <a:lnTo>
                        <a:pt x="410" y="169"/>
                      </a:lnTo>
                      <a:lnTo>
                        <a:pt x="405" y="157"/>
                      </a:lnTo>
                      <a:lnTo>
                        <a:pt x="398" y="143"/>
                      </a:lnTo>
                      <a:lnTo>
                        <a:pt x="389" y="127"/>
                      </a:lnTo>
                      <a:lnTo>
                        <a:pt x="379" y="110"/>
                      </a:lnTo>
                      <a:lnTo>
                        <a:pt x="367" y="93"/>
                      </a:lnTo>
                      <a:lnTo>
                        <a:pt x="354" y="76"/>
                      </a:lnTo>
                      <a:lnTo>
                        <a:pt x="339" y="59"/>
                      </a:lnTo>
                      <a:lnTo>
                        <a:pt x="322" y="43"/>
                      </a:lnTo>
                      <a:lnTo>
                        <a:pt x="302" y="30"/>
                      </a:lnTo>
                      <a:lnTo>
                        <a:pt x="282" y="17"/>
                      </a:lnTo>
                      <a:lnTo>
                        <a:pt x="259" y="9"/>
                      </a:lnTo>
                      <a:lnTo>
                        <a:pt x="235" y="3"/>
                      </a:lnTo>
                      <a:lnTo>
                        <a:pt x="209" y="0"/>
                      </a:lnTo>
                      <a:close/>
                    </a:path>
                  </a:pathLst>
                </a:custGeom>
                <a:solidFill>
                  <a:srgbClr val="F7B2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72" name="Freeform 56"/>
                <p:cNvSpPr/>
                <p:nvPr/>
              </p:nvSpPr>
              <p:spPr bwMode="auto">
                <a:xfrm>
                  <a:off x="2742" y="1557"/>
                  <a:ext cx="419" cy="694"/>
                </a:xfrm>
                <a:custGeom>
                  <a:avLst/>
                  <a:gdLst>
                    <a:gd name="T0" fmla="*/ 234 w 419"/>
                    <a:gd name="T1" fmla="*/ 1 h 694"/>
                    <a:gd name="T2" fmla="*/ 281 w 419"/>
                    <a:gd name="T3" fmla="*/ 9 h 694"/>
                    <a:gd name="T4" fmla="*/ 321 w 419"/>
                    <a:gd name="T5" fmla="*/ 23 h 694"/>
                    <a:gd name="T6" fmla="*/ 354 w 419"/>
                    <a:gd name="T7" fmla="*/ 44 h 694"/>
                    <a:gd name="T8" fmla="*/ 380 w 419"/>
                    <a:gd name="T9" fmla="*/ 70 h 694"/>
                    <a:gd name="T10" fmla="*/ 400 w 419"/>
                    <a:gd name="T11" fmla="*/ 99 h 694"/>
                    <a:gd name="T12" fmla="*/ 412 w 419"/>
                    <a:gd name="T13" fmla="*/ 132 h 694"/>
                    <a:gd name="T14" fmla="*/ 418 w 419"/>
                    <a:gd name="T15" fmla="*/ 168 h 694"/>
                    <a:gd name="T16" fmla="*/ 415 w 419"/>
                    <a:gd name="T17" fmla="*/ 232 h 694"/>
                    <a:gd name="T18" fmla="*/ 393 w 419"/>
                    <a:gd name="T19" fmla="*/ 320 h 694"/>
                    <a:gd name="T20" fmla="*/ 353 w 419"/>
                    <a:gd name="T21" fmla="*/ 401 h 694"/>
                    <a:gd name="T22" fmla="*/ 299 w 419"/>
                    <a:gd name="T23" fmla="*/ 475 h 694"/>
                    <a:gd name="T24" fmla="*/ 238 w 419"/>
                    <a:gd name="T25" fmla="*/ 540 h 694"/>
                    <a:gd name="T26" fmla="*/ 174 w 419"/>
                    <a:gd name="T27" fmla="*/ 596 h 694"/>
                    <a:gd name="T28" fmla="*/ 113 w 419"/>
                    <a:gd name="T29" fmla="*/ 642 h 694"/>
                    <a:gd name="T30" fmla="*/ 60 w 419"/>
                    <a:gd name="T31" fmla="*/ 675 h 694"/>
                    <a:gd name="T32" fmla="*/ 35 w 419"/>
                    <a:gd name="T33" fmla="*/ 687 h 694"/>
                    <a:gd name="T34" fmla="*/ 25 w 419"/>
                    <a:gd name="T35" fmla="*/ 691 h 694"/>
                    <a:gd name="T36" fmla="*/ 15 w 419"/>
                    <a:gd name="T37" fmla="*/ 693 h 694"/>
                    <a:gd name="T38" fmla="*/ 5 w 419"/>
                    <a:gd name="T39" fmla="*/ 694 h 694"/>
                    <a:gd name="T40" fmla="*/ 0 w 419"/>
                    <a:gd name="T41" fmla="*/ 637 h 694"/>
                    <a:gd name="T42" fmla="*/ 16 w 419"/>
                    <a:gd name="T43" fmla="*/ 636 h 694"/>
                    <a:gd name="T44" fmla="*/ 30 w 419"/>
                    <a:gd name="T45" fmla="*/ 631 h 694"/>
                    <a:gd name="T46" fmla="*/ 69 w 419"/>
                    <a:gd name="T47" fmla="*/ 607 h 694"/>
                    <a:gd name="T48" fmla="*/ 118 w 419"/>
                    <a:gd name="T49" fmla="*/ 572 h 694"/>
                    <a:gd name="T50" fmla="*/ 170 w 419"/>
                    <a:gd name="T51" fmla="*/ 525 h 694"/>
                    <a:gd name="T52" fmla="*/ 226 w 419"/>
                    <a:gd name="T53" fmla="*/ 469 h 694"/>
                    <a:gd name="T54" fmla="*/ 276 w 419"/>
                    <a:gd name="T55" fmla="*/ 407 h 694"/>
                    <a:gd name="T56" fmla="*/ 316 w 419"/>
                    <a:gd name="T57" fmla="*/ 338 h 694"/>
                    <a:gd name="T58" fmla="*/ 344 w 419"/>
                    <a:gd name="T59" fmla="*/ 266 h 694"/>
                    <a:gd name="T60" fmla="*/ 355 w 419"/>
                    <a:gd name="T61" fmla="*/ 192 h 694"/>
                    <a:gd name="T62" fmla="*/ 346 w 419"/>
                    <a:gd name="T63" fmla="*/ 140 h 694"/>
                    <a:gd name="T64" fmla="*/ 319 w 419"/>
                    <a:gd name="T65" fmla="*/ 98 h 694"/>
                    <a:gd name="T66" fmla="*/ 272 w 419"/>
                    <a:gd name="T67" fmla="*/ 72 h 694"/>
                    <a:gd name="T68" fmla="*/ 207 w 419"/>
                    <a:gd name="T69" fmla="*/ 64 h 694"/>
                    <a:gd name="T70" fmla="*/ 155 w 419"/>
                    <a:gd name="T71" fmla="*/ 80 h 694"/>
                    <a:gd name="T72" fmla="*/ 108 w 419"/>
                    <a:gd name="T73" fmla="*/ 119 h 694"/>
                    <a:gd name="T74" fmla="*/ 66 w 419"/>
                    <a:gd name="T75" fmla="*/ 173 h 694"/>
                    <a:gd name="T76" fmla="*/ 35 w 419"/>
                    <a:gd name="T77" fmla="*/ 230 h 694"/>
                    <a:gd name="T78" fmla="*/ 19 w 419"/>
                    <a:gd name="T79" fmla="*/ 247 h 694"/>
                    <a:gd name="T80" fmla="*/ 0 w 419"/>
                    <a:gd name="T81" fmla="*/ 254 h 694"/>
                    <a:gd name="T82" fmla="*/ 1 w 419"/>
                    <a:gd name="T83" fmla="*/ 184 h 694"/>
                    <a:gd name="T84" fmla="*/ 6 w 419"/>
                    <a:gd name="T85" fmla="*/ 169 h 694"/>
                    <a:gd name="T86" fmla="*/ 19 w 419"/>
                    <a:gd name="T87" fmla="*/ 143 h 694"/>
                    <a:gd name="T88" fmla="*/ 38 w 419"/>
                    <a:gd name="T89" fmla="*/ 110 h 694"/>
                    <a:gd name="T90" fmla="*/ 63 w 419"/>
                    <a:gd name="T91" fmla="*/ 76 h 694"/>
                    <a:gd name="T92" fmla="*/ 96 w 419"/>
                    <a:gd name="T93" fmla="*/ 43 h 694"/>
                    <a:gd name="T94" fmla="*/ 135 w 419"/>
                    <a:gd name="T95" fmla="*/ 17 h 694"/>
                    <a:gd name="T96" fmla="*/ 181 w 419"/>
                    <a:gd name="T97" fmla="*/ 3 h 6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19" h="694">
                      <a:moveTo>
                        <a:pt x="207" y="0"/>
                      </a:moveTo>
                      <a:lnTo>
                        <a:pt x="234" y="1"/>
                      </a:lnTo>
                      <a:lnTo>
                        <a:pt x="259" y="4"/>
                      </a:lnTo>
                      <a:lnTo>
                        <a:pt x="281" y="9"/>
                      </a:lnTo>
                      <a:lnTo>
                        <a:pt x="302" y="15"/>
                      </a:lnTo>
                      <a:lnTo>
                        <a:pt x="321" y="23"/>
                      </a:lnTo>
                      <a:lnTo>
                        <a:pt x="338" y="33"/>
                      </a:lnTo>
                      <a:lnTo>
                        <a:pt x="354" y="44"/>
                      </a:lnTo>
                      <a:lnTo>
                        <a:pt x="368" y="56"/>
                      </a:lnTo>
                      <a:lnTo>
                        <a:pt x="380" y="70"/>
                      </a:lnTo>
                      <a:lnTo>
                        <a:pt x="391" y="85"/>
                      </a:lnTo>
                      <a:lnTo>
                        <a:pt x="400" y="99"/>
                      </a:lnTo>
                      <a:lnTo>
                        <a:pt x="407" y="115"/>
                      </a:lnTo>
                      <a:lnTo>
                        <a:pt x="412" y="132"/>
                      </a:lnTo>
                      <a:lnTo>
                        <a:pt x="415" y="150"/>
                      </a:lnTo>
                      <a:lnTo>
                        <a:pt x="418" y="168"/>
                      </a:lnTo>
                      <a:lnTo>
                        <a:pt x="419" y="186"/>
                      </a:lnTo>
                      <a:lnTo>
                        <a:pt x="415" y="232"/>
                      </a:lnTo>
                      <a:lnTo>
                        <a:pt x="407" y="276"/>
                      </a:lnTo>
                      <a:lnTo>
                        <a:pt x="393" y="320"/>
                      </a:lnTo>
                      <a:lnTo>
                        <a:pt x="375" y="360"/>
                      </a:lnTo>
                      <a:lnTo>
                        <a:pt x="353" y="401"/>
                      </a:lnTo>
                      <a:lnTo>
                        <a:pt x="327" y="439"/>
                      </a:lnTo>
                      <a:lnTo>
                        <a:pt x="299" y="475"/>
                      </a:lnTo>
                      <a:lnTo>
                        <a:pt x="270" y="508"/>
                      </a:lnTo>
                      <a:lnTo>
                        <a:pt x="238" y="540"/>
                      </a:lnTo>
                      <a:lnTo>
                        <a:pt x="206" y="570"/>
                      </a:lnTo>
                      <a:lnTo>
                        <a:pt x="174" y="596"/>
                      </a:lnTo>
                      <a:lnTo>
                        <a:pt x="144" y="620"/>
                      </a:lnTo>
                      <a:lnTo>
                        <a:pt x="113" y="642"/>
                      </a:lnTo>
                      <a:lnTo>
                        <a:pt x="86" y="659"/>
                      </a:lnTo>
                      <a:lnTo>
                        <a:pt x="60" y="675"/>
                      </a:lnTo>
                      <a:lnTo>
                        <a:pt x="38" y="686"/>
                      </a:lnTo>
                      <a:lnTo>
                        <a:pt x="35" y="687"/>
                      </a:lnTo>
                      <a:lnTo>
                        <a:pt x="30" y="690"/>
                      </a:lnTo>
                      <a:lnTo>
                        <a:pt x="25" y="691"/>
                      </a:lnTo>
                      <a:lnTo>
                        <a:pt x="20" y="692"/>
                      </a:lnTo>
                      <a:lnTo>
                        <a:pt x="15" y="693"/>
                      </a:lnTo>
                      <a:lnTo>
                        <a:pt x="10" y="693"/>
                      </a:lnTo>
                      <a:lnTo>
                        <a:pt x="5" y="694"/>
                      </a:lnTo>
                      <a:lnTo>
                        <a:pt x="0" y="694"/>
                      </a:lnTo>
                      <a:lnTo>
                        <a:pt x="0" y="637"/>
                      </a:lnTo>
                      <a:lnTo>
                        <a:pt x="9" y="637"/>
                      </a:lnTo>
                      <a:lnTo>
                        <a:pt x="16" y="636"/>
                      </a:lnTo>
                      <a:lnTo>
                        <a:pt x="23" y="633"/>
                      </a:lnTo>
                      <a:lnTo>
                        <a:pt x="30" y="631"/>
                      </a:lnTo>
                      <a:lnTo>
                        <a:pt x="48" y="621"/>
                      </a:lnTo>
                      <a:lnTo>
                        <a:pt x="69" y="607"/>
                      </a:lnTo>
                      <a:lnTo>
                        <a:pt x="92" y="592"/>
                      </a:lnTo>
                      <a:lnTo>
                        <a:pt x="118" y="572"/>
                      </a:lnTo>
                      <a:lnTo>
                        <a:pt x="144" y="550"/>
                      </a:lnTo>
                      <a:lnTo>
                        <a:pt x="170" y="525"/>
                      </a:lnTo>
                      <a:lnTo>
                        <a:pt x="199" y="499"/>
                      </a:lnTo>
                      <a:lnTo>
                        <a:pt x="226" y="469"/>
                      </a:lnTo>
                      <a:lnTo>
                        <a:pt x="251" y="439"/>
                      </a:lnTo>
                      <a:lnTo>
                        <a:pt x="276" y="407"/>
                      </a:lnTo>
                      <a:lnTo>
                        <a:pt x="298" y="372"/>
                      </a:lnTo>
                      <a:lnTo>
                        <a:pt x="316" y="338"/>
                      </a:lnTo>
                      <a:lnTo>
                        <a:pt x="333" y="303"/>
                      </a:lnTo>
                      <a:lnTo>
                        <a:pt x="344" y="266"/>
                      </a:lnTo>
                      <a:lnTo>
                        <a:pt x="353" y="229"/>
                      </a:lnTo>
                      <a:lnTo>
                        <a:pt x="355" y="192"/>
                      </a:lnTo>
                      <a:lnTo>
                        <a:pt x="353" y="164"/>
                      </a:lnTo>
                      <a:lnTo>
                        <a:pt x="346" y="140"/>
                      </a:lnTo>
                      <a:lnTo>
                        <a:pt x="335" y="118"/>
                      </a:lnTo>
                      <a:lnTo>
                        <a:pt x="319" y="98"/>
                      </a:lnTo>
                      <a:lnTo>
                        <a:pt x="298" y="83"/>
                      </a:lnTo>
                      <a:lnTo>
                        <a:pt x="272" y="72"/>
                      </a:lnTo>
                      <a:lnTo>
                        <a:pt x="242" y="66"/>
                      </a:lnTo>
                      <a:lnTo>
                        <a:pt x="207" y="64"/>
                      </a:lnTo>
                      <a:lnTo>
                        <a:pt x="180" y="67"/>
                      </a:lnTo>
                      <a:lnTo>
                        <a:pt x="155" y="80"/>
                      </a:lnTo>
                      <a:lnTo>
                        <a:pt x="130" y="97"/>
                      </a:lnTo>
                      <a:lnTo>
                        <a:pt x="108" y="119"/>
                      </a:lnTo>
                      <a:lnTo>
                        <a:pt x="86" y="145"/>
                      </a:lnTo>
                      <a:lnTo>
                        <a:pt x="66" y="173"/>
                      </a:lnTo>
                      <a:lnTo>
                        <a:pt x="49" y="202"/>
                      </a:lnTo>
                      <a:lnTo>
                        <a:pt x="35" y="230"/>
                      </a:lnTo>
                      <a:lnTo>
                        <a:pt x="27" y="240"/>
                      </a:lnTo>
                      <a:lnTo>
                        <a:pt x="19" y="247"/>
                      </a:lnTo>
                      <a:lnTo>
                        <a:pt x="9" y="252"/>
                      </a:lnTo>
                      <a:lnTo>
                        <a:pt x="0" y="254"/>
                      </a:lnTo>
                      <a:lnTo>
                        <a:pt x="0" y="186"/>
                      </a:lnTo>
                      <a:lnTo>
                        <a:pt x="1" y="184"/>
                      </a:lnTo>
                      <a:lnTo>
                        <a:pt x="3" y="178"/>
                      </a:lnTo>
                      <a:lnTo>
                        <a:pt x="6" y="169"/>
                      </a:lnTo>
                      <a:lnTo>
                        <a:pt x="12" y="157"/>
                      </a:lnTo>
                      <a:lnTo>
                        <a:pt x="19" y="143"/>
                      </a:lnTo>
                      <a:lnTo>
                        <a:pt x="27" y="127"/>
                      </a:lnTo>
                      <a:lnTo>
                        <a:pt x="38" y="110"/>
                      </a:lnTo>
                      <a:lnTo>
                        <a:pt x="49" y="93"/>
                      </a:lnTo>
                      <a:lnTo>
                        <a:pt x="63" y="76"/>
                      </a:lnTo>
                      <a:lnTo>
                        <a:pt x="79" y="59"/>
                      </a:lnTo>
                      <a:lnTo>
                        <a:pt x="96" y="43"/>
                      </a:lnTo>
                      <a:lnTo>
                        <a:pt x="114" y="30"/>
                      </a:lnTo>
                      <a:lnTo>
                        <a:pt x="135" y="17"/>
                      </a:lnTo>
                      <a:lnTo>
                        <a:pt x="157" y="9"/>
                      </a:lnTo>
                      <a:lnTo>
                        <a:pt x="181" y="3"/>
                      </a:lnTo>
                      <a:lnTo>
                        <a:pt x="207" y="0"/>
                      </a:lnTo>
                      <a:close/>
                    </a:path>
                  </a:pathLst>
                </a:custGeom>
                <a:solidFill>
                  <a:srgbClr val="F7B2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73" name="Freeform 57"/>
                <p:cNvSpPr/>
                <p:nvPr/>
              </p:nvSpPr>
              <p:spPr bwMode="auto">
                <a:xfrm>
                  <a:off x="2551" y="1575"/>
                  <a:ext cx="63" cy="36"/>
                </a:xfrm>
                <a:custGeom>
                  <a:avLst/>
                  <a:gdLst>
                    <a:gd name="T0" fmla="*/ 0 w 63"/>
                    <a:gd name="T1" fmla="*/ 13 h 36"/>
                    <a:gd name="T2" fmla="*/ 8 w 63"/>
                    <a:gd name="T3" fmla="*/ 13 h 36"/>
                    <a:gd name="T4" fmla="*/ 16 w 63"/>
                    <a:gd name="T5" fmla="*/ 14 h 36"/>
                    <a:gd name="T6" fmla="*/ 24 w 63"/>
                    <a:gd name="T7" fmla="*/ 15 h 36"/>
                    <a:gd name="T8" fmla="*/ 33 w 63"/>
                    <a:gd name="T9" fmla="*/ 18 h 36"/>
                    <a:gd name="T10" fmla="*/ 40 w 63"/>
                    <a:gd name="T11" fmla="*/ 21 h 36"/>
                    <a:gd name="T12" fmla="*/ 47 w 63"/>
                    <a:gd name="T13" fmla="*/ 25 h 36"/>
                    <a:gd name="T14" fmla="*/ 55 w 63"/>
                    <a:gd name="T15" fmla="*/ 30 h 36"/>
                    <a:gd name="T16" fmla="*/ 61 w 63"/>
                    <a:gd name="T17" fmla="*/ 36 h 36"/>
                    <a:gd name="T18" fmla="*/ 63 w 63"/>
                    <a:gd name="T19" fmla="*/ 19 h 36"/>
                    <a:gd name="T20" fmla="*/ 62 w 63"/>
                    <a:gd name="T21" fmla="*/ 18 h 36"/>
                    <a:gd name="T22" fmla="*/ 57 w 63"/>
                    <a:gd name="T23" fmla="*/ 15 h 36"/>
                    <a:gd name="T24" fmla="*/ 51 w 63"/>
                    <a:gd name="T25" fmla="*/ 13 h 36"/>
                    <a:gd name="T26" fmla="*/ 44 w 63"/>
                    <a:gd name="T27" fmla="*/ 9 h 36"/>
                    <a:gd name="T28" fmla="*/ 34 w 63"/>
                    <a:gd name="T29" fmla="*/ 5 h 36"/>
                    <a:gd name="T30" fmla="*/ 24 w 63"/>
                    <a:gd name="T31" fmla="*/ 2 h 36"/>
                    <a:gd name="T32" fmla="*/ 14 w 63"/>
                    <a:gd name="T33" fmla="*/ 0 h 36"/>
                    <a:gd name="T34" fmla="*/ 5 w 63"/>
                    <a:gd name="T35" fmla="*/ 0 h 36"/>
                    <a:gd name="T36" fmla="*/ 0 w 63"/>
                    <a:gd name="T37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3" h="36">
                      <a:moveTo>
                        <a:pt x="0" y="13"/>
                      </a:moveTo>
                      <a:lnTo>
                        <a:pt x="8" y="13"/>
                      </a:lnTo>
                      <a:lnTo>
                        <a:pt x="16" y="14"/>
                      </a:lnTo>
                      <a:lnTo>
                        <a:pt x="24" y="15"/>
                      </a:lnTo>
                      <a:lnTo>
                        <a:pt x="33" y="18"/>
                      </a:lnTo>
                      <a:lnTo>
                        <a:pt x="40" y="21"/>
                      </a:lnTo>
                      <a:lnTo>
                        <a:pt x="47" y="25"/>
                      </a:lnTo>
                      <a:lnTo>
                        <a:pt x="55" y="30"/>
                      </a:lnTo>
                      <a:lnTo>
                        <a:pt x="61" y="36"/>
                      </a:lnTo>
                      <a:lnTo>
                        <a:pt x="63" y="19"/>
                      </a:lnTo>
                      <a:lnTo>
                        <a:pt x="62" y="18"/>
                      </a:lnTo>
                      <a:lnTo>
                        <a:pt x="57" y="15"/>
                      </a:lnTo>
                      <a:lnTo>
                        <a:pt x="51" y="13"/>
                      </a:lnTo>
                      <a:lnTo>
                        <a:pt x="44" y="9"/>
                      </a:lnTo>
                      <a:lnTo>
                        <a:pt x="34" y="5"/>
                      </a:lnTo>
                      <a:lnTo>
                        <a:pt x="24" y="2"/>
                      </a:lnTo>
                      <a:lnTo>
                        <a:pt x="14" y="0"/>
                      </a:lnTo>
                      <a:lnTo>
                        <a:pt x="5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74" name="Freeform 58"/>
                <p:cNvSpPr/>
                <p:nvPr/>
              </p:nvSpPr>
              <p:spPr bwMode="auto">
                <a:xfrm>
                  <a:off x="3032" y="1590"/>
                  <a:ext cx="65" cy="43"/>
                </a:xfrm>
                <a:custGeom>
                  <a:avLst/>
                  <a:gdLst>
                    <a:gd name="T0" fmla="*/ 59 w 65"/>
                    <a:gd name="T1" fmla="*/ 43 h 43"/>
                    <a:gd name="T2" fmla="*/ 53 w 65"/>
                    <a:gd name="T3" fmla="*/ 37 h 43"/>
                    <a:gd name="T4" fmla="*/ 47 w 65"/>
                    <a:gd name="T5" fmla="*/ 32 h 43"/>
                    <a:gd name="T6" fmla="*/ 40 w 65"/>
                    <a:gd name="T7" fmla="*/ 27 h 43"/>
                    <a:gd name="T8" fmla="*/ 33 w 65"/>
                    <a:gd name="T9" fmla="*/ 22 h 43"/>
                    <a:gd name="T10" fmla="*/ 26 w 65"/>
                    <a:gd name="T11" fmla="*/ 19 h 43"/>
                    <a:gd name="T12" fmla="*/ 17 w 65"/>
                    <a:gd name="T13" fmla="*/ 15 h 43"/>
                    <a:gd name="T14" fmla="*/ 9 w 65"/>
                    <a:gd name="T15" fmla="*/ 14 h 43"/>
                    <a:gd name="T16" fmla="*/ 0 w 65"/>
                    <a:gd name="T17" fmla="*/ 12 h 43"/>
                    <a:gd name="T18" fmla="*/ 12 w 65"/>
                    <a:gd name="T19" fmla="*/ 0 h 43"/>
                    <a:gd name="T20" fmla="*/ 14 w 65"/>
                    <a:gd name="T21" fmla="*/ 0 h 43"/>
                    <a:gd name="T22" fmla="*/ 18 w 65"/>
                    <a:gd name="T23" fmla="*/ 3 h 43"/>
                    <a:gd name="T24" fmla="*/ 25 w 65"/>
                    <a:gd name="T25" fmla="*/ 5 h 43"/>
                    <a:gd name="T26" fmla="*/ 33 w 65"/>
                    <a:gd name="T27" fmla="*/ 8 h 43"/>
                    <a:gd name="T28" fmla="*/ 42 w 65"/>
                    <a:gd name="T29" fmla="*/ 12 h 43"/>
                    <a:gd name="T30" fmla="*/ 50 w 65"/>
                    <a:gd name="T31" fmla="*/ 17 h 43"/>
                    <a:gd name="T32" fmla="*/ 58 w 65"/>
                    <a:gd name="T33" fmla="*/ 23 h 43"/>
                    <a:gd name="T34" fmla="*/ 65 w 65"/>
                    <a:gd name="T35" fmla="*/ 31 h 43"/>
                    <a:gd name="T36" fmla="*/ 59 w 65"/>
                    <a:gd name="T37" fmla="*/ 43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5" h="43">
                      <a:moveTo>
                        <a:pt x="59" y="43"/>
                      </a:moveTo>
                      <a:lnTo>
                        <a:pt x="53" y="37"/>
                      </a:lnTo>
                      <a:lnTo>
                        <a:pt x="47" y="32"/>
                      </a:lnTo>
                      <a:lnTo>
                        <a:pt x="40" y="27"/>
                      </a:lnTo>
                      <a:lnTo>
                        <a:pt x="33" y="22"/>
                      </a:lnTo>
                      <a:lnTo>
                        <a:pt x="26" y="19"/>
                      </a:lnTo>
                      <a:lnTo>
                        <a:pt x="17" y="15"/>
                      </a:lnTo>
                      <a:lnTo>
                        <a:pt x="9" y="14"/>
                      </a:lnTo>
                      <a:lnTo>
                        <a:pt x="0" y="12"/>
                      </a:lnTo>
                      <a:lnTo>
                        <a:pt x="12" y="0"/>
                      </a:lnTo>
                      <a:lnTo>
                        <a:pt x="14" y="0"/>
                      </a:lnTo>
                      <a:lnTo>
                        <a:pt x="18" y="3"/>
                      </a:lnTo>
                      <a:lnTo>
                        <a:pt x="25" y="5"/>
                      </a:lnTo>
                      <a:lnTo>
                        <a:pt x="33" y="8"/>
                      </a:lnTo>
                      <a:lnTo>
                        <a:pt x="42" y="12"/>
                      </a:lnTo>
                      <a:lnTo>
                        <a:pt x="50" y="17"/>
                      </a:lnTo>
                      <a:lnTo>
                        <a:pt x="58" y="23"/>
                      </a:lnTo>
                      <a:lnTo>
                        <a:pt x="65" y="31"/>
                      </a:lnTo>
                      <a:lnTo>
                        <a:pt x="59" y="4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75" name="Freeform 59"/>
                <p:cNvSpPr/>
                <p:nvPr/>
              </p:nvSpPr>
              <p:spPr bwMode="auto">
                <a:xfrm>
                  <a:off x="2320" y="1552"/>
                  <a:ext cx="425" cy="704"/>
                </a:xfrm>
                <a:custGeom>
                  <a:avLst/>
                  <a:gdLst>
                    <a:gd name="T0" fmla="*/ 424 w 425"/>
                    <a:gd name="T1" fmla="*/ 183 h 704"/>
                    <a:gd name="T2" fmla="*/ 418 w 425"/>
                    <a:gd name="T3" fmla="*/ 167 h 704"/>
                    <a:gd name="T4" fmla="*/ 406 w 425"/>
                    <a:gd name="T5" fmla="*/ 141 h 704"/>
                    <a:gd name="T6" fmla="*/ 387 w 425"/>
                    <a:gd name="T7" fmla="*/ 109 h 704"/>
                    <a:gd name="T8" fmla="*/ 362 w 425"/>
                    <a:gd name="T9" fmla="*/ 75 h 704"/>
                    <a:gd name="T10" fmla="*/ 330 w 425"/>
                    <a:gd name="T11" fmla="*/ 43 h 704"/>
                    <a:gd name="T12" fmla="*/ 289 w 425"/>
                    <a:gd name="T13" fmla="*/ 17 h 704"/>
                    <a:gd name="T14" fmla="*/ 243 w 425"/>
                    <a:gd name="T15" fmla="*/ 3 h 704"/>
                    <a:gd name="T16" fmla="*/ 188 w 425"/>
                    <a:gd name="T17" fmla="*/ 1 h 704"/>
                    <a:gd name="T18" fmla="*/ 136 w 425"/>
                    <a:gd name="T19" fmla="*/ 10 h 704"/>
                    <a:gd name="T20" fmla="*/ 96 w 425"/>
                    <a:gd name="T21" fmla="*/ 27 h 704"/>
                    <a:gd name="T22" fmla="*/ 62 w 425"/>
                    <a:gd name="T23" fmla="*/ 49 h 704"/>
                    <a:gd name="T24" fmla="*/ 37 w 425"/>
                    <a:gd name="T25" fmla="*/ 77 h 704"/>
                    <a:gd name="T26" fmla="*/ 19 w 425"/>
                    <a:gd name="T27" fmla="*/ 108 h 704"/>
                    <a:gd name="T28" fmla="*/ 7 w 425"/>
                    <a:gd name="T29" fmla="*/ 141 h 704"/>
                    <a:gd name="T30" fmla="*/ 2 w 425"/>
                    <a:gd name="T31" fmla="*/ 174 h 704"/>
                    <a:gd name="T32" fmla="*/ 3 w 425"/>
                    <a:gd name="T33" fmla="*/ 235 h 704"/>
                    <a:gd name="T34" fmla="*/ 25 w 425"/>
                    <a:gd name="T35" fmla="*/ 322 h 704"/>
                    <a:gd name="T36" fmla="*/ 64 w 425"/>
                    <a:gd name="T37" fmla="*/ 402 h 704"/>
                    <a:gd name="T38" fmla="*/ 116 w 425"/>
                    <a:gd name="T39" fmla="*/ 477 h 704"/>
                    <a:gd name="T40" fmla="*/ 176 w 425"/>
                    <a:gd name="T41" fmla="*/ 543 h 704"/>
                    <a:gd name="T42" fmla="*/ 239 w 425"/>
                    <a:gd name="T43" fmla="*/ 600 h 704"/>
                    <a:gd name="T44" fmla="*/ 302 w 425"/>
                    <a:gd name="T45" fmla="*/ 647 h 704"/>
                    <a:gd name="T46" fmla="*/ 359 w 425"/>
                    <a:gd name="T47" fmla="*/ 682 h 704"/>
                    <a:gd name="T48" fmla="*/ 389 w 425"/>
                    <a:gd name="T49" fmla="*/ 697 h 704"/>
                    <a:gd name="T50" fmla="*/ 397 w 425"/>
                    <a:gd name="T51" fmla="*/ 701 h 704"/>
                    <a:gd name="T52" fmla="*/ 408 w 425"/>
                    <a:gd name="T53" fmla="*/ 703 h 704"/>
                    <a:gd name="T54" fmla="*/ 419 w 425"/>
                    <a:gd name="T55" fmla="*/ 704 h 704"/>
                    <a:gd name="T56" fmla="*/ 424 w 425"/>
                    <a:gd name="T57" fmla="*/ 693 h 704"/>
                    <a:gd name="T58" fmla="*/ 405 w 425"/>
                    <a:gd name="T59" fmla="*/ 691 h 704"/>
                    <a:gd name="T60" fmla="*/ 389 w 425"/>
                    <a:gd name="T61" fmla="*/ 686 h 704"/>
                    <a:gd name="T62" fmla="*/ 337 w 425"/>
                    <a:gd name="T63" fmla="*/ 657 h 704"/>
                    <a:gd name="T64" fmla="*/ 277 w 425"/>
                    <a:gd name="T65" fmla="*/ 616 h 704"/>
                    <a:gd name="T66" fmla="*/ 215 w 425"/>
                    <a:gd name="T67" fmla="*/ 565 h 704"/>
                    <a:gd name="T68" fmla="*/ 154 w 425"/>
                    <a:gd name="T69" fmla="*/ 505 h 704"/>
                    <a:gd name="T70" fmla="*/ 98 w 425"/>
                    <a:gd name="T71" fmla="*/ 435 h 704"/>
                    <a:gd name="T72" fmla="*/ 53 w 425"/>
                    <a:gd name="T73" fmla="*/ 359 h 704"/>
                    <a:gd name="T74" fmla="*/ 22 w 425"/>
                    <a:gd name="T75" fmla="*/ 277 h 704"/>
                    <a:gd name="T76" fmla="*/ 11 w 425"/>
                    <a:gd name="T77" fmla="*/ 191 h 704"/>
                    <a:gd name="T78" fmla="*/ 15 w 425"/>
                    <a:gd name="T79" fmla="*/ 156 h 704"/>
                    <a:gd name="T80" fmla="*/ 24 w 425"/>
                    <a:gd name="T81" fmla="*/ 123 h 704"/>
                    <a:gd name="T82" fmla="*/ 40 w 425"/>
                    <a:gd name="T83" fmla="*/ 92 h 704"/>
                    <a:gd name="T84" fmla="*/ 60 w 425"/>
                    <a:gd name="T85" fmla="*/ 66 h 704"/>
                    <a:gd name="T86" fmla="*/ 91 w 425"/>
                    <a:gd name="T87" fmla="*/ 42 h 704"/>
                    <a:gd name="T88" fmla="*/ 128 w 425"/>
                    <a:gd name="T89" fmla="*/ 25 h 704"/>
                    <a:gd name="T90" fmla="*/ 169 w 425"/>
                    <a:gd name="T91" fmla="*/ 15 h 704"/>
                    <a:gd name="T92" fmla="*/ 216 w 425"/>
                    <a:gd name="T93" fmla="*/ 11 h 704"/>
                    <a:gd name="T94" fmla="*/ 265 w 425"/>
                    <a:gd name="T95" fmla="*/ 20 h 704"/>
                    <a:gd name="T96" fmla="*/ 307 w 425"/>
                    <a:gd name="T97" fmla="*/ 41 h 704"/>
                    <a:gd name="T98" fmla="*/ 343 w 425"/>
                    <a:gd name="T99" fmla="*/ 71 h 704"/>
                    <a:gd name="T100" fmla="*/ 373 w 425"/>
                    <a:gd name="T101" fmla="*/ 107 h 704"/>
                    <a:gd name="T102" fmla="*/ 395 w 425"/>
                    <a:gd name="T103" fmla="*/ 141 h 704"/>
                    <a:gd name="T104" fmla="*/ 412 w 425"/>
                    <a:gd name="T105" fmla="*/ 173 h 704"/>
                    <a:gd name="T106" fmla="*/ 422 w 425"/>
                    <a:gd name="T107" fmla="*/ 195 h 704"/>
                    <a:gd name="T108" fmla="*/ 425 w 425"/>
                    <a:gd name="T109" fmla="*/ 203 h 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25" h="704">
                      <a:moveTo>
                        <a:pt x="425" y="185"/>
                      </a:moveTo>
                      <a:lnTo>
                        <a:pt x="424" y="183"/>
                      </a:lnTo>
                      <a:lnTo>
                        <a:pt x="422" y="177"/>
                      </a:lnTo>
                      <a:lnTo>
                        <a:pt x="418" y="167"/>
                      </a:lnTo>
                      <a:lnTo>
                        <a:pt x="413" y="156"/>
                      </a:lnTo>
                      <a:lnTo>
                        <a:pt x="406" y="141"/>
                      </a:lnTo>
                      <a:lnTo>
                        <a:pt x="397" y="125"/>
                      </a:lnTo>
                      <a:lnTo>
                        <a:pt x="387" y="109"/>
                      </a:lnTo>
                      <a:lnTo>
                        <a:pt x="375" y="92"/>
                      </a:lnTo>
                      <a:lnTo>
                        <a:pt x="362" y="75"/>
                      </a:lnTo>
                      <a:lnTo>
                        <a:pt x="347" y="58"/>
                      </a:lnTo>
                      <a:lnTo>
                        <a:pt x="330" y="43"/>
                      </a:lnTo>
                      <a:lnTo>
                        <a:pt x="310" y="28"/>
                      </a:lnTo>
                      <a:lnTo>
                        <a:pt x="289" y="17"/>
                      </a:lnTo>
                      <a:lnTo>
                        <a:pt x="267" y="8"/>
                      </a:lnTo>
                      <a:lnTo>
                        <a:pt x="243" y="3"/>
                      </a:lnTo>
                      <a:lnTo>
                        <a:pt x="216" y="0"/>
                      </a:lnTo>
                      <a:lnTo>
                        <a:pt x="188" y="1"/>
                      </a:lnTo>
                      <a:lnTo>
                        <a:pt x="161" y="5"/>
                      </a:lnTo>
                      <a:lnTo>
                        <a:pt x="136" y="10"/>
                      </a:lnTo>
                      <a:lnTo>
                        <a:pt x="116" y="17"/>
                      </a:lnTo>
                      <a:lnTo>
                        <a:pt x="96" y="27"/>
                      </a:lnTo>
                      <a:lnTo>
                        <a:pt x="78" y="37"/>
                      </a:lnTo>
                      <a:lnTo>
                        <a:pt x="62" y="49"/>
                      </a:lnTo>
                      <a:lnTo>
                        <a:pt x="48" y="63"/>
                      </a:lnTo>
                      <a:lnTo>
                        <a:pt x="37" y="77"/>
                      </a:lnTo>
                      <a:lnTo>
                        <a:pt x="26" y="92"/>
                      </a:lnTo>
                      <a:lnTo>
                        <a:pt x="19" y="108"/>
                      </a:lnTo>
                      <a:lnTo>
                        <a:pt x="11" y="124"/>
                      </a:lnTo>
                      <a:lnTo>
                        <a:pt x="7" y="141"/>
                      </a:lnTo>
                      <a:lnTo>
                        <a:pt x="3" y="158"/>
                      </a:lnTo>
                      <a:lnTo>
                        <a:pt x="2" y="174"/>
                      </a:lnTo>
                      <a:lnTo>
                        <a:pt x="0" y="191"/>
                      </a:lnTo>
                      <a:lnTo>
                        <a:pt x="3" y="235"/>
                      </a:lnTo>
                      <a:lnTo>
                        <a:pt x="11" y="279"/>
                      </a:lnTo>
                      <a:lnTo>
                        <a:pt x="25" y="322"/>
                      </a:lnTo>
                      <a:lnTo>
                        <a:pt x="42" y="363"/>
                      </a:lnTo>
                      <a:lnTo>
                        <a:pt x="64" y="402"/>
                      </a:lnTo>
                      <a:lnTo>
                        <a:pt x="89" y="440"/>
                      </a:lnTo>
                      <a:lnTo>
                        <a:pt x="116" y="477"/>
                      </a:lnTo>
                      <a:lnTo>
                        <a:pt x="145" y="511"/>
                      </a:lnTo>
                      <a:lnTo>
                        <a:pt x="176" y="543"/>
                      </a:lnTo>
                      <a:lnTo>
                        <a:pt x="207" y="572"/>
                      </a:lnTo>
                      <a:lnTo>
                        <a:pt x="239" y="600"/>
                      </a:lnTo>
                      <a:lnTo>
                        <a:pt x="271" y="625"/>
                      </a:lnTo>
                      <a:lnTo>
                        <a:pt x="302" y="647"/>
                      </a:lnTo>
                      <a:lnTo>
                        <a:pt x="331" y="666"/>
                      </a:lnTo>
                      <a:lnTo>
                        <a:pt x="359" y="682"/>
                      </a:lnTo>
                      <a:lnTo>
                        <a:pt x="384" y="696"/>
                      </a:lnTo>
                      <a:lnTo>
                        <a:pt x="389" y="697"/>
                      </a:lnTo>
                      <a:lnTo>
                        <a:pt x="392" y="699"/>
                      </a:lnTo>
                      <a:lnTo>
                        <a:pt x="397" y="701"/>
                      </a:lnTo>
                      <a:lnTo>
                        <a:pt x="402" y="702"/>
                      </a:lnTo>
                      <a:lnTo>
                        <a:pt x="408" y="703"/>
                      </a:lnTo>
                      <a:lnTo>
                        <a:pt x="413" y="703"/>
                      </a:lnTo>
                      <a:lnTo>
                        <a:pt x="419" y="704"/>
                      </a:lnTo>
                      <a:lnTo>
                        <a:pt x="424" y="704"/>
                      </a:lnTo>
                      <a:lnTo>
                        <a:pt x="424" y="693"/>
                      </a:lnTo>
                      <a:lnTo>
                        <a:pt x="414" y="693"/>
                      </a:lnTo>
                      <a:lnTo>
                        <a:pt x="405" y="691"/>
                      </a:lnTo>
                      <a:lnTo>
                        <a:pt x="396" y="690"/>
                      </a:lnTo>
                      <a:lnTo>
                        <a:pt x="389" y="686"/>
                      </a:lnTo>
                      <a:lnTo>
                        <a:pt x="364" y="672"/>
                      </a:lnTo>
                      <a:lnTo>
                        <a:pt x="337" y="657"/>
                      </a:lnTo>
                      <a:lnTo>
                        <a:pt x="308" y="638"/>
                      </a:lnTo>
                      <a:lnTo>
                        <a:pt x="277" y="616"/>
                      </a:lnTo>
                      <a:lnTo>
                        <a:pt x="247" y="592"/>
                      </a:lnTo>
                      <a:lnTo>
                        <a:pt x="215" y="565"/>
                      </a:lnTo>
                      <a:lnTo>
                        <a:pt x="184" y="535"/>
                      </a:lnTo>
                      <a:lnTo>
                        <a:pt x="154" y="505"/>
                      </a:lnTo>
                      <a:lnTo>
                        <a:pt x="125" y="470"/>
                      </a:lnTo>
                      <a:lnTo>
                        <a:pt x="98" y="435"/>
                      </a:lnTo>
                      <a:lnTo>
                        <a:pt x="74" y="398"/>
                      </a:lnTo>
                      <a:lnTo>
                        <a:pt x="53" y="359"/>
                      </a:lnTo>
                      <a:lnTo>
                        <a:pt x="36" y="319"/>
                      </a:lnTo>
                      <a:lnTo>
                        <a:pt x="22" y="277"/>
                      </a:lnTo>
                      <a:lnTo>
                        <a:pt x="14" y="235"/>
                      </a:lnTo>
                      <a:lnTo>
                        <a:pt x="11" y="191"/>
                      </a:lnTo>
                      <a:lnTo>
                        <a:pt x="13" y="173"/>
                      </a:lnTo>
                      <a:lnTo>
                        <a:pt x="15" y="156"/>
                      </a:lnTo>
                      <a:lnTo>
                        <a:pt x="19" y="139"/>
                      </a:lnTo>
                      <a:lnTo>
                        <a:pt x="24" y="123"/>
                      </a:lnTo>
                      <a:lnTo>
                        <a:pt x="31" y="107"/>
                      </a:lnTo>
                      <a:lnTo>
                        <a:pt x="40" y="92"/>
                      </a:lnTo>
                      <a:lnTo>
                        <a:pt x="49" y="79"/>
                      </a:lnTo>
                      <a:lnTo>
                        <a:pt x="60" y="66"/>
                      </a:lnTo>
                      <a:lnTo>
                        <a:pt x="75" y="53"/>
                      </a:lnTo>
                      <a:lnTo>
                        <a:pt x="91" y="42"/>
                      </a:lnTo>
                      <a:lnTo>
                        <a:pt x="108" y="33"/>
                      </a:lnTo>
                      <a:lnTo>
                        <a:pt x="128" y="25"/>
                      </a:lnTo>
                      <a:lnTo>
                        <a:pt x="147" y="19"/>
                      </a:lnTo>
                      <a:lnTo>
                        <a:pt x="169" y="15"/>
                      </a:lnTo>
                      <a:lnTo>
                        <a:pt x="192" y="12"/>
                      </a:lnTo>
                      <a:lnTo>
                        <a:pt x="216" y="11"/>
                      </a:lnTo>
                      <a:lnTo>
                        <a:pt x="242" y="14"/>
                      </a:lnTo>
                      <a:lnTo>
                        <a:pt x="265" y="20"/>
                      </a:lnTo>
                      <a:lnTo>
                        <a:pt x="287" y="28"/>
                      </a:lnTo>
                      <a:lnTo>
                        <a:pt x="307" y="41"/>
                      </a:lnTo>
                      <a:lnTo>
                        <a:pt x="326" y="55"/>
                      </a:lnTo>
                      <a:lnTo>
                        <a:pt x="343" y="71"/>
                      </a:lnTo>
                      <a:lnTo>
                        <a:pt x="358" y="88"/>
                      </a:lnTo>
                      <a:lnTo>
                        <a:pt x="373" y="107"/>
                      </a:lnTo>
                      <a:lnTo>
                        <a:pt x="385" y="124"/>
                      </a:lnTo>
                      <a:lnTo>
                        <a:pt x="395" y="141"/>
                      </a:lnTo>
                      <a:lnTo>
                        <a:pt x="405" y="158"/>
                      </a:lnTo>
                      <a:lnTo>
                        <a:pt x="412" y="173"/>
                      </a:lnTo>
                      <a:lnTo>
                        <a:pt x="418" y="185"/>
                      </a:lnTo>
                      <a:lnTo>
                        <a:pt x="422" y="195"/>
                      </a:lnTo>
                      <a:lnTo>
                        <a:pt x="424" y="201"/>
                      </a:lnTo>
                      <a:lnTo>
                        <a:pt x="425" y="203"/>
                      </a:lnTo>
                      <a:lnTo>
                        <a:pt x="425" y="185"/>
                      </a:lnTo>
                      <a:close/>
                    </a:path>
                  </a:pathLst>
                </a:custGeom>
                <a:solidFill>
                  <a:srgbClr val="9900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76" name="Freeform 60"/>
                <p:cNvSpPr/>
                <p:nvPr/>
              </p:nvSpPr>
              <p:spPr bwMode="auto">
                <a:xfrm>
                  <a:off x="2383" y="1615"/>
                  <a:ext cx="361" cy="585"/>
                </a:xfrm>
                <a:custGeom>
                  <a:avLst/>
                  <a:gdLst>
                    <a:gd name="T0" fmla="*/ 353 w 361"/>
                    <a:gd name="T1" fmla="*/ 574 h 585"/>
                    <a:gd name="T2" fmla="*/ 339 w 361"/>
                    <a:gd name="T3" fmla="*/ 570 h 585"/>
                    <a:gd name="T4" fmla="*/ 315 w 361"/>
                    <a:gd name="T5" fmla="*/ 558 h 585"/>
                    <a:gd name="T6" fmla="*/ 271 w 361"/>
                    <a:gd name="T7" fmla="*/ 527 h 585"/>
                    <a:gd name="T8" fmla="*/ 219 w 361"/>
                    <a:gd name="T9" fmla="*/ 487 h 585"/>
                    <a:gd name="T10" fmla="*/ 165 w 361"/>
                    <a:gd name="T11" fmla="*/ 436 h 585"/>
                    <a:gd name="T12" fmla="*/ 114 w 361"/>
                    <a:gd name="T13" fmla="*/ 377 h 585"/>
                    <a:gd name="T14" fmla="*/ 68 w 361"/>
                    <a:gd name="T15" fmla="*/ 311 h 585"/>
                    <a:gd name="T16" fmla="*/ 34 w 361"/>
                    <a:gd name="T17" fmla="*/ 242 h 585"/>
                    <a:gd name="T18" fmla="*/ 15 w 361"/>
                    <a:gd name="T19" fmla="*/ 170 h 585"/>
                    <a:gd name="T20" fmla="*/ 15 w 361"/>
                    <a:gd name="T21" fmla="*/ 109 h 585"/>
                    <a:gd name="T22" fmla="*/ 29 w 361"/>
                    <a:gd name="T23" fmla="*/ 65 h 585"/>
                    <a:gd name="T24" fmla="*/ 53 w 361"/>
                    <a:gd name="T25" fmla="*/ 39 h 585"/>
                    <a:gd name="T26" fmla="*/ 76 w 361"/>
                    <a:gd name="T27" fmla="*/ 25 h 585"/>
                    <a:gd name="T28" fmla="*/ 103 w 361"/>
                    <a:gd name="T29" fmla="*/ 16 h 585"/>
                    <a:gd name="T30" fmla="*/ 135 w 361"/>
                    <a:gd name="T31" fmla="*/ 11 h 585"/>
                    <a:gd name="T32" fmla="*/ 182 w 361"/>
                    <a:gd name="T33" fmla="*/ 16 h 585"/>
                    <a:gd name="T34" fmla="*/ 235 w 361"/>
                    <a:gd name="T35" fmla="*/ 50 h 585"/>
                    <a:gd name="T36" fmla="*/ 278 w 361"/>
                    <a:gd name="T37" fmla="*/ 101 h 585"/>
                    <a:gd name="T38" fmla="*/ 310 w 361"/>
                    <a:gd name="T39" fmla="*/ 154 h 585"/>
                    <a:gd name="T40" fmla="*/ 324 w 361"/>
                    <a:gd name="T41" fmla="*/ 181 h 585"/>
                    <a:gd name="T42" fmla="*/ 334 w 361"/>
                    <a:gd name="T43" fmla="*/ 191 h 585"/>
                    <a:gd name="T44" fmla="*/ 344 w 361"/>
                    <a:gd name="T45" fmla="*/ 198 h 585"/>
                    <a:gd name="T46" fmla="*/ 355 w 361"/>
                    <a:gd name="T47" fmla="*/ 202 h 585"/>
                    <a:gd name="T48" fmla="*/ 361 w 361"/>
                    <a:gd name="T49" fmla="*/ 191 h 585"/>
                    <a:gd name="T50" fmla="*/ 344 w 361"/>
                    <a:gd name="T51" fmla="*/ 185 h 585"/>
                    <a:gd name="T52" fmla="*/ 331 w 361"/>
                    <a:gd name="T53" fmla="*/ 170 h 585"/>
                    <a:gd name="T54" fmla="*/ 305 w 361"/>
                    <a:gd name="T55" fmla="*/ 122 h 585"/>
                    <a:gd name="T56" fmla="*/ 264 w 361"/>
                    <a:gd name="T57" fmla="*/ 66 h 585"/>
                    <a:gd name="T58" fmla="*/ 213 w 361"/>
                    <a:gd name="T59" fmla="*/ 19 h 585"/>
                    <a:gd name="T60" fmla="*/ 153 w 361"/>
                    <a:gd name="T61" fmla="*/ 0 h 585"/>
                    <a:gd name="T62" fmla="*/ 88 w 361"/>
                    <a:gd name="T63" fmla="*/ 8 h 585"/>
                    <a:gd name="T64" fmla="*/ 40 w 361"/>
                    <a:gd name="T65" fmla="*/ 35 h 585"/>
                    <a:gd name="T66" fmla="*/ 10 w 361"/>
                    <a:gd name="T67" fmla="*/ 77 h 585"/>
                    <a:gd name="T68" fmla="*/ 0 w 361"/>
                    <a:gd name="T69" fmla="*/ 134 h 585"/>
                    <a:gd name="T70" fmla="*/ 10 w 361"/>
                    <a:gd name="T71" fmla="*/ 208 h 585"/>
                    <a:gd name="T72" fmla="*/ 38 w 361"/>
                    <a:gd name="T73" fmla="*/ 280 h 585"/>
                    <a:gd name="T74" fmla="*/ 80 w 361"/>
                    <a:gd name="T75" fmla="*/ 350 h 585"/>
                    <a:gd name="T76" fmla="*/ 130 w 361"/>
                    <a:gd name="T77" fmla="*/ 414 h 585"/>
                    <a:gd name="T78" fmla="*/ 185 w 361"/>
                    <a:gd name="T79" fmla="*/ 470 h 585"/>
                    <a:gd name="T80" fmla="*/ 239 w 361"/>
                    <a:gd name="T81" fmla="*/ 518 h 585"/>
                    <a:gd name="T82" fmla="*/ 288 w 361"/>
                    <a:gd name="T83" fmla="*/ 554 h 585"/>
                    <a:gd name="T84" fmla="*/ 328 w 361"/>
                    <a:gd name="T85" fmla="*/ 578 h 585"/>
                    <a:gd name="T86" fmla="*/ 343 w 361"/>
                    <a:gd name="T87" fmla="*/ 583 h 585"/>
                    <a:gd name="T88" fmla="*/ 361 w 361"/>
                    <a:gd name="T89" fmla="*/ 585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361" h="585">
                      <a:moveTo>
                        <a:pt x="361" y="574"/>
                      </a:moveTo>
                      <a:lnTo>
                        <a:pt x="353" y="574"/>
                      </a:lnTo>
                      <a:lnTo>
                        <a:pt x="345" y="573"/>
                      </a:lnTo>
                      <a:lnTo>
                        <a:pt x="339" y="570"/>
                      </a:lnTo>
                      <a:lnTo>
                        <a:pt x="333" y="568"/>
                      </a:lnTo>
                      <a:lnTo>
                        <a:pt x="315" y="558"/>
                      </a:lnTo>
                      <a:lnTo>
                        <a:pt x="294" y="545"/>
                      </a:lnTo>
                      <a:lnTo>
                        <a:pt x="271" y="527"/>
                      </a:lnTo>
                      <a:lnTo>
                        <a:pt x="245" y="509"/>
                      </a:lnTo>
                      <a:lnTo>
                        <a:pt x="219" y="487"/>
                      </a:lnTo>
                      <a:lnTo>
                        <a:pt x="192" y="463"/>
                      </a:lnTo>
                      <a:lnTo>
                        <a:pt x="165" y="436"/>
                      </a:lnTo>
                      <a:lnTo>
                        <a:pt x="140" y="406"/>
                      </a:lnTo>
                      <a:lnTo>
                        <a:pt x="114" y="377"/>
                      </a:lnTo>
                      <a:lnTo>
                        <a:pt x="91" y="345"/>
                      </a:lnTo>
                      <a:lnTo>
                        <a:pt x="68" y="311"/>
                      </a:lnTo>
                      <a:lnTo>
                        <a:pt x="50" y="276"/>
                      </a:lnTo>
                      <a:lnTo>
                        <a:pt x="34" y="242"/>
                      </a:lnTo>
                      <a:lnTo>
                        <a:pt x="22" y="207"/>
                      </a:lnTo>
                      <a:lnTo>
                        <a:pt x="15" y="170"/>
                      </a:lnTo>
                      <a:lnTo>
                        <a:pt x="12" y="134"/>
                      </a:lnTo>
                      <a:lnTo>
                        <a:pt x="15" y="109"/>
                      </a:lnTo>
                      <a:lnTo>
                        <a:pt x="20" y="85"/>
                      </a:lnTo>
                      <a:lnTo>
                        <a:pt x="29" y="65"/>
                      </a:lnTo>
                      <a:lnTo>
                        <a:pt x="43" y="47"/>
                      </a:lnTo>
                      <a:lnTo>
                        <a:pt x="53" y="39"/>
                      </a:lnTo>
                      <a:lnTo>
                        <a:pt x="64" y="32"/>
                      </a:lnTo>
                      <a:lnTo>
                        <a:pt x="76" y="25"/>
                      </a:lnTo>
                      <a:lnTo>
                        <a:pt x="89" y="19"/>
                      </a:lnTo>
                      <a:lnTo>
                        <a:pt x="103" y="16"/>
                      </a:lnTo>
                      <a:lnTo>
                        <a:pt x="119" y="13"/>
                      </a:lnTo>
                      <a:lnTo>
                        <a:pt x="135" y="11"/>
                      </a:lnTo>
                      <a:lnTo>
                        <a:pt x="153" y="11"/>
                      </a:lnTo>
                      <a:lnTo>
                        <a:pt x="182" y="16"/>
                      </a:lnTo>
                      <a:lnTo>
                        <a:pt x="209" y="29"/>
                      </a:lnTo>
                      <a:lnTo>
                        <a:pt x="235" y="50"/>
                      </a:lnTo>
                      <a:lnTo>
                        <a:pt x="258" y="74"/>
                      </a:lnTo>
                      <a:lnTo>
                        <a:pt x="278" y="101"/>
                      </a:lnTo>
                      <a:lnTo>
                        <a:pt x="296" y="128"/>
                      </a:lnTo>
                      <a:lnTo>
                        <a:pt x="310" y="154"/>
                      </a:lnTo>
                      <a:lnTo>
                        <a:pt x="321" y="175"/>
                      </a:lnTo>
                      <a:lnTo>
                        <a:pt x="324" y="181"/>
                      </a:lnTo>
                      <a:lnTo>
                        <a:pt x="329" y="186"/>
                      </a:lnTo>
                      <a:lnTo>
                        <a:pt x="334" y="191"/>
                      </a:lnTo>
                      <a:lnTo>
                        <a:pt x="339" y="194"/>
                      </a:lnTo>
                      <a:lnTo>
                        <a:pt x="344" y="198"/>
                      </a:lnTo>
                      <a:lnTo>
                        <a:pt x="349" y="200"/>
                      </a:lnTo>
                      <a:lnTo>
                        <a:pt x="355" y="202"/>
                      </a:lnTo>
                      <a:lnTo>
                        <a:pt x="360" y="202"/>
                      </a:lnTo>
                      <a:lnTo>
                        <a:pt x="361" y="191"/>
                      </a:lnTo>
                      <a:lnTo>
                        <a:pt x="353" y="189"/>
                      </a:lnTo>
                      <a:lnTo>
                        <a:pt x="344" y="185"/>
                      </a:lnTo>
                      <a:lnTo>
                        <a:pt x="337" y="178"/>
                      </a:lnTo>
                      <a:lnTo>
                        <a:pt x="331" y="170"/>
                      </a:lnTo>
                      <a:lnTo>
                        <a:pt x="320" y="148"/>
                      </a:lnTo>
                      <a:lnTo>
                        <a:pt x="305" y="122"/>
                      </a:lnTo>
                      <a:lnTo>
                        <a:pt x="287" y="94"/>
                      </a:lnTo>
                      <a:lnTo>
                        <a:pt x="264" y="66"/>
                      </a:lnTo>
                      <a:lnTo>
                        <a:pt x="240" y="40"/>
                      </a:lnTo>
                      <a:lnTo>
                        <a:pt x="213" y="19"/>
                      </a:lnTo>
                      <a:lnTo>
                        <a:pt x="185" y="5"/>
                      </a:lnTo>
                      <a:lnTo>
                        <a:pt x="153" y="0"/>
                      </a:lnTo>
                      <a:lnTo>
                        <a:pt x="119" y="2"/>
                      </a:lnTo>
                      <a:lnTo>
                        <a:pt x="88" y="8"/>
                      </a:lnTo>
                      <a:lnTo>
                        <a:pt x="62" y="19"/>
                      </a:lnTo>
                      <a:lnTo>
                        <a:pt x="40" y="35"/>
                      </a:lnTo>
                      <a:lnTo>
                        <a:pt x="23" y="54"/>
                      </a:lnTo>
                      <a:lnTo>
                        <a:pt x="10" y="77"/>
                      </a:lnTo>
                      <a:lnTo>
                        <a:pt x="2" y="104"/>
                      </a:lnTo>
                      <a:lnTo>
                        <a:pt x="0" y="134"/>
                      </a:lnTo>
                      <a:lnTo>
                        <a:pt x="2" y="171"/>
                      </a:lnTo>
                      <a:lnTo>
                        <a:pt x="10" y="208"/>
                      </a:lnTo>
                      <a:lnTo>
                        <a:pt x="22" y="245"/>
                      </a:lnTo>
                      <a:lnTo>
                        <a:pt x="38" y="280"/>
                      </a:lnTo>
                      <a:lnTo>
                        <a:pt x="57" y="316"/>
                      </a:lnTo>
                      <a:lnTo>
                        <a:pt x="80" y="350"/>
                      </a:lnTo>
                      <a:lnTo>
                        <a:pt x="104" y="382"/>
                      </a:lnTo>
                      <a:lnTo>
                        <a:pt x="130" y="414"/>
                      </a:lnTo>
                      <a:lnTo>
                        <a:pt x="157" y="443"/>
                      </a:lnTo>
                      <a:lnTo>
                        <a:pt x="185" y="470"/>
                      </a:lnTo>
                      <a:lnTo>
                        <a:pt x="212" y="496"/>
                      </a:lnTo>
                      <a:lnTo>
                        <a:pt x="239" y="518"/>
                      </a:lnTo>
                      <a:lnTo>
                        <a:pt x="264" y="537"/>
                      </a:lnTo>
                      <a:lnTo>
                        <a:pt x="288" y="554"/>
                      </a:lnTo>
                      <a:lnTo>
                        <a:pt x="310" y="568"/>
                      </a:lnTo>
                      <a:lnTo>
                        <a:pt x="328" y="578"/>
                      </a:lnTo>
                      <a:lnTo>
                        <a:pt x="336" y="580"/>
                      </a:lnTo>
                      <a:lnTo>
                        <a:pt x="343" y="583"/>
                      </a:lnTo>
                      <a:lnTo>
                        <a:pt x="353" y="584"/>
                      </a:lnTo>
                      <a:lnTo>
                        <a:pt x="361" y="585"/>
                      </a:lnTo>
                      <a:lnTo>
                        <a:pt x="361" y="574"/>
                      </a:lnTo>
                      <a:close/>
                    </a:path>
                  </a:pathLst>
                </a:custGeom>
                <a:solidFill>
                  <a:srgbClr val="9900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77" name="Freeform 61"/>
                <p:cNvSpPr/>
                <p:nvPr/>
              </p:nvSpPr>
              <p:spPr bwMode="auto">
                <a:xfrm>
                  <a:off x="2742" y="1552"/>
                  <a:ext cx="426" cy="704"/>
                </a:xfrm>
                <a:custGeom>
                  <a:avLst/>
                  <a:gdLst>
                    <a:gd name="T0" fmla="*/ 1 w 426"/>
                    <a:gd name="T1" fmla="*/ 183 h 704"/>
                    <a:gd name="T2" fmla="*/ 7 w 426"/>
                    <a:gd name="T3" fmla="*/ 167 h 704"/>
                    <a:gd name="T4" fmla="*/ 19 w 426"/>
                    <a:gd name="T5" fmla="*/ 141 h 704"/>
                    <a:gd name="T6" fmla="*/ 38 w 426"/>
                    <a:gd name="T7" fmla="*/ 109 h 704"/>
                    <a:gd name="T8" fmla="*/ 63 w 426"/>
                    <a:gd name="T9" fmla="*/ 75 h 704"/>
                    <a:gd name="T10" fmla="*/ 95 w 426"/>
                    <a:gd name="T11" fmla="*/ 43 h 704"/>
                    <a:gd name="T12" fmla="*/ 136 w 426"/>
                    <a:gd name="T13" fmla="*/ 17 h 704"/>
                    <a:gd name="T14" fmla="*/ 182 w 426"/>
                    <a:gd name="T15" fmla="*/ 3 h 704"/>
                    <a:gd name="T16" fmla="*/ 239 w 426"/>
                    <a:gd name="T17" fmla="*/ 1 h 704"/>
                    <a:gd name="T18" fmla="*/ 289 w 426"/>
                    <a:gd name="T19" fmla="*/ 10 h 704"/>
                    <a:gd name="T20" fmla="*/ 330 w 426"/>
                    <a:gd name="T21" fmla="*/ 27 h 704"/>
                    <a:gd name="T22" fmla="*/ 364 w 426"/>
                    <a:gd name="T23" fmla="*/ 49 h 704"/>
                    <a:gd name="T24" fmla="*/ 389 w 426"/>
                    <a:gd name="T25" fmla="*/ 77 h 704"/>
                    <a:gd name="T26" fmla="*/ 408 w 426"/>
                    <a:gd name="T27" fmla="*/ 108 h 704"/>
                    <a:gd name="T28" fmla="*/ 420 w 426"/>
                    <a:gd name="T29" fmla="*/ 141 h 704"/>
                    <a:gd name="T30" fmla="*/ 425 w 426"/>
                    <a:gd name="T31" fmla="*/ 174 h 704"/>
                    <a:gd name="T32" fmla="*/ 424 w 426"/>
                    <a:gd name="T33" fmla="*/ 235 h 704"/>
                    <a:gd name="T34" fmla="*/ 402 w 426"/>
                    <a:gd name="T35" fmla="*/ 322 h 704"/>
                    <a:gd name="T36" fmla="*/ 362 w 426"/>
                    <a:gd name="T37" fmla="*/ 402 h 704"/>
                    <a:gd name="T38" fmla="*/ 311 w 426"/>
                    <a:gd name="T39" fmla="*/ 477 h 704"/>
                    <a:gd name="T40" fmla="*/ 251 w 426"/>
                    <a:gd name="T41" fmla="*/ 543 h 704"/>
                    <a:gd name="T42" fmla="*/ 187 w 426"/>
                    <a:gd name="T43" fmla="*/ 600 h 704"/>
                    <a:gd name="T44" fmla="*/ 125 w 426"/>
                    <a:gd name="T45" fmla="*/ 647 h 704"/>
                    <a:gd name="T46" fmla="*/ 67 w 426"/>
                    <a:gd name="T47" fmla="*/ 682 h 704"/>
                    <a:gd name="T48" fmla="*/ 38 w 426"/>
                    <a:gd name="T49" fmla="*/ 697 h 704"/>
                    <a:gd name="T50" fmla="*/ 28 w 426"/>
                    <a:gd name="T51" fmla="*/ 701 h 704"/>
                    <a:gd name="T52" fmla="*/ 18 w 426"/>
                    <a:gd name="T53" fmla="*/ 703 h 704"/>
                    <a:gd name="T54" fmla="*/ 7 w 426"/>
                    <a:gd name="T55" fmla="*/ 704 h 704"/>
                    <a:gd name="T56" fmla="*/ 2 w 426"/>
                    <a:gd name="T57" fmla="*/ 693 h 704"/>
                    <a:gd name="T58" fmla="*/ 21 w 426"/>
                    <a:gd name="T59" fmla="*/ 691 h 704"/>
                    <a:gd name="T60" fmla="*/ 38 w 426"/>
                    <a:gd name="T61" fmla="*/ 686 h 704"/>
                    <a:gd name="T62" fmla="*/ 89 w 426"/>
                    <a:gd name="T63" fmla="*/ 657 h 704"/>
                    <a:gd name="T64" fmla="*/ 148 w 426"/>
                    <a:gd name="T65" fmla="*/ 616 h 704"/>
                    <a:gd name="T66" fmla="*/ 210 w 426"/>
                    <a:gd name="T67" fmla="*/ 565 h 704"/>
                    <a:gd name="T68" fmla="*/ 273 w 426"/>
                    <a:gd name="T69" fmla="*/ 505 h 704"/>
                    <a:gd name="T70" fmla="*/ 328 w 426"/>
                    <a:gd name="T71" fmla="*/ 435 h 704"/>
                    <a:gd name="T72" fmla="*/ 373 w 426"/>
                    <a:gd name="T73" fmla="*/ 359 h 704"/>
                    <a:gd name="T74" fmla="*/ 404 w 426"/>
                    <a:gd name="T75" fmla="*/ 277 h 704"/>
                    <a:gd name="T76" fmla="*/ 415 w 426"/>
                    <a:gd name="T77" fmla="*/ 191 h 704"/>
                    <a:gd name="T78" fmla="*/ 411 w 426"/>
                    <a:gd name="T79" fmla="*/ 156 h 704"/>
                    <a:gd name="T80" fmla="*/ 403 w 426"/>
                    <a:gd name="T81" fmla="*/ 123 h 704"/>
                    <a:gd name="T82" fmla="*/ 387 w 426"/>
                    <a:gd name="T83" fmla="*/ 92 h 704"/>
                    <a:gd name="T84" fmla="*/ 366 w 426"/>
                    <a:gd name="T85" fmla="*/ 66 h 704"/>
                    <a:gd name="T86" fmla="*/ 335 w 426"/>
                    <a:gd name="T87" fmla="*/ 42 h 704"/>
                    <a:gd name="T88" fmla="*/ 299 w 426"/>
                    <a:gd name="T89" fmla="*/ 25 h 704"/>
                    <a:gd name="T90" fmla="*/ 257 w 426"/>
                    <a:gd name="T91" fmla="*/ 15 h 704"/>
                    <a:gd name="T92" fmla="*/ 209 w 426"/>
                    <a:gd name="T93" fmla="*/ 11 h 704"/>
                    <a:gd name="T94" fmla="*/ 160 w 426"/>
                    <a:gd name="T95" fmla="*/ 20 h 704"/>
                    <a:gd name="T96" fmla="*/ 119 w 426"/>
                    <a:gd name="T97" fmla="*/ 41 h 704"/>
                    <a:gd name="T98" fmla="*/ 83 w 426"/>
                    <a:gd name="T99" fmla="*/ 71 h 704"/>
                    <a:gd name="T100" fmla="*/ 54 w 426"/>
                    <a:gd name="T101" fmla="*/ 107 h 704"/>
                    <a:gd name="T102" fmla="*/ 30 w 426"/>
                    <a:gd name="T103" fmla="*/ 141 h 704"/>
                    <a:gd name="T104" fmla="*/ 14 w 426"/>
                    <a:gd name="T105" fmla="*/ 173 h 704"/>
                    <a:gd name="T106" fmla="*/ 5 w 426"/>
                    <a:gd name="T107" fmla="*/ 195 h 704"/>
                    <a:gd name="T108" fmla="*/ 1 w 426"/>
                    <a:gd name="T109" fmla="*/ 203 h 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26" h="704">
                      <a:moveTo>
                        <a:pt x="0" y="185"/>
                      </a:moveTo>
                      <a:lnTo>
                        <a:pt x="1" y="183"/>
                      </a:lnTo>
                      <a:lnTo>
                        <a:pt x="3" y="177"/>
                      </a:lnTo>
                      <a:lnTo>
                        <a:pt x="7" y="167"/>
                      </a:lnTo>
                      <a:lnTo>
                        <a:pt x="12" y="156"/>
                      </a:lnTo>
                      <a:lnTo>
                        <a:pt x="19" y="141"/>
                      </a:lnTo>
                      <a:lnTo>
                        <a:pt x="28" y="125"/>
                      </a:lnTo>
                      <a:lnTo>
                        <a:pt x="38" y="109"/>
                      </a:lnTo>
                      <a:lnTo>
                        <a:pt x="50" y="92"/>
                      </a:lnTo>
                      <a:lnTo>
                        <a:pt x="63" y="75"/>
                      </a:lnTo>
                      <a:lnTo>
                        <a:pt x="78" y="58"/>
                      </a:lnTo>
                      <a:lnTo>
                        <a:pt x="95" y="43"/>
                      </a:lnTo>
                      <a:lnTo>
                        <a:pt x="115" y="28"/>
                      </a:lnTo>
                      <a:lnTo>
                        <a:pt x="136" y="17"/>
                      </a:lnTo>
                      <a:lnTo>
                        <a:pt x="158" y="8"/>
                      </a:lnTo>
                      <a:lnTo>
                        <a:pt x="182" y="3"/>
                      </a:lnTo>
                      <a:lnTo>
                        <a:pt x="209" y="0"/>
                      </a:lnTo>
                      <a:lnTo>
                        <a:pt x="239" y="1"/>
                      </a:lnTo>
                      <a:lnTo>
                        <a:pt x="264" y="5"/>
                      </a:lnTo>
                      <a:lnTo>
                        <a:pt x="289" y="10"/>
                      </a:lnTo>
                      <a:lnTo>
                        <a:pt x="311" y="17"/>
                      </a:lnTo>
                      <a:lnTo>
                        <a:pt x="330" y="27"/>
                      </a:lnTo>
                      <a:lnTo>
                        <a:pt x="349" y="37"/>
                      </a:lnTo>
                      <a:lnTo>
                        <a:pt x="364" y="49"/>
                      </a:lnTo>
                      <a:lnTo>
                        <a:pt x="378" y="63"/>
                      </a:lnTo>
                      <a:lnTo>
                        <a:pt x="389" y="77"/>
                      </a:lnTo>
                      <a:lnTo>
                        <a:pt x="400" y="92"/>
                      </a:lnTo>
                      <a:lnTo>
                        <a:pt x="408" y="108"/>
                      </a:lnTo>
                      <a:lnTo>
                        <a:pt x="415" y="124"/>
                      </a:lnTo>
                      <a:lnTo>
                        <a:pt x="420" y="141"/>
                      </a:lnTo>
                      <a:lnTo>
                        <a:pt x="424" y="158"/>
                      </a:lnTo>
                      <a:lnTo>
                        <a:pt x="425" y="174"/>
                      </a:lnTo>
                      <a:lnTo>
                        <a:pt x="426" y="191"/>
                      </a:lnTo>
                      <a:lnTo>
                        <a:pt x="424" y="235"/>
                      </a:lnTo>
                      <a:lnTo>
                        <a:pt x="415" y="279"/>
                      </a:lnTo>
                      <a:lnTo>
                        <a:pt x="402" y="322"/>
                      </a:lnTo>
                      <a:lnTo>
                        <a:pt x="383" y="363"/>
                      </a:lnTo>
                      <a:lnTo>
                        <a:pt x="362" y="402"/>
                      </a:lnTo>
                      <a:lnTo>
                        <a:pt x="338" y="440"/>
                      </a:lnTo>
                      <a:lnTo>
                        <a:pt x="311" y="477"/>
                      </a:lnTo>
                      <a:lnTo>
                        <a:pt x="281" y="511"/>
                      </a:lnTo>
                      <a:lnTo>
                        <a:pt x="251" y="543"/>
                      </a:lnTo>
                      <a:lnTo>
                        <a:pt x="219" y="572"/>
                      </a:lnTo>
                      <a:lnTo>
                        <a:pt x="187" y="600"/>
                      </a:lnTo>
                      <a:lnTo>
                        <a:pt x="155" y="625"/>
                      </a:lnTo>
                      <a:lnTo>
                        <a:pt x="125" y="647"/>
                      </a:lnTo>
                      <a:lnTo>
                        <a:pt x="95" y="666"/>
                      </a:lnTo>
                      <a:lnTo>
                        <a:pt x="67" y="682"/>
                      </a:lnTo>
                      <a:lnTo>
                        <a:pt x="43" y="696"/>
                      </a:lnTo>
                      <a:lnTo>
                        <a:pt x="38" y="697"/>
                      </a:lnTo>
                      <a:lnTo>
                        <a:pt x="33" y="699"/>
                      </a:lnTo>
                      <a:lnTo>
                        <a:pt x="28" y="701"/>
                      </a:lnTo>
                      <a:lnTo>
                        <a:pt x="23" y="702"/>
                      </a:lnTo>
                      <a:lnTo>
                        <a:pt x="18" y="703"/>
                      </a:lnTo>
                      <a:lnTo>
                        <a:pt x="12" y="703"/>
                      </a:lnTo>
                      <a:lnTo>
                        <a:pt x="7" y="704"/>
                      </a:lnTo>
                      <a:lnTo>
                        <a:pt x="2" y="704"/>
                      </a:lnTo>
                      <a:lnTo>
                        <a:pt x="2" y="693"/>
                      </a:lnTo>
                      <a:lnTo>
                        <a:pt x="12" y="693"/>
                      </a:lnTo>
                      <a:lnTo>
                        <a:pt x="21" y="691"/>
                      </a:lnTo>
                      <a:lnTo>
                        <a:pt x="30" y="690"/>
                      </a:lnTo>
                      <a:lnTo>
                        <a:pt x="38" y="686"/>
                      </a:lnTo>
                      <a:lnTo>
                        <a:pt x="62" y="672"/>
                      </a:lnTo>
                      <a:lnTo>
                        <a:pt x="89" y="657"/>
                      </a:lnTo>
                      <a:lnTo>
                        <a:pt x="119" y="638"/>
                      </a:lnTo>
                      <a:lnTo>
                        <a:pt x="148" y="616"/>
                      </a:lnTo>
                      <a:lnTo>
                        <a:pt x="180" y="592"/>
                      </a:lnTo>
                      <a:lnTo>
                        <a:pt x="210" y="565"/>
                      </a:lnTo>
                      <a:lnTo>
                        <a:pt x="242" y="535"/>
                      </a:lnTo>
                      <a:lnTo>
                        <a:pt x="273" y="505"/>
                      </a:lnTo>
                      <a:lnTo>
                        <a:pt x="301" y="470"/>
                      </a:lnTo>
                      <a:lnTo>
                        <a:pt x="328" y="435"/>
                      </a:lnTo>
                      <a:lnTo>
                        <a:pt x="353" y="398"/>
                      </a:lnTo>
                      <a:lnTo>
                        <a:pt x="373" y="359"/>
                      </a:lnTo>
                      <a:lnTo>
                        <a:pt x="390" y="319"/>
                      </a:lnTo>
                      <a:lnTo>
                        <a:pt x="404" y="277"/>
                      </a:lnTo>
                      <a:lnTo>
                        <a:pt x="413" y="235"/>
                      </a:lnTo>
                      <a:lnTo>
                        <a:pt x="415" y="191"/>
                      </a:lnTo>
                      <a:lnTo>
                        <a:pt x="414" y="173"/>
                      </a:lnTo>
                      <a:lnTo>
                        <a:pt x="411" y="156"/>
                      </a:lnTo>
                      <a:lnTo>
                        <a:pt x="408" y="139"/>
                      </a:lnTo>
                      <a:lnTo>
                        <a:pt x="403" y="123"/>
                      </a:lnTo>
                      <a:lnTo>
                        <a:pt x="395" y="107"/>
                      </a:lnTo>
                      <a:lnTo>
                        <a:pt x="387" y="92"/>
                      </a:lnTo>
                      <a:lnTo>
                        <a:pt x="377" y="79"/>
                      </a:lnTo>
                      <a:lnTo>
                        <a:pt x="366" y="66"/>
                      </a:lnTo>
                      <a:lnTo>
                        <a:pt x="351" y="53"/>
                      </a:lnTo>
                      <a:lnTo>
                        <a:pt x="335" y="42"/>
                      </a:lnTo>
                      <a:lnTo>
                        <a:pt x="318" y="33"/>
                      </a:lnTo>
                      <a:lnTo>
                        <a:pt x="299" y="25"/>
                      </a:lnTo>
                      <a:lnTo>
                        <a:pt x="279" y="19"/>
                      </a:lnTo>
                      <a:lnTo>
                        <a:pt x="257" y="15"/>
                      </a:lnTo>
                      <a:lnTo>
                        <a:pt x="234" y="12"/>
                      </a:lnTo>
                      <a:lnTo>
                        <a:pt x="209" y="11"/>
                      </a:lnTo>
                      <a:lnTo>
                        <a:pt x="183" y="14"/>
                      </a:lnTo>
                      <a:lnTo>
                        <a:pt x="160" y="20"/>
                      </a:lnTo>
                      <a:lnTo>
                        <a:pt x="138" y="28"/>
                      </a:lnTo>
                      <a:lnTo>
                        <a:pt x="119" y="41"/>
                      </a:lnTo>
                      <a:lnTo>
                        <a:pt x="99" y="55"/>
                      </a:lnTo>
                      <a:lnTo>
                        <a:pt x="83" y="71"/>
                      </a:lnTo>
                      <a:lnTo>
                        <a:pt x="67" y="88"/>
                      </a:lnTo>
                      <a:lnTo>
                        <a:pt x="54" y="107"/>
                      </a:lnTo>
                      <a:lnTo>
                        <a:pt x="41" y="124"/>
                      </a:lnTo>
                      <a:lnTo>
                        <a:pt x="30" y="141"/>
                      </a:lnTo>
                      <a:lnTo>
                        <a:pt x="22" y="158"/>
                      </a:lnTo>
                      <a:lnTo>
                        <a:pt x="14" y="173"/>
                      </a:lnTo>
                      <a:lnTo>
                        <a:pt x="8" y="185"/>
                      </a:lnTo>
                      <a:lnTo>
                        <a:pt x="5" y="195"/>
                      </a:lnTo>
                      <a:lnTo>
                        <a:pt x="2" y="201"/>
                      </a:lnTo>
                      <a:lnTo>
                        <a:pt x="1" y="203"/>
                      </a:lnTo>
                      <a:lnTo>
                        <a:pt x="0" y="185"/>
                      </a:lnTo>
                      <a:close/>
                    </a:path>
                  </a:pathLst>
                </a:custGeom>
                <a:solidFill>
                  <a:srgbClr val="9900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78" name="Freeform 62"/>
                <p:cNvSpPr/>
                <p:nvPr/>
              </p:nvSpPr>
              <p:spPr bwMode="auto">
                <a:xfrm>
                  <a:off x="2744" y="1615"/>
                  <a:ext cx="362" cy="585"/>
                </a:xfrm>
                <a:custGeom>
                  <a:avLst/>
                  <a:gdLst>
                    <a:gd name="T0" fmla="*/ 8 w 362"/>
                    <a:gd name="T1" fmla="*/ 574 h 585"/>
                    <a:gd name="T2" fmla="*/ 21 w 362"/>
                    <a:gd name="T3" fmla="*/ 570 h 585"/>
                    <a:gd name="T4" fmla="*/ 46 w 362"/>
                    <a:gd name="T5" fmla="*/ 558 h 585"/>
                    <a:gd name="T6" fmla="*/ 90 w 362"/>
                    <a:gd name="T7" fmla="*/ 527 h 585"/>
                    <a:gd name="T8" fmla="*/ 142 w 362"/>
                    <a:gd name="T9" fmla="*/ 487 h 585"/>
                    <a:gd name="T10" fmla="*/ 196 w 362"/>
                    <a:gd name="T11" fmla="*/ 436 h 585"/>
                    <a:gd name="T12" fmla="*/ 248 w 362"/>
                    <a:gd name="T13" fmla="*/ 377 h 585"/>
                    <a:gd name="T14" fmla="*/ 293 w 362"/>
                    <a:gd name="T15" fmla="*/ 311 h 585"/>
                    <a:gd name="T16" fmla="*/ 328 w 362"/>
                    <a:gd name="T17" fmla="*/ 242 h 585"/>
                    <a:gd name="T18" fmla="*/ 348 w 362"/>
                    <a:gd name="T19" fmla="*/ 170 h 585"/>
                    <a:gd name="T20" fmla="*/ 348 w 362"/>
                    <a:gd name="T21" fmla="*/ 109 h 585"/>
                    <a:gd name="T22" fmla="*/ 332 w 362"/>
                    <a:gd name="T23" fmla="*/ 65 h 585"/>
                    <a:gd name="T24" fmla="*/ 309 w 362"/>
                    <a:gd name="T25" fmla="*/ 39 h 585"/>
                    <a:gd name="T26" fmla="*/ 286 w 362"/>
                    <a:gd name="T27" fmla="*/ 25 h 585"/>
                    <a:gd name="T28" fmla="*/ 257 w 362"/>
                    <a:gd name="T29" fmla="*/ 16 h 585"/>
                    <a:gd name="T30" fmla="*/ 226 w 362"/>
                    <a:gd name="T31" fmla="*/ 11 h 585"/>
                    <a:gd name="T32" fmla="*/ 179 w 362"/>
                    <a:gd name="T33" fmla="*/ 16 h 585"/>
                    <a:gd name="T34" fmla="*/ 126 w 362"/>
                    <a:gd name="T35" fmla="*/ 50 h 585"/>
                    <a:gd name="T36" fmla="*/ 82 w 362"/>
                    <a:gd name="T37" fmla="*/ 101 h 585"/>
                    <a:gd name="T38" fmla="*/ 50 w 362"/>
                    <a:gd name="T39" fmla="*/ 154 h 585"/>
                    <a:gd name="T40" fmla="*/ 36 w 362"/>
                    <a:gd name="T41" fmla="*/ 181 h 585"/>
                    <a:gd name="T42" fmla="*/ 27 w 362"/>
                    <a:gd name="T43" fmla="*/ 191 h 585"/>
                    <a:gd name="T44" fmla="*/ 16 w 362"/>
                    <a:gd name="T45" fmla="*/ 198 h 585"/>
                    <a:gd name="T46" fmla="*/ 5 w 362"/>
                    <a:gd name="T47" fmla="*/ 202 h 585"/>
                    <a:gd name="T48" fmla="*/ 0 w 362"/>
                    <a:gd name="T49" fmla="*/ 191 h 585"/>
                    <a:gd name="T50" fmla="*/ 16 w 362"/>
                    <a:gd name="T51" fmla="*/ 185 h 585"/>
                    <a:gd name="T52" fmla="*/ 30 w 362"/>
                    <a:gd name="T53" fmla="*/ 170 h 585"/>
                    <a:gd name="T54" fmla="*/ 55 w 362"/>
                    <a:gd name="T55" fmla="*/ 122 h 585"/>
                    <a:gd name="T56" fmla="*/ 96 w 362"/>
                    <a:gd name="T57" fmla="*/ 66 h 585"/>
                    <a:gd name="T58" fmla="*/ 147 w 362"/>
                    <a:gd name="T59" fmla="*/ 19 h 585"/>
                    <a:gd name="T60" fmla="*/ 207 w 362"/>
                    <a:gd name="T61" fmla="*/ 0 h 585"/>
                    <a:gd name="T62" fmla="*/ 272 w 362"/>
                    <a:gd name="T63" fmla="*/ 8 h 585"/>
                    <a:gd name="T64" fmla="*/ 321 w 362"/>
                    <a:gd name="T65" fmla="*/ 35 h 585"/>
                    <a:gd name="T66" fmla="*/ 352 w 362"/>
                    <a:gd name="T67" fmla="*/ 77 h 585"/>
                    <a:gd name="T68" fmla="*/ 362 w 362"/>
                    <a:gd name="T69" fmla="*/ 134 h 585"/>
                    <a:gd name="T70" fmla="*/ 351 w 362"/>
                    <a:gd name="T71" fmla="*/ 208 h 585"/>
                    <a:gd name="T72" fmla="*/ 322 w 362"/>
                    <a:gd name="T73" fmla="*/ 280 h 585"/>
                    <a:gd name="T74" fmla="*/ 281 w 362"/>
                    <a:gd name="T75" fmla="*/ 350 h 585"/>
                    <a:gd name="T76" fmla="*/ 230 w 362"/>
                    <a:gd name="T77" fmla="*/ 414 h 585"/>
                    <a:gd name="T78" fmla="*/ 177 w 362"/>
                    <a:gd name="T79" fmla="*/ 470 h 585"/>
                    <a:gd name="T80" fmla="*/ 121 w 362"/>
                    <a:gd name="T81" fmla="*/ 518 h 585"/>
                    <a:gd name="T82" fmla="*/ 72 w 362"/>
                    <a:gd name="T83" fmla="*/ 554 h 585"/>
                    <a:gd name="T84" fmla="*/ 32 w 362"/>
                    <a:gd name="T85" fmla="*/ 578 h 585"/>
                    <a:gd name="T86" fmla="*/ 17 w 362"/>
                    <a:gd name="T87" fmla="*/ 583 h 585"/>
                    <a:gd name="T88" fmla="*/ 0 w 362"/>
                    <a:gd name="T89" fmla="*/ 585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362" h="585">
                      <a:moveTo>
                        <a:pt x="0" y="574"/>
                      </a:moveTo>
                      <a:lnTo>
                        <a:pt x="8" y="574"/>
                      </a:lnTo>
                      <a:lnTo>
                        <a:pt x="15" y="573"/>
                      </a:lnTo>
                      <a:lnTo>
                        <a:pt x="21" y="570"/>
                      </a:lnTo>
                      <a:lnTo>
                        <a:pt x="27" y="568"/>
                      </a:lnTo>
                      <a:lnTo>
                        <a:pt x="46" y="558"/>
                      </a:lnTo>
                      <a:lnTo>
                        <a:pt x="66" y="545"/>
                      </a:lnTo>
                      <a:lnTo>
                        <a:pt x="90" y="527"/>
                      </a:lnTo>
                      <a:lnTo>
                        <a:pt x="115" y="509"/>
                      </a:lnTo>
                      <a:lnTo>
                        <a:pt x="142" y="487"/>
                      </a:lnTo>
                      <a:lnTo>
                        <a:pt x="169" y="463"/>
                      </a:lnTo>
                      <a:lnTo>
                        <a:pt x="196" y="436"/>
                      </a:lnTo>
                      <a:lnTo>
                        <a:pt x="222" y="406"/>
                      </a:lnTo>
                      <a:lnTo>
                        <a:pt x="248" y="377"/>
                      </a:lnTo>
                      <a:lnTo>
                        <a:pt x="272" y="345"/>
                      </a:lnTo>
                      <a:lnTo>
                        <a:pt x="293" y="311"/>
                      </a:lnTo>
                      <a:lnTo>
                        <a:pt x="313" y="276"/>
                      </a:lnTo>
                      <a:lnTo>
                        <a:pt x="328" y="242"/>
                      </a:lnTo>
                      <a:lnTo>
                        <a:pt x="341" y="207"/>
                      </a:lnTo>
                      <a:lnTo>
                        <a:pt x="348" y="170"/>
                      </a:lnTo>
                      <a:lnTo>
                        <a:pt x="351" y="134"/>
                      </a:lnTo>
                      <a:lnTo>
                        <a:pt x="348" y="109"/>
                      </a:lnTo>
                      <a:lnTo>
                        <a:pt x="342" y="85"/>
                      </a:lnTo>
                      <a:lnTo>
                        <a:pt x="332" y="65"/>
                      </a:lnTo>
                      <a:lnTo>
                        <a:pt x="319" y="47"/>
                      </a:lnTo>
                      <a:lnTo>
                        <a:pt x="309" y="39"/>
                      </a:lnTo>
                      <a:lnTo>
                        <a:pt x="298" y="32"/>
                      </a:lnTo>
                      <a:lnTo>
                        <a:pt x="286" y="25"/>
                      </a:lnTo>
                      <a:lnTo>
                        <a:pt x="272" y="19"/>
                      </a:lnTo>
                      <a:lnTo>
                        <a:pt x="257" y="16"/>
                      </a:lnTo>
                      <a:lnTo>
                        <a:pt x="242" y="13"/>
                      </a:lnTo>
                      <a:lnTo>
                        <a:pt x="226" y="11"/>
                      </a:lnTo>
                      <a:lnTo>
                        <a:pt x="207" y="11"/>
                      </a:lnTo>
                      <a:lnTo>
                        <a:pt x="179" y="16"/>
                      </a:lnTo>
                      <a:lnTo>
                        <a:pt x="151" y="29"/>
                      </a:lnTo>
                      <a:lnTo>
                        <a:pt x="126" y="50"/>
                      </a:lnTo>
                      <a:lnTo>
                        <a:pt x="103" y="74"/>
                      </a:lnTo>
                      <a:lnTo>
                        <a:pt x="82" y="101"/>
                      </a:lnTo>
                      <a:lnTo>
                        <a:pt x="65" y="128"/>
                      </a:lnTo>
                      <a:lnTo>
                        <a:pt x="50" y="154"/>
                      </a:lnTo>
                      <a:lnTo>
                        <a:pt x="39" y="175"/>
                      </a:lnTo>
                      <a:lnTo>
                        <a:pt x="36" y="181"/>
                      </a:lnTo>
                      <a:lnTo>
                        <a:pt x="31" y="186"/>
                      </a:lnTo>
                      <a:lnTo>
                        <a:pt x="27" y="191"/>
                      </a:lnTo>
                      <a:lnTo>
                        <a:pt x="22" y="194"/>
                      </a:lnTo>
                      <a:lnTo>
                        <a:pt x="16" y="198"/>
                      </a:lnTo>
                      <a:lnTo>
                        <a:pt x="11" y="200"/>
                      </a:lnTo>
                      <a:lnTo>
                        <a:pt x="5" y="202"/>
                      </a:lnTo>
                      <a:lnTo>
                        <a:pt x="0" y="202"/>
                      </a:lnTo>
                      <a:lnTo>
                        <a:pt x="0" y="191"/>
                      </a:lnTo>
                      <a:lnTo>
                        <a:pt x="9" y="189"/>
                      </a:lnTo>
                      <a:lnTo>
                        <a:pt x="16" y="185"/>
                      </a:lnTo>
                      <a:lnTo>
                        <a:pt x="23" y="178"/>
                      </a:lnTo>
                      <a:lnTo>
                        <a:pt x="30" y="170"/>
                      </a:lnTo>
                      <a:lnTo>
                        <a:pt x="41" y="148"/>
                      </a:lnTo>
                      <a:lnTo>
                        <a:pt x="55" y="122"/>
                      </a:lnTo>
                      <a:lnTo>
                        <a:pt x="74" y="94"/>
                      </a:lnTo>
                      <a:lnTo>
                        <a:pt x="96" y="66"/>
                      </a:lnTo>
                      <a:lnTo>
                        <a:pt x="120" y="40"/>
                      </a:lnTo>
                      <a:lnTo>
                        <a:pt x="147" y="19"/>
                      </a:lnTo>
                      <a:lnTo>
                        <a:pt x="177" y="5"/>
                      </a:lnTo>
                      <a:lnTo>
                        <a:pt x="207" y="0"/>
                      </a:lnTo>
                      <a:lnTo>
                        <a:pt x="242" y="2"/>
                      </a:lnTo>
                      <a:lnTo>
                        <a:pt x="272" y="8"/>
                      </a:lnTo>
                      <a:lnTo>
                        <a:pt x="299" y="19"/>
                      </a:lnTo>
                      <a:lnTo>
                        <a:pt x="321" y="35"/>
                      </a:lnTo>
                      <a:lnTo>
                        <a:pt x="338" y="54"/>
                      </a:lnTo>
                      <a:lnTo>
                        <a:pt x="352" y="77"/>
                      </a:lnTo>
                      <a:lnTo>
                        <a:pt x="359" y="104"/>
                      </a:lnTo>
                      <a:lnTo>
                        <a:pt x="362" y="134"/>
                      </a:lnTo>
                      <a:lnTo>
                        <a:pt x="359" y="171"/>
                      </a:lnTo>
                      <a:lnTo>
                        <a:pt x="351" y="208"/>
                      </a:lnTo>
                      <a:lnTo>
                        <a:pt x="339" y="245"/>
                      </a:lnTo>
                      <a:lnTo>
                        <a:pt x="322" y="280"/>
                      </a:lnTo>
                      <a:lnTo>
                        <a:pt x="304" y="316"/>
                      </a:lnTo>
                      <a:lnTo>
                        <a:pt x="281" y="350"/>
                      </a:lnTo>
                      <a:lnTo>
                        <a:pt x="256" y="382"/>
                      </a:lnTo>
                      <a:lnTo>
                        <a:pt x="230" y="414"/>
                      </a:lnTo>
                      <a:lnTo>
                        <a:pt x="204" y="443"/>
                      </a:lnTo>
                      <a:lnTo>
                        <a:pt x="177" y="470"/>
                      </a:lnTo>
                      <a:lnTo>
                        <a:pt x="148" y="496"/>
                      </a:lnTo>
                      <a:lnTo>
                        <a:pt x="121" y="518"/>
                      </a:lnTo>
                      <a:lnTo>
                        <a:pt x="96" y="537"/>
                      </a:lnTo>
                      <a:lnTo>
                        <a:pt x="72" y="554"/>
                      </a:lnTo>
                      <a:lnTo>
                        <a:pt x="50" y="568"/>
                      </a:lnTo>
                      <a:lnTo>
                        <a:pt x="32" y="578"/>
                      </a:lnTo>
                      <a:lnTo>
                        <a:pt x="25" y="580"/>
                      </a:lnTo>
                      <a:lnTo>
                        <a:pt x="17" y="583"/>
                      </a:lnTo>
                      <a:lnTo>
                        <a:pt x="9" y="584"/>
                      </a:lnTo>
                      <a:lnTo>
                        <a:pt x="0" y="585"/>
                      </a:lnTo>
                      <a:lnTo>
                        <a:pt x="0" y="574"/>
                      </a:lnTo>
                      <a:close/>
                    </a:path>
                  </a:pathLst>
                </a:custGeom>
                <a:solidFill>
                  <a:srgbClr val="9900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79" name="Freeform 63"/>
                <p:cNvSpPr/>
                <p:nvPr/>
              </p:nvSpPr>
              <p:spPr bwMode="auto">
                <a:xfrm>
                  <a:off x="2369" y="1577"/>
                  <a:ext cx="64" cy="35"/>
                </a:xfrm>
                <a:custGeom>
                  <a:avLst/>
                  <a:gdLst>
                    <a:gd name="T0" fmla="*/ 0 w 64"/>
                    <a:gd name="T1" fmla="*/ 12 h 35"/>
                    <a:gd name="T2" fmla="*/ 9 w 64"/>
                    <a:gd name="T3" fmla="*/ 12 h 35"/>
                    <a:gd name="T4" fmla="*/ 16 w 64"/>
                    <a:gd name="T5" fmla="*/ 13 h 35"/>
                    <a:gd name="T6" fmla="*/ 25 w 64"/>
                    <a:gd name="T7" fmla="*/ 14 h 35"/>
                    <a:gd name="T8" fmla="*/ 34 w 64"/>
                    <a:gd name="T9" fmla="*/ 17 h 35"/>
                    <a:gd name="T10" fmla="*/ 41 w 64"/>
                    <a:gd name="T11" fmla="*/ 21 h 35"/>
                    <a:gd name="T12" fmla="*/ 48 w 64"/>
                    <a:gd name="T13" fmla="*/ 24 h 35"/>
                    <a:gd name="T14" fmla="*/ 56 w 64"/>
                    <a:gd name="T15" fmla="*/ 29 h 35"/>
                    <a:gd name="T16" fmla="*/ 62 w 64"/>
                    <a:gd name="T17" fmla="*/ 35 h 35"/>
                    <a:gd name="T18" fmla="*/ 64 w 64"/>
                    <a:gd name="T19" fmla="*/ 18 h 35"/>
                    <a:gd name="T20" fmla="*/ 63 w 64"/>
                    <a:gd name="T21" fmla="*/ 17 h 35"/>
                    <a:gd name="T22" fmla="*/ 58 w 64"/>
                    <a:gd name="T23" fmla="*/ 16 h 35"/>
                    <a:gd name="T24" fmla="*/ 52 w 64"/>
                    <a:gd name="T25" fmla="*/ 12 h 35"/>
                    <a:gd name="T26" fmla="*/ 45 w 64"/>
                    <a:gd name="T27" fmla="*/ 8 h 35"/>
                    <a:gd name="T28" fmla="*/ 35 w 64"/>
                    <a:gd name="T29" fmla="*/ 5 h 35"/>
                    <a:gd name="T30" fmla="*/ 25 w 64"/>
                    <a:gd name="T31" fmla="*/ 2 h 35"/>
                    <a:gd name="T32" fmla="*/ 15 w 64"/>
                    <a:gd name="T33" fmla="*/ 0 h 35"/>
                    <a:gd name="T34" fmla="*/ 5 w 64"/>
                    <a:gd name="T35" fmla="*/ 0 h 35"/>
                    <a:gd name="T36" fmla="*/ 0 w 64"/>
                    <a:gd name="T37" fmla="*/ 12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4" h="35">
                      <a:moveTo>
                        <a:pt x="0" y="12"/>
                      </a:moveTo>
                      <a:lnTo>
                        <a:pt x="9" y="12"/>
                      </a:lnTo>
                      <a:lnTo>
                        <a:pt x="16" y="13"/>
                      </a:lnTo>
                      <a:lnTo>
                        <a:pt x="25" y="14"/>
                      </a:lnTo>
                      <a:lnTo>
                        <a:pt x="34" y="17"/>
                      </a:lnTo>
                      <a:lnTo>
                        <a:pt x="41" y="21"/>
                      </a:lnTo>
                      <a:lnTo>
                        <a:pt x="48" y="24"/>
                      </a:lnTo>
                      <a:lnTo>
                        <a:pt x="56" y="29"/>
                      </a:lnTo>
                      <a:lnTo>
                        <a:pt x="62" y="35"/>
                      </a:lnTo>
                      <a:lnTo>
                        <a:pt x="64" y="18"/>
                      </a:lnTo>
                      <a:lnTo>
                        <a:pt x="63" y="17"/>
                      </a:lnTo>
                      <a:lnTo>
                        <a:pt x="58" y="16"/>
                      </a:lnTo>
                      <a:lnTo>
                        <a:pt x="52" y="12"/>
                      </a:lnTo>
                      <a:lnTo>
                        <a:pt x="45" y="8"/>
                      </a:lnTo>
                      <a:lnTo>
                        <a:pt x="35" y="5"/>
                      </a:lnTo>
                      <a:lnTo>
                        <a:pt x="25" y="2"/>
                      </a:lnTo>
                      <a:lnTo>
                        <a:pt x="15" y="0"/>
                      </a:lnTo>
                      <a:lnTo>
                        <a:pt x="5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19680" name="Group 64"/>
              <p:cNvGrpSpPr/>
              <p:nvPr/>
            </p:nvGrpSpPr>
            <p:grpSpPr bwMode="auto">
              <a:xfrm flipH="1">
                <a:off x="2928" y="2952"/>
                <a:ext cx="848" cy="704"/>
                <a:chOff x="2320" y="1552"/>
                <a:chExt cx="848" cy="704"/>
              </a:xfrm>
            </p:grpSpPr>
            <p:sp>
              <p:nvSpPr>
                <p:cNvPr id="1519681" name="Freeform 65"/>
                <p:cNvSpPr/>
                <p:nvPr/>
              </p:nvSpPr>
              <p:spPr bwMode="auto">
                <a:xfrm>
                  <a:off x="2327" y="1557"/>
                  <a:ext cx="417" cy="694"/>
                </a:xfrm>
                <a:custGeom>
                  <a:avLst/>
                  <a:gdLst>
                    <a:gd name="T0" fmla="*/ 183 w 417"/>
                    <a:gd name="T1" fmla="*/ 1 h 694"/>
                    <a:gd name="T2" fmla="*/ 137 w 417"/>
                    <a:gd name="T3" fmla="*/ 9 h 694"/>
                    <a:gd name="T4" fmla="*/ 96 w 417"/>
                    <a:gd name="T5" fmla="*/ 23 h 694"/>
                    <a:gd name="T6" fmla="*/ 64 w 417"/>
                    <a:gd name="T7" fmla="*/ 44 h 694"/>
                    <a:gd name="T8" fmla="*/ 39 w 417"/>
                    <a:gd name="T9" fmla="*/ 70 h 694"/>
                    <a:gd name="T10" fmla="*/ 19 w 417"/>
                    <a:gd name="T11" fmla="*/ 99 h 694"/>
                    <a:gd name="T12" fmla="*/ 7 w 417"/>
                    <a:gd name="T13" fmla="*/ 132 h 694"/>
                    <a:gd name="T14" fmla="*/ 1 w 417"/>
                    <a:gd name="T15" fmla="*/ 168 h 694"/>
                    <a:gd name="T16" fmla="*/ 3 w 417"/>
                    <a:gd name="T17" fmla="*/ 232 h 694"/>
                    <a:gd name="T18" fmla="*/ 25 w 417"/>
                    <a:gd name="T19" fmla="*/ 320 h 694"/>
                    <a:gd name="T20" fmla="*/ 66 w 417"/>
                    <a:gd name="T21" fmla="*/ 401 h 694"/>
                    <a:gd name="T22" fmla="*/ 118 w 417"/>
                    <a:gd name="T23" fmla="*/ 475 h 694"/>
                    <a:gd name="T24" fmla="*/ 180 w 417"/>
                    <a:gd name="T25" fmla="*/ 540 h 694"/>
                    <a:gd name="T26" fmla="*/ 243 w 417"/>
                    <a:gd name="T27" fmla="*/ 596 h 694"/>
                    <a:gd name="T28" fmla="*/ 303 w 417"/>
                    <a:gd name="T29" fmla="*/ 642 h 694"/>
                    <a:gd name="T30" fmla="*/ 357 w 417"/>
                    <a:gd name="T31" fmla="*/ 675 h 694"/>
                    <a:gd name="T32" fmla="*/ 383 w 417"/>
                    <a:gd name="T33" fmla="*/ 687 h 694"/>
                    <a:gd name="T34" fmla="*/ 392 w 417"/>
                    <a:gd name="T35" fmla="*/ 691 h 694"/>
                    <a:gd name="T36" fmla="*/ 401 w 417"/>
                    <a:gd name="T37" fmla="*/ 693 h 694"/>
                    <a:gd name="T38" fmla="*/ 412 w 417"/>
                    <a:gd name="T39" fmla="*/ 694 h 694"/>
                    <a:gd name="T40" fmla="*/ 417 w 417"/>
                    <a:gd name="T41" fmla="*/ 637 h 694"/>
                    <a:gd name="T42" fmla="*/ 400 w 417"/>
                    <a:gd name="T43" fmla="*/ 636 h 694"/>
                    <a:gd name="T44" fmla="*/ 387 w 417"/>
                    <a:gd name="T45" fmla="*/ 631 h 694"/>
                    <a:gd name="T46" fmla="*/ 347 w 417"/>
                    <a:gd name="T47" fmla="*/ 607 h 694"/>
                    <a:gd name="T48" fmla="*/ 300 w 417"/>
                    <a:gd name="T49" fmla="*/ 572 h 694"/>
                    <a:gd name="T50" fmla="*/ 246 w 417"/>
                    <a:gd name="T51" fmla="*/ 525 h 694"/>
                    <a:gd name="T52" fmla="*/ 192 w 417"/>
                    <a:gd name="T53" fmla="*/ 469 h 694"/>
                    <a:gd name="T54" fmla="*/ 142 w 417"/>
                    <a:gd name="T55" fmla="*/ 407 h 694"/>
                    <a:gd name="T56" fmla="*/ 100 w 417"/>
                    <a:gd name="T57" fmla="*/ 338 h 694"/>
                    <a:gd name="T58" fmla="*/ 72 w 417"/>
                    <a:gd name="T59" fmla="*/ 266 h 694"/>
                    <a:gd name="T60" fmla="*/ 62 w 417"/>
                    <a:gd name="T61" fmla="*/ 192 h 694"/>
                    <a:gd name="T62" fmla="*/ 72 w 417"/>
                    <a:gd name="T63" fmla="*/ 140 h 694"/>
                    <a:gd name="T64" fmla="*/ 99 w 417"/>
                    <a:gd name="T65" fmla="*/ 98 h 694"/>
                    <a:gd name="T66" fmla="*/ 145 w 417"/>
                    <a:gd name="T67" fmla="*/ 72 h 694"/>
                    <a:gd name="T68" fmla="*/ 209 w 417"/>
                    <a:gd name="T69" fmla="*/ 64 h 694"/>
                    <a:gd name="T70" fmla="*/ 262 w 417"/>
                    <a:gd name="T71" fmla="*/ 80 h 694"/>
                    <a:gd name="T72" fmla="*/ 309 w 417"/>
                    <a:gd name="T73" fmla="*/ 119 h 694"/>
                    <a:gd name="T74" fmla="*/ 350 w 417"/>
                    <a:gd name="T75" fmla="*/ 173 h 694"/>
                    <a:gd name="T76" fmla="*/ 383 w 417"/>
                    <a:gd name="T77" fmla="*/ 230 h 694"/>
                    <a:gd name="T78" fmla="*/ 399 w 417"/>
                    <a:gd name="T79" fmla="*/ 247 h 694"/>
                    <a:gd name="T80" fmla="*/ 417 w 417"/>
                    <a:gd name="T81" fmla="*/ 254 h 694"/>
                    <a:gd name="T82" fmla="*/ 416 w 417"/>
                    <a:gd name="T83" fmla="*/ 184 h 694"/>
                    <a:gd name="T84" fmla="*/ 410 w 417"/>
                    <a:gd name="T85" fmla="*/ 169 h 694"/>
                    <a:gd name="T86" fmla="*/ 398 w 417"/>
                    <a:gd name="T87" fmla="*/ 143 h 694"/>
                    <a:gd name="T88" fmla="*/ 379 w 417"/>
                    <a:gd name="T89" fmla="*/ 110 h 694"/>
                    <a:gd name="T90" fmla="*/ 354 w 417"/>
                    <a:gd name="T91" fmla="*/ 76 h 694"/>
                    <a:gd name="T92" fmla="*/ 322 w 417"/>
                    <a:gd name="T93" fmla="*/ 43 h 694"/>
                    <a:gd name="T94" fmla="*/ 282 w 417"/>
                    <a:gd name="T95" fmla="*/ 17 h 694"/>
                    <a:gd name="T96" fmla="*/ 235 w 417"/>
                    <a:gd name="T97" fmla="*/ 3 h 6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17" h="694">
                      <a:moveTo>
                        <a:pt x="209" y="0"/>
                      </a:moveTo>
                      <a:lnTo>
                        <a:pt x="183" y="1"/>
                      </a:lnTo>
                      <a:lnTo>
                        <a:pt x="159" y="4"/>
                      </a:lnTo>
                      <a:lnTo>
                        <a:pt x="137" y="9"/>
                      </a:lnTo>
                      <a:lnTo>
                        <a:pt x="116" y="15"/>
                      </a:lnTo>
                      <a:lnTo>
                        <a:pt x="96" y="23"/>
                      </a:lnTo>
                      <a:lnTo>
                        <a:pt x="79" y="33"/>
                      </a:lnTo>
                      <a:lnTo>
                        <a:pt x="64" y="44"/>
                      </a:lnTo>
                      <a:lnTo>
                        <a:pt x="51" y="56"/>
                      </a:lnTo>
                      <a:lnTo>
                        <a:pt x="39" y="70"/>
                      </a:lnTo>
                      <a:lnTo>
                        <a:pt x="28" y="85"/>
                      </a:lnTo>
                      <a:lnTo>
                        <a:pt x="19" y="99"/>
                      </a:lnTo>
                      <a:lnTo>
                        <a:pt x="12" y="115"/>
                      </a:lnTo>
                      <a:lnTo>
                        <a:pt x="7" y="132"/>
                      </a:lnTo>
                      <a:lnTo>
                        <a:pt x="3" y="150"/>
                      </a:lnTo>
                      <a:lnTo>
                        <a:pt x="1" y="168"/>
                      </a:lnTo>
                      <a:lnTo>
                        <a:pt x="0" y="186"/>
                      </a:lnTo>
                      <a:lnTo>
                        <a:pt x="3" y="232"/>
                      </a:lnTo>
                      <a:lnTo>
                        <a:pt x="12" y="276"/>
                      </a:lnTo>
                      <a:lnTo>
                        <a:pt x="25" y="320"/>
                      </a:lnTo>
                      <a:lnTo>
                        <a:pt x="44" y="360"/>
                      </a:lnTo>
                      <a:lnTo>
                        <a:pt x="66" y="401"/>
                      </a:lnTo>
                      <a:lnTo>
                        <a:pt x="91" y="439"/>
                      </a:lnTo>
                      <a:lnTo>
                        <a:pt x="118" y="475"/>
                      </a:lnTo>
                      <a:lnTo>
                        <a:pt x="149" y="508"/>
                      </a:lnTo>
                      <a:lnTo>
                        <a:pt x="180" y="540"/>
                      </a:lnTo>
                      <a:lnTo>
                        <a:pt x="211" y="570"/>
                      </a:lnTo>
                      <a:lnTo>
                        <a:pt x="243" y="596"/>
                      </a:lnTo>
                      <a:lnTo>
                        <a:pt x="274" y="620"/>
                      </a:lnTo>
                      <a:lnTo>
                        <a:pt x="303" y="642"/>
                      </a:lnTo>
                      <a:lnTo>
                        <a:pt x="331" y="659"/>
                      </a:lnTo>
                      <a:lnTo>
                        <a:pt x="357" y="675"/>
                      </a:lnTo>
                      <a:lnTo>
                        <a:pt x="379" y="686"/>
                      </a:lnTo>
                      <a:lnTo>
                        <a:pt x="383" y="687"/>
                      </a:lnTo>
                      <a:lnTo>
                        <a:pt x="388" y="690"/>
                      </a:lnTo>
                      <a:lnTo>
                        <a:pt x="392" y="691"/>
                      </a:lnTo>
                      <a:lnTo>
                        <a:pt x="396" y="692"/>
                      </a:lnTo>
                      <a:lnTo>
                        <a:pt x="401" y="693"/>
                      </a:lnTo>
                      <a:lnTo>
                        <a:pt x="406" y="693"/>
                      </a:lnTo>
                      <a:lnTo>
                        <a:pt x="412" y="694"/>
                      </a:lnTo>
                      <a:lnTo>
                        <a:pt x="417" y="694"/>
                      </a:lnTo>
                      <a:lnTo>
                        <a:pt x="417" y="637"/>
                      </a:lnTo>
                      <a:lnTo>
                        <a:pt x="409" y="637"/>
                      </a:lnTo>
                      <a:lnTo>
                        <a:pt x="400" y="636"/>
                      </a:lnTo>
                      <a:lnTo>
                        <a:pt x="393" y="633"/>
                      </a:lnTo>
                      <a:lnTo>
                        <a:pt x="387" y="631"/>
                      </a:lnTo>
                      <a:lnTo>
                        <a:pt x="368" y="621"/>
                      </a:lnTo>
                      <a:lnTo>
                        <a:pt x="347" y="607"/>
                      </a:lnTo>
                      <a:lnTo>
                        <a:pt x="324" y="592"/>
                      </a:lnTo>
                      <a:lnTo>
                        <a:pt x="300" y="572"/>
                      </a:lnTo>
                      <a:lnTo>
                        <a:pt x="273" y="550"/>
                      </a:lnTo>
                      <a:lnTo>
                        <a:pt x="246" y="525"/>
                      </a:lnTo>
                      <a:lnTo>
                        <a:pt x="219" y="499"/>
                      </a:lnTo>
                      <a:lnTo>
                        <a:pt x="192" y="469"/>
                      </a:lnTo>
                      <a:lnTo>
                        <a:pt x="166" y="439"/>
                      </a:lnTo>
                      <a:lnTo>
                        <a:pt x="142" y="407"/>
                      </a:lnTo>
                      <a:lnTo>
                        <a:pt x="120" y="372"/>
                      </a:lnTo>
                      <a:lnTo>
                        <a:pt x="100" y="338"/>
                      </a:lnTo>
                      <a:lnTo>
                        <a:pt x="84" y="303"/>
                      </a:lnTo>
                      <a:lnTo>
                        <a:pt x="72" y="266"/>
                      </a:lnTo>
                      <a:lnTo>
                        <a:pt x="64" y="229"/>
                      </a:lnTo>
                      <a:lnTo>
                        <a:pt x="62" y="192"/>
                      </a:lnTo>
                      <a:lnTo>
                        <a:pt x="64" y="164"/>
                      </a:lnTo>
                      <a:lnTo>
                        <a:pt x="72" y="140"/>
                      </a:lnTo>
                      <a:lnTo>
                        <a:pt x="83" y="118"/>
                      </a:lnTo>
                      <a:lnTo>
                        <a:pt x="99" y="98"/>
                      </a:lnTo>
                      <a:lnTo>
                        <a:pt x="120" y="83"/>
                      </a:lnTo>
                      <a:lnTo>
                        <a:pt x="145" y="72"/>
                      </a:lnTo>
                      <a:lnTo>
                        <a:pt x="175" y="66"/>
                      </a:lnTo>
                      <a:lnTo>
                        <a:pt x="209" y="64"/>
                      </a:lnTo>
                      <a:lnTo>
                        <a:pt x="236" y="67"/>
                      </a:lnTo>
                      <a:lnTo>
                        <a:pt x="262" y="80"/>
                      </a:lnTo>
                      <a:lnTo>
                        <a:pt x="286" y="97"/>
                      </a:lnTo>
                      <a:lnTo>
                        <a:pt x="309" y="119"/>
                      </a:lnTo>
                      <a:lnTo>
                        <a:pt x="330" y="145"/>
                      </a:lnTo>
                      <a:lnTo>
                        <a:pt x="350" y="173"/>
                      </a:lnTo>
                      <a:lnTo>
                        <a:pt x="367" y="202"/>
                      </a:lnTo>
                      <a:lnTo>
                        <a:pt x="383" y="230"/>
                      </a:lnTo>
                      <a:lnTo>
                        <a:pt x="390" y="240"/>
                      </a:lnTo>
                      <a:lnTo>
                        <a:pt x="399" y="247"/>
                      </a:lnTo>
                      <a:lnTo>
                        <a:pt x="407" y="252"/>
                      </a:lnTo>
                      <a:lnTo>
                        <a:pt x="417" y="254"/>
                      </a:lnTo>
                      <a:lnTo>
                        <a:pt x="417" y="186"/>
                      </a:lnTo>
                      <a:lnTo>
                        <a:pt x="416" y="184"/>
                      </a:lnTo>
                      <a:lnTo>
                        <a:pt x="415" y="178"/>
                      </a:lnTo>
                      <a:lnTo>
                        <a:pt x="410" y="169"/>
                      </a:lnTo>
                      <a:lnTo>
                        <a:pt x="405" y="157"/>
                      </a:lnTo>
                      <a:lnTo>
                        <a:pt x="398" y="143"/>
                      </a:lnTo>
                      <a:lnTo>
                        <a:pt x="389" y="127"/>
                      </a:lnTo>
                      <a:lnTo>
                        <a:pt x="379" y="110"/>
                      </a:lnTo>
                      <a:lnTo>
                        <a:pt x="367" y="93"/>
                      </a:lnTo>
                      <a:lnTo>
                        <a:pt x="354" y="76"/>
                      </a:lnTo>
                      <a:lnTo>
                        <a:pt x="339" y="59"/>
                      </a:lnTo>
                      <a:lnTo>
                        <a:pt x="322" y="43"/>
                      </a:lnTo>
                      <a:lnTo>
                        <a:pt x="302" y="30"/>
                      </a:lnTo>
                      <a:lnTo>
                        <a:pt x="282" y="17"/>
                      </a:lnTo>
                      <a:lnTo>
                        <a:pt x="259" y="9"/>
                      </a:lnTo>
                      <a:lnTo>
                        <a:pt x="235" y="3"/>
                      </a:lnTo>
                      <a:lnTo>
                        <a:pt x="209" y="0"/>
                      </a:lnTo>
                      <a:close/>
                    </a:path>
                  </a:pathLst>
                </a:custGeom>
                <a:solidFill>
                  <a:srgbClr val="CC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82" name="Freeform 66"/>
                <p:cNvSpPr/>
                <p:nvPr/>
              </p:nvSpPr>
              <p:spPr bwMode="auto">
                <a:xfrm>
                  <a:off x="2742" y="1557"/>
                  <a:ext cx="419" cy="694"/>
                </a:xfrm>
                <a:custGeom>
                  <a:avLst/>
                  <a:gdLst>
                    <a:gd name="T0" fmla="*/ 234 w 419"/>
                    <a:gd name="T1" fmla="*/ 1 h 694"/>
                    <a:gd name="T2" fmla="*/ 281 w 419"/>
                    <a:gd name="T3" fmla="*/ 9 h 694"/>
                    <a:gd name="T4" fmla="*/ 321 w 419"/>
                    <a:gd name="T5" fmla="*/ 23 h 694"/>
                    <a:gd name="T6" fmla="*/ 354 w 419"/>
                    <a:gd name="T7" fmla="*/ 44 h 694"/>
                    <a:gd name="T8" fmla="*/ 380 w 419"/>
                    <a:gd name="T9" fmla="*/ 70 h 694"/>
                    <a:gd name="T10" fmla="*/ 400 w 419"/>
                    <a:gd name="T11" fmla="*/ 99 h 694"/>
                    <a:gd name="T12" fmla="*/ 412 w 419"/>
                    <a:gd name="T13" fmla="*/ 132 h 694"/>
                    <a:gd name="T14" fmla="*/ 418 w 419"/>
                    <a:gd name="T15" fmla="*/ 168 h 694"/>
                    <a:gd name="T16" fmla="*/ 415 w 419"/>
                    <a:gd name="T17" fmla="*/ 232 h 694"/>
                    <a:gd name="T18" fmla="*/ 393 w 419"/>
                    <a:gd name="T19" fmla="*/ 320 h 694"/>
                    <a:gd name="T20" fmla="*/ 353 w 419"/>
                    <a:gd name="T21" fmla="*/ 401 h 694"/>
                    <a:gd name="T22" fmla="*/ 299 w 419"/>
                    <a:gd name="T23" fmla="*/ 475 h 694"/>
                    <a:gd name="T24" fmla="*/ 238 w 419"/>
                    <a:gd name="T25" fmla="*/ 540 h 694"/>
                    <a:gd name="T26" fmla="*/ 174 w 419"/>
                    <a:gd name="T27" fmla="*/ 596 h 694"/>
                    <a:gd name="T28" fmla="*/ 113 w 419"/>
                    <a:gd name="T29" fmla="*/ 642 h 694"/>
                    <a:gd name="T30" fmla="*/ 60 w 419"/>
                    <a:gd name="T31" fmla="*/ 675 h 694"/>
                    <a:gd name="T32" fmla="*/ 35 w 419"/>
                    <a:gd name="T33" fmla="*/ 687 h 694"/>
                    <a:gd name="T34" fmla="*/ 25 w 419"/>
                    <a:gd name="T35" fmla="*/ 691 h 694"/>
                    <a:gd name="T36" fmla="*/ 15 w 419"/>
                    <a:gd name="T37" fmla="*/ 693 h 694"/>
                    <a:gd name="T38" fmla="*/ 5 w 419"/>
                    <a:gd name="T39" fmla="*/ 694 h 694"/>
                    <a:gd name="T40" fmla="*/ 0 w 419"/>
                    <a:gd name="T41" fmla="*/ 637 h 694"/>
                    <a:gd name="T42" fmla="*/ 16 w 419"/>
                    <a:gd name="T43" fmla="*/ 636 h 694"/>
                    <a:gd name="T44" fmla="*/ 30 w 419"/>
                    <a:gd name="T45" fmla="*/ 631 h 694"/>
                    <a:gd name="T46" fmla="*/ 69 w 419"/>
                    <a:gd name="T47" fmla="*/ 607 h 694"/>
                    <a:gd name="T48" fmla="*/ 118 w 419"/>
                    <a:gd name="T49" fmla="*/ 572 h 694"/>
                    <a:gd name="T50" fmla="*/ 170 w 419"/>
                    <a:gd name="T51" fmla="*/ 525 h 694"/>
                    <a:gd name="T52" fmla="*/ 226 w 419"/>
                    <a:gd name="T53" fmla="*/ 469 h 694"/>
                    <a:gd name="T54" fmla="*/ 276 w 419"/>
                    <a:gd name="T55" fmla="*/ 407 h 694"/>
                    <a:gd name="T56" fmla="*/ 316 w 419"/>
                    <a:gd name="T57" fmla="*/ 338 h 694"/>
                    <a:gd name="T58" fmla="*/ 344 w 419"/>
                    <a:gd name="T59" fmla="*/ 266 h 694"/>
                    <a:gd name="T60" fmla="*/ 355 w 419"/>
                    <a:gd name="T61" fmla="*/ 192 h 694"/>
                    <a:gd name="T62" fmla="*/ 346 w 419"/>
                    <a:gd name="T63" fmla="*/ 140 h 694"/>
                    <a:gd name="T64" fmla="*/ 319 w 419"/>
                    <a:gd name="T65" fmla="*/ 98 h 694"/>
                    <a:gd name="T66" fmla="*/ 272 w 419"/>
                    <a:gd name="T67" fmla="*/ 72 h 694"/>
                    <a:gd name="T68" fmla="*/ 207 w 419"/>
                    <a:gd name="T69" fmla="*/ 64 h 694"/>
                    <a:gd name="T70" fmla="*/ 155 w 419"/>
                    <a:gd name="T71" fmla="*/ 80 h 694"/>
                    <a:gd name="T72" fmla="*/ 108 w 419"/>
                    <a:gd name="T73" fmla="*/ 119 h 694"/>
                    <a:gd name="T74" fmla="*/ 66 w 419"/>
                    <a:gd name="T75" fmla="*/ 173 h 694"/>
                    <a:gd name="T76" fmla="*/ 35 w 419"/>
                    <a:gd name="T77" fmla="*/ 230 h 694"/>
                    <a:gd name="T78" fmla="*/ 19 w 419"/>
                    <a:gd name="T79" fmla="*/ 247 h 694"/>
                    <a:gd name="T80" fmla="*/ 0 w 419"/>
                    <a:gd name="T81" fmla="*/ 254 h 694"/>
                    <a:gd name="T82" fmla="*/ 1 w 419"/>
                    <a:gd name="T83" fmla="*/ 184 h 694"/>
                    <a:gd name="T84" fmla="*/ 6 w 419"/>
                    <a:gd name="T85" fmla="*/ 169 h 694"/>
                    <a:gd name="T86" fmla="*/ 19 w 419"/>
                    <a:gd name="T87" fmla="*/ 143 h 694"/>
                    <a:gd name="T88" fmla="*/ 38 w 419"/>
                    <a:gd name="T89" fmla="*/ 110 h 694"/>
                    <a:gd name="T90" fmla="*/ 63 w 419"/>
                    <a:gd name="T91" fmla="*/ 76 h 694"/>
                    <a:gd name="T92" fmla="*/ 96 w 419"/>
                    <a:gd name="T93" fmla="*/ 43 h 694"/>
                    <a:gd name="T94" fmla="*/ 135 w 419"/>
                    <a:gd name="T95" fmla="*/ 17 h 694"/>
                    <a:gd name="T96" fmla="*/ 181 w 419"/>
                    <a:gd name="T97" fmla="*/ 3 h 6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19" h="694">
                      <a:moveTo>
                        <a:pt x="207" y="0"/>
                      </a:moveTo>
                      <a:lnTo>
                        <a:pt x="234" y="1"/>
                      </a:lnTo>
                      <a:lnTo>
                        <a:pt x="259" y="4"/>
                      </a:lnTo>
                      <a:lnTo>
                        <a:pt x="281" y="9"/>
                      </a:lnTo>
                      <a:lnTo>
                        <a:pt x="302" y="15"/>
                      </a:lnTo>
                      <a:lnTo>
                        <a:pt x="321" y="23"/>
                      </a:lnTo>
                      <a:lnTo>
                        <a:pt x="338" y="33"/>
                      </a:lnTo>
                      <a:lnTo>
                        <a:pt x="354" y="44"/>
                      </a:lnTo>
                      <a:lnTo>
                        <a:pt x="368" y="56"/>
                      </a:lnTo>
                      <a:lnTo>
                        <a:pt x="380" y="70"/>
                      </a:lnTo>
                      <a:lnTo>
                        <a:pt x="391" y="85"/>
                      </a:lnTo>
                      <a:lnTo>
                        <a:pt x="400" y="99"/>
                      </a:lnTo>
                      <a:lnTo>
                        <a:pt x="407" y="115"/>
                      </a:lnTo>
                      <a:lnTo>
                        <a:pt x="412" y="132"/>
                      </a:lnTo>
                      <a:lnTo>
                        <a:pt x="415" y="150"/>
                      </a:lnTo>
                      <a:lnTo>
                        <a:pt x="418" y="168"/>
                      </a:lnTo>
                      <a:lnTo>
                        <a:pt x="419" y="186"/>
                      </a:lnTo>
                      <a:lnTo>
                        <a:pt x="415" y="232"/>
                      </a:lnTo>
                      <a:lnTo>
                        <a:pt x="407" y="276"/>
                      </a:lnTo>
                      <a:lnTo>
                        <a:pt x="393" y="320"/>
                      </a:lnTo>
                      <a:lnTo>
                        <a:pt x="375" y="360"/>
                      </a:lnTo>
                      <a:lnTo>
                        <a:pt x="353" y="401"/>
                      </a:lnTo>
                      <a:lnTo>
                        <a:pt x="327" y="439"/>
                      </a:lnTo>
                      <a:lnTo>
                        <a:pt x="299" y="475"/>
                      </a:lnTo>
                      <a:lnTo>
                        <a:pt x="270" y="508"/>
                      </a:lnTo>
                      <a:lnTo>
                        <a:pt x="238" y="540"/>
                      </a:lnTo>
                      <a:lnTo>
                        <a:pt x="206" y="570"/>
                      </a:lnTo>
                      <a:lnTo>
                        <a:pt x="174" y="596"/>
                      </a:lnTo>
                      <a:lnTo>
                        <a:pt x="144" y="620"/>
                      </a:lnTo>
                      <a:lnTo>
                        <a:pt x="113" y="642"/>
                      </a:lnTo>
                      <a:lnTo>
                        <a:pt x="86" y="659"/>
                      </a:lnTo>
                      <a:lnTo>
                        <a:pt x="60" y="675"/>
                      </a:lnTo>
                      <a:lnTo>
                        <a:pt x="38" y="686"/>
                      </a:lnTo>
                      <a:lnTo>
                        <a:pt x="35" y="687"/>
                      </a:lnTo>
                      <a:lnTo>
                        <a:pt x="30" y="690"/>
                      </a:lnTo>
                      <a:lnTo>
                        <a:pt x="25" y="691"/>
                      </a:lnTo>
                      <a:lnTo>
                        <a:pt x="20" y="692"/>
                      </a:lnTo>
                      <a:lnTo>
                        <a:pt x="15" y="693"/>
                      </a:lnTo>
                      <a:lnTo>
                        <a:pt x="10" y="693"/>
                      </a:lnTo>
                      <a:lnTo>
                        <a:pt x="5" y="694"/>
                      </a:lnTo>
                      <a:lnTo>
                        <a:pt x="0" y="694"/>
                      </a:lnTo>
                      <a:lnTo>
                        <a:pt x="0" y="637"/>
                      </a:lnTo>
                      <a:lnTo>
                        <a:pt x="9" y="637"/>
                      </a:lnTo>
                      <a:lnTo>
                        <a:pt x="16" y="636"/>
                      </a:lnTo>
                      <a:lnTo>
                        <a:pt x="23" y="633"/>
                      </a:lnTo>
                      <a:lnTo>
                        <a:pt x="30" y="631"/>
                      </a:lnTo>
                      <a:lnTo>
                        <a:pt x="48" y="621"/>
                      </a:lnTo>
                      <a:lnTo>
                        <a:pt x="69" y="607"/>
                      </a:lnTo>
                      <a:lnTo>
                        <a:pt x="92" y="592"/>
                      </a:lnTo>
                      <a:lnTo>
                        <a:pt x="118" y="572"/>
                      </a:lnTo>
                      <a:lnTo>
                        <a:pt x="144" y="550"/>
                      </a:lnTo>
                      <a:lnTo>
                        <a:pt x="170" y="525"/>
                      </a:lnTo>
                      <a:lnTo>
                        <a:pt x="199" y="499"/>
                      </a:lnTo>
                      <a:lnTo>
                        <a:pt x="226" y="469"/>
                      </a:lnTo>
                      <a:lnTo>
                        <a:pt x="251" y="439"/>
                      </a:lnTo>
                      <a:lnTo>
                        <a:pt x="276" y="407"/>
                      </a:lnTo>
                      <a:lnTo>
                        <a:pt x="298" y="372"/>
                      </a:lnTo>
                      <a:lnTo>
                        <a:pt x="316" y="338"/>
                      </a:lnTo>
                      <a:lnTo>
                        <a:pt x="333" y="303"/>
                      </a:lnTo>
                      <a:lnTo>
                        <a:pt x="344" y="266"/>
                      </a:lnTo>
                      <a:lnTo>
                        <a:pt x="353" y="229"/>
                      </a:lnTo>
                      <a:lnTo>
                        <a:pt x="355" y="192"/>
                      </a:lnTo>
                      <a:lnTo>
                        <a:pt x="353" y="164"/>
                      </a:lnTo>
                      <a:lnTo>
                        <a:pt x="346" y="140"/>
                      </a:lnTo>
                      <a:lnTo>
                        <a:pt x="335" y="118"/>
                      </a:lnTo>
                      <a:lnTo>
                        <a:pt x="319" y="98"/>
                      </a:lnTo>
                      <a:lnTo>
                        <a:pt x="298" y="83"/>
                      </a:lnTo>
                      <a:lnTo>
                        <a:pt x="272" y="72"/>
                      </a:lnTo>
                      <a:lnTo>
                        <a:pt x="242" y="66"/>
                      </a:lnTo>
                      <a:lnTo>
                        <a:pt x="207" y="64"/>
                      </a:lnTo>
                      <a:lnTo>
                        <a:pt x="180" y="67"/>
                      </a:lnTo>
                      <a:lnTo>
                        <a:pt x="155" y="80"/>
                      </a:lnTo>
                      <a:lnTo>
                        <a:pt x="130" y="97"/>
                      </a:lnTo>
                      <a:lnTo>
                        <a:pt x="108" y="119"/>
                      </a:lnTo>
                      <a:lnTo>
                        <a:pt x="86" y="145"/>
                      </a:lnTo>
                      <a:lnTo>
                        <a:pt x="66" y="173"/>
                      </a:lnTo>
                      <a:lnTo>
                        <a:pt x="49" y="202"/>
                      </a:lnTo>
                      <a:lnTo>
                        <a:pt x="35" y="230"/>
                      </a:lnTo>
                      <a:lnTo>
                        <a:pt x="27" y="240"/>
                      </a:lnTo>
                      <a:lnTo>
                        <a:pt x="19" y="247"/>
                      </a:lnTo>
                      <a:lnTo>
                        <a:pt x="9" y="252"/>
                      </a:lnTo>
                      <a:lnTo>
                        <a:pt x="0" y="254"/>
                      </a:lnTo>
                      <a:lnTo>
                        <a:pt x="0" y="186"/>
                      </a:lnTo>
                      <a:lnTo>
                        <a:pt x="1" y="184"/>
                      </a:lnTo>
                      <a:lnTo>
                        <a:pt x="3" y="178"/>
                      </a:lnTo>
                      <a:lnTo>
                        <a:pt x="6" y="169"/>
                      </a:lnTo>
                      <a:lnTo>
                        <a:pt x="12" y="157"/>
                      </a:lnTo>
                      <a:lnTo>
                        <a:pt x="19" y="143"/>
                      </a:lnTo>
                      <a:lnTo>
                        <a:pt x="27" y="127"/>
                      </a:lnTo>
                      <a:lnTo>
                        <a:pt x="38" y="110"/>
                      </a:lnTo>
                      <a:lnTo>
                        <a:pt x="49" y="93"/>
                      </a:lnTo>
                      <a:lnTo>
                        <a:pt x="63" y="76"/>
                      </a:lnTo>
                      <a:lnTo>
                        <a:pt x="79" y="59"/>
                      </a:lnTo>
                      <a:lnTo>
                        <a:pt x="96" y="43"/>
                      </a:lnTo>
                      <a:lnTo>
                        <a:pt x="114" y="30"/>
                      </a:lnTo>
                      <a:lnTo>
                        <a:pt x="135" y="17"/>
                      </a:lnTo>
                      <a:lnTo>
                        <a:pt x="157" y="9"/>
                      </a:lnTo>
                      <a:lnTo>
                        <a:pt x="181" y="3"/>
                      </a:lnTo>
                      <a:lnTo>
                        <a:pt x="207" y="0"/>
                      </a:lnTo>
                      <a:close/>
                    </a:path>
                  </a:pathLst>
                </a:custGeom>
                <a:solidFill>
                  <a:srgbClr val="CC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83" name="Freeform 67"/>
                <p:cNvSpPr/>
                <p:nvPr/>
              </p:nvSpPr>
              <p:spPr bwMode="auto">
                <a:xfrm>
                  <a:off x="2551" y="1575"/>
                  <a:ext cx="63" cy="36"/>
                </a:xfrm>
                <a:custGeom>
                  <a:avLst/>
                  <a:gdLst>
                    <a:gd name="T0" fmla="*/ 0 w 63"/>
                    <a:gd name="T1" fmla="*/ 13 h 36"/>
                    <a:gd name="T2" fmla="*/ 8 w 63"/>
                    <a:gd name="T3" fmla="*/ 13 h 36"/>
                    <a:gd name="T4" fmla="*/ 16 w 63"/>
                    <a:gd name="T5" fmla="*/ 14 h 36"/>
                    <a:gd name="T6" fmla="*/ 24 w 63"/>
                    <a:gd name="T7" fmla="*/ 15 h 36"/>
                    <a:gd name="T8" fmla="*/ 33 w 63"/>
                    <a:gd name="T9" fmla="*/ 18 h 36"/>
                    <a:gd name="T10" fmla="*/ 40 w 63"/>
                    <a:gd name="T11" fmla="*/ 21 h 36"/>
                    <a:gd name="T12" fmla="*/ 47 w 63"/>
                    <a:gd name="T13" fmla="*/ 25 h 36"/>
                    <a:gd name="T14" fmla="*/ 55 w 63"/>
                    <a:gd name="T15" fmla="*/ 30 h 36"/>
                    <a:gd name="T16" fmla="*/ 61 w 63"/>
                    <a:gd name="T17" fmla="*/ 36 h 36"/>
                    <a:gd name="T18" fmla="*/ 63 w 63"/>
                    <a:gd name="T19" fmla="*/ 19 h 36"/>
                    <a:gd name="T20" fmla="*/ 62 w 63"/>
                    <a:gd name="T21" fmla="*/ 18 h 36"/>
                    <a:gd name="T22" fmla="*/ 57 w 63"/>
                    <a:gd name="T23" fmla="*/ 15 h 36"/>
                    <a:gd name="T24" fmla="*/ 51 w 63"/>
                    <a:gd name="T25" fmla="*/ 13 h 36"/>
                    <a:gd name="T26" fmla="*/ 44 w 63"/>
                    <a:gd name="T27" fmla="*/ 9 h 36"/>
                    <a:gd name="T28" fmla="*/ 34 w 63"/>
                    <a:gd name="T29" fmla="*/ 5 h 36"/>
                    <a:gd name="T30" fmla="*/ 24 w 63"/>
                    <a:gd name="T31" fmla="*/ 2 h 36"/>
                    <a:gd name="T32" fmla="*/ 14 w 63"/>
                    <a:gd name="T33" fmla="*/ 0 h 36"/>
                    <a:gd name="T34" fmla="*/ 5 w 63"/>
                    <a:gd name="T35" fmla="*/ 0 h 36"/>
                    <a:gd name="T36" fmla="*/ 0 w 63"/>
                    <a:gd name="T37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3" h="36">
                      <a:moveTo>
                        <a:pt x="0" y="13"/>
                      </a:moveTo>
                      <a:lnTo>
                        <a:pt x="8" y="13"/>
                      </a:lnTo>
                      <a:lnTo>
                        <a:pt x="16" y="14"/>
                      </a:lnTo>
                      <a:lnTo>
                        <a:pt x="24" y="15"/>
                      </a:lnTo>
                      <a:lnTo>
                        <a:pt x="33" y="18"/>
                      </a:lnTo>
                      <a:lnTo>
                        <a:pt x="40" y="21"/>
                      </a:lnTo>
                      <a:lnTo>
                        <a:pt x="47" y="25"/>
                      </a:lnTo>
                      <a:lnTo>
                        <a:pt x="55" y="30"/>
                      </a:lnTo>
                      <a:lnTo>
                        <a:pt x="61" y="36"/>
                      </a:lnTo>
                      <a:lnTo>
                        <a:pt x="63" y="19"/>
                      </a:lnTo>
                      <a:lnTo>
                        <a:pt x="62" y="18"/>
                      </a:lnTo>
                      <a:lnTo>
                        <a:pt x="57" y="15"/>
                      </a:lnTo>
                      <a:lnTo>
                        <a:pt x="51" y="13"/>
                      </a:lnTo>
                      <a:lnTo>
                        <a:pt x="44" y="9"/>
                      </a:lnTo>
                      <a:lnTo>
                        <a:pt x="34" y="5"/>
                      </a:lnTo>
                      <a:lnTo>
                        <a:pt x="24" y="2"/>
                      </a:lnTo>
                      <a:lnTo>
                        <a:pt x="14" y="0"/>
                      </a:lnTo>
                      <a:lnTo>
                        <a:pt x="5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CC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84" name="Freeform 68"/>
                <p:cNvSpPr/>
                <p:nvPr/>
              </p:nvSpPr>
              <p:spPr bwMode="auto">
                <a:xfrm>
                  <a:off x="3032" y="1590"/>
                  <a:ext cx="65" cy="43"/>
                </a:xfrm>
                <a:custGeom>
                  <a:avLst/>
                  <a:gdLst>
                    <a:gd name="T0" fmla="*/ 59 w 65"/>
                    <a:gd name="T1" fmla="*/ 43 h 43"/>
                    <a:gd name="T2" fmla="*/ 53 w 65"/>
                    <a:gd name="T3" fmla="*/ 37 h 43"/>
                    <a:gd name="T4" fmla="*/ 47 w 65"/>
                    <a:gd name="T5" fmla="*/ 32 h 43"/>
                    <a:gd name="T6" fmla="*/ 40 w 65"/>
                    <a:gd name="T7" fmla="*/ 27 h 43"/>
                    <a:gd name="T8" fmla="*/ 33 w 65"/>
                    <a:gd name="T9" fmla="*/ 22 h 43"/>
                    <a:gd name="T10" fmla="*/ 26 w 65"/>
                    <a:gd name="T11" fmla="*/ 19 h 43"/>
                    <a:gd name="T12" fmla="*/ 17 w 65"/>
                    <a:gd name="T13" fmla="*/ 15 h 43"/>
                    <a:gd name="T14" fmla="*/ 9 w 65"/>
                    <a:gd name="T15" fmla="*/ 14 h 43"/>
                    <a:gd name="T16" fmla="*/ 0 w 65"/>
                    <a:gd name="T17" fmla="*/ 12 h 43"/>
                    <a:gd name="T18" fmla="*/ 12 w 65"/>
                    <a:gd name="T19" fmla="*/ 0 h 43"/>
                    <a:gd name="T20" fmla="*/ 14 w 65"/>
                    <a:gd name="T21" fmla="*/ 0 h 43"/>
                    <a:gd name="T22" fmla="*/ 18 w 65"/>
                    <a:gd name="T23" fmla="*/ 3 h 43"/>
                    <a:gd name="T24" fmla="*/ 25 w 65"/>
                    <a:gd name="T25" fmla="*/ 5 h 43"/>
                    <a:gd name="T26" fmla="*/ 33 w 65"/>
                    <a:gd name="T27" fmla="*/ 8 h 43"/>
                    <a:gd name="T28" fmla="*/ 42 w 65"/>
                    <a:gd name="T29" fmla="*/ 12 h 43"/>
                    <a:gd name="T30" fmla="*/ 50 w 65"/>
                    <a:gd name="T31" fmla="*/ 17 h 43"/>
                    <a:gd name="T32" fmla="*/ 58 w 65"/>
                    <a:gd name="T33" fmla="*/ 23 h 43"/>
                    <a:gd name="T34" fmla="*/ 65 w 65"/>
                    <a:gd name="T35" fmla="*/ 31 h 43"/>
                    <a:gd name="T36" fmla="*/ 59 w 65"/>
                    <a:gd name="T37" fmla="*/ 43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5" h="43">
                      <a:moveTo>
                        <a:pt x="59" y="43"/>
                      </a:moveTo>
                      <a:lnTo>
                        <a:pt x="53" y="37"/>
                      </a:lnTo>
                      <a:lnTo>
                        <a:pt x="47" y="32"/>
                      </a:lnTo>
                      <a:lnTo>
                        <a:pt x="40" y="27"/>
                      </a:lnTo>
                      <a:lnTo>
                        <a:pt x="33" y="22"/>
                      </a:lnTo>
                      <a:lnTo>
                        <a:pt x="26" y="19"/>
                      </a:lnTo>
                      <a:lnTo>
                        <a:pt x="17" y="15"/>
                      </a:lnTo>
                      <a:lnTo>
                        <a:pt x="9" y="14"/>
                      </a:lnTo>
                      <a:lnTo>
                        <a:pt x="0" y="12"/>
                      </a:lnTo>
                      <a:lnTo>
                        <a:pt x="12" y="0"/>
                      </a:lnTo>
                      <a:lnTo>
                        <a:pt x="14" y="0"/>
                      </a:lnTo>
                      <a:lnTo>
                        <a:pt x="18" y="3"/>
                      </a:lnTo>
                      <a:lnTo>
                        <a:pt x="25" y="5"/>
                      </a:lnTo>
                      <a:lnTo>
                        <a:pt x="33" y="8"/>
                      </a:lnTo>
                      <a:lnTo>
                        <a:pt x="42" y="12"/>
                      </a:lnTo>
                      <a:lnTo>
                        <a:pt x="50" y="17"/>
                      </a:lnTo>
                      <a:lnTo>
                        <a:pt x="58" y="23"/>
                      </a:lnTo>
                      <a:lnTo>
                        <a:pt x="65" y="31"/>
                      </a:lnTo>
                      <a:lnTo>
                        <a:pt x="59" y="43"/>
                      </a:lnTo>
                      <a:close/>
                    </a:path>
                  </a:pathLst>
                </a:custGeom>
                <a:solidFill>
                  <a:srgbClr val="CC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85" name="Freeform 69"/>
                <p:cNvSpPr/>
                <p:nvPr/>
              </p:nvSpPr>
              <p:spPr bwMode="auto">
                <a:xfrm>
                  <a:off x="2320" y="1552"/>
                  <a:ext cx="425" cy="704"/>
                </a:xfrm>
                <a:custGeom>
                  <a:avLst/>
                  <a:gdLst>
                    <a:gd name="T0" fmla="*/ 424 w 425"/>
                    <a:gd name="T1" fmla="*/ 183 h 704"/>
                    <a:gd name="T2" fmla="*/ 418 w 425"/>
                    <a:gd name="T3" fmla="*/ 167 h 704"/>
                    <a:gd name="T4" fmla="*/ 406 w 425"/>
                    <a:gd name="T5" fmla="*/ 141 h 704"/>
                    <a:gd name="T6" fmla="*/ 387 w 425"/>
                    <a:gd name="T7" fmla="*/ 109 h 704"/>
                    <a:gd name="T8" fmla="*/ 362 w 425"/>
                    <a:gd name="T9" fmla="*/ 75 h 704"/>
                    <a:gd name="T10" fmla="*/ 330 w 425"/>
                    <a:gd name="T11" fmla="*/ 43 h 704"/>
                    <a:gd name="T12" fmla="*/ 289 w 425"/>
                    <a:gd name="T13" fmla="*/ 17 h 704"/>
                    <a:gd name="T14" fmla="*/ 243 w 425"/>
                    <a:gd name="T15" fmla="*/ 3 h 704"/>
                    <a:gd name="T16" fmla="*/ 188 w 425"/>
                    <a:gd name="T17" fmla="*/ 1 h 704"/>
                    <a:gd name="T18" fmla="*/ 136 w 425"/>
                    <a:gd name="T19" fmla="*/ 10 h 704"/>
                    <a:gd name="T20" fmla="*/ 96 w 425"/>
                    <a:gd name="T21" fmla="*/ 27 h 704"/>
                    <a:gd name="T22" fmla="*/ 62 w 425"/>
                    <a:gd name="T23" fmla="*/ 49 h 704"/>
                    <a:gd name="T24" fmla="*/ 37 w 425"/>
                    <a:gd name="T25" fmla="*/ 77 h 704"/>
                    <a:gd name="T26" fmla="*/ 19 w 425"/>
                    <a:gd name="T27" fmla="*/ 108 h 704"/>
                    <a:gd name="T28" fmla="*/ 7 w 425"/>
                    <a:gd name="T29" fmla="*/ 141 h 704"/>
                    <a:gd name="T30" fmla="*/ 2 w 425"/>
                    <a:gd name="T31" fmla="*/ 174 h 704"/>
                    <a:gd name="T32" fmla="*/ 3 w 425"/>
                    <a:gd name="T33" fmla="*/ 235 h 704"/>
                    <a:gd name="T34" fmla="*/ 25 w 425"/>
                    <a:gd name="T35" fmla="*/ 322 h 704"/>
                    <a:gd name="T36" fmla="*/ 64 w 425"/>
                    <a:gd name="T37" fmla="*/ 402 h 704"/>
                    <a:gd name="T38" fmla="*/ 116 w 425"/>
                    <a:gd name="T39" fmla="*/ 477 h 704"/>
                    <a:gd name="T40" fmla="*/ 176 w 425"/>
                    <a:gd name="T41" fmla="*/ 543 h 704"/>
                    <a:gd name="T42" fmla="*/ 239 w 425"/>
                    <a:gd name="T43" fmla="*/ 600 h 704"/>
                    <a:gd name="T44" fmla="*/ 302 w 425"/>
                    <a:gd name="T45" fmla="*/ 647 h 704"/>
                    <a:gd name="T46" fmla="*/ 359 w 425"/>
                    <a:gd name="T47" fmla="*/ 682 h 704"/>
                    <a:gd name="T48" fmla="*/ 389 w 425"/>
                    <a:gd name="T49" fmla="*/ 697 h 704"/>
                    <a:gd name="T50" fmla="*/ 397 w 425"/>
                    <a:gd name="T51" fmla="*/ 701 h 704"/>
                    <a:gd name="T52" fmla="*/ 408 w 425"/>
                    <a:gd name="T53" fmla="*/ 703 h 704"/>
                    <a:gd name="T54" fmla="*/ 419 w 425"/>
                    <a:gd name="T55" fmla="*/ 704 h 704"/>
                    <a:gd name="T56" fmla="*/ 424 w 425"/>
                    <a:gd name="T57" fmla="*/ 693 h 704"/>
                    <a:gd name="T58" fmla="*/ 405 w 425"/>
                    <a:gd name="T59" fmla="*/ 691 h 704"/>
                    <a:gd name="T60" fmla="*/ 389 w 425"/>
                    <a:gd name="T61" fmla="*/ 686 h 704"/>
                    <a:gd name="T62" fmla="*/ 337 w 425"/>
                    <a:gd name="T63" fmla="*/ 657 h 704"/>
                    <a:gd name="T64" fmla="*/ 277 w 425"/>
                    <a:gd name="T65" fmla="*/ 616 h 704"/>
                    <a:gd name="T66" fmla="*/ 215 w 425"/>
                    <a:gd name="T67" fmla="*/ 565 h 704"/>
                    <a:gd name="T68" fmla="*/ 154 w 425"/>
                    <a:gd name="T69" fmla="*/ 505 h 704"/>
                    <a:gd name="T70" fmla="*/ 98 w 425"/>
                    <a:gd name="T71" fmla="*/ 435 h 704"/>
                    <a:gd name="T72" fmla="*/ 53 w 425"/>
                    <a:gd name="T73" fmla="*/ 359 h 704"/>
                    <a:gd name="T74" fmla="*/ 22 w 425"/>
                    <a:gd name="T75" fmla="*/ 277 h 704"/>
                    <a:gd name="T76" fmla="*/ 11 w 425"/>
                    <a:gd name="T77" fmla="*/ 191 h 704"/>
                    <a:gd name="T78" fmla="*/ 15 w 425"/>
                    <a:gd name="T79" fmla="*/ 156 h 704"/>
                    <a:gd name="T80" fmla="*/ 24 w 425"/>
                    <a:gd name="T81" fmla="*/ 123 h 704"/>
                    <a:gd name="T82" fmla="*/ 40 w 425"/>
                    <a:gd name="T83" fmla="*/ 92 h 704"/>
                    <a:gd name="T84" fmla="*/ 60 w 425"/>
                    <a:gd name="T85" fmla="*/ 66 h 704"/>
                    <a:gd name="T86" fmla="*/ 91 w 425"/>
                    <a:gd name="T87" fmla="*/ 42 h 704"/>
                    <a:gd name="T88" fmla="*/ 128 w 425"/>
                    <a:gd name="T89" fmla="*/ 25 h 704"/>
                    <a:gd name="T90" fmla="*/ 169 w 425"/>
                    <a:gd name="T91" fmla="*/ 15 h 704"/>
                    <a:gd name="T92" fmla="*/ 216 w 425"/>
                    <a:gd name="T93" fmla="*/ 11 h 704"/>
                    <a:gd name="T94" fmla="*/ 265 w 425"/>
                    <a:gd name="T95" fmla="*/ 20 h 704"/>
                    <a:gd name="T96" fmla="*/ 307 w 425"/>
                    <a:gd name="T97" fmla="*/ 41 h 704"/>
                    <a:gd name="T98" fmla="*/ 343 w 425"/>
                    <a:gd name="T99" fmla="*/ 71 h 704"/>
                    <a:gd name="T100" fmla="*/ 373 w 425"/>
                    <a:gd name="T101" fmla="*/ 107 h 704"/>
                    <a:gd name="T102" fmla="*/ 395 w 425"/>
                    <a:gd name="T103" fmla="*/ 141 h 704"/>
                    <a:gd name="T104" fmla="*/ 412 w 425"/>
                    <a:gd name="T105" fmla="*/ 173 h 704"/>
                    <a:gd name="T106" fmla="*/ 422 w 425"/>
                    <a:gd name="T107" fmla="*/ 195 h 704"/>
                    <a:gd name="T108" fmla="*/ 425 w 425"/>
                    <a:gd name="T109" fmla="*/ 203 h 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25" h="704">
                      <a:moveTo>
                        <a:pt x="425" y="185"/>
                      </a:moveTo>
                      <a:lnTo>
                        <a:pt x="424" y="183"/>
                      </a:lnTo>
                      <a:lnTo>
                        <a:pt x="422" y="177"/>
                      </a:lnTo>
                      <a:lnTo>
                        <a:pt x="418" y="167"/>
                      </a:lnTo>
                      <a:lnTo>
                        <a:pt x="413" y="156"/>
                      </a:lnTo>
                      <a:lnTo>
                        <a:pt x="406" y="141"/>
                      </a:lnTo>
                      <a:lnTo>
                        <a:pt x="397" y="125"/>
                      </a:lnTo>
                      <a:lnTo>
                        <a:pt x="387" y="109"/>
                      </a:lnTo>
                      <a:lnTo>
                        <a:pt x="375" y="92"/>
                      </a:lnTo>
                      <a:lnTo>
                        <a:pt x="362" y="75"/>
                      </a:lnTo>
                      <a:lnTo>
                        <a:pt x="347" y="58"/>
                      </a:lnTo>
                      <a:lnTo>
                        <a:pt x="330" y="43"/>
                      </a:lnTo>
                      <a:lnTo>
                        <a:pt x="310" y="28"/>
                      </a:lnTo>
                      <a:lnTo>
                        <a:pt x="289" y="17"/>
                      </a:lnTo>
                      <a:lnTo>
                        <a:pt x="267" y="8"/>
                      </a:lnTo>
                      <a:lnTo>
                        <a:pt x="243" y="3"/>
                      </a:lnTo>
                      <a:lnTo>
                        <a:pt x="216" y="0"/>
                      </a:lnTo>
                      <a:lnTo>
                        <a:pt x="188" y="1"/>
                      </a:lnTo>
                      <a:lnTo>
                        <a:pt x="161" y="5"/>
                      </a:lnTo>
                      <a:lnTo>
                        <a:pt x="136" y="10"/>
                      </a:lnTo>
                      <a:lnTo>
                        <a:pt x="116" y="17"/>
                      </a:lnTo>
                      <a:lnTo>
                        <a:pt x="96" y="27"/>
                      </a:lnTo>
                      <a:lnTo>
                        <a:pt x="78" y="37"/>
                      </a:lnTo>
                      <a:lnTo>
                        <a:pt x="62" y="49"/>
                      </a:lnTo>
                      <a:lnTo>
                        <a:pt x="48" y="63"/>
                      </a:lnTo>
                      <a:lnTo>
                        <a:pt x="37" y="77"/>
                      </a:lnTo>
                      <a:lnTo>
                        <a:pt x="26" y="92"/>
                      </a:lnTo>
                      <a:lnTo>
                        <a:pt x="19" y="108"/>
                      </a:lnTo>
                      <a:lnTo>
                        <a:pt x="11" y="124"/>
                      </a:lnTo>
                      <a:lnTo>
                        <a:pt x="7" y="141"/>
                      </a:lnTo>
                      <a:lnTo>
                        <a:pt x="3" y="158"/>
                      </a:lnTo>
                      <a:lnTo>
                        <a:pt x="2" y="174"/>
                      </a:lnTo>
                      <a:lnTo>
                        <a:pt x="0" y="191"/>
                      </a:lnTo>
                      <a:lnTo>
                        <a:pt x="3" y="235"/>
                      </a:lnTo>
                      <a:lnTo>
                        <a:pt x="11" y="279"/>
                      </a:lnTo>
                      <a:lnTo>
                        <a:pt x="25" y="322"/>
                      </a:lnTo>
                      <a:lnTo>
                        <a:pt x="42" y="363"/>
                      </a:lnTo>
                      <a:lnTo>
                        <a:pt x="64" y="402"/>
                      </a:lnTo>
                      <a:lnTo>
                        <a:pt x="89" y="440"/>
                      </a:lnTo>
                      <a:lnTo>
                        <a:pt x="116" y="477"/>
                      </a:lnTo>
                      <a:lnTo>
                        <a:pt x="145" y="511"/>
                      </a:lnTo>
                      <a:lnTo>
                        <a:pt x="176" y="543"/>
                      </a:lnTo>
                      <a:lnTo>
                        <a:pt x="207" y="572"/>
                      </a:lnTo>
                      <a:lnTo>
                        <a:pt x="239" y="600"/>
                      </a:lnTo>
                      <a:lnTo>
                        <a:pt x="271" y="625"/>
                      </a:lnTo>
                      <a:lnTo>
                        <a:pt x="302" y="647"/>
                      </a:lnTo>
                      <a:lnTo>
                        <a:pt x="331" y="666"/>
                      </a:lnTo>
                      <a:lnTo>
                        <a:pt x="359" y="682"/>
                      </a:lnTo>
                      <a:lnTo>
                        <a:pt x="384" y="696"/>
                      </a:lnTo>
                      <a:lnTo>
                        <a:pt x="389" y="697"/>
                      </a:lnTo>
                      <a:lnTo>
                        <a:pt x="392" y="699"/>
                      </a:lnTo>
                      <a:lnTo>
                        <a:pt x="397" y="701"/>
                      </a:lnTo>
                      <a:lnTo>
                        <a:pt x="402" y="702"/>
                      </a:lnTo>
                      <a:lnTo>
                        <a:pt x="408" y="703"/>
                      </a:lnTo>
                      <a:lnTo>
                        <a:pt x="413" y="703"/>
                      </a:lnTo>
                      <a:lnTo>
                        <a:pt x="419" y="704"/>
                      </a:lnTo>
                      <a:lnTo>
                        <a:pt x="424" y="704"/>
                      </a:lnTo>
                      <a:lnTo>
                        <a:pt x="424" y="693"/>
                      </a:lnTo>
                      <a:lnTo>
                        <a:pt x="414" y="693"/>
                      </a:lnTo>
                      <a:lnTo>
                        <a:pt x="405" y="691"/>
                      </a:lnTo>
                      <a:lnTo>
                        <a:pt x="396" y="690"/>
                      </a:lnTo>
                      <a:lnTo>
                        <a:pt x="389" y="686"/>
                      </a:lnTo>
                      <a:lnTo>
                        <a:pt x="364" y="672"/>
                      </a:lnTo>
                      <a:lnTo>
                        <a:pt x="337" y="657"/>
                      </a:lnTo>
                      <a:lnTo>
                        <a:pt x="308" y="638"/>
                      </a:lnTo>
                      <a:lnTo>
                        <a:pt x="277" y="616"/>
                      </a:lnTo>
                      <a:lnTo>
                        <a:pt x="247" y="592"/>
                      </a:lnTo>
                      <a:lnTo>
                        <a:pt x="215" y="565"/>
                      </a:lnTo>
                      <a:lnTo>
                        <a:pt x="184" y="535"/>
                      </a:lnTo>
                      <a:lnTo>
                        <a:pt x="154" y="505"/>
                      </a:lnTo>
                      <a:lnTo>
                        <a:pt x="125" y="470"/>
                      </a:lnTo>
                      <a:lnTo>
                        <a:pt x="98" y="435"/>
                      </a:lnTo>
                      <a:lnTo>
                        <a:pt x="74" y="398"/>
                      </a:lnTo>
                      <a:lnTo>
                        <a:pt x="53" y="359"/>
                      </a:lnTo>
                      <a:lnTo>
                        <a:pt x="36" y="319"/>
                      </a:lnTo>
                      <a:lnTo>
                        <a:pt x="22" y="277"/>
                      </a:lnTo>
                      <a:lnTo>
                        <a:pt x="14" y="235"/>
                      </a:lnTo>
                      <a:lnTo>
                        <a:pt x="11" y="191"/>
                      </a:lnTo>
                      <a:lnTo>
                        <a:pt x="13" y="173"/>
                      </a:lnTo>
                      <a:lnTo>
                        <a:pt x="15" y="156"/>
                      </a:lnTo>
                      <a:lnTo>
                        <a:pt x="19" y="139"/>
                      </a:lnTo>
                      <a:lnTo>
                        <a:pt x="24" y="123"/>
                      </a:lnTo>
                      <a:lnTo>
                        <a:pt x="31" y="107"/>
                      </a:lnTo>
                      <a:lnTo>
                        <a:pt x="40" y="92"/>
                      </a:lnTo>
                      <a:lnTo>
                        <a:pt x="49" y="79"/>
                      </a:lnTo>
                      <a:lnTo>
                        <a:pt x="60" y="66"/>
                      </a:lnTo>
                      <a:lnTo>
                        <a:pt x="75" y="53"/>
                      </a:lnTo>
                      <a:lnTo>
                        <a:pt x="91" y="42"/>
                      </a:lnTo>
                      <a:lnTo>
                        <a:pt x="108" y="33"/>
                      </a:lnTo>
                      <a:lnTo>
                        <a:pt x="128" y="25"/>
                      </a:lnTo>
                      <a:lnTo>
                        <a:pt x="147" y="19"/>
                      </a:lnTo>
                      <a:lnTo>
                        <a:pt x="169" y="15"/>
                      </a:lnTo>
                      <a:lnTo>
                        <a:pt x="192" y="12"/>
                      </a:lnTo>
                      <a:lnTo>
                        <a:pt x="216" y="11"/>
                      </a:lnTo>
                      <a:lnTo>
                        <a:pt x="242" y="14"/>
                      </a:lnTo>
                      <a:lnTo>
                        <a:pt x="265" y="20"/>
                      </a:lnTo>
                      <a:lnTo>
                        <a:pt x="287" y="28"/>
                      </a:lnTo>
                      <a:lnTo>
                        <a:pt x="307" y="41"/>
                      </a:lnTo>
                      <a:lnTo>
                        <a:pt x="326" y="55"/>
                      </a:lnTo>
                      <a:lnTo>
                        <a:pt x="343" y="71"/>
                      </a:lnTo>
                      <a:lnTo>
                        <a:pt x="358" y="88"/>
                      </a:lnTo>
                      <a:lnTo>
                        <a:pt x="373" y="107"/>
                      </a:lnTo>
                      <a:lnTo>
                        <a:pt x="385" y="124"/>
                      </a:lnTo>
                      <a:lnTo>
                        <a:pt x="395" y="141"/>
                      </a:lnTo>
                      <a:lnTo>
                        <a:pt x="405" y="158"/>
                      </a:lnTo>
                      <a:lnTo>
                        <a:pt x="412" y="173"/>
                      </a:lnTo>
                      <a:lnTo>
                        <a:pt x="418" y="185"/>
                      </a:lnTo>
                      <a:lnTo>
                        <a:pt x="422" y="195"/>
                      </a:lnTo>
                      <a:lnTo>
                        <a:pt x="424" y="201"/>
                      </a:lnTo>
                      <a:lnTo>
                        <a:pt x="425" y="203"/>
                      </a:lnTo>
                      <a:lnTo>
                        <a:pt x="425" y="185"/>
                      </a:lnTo>
                      <a:close/>
                    </a:path>
                  </a:pathLst>
                </a:custGeom>
                <a:solidFill>
                  <a:srgbClr val="CC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86" name="Freeform 70"/>
                <p:cNvSpPr/>
                <p:nvPr/>
              </p:nvSpPr>
              <p:spPr bwMode="auto">
                <a:xfrm>
                  <a:off x="2383" y="1615"/>
                  <a:ext cx="361" cy="585"/>
                </a:xfrm>
                <a:custGeom>
                  <a:avLst/>
                  <a:gdLst>
                    <a:gd name="T0" fmla="*/ 353 w 361"/>
                    <a:gd name="T1" fmla="*/ 574 h 585"/>
                    <a:gd name="T2" fmla="*/ 339 w 361"/>
                    <a:gd name="T3" fmla="*/ 570 h 585"/>
                    <a:gd name="T4" fmla="*/ 315 w 361"/>
                    <a:gd name="T5" fmla="*/ 558 h 585"/>
                    <a:gd name="T6" fmla="*/ 271 w 361"/>
                    <a:gd name="T7" fmla="*/ 527 h 585"/>
                    <a:gd name="T8" fmla="*/ 219 w 361"/>
                    <a:gd name="T9" fmla="*/ 487 h 585"/>
                    <a:gd name="T10" fmla="*/ 165 w 361"/>
                    <a:gd name="T11" fmla="*/ 436 h 585"/>
                    <a:gd name="T12" fmla="*/ 114 w 361"/>
                    <a:gd name="T13" fmla="*/ 377 h 585"/>
                    <a:gd name="T14" fmla="*/ 68 w 361"/>
                    <a:gd name="T15" fmla="*/ 311 h 585"/>
                    <a:gd name="T16" fmla="*/ 34 w 361"/>
                    <a:gd name="T17" fmla="*/ 242 h 585"/>
                    <a:gd name="T18" fmla="*/ 15 w 361"/>
                    <a:gd name="T19" fmla="*/ 170 h 585"/>
                    <a:gd name="T20" fmla="*/ 15 w 361"/>
                    <a:gd name="T21" fmla="*/ 109 h 585"/>
                    <a:gd name="T22" fmla="*/ 29 w 361"/>
                    <a:gd name="T23" fmla="*/ 65 h 585"/>
                    <a:gd name="T24" fmla="*/ 53 w 361"/>
                    <a:gd name="T25" fmla="*/ 39 h 585"/>
                    <a:gd name="T26" fmla="*/ 76 w 361"/>
                    <a:gd name="T27" fmla="*/ 25 h 585"/>
                    <a:gd name="T28" fmla="*/ 103 w 361"/>
                    <a:gd name="T29" fmla="*/ 16 h 585"/>
                    <a:gd name="T30" fmla="*/ 135 w 361"/>
                    <a:gd name="T31" fmla="*/ 11 h 585"/>
                    <a:gd name="T32" fmla="*/ 182 w 361"/>
                    <a:gd name="T33" fmla="*/ 16 h 585"/>
                    <a:gd name="T34" fmla="*/ 235 w 361"/>
                    <a:gd name="T35" fmla="*/ 50 h 585"/>
                    <a:gd name="T36" fmla="*/ 278 w 361"/>
                    <a:gd name="T37" fmla="*/ 101 h 585"/>
                    <a:gd name="T38" fmla="*/ 310 w 361"/>
                    <a:gd name="T39" fmla="*/ 154 h 585"/>
                    <a:gd name="T40" fmla="*/ 324 w 361"/>
                    <a:gd name="T41" fmla="*/ 181 h 585"/>
                    <a:gd name="T42" fmla="*/ 334 w 361"/>
                    <a:gd name="T43" fmla="*/ 191 h 585"/>
                    <a:gd name="T44" fmla="*/ 344 w 361"/>
                    <a:gd name="T45" fmla="*/ 198 h 585"/>
                    <a:gd name="T46" fmla="*/ 355 w 361"/>
                    <a:gd name="T47" fmla="*/ 202 h 585"/>
                    <a:gd name="T48" fmla="*/ 361 w 361"/>
                    <a:gd name="T49" fmla="*/ 191 h 585"/>
                    <a:gd name="T50" fmla="*/ 344 w 361"/>
                    <a:gd name="T51" fmla="*/ 185 h 585"/>
                    <a:gd name="T52" fmla="*/ 331 w 361"/>
                    <a:gd name="T53" fmla="*/ 170 h 585"/>
                    <a:gd name="T54" fmla="*/ 305 w 361"/>
                    <a:gd name="T55" fmla="*/ 122 h 585"/>
                    <a:gd name="T56" fmla="*/ 264 w 361"/>
                    <a:gd name="T57" fmla="*/ 66 h 585"/>
                    <a:gd name="T58" fmla="*/ 213 w 361"/>
                    <a:gd name="T59" fmla="*/ 19 h 585"/>
                    <a:gd name="T60" fmla="*/ 153 w 361"/>
                    <a:gd name="T61" fmla="*/ 0 h 585"/>
                    <a:gd name="T62" fmla="*/ 88 w 361"/>
                    <a:gd name="T63" fmla="*/ 8 h 585"/>
                    <a:gd name="T64" fmla="*/ 40 w 361"/>
                    <a:gd name="T65" fmla="*/ 35 h 585"/>
                    <a:gd name="T66" fmla="*/ 10 w 361"/>
                    <a:gd name="T67" fmla="*/ 77 h 585"/>
                    <a:gd name="T68" fmla="*/ 0 w 361"/>
                    <a:gd name="T69" fmla="*/ 134 h 585"/>
                    <a:gd name="T70" fmla="*/ 10 w 361"/>
                    <a:gd name="T71" fmla="*/ 208 h 585"/>
                    <a:gd name="T72" fmla="*/ 38 w 361"/>
                    <a:gd name="T73" fmla="*/ 280 h 585"/>
                    <a:gd name="T74" fmla="*/ 80 w 361"/>
                    <a:gd name="T75" fmla="*/ 350 h 585"/>
                    <a:gd name="T76" fmla="*/ 130 w 361"/>
                    <a:gd name="T77" fmla="*/ 414 h 585"/>
                    <a:gd name="T78" fmla="*/ 185 w 361"/>
                    <a:gd name="T79" fmla="*/ 470 h 585"/>
                    <a:gd name="T80" fmla="*/ 239 w 361"/>
                    <a:gd name="T81" fmla="*/ 518 h 585"/>
                    <a:gd name="T82" fmla="*/ 288 w 361"/>
                    <a:gd name="T83" fmla="*/ 554 h 585"/>
                    <a:gd name="T84" fmla="*/ 328 w 361"/>
                    <a:gd name="T85" fmla="*/ 578 h 585"/>
                    <a:gd name="T86" fmla="*/ 343 w 361"/>
                    <a:gd name="T87" fmla="*/ 583 h 585"/>
                    <a:gd name="T88" fmla="*/ 361 w 361"/>
                    <a:gd name="T89" fmla="*/ 585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361" h="585">
                      <a:moveTo>
                        <a:pt x="361" y="574"/>
                      </a:moveTo>
                      <a:lnTo>
                        <a:pt x="353" y="574"/>
                      </a:lnTo>
                      <a:lnTo>
                        <a:pt x="345" y="573"/>
                      </a:lnTo>
                      <a:lnTo>
                        <a:pt x="339" y="570"/>
                      </a:lnTo>
                      <a:lnTo>
                        <a:pt x="333" y="568"/>
                      </a:lnTo>
                      <a:lnTo>
                        <a:pt x="315" y="558"/>
                      </a:lnTo>
                      <a:lnTo>
                        <a:pt x="294" y="545"/>
                      </a:lnTo>
                      <a:lnTo>
                        <a:pt x="271" y="527"/>
                      </a:lnTo>
                      <a:lnTo>
                        <a:pt x="245" y="509"/>
                      </a:lnTo>
                      <a:lnTo>
                        <a:pt x="219" y="487"/>
                      </a:lnTo>
                      <a:lnTo>
                        <a:pt x="192" y="463"/>
                      </a:lnTo>
                      <a:lnTo>
                        <a:pt x="165" y="436"/>
                      </a:lnTo>
                      <a:lnTo>
                        <a:pt x="140" y="406"/>
                      </a:lnTo>
                      <a:lnTo>
                        <a:pt x="114" y="377"/>
                      </a:lnTo>
                      <a:lnTo>
                        <a:pt x="91" y="345"/>
                      </a:lnTo>
                      <a:lnTo>
                        <a:pt x="68" y="311"/>
                      </a:lnTo>
                      <a:lnTo>
                        <a:pt x="50" y="276"/>
                      </a:lnTo>
                      <a:lnTo>
                        <a:pt x="34" y="242"/>
                      </a:lnTo>
                      <a:lnTo>
                        <a:pt x="22" y="207"/>
                      </a:lnTo>
                      <a:lnTo>
                        <a:pt x="15" y="170"/>
                      </a:lnTo>
                      <a:lnTo>
                        <a:pt x="12" y="134"/>
                      </a:lnTo>
                      <a:lnTo>
                        <a:pt x="15" y="109"/>
                      </a:lnTo>
                      <a:lnTo>
                        <a:pt x="20" y="85"/>
                      </a:lnTo>
                      <a:lnTo>
                        <a:pt x="29" y="65"/>
                      </a:lnTo>
                      <a:lnTo>
                        <a:pt x="43" y="47"/>
                      </a:lnTo>
                      <a:lnTo>
                        <a:pt x="53" y="39"/>
                      </a:lnTo>
                      <a:lnTo>
                        <a:pt x="64" y="32"/>
                      </a:lnTo>
                      <a:lnTo>
                        <a:pt x="76" y="25"/>
                      </a:lnTo>
                      <a:lnTo>
                        <a:pt x="89" y="19"/>
                      </a:lnTo>
                      <a:lnTo>
                        <a:pt x="103" y="16"/>
                      </a:lnTo>
                      <a:lnTo>
                        <a:pt x="119" y="13"/>
                      </a:lnTo>
                      <a:lnTo>
                        <a:pt x="135" y="11"/>
                      </a:lnTo>
                      <a:lnTo>
                        <a:pt x="153" y="11"/>
                      </a:lnTo>
                      <a:lnTo>
                        <a:pt x="182" y="16"/>
                      </a:lnTo>
                      <a:lnTo>
                        <a:pt x="209" y="29"/>
                      </a:lnTo>
                      <a:lnTo>
                        <a:pt x="235" y="50"/>
                      </a:lnTo>
                      <a:lnTo>
                        <a:pt x="258" y="74"/>
                      </a:lnTo>
                      <a:lnTo>
                        <a:pt x="278" y="101"/>
                      </a:lnTo>
                      <a:lnTo>
                        <a:pt x="296" y="128"/>
                      </a:lnTo>
                      <a:lnTo>
                        <a:pt x="310" y="154"/>
                      </a:lnTo>
                      <a:lnTo>
                        <a:pt x="321" y="175"/>
                      </a:lnTo>
                      <a:lnTo>
                        <a:pt x="324" y="181"/>
                      </a:lnTo>
                      <a:lnTo>
                        <a:pt x="329" y="186"/>
                      </a:lnTo>
                      <a:lnTo>
                        <a:pt x="334" y="191"/>
                      </a:lnTo>
                      <a:lnTo>
                        <a:pt x="339" y="194"/>
                      </a:lnTo>
                      <a:lnTo>
                        <a:pt x="344" y="198"/>
                      </a:lnTo>
                      <a:lnTo>
                        <a:pt x="349" y="200"/>
                      </a:lnTo>
                      <a:lnTo>
                        <a:pt x="355" y="202"/>
                      </a:lnTo>
                      <a:lnTo>
                        <a:pt x="360" y="202"/>
                      </a:lnTo>
                      <a:lnTo>
                        <a:pt x="361" y="191"/>
                      </a:lnTo>
                      <a:lnTo>
                        <a:pt x="353" y="189"/>
                      </a:lnTo>
                      <a:lnTo>
                        <a:pt x="344" y="185"/>
                      </a:lnTo>
                      <a:lnTo>
                        <a:pt x="337" y="178"/>
                      </a:lnTo>
                      <a:lnTo>
                        <a:pt x="331" y="170"/>
                      </a:lnTo>
                      <a:lnTo>
                        <a:pt x="320" y="148"/>
                      </a:lnTo>
                      <a:lnTo>
                        <a:pt x="305" y="122"/>
                      </a:lnTo>
                      <a:lnTo>
                        <a:pt x="287" y="94"/>
                      </a:lnTo>
                      <a:lnTo>
                        <a:pt x="264" y="66"/>
                      </a:lnTo>
                      <a:lnTo>
                        <a:pt x="240" y="40"/>
                      </a:lnTo>
                      <a:lnTo>
                        <a:pt x="213" y="19"/>
                      </a:lnTo>
                      <a:lnTo>
                        <a:pt x="185" y="5"/>
                      </a:lnTo>
                      <a:lnTo>
                        <a:pt x="153" y="0"/>
                      </a:lnTo>
                      <a:lnTo>
                        <a:pt x="119" y="2"/>
                      </a:lnTo>
                      <a:lnTo>
                        <a:pt x="88" y="8"/>
                      </a:lnTo>
                      <a:lnTo>
                        <a:pt x="62" y="19"/>
                      </a:lnTo>
                      <a:lnTo>
                        <a:pt x="40" y="35"/>
                      </a:lnTo>
                      <a:lnTo>
                        <a:pt x="23" y="54"/>
                      </a:lnTo>
                      <a:lnTo>
                        <a:pt x="10" y="77"/>
                      </a:lnTo>
                      <a:lnTo>
                        <a:pt x="2" y="104"/>
                      </a:lnTo>
                      <a:lnTo>
                        <a:pt x="0" y="134"/>
                      </a:lnTo>
                      <a:lnTo>
                        <a:pt x="2" y="171"/>
                      </a:lnTo>
                      <a:lnTo>
                        <a:pt x="10" y="208"/>
                      </a:lnTo>
                      <a:lnTo>
                        <a:pt x="22" y="245"/>
                      </a:lnTo>
                      <a:lnTo>
                        <a:pt x="38" y="280"/>
                      </a:lnTo>
                      <a:lnTo>
                        <a:pt x="57" y="316"/>
                      </a:lnTo>
                      <a:lnTo>
                        <a:pt x="80" y="350"/>
                      </a:lnTo>
                      <a:lnTo>
                        <a:pt x="104" y="382"/>
                      </a:lnTo>
                      <a:lnTo>
                        <a:pt x="130" y="414"/>
                      </a:lnTo>
                      <a:lnTo>
                        <a:pt x="157" y="443"/>
                      </a:lnTo>
                      <a:lnTo>
                        <a:pt x="185" y="470"/>
                      </a:lnTo>
                      <a:lnTo>
                        <a:pt x="212" y="496"/>
                      </a:lnTo>
                      <a:lnTo>
                        <a:pt x="239" y="518"/>
                      </a:lnTo>
                      <a:lnTo>
                        <a:pt x="264" y="537"/>
                      </a:lnTo>
                      <a:lnTo>
                        <a:pt x="288" y="554"/>
                      </a:lnTo>
                      <a:lnTo>
                        <a:pt x="310" y="568"/>
                      </a:lnTo>
                      <a:lnTo>
                        <a:pt x="328" y="578"/>
                      </a:lnTo>
                      <a:lnTo>
                        <a:pt x="336" y="580"/>
                      </a:lnTo>
                      <a:lnTo>
                        <a:pt x="343" y="583"/>
                      </a:lnTo>
                      <a:lnTo>
                        <a:pt x="353" y="584"/>
                      </a:lnTo>
                      <a:lnTo>
                        <a:pt x="361" y="585"/>
                      </a:lnTo>
                      <a:lnTo>
                        <a:pt x="361" y="574"/>
                      </a:lnTo>
                      <a:close/>
                    </a:path>
                  </a:pathLst>
                </a:custGeom>
                <a:solidFill>
                  <a:srgbClr val="CC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87" name="Freeform 71"/>
                <p:cNvSpPr/>
                <p:nvPr/>
              </p:nvSpPr>
              <p:spPr bwMode="auto">
                <a:xfrm>
                  <a:off x="2742" y="1552"/>
                  <a:ext cx="426" cy="704"/>
                </a:xfrm>
                <a:custGeom>
                  <a:avLst/>
                  <a:gdLst>
                    <a:gd name="T0" fmla="*/ 1 w 426"/>
                    <a:gd name="T1" fmla="*/ 183 h 704"/>
                    <a:gd name="T2" fmla="*/ 7 w 426"/>
                    <a:gd name="T3" fmla="*/ 167 h 704"/>
                    <a:gd name="T4" fmla="*/ 19 w 426"/>
                    <a:gd name="T5" fmla="*/ 141 h 704"/>
                    <a:gd name="T6" fmla="*/ 38 w 426"/>
                    <a:gd name="T7" fmla="*/ 109 h 704"/>
                    <a:gd name="T8" fmla="*/ 63 w 426"/>
                    <a:gd name="T9" fmla="*/ 75 h 704"/>
                    <a:gd name="T10" fmla="*/ 95 w 426"/>
                    <a:gd name="T11" fmla="*/ 43 h 704"/>
                    <a:gd name="T12" fmla="*/ 136 w 426"/>
                    <a:gd name="T13" fmla="*/ 17 h 704"/>
                    <a:gd name="T14" fmla="*/ 182 w 426"/>
                    <a:gd name="T15" fmla="*/ 3 h 704"/>
                    <a:gd name="T16" fmla="*/ 239 w 426"/>
                    <a:gd name="T17" fmla="*/ 1 h 704"/>
                    <a:gd name="T18" fmla="*/ 289 w 426"/>
                    <a:gd name="T19" fmla="*/ 10 h 704"/>
                    <a:gd name="T20" fmla="*/ 330 w 426"/>
                    <a:gd name="T21" fmla="*/ 27 h 704"/>
                    <a:gd name="T22" fmla="*/ 364 w 426"/>
                    <a:gd name="T23" fmla="*/ 49 h 704"/>
                    <a:gd name="T24" fmla="*/ 389 w 426"/>
                    <a:gd name="T25" fmla="*/ 77 h 704"/>
                    <a:gd name="T26" fmla="*/ 408 w 426"/>
                    <a:gd name="T27" fmla="*/ 108 h 704"/>
                    <a:gd name="T28" fmla="*/ 420 w 426"/>
                    <a:gd name="T29" fmla="*/ 141 h 704"/>
                    <a:gd name="T30" fmla="*/ 425 w 426"/>
                    <a:gd name="T31" fmla="*/ 174 h 704"/>
                    <a:gd name="T32" fmla="*/ 424 w 426"/>
                    <a:gd name="T33" fmla="*/ 235 h 704"/>
                    <a:gd name="T34" fmla="*/ 402 w 426"/>
                    <a:gd name="T35" fmla="*/ 322 h 704"/>
                    <a:gd name="T36" fmla="*/ 362 w 426"/>
                    <a:gd name="T37" fmla="*/ 402 h 704"/>
                    <a:gd name="T38" fmla="*/ 311 w 426"/>
                    <a:gd name="T39" fmla="*/ 477 h 704"/>
                    <a:gd name="T40" fmla="*/ 251 w 426"/>
                    <a:gd name="T41" fmla="*/ 543 h 704"/>
                    <a:gd name="T42" fmla="*/ 187 w 426"/>
                    <a:gd name="T43" fmla="*/ 600 h 704"/>
                    <a:gd name="T44" fmla="*/ 125 w 426"/>
                    <a:gd name="T45" fmla="*/ 647 h 704"/>
                    <a:gd name="T46" fmla="*/ 67 w 426"/>
                    <a:gd name="T47" fmla="*/ 682 h 704"/>
                    <a:gd name="T48" fmla="*/ 38 w 426"/>
                    <a:gd name="T49" fmla="*/ 697 h 704"/>
                    <a:gd name="T50" fmla="*/ 28 w 426"/>
                    <a:gd name="T51" fmla="*/ 701 h 704"/>
                    <a:gd name="T52" fmla="*/ 18 w 426"/>
                    <a:gd name="T53" fmla="*/ 703 h 704"/>
                    <a:gd name="T54" fmla="*/ 7 w 426"/>
                    <a:gd name="T55" fmla="*/ 704 h 704"/>
                    <a:gd name="T56" fmla="*/ 2 w 426"/>
                    <a:gd name="T57" fmla="*/ 693 h 704"/>
                    <a:gd name="T58" fmla="*/ 21 w 426"/>
                    <a:gd name="T59" fmla="*/ 691 h 704"/>
                    <a:gd name="T60" fmla="*/ 38 w 426"/>
                    <a:gd name="T61" fmla="*/ 686 h 704"/>
                    <a:gd name="T62" fmla="*/ 89 w 426"/>
                    <a:gd name="T63" fmla="*/ 657 h 704"/>
                    <a:gd name="T64" fmla="*/ 148 w 426"/>
                    <a:gd name="T65" fmla="*/ 616 h 704"/>
                    <a:gd name="T66" fmla="*/ 210 w 426"/>
                    <a:gd name="T67" fmla="*/ 565 h 704"/>
                    <a:gd name="T68" fmla="*/ 273 w 426"/>
                    <a:gd name="T69" fmla="*/ 505 h 704"/>
                    <a:gd name="T70" fmla="*/ 328 w 426"/>
                    <a:gd name="T71" fmla="*/ 435 h 704"/>
                    <a:gd name="T72" fmla="*/ 373 w 426"/>
                    <a:gd name="T73" fmla="*/ 359 h 704"/>
                    <a:gd name="T74" fmla="*/ 404 w 426"/>
                    <a:gd name="T75" fmla="*/ 277 h 704"/>
                    <a:gd name="T76" fmla="*/ 415 w 426"/>
                    <a:gd name="T77" fmla="*/ 191 h 704"/>
                    <a:gd name="T78" fmla="*/ 411 w 426"/>
                    <a:gd name="T79" fmla="*/ 156 h 704"/>
                    <a:gd name="T80" fmla="*/ 403 w 426"/>
                    <a:gd name="T81" fmla="*/ 123 h 704"/>
                    <a:gd name="T82" fmla="*/ 387 w 426"/>
                    <a:gd name="T83" fmla="*/ 92 h 704"/>
                    <a:gd name="T84" fmla="*/ 366 w 426"/>
                    <a:gd name="T85" fmla="*/ 66 h 704"/>
                    <a:gd name="T86" fmla="*/ 335 w 426"/>
                    <a:gd name="T87" fmla="*/ 42 h 704"/>
                    <a:gd name="T88" fmla="*/ 299 w 426"/>
                    <a:gd name="T89" fmla="*/ 25 h 704"/>
                    <a:gd name="T90" fmla="*/ 257 w 426"/>
                    <a:gd name="T91" fmla="*/ 15 h 704"/>
                    <a:gd name="T92" fmla="*/ 209 w 426"/>
                    <a:gd name="T93" fmla="*/ 11 h 704"/>
                    <a:gd name="T94" fmla="*/ 160 w 426"/>
                    <a:gd name="T95" fmla="*/ 20 h 704"/>
                    <a:gd name="T96" fmla="*/ 119 w 426"/>
                    <a:gd name="T97" fmla="*/ 41 h 704"/>
                    <a:gd name="T98" fmla="*/ 83 w 426"/>
                    <a:gd name="T99" fmla="*/ 71 h 704"/>
                    <a:gd name="T100" fmla="*/ 54 w 426"/>
                    <a:gd name="T101" fmla="*/ 107 h 704"/>
                    <a:gd name="T102" fmla="*/ 30 w 426"/>
                    <a:gd name="T103" fmla="*/ 141 h 704"/>
                    <a:gd name="T104" fmla="*/ 14 w 426"/>
                    <a:gd name="T105" fmla="*/ 173 h 704"/>
                    <a:gd name="T106" fmla="*/ 5 w 426"/>
                    <a:gd name="T107" fmla="*/ 195 h 704"/>
                    <a:gd name="T108" fmla="*/ 1 w 426"/>
                    <a:gd name="T109" fmla="*/ 203 h 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26" h="704">
                      <a:moveTo>
                        <a:pt x="0" y="185"/>
                      </a:moveTo>
                      <a:lnTo>
                        <a:pt x="1" y="183"/>
                      </a:lnTo>
                      <a:lnTo>
                        <a:pt x="3" y="177"/>
                      </a:lnTo>
                      <a:lnTo>
                        <a:pt x="7" y="167"/>
                      </a:lnTo>
                      <a:lnTo>
                        <a:pt x="12" y="156"/>
                      </a:lnTo>
                      <a:lnTo>
                        <a:pt x="19" y="141"/>
                      </a:lnTo>
                      <a:lnTo>
                        <a:pt x="28" y="125"/>
                      </a:lnTo>
                      <a:lnTo>
                        <a:pt x="38" y="109"/>
                      </a:lnTo>
                      <a:lnTo>
                        <a:pt x="50" y="92"/>
                      </a:lnTo>
                      <a:lnTo>
                        <a:pt x="63" y="75"/>
                      </a:lnTo>
                      <a:lnTo>
                        <a:pt x="78" y="58"/>
                      </a:lnTo>
                      <a:lnTo>
                        <a:pt x="95" y="43"/>
                      </a:lnTo>
                      <a:lnTo>
                        <a:pt x="115" y="28"/>
                      </a:lnTo>
                      <a:lnTo>
                        <a:pt x="136" y="17"/>
                      </a:lnTo>
                      <a:lnTo>
                        <a:pt x="158" y="8"/>
                      </a:lnTo>
                      <a:lnTo>
                        <a:pt x="182" y="3"/>
                      </a:lnTo>
                      <a:lnTo>
                        <a:pt x="209" y="0"/>
                      </a:lnTo>
                      <a:lnTo>
                        <a:pt x="239" y="1"/>
                      </a:lnTo>
                      <a:lnTo>
                        <a:pt x="264" y="5"/>
                      </a:lnTo>
                      <a:lnTo>
                        <a:pt x="289" y="10"/>
                      </a:lnTo>
                      <a:lnTo>
                        <a:pt x="311" y="17"/>
                      </a:lnTo>
                      <a:lnTo>
                        <a:pt x="330" y="27"/>
                      </a:lnTo>
                      <a:lnTo>
                        <a:pt x="349" y="37"/>
                      </a:lnTo>
                      <a:lnTo>
                        <a:pt x="364" y="49"/>
                      </a:lnTo>
                      <a:lnTo>
                        <a:pt x="378" y="63"/>
                      </a:lnTo>
                      <a:lnTo>
                        <a:pt x="389" y="77"/>
                      </a:lnTo>
                      <a:lnTo>
                        <a:pt x="400" y="92"/>
                      </a:lnTo>
                      <a:lnTo>
                        <a:pt x="408" y="108"/>
                      </a:lnTo>
                      <a:lnTo>
                        <a:pt x="415" y="124"/>
                      </a:lnTo>
                      <a:lnTo>
                        <a:pt x="420" y="141"/>
                      </a:lnTo>
                      <a:lnTo>
                        <a:pt x="424" y="158"/>
                      </a:lnTo>
                      <a:lnTo>
                        <a:pt x="425" y="174"/>
                      </a:lnTo>
                      <a:lnTo>
                        <a:pt x="426" y="191"/>
                      </a:lnTo>
                      <a:lnTo>
                        <a:pt x="424" y="235"/>
                      </a:lnTo>
                      <a:lnTo>
                        <a:pt x="415" y="279"/>
                      </a:lnTo>
                      <a:lnTo>
                        <a:pt x="402" y="322"/>
                      </a:lnTo>
                      <a:lnTo>
                        <a:pt x="383" y="363"/>
                      </a:lnTo>
                      <a:lnTo>
                        <a:pt x="362" y="402"/>
                      </a:lnTo>
                      <a:lnTo>
                        <a:pt x="338" y="440"/>
                      </a:lnTo>
                      <a:lnTo>
                        <a:pt x="311" y="477"/>
                      </a:lnTo>
                      <a:lnTo>
                        <a:pt x="281" y="511"/>
                      </a:lnTo>
                      <a:lnTo>
                        <a:pt x="251" y="543"/>
                      </a:lnTo>
                      <a:lnTo>
                        <a:pt x="219" y="572"/>
                      </a:lnTo>
                      <a:lnTo>
                        <a:pt x="187" y="600"/>
                      </a:lnTo>
                      <a:lnTo>
                        <a:pt x="155" y="625"/>
                      </a:lnTo>
                      <a:lnTo>
                        <a:pt x="125" y="647"/>
                      </a:lnTo>
                      <a:lnTo>
                        <a:pt x="95" y="666"/>
                      </a:lnTo>
                      <a:lnTo>
                        <a:pt x="67" y="682"/>
                      </a:lnTo>
                      <a:lnTo>
                        <a:pt x="43" y="696"/>
                      </a:lnTo>
                      <a:lnTo>
                        <a:pt x="38" y="697"/>
                      </a:lnTo>
                      <a:lnTo>
                        <a:pt x="33" y="699"/>
                      </a:lnTo>
                      <a:lnTo>
                        <a:pt x="28" y="701"/>
                      </a:lnTo>
                      <a:lnTo>
                        <a:pt x="23" y="702"/>
                      </a:lnTo>
                      <a:lnTo>
                        <a:pt x="18" y="703"/>
                      </a:lnTo>
                      <a:lnTo>
                        <a:pt x="12" y="703"/>
                      </a:lnTo>
                      <a:lnTo>
                        <a:pt x="7" y="704"/>
                      </a:lnTo>
                      <a:lnTo>
                        <a:pt x="2" y="704"/>
                      </a:lnTo>
                      <a:lnTo>
                        <a:pt x="2" y="693"/>
                      </a:lnTo>
                      <a:lnTo>
                        <a:pt x="12" y="693"/>
                      </a:lnTo>
                      <a:lnTo>
                        <a:pt x="21" y="691"/>
                      </a:lnTo>
                      <a:lnTo>
                        <a:pt x="30" y="690"/>
                      </a:lnTo>
                      <a:lnTo>
                        <a:pt x="38" y="686"/>
                      </a:lnTo>
                      <a:lnTo>
                        <a:pt x="62" y="672"/>
                      </a:lnTo>
                      <a:lnTo>
                        <a:pt x="89" y="657"/>
                      </a:lnTo>
                      <a:lnTo>
                        <a:pt x="119" y="638"/>
                      </a:lnTo>
                      <a:lnTo>
                        <a:pt x="148" y="616"/>
                      </a:lnTo>
                      <a:lnTo>
                        <a:pt x="180" y="592"/>
                      </a:lnTo>
                      <a:lnTo>
                        <a:pt x="210" y="565"/>
                      </a:lnTo>
                      <a:lnTo>
                        <a:pt x="242" y="535"/>
                      </a:lnTo>
                      <a:lnTo>
                        <a:pt x="273" y="505"/>
                      </a:lnTo>
                      <a:lnTo>
                        <a:pt x="301" y="470"/>
                      </a:lnTo>
                      <a:lnTo>
                        <a:pt x="328" y="435"/>
                      </a:lnTo>
                      <a:lnTo>
                        <a:pt x="353" y="398"/>
                      </a:lnTo>
                      <a:lnTo>
                        <a:pt x="373" y="359"/>
                      </a:lnTo>
                      <a:lnTo>
                        <a:pt x="390" y="319"/>
                      </a:lnTo>
                      <a:lnTo>
                        <a:pt x="404" y="277"/>
                      </a:lnTo>
                      <a:lnTo>
                        <a:pt x="413" y="235"/>
                      </a:lnTo>
                      <a:lnTo>
                        <a:pt x="415" y="191"/>
                      </a:lnTo>
                      <a:lnTo>
                        <a:pt x="414" y="173"/>
                      </a:lnTo>
                      <a:lnTo>
                        <a:pt x="411" y="156"/>
                      </a:lnTo>
                      <a:lnTo>
                        <a:pt x="408" y="139"/>
                      </a:lnTo>
                      <a:lnTo>
                        <a:pt x="403" y="123"/>
                      </a:lnTo>
                      <a:lnTo>
                        <a:pt x="395" y="107"/>
                      </a:lnTo>
                      <a:lnTo>
                        <a:pt x="387" y="92"/>
                      </a:lnTo>
                      <a:lnTo>
                        <a:pt x="377" y="79"/>
                      </a:lnTo>
                      <a:lnTo>
                        <a:pt x="366" y="66"/>
                      </a:lnTo>
                      <a:lnTo>
                        <a:pt x="351" y="53"/>
                      </a:lnTo>
                      <a:lnTo>
                        <a:pt x="335" y="42"/>
                      </a:lnTo>
                      <a:lnTo>
                        <a:pt x="318" y="33"/>
                      </a:lnTo>
                      <a:lnTo>
                        <a:pt x="299" y="25"/>
                      </a:lnTo>
                      <a:lnTo>
                        <a:pt x="279" y="19"/>
                      </a:lnTo>
                      <a:lnTo>
                        <a:pt x="257" y="15"/>
                      </a:lnTo>
                      <a:lnTo>
                        <a:pt x="234" y="12"/>
                      </a:lnTo>
                      <a:lnTo>
                        <a:pt x="209" y="11"/>
                      </a:lnTo>
                      <a:lnTo>
                        <a:pt x="183" y="14"/>
                      </a:lnTo>
                      <a:lnTo>
                        <a:pt x="160" y="20"/>
                      </a:lnTo>
                      <a:lnTo>
                        <a:pt x="138" y="28"/>
                      </a:lnTo>
                      <a:lnTo>
                        <a:pt x="119" y="41"/>
                      </a:lnTo>
                      <a:lnTo>
                        <a:pt x="99" y="55"/>
                      </a:lnTo>
                      <a:lnTo>
                        <a:pt x="83" y="71"/>
                      </a:lnTo>
                      <a:lnTo>
                        <a:pt x="67" y="88"/>
                      </a:lnTo>
                      <a:lnTo>
                        <a:pt x="54" y="107"/>
                      </a:lnTo>
                      <a:lnTo>
                        <a:pt x="41" y="124"/>
                      </a:lnTo>
                      <a:lnTo>
                        <a:pt x="30" y="141"/>
                      </a:lnTo>
                      <a:lnTo>
                        <a:pt x="22" y="158"/>
                      </a:lnTo>
                      <a:lnTo>
                        <a:pt x="14" y="173"/>
                      </a:lnTo>
                      <a:lnTo>
                        <a:pt x="8" y="185"/>
                      </a:lnTo>
                      <a:lnTo>
                        <a:pt x="5" y="195"/>
                      </a:lnTo>
                      <a:lnTo>
                        <a:pt x="2" y="201"/>
                      </a:lnTo>
                      <a:lnTo>
                        <a:pt x="1" y="203"/>
                      </a:lnTo>
                      <a:lnTo>
                        <a:pt x="0" y="185"/>
                      </a:lnTo>
                      <a:close/>
                    </a:path>
                  </a:pathLst>
                </a:custGeom>
                <a:solidFill>
                  <a:srgbClr val="CC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88" name="Freeform 72"/>
                <p:cNvSpPr/>
                <p:nvPr/>
              </p:nvSpPr>
              <p:spPr bwMode="auto">
                <a:xfrm>
                  <a:off x="2744" y="1615"/>
                  <a:ext cx="362" cy="585"/>
                </a:xfrm>
                <a:custGeom>
                  <a:avLst/>
                  <a:gdLst>
                    <a:gd name="T0" fmla="*/ 8 w 362"/>
                    <a:gd name="T1" fmla="*/ 574 h 585"/>
                    <a:gd name="T2" fmla="*/ 21 w 362"/>
                    <a:gd name="T3" fmla="*/ 570 h 585"/>
                    <a:gd name="T4" fmla="*/ 46 w 362"/>
                    <a:gd name="T5" fmla="*/ 558 h 585"/>
                    <a:gd name="T6" fmla="*/ 90 w 362"/>
                    <a:gd name="T7" fmla="*/ 527 h 585"/>
                    <a:gd name="T8" fmla="*/ 142 w 362"/>
                    <a:gd name="T9" fmla="*/ 487 h 585"/>
                    <a:gd name="T10" fmla="*/ 196 w 362"/>
                    <a:gd name="T11" fmla="*/ 436 h 585"/>
                    <a:gd name="T12" fmla="*/ 248 w 362"/>
                    <a:gd name="T13" fmla="*/ 377 h 585"/>
                    <a:gd name="T14" fmla="*/ 293 w 362"/>
                    <a:gd name="T15" fmla="*/ 311 h 585"/>
                    <a:gd name="T16" fmla="*/ 328 w 362"/>
                    <a:gd name="T17" fmla="*/ 242 h 585"/>
                    <a:gd name="T18" fmla="*/ 348 w 362"/>
                    <a:gd name="T19" fmla="*/ 170 h 585"/>
                    <a:gd name="T20" fmla="*/ 348 w 362"/>
                    <a:gd name="T21" fmla="*/ 109 h 585"/>
                    <a:gd name="T22" fmla="*/ 332 w 362"/>
                    <a:gd name="T23" fmla="*/ 65 h 585"/>
                    <a:gd name="T24" fmla="*/ 309 w 362"/>
                    <a:gd name="T25" fmla="*/ 39 h 585"/>
                    <a:gd name="T26" fmla="*/ 286 w 362"/>
                    <a:gd name="T27" fmla="*/ 25 h 585"/>
                    <a:gd name="T28" fmla="*/ 257 w 362"/>
                    <a:gd name="T29" fmla="*/ 16 h 585"/>
                    <a:gd name="T30" fmla="*/ 226 w 362"/>
                    <a:gd name="T31" fmla="*/ 11 h 585"/>
                    <a:gd name="T32" fmla="*/ 179 w 362"/>
                    <a:gd name="T33" fmla="*/ 16 h 585"/>
                    <a:gd name="T34" fmla="*/ 126 w 362"/>
                    <a:gd name="T35" fmla="*/ 50 h 585"/>
                    <a:gd name="T36" fmla="*/ 82 w 362"/>
                    <a:gd name="T37" fmla="*/ 101 h 585"/>
                    <a:gd name="T38" fmla="*/ 50 w 362"/>
                    <a:gd name="T39" fmla="*/ 154 h 585"/>
                    <a:gd name="T40" fmla="*/ 36 w 362"/>
                    <a:gd name="T41" fmla="*/ 181 h 585"/>
                    <a:gd name="T42" fmla="*/ 27 w 362"/>
                    <a:gd name="T43" fmla="*/ 191 h 585"/>
                    <a:gd name="T44" fmla="*/ 16 w 362"/>
                    <a:gd name="T45" fmla="*/ 198 h 585"/>
                    <a:gd name="T46" fmla="*/ 5 w 362"/>
                    <a:gd name="T47" fmla="*/ 202 h 585"/>
                    <a:gd name="T48" fmla="*/ 0 w 362"/>
                    <a:gd name="T49" fmla="*/ 191 h 585"/>
                    <a:gd name="T50" fmla="*/ 16 w 362"/>
                    <a:gd name="T51" fmla="*/ 185 h 585"/>
                    <a:gd name="T52" fmla="*/ 30 w 362"/>
                    <a:gd name="T53" fmla="*/ 170 h 585"/>
                    <a:gd name="T54" fmla="*/ 55 w 362"/>
                    <a:gd name="T55" fmla="*/ 122 h 585"/>
                    <a:gd name="T56" fmla="*/ 96 w 362"/>
                    <a:gd name="T57" fmla="*/ 66 h 585"/>
                    <a:gd name="T58" fmla="*/ 147 w 362"/>
                    <a:gd name="T59" fmla="*/ 19 h 585"/>
                    <a:gd name="T60" fmla="*/ 207 w 362"/>
                    <a:gd name="T61" fmla="*/ 0 h 585"/>
                    <a:gd name="T62" fmla="*/ 272 w 362"/>
                    <a:gd name="T63" fmla="*/ 8 h 585"/>
                    <a:gd name="T64" fmla="*/ 321 w 362"/>
                    <a:gd name="T65" fmla="*/ 35 h 585"/>
                    <a:gd name="T66" fmla="*/ 352 w 362"/>
                    <a:gd name="T67" fmla="*/ 77 h 585"/>
                    <a:gd name="T68" fmla="*/ 362 w 362"/>
                    <a:gd name="T69" fmla="*/ 134 h 585"/>
                    <a:gd name="T70" fmla="*/ 351 w 362"/>
                    <a:gd name="T71" fmla="*/ 208 h 585"/>
                    <a:gd name="T72" fmla="*/ 322 w 362"/>
                    <a:gd name="T73" fmla="*/ 280 h 585"/>
                    <a:gd name="T74" fmla="*/ 281 w 362"/>
                    <a:gd name="T75" fmla="*/ 350 h 585"/>
                    <a:gd name="T76" fmla="*/ 230 w 362"/>
                    <a:gd name="T77" fmla="*/ 414 h 585"/>
                    <a:gd name="T78" fmla="*/ 177 w 362"/>
                    <a:gd name="T79" fmla="*/ 470 h 585"/>
                    <a:gd name="T80" fmla="*/ 121 w 362"/>
                    <a:gd name="T81" fmla="*/ 518 h 585"/>
                    <a:gd name="T82" fmla="*/ 72 w 362"/>
                    <a:gd name="T83" fmla="*/ 554 h 585"/>
                    <a:gd name="T84" fmla="*/ 32 w 362"/>
                    <a:gd name="T85" fmla="*/ 578 h 585"/>
                    <a:gd name="T86" fmla="*/ 17 w 362"/>
                    <a:gd name="T87" fmla="*/ 583 h 585"/>
                    <a:gd name="T88" fmla="*/ 0 w 362"/>
                    <a:gd name="T89" fmla="*/ 585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362" h="585">
                      <a:moveTo>
                        <a:pt x="0" y="574"/>
                      </a:moveTo>
                      <a:lnTo>
                        <a:pt x="8" y="574"/>
                      </a:lnTo>
                      <a:lnTo>
                        <a:pt x="15" y="573"/>
                      </a:lnTo>
                      <a:lnTo>
                        <a:pt x="21" y="570"/>
                      </a:lnTo>
                      <a:lnTo>
                        <a:pt x="27" y="568"/>
                      </a:lnTo>
                      <a:lnTo>
                        <a:pt x="46" y="558"/>
                      </a:lnTo>
                      <a:lnTo>
                        <a:pt x="66" y="545"/>
                      </a:lnTo>
                      <a:lnTo>
                        <a:pt x="90" y="527"/>
                      </a:lnTo>
                      <a:lnTo>
                        <a:pt x="115" y="509"/>
                      </a:lnTo>
                      <a:lnTo>
                        <a:pt x="142" y="487"/>
                      </a:lnTo>
                      <a:lnTo>
                        <a:pt x="169" y="463"/>
                      </a:lnTo>
                      <a:lnTo>
                        <a:pt x="196" y="436"/>
                      </a:lnTo>
                      <a:lnTo>
                        <a:pt x="222" y="406"/>
                      </a:lnTo>
                      <a:lnTo>
                        <a:pt x="248" y="377"/>
                      </a:lnTo>
                      <a:lnTo>
                        <a:pt x="272" y="345"/>
                      </a:lnTo>
                      <a:lnTo>
                        <a:pt x="293" y="311"/>
                      </a:lnTo>
                      <a:lnTo>
                        <a:pt x="313" y="276"/>
                      </a:lnTo>
                      <a:lnTo>
                        <a:pt x="328" y="242"/>
                      </a:lnTo>
                      <a:lnTo>
                        <a:pt x="341" y="207"/>
                      </a:lnTo>
                      <a:lnTo>
                        <a:pt x="348" y="170"/>
                      </a:lnTo>
                      <a:lnTo>
                        <a:pt x="351" y="134"/>
                      </a:lnTo>
                      <a:lnTo>
                        <a:pt x="348" y="109"/>
                      </a:lnTo>
                      <a:lnTo>
                        <a:pt x="342" y="85"/>
                      </a:lnTo>
                      <a:lnTo>
                        <a:pt x="332" y="65"/>
                      </a:lnTo>
                      <a:lnTo>
                        <a:pt x="319" y="47"/>
                      </a:lnTo>
                      <a:lnTo>
                        <a:pt x="309" y="39"/>
                      </a:lnTo>
                      <a:lnTo>
                        <a:pt x="298" y="32"/>
                      </a:lnTo>
                      <a:lnTo>
                        <a:pt x="286" y="25"/>
                      </a:lnTo>
                      <a:lnTo>
                        <a:pt x="272" y="19"/>
                      </a:lnTo>
                      <a:lnTo>
                        <a:pt x="257" y="16"/>
                      </a:lnTo>
                      <a:lnTo>
                        <a:pt x="242" y="13"/>
                      </a:lnTo>
                      <a:lnTo>
                        <a:pt x="226" y="11"/>
                      </a:lnTo>
                      <a:lnTo>
                        <a:pt x="207" y="11"/>
                      </a:lnTo>
                      <a:lnTo>
                        <a:pt x="179" y="16"/>
                      </a:lnTo>
                      <a:lnTo>
                        <a:pt x="151" y="29"/>
                      </a:lnTo>
                      <a:lnTo>
                        <a:pt x="126" y="50"/>
                      </a:lnTo>
                      <a:lnTo>
                        <a:pt x="103" y="74"/>
                      </a:lnTo>
                      <a:lnTo>
                        <a:pt x="82" y="101"/>
                      </a:lnTo>
                      <a:lnTo>
                        <a:pt x="65" y="128"/>
                      </a:lnTo>
                      <a:lnTo>
                        <a:pt x="50" y="154"/>
                      </a:lnTo>
                      <a:lnTo>
                        <a:pt x="39" y="175"/>
                      </a:lnTo>
                      <a:lnTo>
                        <a:pt x="36" y="181"/>
                      </a:lnTo>
                      <a:lnTo>
                        <a:pt x="31" y="186"/>
                      </a:lnTo>
                      <a:lnTo>
                        <a:pt x="27" y="191"/>
                      </a:lnTo>
                      <a:lnTo>
                        <a:pt x="22" y="194"/>
                      </a:lnTo>
                      <a:lnTo>
                        <a:pt x="16" y="198"/>
                      </a:lnTo>
                      <a:lnTo>
                        <a:pt x="11" y="200"/>
                      </a:lnTo>
                      <a:lnTo>
                        <a:pt x="5" y="202"/>
                      </a:lnTo>
                      <a:lnTo>
                        <a:pt x="0" y="202"/>
                      </a:lnTo>
                      <a:lnTo>
                        <a:pt x="0" y="191"/>
                      </a:lnTo>
                      <a:lnTo>
                        <a:pt x="9" y="189"/>
                      </a:lnTo>
                      <a:lnTo>
                        <a:pt x="16" y="185"/>
                      </a:lnTo>
                      <a:lnTo>
                        <a:pt x="23" y="178"/>
                      </a:lnTo>
                      <a:lnTo>
                        <a:pt x="30" y="170"/>
                      </a:lnTo>
                      <a:lnTo>
                        <a:pt x="41" y="148"/>
                      </a:lnTo>
                      <a:lnTo>
                        <a:pt x="55" y="122"/>
                      </a:lnTo>
                      <a:lnTo>
                        <a:pt x="74" y="94"/>
                      </a:lnTo>
                      <a:lnTo>
                        <a:pt x="96" y="66"/>
                      </a:lnTo>
                      <a:lnTo>
                        <a:pt x="120" y="40"/>
                      </a:lnTo>
                      <a:lnTo>
                        <a:pt x="147" y="19"/>
                      </a:lnTo>
                      <a:lnTo>
                        <a:pt x="177" y="5"/>
                      </a:lnTo>
                      <a:lnTo>
                        <a:pt x="207" y="0"/>
                      </a:lnTo>
                      <a:lnTo>
                        <a:pt x="242" y="2"/>
                      </a:lnTo>
                      <a:lnTo>
                        <a:pt x="272" y="8"/>
                      </a:lnTo>
                      <a:lnTo>
                        <a:pt x="299" y="19"/>
                      </a:lnTo>
                      <a:lnTo>
                        <a:pt x="321" y="35"/>
                      </a:lnTo>
                      <a:lnTo>
                        <a:pt x="338" y="54"/>
                      </a:lnTo>
                      <a:lnTo>
                        <a:pt x="352" y="77"/>
                      </a:lnTo>
                      <a:lnTo>
                        <a:pt x="359" y="104"/>
                      </a:lnTo>
                      <a:lnTo>
                        <a:pt x="362" y="134"/>
                      </a:lnTo>
                      <a:lnTo>
                        <a:pt x="359" y="171"/>
                      </a:lnTo>
                      <a:lnTo>
                        <a:pt x="351" y="208"/>
                      </a:lnTo>
                      <a:lnTo>
                        <a:pt x="339" y="245"/>
                      </a:lnTo>
                      <a:lnTo>
                        <a:pt x="322" y="280"/>
                      </a:lnTo>
                      <a:lnTo>
                        <a:pt x="304" y="316"/>
                      </a:lnTo>
                      <a:lnTo>
                        <a:pt x="281" y="350"/>
                      </a:lnTo>
                      <a:lnTo>
                        <a:pt x="256" y="382"/>
                      </a:lnTo>
                      <a:lnTo>
                        <a:pt x="230" y="414"/>
                      </a:lnTo>
                      <a:lnTo>
                        <a:pt x="204" y="443"/>
                      </a:lnTo>
                      <a:lnTo>
                        <a:pt x="177" y="470"/>
                      </a:lnTo>
                      <a:lnTo>
                        <a:pt x="148" y="496"/>
                      </a:lnTo>
                      <a:lnTo>
                        <a:pt x="121" y="518"/>
                      </a:lnTo>
                      <a:lnTo>
                        <a:pt x="96" y="537"/>
                      </a:lnTo>
                      <a:lnTo>
                        <a:pt x="72" y="554"/>
                      </a:lnTo>
                      <a:lnTo>
                        <a:pt x="50" y="568"/>
                      </a:lnTo>
                      <a:lnTo>
                        <a:pt x="32" y="578"/>
                      </a:lnTo>
                      <a:lnTo>
                        <a:pt x="25" y="580"/>
                      </a:lnTo>
                      <a:lnTo>
                        <a:pt x="17" y="583"/>
                      </a:lnTo>
                      <a:lnTo>
                        <a:pt x="9" y="584"/>
                      </a:lnTo>
                      <a:lnTo>
                        <a:pt x="0" y="585"/>
                      </a:lnTo>
                      <a:lnTo>
                        <a:pt x="0" y="574"/>
                      </a:lnTo>
                      <a:close/>
                    </a:path>
                  </a:pathLst>
                </a:custGeom>
                <a:solidFill>
                  <a:srgbClr val="CC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89" name="Freeform 73"/>
                <p:cNvSpPr/>
                <p:nvPr/>
              </p:nvSpPr>
              <p:spPr bwMode="auto">
                <a:xfrm>
                  <a:off x="2369" y="1577"/>
                  <a:ext cx="64" cy="35"/>
                </a:xfrm>
                <a:custGeom>
                  <a:avLst/>
                  <a:gdLst>
                    <a:gd name="T0" fmla="*/ 0 w 64"/>
                    <a:gd name="T1" fmla="*/ 12 h 35"/>
                    <a:gd name="T2" fmla="*/ 9 w 64"/>
                    <a:gd name="T3" fmla="*/ 12 h 35"/>
                    <a:gd name="T4" fmla="*/ 16 w 64"/>
                    <a:gd name="T5" fmla="*/ 13 h 35"/>
                    <a:gd name="T6" fmla="*/ 25 w 64"/>
                    <a:gd name="T7" fmla="*/ 14 h 35"/>
                    <a:gd name="T8" fmla="*/ 34 w 64"/>
                    <a:gd name="T9" fmla="*/ 17 h 35"/>
                    <a:gd name="T10" fmla="*/ 41 w 64"/>
                    <a:gd name="T11" fmla="*/ 21 h 35"/>
                    <a:gd name="T12" fmla="*/ 48 w 64"/>
                    <a:gd name="T13" fmla="*/ 24 h 35"/>
                    <a:gd name="T14" fmla="*/ 56 w 64"/>
                    <a:gd name="T15" fmla="*/ 29 h 35"/>
                    <a:gd name="T16" fmla="*/ 62 w 64"/>
                    <a:gd name="T17" fmla="*/ 35 h 35"/>
                    <a:gd name="T18" fmla="*/ 64 w 64"/>
                    <a:gd name="T19" fmla="*/ 18 h 35"/>
                    <a:gd name="T20" fmla="*/ 63 w 64"/>
                    <a:gd name="T21" fmla="*/ 17 h 35"/>
                    <a:gd name="T22" fmla="*/ 58 w 64"/>
                    <a:gd name="T23" fmla="*/ 16 h 35"/>
                    <a:gd name="T24" fmla="*/ 52 w 64"/>
                    <a:gd name="T25" fmla="*/ 12 h 35"/>
                    <a:gd name="T26" fmla="*/ 45 w 64"/>
                    <a:gd name="T27" fmla="*/ 8 h 35"/>
                    <a:gd name="T28" fmla="*/ 35 w 64"/>
                    <a:gd name="T29" fmla="*/ 5 h 35"/>
                    <a:gd name="T30" fmla="*/ 25 w 64"/>
                    <a:gd name="T31" fmla="*/ 2 h 35"/>
                    <a:gd name="T32" fmla="*/ 15 w 64"/>
                    <a:gd name="T33" fmla="*/ 0 h 35"/>
                    <a:gd name="T34" fmla="*/ 5 w 64"/>
                    <a:gd name="T35" fmla="*/ 0 h 35"/>
                    <a:gd name="T36" fmla="*/ 0 w 64"/>
                    <a:gd name="T37" fmla="*/ 12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4" h="35">
                      <a:moveTo>
                        <a:pt x="0" y="12"/>
                      </a:moveTo>
                      <a:lnTo>
                        <a:pt x="9" y="12"/>
                      </a:lnTo>
                      <a:lnTo>
                        <a:pt x="16" y="13"/>
                      </a:lnTo>
                      <a:lnTo>
                        <a:pt x="25" y="14"/>
                      </a:lnTo>
                      <a:lnTo>
                        <a:pt x="34" y="17"/>
                      </a:lnTo>
                      <a:lnTo>
                        <a:pt x="41" y="21"/>
                      </a:lnTo>
                      <a:lnTo>
                        <a:pt x="48" y="24"/>
                      </a:lnTo>
                      <a:lnTo>
                        <a:pt x="56" y="29"/>
                      </a:lnTo>
                      <a:lnTo>
                        <a:pt x="62" y="35"/>
                      </a:lnTo>
                      <a:lnTo>
                        <a:pt x="64" y="18"/>
                      </a:lnTo>
                      <a:lnTo>
                        <a:pt x="63" y="17"/>
                      </a:lnTo>
                      <a:lnTo>
                        <a:pt x="58" y="16"/>
                      </a:lnTo>
                      <a:lnTo>
                        <a:pt x="52" y="12"/>
                      </a:lnTo>
                      <a:lnTo>
                        <a:pt x="45" y="8"/>
                      </a:lnTo>
                      <a:lnTo>
                        <a:pt x="35" y="5"/>
                      </a:lnTo>
                      <a:lnTo>
                        <a:pt x="25" y="2"/>
                      </a:lnTo>
                      <a:lnTo>
                        <a:pt x="15" y="0"/>
                      </a:lnTo>
                      <a:lnTo>
                        <a:pt x="5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CC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19690" name="AutoShape 74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912" cy="1152"/>
              </a:xfrm>
              <a:custGeom>
                <a:avLst/>
                <a:gdLst>
                  <a:gd name="G0" fmla="+- 9002 0 0"/>
                  <a:gd name="G1" fmla="+- 11702626 0 0"/>
                  <a:gd name="G2" fmla="+- 0 0 11702626"/>
                  <a:gd name="T0" fmla="*/ 0 256 1"/>
                  <a:gd name="T1" fmla="*/ 180 256 1"/>
                  <a:gd name="G3" fmla="+- 11702626 T0 T1"/>
                  <a:gd name="T2" fmla="*/ 0 256 1"/>
                  <a:gd name="T3" fmla="*/ 90 256 1"/>
                  <a:gd name="G4" fmla="+- 11702626 T2 T3"/>
                  <a:gd name="G5" fmla="*/ G4 2 1"/>
                  <a:gd name="T4" fmla="*/ 90 256 1"/>
                  <a:gd name="T5" fmla="*/ 0 256 1"/>
                  <a:gd name="G6" fmla="+- 11702626 T4 T5"/>
                  <a:gd name="G7" fmla="*/ G6 2 1"/>
                  <a:gd name="G8" fmla="abs 11702626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9002"/>
                  <a:gd name="G18" fmla="*/ 9002 1 2"/>
                  <a:gd name="G19" fmla="+- G18 5400 0"/>
                  <a:gd name="G20" fmla="cos G19 11702626"/>
                  <a:gd name="G21" fmla="sin G19 11702626"/>
                  <a:gd name="G22" fmla="+- G20 10800 0"/>
                  <a:gd name="G23" fmla="+- G21 10800 0"/>
                  <a:gd name="G24" fmla="+- 10800 0 G20"/>
                  <a:gd name="G25" fmla="+- 9002 10800 0"/>
                  <a:gd name="G26" fmla="?: G9 G17 G25"/>
                  <a:gd name="G27" fmla="?: G9 0 21600"/>
                  <a:gd name="G28" fmla="cos 10800 11702626"/>
                  <a:gd name="G29" fmla="sin 10800 11702626"/>
                  <a:gd name="G30" fmla="sin 9002 11702626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02626 G34 0"/>
                  <a:gd name="G36" fmla="?: G6 G35 G31"/>
                  <a:gd name="G37" fmla="+- 21600 0 G36"/>
                  <a:gd name="G38" fmla="?: G4 0 G33"/>
                  <a:gd name="G39" fmla="?: 11702626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902 w 21600"/>
                  <a:gd name="T15" fmla="*/ 11047 h 21600"/>
                  <a:gd name="T16" fmla="*/ 10800 w 21600"/>
                  <a:gd name="T17" fmla="*/ 1798 h 21600"/>
                  <a:gd name="T18" fmla="*/ 20698 w 21600"/>
                  <a:gd name="T19" fmla="*/ 1104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800" y="11024"/>
                    </a:moveTo>
                    <a:cubicBezTo>
                      <a:pt x="1798" y="10950"/>
                      <a:pt x="1798" y="10875"/>
                      <a:pt x="1798" y="10800"/>
                    </a:cubicBezTo>
                    <a:cubicBezTo>
                      <a:pt x="1798" y="5828"/>
                      <a:pt x="5828" y="1798"/>
                      <a:pt x="10800" y="1798"/>
                    </a:cubicBezTo>
                    <a:cubicBezTo>
                      <a:pt x="15771" y="1798"/>
                      <a:pt x="19802" y="5828"/>
                      <a:pt x="19802" y="10800"/>
                    </a:cubicBezTo>
                    <a:cubicBezTo>
                      <a:pt x="19801" y="10875"/>
                      <a:pt x="19801" y="10950"/>
                      <a:pt x="19799" y="11024"/>
                    </a:cubicBezTo>
                    <a:lnTo>
                      <a:pt x="21596" y="11069"/>
                    </a:lnTo>
                    <a:cubicBezTo>
                      <a:pt x="21598" y="10979"/>
                      <a:pt x="21600" y="10889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0889"/>
                      <a:pt x="1" y="10979"/>
                      <a:pt x="3" y="110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9691" name="AutoShape 75"/>
              <p:cNvSpPr>
                <a:spLocks noChangeArrowheads="1"/>
              </p:cNvSpPr>
              <p:nvPr/>
            </p:nvSpPr>
            <p:spPr bwMode="auto">
              <a:xfrm>
                <a:off x="2268" y="2592"/>
                <a:ext cx="912" cy="1152"/>
              </a:xfrm>
              <a:custGeom>
                <a:avLst/>
                <a:gdLst>
                  <a:gd name="G0" fmla="+- 9002 0 0"/>
                  <a:gd name="G1" fmla="+- 11702626 0 0"/>
                  <a:gd name="G2" fmla="+- 0 0 11702626"/>
                  <a:gd name="T0" fmla="*/ 0 256 1"/>
                  <a:gd name="T1" fmla="*/ 180 256 1"/>
                  <a:gd name="G3" fmla="+- 11702626 T0 T1"/>
                  <a:gd name="T2" fmla="*/ 0 256 1"/>
                  <a:gd name="T3" fmla="*/ 90 256 1"/>
                  <a:gd name="G4" fmla="+- 11702626 T2 T3"/>
                  <a:gd name="G5" fmla="*/ G4 2 1"/>
                  <a:gd name="T4" fmla="*/ 90 256 1"/>
                  <a:gd name="T5" fmla="*/ 0 256 1"/>
                  <a:gd name="G6" fmla="+- 11702626 T4 T5"/>
                  <a:gd name="G7" fmla="*/ G6 2 1"/>
                  <a:gd name="G8" fmla="abs 11702626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9002"/>
                  <a:gd name="G18" fmla="*/ 9002 1 2"/>
                  <a:gd name="G19" fmla="+- G18 5400 0"/>
                  <a:gd name="G20" fmla="cos G19 11702626"/>
                  <a:gd name="G21" fmla="sin G19 11702626"/>
                  <a:gd name="G22" fmla="+- G20 10800 0"/>
                  <a:gd name="G23" fmla="+- G21 10800 0"/>
                  <a:gd name="G24" fmla="+- 10800 0 G20"/>
                  <a:gd name="G25" fmla="+- 9002 10800 0"/>
                  <a:gd name="G26" fmla="?: G9 G17 G25"/>
                  <a:gd name="G27" fmla="?: G9 0 21600"/>
                  <a:gd name="G28" fmla="cos 10800 11702626"/>
                  <a:gd name="G29" fmla="sin 10800 11702626"/>
                  <a:gd name="G30" fmla="sin 9002 11702626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02626 G34 0"/>
                  <a:gd name="G36" fmla="?: G6 G35 G31"/>
                  <a:gd name="G37" fmla="+- 21600 0 G36"/>
                  <a:gd name="G38" fmla="?: G4 0 G33"/>
                  <a:gd name="G39" fmla="?: 11702626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902 w 21600"/>
                  <a:gd name="T15" fmla="*/ 11047 h 21600"/>
                  <a:gd name="T16" fmla="*/ 10800 w 21600"/>
                  <a:gd name="T17" fmla="*/ 1798 h 21600"/>
                  <a:gd name="T18" fmla="*/ 20698 w 21600"/>
                  <a:gd name="T19" fmla="*/ 11047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800" y="11024"/>
                    </a:moveTo>
                    <a:cubicBezTo>
                      <a:pt x="1798" y="10950"/>
                      <a:pt x="1798" y="10875"/>
                      <a:pt x="1798" y="10800"/>
                    </a:cubicBezTo>
                    <a:cubicBezTo>
                      <a:pt x="1798" y="5828"/>
                      <a:pt x="5828" y="1798"/>
                      <a:pt x="10800" y="1798"/>
                    </a:cubicBezTo>
                    <a:cubicBezTo>
                      <a:pt x="15771" y="1798"/>
                      <a:pt x="19802" y="5828"/>
                      <a:pt x="19802" y="10800"/>
                    </a:cubicBezTo>
                    <a:cubicBezTo>
                      <a:pt x="19801" y="10875"/>
                      <a:pt x="19801" y="10950"/>
                      <a:pt x="19799" y="11024"/>
                    </a:cubicBezTo>
                    <a:lnTo>
                      <a:pt x="21596" y="11069"/>
                    </a:lnTo>
                    <a:cubicBezTo>
                      <a:pt x="21598" y="10979"/>
                      <a:pt x="21600" y="10889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0889"/>
                      <a:pt x="1" y="10979"/>
                      <a:pt x="3" y="110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19692" name="Group 76"/>
            <p:cNvGrpSpPr/>
            <p:nvPr/>
          </p:nvGrpSpPr>
          <p:grpSpPr bwMode="auto">
            <a:xfrm rot="4638690">
              <a:off x="2873" y="2215"/>
              <a:ext cx="352" cy="241"/>
              <a:chOff x="4034" y="2080"/>
              <a:chExt cx="862" cy="452"/>
            </a:xfrm>
          </p:grpSpPr>
          <p:grpSp>
            <p:nvGrpSpPr>
              <p:cNvPr id="1519693" name="Group 77"/>
              <p:cNvGrpSpPr/>
              <p:nvPr/>
            </p:nvGrpSpPr>
            <p:grpSpPr bwMode="auto">
              <a:xfrm>
                <a:off x="4034" y="2080"/>
                <a:ext cx="326" cy="452"/>
                <a:chOff x="4034" y="2080"/>
                <a:chExt cx="326" cy="452"/>
              </a:xfrm>
            </p:grpSpPr>
            <p:sp>
              <p:nvSpPr>
                <p:cNvPr id="1519694" name="Oval 78"/>
                <p:cNvSpPr>
                  <a:spLocks noChangeArrowheads="1"/>
                </p:cNvSpPr>
                <p:nvPr/>
              </p:nvSpPr>
              <p:spPr bwMode="auto">
                <a:xfrm>
                  <a:off x="4034" y="2107"/>
                  <a:ext cx="326" cy="425"/>
                </a:xfrm>
                <a:prstGeom prst="ellipse">
                  <a:avLst/>
                </a:prstGeom>
                <a:solidFill>
                  <a:srgbClr val="606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95" name="Oval 79"/>
                <p:cNvSpPr>
                  <a:spLocks noChangeArrowheads="1"/>
                </p:cNvSpPr>
                <p:nvPr/>
              </p:nvSpPr>
              <p:spPr bwMode="auto">
                <a:xfrm>
                  <a:off x="4034" y="2080"/>
                  <a:ext cx="326" cy="424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696" name="Oval 80"/>
                <p:cNvSpPr>
                  <a:spLocks noChangeArrowheads="1"/>
                </p:cNvSpPr>
                <p:nvPr/>
              </p:nvSpPr>
              <p:spPr bwMode="auto">
                <a:xfrm>
                  <a:off x="4048" y="2098"/>
                  <a:ext cx="298" cy="404"/>
                </a:xfrm>
                <a:prstGeom prst="ellipse">
                  <a:avLst/>
                </a:prstGeom>
                <a:solidFill>
                  <a:srgbClr val="A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519697" name="Group 81"/>
                <p:cNvGrpSpPr/>
                <p:nvPr/>
              </p:nvGrpSpPr>
              <p:grpSpPr bwMode="auto">
                <a:xfrm>
                  <a:off x="4063" y="2243"/>
                  <a:ext cx="77" cy="118"/>
                  <a:chOff x="4063" y="2243"/>
                  <a:chExt cx="77" cy="118"/>
                </a:xfrm>
              </p:grpSpPr>
              <p:sp>
                <p:nvSpPr>
                  <p:cNvPr id="1519698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4063" y="2243"/>
                    <a:ext cx="77" cy="118"/>
                  </a:xfrm>
                  <a:prstGeom prst="ellipse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9699" name="Oval 83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2269"/>
                    <a:ext cx="61" cy="92"/>
                  </a:xfrm>
                  <a:prstGeom prst="ellipse">
                    <a:avLst/>
                  </a:pr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19700" name="Group 84"/>
              <p:cNvGrpSpPr/>
              <p:nvPr/>
            </p:nvGrpSpPr>
            <p:grpSpPr bwMode="auto">
              <a:xfrm>
                <a:off x="4334" y="2220"/>
                <a:ext cx="562" cy="172"/>
                <a:chOff x="4334" y="2220"/>
                <a:chExt cx="562" cy="172"/>
              </a:xfrm>
            </p:grpSpPr>
            <p:sp>
              <p:nvSpPr>
                <p:cNvPr id="1519701" name="Freeform 85"/>
                <p:cNvSpPr/>
                <p:nvPr/>
              </p:nvSpPr>
              <p:spPr bwMode="auto">
                <a:xfrm>
                  <a:off x="4334" y="2243"/>
                  <a:ext cx="562" cy="149"/>
                </a:xfrm>
                <a:custGeom>
                  <a:avLst/>
                  <a:gdLst>
                    <a:gd name="T0" fmla="*/ 0 w 1124"/>
                    <a:gd name="T1" fmla="*/ 0 h 297"/>
                    <a:gd name="T2" fmla="*/ 1124 w 1124"/>
                    <a:gd name="T3" fmla="*/ 99 h 297"/>
                    <a:gd name="T4" fmla="*/ 1124 w 1124"/>
                    <a:gd name="T5" fmla="*/ 149 h 297"/>
                    <a:gd name="T6" fmla="*/ 1050 w 1124"/>
                    <a:gd name="T7" fmla="*/ 297 h 297"/>
                    <a:gd name="T8" fmla="*/ 900 w 1124"/>
                    <a:gd name="T9" fmla="*/ 297 h 297"/>
                    <a:gd name="T10" fmla="*/ 900 w 1124"/>
                    <a:gd name="T11" fmla="*/ 224 h 297"/>
                    <a:gd name="T12" fmla="*/ 824 w 1124"/>
                    <a:gd name="T13" fmla="*/ 224 h 297"/>
                    <a:gd name="T14" fmla="*/ 824 w 1124"/>
                    <a:gd name="T15" fmla="*/ 297 h 297"/>
                    <a:gd name="T16" fmla="*/ 751 w 1124"/>
                    <a:gd name="T17" fmla="*/ 297 h 297"/>
                    <a:gd name="T18" fmla="*/ 751 w 1124"/>
                    <a:gd name="T19" fmla="*/ 224 h 297"/>
                    <a:gd name="T20" fmla="*/ 600 w 1124"/>
                    <a:gd name="T21" fmla="*/ 224 h 297"/>
                    <a:gd name="T22" fmla="*/ 600 w 1124"/>
                    <a:gd name="T23" fmla="*/ 297 h 297"/>
                    <a:gd name="T24" fmla="*/ 525 w 1124"/>
                    <a:gd name="T25" fmla="*/ 297 h 297"/>
                    <a:gd name="T26" fmla="*/ 450 w 1124"/>
                    <a:gd name="T27" fmla="*/ 224 h 297"/>
                    <a:gd name="T28" fmla="*/ 375 w 1124"/>
                    <a:gd name="T29" fmla="*/ 297 h 297"/>
                    <a:gd name="T30" fmla="*/ 299 w 1124"/>
                    <a:gd name="T31" fmla="*/ 224 h 297"/>
                    <a:gd name="T32" fmla="*/ 299 w 1124"/>
                    <a:gd name="T33" fmla="*/ 297 h 297"/>
                    <a:gd name="T34" fmla="*/ 224 w 1124"/>
                    <a:gd name="T35" fmla="*/ 297 h 297"/>
                    <a:gd name="T36" fmla="*/ 224 w 1124"/>
                    <a:gd name="T37" fmla="*/ 224 h 297"/>
                    <a:gd name="T38" fmla="*/ 150 w 1124"/>
                    <a:gd name="T39" fmla="*/ 224 h 297"/>
                    <a:gd name="T40" fmla="*/ 74 w 1124"/>
                    <a:gd name="T41" fmla="*/ 297 h 297"/>
                    <a:gd name="T42" fmla="*/ 0 w 1124"/>
                    <a:gd name="T43" fmla="*/ 297 h 297"/>
                    <a:gd name="T44" fmla="*/ 0 w 1124"/>
                    <a:gd name="T45" fmla="*/ 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124" h="297">
                      <a:moveTo>
                        <a:pt x="0" y="0"/>
                      </a:moveTo>
                      <a:lnTo>
                        <a:pt x="1124" y="99"/>
                      </a:lnTo>
                      <a:lnTo>
                        <a:pt x="1124" y="149"/>
                      </a:lnTo>
                      <a:lnTo>
                        <a:pt x="1050" y="297"/>
                      </a:lnTo>
                      <a:lnTo>
                        <a:pt x="900" y="297"/>
                      </a:lnTo>
                      <a:lnTo>
                        <a:pt x="900" y="224"/>
                      </a:lnTo>
                      <a:lnTo>
                        <a:pt x="824" y="224"/>
                      </a:lnTo>
                      <a:lnTo>
                        <a:pt x="824" y="297"/>
                      </a:lnTo>
                      <a:lnTo>
                        <a:pt x="751" y="297"/>
                      </a:lnTo>
                      <a:lnTo>
                        <a:pt x="751" y="224"/>
                      </a:lnTo>
                      <a:lnTo>
                        <a:pt x="600" y="224"/>
                      </a:lnTo>
                      <a:lnTo>
                        <a:pt x="600" y="297"/>
                      </a:lnTo>
                      <a:lnTo>
                        <a:pt x="525" y="297"/>
                      </a:lnTo>
                      <a:lnTo>
                        <a:pt x="450" y="224"/>
                      </a:lnTo>
                      <a:lnTo>
                        <a:pt x="375" y="297"/>
                      </a:lnTo>
                      <a:lnTo>
                        <a:pt x="299" y="224"/>
                      </a:lnTo>
                      <a:lnTo>
                        <a:pt x="299" y="297"/>
                      </a:lnTo>
                      <a:lnTo>
                        <a:pt x="224" y="297"/>
                      </a:lnTo>
                      <a:lnTo>
                        <a:pt x="224" y="224"/>
                      </a:lnTo>
                      <a:lnTo>
                        <a:pt x="150" y="224"/>
                      </a:lnTo>
                      <a:lnTo>
                        <a:pt x="74" y="297"/>
                      </a:lnTo>
                      <a:lnTo>
                        <a:pt x="0" y="29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02" name="Freeform 86"/>
                <p:cNvSpPr/>
                <p:nvPr/>
              </p:nvSpPr>
              <p:spPr bwMode="auto">
                <a:xfrm>
                  <a:off x="4334" y="2220"/>
                  <a:ext cx="562" cy="148"/>
                </a:xfrm>
                <a:custGeom>
                  <a:avLst/>
                  <a:gdLst>
                    <a:gd name="T0" fmla="*/ 0 w 1124"/>
                    <a:gd name="T1" fmla="*/ 0 h 296"/>
                    <a:gd name="T2" fmla="*/ 1050 w 1124"/>
                    <a:gd name="T3" fmla="*/ 0 h 296"/>
                    <a:gd name="T4" fmla="*/ 1124 w 1124"/>
                    <a:gd name="T5" fmla="*/ 147 h 296"/>
                    <a:gd name="T6" fmla="*/ 1050 w 1124"/>
                    <a:gd name="T7" fmla="*/ 296 h 296"/>
                    <a:gd name="T8" fmla="*/ 900 w 1124"/>
                    <a:gd name="T9" fmla="*/ 296 h 296"/>
                    <a:gd name="T10" fmla="*/ 900 w 1124"/>
                    <a:gd name="T11" fmla="*/ 222 h 296"/>
                    <a:gd name="T12" fmla="*/ 824 w 1124"/>
                    <a:gd name="T13" fmla="*/ 222 h 296"/>
                    <a:gd name="T14" fmla="*/ 824 w 1124"/>
                    <a:gd name="T15" fmla="*/ 296 h 296"/>
                    <a:gd name="T16" fmla="*/ 751 w 1124"/>
                    <a:gd name="T17" fmla="*/ 296 h 296"/>
                    <a:gd name="T18" fmla="*/ 751 w 1124"/>
                    <a:gd name="T19" fmla="*/ 222 h 296"/>
                    <a:gd name="T20" fmla="*/ 600 w 1124"/>
                    <a:gd name="T21" fmla="*/ 222 h 296"/>
                    <a:gd name="T22" fmla="*/ 600 w 1124"/>
                    <a:gd name="T23" fmla="*/ 296 h 296"/>
                    <a:gd name="T24" fmla="*/ 525 w 1124"/>
                    <a:gd name="T25" fmla="*/ 296 h 296"/>
                    <a:gd name="T26" fmla="*/ 450 w 1124"/>
                    <a:gd name="T27" fmla="*/ 222 h 296"/>
                    <a:gd name="T28" fmla="*/ 375 w 1124"/>
                    <a:gd name="T29" fmla="*/ 296 h 296"/>
                    <a:gd name="T30" fmla="*/ 299 w 1124"/>
                    <a:gd name="T31" fmla="*/ 222 h 296"/>
                    <a:gd name="T32" fmla="*/ 299 w 1124"/>
                    <a:gd name="T33" fmla="*/ 296 h 296"/>
                    <a:gd name="T34" fmla="*/ 224 w 1124"/>
                    <a:gd name="T35" fmla="*/ 296 h 296"/>
                    <a:gd name="T36" fmla="*/ 224 w 1124"/>
                    <a:gd name="T37" fmla="*/ 222 h 296"/>
                    <a:gd name="T38" fmla="*/ 150 w 1124"/>
                    <a:gd name="T39" fmla="*/ 222 h 296"/>
                    <a:gd name="T40" fmla="*/ 74 w 1124"/>
                    <a:gd name="T41" fmla="*/ 296 h 296"/>
                    <a:gd name="T42" fmla="*/ 0 w 1124"/>
                    <a:gd name="T43" fmla="*/ 296 h 296"/>
                    <a:gd name="T44" fmla="*/ 0 w 1124"/>
                    <a:gd name="T45" fmla="*/ 0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124" h="296">
                      <a:moveTo>
                        <a:pt x="0" y="0"/>
                      </a:moveTo>
                      <a:lnTo>
                        <a:pt x="1050" y="0"/>
                      </a:lnTo>
                      <a:lnTo>
                        <a:pt x="1124" y="147"/>
                      </a:lnTo>
                      <a:lnTo>
                        <a:pt x="1050" y="296"/>
                      </a:lnTo>
                      <a:lnTo>
                        <a:pt x="900" y="296"/>
                      </a:lnTo>
                      <a:lnTo>
                        <a:pt x="900" y="222"/>
                      </a:lnTo>
                      <a:lnTo>
                        <a:pt x="824" y="222"/>
                      </a:lnTo>
                      <a:lnTo>
                        <a:pt x="824" y="296"/>
                      </a:lnTo>
                      <a:lnTo>
                        <a:pt x="751" y="296"/>
                      </a:lnTo>
                      <a:lnTo>
                        <a:pt x="751" y="222"/>
                      </a:lnTo>
                      <a:lnTo>
                        <a:pt x="600" y="222"/>
                      </a:lnTo>
                      <a:lnTo>
                        <a:pt x="600" y="296"/>
                      </a:lnTo>
                      <a:lnTo>
                        <a:pt x="525" y="296"/>
                      </a:lnTo>
                      <a:lnTo>
                        <a:pt x="450" y="222"/>
                      </a:lnTo>
                      <a:lnTo>
                        <a:pt x="375" y="296"/>
                      </a:lnTo>
                      <a:lnTo>
                        <a:pt x="299" y="222"/>
                      </a:lnTo>
                      <a:lnTo>
                        <a:pt x="299" y="296"/>
                      </a:lnTo>
                      <a:lnTo>
                        <a:pt x="224" y="296"/>
                      </a:lnTo>
                      <a:lnTo>
                        <a:pt x="224" y="222"/>
                      </a:lnTo>
                      <a:lnTo>
                        <a:pt x="150" y="222"/>
                      </a:lnTo>
                      <a:lnTo>
                        <a:pt x="74" y="296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03" name="Freeform 87"/>
                <p:cNvSpPr/>
                <p:nvPr/>
              </p:nvSpPr>
              <p:spPr bwMode="auto">
                <a:xfrm>
                  <a:off x="4382" y="2256"/>
                  <a:ext cx="514" cy="38"/>
                </a:xfrm>
                <a:custGeom>
                  <a:avLst/>
                  <a:gdLst>
                    <a:gd name="T0" fmla="*/ 0 w 1029"/>
                    <a:gd name="T1" fmla="*/ 0 h 75"/>
                    <a:gd name="T2" fmla="*/ 994 w 1029"/>
                    <a:gd name="T3" fmla="*/ 0 h 75"/>
                    <a:gd name="T4" fmla="*/ 1029 w 1029"/>
                    <a:gd name="T5" fmla="*/ 75 h 75"/>
                    <a:gd name="T6" fmla="*/ 0 w 1029"/>
                    <a:gd name="T7" fmla="*/ 75 h 75"/>
                    <a:gd name="T8" fmla="*/ 0 w 1029"/>
                    <a:gd name="T9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29" h="75">
                      <a:moveTo>
                        <a:pt x="0" y="0"/>
                      </a:moveTo>
                      <a:lnTo>
                        <a:pt x="994" y="0"/>
                      </a:lnTo>
                      <a:lnTo>
                        <a:pt x="1029" y="75"/>
                      </a:lnTo>
                      <a:lnTo>
                        <a:pt x="0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04" name="Rectangle 88"/>
                <p:cNvSpPr>
                  <a:spLocks noChangeArrowheads="1"/>
                </p:cNvSpPr>
                <p:nvPr/>
              </p:nvSpPr>
              <p:spPr bwMode="auto">
                <a:xfrm>
                  <a:off x="4390" y="2319"/>
                  <a:ext cx="486" cy="6"/>
                </a:xfrm>
                <a:prstGeom prst="rect">
                  <a:avLst/>
                </a:pr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05" name="Rectangle 89"/>
                <p:cNvSpPr>
                  <a:spLocks noChangeArrowheads="1"/>
                </p:cNvSpPr>
                <p:nvPr/>
              </p:nvSpPr>
              <p:spPr bwMode="auto">
                <a:xfrm>
                  <a:off x="4373" y="2227"/>
                  <a:ext cx="486" cy="6"/>
                </a:xfrm>
                <a:prstGeom prst="rect">
                  <a:avLst/>
                </a:pr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19706" name="Group 90"/>
            <p:cNvGrpSpPr/>
            <p:nvPr/>
          </p:nvGrpSpPr>
          <p:grpSpPr bwMode="auto">
            <a:xfrm rot="4638690">
              <a:off x="3065" y="3463"/>
              <a:ext cx="352" cy="241"/>
              <a:chOff x="4034" y="2080"/>
              <a:chExt cx="862" cy="452"/>
            </a:xfrm>
          </p:grpSpPr>
          <p:grpSp>
            <p:nvGrpSpPr>
              <p:cNvPr id="1519707" name="Group 91"/>
              <p:cNvGrpSpPr/>
              <p:nvPr/>
            </p:nvGrpSpPr>
            <p:grpSpPr bwMode="auto">
              <a:xfrm>
                <a:off x="4034" y="2080"/>
                <a:ext cx="326" cy="452"/>
                <a:chOff x="4034" y="2080"/>
                <a:chExt cx="326" cy="452"/>
              </a:xfrm>
            </p:grpSpPr>
            <p:sp>
              <p:nvSpPr>
                <p:cNvPr id="1519708" name="Oval 92"/>
                <p:cNvSpPr>
                  <a:spLocks noChangeArrowheads="1"/>
                </p:cNvSpPr>
                <p:nvPr/>
              </p:nvSpPr>
              <p:spPr bwMode="auto">
                <a:xfrm>
                  <a:off x="4034" y="2107"/>
                  <a:ext cx="326" cy="425"/>
                </a:xfrm>
                <a:prstGeom prst="ellipse">
                  <a:avLst/>
                </a:prstGeom>
                <a:solidFill>
                  <a:srgbClr val="606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09" name="Oval 93"/>
                <p:cNvSpPr>
                  <a:spLocks noChangeArrowheads="1"/>
                </p:cNvSpPr>
                <p:nvPr/>
              </p:nvSpPr>
              <p:spPr bwMode="auto">
                <a:xfrm>
                  <a:off x="4034" y="2080"/>
                  <a:ext cx="326" cy="424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10" name="Oval 94"/>
                <p:cNvSpPr>
                  <a:spLocks noChangeArrowheads="1"/>
                </p:cNvSpPr>
                <p:nvPr/>
              </p:nvSpPr>
              <p:spPr bwMode="auto">
                <a:xfrm>
                  <a:off x="4048" y="2098"/>
                  <a:ext cx="298" cy="404"/>
                </a:xfrm>
                <a:prstGeom prst="ellipse">
                  <a:avLst/>
                </a:prstGeom>
                <a:solidFill>
                  <a:srgbClr val="A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519711" name="Group 95"/>
                <p:cNvGrpSpPr/>
                <p:nvPr/>
              </p:nvGrpSpPr>
              <p:grpSpPr bwMode="auto">
                <a:xfrm>
                  <a:off x="4063" y="2243"/>
                  <a:ext cx="77" cy="118"/>
                  <a:chOff x="4063" y="2243"/>
                  <a:chExt cx="77" cy="118"/>
                </a:xfrm>
              </p:grpSpPr>
              <p:sp>
                <p:nvSpPr>
                  <p:cNvPr id="1519712" name="Oval 96"/>
                  <p:cNvSpPr>
                    <a:spLocks noChangeArrowheads="1"/>
                  </p:cNvSpPr>
                  <p:nvPr/>
                </p:nvSpPr>
                <p:spPr bwMode="auto">
                  <a:xfrm>
                    <a:off x="4063" y="2243"/>
                    <a:ext cx="77" cy="118"/>
                  </a:xfrm>
                  <a:prstGeom prst="ellipse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9713" name="Oval 97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2269"/>
                    <a:ext cx="61" cy="92"/>
                  </a:xfrm>
                  <a:prstGeom prst="ellipse">
                    <a:avLst/>
                  </a:pr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19714" name="Group 98"/>
              <p:cNvGrpSpPr/>
              <p:nvPr/>
            </p:nvGrpSpPr>
            <p:grpSpPr bwMode="auto">
              <a:xfrm>
                <a:off x="4334" y="2220"/>
                <a:ext cx="562" cy="172"/>
                <a:chOff x="4334" y="2220"/>
                <a:chExt cx="562" cy="172"/>
              </a:xfrm>
            </p:grpSpPr>
            <p:sp>
              <p:nvSpPr>
                <p:cNvPr id="1519715" name="Freeform 99"/>
                <p:cNvSpPr/>
                <p:nvPr/>
              </p:nvSpPr>
              <p:spPr bwMode="auto">
                <a:xfrm>
                  <a:off x="4334" y="2243"/>
                  <a:ext cx="562" cy="149"/>
                </a:xfrm>
                <a:custGeom>
                  <a:avLst/>
                  <a:gdLst>
                    <a:gd name="T0" fmla="*/ 0 w 1124"/>
                    <a:gd name="T1" fmla="*/ 0 h 297"/>
                    <a:gd name="T2" fmla="*/ 1124 w 1124"/>
                    <a:gd name="T3" fmla="*/ 99 h 297"/>
                    <a:gd name="T4" fmla="*/ 1124 w 1124"/>
                    <a:gd name="T5" fmla="*/ 149 h 297"/>
                    <a:gd name="T6" fmla="*/ 1050 w 1124"/>
                    <a:gd name="T7" fmla="*/ 297 h 297"/>
                    <a:gd name="T8" fmla="*/ 900 w 1124"/>
                    <a:gd name="T9" fmla="*/ 297 h 297"/>
                    <a:gd name="T10" fmla="*/ 900 w 1124"/>
                    <a:gd name="T11" fmla="*/ 224 h 297"/>
                    <a:gd name="T12" fmla="*/ 824 w 1124"/>
                    <a:gd name="T13" fmla="*/ 224 h 297"/>
                    <a:gd name="T14" fmla="*/ 824 w 1124"/>
                    <a:gd name="T15" fmla="*/ 297 h 297"/>
                    <a:gd name="T16" fmla="*/ 751 w 1124"/>
                    <a:gd name="T17" fmla="*/ 297 h 297"/>
                    <a:gd name="T18" fmla="*/ 751 w 1124"/>
                    <a:gd name="T19" fmla="*/ 224 h 297"/>
                    <a:gd name="T20" fmla="*/ 600 w 1124"/>
                    <a:gd name="T21" fmla="*/ 224 h 297"/>
                    <a:gd name="T22" fmla="*/ 600 w 1124"/>
                    <a:gd name="T23" fmla="*/ 297 h 297"/>
                    <a:gd name="T24" fmla="*/ 525 w 1124"/>
                    <a:gd name="T25" fmla="*/ 297 h 297"/>
                    <a:gd name="T26" fmla="*/ 450 w 1124"/>
                    <a:gd name="T27" fmla="*/ 224 h 297"/>
                    <a:gd name="T28" fmla="*/ 375 w 1124"/>
                    <a:gd name="T29" fmla="*/ 297 h 297"/>
                    <a:gd name="T30" fmla="*/ 299 w 1124"/>
                    <a:gd name="T31" fmla="*/ 224 h 297"/>
                    <a:gd name="T32" fmla="*/ 299 w 1124"/>
                    <a:gd name="T33" fmla="*/ 297 h 297"/>
                    <a:gd name="T34" fmla="*/ 224 w 1124"/>
                    <a:gd name="T35" fmla="*/ 297 h 297"/>
                    <a:gd name="T36" fmla="*/ 224 w 1124"/>
                    <a:gd name="T37" fmla="*/ 224 h 297"/>
                    <a:gd name="T38" fmla="*/ 150 w 1124"/>
                    <a:gd name="T39" fmla="*/ 224 h 297"/>
                    <a:gd name="T40" fmla="*/ 74 w 1124"/>
                    <a:gd name="T41" fmla="*/ 297 h 297"/>
                    <a:gd name="T42" fmla="*/ 0 w 1124"/>
                    <a:gd name="T43" fmla="*/ 297 h 297"/>
                    <a:gd name="T44" fmla="*/ 0 w 1124"/>
                    <a:gd name="T45" fmla="*/ 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124" h="297">
                      <a:moveTo>
                        <a:pt x="0" y="0"/>
                      </a:moveTo>
                      <a:lnTo>
                        <a:pt x="1124" y="99"/>
                      </a:lnTo>
                      <a:lnTo>
                        <a:pt x="1124" y="149"/>
                      </a:lnTo>
                      <a:lnTo>
                        <a:pt x="1050" y="297"/>
                      </a:lnTo>
                      <a:lnTo>
                        <a:pt x="900" y="297"/>
                      </a:lnTo>
                      <a:lnTo>
                        <a:pt x="900" y="224"/>
                      </a:lnTo>
                      <a:lnTo>
                        <a:pt x="824" y="224"/>
                      </a:lnTo>
                      <a:lnTo>
                        <a:pt x="824" y="297"/>
                      </a:lnTo>
                      <a:lnTo>
                        <a:pt x="751" y="297"/>
                      </a:lnTo>
                      <a:lnTo>
                        <a:pt x="751" y="224"/>
                      </a:lnTo>
                      <a:lnTo>
                        <a:pt x="600" y="224"/>
                      </a:lnTo>
                      <a:lnTo>
                        <a:pt x="600" y="297"/>
                      </a:lnTo>
                      <a:lnTo>
                        <a:pt x="525" y="297"/>
                      </a:lnTo>
                      <a:lnTo>
                        <a:pt x="450" y="224"/>
                      </a:lnTo>
                      <a:lnTo>
                        <a:pt x="375" y="297"/>
                      </a:lnTo>
                      <a:lnTo>
                        <a:pt x="299" y="224"/>
                      </a:lnTo>
                      <a:lnTo>
                        <a:pt x="299" y="297"/>
                      </a:lnTo>
                      <a:lnTo>
                        <a:pt x="224" y="297"/>
                      </a:lnTo>
                      <a:lnTo>
                        <a:pt x="224" y="224"/>
                      </a:lnTo>
                      <a:lnTo>
                        <a:pt x="150" y="224"/>
                      </a:lnTo>
                      <a:lnTo>
                        <a:pt x="74" y="297"/>
                      </a:lnTo>
                      <a:lnTo>
                        <a:pt x="0" y="29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16" name="Freeform 100"/>
                <p:cNvSpPr/>
                <p:nvPr/>
              </p:nvSpPr>
              <p:spPr bwMode="auto">
                <a:xfrm>
                  <a:off x="4334" y="2220"/>
                  <a:ext cx="562" cy="148"/>
                </a:xfrm>
                <a:custGeom>
                  <a:avLst/>
                  <a:gdLst>
                    <a:gd name="T0" fmla="*/ 0 w 1124"/>
                    <a:gd name="T1" fmla="*/ 0 h 296"/>
                    <a:gd name="T2" fmla="*/ 1050 w 1124"/>
                    <a:gd name="T3" fmla="*/ 0 h 296"/>
                    <a:gd name="T4" fmla="*/ 1124 w 1124"/>
                    <a:gd name="T5" fmla="*/ 147 h 296"/>
                    <a:gd name="T6" fmla="*/ 1050 w 1124"/>
                    <a:gd name="T7" fmla="*/ 296 h 296"/>
                    <a:gd name="T8" fmla="*/ 900 w 1124"/>
                    <a:gd name="T9" fmla="*/ 296 h 296"/>
                    <a:gd name="T10" fmla="*/ 900 w 1124"/>
                    <a:gd name="T11" fmla="*/ 222 h 296"/>
                    <a:gd name="T12" fmla="*/ 824 w 1124"/>
                    <a:gd name="T13" fmla="*/ 222 h 296"/>
                    <a:gd name="T14" fmla="*/ 824 w 1124"/>
                    <a:gd name="T15" fmla="*/ 296 h 296"/>
                    <a:gd name="T16" fmla="*/ 751 w 1124"/>
                    <a:gd name="T17" fmla="*/ 296 h 296"/>
                    <a:gd name="T18" fmla="*/ 751 w 1124"/>
                    <a:gd name="T19" fmla="*/ 222 h 296"/>
                    <a:gd name="T20" fmla="*/ 600 w 1124"/>
                    <a:gd name="T21" fmla="*/ 222 h 296"/>
                    <a:gd name="T22" fmla="*/ 600 w 1124"/>
                    <a:gd name="T23" fmla="*/ 296 h 296"/>
                    <a:gd name="T24" fmla="*/ 525 w 1124"/>
                    <a:gd name="T25" fmla="*/ 296 h 296"/>
                    <a:gd name="T26" fmla="*/ 450 w 1124"/>
                    <a:gd name="T27" fmla="*/ 222 h 296"/>
                    <a:gd name="T28" fmla="*/ 375 w 1124"/>
                    <a:gd name="T29" fmla="*/ 296 h 296"/>
                    <a:gd name="T30" fmla="*/ 299 w 1124"/>
                    <a:gd name="T31" fmla="*/ 222 h 296"/>
                    <a:gd name="T32" fmla="*/ 299 w 1124"/>
                    <a:gd name="T33" fmla="*/ 296 h 296"/>
                    <a:gd name="T34" fmla="*/ 224 w 1124"/>
                    <a:gd name="T35" fmla="*/ 296 h 296"/>
                    <a:gd name="T36" fmla="*/ 224 w 1124"/>
                    <a:gd name="T37" fmla="*/ 222 h 296"/>
                    <a:gd name="T38" fmla="*/ 150 w 1124"/>
                    <a:gd name="T39" fmla="*/ 222 h 296"/>
                    <a:gd name="T40" fmla="*/ 74 w 1124"/>
                    <a:gd name="T41" fmla="*/ 296 h 296"/>
                    <a:gd name="T42" fmla="*/ 0 w 1124"/>
                    <a:gd name="T43" fmla="*/ 296 h 296"/>
                    <a:gd name="T44" fmla="*/ 0 w 1124"/>
                    <a:gd name="T45" fmla="*/ 0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124" h="296">
                      <a:moveTo>
                        <a:pt x="0" y="0"/>
                      </a:moveTo>
                      <a:lnTo>
                        <a:pt x="1050" y="0"/>
                      </a:lnTo>
                      <a:lnTo>
                        <a:pt x="1124" y="147"/>
                      </a:lnTo>
                      <a:lnTo>
                        <a:pt x="1050" y="296"/>
                      </a:lnTo>
                      <a:lnTo>
                        <a:pt x="900" y="296"/>
                      </a:lnTo>
                      <a:lnTo>
                        <a:pt x="900" y="222"/>
                      </a:lnTo>
                      <a:lnTo>
                        <a:pt x="824" y="222"/>
                      </a:lnTo>
                      <a:lnTo>
                        <a:pt x="824" y="296"/>
                      </a:lnTo>
                      <a:lnTo>
                        <a:pt x="751" y="296"/>
                      </a:lnTo>
                      <a:lnTo>
                        <a:pt x="751" y="222"/>
                      </a:lnTo>
                      <a:lnTo>
                        <a:pt x="600" y="222"/>
                      </a:lnTo>
                      <a:lnTo>
                        <a:pt x="600" y="296"/>
                      </a:lnTo>
                      <a:lnTo>
                        <a:pt x="525" y="296"/>
                      </a:lnTo>
                      <a:lnTo>
                        <a:pt x="450" y="222"/>
                      </a:lnTo>
                      <a:lnTo>
                        <a:pt x="375" y="296"/>
                      </a:lnTo>
                      <a:lnTo>
                        <a:pt x="299" y="222"/>
                      </a:lnTo>
                      <a:lnTo>
                        <a:pt x="299" y="296"/>
                      </a:lnTo>
                      <a:lnTo>
                        <a:pt x="224" y="296"/>
                      </a:lnTo>
                      <a:lnTo>
                        <a:pt x="224" y="222"/>
                      </a:lnTo>
                      <a:lnTo>
                        <a:pt x="150" y="222"/>
                      </a:lnTo>
                      <a:lnTo>
                        <a:pt x="74" y="296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17" name="Freeform 101"/>
                <p:cNvSpPr/>
                <p:nvPr/>
              </p:nvSpPr>
              <p:spPr bwMode="auto">
                <a:xfrm>
                  <a:off x="4382" y="2256"/>
                  <a:ext cx="514" cy="38"/>
                </a:xfrm>
                <a:custGeom>
                  <a:avLst/>
                  <a:gdLst>
                    <a:gd name="T0" fmla="*/ 0 w 1029"/>
                    <a:gd name="T1" fmla="*/ 0 h 75"/>
                    <a:gd name="T2" fmla="*/ 994 w 1029"/>
                    <a:gd name="T3" fmla="*/ 0 h 75"/>
                    <a:gd name="T4" fmla="*/ 1029 w 1029"/>
                    <a:gd name="T5" fmla="*/ 75 h 75"/>
                    <a:gd name="T6" fmla="*/ 0 w 1029"/>
                    <a:gd name="T7" fmla="*/ 75 h 75"/>
                    <a:gd name="T8" fmla="*/ 0 w 1029"/>
                    <a:gd name="T9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29" h="75">
                      <a:moveTo>
                        <a:pt x="0" y="0"/>
                      </a:moveTo>
                      <a:lnTo>
                        <a:pt x="994" y="0"/>
                      </a:lnTo>
                      <a:lnTo>
                        <a:pt x="1029" y="75"/>
                      </a:lnTo>
                      <a:lnTo>
                        <a:pt x="0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18" name="Rectangle 102"/>
                <p:cNvSpPr>
                  <a:spLocks noChangeArrowheads="1"/>
                </p:cNvSpPr>
                <p:nvPr/>
              </p:nvSpPr>
              <p:spPr bwMode="auto">
                <a:xfrm>
                  <a:off x="4390" y="2319"/>
                  <a:ext cx="486" cy="6"/>
                </a:xfrm>
                <a:prstGeom prst="rect">
                  <a:avLst/>
                </a:pr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719" name="Rectangle 103"/>
                <p:cNvSpPr>
                  <a:spLocks noChangeArrowheads="1"/>
                </p:cNvSpPr>
                <p:nvPr/>
              </p:nvSpPr>
              <p:spPr bwMode="auto">
                <a:xfrm>
                  <a:off x="4373" y="2227"/>
                  <a:ext cx="486" cy="6"/>
                </a:xfrm>
                <a:prstGeom prst="rect">
                  <a:avLst/>
                </a:prstGeom>
                <a:solidFill>
                  <a:srgbClr val="8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519720" name="Text Box 104"/>
          <p:cNvSpPr txBox="1">
            <a:spLocks noChangeArrowheads="1"/>
          </p:cNvSpPr>
          <p:nvPr/>
        </p:nvSpPr>
        <p:spPr bwMode="auto">
          <a:xfrm>
            <a:off x="10022860" y="4066062"/>
            <a:ext cx="16985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华文宋体" panose="02010600040101010101" pitchFamily="2" charset="-122"/>
                <a:ea typeface="华文宋体" panose="02010600040101010101" pitchFamily="2" charset="-122"/>
              </a:rPr>
              <a:t>“</a:t>
            </a:r>
            <a:r>
              <a:rPr lang="zh-CN" altLang="en-US" sz="1400" dirty="0">
                <a:ea typeface="华文宋体" panose="02010600040101010101" pitchFamily="2" charset="-122"/>
              </a:rPr>
              <a:t>与</a:t>
            </a:r>
            <a:r>
              <a:rPr lang="zh-CN" altLang="en-US" sz="1400" dirty="0">
                <a:latin typeface="华文宋体" panose="02010600040101010101" pitchFamily="2" charset="-122"/>
                <a:ea typeface="华文宋体" panose="02010600040101010101" pitchFamily="2" charset="-122"/>
              </a:rPr>
              <a:t>”</a:t>
            </a:r>
            <a:r>
              <a:rPr lang="zh-CN" altLang="en-US" sz="1400" dirty="0">
                <a:ea typeface="华文宋体" panose="02010600040101010101" pitchFamily="2" charset="-122"/>
              </a:rPr>
              <a:t>运算：两把钥匙都有才能开门</a:t>
            </a:r>
          </a:p>
        </p:txBody>
      </p:sp>
      <p:sp>
        <p:nvSpPr>
          <p:cNvPr id="1519721" name="Text Box 105"/>
          <p:cNvSpPr txBox="1">
            <a:spLocks noChangeArrowheads="1"/>
          </p:cNvSpPr>
          <p:nvPr/>
        </p:nvSpPr>
        <p:spPr bwMode="auto">
          <a:xfrm>
            <a:off x="9830654" y="5531239"/>
            <a:ext cx="19914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华文宋体" panose="02010600040101010101" pitchFamily="2" charset="-122"/>
                <a:ea typeface="华文宋体" panose="02010600040101010101" pitchFamily="2" charset="-122"/>
              </a:rPr>
              <a:t>“</a:t>
            </a:r>
            <a:r>
              <a:rPr lang="zh-CN" altLang="en-US" sz="1400" dirty="0">
                <a:ea typeface="华文宋体" panose="02010600040101010101" pitchFamily="2" charset="-122"/>
              </a:rPr>
              <a:t>或</a:t>
            </a:r>
            <a:r>
              <a:rPr lang="zh-CN" altLang="en-US" sz="1400" dirty="0">
                <a:latin typeface="华文宋体" panose="02010600040101010101" pitchFamily="2" charset="-122"/>
                <a:ea typeface="华文宋体" panose="02010600040101010101" pitchFamily="2" charset="-122"/>
              </a:rPr>
              <a:t>”</a:t>
            </a:r>
            <a:r>
              <a:rPr lang="zh-CN" altLang="en-US" sz="1400" dirty="0">
                <a:ea typeface="华文宋体" panose="02010600040101010101" pitchFamily="2" charset="-122"/>
              </a:rPr>
              <a:t>运算：只要有任何一把钥匙便能开门</a:t>
            </a:r>
          </a:p>
        </p:txBody>
      </p:sp>
      <p:sp>
        <p:nvSpPr>
          <p:cNvPr id="1519728" name="Rectangle 112"/>
          <p:cNvSpPr>
            <a:spLocks noChangeArrowheads="1"/>
          </p:cNvSpPr>
          <p:nvPr/>
        </p:nvSpPr>
        <p:spPr bwMode="auto">
          <a:xfrm>
            <a:off x="2482117" y="5061048"/>
            <a:ext cx="3562350" cy="1255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3333CC"/>
                </a:solidFill>
              </a:rPr>
              <a:t>F= X AND Y </a:t>
            </a:r>
            <a:r>
              <a:rPr lang="en-US" altLang="zh-CN" dirty="0" err="1">
                <a:solidFill>
                  <a:srgbClr val="3333CC"/>
                </a:solidFill>
              </a:rPr>
              <a:t>0R</a:t>
            </a:r>
            <a:r>
              <a:rPr lang="en-US" altLang="zh-CN" dirty="0">
                <a:solidFill>
                  <a:srgbClr val="3333CC"/>
                </a:solidFill>
              </a:rPr>
              <a:t>  (Z AND (NOT Y))</a:t>
            </a:r>
            <a:endParaRPr lang="zh-CN" altLang="en-US" dirty="0">
              <a:solidFill>
                <a:srgbClr val="3333CC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3333CC"/>
                </a:solidFill>
              </a:rPr>
              <a:t>E= (NOT X) AND  ((Y AND (NOT Z))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3333CC"/>
                </a:solidFill>
              </a:rPr>
              <a:t>P =  (NOT X) AND (NOT Y)</a:t>
            </a:r>
            <a:endParaRPr lang="zh-CN" altLang="en-US" dirty="0">
              <a:solidFill>
                <a:srgbClr val="3333CC"/>
              </a:solidFill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基本逻辑运算</a:t>
            </a:r>
          </a:p>
        </p:txBody>
      </p:sp>
      <p:sp>
        <p:nvSpPr>
          <p:cNvPr id="110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的计算：基本逻辑运算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9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9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19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9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19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19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19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19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9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1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19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19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19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19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19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19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19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19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19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19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9720" grpId="0"/>
      <p:bldP spid="15197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666" name="Text Box 2"/>
          <p:cNvSpPr txBox="1">
            <a:spLocks noChangeArrowheads="1"/>
          </p:cNvSpPr>
          <p:nvPr/>
        </p:nvSpPr>
        <p:spPr bwMode="auto">
          <a:xfrm>
            <a:off x="748817" y="2147043"/>
            <a:ext cx="340756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0066FF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用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  <a:r>
              <a:rPr lang="zh-CN" altLang="en-US" sz="2400" dirty="0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和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来表示逻辑运算</a:t>
            </a:r>
          </a:p>
          <a:p>
            <a:pPr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Char char="n"/>
            </a:pPr>
            <a:endParaRPr lang="zh-CN" altLang="en-US" dirty="0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pPr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【AND】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：</a:t>
            </a:r>
            <a:r>
              <a:rPr lang="zh-CN" altLang="en-US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“与”运算</a:t>
            </a:r>
          </a:p>
          <a:p>
            <a:pPr lvl="1"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有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为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 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，全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为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  <a:p>
            <a:pPr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【OR】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：</a:t>
            </a:r>
            <a:r>
              <a:rPr lang="zh-CN" altLang="en-US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“或”运算</a:t>
            </a:r>
          </a:p>
          <a:p>
            <a:pPr lvl="1"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有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为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，全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为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  <a:p>
            <a:pPr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【NOT】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：</a:t>
            </a:r>
            <a:r>
              <a:rPr lang="zh-CN" altLang="en-US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“非”运算</a:t>
            </a:r>
          </a:p>
          <a:p>
            <a:pPr lvl="1"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非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则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，非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则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</a:p>
          <a:p>
            <a:pPr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 【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XOR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】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“</a:t>
            </a:r>
            <a:r>
              <a:rPr lang="zh-CN" altLang="en-US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异或”运算</a:t>
            </a:r>
          </a:p>
          <a:p>
            <a:pPr lvl="1">
              <a:lnSpc>
                <a:spcPct val="130000"/>
              </a:lnSpc>
              <a:buClr>
                <a:srgbClr val="FF505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相同为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  <a:r>
              <a:rPr lang="zh-CN" altLang="en-US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，不同为</a:t>
            </a:r>
            <a:r>
              <a:rPr lang="en-US" altLang="zh-CN" sz="2000" dirty="0">
                <a:solidFill>
                  <a:srgbClr val="3333CC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</a:p>
        </p:txBody>
      </p:sp>
      <p:sp>
        <p:nvSpPr>
          <p:cNvPr id="1521667" name="Text Box 3"/>
          <p:cNvSpPr txBox="1">
            <a:spLocks noChangeArrowheads="1"/>
          </p:cNvSpPr>
          <p:nvPr/>
        </p:nvSpPr>
        <p:spPr bwMode="auto">
          <a:xfrm>
            <a:off x="6792358" y="2073277"/>
            <a:ext cx="25442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注</a:t>
            </a:r>
            <a:r>
              <a:rPr lang="en-US" altLang="zh-CN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: 1</a:t>
            </a:r>
            <a:r>
              <a:rPr lang="zh-CN" altLang="en-US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表示 </a:t>
            </a:r>
            <a:r>
              <a:rPr lang="zh-CN" altLang="en-US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真</a:t>
            </a:r>
            <a:r>
              <a:rPr lang="zh-CN" altLang="en-US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，</a:t>
            </a:r>
            <a:r>
              <a:rPr lang="en-US" altLang="zh-CN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0</a:t>
            </a:r>
            <a:r>
              <a:rPr lang="zh-CN" altLang="en-US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表示</a:t>
            </a:r>
            <a:r>
              <a:rPr lang="en-US" altLang="zh-CN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假</a:t>
            </a:r>
            <a:endParaRPr lang="en-US" altLang="zh-CN" b="1" dirty="0">
              <a:solidFill>
                <a:srgbClr val="0000FF"/>
              </a:solidFill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grpSp>
        <p:nvGrpSpPr>
          <p:cNvPr id="1521668" name="Group 4"/>
          <p:cNvGrpSpPr/>
          <p:nvPr/>
        </p:nvGrpSpPr>
        <p:grpSpPr bwMode="auto">
          <a:xfrm>
            <a:off x="4680857" y="2655598"/>
            <a:ext cx="5799138" cy="974725"/>
            <a:chOff x="2023" y="1687"/>
            <a:chExt cx="3653" cy="614"/>
          </a:xfrm>
        </p:grpSpPr>
        <p:grpSp>
          <p:nvGrpSpPr>
            <p:cNvPr id="1521669" name="Group 5"/>
            <p:cNvGrpSpPr/>
            <p:nvPr/>
          </p:nvGrpSpPr>
          <p:grpSpPr bwMode="auto">
            <a:xfrm>
              <a:off x="2023" y="1719"/>
              <a:ext cx="836" cy="582"/>
              <a:chOff x="2023" y="1719"/>
              <a:chExt cx="836" cy="582"/>
            </a:xfrm>
          </p:grpSpPr>
          <p:sp>
            <p:nvSpPr>
              <p:cNvPr id="1521670" name="Text Box 6"/>
              <p:cNvSpPr txBox="1">
                <a:spLocks noChangeArrowheads="1"/>
              </p:cNvSpPr>
              <p:nvPr/>
            </p:nvSpPr>
            <p:spPr bwMode="auto">
              <a:xfrm>
                <a:off x="2023" y="1719"/>
                <a:ext cx="77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</a:t>
                </a:r>
                <a:r>
                  <a:rPr lang="zh-CN" altLang="en-US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	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AND   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0</a:t>
                </a:r>
              </a:p>
            </p:txBody>
          </p:sp>
          <p:sp>
            <p:nvSpPr>
              <p:cNvPr id="1521671" name="Freeform 7"/>
              <p:cNvSpPr/>
              <p:nvPr/>
            </p:nvSpPr>
            <p:spPr bwMode="auto">
              <a:xfrm flipV="1">
                <a:off x="2050" y="2094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672" name="Group 8"/>
            <p:cNvGrpSpPr/>
            <p:nvPr/>
          </p:nvGrpSpPr>
          <p:grpSpPr bwMode="auto">
            <a:xfrm>
              <a:off x="3031" y="1703"/>
              <a:ext cx="809" cy="582"/>
              <a:chOff x="3040" y="1703"/>
              <a:chExt cx="809" cy="582"/>
            </a:xfrm>
          </p:grpSpPr>
          <p:sp>
            <p:nvSpPr>
              <p:cNvPr id="1521673" name="Text Box 9"/>
              <p:cNvSpPr txBox="1">
                <a:spLocks noChangeArrowheads="1"/>
              </p:cNvSpPr>
              <p:nvPr/>
            </p:nvSpPr>
            <p:spPr bwMode="auto">
              <a:xfrm>
                <a:off x="3043" y="1703"/>
                <a:ext cx="77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AND  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0</a:t>
                </a:r>
              </a:p>
            </p:txBody>
          </p:sp>
          <p:sp>
            <p:nvSpPr>
              <p:cNvPr id="1521674" name="Freeform 10"/>
              <p:cNvSpPr/>
              <p:nvPr/>
            </p:nvSpPr>
            <p:spPr bwMode="auto">
              <a:xfrm flipV="1">
                <a:off x="3040" y="2078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675" name="Group 11"/>
            <p:cNvGrpSpPr/>
            <p:nvPr/>
          </p:nvGrpSpPr>
          <p:grpSpPr bwMode="auto">
            <a:xfrm>
              <a:off x="3948" y="1687"/>
              <a:ext cx="848" cy="582"/>
              <a:chOff x="3967" y="1687"/>
              <a:chExt cx="848" cy="582"/>
            </a:xfrm>
          </p:grpSpPr>
          <p:sp>
            <p:nvSpPr>
              <p:cNvPr id="1521676" name="Text Box 12"/>
              <p:cNvSpPr txBox="1">
                <a:spLocks noChangeArrowheads="1"/>
              </p:cNvSpPr>
              <p:nvPr/>
            </p:nvSpPr>
            <p:spPr bwMode="auto">
              <a:xfrm>
                <a:off x="3967" y="1687"/>
                <a:ext cx="772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AND 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	0</a:t>
                </a:r>
              </a:p>
            </p:txBody>
          </p:sp>
          <p:sp>
            <p:nvSpPr>
              <p:cNvPr id="1521677" name="Freeform 13"/>
              <p:cNvSpPr/>
              <p:nvPr/>
            </p:nvSpPr>
            <p:spPr bwMode="auto">
              <a:xfrm flipV="1">
                <a:off x="4006" y="2070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678" name="Group 14"/>
            <p:cNvGrpSpPr/>
            <p:nvPr/>
          </p:nvGrpSpPr>
          <p:grpSpPr bwMode="auto">
            <a:xfrm>
              <a:off x="4823" y="1687"/>
              <a:ext cx="853" cy="582"/>
              <a:chOff x="4823" y="1687"/>
              <a:chExt cx="853" cy="582"/>
            </a:xfrm>
          </p:grpSpPr>
          <p:sp>
            <p:nvSpPr>
              <p:cNvPr id="1521679" name="Text Box 15"/>
              <p:cNvSpPr txBox="1">
                <a:spLocks noChangeArrowheads="1"/>
              </p:cNvSpPr>
              <p:nvPr/>
            </p:nvSpPr>
            <p:spPr bwMode="auto">
              <a:xfrm>
                <a:off x="4823" y="1687"/>
                <a:ext cx="77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AND  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1</a:t>
                </a:r>
              </a:p>
            </p:txBody>
          </p:sp>
          <p:sp>
            <p:nvSpPr>
              <p:cNvPr id="1521680" name="Freeform 16"/>
              <p:cNvSpPr/>
              <p:nvPr/>
            </p:nvSpPr>
            <p:spPr bwMode="auto">
              <a:xfrm flipV="1">
                <a:off x="4867" y="2070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  <p:grpSp>
        <p:nvGrpSpPr>
          <p:cNvPr id="1521681" name="Group 17"/>
          <p:cNvGrpSpPr/>
          <p:nvPr/>
        </p:nvGrpSpPr>
        <p:grpSpPr bwMode="auto">
          <a:xfrm>
            <a:off x="4691970" y="3706523"/>
            <a:ext cx="5776912" cy="923925"/>
            <a:chOff x="2083" y="2307"/>
            <a:chExt cx="3639" cy="582"/>
          </a:xfrm>
        </p:grpSpPr>
        <p:grpSp>
          <p:nvGrpSpPr>
            <p:cNvPr id="1521682" name="Group 18"/>
            <p:cNvGrpSpPr/>
            <p:nvPr/>
          </p:nvGrpSpPr>
          <p:grpSpPr bwMode="auto">
            <a:xfrm>
              <a:off x="4875" y="2307"/>
              <a:ext cx="847" cy="582"/>
              <a:chOff x="4911" y="2307"/>
              <a:chExt cx="847" cy="582"/>
            </a:xfrm>
          </p:grpSpPr>
          <p:sp>
            <p:nvSpPr>
              <p:cNvPr id="1521683" name="Text Box 19"/>
              <p:cNvSpPr txBox="1">
                <a:spLocks noChangeArrowheads="1"/>
              </p:cNvSpPr>
              <p:nvPr/>
            </p:nvSpPr>
            <p:spPr bwMode="auto">
              <a:xfrm>
                <a:off x="4911" y="2307"/>
                <a:ext cx="77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OR    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1</a:t>
                </a:r>
              </a:p>
            </p:txBody>
          </p:sp>
          <p:sp>
            <p:nvSpPr>
              <p:cNvPr id="1521684" name="Freeform 20"/>
              <p:cNvSpPr/>
              <p:nvPr/>
            </p:nvSpPr>
            <p:spPr bwMode="auto">
              <a:xfrm flipV="1">
                <a:off x="4949" y="2683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685" name="Group 21"/>
            <p:cNvGrpSpPr/>
            <p:nvPr/>
          </p:nvGrpSpPr>
          <p:grpSpPr bwMode="auto">
            <a:xfrm>
              <a:off x="4007" y="2307"/>
              <a:ext cx="827" cy="582"/>
              <a:chOff x="4007" y="2307"/>
              <a:chExt cx="827" cy="582"/>
            </a:xfrm>
          </p:grpSpPr>
          <p:sp>
            <p:nvSpPr>
              <p:cNvPr id="1521686" name="Text Box 22"/>
              <p:cNvSpPr txBox="1">
                <a:spLocks noChangeArrowheads="1"/>
              </p:cNvSpPr>
              <p:nvPr/>
            </p:nvSpPr>
            <p:spPr bwMode="auto">
              <a:xfrm>
                <a:off x="4007" y="2307"/>
                <a:ext cx="772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OR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1</a:t>
                </a:r>
              </a:p>
            </p:txBody>
          </p:sp>
          <p:sp>
            <p:nvSpPr>
              <p:cNvPr id="1521687" name="Freeform 23"/>
              <p:cNvSpPr/>
              <p:nvPr/>
            </p:nvSpPr>
            <p:spPr bwMode="auto">
              <a:xfrm flipV="1">
                <a:off x="4025" y="2691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688" name="Group 24"/>
            <p:cNvGrpSpPr/>
            <p:nvPr/>
          </p:nvGrpSpPr>
          <p:grpSpPr bwMode="auto">
            <a:xfrm>
              <a:off x="3079" y="2307"/>
              <a:ext cx="843" cy="582"/>
              <a:chOff x="3079" y="2307"/>
              <a:chExt cx="843" cy="582"/>
            </a:xfrm>
          </p:grpSpPr>
          <p:sp>
            <p:nvSpPr>
              <p:cNvPr id="1521689" name="Text Box 25"/>
              <p:cNvSpPr txBox="1">
                <a:spLocks noChangeArrowheads="1"/>
              </p:cNvSpPr>
              <p:nvPr/>
            </p:nvSpPr>
            <p:spPr bwMode="auto">
              <a:xfrm>
                <a:off x="3079" y="2307"/>
                <a:ext cx="772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OR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1</a:t>
                </a:r>
              </a:p>
            </p:txBody>
          </p:sp>
          <p:sp>
            <p:nvSpPr>
              <p:cNvPr id="1521690" name="Freeform 26"/>
              <p:cNvSpPr/>
              <p:nvPr/>
            </p:nvSpPr>
            <p:spPr bwMode="auto">
              <a:xfrm flipV="1">
                <a:off x="3113" y="2691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691" name="Group 27"/>
            <p:cNvGrpSpPr/>
            <p:nvPr/>
          </p:nvGrpSpPr>
          <p:grpSpPr bwMode="auto">
            <a:xfrm>
              <a:off x="2083" y="2307"/>
              <a:ext cx="839" cy="582"/>
              <a:chOff x="2115" y="2307"/>
              <a:chExt cx="839" cy="582"/>
            </a:xfrm>
          </p:grpSpPr>
          <p:sp>
            <p:nvSpPr>
              <p:cNvPr id="1521692" name="Text Box 28"/>
              <p:cNvSpPr txBox="1">
                <a:spLocks noChangeArrowheads="1"/>
              </p:cNvSpPr>
              <p:nvPr/>
            </p:nvSpPr>
            <p:spPr bwMode="auto">
              <a:xfrm>
                <a:off x="2115" y="2307"/>
                <a:ext cx="772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　　　	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OR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	0</a:t>
                </a:r>
              </a:p>
            </p:txBody>
          </p:sp>
          <p:sp>
            <p:nvSpPr>
              <p:cNvPr id="1521693" name="Freeform 29"/>
              <p:cNvSpPr/>
              <p:nvPr/>
            </p:nvSpPr>
            <p:spPr bwMode="auto">
              <a:xfrm flipV="1">
                <a:off x="2145" y="2691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  <p:grpSp>
        <p:nvGrpSpPr>
          <p:cNvPr id="1521694" name="Group 30"/>
          <p:cNvGrpSpPr/>
          <p:nvPr/>
        </p:nvGrpSpPr>
        <p:grpSpPr bwMode="auto">
          <a:xfrm>
            <a:off x="4680857" y="4782852"/>
            <a:ext cx="4337050" cy="671513"/>
            <a:chOff x="2023" y="3027"/>
            <a:chExt cx="2732" cy="423"/>
          </a:xfrm>
        </p:grpSpPr>
        <p:grpSp>
          <p:nvGrpSpPr>
            <p:cNvPr id="1521695" name="Group 31"/>
            <p:cNvGrpSpPr/>
            <p:nvPr/>
          </p:nvGrpSpPr>
          <p:grpSpPr bwMode="auto">
            <a:xfrm>
              <a:off x="2023" y="3043"/>
              <a:ext cx="842" cy="407"/>
              <a:chOff x="2037" y="3043"/>
              <a:chExt cx="842" cy="407"/>
            </a:xfrm>
          </p:grpSpPr>
          <p:sp>
            <p:nvSpPr>
              <p:cNvPr id="1521696" name="Text Box 32"/>
              <p:cNvSpPr txBox="1">
                <a:spLocks noChangeArrowheads="1"/>
              </p:cNvSpPr>
              <p:nvPr/>
            </p:nvSpPr>
            <p:spPr bwMode="auto">
              <a:xfrm>
                <a:off x="2037" y="3043"/>
                <a:ext cx="779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NOT 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	1</a:t>
                </a:r>
              </a:p>
            </p:txBody>
          </p:sp>
          <p:sp>
            <p:nvSpPr>
              <p:cNvPr id="1521697" name="Freeform 33"/>
              <p:cNvSpPr/>
              <p:nvPr/>
            </p:nvSpPr>
            <p:spPr bwMode="auto">
              <a:xfrm>
                <a:off x="2167" y="3246"/>
                <a:ext cx="712" cy="1"/>
              </a:xfrm>
              <a:custGeom>
                <a:avLst/>
                <a:gdLst>
                  <a:gd name="T0" fmla="*/ 0 w 712"/>
                  <a:gd name="T1" fmla="*/ 0 h 1"/>
                  <a:gd name="T2" fmla="*/ 712 w 71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12" h="1">
                    <a:moveTo>
                      <a:pt x="0" y="0"/>
                    </a:moveTo>
                    <a:lnTo>
                      <a:pt x="712" y="0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698" name="Group 34"/>
            <p:cNvGrpSpPr/>
            <p:nvPr/>
          </p:nvGrpSpPr>
          <p:grpSpPr bwMode="auto">
            <a:xfrm>
              <a:off x="3943" y="3027"/>
              <a:ext cx="812" cy="407"/>
              <a:chOff x="3951" y="3027"/>
              <a:chExt cx="812" cy="407"/>
            </a:xfrm>
          </p:grpSpPr>
          <p:sp>
            <p:nvSpPr>
              <p:cNvPr id="1521699" name="Text Box 35"/>
              <p:cNvSpPr txBox="1">
                <a:spLocks noChangeArrowheads="1"/>
              </p:cNvSpPr>
              <p:nvPr/>
            </p:nvSpPr>
            <p:spPr bwMode="auto">
              <a:xfrm>
                <a:off x="3951" y="3027"/>
                <a:ext cx="772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NOT 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0</a:t>
                </a:r>
              </a:p>
            </p:txBody>
          </p:sp>
          <p:sp>
            <p:nvSpPr>
              <p:cNvPr id="1521700" name="Freeform 36"/>
              <p:cNvSpPr/>
              <p:nvPr/>
            </p:nvSpPr>
            <p:spPr bwMode="auto">
              <a:xfrm>
                <a:off x="4051" y="3230"/>
                <a:ext cx="712" cy="1"/>
              </a:xfrm>
              <a:custGeom>
                <a:avLst/>
                <a:gdLst>
                  <a:gd name="T0" fmla="*/ 0 w 712"/>
                  <a:gd name="T1" fmla="*/ 0 h 1"/>
                  <a:gd name="T2" fmla="*/ 712 w 71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12" h="1">
                    <a:moveTo>
                      <a:pt x="0" y="0"/>
                    </a:moveTo>
                    <a:lnTo>
                      <a:pt x="712" y="0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  <p:grpSp>
        <p:nvGrpSpPr>
          <p:cNvPr id="1521701" name="Group 37"/>
          <p:cNvGrpSpPr/>
          <p:nvPr/>
        </p:nvGrpSpPr>
        <p:grpSpPr bwMode="auto">
          <a:xfrm>
            <a:off x="4680857" y="5494054"/>
            <a:ext cx="5822950" cy="985839"/>
            <a:chOff x="2023" y="3475"/>
            <a:chExt cx="3668" cy="621"/>
          </a:xfrm>
        </p:grpSpPr>
        <p:grpSp>
          <p:nvGrpSpPr>
            <p:cNvPr id="1521702" name="Group 38"/>
            <p:cNvGrpSpPr/>
            <p:nvPr/>
          </p:nvGrpSpPr>
          <p:grpSpPr bwMode="auto">
            <a:xfrm>
              <a:off x="4823" y="3475"/>
              <a:ext cx="868" cy="582"/>
              <a:chOff x="4859" y="3475"/>
              <a:chExt cx="868" cy="582"/>
            </a:xfrm>
          </p:grpSpPr>
          <p:sp>
            <p:nvSpPr>
              <p:cNvPr id="1521703" name="Text Box 39"/>
              <p:cNvSpPr txBox="1">
                <a:spLocks noChangeArrowheads="1"/>
              </p:cNvSpPr>
              <p:nvPr/>
            </p:nvSpPr>
            <p:spPr bwMode="auto">
              <a:xfrm>
                <a:off x="4859" y="3475"/>
                <a:ext cx="77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</a:t>
                </a:r>
                <a:r>
                  <a:rPr lang="en-US" altLang="zh-CN" b="1" dirty="0" err="1">
                    <a:latin typeface="Arial" panose="020B0604020202090204" pitchFamily="34" charset="0"/>
                    <a:cs typeface="Arial" panose="020B0604020202090204" pitchFamily="34" charset="0"/>
                  </a:rPr>
                  <a:t>XOR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0</a:t>
                </a:r>
              </a:p>
            </p:txBody>
          </p:sp>
          <p:sp>
            <p:nvSpPr>
              <p:cNvPr id="1521704" name="Freeform 40"/>
              <p:cNvSpPr/>
              <p:nvPr/>
            </p:nvSpPr>
            <p:spPr bwMode="auto">
              <a:xfrm flipV="1">
                <a:off x="4918" y="3854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705" name="Group 41"/>
            <p:cNvGrpSpPr/>
            <p:nvPr/>
          </p:nvGrpSpPr>
          <p:grpSpPr bwMode="auto">
            <a:xfrm>
              <a:off x="3943" y="3491"/>
              <a:ext cx="880" cy="582"/>
              <a:chOff x="3943" y="3491"/>
              <a:chExt cx="880" cy="582"/>
            </a:xfrm>
          </p:grpSpPr>
          <p:sp>
            <p:nvSpPr>
              <p:cNvPr id="1521706" name="Text Box 42"/>
              <p:cNvSpPr txBox="1">
                <a:spLocks noChangeArrowheads="1"/>
              </p:cNvSpPr>
              <p:nvPr/>
            </p:nvSpPr>
            <p:spPr bwMode="auto">
              <a:xfrm>
                <a:off x="3943" y="3491"/>
                <a:ext cx="77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	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</a:t>
                </a:r>
                <a:r>
                  <a:rPr lang="en-US" altLang="zh-CN" b="1" dirty="0" err="1">
                    <a:latin typeface="Arial" panose="020B0604020202090204" pitchFamily="34" charset="0"/>
                    <a:cs typeface="Arial" panose="020B0604020202090204" pitchFamily="34" charset="0"/>
                  </a:rPr>
                  <a:t>XOR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1</a:t>
                </a:r>
              </a:p>
            </p:txBody>
          </p:sp>
          <p:sp>
            <p:nvSpPr>
              <p:cNvPr id="1521707" name="Freeform 43"/>
              <p:cNvSpPr/>
              <p:nvPr/>
            </p:nvSpPr>
            <p:spPr bwMode="auto">
              <a:xfrm flipV="1">
                <a:off x="4014" y="3866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708" name="Group 44"/>
            <p:cNvGrpSpPr/>
            <p:nvPr/>
          </p:nvGrpSpPr>
          <p:grpSpPr bwMode="auto">
            <a:xfrm>
              <a:off x="3031" y="3491"/>
              <a:ext cx="872" cy="582"/>
              <a:chOff x="3031" y="3491"/>
              <a:chExt cx="872" cy="582"/>
            </a:xfrm>
          </p:grpSpPr>
          <p:sp>
            <p:nvSpPr>
              <p:cNvPr id="1521709" name="Text Box 45"/>
              <p:cNvSpPr txBox="1">
                <a:spLocks noChangeArrowheads="1"/>
              </p:cNvSpPr>
              <p:nvPr/>
            </p:nvSpPr>
            <p:spPr bwMode="auto">
              <a:xfrm>
                <a:off x="3031" y="3491"/>
                <a:ext cx="77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</a:t>
                </a:r>
                <a:r>
                  <a:rPr lang="en-US" altLang="zh-CN" b="1" dirty="0" err="1">
                    <a:latin typeface="Arial" panose="020B0604020202090204" pitchFamily="34" charset="0"/>
                    <a:cs typeface="Arial" panose="020B0604020202090204" pitchFamily="34" charset="0"/>
                  </a:rPr>
                  <a:t>XOR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	1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 	1</a:t>
                </a:r>
              </a:p>
            </p:txBody>
          </p:sp>
          <p:sp>
            <p:nvSpPr>
              <p:cNvPr id="1521710" name="Freeform 46"/>
              <p:cNvSpPr/>
              <p:nvPr/>
            </p:nvSpPr>
            <p:spPr bwMode="auto">
              <a:xfrm flipV="1">
                <a:off x="3094" y="3870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521711" name="Group 47"/>
            <p:cNvGrpSpPr/>
            <p:nvPr/>
          </p:nvGrpSpPr>
          <p:grpSpPr bwMode="auto">
            <a:xfrm>
              <a:off x="2023" y="3514"/>
              <a:ext cx="872" cy="582"/>
              <a:chOff x="2055" y="3514"/>
              <a:chExt cx="872" cy="582"/>
            </a:xfrm>
          </p:grpSpPr>
          <p:sp>
            <p:nvSpPr>
              <p:cNvPr id="1521712" name="Text Box 48"/>
              <p:cNvSpPr txBox="1">
                <a:spLocks noChangeArrowheads="1"/>
              </p:cNvSpPr>
              <p:nvPr/>
            </p:nvSpPr>
            <p:spPr bwMode="auto">
              <a:xfrm>
                <a:off x="2055" y="3514"/>
                <a:ext cx="77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　　	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</a:t>
                </a:r>
                <a:r>
                  <a:rPr lang="en-US" altLang="zh-CN" b="1" dirty="0" err="1">
                    <a:latin typeface="Arial" panose="020B0604020202090204" pitchFamily="34" charset="0"/>
                    <a:cs typeface="Arial" panose="020B0604020202090204" pitchFamily="34" charset="0"/>
                  </a:rPr>
                  <a:t>XOR</a:t>
                </a:r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	0</a:t>
                </a:r>
              </a:p>
              <a:p>
                <a:r>
                  <a:rPr lang="en-US" altLang="zh-CN" b="1" dirty="0">
                    <a:latin typeface="Arial" panose="020B0604020202090204" pitchFamily="34" charset="0"/>
                    <a:cs typeface="Arial" panose="020B0604020202090204" pitchFamily="34" charset="0"/>
                  </a:rPr>
                  <a:t>           	0</a:t>
                </a:r>
              </a:p>
            </p:txBody>
          </p:sp>
          <p:sp>
            <p:nvSpPr>
              <p:cNvPr id="1521713" name="Freeform 49"/>
              <p:cNvSpPr/>
              <p:nvPr/>
            </p:nvSpPr>
            <p:spPr bwMode="auto">
              <a:xfrm flipV="1">
                <a:off x="2118" y="3886"/>
                <a:ext cx="809" cy="7"/>
              </a:xfrm>
              <a:custGeom>
                <a:avLst/>
                <a:gdLst>
                  <a:gd name="T0" fmla="*/ 0 w 986"/>
                  <a:gd name="T1" fmla="*/ 0 h 1"/>
                  <a:gd name="T2" fmla="*/ 986 w 98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6" h="1">
                    <a:moveTo>
                      <a:pt x="0" y="0"/>
                    </a:moveTo>
                    <a:lnTo>
                      <a:pt x="986" y="1"/>
                    </a:lnTo>
                  </a:path>
                </a:pathLst>
              </a:custGeom>
              <a:noFill/>
              <a:ln w="38100" cmpd="sng">
                <a:solidFill>
                  <a:srgbClr val="CC0066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  <p:sp>
        <p:nvSpPr>
          <p:cNvPr id="53" name="圆角矩形 52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命题逻辑的符号化与计算</a:t>
            </a:r>
          </a:p>
        </p:txBody>
      </p:sp>
      <p:sp>
        <p:nvSpPr>
          <p:cNvPr id="54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的计算：基本逻辑运算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314" name="Rectangle 2"/>
          <p:cNvSpPr>
            <a:spLocks noChangeArrowheads="1"/>
          </p:cNvSpPr>
          <p:nvPr/>
        </p:nvSpPr>
        <p:spPr bwMode="auto">
          <a:xfrm>
            <a:off x="707570" y="1953630"/>
            <a:ext cx="3587983" cy="504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二进制的加法运算规则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1549334" name="Group 22"/>
          <p:cNvGrpSpPr/>
          <p:nvPr/>
        </p:nvGrpSpPr>
        <p:grpSpPr bwMode="auto">
          <a:xfrm>
            <a:off x="6444566" y="2988892"/>
            <a:ext cx="1751013" cy="1570038"/>
            <a:chOff x="4484" y="1506"/>
            <a:chExt cx="1103" cy="989"/>
          </a:xfrm>
        </p:grpSpPr>
        <p:sp>
          <p:nvSpPr>
            <p:cNvPr id="1549321" name="Text Box 9"/>
            <p:cNvSpPr txBox="1">
              <a:spLocks noChangeArrowheads="1"/>
            </p:cNvSpPr>
            <p:nvPr/>
          </p:nvSpPr>
          <p:spPr bwMode="auto">
            <a:xfrm>
              <a:off x="4582" y="1506"/>
              <a:ext cx="910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           A</a:t>
              </a:r>
              <a:r>
                <a:rPr lang="en-US" altLang="zh-CN" sz="2400" b="1" baseline="-2500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i</a:t>
              </a:r>
            </a:p>
            <a:p>
              <a:r>
                <a:rPr lang="en-US" altLang="zh-CN" sz="2400" b="1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+         B</a:t>
              </a:r>
              <a:r>
                <a:rPr lang="en-US" altLang="zh-CN" sz="2400" b="1" baseline="-2500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i</a:t>
              </a:r>
            </a:p>
            <a:p>
              <a:endParaRPr lang="en-US" altLang="zh-CN" sz="2400" b="1">
                <a:latin typeface="Arial" panose="020B0604020202090204" pitchFamily="34" charset="0"/>
                <a:ea typeface="隶书" panose="02010509060101010101" pitchFamily="49" charset="-122"/>
                <a:cs typeface="Arial" panose="020B0604020202090204" pitchFamily="34" charset="0"/>
              </a:endParaRPr>
            </a:p>
            <a:p>
              <a:r>
                <a:rPr lang="en-US" altLang="zh-CN" sz="2400" b="1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C</a:t>
              </a:r>
              <a:r>
                <a:rPr lang="en-US" altLang="zh-CN" sz="2400" b="1" baseline="-2500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i+1 </a:t>
              </a:r>
              <a:r>
                <a:rPr lang="en-US" altLang="zh-CN" sz="2400" b="1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     S</a:t>
              </a:r>
              <a:r>
                <a:rPr lang="en-US" altLang="zh-CN" sz="2400" b="1" baseline="-2500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i</a:t>
              </a:r>
            </a:p>
          </p:txBody>
        </p:sp>
        <p:sp>
          <p:nvSpPr>
            <p:cNvPr id="1549322" name="Line 10"/>
            <p:cNvSpPr>
              <a:spLocks noChangeShapeType="1"/>
            </p:cNvSpPr>
            <p:nvPr/>
          </p:nvSpPr>
          <p:spPr bwMode="auto">
            <a:xfrm>
              <a:off x="4484" y="2094"/>
              <a:ext cx="1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549323" name="Rectangle 11"/>
          <p:cNvSpPr>
            <a:spLocks noChangeArrowheads="1"/>
          </p:cNvSpPr>
          <p:nvPr/>
        </p:nvSpPr>
        <p:spPr bwMode="auto">
          <a:xfrm>
            <a:off x="1900768" y="5851465"/>
            <a:ext cx="8717613" cy="681693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9324" name="Text Box 12"/>
          <p:cNvSpPr txBox="1">
            <a:spLocks noChangeArrowheads="1"/>
          </p:cNvSpPr>
          <p:nvPr/>
        </p:nvSpPr>
        <p:spPr bwMode="auto">
          <a:xfrm>
            <a:off x="3243639" y="4753813"/>
            <a:ext cx="516224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S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     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= (A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 </a:t>
            </a:r>
            <a:r>
              <a:rPr lang="en-US" altLang="zh-CN" sz="2000" b="1" dirty="0" err="1">
                <a:latin typeface="Arial" panose="020B0604020202090204" pitchFamily="34" charset="0"/>
                <a:cs typeface="Arial" panose="020B0604020202090204" pitchFamily="34" charset="0"/>
              </a:rPr>
              <a:t>XOR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 B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)  </a:t>
            </a:r>
            <a:r>
              <a:rPr lang="en-US" altLang="zh-CN" sz="2000" b="1" dirty="0" err="1">
                <a:latin typeface="Arial" panose="020B0604020202090204" pitchFamily="34" charset="0"/>
                <a:cs typeface="Arial" panose="020B0604020202090204" pitchFamily="34" charset="0"/>
              </a:rPr>
              <a:t>XOR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  C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 </a:t>
            </a:r>
          </a:p>
          <a:p>
            <a:r>
              <a:rPr lang="en-US" altLang="zh-CN" sz="2000" b="1" dirty="0" err="1">
                <a:latin typeface="Arial" panose="020B0604020202090204" pitchFamily="34" charset="0"/>
                <a:cs typeface="Arial" panose="020B0604020202090204" pitchFamily="34" charset="0"/>
              </a:rPr>
              <a:t>C</a:t>
            </a:r>
            <a:r>
              <a:rPr lang="en-US" altLang="zh-CN" sz="20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i+1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= ((A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 </a:t>
            </a:r>
            <a:r>
              <a:rPr lang="en-US" altLang="zh-CN" sz="2000" b="1" dirty="0" err="1">
                <a:latin typeface="Arial" panose="020B0604020202090204" pitchFamily="34" charset="0"/>
                <a:cs typeface="Arial" panose="020B0604020202090204" pitchFamily="34" charset="0"/>
              </a:rPr>
              <a:t>XOR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 B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)  AND C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) OR (A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 AND B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)</a:t>
            </a:r>
          </a:p>
        </p:txBody>
      </p:sp>
      <p:sp>
        <p:nvSpPr>
          <p:cNvPr id="1549325" name="Text Box 13"/>
          <p:cNvSpPr txBox="1">
            <a:spLocks noChangeArrowheads="1"/>
          </p:cNvSpPr>
          <p:nvPr/>
        </p:nvSpPr>
        <p:spPr bwMode="auto">
          <a:xfrm>
            <a:off x="3210599" y="3859189"/>
            <a:ext cx="209890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S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      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= A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 </a:t>
            </a:r>
            <a:r>
              <a:rPr lang="en-US" altLang="zh-CN" sz="2000" b="1" dirty="0" err="1">
                <a:latin typeface="Arial" panose="020B0604020202090204" pitchFamily="34" charset="0"/>
                <a:cs typeface="Arial" panose="020B0604020202090204" pitchFamily="34" charset="0"/>
              </a:rPr>
              <a:t>XOR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 B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</a:p>
          <a:p>
            <a:r>
              <a:rPr lang="en-US" altLang="zh-CN" sz="2000" b="1" dirty="0" err="1">
                <a:latin typeface="Arial" panose="020B0604020202090204" pitchFamily="34" charset="0"/>
                <a:cs typeface="Arial" panose="020B0604020202090204" pitchFamily="34" charset="0"/>
              </a:rPr>
              <a:t>C</a:t>
            </a:r>
            <a:r>
              <a:rPr lang="en-US" altLang="zh-CN" sz="20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i+1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= A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lang="en-US" altLang="zh-CN" sz="2000" b="1" dirty="0">
                <a:latin typeface="Arial" panose="020B0604020202090204" pitchFamily="34" charset="0"/>
                <a:cs typeface="Arial" panose="020B0604020202090204" pitchFamily="34" charset="0"/>
              </a:rPr>
              <a:t>  AND B</a:t>
            </a:r>
            <a:r>
              <a:rPr lang="en-US" altLang="zh-CN" sz="2000" b="1" baseline="-25000" dirty="0"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20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49326" name="Text Box 14"/>
          <p:cNvSpPr txBox="1">
            <a:spLocks noChangeArrowheads="1"/>
          </p:cNvSpPr>
          <p:nvPr/>
        </p:nvSpPr>
        <p:spPr bwMode="auto">
          <a:xfrm>
            <a:off x="1485301" y="4075688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不考虑进位</a:t>
            </a:r>
          </a:p>
        </p:txBody>
      </p:sp>
      <p:sp>
        <p:nvSpPr>
          <p:cNvPr id="1549327" name="Text Box 15"/>
          <p:cNvSpPr txBox="1">
            <a:spLocks noChangeArrowheads="1"/>
          </p:cNvSpPr>
          <p:nvPr/>
        </p:nvSpPr>
        <p:spPr bwMode="auto">
          <a:xfrm>
            <a:off x="1716133" y="4875081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考虑进位</a:t>
            </a:r>
          </a:p>
        </p:txBody>
      </p:sp>
      <p:sp>
        <p:nvSpPr>
          <p:cNvPr id="1549328" name="AutoShape 16"/>
          <p:cNvSpPr/>
          <p:nvPr/>
        </p:nvSpPr>
        <p:spPr bwMode="auto">
          <a:xfrm>
            <a:off x="3035641" y="3931719"/>
            <a:ext cx="133350" cy="550863"/>
          </a:xfrm>
          <a:prstGeom prst="leftBrace">
            <a:avLst>
              <a:gd name="adj1" fmla="val 34425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9329" name="AutoShape 17"/>
          <p:cNvSpPr/>
          <p:nvPr/>
        </p:nvSpPr>
        <p:spPr bwMode="auto">
          <a:xfrm>
            <a:off x="2988064" y="4846068"/>
            <a:ext cx="133350" cy="550862"/>
          </a:xfrm>
          <a:prstGeom prst="leftBrace">
            <a:avLst>
              <a:gd name="adj1" fmla="val 34425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49330" name="Group 18"/>
          <p:cNvGrpSpPr/>
          <p:nvPr/>
        </p:nvGrpSpPr>
        <p:grpSpPr bwMode="auto">
          <a:xfrm>
            <a:off x="9087658" y="3513413"/>
            <a:ext cx="1751012" cy="1938338"/>
            <a:chOff x="3905" y="2070"/>
            <a:chExt cx="1103" cy="1221"/>
          </a:xfrm>
        </p:grpSpPr>
        <p:sp>
          <p:nvSpPr>
            <p:cNvPr id="1549331" name="Text Box 19"/>
            <p:cNvSpPr txBox="1">
              <a:spLocks noChangeArrowheads="1"/>
            </p:cNvSpPr>
            <p:nvPr/>
          </p:nvSpPr>
          <p:spPr bwMode="auto">
            <a:xfrm>
              <a:off x="4003" y="2070"/>
              <a:ext cx="910" cy="1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           A</a:t>
              </a:r>
              <a:r>
                <a:rPr lang="en-US" altLang="zh-CN" sz="2400" b="1" baseline="-25000" dirty="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i</a:t>
              </a:r>
            </a:p>
            <a:p>
              <a:r>
                <a:rPr lang="en-US" altLang="zh-CN" sz="2400" b="1" dirty="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           B</a:t>
              </a:r>
              <a:r>
                <a:rPr lang="en-US" altLang="zh-CN" sz="2400" b="1" baseline="-25000" dirty="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i</a:t>
              </a:r>
            </a:p>
            <a:p>
              <a:r>
                <a:rPr lang="en-US" altLang="zh-CN" sz="2400" b="1" dirty="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+         C</a:t>
              </a:r>
              <a:r>
                <a:rPr lang="en-US" altLang="zh-CN" sz="2400" b="1" baseline="-25000" dirty="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i</a:t>
              </a:r>
            </a:p>
            <a:p>
              <a:endParaRPr lang="en-US" altLang="zh-CN" sz="2400" b="1" dirty="0">
                <a:latin typeface="Arial" panose="020B0604020202090204" pitchFamily="34" charset="0"/>
                <a:ea typeface="隶书" panose="02010509060101010101" pitchFamily="49" charset="-122"/>
                <a:cs typeface="Arial" panose="020B0604020202090204" pitchFamily="34" charset="0"/>
              </a:endParaRPr>
            </a:p>
            <a:p>
              <a:r>
                <a:rPr lang="en-US" altLang="zh-CN" sz="2400" b="1" dirty="0" err="1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C</a:t>
              </a:r>
              <a:r>
                <a:rPr lang="en-US" altLang="zh-CN" sz="2400" b="1" baseline="-25000" dirty="0" err="1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i+1</a:t>
              </a:r>
              <a:r>
                <a:rPr lang="en-US" altLang="zh-CN" sz="2400" b="1" baseline="-25000" dirty="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 </a:t>
              </a:r>
              <a:r>
                <a:rPr lang="en-US" altLang="zh-CN" sz="2400" b="1" dirty="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     S</a:t>
              </a:r>
              <a:r>
                <a:rPr lang="en-US" altLang="zh-CN" sz="2400" b="1" baseline="-25000" dirty="0"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i</a:t>
              </a:r>
            </a:p>
          </p:txBody>
        </p:sp>
        <p:sp>
          <p:nvSpPr>
            <p:cNvPr id="1549332" name="Line 20"/>
            <p:cNvSpPr>
              <a:spLocks noChangeShapeType="1"/>
            </p:cNvSpPr>
            <p:nvPr/>
          </p:nvSpPr>
          <p:spPr bwMode="auto">
            <a:xfrm>
              <a:off x="3905" y="2890"/>
              <a:ext cx="11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8" name="圆角矩形 17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二进制加法运算可用逻辑计算来实现</a:t>
            </a:r>
          </a:p>
        </p:txBody>
      </p:sp>
      <p:sp>
        <p:nvSpPr>
          <p:cNvPr id="19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的计算：基本逻辑运算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/>
          <a:srcRect t="-1" r="664" b="1369"/>
          <a:stretch>
            <a:fillRect/>
          </a:stretch>
        </p:blipFill>
        <p:spPr>
          <a:xfrm>
            <a:off x="1724467" y="2549633"/>
            <a:ext cx="3499663" cy="113739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009240" y="5860881"/>
            <a:ext cx="86693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</a:pP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乘除可转换为加减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减法又可转换为加法，而加法又可以用逻辑运算的组合来实现。</a:t>
            </a:r>
            <a:endParaRPr lang="en-US" altLang="zh-CN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>
                <a:schemeClr val="accent2"/>
              </a:buClr>
            </a:pP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机器只要能完成加法运算，再由一个可执行组合的机构，就可以实现任何运算。</a:t>
            </a:r>
          </a:p>
        </p:txBody>
      </p:sp>
      <p:grpSp>
        <p:nvGrpSpPr>
          <p:cNvPr id="23" name="Group 2"/>
          <p:cNvGrpSpPr/>
          <p:nvPr/>
        </p:nvGrpSpPr>
        <p:grpSpPr bwMode="auto">
          <a:xfrm>
            <a:off x="707570" y="5760614"/>
            <a:ext cx="1202572" cy="904516"/>
            <a:chOff x="486" y="2211"/>
            <a:chExt cx="898" cy="748"/>
          </a:xfrm>
        </p:grpSpPr>
        <p:sp>
          <p:nvSpPr>
            <p:cNvPr id="24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5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6" name="Text Box 84"/>
            <p:cNvSpPr txBox="1">
              <a:spLocks noChangeArrowheads="1"/>
            </p:cNvSpPr>
            <p:nvPr/>
          </p:nvSpPr>
          <p:spPr bwMode="auto">
            <a:xfrm>
              <a:off x="560" y="2358"/>
              <a:ext cx="743" cy="38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启示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9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9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49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9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9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49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9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9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49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49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49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49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49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49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49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49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49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49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9324" grpId="0"/>
      <p:bldP spid="1549325" grpId="0"/>
      <p:bldP spid="1549326" grpId="0"/>
      <p:bldP spid="154932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714110" y="6283667"/>
            <a:ext cx="10737660" cy="483189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946" name="Text Box 2"/>
          <p:cNvSpPr txBox="1">
            <a:spLocks noChangeArrowheads="1"/>
          </p:cNvSpPr>
          <p:nvPr/>
        </p:nvSpPr>
        <p:spPr bwMode="auto">
          <a:xfrm>
            <a:off x="653829" y="1905207"/>
            <a:ext cx="48401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buClr>
                <a:srgbClr val="0066FF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电信号：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0V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（低电平）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5V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（高电平）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618948" name="Group 4"/>
          <p:cNvGrpSpPr/>
          <p:nvPr/>
        </p:nvGrpSpPr>
        <p:grpSpPr bwMode="auto">
          <a:xfrm>
            <a:off x="5862055" y="2032490"/>
            <a:ext cx="2502424" cy="408676"/>
            <a:chOff x="1147" y="1667"/>
            <a:chExt cx="1900" cy="385"/>
          </a:xfrm>
        </p:grpSpPr>
        <p:sp>
          <p:nvSpPr>
            <p:cNvPr id="1618950" name="Freeform 6"/>
            <p:cNvSpPr/>
            <p:nvPr/>
          </p:nvSpPr>
          <p:spPr bwMode="auto">
            <a:xfrm>
              <a:off x="2219" y="1675"/>
              <a:ext cx="828" cy="336"/>
            </a:xfrm>
            <a:custGeom>
              <a:avLst/>
              <a:gdLst>
                <a:gd name="T0" fmla="*/ 0 w 828"/>
                <a:gd name="T1" fmla="*/ 336 h 336"/>
                <a:gd name="T2" fmla="*/ 256 w 828"/>
                <a:gd name="T3" fmla="*/ 336 h 336"/>
                <a:gd name="T4" fmla="*/ 256 w 828"/>
                <a:gd name="T5" fmla="*/ 0 h 336"/>
                <a:gd name="T6" fmla="*/ 563 w 828"/>
                <a:gd name="T7" fmla="*/ 0 h 336"/>
                <a:gd name="T8" fmla="*/ 563 w 828"/>
                <a:gd name="T9" fmla="*/ 336 h 336"/>
                <a:gd name="T10" fmla="*/ 828 w 828"/>
                <a:gd name="T11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8" h="336">
                  <a:moveTo>
                    <a:pt x="0" y="336"/>
                  </a:moveTo>
                  <a:lnTo>
                    <a:pt x="256" y="336"/>
                  </a:lnTo>
                  <a:lnTo>
                    <a:pt x="256" y="0"/>
                  </a:lnTo>
                  <a:lnTo>
                    <a:pt x="563" y="0"/>
                  </a:lnTo>
                  <a:lnTo>
                    <a:pt x="563" y="336"/>
                  </a:lnTo>
                  <a:lnTo>
                    <a:pt x="828" y="336"/>
                  </a:lnTo>
                </a:path>
              </a:pathLst>
            </a:custGeom>
            <a:noFill/>
            <a:ln w="57150" cmpd="sng">
              <a:solidFill>
                <a:srgbClr val="CC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618951" name="Line 7"/>
            <p:cNvSpPr>
              <a:spLocks noChangeShapeType="1"/>
            </p:cNvSpPr>
            <p:nvPr/>
          </p:nvSpPr>
          <p:spPr bwMode="auto">
            <a:xfrm>
              <a:off x="1147" y="2011"/>
              <a:ext cx="720" cy="0"/>
            </a:xfrm>
            <a:prstGeom prst="line">
              <a:avLst/>
            </a:prstGeom>
            <a:noFill/>
            <a:ln w="57150">
              <a:solidFill>
                <a:srgbClr val="CC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618952" name="Text Box 8"/>
            <p:cNvSpPr txBox="1">
              <a:spLocks noChangeArrowheads="1"/>
            </p:cNvSpPr>
            <p:nvPr/>
          </p:nvSpPr>
          <p:spPr bwMode="auto">
            <a:xfrm>
              <a:off x="1411" y="1667"/>
              <a:ext cx="249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3333CC"/>
                  </a:solidFill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0</a:t>
              </a:r>
            </a:p>
          </p:txBody>
        </p:sp>
        <p:sp>
          <p:nvSpPr>
            <p:cNvPr id="1618953" name="Text Box 9"/>
            <p:cNvSpPr txBox="1">
              <a:spLocks noChangeArrowheads="1"/>
            </p:cNvSpPr>
            <p:nvPr/>
          </p:nvSpPr>
          <p:spPr bwMode="auto">
            <a:xfrm>
              <a:off x="2507" y="1675"/>
              <a:ext cx="249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3333CC"/>
                  </a:solidFill>
                  <a:latin typeface="Arial" panose="020B0604020202090204" pitchFamily="34" charset="0"/>
                  <a:ea typeface="隶书" panose="02010509060101010101" pitchFamily="49" charset="-122"/>
                  <a:cs typeface="Arial" panose="020B0604020202090204" pitchFamily="34" charset="0"/>
                </a:rPr>
                <a:t>1</a:t>
              </a:r>
            </a:p>
          </p:txBody>
        </p:sp>
      </p:grp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653829" y="2527547"/>
            <a:ext cx="5208226" cy="532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buClr>
                <a:srgbClr val="0066FF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用二极管、三极管实现基本逻辑运算的电路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2412046" y="5598531"/>
            <a:ext cx="1891671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0066FF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电路</a:t>
            </a: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5212029" y="5598531"/>
            <a:ext cx="1943100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0066FF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电路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8393908" y="5598531"/>
            <a:ext cx="1803400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0066FF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电路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2489546" y="5283603"/>
            <a:ext cx="17526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</a:t>
            </a:r>
            <a:r>
              <a:rPr lang="en-US" altLang="zh-CN" sz="2000" b="1" baseline="-250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=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and B</a:t>
            </a:r>
            <a:endParaRPr lang="en-US" altLang="zh-CN" sz="2000" b="1" baseline="-250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5407437" y="5283603"/>
            <a:ext cx="15522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</a:t>
            </a:r>
            <a:r>
              <a:rPr lang="en-US" altLang="zh-CN" sz="2000" b="1" baseline="-250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=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or B</a:t>
            </a:r>
            <a:endParaRPr lang="en-US" altLang="zh-CN" sz="2000" b="1" baseline="-250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3" name="Text Box 15"/>
          <p:cNvSpPr txBox="1">
            <a:spLocks noChangeArrowheads="1"/>
          </p:cNvSpPr>
          <p:nvPr/>
        </p:nvSpPr>
        <p:spPr bwMode="auto">
          <a:xfrm>
            <a:off x="8526560" y="5283603"/>
            <a:ext cx="13998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</a:t>
            </a:r>
            <a:r>
              <a:rPr lang="en-US" altLang="zh-CN" sz="2000" b="1" baseline="-250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= not A</a:t>
            </a:r>
            <a:endParaRPr lang="en-US" altLang="zh-CN" sz="2000" b="1" baseline="-250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基本逻辑运算的电子实现：逻辑门</a:t>
            </a:r>
          </a:p>
        </p:txBody>
      </p:sp>
      <p:sp>
        <p:nvSpPr>
          <p:cNvPr id="35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用电子技术实现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及其逻辑运算（选讲）</a:t>
            </a:r>
          </a:p>
        </p:txBody>
      </p:sp>
      <p:sp>
        <p:nvSpPr>
          <p:cNvPr id="2" name="矩形 1"/>
          <p:cNvSpPr/>
          <p:nvPr/>
        </p:nvSpPr>
        <p:spPr>
          <a:xfrm>
            <a:off x="1519831" y="6289732"/>
            <a:ext cx="9119677" cy="42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buClr>
                <a:srgbClr val="0066FF"/>
              </a:buClr>
            </a:pP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这些电路被封装成集成电路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芯片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，即所谓的逻辑门，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与门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 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或门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非门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2192" y="3050303"/>
            <a:ext cx="2447368" cy="222352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print"/>
          <a:srcRect t="-5288" b="-2196"/>
          <a:stretch>
            <a:fillRect/>
          </a:stretch>
        </p:blipFill>
        <p:spPr>
          <a:xfrm>
            <a:off x="5071185" y="3051891"/>
            <a:ext cx="2447925" cy="2196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 cstate="print"/>
          <a:srcRect l="-2" t="-1" r="-3689" b="-2934"/>
          <a:stretch>
            <a:fillRect/>
          </a:stretch>
        </p:blipFill>
        <p:spPr>
          <a:xfrm>
            <a:off x="7981213" y="3050303"/>
            <a:ext cx="2434288" cy="220407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  <p:bldP spid="28" grpId="0"/>
      <p:bldP spid="31" grpId="0"/>
      <p:bldP spid="32" grpId="0"/>
      <p:bldP spid="33" grpId="0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5099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723" y="2062174"/>
            <a:ext cx="2819400" cy="199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25100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3685" y="4408524"/>
            <a:ext cx="2857500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25101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566" y="4575122"/>
            <a:ext cx="2828925" cy="213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25103" name="Text Box 15"/>
          <p:cNvSpPr txBox="1">
            <a:spLocks noChangeArrowheads="1"/>
          </p:cNvSpPr>
          <p:nvPr/>
        </p:nvSpPr>
        <p:spPr bwMode="auto">
          <a:xfrm>
            <a:off x="8831900" y="2212738"/>
            <a:ext cx="2199961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1Y</a:t>
            </a:r>
            <a:r>
              <a:rPr lang="en-US" altLang="zh-CN" sz="2000" b="1" baseline="-2500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 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= 1A</a:t>
            </a:r>
            <a:r>
              <a:rPr lang="en-US" altLang="zh-CN" sz="2000" b="1" baseline="-2500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and 1B</a:t>
            </a:r>
          </a:p>
          <a:p>
            <a:pPr>
              <a:lnSpc>
                <a:spcPct val="130000"/>
              </a:lnSpc>
            </a:pP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2Y</a:t>
            </a:r>
            <a:r>
              <a:rPr lang="en-US" altLang="zh-CN" sz="2000" b="1" baseline="-2500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 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= 2A</a:t>
            </a:r>
            <a:r>
              <a:rPr lang="en-US" altLang="zh-CN" sz="2000" b="1" baseline="-2500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and 2B</a:t>
            </a:r>
          </a:p>
          <a:p>
            <a:pPr>
              <a:lnSpc>
                <a:spcPct val="130000"/>
              </a:lnSpc>
            </a:pP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3Y</a:t>
            </a:r>
            <a:r>
              <a:rPr lang="en-US" altLang="zh-CN" sz="2000" b="1" baseline="-2500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 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= 3A</a:t>
            </a:r>
            <a:r>
              <a:rPr lang="en-US" altLang="zh-CN" sz="2000" b="1" baseline="-2500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and 3B</a:t>
            </a:r>
          </a:p>
          <a:p>
            <a:pPr>
              <a:lnSpc>
                <a:spcPct val="130000"/>
              </a:lnSpc>
            </a:pP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4Y</a:t>
            </a:r>
            <a:r>
              <a:rPr lang="en-US" altLang="zh-CN" sz="2000" b="1" baseline="-2500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 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= 4A</a:t>
            </a:r>
            <a:r>
              <a:rPr lang="en-US" altLang="zh-CN" sz="2000" b="1" baseline="-2500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and 4B</a:t>
            </a:r>
            <a:endParaRPr lang="en-US" altLang="zh-CN" sz="2000" b="1" baseline="-2500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用电子技术实现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及其逻辑运算（选讲）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集成电路示意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97347" y="2062174"/>
            <a:ext cx="2447368" cy="2196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662569" y="4585461"/>
            <a:ext cx="1891671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0066FF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电路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1740069" y="4270533"/>
            <a:ext cx="17526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</a:t>
            </a:r>
            <a:r>
              <a:rPr lang="en-US" altLang="zh-CN" sz="2000" b="1" baseline="-250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 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= A</a:t>
            </a:r>
            <a:r>
              <a:rPr lang="en-US" altLang="zh-CN" sz="2000" b="1" baseline="-250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and B</a:t>
            </a:r>
            <a:endParaRPr lang="en-US" altLang="zh-CN" sz="2000" b="1" baseline="-250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16" name="Group 9"/>
          <p:cNvGrpSpPr/>
          <p:nvPr/>
        </p:nvGrpSpPr>
        <p:grpSpPr bwMode="auto">
          <a:xfrm>
            <a:off x="1835749" y="5503949"/>
            <a:ext cx="1731962" cy="493712"/>
            <a:chOff x="4362" y="3503"/>
            <a:chExt cx="1091" cy="311"/>
          </a:xfrm>
        </p:grpSpPr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4665" y="3503"/>
              <a:ext cx="481" cy="3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>
              <a:off x="4362" y="3598"/>
              <a:ext cx="3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4363" y="3734"/>
              <a:ext cx="3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5150" y="3654"/>
              <a:ext cx="3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4711" y="350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ea typeface="隶书" panose="02010509060101010101" pitchFamily="49" charset="-122"/>
                </a:rPr>
                <a:t>&amp;</a:t>
              </a:r>
            </a:p>
          </p:txBody>
        </p:sp>
      </p:grpSp>
      <p:sp>
        <p:nvSpPr>
          <p:cNvPr id="22" name="Rectangle 27"/>
          <p:cNvSpPr>
            <a:spLocks noChangeArrowheads="1"/>
          </p:cNvSpPr>
          <p:nvPr/>
        </p:nvSpPr>
        <p:spPr bwMode="auto">
          <a:xfrm>
            <a:off x="1166409" y="5997661"/>
            <a:ext cx="30059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与门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电路符号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左侧是输入，右侧是输出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" name="Picture 31" descr="pgf04121305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401" y="4624251"/>
            <a:ext cx="855428" cy="644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25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25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25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25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25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25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25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25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5103" grpId="0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506" name="Text Box 50"/>
          <p:cNvSpPr txBox="1">
            <a:spLocks noChangeArrowheads="1"/>
          </p:cNvSpPr>
          <p:nvPr/>
        </p:nvSpPr>
        <p:spPr bwMode="auto">
          <a:xfrm>
            <a:off x="3743389" y="20063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555508" name="Rectangle 52"/>
          <p:cNvSpPr>
            <a:spLocks noChangeArrowheads="1"/>
          </p:cNvSpPr>
          <p:nvPr/>
        </p:nvSpPr>
        <p:spPr bwMode="auto">
          <a:xfrm>
            <a:off x="4411725" y="1909551"/>
            <a:ext cx="3187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>
                <a:latin typeface="Times New Roman" panose="02020503050405090304" pitchFamily="18" charset="0"/>
              </a:rPr>
              <a:t>(+ 2 4 5. 2 5)</a:t>
            </a:r>
            <a:r>
              <a:rPr lang="zh-CN" altLang="en-US" sz="4000" baseline="-25000">
                <a:latin typeface="Times New Roman" panose="02020503050405090304" pitchFamily="18" charset="0"/>
              </a:rPr>
              <a:t>十</a:t>
            </a:r>
          </a:p>
        </p:txBody>
      </p:sp>
      <p:sp>
        <p:nvSpPr>
          <p:cNvPr id="1555511" name="Rectangle 55"/>
          <p:cNvSpPr>
            <a:spLocks noChangeArrowheads="1"/>
          </p:cNvSpPr>
          <p:nvPr/>
        </p:nvSpPr>
        <p:spPr bwMode="auto">
          <a:xfrm>
            <a:off x="3812228" y="2955157"/>
            <a:ext cx="438934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/>
              <a:t>+   1 1 1 1 0 1 0 1 . 0 1 0 0</a:t>
            </a:r>
            <a:endParaRPr lang="zh-CN" altLang="en-US" sz="3200" baseline="-25000"/>
          </a:p>
        </p:txBody>
      </p:sp>
      <p:sp>
        <p:nvSpPr>
          <p:cNvPr id="1555512" name="AutoShape 56"/>
          <p:cNvSpPr>
            <a:spLocks noChangeArrowheads="1"/>
          </p:cNvSpPr>
          <p:nvPr/>
        </p:nvSpPr>
        <p:spPr bwMode="auto">
          <a:xfrm>
            <a:off x="5789676" y="2527087"/>
            <a:ext cx="563563" cy="544795"/>
          </a:xfrm>
          <a:prstGeom prst="downArrow">
            <a:avLst>
              <a:gd name="adj1" fmla="val 50000"/>
              <a:gd name="adj2" fmla="val 32465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55513" name="Rectangle 57"/>
          <p:cNvSpPr>
            <a:spLocks noChangeArrowheads="1"/>
          </p:cNvSpPr>
          <p:nvPr/>
        </p:nvSpPr>
        <p:spPr bwMode="auto">
          <a:xfrm>
            <a:off x="3828103" y="3513957"/>
            <a:ext cx="43925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dirty="0"/>
              <a:t>0   1 1 1 1 0 1 0 1 . 0 1 0 0</a:t>
            </a:r>
            <a:endParaRPr lang="zh-CN" altLang="en-US" sz="3200" baseline="-25000" dirty="0"/>
          </a:p>
        </p:txBody>
      </p:sp>
      <p:sp>
        <p:nvSpPr>
          <p:cNvPr id="1555514" name="AutoShape 58"/>
          <p:cNvSpPr>
            <a:spLocks noChangeArrowheads="1"/>
          </p:cNvSpPr>
          <p:nvPr/>
        </p:nvSpPr>
        <p:spPr bwMode="auto">
          <a:xfrm>
            <a:off x="4271530" y="4051301"/>
            <a:ext cx="563563" cy="544795"/>
          </a:xfrm>
          <a:prstGeom prst="downArrow">
            <a:avLst>
              <a:gd name="adj1" fmla="val 50000"/>
              <a:gd name="adj2" fmla="val 32465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55515" name="Rectangle 59"/>
          <p:cNvSpPr>
            <a:spLocks noChangeArrowheads="1"/>
          </p:cNvSpPr>
          <p:nvPr/>
        </p:nvSpPr>
        <p:spPr bwMode="auto">
          <a:xfrm>
            <a:off x="1368764" y="4579486"/>
            <a:ext cx="42883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dirty="0"/>
              <a:t>0   1 1 1 1 0 1 0 1  0 1 0 0</a:t>
            </a:r>
            <a:endParaRPr lang="zh-CN" altLang="en-US" sz="3200" baseline="-25000" dirty="0"/>
          </a:p>
        </p:txBody>
      </p:sp>
      <p:sp>
        <p:nvSpPr>
          <p:cNvPr id="1555516" name="Freeform 60"/>
          <p:cNvSpPr/>
          <p:nvPr/>
        </p:nvSpPr>
        <p:spPr bwMode="auto">
          <a:xfrm>
            <a:off x="1833777" y="5036632"/>
            <a:ext cx="576263" cy="477838"/>
          </a:xfrm>
          <a:custGeom>
            <a:avLst/>
            <a:gdLst>
              <a:gd name="T0" fmla="*/ 0 w 363"/>
              <a:gd name="T1" fmla="*/ 0 h 257"/>
              <a:gd name="T2" fmla="*/ 0 w 363"/>
              <a:gd name="T3" fmla="*/ 257 h 257"/>
              <a:gd name="T4" fmla="*/ 363 w 363"/>
              <a:gd name="T5" fmla="*/ 257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257">
                <a:moveTo>
                  <a:pt x="0" y="0"/>
                </a:moveTo>
                <a:lnTo>
                  <a:pt x="0" y="257"/>
                </a:lnTo>
                <a:lnTo>
                  <a:pt x="363" y="257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5517" name="Text Box 61"/>
          <p:cNvSpPr txBox="1">
            <a:spLocks noChangeArrowheads="1"/>
          </p:cNvSpPr>
          <p:nvPr/>
        </p:nvSpPr>
        <p:spPr bwMode="auto">
          <a:xfrm>
            <a:off x="2375114" y="5200146"/>
            <a:ext cx="37830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小数点默认在此位置</a:t>
            </a:r>
            <a:r>
              <a:rPr lang="en-US" altLang="zh-CN"/>
              <a:t>(</a:t>
            </a:r>
            <a:r>
              <a:rPr lang="zh-CN" altLang="en-US"/>
              <a:t>无需用符号表示</a:t>
            </a:r>
            <a:r>
              <a:rPr lang="en-US" altLang="zh-CN"/>
              <a:t>)</a:t>
            </a:r>
            <a:r>
              <a:rPr lang="zh-CN" altLang="en-US"/>
              <a:t>，机器中全部是小数</a:t>
            </a:r>
          </a:p>
        </p:txBody>
      </p:sp>
      <p:sp>
        <p:nvSpPr>
          <p:cNvPr id="1555518" name="AutoShape 62"/>
          <p:cNvSpPr>
            <a:spLocks noChangeArrowheads="1"/>
          </p:cNvSpPr>
          <p:nvPr/>
        </p:nvSpPr>
        <p:spPr bwMode="auto">
          <a:xfrm>
            <a:off x="7456078" y="4051301"/>
            <a:ext cx="563562" cy="985331"/>
          </a:xfrm>
          <a:prstGeom prst="downArrow">
            <a:avLst>
              <a:gd name="adj1" fmla="val 50000"/>
              <a:gd name="adj2" fmla="val 63099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55519" name="Rectangle 63"/>
          <p:cNvSpPr>
            <a:spLocks noChangeArrowheads="1"/>
          </p:cNvSpPr>
          <p:nvPr/>
        </p:nvSpPr>
        <p:spPr bwMode="auto">
          <a:xfrm>
            <a:off x="7004115" y="4934001"/>
            <a:ext cx="42883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dirty="0"/>
              <a:t>0   1 1 1 1 0 1 0 1  0 1 0 0</a:t>
            </a:r>
            <a:endParaRPr lang="zh-CN" altLang="en-US" sz="3200" baseline="-25000" dirty="0"/>
          </a:p>
        </p:txBody>
      </p:sp>
      <p:sp>
        <p:nvSpPr>
          <p:cNvPr id="1555520" name="Freeform 64"/>
          <p:cNvSpPr/>
          <p:nvPr/>
        </p:nvSpPr>
        <p:spPr bwMode="auto">
          <a:xfrm flipH="1">
            <a:off x="10671817" y="5340401"/>
            <a:ext cx="576262" cy="492125"/>
          </a:xfrm>
          <a:custGeom>
            <a:avLst/>
            <a:gdLst>
              <a:gd name="T0" fmla="*/ 0 w 363"/>
              <a:gd name="T1" fmla="*/ 0 h 257"/>
              <a:gd name="T2" fmla="*/ 0 w 363"/>
              <a:gd name="T3" fmla="*/ 257 h 257"/>
              <a:gd name="T4" fmla="*/ 363 w 363"/>
              <a:gd name="T5" fmla="*/ 257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" h="257">
                <a:moveTo>
                  <a:pt x="0" y="0"/>
                </a:moveTo>
                <a:lnTo>
                  <a:pt x="0" y="257"/>
                </a:lnTo>
                <a:lnTo>
                  <a:pt x="363" y="257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5521" name="Text Box 65"/>
          <p:cNvSpPr txBox="1">
            <a:spLocks noChangeArrowheads="1"/>
          </p:cNvSpPr>
          <p:nvPr/>
        </p:nvSpPr>
        <p:spPr bwMode="auto">
          <a:xfrm>
            <a:off x="7076129" y="5513439"/>
            <a:ext cx="37988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/>
              <a:t>小数点默认在此位置</a:t>
            </a:r>
            <a:r>
              <a:rPr lang="en-US" altLang="zh-CN" dirty="0"/>
              <a:t>(</a:t>
            </a:r>
            <a:r>
              <a:rPr lang="zh-CN" altLang="en-US" dirty="0"/>
              <a:t>无需用符号表示</a:t>
            </a:r>
            <a:r>
              <a:rPr lang="en-US" altLang="zh-CN" dirty="0"/>
              <a:t>)</a:t>
            </a:r>
            <a:r>
              <a:rPr lang="zh-CN" altLang="en-US" dirty="0"/>
              <a:t>，机器中全部是整数</a:t>
            </a:r>
          </a:p>
        </p:txBody>
      </p:sp>
      <p:grpSp>
        <p:nvGrpSpPr>
          <p:cNvPr id="2" name="Group 70"/>
          <p:cNvGrpSpPr/>
          <p:nvPr/>
        </p:nvGrpSpPr>
        <p:grpSpPr bwMode="auto">
          <a:xfrm>
            <a:off x="5275476" y="5687302"/>
            <a:ext cx="1423987" cy="1068387"/>
            <a:chOff x="1347" y="3401"/>
            <a:chExt cx="897" cy="673"/>
          </a:xfrm>
        </p:grpSpPr>
        <p:sp>
          <p:nvSpPr>
            <p:cNvPr id="20" name="AutoShape 39"/>
            <p:cNvSpPr>
              <a:spLocks noChangeArrowheads="1"/>
            </p:cNvSpPr>
            <p:nvPr/>
          </p:nvSpPr>
          <p:spPr bwMode="gray">
            <a:xfrm>
              <a:off x="1347" y="3401"/>
              <a:ext cx="897" cy="673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gray">
            <a:xfrm>
              <a:off x="1421" y="3457"/>
              <a:ext cx="749" cy="562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84"/>
            <p:cNvSpPr txBox="1">
              <a:spLocks noChangeArrowheads="1"/>
            </p:cNvSpPr>
            <p:nvPr/>
          </p:nvSpPr>
          <p:spPr bwMode="auto">
            <a:xfrm>
              <a:off x="1424" y="3557"/>
              <a:ext cx="742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定点数</a:t>
              </a:r>
            </a:p>
          </p:txBody>
        </p:sp>
      </p:grpSp>
      <p:sp>
        <p:nvSpPr>
          <p:cNvPr id="22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数值性信息的表达：小数点的处理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定点数：纯小数 </a:t>
            </a:r>
            <a:r>
              <a:rPr kumimoji="1"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vs. </a:t>
            </a: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纯整数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5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5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5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5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55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55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55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55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55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55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55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55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55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55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55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5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55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55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55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55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55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55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7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770" decel="100000"/>
                                        <p:tgtEl>
                                          <p:spTgt spid="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4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5511" grpId="0"/>
      <p:bldP spid="1555512" grpId="0" animBg="1"/>
      <p:bldP spid="1555513" grpId="0"/>
      <p:bldP spid="1555514" grpId="0" animBg="1"/>
      <p:bldP spid="1555515" grpId="0"/>
      <p:bldP spid="1555517" grpId="0"/>
      <p:bldP spid="1555518" grpId="0" animBg="1"/>
      <p:bldP spid="1555519" grpId="0"/>
      <p:bldP spid="15555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87" name="Text Box 3"/>
          <p:cNvSpPr txBox="1">
            <a:spLocks noChangeArrowheads="1"/>
          </p:cNvSpPr>
          <p:nvPr/>
        </p:nvSpPr>
        <p:spPr bwMode="auto">
          <a:xfrm>
            <a:off x="3639128" y="170987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80388" name="Rectangle 4"/>
          <p:cNvSpPr>
            <a:spLocks noChangeArrowheads="1"/>
          </p:cNvSpPr>
          <p:nvPr/>
        </p:nvSpPr>
        <p:spPr bwMode="auto">
          <a:xfrm>
            <a:off x="2646939" y="1992952"/>
            <a:ext cx="726673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>
                <a:latin typeface="Arial" panose="020B0604020202090204" pitchFamily="34" charset="0"/>
                <a:cs typeface="Arial" panose="020B0604020202090204" pitchFamily="34" charset="0"/>
              </a:rPr>
              <a:t>(+ 2 4 5. 2 5)</a:t>
            </a:r>
            <a:r>
              <a:rPr lang="zh-CN" altLang="en-US" sz="4000" baseline="-25000">
                <a:latin typeface="Arial" panose="020B0604020202090204" pitchFamily="34" charset="0"/>
                <a:cs typeface="Arial" panose="020B0604020202090204" pitchFamily="34" charset="0"/>
              </a:rPr>
              <a:t>十  </a:t>
            </a:r>
            <a:r>
              <a:rPr lang="en-US" altLang="zh-CN" sz="4000">
                <a:latin typeface="Arial" panose="020B0604020202090204" pitchFamily="34" charset="0"/>
                <a:cs typeface="Arial" panose="020B0604020202090204" pitchFamily="34" charset="0"/>
              </a:rPr>
              <a:t>= 0.24525 </a:t>
            </a:r>
            <a:r>
              <a:rPr lang="en-US" altLang="zh-CN" sz="4000">
                <a:latin typeface="Arial" panose="020B0604020202090204" pitchFamily="34" charset="0"/>
                <a:cs typeface="Arial" panose="020B0604020202090204" pitchFamily="34" charset="0"/>
                <a:sym typeface="Symbol" panose="05050102010706020507" pitchFamily="18" charset="2"/>
              </a:rPr>
              <a:t> 10</a:t>
            </a:r>
            <a:r>
              <a:rPr lang="en-US" altLang="zh-CN" sz="4000" baseline="30000">
                <a:latin typeface="Arial" panose="020B0604020202090204" pitchFamily="34" charset="0"/>
                <a:cs typeface="Arial" panose="020B0604020202090204" pitchFamily="34" charset="0"/>
                <a:sym typeface="Symbol" panose="05050102010706020507" pitchFamily="18" charset="2"/>
              </a:rPr>
              <a:t>3</a:t>
            </a:r>
            <a:endParaRPr lang="en-US" altLang="en-US" sz="4000" baseline="30000">
              <a:latin typeface="Arial" panose="020B0604020202090204" pitchFamily="34" charset="0"/>
              <a:cs typeface="Arial" panose="020B0604020202090204" pitchFamily="34" charset="0"/>
              <a:sym typeface="Symbol" panose="05050102010706020507" pitchFamily="18" charset="2"/>
            </a:endParaRPr>
          </a:p>
        </p:txBody>
      </p:sp>
      <p:sp>
        <p:nvSpPr>
          <p:cNvPr id="1680389" name="Rectangle 5"/>
          <p:cNvSpPr>
            <a:spLocks noChangeArrowheads="1"/>
          </p:cNvSpPr>
          <p:nvPr/>
        </p:nvSpPr>
        <p:spPr bwMode="auto">
          <a:xfrm>
            <a:off x="3462915" y="2932252"/>
            <a:ext cx="49776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latin typeface="Arial" panose="020B0604020202090204" pitchFamily="34" charset="0"/>
                <a:cs typeface="Arial" panose="020B0604020202090204" pitchFamily="34" charset="0"/>
              </a:rPr>
              <a:t>+   1 1 1 1 0 1 0 1 . 0 1 0 0</a:t>
            </a:r>
            <a:endParaRPr lang="zh-CN" altLang="en-US" sz="3200" baseline="-250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80390" name="AutoShape 6"/>
          <p:cNvSpPr>
            <a:spLocks noChangeArrowheads="1"/>
          </p:cNvSpPr>
          <p:nvPr/>
        </p:nvSpPr>
        <p:spPr bwMode="auto">
          <a:xfrm>
            <a:off x="5858597" y="2622475"/>
            <a:ext cx="563563" cy="400625"/>
          </a:xfrm>
          <a:prstGeom prst="downArrow">
            <a:avLst>
              <a:gd name="adj1" fmla="val 50000"/>
              <a:gd name="adj2" fmla="val 32465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80391" name="Rectangle 7"/>
          <p:cNvSpPr>
            <a:spLocks noChangeArrowheads="1"/>
          </p:cNvSpPr>
          <p:nvPr/>
        </p:nvSpPr>
        <p:spPr bwMode="auto">
          <a:xfrm>
            <a:off x="3478790" y="3491052"/>
            <a:ext cx="49648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latin typeface="Arial" panose="020B0604020202090204" pitchFamily="34" charset="0"/>
                <a:cs typeface="Arial" panose="020B0604020202090204" pitchFamily="34" charset="0"/>
              </a:rPr>
              <a:t>0   1 1 1 1 0 1 0 1 . 0 1 0 0</a:t>
            </a:r>
            <a:endParaRPr lang="zh-CN" altLang="en-US" sz="3200" baseline="-250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" name="Group 16"/>
          <p:cNvGrpSpPr/>
          <p:nvPr/>
        </p:nvGrpSpPr>
        <p:grpSpPr bwMode="auto">
          <a:xfrm>
            <a:off x="9776908" y="5259020"/>
            <a:ext cx="1423988" cy="1068387"/>
            <a:chOff x="1347" y="3401"/>
            <a:chExt cx="897" cy="673"/>
          </a:xfrm>
        </p:grpSpPr>
        <p:sp>
          <p:nvSpPr>
            <p:cNvPr id="20" name="AutoShape 39"/>
            <p:cNvSpPr>
              <a:spLocks noChangeArrowheads="1"/>
            </p:cNvSpPr>
            <p:nvPr/>
          </p:nvSpPr>
          <p:spPr bwMode="gray">
            <a:xfrm>
              <a:off x="1347" y="3401"/>
              <a:ext cx="897" cy="673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gray">
            <a:xfrm>
              <a:off x="1421" y="3457"/>
              <a:ext cx="749" cy="562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84"/>
            <p:cNvSpPr txBox="1">
              <a:spLocks noChangeArrowheads="1"/>
            </p:cNvSpPr>
            <p:nvPr/>
          </p:nvSpPr>
          <p:spPr bwMode="auto">
            <a:xfrm>
              <a:off x="1428" y="3565"/>
              <a:ext cx="742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浮点数</a:t>
              </a:r>
            </a:p>
          </p:txBody>
        </p:sp>
      </p:grpSp>
      <p:sp>
        <p:nvSpPr>
          <p:cNvPr id="1680404" name="Rectangle 20"/>
          <p:cNvSpPr>
            <a:spLocks noChangeArrowheads="1"/>
          </p:cNvSpPr>
          <p:nvPr/>
        </p:nvSpPr>
        <p:spPr bwMode="auto">
          <a:xfrm>
            <a:off x="3180339" y="4059377"/>
            <a:ext cx="61863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latin typeface="Arial" panose="020B0604020202090204" pitchFamily="34" charset="0"/>
                <a:cs typeface="Arial" panose="020B0604020202090204" pitchFamily="34" charset="0"/>
              </a:rPr>
              <a:t>0   0. 1 1 1 1 0 1 0 1 0 1 0 0 </a:t>
            </a:r>
            <a:r>
              <a:rPr lang="en-US" altLang="zh-CN" sz="3200">
                <a:latin typeface="Arial" panose="020B0604020202090204" pitchFamily="34" charset="0"/>
                <a:cs typeface="Arial" panose="020B0604020202090204" pitchFamily="34" charset="0"/>
                <a:sym typeface="Symbol" panose="05050102010706020507" pitchFamily="18" charset="2"/>
              </a:rPr>
              <a:t> 2</a:t>
            </a:r>
            <a:r>
              <a:rPr lang="en-US" altLang="zh-CN" sz="3200" baseline="30000">
                <a:latin typeface="Arial" panose="020B0604020202090204" pitchFamily="34" charset="0"/>
                <a:cs typeface="Arial" panose="020B0604020202090204" pitchFamily="34" charset="0"/>
                <a:sym typeface="Symbol" panose="05050102010706020507" pitchFamily="18" charset="2"/>
              </a:rPr>
              <a:t>+8</a:t>
            </a:r>
          </a:p>
        </p:txBody>
      </p:sp>
      <p:sp>
        <p:nvSpPr>
          <p:cNvPr id="1680405" name="Rectangle 21"/>
          <p:cNvSpPr>
            <a:spLocks noChangeArrowheads="1"/>
          </p:cNvSpPr>
          <p:nvPr/>
        </p:nvSpPr>
        <p:spPr bwMode="auto">
          <a:xfrm>
            <a:off x="3183515" y="4603890"/>
            <a:ext cx="67104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Arial" panose="020B0604020202090204" pitchFamily="34" charset="0"/>
                <a:cs typeface="Arial" panose="020B0604020202090204" pitchFamily="34" charset="0"/>
              </a:rPr>
              <a:t>0  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0.</a:t>
            </a:r>
            <a:r>
              <a:rPr lang="en-US" altLang="zh-CN" sz="3200" dirty="0">
                <a:latin typeface="Arial" panose="020B0604020202090204" pitchFamily="34" charset="0"/>
                <a:cs typeface="Arial" panose="020B0604020202090204" pitchFamily="34" charset="0"/>
              </a:rPr>
              <a:t> 1 1 1 1 0 1 0 1 0 1 0 0 </a:t>
            </a:r>
            <a:r>
              <a:rPr lang="en-US" altLang="zh-CN" sz="3200" dirty="0">
                <a:latin typeface="Arial" panose="020B0604020202090204" pitchFamily="34" charset="0"/>
                <a:cs typeface="Arial" panose="020B0604020202090204" pitchFamily="34" charset="0"/>
                <a:sym typeface="Symbol" panose="05050102010706020507" pitchFamily="18" charset="2"/>
              </a:rPr>
              <a:t>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200" b="1" baseline="300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200" baseline="30000" dirty="0">
                <a:latin typeface="Arial" panose="020B0604020202090204" pitchFamily="34" charset="0"/>
                <a:cs typeface="Arial" panose="020B0604020202090204" pitchFamily="34" charset="0"/>
                <a:sym typeface="Symbol" panose="05050102010706020507" pitchFamily="18" charset="2"/>
              </a:rPr>
              <a:t> 1000</a:t>
            </a:r>
          </a:p>
        </p:txBody>
      </p:sp>
      <p:sp>
        <p:nvSpPr>
          <p:cNvPr id="1680406" name="Rectangle 22"/>
          <p:cNvSpPr>
            <a:spLocks noChangeArrowheads="1"/>
          </p:cNvSpPr>
          <p:nvPr/>
        </p:nvSpPr>
        <p:spPr bwMode="auto">
          <a:xfrm>
            <a:off x="2904115" y="5500827"/>
            <a:ext cx="68996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Arial" panose="020B0604020202090204" pitchFamily="34" charset="0"/>
                <a:cs typeface="Arial" panose="020B0604020202090204" pitchFamily="34" charset="0"/>
              </a:rPr>
              <a:t>0   </a:t>
            </a:r>
            <a:r>
              <a:rPr lang="en-US" altLang="zh-CN" sz="3200" b="1" dirty="0">
                <a:latin typeface="Arial" panose="020B0604020202090204" pitchFamily="34" charset="0"/>
                <a:cs typeface="Arial" panose="020B0604020202090204" pitchFamily="34" charset="0"/>
              </a:rPr>
              <a:t>0</a:t>
            </a:r>
            <a:r>
              <a:rPr lang="en-US" altLang="zh-CN" sz="32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3200" dirty="0">
                <a:latin typeface="Arial" panose="020B0604020202090204" pitchFamily="34" charset="0"/>
                <a:cs typeface="Arial" panose="020B0604020202090204" pitchFamily="34" charset="0"/>
                <a:sym typeface="Symbol" panose="05050102010706020507" pitchFamily="18" charset="2"/>
              </a:rPr>
              <a:t>1 0 0 0    </a:t>
            </a:r>
            <a:r>
              <a:rPr lang="en-US" altLang="zh-CN" sz="3200" dirty="0">
                <a:latin typeface="Arial" panose="020B0604020202090204" pitchFamily="34" charset="0"/>
                <a:cs typeface="Arial" panose="020B0604020202090204" pitchFamily="34" charset="0"/>
              </a:rPr>
              <a:t> 1 1 1 1 0 1 0 1 0 1 0 0</a:t>
            </a:r>
          </a:p>
        </p:txBody>
      </p:sp>
      <p:grpSp>
        <p:nvGrpSpPr>
          <p:cNvPr id="3" name="Group 30"/>
          <p:cNvGrpSpPr/>
          <p:nvPr/>
        </p:nvGrpSpPr>
        <p:grpSpPr bwMode="auto">
          <a:xfrm>
            <a:off x="4391602" y="5118239"/>
            <a:ext cx="4995862" cy="431800"/>
            <a:chOff x="1781" y="2845"/>
            <a:chExt cx="3147" cy="272"/>
          </a:xfrm>
        </p:grpSpPr>
        <p:sp>
          <p:nvSpPr>
            <p:cNvPr id="1680407" name="Line 23"/>
            <p:cNvSpPr>
              <a:spLocks noChangeShapeType="1"/>
            </p:cNvSpPr>
            <p:nvPr/>
          </p:nvSpPr>
          <p:spPr bwMode="auto">
            <a:xfrm>
              <a:off x="1781" y="2845"/>
              <a:ext cx="2429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680408" name="Line 24"/>
            <p:cNvSpPr>
              <a:spLocks noChangeShapeType="1"/>
            </p:cNvSpPr>
            <p:nvPr/>
          </p:nvSpPr>
          <p:spPr bwMode="auto">
            <a:xfrm>
              <a:off x="3217" y="2854"/>
              <a:ext cx="461" cy="25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680409" name="Line 25"/>
            <p:cNvSpPr>
              <a:spLocks noChangeShapeType="1"/>
            </p:cNvSpPr>
            <p:nvPr/>
          </p:nvSpPr>
          <p:spPr bwMode="auto">
            <a:xfrm flipV="1">
              <a:off x="2553" y="3117"/>
              <a:ext cx="2375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4" name="Group 36"/>
          <p:cNvGrpSpPr/>
          <p:nvPr/>
        </p:nvGrpSpPr>
        <p:grpSpPr bwMode="auto">
          <a:xfrm>
            <a:off x="3594679" y="4956314"/>
            <a:ext cx="6091608" cy="601664"/>
            <a:chOff x="1279" y="2756"/>
            <a:chExt cx="3857" cy="366"/>
          </a:xfrm>
        </p:grpSpPr>
        <p:sp>
          <p:nvSpPr>
            <p:cNvPr id="1680410" name="Line 26"/>
            <p:cNvSpPr>
              <a:spLocks noChangeShapeType="1"/>
            </p:cNvSpPr>
            <p:nvPr/>
          </p:nvSpPr>
          <p:spPr bwMode="auto">
            <a:xfrm>
              <a:off x="4659" y="2756"/>
              <a:ext cx="4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680411" name="Line 27"/>
            <p:cNvSpPr>
              <a:spLocks noChangeShapeType="1"/>
            </p:cNvSpPr>
            <p:nvPr/>
          </p:nvSpPr>
          <p:spPr bwMode="auto">
            <a:xfrm flipV="1">
              <a:off x="1279" y="3113"/>
              <a:ext cx="953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680412" name="Line 28"/>
            <p:cNvSpPr>
              <a:spLocks noChangeShapeType="1"/>
            </p:cNvSpPr>
            <p:nvPr/>
          </p:nvSpPr>
          <p:spPr bwMode="auto">
            <a:xfrm flipV="1">
              <a:off x="1798" y="2756"/>
              <a:ext cx="3338" cy="35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680415" name="AutoShape 31"/>
          <p:cNvSpPr/>
          <p:nvPr/>
        </p:nvSpPr>
        <p:spPr bwMode="auto">
          <a:xfrm rot="16200000">
            <a:off x="7638833" y="4195107"/>
            <a:ext cx="69850" cy="3868738"/>
          </a:xfrm>
          <a:prstGeom prst="leftBrace">
            <a:avLst>
              <a:gd name="adj1" fmla="val 46155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80416" name="Text Box 32"/>
          <p:cNvSpPr txBox="1">
            <a:spLocks noChangeArrowheads="1"/>
          </p:cNvSpPr>
          <p:nvPr/>
        </p:nvSpPr>
        <p:spPr bwMode="auto">
          <a:xfrm>
            <a:off x="7096702" y="6150114"/>
            <a:ext cx="189346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尾数</a:t>
            </a:r>
          </a:p>
          <a:p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?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多少位</a:t>
            </a: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; ?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精度</a:t>
            </a:r>
          </a:p>
        </p:txBody>
      </p:sp>
      <p:sp>
        <p:nvSpPr>
          <p:cNvPr id="1680417" name="AutoShape 33"/>
          <p:cNvSpPr/>
          <p:nvPr/>
        </p:nvSpPr>
        <p:spPr bwMode="auto">
          <a:xfrm rot="16200000">
            <a:off x="4270952" y="5488127"/>
            <a:ext cx="42863" cy="1236662"/>
          </a:xfrm>
          <a:prstGeom prst="leftBrace">
            <a:avLst>
              <a:gd name="adj1" fmla="val 240429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80418" name="Text Box 34"/>
          <p:cNvSpPr txBox="1">
            <a:spLocks noChangeArrowheads="1"/>
          </p:cNvSpPr>
          <p:nvPr/>
        </p:nvSpPr>
        <p:spPr bwMode="auto">
          <a:xfrm>
            <a:off x="3978852" y="6107252"/>
            <a:ext cx="2540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指数</a:t>
            </a:r>
          </a:p>
          <a:p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?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多少位；</a:t>
            </a:r>
            <a:r>
              <a:rPr lang="en-US" altLang="zh-CN" sz="2000">
                <a:latin typeface="Arial" panose="020B0604020202090204" pitchFamily="34" charset="0"/>
                <a:cs typeface="Arial" panose="020B0604020202090204" pitchFamily="34" charset="0"/>
              </a:rPr>
              <a:t>?</a:t>
            </a:r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数的范围</a:t>
            </a:r>
          </a:p>
        </p:txBody>
      </p:sp>
      <p:sp>
        <p:nvSpPr>
          <p:cNvPr id="1680419" name="Text Box 35"/>
          <p:cNvSpPr txBox="1">
            <a:spLocks noChangeArrowheads="1"/>
          </p:cNvSpPr>
          <p:nvPr/>
        </p:nvSpPr>
        <p:spPr bwMode="auto">
          <a:xfrm>
            <a:off x="2727903" y="6119952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Arial" panose="020B0604020202090204" pitchFamily="34" charset="0"/>
                <a:cs typeface="Arial" panose="020B0604020202090204" pitchFamily="34" charset="0"/>
              </a:rPr>
              <a:t>符号</a:t>
            </a:r>
          </a:p>
        </p:txBody>
      </p:sp>
      <p:grpSp>
        <p:nvGrpSpPr>
          <p:cNvPr id="5" name="Group 40"/>
          <p:cNvGrpSpPr/>
          <p:nvPr/>
        </p:nvGrpSpPr>
        <p:grpSpPr bwMode="auto">
          <a:xfrm>
            <a:off x="2650114" y="5118240"/>
            <a:ext cx="1092200" cy="427037"/>
            <a:chOff x="684" y="2845"/>
            <a:chExt cx="688" cy="269"/>
          </a:xfrm>
        </p:grpSpPr>
        <p:sp>
          <p:nvSpPr>
            <p:cNvPr id="1680421" name="Line 37"/>
            <p:cNvSpPr>
              <a:spLocks noChangeShapeType="1"/>
            </p:cNvSpPr>
            <p:nvPr/>
          </p:nvSpPr>
          <p:spPr bwMode="auto">
            <a:xfrm>
              <a:off x="920" y="2845"/>
              <a:ext cx="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680422" name="Line 38"/>
            <p:cNvSpPr>
              <a:spLocks noChangeShapeType="1"/>
            </p:cNvSpPr>
            <p:nvPr/>
          </p:nvSpPr>
          <p:spPr bwMode="auto">
            <a:xfrm>
              <a:off x="684" y="3114"/>
              <a:ext cx="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680423" name="Line 39"/>
            <p:cNvSpPr>
              <a:spLocks noChangeShapeType="1"/>
            </p:cNvSpPr>
            <p:nvPr/>
          </p:nvSpPr>
          <p:spPr bwMode="auto">
            <a:xfrm flipH="1">
              <a:off x="948" y="2845"/>
              <a:ext cx="301" cy="2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32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数值性信息的表达：小数点的处理（选讲）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浮点数：小数点位置的处理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0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0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80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80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80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80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80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80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80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80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80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80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7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770" decel="100000"/>
                                        <p:tgtEl>
                                          <p:spTgt spid="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6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8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80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80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80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80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8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8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8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8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8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8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80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80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68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8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0389" grpId="0"/>
      <p:bldP spid="1680390" grpId="0" animBg="1"/>
      <p:bldP spid="1680391" grpId="0"/>
      <p:bldP spid="1680404" grpId="0"/>
      <p:bldP spid="1680405" grpId="0"/>
      <p:bldP spid="1680406" grpId="0"/>
      <p:bldP spid="1680415" grpId="0" animBg="1"/>
      <p:bldP spid="1680417" grpId="0" animBg="1"/>
      <p:bldP spid="16804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434" name="Rectangle 2"/>
          <p:cNvSpPr>
            <a:spLocks noChangeArrowheads="1"/>
          </p:cNvSpPr>
          <p:nvPr/>
        </p:nvSpPr>
        <p:spPr bwMode="auto">
          <a:xfrm>
            <a:off x="1361637" y="2211275"/>
            <a:ext cx="292601" cy="40527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82435" name="Rectangle 3"/>
          <p:cNvSpPr>
            <a:spLocks noChangeArrowheads="1"/>
          </p:cNvSpPr>
          <p:nvPr/>
        </p:nvSpPr>
        <p:spPr bwMode="auto">
          <a:xfrm>
            <a:off x="1617224" y="2211275"/>
            <a:ext cx="1098928" cy="40527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82436" name="Rectangle 4"/>
          <p:cNvSpPr>
            <a:spLocks noChangeArrowheads="1"/>
          </p:cNvSpPr>
          <p:nvPr/>
        </p:nvSpPr>
        <p:spPr bwMode="auto">
          <a:xfrm>
            <a:off x="2434788" y="2211275"/>
            <a:ext cx="1838248" cy="40527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82437" name="Rectangle 5"/>
          <p:cNvSpPr>
            <a:spLocks noChangeArrowheads="1"/>
          </p:cNvSpPr>
          <p:nvPr/>
        </p:nvSpPr>
        <p:spPr bwMode="auto">
          <a:xfrm>
            <a:off x="1361637" y="3300658"/>
            <a:ext cx="292601" cy="409677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82438" name="Rectangle 6"/>
          <p:cNvSpPr>
            <a:spLocks noChangeArrowheads="1"/>
          </p:cNvSpPr>
          <p:nvPr/>
        </p:nvSpPr>
        <p:spPr bwMode="auto">
          <a:xfrm>
            <a:off x="1617224" y="3300658"/>
            <a:ext cx="2028103" cy="409677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82439" name="Rectangle 7"/>
          <p:cNvSpPr>
            <a:spLocks noChangeArrowheads="1"/>
          </p:cNvSpPr>
          <p:nvPr/>
        </p:nvSpPr>
        <p:spPr bwMode="auto">
          <a:xfrm>
            <a:off x="3104712" y="3300658"/>
            <a:ext cx="4342106" cy="409677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82440" name="Text Box 8"/>
          <p:cNvSpPr txBox="1">
            <a:spLocks noChangeArrowheads="1"/>
          </p:cNvSpPr>
          <p:nvPr/>
        </p:nvSpPr>
        <p:spPr bwMode="auto">
          <a:xfrm>
            <a:off x="3806387" y="3321353"/>
            <a:ext cx="1496507" cy="338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6" rIns="91429" bIns="45716">
            <a:spAutoFit/>
          </a:bodyPr>
          <a:lstStyle/>
          <a:p>
            <a:r>
              <a:rPr lang="zh-CN" altLang="en-US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尾数</a:t>
            </a:r>
            <a:r>
              <a:rPr lang="en-US" altLang="zh-CN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(</a:t>
            </a:r>
            <a:r>
              <a:rPr lang="zh-CN" altLang="en-US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后</a:t>
            </a:r>
            <a:r>
              <a:rPr lang="en-US" altLang="zh-CN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52</a:t>
            </a:r>
            <a:r>
              <a:rPr lang="zh-CN" altLang="en-US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位</a:t>
            </a:r>
            <a:r>
              <a:rPr lang="en-US" altLang="zh-CN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)</a:t>
            </a:r>
          </a:p>
        </p:txBody>
      </p:sp>
      <p:sp>
        <p:nvSpPr>
          <p:cNvPr id="1682441" name="Text Box 9"/>
          <p:cNvSpPr txBox="1">
            <a:spLocks noChangeArrowheads="1"/>
          </p:cNvSpPr>
          <p:nvPr/>
        </p:nvSpPr>
        <p:spPr bwMode="auto">
          <a:xfrm>
            <a:off x="1314012" y="3317268"/>
            <a:ext cx="359030" cy="338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6" rIns="91429" bIns="45716">
            <a:spAutoFit/>
          </a:bodyPr>
          <a:lstStyle/>
          <a:p>
            <a:r>
              <a:rPr lang="en-US" altLang="zh-CN" sz="1600" b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S</a:t>
            </a:r>
          </a:p>
        </p:txBody>
      </p:sp>
      <p:sp>
        <p:nvSpPr>
          <p:cNvPr id="1682442" name="Text Box 10"/>
          <p:cNvSpPr txBox="1">
            <a:spLocks noChangeArrowheads="1"/>
          </p:cNvSpPr>
          <p:nvPr/>
        </p:nvSpPr>
        <p:spPr bwMode="auto">
          <a:xfrm>
            <a:off x="1732967" y="3322943"/>
            <a:ext cx="1282083" cy="338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6" rIns="91429" bIns="45716">
            <a:spAutoFit/>
          </a:bodyPr>
          <a:lstStyle/>
          <a:p>
            <a:r>
              <a:rPr lang="zh-CN" altLang="en-US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指数</a:t>
            </a:r>
            <a:r>
              <a:rPr lang="en-US" altLang="zh-CN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(11</a:t>
            </a:r>
            <a:r>
              <a:rPr lang="zh-CN" altLang="en-US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位</a:t>
            </a:r>
            <a:r>
              <a:rPr lang="en-US" altLang="zh-CN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)</a:t>
            </a:r>
          </a:p>
        </p:txBody>
      </p:sp>
      <p:sp>
        <p:nvSpPr>
          <p:cNvPr id="1682443" name="Text Box 11"/>
          <p:cNvSpPr txBox="1">
            <a:spLocks noChangeArrowheads="1"/>
          </p:cNvSpPr>
          <p:nvPr/>
        </p:nvSpPr>
        <p:spPr bwMode="auto">
          <a:xfrm>
            <a:off x="1326712" y="2223481"/>
            <a:ext cx="359030" cy="338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6" rIns="91429" bIns="45716">
            <a:spAutoFit/>
          </a:bodyPr>
          <a:lstStyle/>
          <a:p>
            <a:r>
              <a:rPr lang="en-US" altLang="zh-CN" sz="1600" b="1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S</a:t>
            </a:r>
          </a:p>
        </p:txBody>
      </p:sp>
      <p:sp>
        <p:nvSpPr>
          <p:cNvPr id="1682444" name="Text Box 12"/>
          <p:cNvSpPr txBox="1">
            <a:spLocks noChangeArrowheads="1"/>
          </p:cNvSpPr>
          <p:nvPr/>
        </p:nvSpPr>
        <p:spPr bwMode="auto">
          <a:xfrm>
            <a:off x="1556179" y="2255276"/>
            <a:ext cx="979204" cy="307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6" rIns="91429" bIns="45716">
            <a:spAutoFit/>
          </a:bodyPr>
          <a:lstStyle/>
          <a:p>
            <a:r>
              <a:rPr lang="zh-CN" altLang="en-US" sz="1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指数</a:t>
            </a:r>
            <a:r>
              <a:rPr lang="en-US" altLang="zh-CN" sz="1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(8</a:t>
            </a:r>
            <a:r>
              <a:rPr lang="zh-CN" altLang="en-US" sz="1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位</a:t>
            </a:r>
            <a:r>
              <a:rPr lang="en-US" altLang="zh-CN" sz="14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)</a:t>
            </a:r>
          </a:p>
        </p:txBody>
      </p:sp>
      <p:sp>
        <p:nvSpPr>
          <p:cNvPr id="1682445" name="Text Box 13"/>
          <p:cNvSpPr txBox="1">
            <a:spLocks noChangeArrowheads="1"/>
          </p:cNvSpPr>
          <p:nvPr/>
        </p:nvSpPr>
        <p:spPr bwMode="auto">
          <a:xfrm>
            <a:off x="2766912" y="2233838"/>
            <a:ext cx="1496507" cy="338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6" rIns="91429" bIns="45716">
            <a:spAutoFit/>
          </a:bodyPr>
          <a:lstStyle/>
          <a:p>
            <a:r>
              <a:rPr lang="zh-CN" altLang="en-US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尾数</a:t>
            </a:r>
            <a:r>
              <a:rPr lang="en-US" altLang="zh-CN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(</a:t>
            </a:r>
            <a:r>
              <a:rPr lang="zh-CN" altLang="en-US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后</a:t>
            </a:r>
            <a:r>
              <a:rPr lang="en-US" altLang="zh-CN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23</a:t>
            </a:r>
            <a:r>
              <a:rPr lang="zh-CN" altLang="en-US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位</a:t>
            </a:r>
            <a:r>
              <a:rPr lang="en-US" altLang="zh-CN" sz="1600" b="1" dirty="0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)</a:t>
            </a:r>
          </a:p>
        </p:txBody>
      </p:sp>
      <p:sp>
        <p:nvSpPr>
          <p:cNvPr id="1682446" name="Text Box 14"/>
          <p:cNvSpPr txBox="1">
            <a:spLocks noChangeArrowheads="1"/>
          </p:cNvSpPr>
          <p:nvPr/>
        </p:nvSpPr>
        <p:spPr bwMode="auto">
          <a:xfrm>
            <a:off x="1250512" y="2634008"/>
            <a:ext cx="4448632" cy="52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lang="zh-CN" altLang="en-US" sz="1400">
                <a:solidFill>
                  <a:srgbClr val="0000FF"/>
                </a:solidFill>
              </a:rPr>
              <a:t>浮点数，</a:t>
            </a:r>
            <a:r>
              <a:rPr lang="en-US" altLang="zh-CN" sz="1400">
                <a:solidFill>
                  <a:srgbClr val="0000FF"/>
                </a:solidFill>
              </a:rPr>
              <a:t>32</a:t>
            </a:r>
            <a:r>
              <a:rPr lang="zh-CN" altLang="en-US" sz="1400">
                <a:solidFill>
                  <a:srgbClr val="0000FF"/>
                </a:solidFill>
              </a:rPr>
              <a:t>位表示单精度数</a:t>
            </a:r>
            <a:r>
              <a:rPr lang="en-US" altLang="zh-CN" sz="1400">
                <a:solidFill>
                  <a:srgbClr val="0000FF"/>
                </a:solidFill>
              </a:rPr>
              <a:t>(</a:t>
            </a:r>
            <a:r>
              <a:rPr lang="zh-CN" altLang="en-US" sz="1400">
                <a:solidFill>
                  <a:srgbClr val="0000FF"/>
                </a:solidFill>
              </a:rPr>
              <a:t>相当于科学计数法</a:t>
            </a:r>
            <a:r>
              <a:rPr lang="en-US" altLang="zh-CN" sz="1400">
                <a:solidFill>
                  <a:srgbClr val="0000FF"/>
                </a:solidFill>
              </a:rPr>
              <a:t>1.x </a:t>
            </a:r>
            <a:r>
              <a:rPr lang="en-US" altLang="zh-CN" sz="1400">
                <a:solidFill>
                  <a:srgbClr val="0000FF"/>
                </a:solidFill>
                <a:cs typeface="Arial" panose="020B0604020202090204" pitchFamily="34" charset="0"/>
              </a:rPr>
              <a:t>× 2</a:t>
            </a:r>
            <a:r>
              <a:rPr lang="en-US" altLang="zh-CN" sz="1400" baseline="30000">
                <a:solidFill>
                  <a:srgbClr val="0000FF"/>
                </a:solidFill>
                <a:cs typeface="Arial" panose="020B0604020202090204" pitchFamily="34" charset="0"/>
              </a:rPr>
              <a:t>y</a:t>
            </a:r>
            <a:r>
              <a:rPr lang="en-US" altLang="zh-CN" sz="1400">
                <a:solidFill>
                  <a:srgbClr val="0000FF"/>
                </a:solidFill>
              </a:rPr>
              <a:t>)</a:t>
            </a:r>
          </a:p>
          <a:p>
            <a:r>
              <a:rPr lang="en-US" altLang="zh-CN" sz="1400">
                <a:solidFill>
                  <a:srgbClr val="0000FF"/>
                </a:solidFill>
              </a:rPr>
              <a:t>(S</a:t>
            </a:r>
            <a:r>
              <a:rPr lang="zh-CN" altLang="en-US" sz="1400">
                <a:solidFill>
                  <a:srgbClr val="0000FF"/>
                </a:solidFill>
              </a:rPr>
              <a:t>为符号位， </a:t>
            </a:r>
            <a:r>
              <a:rPr lang="en-US" altLang="zh-CN" sz="1400">
                <a:solidFill>
                  <a:srgbClr val="0000FF"/>
                </a:solidFill>
              </a:rPr>
              <a:t>x</a:t>
            </a:r>
            <a:r>
              <a:rPr lang="zh-CN" altLang="en-US" sz="1400">
                <a:solidFill>
                  <a:srgbClr val="0000FF"/>
                </a:solidFill>
              </a:rPr>
              <a:t>为</a:t>
            </a:r>
            <a:r>
              <a:rPr lang="en-US" altLang="zh-CN" sz="1400">
                <a:solidFill>
                  <a:srgbClr val="0000FF"/>
                </a:solidFill>
              </a:rPr>
              <a:t>23</a:t>
            </a:r>
            <a:r>
              <a:rPr lang="zh-CN" altLang="en-US" sz="1400">
                <a:solidFill>
                  <a:srgbClr val="0000FF"/>
                </a:solidFill>
              </a:rPr>
              <a:t>位尾数</a:t>
            </a:r>
            <a:r>
              <a:rPr lang="en-US" altLang="zh-CN" sz="1400">
                <a:solidFill>
                  <a:srgbClr val="0000FF"/>
                </a:solidFill>
              </a:rPr>
              <a:t>, y</a:t>
            </a:r>
            <a:r>
              <a:rPr lang="zh-CN" altLang="en-US" sz="1400">
                <a:solidFill>
                  <a:srgbClr val="0000FF"/>
                </a:solidFill>
              </a:rPr>
              <a:t>为</a:t>
            </a:r>
            <a:r>
              <a:rPr lang="en-US" altLang="zh-CN" sz="1400">
                <a:solidFill>
                  <a:srgbClr val="0000FF"/>
                </a:solidFill>
              </a:rPr>
              <a:t>8</a:t>
            </a:r>
            <a:r>
              <a:rPr lang="zh-CN" altLang="en-US" sz="1400">
                <a:solidFill>
                  <a:srgbClr val="0000FF"/>
                </a:solidFill>
              </a:rPr>
              <a:t>位指数</a:t>
            </a:r>
            <a:r>
              <a:rPr lang="en-US" altLang="zh-CN" sz="140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682447" name="Text Box 15"/>
          <p:cNvSpPr txBox="1">
            <a:spLocks noChangeArrowheads="1"/>
          </p:cNvSpPr>
          <p:nvPr/>
        </p:nvSpPr>
        <p:spPr bwMode="auto">
          <a:xfrm>
            <a:off x="1274325" y="3753196"/>
            <a:ext cx="4448632" cy="52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9" tIns="45716" rIns="91429" bIns="45716">
            <a:spAutoFit/>
          </a:bodyPr>
          <a:lstStyle/>
          <a:p>
            <a:r>
              <a:rPr lang="zh-CN" altLang="en-US" sz="1400">
                <a:solidFill>
                  <a:srgbClr val="0000FF"/>
                </a:solidFill>
              </a:rPr>
              <a:t>浮点数，</a:t>
            </a:r>
            <a:r>
              <a:rPr lang="en-US" altLang="zh-CN" sz="1400">
                <a:solidFill>
                  <a:srgbClr val="0000FF"/>
                </a:solidFill>
              </a:rPr>
              <a:t>64</a:t>
            </a:r>
            <a:r>
              <a:rPr lang="zh-CN" altLang="en-US" sz="1400">
                <a:solidFill>
                  <a:srgbClr val="0000FF"/>
                </a:solidFill>
              </a:rPr>
              <a:t>位表示双精度数</a:t>
            </a:r>
            <a:r>
              <a:rPr lang="en-US" altLang="zh-CN" sz="1400">
                <a:solidFill>
                  <a:srgbClr val="0000FF"/>
                </a:solidFill>
              </a:rPr>
              <a:t>(</a:t>
            </a:r>
            <a:r>
              <a:rPr lang="zh-CN" altLang="en-US" sz="1400">
                <a:solidFill>
                  <a:srgbClr val="0000FF"/>
                </a:solidFill>
              </a:rPr>
              <a:t>相当于科学计数法</a:t>
            </a:r>
            <a:r>
              <a:rPr lang="en-US" altLang="zh-CN" sz="1400">
                <a:solidFill>
                  <a:srgbClr val="0000FF"/>
                </a:solidFill>
              </a:rPr>
              <a:t>1.x </a:t>
            </a:r>
            <a:r>
              <a:rPr lang="en-US" altLang="zh-CN" sz="1400">
                <a:solidFill>
                  <a:srgbClr val="0000FF"/>
                </a:solidFill>
                <a:cs typeface="Arial" panose="020B0604020202090204" pitchFamily="34" charset="0"/>
              </a:rPr>
              <a:t>× 2</a:t>
            </a:r>
            <a:r>
              <a:rPr lang="en-US" altLang="zh-CN" sz="1400" baseline="30000">
                <a:solidFill>
                  <a:srgbClr val="0000FF"/>
                </a:solidFill>
                <a:cs typeface="Arial" panose="020B0604020202090204" pitchFamily="34" charset="0"/>
              </a:rPr>
              <a:t>y</a:t>
            </a:r>
            <a:r>
              <a:rPr lang="en-US" altLang="zh-CN" sz="1400">
                <a:solidFill>
                  <a:srgbClr val="0000FF"/>
                </a:solidFill>
              </a:rPr>
              <a:t>)</a:t>
            </a:r>
          </a:p>
          <a:p>
            <a:r>
              <a:rPr lang="en-US" altLang="zh-CN" sz="1400">
                <a:solidFill>
                  <a:srgbClr val="0000FF"/>
                </a:solidFill>
              </a:rPr>
              <a:t>(S</a:t>
            </a:r>
            <a:r>
              <a:rPr lang="zh-CN" altLang="en-US" sz="1400">
                <a:solidFill>
                  <a:srgbClr val="0000FF"/>
                </a:solidFill>
              </a:rPr>
              <a:t>为符号位，</a:t>
            </a:r>
            <a:r>
              <a:rPr lang="en-US" altLang="zh-CN" sz="1400">
                <a:solidFill>
                  <a:srgbClr val="0000FF"/>
                </a:solidFill>
              </a:rPr>
              <a:t>x</a:t>
            </a:r>
            <a:r>
              <a:rPr lang="zh-CN" altLang="en-US" sz="1400">
                <a:solidFill>
                  <a:srgbClr val="0000FF"/>
                </a:solidFill>
              </a:rPr>
              <a:t>为</a:t>
            </a:r>
            <a:r>
              <a:rPr lang="en-US" altLang="zh-CN" sz="1400">
                <a:solidFill>
                  <a:srgbClr val="0000FF"/>
                </a:solidFill>
              </a:rPr>
              <a:t>52</a:t>
            </a:r>
            <a:r>
              <a:rPr lang="zh-CN" altLang="en-US" sz="1400">
                <a:solidFill>
                  <a:srgbClr val="0000FF"/>
                </a:solidFill>
              </a:rPr>
              <a:t>位尾数</a:t>
            </a:r>
            <a:r>
              <a:rPr lang="en-US" altLang="zh-CN" sz="1400">
                <a:solidFill>
                  <a:srgbClr val="0000FF"/>
                </a:solidFill>
              </a:rPr>
              <a:t>, y</a:t>
            </a:r>
            <a:r>
              <a:rPr lang="zh-CN" altLang="en-US" sz="1400">
                <a:solidFill>
                  <a:srgbClr val="0000FF"/>
                </a:solidFill>
              </a:rPr>
              <a:t>为</a:t>
            </a:r>
            <a:r>
              <a:rPr lang="en-US" altLang="zh-CN" sz="1400">
                <a:solidFill>
                  <a:srgbClr val="0000FF"/>
                </a:solidFill>
              </a:rPr>
              <a:t>11</a:t>
            </a:r>
            <a:r>
              <a:rPr lang="zh-CN" altLang="en-US" sz="1400">
                <a:solidFill>
                  <a:srgbClr val="0000FF"/>
                </a:solidFill>
              </a:rPr>
              <a:t>位指数</a:t>
            </a:r>
            <a:r>
              <a:rPr lang="en-US" altLang="zh-CN" sz="140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682475" name="Text Box 16"/>
          <p:cNvSpPr txBox="1">
            <a:spLocks noChangeArrowheads="1"/>
          </p:cNvSpPr>
          <p:nvPr/>
        </p:nvSpPr>
        <p:spPr bwMode="auto">
          <a:xfrm>
            <a:off x="1687513" y="1"/>
            <a:ext cx="261962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ea typeface="华文中宋" panose="02010600040101010101" pitchFamily="2" charset="-122"/>
              </a:rPr>
              <a:t>小数点如何处理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chemeClr val="bg1"/>
                </a:solidFill>
                <a:ea typeface="华文中宋" panose="02010600040101010101" pitchFamily="2" charset="-122"/>
              </a:rPr>
              <a:t>(3)</a:t>
            </a:r>
            <a:r>
              <a:rPr lang="zh-CN" altLang="en-US" sz="2000">
                <a:solidFill>
                  <a:schemeClr val="bg1"/>
                </a:solidFill>
                <a:ea typeface="华文中宋" panose="02010600040101010101" pitchFamily="2" charset="-122"/>
              </a:rPr>
              <a:t>单精度数</a:t>
            </a:r>
            <a:r>
              <a:rPr lang="en-US" altLang="zh-CN" sz="2000">
                <a:solidFill>
                  <a:schemeClr val="bg1"/>
                </a:solidFill>
                <a:ea typeface="华文中宋" panose="02010600040101010101" pitchFamily="2" charset="-122"/>
              </a:rPr>
              <a:t>/</a:t>
            </a:r>
            <a:r>
              <a:rPr lang="zh-CN" altLang="en-US" sz="2000">
                <a:solidFill>
                  <a:schemeClr val="bg1"/>
                </a:solidFill>
                <a:ea typeface="华文中宋" panose="02010600040101010101" pitchFamily="2" charset="-122"/>
              </a:rPr>
              <a:t>双精度数</a:t>
            </a:r>
          </a:p>
        </p:txBody>
      </p:sp>
      <p:sp>
        <p:nvSpPr>
          <p:cNvPr id="33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数值性信息的表达：小数点的处理（选讲）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浮点数：单精度数 </a:t>
            </a:r>
            <a:r>
              <a:rPr kumimoji="1"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vs. </a:t>
            </a: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双精度数（</a:t>
            </a:r>
            <a:r>
              <a:rPr kumimoji="1"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IEEE754</a:t>
            </a: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标准）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非数值性信息表达：编码</a:t>
            </a:r>
          </a:p>
        </p:txBody>
      </p:sp>
      <p:sp>
        <p:nvSpPr>
          <p:cNvPr id="1661954" name="Rectangle 2"/>
          <p:cNvSpPr>
            <a:spLocks noChangeArrowheads="1"/>
          </p:cNvSpPr>
          <p:nvPr/>
        </p:nvSpPr>
        <p:spPr bwMode="auto">
          <a:xfrm>
            <a:off x="1889126" y="1889275"/>
            <a:ext cx="9492237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zh-CN" altLang="en-US" sz="2000" dirty="0">
                <a:latin typeface="Times New Roman" panose="02020503050405090304" pitchFamily="18" charset="0"/>
              </a:rPr>
              <a:t>编码是以若干位数码或符号的不同组合来表示非数值性信息的方法，它是人为地将若干位数码或符号的每一种组合指定一种唯一的含义。</a:t>
            </a:r>
            <a:endParaRPr lang="en-US" altLang="zh-CN" sz="2000" dirty="0">
              <a:latin typeface="Times New Roman" panose="02020503050405090304" pitchFamily="18" charset="0"/>
            </a:endParaRPr>
          </a:p>
        </p:txBody>
      </p:sp>
      <p:sp>
        <p:nvSpPr>
          <p:cNvPr id="1661962" name="Rectangle 10"/>
          <p:cNvSpPr>
            <a:spLocks noChangeArrowheads="1"/>
          </p:cNvSpPr>
          <p:nvPr/>
        </p:nvSpPr>
        <p:spPr bwMode="auto">
          <a:xfrm>
            <a:off x="1910141" y="3147317"/>
            <a:ext cx="46730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英文字母与符号的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0,1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型编码方法</a:t>
            </a:r>
          </a:p>
        </p:txBody>
      </p:sp>
      <p:sp>
        <p:nvSpPr>
          <p:cNvPr id="16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非数值性信息的表达：编码与组合</a:t>
            </a:r>
          </a:p>
        </p:txBody>
      </p:sp>
      <p:grpSp>
        <p:nvGrpSpPr>
          <p:cNvPr id="3" name="Group 2"/>
          <p:cNvGrpSpPr/>
          <p:nvPr/>
        </p:nvGrpSpPr>
        <p:grpSpPr bwMode="auto">
          <a:xfrm>
            <a:off x="707570" y="1890738"/>
            <a:ext cx="1202572" cy="904516"/>
            <a:chOff x="486" y="2211"/>
            <a:chExt cx="898" cy="748"/>
          </a:xfrm>
        </p:grpSpPr>
        <p:sp>
          <p:nvSpPr>
            <p:cNvPr id="18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9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0" name="Text Box 84"/>
            <p:cNvSpPr txBox="1">
              <a:spLocks noChangeArrowheads="1"/>
            </p:cNvSpPr>
            <p:nvPr/>
          </p:nvSpPr>
          <p:spPr bwMode="auto">
            <a:xfrm>
              <a:off x="557" y="2359"/>
              <a:ext cx="743" cy="38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编码  </a:t>
              </a:r>
            </a:p>
          </p:txBody>
        </p:sp>
      </p:grpSp>
      <p:grpSp>
        <p:nvGrpSpPr>
          <p:cNvPr id="4" name="Group 2"/>
          <p:cNvGrpSpPr/>
          <p:nvPr/>
        </p:nvGrpSpPr>
        <p:grpSpPr bwMode="auto">
          <a:xfrm>
            <a:off x="707570" y="2955519"/>
            <a:ext cx="1202572" cy="904516"/>
            <a:chOff x="486" y="2211"/>
            <a:chExt cx="898" cy="748"/>
          </a:xfrm>
        </p:grpSpPr>
        <p:sp>
          <p:nvSpPr>
            <p:cNvPr id="22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3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4" name="Text Box 84"/>
            <p:cNvSpPr txBox="1">
              <a:spLocks noChangeArrowheads="1"/>
            </p:cNvSpPr>
            <p:nvPr/>
          </p:nvSpPr>
          <p:spPr bwMode="auto">
            <a:xfrm>
              <a:off x="557" y="2408"/>
              <a:ext cx="743" cy="3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en-US" altLang="zh-CN" sz="18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ASCII</a:t>
              </a:r>
              <a:r>
                <a:rPr kumimoji="0" lang="zh-CN" altLang="en-US" sz="18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码  </a:t>
              </a:r>
            </a:p>
          </p:txBody>
        </p:sp>
      </p:grpSp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017" y="3855423"/>
            <a:ext cx="6144345" cy="281031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302699" y="4855848"/>
            <a:ext cx="2752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6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5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4</a:t>
            </a:r>
            <a:r>
              <a:rPr lang="en-US" altLang="zh-CN" sz="2800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3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1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0</a:t>
            </a:r>
            <a:endParaRPr lang="zh-CN" altLang="en-US" sz="2800" b="1" baseline="-25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1300151" y="4079193"/>
            <a:ext cx="399010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规律性：英文字母与符号是按照二进制次序进行编码，连续排列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112913" y="5357394"/>
            <a:ext cx="3052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0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6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5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4</a:t>
            </a:r>
            <a:r>
              <a:rPr lang="en-US" altLang="zh-CN" sz="2800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3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1</a:t>
            </a:r>
            <a:r>
              <a:rPr lang="en-US" altLang="zh-CN" sz="2800" b="1" dirty="0" err="1">
                <a:latin typeface="Arial" panose="020B0604020202090204" pitchFamily="34" charset="0"/>
                <a:cs typeface="Arial" panose="020B0604020202090204" pitchFamily="34" charset="0"/>
              </a:rPr>
              <a:t>b</a:t>
            </a:r>
            <a:r>
              <a:rPr lang="en-US" altLang="zh-CN" sz="2800" b="1" baseline="-25000" dirty="0" err="1">
                <a:latin typeface="Arial" panose="020B0604020202090204" pitchFamily="34" charset="0"/>
                <a:cs typeface="Arial" panose="020B0604020202090204" pitchFamily="34" charset="0"/>
              </a:rPr>
              <a:t>0</a:t>
            </a:r>
            <a:endParaRPr lang="zh-CN" altLang="en-US" sz="2800" b="1" baseline="-25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5" name="Group 2"/>
          <p:cNvGrpSpPr/>
          <p:nvPr/>
        </p:nvGrpSpPr>
        <p:grpSpPr bwMode="auto">
          <a:xfrm>
            <a:off x="2945578" y="5898555"/>
            <a:ext cx="1467079" cy="843269"/>
            <a:chOff x="486" y="2211"/>
            <a:chExt cx="898" cy="748"/>
          </a:xfrm>
        </p:grpSpPr>
        <p:sp>
          <p:nvSpPr>
            <p:cNvPr id="30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1" name="Oval 40"/>
            <p:cNvSpPr>
              <a:spLocks noChangeArrowheads="1"/>
            </p:cNvSpPr>
            <p:nvPr/>
          </p:nvSpPr>
          <p:spPr bwMode="gray">
            <a:xfrm>
              <a:off x="524" y="2273"/>
              <a:ext cx="821" cy="625"/>
            </a:xfrm>
            <a:prstGeom prst="ellipse">
              <a:avLst/>
            </a:prstGeom>
            <a:solidFill>
              <a:srgbClr val="C00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2" name="Text Box 84"/>
            <p:cNvSpPr txBox="1">
              <a:spLocks noChangeArrowheads="1"/>
            </p:cNvSpPr>
            <p:nvPr/>
          </p:nvSpPr>
          <p:spPr bwMode="auto">
            <a:xfrm>
              <a:off x="524" y="2322"/>
              <a:ext cx="821" cy="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16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机器字长</a:t>
              </a:r>
              <a:r>
                <a:rPr kumimoji="0" lang="en-US" altLang="zh-CN" sz="16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r>
                <a:rPr kumimoji="0" lang="zh-CN" altLang="en-US" sz="16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位及其倍数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991" name="Line 15"/>
          <p:cNvSpPr>
            <a:spLocks noChangeShapeType="1"/>
          </p:cNvSpPr>
          <p:nvPr/>
        </p:nvSpPr>
        <p:spPr bwMode="auto">
          <a:xfrm flipV="1">
            <a:off x="781427" y="1958688"/>
            <a:ext cx="10670344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62992" name="Text Box 16"/>
          <p:cNvSpPr txBox="1">
            <a:spLocks noChangeArrowheads="1"/>
          </p:cNvSpPr>
          <p:nvPr/>
        </p:nvSpPr>
        <p:spPr bwMode="auto">
          <a:xfrm>
            <a:off x="1350447" y="1958689"/>
            <a:ext cx="6461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信息</a:t>
            </a:r>
          </a:p>
        </p:txBody>
      </p:sp>
      <p:sp>
        <p:nvSpPr>
          <p:cNvPr id="1662993" name="Text Box 17"/>
          <p:cNvSpPr txBox="1">
            <a:spLocks noChangeArrowheads="1"/>
          </p:cNvSpPr>
          <p:nvPr/>
        </p:nvSpPr>
        <p:spPr bwMode="auto">
          <a:xfrm>
            <a:off x="3593181" y="1958689"/>
            <a:ext cx="15700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机器内部存储</a:t>
            </a:r>
          </a:p>
        </p:txBody>
      </p:sp>
      <p:sp>
        <p:nvSpPr>
          <p:cNvPr id="1662994" name="Text Box 18"/>
          <p:cNvSpPr txBox="1">
            <a:spLocks noChangeArrowheads="1"/>
          </p:cNvSpPr>
          <p:nvPr/>
        </p:nvSpPr>
        <p:spPr bwMode="auto">
          <a:xfrm>
            <a:off x="6810125" y="1943944"/>
            <a:ext cx="11080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解析规则</a:t>
            </a:r>
          </a:p>
        </p:txBody>
      </p:sp>
      <p:sp>
        <p:nvSpPr>
          <p:cNvPr id="1662995" name="Text Box 19"/>
          <p:cNvSpPr txBox="1">
            <a:spLocks noChangeArrowheads="1"/>
          </p:cNvSpPr>
          <p:nvPr/>
        </p:nvSpPr>
        <p:spPr bwMode="auto">
          <a:xfrm>
            <a:off x="773607" y="2685765"/>
            <a:ext cx="17160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We are students</a:t>
            </a:r>
          </a:p>
        </p:txBody>
      </p:sp>
      <p:sp>
        <p:nvSpPr>
          <p:cNvPr id="1662996" name="Text Box 20"/>
          <p:cNvSpPr txBox="1">
            <a:spLocks noChangeArrowheads="1"/>
          </p:cNvSpPr>
          <p:nvPr/>
        </p:nvSpPr>
        <p:spPr bwMode="auto">
          <a:xfrm>
            <a:off x="2776307" y="2296827"/>
            <a:ext cx="3076575" cy="1477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/>
              <a:t>01010111 01100101 00100000 01100001 01110010 01100101 00100000 01110011 01110100 01110101 01100100 01100101 01101110 01110100 01110011</a:t>
            </a:r>
          </a:p>
        </p:txBody>
      </p:sp>
      <p:sp>
        <p:nvSpPr>
          <p:cNvPr id="1662997" name="Text Box 21"/>
          <p:cNvSpPr txBox="1">
            <a:spLocks noChangeArrowheads="1"/>
          </p:cNvSpPr>
          <p:nvPr/>
        </p:nvSpPr>
        <p:spPr bwMode="auto">
          <a:xfrm>
            <a:off x="6416074" y="2520039"/>
            <a:ext cx="2244725" cy="923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/>
              <a:t>0/1</a:t>
            </a:r>
            <a:r>
              <a:rPr lang="zh-CN" altLang="en-US" dirty="0"/>
              <a:t>串按</a:t>
            </a:r>
            <a:r>
              <a:rPr lang="en-US" altLang="zh-CN" dirty="0"/>
              <a:t>8</a:t>
            </a:r>
            <a:r>
              <a:rPr lang="zh-CN" altLang="en-US" dirty="0"/>
              <a:t>位分隔一个字符，查找</a:t>
            </a:r>
            <a:r>
              <a:rPr lang="en-US" altLang="zh-CN" dirty="0"/>
              <a:t>ASCII</a:t>
            </a:r>
            <a:r>
              <a:rPr lang="zh-CN" altLang="en-US" dirty="0"/>
              <a:t>码表映射成相应符号</a:t>
            </a:r>
            <a:endParaRPr lang="en-US" altLang="zh-CN" dirty="0"/>
          </a:p>
        </p:txBody>
      </p:sp>
      <p:sp>
        <p:nvSpPr>
          <p:cNvPr id="1662998" name="Line 22"/>
          <p:cNvSpPr>
            <a:spLocks noChangeShapeType="1"/>
          </p:cNvSpPr>
          <p:nvPr/>
        </p:nvSpPr>
        <p:spPr bwMode="auto">
          <a:xfrm flipV="1">
            <a:off x="792540" y="2296826"/>
            <a:ext cx="10659231" cy="95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62999" name="Line 23"/>
          <p:cNvSpPr>
            <a:spLocks noChangeShapeType="1"/>
          </p:cNvSpPr>
          <p:nvPr/>
        </p:nvSpPr>
        <p:spPr bwMode="auto">
          <a:xfrm flipH="1">
            <a:off x="2541424" y="1958689"/>
            <a:ext cx="11113" cy="18764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63000" name="Line 24"/>
          <p:cNvSpPr>
            <a:spLocks noChangeShapeType="1"/>
          </p:cNvSpPr>
          <p:nvPr/>
        </p:nvSpPr>
        <p:spPr bwMode="auto">
          <a:xfrm>
            <a:off x="6126518" y="1960277"/>
            <a:ext cx="15875" cy="18748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63001" name="Line 25"/>
          <p:cNvSpPr>
            <a:spLocks noChangeShapeType="1"/>
          </p:cNvSpPr>
          <p:nvPr/>
        </p:nvSpPr>
        <p:spPr bwMode="auto">
          <a:xfrm>
            <a:off x="794127" y="3835116"/>
            <a:ext cx="1058723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555" y="3951008"/>
            <a:ext cx="4661327" cy="213201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圆角矩形 21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ASCII</a:t>
            </a: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码存储的文件，即纯文本文件，是可以自动解读的</a:t>
            </a:r>
          </a:p>
        </p:txBody>
      </p:sp>
      <p:sp>
        <p:nvSpPr>
          <p:cNvPr id="23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非数值性信息的表达：编码与组合</a:t>
            </a:r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8747794" y="1960974"/>
            <a:ext cx="15875" cy="18748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8874204" y="1950504"/>
            <a:ext cx="2492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十六进制显示存储内容</a:t>
            </a:r>
          </a:p>
        </p:txBody>
      </p:sp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9593263" y="2280837"/>
            <a:ext cx="126612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/>
              <a:t>57  65  20 </a:t>
            </a:r>
          </a:p>
          <a:p>
            <a:r>
              <a:rPr lang="en-US" altLang="zh-CN" dirty="0"/>
              <a:t>61  72  65</a:t>
            </a:r>
          </a:p>
          <a:p>
            <a:r>
              <a:rPr lang="en-US" altLang="zh-CN" dirty="0"/>
              <a:t>20  73  74 </a:t>
            </a:r>
          </a:p>
          <a:p>
            <a:r>
              <a:rPr lang="en-US" altLang="zh-CN" dirty="0"/>
              <a:t>75  64  65</a:t>
            </a:r>
          </a:p>
          <a:p>
            <a:r>
              <a:rPr lang="en-US" altLang="zh-CN" dirty="0" err="1"/>
              <a:t>6E</a:t>
            </a:r>
            <a:r>
              <a:rPr lang="en-US" altLang="zh-CN" dirty="0"/>
              <a:t>  74  73</a:t>
            </a: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101" y="3964372"/>
            <a:ext cx="4515262" cy="272195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2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2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62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62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62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62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6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6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62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62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62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62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62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62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63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63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63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63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62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6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62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62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2991" grpId="0" animBg="1"/>
      <p:bldP spid="1662992" grpId="0"/>
      <p:bldP spid="1662993" grpId="0"/>
      <p:bldP spid="1662994" grpId="0"/>
      <p:bldP spid="1662995" grpId="0"/>
      <p:bldP spid="1662996" grpId="0"/>
      <p:bldP spid="1662997" grpId="0"/>
      <p:bldP spid="1662998" grpId="0" animBg="1"/>
      <p:bldP spid="1662999" grpId="0" animBg="1"/>
      <p:bldP spid="1663000" grpId="0" animBg="1"/>
      <p:bldP spid="1663001" grpId="0" animBg="1"/>
      <p:bldP spid="24" grpId="0" animBg="1"/>
      <p:bldP spid="25" grpId="0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由数学计算，到机器自动计算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46594" name="AutoShape 2"/>
          <p:cNvSpPr>
            <a:spLocks noChangeArrowheads="1"/>
          </p:cNvSpPr>
          <p:nvPr/>
        </p:nvSpPr>
        <p:spPr bwMode="auto">
          <a:xfrm rot="16200000" flipV="1">
            <a:off x="7132378" y="5288757"/>
            <a:ext cx="536576" cy="331788"/>
          </a:xfrm>
          <a:prstGeom prst="rightArrow">
            <a:avLst>
              <a:gd name="adj1" fmla="val 50000"/>
              <a:gd name="adj2" fmla="val 5478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595" name="Text Box 3"/>
          <p:cNvSpPr txBox="1">
            <a:spLocks noChangeArrowheads="1"/>
          </p:cNvSpPr>
          <p:nvPr/>
        </p:nvSpPr>
        <p:spPr bwMode="auto">
          <a:xfrm>
            <a:off x="7458106" y="5292103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集成化</a:t>
            </a:r>
          </a:p>
        </p:txBody>
      </p:sp>
      <p:sp>
        <p:nvSpPr>
          <p:cNvPr id="1646596" name="Text Box 4"/>
          <p:cNvSpPr txBox="1">
            <a:spLocks noChangeArrowheads="1"/>
          </p:cNvSpPr>
          <p:nvPr/>
        </p:nvSpPr>
        <p:spPr bwMode="auto">
          <a:xfrm>
            <a:off x="2636203" y="2065047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符号化</a:t>
            </a:r>
          </a:p>
        </p:txBody>
      </p:sp>
      <p:sp>
        <p:nvSpPr>
          <p:cNvPr id="1646597" name="Text Box 5"/>
          <p:cNvSpPr txBox="1">
            <a:spLocks noChangeArrowheads="1"/>
          </p:cNvSpPr>
          <p:nvPr/>
        </p:nvSpPr>
        <p:spPr bwMode="auto">
          <a:xfrm>
            <a:off x="8314269" y="2065047"/>
            <a:ext cx="12303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/>
              <a:t>再语义化</a:t>
            </a:r>
          </a:p>
        </p:txBody>
      </p:sp>
      <p:grpSp>
        <p:nvGrpSpPr>
          <p:cNvPr id="1646598" name="Group 6"/>
          <p:cNvGrpSpPr/>
          <p:nvPr/>
        </p:nvGrpSpPr>
        <p:grpSpPr bwMode="auto">
          <a:xfrm>
            <a:off x="514113" y="1701722"/>
            <a:ext cx="2144170" cy="1716703"/>
            <a:chOff x="0" y="1386"/>
            <a:chExt cx="1065" cy="965"/>
          </a:xfrm>
        </p:grpSpPr>
        <p:sp>
          <p:nvSpPr>
            <p:cNvPr id="20" name="AutoShape 39"/>
            <p:cNvSpPr>
              <a:spLocks noChangeArrowheads="1"/>
            </p:cNvSpPr>
            <p:nvPr/>
          </p:nvSpPr>
          <p:spPr bwMode="gray">
            <a:xfrm>
              <a:off x="0" y="1386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gray">
            <a:xfrm>
              <a:off x="88" y="1466"/>
              <a:ext cx="889" cy="806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1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" name="Text Box 84"/>
            <p:cNvSpPr txBox="1">
              <a:spLocks noChangeArrowheads="1"/>
            </p:cNvSpPr>
            <p:nvPr/>
          </p:nvSpPr>
          <p:spPr bwMode="auto">
            <a:xfrm>
              <a:off x="80" y="1606"/>
              <a:ext cx="881" cy="46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数值与非数值性信息 </a:t>
              </a:r>
            </a:p>
          </p:txBody>
        </p:sp>
      </p:grpSp>
      <p:sp>
        <p:nvSpPr>
          <p:cNvPr id="1646602" name="AutoShape 10"/>
          <p:cNvSpPr>
            <a:spLocks noChangeArrowheads="1"/>
          </p:cNvSpPr>
          <p:nvPr/>
        </p:nvSpPr>
        <p:spPr bwMode="auto">
          <a:xfrm rot="5400000">
            <a:off x="4329468" y="4064394"/>
            <a:ext cx="607305" cy="331788"/>
          </a:xfrm>
          <a:prstGeom prst="rightArrow">
            <a:avLst>
              <a:gd name="adj1" fmla="val 50000"/>
              <a:gd name="adj2" fmla="val 73804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03" name="Text Box 11"/>
          <p:cNvSpPr txBox="1">
            <a:spLocks noChangeArrowheads="1"/>
          </p:cNvSpPr>
          <p:nvPr/>
        </p:nvSpPr>
        <p:spPr bwMode="auto">
          <a:xfrm>
            <a:off x="4714879" y="3997006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计算化</a:t>
            </a:r>
          </a:p>
        </p:txBody>
      </p:sp>
      <p:sp>
        <p:nvSpPr>
          <p:cNvPr id="1646604" name="Text Box 12"/>
          <p:cNvSpPr txBox="1">
            <a:spLocks noChangeArrowheads="1"/>
          </p:cNvSpPr>
          <p:nvPr/>
        </p:nvSpPr>
        <p:spPr bwMode="auto">
          <a:xfrm>
            <a:off x="5690153" y="3319179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计算化</a:t>
            </a:r>
          </a:p>
        </p:txBody>
      </p:sp>
      <p:sp>
        <p:nvSpPr>
          <p:cNvPr id="1646607" name="Text Box 15"/>
          <p:cNvSpPr txBox="1">
            <a:spLocks noChangeArrowheads="1"/>
          </p:cNvSpPr>
          <p:nvPr/>
        </p:nvSpPr>
        <p:spPr bwMode="auto">
          <a:xfrm>
            <a:off x="6494997" y="5676900"/>
            <a:ext cx="1979613" cy="10160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 b="1">
                <a:solidFill>
                  <a:srgbClr val="002060"/>
                </a:solidFill>
              </a:rPr>
              <a:t>基于逻辑运算组合</a:t>
            </a:r>
            <a:r>
              <a:rPr lang="en-US" altLang="zh-CN" sz="2000" b="1">
                <a:solidFill>
                  <a:srgbClr val="002060"/>
                </a:solidFill>
              </a:rPr>
              <a:t>-</a:t>
            </a:r>
            <a:r>
              <a:rPr lang="zh-CN" altLang="en-US" sz="2000" b="1">
                <a:solidFill>
                  <a:srgbClr val="002060"/>
                </a:solidFill>
              </a:rPr>
              <a:t>分层构造复杂的逻辑电路</a:t>
            </a:r>
          </a:p>
        </p:txBody>
      </p:sp>
      <p:sp>
        <p:nvSpPr>
          <p:cNvPr id="1646608" name="Text Box 16"/>
          <p:cNvSpPr txBox="1">
            <a:spLocks noChangeArrowheads="1"/>
          </p:cNvSpPr>
          <p:nvPr/>
        </p:nvSpPr>
        <p:spPr bwMode="auto">
          <a:xfrm>
            <a:off x="5499101" y="5765827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构造化</a:t>
            </a:r>
          </a:p>
        </p:txBody>
      </p:sp>
      <p:sp>
        <p:nvSpPr>
          <p:cNvPr id="1646609" name="AutoShape 17"/>
          <p:cNvSpPr>
            <a:spLocks noChangeArrowheads="1"/>
          </p:cNvSpPr>
          <p:nvPr/>
        </p:nvSpPr>
        <p:spPr bwMode="auto">
          <a:xfrm>
            <a:off x="5519741" y="3686979"/>
            <a:ext cx="984651" cy="195235"/>
          </a:xfrm>
          <a:prstGeom prst="rightArrow">
            <a:avLst>
              <a:gd name="adj1" fmla="val 50000"/>
              <a:gd name="adj2" fmla="val 5777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10" name="AutoShape 18"/>
          <p:cNvSpPr>
            <a:spLocks noChangeArrowheads="1"/>
          </p:cNvSpPr>
          <p:nvPr/>
        </p:nvSpPr>
        <p:spPr bwMode="auto">
          <a:xfrm>
            <a:off x="5283204" y="6056522"/>
            <a:ext cx="1228912" cy="194051"/>
          </a:xfrm>
          <a:prstGeom prst="rightArrow">
            <a:avLst>
              <a:gd name="adj1" fmla="val 50000"/>
              <a:gd name="adj2" fmla="val 5777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11" name="Text Box 19"/>
          <p:cNvSpPr txBox="1">
            <a:spLocks noChangeArrowheads="1"/>
          </p:cNvSpPr>
          <p:nvPr/>
        </p:nvSpPr>
        <p:spPr bwMode="auto">
          <a:xfrm>
            <a:off x="3608390" y="3459910"/>
            <a:ext cx="1922462" cy="466725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表达为</a:t>
            </a:r>
            <a:r>
              <a:rPr lang="en-US" altLang="zh-CN" sz="2400" b="1">
                <a:solidFill>
                  <a:srgbClr val="002060"/>
                </a:solidFill>
              </a:rPr>
              <a:t>0</a:t>
            </a:r>
            <a:r>
              <a:rPr lang="zh-CN" altLang="en-US" sz="2400" b="1">
                <a:solidFill>
                  <a:srgbClr val="002060"/>
                </a:solidFill>
              </a:rPr>
              <a:t>和</a:t>
            </a:r>
            <a:r>
              <a:rPr lang="en-US" altLang="zh-CN" sz="2400" b="1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646612" name="AutoShape 20"/>
          <p:cNvSpPr>
            <a:spLocks noChangeArrowheads="1"/>
          </p:cNvSpPr>
          <p:nvPr/>
        </p:nvSpPr>
        <p:spPr bwMode="auto">
          <a:xfrm rot="16200000" flipV="1">
            <a:off x="7119688" y="4125322"/>
            <a:ext cx="536555" cy="331788"/>
          </a:xfrm>
          <a:prstGeom prst="rightArrow">
            <a:avLst>
              <a:gd name="adj1" fmla="val 50000"/>
              <a:gd name="adj2" fmla="val 5777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46613" name="Group 21"/>
          <p:cNvGrpSpPr/>
          <p:nvPr/>
        </p:nvGrpSpPr>
        <p:grpSpPr bwMode="auto">
          <a:xfrm>
            <a:off x="9465795" y="1709329"/>
            <a:ext cx="2144169" cy="1716703"/>
            <a:chOff x="4695" y="1402"/>
            <a:chExt cx="1065" cy="965"/>
          </a:xfrm>
        </p:grpSpPr>
        <p:sp>
          <p:nvSpPr>
            <p:cNvPr id="14" name="AutoShape 39"/>
            <p:cNvSpPr>
              <a:spLocks noChangeArrowheads="1"/>
            </p:cNvSpPr>
            <p:nvPr/>
          </p:nvSpPr>
          <p:spPr bwMode="gray">
            <a:xfrm>
              <a:off x="4695" y="1402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Oval 40"/>
            <p:cNvSpPr>
              <a:spLocks noChangeArrowheads="1"/>
            </p:cNvSpPr>
            <p:nvPr/>
          </p:nvSpPr>
          <p:spPr bwMode="gray">
            <a:xfrm>
              <a:off x="4783" y="1482"/>
              <a:ext cx="889" cy="806"/>
            </a:xfrm>
            <a:prstGeom prst="ellipse">
              <a:avLst/>
            </a:prstGeom>
            <a:solidFill>
              <a:srgbClr val="00206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Text Box 84"/>
            <p:cNvSpPr txBox="1">
              <a:spLocks noChangeArrowheads="1"/>
            </p:cNvSpPr>
            <p:nvPr/>
          </p:nvSpPr>
          <p:spPr bwMode="auto">
            <a:xfrm>
              <a:off x="4788" y="1651"/>
              <a:ext cx="881" cy="46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数值与非数值性信息 </a:t>
              </a:r>
            </a:p>
          </p:txBody>
        </p:sp>
      </p:grpSp>
      <p:sp>
        <p:nvSpPr>
          <p:cNvPr id="1646617" name="AutoShape 25"/>
          <p:cNvSpPr>
            <a:spLocks noChangeArrowheads="1"/>
          </p:cNvSpPr>
          <p:nvPr/>
        </p:nvSpPr>
        <p:spPr bwMode="auto">
          <a:xfrm>
            <a:off x="8352370" y="2371869"/>
            <a:ext cx="1119247" cy="252798"/>
          </a:xfrm>
          <a:prstGeom prst="rightArrow">
            <a:avLst>
              <a:gd name="adj1" fmla="val 50000"/>
              <a:gd name="adj2" fmla="val 51794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18" name="AutoShape 26"/>
          <p:cNvSpPr>
            <a:spLocks noChangeArrowheads="1"/>
          </p:cNvSpPr>
          <p:nvPr/>
        </p:nvSpPr>
        <p:spPr bwMode="auto">
          <a:xfrm>
            <a:off x="2654264" y="2371869"/>
            <a:ext cx="954126" cy="274347"/>
          </a:xfrm>
          <a:prstGeom prst="rightArrow">
            <a:avLst>
              <a:gd name="adj1" fmla="val 50000"/>
              <a:gd name="adj2" fmla="val 5777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19" name="Text Box 27"/>
          <p:cNvSpPr txBox="1">
            <a:spLocks noChangeArrowheads="1"/>
          </p:cNvSpPr>
          <p:nvPr/>
        </p:nvSpPr>
        <p:spPr bwMode="auto">
          <a:xfrm>
            <a:off x="7489823" y="4022960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支持</a:t>
            </a:r>
          </a:p>
        </p:txBody>
      </p:sp>
      <p:sp>
        <p:nvSpPr>
          <p:cNvPr id="1646621" name="Text Box 29"/>
          <p:cNvSpPr txBox="1">
            <a:spLocks noChangeArrowheads="1"/>
          </p:cNvSpPr>
          <p:nvPr/>
        </p:nvSpPr>
        <p:spPr bwMode="auto">
          <a:xfrm>
            <a:off x="3852866" y="4526155"/>
            <a:ext cx="1430337" cy="7112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 b="1">
                <a:solidFill>
                  <a:srgbClr val="002060"/>
                </a:solidFill>
              </a:rPr>
              <a:t>基本逻辑运算</a:t>
            </a:r>
          </a:p>
        </p:txBody>
      </p:sp>
      <p:sp>
        <p:nvSpPr>
          <p:cNvPr id="1646622" name="Text Box 30"/>
          <p:cNvSpPr txBox="1">
            <a:spLocks noChangeArrowheads="1"/>
          </p:cNvSpPr>
          <p:nvPr/>
        </p:nvSpPr>
        <p:spPr bwMode="auto">
          <a:xfrm>
            <a:off x="6574372" y="4526155"/>
            <a:ext cx="1820863" cy="7112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 b="1">
                <a:solidFill>
                  <a:srgbClr val="002060"/>
                </a:solidFill>
              </a:rPr>
              <a:t>基于逻辑运算的复杂运算</a:t>
            </a:r>
          </a:p>
        </p:txBody>
      </p:sp>
      <p:sp>
        <p:nvSpPr>
          <p:cNvPr id="1646623" name="Text Box 31"/>
          <p:cNvSpPr txBox="1">
            <a:spLocks noChangeArrowheads="1"/>
          </p:cNvSpPr>
          <p:nvPr/>
        </p:nvSpPr>
        <p:spPr bwMode="auto">
          <a:xfrm>
            <a:off x="5524501" y="4491592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构造化</a:t>
            </a:r>
          </a:p>
        </p:txBody>
      </p:sp>
      <p:sp>
        <p:nvSpPr>
          <p:cNvPr id="1646624" name="AutoShape 32"/>
          <p:cNvSpPr>
            <a:spLocks noChangeArrowheads="1"/>
          </p:cNvSpPr>
          <p:nvPr/>
        </p:nvSpPr>
        <p:spPr bwMode="auto">
          <a:xfrm>
            <a:off x="5283203" y="4791438"/>
            <a:ext cx="1314983" cy="196859"/>
          </a:xfrm>
          <a:prstGeom prst="rightArrow">
            <a:avLst>
              <a:gd name="adj1" fmla="val 50000"/>
              <a:gd name="adj2" fmla="val 5777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25" name="AutoShape 33"/>
          <p:cNvSpPr>
            <a:spLocks noChangeArrowheads="1"/>
          </p:cNvSpPr>
          <p:nvPr/>
        </p:nvSpPr>
        <p:spPr bwMode="auto">
          <a:xfrm rot="5400000">
            <a:off x="4424210" y="5290985"/>
            <a:ext cx="468621" cy="331788"/>
          </a:xfrm>
          <a:prstGeom prst="rightArrow">
            <a:avLst>
              <a:gd name="adj1" fmla="val 50000"/>
              <a:gd name="adj2" fmla="val 4784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26" name="Text Box 34"/>
          <p:cNvSpPr txBox="1">
            <a:spLocks noChangeArrowheads="1"/>
          </p:cNvSpPr>
          <p:nvPr/>
        </p:nvSpPr>
        <p:spPr bwMode="auto">
          <a:xfrm>
            <a:off x="4714878" y="5275571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自动化</a:t>
            </a:r>
          </a:p>
        </p:txBody>
      </p:sp>
      <p:sp>
        <p:nvSpPr>
          <p:cNvPr id="1646627" name="Text Box 35"/>
          <p:cNvSpPr txBox="1">
            <a:spLocks noChangeArrowheads="1"/>
          </p:cNvSpPr>
          <p:nvPr/>
        </p:nvSpPr>
        <p:spPr bwMode="auto">
          <a:xfrm>
            <a:off x="5609828" y="2065047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计算化</a:t>
            </a:r>
          </a:p>
        </p:txBody>
      </p:sp>
      <p:sp>
        <p:nvSpPr>
          <p:cNvPr id="1646628" name="Text Box 36"/>
          <p:cNvSpPr txBox="1">
            <a:spLocks noChangeArrowheads="1"/>
          </p:cNvSpPr>
          <p:nvPr/>
        </p:nvSpPr>
        <p:spPr bwMode="auto">
          <a:xfrm>
            <a:off x="6533096" y="1988574"/>
            <a:ext cx="1790700" cy="83185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基于字母</a:t>
            </a:r>
            <a:r>
              <a:rPr lang="en-US" altLang="zh-CN" sz="2400" b="1">
                <a:solidFill>
                  <a:srgbClr val="002060"/>
                </a:solidFill>
              </a:rPr>
              <a:t>-</a:t>
            </a:r>
            <a:r>
              <a:rPr lang="zh-CN" altLang="en-US" sz="2400" b="1">
                <a:solidFill>
                  <a:srgbClr val="002060"/>
                </a:solidFill>
              </a:rPr>
              <a:t>符号的计算</a:t>
            </a:r>
          </a:p>
        </p:txBody>
      </p:sp>
      <p:sp>
        <p:nvSpPr>
          <p:cNvPr id="1646629" name="AutoShape 37"/>
          <p:cNvSpPr>
            <a:spLocks noChangeArrowheads="1"/>
          </p:cNvSpPr>
          <p:nvPr/>
        </p:nvSpPr>
        <p:spPr bwMode="auto">
          <a:xfrm>
            <a:off x="5519742" y="2371869"/>
            <a:ext cx="1078444" cy="290946"/>
          </a:xfrm>
          <a:prstGeom prst="rightArrow">
            <a:avLst>
              <a:gd name="adj1" fmla="val 50000"/>
              <a:gd name="adj2" fmla="val 5777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30" name="Text Box 38"/>
          <p:cNvSpPr txBox="1">
            <a:spLocks noChangeArrowheads="1"/>
          </p:cNvSpPr>
          <p:nvPr/>
        </p:nvSpPr>
        <p:spPr bwMode="auto">
          <a:xfrm>
            <a:off x="3597278" y="1988574"/>
            <a:ext cx="1922463" cy="83185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用字母</a:t>
            </a:r>
            <a:r>
              <a:rPr lang="en-US" altLang="zh-CN" sz="2400" b="1">
                <a:solidFill>
                  <a:srgbClr val="002060"/>
                </a:solidFill>
              </a:rPr>
              <a:t>-</a:t>
            </a:r>
            <a:r>
              <a:rPr lang="zh-CN" altLang="en-US" sz="2400" b="1">
                <a:solidFill>
                  <a:srgbClr val="002060"/>
                </a:solidFill>
              </a:rPr>
              <a:t>符号的组合编码</a:t>
            </a:r>
          </a:p>
        </p:txBody>
      </p:sp>
      <p:sp>
        <p:nvSpPr>
          <p:cNvPr id="1646631" name="AutoShape 39"/>
          <p:cNvSpPr>
            <a:spLocks noChangeArrowheads="1"/>
          </p:cNvSpPr>
          <p:nvPr/>
        </p:nvSpPr>
        <p:spPr bwMode="auto">
          <a:xfrm rot="16200000" flipV="1">
            <a:off x="7170476" y="2873859"/>
            <a:ext cx="488949" cy="331787"/>
          </a:xfrm>
          <a:prstGeom prst="rightArrow">
            <a:avLst>
              <a:gd name="adj1" fmla="val 50000"/>
              <a:gd name="adj2" fmla="val 49641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32" name="Text Box 40"/>
          <p:cNvSpPr txBox="1">
            <a:spLocks noChangeArrowheads="1"/>
          </p:cNvSpPr>
          <p:nvPr/>
        </p:nvSpPr>
        <p:spPr bwMode="auto">
          <a:xfrm>
            <a:off x="7478022" y="2874697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支持</a:t>
            </a:r>
          </a:p>
        </p:txBody>
      </p:sp>
      <p:sp>
        <p:nvSpPr>
          <p:cNvPr id="1646633" name="AutoShape 41"/>
          <p:cNvSpPr>
            <a:spLocks noChangeArrowheads="1"/>
          </p:cNvSpPr>
          <p:nvPr/>
        </p:nvSpPr>
        <p:spPr bwMode="auto">
          <a:xfrm rot="5400000">
            <a:off x="4292602" y="2958792"/>
            <a:ext cx="658813" cy="331787"/>
          </a:xfrm>
          <a:prstGeom prst="rightArrow">
            <a:avLst>
              <a:gd name="adj1" fmla="val 50000"/>
              <a:gd name="adj2" fmla="val 5789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6634" name="Text Box 42"/>
          <p:cNvSpPr txBox="1">
            <a:spLocks noChangeArrowheads="1"/>
          </p:cNvSpPr>
          <p:nvPr/>
        </p:nvSpPr>
        <p:spPr bwMode="auto">
          <a:xfrm>
            <a:off x="4678366" y="2874697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计算化</a:t>
            </a:r>
          </a:p>
        </p:txBody>
      </p:sp>
      <p:sp>
        <p:nvSpPr>
          <p:cNvPr id="1646605" name="Text Box 13"/>
          <p:cNvSpPr txBox="1">
            <a:spLocks noChangeArrowheads="1"/>
          </p:cNvSpPr>
          <p:nvPr/>
        </p:nvSpPr>
        <p:spPr bwMode="auto">
          <a:xfrm>
            <a:off x="6544209" y="3235337"/>
            <a:ext cx="1790700" cy="83185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基于</a:t>
            </a:r>
            <a:r>
              <a:rPr lang="en-US" altLang="zh-CN" sz="2400" b="1">
                <a:solidFill>
                  <a:srgbClr val="002060"/>
                </a:solidFill>
              </a:rPr>
              <a:t>0</a:t>
            </a:r>
            <a:r>
              <a:rPr lang="zh-CN" altLang="en-US" sz="2400" b="1">
                <a:solidFill>
                  <a:srgbClr val="002060"/>
                </a:solidFill>
              </a:rPr>
              <a:t>和</a:t>
            </a:r>
            <a:r>
              <a:rPr lang="en-US" altLang="zh-CN" sz="2400" b="1">
                <a:solidFill>
                  <a:srgbClr val="002060"/>
                </a:solidFill>
              </a:rPr>
              <a:t>1      </a:t>
            </a:r>
            <a:r>
              <a:rPr lang="zh-CN" altLang="en-US" sz="2400" b="1">
                <a:solidFill>
                  <a:srgbClr val="002060"/>
                </a:solidFill>
              </a:rPr>
              <a:t>的计算</a:t>
            </a:r>
          </a:p>
        </p:txBody>
      </p:sp>
      <p:sp>
        <p:nvSpPr>
          <p:cNvPr id="1646606" name="Text Box 14"/>
          <p:cNvSpPr txBox="1">
            <a:spLocks noChangeArrowheads="1"/>
          </p:cNvSpPr>
          <p:nvPr/>
        </p:nvSpPr>
        <p:spPr bwMode="auto">
          <a:xfrm>
            <a:off x="3852866" y="5664200"/>
            <a:ext cx="1430337" cy="10160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2060"/>
                </a:solidFill>
              </a:rPr>
              <a:t>用门电路实现基本逻辑运算</a:t>
            </a:r>
          </a:p>
        </p:txBody>
      </p:sp>
      <p:sp>
        <p:nvSpPr>
          <p:cNvPr id="1646635" name="Rectangle 43"/>
          <p:cNvSpPr>
            <a:spLocks noChangeArrowheads="1"/>
          </p:cNvSpPr>
          <p:nvPr/>
        </p:nvSpPr>
        <p:spPr bwMode="auto">
          <a:xfrm>
            <a:off x="3302598" y="2896898"/>
            <a:ext cx="5432611" cy="3889256"/>
          </a:xfrm>
          <a:prstGeom prst="roundRect">
            <a:avLst>
              <a:gd name="adj" fmla="val 7221"/>
            </a:avLst>
          </a:prstGeom>
          <a:solidFill>
            <a:srgbClr val="FFFFEF">
              <a:alpha val="69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646636" name="Picture 4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046" y="4857268"/>
            <a:ext cx="1506010" cy="830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2929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符号化、计算化与自动化：自动计算概述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47" name="Group 30"/>
          <p:cNvGrpSpPr/>
          <p:nvPr/>
        </p:nvGrpSpPr>
        <p:grpSpPr bwMode="auto">
          <a:xfrm>
            <a:off x="8740604" y="4269753"/>
            <a:ext cx="1125538" cy="1022350"/>
            <a:chOff x="2662" y="489"/>
            <a:chExt cx="575" cy="539"/>
          </a:xfrm>
        </p:grpSpPr>
        <p:sp>
          <p:nvSpPr>
            <p:cNvPr id="48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Text Box 84"/>
            <p:cNvSpPr txBox="1">
              <a:spLocks noChangeArrowheads="1"/>
            </p:cNvSpPr>
            <p:nvPr/>
          </p:nvSpPr>
          <p:spPr bwMode="auto">
            <a:xfrm>
              <a:off x="2682" y="644"/>
              <a:ext cx="5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35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逻辑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Group 30"/>
          <p:cNvGrpSpPr/>
          <p:nvPr/>
        </p:nvGrpSpPr>
        <p:grpSpPr bwMode="auto">
          <a:xfrm>
            <a:off x="8740604" y="5254652"/>
            <a:ext cx="1125538" cy="1022350"/>
            <a:chOff x="2662" y="489"/>
            <a:chExt cx="575" cy="539"/>
          </a:xfrm>
        </p:grpSpPr>
        <p:sp>
          <p:nvSpPr>
            <p:cNvPr id="52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Text Box 84"/>
            <p:cNvSpPr txBox="1">
              <a:spLocks noChangeArrowheads="1"/>
            </p:cNvSpPr>
            <p:nvPr/>
          </p:nvSpPr>
          <p:spPr bwMode="auto">
            <a:xfrm>
              <a:off x="2682" y="644"/>
              <a:ext cx="5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35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逻辑门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5" name="Group 30"/>
          <p:cNvGrpSpPr/>
          <p:nvPr/>
        </p:nvGrpSpPr>
        <p:grpSpPr bwMode="auto">
          <a:xfrm>
            <a:off x="2167468" y="3780041"/>
            <a:ext cx="1125538" cy="1022350"/>
            <a:chOff x="2662" y="489"/>
            <a:chExt cx="575" cy="539"/>
          </a:xfrm>
        </p:grpSpPr>
        <p:sp>
          <p:nvSpPr>
            <p:cNvPr id="56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Text Box 84"/>
            <p:cNvSpPr txBox="1">
              <a:spLocks noChangeArrowheads="1"/>
            </p:cNvSpPr>
            <p:nvPr/>
          </p:nvSpPr>
          <p:spPr bwMode="auto">
            <a:xfrm>
              <a:off x="2682" y="644"/>
              <a:ext cx="5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35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计数制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9" name="Group 30"/>
          <p:cNvGrpSpPr/>
          <p:nvPr/>
        </p:nvGrpSpPr>
        <p:grpSpPr bwMode="auto">
          <a:xfrm>
            <a:off x="2146983" y="4726180"/>
            <a:ext cx="1125538" cy="1022350"/>
            <a:chOff x="2662" y="489"/>
            <a:chExt cx="575" cy="539"/>
          </a:xfrm>
        </p:grpSpPr>
        <p:sp>
          <p:nvSpPr>
            <p:cNvPr id="60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Text Box 84"/>
            <p:cNvSpPr txBox="1">
              <a:spLocks noChangeArrowheads="1"/>
            </p:cNvSpPr>
            <p:nvPr/>
          </p:nvSpPr>
          <p:spPr bwMode="auto">
            <a:xfrm>
              <a:off x="2682" y="644"/>
              <a:ext cx="5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35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机器数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3" name="Group 30"/>
          <p:cNvGrpSpPr/>
          <p:nvPr/>
        </p:nvGrpSpPr>
        <p:grpSpPr bwMode="auto">
          <a:xfrm>
            <a:off x="2171665" y="5691190"/>
            <a:ext cx="1125538" cy="1022350"/>
            <a:chOff x="2662" y="489"/>
            <a:chExt cx="575" cy="539"/>
          </a:xfrm>
        </p:grpSpPr>
        <p:sp>
          <p:nvSpPr>
            <p:cNvPr id="64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Text Box 84"/>
            <p:cNvSpPr txBox="1">
              <a:spLocks noChangeArrowheads="1"/>
            </p:cNvSpPr>
            <p:nvPr/>
          </p:nvSpPr>
          <p:spPr bwMode="auto">
            <a:xfrm>
              <a:off x="2677" y="644"/>
              <a:ext cx="5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35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编码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6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6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46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6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46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46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6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6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6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46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46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46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4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4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4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4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4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4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46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46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46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46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46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46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46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46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4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4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4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4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46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46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46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4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46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46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46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46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46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46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646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646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646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646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46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646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646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46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646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646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646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646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646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646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646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646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646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646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646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646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646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646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646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646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64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64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646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646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646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646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6595" grpId="0"/>
      <p:bldP spid="1646596" grpId="0"/>
      <p:bldP spid="1646597" grpId="0"/>
      <p:bldP spid="1646603" grpId="0"/>
      <p:bldP spid="1646604" grpId="0"/>
      <p:bldP spid="1646607" grpId="0" animBg="1"/>
      <p:bldP spid="1646608" grpId="0"/>
      <p:bldP spid="1646611" grpId="0" animBg="1"/>
      <p:bldP spid="1646619" grpId="0"/>
      <p:bldP spid="1646621" grpId="0" animBg="1"/>
      <p:bldP spid="1646622" grpId="0" animBg="1"/>
      <p:bldP spid="1646623" grpId="0"/>
      <p:bldP spid="1646626" grpId="0"/>
      <p:bldP spid="1646627" grpId="0"/>
      <p:bldP spid="1646628" grpId="0" animBg="1"/>
      <p:bldP spid="1646630" grpId="0" animBg="1"/>
      <p:bldP spid="1646632" grpId="0"/>
      <p:bldP spid="1646634" grpId="0"/>
      <p:bldP spid="1646605" grpId="0" animBg="1"/>
      <p:bldP spid="164660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0806" y="111760"/>
            <a:ext cx="11073674" cy="878613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机器程序及执行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362330" y="1254348"/>
            <a:ext cx="3057247" cy="2837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C00000">
                        <a:shade val="30000"/>
                        <a:satMod val="115000"/>
                      </a:srgbClr>
                    </a:gs>
                    <a:gs pos="50000">
                      <a:srgbClr val="C00000">
                        <a:shade val="67500"/>
                        <a:satMod val="115000"/>
                      </a:srgbClr>
                    </a:gs>
                    <a:gs pos="100000">
                      <a:srgbClr val="C0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机器指令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二、机器程序编写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三、机器程序执行</a:t>
            </a:r>
            <a:endParaRPr lang="en-US" altLang="zh-CN" sz="2800" b="1" dirty="0">
              <a:solidFill>
                <a:srgbClr val="A5002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计算机如何计算一个运算式</a:t>
            </a: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?</a:t>
            </a:r>
          </a:p>
        </p:txBody>
      </p:sp>
      <p:sp>
        <p:nvSpPr>
          <p:cNvPr id="22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机器指令与机器程序</a:t>
            </a:r>
          </a:p>
        </p:txBody>
      </p:sp>
      <p:sp>
        <p:nvSpPr>
          <p:cNvPr id="1792004" name="Text Box 4"/>
          <p:cNvSpPr txBox="1">
            <a:spLocks noChangeArrowheads="1"/>
          </p:cNvSpPr>
          <p:nvPr/>
        </p:nvSpPr>
        <p:spPr bwMode="auto">
          <a:xfrm>
            <a:off x="3677081" y="2681475"/>
            <a:ext cx="41116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800" dirty="0"/>
              <a:t>8</a:t>
            </a:r>
            <a:r>
              <a:rPr lang="en-US" altLang="zh-CN" sz="4800" dirty="0">
                <a:sym typeface="Symbol" panose="05050102010706020507" pitchFamily="18" charset="2"/>
              </a:rPr>
              <a:t></a:t>
            </a:r>
            <a:r>
              <a:rPr lang="en-US" altLang="zh-CN" sz="4800" dirty="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en-US" altLang="zh-CN" sz="4800" baseline="30000" dirty="0">
                <a:sym typeface="Symbol" panose="05050102010706020507" pitchFamily="18" charset="2"/>
              </a:rPr>
              <a:t>2 </a:t>
            </a:r>
            <a:r>
              <a:rPr lang="en-US" altLang="zh-CN" sz="4800" dirty="0">
                <a:sym typeface="Symbol" panose="05050102010706020507" pitchFamily="18" charset="2"/>
              </a:rPr>
              <a:t>+ 2</a:t>
            </a:r>
            <a:r>
              <a:rPr lang="en-US" altLang="zh-CN" sz="4800" dirty="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en-US" altLang="zh-CN" sz="4800" dirty="0">
                <a:sym typeface="Symbol" panose="05050102010706020507" pitchFamily="18" charset="2"/>
              </a:rPr>
              <a:t> + 6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机器级算法</a:t>
            </a:r>
          </a:p>
        </p:txBody>
      </p:sp>
      <p:sp>
        <p:nvSpPr>
          <p:cNvPr id="14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机器指令与机器程序</a:t>
            </a:r>
          </a:p>
        </p:txBody>
      </p:sp>
      <p:grpSp>
        <p:nvGrpSpPr>
          <p:cNvPr id="1793026" name="Group 2"/>
          <p:cNvGrpSpPr/>
          <p:nvPr/>
        </p:nvGrpSpPr>
        <p:grpSpPr bwMode="auto">
          <a:xfrm>
            <a:off x="4098471" y="2066166"/>
            <a:ext cx="7353300" cy="4191000"/>
            <a:chOff x="585" y="1289"/>
            <a:chExt cx="4632" cy="2640"/>
          </a:xfrm>
        </p:grpSpPr>
        <p:pic>
          <p:nvPicPr>
            <p:cNvPr id="179302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" y="1289"/>
              <a:ext cx="4629" cy="2640"/>
            </a:xfrm>
            <a:prstGeom prst="rect">
              <a:avLst/>
            </a:prstGeom>
            <a:noFill/>
            <a:ln w="57150">
              <a:solidFill>
                <a:srgbClr val="9900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93028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" y="1293"/>
              <a:ext cx="4614" cy="2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793029" name="Text Box 5"/>
          <p:cNvSpPr txBox="1">
            <a:spLocks noChangeArrowheads="1"/>
          </p:cNvSpPr>
          <p:nvPr/>
        </p:nvSpPr>
        <p:spPr bwMode="auto">
          <a:xfrm>
            <a:off x="553305" y="2072516"/>
            <a:ext cx="3397528" cy="972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</a:t>
            </a:r>
            <a:r>
              <a:rPr lang="zh-CN" altLang="en-US" b="0" dirty="0">
                <a:latin typeface="Times New Roman" panose="02020503050405090304" pitchFamily="18" charset="0"/>
              </a:rPr>
              <a:t>机器可以执行的求解问题的规则及步骤。</a:t>
            </a:r>
          </a:p>
        </p:txBody>
      </p:sp>
      <p:sp>
        <p:nvSpPr>
          <p:cNvPr id="1793031" name="Text Box 7"/>
          <p:cNvSpPr txBox="1">
            <a:spLocks noChangeArrowheads="1"/>
          </p:cNvSpPr>
          <p:nvPr/>
        </p:nvSpPr>
        <p:spPr bwMode="auto">
          <a:xfrm>
            <a:off x="4001841" y="6339717"/>
            <a:ext cx="7593011" cy="442674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0" lang="zh-CN" altLang="en-US" dirty="0">
                <a:solidFill>
                  <a:srgbClr val="FFFFEF"/>
                </a:solidFill>
              </a:rPr>
              <a:t>问：怎么看待算法节省的步数</a:t>
            </a:r>
            <a:r>
              <a:rPr kumimoji="0" lang="en-US" altLang="zh-CN" dirty="0">
                <a:solidFill>
                  <a:srgbClr val="FFFFEF"/>
                </a:solidFill>
              </a:rPr>
              <a:t>? ---</a:t>
            </a:r>
            <a:r>
              <a:rPr kumimoji="0" lang="zh-CN" altLang="en-US" dirty="0">
                <a:solidFill>
                  <a:srgbClr val="FFFFEF"/>
                </a:solidFill>
              </a:rPr>
              <a:t>算法需要</a:t>
            </a:r>
            <a:r>
              <a:rPr kumimoji="0" lang="en-US" altLang="zh-CN" dirty="0">
                <a:solidFill>
                  <a:srgbClr val="FFFFEF"/>
                </a:solidFill>
                <a:latin typeface="宋体" pitchFamily="2" charset="-122"/>
              </a:rPr>
              <a:t>“</a:t>
            </a:r>
            <a:r>
              <a:rPr kumimoji="0" lang="zh-CN" altLang="en-US" dirty="0">
                <a:solidFill>
                  <a:srgbClr val="FFFFEF"/>
                </a:solidFill>
              </a:rPr>
              <a:t>优化</a:t>
            </a:r>
            <a:r>
              <a:rPr kumimoji="0" lang="en-US" altLang="zh-CN" dirty="0">
                <a:solidFill>
                  <a:srgbClr val="FFFFEF"/>
                </a:solidFill>
                <a:latin typeface="宋体" pitchFamily="2" charset="-122"/>
              </a:rPr>
              <a:t>”</a:t>
            </a:r>
            <a:endParaRPr lang="en-US" altLang="zh-CN" dirty="0">
              <a:solidFill>
                <a:srgbClr val="FFFFEF"/>
              </a:solidFill>
            </a:endParaRPr>
          </a:p>
        </p:txBody>
      </p:sp>
      <p:pic>
        <p:nvPicPr>
          <p:cNvPr id="1793032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783" y="2734503"/>
            <a:ext cx="3257550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93033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247" y="2215392"/>
            <a:ext cx="341947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93034" name="Picture 1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447" y="2748792"/>
            <a:ext cx="3781425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93035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158" y="2196342"/>
            <a:ext cx="32194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93036" name="Line 12"/>
          <p:cNvSpPr>
            <a:spLocks noChangeShapeType="1"/>
          </p:cNvSpPr>
          <p:nvPr/>
        </p:nvSpPr>
        <p:spPr bwMode="auto">
          <a:xfrm>
            <a:off x="4531859" y="2677353"/>
            <a:ext cx="64484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3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3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93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93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93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93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303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机器指令</a:t>
            </a:r>
          </a:p>
        </p:txBody>
      </p:sp>
      <p:sp>
        <p:nvSpPr>
          <p:cNvPr id="1794050" name="Rectangle 2"/>
          <p:cNvSpPr>
            <a:spLocks noChangeArrowheads="1"/>
          </p:cNvSpPr>
          <p:nvPr/>
        </p:nvSpPr>
        <p:spPr bwMode="auto">
          <a:xfrm>
            <a:off x="2154859" y="3824035"/>
            <a:ext cx="271138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zh-CN" b="0" dirty="0"/>
              <a:t>000001   00 00000111</a:t>
            </a:r>
          </a:p>
        </p:txBody>
      </p:sp>
      <p:sp>
        <p:nvSpPr>
          <p:cNvPr id="1794051" name="Line 3"/>
          <p:cNvSpPr>
            <a:spLocks noChangeShapeType="1"/>
          </p:cNvSpPr>
          <p:nvPr/>
        </p:nvSpPr>
        <p:spPr bwMode="auto">
          <a:xfrm>
            <a:off x="2305671" y="3781173"/>
            <a:ext cx="2692400" cy="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4052" name="Text Box 4"/>
          <p:cNvSpPr txBox="1">
            <a:spLocks noChangeArrowheads="1"/>
          </p:cNvSpPr>
          <p:nvPr/>
        </p:nvSpPr>
        <p:spPr bwMode="auto">
          <a:xfrm>
            <a:off x="2310435" y="3412873"/>
            <a:ext cx="2212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>
                <a:solidFill>
                  <a:schemeClr val="accent2"/>
                </a:solidFill>
              </a:rPr>
              <a:t>操作码              地址码</a:t>
            </a:r>
          </a:p>
        </p:txBody>
      </p:sp>
      <p:sp>
        <p:nvSpPr>
          <p:cNvPr id="1794053" name="Text Box 5"/>
          <p:cNvSpPr txBox="1">
            <a:spLocks noChangeArrowheads="1"/>
          </p:cNvSpPr>
          <p:nvPr/>
        </p:nvSpPr>
        <p:spPr bwMode="auto">
          <a:xfrm>
            <a:off x="1031451" y="4238860"/>
            <a:ext cx="2163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chemeClr val="accent2"/>
                </a:solidFill>
              </a:rPr>
              <a:t>(</a:t>
            </a:r>
            <a:r>
              <a:rPr lang="zh-CN" altLang="en-US" sz="1600">
                <a:solidFill>
                  <a:schemeClr val="accent2"/>
                </a:solidFill>
              </a:rPr>
              <a:t>如取数，加法等操作</a:t>
            </a:r>
            <a:r>
              <a:rPr lang="en-US" altLang="zh-CN" sz="160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1794054" name="Text Box 6"/>
          <p:cNvSpPr txBox="1">
            <a:spLocks noChangeArrowheads="1"/>
          </p:cNvSpPr>
          <p:nvPr/>
        </p:nvSpPr>
        <p:spPr bwMode="auto">
          <a:xfrm>
            <a:off x="3195213" y="4229663"/>
            <a:ext cx="21637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accent2"/>
                </a:solidFill>
              </a:rPr>
              <a:t>(</a:t>
            </a:r>
            <a:r>
              <a:rPr lang="zh-CN" altLang="en-US" sz="1600" dirty="0">
                <a:solidFill>
                  <a:schemeClr val="accent2"/>
                </a:solidFill>
              </a:rPr>
              <a:t>操作中的数据的来源</a:t>
            </a:r>
            <a:r>
              <a:rPr lang="en-US" altLang="zh-CN" sz="16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1794055" name="Text Box 7"/>
          <p:cNvSpPr txBox="1">
            <a:spLocks noChangeArrowheads="1"/>
          </p:cNvSpPr>
          <p:nvPr/>
        </p:nvSpPr>
        <p:spPr bwMode="auto">
          <a:xfrm>
            <a:off x="707569" y="1949934"/>
            <a:ext cx="5772743" cy="1372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371600" indent="-4572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828800" indent="-4572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286000" indent="-4572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marL="0" indent="0" eaLnBrk="1" hangingPunct="1">
              <a:lnSpc>
                <a:spcPct val="13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机器指令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2000" b="0" dirty="0">
                <a:latin typeface="Times New Roman" panose="02020503050405090304" pitchFamily="18" charset="0"/>
                <a:ea typeface="宋体" pitchFamily="2" charset="-122"/>
              </a:rPr>
              <a:t>是</a:t>
            </a:r>
            <a:r>
              <a:rPr lang="en-US" altLang="zh-CN" sz="2000" b="0" dirty="0">
                <a:latin typeface="Times New Roman" panose="02020503050405090304" pitchFamily="18" charset="0"/>
                <a:ea typeface="宋体" pitchFamily="2" charset="-122"/>
              </a:rPr>
              <a:t>CPU</a:t>
            </a:r>
            <a:r>
              <a:rPr lang="zh-CN" altLang="en-US" sz="2000" b="0" dirty="0">
                <a:latin typeface="Times New Roman" panose="02020503050405090304" pitchFamily="18" charset="0"/>
                <a:ea typeface="宋体" pitchFamily="2" charset="-122"/>
              </a:rPr>
              <a:t>可以直接分析并执行的指令，一般由</a:t>
            </a:r>
            <a:r>
              <a:rPr lang="en-US" altLang="zh-CN" sz="2000" b="0" dirty="0">
                <a:latin typeface="Times New Roman" panose="02020503050405090304" pitchFamily="18" charset="0"/>
                <a:ea typeface="宋体" pitchFamily="2" charset="-122"/>
              </a:rPr>
              <a:t>0</a:t>
            </a:r>
            <a:r>
              <a:rPr lang="zh-CN" altLang="en-US" sz="2000" b="0" dirty="0">
                <a:latin typeface="Times New Roman" panose="02020503050405090304" pitchFamily="18" charset="0"/>
                <a:ea typeface="宋体" pitchFamily="2" charset="-122"/>
              </a:rPr>
              <a:t>和</a:t>
            </a:r>
            <a:r>
              <a:rPr lang="en-US" altLang="zh-CN" sz="2000" b="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lang="zh-CN" altLang="en-US" sz="2000" b="0" dirty="0">
                <a:latin typeface="Times New Roman" panose="02020503050405090304" pitchFamily="18" charset="0"/>
                <a:ea typeface="宋体" pitchFamily="2" charset="-122"/>
              </a:rPr>
              <a:t>的编码表示。</a:t>
            </a:r>
          </a:p>
          <a:p>
            <a:pPr marL="0" indent="0" algn="ctr"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指令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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操作码 </a:t>
            </a:r>
            <a:r>
              <a:rPr lang="en-US" altLang="zh-CN" sz="2000" b="0" dirty="0">
                <a:latin typeface="Times New Roman" panose="02020503050405090304" pitchFamily="18" charset="0"/>
                <a:ea typeface="宋体" pitchFamily="2" charset="-122"/>
              </a:rPr>
              <a:t>+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地址码</a:t>
            </a:r>
            <a:r>
              <a:rPr lang="zh-CN" altLang="en-US" sz="2000" b="0" dirty="0">
                <a:latin typeface="Times New Roman" panose="02020503050405090304" pitchFamily="18" charset="0"/>
                <a:ea typeface="宋体" pitchFamily="2" charset="-122"/>
              </a:rPr>
              <a:t>；</a:t>
            </a:r>
          </a:p>
        </p:txBody>
      </p:sp>
      <p:sp>
        <p:nvSpPr>
          <p:cNvPr id="1794057" name="Text Box 9"/>
          <p:cNvSpPr txBox="1">
            <a:spLocks noChangeArrowheads="1"/>
          </p:cNvSpPr>
          <p:nvPr/>
        </p:nvSpPr>
        <p:spPr bwMode="auto">
          <a:xfrm>
            <a:off x="1931513" y="5075702"/>
            <a:ext cx="2813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000100</a:t>
            </a:r>
            <a:r>
              <a:rPr lang="en-US" altLang="zh-CN" sz="1600" dirty="0">
                <a:solidFill>
                  <a:srgbClr val="C00000"/>
                </a:solidFill>
              </a:rPr>
              <a:t>   </a:t>
            </a:r>
            <a:r>
              <a:rPr lang="en-US" altLang="zh-CN" dirty="0"/>
              <a:t>0000000100</a:t>
            </a:r>
          </a:p>
        </p:txBody>
      </p:sp>
      <p:sp>
        <p:nvSpPr>
          <p:cNvPr id="1794058" name="Text Box 10"/>
          <p:cNvSpPr txBox="1">
            <a:spLocks noChangeArrowheads="1"/>
          </p:cNvSpPr>
          <p:nvPr/>
        </p:nvSpPr>
        <p:spPr bwMode="auto">
          <a:xfrm>
            <a:off x="1931513" y="5551952"/>
            <a:ext cx="2799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000011</a:t>
            </a:r>
            <a:r>
              <a:rPr lang="en-US" altLang="zh-CN" sz="1600" dirty="0">
                <a:solidFill>
                  <a:srgbClr val="C00000"/>
                </a:solidFill>
              </a:rPr>
              <a:t>  </a:t>
            </a:r>
            <a:r>
              <a:rPr lang="en-US" altLang="zh-CN" sz="1600" dirty="0"/>
              <a:t> </a:t>
            </a:r>
            <a:r>
              <a:rPr lang="en-US" altLang="zh-CN" dirty="0"/>
              <a:t>0000001100</a:t>
            </a:r>
          </a:p>
        </p:txBody>
      </p:sp>
      <p:sp>
        <p:nvSpPr>
          <p:cNvPr id="1794059" name="Text Box 11"/>
          <p:cNvSpPr txBox="1">
            <a:spLocks noChangeArrowheads="1"/>
          </p:cNvSpPr>
          <p:nvPr/>
        </p:nvSpPr>
        <p:spPr bwMode="auto">
          <a:xfrm>
            <a:off x="1931513" y="6029789"/>
            <a:ext cx="2813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000011</a:t>
            </a:r>
            <a:r>
              <a:rPr lang="en-US" altLang="zh-CN" sz="1600" dirty="0">
                <a:solidFill>
                  <a:srgbClr val="C00000"/>
                </a:solidFill>
              </a:rPr>
              <a:t>   </a:t>
            </a:r>
            <a:r>
              <a:rPr lang="en-US" altLang="zh-CN" dirty="0"/>
              <a:t>0000001000</a:t>
            </a:r>
          </a:p>
        </p:txBody>
      </p:sp>
      <p:sp>
        <p:nvSpPr>
          <p:cNvPr id="14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机器指令与机器程序</a:t>
            </a:r>
          </a:p>
        </p:txBody>
      </p:sp>
      <p:sp>
        <p:nvSpPr>
          <p:cNvPr id="2" name="矩形 1"/>
          <p:cNvSpPr/>
          <p:nvPr/>
        </p:nvSpPr>
        <p:spPr>
          <a:xfrm>
            <a:off x="1931513" y="4590125"/>
            <a:ext cx="28103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zh-CN" sz="2400" dirty="0">
                <a:solidFill>
                  <a:srgbClr val="C00000"/>
                </a:solidFill>
              </a:rPr>
              <a:t>000100 </a:t>
            </a:r>
            <a:r>
              <a:rPr lang="en-US" altLang="zh-CN" sz="2400" dirty="0"/>
              <a:t> </a:t>
            </a:r>
            <a:r>
              <a:rPr lang="en-US" altLang="zh-CN" dirty="0"/>
              <a:t>0000001010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4901979" y="5306534"/>
            <a:ext cx="2175472" cy="112371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机器语言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b="0" dirty="0">
                <a:latin typeface="Times New Roman" panose="02020503050405090304" pitchFamily="18" charset="0"/>
              </a:rPr>
              <a:t>机器能够执行的所有指令的集合。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31" y="1862925"/>
            <a:ext cx="4502438" cy="47048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4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4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94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94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94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94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94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94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94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94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94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94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94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94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94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94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4052" grpId="0"/>
      <p:bldP spid="1794053" grpId="0"/>
      <p:bldP spid="1794054" grpId="0"/>
      <p:bldP spid="1794057" grpId="0"/>
      <p:bldP spid="1794058" grpId="0"/>
      <p:bldP spid="1794059" grpId="0"/>
      <p:bldP spid="2" grpId="0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 bwMode="auto">
          <a:xfrm>
            <a:off x="4233797" y="2574099"/>
            <a:ext cx="3832965" cy="3340568"/>
          </a:xfrm>
          <a:prstGeom prst="roundRect">
            <a:avLst>
              <a:gd name="adj" fmla="val 8043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机器程序：将机器级算法用机器指令进行表达</a:t>
            </a:r>
            <a:endParaRPr kumimoji="1"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机器指令与机器程序</a:t>
            </a:r>
          </a:p>
        </p:txBody>
      </p:sp>
      <p:grpSp>
        <p:nvGrpSpPr>
          <p:cNvPr id="1795076" name="Group 4"/>
          <p:cNvGrpSpPr/>
          <p:nvPr/>
        </p:nvGrpSpPr>
        <p:grpSpPr bwMode="auto">
          <a:xfrm>
            <a:off x="608038" y="2982586"/>
            <a:ext cx="3270250" cy="2738438"/>
            <a:chOff x="749" y="790"/>
            <a:chExt cx="2060" cy="1725"/>
          </a:xfrm>
        </p:grpSpPr>
        <p:pic>
          <p:nvPicPr>
            <p:cNvPr id="1795077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" y="1051"/>
              <a:ext cx="2052" cy="1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95078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8"/>
            <a:stretch>
              <a:fillRect/>
            </a:stretch>
          </p:blipFill>
          <p:spPr bwMode="auto">
            <a:xfrm>
              <a:off x="753" y="790"/>
              <a:ext cx="2056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795080" name="Text Box 8"/>
          <p:cNvSpPr txBox="1">
            <a:spLocks noChangeArrowheads="1"/>
          </p:cNvSpPr>
          <p:nvPr/>
        </p:nvSpPr>
        <p:spPr bwMode="auto">
          <a:xfrm>
            <a:off x="698632" y="1918852"/>
            <a:ext cx="9476999" cy="461665"/>
          </a:xfrm>
          <a:prstGeom prst="rect">
            <a:avLst/>
          </a:prstGeom>
          <a:solidFill>
            <a:schemeClr val="bg1"/>
          </a:solidFill>
          <a:ln w="762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假设数字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分别存储在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号、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号、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号和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存储单元</a:t>
            </a:r>
          </a:p>
        </p:txBody>
      </p:sp>
      <p:grpSp>
        <p:nvGrpSpPr>
          <p:cNvPr id="1795081" name="Group 9"/>
          <p:cNvGrpSpPr/>
          <p:nvPr/>
        </p:nvGrpSpPr>
        <p:grpSpPr bwMode="auto">
          <a:xfrm>
            <a:off x="1562286" y="5761505"/>
            <a:ext cx="1331913" cy="976312"/>
            <a:chOff x="85" y="1191"/>
            <a:chExt cx="839" cy="615"/>
          </a:xfrm>
        </p:grpSpPr>
        <p:sp>
          <p:nvSpPr>
            <p:cNvPr id="2" name="AutoShape 39"/>
            <p:cNvSpPr>
              <a:spLocks noChangeArrowheads="1"/>
            </p:cNvSpPr>
            <p:nvPr/>
          </p:nvSpPr>
          <p:spPr bwMode="gray">
            <a:xfrm>
              <a:off x="85" y="1191"/>
              <a:ext cx="839" cy="61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" name="Oval 40"/>
            <p:cNvSpPr>
              <a:spLocks noChangeArrowheads="1"/>
            </p:cNvSpPr>
            <p:nvPr/>
          </p:nvSpPr>
          <p:spPr bwMode="gray">
            <a:xfrm>
              <a:off x="154" y="1242"/>
              <a:ext cx="701" cy="513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" name="Text Box 84"/>
            <p:cNvSpPr txBox="1">
              <a:spLocks noChangeArrowheads="1"/>
            </p:cNvSpPr>
            <p:nvPr/>
          </p:nvSpPr>
          <p:spPr bwMode="auto">
            <a:xfrm>
              <a:off x="157" y="1278"/>
              <a:ext cx="694" cy="44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机器级算法</a:t>
              </a:r>
            </a:p>
          </p:txBody>
        </p:sp>
      </p:grpSp>
      <p:grpSp>
        <p:nvGrpSpPr>
          <p:cNvPr id="1795085" name="Group 13"/>
          <p:cNvGrpSpPr/>
          <p:nvPr/>
        </p:nvGrpSpPr>
        <p:grpSpPr bwMode="auto">
          <a:xfrm>
            <a:off x="9247004" y="5760762"/>
            <a:ext cx="2170444" cy="976312"/>
            <a:chOff x="4771" y="2477"/>
            <a:chExt cx="839" cy="615"/>
          </a:xfrm>
        </p:grpSpPr>
        <p:sp>
          <p:nvSpPr>
            <p:cNvPr id="5" name="AutoShape 39"/>
            <p:cNvSpPr>
              <a:spLocks noChangeArrowheads="1"/>
            </p:cNvSpPr>
            <p:nvPr/>
          </p:nvSpPr>
          <p:spPr bwMode="gray">
            <a:xfrm>
              <a:off x="4771" y="2477"/>
              <a:ext cx="839" cy="61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" name="Oval 40"/>
            <p:cNvSpPr>
              <a:spLocks noChangeArrowheads="1"/>
            </p:cNvSpPr>
            <p:nvPr/>
          </p:nvSpPr>
          <p:spPr bwMode="gray">
            <a:xfrm>
              <a:off x="4840" y="2528"/>
              <a:ext cx="701" cy="513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" name="Text Box 84"/>
            <p:cNvSpPr txBox="1">
              <a:spLocks noChangeArrowheads="1"/>
            </p:cNvSpPr>
            <p:nvPr/>
          </p:nvSpPr>
          <p:spPr bwMode="auto">
            <a:xfrm>
              <a:off x="4843" y="2543"/>
              <a:ext cx="694" cy="44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机器语言   与机器指令</a:t>
              </a:r>
            </a:p>
          </p:txBody>
        </p:sp>
      </p:grpSp>
      <p:grpSp>
        <p:nvGrpSpPr>
          <p:cNvPr id="1795089" name="Group 17"/>
          <p:cNvGrpSpPr/>
          <p:nvPr/>
        </p:nvGrpSpPr>
        <p:grpSpPr bwMode="auto">
          <a:xfrm>
            <a:off x="5495051" y="5776555"/>
            <a:ext cx="1331913" cy="976312"/>
            <a:chOff x="0" y="2821"/>
            <a:chExt cx="839" cy="615"/>
          </a:xfrm>
        </p:grpSpPr>
        <p:sp>
          <p:nvSpPr>
            <p:cNvPr id="20" name="AutoShape 39"/>
            <p:cNvSpPr>
              <a:spLocks noChangeArrowheads="1"/>
            </p:cNvSpPr>
            <p:nvPr/>
          </p:nvSpPr>
          <p:spPr bwMode="gray">
            <a:xfrm>
              <a:off x="0" y="2821"/>
              <a:ext cx="839" cy="61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gray">
            <a:xfrm>
              <a:off x="69" y="2872"/>
              <a:ext cx="701" cy="513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84"/>
            <p:cNvSpPr txBox="1">
              <a:spLocks noChangeArrowheads="1"/>
            </p:cNvSpPr>
            <p:nvPr/>
          </p:nvSpPr>
          <p:spPr bwMode="auto">
            <a:xfrm>
              <a:off x="72" y="2908"/>
              <a:ext cx="694" cy="44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机器  程序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647021" y="2815886"/>
            <a:ext cx="325185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n-lt"/>
              </a:rPr>
              <a:t>000001  0000001000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000100  0000001001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000011  0000001010</a:t>
            </a:r>
          </a:p>
          <a:p>
            <a:r>
              <a:rPr lang="en-US" altLang="zh-CN" sz="2400" dirty="0">
                <a:latin typeface="+mn-lt"/>
              </a:rPr>
              <a:t>000100  0000001000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000011  0000001011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000010  0000001100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000101  0000001100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000110  0000000000  </a:t>
            </a:r>
            <a:endParaRPr lang="zh-CN" altLang="zh-CN" sz="2400" dirty="0">
              <a:latin typeface="+mn-lt"/>
            </a:endParaRPr>
          </a:p>
        </p:txBody>
      </p:sp>
      <p:sp>
        <p:nvSpPr>
          <p:cNvPr id="9" name="右箭头 8"/>
          <p:cNvSpPr/>
          <p:nvPr/>
        </p:nvSpPr>
        <p:spPr bwMode="auto">
          <a:xfrm>
            <a:off x="3538984" y="6096828"/>
            <a:ext cx="1359877" cy="357474"/>
          </a:xfrm>
          <a:prstGeom prst="rightArrow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710" y="2388640"/>
            <a:ext cx="3216061" cy="33606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7677013" y="2529352"/>
            <a:ext cx="2644524" cy="4150981"/>
            <a:chOff x="7992777" y="2427436"/>
            <a:chExt cx="2644524" cy="4150981"/>
          </a:xfrm>
        </p:grpSpPr>
        <p:sp>
          <p:nvSpPr>
            <p:cNvPr id="8" name="矩形 7"/>
            <p:cNvSpPr/>
            <p:nvPr/>
          </p:nvSpPr>
          <p:spPr bwMode="auto">
            <a:xfrm>
              <a:off x="7992777" y="2427436"/>
              <a:ext cx="2644524" cy="4150981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 bwMode="auto">
            <a:xfrm>
              <a:off x="7992777" y="2769514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17"/>
            <p:cNvCxnSpPr/>
            <p:nvPr/>
          </p:nvCxnSpPr>
          <p:spPr bwMode="auto">
            <a:xfrm>
              <a:off x="7992777" y="3086374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19"/>
            <p:cNvCxnSpPr/>
            <p:nvPr/>
          </p:nvCxnSpPr>
          <p:spPr bwMode="auto">
            <a:xfrm>
              <a:off x="7992777" y="3382393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7992777" y="3720574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22"/>
            <p:cNvCxnSpPr/>
            <p:nvPr/>
          </p:nvCxnSpPr>
          <p:spPr bwMode="auto">
            <a:xfrm>
              <a:off x="7992777" y="4052177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23"/>
            <p:cNvCxnSpPr/>
            <p:nvPr/>
          </p:nvCxnSpPr>
          <p:spPr bwMode="auto">
            <a:xfrm>
              <a:off x="7992777" y="4342916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24"/>
            <p:cNvCxnSpPr/>
            <p:nvPr/>
          </p:nvCxnSpPr>
          <p:spPr bwMode="auto">
            <a:xfrm>
              <a:off x="7992777" y="4673965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直接连接符 25"/>
            <p:cNvCxnSpPr/>
            <p:nvPr/>
          </p:nvCxnSpPr>
          <p:spPr bwMode="auto">
            <a:xfrm>
              <a:off x="7992777" y="5004403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26"/>
            <p:cNvCxnSpPr/>
            <p:nvPr/>
          </p:nvCxnSpPr>
          <p:spPr bwMode="auto">
            <a:xfrm>
              <a:off x="7992777" y="5307477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27"/>
            <p:cNvCxnSpPr/>
            <p:nvPr/>
          </p:nvCxnSpPr>
          <p:spPr bwMode="auto">
            <a:xfrm>
              <a:off x="7992777" y="5633295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28"/>
            <p:cNvCxnSpPr/>
            <p:nvPr/>
          </p:nvCxnSpPr>
          <p:spPr bwMode="auto">
            <a:xfrm>
              <a:off x="7992777" y="5952535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29"/>
            <p:cNvCxnSpPr/>
            <p:nvPr/>
          </p:nvCxnSpPr>
          <p:spPr bwMode="auto">
            <a:xfrm>
              <a:off x="7992777" y="6258898"/>
              <a:ext cx="2644524" cy="65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" name="圆角矩形 18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将机器程序和数据装载进存储器中</a:t>
            </a:r>
            <a:endParaRPr lang="en-US" altLang="zh-CN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机器指令与机器程序</a:t>
            </a:r>
          </a:p>
        </p:txBody>
      </p:sp>
      <p:sp>
        <p:nvSpPr>
          <p:cNvPr id="1796101" name="Rectangle 5"/>
          <p:cNvSpPr>
            <a:spLocks noChangeArrowheads="1"/>
          </p:cNvSpPr>
          <p:nvPr/>
        </p:nvSpPr>
        <p:spPr bwMode="auto">
          <a:xfrm>
            <a:off x="883313" y="1810006"/>
            <a:ext cx="3694113" cy="527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zh-CN" altLang="en-US" sz="2400" dirty="0">
                <a:solidFill>
                  <a:srgbClr val="000000"/>
                </a:solidFill>
              </a:rPr>
              <a:t>计算</a:t>
            </a:r>
            <a:r>
              <a:rPr kumimoji="0" lang="en-US" altLang="zh-CN" sz="2400" dirty="0">
                <a:solidFill>
                  <a:srgbClr val="000000"/>
                </a:solidFill>
              </a:rPr>
              <a:t>8</a:t>
            </a:r>
            <a:r>
              <a:rPr kumimoji="0" lang="en-US" altLang="zh-CN" sz="2400" dirty="0">
                <a:solidFill>
                  <a:srgbClr val="000000"/>
                </a:solidFill>
                <a:sym typeface="SymbolPS" pitchFamily="18" charset="2"/>
              </a:rPr>
              <a:t>x</a:t>
            </a:r>
            <a:r>
              <a:rPr kumimoji="0" lang="en-US" altLang="zh-CN" sz="2400" dirty="0">
                <a:solidFill>
                  <a:srgbClr val="FF0066"/>
                </a:solidFill>
              </a:rPr>
              <a:t>3</a:t>
            </a:r>
            <a:r>
              <a:rPr kumimoji="0" lang="en-US" altLang="zh-CN" sz="2400" baseline="30000" dirty="0">
                <a:solidFill>
                  <a:srgbClr val="000000"/>
                </a:solidFill>
              </a:rPr>
              <a:t>2</a:t>
            </a:r>
            <a:r>
              <a:rPr kumimoji="0" lang="en-US" altLang="zh-CN" sz="2400" dirty="0">
                <a:solidFill>
                  <a:srgbClr val="000000"/>
                </a:solidFill>
              </a:rPr>
              <a:t>+2</a:t>
            </a:r>
            <a:r>
              <a:rPr kumimoji="0" lang="en-US" altLang="zh-CN" sz="2400" dirty="0">
                <a:solidFill>
                  <a:srgbClr val="000000"/>
                </a:solidFill>
                <a:sym typeface="SymbolPS" pitchFamily="18" charset="2"/>
              </a:rPr>
              <a:t>x</a:t>
            </a:r>
            <a:r>
              <a:rPr kumimoji="0" lang="en-US" altLang="zh-CN" sz="2400" dirty="0">
                <a:solidFill>
                  <a:srgbClr val="FF0066"/>
                </a:solidFill>
              </a:rPr>
              <a:t>3</a:t>
            </a:r>
            <a:r>
              <a:rPr kumimoji="0" lang="en-US" altLang="zh-CN" sz="2400" dirty="0">
                <a:solidFill>
                  <a:srgbClr val="000000"/>
                </a:solidFill>
              </a:rPr>
              <a:t>+6</a:t>
            </a:r>
            <a:r>
              <a:rPr kumimoji="0" lang="zh-CN" altLang="en-US" sz="2400" dirty="0">
                <a:solidFill>
                  <a:srgbClr val="000000"/>
                </a:solidFill>
              </a:rPr>
              <a:t>的程序</a:t>
            </a:r>
            <a:endParaRPr kumimoji="0" lang="en-US" altLang="zh-CN" sz="2400" dirty="0">
              <a:solidFill>
                <a:srgbClr val="000000"/>
              </a:solidFill>
            </a:endParaRPr>
          </a:p>
        </p:txBody>
      </p:sp>
      <p:grpSp>
        <p:nvGrpSpPr>
          <p:cNvPr id="1796103" name="Group 7"/>
          <p:cNvGrpSpPr/>
          <p:nvPr/>
        </p:nvGrpSpPr>
        <p:grpSpPr bwMode="auto">
          <a:xfrm>
            <a:off x="1740729" y="6040524"/>
            <a:ext cx="1331912" cy="749358"/>
            <a:chOff x="0" y="2821"/>
            <a:chExt cx="839" cy="615"/>
          </a:xfrm>
        </p:grpSpPr>
        <p:sp>
          <p:nvSpPr>
            <p:cNvPr id="2" name="AutoShape 39"/>
            <p:cNvSpPr>
              <a:spLocks noChangeArrowheads="1"/>
            </p:cNvSpPr>
            <p:nvPr/>
          </p:nvSpPr>
          <p:spPr bwMode="gray">
            <a:xfrm>
              <a:off x="0" y="2821"/>
              <a:ext cx="839" cy="61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" name="Oval 40"/>
            <p:cNvSpPr>
              <a:spLocks noChangeArrowheads="1"/>
            </p:cNvSpPr>
            <p:nvPr/>
          </p:nvSpPr>
          <p:spPr bwMode="gray">
            <a:xfrm>
              <a:off x="69" y="2872"/>
              <a:ext cx="701" cy="513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" name="Text Box 84"/>
            <p:cNvSpPr txBox="1">
              <a:spLocks noChangeArrowheads="1"/>
            </p:cNvSpPr>
            <p:nvPr/>
          </p:nvSpPr>
          <p:spPr bwMode="auto">
            <a:xfrm>
              <a:off x="41" y="2949"/>
              <a:ext cx="756" cy="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机器程序 </a:t>
              </a:r>
            </a:p>
          </p:txBody>
        </p:sp>
      </p:grpSp>
      <p:grpSp>
        <p:nvGrpSpPr>
          <p:cNvPr id="1796107" name="Group 11"/>
          <p:cNvGrpSpPr/>
          <p:nvPr/>
        </p:nvGrpSpPr>
        <p:grpSpPr bwMode="auto">
          <a:xfrm>
            <a:off x="10430056" y="1870370"/>
            <a:ext cx="1331913" cy="976313"/>
            <a:chOff x="818" y="518"/>
            <a:chExt cx="839" cy="615"/>
          </a:xfrm>
        </p:grpSpPr>
        <p:sp>
          <p:nvSpPr>
            <p:cNvPr id="5" name="AutoShape 39"/>
            <p:cNvSpPr>
              <a:spLocks noChangeArrowheads="1"/>
            </p:cNvSpPr>
            <p:nvPr/>
          </p:nvSpPr>
          <p:spPr bwMode="gray">
            <a:xfrm>
              <a:off x="818" y="518"/>
              <a:ext cx="839" cy="61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" name="Oval 40"/>
            <p:cNvSpPr>
              <a:spLocks noChangeArrowheads="1"/>
            </p:cNvSpPr>
            <p:nvPr/>
          </p:nvSpPr>
          <p:spPr bwMode="gray">
            <a:xfrm>
              <a:off x="887" y="569"/>
              <a:ext cx="701" cy="513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" name="Text Box 84"/>
            <p:cNvSpPr txBox="1">
              <a:spLocks noChangeArrowheads="1"/>
            </p:cNvSpPr>
            <p:nvPr/>
          </p:nvSpPr>
          <p:spPr bwMode="auto">
            <a:xfrm>
              <a:off x="890" y="681"/>
              <a:ext cx="694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存储器</a:t>
              </a:r>
            </a:p>
          </p:txBody>
        </p:sp>
      </p:grpSp>
      <p:sp>
        <p:nvSpPr>
          <p:cNvPr id="10" name="矩形 9"/>
          <p:cNvSpPr/>
          <p:nvPr/>
        </p:nvSpPr>
        <p:spPr>
          <a:xfrm>
            <a:off x="7946728" y="2181654"/>
            <a:ext cx="2216927" cy="4580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lang="zh-CN" altLang="zh-CN" sz="1800" kern="100" dirty="0">
                <a:latin typeface="宋体" pitchFamily="2" charset="-122"/>
                <a:cs typeface="Times New Roman" panose="02020503050405090304" pitchFamily="18" charset="0"/>
              </a:rPr>
              <a:t>存储单元</a:t>
            </a:r>
            <a:endParaRPr lang="en-US" altLang="zh-CN" sz="1800" kern="100" dirty="0">
              <a:latin typeface="宋体" pitchFamily="2" charset="-122"/>
              <a:cs typeface="Times New Roman" panose="02020503050405090304" pitchFamily="18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cs typeface="Arial" panose="020B0604020202090204" pitchFamily="34" charset="0"/>
              </a:rPr>
              <a:t>0000010000001000</a:t>
            </a:r>
            <a:endParaRPr lang="zh-CN" altLang="zh-CN" sz="1800" kern="100" dirty="0"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cs typeface="Arial" panose="020B0604020202090204" pitchFamily="34" charset="0"/>
              </a:rPr>
              <a:t>0001000000001001</a:t>
            </a:r>
            <a:endParaRPr lang="zh-CN" altLang="zh-CN" sz="1800" kern="100" dirty="0"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cs typeface="Arial" panose="020B0604020202090204" pitchFamily="34" charset="0"/>
              </a:rPr>
              <a:t>0000110000001010</a:t>
            </a:r>
            <a:endParaRPr lang="zh-CN" altLang="zh-CN" sz="1800" kern="100" dirty="0"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cs typeface="Arial" panose="020B0604020202090204" pitchFamily="34" charset="0"/>
              </a:rPr>
              <a:t>0001000000001000</a:t>
            </a:r>
            <a:endParaRPr lang="zh-CN" altLang="zh-CN" sz="1800" kern="100" dirty="0"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cs typeface="Arial" panose="020B0604020202090204" pitchFamily="34" charset="0"/>
              </a:rPr>
              <a:t>0000110000001011</a:t>
            </a:r>
            <a:endParaRPr lang="zh-CN" altLang="zh-CN" sz="1800" kern="100" dirty="0"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cs typeface="Arial" panose="020B0604020202090204" pitchFamily="34" charset="0"/>
              </a:rPr>
              <a:t>0000100000001100</a:t>
            </a:r>
            <a:endParaRPr lang="zh-CN" altLang="zh-CN" sz="1800" kern="100" dirty="0"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cs typeface="Arial" panose="020B0604020202090204" pitchFamily="34" charset="0"/>
              </a:rPr>
              <a:t>0001010000001100</a:t>
            </a:r>
            <a:endParaRPr lang="zh-CN" altLang="zh-CN" sz="1800" kern="100" dirty="0"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cs typeface="Arial" panose="020B0604020202090204" pitchFamily="34" charset="0"/>
              </a:rPr>
              <a:t>0001100000000000</a:t>
            </a:r>
            <a:endParaRPr lang="zh-CN" altLang="zh-CN" sz="1800" kern="100" dirty="0"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7030A0"/>
                </a:solidFill>
                <a:cs typeface="Arial" panose="020B0604020202090204" pitchFamily="34" charset="0"/>
              </a:rPr>
              <a:t>0000000000000011</a:t>
            </a:r>
            <a:endParaRPr lang="zh-CN" altLang="zh-CN" sz="1800" kern="100" dirty="0">
              <a:solidFill>
                <a:srgbClr val="7030A0"/>
              </a:solidFill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7030A0"/>
                </a:solidFill>
                <a:cs typeface="Arial" panose="020B0604020202090204" pitchFamily="34" charset="0"/>
              </a:rPr>
              <a:t>0000000000001000</a:t>
            </a:r>
            <a:endParaRPr lang="zh-CN" altLang="zh-CN" sz="1800" kern="100" dirty="0">
              <a:solidFill>
                <a:srgbClr val="7030A0"/>
              </a:solidFill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7030A0"/>
                </a:solidFill>
                <a:cs typeface="Arial" panose="020B0604020202090204" pitchFamily="34" charset="0"/>
              </a:rPr>
              <a:t>0000000000000010</a:t>
            </a:r>
            <a:endParaRPr lang="zh-CN" altLang="zh-CN" sz="1800" kern="100" dirty="0">
              <a:solidFill>
                <a:srgbClr val="7030A0"/>
              </a:solidFill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7030A0"/>
                </a:solidFill>
                <a:cs typeface="Arial" panose="020B0604020202090204" pitchFamily="34" charset="0"/>
              </a:rPr>
              <a:t>0000000000000110</a:t>
            </a:r>
            <a:endParaRPr lang="zh-CN" altLang="zh-CN" sz="1800" kern="100" dirty="0">
              <a:solidFill>
                <a:srgbClr val="7030A0"/>
              </a:solidFill>
              <a:cs typeface="Arial" panose="020B0604020202090204" pitchFamily="34" charset="0"/>
            </a:endParaRPr>
          </a:p>
          <a:p>
            <a:pPr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cs typeface="Arial" panose="020B0604020202090204" pitchFamily="34" charset="0"/>
              </a:rPr>
              <a:t>	</a:t>
            </a:r>
            <a:endParaRPr lang="zh-CN" altLang="zh-CN" sz="1800" kern="100" dirty="0">
              <a:cs typeface="Arial" panose="020B060402020209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441666" y="2191209"/>
            <a:ext cx="2505062" cy="4580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500"/>
              </a:lnSpc>
              <a:spcAft>
                <a:spcPts val="0"/>
              </a:spcAft>
            </a:pPr>
            <a:r>
              <a:rPr lang="zh-CN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地址</a:t>
            </a:r>
            <a:r>
              <a:rPr lang="zh-CN" altLang="en-US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（</a:t>
            </a:r>
            <a:r>
              <a:rPr lang="zh-CN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编</a:t>
            </a:r>
            <a:r>
              <a:rPr lang="zh-CN" altLang="en-US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号）     </a:t>
            </a:r>
            <a:endParaRPr lang="en-US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00000000 00000000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00000000 00000001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00000000 00000010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00000000 00000011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00000000 00000100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00000000 00000101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00000000 00000110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00000000 00000111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00000000 00001000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00000000 00001001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00000000 00001010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00000000 00001011</a:t>
            </a:r>
            <a:endParaRPr lang="zh-CN" altLang="zh-CN" sz="1800" kern="100" dirty="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 algn="just">
              <a:lnSpc>
                <a:spcPts val="2500"/>
              </a:lnSpc>
              <a:spcAft>
                <a:spcPts val="0"/>
              </a:spcAft>
            </a:pPr>
            <a:r>
              <a:rPr lang="en-US" altLang="zh-CN" sz="1800" kern="100" dirty="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00000000 00001100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975519" y="3121134"/>
            <a:ext cx="325185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n-lt"/>
              </a:rPr>
              <a:t>000001  0000001000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000100  0000001001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000011  0000001010</a:t>
            </a:r>
          </a:p>
          <a:p>
            <a:r>
              <a:rPr lang="en-US" altLang="zh-CN" sz="2400" dirty="0">
                <a:latin typeface="+mn-lt"/>
              </a:rPr>
              <a:t>000100  0000001000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000011  0000001011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000010  0000001100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000101  0000001100 </a:t>
            </a:r>
            <a:endParaRPr lang="zh-CN" altLang="zh-CN" sz="2400" dirty="0">
              <a:latin typeface="+mn-lt"/>
            </a:endParaRPr>
          </a:p>
          <a:p>
            <a:r>
              <a:rPr lang="en-US" altLang="zh-CN" sz="2400" dirty="0">
                <a:latin typeface="+mn-lt"/>
              </a:rPr>
              <a:t>000110  0000000000  </a:t>
            </a:r>
            <a:endParaRPr lang="zh-CN" altLang="zh-CN" sz="2400" dirty="0">
              <a:latin typeface="+mn-lt"/>
            </a:endParaRPr>
          </a:p>
        </p:txBody>
      </p:sp>
      <p:sp>
        <p:nvSpPr>
          <p:cNvPr id="15" name="右箭头 14"/>
          <p:cNvSpPr/>
          <p:nvPr/>
        </p:nvSpPr>
        <p:spPr bwMode="auto">
          <a:xfrm>
            <a:off x="4093090" y="3989447"/>
            <a:ext cx="1348576" cy="526273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6" name="右大括号 15"/>
          <p:cNvSpPr/>
          <p:nvPr/>
        </p:nvSpPr>
        <p:spPr bwMode="auto">
          <a:xfrm>
            <a:off x="10196409" y="2660920"/>
            <a:ext cx="473784" cy="2269554"/>
          </a:xfrm>
          <a:prstGeom prst="rightBrace">
            <a:avLst>
              <a:gd name="adj1" fmla="val 97196"/>
              <a:gd name="adj2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grpSp>
        <p:nvGrpSpPr>
          <p:cNvPr id="36" name="Group 20"/>
          <p:cNvGrpSpPr/>
          <p:nvPr/>
        </p:nvGrpSpPr>
        <p:grpSpPr bwMode="auto">
          <a:xfrm>
            <a:off x="10631518" y="3339887"/>
            <a:ext cx="985484" cy="708127"/>
            <a:chOff x="1710" y="840"/>
            <a:chExt cx="839" cy="532"/>
          </a:xfrm>
        </p:grpSpPr>
        <p:sp>
          <p:nvSpPr>
            <p:cNvPr id="37" name="AutoShape 39"/>
            <p:cNvSpPr>
              <a:spLocks noChangeArrowheads="1"/>
            </p:cNvSpPr>
            <p:nvPr/>
          </p:nvSpPr>
          <p:spPr bwMode="gray">
            <a:xfrm>
              <a:off x="1710" y="840"/>
              <a:ext cx="839" cy="532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8" name="Oval 40"/>
            <p:cNvSpPr>
              <a:spLocks noChangeArrowheads="1"/>
            </p:cNvSpPr>
            <p:nvPr/>
          </p:nvSpPr>
          <p:spPr bwMode="gray">
            <a:xfrm>
              <a:off x="1779" y="884"/>
              <a:ext cx="701" cy="444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9" name="Text Box 84"/>
            <p:cNvSpPr txBox="1">
              <a:spLocks noChangeArrowheads="1"/>
            </p:cNvSpPr>
            <p:nvPr/>
          </p:nvSpPr>
          <p:spPr bwMode="auto">
            <a:xfrm>
              <a:off x="1782" y="943"/>
              <a:ext cx="694" cy="30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程序 </a:t>
              </a:r>
            </a:p>
          </p:txBody>
        </p:sp>
      </p:grpSp>
      <p:grpSp>
        <p:nvGrpSpPr>
          <p:cNvPr id="40" name="Group 24"/>
          <p:cNvGrpSpPr/>
          <p:nvPr/>
        </p:nvGrpSpPr>
        <p:grpSpPr bwMode="auto">
          <a:xfrm>
            <a:off x="10623368" y="5387725"/>
            <a:ext cx="985484" cy="708128"/>
            <a:chOff x="2782" y="849"/>
            <a:chExt cx="839" cy="532"/>
          </a:xfrm>
        </p:grpSpPr>
        <p:sp>
          <p:nvSpPr>
            <p:cNvPr id="41" name="AutoShape 39"/>
            <p:cNvSpPr>
              <a:spLocks noChangeArrowheads="1"/>
            </p:cNvSpPr>
            <p:nvPr/>
          </p:nvSpPr>
          <p:spPr bwMode="gray">
            <a:xfrm>
              <a:off x="2782" y="849"/>
              <a:ext cx="839" cy="532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2" name="Oval 40"/>
            <p:cNvSpPr>
              <a:spLocks noChangeArrowheads="1"/>
            </p:cNvSpPr>
            <p:nvPr/>
          </p:nvSpPr>
          <p:spPr bwMode="gray">
            <a:xfrm>
              <a:off x="2851" y="893"/>
              <a:ext cx="701" cy="444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3" name="Text Box 84"/>
            <p:cNvSpPr txBox="1">
              <a:spLocks noChangeArrowheads="1"/>
            </p:cNvSpPr>
            <p:nvPr/>
          </p:nvSpPr>
          <p:spPr bwMode="auto">
            <a:xfrm>
              <a:off x="2854" y="952"/>
              <a:ext cx="694" cy="30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数据 </a:t>
              </a:r>
            </a:p>
          </p:txBody>
        </p:sp>
      </p:grpSp>
      <p:sp>
        <p:nvSpPr>
          <p:cNvPr id="44" name="右大括号 43"/>
          <p:cNvSpPr/>
          <p:nvPr/>
        </p:nvSpPr>
        <p:spPr bwMode="auto">
          <a:xfrm>
            <a:off x="10236744" y="5230259"/>
            <a:ext cx="386624" cy="1396074"/>
          </a:xfrm>
          <a:prstGeom prst="rightBrace">
            <a:avLst>
              <a:gd name="adj1" fmla="val 97196"/>
              <a:gd name="adj2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636376" y="4213779"/>
            <a:ext cx="98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代码段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0742134" y="6196036"/>
            <a:ext cx="98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44" grpId="0" animBg="1"/>
      <p:bldP spid="9" grpId="0"/>
      <p:bldP spid="4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707570" y="1247230"/>
            <a:ext cx="1074420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将机器程序和数据装载进存储器中</a:t>
            </a:r>
            <a:endParaRPr lang="en-US" altLang="zh-CN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机器指令与机器程序</a:t>
            </a:r>
          </a:p>
        </p:txBody>
      </p:sp>
      <p:grpSp>
        <p:nvGrpSpPr>
          <p:cNvPr id="1796111" name="Group 15"/>
          <p:cNvGrpSpPr/>
          <p:nvPr/>
        </p:nvGrpSpPr>
        <p:grpSpPr bwMode="auto">
          <a:xfrm>
            <a:off x="8505756" y="5098563"/>
            <a:ext cx="2139950" cy="1331912"/>
            <a:chOff x="4226" y="2989"/>
            <a:chExt cx="1348" cy="839"/>
          </a:xfrm>
        </p:grpSpPr>
        <p:sp>
          <p:nvSpPr>
            <p:cNvPr id="20" name="AutoShape 39"/>
            <p:cNvSpPr>
              <a:spLocks noChangeArrowheads="1"/>
            </p:cNvSpPr>
            <p:nvPr/>
          </p:nvSpPr>
          <p:spPr bwMode="gray">
            <a:xfrm>
              <a:off x="4226" y="2989"/>
              <a:ext cx="1348" cy="839"/>
            </a:xfrm>
            <a:prstGeom prst="roundRect">
              <a:avLst>
                <a:gd name="adj" fmla="val 16667"/>
              </a:avLst>
            </a:prstGeom>
            <a:solidFill>
              <a:srgbClr val="B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gray">
            <a:xfrm>
              <a:off x="4284" y="3049"/>
              <a:ext cx="1231" cy="715"/>
            </a:xfrm>
            <a:prstGeom prst="roundRect">
              <a:avLst>
                <a:gd name="adj" fmla="val 16667"/>
              </a:avLst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6" name="Text Box 84"/>
            <p:cNvSpPr>
              <a:spLocks noChangeArrowheads="1"/>
            </p:cNvSpPr>
            <p:nvPr/>
          </p:nvSpPr>
          <p:spPr bwMode="auto">
            <a:xfrm>
              <a:off x="4326" y="3061"/>
              <a:ext cx="1148" cy="708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>
                  <a:solidFill>
                    <a:srgbClr val="FFFFFF"/>
                  </a:solidFill>
                  <a:latin typeface="宋体" pitchFamily="2" charset="-122"/>
                  <a:ea typeface="华文中宋" panose="02010600040101010101" pitchFamily="2" charset="-122"/>
                </a:rPr>
                <a:t>程序与数据以同等地位存于存储器中</a:t>
              </a: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928" y="1860288"/>
            <a:ext cx="6445769" cy="4956067"/>
          </a:xfrm>
          <a:prstGeom prst="rect">
            <a:avLst/>
          </a:prstGeom>
        </p:spPr>
      </p:pic>
      <p:sp>
        <p:nvSpPr>
          <p:cNvPr id="1796099" name="Rectangle 3"/>
          <p:cNvSpPr>
            <a:spLocks noChangeArrowheads="1"/>
          </p:cNvSpPr>
          <p:nvPr/>
        </p:nvSpPr>
        <p:spPr bwMode="auto">
          <a:xfrm>
            <a:off x="3466769" y="2316941"/>
            <a:ext cx="1490869" cy="2738437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6100" name="Rectangle 4"/>
          <p:cNvSpPr>
            <a:spLocks noChangeArrowheads="1"/>
          </p:cNvSpPr>
          <p:nvPr/>
        </p:nvSpPr>
        <p:spPr bwMode="auto">
          <a:xfrm>
            <a:off x="3466769" y="5098920"/>
            <a:ext cx="1447137" cy="1635835"/>
          </a:xfrm>
          <a:prstGeom prst="rect">
            <a:avLst/>
          </a:prstGeom>
          <a:noFill/>
          <a:ln w="76200">
            <a:solidFill>
              <a:schemeClr val="accent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579" name="Text Box 3"/>
          <p:cNvSpPr txBox="1">
            <a:spLocks noChangeArrowheads="1"/>
          </p:cNvSpPr>
          <p:nvPr/>
        </p:nvSpPr>
        <p:spPr bwMode="auto">
          <a:xfrm>
            <a:off x="1230327" y="956002"/>
            <a:ext cx="6088063" cy="457200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lvl="0" algn="ctr">
              <a:defRPr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让</a:t>
            </a:r>
            <a:r>
              <a:rPr lang="en-US" altLang="zh-CN" dirty="0"/>
              <a:t>PC</a:t>
            </a:r>
            <a:r>
              <a:rPr lang="zh-CN" altLang="en-US" dirty="0"/>
              <a:t>寄存器存放程序的首地址</a:t>
            </a:r>
            <a:endParaRPr lang="en-US" altLang="zh-CN" dirty="0"/>
          </a:p>
        </p:txBody>
      </p:sp>
      <p:sp>
        <p:nvSpPr>
          <p:cNvPr id="1816580" name="Text Box 16"/>
          <p:cNvSpPr txBox="1">
            <a:spLocks noChangeArrowheads="1"/>
          </p:cNvSpPr>
          <p:nvPr/>
        </p:nvSpPr>
        <p:spPr bwMode="auto">
          <a:xfrm>
            <a:off x="1687513" y="1"/>
            <a:ext cx="383149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ea typeface="华文中宋" panose="02010600040101010101" pitchFamily="2" charset="-122"/>
              </a:rPr>
              <a:t>机器级程序的执行机制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chemeClr val="bg1"/>
                </a:solidFill>
                <a:ea typeface="华文中宋" panose="02010600040101010101" pitchFamily="2" charset="-122"/>
              </a:rPr>
              <a:t>(5)</a:t>
            </a:r>
            <a:r>
              <a:rPr lang="zh-CN" altLang="en-US" sz="2000">
                <a:solidFill>
                  <a:schemeClr val="bg1"/>
                </a:solidFill>
                <a:ea typeface="华文中宋" panose="02010600040101010101" pitchFamily="2" charset="-122"/>
              </a:rPr>
              <a:t>机器级程序被装载进存储器中</a:t>
            </a:r>
            <a:endParaRPr lang="en-US" altLang="zh-CN" sz="2000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sp>
        <p:nvSpPr>
          <p:cNvPr id="1816581" name="Text Box 5"/>
          <p:cNvSpPr txBox="1">
            <a:spLocks noChangeArrowheads="1"/>
          </p:cNvSpPr>
          <p:nvPr/>
        </p:nvSpPr>
        <p:spPr bwMode="auto">
          <a:xfrm>
            <a:off x="1346564" y="1745875"/>
            <a:ext cx="2478564" cy="473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Clr>
                <a:srgbClr val="FF0000"/>
              </a:buClr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运算器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寄存器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算术逻辑部件</a:t>
            </a:r>
          </a:p>
          <a:p>
            <a:pPr>
              <a:lnSpc>
                <a:spcPct val="130000"/>
              </a:lnSpc>
              <a:buClr>
                <a:srgbClr val="FF0000"/>
              </a:buClr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控制器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程序计数器</a:t>
            </a:r>
            <a:r>
              <a:rPr lang="en-US" altLang="zh-CN" dirty="0"/>
              <a:t>PC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指令寄存器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信号控制器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时钟与节拍发生器</a:t>
            </a:r>
          </a:p>
          <a:p>
            <a:pPr>
              <a:lnSpc>
                <a:spcPct val="130000"/>
              </a:lnSpc>
              <a:buClr>
                <a:srgbClr val="FF0000"/>
              </a:buClr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存储器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存储单元地址</a:t>
            </a:r>
          </a:p>
          <a:p>
            <a:pPr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存储单元内容</a:t>
            </a:r>
          </a:p>
        </p:txBody>
      </p:sp>
      <p:sp>
        <p:nvSpPr>
          <p:cNvPr id="26" name="标题 1"/>
          <p:cNvSpPr txBox="1"/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程序执行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04094" y="1653250"/>
            <a:ext cx="6774200" cy="490398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0806" y="260846"/>
            <a:ext cx="11073674" cy="683370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本章重点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726396" y="1470479"/>
            <a:ext cx="8860290" cy="395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dirty="0">
                <a:solidFill>
                  <a:prstClr val="black"/>
                </a:solidFill>
              </a:rPr>
              <a:t>一、</a:t>
            </a:r>
            <a:r>
              <a:rPr kumimoji="0" lang="zh-CN" altLang="en-US" sz="2800" dirty="0">
                <a:solidFill>
                  <a:srgbClr val="FF0000"/>
                </a:solidFill>
              </a:rPr>
              <a:t>冯</a:t>
            </a:r>
            <a:r>
              <a:rPr kumimoji="0" lang="en-US" altLang="zh-CN" sz="2800" dirty="0">
                <a:solidFill>
                  <a:srgbClr val="FF0000"/>
                </a:solidFill>
              </a:rPr>
              <a:t>.</a:t>
            </a:r>
            <a:r>
              <a:rPr kumimoji="0" lang="zh-CN" altLang="en-US" sz="2800" dirty="0">
                <a:solidFill>
                  <a:srgbClr val="FF0000"/>
                </a:solidFill>
              </a:rPr>
              <a:t>诺伊曼计算机的功能与构成</a:t>
            </a: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dirty="0"/>
              <a:t>二、</a:t>
            </a:r>
            <a:r>
              <a:rPr kumimoji="0" lang="zh-CN" altLang="en-US" sz="2800" dirty="0">
                <a:solidFill>
                  <a:srgbClr val="FF0000"/>
                </a:solidFill>
              </a:rPr>
              <a:t>存储器的构成及基本原理</a:t>
            </a:r>
            <a:endParaRPr kumimoji="0" lang="en-US" altLang="zh-CN" sz="2800" dirty="0">
              <a:solidFill>
                <a:srgbClr val="FF0000"/>
              </a:solidFill>
            </a:endParaRP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/>
              <a:t>三、</a:t>
            </a:r>
            <a:r>
              <a:rPr lang="en-US" altLang="zh-CN" sz="2800" dirty="0">
                <a:solidFill>
                  <a:srgbClr val="FF0000"/>
                </a:solidFill>
              </a:rPr>
              <a:t>CPU</a:t>
            </a:r>
            <a:r>
              <a:rPr lang="zh-CN" altLang="en-US" sz="2800" dirty="0">
                <a:solidFill>
                  <a:srgbClr val="FF0000"/>
                </a:solidFill>
              </a:rPr>
              <a:t>的基本结构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dirty="0"/>
              <a:t>四、</a:t>
            </a:r>
            <a:r>
              <a:rPr kumimoji="0" lang="zh-CN" altLang="en-US" sz="2800" dirty="0">
                <a:solidFill>
                  <a:srgbClr val="FF0000"/>
                </a:solidFill>
              </a:rPr>
              <a:t>二进制、十进制、八进制、十六进制转换</a:t>
            </a:r>
            <a:endParaRPr kumimoji="0" lang="en-US" altLang="zh-CN" sz="2800" dirty="0">
              <a:solidFill>
                <a:srgbClr val="FF0000"/>
              </a:solidFill>
            </a:endParaRP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/>
              <a:t>五、</a:t>
            </a:r>
            <a:r>
              <a:rPr lang="zh-CN" altLang="en-US" sz="2800" dirty="0">
                <a:solidFill>
                  <a:srgbClr val="FF0000"/>
                </a:solidFill>
              </a:rPr>
              <a:t>机器数的原码、反码补码表示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六、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机器数的补码运算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cs typeface="+mn-cs"/>
            </a:endParaRPr>
          </a:p>
          <a:p>
            <a:pPr lvl="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/>
              <a:t>七、</a:t>
            </a:r>
            <a:r>
              <a:rPr lang="zh-CN" altLang="en-US" sz="2800" dirty="0">
                <a:solidFill>
                  <a:srgbClr val="FF0000"/>
                </a:solidFill>
              </a:rPr>
              <a:t>机器指令的基本结构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</a:spPr>
      <a:bodyPr wrap="none">
        <a:spAutoFit/>
      </a:bodyPr>
      <a:lstStyle>
        <a:defPPr>
          <a:defRPr sz="2400">
            <a:latin typeface="黑体" panose="02010609060101010101" pitchFamily="49" charset="-122"/>
            <a:ea typeface="黑体" panose="02010609060101010101" pitchFamily="49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1060</TotalTime>
  <Words>5054</Words>
  <Application>Microsoft Macintosh PowerPoint</Application>
  <PresentationFormat>宽屏</PresentationFormat>
  <Paragraphs>840</Paragraphs>
  <Slides>48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48</vt:i4>
      </vt:variant>
    </vt:vector>
  </HeadingPairs>
  <TitlesOfParts>
    <vt:vector size="63" baseType="lpstr">
      <vt:lpstr>等线</vt:lpstr>
      <vt:lpstr>黑体</vt:lpstr>
      <vt:lpstr>华文宋体</vt:lpstr>
      <vt:lpstr>宋体</vt:lpstr>
      <vt:lpstr>微软雅黑</vt:lpstr>
      <vt:lpstr>Microsoft YaHei Light</vt:lpstr>
      <vt:lpstr>Arial</vt:lpstr>
      <vt:lpstr>Calibri</vt:lpstr>
      <vt:lpstr>Calibri Light</vt:lpstr>
      <vt:lpstr>Symbol</vt:lpstr>
      <vt:lpstr>Times New Roman</vt:lpstr>
      <vt:lpstr>Wingdings</vt:lpstr>
      <vt:lpstr>默认设计模板</vt:lpstr>
      <vt:lpstr>1_默认设计模板</vt:lpstr>
      <vt:lpstr>自定义设计方案</vt:lpstr>
      <vt:lpstr>《计算思维与实践》</vt:lpstr>
      <vt:lpstr>程序设计基础Ⅰ</vt:lpstr>
      <vt:lpstr>1. 计算机结构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数据表达与自动计算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机器程序及执行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本章重点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dechen</dc:creator>
  <cp:lastModifiedBy>Microsoft Office User</cp:lastModifiedBy>
  <cp:revision>1310</cp:revision>
  <dcterms:created xsi:type="dcterms:W3CDTF">2025-11-01T15:40:04Z</dcterms:created>
  <dcterms:modified xsi:type="dcterms:W3CDTF">2025-11-03T08:29:59Z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30B02CF5536312FB5910066904120597_42</vt:lpwstr>
  </property>
  <property fmtid="{D5CDD505-2E9C-101B-9397-08002B2CF9AE}" pid="3" name="KSOProductBuildVer">
    <vt:lpwstr>2052-12.1.22522.22522</vt:lpwstr>
  </property>
</Properties>
</file>