
<file path=[Content_Types].xml><?xml version="1.0" encoding="utf-8"?>
<Types xmlns="http://schemas.openxmlformats.org/package/2006/content-types">
  <Default Extension="wmf" ContentType="image/x-wmf"/>
  <Default Extension="rels" ContentType="application/vnd.openxmlformats-package.relationships+xml"/>
  <Default Extension="xml" ContentType="application/xml"/>
  <Default Extension="png" ContentType="image/png"/>
  <Default Extension="emf" ContentType="image/x-emf"/>
  <Default Extension="jpeg" ContentType="image/jpeg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slides/slide52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docProps/core.xml" ContentType="application/vnd.openxmlformats-package.core-properties+xml"/>
  <Override PartName="/ppt/slides/slide46.xml" ContentType="application/vnd.openxmlformats-officedocument.presentationml.slide+xml"/>
  <Override PartName="/ppt/slides/slide15.xml" ContentType="application/vnd.openxmlformats-officedocument.presentationml.slide+xml"/>
  <Override PartName="/ppt/slides/slide55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0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50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42.xml" ContentType="application/vnd.openxmlformats-officedocument.presentationml.slide+xml"/>
  <Override PartName="/ppt/slides/slide11.xml" ContentType="application/vnd.openxmlformats-officedocument.presentationml.slide+xml"/>
  <Override PartName="/ppt/slides/slide43.xml" ContentType="application/vnd.openxmlformats-officedocument.presentationml.slide+xml"/>
  <Override PartName="/ppt/slides/slide10.xml" ContentType="application/vnd.openxmlformats-officedocument.presentationml.slide+xml"/>
  <Override PartName="/ppt/slides/slide44.xml" ContentType="application/vnd.openxmlformats-officedocument.presentationml.slide+xml"/>
  <Override PartName="/ppt/slides/slide17.xml" ContentType="application/vnd.openxmlformats-officedocument.presentationml.slide+xml"/>
  <Override PartName="/ppt/slides/slide4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47.xml" ContentType="application/vnd.openxmlformats-officedocument.presentationml.slide+xml"/>
  <Override PartName="/ppt/slides/slide4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53.xml" ContentType="application/vnd.openxmlformats-officedocument.presentationml.slide+xml"/>
  <Override PartName="/ppt/slides/slide22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5.xml" ContentType="application/vnd.openxmlformats-officedocument.presentationml.slide+xml"/>
  <Override PartName="/ppt/slides/slide54.xml" ContentType="application/vnd.openxmlformats-officedocument.presentationml.slide+xml"/>
  <Override PartName="/ppt/slides/slide2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36.xml" ContentType="application/vnd.openxmlformats-officedocument.presentationml.slide+xml"/>
  <Override PartName="/ppt/slides/slide6.xml" ContentType="application/vnd.openxmlformats-officedocument.presentationml.slide+xml"/>
  <Override PartName="/ppt/slides/slide57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slides/slide5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8.xml" ContentType="application/vnd.openxmlformats-officedocument.presentationml.slide+xml"/>
  <Override PartName="/ppt/slides/slide59.xml" ContentType="application/vnd.openxmlformats-officedocument.presentationml.slide+xml"/>
  <Override PartName="/ppt/slides/slide64.xml" ContentType="application/vnd.openxmlformats-officedocument.presentationml.slide+xml"/>
  <Override PartName="/ppt/slides/slide28.xml" ContentType="application/vnd.openxmlformats-officedocument.presentationml.slide+xml"/>
  <Override PartName="/ppt/slides/slide49.xml" ContentType="application/vnd.openxmlformats-officedocument.presentationml.slide+xml"/>
  <Override PartName="/ppt/slides/slide9.xml" ContentType="application/vnd.openxmlformats-officedocument.presentationml.slide+xml"/>
  <Override PartName="/ppt/slides/slide58.xml" ContentType="application/vnd.openxmlformats-officedocument.presentationml.slide+xml"/>
  <Override PartName="/ppt/slides/slide2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p15="http://schemas.microsoft.com/office/powerpoint/2012/main" xmlns:r="http://schemas.openxmlformats.org/officeDocument/2006/relationships" xmlns:a="http://schemas.openxmlformats.org/drawingml/2006/main" xmlns:mc="http://schemas.openxmlformats.org/markup-compatibility/2006" firstSlideNum="1" mc:Ignorable="p15">
  <p:sldMasterIdLst>
    <p:sldMasterId id="2147483648" r:id="rId0"/>
  </p:sldMasterIdLst>
  <p:notesMasterIdLst>
    <p:notesMasterId r:id="rId6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</p:sldIdLst>
  <p:sldSz cx="12192000" cy="6858000" type="screen16x9"/>
  <p:notesSz cx="6757670" cy="9865995"/>
  <p:defaultTextStyle>
    <a:defPPr>
      <a:defRPr lang="en-US"/>
    </a:defPPr>
    <a:lvl1pPr marL="0" lvl="0" indent="0" algn="l" defTabSz="914400" rtl="false" eaLnBrk="true" fontAlgn="base" latinLnBrk="false" hangingPunct="true">
      <a:lnSpc>
        <a:spcPct val="100000"/>
      </a:lnSpc>
      <a:spcBef>
        <a:spcPct val="1"/>
      </a:spcBef>
      <a:spcAft>
        <a:spcPct val="1"/>
      </a:spcAft>
      <a:buNone/>
      <a:defRPr sz="2000" b="false" i="false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false" eaLnBrk="true" fontAlgn="base" latinLnBrk="false" hangingPunct="true">
      <a:lnSpc>
        <a:spcPct val="100000"/>
      </a:lnSpc>
      <a:spcBef>
        <a:spcPct val="1"/>
      </a:spcBef>
      <a:spcAft>
        <a:spcPct val="1"/>
      </a:spcAft>
      <a:buNone/>
      <a:defRPr sz="2000" b="false" i="false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false" eaLnBrk="true" fontAlgn="base" latinLnBrk="false" hangingPunct="true">
      <a:lnSpc>
        <a:spcPct val="100000"/>
      </a:lnSpc>
      <a:spcBef>
        <a:spcPct val="1"/>
      </a:spcBef>
      <a:spcAft>
        <a:spcPct val="1"/>
      </a:spcAft>
      <a:buNone/>
      <a:defRPr sz="2000" b="false" i="false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false" eaLnBrk="true" fontAlgn="base" latinLnBrk="false" hangingPunct="true">
      <a:lnSpc>
        <a:spcPct val="100000"/>
      </a:lnSpc>
      <a:spcBef>
        <a:spcPct val="1"/>
      </a:spcBef>
      <a:spcAft>
        <a:spcPct val="1"/>
      </a:spcAft>
      <a:buNone/>
      <a:defRPr sz="2000" b="false" i="false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false" eaLnBrk="true" fontAlgn="base" latinLnBrk="false" hangingPunct="true">
      <a:lnSpc>
        <a:spcPct val="100000"/>
      </a:lnSpc>
      <a:spcBef>
        <a:spcPct val="1"/>
      </a:spcBef>
      <a:spcAft>
        <a:spcPct val="1"/>
      </a:spcAft>
      <a:buNone/>
      <a:defRPr sz="2000" b="false" i="false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false" eaLnBrk="true" fontAlgn="base" latinLnBrk="false" hangingPunct="true">
      <a:lnSpc>
        <a:spcPct val="100000"/>
      </a:lnSpc>
      <a:spcBef>
        <a:spcPct val="1"/>
      </a:spcBef>
      <a:spcAft>
        <a:spcPct val="1"/>
      </a:spcAft>
      <a:buNone/>
      <a:defRPr sz="2000" b="false" i="false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false" eaLnBrk="true" fontAlgn="base" latinLnBrk="false" hangingPunct="true">
      <a:lnSpc>
        <a:spcPct val="100000"/>
      </a:lnSpc>
      <a:spcBef>
        <a:spcPct val="1"/>
      </a:spcBef>
      <a:spcAft>
        <a:spcPct val="1"/>
      </a:spcAft>
      <a:buNone/>
      <a:defRPr sz="2000" b="false" i="false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false" eaLnBrk="true" fontAlgn="base" latinLnBrk="false" hangingPunct="true">
      <a:lnSpc>
        <a:spcPct val="100000"/>
      </a:lnSpc>
      <a:spcBef>
        <a:spcPct val="1"/>
      </a:spcBef>
      <a:spcAft>
        <a:spcPct val="1"/>
      </a:spcAft>
      <a:buNone/>
      <a:defRPr sz="2000" b="false" i="false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false" eaLnBrk="true" fontAlgn="base" latinLnBrk="false" hangingPunct="true">
      <a:lnSpc>
        <a:spcPct val="100000"/>
      </a:lnSpc>
      <a:spcBef>
        <a:spcPct val="1"/>
      </a:spcBef>
      <a:spcAft>
        <a:spcPct val="1"/>
      </a:spcAft>
      <a:buNone/>
      <a:defRPr sz="2000" b="false" i="false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>
        <p15:guide id="1" orient="horz" pos="2886" userDrawn="true">
          <p15:clr>
            <a:srgbClr val="A4A3A4"/>
          </p15:clr>
        </p15:guide>
        <p15:guide id="2" pos="3795" userDrawn="true">
          <p15:clr>
            <a:srgbClr val="A4A3A4"/>
          </p15:clr>
        </p15:guide>
      </p15:sldGuideLst>
    </p:ext>
  </p:extLst>
</p:presentation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52" Type="http://schemas.openxmlformats.org/officeDocument/2006/relationships/slide" Target="slides/slide52.xml" /><Relationship Id="rId24" Type="http://schemas.openxmlformats.org/officeDocument/2006/relationships/slide" Target="slides/slide24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51" Type="http://schemas.openxmlformats.org/officeDocument/2006/relationships/slide" Target="slides/slide5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7" Type="http://schemas.openxmlformats.org/officeDocument/2006/relationships/slide" Target="slides/slide17.xml" /><Relationship Id="rId12" Type="http://schemas.openxmlformats.org/officeDocument/2006/relationships/slide" Target="slides/slide12.xml" /><Relationship Id="rId47" Type="http://schemas.openxmlformats.org/officeDocument/2006/relationships/slide" Target="slides/slide47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40" Type="http://schemas.openxmlformats.org/officeDocument/2006/relationships/slide" Target="slides/slide40.xml" /><Relationship Id="rId23" Type="http://schemas.openxmlformats.org/officeDocument/2006/relationships/slide" Target="slides/slide23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62" Type="http://schemas.openxmlformats.org/officeDocument/2006/relationships/slide" Target="slides/slide62.xml" /><Relationship Id="rId21" Type="http://schemas.openxmlformats.org/officeDocument/2006/relationships/slide" Target="slides/slide21.xml" /><Relationship Id="rId63" Type="http://schemas.openxmlformats.org/officeDocument/2006/relationships/slide" Target="slides/slide63.xml" /><Relationship Id="rId43" Type="http://schemas.openxmlformats.org/officeDocument/2006/relationships/slide" Target="slides/slide43.xml" /><Relationship Id="rId22" Type="http://schemas.openxmlformats.org/officeDocument/2006/relationships/slide" Target="slides/slide22.xml" /><Relationship Id="rId25" Type="http://schemas.openxmlformats.org/officeDocument/2006/relationships/slide" Target="slides/slide25.xml" /><Relationship Id="rId37" Type="http://schemas.openxmlformats.org/officeDocument/2006/relationships/slide" Target="slides/slide37.xml" /><Relationship Id="rId36" Type="http://schemas.openxmlformats.org/officeDocument/2006/relationships/slide" Target="slides/slide36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66" Type="http://schemas.openxmlformats.org/officeDocument/2006/relationships/notesMaster" Target="notesMasters/notesMaster1.xml" /><Relationship Id="rId28" Type="http://schemas.openxmlformats.org/officeDocument/2006/relationships/slide" Target="slides/slide28.xml" /><Relationship Id="rId49" Type="http://schemas.openxmlformats.org/officeDocument/2006/relationships/slide" Target="slides/slide49.xml" /><Relationship Id="rId5" Type="http://schemas.openxmlformats.org/officeDocument/2006/relationships/slide" Target="slides/slide5.xml" /><Relationship Id="rId29" Type="http://schemas.openxmlformats.org/officeDocument/2006/relationships/slide" Target="slides/slide29.xml" /><Relationship Id="rId53" Type="http://schemas.openxmlformats.org/officeDocument/2006/relationships/slide" Target="slides/slide53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2" Type="http://schemas.openxmlformats.org/officeDocument/2006/relationships/slide" Target="slides/slide32.xml" /><Relationship Id="rId33" Type="http://schemas.openxmlformats.org/officeDocument/2006/relationships/slide" Target="slides/slide33.xml" /><Relationship Id="rId64" Type="http://schemas.openxmlformats.org/officeDocument/2006/relationships/slide" Target="slides/slide64.xml" /><Relationship Id="rId55" Type="http://schemas.openxmlformats.org/officeDocument/2006/relationships/slide" Target="slides/slide55.xml" /><Relationship Id="rId35" Type="http://schemas.openxmlformats.org/officeDocument/2006/relationships/slide" Target="slides/slide35.xml" /><Relationship Id="rId34" Type="http://schemas.openxmlformats.org/officeDocument/2006/relationships/slide" Target="slides/slide34.xml" /><Relationship Id="rId38" Type="http://schemas.openxmlformats.org/officeDocument/2006/relationships/slide" Target="slides/slide38.xml" /><Relationship Id="rId56" Type="http://schemas.openxmlformats.org/officeDocument/2006/relationships/slide" Target="slides/slide56.xml" /><Relationship Id="rId39" Type="http://schemas.openxmlformats.org/officeDocument/2006/relationships/slide" Target="slides/slide39.xml" /><Relationship Id="rId4" Type="http://schemas.openxmlformats.org/officeDocument/2006/relationships/slide" Target="slides/slide4.xml" /><Relationship Id="rId41" Type="http://schemas.openxmlformats.org/officeDocument/2006/relationships/slide" Target="slides/slide41.xml" /><Relationship Id="rId42" Type="http://schemas.openxmlformats.org/officeDocument/2006/relationships/slide" Target="slides/slide42.xml" /><Relationship Id="rId44" Type="http://schemas.openxmlformats.org/officeDocument/2006/relationships/slide" Target="slides/slide44.xml" /><Relationship Id="rId58" Type="http://schemas.openxmlformats.org/officeDocument/2006/relationships/slide" Target="slides/slide58.xml" /><Relationship Id="rId45" Type="http://schemas.openxmlformats.org/officeDocument/2006/relationships/slide" Target="slides/slide45.xml" /><Relationship Id="rId46" Type="http://schemas.openxmlformats.org/officeDocument/2006/relationships/slide" Target="slides/slide46.xml" /><Relationship Id="rId48" Type="http://schemas.openxmlformats.org/officeDocument/2006/relationships/slide" Target="slides/slide48.xml" /><Relationship Id="rId57" Type="http://schemas.openxmlformats.org/officeDocument/2006/relationships/slide" Target="slides/slide57.xml" /><Relationship Id="rId50" Type="http://schemas.openxmlformats.org/officeDocument/2006/relationships/slide" Target="slides/slide50.xml" /><Relationship Id="rId54" Type="http://schemas.openxmlformats.org/officeDocument/2006/relationships/slide" Target="slides/slide54.xml" /><Relationship Id="rId59" Type="http://schemas.openxmlformats.org/officeDocument/2006/relationships/slide" Target="slides/slide59.xml" /><Relationship Id="rId6" Type="http://schemas.openxmlformats.org/officeDocument/2006/relationships/slide" Target="slides/slide6.xml" /><Relationship Id="rId60" Type="http://schemas.openxmlformats.org/officeDocument/2006/relationships/slide" Target="slides/slide60.xml" /><Relationship Id="rId61" Type="http://schemas.openxmlformats.org/officeDocument/2006/relationships/slide" Target="slides/slide61.xml" /><Relationship Id="rId65" Type="http://schemas.openxmlformats.org/officeDocument/2006/relationships/slide" Target="slides/slide65.xml" /><Relationship Id="rId67" Type="http://schemas.openxmlformats.org/officeDocument/2006/relationships/tableStyles" Target="tableStyles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Arrowheads="true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false" compatLnSpc="true"/>
          <a:lstStyle>
            <a:lvl1pPr eaLnBrk="true" hangingPunct="tru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 sz="120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false" eaLnBrk="true" fontAlgn="base" latinLnBrk="false" hangingPunct="tru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en-US" altLang="zh-CN" sz="12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Rectangle 3"/>
          <p:cNvSpPr>
            <a:spLocks noGrp="true" noChangeArrowheads="true"/>
          </p:cNvSpPr>
          <p:nvPr>
            <p:ph type="dt" idx="1"/>
          </p:nvPr>
        </p:nvSpPr>
        <p:spPr bwMode="auto">
          <a:xfrm>
            <a:off x="38084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false" compatLnSpc="true"/>
          <a:lstStyle>
            <a:lvl1pPr algn="r" eaLnBrk="true" hangingPunct="tru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 sz="120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r" defTabSz="914400" rtl="false" eaLnBrk="true" fontAlgn="base" latinLnBrk="false" hangingPunct="tru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en-US" altLang="zh-CN" sz="12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4"/>
          <p:cNvSpPr>
            <a:spLocks noGrp="true" noRot="true" noChangeAspect="true" noTextEdit="true"/>
          </p:cNvSpPr>
          <p:nvPr>
            <p:ph type="sldImg"/>
          </p:nvPr>
        </p:nvSpPr>
        <p:spPr>
          <a:xfrm>
            <a:off x="139700" y="762000"/>
            <a:ext cx="6502400" cy="3657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/>
            <a:endParaRPr/>
          </a:p>
        </p:txBody>
      </p:sp>
      <p:sp>
        <p:nvSpPr>
          <p:cNvPr id="5" name="Rectangle 5"/>
          <p:cNvSpPr>
            <a:spLocks noGrp="true"/>
          </p:cNvSpPr>
          <p:nvPr>
            <p:ph type="body" sz="quarter"/>
          </p:nvPr>
        </p:nvSpPr>
        <p:spPr>
          <a:xfrm>
            <a:off x="914400" y="4724400"/>
            <a:ext cx="4951413" cy="44180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22" tIns="45711" rIns="91422" bIns="45711" anchor="t" anchorCtr="false"/>
          <a:lstStyle/>
          <a:p>
            <a:pPr lvl="0"/>
            <a:r>
              <a:rPr lang="zh-CN" altLang="en-US" dirty="false"/>
              <a:t>单击此处编辑母版文本样式</a:t>
            </a:r>
            <a:endParaRPr lang="zh-CN" altLang="en-US" dirty="false"/>
          </a:p>
          <a:p>
            <a:pPr lvl="1"/>
            <a:r>
              <a:rPr lang="zh-CN" altLang="en-US" dirty="false"/>
              <a:t>第二级</a:t>
            </a:r>
            <a:endParaRPr lang="zh-CN" altLang="en-US" dirty="false"/>
          </a:p>
          <a:p>
            <a:pPr lvl="2"/>
            <a:r>
              <a:rPr lang="zh-CN" altLang="en-US" dirty="false"/>
              <a:t>第三级</a:t>
            </a:r>
            <a:endParaRPr lang="zh-CN" altLang="en-US" dirty="false"/>
          </a:p>
          <a:p>
            <a:pPr lvl="3"/>
            <a:r>
              <a:rPr lang="zh-CN" altLang="en-US" dirty="false"/>
              <a:t>第四级</a:t>
            </a:r>
            <a:endParaRPr lang="zh-CN" altLang="en-US" dirty="false"/>
          </a:p>
          <a:p>
            <a:pPr lvl="4"/>
            <a:r>
              <a:rPr lang="zh-CN" altLang="en-US" dirty="false"/>
              <a:t>第五级</a:t>
            </a:r>
            <a:endParaRPr lang="zh-CN" altLang="en-US" dirty="false"/>
          </a:p>
        </p:txBody>
      </p:sp>
      <p:sp>
        <p:nvSpPr>
          <p:cNvPr id="6" name="Rectangle 6"/>
          <p:cNvSpPr>
            <a:spLocks noGrp="true" noChangeArrowheads="true"/>
          </p:cNvSpPr>
          <p:nvPr>
            <p:ph type="ftr" sz="quarter" idx="4"/>
          </p:nvPr>
        </p:nvSpPr>
        <p:spPr bwMode="auto">
          <a:xfrm>
            <a:off x="0" y="937101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false" compatLnSpc="true"/>
          <a:lstStyle>
            <a:lvl1pPr eaLnBrk="true" hangingPunct="tru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 sz="1200">
                <a:latin typeface="Times New Roman" panose="02020503050405090304" pitchFamily="18" charset="0"/>
                <a:ea typeface="宋体" pitchFamily="2" charset="-122"/>
              </a:defRPr>
            </a:lvl1pPr>
          </a:lstStyle>
          <a:p>
            <a:pPr marL="0" marR="0" lvl="0" indent="0" algn="l" defTabSz="914400" rtl="false" eaLnBrk="true" fontAlgn="base" latinLnBrk="false" hangingPunct="tru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endParaRPr kumimoji="false" lang="en-US" altLang="zh-CN" sz="1200" b="false" i="false" u="none" strike="noStrike" kern="1200" cap="none" spc="0" normalizeH="false" baseline="0" noProof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Rectangle 7"/>
          <p:cNvSpPr>
            <a:spLocks noGrp="true" noChangeArrowheads="true"/>
          </p:cNvSpPr>
          <p:nvPr>
            <p:ph type="sldNum" sz="quarter" idx="5"/>
          </p:nvPr>
        </p:nvSpPr>
        <p:spPr bwMode="auto"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false" compatLnSpc="true"/>
          <a:lstStyle/>
          <a:p>
            <a:pPr lvl="0" algn="r" eaLnBrk="true" fontAlgn="base" hangingPunct="true">
              <a:buNone/>
            </a:pPr>
            <a:fld id="{9A0DB2DC-4C9A-4742-B13C-FB6460FD3503}" type="slidenum">
              <a:rPr/>
              <a:t/>
            </a:fld>
            <a:endParaRPr lang="zh-CN" altLang="en-US" sz="1200" strike="noStrike" noProof="true">
              <a:latin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false" hdr="false" ftr="false" dt="false"/>
  <p:notesStyle>
    <a:lvl1pPr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1pPr>
    <a:lvl2pPr marL="457200"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2pPr>
    <a:lvl3pPr marL="914400"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3pPr>
    <a:lvl4pPr marL="1371600"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4pPr>
    <a:lvl5pPr marL="1828800" algn="l" rtl="false" eaLnBrk="false" fontAlgn="base" hangingPunct="false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Rot="true" noChangeAspect="true" noTextEdit="true"/>
          </p:cNvSpPr>
          <p:nvPr>
            <p:ph type="sldImg"/>
          </p:nvPr>
        </p:nvSpPr>
        <p:spPr>
          <a:xfrm>
            <a:off x="88900" y="739775"/>
            <a:ext cx="6580188" cy="3702050"/>
          </a:xfrm>
        </p:spPr>
        <p:txBody>
          <a:bodyPr/>
          <a:p>
            <a:pPr/>
            <a:endParaRPr/>
          </a:p>
        </p:txBody>
      </p:sp>
      <p:sp>
        <p:nvSpPr>
          <p:cNvPr id="3" name="Rectangle 3"/>
          <p:cNvSpPr>
            <a:spLocks noGrp="true"/>
          </p:cNvSpPr>
          <p:nvPr>
            <p:ph type="body"/>
          </p:nvPr>
        </p:nvSpPr>
        <p:spPr>
          <a:xfrm>
            <a:off x="677863" y="4686300"/>
            <a:ext cx="5405437" cy="4440238"/>
          </a:xfrm>
        </p:spPr>
        <p:txBody>
          <a:bodyPr wrap="square" lIns="91422" tIns="45711" rIns="91422" bIns="45711" anchor="t" anchorCtr="false"/>
          <a:lstStyle/>
          <a:p>
            <a:pPr lvl="0" eaLnBrk="true" hangingPunct="true"/>
            <a:endParaRPr lang="zh-CN" altLang="en-US" dirty="false">
              <a:ea typeface="宋体" pitchFamily="2" charset="-122"/>
            </a:endParaRPr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6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</p:spTree>
  </p:cSld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9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</p:spTree>
  </p:cSld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2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</p:spTree>
  </p:cSld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5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</p:spTree>
  </p:cSld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8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</p:spTree>
  </p:cSld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>
            <a:spLocks noGrp="true" noRot="true" noChangeAspect="true" noTextEdit="true"/>
          </p:cNvSpPr>
          <p:nvPr>
            <p:ph type="sldImg"/>
          </p:nvPr>
        </p:nvSpPr>
        <p:spPr>
          <a:xfrm>
            <a:off x="90488" y="739775"/>
            <a:ext cx="6577012" cy="3700463"/>
          </a:xfrm>
        </p:spPr>
        <p:txBody>
          <a:bodyPr/>
          <a:p>
            <a:pPr/>
            <a:endParaRPr/>
          </a:p>
        </p:txBody>
      </p:sp>
      <p:sp>
        <p:nvSpPr>
          <p:cNvPr id="21" name="Rectangle 3"/>
          <p:cNvSpPr>
            <a:spLocks noGrp="true"/>
          </p:cNvSpPr>
          <p:nvPr>
            <p:ph type="body"/>
          </p:nvPr>
        </p:nvSpPr>
        <p:spPr>
          <a:xfrm>
            <a:off x="674688" y="4686300"/>
            <a:ext cx="5408612" cy="4440238"/>
          </a:xfrm>
        </p:spPr>
        <p:txBody>
          <a:bodyPr wrap="square" lIns="91422" tIns="45711" rIns="91422" bIns="45711" anchor="t" anchorCtr="false"/>
          <a:lstStyle/>
          <a:p>
            <a:pPr lvl="0" eaLnBrk="true" hangingPunct="true"/>
            <a:endParaRPr lang="en-US" altLang="zh-CN" dirty="false">
              <a:ea typeface="宋体" pitchFamily="2" charset="-122"/>
            </a:endParaRPr>
          </a:p>
        </p:txBody>
      </p:sp>
    </p:spTree>
  </p:cSld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幻灯片图像占位符 1"/>
          <p:cNvSpPr>
            <a:spLocks noGrp="true" noRot="true" noChangeAspect="true" noTextEdit="true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  <p:txBody>
          <a:bodyPr/>
          <a:p>
            <a:pPr/>
            <a:endParaRPr/>
          </a:p>
        </p:txBody>
      </p:sp>
      <p:sp>
        <p:nvSpPr>
          <p:cNvPr id="24" name="备注占位符 2"/>
          <p:cNvSpPr>
            <a:spLocks noGrp="true"/>
          </p:cNvSpPr>
          <p:nvPr>
            <p:ph type="body"/>
          </p:nvPr>
        </p:nvSpPr>
        <p:spPr/>
        <p:txBody>
          <a:bodyPr wrap="square" lIns="91422" tIns="45711" rIns="91422" bIns="45711" anchor="t" anchorCtr="false"/>
          <a:lstStyle/>
          <a:p>
            <a:pPr lvl="0"/>
            <a:r>
              <a:rPr lang="zh-CN" altLang="en-US" dirty="false">
                <a:ea typeface="宋体" pitchFamily="2" charset="-122"/>
              </a:rPr>
              <a:t>讲类型的时候详细讲取值范围</a:t>
            </a:r>
            <a:endParaRPr lang="zh-CN" altLang="en-US" dirty="false">
              <a:ea typeface="宋体" pitchFamily="2" charset="-122"/>
            </a:endParaRPr>
          </a:p>
        </p:txBody>
      </p:sp>
      <p:sp>
        <p:nvSpPr>
          <p:cNvPr id="25" name="灯片编号占位符 3"/>
          <p:cNvSpPr txBox="true">
            <a:spLocks noGrp="true"/>
          </p:cNvSpPr>
          <p:nvPr>
            <p:ph type="sldNum" sz="quarter"/>
          </p:nvPr>
        </p:nvSpPr>
        <p:spPr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22" tIns="45711" rIns="91422" bIns="45711" anchor="b" anchorCtr="false"/>
          <a:lstStyle/>
          <a:p>
            <a:pPr lvl="0" algn="r" eaLnBrk="true" hangingPunct="true"/>
            <a:fld id="{9A0DB2DC-4C9A-4742-B13C-FB6460FD3503}" type="slidenum">
              <a:rPr/>
              <a:t/>
            </a:fld>
            <a:endParaRPr lang="zh-CN" altLang="en-US" sz="1200" dirty="false"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幻灯片图像占位符 1"/>
          <p:cNvSpPr>
            <a:spLocks noGrp="true" noRot="true" noChangeAspect="true" noTextEdit="true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  <p:txBody>
          <a:bodyPr/>
          <a:p>
            <a:pPr/>
            <a:endParaRPr/>
          </a:p>
        </p:txBody>
      </p:sp>
      <p:sp>
        <p:nvSpPr>
          <p:cNvPr id="28" name="备注占位符 2"/>
          <p:cNvSpPr>
            <a:spLocks noGrp="true"/>
          </p:cNvSpPr>
          <p:nvPr>
            <p:ph type="body"/>
          </p:nvPr>
        </p:nvSpPr>
        <p:spPr/>
        <p:txBody>
          <a:bodyPr wrap="square" lIns="91422" tIns="45711" rIns="91422" bIns="45711" anchor="t" anchorCtr="false"/>
          <a:lstStyle/>
          <a:p>
            <a:pPr lvl="0"/>
            <a:endParaRPr lang="zh-CN" altLang="en-US" dirty="false">
              <a:ea typeface="宋体" pitchFamily="2" charset="-122"/>
            </a:endParaRPr>
          </a:p>
        </p:txBody>
      </p:sp>
      <p:sp>
        <p:nvSpPr>
          <p:cNvPr id="29" name="灯片编号占位符 3"/>
          <p:cNvSpPr txBox="true">
            <a:spLocks noGrp="true"/>
          </p:cNvSpPr>
          <p:nvPr>
            <p:ph type="sldNum" sz="quarter"/>
          </p:nvPr>
        </p:nvSpPr>
        <p:spPr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22" tIns="45711" rIns="91422" bIns="45711" anchor="b" anchorCtr="false"/>
          <a:lstStyle/>
          <a:p>
            <a:pPr lvl="0" algn="r" eaLnBrk="true" hangingPunct="true"/>
            <a:fld id="{9A0DB2DC-4C9A-4742-B13C-FB6460FD3503}" type="slidenum">
              <a:rPr/>
              <a:t/>
            </a:fld>
            <a:endParaRPr lang="zh-CN" altLang="en-US" sz="1200" dirty="false"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4" Type="http://schemas.openxmlformats.org/officeDocument/2006/relationships/image" Target="media/image4.jpe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1.png" /><Relationship Id="rId2" Type="http://schemas.openxmlformats.org/officeDocument/2006/relationships/image" Target="media/image2.png" /><Relationship Id="rId3" Type="http://schemas.openxmlformats.org/officeDocument/2006/relationships/image" Target="media/image3.jpeg" /></Relationships>
</file>

<file path=ppt/slideLayouts/slideLayout1.xml><?xml version="1.0" encoding="utf-8"?>
<p:sldLayout xmlns:p="http://schemas.openxmlformats.org/presentationml/2006/main" xmlns:a="http://schemas.openxmlformats.org/drawing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 lang="en-US" dirty="false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false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1_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 lang="en-US" dirty="false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false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r="http://schemas.openxmlformats.org/officeDocument/2006/relationships" xmlns:a="http://schemas.openxmlformats.org/drawingml/2006/main">
  <p:cSld name="1_标题幻灯片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"/>
          <p:cNvSpPr/>
          <p:nvPr/>
        </p:nvSpPr>
        <p:spPr>
          <a:xfrm>
            <a:off x="0" y="6678613"/>
            <a:ext cx="12192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true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false" eaLnBrk="true" fontAlgn="base" latinLnBrk="fals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false" lang="zh-CN" altLang="en-US" sz="2000" b="false" i="false" u="none" strike="noStrike" kern="1200" cap="none" spc="0" normalizeH="false" baseline="0" noProof="false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2"/>
          <p:cNvSpPr/>
          <p:nvPr/>
        </p:nvSpPr>
        <p:spPr>
          <a:xfrm>
            <a:off x="0" y="0"/>
            <a:ext cx="12192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true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false" eaLnBrk="true" fontAlgn="base" latinLnBrk="fals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false" lang="zh-CN" altLang="en-US" sz="2000" b="false" i="false" u="none" strike="noStrike" kern="1200" cap="none" spc="0" normalizeH="false" baseline="0" noProof="false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3"/>
          <p:cNvSpPr/>
          <p:nvPr/>
        </p:nvSpPr>
        <p:spPr>
          <a:xfrm>
            <a:off x="914400" y="3197226"/>
            <a:ext cx="103632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true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false" eaLnBrk="true" fontAlgn="base" latinLnBrk="fals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false" lang="zh-CN" altLang="en-US" sz="2000" b="false" i="false" u="none" strike="noStrike" kern="1200" cap="none" spc="0" normalizeH="false" baseline="0" noProof="false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7" name="Group 10"/>
          <p:cNvGrpSpPr/>
          <p:nvPr userDrawn="true"/>
        </p:nvGrpSpPr>
        <p:grpSpPr>
          <a:xfrm>
            <a:off x="736601" y="2924176"/>
            <a:ext cx="10410092" cy="1463675"/>
            <a:chOff x="336" y="1824"/>
            <a:chExt cx="5328" cy="922"/>
          </a:xfrm>
        </p:grpSpPr>
        <p:pic>
          <p:nvPicPr>
            <p:cNvPr id="18" name="Picture 8" descr="ANABNR2"/>
            <p:cNvPicPr>
              <a:picLocks noChangeAspect="true"/>
            </p:cNvPicPr>
            <p:nvPr userDrawn="true"/>
          </p:nvPicPr>
          <p:blipFill>
            <a:blip r:embed="rId1"/>
            <a:srcRect l="-900" t="-1314" r="-2" b="-36961"/>
            <a:stretch>
              <a:fillRect/>
            </a:stretch>
          </p:blipFill>
          <p:spPr>
            <a:xfrm>
              <a:off x="336" y="2016"/>
              <a:ext cx="5328" cy="73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" name="Rectangle 9"/>
            <p:cNvSpPr>
              <a:spLocks noChangeArrowheads="true"/>
            </p:cNvSpPr>
            <p:nvPr/>
          </p:nvSpPr>
          <p:spPr bwMode="hidden">
            <a:xfrm>
              <a:off x="501" y="1824"/>
              <a:ext cx="192" cy="624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false" eaLnBrk="false" fontAlgn="base" latinLnBrk="false" hangingPunct="fals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true" lang="zh-CN" altLang="en-US" sz="2000" b="false" i="false" u="none" strike="noStrike" kern="1200" cap="none" spc="0" normalizeH="false" baseline="0" noProof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</p:grpSp>
      <p:pic>
        <p:nvPicPr>
          <p:cNvPr id="20" name="图片 5"/>
          <p:cNvPicPr>
            <a:picLocks noChangeAspect="true"/>
          </p:cNvPicPr>
          <p:nvPr userDrawn="true"/>
        </p:nvPicPr>
        <p:blipFill>
          <a:blip r:embed="rId2">
            <a:lum contrast="-14000"/>
          </a:blip>
          <a:stretch>
            <a:fillRect/>
          </a:stretch>
        </p:blipFill>
        <p:spPr>
          <a:xfrm>
            <a:off x="0" y="0"/>
            <a:ext cx="12192000" cy="1722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Picture 2"/>
          <p:cNvPicPr>
            <a:picLocks noChangeAspect="true"/>
          </p:cNvPicPr>
          <p:nvPr userDrawn="true"/>
        </p:nvPicPr>
        <p:blipFill>
          <a:blip r:embed="rId3"/>
          <a:stretch>
            <a:fillRect/>
          </a:stretch>
        </p:blipFill>
        <p:spPr>
          <a:xfrm>
            <a:off x="867508" y="4149725"/>
            <a:ext cx="2215662" cy="2249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" name="Picture 3"/>
          <p:cNvPicPr>
            <a:picLocks noChangeAspect="true"/>
          </p:cNvPicPr>
          <p:nvPr userDrawn="true"/>
        </p:nvPicPr>
        <p:blipFill>
          <a:blip r:embed="rId4"/>
          <a:stretch>
            <a:fillRect/>
          </a:stretch>
        </p:blipFill>
        <p:spPr>
          <a:xfrm>
            <a:off x="9020909" y="4149725"/>
            <a:ext cx="2176585" cy="2249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" name="页脚占位符 4"/>
          <p:cNvSpPr txBox="true"/>
          <p:nvPr/>
        </p:nvSpPr>
        <p:spPr>
          <a:xfrm>
            <a:off x="2092570" y="6384926"/>
            <a:ext cx="4978400" cy="284163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false" eaLnBrk="true" fontAlgn="base" latinLnBrk="fals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false" lang="zh-CN" altLang="en-US" sz="1100" b="false" i="false" u="none" strike="noStrike" kern="1200" cap="none" spc="0" normalizeH="false" baseline="0" noProof="false">
                <a:ln>
                  <a:noFill/>
                </a:ln>
                <a:solidFill>
                  <a:srgbClr val="636363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版权所有，违者必究</a:t>
            </a:r>
            <a:endParaRPr kumimoji="false" lang="en-US" altLang="zh-CN" sz="1100" b="false" i="false" u="none" strike="noStrike" kern="1200" cap="none" spc="0" normalizeH="false" baseline="0" noProof="false">
              <a:ln>
                <a:noFill/>
              </a:ln>
              <a:solidFill>
                <a:srgbClr val="636363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4" name="标题 1"/>
          <p:cNvSpPr>
            <a:spLocks noGrp="true"/>
          </p:cNvSpPr>
          <p:nvPr>
            <p:ph type="ctrTitle"/>
          </p:nvPr>
        </p:nvSpPr>
        <p:spPr>
          <a:xfrm>
            <a:off x="914400" y="1676401"/>
            <a:ext cx="10363200" cy="1538286"/>
          </a:xfrm>
        </p:spPr>
        <p:txBody>
          <a:bodyPr anchor="b"/>
          <a:lstStyle/>
          <a:p>
            <a:pPr fontAlgn="base"/>
            <a:r>
              <a:rPr lang="zh-CN" altLang="en-US" strike="noStrike" noProof="true"/>
              <a:t>单击此处编辑母版标题样式</a:t>
            </a:r>
            <a:endParaRPr lang="en-US" strike="noStrike" noProof="true"/>
          </a:p>
        </p:txBody>
      </p:sp>
      <p:sp>
        <p:nvSpPr>
          <p:cNvPr id="25" name="日期占位符 3"/>
          <p:cNvSpPr>
            <a:spLocks noGrp="true"/>
          </p:cNvSpPr>
          <p:nvPr>
            <p:ph type="dt" sz="half" idx="2"/>
          </p:nvPr>
        </p:nvSpPr>
        <p:spPr>
          <a:xfrm>
            <a:off x="101600" y="6400801"/>
            <a:ext cx="4267200" cy="284163"/>
          </a:xfrm>
          <a:prstGeom prst="rect">
            <a:avLst/>
          </a:prstGeom>
        </p:spPr>
        <p:txBody>
          <a:bodyPr/>
          <a:lstStyle>
            <a:lvl1pPr eaLnBrk="false" hangingPunct="fals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3171093" y="6400801"/>
            <a:ext cx="4978400" cy="284163"/>
          </a:xfrm>
          <a:prstGeom prst="rect">
            <a:avLst/>
          </a:prstGeom>
        </p:spPr>
        <p:txBody>
          <a:bodyPr vert="horz" rtlCol="false" anchor="ctr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10902462" y="6400801"/>
            <a:ext cx="1219200" cy="284163"/>
          </a:xfrm>
          <a:prstGeom prst="rect">
            <a:avLst/>
          </a:prstGeom>
          <a:noFill/>
        </p:spPr>
        <p:txBody>
          <a:bodyPr vert="horz" wrap="square" lIns="45720" tIns="45720" rIns="45720" bIns="45720" numCol="1" anchor="ctr" anchorCtr="false" compatLnSpc="true"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endParaRPr lang="en-US" altLang="zh-CN" noProof="tru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theme" Target="../theme/theme1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true"/>
        </p:nvSpPr>
        <p:spPr>
          <a:xfrm>
            <a:off x="0" y="-5522"/>
            <a:ext cx="12192000" cy="29041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true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false" eaLnBrk="true" fontAlgn="base" latinLnBrk="fals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false" lang="zh-CN" altLang="en-US" sz="2000" b="false" i="false" u="none" strike="noStrike" kern="1200" cap="none" spc="0" normalizeH="false" baseline="0" noProof="false" dirty="false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itle Placeholder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en-US" dirty="false"/>
          </a:p>
        </p:txBody>
      </p:sp>
      <p:sp>
        <p:nvSpPr>
          <p:cNvPr id="4" name="Text Placeholder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false"/>
          </a:p>
        </p:txBody>
      </p:sp>
      <p:sp>
        <p:nvSpPr>
          <p:cNvPr id="5" name="Date Placeholder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false"/>
          </a:p>
        </p:txBody>
      </p:sp>
      <p:sp>
        <p:nvSpPr>
          <p:cNvPr id="6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9443947" y="629956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  <p:sp>
        <p:nvSpPr>
          <p:cNvPr id="8" name="文本框 6"/>
          <p:cNvSpPr txBox="true"/>
          <p:nvPr userDrawn="true"/>
        </p:nvSpPr>
        <p:spPr>
          <a:xfrm>
            <a:off x="9552305" y="-17145"/>
            <a:ext cx="2640330" cy="306705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algn="r"/>
            <a:r>
              <a:rPr lang="zh-CN" altLang="en-US" sz="1400" dirty="false">
                <a:solidFill>
                  <a:srgbClr val="C00000"/>
                </a:solidFill>
              </a:rPr>
              <a:t>第七讲 链表</a:t>
            </a:r>
            <a:endParaRPr lang="zh-CN" altLang="en-US" sz="1400" dirty="false">
              <a:solidFill>
                <a:srgbClr val="C00000"/>
              </a:solidFill>
            </a:endParaRPr>
          </a:p>
        </p:txBody>
      </p:sp>
      <p:sp>
        <p:nvSpPr>
          <p:cNvPr id="9" name="矩形 1"/>
          <p:cNvSpPr/>
          <p:nvPr userDrawn="true"/>
        </p:nvSpPr>
        <p:spPr>
          <a:xfrm>
            <a:off x="0" y="6669359"/>
            <a:ext cx="12192000" cy="18864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true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false" eaLnBrk="true" fontAlgn="base" latinLnBrk="fals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false" lang="zh-CN" altLang="en-US" sz="2000" b="false" i="false" u="none" strike="noStrike" kern="1200" cap="none" spc="0" normalizeH="false" baseline="0" noProof="false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文本框 9"/>
          <p:cNvSpPr txBox="true"/>
          <p:nvPr userDrawn="true"/>
        </p:nvSpPr>
        <p:spPr>
          <a:xfrm>
            <a:off x="29580" y="6605771"/>
            <a:ext cx="2520280" cy="307777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r>
              <a:rPr lang="zh-CN" altLang="en-US" sz="1400" dirty="false">
                <a:solidFill>
                  <a:srgbClr val="C00000"/>
                </a:solidFill>
              </a:rPr>
              <a:t>计算思维与实践</a:t>
            </a:r>
            <a:endParaRPr lang="zh-CN" altLang="en-US" sz="1400" dirty="false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hf hdr="false" ftr="false" dt="false"/>
  <p:txStyles>
    <p:titleStyle>
      <a:lvl1pPr algn="l" defTabSz="914400" rtl="false" eaLnBrk="true" latinLnBrk="false" hangingPunct="true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22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36.jpe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7.xml" /><Relationship Id="rId2" Type="http://schemas.openxmlformats.org/officeDocument/2006/relationships/image" Target="media/image38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4" Type="http://schemas.openxmlformats.org/officeDocument/2006/relationships/image" Target="media/image49.png" /><Relationship Id="rId1" Type="http://schemas.openxmlformats.org/officeDocument/2006/relationships/notesSlide" Target="../notesSlides/notesSlide8.xml" /><Relationship Id="rId2" Type="http://schemas.openxmlformats.org/officeDocument/2006/relationships/image" Target="media/image47.png" /><Relationship Id="rId3" Type="http://schemas.openxmlformats.org/officeDocument/2006/relationships/image" Target="media/image48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9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2.jpe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52.jpe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5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6" Type="http://schemas.openxmlformats.org/officeDocument/2006/relationships/image" Target="media/image11.png" /><Relationship Id="rId0" Type="http://schemas.openxmlformats.org/officeDocument/2006/relationships/slideLayout" Target="../slideLayouts/slideLayout2.xml" /><Relationship Id="rId12" Type="http://schemas.openxmlformats.org/officeDocument/2006/relationships/image" Target="media/image17.png" /><Relationship Id="rId11" Type="http://schemas.openxmlformats.org/officeDocument/2006/relationships/image" Target="media/image16.png" /><Relationship Id="rId1" Type="http://schemas.openxmlformats.org/officeDocument/2006/relationships/image" Target="media/image6.jpeg" /><Relationship Id="rId10" Type="http://schemas.openxmlformats.org/officeDocument/2006/relationships/image" Target="media/image15.png" /><Relationship Id="rId13" Type="http://schemas.openxmlformats.org/officeDocument/2006/relationships/image" Target="media/image18.png" /><Relationship Id="rId14" Type="http://schemas.openxmlformats.org/officeDocument/2006/relationships/image" Target="media/image19.png" /><Relationship Id="rId15" Type="http://schemas.openxmlformats.org/officeDocument/2006/relationships/image" Target="media/image20.png" /><Relationship Id="rId8" Type="http://schemas.openxmlformats.org/officeDocument/2006/relationships/image" Target="media/image13.png" /><Relationship Id="rId16" Type="http://schemas.openxmlformats.org/officeDocument/2006/relationships/image" Target="media/image21.png" /><Relationship Id="rId2" Type="http://schemas.openxmlformats.org/officeDocument/2006/relationships/image" Target="media/image7.jpeg" /><Relationship Id="rId3" Type="http://schemas.openxmlformats.org/officeDocument/2006/relationships/image" Target="media/image8.jpeg" /><Relationship Id="rId4" Type="http://schemas.openxmlformats.org/officeDocument/2006/relationships/image" Target="media/image9.png" /><Relationship Id="rId5" Type="http://schemas.openxmlformats.org/officeDocument/2006/relationships/image" Target="media/image10.png" /><Relationship Id="rId7" Type="http://schemas.openxmlformats.org/officeDocument/2006/relationships/image" Target="media/image12.png" /><Relationship Id="rId9" Type="http://schemas.openxmlformats.org/officeDocument/2006/relationships/image" Target="media/image14.png" /></Relationships>
</file>

<file path=ppt/slides/_rels/slide20.xml.rels><?xml version="1.0" encoding="UTF-8" standalone="yes"?><Relationships xmlns="http://schemas.openxmlformats.org/package/2006/relationships"><Relationship Id="rId11" Type="http://schemas.openxmlformats.org/officeDocument/2006/relationships/image" Target="media/image16.png" /><Relationship Id="rId10" Type="http://schemas.openxmlformats.org/officeDocument/2006/relationships/image" Target="media/image15.png" /><Relationship Id="rId0" Type="http://schemas.openxmlformats.org/officeDocument/2006/relationships/slideLayout" Target="../slideLayouts/slideLayout2.xml" /><Relationship Id="rId13" Type="http://schemas.openxmlformats.org/officeDocument/2006/relationships/image" Target="media/image18.png" /><Relationship Id="rId1" Type="http://schemas.openxmlformats.org/officeDocument/2006/relationships/image" Target="media/image6.jpeg" /><Relationship Id="rId15" Type="http://schemas.openxmlformats.org/officeDocument/2006/relationships/image" Target="media/image20.png" /><Relationship Id="rId12" Type="http://schemas.openxmlformats.org/officeDocument/2006/relationships/image" Target="media/image17.png" /><Relationship Id="rId14" Type="http://schemas.openxmlformats.org/officeDocument/2006/relationships/image" Target="media/image19.png" /><Relationship Id="rId16" Type="http://schemas.openxmlformats.org/officeDocument/2006/relationships/image" Target="media/image21.png" /><Relationship Id="rId3" Type="http://schemas.openxmlformats.org/officeDocument/2006/relationships/image" Target="media/image8.jpeg" /><Relationship Id="rId2" Type="http://schemas.openxmlformats.org/officeDocument/2006/relationships/image" Target="media/image7.jpeg" /><Relationship Id="rId4" Type="http://schemas.openxmlformats.org/officeDocument/2006/relationships/image" Target="media/image9.png" /><Relationship Id="rId5" Type="http://schemas.openxmlformats.org/officeDocument/2006/relationships/image" Target="media/image10.png" /><Relationship Id="rId6" Type="http://schemas.openxmlformats.org/officeDocument/2006/relationships/image" Target="media/image11.png" /><Relationship Id="rId7" Type="http://schemas.openxmlformats.org/officeDocument/2006/relationships/image" Target="media/image12.png" /><Relationship Id="rId8" Type="http://schemas.openxmlformats.org/officeDocument/2006/relationships/image" Target="media/image13.png" /><Relationship Id="rId9" Type="http://schemas.openxmlformats.org/officeDocument/2006/relationships/image" Target="media/image14.pn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5" Type="http://schemas.openxmlformats.org/officeDocument/2006/relationships/image" Target="media/image27.png" /><Relationship Id="rId1" Type="http://schemas.openxmlformats.org/officeDocument/2006/relationships/image" Target="media/image23.png" /><Relationship Id="rId10" Type="http://schemas.openxmlformats.org/officeDocument/2006/relationships/image" Target="media/image32.png" /><Relationship Id="rId11" Type="http://schemas.openxmlformats.org/officeDocument/2006/relationships/image" Target="media/image33.jpeg" /><Relationship Id="rId4" Type="http://schemas.openxmlformats.org/officeDocument/2006/relationships/image" Target="media/image26.png" /><Relationship Id="rId2" Type="http://schemas.openxmlformats.org/officeDocument/2006/relationships/image" Target="media/image24.png" /><Relationship Id="rId3" Type="http://schemas.openxmlformats.org/officeDocument/2006/relationships/image" Target="media/image25.png" /><Relationship Id="rId6" Type="http://schemas.openxmlformats.org/officeDocument/2006/relationships/image" Target="media/image28.png" /><Relationship Id="rId7" Type="http://schemas.openxmlformats.org/officeDocument/2006/relationships/image" Target="media/image29.png" /><Relationship Id="rId8" Type="http://schemas.openxmlformats.org/officeDocument/2006/relationships/image" Target="media/image30.png" /><Relationship Id="rId9" Type="http://schemas.openxmlformats.org/officeDocument/2006/relationships/image" Target="media/image31.pn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2.png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4.jpeg" /><Relationship Id="rId2" Type="http://schemas.openxmlformats.org/officeDocument/2006/relationships/image" Target="media/image35.png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4.jpeg" /><Relationship Id="rId2" Type="http://schemas.openxmlformats.org/officeDocument/2006/relationships/image" Target="media/image5.png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7.wmf" /><Relationship Id="rId2" Type="http://schemas.openxmlformats.org/officeDocument/2006/relationships/image" Target="media/image5.png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5.png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6.xml" /><Relationship Id="rId2" Type="http://schemas.openxmlformats.org/officeDocument/2006/relationships/image" Target="media/image5.png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2.png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9.emf" /><Relationship Id="rId2" Type="http://schemas.openxmlformats.org/officeDocument/2006/relationships/image" Target="media/image40.emf" /></Relationships>
</file>

<file path=ppt/slides/_rels/slide41.xml.rels><?xml version="1.0" encoding="UTF-8" standalone="yes"?><Relationships xmlns="http://schemas.openxmlformats.org/package/2006/relationships"><Relationship Id="rId2" Type="http://schemas.openxmlformats.org/officeDocument/2006/relationships/image" Target="media/image40.emf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9.emf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1.wmf" /><Relationship Id="rId2" Type="http://schemas.openxmlformats.org/officeDocument/2006/relationships/image" Target="media/image42.wmf" /><Relationship Id="rId3" Type="http://schemas.openxmlformats.org/officeDocument/2006/relationships/image" Target="media/image43.png" /></Relationships>
</file>

<file path=ppt/slides/_rels/slide4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4.wmf" /></Relationships>
</file>

<file path=ppt/slides/_rels/slide4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5.wmf" /></Relationships>
</file>

<file path=ppt/slides/_rels/slide4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6.jpeg" /></Relationships>
</file>

<file path=ppt/slides/_rels/slide4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0.wmf" /></Relationships>
</file>

<file path=ppt/slides/_rels/slide5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1.emf" /></Relationships>
</file>

<file path=ppt/slides/_rels/slide5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5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5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5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6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6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jpeg" /><Relationship Id="rId10" Type="http://schemas.openxmlformats.org/officeDocument/2006/relationships/image" Target="media/image15.png" /><Relationship Id="rId11" Type="http://schemas.openxmlformats.org/officeDocument/2006/relationships/image" Target="media/image16.png" /><Relationship Id="rId14" Type="http://schemas.openxmlformats.org/officeDocument/2006/relationships/image" Target="media/image19.png" /><Relationship Id="rId13" Type="http://schemas.openxmlformats.org/officeDocument/2006/relationships/image" Target="media/image18.png" /><Relationship Id="rId12" Type="http://schemas.openxmlformats.org/officeDocument/2006/relationships/image" Target="media/image17.png" /><Relationship Id="rId15" Type="http://schemas.openxmlformats.org/officeDocument/2006/relationships/image" Target="media/image20.png" /><Relationship Id="rId2" Type="http://schemas.openxmlformats.org/officeDocument/2006/relationships/image" Target="media/image7.jpeg" /><Relationship Id="rId16" Type="http://schemas.openxmlformats.org/officeDocument/2006/relationships/image" Target="media/image21.png" /><Relationship Id="rId17" Type="http://schemas.openxmlformats.org/officeDocument/2006/relationships/image" Target="media/image5.png" /><Relationship Id="rId3" Type="http://schemas.openxmlformats.org/officeDocument/2006/relationships/image" Target="media/image8.jpeg" /><Relationship Id="rId4" Type="http://schemas.openxmlformats.org/officeDocument/2006/relationships/image" Target="media/image9.png" /><Relationship Id="rId5" Type="http://schemas.openxmlformats.org/officeDocument/2006/relationships/image" Target="media/image10.png" /><Relationship Id="rId6" Type="http://schemas.openxmlformats.org/officeDocument/2006/relationships/image" Target="media/image11.png" /><Relationship Id="rId7" Type="http://schemas.openxmlformats.org/officeDocument/2006/relationships/image" Target="media/image12.png" /><Relationship Id="rId8" Type="http://schemas.openxmlformats.org/officeDocument/2006/relationships/image" Target="media/image13.png" /><Relationship Id="rId9" Type="http://schemas.openxmlformats.org/officeDocument/2006/relationships/image" Target="media/image14.png" /></Relationships>
</file>

<file path=ppt/slides/_rels/slide64.xml.rels><?xml version="1.0" encoding="UTF-8" standalone="yes"?><Relationships xmlns="http://schemas.openxmlformats.org/package/2006/relationships"><Relationship Id="rId15" Type="http://schemas.openxmlformats.org/officeDocument/2006/relationships/image" Target="media/image20.png" /><Relationship Id="rId14" Type="http://schemas.openxmlformats.org/officeDocument/2006/relationships/image" Target="media/image19.png" /><Relationship Id="rId4" Type="http://schemas.openxmlformats.org/officeDocument/2006/relationships/image" Target="media/image9.png" /><Relationship Id="rId0" Type="http://schemas.openxmlformats.org/officeDocument/2006/relationships/slideLayout" Target="../slideLayouts/slideLayout1.xml" /><Relationship Id="rId11" Type="http://schemas.openxmlformats.org/officeDocument/2006/relationships/image" Target="media/image16.png" /><Relationship Id="rId1" Type="http://schemas.openxmlformats.org/officeDocument/2006/relationships/image" Target="media/image6.jpeg" /><Relationship Id="rId10" Type="http://schemas.openxmlformats.org/officeDocument/2006/relationships/image" Target="media/image15.png" /><Relationship Id="rId13" Type="http://schemas.openxmlformats.org/officeDocument/2006/relationships/image" Target="media/image18.png" /><Relationship Id="rId12" Type="http://schemas.openxmlformats.org/officeDocument/2006/relationships/image" Target="media/image17.png" /><Relationship Id="rId16" Type="http://schemas.openxmlformats.org/officeDocument/2006/relationships/image" Target="media/image21.png" /><Relationship Id="rId17" Type="http://schemas.openxmlformats.org/officeDocument/2006/relationships/image" Target="media/image5.png" /><Relationship Id="rId2" Type="http://schemas.openxmlformats.org/officeDocument/2006/relationships/image" Target="media/image7.jpeg" /><Relationship Id="rId3" Type="http://schemas.openxmlformats.org/officeDocument/2006/relationships/image" Target="media/image8.jpeg" /><Relationship Id="rId5" Type="http://schemas.openxmlformats.org/officeDocument/2006/relationships/image" Target="media/image10.png" /><Relationship Id="rId6" Type="http://schemas.openxmlformats.org/officeDocument/2006/relationships/image" Target="media/image11.png" /><Relationship Id="rId7" Type="http://schemas.openxmlformats.org/officeDocument/2006/relationships/image" Target="media/image12.png" /><Relationship Id="rId8" Type="http://schemas.openxmlformats.org/officeDocument/2006/relationships/image" Target="media/image13.png" /><Relationship Id="rId9" Type="http://schemas.openxmlformats.org/officeDocument/2006/relationships/image" Target="media/image14.png" /></Relationships>
</file>

<file path=ppt/slides/_rels/slide6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1"/>
          <p:cNvSpPr txBox="true"/>
          <p:nvPr/>
        </p:nvSpPr>
        <p:spPr>
          <a:xfrm>
            <a:off x="2927351" y="6021389"/>
            <a:ext cx="6162675" cy="701675"/>
          </a:xfrm>
          <a:prstGeom prst="rect">
            <a:avLst/>
          </a:prstGeom>
          <a:noFill/>
          <a:ln w="12700">
            <a:noFill/>
          </a:ln>
        </p:spPr>
        <p:txBody>
          <a:bodyPr anchor="t" anchorCtr="false">
            <a:spAutoFit/>
          </a:bodyPr>
          <a:lstStyle/>
          <a:p>
            <a:pPr algn="ctr" eaLnBrk="false" hangingPunct="false">
              <a:lnSpc>
                <a:spcPct val="90000"/>
              </a:lnSpc>
              <a:spcBef>
                <a:spcPts val="60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zh-CN" altLang="en-US" sz="1600" b="true" dirty="false">
                <a:solidFill>
                  <a:srgbClr val="B9945B"/>
                </a:solidFill>
                <a:ea typeface="黑体" panose="02010609060101010101" pitchFamily="49" charset="-122"/>
              </a:rPr>
              <a:t>课件</a:t>
            </a:r>
            <a:r>
              <a:rPr lang="en-US" altLang="zh-CN" sz="1600" b="true" dirty="false">
                <a:solidFill>
                  <a:srgbClr val="B9945B"/>
                </a:solidFill>
                <a:ea typeface="黑体" panose="02010609060101010101" pitchFamily="49" charset="-122"/>
              </a:rPr>
              <a:t>.</a:t>
            </a:r>
            <a:r>
              <a:rPr lang="zh-CN" altLang="en-US" sz="1600" b="true" dirty="false">
                <a:solidFill>
                  <a:srgbClr val="B9945B"/>
                </a:solidFill>
                <a:ea typeface="黑体" panose="02010609060101010101" pitchFamily="49" charset="-122"/>
              </a:rPr>
              <a:t>版权</a:t>
            </a:r>
            <a:r>
              <a:rPr lang="en-US" altLang="zh-CN" sz="1600" b="true" dirty="false">
                <a:solidFill>
                  <a:srgbClr val="B9945B"/>
                </a:solidFill>
                <a:ea typeface="黑体" panose="02010609060101010101" pitchFamily="49" charset="-122"/>
              </a:rPr>
              <a:t>:</a:t>
            </a:r>
            <a:r>
              <a:rPr lang="zh-CN" altLang="en-US" sz="1600" b="true" dirty="false">
                <a:solidFill>
                  <a:srgbClr val="B9945B"/>
                </a:solidFill>
                <a:ea typeface="黑体" panose="02010609060101010101" pitchFamily="49" charset="-122"/>
              </a:rPr>
              <a:t> 哈尔滨工业大学</a:t>
            </a:r>
            <a:r>
              <a:rPr lang="en-US" altLang="zh-CN" sz="1600" b="true" dirty="false">
                <a:solidFill>
                  <a:srgbClr val="B9945B"/>
                </a:solidFill>
                <a:ea typeface="黑体" panose="02010609060101010101" pitchFamily="49" charset="-122"/>
              </a:rPr>
              <a:t>.</a:t>
            </a:r>
            <a:r>
              <a:rPr lang="zh-CN" altLang="en-US" sz="1600" b="true" dirty="false">
                <a:solidFill>
                  <a:srgbClr val="B9945B"/>
                </a:solidFill>
                <a:ea typeface="黑体" panose="02010609060101010101" pitchFamily="49" charset="-122"/>
              </a:rPr>
              <a:t> 苏小红 </a:t>
            </a:r>
            <a:r>
              <a:rPr lang="en-US" altLang="zh-CN" sz="1600" b="true" dirty="false">
                <a:solidFill>
                  <a:srgbClr val="B9945B"/>
                </a:solidFill>
                <a:ea typeface="黑体" panose="02010609060101010101" pitchFamily="49" charset="-122"/>
              </a:rPr>
              <a:t>sxh@hit.edu.cn</a:t>
            </a:r>
            <a:br>
              <a:rPr lang="en-US" altLang="zh-CN" sz="2800" b="true" dirty="false">
                <a:ea typeface="黑体" panose="02010609060101010101" pitchFamily="49" charset="-122"/>
              </a:rPr>
            </a:br>
            <a:endParaRPr lang="en-US" altLang="zh-CN" sz="2800" b="true" dirty="false">
              <a:ea typeface="黑体" panose="02010609060101010101" pitchFamily="49" charset="-122"/>
            </a:endParaRPr>
          </a:p>
        </p:txBody>
      </p:sp>
      <p:sp>
        <p:nvSpPr>
          <p:cNvPr id="3" name="TextBox 4"/>
          <p:cNvSpPr txBox="true"/>
          <p:nvPr/>
        </p:nvSpPr>
        <p:spPr>
          <a:xfrm>
            <a:off x="1416050" y="1919289"/>
            <a:ext cx="9632950" cy="1004570"/>
          </a:xfrm>
          <a:prstGeom prst="rect">
            <a:avLst/>
          </a:prstGeom>
          <a:noFill/>
          <a:ln w="9525">
            <a:noFill/>
          </a:ln>
        </p:spPr>
        <p:txBody>
          <a:bodyPr anchor="t" anchorCtr="false">
            <a:spAutoFit/>
          </a:bodyPr>
          <a:lstStyle/>
          <a:p>
            <a:pPr algn="ctr" eaLnBrk="false" hangingPunct="false">
              <a:lnSpc>
                <a:spcPct val="90000"/>
              </a:lnSpc>
              <a:spcBef>
                <a:spcPts val="60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zh-CN" altLang="en-US" sz="6600" dirty="false">
                <a:ea typeface="黑体" panose="02010609060101010101" pitchFamily="49" charset="-122"/>
              </a:rPr>
              <a:t>第七讲 链表</a:t>
            </a:r>
            <a:endParaRPr lang="zh-CN" altLang="en-US" sz="6600" dirty="false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newsflash/>
  </p:transition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 2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ctr" anchorCtr="false"/>
          <a:lstStyle/>
          <a:p>
            <a:pPr eaLnBrk="true" hangingPunct="true"/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第七讲</a:t>
            </a:r>
            <a:r>
              <a:rPr lang="zh-CN" altLang="en-US" kern="1200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 链表</a:t>
            </a:r>
            <a:r>
              <a:rPr lang="en-US" altLang="zh-CN" kern="1200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——</a:t>
            </a:r>
            <a:r>
              <a:rPr lang="zh-CN" altLang="en-US" kern="1200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学习内容</a:t>
            </a:r>
            <a:endParaRPr lang="zh-CN" altLang="en-US" kern="1200" dirty="false">
              <a:latin typeface="黑体" panose="02010609060101010101" pitchFamily="49" charset="-122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329" name="Rectangle 3"/>
          <p:cNvSpPr>
            <a:spLocks noGrp="true"/>
          </p:cNvSpPr>
          <p:nvPr>
            <p:ph idx="1"/>
          </p:nvPr>
        </p:nvSpPr>
        <p:spPr/>
        <p:txBody>
          <a:bodyPr vert="horz" wrap="square" lIns="91440" tIns="45720" rIns="91440" bIns="45720" anchor="t" anchorCtr="false"/>
          <a:lstStyle/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r>
              <a:rPr lang="en-US" altLang="zh-CN" sz="3200" dirty="false">
                <a:solidFill>
                  <a:srgbClr val="FF0000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 </a:t>
            </a:r>
            <a:r>
              <a:rPr lang="zh-CN" altLang="en-US" sz="3200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链表及其基本操作</a:t>
            </a:r>
            <a:endParaRPr lang="zh-CN" altLang="en-US" sz="3200" dirty="false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r>
              <a:rPr lang="en-US" altLang="zh-CN" sz="3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 </a:t>
            </a:r>
            <a:r>
              <a:rPr lang="zh-CN" altLang="en-US" sz="32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链式队列</a:t>
            </a: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r>
              <a:rPr lang="en-US" altLang="zh-CN" sz="3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 </a:t>
            </a:r>
            <a:r>
              <a:rPr lang="zh-CN" altLang="en-US" sz="32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双向链表</a:t>
            </a: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330" name="Picture 7"/>
          <p:cNvPicPr>
            <a:picLocks noChangeAspect="true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07120" y="3068960"/>
            <a:ext cx="3232610" cy="30476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1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ransition/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7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  <p:pic>
        <p:nvPicPr>
          <p:cNvPr id="716" name="图片 3" descr="微信图片_20251204102706_1554_245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075" y="405130"/>
            <a:ext cx="6078220" cy="60782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9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Rectangle 2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ctr" anchorCtr="false">
            <a:normAutofit/>
          </a:bodyPr>
          <a:lstStyle/>
          <a:p>
            <a:pPr/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</a:rPr>
              <a:t>：顺序存储一定是最好的选择吗？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30" name="图片 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211" y="5180184"/>
            <a:ext cx="2301439" cy="1127858"/>
          </a:xfrm>
          <a:prstGeom prst="rect">
            <a:avLst/>
          </a:prstGeom>
        </p:spPr>
      </p:pic>
      <p:graphicFrame>
        <p:nvGraphicFramePr>
          <p:cNvPr id="931" name="表格 3"/>
          <p:cNvGraphicFramePr/>
          <p:nvPr/>
        </p:nvGraphicFramePr>
        <p:xfrm>
          <a:off x="1923894" y="1638939"/>
          <a:ext cx="1671041" cy="3145779"/>
        </p:xfrm>
        <a:graphic>
          <a:graphicData uri="http://schemas.openxmlformats.org/drawingml/2006/table">
            <a:tbl>
              <a:tblPr firstRow="true" bandRow="true">
                <a:tableStyleId>{2D5ABB26-0587-4C30-8999-92F81FD0307C}</a:tableStyleId>
              </a:tblPr>
              <a:tblGrid>
                <a:gridCol w="497796">
                  <a:extLst>
                    <a:ext uri="{9D8B030D-6E8A-4147-A177-3AD203B41FA5}">
                      <a16:colId val="1"/>
                    </a:ext>
                  </a:extLst>
                </a:gridCol>
                <a:gridCol w="1173245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651499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400" b="true">
                          <a:latin typeface="华文中宋" panose="02010600040101010101" charset="-122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数组</a:t>
                      </a:r>
                      <a:endParaRPr lang="zh-CN" altLang="en-US" sz="2400" b="true">
                        <a:latin typeface="华文中宋" panose="02010600040101010101" charset="-122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p/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0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a[0]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C1B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a[1]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E4C7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true" fontAlgn="auto" latinLnBrk="false" hangingPunct="tru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a[2]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C1B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·</a:t>
                      </a:r>
                      <a:endParaRPr lang="en-US" altLang="zh-CN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ctr"/>
                      <a:r>
                        <a:rPr lang="en-US" altLang="zh-CN" sz="12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·</a:t>
                      </a:r>
                      <a:endParaRPr lang="en-US" altLang="zh-CN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ctr"/>
                      <a:r>
                        <a:rPr lang="en-US" altLang="zh-CN" sz="12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·</a:t>
                      </a:r>
                      <a:endParaRPr lang="zh-CN" altLang="en-US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·</a:t>
                      </a:r>
                      <a:endParaRPr lang="en-US" altLang="zh-CN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ctr"/>
                      <a:r>
                        <a:rPr lang="en-US" altLang="zh-CN" sz="12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·</a:t>
                      </a:r>
                      <a:endParaRPr lang="en-US" altLang="zh-CN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ctr"/>
                      <a:r>
                        <a:rPr lang="en-US" altLang="zh-CN" sz="12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·</a:t>
                      </a:r>
                      <a:endParaRPr lang="en-US" altLang="zh-CN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E4C7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true" fontAlgn="auto" latinLnBrk="false" hangingPunct="tru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a[n]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C1B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endParaRPr lang="zh-CN" altLang="en-US">
                        <a:latin typeface="华文中宋" panose="02010600040101010101" charset="-122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p/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graphicFrame>
        <p:nvGraphicFramePr>
          <p:cNvPr id="932" name="表格 5"/>
          <p:cNvGraphicFramePr/>
          <p:nvPr/>
        </p:nvGraphicFramePr>
        <p:xfrm>
          <a:off x="757944" y="5026024"/>
          <a:ext cx="3309453" cy="992779"/>
        </p:xfrm>
        <a:graphic>
          <a:graphicData uri="http://schemas.openxmlformats.org/drawingml/2006/table">
            <a:tbl>
              <a:tblPr firstRow="true" bandRow="true">
                <a:tableStyleId>{2D5ABB26-0587-4C30-8999-92F81FD0307C}</a:tableStyleId>
              </a:tblPr>
              <a:tblGrid>
                <a:gridCol w="367717">
                  <a:extLst>
                    <a:ext uri="{9D8B030D-6E8A-4147-A177-3AD203B41FA5}">
                      <a16:colId val="1"/>
                    </a:ext>
                  </a:extLst>
                </a:gridCol>
                <a:gridCol w="367717">
                  <a:extLst>
                    <a:ext uri="{9D8B030D-6E8A-4147-A177-3AD203B41FA5}">
                      <a16:colId val="2"/>
                    </a:ext>
                  </a:extLst>
                </a:gridCol>
                <a:gridCol w="367717">
                  <a:extLst>
                    <a:ext uri="{9D8B030D-6E8A-4147-A177-3AD203B41FA5}">
                      <a16:colId val="3"/>
                    </a:ext>
                  </a:extLst>
                </a:gridCol>
                <a:gridCol w="367717">
                  <a:extLst>
                    <a:ext uri="{9D8B030D-6E8A-4147-A177-3AD203B41FA5}">
                      <a16:colId val="4"/>
                    </a:ext>
                  </a:extLst>
                </a:gridCol>
                <a:gridCol w="367717">
                  <a:extLst>
                    <a:ext uri="{9D8B030D-6E8A-4147-A177-3AD203B41FA5}">
                      <a16:colId val="5"/>
                    </a:ext>
                  </a:extLst>
                </a:gridCol>
                <a:gridCol w="367717">
                  <a:extLst>
                    <a:ext uri="{9D8B030D-6E8A-4147-A177-3AD203B41FA5}">
                      <a16:colId val="6"/>
                    </a:ext>
                  </a:extLst>
                </a:gridCol>
                <a:gridCol w="367717">
                  <a:extLst>
                    <a:ext uri="{9D8B030D-6E8A-4147-A177-3AD203B41FA5}">
                      <a16:colId val="7"/>
                    </a:ext>
                  </a:extLst>
                </a:gridCol>
                <a:gridCol w="367717">
                  <a:extLst>
                    <a:ext uri="{9D8B030D-6E8A-4147-A177-3AD203B41FA5}">
                      <a16:colId val="8"/>
                    </a:ext>
                  </a:extLst>
                </a:gridCol>
                <a:gridCol w="367717">
                  <a:extLst>
                    <a:ext uri="{9D8B030D-6E8A-4147-A177-3AD203B41FA5}">
                      <a16:colId val="9"/>
                    </a:ext>
                  </a:extLst>
                </a:gridCol>
              </a:tblGrid>
              <a:tr h="651044">
                <a:tc gridSpan="9">
                  <a:txBody>
                    <a:bodyPr/>
                    <a:lstStyle/>
                    <a:p>
                      <a:pPr algn="ctr"/>
                      <a:r>
                        <a:rPr lang="zh-CN" altLang="en-US" sz="2400" b="true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链表</a:t>
                      </a:r>
                      <a:endParaRPr lang="zh-CN" altLang="en-US" sz="2400" b="true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p/>
                  </a:txBody>
                  <a:tcPr anchor="ctr"/>
                </a:tc>
                <a:tc hMerge="true">
                  <a:txBody>
                    <a:bodyPr/>
                    <a:p/>
                  </a:txBody>
                  <a:tcPr anchor="ctr"/>
                </a:tc>
                <a:tc hMerge="true">
                  <a:txBody>
                    <a:bodyPr/>
                    <a:p/>
                  </a:txBody>
                  <a:tcPr anchor="ctr"/>
                </a:tc>
                <a:tc hMerge="true">
                  <a:txBody>
                    <a:bodyPr/>
                    <a:p/>
                  </a:txBody>
                  <a:tcPr anchor="ctr"/>
                </a:tc>
                <a:tc hMerge="true">
                  <a:txBody>
                    <a:bodyPr/>
                    <a:p/>
                  </a:txBody>
                  <a:tcPr anchor="ctr"/>
                </a:tc>
                <a:tc hMerge="true">
                  <a:txBody>
                    <a:bodyPr/>
                    <a:p/>
                  </a:txBody>
                  <a:tcPr anchor="ctr"/>
                </a:tc>
                <a:tc hMerge="true">
                  <a:txBody>
                    <a:bodyPr/>
                    <a:p/>
                  </a:txBody>
                  <a:tcPr anchor="ctr"/>
                </a:tc>
                <a:tc hMerge="true">
                  <a:txBody>
                    <a:bodyPr/>
                    <a:p/>
                  </a:txBody>
                  <a:tcPr anchor="ctr"/>
                </a:tc>
                <a:extLst>
                  <a:ext uri="{0D108BD9-81ED-4DB2-BD59-A6C34878D82A}">
                    <a16:rowId val="1"/>
                  </a:ext>
                </a:extLst>
              </a:tr>
              <a:tr h="34173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d1</a:t>
                      </a:r>
                      <a:endParaRPr lang="zh-CN" altLang="en-US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AB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E3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d2</a:t>
                      </a:r>
                      <a:endParaRPr lang="zh-CN" altLang="en-US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AB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E3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d3</a:t>
                      </a:r>
                      <a:endParaRPr lang="zh-CN" altLang="en-US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AB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E3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</a:tbl>
          </a:graphicData>
        </a:graphic>
      </p:graphicFrame>
      <p:grpSp>
        <p:nvGrpSpPr>
          <p:cNvPr id="933" name="组合 10"/>
          <p:cNvGrpSpPr/>
          <p:nvPr/>
        </p:nvGrpSpPr>
        <p:grpSpPr>
          <a:xfrm>
            <a:off x="1327418" y="5854049"/>
            <a:ext cx="2720315" cy="0"/>
            <a:chOff x="4247535" y="5997678"/>
            <a:chExt cx="2720315" cy="0"/>
          </a:xfrm>
        </p:grpSpPr>
        <p:cxnSp>
          <p:nvCxnSpPr>
            <p:cNvPr id="934" name="直接箭头连接符 11"/>
            <p:cNvCxnSpPr/>
            <p:nvPr/>
          </p:nvCxnSpPr>
          <p:spPr>
            <a:xfrm>
              <a:off x="4247535" y="5997678"/>
              <a:ext cx="52111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直接箭头连接符 12"/>
            <p:cNvCxnSpPr/>
            <p:nvPr/>
          </p:nvCxnSpPr>
          <p:spPr>
            <a:xfrm>
              <a:off x="5343831" y="5997678"/>
              <a:ext cx="52111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直接箭头连接符 17"/>
            <p:cNvCxnSpPr/>
            <p:nvPr/>
          </p:nvCxnSpPr>
          <p:spPr>
            <a:xfrm>
              <a:off x="6446740" y="5997678"/>
              <a:ext cx="52111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37" name="表格 17"/>
          <p:cNvGraphicFramePr/>
          <p:nvPr/>
        </p:nvGraphicFramePr>
        <p:xfrm>
          <a:off x="5124301" y="1793065"/>
          <a:ext cx="2152221" cy="3139440"/>
        </p:xfrm>
        <a:graphic>
          <a:graphicData uri="http://schemas.openxmlformats.org/drawingml/2006/table">
            <a:tbl>
              <a:tblPr firstRow="true" bandRow="true">
                <a:tableStyleId>{2D5ABB26-0587-4C30-8999-92F81FD0307C}</a:tableStyleId>
              </a:tblPr>
              <a:tblGrid>
                <a:gridCol w="1069686">
                  <a:extLst>
                    <a:ext uri="{9D8B030D-6E8A-4147-A177-3AD203B41FA5}">
                      <a16:colId val="1"/>
                    </a:ext>
                  </a:extLst>
                </a:gridCol>
                <a:gridCol w="1082535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3066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int a[7]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1000-1003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1004-1007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1008-1011</a:t>
                      </a:r>
                      <a:endParaRPr lang="en-US" altLang="zh-CN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1012-1015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1016-1019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1020-1023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1024-1027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18219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400" b="true">
                          <a:latin typeface="华文中宋" panose="02010600040101010101" charset="-122"/>
                          <a:ea typeface="华文中宋" panose="02010600040101010101" charset="-122"/>
                        </a:rPr>
                        <a:t>数组</a:t>
                      </a:r>
                      <a:endParaRPr lang="zh-CN" altLang="en-US" sz="2400" b="true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graphicFrame>
        <p:nvGraphicFramePr>
          <p:cNvPr id="938" name="表格 17"/>
          <p:cNvGraphicFramePr/>
          <p:nvPr/>
        </p:nvGraphicFramePr>
        <p:xfrm>
          <a:off x="8415911" y="1793065"/>
          <a:ext cx="2152221" cy="3139440"/>
        </p:xfrm>
        <a:graphic>
          <a:graphicData uri="http://schemas.openxmlformats.org/drawingml/2006/table">
            <a:tbl>
              <a:tblPr firstRow="true" bandRow="true">
                <a:tableStyleId>{2D5ABB26-0587-4C30-8999-92F81FD0307C}</a:tableStyleId>
              </a:tblPr>
              <a:tblGrid>
                <a:gridCol w="1069686">
                  <a:extLst>
                    <a:ext uri="{9D8B030D-6E8A-4147-A177-3AD203B41FA5}">
                      <a16:colId val="1"/>
                    </a:ext>
                  </a:extLst>
                </a:gridCol>
                <a:gridCol w="1082535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3066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int *p</a:t>
                      </a:r>
                      <a:endParaRPr lang="en-US" altLang="zh-CN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1000-1003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1012-1015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1020-1023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06694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1024-1027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18219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400" b="true">
                          <a:latin typeface="华文中宋" panose="02010600040101010101" charset="-122"/>
                          <a:ea typeface="华文中宋" panose="02010600040101010101" charset="-122"/>
                        </a:rPr>
                        <a:t>链表</a:t>
                      </a:r>
                      <a:endParaRPr lang="zh-CN" altLang="en-US" sz="2400" b="true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p/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939" name="文本框 29"/>
          <p:cNvSpPr txBox="true"/>
          <p:nvPr/>
        </p:nvSpPr>
        <p:spPr>
          <a:xfrm>
            <a:off x="8911590" y="4882515"/>
            <a:ext cx="1355725" cy="398780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链式存储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40" name="文本框 31"/>
          <p:cNvSpPr txBox="true"/>
          <p:nvPr/>
        </p:nvSpPr>
        <p:spPr>
          <a:xfrm>
            <a:off x="6198456" y="1418255"/>
            <a:ext cx="2607432" cy="400110"/>
          </a:xfrm>
          <a:prstGeom prst="rect">
            <a:avLst/>
          </a:prstGeom>
          <a:noFill/>
        </p:spPr>
        <p:txBody>
          <a:bodyPr wrap="square" numCol="1" rtlCol="false" anchor="ctr">
            <a:spAutoFit/>
          </a:bodyPr>
          <a:lstStyle/>
          <a:p>
            <a:pPr algn="ctr"/>
            <a:r>
              <a:rPr lang="zh-CN" altLang="en-US" sz="2000" b="true">
                <a:latin typeface="华文中宋" panose="02010600040101010101" charset="-122"/>
                <a:ea typeface="华文中宋" panose="02010600040101010101" charset="-122"/>
              </a:rPr>
              <a:t>内存分布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941" name="Group 4"/>
          <p:cNvGrpSpPr/>
          <p:nvPr/>
        </p:nvGrpSpPr>
        <p:grpSpPr>
          <a:xfrm>
            <a:off x="8259097" y="1940918"/>
            <a:ext cx="348817" cy="2517059"/>
            <a:chOff x="8259097" y="2536722"/>
            <a:chExt cx="348817" cy="2517059"/>
          </a:xfrm>
        </p:grpSpPr>
        <p:cxnSp>
          <p:nvCxnSpPr>
            <p:cNvPr id="942" name="直接箭头连接符 36"/>
            <p:cNvCxnSpPr/>
            <p:nvPr/>
          </p:nvCxnSpPr>
          <p:spPr>
            <a:xfrm>
              <a:off x="8607914" y="2536722"/>
              <a:ext cx="0" cy="198611"/>
            </a:xfrm>
            <a:prstGeom prst="straightConnector1">
              <a:avLst/>
            </a:prstGeom>
            <a:ln w="3810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直接连接符 37"/>
            <p:cNvCxnSpPr/>
            <p:nvPr/>
          </p:nvCxnSpPr>
          <p:spPr>
            <a:xfrm>
              <a:off x="8268929" y="2979175"/>
              <a:ext cx="0" cy="83574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直接连接符 38"/>
            <p:cNvCxnSpPr/>
            <p:nvPr/>
          </p:nvCxnSpPr>
          <p:spPr>
            <a:xfrm>
              <a:off x="8268929" y="3958589"/>
              <a:ext cx="0" cy="5445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直接连接符 39"/>
            <p:cNvCxnSpPr/>
            <p:nvPr/>
          </p:nvCxnSpPr>
          <p:spPr>
            <a:xfrm>
              <a:off x="8268929" y="4680155"/>
              <a:ext cx="0" cy="373626"/>
            </a:xfrm>
            <a:prstGeom prst="line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直接连接符 40"/>
            <p:cNvCxnSpPr/>
            <p:nvPr/>
          </p:nvCxnSpPr>
          <p:spPr>
            <a:xfrm>
              <a:off x="8259097" y="2979175"/>
              <a:ext cx="14698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直接连接符 41"/>
            <p:cNvCxnSpPr/>
            <p:nvPr/>
          </p:nvCxnSpPr>
          <p:spPr>
            <a:xfrm>
              <a:off x="8259097" y="3814917"/>
              <a:ext cx="146982" cy="0"/>
            </a:xfrm>
            <a:prstGeom prst="line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直接连接符 43"/>
            <p:cNvCxnSpPr/>
            <p:nvPr/>
          </p:nvCxnSpPr>
          <p:spPr>
            <a:xfrm>
              <a:off x="8259097" y="3958589"/>
              <a:ext cx="14698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直接连接符 45"/>
            <p:cNvCxnSpPr/>
            <p:nvPr/>
          </p:nvCxnSpPr>
          <p:spPr>
            <a:xfrm>
              <a:off x="8259097" y="4503174"/>
              <a:ext cx="146982" cy="0"/>
            </a:xfrm>
            <a:prstGeom prst="line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直接连接符 46"/>
            <p:cNvCxnSpPr/>
            <p:nvPr/>
          </p:nvCxnSpPr>
          <p:spPr>
            <a:xfrm>
              <a:off x="8259097" y="4680155"/>
              <a:ext cx="14698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1" name="TextBox 14"/>
          <p:cNvSpPr txBox="true"/>
          <p:nvPr/>
        </p:nvSpPr>
        <p:spPr>
          <a:xfrm>
            <a:off x="5501846" y="4865100"/>
            <a:ext cx="1471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Times New Roman" panose="02020503050405090304" pitchFamily="18" charset="0"/>
              </a:rPr>
              <a:t>顺序存储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Times New Roman" panose="02020503050405090304" pitchFamily="18" charset="0"/>
            </a:endParaRPr>
          </a:p>
        </p:txBody>
      </p:sp>
      <p:sp>
        <p:nvSpPr>
          <p:cNvPr id="952" name="TextBox 33"/>
          <p:cNvSpPr txBox="true"/>
          <p:nvPr/>
        </p:nvSpPr>
        <p:spPr>
          <a:xfrm>
            <a:off x="6973281" y="5328871"/>
            <a:ext cx="4852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sz="24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顺序存储结构简单，是静态的结构</a:t>
            </a:r>
            <a:endParaRPr lang="en-US" altLang="zh-CN" sz="2400" b="true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/>
            <a:r>
              <a:rPr lang="zh-CN" altLang="en-US" sz="24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不适用于灵活变化的使用场景</a:t>
            </a:r>
            <a:endParaRPr lang="zh-CN" altLang="en-US" sz="2400" b="true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53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Rectangle 2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ctr" anchorCtr="false"/>
          <a:lstStyle/>
          <a:p>
            <a:pPr/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问题</a:t>
            </a:r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2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：顺序存储</a:t>
            </a:r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vs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链式存储</a:t>
            </a: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pic>
        <p:nvPicPr>
          <p:cNvPr id="1231" name="图片 15"/>
          <p:cNvPicPr>
            <a:picLocks noChangeAspect="true"/>
          </p:cNvPicPr>
          <p:nvPr/>
        </p:nvPicPr>
        <p:blipFill rotWithShape="true">
          <a:blip r:embed="rId2"/>
          <a:srcRect t="57221"/>
          <a:stretch>
            <a:fillRect/>
          </a:stretch>
        </p:blipFill>
        <p:spPr>
          <a:xfrm>
            <a:off x="8083486" y="4586918"/>
            <a:ext cx="2859496" cy="1639642"/>
          </a:xfrm>
          <a:prstGeom prst="rect">
            <a:avLst/>
          </a:prstGeom>
        </p:spPr>
      </p:pic>
      <p:pic>
        <p:nvPicPr>
          <p:cNvPr id="1232" name="图片 4"/>
          <p:cNvPicPr>
            <a:picLocks noChangeAspect="true"/>
          </p:cNvPicPr>
          <p:nvPr/>
        </p:nvPicPr>
        <p:blipFill>
          <a:blip r:embed="rId3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935149" y="1405677"/>
            <a:ext cx="3363385" cy="2302165"/>
          </a:xfrm>
          <a:prstGeom prst="rect">
            <a:avLst/>
          </a:prstGeom>
        </p:spPr>
      </p:pic>
      <p:pic>
        <p:nvPicPr>
          <p:cNvPr id="1233" name="图片 16"/>
          <p:cNvPicPr>
            <a:picLocks noChangeAspect="true"/>
          </p:cNvPicPr>
          <p:nvPr/>
        </p:nvPicPr>
        <p:blipFill>
          <a:blip r:embed="rId4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2712197" y="3683808"/>
            <a:ext cx="1485211" cy="367744"/>
          </a:xfrm>
          <a:prstGeom prst="rect">
            <a:avLst/>
          </a:prstGeom>
        </p:spPr>
      </p:pic>
      <p:sp>
        <p:nvSpPr>
          <p:cNvPr id="1234" name="文本框 18"/>
          <p:cNvSpPr txBox="true"/>
          <p:nvPr/>
        </p:nvSpPr>
        <p:spPr>
          <a:xfrm>
            <a:off x="7451167" y="4195062"/>
            <a:ext cx="3714942" cy="400110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r>
              <a:rPr lang="zh-CN" altLang="en-US" sz="2000" b="true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</a:rPr>
              <a:t>需要额外的空间存储后继指针！</a:t>
            </a:r>
            <a:endParaRPr lang="zh-CN" altLang="en-US" sz="2000" b="true">
              <a:solidFill>
                <a:srgbClr val="C0000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235" name="组合 38"/>
          <p:cNvGrpSpPr/>
          <p:nvPr/>
        </p:nvGrpSpPr>
        <p:grpSpPr>
          <a:xfrm>
            <a:off x="462481" y="4151784"/>
            <a:ext cx="3006205" cy="1534476"/>
            <a:chOff x="6088538" y="1952167"/>
            <a:chExt cx="3006205" cy="1534476"/>
          </a:xfrm>
        </p:grpSpPr>
        <p:sp>
          <p:nvSpPr>
            <p:cNvPr id="1236" name="椭圆 27"/>
            <p:cNvSpPr/>
            <p:nvPr/>
          </p:nvSpPr>
          <p:spPr>
            <a:xfrm>
              <a:off x="8261595" y="2585300"/>
              <a:ext cx="288000" cy="288000"/>
            </a:xfrm>
            <a:prstGeom prst="ellipse">
              <a:avLst/>
            </a:prstGeom>
            <a:solidFill>
              <a:srgbClr val="FEB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37" name="椭圆 24"/>
            <p:cNvSpPr/>
            <p:nvPr/>
          </p:nvSpPr>
          <p:spPr>
            <a:xfrm>
              <a:off x="6630030" y="2585300"/>
              <a:ext cx="288000" cy="288000"/>
            </a:xfrm>
            <a:prstGeom prst="ellipse">
              <a:avLst/>
            </a:prstGeom>
            <a:solidFill>
              <a:srgbClr val="FEB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38" name="椭圆 25"/>
            <p:cNvSpPr/>
            <p:nvPr/>
          </p:nvSpPr>
          <p:spPr>
            <a:xfrm>
              <a:off x="7179424" y="2585300"/>
              <a:ext cx="288000" cy="288000"/>
            </a:xfrm>
            <a:prstGeom prst="ellipse">
              <a:avLst/>
            </a:prstGeom>
            <a:solidFill>
              <a:srgbClr val="FEB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39" name="椭圆 1"/>
            <p:cNvSpPr/>
            <p:nvPr/>
          </p:nvSpPr>
          <p:spPr>
            <a:xfrm>
              <a:off x="7723683" y="2585300"/>
              <a:ext cx="288000" cy="288000"/>
            </a:xfrm>
            <a:prstGeom prst="ellipse">
              <a:avLst/>
            </a:prstGeom>
            <a:solidFill>
              <a:srgbClr val="FEB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40" name="椭圆 22"/>
            <p:cNvSpPr/>
            <p:nvPr/>
          </p:nvSpPr>
          <p:spPr>
            <a:xfrm>
              <a:off x="6088538" y="2585300"/>
              <a:ext cx="288000" cy="288000"/>
            </a:xfrm>
            <a:prstGeom prst="ellipse">
              <a:avLst/>
            </a:prstGeom>
            <a:solidFill>
              <a:srgbClr val="FEB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41" name="椭圆 21"/>
            <p:cNvSpPr/>
            <p:nvPr/>
          </p:nvSpPr>
          <p:spPr>
            <a:xfrm>
              <a:off x="7179424" y="3197584"/>
              <a:ext cx="288000" cy="288000"/>
            </a:xfrm>
            <a:prstGeom prst="ellipse">
              <a:avLst/>
            </a:prstGeom>
            <a:solidFill>
              <a:srgbClr val="EB52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42" name="椭圆 20"/>
            <p:cNvSpPr/>
            <p:nvPr/>
          </p:nvSpPr>
          <p:spPr>
            <a:xfrm>
              <a:off x="7177054" y="1952167"/>
              <a:ext cx="288000" cy="288000"/>
            </a:xfrm>
            <a:prstGeom prst="ellipse">
              <a:avLst/>
            </a:prstGeom>
            <a:solidFill>
              <a:srgbClr val="EB52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43" name="椭圆 33"/>
            <p:cNvSpPr/>
            <p:nvPr/>
          </p:nvSpPr>
          <p:spPr>
            <a:xfrm>
              <a:off x="8806743" y="3197584"/>
              <a:ext cx="288000" cy="288000"/>
            </a:xfrm>
            <a:prstGeom prst="ellipse">
              <a:avLst/>
            </a:prstGeom>
            <a:solidFill>
              <a:srgbClr val="FEB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44" name="椭圆 34"/>
            <p:cNvSpPr/>
            <p:nvPr/>
          </p:nvSpPr>
          <p:spPr>
            <a:xfrm>
              <a:off x="6631509" y="3198643"/>
              <a:ext cx="288000" cy="288000"/>
            </a:xfrm>
            <a:prstGeom prst="ellipse">
              <a:avLst/>
            </a:prstGeom>
            <a:solidFill>
              <a:srgbClr val="FEB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45" name="椭圆 35"/>
            <p:cNvSpPr/>
            <p:nvPr/>
          </p:nvSpPr>
          <p:spPr>
            <a:xfrm>
              <a:off x="7724572" y="3197584"/>
              <a:ext cx="288000" cy="288000"/>
            </a:xfrm>
            <a:prstGeom prst="ellipse">
              <a:avLst/>
            </a:prstGeom>
            <a:solidFill>
              <a:srgbClr val="FEB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46" name="椭圆 36"/>
            <p:cNvSpPr/>
            <p:nvPr/>
          </p:nvSpPr>
          <p:spPr>
            <a:xfrm>
              <a:off x="8268831" y="3197584"/>
              <a:ext cx="288000" cy="288000"/>
            </a:xfrm>
            <a:prstGeom prst="ellipse">
              <a:avLst/>
            </a:prstGeom>
            <a:solidFill>
              <a:srgbClr val="FEB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247" name="椭圆 37"/>
            <p:cNvSpPr/>
            <p:nvPr/>
          </p:nvSpPr>
          <p:spPr>
            <a:xfrm>
              <a:off x="6090017" y="3198643"/>
              <a:ext cx="288000" cy="288000"/>
            </a:xfrm>
            <a:prstGeom prst="ellipse">
              <a:avLst/>
            </a:prstGeom>
            <a:solidFill>
              <a:srgbClr val="FEB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 sz="2000"/>
            </a:p>
          </p:txBody>
        </p:sp>
      </p:grpSp>
      <p:cxnSp>
        <p:nvCxnSpPr>
          <p:cNvPr id="1248" name="直接箭头连接符 40"/>
          <p:cNvCxnSpPr/>
          <p:nvPr/>
        </p:nvCxnSpPr>
        <p:spPr>
          <a:xfrm>
            <a:off x="1690525" y="4494010"/>
            <a:ext cx="0" cy="251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9" name="直接箭头连接符 49"/>
          <p:cNvCxnSpPr/>
          <p:nvPr/>
        </p:nvCxnSpPr>
        <p:spPr>
          <a:xfrm>
            <a:off x="1690525" y="5106294"/>
            <a:ext cx="0" cy="251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0" name="表格 20"/>
          <p:cNvGraphicFramePr/>
          <p:nvPr/>
        </p:nvGraphicFramePr>
        <p:xfrm>
          <a:off x="469943" y="4039947"/>
          <a:ext cx="3002109" cy="1738612"/>
        </p:xfrm>
        <a:graphic>
          <a:graphicData uri="http://schemas.openxmlformats.org/drawingml/2006/table">
            <a:tbl>
              <a:tblPr firstRow="true" bandRow="true">
                <a:tableStyleId>{2D5ABB26-0587-4C30-8999-92F81FD0307C}</a:tableStyleId>
              </a:tblPr>
              <a:tblGrid>
                <a:gridCol w="272919">
                  <a:extLst>
                    <a:ext uri="{9D8B030D-6E8A-4147-A177-3AD203B41FA5}">
                      <a16:colId val="1"/>
                    </a:ext>
                  </a:extLst>
                </a:gridCol>
                <a:gridCol w="272919">
                  <a:extLst>
                    <a:ext uri="{9D8B030D-6E8A-4147-A177-3AD203B41FA5}">
                      <a16:colId val="2"/>
                    </a:ext>
                  </a:extLst>
                </a:gridCol>
                <a:gridCol w="272919">
                  <a:extLst>
                    <a:ext uri="{9D8B030D-6E8A-4147-A177-3AD203B41FA5}">
                      <a16:colId val="3"/>
                    </a:ext>
                  </a:extLst>
                </a:gridCol>
                <a:gridCol w="272919">
                  <a:extLst>
                    <a:ext uri="{9D8B030D-6E8A-4147-A177-3AD203B41FA5}">
                      <a16:colId val="4"/>
                    </a:ext>
                  </a:extLst>
                </a:gridCol>
                <a:gridCol w="272919">
                  <a:extLst>
                    <a:ext uri="{9D8B030D-6E8A-4147-A177-3AD203B41FA5}">
                      <a16:colId val="5"/>
                    </a:ext>
                  </a:extLst>
                </a:gridCol>
                <a:gridCol w="272919">
                  <a:extLst>
                    <a:ext uri="{9D8B030D-6E8A-4147-A177-3AD203B41FA5}">
                      <a16:colId val="6"/>
                    </a:ext>
                  </a:extLst>
                </a:gridCol>
                <a:gridCol w="272919">
                  <a:extLst>
                    <a:ext uri="{9D8B030D-6E8A-4147-A177-3AD203B41FA5}">
                      <a16:colId val="7"/>
                    </a:ext>
                  </a:extLst>
                </a:gridCol>
                <a:gridCol w="272919">
                  <a:extLst>
                    <a:ext uri="{9D8B030D-6E8A-4147-A177-3AD203B41FA5}">
                      <a16:colId val="8"/>
                    </a:ext>
                  </a:extLst>
                </a:gridCol>
                <a:gridCol w="272919">
                  <a:extLst>
                    <a:ext uri="{9D8B030D-6E8A-4147-A177-3AD203B41FA5}">
                      <a16:colId val="9"/>
                    </a:ext>
                  </a:extLst>
                </a:gridCol>
                <a:gridCol w="272919">
                  <a:extLst>
                    <a:ext uri="{9D8B030D-6E8A-4147-A177-3AD203B41FA5}">
                      <a16:colId val="10"/>
                    </a:ext>
                  </a:extLst>
                </a:gridCol>
                <a:gridCol w="272919">
                  <a:extLst>
                    <a:ext uri="{9D8B030D-6E8A-4147-A177-3AD203B41FA5}">
                      <a16:colId val="11"/>
                    </a:ext>
                  </a:extLst>
                </a:gridCol>
              </a:tblGrid>
              <a:tr h="491558"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false">
                          <a:solidFill>
                            <a:schemeClr val="bg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x</a:t>
                      </a:r>
                      <a:endParaRPr lang="zh-CN" altLang="en-US" sz="1800" b="false">
                        <a:solidFill>
                          <a:schemeClr val="bg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val="1"/>
                  </a:ext>
                </a:extLst>
              </a:tr>
              <a:tr h="75549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fals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</a:t>
                      </a:r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fals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b</a:t>
                      </a:r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fals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</a:t>
                      </a:r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fals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</a:t>
                      </a:r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fals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e</a:t>
                      </a:r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val="2"/>
                  </a:ext>
                </a:extLst>
              </a:tr>
              <a:tr h="4915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fals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</a:t>
                      </a:r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fals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b</a:t>
                      </a:r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false">
                          <a:solidFill>
                            <a:schemeClr val="bg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x</a:t>
                      </a:r>
                      <a:endParaRPr lang="zh-CN" altLang="en-US" sz="1800" b="false">
                        <a:solidFill>
                          <a:schemeClr val="bg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fals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</a:t>
                      </a:r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fals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</a:t>
                      </a:r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fals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e</a:t>
                      </a:r>
                      <a:endParaRPr lang="zh-CN" altLang="en-US" sz="1800" b="fals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val="3"/>
                  </a:ext>
                </a:extLst>
              </a:tr>
            </a:tbl>
          </a:graphicData>
        </a:graphic>
      </p:graphicFrame>
      <p:sp>
        <p:nvSpPr>
          <p:cNvPr id="1251" name="文本框 51"/>
          <p:cNvSpPr txBox="true"/>
          <p:nvPr/>
        </p:nvSpPr>
        <p:spPr>
          <a:xfrm>
            <a:off x="3507619" y="4175556"/>
            <a:ext cx="3244645" cy="1791837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数据访问效率高，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O(1)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true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</a:rPr>
              <a:t>插入，删除数据效率低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O(n)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25000"/>
              </a:lnSpc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（需从头至尾遍历）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25000"/>
              </a:lnSpc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静态数据结构（长度不能在运行时改变，不能按需定义）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252" name="表格 54"/>
          <p:cNvGraphicFramePr/>
          <p:nvPr/>
        </p:nvGraphicFramePr>
        <p:xfrm>
          <a:off x="6688527" y="2463153"/>
          <a:ext cx="4680000" cy="1080000"/>
        </p:xfrm>
        <a:graphic>
          <a:graphicData uri="http://schemas.openxmlformats.org/drawingml/2006/table">
            <a:tbl>
              <a:tblPr firstRow="true" bandRow="true">
                <a:tableStyleId>{2D5ABB26-0587-4C30-8999-92F81FD0307C}</a:tableStyleId>
              </a:tblPr>
              <a:tblGrid>
                <a:gridCol w="1440000">
                  <a:extLst>
                    <a:ext uri="{9D8B030D-6E8A-4147-A177-3AD203B41FA5}">
                      <a16:colId val="1"/>
                    </a:ext>
                  </a:extLst>
                </a:gridCol>
                <a:gridCol w="360000">
                  <a:extLst>
                    <a:ext uri="{9D8B030D-6E8A-4147-A177-3AD203B41FA5}">
                      <a16:colId val="2"/>
                    </a:ext>
                  </a:extLst>
                </a:gridCol>
                <a:gridCol w="360000">
                  <a:extLst>
                    <a:ext uri="{9D8B030D-6E8A-4147-A177-3AD203B41FA5}">
                      <a16:colId val="3"/>
                    </a:ext>
                  </a:extLst>
                </a:gridCol>
                <a:gridCol w="360000">
                  <a:extLst>
                    <a:ext uri="{9D8B030D-6E8A-4147-A177-3AD203B41FA5}">
                      <a16:colId val="4"/>
                    </a:ext>
                  </a:extLst>
                </a:gridCol>
                <a:gridCol w="360000">
                  <a:extLst>
                    <a:ext uri="{9D8B030D-6E8A-4147-A177-3AD203B41FA5}">
                      <a16:colId val="5"/>
                    </a:ext>
                  </a:extLst>
                </a:gridCol>
                <a:gridCol w="360000">
                  <a:extLst>
                    <a:ext uri="{9D8B030D-6E8A-4147-A177-3AD203B41FA5}">
                      <a16:colId val="6"/>
                    </a:ext>
                  </a:extLst>
                </a:gridCol>
                <a:gridCol w="360000">
                  <a:extLst>
                    <a:ext uri="{9D8B030D-6E8A-4147-A177-3AD203B41FA5}">
                      <a16:colId val="7"/>
                    </a:ext>
                  </a:extLst>
                </a:gridCol>
                <a:gridCol w="360000">
                  <a:extLst>
                    <a:ext uri="{9D8B030D-6E8A-4147-A177-3AD203B41FA5}">
                      <a16:colId val="8"/>
                    </a:ext>
                  </a:extLst>
                </a:gridCol>
                <a:gridCol w="360000">
                  <a:extLst>
                    <a:ext uri="{9D8B030D-6E8A-4147-A177-3AD203B41FA5}">
                      <a16:colId val="9"/>
                    </a:ext>
                  </a:extLst>
                </a:gridCol>
                <a:gridCol w="360000">
                  <a:extLst>
                    <a:ext uri="{9D8B030D-6E8A-4147-A177-3AD203B41FA5}">
                      <a16:colId val="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插入</a:t>
                      </a:r>
                      <a:r>
                        <a:rPr lang="en-US" altLang="zh-CN" sz="1600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lang="zh-CN" altLang="en-US" sz="1600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节点</a:t>
                      </a:r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a</a:t>
                      </a:r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C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b</a:t>
                      </a:r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C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c</a:t>
                      </a:r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C1A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删除</a:t>
                      </a:r>
                      <a:r>
                        <a:rPr lang="en-US" altLang="zh-CN" sz="1600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b</a:t>
                      </a:r>
                      <a:r>
                        <a:rPr lang="zh-CN" altLang="en-US" sz="1600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节点</a:t>
                      </a:r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a</a:t>
                      </a:r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C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b</a:t>
                      </a:r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C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ea typeface="华文中宋" panose="02010600040101010101" charset="-122"/>
                          <a:cs typeface="Times New Roman" panose="02020503050405090304" pitchFamily="18" charset="0"/>
                        </a:rPr>
                        <a:t>c</a:t>
                      </a:r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ea typeface="华文中宋" panose="02010600040101010101" charset="-122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C1A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</a:tbl>
          </a:graphicData>
        </a:graphic>
      </p:graphicFrame>
      <p:graphicFrame>
        <p:nvGraphicFramePr>
          <p:cNvPr id="1253" name="表格 55"/>
          <p:cNvGraphicFramePr/>
          <p:nvPr/>
        </p:nvGraphicFramePr>
        <p:xfrm>
          <a:off x="10119403" y="1722353"/>
          <a:ext cx="720000" cy="360000"/>
        </p:xfrm>
        <a:graphic>
          <a:graphicData uri="http://schemas.openxmlformats.org/drawingml/2006/table">
            <a:tbl>
              <a:tblPr firstRow="true" bandRow="true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val="1"/>
                    </a:ext>
                  </a:extLst>
                </a:gridCol>
                <a:gridCol w="360000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x</a:t>
                      </a:r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C1A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grpSp>
        <p:nvGrpSpPr>
          <p:cNvPr id="1254" name="组合 99"/>
          <p:cNvGrpSpPr/>
          <p:nvPr/>
        </p:nvGrpSpPr>
        <p:grpSpPr>
          <a:xfrm>
            <a:off x="8037915" y="1900898"/>
            <a:ext cx="3582606" cy="1610977"/>
            <a:chOff x="7111093" y="4094848"/>
            <a:chExt cx="3582606" cy="1610977"/>
          </a:xfrm>
        </p:grpSpPr>
        <p:cxnSp>
          <p:nvCxnSpPr>
            <p:cNvPr id="1255" name="直接箭头连接符 56"/>
            <p:cNvCxnSpPr/>
            <p:nvPr/>
          </p:nvCxnSpPr>
          <p:spPr>
            <a:xfrm>
              <a:off x="8110643" y="4839034"/>
              <a:ext cx="50241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6" name="直接箭头连接符 58"/>
            <p:cNvCxnSpPr/>
            <p:nvPr/>
          </p:nvCxnSpPr>
          <p:spPr>
            <a:xfrm>
              <a:off x="8110643" y="5551872"/>
              <a:ext cx="50241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7" name="直接箭头连接符 59"/>
            <p:cNvCxnSpPr/>
            <p:nvPr/>
          </p:nvCxnSpPr>
          <p:spPr>
            <a:xfrm>
              <a:off x="9192581" y="4839034"/>
              <a:ext cx="50241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8" name="直接箭头连接符 60"/>
            <p:cNvCxnSpPr/>
            <p:nvPr/>
          </p:nvCxnSpPr>
          <p:spPr>
            <a:xfrm>
              <a:off x="9192581" y="5558351"/>
              <a:ext cx="50241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9" name="直接箭头连接符 61"/>
            <p:cNvCxnSpPr/>
            <p:nvPr/>
          </p:nvCxnSpPr>
          <p:spPr>
            <a:xfrm>
              <a:off x="7111093" y="4839034"/>
              <a:ext cx="42533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0" name="直接箭头连接符 63"/>
            <p:cNvCxnSpPr/>
            <p:nvPr/>
          </p:nvCxnSpPr>
          <p:spPr>
            <a:xfrm>
              <a:off x="7111093" y="5558350"/>
              <a:ext cx="42533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1" name="直接箭头连接符 64"/>
            <p:cNvCxnSpPr/>
            <p:nvPr/>
          </p:nvCxnSpPr>
          <p:spPr>
            <a:xfrm>
              <a:off x="10268367" y="4839034"/>
              <a:ext cx="42533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2" name="直接箭头连接符 65"/>
            <p:cNvCxnSpPr/>
            <p:nvPr/>
          </p:nvCxnSpPr>
          <p:spPr>
            <a:xfrm>
              <a:off x="10262179" y="5558350"/>
              <a:ext cx="42533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3" name="直接箭头连接符 66"/>
            <p:cNvCxnSpPr/>
            <p:nvPr/>
          </p:nvCxnSpPr>
          <p:spPr>
            <a:xfrm flipV="true">
              <a:off x="9182749" y="4295968"/>
              <a:ext cx="138232" cy="46160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4" name="直接箭头连接符 69"/>
            <p:cNvCxnSpPr/>
            <p:nvPr/>
          </p:nvCxnSpPr>
          <p:spPr>
            <a:xfrm>
              <a:off x="9737332" y="4094848"/>
              <a:ext cx="185081" cy="55242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265" name="组合 77"/>
            <p:cNvGrpSpPr/>
            <p:nvPr/>
          </p:nvGrpSpPr>
          <p:grpSpPr>
            <a:xfrm>
              <a:off x="8315540" y="5414231"/>
              <a:ext cx="214099" cy="275282"/>
              <a:chOff x="5858913" y="4091503"/>
              <a:chExt cx="143990" cy="121753"/>
            </a:xfrm>
          </p:grpSpPr>
          <p:cxnSp>
            <p:nvCxnSpPr>
              <p:cNvPr id="1266" name="直接连接符 74"/>
              <p:cNvCxnSpPr/>
              <p:nvPr/>
            </p:nvCxnSpPr>
            <p:spPr>
              <a:xfrm>
                <a:off x="5858913" y="4094848"/>
                <a:ext cx="143990" cy="10970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7" name="直接连接符 75"/>
              <p:cNvCxnSpPr/>
              <p:nvPr/>
            </p:nvCxnSpPr>
            <p:spPr>
              <a:xfrm flipV="true">
                <a:off x="5858913" y="4091503"/>
                <a:ext cx="128411" cy="12175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8" name="组合 82"/>
            <p:cNvGrpSpPr/>
            <p:nvPr/>
          </p:nvGrpSpPr>
          <p:grpSpPr>
            <a:xfrm>
              <a:off x="9424123" y="5430543"/>
              <a:ext cx="214099" cy="275282"/>
              <a:chOff x="5858913" y="4091503"/>
              <a:chExt cx="143990" cy="121753"/>
            </a:xfrm>
          </p:grpSpPr>
          <p:cxnSp>
            <p:nvCxnSpPr>
              <p:cNvPr id="1269" name="直接连接符 83"/>
              <p:cNvCxnSpPr/>
              <p:nvPr/>
            </p:nvCxnSpPr>
            <p:spPr>
              <a:xfrm>
                <a:off x="5858913" y="4094848"/>
                <a:ext cx="143990" cy="10970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0" name="直接连接符 84"/>
              <p:cNvCxnSpPr/>
              <p:nvPr/>
            </p:nvCxnSpPr>
            <p:spPr>
              <a:xfrm flipV="true">
                <a:off x="5858913" y="4091503"/>
                <a:ext cx="128411" cy="12175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71" name="组合 85"/>
            <p:cNvGrpSpPr/>
            <p:nvPr/>
          </p:nvGrpSpPr>
          <p:grpSpPr>
            <a:xfrm>
              <a:off x="9422107" y="4698952"/>
              <a:ext cx="214099" cy="275282"/>
              <a:chOff x="5858913" y="4091503"/>
              <a:chExt cx="143990" cy="121753"/>
            </a:xfrm>
          </p:grpSpPr>
          <p:cxnSp>
            <p:nvCxnSpPr>
              <p:cNvPr id="1272" name="直接连接符 86"/>
              <p:cNvCxnSpPr/>
              <p:nvPr/>
            </p:nvCxnSpPr>
            <p:spPr>
              <a:xfrm>
                <a:off x="5858913" y="4094848"/>
                <a:ext cx="143990" cy="10970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3" name="直接连接符 87"/>
              <p:cNvCxnSpPr/>
              <p:nvPr/>
            </p:nvCxnSpPr>
            <p:spPr>
              <a:xfrm flipV="true">
                <a:off x="5858913" y="4091503"/>
                <a:ext cx="128411" cy="12175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74" name="直接连接符 89"/>
            <p:cNvCxnSpPr/>
            <p:nvPr/>
          </p:nvCxnSpPr>
          <p:spPr>
            <a:xfrm>
              <a:off x="8101705" y="5206935"/>
              <a:ext cx="18108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直接连接符 91"/>
            <p:cNvCxnSpPr/>
            <p:nvPr/>
          </p:nvCxnSpPr>
          <p:spPr>
            <a:xfrm>
              <a:off x="8101705" y="5197102"/>
              <a:ext cx="0" cy="288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6" name="直接连接符 93"/>
            <p:cNvCxnSpPr/>
            <p:nvPr/>
          </p:nvCxnSpPr>
          <p:spPr>
            <a:xfrm>
              <a:off x="9912581" y="5197103"/>
              <a:ext cx="0" cy="181133"/>
            </a:xfrm>
            <a:prstGeom prst="line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7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4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Rectangle 2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ctr" anchorCtr="false"/>
          <a:lstStyle/>
          <a:p>
            <a:pPr/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问题</a:t>
            </a:r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3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：链表应该怎么定义？</a:t>
            </a:r>
            <a:endParaRPr lang="zh-CN" altLang="en-US" kern="1200" dirty="false"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graphicFrame>
        <p:nvGraphicFramePr>
          <p:cNvPr id="1421" name="表格 5"/>
          <p:cNvGraphicFramePr/>
          <p:nvPr/>
        </p:nvGraphicFramePr>
        <p:xfrm>
          <a:off x="2336429" y="1839189"/>
          <a:ext cx="8100274" cy="567141"/>
        </p:xfrm>
        <a:graphic>
          <a:graphicData uri="http://schemas.openxmlformats.org/drawingml/2006/table">
            <a:tbl>
              <a:tblPr firstRow="true" bandRow="true">
                <a:tableStyleId>{2D5ABB26-0587-4C30-8999-92F81FD0307C}</a:tableStyleId>
              </a:tblPr>
              <a:tblGrid>
                <a:gridCol w="623098">
                  <a:extLst>
                    <a:ext uri="{9D8B030D-6E8A-4147-A177-3AD203B41FA5}">
                      <a16:colId val="1"/>
                    </a:ext>
                  </a:extLst>
                </a:gridCol>
                <a:gridCol w="623098">
                  <a:extLst>
                    <a:ext uri="{9D8B030D-6E8A-4147-A177-3AD203B41FA5}">
                      <a16:colId val="2"/>
                    </a:ext>
                  </a:extLst>
                </a:gridCol>
                <a:gridCol w="623098">
                  <a:extLst>
                    <a:ext uri="{9D8B030D-6E8A-4147-A177-3AD203B41FA5}">
                      <a16:colId val="3"/>
                    </a:ext>
                  </a:extLst>
                </a:gridCol>
                <a:gridCol w="623098">
                  <a:extLst>
                    <a:ext uri="{9D8B030D-6E8A-4147-A177-3AD203B41FA5}">
                      <a16:colId val="4"/>
                    </a:ext>
                  </a:extLst>
                </a:gridCol>
                <a:gridCol w="623098">
                  <a:extLst>
                    <a:ext uri="{9D8B030D-6E8A-4147-A177-3AD203B41FA5}">
                      <a16:colId val="5"/>
                    </a:ext>
                  </a:extLst>
                </a:gridCol>
                <a:gridCol w="623098">
                  <a:extLst>
                    <a:ext uri="{9D8B030D-6E8A-4147-A177-3AD203B41FA5}">
                      <a16:colId val="6"/>
                    </a:ext>
                  </a:extLst>
                </a:gridCol>
                <a:gridCol w="623098">
                  <a:extLst>
                    <a:ext uri="{9D8B030D-6E8A-4147-A177-3AD203B41FA5}">
                      <a16:colId val="7"/>
                    </a:ext>
                  </a:extLst>
                </a:gridCol>
                <a:gridCol w="623098">
                  <a:extLst>
                    <a:ext uri="{9D8B030D-6E8A-4147-A177-3AD203B41FA5}">
                      <a16:colId val="8"/>
                    </a:ext>
                  </a:extLst>
                </a:gridCol>
                <a:gridCol w="623098">
                  <a:extLst>
                    <a:ext uri="{9D8B030D-6E8A-4147-A177-3AD203B41FA5}">
                      <a16:colId val="9"/>
                    </a:ext>
                  </a:extLst>
                </a:gridCol>
                <a:gridCol w="623098">
                  <a:extLst>
                    <a:ext uri="{9D8B030D-6E8A-4147-A177-3AD203B41FA5}">
                      <a16:colId val="10"/>
                    </a:ext>
                  </a:extLst>
                </a:gridCol>
                <a:gridCol w="623098">
                  <a:extLst>
                    <a:ext uri="{9D8B030D-6E8A-4147-A177-3AD203B41FA5}">
                      <a16:colId val="11"/>
                    </a:ext>
                  </a:extLst>
                </a:gridCol>
                <a:gridCol w="459618">
                  <a:extLst>
                    <a:ext uri="{9D8B030D-6E8A-4147-A177-3AD203B41FA5}">
                      <a16:colId val="12"/>
                    </a:ext>
                  </a:extLst>
                </a:gridCol>
                <a:gridCol w="786578">
                  <a:extLst>
                    <a:ext uri="{9D8B030D-6E8A-4147-A177-3AD203B41FA5}">
                      <a16:colId val="13"/>
                    </a:ext>
                  </a:extLst>
                </a:gridCol>
              </a:tblGrid>
              <a:tr h="567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data</a:t>
                      </a:r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next</a:t>
                      </a:r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D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data</a:t>
                      </a:r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next</a:t>
                      </a:r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D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data</a:t>
                      </a:r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next</a:t>
                      </a:r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D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data</a:t>
                      </a:r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next</a:t>
                      </a:r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AD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true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NULL</a:t>
                      </a:r>
                      <a:endParaRPr lang="zh-CN" altLang="en-US" sz="1600" b="true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grpSp>
        <p:nvGrpSpPr>
          <p:cNvPr id="1422" name="组合 26"/>
          <p:cNvGrpSpPr/>
          <p:nvPr/>
        </p:nvGrpSpPr>
        <p:grpSpPr>
          <a:xfrm>
            <a:off x="1815319" y="2119540"/>
            <a:ext cx="7897723" cy="19664"/>
            <a:chOff x="1893977" y="3583299"/>
            <a:chExt cx="7897723" cy="19664"/>
          </a:xfrm>
        </p:grpSpPr>
        <p:cxnSp>
          <p:nvCxnSpPr>
            <p:cNvPr id="1423" name="直接箭头连接符 16"/>
            <p:cNvCxnSpPr/>
            <p:nvPr/>
          </p:nvCxnSpPr>
          <p:spPr>
            <a:xfrm>
              <a:off x="1893977" y="3583299"/>
              <a:ext cx="52111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4" name="直接箭头连接符 17"/>
            <p:cNvCxnSpPr/>
            <p:nvPr/>
          </p:nvCxnSpPr>
          <p:spPr>
            <a:xfrm>
              <a:off x="3631362" y="3586518"/>
              <a:ext cx="65550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5" name="直接箭头连接符 23"/>
            <p:cNvCxnSpPr/>
            <p:nvPr/>
          </p:nvCxnSpPr>
          <p:spPr>
            <a:xfrm>
              <a:off x="5499489" y="3593131"/>
              <a:ext cx="65550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直接箭头连接符 24"/>
            <p:cNvCxnSpPr/>
            <p:nvPr/>
          </p:nvCxnSpPr>
          <p:spPr>
            <a:xfrm>
              <a:off x="7372536" y="3602963"/>
              <a:ext cx="65550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7" name="直接箭头连接符 25"/>
            <p:cNvCxnSpPr/>
            <p:nvPr/>
          </p:nvCxnSpPr>
          <p:spPr>
            <a:xfrm>
              <a:off x="9233356" y="3593131"/>
              <a:ext cx="55834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28" name="table 706"/>
          <p:cNvGraphicFramePr/>
          <p:nvPr/>
        </p:nvGraphicFramePr>
        <p:xfrm>
          <a:off x="1226126" y="3088557"/>
          <a:ext cx="4009754" cy="1938992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4009754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938992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struct link</a:t>
                      </a:r>
                      <a:b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</a:b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{</a:t>
                      </a:r>
                      <a:endParaRPr lang="en-US" altLang="zh-CN" sz="2400" b="true">
                        <a:solidFill>
                          <a:srgbClr val="000000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    </a:t>
                      </a:r>
                      <a:r>
                        <a:rPr lang="en-US" altLang="zh-CN" sz="2400" b="true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int</a:t>
                      </a: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data;</a:t>
                      </a:r>
                      <a:endParaRPr lang="en-US" altLang="zh-CN" sz="2400" b="true">
                        <a:solidFill>
                          <a:srgbClr val="000000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    </a:t>
                      </a:r>
                      <a:r>
                        <a:rPr lang="en-US" altLang="zh-CN" sz="2400" b="true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struct link </a:t>
                      </a:r>
                      <a:r>
                        <a:rPr lang="en-US" altLang="zh-CN" sz="2400" b="true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next</a:t>
                      </a: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;</a:t>
                      </a:r>
                      <a:b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</a:b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}; </a:t>
                      </a:r>
                      <a:endParaRPr lang="en-US" altLang="zh-CN" sz="2400" b="true">
                        <a:solidFill>
                          <a:srgbClr val="C00000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graphicFrame>
        <p:nvGraphicFramePr>
          <p:cNvPr id="1429" name="table 706"/>
          <p:cNvGraphicFramePr/>
          <p:nvPr/>
        </p:nvGraphicFramePr>
        <p:xfrm>
          <a:off x="6698884" y="3088557"/>
          <a:ext cx="4009754" cy="1938992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4009754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938992">
                <a:tc>
                  <a:txBody>
                    <a:bodyPr/>
                    <a:lstStyle/>
                    <a:p>
                      <a:pPr marL="71755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struct link</a:t>
                      </a:r>
                      <a:endParaRPr lang="en-US" altLang="zh-CN" sz="2400" b="true">
                        <a:solidFill>
                          <a:srgbClr val="C00000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 marL="71755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{</a:t>
                      </a:r>
                      <a:endParaRPr lang="en-US" altLang="zh-CN" sz="2400" b="true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 marL="71755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   </a:t>
                      </a:r>
                      <a:r>
                        <a:rPr lang="en-US" altLang="zh-CN" sz="2400" b="true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int data;</a:t>
                      </a:r>
                      <a:endParaRPr lang="en-US" altLang="zh-CN" sz="2400" b="true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 marL="71755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   struct link *</a:t>
                      </a:r>
                      <a:r>
                        <a:rPr lang="en-US" altLang="zh-CN" sz="2400" b="true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next</a:t>
                      </a:r>
                      <a:r>
                        <a:rPr lang="en-US" altLang="zh-CN" sz="2400" b="true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;</a:t>
                      </a:r>
                      <a:endParaRPr lang="en-US" altLang="zh-CN" sz="2400" b="true">
                        <a:solidFill>
                          <a:srgbClr val="C00000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 marL="71755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}</a:t>
                      </a:r>
                      <a:r>
                        <a:rPr lang="en-US" altLang="zh-CN" sz="2400" b="true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;  </a:t>
                      </a:r>
                      <a:endParaRPr lang="zh-CN" altLang="en-US" sz="2400" b="true">
                        <a:solidFill>
                          <a:srgbClr val="C00000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430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5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Rectangle 3"/>
          <p:cNvSpPr>
            <a:spLocks noGrp="true"/>
          </p:cNvSpPr>
          <p:nvPr>
            <p:ph idx="1"/>
          </p:nvPr>
        </p:nvSpPr>
        <p:spPr>
          <a:xfrm>
            <a:off x="191135" y="763270"/>
            <a:ext cx="5155565" cy="560705"/>
          </a:xfrm>
        </p:spPr>
        <p:txBody>
          <a:bodyPr vert="horz" wrap="square" lIns="91440" tIns="45720" rIns="91440" bIns="45720" anchor="t" anchorCtr="false"/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Arial" panose="020B0604020202090204" pitchFamily="34" charset="0"/>
                <a:ea typeface="黑体" panose="02010609060101010101" pitchFamily="49" charset="-122"/>
                <a:cs typeface="+mn-cs"/>
              </a:rPr>
              <a:t>下面的结构是什么意思呢？</a:t>
            </a:r>
            <a:endParaRPr lang="zh-CN" altLang="en-US" dirty="false"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ea typeface="仿宋_GB2312" pitchFamily="49" charset="-122"/>
            </a:endParaRPr>
          </a:p>
        </p:txBody>
      </p:sp>
      <p:pic>
        <p:nvPicPr>
          <p:cNvPr id="1590" name="图片 2"/>
          <p:cNvPicPr>
            <a:picLocks noChangeAspect="true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36089" y="4681538"/>
            <a:ext cx="1266825" cy="15557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591" name="table 706"/>
          <p:cNvGraphicFramePr/>
          <p:nvPr/>
        </p:nvGraphicFramePr>
        <p:xfrm>
          <a:off x="896620" y="1517015"/>
          <a:ext cx="3533140" cy="173101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3314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73101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592" name="Rectangle 5"/>
          <p:cNvSpPr>
            <a:spLocks noChangeArrowheads="true"/>
          </p:cNvSpPr>
          <p:nvPr/>
        </p:nvSpPr>
        <p:spPr bwMode="auto">
          <a:xfrm>
            <a:off x="1566545" y="2318385"/>
            <a:ext cx="2668905" cy="39052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>
              <a:ea typeface="+mn-ea"/>
            </a:endParaRPr>
          </a:p>
        </p:txBody>
      </p:sp>
      <p:grpSp>
        <p:nvGrpSpPr>
          <p:cNvPr id="1593" name="Group 6"/>
          <p:cNvGrpSpPr/>
          <p:nvPr/>
        </p:nvGrpSpPr>
        <p:grpSpPr>
          <a:xfrm>
            <a:off x="4430508" y="1601949"/>
            <a:ext cx="6252059" cy="1495425"/>
            <a:chOff x="1981" y="941"/>
            <a:chExt cx="3953" cy="942"/>
          </a:xfrm>
        </p:grpSpPr>
        <p:sp>
          <p:nvSpPr>
            <p:cNvPr id="1594" name="Line 7"/>
            <p:cNvSpPr>
              <a:spLocks noChangeShapeType="true"/>
            </p:cNvSpPr>
            <p:nvPr/>
          </p:nvSpPr>
          <p:spPr bwMode="auto">
            <a:xfrm flipH="true" flipV="true">
              <a:off x="1981" y="1449"/>
              <a:ext cx="1536" cy="0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miter lim="800000"/>
              <a:tailEnd type="triangle" w="med" len="med"/>
            </a:ln>
            <a:extLst>
              <a:ext uri="{909E8E84-426E-40DD-AFC4-6F175D3DCCD1}"/>
            </a:extLst>
          </p:spPr>
          <p:txBody>
            <a:bodyPr wrap="none"/>
            <a:lstStyle/>
            <a:p>
              <a:pPr/>
              <a:endParaRPr lang="zh-CN" altLang="en-US"/>
            </a:p>
          </p:txBody>
        </p:sp>
        <p:sp>
          <p:nvSpPr>
            <p:cNvPr id="1595" name="Text Box 8"/>
            <p:cNvSpPr txBox="true">
              <a:spLocks noChangeArrowheads="true"/>
            </p:cNvSpPr>
            <p:nvPr/>
          </p:nvSpPr>
          <p:spPr bwMode="auto">
            <a:xfrm>
              <a:off x="3517" y="941"/>
              <a:ext cx="2417" cy="942"/>
            </a:xfrm>
            <a:prstGeom prst="rect">
              <a:avLst/>
            </a:prstGeom>
            <a:solidFill>
              <a:srgbClr val="D3F3EB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ct val="1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4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结构体声明时不能包含本结构体类型的成员</a:t>
              </a:r>
              <a:endParaRPr lang="en-US" altLang="zh-CN" sz="24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eaLnBrk="true" hangingPunct="true">
                <a:lnSpc>
                  <a:spcPct val="90000"/>
                </a:lnSpc>
                <a:spcBef>
                  <a:spcPct val="1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4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系统无法预知这样的结构体需要占据多少内存</a:t>
              </a:r>
              <a:r>
                <a:rPr lang="zh-CN" alt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 sz="2400" b="true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endParaRPr lang="en-US" altLang="zh-CN" sz="2400" b="true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</p:grpSp>
      <p:sp>
        <p:nvSpPr>
          <p:cNvPr id="1596" name="Rectangle 3"/>
          <p:cNvSpPr>
            <a:spLocks noGrp="true"/>
          </p:cNvSpPr>
          <p:nvPr/>
        </p:nvSpPr>
        <p:spPr>
          <a:xfrm>
            <a:off x="263525" y="3441065"/>
            <a:ext cx="7219315" cy="2028825"/>
          </a:xfrm>
          <a:prstGeom prst="rect">
            <a:avLst/>
          </a:prstGeom>
        </p:spPr>
        <p:txBody>
          <a:bodyPr vert="horz" wrap="square" lIns="91440" tIns="45720" rIns="91440" bIns="45720" rtlCol="false" anchor="t" anchorCtr="false">
            <a:normAutofit/>
          </a:bodyPr>
          <a:lstStyle>
            <a:lvl1pPr marL="228600" indent="-22860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CB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下的错误提示：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>
              <a:buSzPct val="50000"/>
              <a:buFont typeface="Wingdings" panose="05000000000000000000" pitchFamily="2" charset="2"/>
              <a:buChar char="n"/>
            </a:pPr>
            <a:r>
              <a:rPr lang="en-US" altLang="zh-CN" sz="2800" b="true">
                <a:solidFill>
                  <a:srgbClr val="0000C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field 'next' has incomplete type</a:t>
            </a:r>
            <a:endParaRPr lang="en-US" altLang="zh-CN" sz="2800" b="true">
              <a:solidFill>
                <a:srgbClr val="0000C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VC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下的错误提示：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>
              <a:buSzPct val="50000"/>
              <a:buFont typeface="Wingdings" panose="05000000000000000000" pitchFamily="2" charset="2"/>
              <a:buChar char="n"/>
            </a:pPr>
            <a:r>
              <a:rPr lang="en-US" altLang="zh-CN" sz="2800" b="true">
                <a:solidFill>
                  <a:srgbClr val="0000C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field 'next' has incomplete type</a:t>
            </a:r>
            <a:endParaRPr lang="en-US" altLang="zh-CN" sz="2800" b="true">
              <a:solidFill>
                <a:srgbClr val="0000C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lvl="1">
              <a:buSzPct val="50000"/>
              <a:buFont typeface="Wingdings" panose="05000000000000000000" pitchFamily="2" charset="2"/>
              <a:buChar char="n"/>
            </a:pPr>
            <a:endParaRPr lang="en-US" altLang="zh-CN" sz="2800" b="true">
              <a:solidFill>
                <a:srgbClr val="0000C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marL="457200" lvl="1" indent="0">
              <a:buSzPct val="50000"/>
              <a:buFont typeface="Wingdings" panose="05000000000000000000" pitchFamily="2" charset="2"/>
              <a:buNone/>
            </a:pPr>
            <a:endParaRPr lang="zh-CN" altLang="en-US" sz="2800" dirty="false"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sz="2800" dirty="false">
              <a:ea typeface="仿宋_GB2312" pitchFamily="49" charset="-122"/>
            </a:endParaRPr>
          </a:p>
        </p:txBody>
      </p:sp>
      <p:sp>
        <p:nvSpPr>
          <p:cNvPr id="1597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/>
                                        <p:tgtEl>
                                          <p:spTgt spid="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/>
                                        <p:tgtEl>
                                          <p:spTgt spid="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/>
                                        <p:tgtEl>
                                          <p:spTgt spid="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/>
                                        <p:tgtEl>
                                          <p:spTgt spid="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500" fill="hold"/>
                                        <p:tgtEl>
                                          <p:spTgt spid="1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500" fill="hold"/>
                                        <p:tgtEl>
                                          <p:spTgt spid="1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1" dur="500"/>
                                        <p:tgtEl>
                                          <p:spTgt spid="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id="8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4" dur="500"/>
                                        <p:tgtEl>
                                          <p:spTgt spid="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5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Rectangle 3"/>
          <p:cNvSpPr>
            <a:spLocks noGrp="true"/>
          </p:cNvSpPr>
          <p:nvPr>
            <p:ph idx="1"/>
          </p:nvPr>
        </p:nvSpPr>
        <p:spPr>
          <a:xfrm>
            <a:off x="191135" y="763270"/>
            <a:ext cx="5155565" cy="560705"/>
          </a:xfrm>
        </p:spPr>
        <p:txBody>
          <a:bodyPr vert="horz" wrap="square" lIns="91440" tIns="45720" rIns="91440" bIns="45720" anchor="t" anchorCtr="false"/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Arial" panose="020B0604020202090204" pitchFamily="34" charset="0"/>
                <a:ea typeface="黑体" panose="02010609060101010101" pitchFamily="49" charset="-122"/>
                <a:cs typeface="+mn-cs"/>
              </a:rPr>
              <a:t>下面的结构是什么意思呢？</a:t>
            </a:r>
            <a:endParaRPr lang="zh-CN" altLang="en-US" dirty="false"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ea typeface="仿宋_GB2312" pitchFamily="49" charset="-122"/>
            </a:endParaRPr>
          </a:p>
        </p:txBody>
      </p:sp>
      <p:pic>
        <p:nvPicPr>
          <p:cNvPr id="1600" name="图片 2"/>
          <p:cNvPicPr>
            <a:picLocks noChangeAspect="true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36089" y="4681538"/>
            <a:ext cx="1266825" cy="1555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01" name="Rectangle 3"/>
          <p:cNvSpPr>
            <a:spLocks noGrp="true"/>
          </p:cNvSpPr>
          <p:nvPr/>
        </p:nvSpPr>
        <p:spPr>
          <a:xfrm>
            <a:off x="318135" y="3493135"/>
            <a:ext cx="4451350" cy="560705"/>
          </a:xfrm>
          <a:prstGeom prst="rect">
            <a:avLst/>
          </a:prstGeom>
        </p:spPr>
        <p:txBody>
          <a:bodyPr vert="horz" wrap="square" lIns="91440" tIns="45720" rIns="91440" bIns="45720" rtlCol="false" anchor="t" anchorCtr="false">
            <a:normAutofit/>
          </a:bodyPr>
          <a:lstStyle>
            <a:lvl1pPr marL="228600" indent="-22860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Arial" panose="020B0604020202090204" pitchFamily="34" charset="0"/>
                <a:ea typeface="黑体" panose="02010609060101010101" pitchFamily="49" charset="-122"/>
                <a:cs typeface="+mn-cs"/>
              </a:rPr>
              <a:t>下面的结构是什么意思呢？</a:t>
            </a:r>
            <a:endParaRPr lang="zh-CN" altLang="en-US" dirty="false"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ea typeface="仿宋_GB2312" pitchFamily="49" charset="-122"/>
            </a:endParaRPr>
          </a:p>
        </p:txBody>
      </p:sp>
      <p:graphicFrame>
        <p:nvGraphicFramePr>
          <p:cNvPr id="1602" name="table 706"/>
          <p:cNvGraphicFramePr/>
          <p:nvPr/>
        </p:nvGraphicFramePr>
        <p:xfrm>
          <a:off x="581025" y="1529715"/>
          <a:ext cx="3507105" cy="157480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0710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57480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graphicFrame>
        <p:nvGraphicFramePr>
          <p:cNvPr id="1603" name="table 706"/>
          <p:cNvGraphicFramePr/>
          <p:nvPr/>
        </p:nvGraphicFramePr>
        <p:xfrm>
          <a:off x="581025" y="4342765"/>
          <a:ext cx="3507740" cy="1609725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0774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609725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604" name="Rectangle 5"/>
          <p:cNvSpPr>
            <a:spLocks noChangeArrowheads="true"/>
          </p:cNvSpPr>
          <p:nvPr/>
        </p:nvSpPr>
        <p:spPr bwMode="auto">
          <a:xfrm>
            <a:off x="1222375" y="5141059"/>
            <a:ext cx="2865120" cy="30416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</p:txBody>
      </p:sp>
      <p:sp>
        <p:nvSpPr>
          <p:cNvPr id="1605" name="Text Box 8"/>
          <p:cNvSpPr txBox="true">
            <a:spLocks noChangeArrowheads="true"/>
          </p:cNvSpPr>
          <p:nvPr/>
        </p:nvSpPr>
        <p:spPr bwMode="auto">
          <a:xfrm>
            <a:off x="5521960" y="5379916"/>
            <a:ext cx="3061250" cy="755650"/>
          </a:xfrm>
          <a:prstGeom prst="rect">
            <a:avLst/>
          </a:prstGeom>
          <a:solidFill>
            <a:srgbClr val="D3F3EB"/>
          </a:solidFill>
          <a:ln w="381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这样的结构体类型有什么用呢？</a:t>
            </a:r>
            <a:endParaRPr lang="zh-CN" altLang="en-US" sz="240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06" name="Text Box 8"/>
          <p:cNvSpPr txBox="true">
            <a:spLocks noChangeArrowheads="true"/>
          </p:cNvSpPr>
          <p:nvPr/>
        </p:nvSpPr>
        <p:spPr bwMode="auto">
          <a:xfrm>
            <a:off x="5521960" y="4263373"/>
            <a:ext cx="3061250" cy="757130"/>
          </a:xfrm>
          <a:prstGeom prst="rect">
            <a:avLst/>
          </a:prstGeom>
          <a:solidFill>
            <a:srgbClr val="D3F3EB"/>
          </a:solidFill>
          <a:ln w="381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可包含指向本结构体类型的指针变量</a:t>
            </a:r>
            <a:endParaRPr lang="zh-CN" altLang="en-US" sz="240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07" name="灯片编号占位符 1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6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Rectangle 2"/>
          <p:cNvSpPr>
            <a:spLocks noGrp="true"/>
          </p:cNvSpPr>
          <p:nvPr>
            <p:ph type="title"/>
          </p:nvPr>
        </p:nvSpPr>
        <p:spPr>
          <a:xfrm>
            <a:off x="2710180" y="449580"/>
            <a:ext cx="6303645" cy="84010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7.1.1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单向链表的数据结构</a:t>
            </a: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graphicFrame>
        <p:nvGraphicFramePr>
          <p:cNvPr id="1610" name="table 706"/>
          <p:cNvGraphicFramePr/>
          <p:nvPr/>
        </p:nvGraphicFramePr>
        <p:xfrm>
          <a:off x="227965" y="4721860"/>
          <a:ext cx="3571875" cy="164465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7187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64465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611" name="Rectangle 3"/>
          <p:cNvSpPr>
            <a:spLocks noChangeArrowheads="true"/>
          </p:cNvSpPr>
          <p:nvPr/>
        </p:nvSpPr>
        <p:spPr bwMode="auto">
          <a:xfrm>
            <a:off x="906198" y="1181477"/>
            <a:ext cx="935990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 marL="374650" indent="-374650"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85090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marL="0" indent="0" eaLnBrk="true">
              <a:lnSpc>
                <a:spcPct val="120000"/>
              </a:lnSpc>
              <a:spcBef>
                <a:spcPts val="200"/>
              </a:spcBef>
              <a:buClr>
                <a:schemeClr val="tx1"/>
              </a:buClr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</a:rPr>
              <a:t>动态数据结构的典型代表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</a:rPr>
              <a:t>——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</a:rPr>
              <a:t>链表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（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Linked Table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  <a:p>
            <a:pPr lvl="1" eaLnBrk="true">
              <a:lnSpc>
                <a:spcPct val="120000"/>
              </a:lnSpc>
              <a:spcBef>
                <a:spcPts val="200"/>
              </a:spcBef>
              <a:buClrTx/>
              <a:buSzPct val="115000"/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0066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90204" pitchFamily="34" charset="0"/>
              </a:rPr>
              <a:t>特点：用一组任意的存储单元存储线性表数据</a:t>
            </a:r>
            <a:endParaRPr lang="en-US" altLang="zh-CN" sz="2400">
              <a:solidFill>
                <a:srgbClr val="000066"/>
              </a:solidFill>
              <a:latin typeface="华文中宋" panose="02010600040101010101" charset="-122"/>
              <a:ea typeface="华文中宋" panose="02010600040101010101" charset="-122"/>
              <a:cs typeface="Arial" panose="020B0604020202090204" pitchFamily="34" charset="0"/>
            </a:endParaRPr>
          </a:p>
          <a:p>
            <a:pPr lvl="1" eaLnBrk="true">
              <a:lnSpc>
                <a:spcPct val="120000"/>
              </a:lnSpc>
              <a:spcBef>
                <a:spcPts val="200"/>
              </a:spcBef>
              <a:buClrTx/>
              <a:buSzPct val="115000"/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0066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90204" pitchFamily="34" charset="0"/>
              </a:rPr>
              <a:t>存储单元可以是连续的，也可以是不连续的</a:t>
            </a:r>
            <a:endParaRPr lang="en-US" altLang="zh-CN" sz="2400">
              <a:solidFill>
                <a:srgbClr val="000066"/>
              </a:solidFill>
              <a:latin typeface="华文中宋" panose="02010600040101010101" charset="-122"/>
              <a:ea typeface="华文中宋" panose="02010600040101010101" charset="-122"/>
              <a:cs typeface="Arial" panose="020B0604020202090204" pitchFamily="34" charset="0"/>
            </a:endParaRPr>
          </a:p>
        </p:txBody>
      </p:sp>
      <p:sp>
        <p:nvSpPr>
          <p:cNvPr id="1612" name="Rectangle 32"/>
          <p:cNvSpPr>
            <a:spLocks noChangeArrowheads="true"/>
          </p:cNvSpPr>
          <p:nvPr/>
        </p:nvSpPr>
        <p:spPr bwMode="auto">
          <a:xfrm>
            <a:off x="915035" y="5255260"/>
            <a:ext cx="1524635" cy="263525"/>
          </a:xfrm>
          <a:prstGeom prst="rect">
            <a:avLst/>
          </a:prstGeom>
          <a:noFill/>
          <a:ln w="25400">
            <a:solidFill>
              <a:srgbClr val="00B050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>
              <a:ea typeface="+mn-ea"/>
            </a:endParaRPr>
          </a:p>
        </p:txBody>
      </p:sp>
      <p:sp>
        <p:nvSpPr>
          <p:cNvPr id="1613" name="Rectangle 33"/>
          <p:cNvSpPr>
            <a:spLocks noChangeArrowheads="true"/>
          </p:cNvSpPr>
          <p:nvPr/>
        </p:nvSpPr>
        <p:spPr bwMode="auto">
          <a:xfrm>
            <a:off x="977265" y="5537835"/>
            <a:ext cx="2759710" cy="205105"/>
          </a:xfrm>
          <a:prstGeom prst="rect">
            <a:avLst/>
          </a:prstGeom>
          <a:noFill/>
          <a:ln w="25400">
            <a:solidFill>
              <a:srgbClr val="00B050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>
              <a:ea typeface="+mn-ea"/>
            </a:endParaRPr>
          </a:p>
        </p:txBody>
      </p:sp>
      <p:grpSp>
        <p:nvGrpSpPr>
          <p:cNvPr id="1614" name="Group 35"/>
          <p:cNvGrpSpPr/>
          <p:nvPr/>
        </p:nvGrpSpPr>
        <p:grpSpPr>
          <a:xfrm>
            <a:off x="3260461" y="3670466"/>
            <a:ext cx="2481262" cy="438150"/>
            <a:chOff x="1573" y="2931"/>
            <a:chExt cx="1443" cy="276"/>
          </a:xfrm>
        </p:grpSpPr>
        <p:sp>
          <p:nvSpPr>
            <p:cNvPr id="1615" name="Rectangle 4"/>
            <p:cNvSpPr>
              <a:spLocks noChangeArrowheads="true"/>
            </p:cNvSpPr>
            <p:nvPr/>
          </p:nvSpPr>
          <p:spPr bwMode="auto">
            <a:xfrm>
              <a:off x="1973" y="2931"/>
              <a:ext cx="817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 = 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616" name="Rectangle 5"/>
            <p:cNvSpPr>
              <a:spLocks noChangeArrowheads="true"/>
            </p:cNvSpPr>
            <p:nvPr/>
          </p:nvSpPr>
          <p:spPr bwMode="auto">
            <a:xfrm>
              <a:off x="2790" y="2931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zh-CN" sz="1800" b="true">
                <a:latin typeface="Arial" panose="020B0604020202090204" pitchFamily="34" charset="0"/>
              </a:endParaRPr>
            </a:p>
          </p:txBody>
        </p:sp>
        <p:sp>
          <p:nvSpPr>
            <p:cNvPr id="1617" name="Rectangle 8"/>
            <p:cNvSpPr>
              <a:spLocks noChangeArrowheads="true"/>
            </p:cNvSpPr>
            <p:nvPr/>
          </p:nvSpPr>
          <p:spPr bwMode="auto">
            <a:xfrm>
              <a:off x="1573" y="3026"/>
              <a:ext cx="545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node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1618" name="Group 21"/>
          <p:cNvGrpSpPr/>
          <p:nvPr/>
        </p:nvGrpSpPr>
        <p:grpSpPr>
          <a:xfrm>
            <a:off x="5349611" y="4246729"/>
            <a:ext cx="2497137" cy="438150"/>
            <a:chOff x="2562" y="3113"/>
            <a:chExt cx="1452" cy="276"/>
          </a:xfrm>
        </p:grpSpPr>
        <p:sp>
          <p:nvSpPr>
            <p:cNvPr id="1619" name="Rectangle 9"/>
            <p:cNvSpPr>
              <a:spLocks noChangeArrowheads="true"/>
            </p:cNvSpPr>
            <p:nvPr/>
          </p:nvSpPr>
          <p:spPr bwMode="auto">
            <a:xfrm>
              <a:off x="2972" y="3113"/>
              <a:ext cx="817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 = B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620" name="Rectangle 10"/>
            <p:cNvSpPr>
              <a:spLocks noChangeArrowheads="true"/>
            </p:cNvSpPr>
            <p:nvPr/>
          </p:nvSpPr>
          <p:spPr bwMode="auto">
            <a:xfrm>
              <a:off x="3789" y="3113"/>
              <a:ext cx="225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zh-CN" sz="1800" b="true">
                <a:latin typeface="Arial" panose="020B0604020202090204" pitchFamily="34" charset="0"/>
              </a:endParaRPr>
            </a:p>
          </p:txBody>
        </p:sp>
        <p:sp>
          <p:nvSpPr>
            <p:cNvPr id="1621" name="Rectangle 11"/>
            <p:cNvSpPr>
              <a:spLocks noChangeArrowheads="true"/>
            </p:cNvSpPr>
            <p:nvPr/>
          </p:nvSpPr>
          <p:spPr bwMode="auto">
            <a:xfrm>
              <a:off x="2562" y="3208"/>
              <a:ext cx="545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node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1622" name="Group 22"/>
          <p:cNvGrpSpPr/>
          <p:nvPr/>
        </p:nvGrpSpPr>
        <p:grpSpPr>
          <a:xfrm>
            <a:off x="7475273" y="4822991"/>
            <a:ext cx="2478088" cy="431800"/>
            <a:chOff x="3797" y="3476"/>
            <a:chExt cx="1442" cy="272"/>
          </a:xfrm>
        </p:grpSpPr>
        <p:sp>
          <p:nvSpPr>
            <p:cNvPr id="1623" name="Rectangle 12"/>
            <p:cNvSpPr>
              <a:spLocks noChangeArrowheads="true"/>
            </p:cNvSpPr>
            <p:nvPr/>
          </p:nvSpPr>
          <p:spPr bwMode="auto">
            <a:xfrm>
              <a:off x="4198" y="3476"/>
              <a:ext cx="817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 = C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624" name="Rectangle 13"/>
            <p:cNvSpPr>
              <a:spLocks noChangeArrowheads="true"/>
            </p:cNvSpPr>
            <p:nvPr/>
          </p:nvSpPr>
          <p:spPr bwMode="auto">
            <a:xfrm>
              <a:off x="5015" y="3476"/>
              <a:ext cx="224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Arial" panose="020B0604020202090204" pitchFamily="34" charset="0"/>
                </a:rPr>
                <a:t>∧</a:t>
              </a:r>
              <a:endParaRPr lang="en-US" altLang="zh-CN" sz="1800" b="true">
                <a:latin typeface="Arial" panose="020B0604020202090204" pitchFamily="34" charset="0"/>
              </a:endParaRPr>
            </a:p>
          </p:txBody>
        </p:sp>
        <p:sp>
          <p:nvSpPr>
            <p:cNvPr id="1625" name="Rectangle 14"/>
            <p:cNvSpPr>
              <a:spLocks noChangeArrowheads="true"/>
            </p:cNvSpPr>
            <p:nvPr/>
          </p:nvSpPr>
          <p:spPr bwMode="auto">
            <a:xfrm>
              <a:off x="3797" y="3555"/>
              <a:ext cx="545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node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626" name="Freeform 24"/>
          <p:cNvSpPr/>
          <p:nvPr/>
        </p:nvSpPr>
        <p:spPr bwMode="auto">
          <a:xfrm>
            <a:off x="5586148" y="3886366"/>
            <a:ext cx="466725" cy="503238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27" name="Freeform 25"/>
          <p:cNvSpPr/>
          <p:nvPr/>
        </p:nvSpPr>
        <p:spPr bwMode="auto">
          <a:xfrm>
            <a:off x="7691173" y="4462629"/>
            <a:ext cx="466725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/>
          </a:p>
        </p:txBody>
      </p:sp>
      <p:grpSp>
        <p:nvGrpSpPr>
          <p:cNvPr id="1628" name="Group 34"/>
          <p:cNvGrpSpPr/>
          <p:nvPr/>
        </p:nvGrpSpPr>
        <p:grpSpPr>
          <a:xfrm>
            <a:off x="2542911" y="3068804"/>
            <a:ext cx="1133480" cy="457200"/>
            <a:chOff x="1156" y="2552"/>
            <a:chExt cx="659" cy="288"/>
          </a:xfrm>
        </p:grpSpPr>
        <p:sp>
          <p:nvSpPr>
            <p:cNvPr id="1629" name="Rectangle 27"/>
            <p:cNvSpPr>
              <a:spLocks noChangeArrowheads="true"/>
            </p:cNvSpPr>
            <p:nvPr/>
          </p:nvSpPr>
          <p:spPr bwMode="auto">
            <a:xfrm>
              <a:off x="1589" y="2552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Arial" panose="020B0604020202090204" pitchFamily="34" charset="0"/>
              </a:endParaRPr>
            </a:p>
          </p:txBody>
        </p:sp>
        <p:sp>
          <p:nvSpPr>
            <p:cNvPr id="1630" name="Rectangle 32"/>
            <p:cNvSpPr>
              <a:spLocks noChangeArrowheads="true"/>
            </p:cNvSpPr>
            <p:nvPr/>
          </p:nvSpPr>
          <p:spPr bwMode="auto">
            <a:xfrm>
              <a:off x="1156" y="2568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631" name="Freeform 26"/>
          <p:cNvSpPr/>
          <p:nvPr/>
        </p:nvSpPr>
        <p:spPr bwMode="auto">
          <a:xfrm>
            <a:off x="3481123" y="3310104"/>
            <a:ext cx="466725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32" name="Text Box 38"/>
          <p:cNvSpPr txBox="true">
            <a:spLocks noChangeArrowheads="true"/>
          </p:cNvSpPr>
          <p:nvPr/>
        </p:nvSpPr>
        <p:spPr bwMode="auto">
          <a:xfrm>
            <a:off x="8877036" y="4129254"/>
            <a:ext cx="18573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2000" b="true">
                <a:latin typeface="华文中宋" panose="02010600040101010101" charset="-122"/>
                <a:ea typeface="华文中宋" panose="02010600040101010101" charset="-122"/>
              </a:rPr>
              <a:t>空指针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NULL</a:t>
            </a:r>
            <a:r>
              <a:rPr lang="zh-CN" altLang="en-US" sz="2000" b="true">
                <a:latin typeface="华文中宋" panose="02010600040101010101" charset="-122"/>
                <a:ea typeface="华文中宋" panose="02010600040101010101" charset="-122"/>
              </a:rPr>
              <a:t>表示链表结尾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633" name="Text Box 40"/>
          <p:cNvSpPr txBox="true">
            <a:spLocks noChangeArrowheads="true"/>
          </p:cNvSpPr>
          <p:nvPr/>
        </p:nvSpPr>
        <p:spPr bwMode="auto">
          <a:xfrm>
            <a:off x="1360886" y="3097547"/>
            <a:ext cx="127010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20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头指针：</a:t>
            </a:r>
            <a:endParaRPr lang="en-US" altLang="zh-CN" sz="2000" b="true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2000" b="true">
                <a:latin typeface="华文中宋" panose="02010600040101010101" charset="-122"/>
                <a:ea typeface="华文中宋" panose="02010600040101010101" charset="-122"/>
              </a:rPr>
              <a:t>访问链表的关键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634" name="Text Box 28"/>
          <p:cNvSpPr txBox="true">
            <a:spLocks noChangeArrowheads="true"/>
          </p:cNvSpPr>
          <p:nvPr/>
        </p:nvSpPr>
        <p:spPr bwMode="auto">
          <a:xfrm>
            <a:off x="6354498" y="2999797"/>
            <a:ext cx="4321175" cy="423545"/>
          </a:xfrm>
          <a:prstGeom prst="rect">
            <a:avLst/>
          </a:prstGeom>
          <a:solidFill>
            <a:srgbClr val="D3F3EB"/>
          </a:solidFill>
          <a:ln w="25400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数据域：存储节点的数据信息</a:t>
            </a:r>
            <a:endParaRPr lang="zh-CN" altLang="en-US" sz="240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5" name="Text Box 30"/>
          <p:cNvSpPr txBox="true">
            <a:spLocks noChangeArrowheads="true"/>
          </p:cNvSpPr>
          <p:nvPr/>
        </p:nvSpPr>
        <p:spPr bwMode="auto">
          <a:xfrm>
            <a:off x="6354498" y="3503035"/>
            <a:ext cx="4319588" cy="425450"/>
          </a:xfrm>
          <a:prstGeom prst="rect">
            <a:avLst/>
          </a:prstGeom>
          <a:solidFill>
            <a:srgbClr val="D3F3EB"/>
          </a:solidFill>
          <a:ln w="25400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指针域：存储直接后继信息</a:t>
            </a:r>
            <a:endParaRPr lang="zh-CN" altLang="en-US" sz="240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6" name="Oval 37"/>
          <p:cNvSpPr>
            <a:spLocks noChangeArrowheads="true"/>
          </p:cNvSpPr>
          <p:nvPr/>
        </p:nvSpPr>
        <p:spPr bwMode="auto">
          <a:xfrm>
            <a:off x="4034401" y="3682131"/>
            <a:ext cx="1223963" cy="396875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zh-CN" altLang="zh-CN" sz="1800">
              <a:latin typeface="Arial" panose="020B0604020202090204" pitchFamily="34" charset="0"/>
            </a:endParaRPr>
          </a:p>
        </p:txBody>
      </p:sp>
      <p:sp>
        <p:nvSpPr>
          <p:cNvPr id="1637" name="Oval 37"/>
          <p:cNvSpPr>
            <a:spLocks noChangeArrowheads="true"/>
          </p:cNvSpPr>
          <p:nvPr/>
        </p:nvSpPr>
        <p:spPr bwMode="auto">
          <a:xfrm>
            <a:off x="5343606" y="3678404"/>
            <a:ext cx="432000" cy="431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zh-CN" altLang="zh-CN" sz="1800">
              <a:latin typeface="Arial" panose="020B0604020202090204" pitchFamily="34" charset="0"/>
            </a:endParaRPr>
          </a:p>
        </p:txBody>
      </p:sp>
      <p:sp>
        <p:nvSpPr>
          <p:cNvPr id="1638" name="Rectangle 3"/>
          <p:cNvSpPr>
            <a:spLocks noChangeArrowheads="true"/>
          </p:cNvSpPr>
          <p:nvPr/>
        </p:nvSpPr>
        <p:spPr bwMode="auto">
          <a:xfrm>
            <a:off x="4034401" y="5421090"/>
            <a:ext cx="6985000" cy="935037"/>
          </a:xfrm>
          <a:prstGeom prst="rect">
            <a:avLst/>
          </a:prstGeom>
          <a:solidFill>
            <a:srgbClr val="D3F3EB"/>
          </a:solidFill>
          <a:ln w="25400">
            <a:solidFill>
              <a:schemeClr val="tx1"/>
            </a:solidFill>
            <a:miter lim="800000"/>
          </a:ln>
        </p:spPr>
        <p:txBody>
          <a:bodyPr/>
          <a:lstStyle>
            <a:lvl1pPr marL="374650" indent="-374650"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85090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>
              <a:lnSpc>
                <a:spcPct val="120000"/>
              </a:lnSpc>
              <a:spcBef>
                <a:spcPct val="1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n个节点链接成一个表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——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线性表的链式存储结构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true">
              <a:lnSpc>
                <a:spcPct val="120000"/>
              </a:lnSpc>
              <a:spcBef>
                <a:spcPct val="1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因只包含一个指针域，故又称线性链表或单向链表</a:t>
            </a:r>
            <a:endParaRPr lang="zh-CN" altLang="en-US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639" name="Oval 37"/>
          <p:cNvSpPr>
            <a:spLocks noChangeArrowheads="true"/>
          </p:cNvSpPr>
          <p:nvPr/>
        </p:nvSpPr>
        <p:spPr bwMode="auto">
          <a:xfrm>
            <a:off x="9544888" y="4835309"/>
            <a:ext cx="432000" cy="431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zh-CN" altLang="zh-CN" sz="1800">
              <a:latin typeface="Arial" panose="020B0604020202090204" pitchFamily="34" charset="0"/>
            </a:endParaRPr>
          </a:p>
        </p:txBody>
      </p:sp>
      <p:sp>
        <p:nvSpPr>
          <p:cNvPr id="1640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7" dur="500"/>
                                        <p:tgtEl>
                                          <p:spTgt spid="1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0" dur="500"/>
                                        <p:tgtEl>
                                          <p:spTgt spid="1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43" dur="500"/>
                                        <p:tgtEl>
                                          <p:spTgt spid="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4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6" dur="500" fill="hold"/>
                                        <p:tgtEl>
                                          <p:spTgt spid="1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7" dur="500" fill="hold"/>
                                        <p:tgtEl>
                                          <p:spTgt spid="1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8" dur="500" fill="hold"/>
                                        <p:tgtEl>
                                          <p:spTgt spid="16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9" dur="500" fill="hold"/>
                                        <p:tgtEl>
                                          <p:spTgt spid="16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85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52" dur="500"/>
                                        <p:tgtEl>
                                          <p:spTgt spid="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5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5" dur="500" fill="hold"/>
                                        <p:tgtEl>
                                          <p:spTgt spid="1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6" dur="500" fill="hold"/>
                                        <p:tgtEl>
                                          <p:spTgt spid="1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85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1" dur="500"/>
                                        <p:tgtEl>
                                          <p:spTgt spid="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6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4" dur="500" fill="hold"/>
                                        <p:tgtEl>
                                          <p:spTgt spid="1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5" dur="500" fill="hold"/>
                                        <p:tgtEl>
                                          <p:spTgt spid="1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6" dur="500" fill="hold"/>
                                        <p:tgtEl>
                                          <p:spTgt spid="1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7" dur="500" fill="hold"/>
                                        <p:tgtEl>
                                          <p:spTgt spid="1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86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0" dur="500"/>
                                        <p:tgtEl>
                                          <p:spTgt spid="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3" dur="500"/>
                                        <p:tgtEl>
                                          <p:spTgt spid="1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6" dur="500" fill="hold"/>
                                        <p:tgtEl>
                                          <p:spTgt spid="1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7" dur="500" fill="hold"/>
                                        <p:tgtEl>
                                          <p:spTgt spid="1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8" dur="500"/>
                                        <p:tgtEl>
                                          <p:spTgt spid="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9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1" dur="1000" fill="hold"/>
                                        <p:tgtEl>
                                          <p:spTgt spid="1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2" dur="1000" fill="hold"/>
                                        <p:tgtEl>
                                          <p:spTgt spid="1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3" dur="1000" fill="hold"/>
                                        <p:tgtEl>
                                          <p:spTgt spid="1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4" dur="1000" fill="hold"/>
                                        <p:tgtEl>
                                          <p:spTgt spid="1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id="88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7" dur="500" fill="hold"/>
                                        <p:tgtEl>
                                          <p:spTgt spid="1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8" dur="500" fill="hold"/>
                                        <p:tgtEl>
                                          <p:spTgt spid="1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9" dur="500"/>
                                        <p:tgtEl>
                                          <p:spTgt spid="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9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2" dur="500" fill="hold"/>
                                        <p:tgtEl>
                                          <p:spTgt spid="1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3" dur="500" fill="hold"/>
                                        <p:tgtEl>
                                          <p:spTgt spid="1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4" dur="500"/>
                                        <p:tgtEl>
                                          <p:spTgt spid="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7" dur="1000" fill="hold"/>
                                        <p:tgtEl>
                                          <p:spTgt spid="1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8" dur="1000" fill="hold"/>
                                        <p:tgtEl>
                                          <p:spTgt spid="1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9" dur="1000" fill="hold"/>
                                        <p:tgtEl>
                                          <p:spTgt spid="1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0" dur="1000" fill="hold"/>
                                        <p:tgtEl>
                                          <p:spTgt spid="1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id="90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3" dur="500" fill="hold"/>
                                        <p:tgtEl>
                                          <p:spTgt spid="1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4" dur="500" fill="hold"/>
                                        <p:tgtEl>
                                          <p:spTgt spid="1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5" dur="500"/>
                                        <p:tgtEl>
                                          <p:spTgt spid="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0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2" dur="1000" fill="hold"/>
                                        <p:tgtEl>
                                          <p:spTgt spid="1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3" dur="1000" fill="hold"/>
                                        <p:tgtEl>
                                          <p:spTgt spid="1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4" dur="1000" fill="hold"/>
                                        <p:tgtEl>
                                          <p:spTgt spid="1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5" dur="1000" fill="hold"/>
                                        <p:tgtEl>
                                          <p:spTgt spid="1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6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8" dur="1000" fill="hold"/>
                                        <p:tgtEl>
                                          <p:spTgt spid="1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9" dur="1000" fill="hold"/>
                                        <p:tgtEl>
                                          <p:spTgt spid="1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0" dur="1000" fill="hold"/>
                                        <p:tgtEl>
                                          <p:spTgt spid="1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1" dur="1000" fill="hold"/>
                                        <p:tgtEl>
                                          <p:spTgt spid="1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2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6" dur="500"/>
                                        <p:tgtEl>
                                          <p:spTgt spid="16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id="9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9" dur="500"/>
                                        <p:tgtEl>
                                          <p:spTgt spid="1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2" dur="500"/>
                                        <p:tgtEl>
                                          <p:spTgt spid="1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true"/>
          </p:cNvSpPr>
          <p:nvPr>
            <p:ph type="title"/>
          </p:nvPr>
        </p:nvSpPr>
        <p:spPr>
          <a:xfrm>
            <a:off x="3499485" y="449580"/>
            <a:ext cx="6303645" cy="840105"/>
          </a:xfrm>
        </p:spPr>
        <p:txBody>
          <a:bodyPr vert="horz" wrap="square" lIns="91440" tIns="45720" rIns="91440" bIns="45720" anchor="ctr" anchorCtr="false">
            <a:normAutofit/>
          </a:bodyPr>
          <a:lstStyle/>
          <a:p>
            <a:pPr/>
            <a:r>
              <a:rPr lang="en-US" altLang="zh-CN" sz="4000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7.1.2 </a:t>
            </a:r>
            <a:r>
              <a:rPr lang="zh-CN" altLang="en-US" sz="4000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链表有关术语</a:t>
            </a:r>
            <a:endParaRPr lang="zh-CN" altLang="en-US" sz="4000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6" name="文本框 3"/>
          <p:cNvSpPr txBox="true"/>
          <p:nvPr/>
        </p:nvSpPr>
        <p:spPr>
          <a:xfrm>
            <a:off x="-1235" y="1289394"/>
            <a:ext cx="11609466" cy="178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true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头指针</a:t>
            </a:r>
            <a:r>
              <a:rPr lang="zh-CN" altLang="en-US" sz="20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：用于存放线性链表中第一个结点的存储地址</a:t>
            </a:r>
            <a:r>
              <a:rPr lang="en-US" altLang="zh-CN" sz="20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; </a:t>
            </a:r>
            <a:r>
              <a:rPr lang="zh-CN" altLang="en-US" sz="20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通常用</a:t>
            </a:r>
            <a:r>
              <a:rPr lang="zh-CN" altLang="en-US" sz="2000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头指针</a:t>
            </a:r>
            <a:r>
              <a:rPr lang="zh-CN" altLang="en-US" sz="20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来标识一个单链表。</a:t>
            </a:r>
            <a:endParaRPr lang="en-US" altLang="zh-CN" sz="20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true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空指针</a:t>
            </a:r>
            <a:r>
              <a:rPr lang="zh-CN" altLang="en-US" sz="20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：不指向任何结点，线性链表最后一个结点的指针通常是空指针</a:t>
            </a:r>
            <a:r>
              <a:rPr lang="en-US" altLang="zh-CN" sz="20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;</a:t>
            </a:r>
            <a:endParaRPr lang="en-US" altLang="zh-CN" sz="20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800100" lvl="1" indent="-34290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2000" b="true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带头结点的线性链表</a:t>
            </a:r>
            <a:r>
              <a:rPr lang="zh-CN" altLang="en-US" sz="20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：为了方便处理，可以在第一元素结点前面增加一个附加节点（</a:t>
            </a:r>
            <a:r>
              <a:rPr lang="zh-CN" altLang="en-US" sz="2000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头节点</a:t>
            </a:r>
            <a:r>
              <a:rPr lang="zh-CN" altLang="en-US" sz="20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），形成一个带头结点的线性链表；</a:t>
            </a:r>
            <a:endParaRPr lang="zh-CN" altLang="en-US" sz="20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7" name="组合 2"/>
          <p:cNvGrpSpPr/>
          <p:nvPr/>
        </p:nvGrpSpPr>
        <p:grpSpPr>
          <a:xfrm>
            <a:off x="3148531" y="3904183"/>
            <a:ext cx="7659412" cy="645185"/>
            <a:chOff x="3296449" y="4218008"/>
            <a:chExt cx="7659412" cy="645185"/>
          </a:xfrm>
        </p:grpSpPr>
        <p:grpSp>
          <p:nvGrpSpPr>
            <p:cNvPr id="8" name="Group 7"/>
            <p:cNvGrpSpPr/>
            <p:nvPr/>
          </p:nvGrpSpPr>
          <p:grpSpPr>
            <a:xfrm>
              <a:off x="6030847" y="4218008"/>
              <a:ext cx="1206853" cy="645185"/>
              <a:chOff x="2353" y="2880"/>
              <a:chExt cx="911" cy="323"/>
            </a:xfrm>
          </p:grpSpPr>
          <p:sp>
            <p:nvSpPr>
              <p:cNvPr id="9" name="Rectangle 8"/>
              <p:cNvSpPr>
                <a:spLocks noChangeArrowheads="true"/>
              </p:cNvSpPr>
              <p:nvPr/>
            </p:nvSpPr>
            <p:spPr bwMode="auto">
              <a:xfrm>
                <a:off x="2400" y="2880"/>
                <a:ext cx="672" cy="323"/>
              </a:xfrm>
              <a:prstGeom prst="rect">
                <a:avLst/>
              </a:prstGeom>
              <a:solidFill>
                <a:srgbClr val="99CCFF"/>
              </a:solidFill>
              <a:ln w="12700" cap="rnd">
                <a:solidFill>
                  <a:srgbClr val="99CCFF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/>
                </a:pPr>
                <a:endParaRPr kumimoji="true" lang="zh-CN" altLang="en-US" sz="2000" b="true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10" name="Line 9"/>
              <p:cNvSpPr>
                <a:spLocks noChangeShapeType="true"/>
              </p:cNvSpPr>
              <p:nvPr/>
            </p:nvSpPr>
            <p:spPr bwMode="auto">
              <a:xfrm>
                <a:off x="2736" y="2880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rgbClr val="DBF5F9"/>
                </a:solidFill>
                <a:round/>
              </a:ln>
              <a:effectLst/>
            </p:spPr>
            <p:txBody>
              <a:bodyPr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1" name="Text Box 10"/>
              <p:cNvSpPr txBox="true">
                <a:spLocks noChangeArrowheads="true"/>
              </p:cNvSpPr>
              <p:nvPr/>
            </p:nvSpPr>
            <p:spPr bwMode="auto">
              <a:xfrm>
                <a:off x="2353" y="2930"/>
                <a:ext cx="478" cy="231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false" fontAlgn="base" hangingPunct="false">
                  <a:spcBef>
                    <a:spcPct val="50000"/>
                  </a:spcBef>
                  <a:spcAft>
                    <a:spcPct val="1"/>
                  </a:spcAft>
                  <a:defRPr/>
                </a:pPr>
                <a:r>
                  <a:rPr kumimoji="true" lang="en-US" altLang="zh-CN" sz="24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a</a:t>
                </a:r>
                <a:r>
                  <a:rPr kumimoji="true" lang="en-US" altLang="zh-CN" sz="16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i-</a:t>
                </a:r>
                <a:r>
                  <a:rPr kumimoji="true" lang="en-US" altLang="zh-CN" sz="14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1</a:t>
                </a:r>
                <a:endParaRPr kumimoji="true" lang="en-US" altLang="zh-CN" sz="2000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12" name="Line 11"/>
              <p:cNvSpPr>
                <a:spLocks noChangeShapeType="true"/>
              </p:cNvSpPr>
              <p:nvPr/>
            </p:nvSpPr>
            <p:spPr bwMode="auto">
              <a:xfrm>
                <a:off x="2928" y="3072"/>
                <a:ext cx="336" cy="0"/>
              </a:xfrm>
              <a:prstGeom prst="line">
                <a:avLst/>
              </a:prstGeom>
              <a:noFill/>
              <a:ln w="12700" cap="rnd">
                <a:solidFill>
                  <a:srgbClr val="FF33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7237700" y="4218008"/>
              <a:ext cx="1144884" cy="645185"/>
              <a:chOff x="3215" y="2880"/>
              <a:chExt cx="850" cy="323"/>
            </a:xfrm>
          </p:grpSpPr>
          <p:sp>
            <p:nvSpPr>
              <p:cNvPr id="14" name="Rectangle 13"/>
              <p:cNvSpPr>
                <a:spLocks noChangeArrowheads="true"/>
              </p:cNvSpPr>
              <p:nvPr/>
            </p:nvSpPr>
            <p:spPr bwMode="auto">
              <a:xfrm>
                <a:off x="3215" y="2880"/>
                <a:ext cx="661" cy="323"/>
              </a:xfrm>
              <a:prstGeom prst="rect">
                <a:avLst/>
              </a:prstGeom>
              <a:solidFill>
                <a:srgbClr val="99CCFF"/>
              </a:solidFill>
              <a:ln w="12700" cap="rnd">
                <a:solidFill>
                  <a:srgbClr val="99CCFF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/>
                </a:pPr>
                <a:endParaRPr kumimoji="true" lang="zh-CN" altLang="en-US" sz="2000" b="true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15" name="Line 14"/>
              <p:cNvSpPr>
                <a:spLocks noChangeShapeType="true"/>
              </p:cNvSpPr>
              <p:nvPr/>
            </p:nvSpPr>
            <p:spPr bwMode="auto">
              <a:xfrm>
                <a:off x="3546" y="2880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rgbClr val="DBF5F9"/>
                </a:solidFill>
                <a:round/>
              </a:ln>
              <a:effectLst/>
            </p:spPr>
            <p:txBody>
              <a:bodyPr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6" name="Text Box 15"/>
              <p:cNvSpPr txBox="true">
                <a:spLocks noChangeArrowheads="true"/>
              </p:cNvSpPr>
              <p:nvPr/>
            </p:nvSpPr>
            <p:spPr bwMode="auto">
              <a:xfrm>
                <a:off x="3262" y="2930"/>
                <a:ext cx="384" cy="229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false" fontAlgn="base" hangingPunct="false">
                  <a:spcBef>
                    <a:spcPct val="50000"/>
                  </a:spcBef>
                  <a:spcAft>
                    <a:spcPct val="1"/>
                  </a:spcAft>
                  <a:defRPr/>
                </a:pPr>
                <a:r>
                  <a:rPr kumimoji="true" lang="en-US" altLang="zh-CN" sz="24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a</a:t>
                </a:r>
                <a:r>
                  <a:rPr kumimoji="true" lang="en-US" altLang="zh-CN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i</a:t>
                </a:r>
                <a:endParaRPr kumimoji="true" lang="en-US" altLang="zh-CN" sz="2000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17" name="Line 16"/>
              <p:cNvSpPr>
                <a:spLocks noChangeShapeType="true"/>
              </p:cNvSpPr>
              <p:nvPr/>
            </p:nvSpPr>
            <p:spPr bwMode="auto">
              <a:xfrm>
                <a:off x="3734" y="3072"/>
                <a:ext cx="331" cy="0"/>
              </a:xfrm>
              <a:prstGeom prst="line">
                <a:avLst/>
              </a:prstGeom>
              <a:noFill/>
              <a:ln w="12700" cap="rnd">
                <a:solidFill>
                  <a:srgbClr val="FF33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4439783" y="4218008"/>
              <a:ext cx="1144884" cy="645185"/>
              <a:chOff x="1138" y="2880"/>
              <a:chExt cx="849" cy="323"/>
            </a:xfrm>
          </p:grpSpPr>
          <p:sp>
            <p:nvSpPr>
              <p:cNvPr id="19" name="Rectangle 18"/>
              <p:cNvSpPr>
                <a:spLocks noChangeArrowheads="true"/>
              </p:cNvSpPr>
              <p:nvPr/>
            </p:nvSpPr>
            <p:spPr bwMode="auto">
              <a:xfrm>
                <a:off x="1138" y="2880"/>
                <a:ext cx="660" cy="323"/>
              </a:xfrm>
              <a:prstGeom prst="rect">
                <a:avLst/>
              </a:prstGeom>
              <a:solidFill>
                <a:srgbClr val="99CCFF"/>
              </a:solidFill>
              <a:ln w="12700" cap="rnd">
                <a:solidFill>
                  <a:srgbClr val="99CCFF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/>
                </a:pPr>
                <a:endParaRPr kumimoji="true" lang="zh-CN" altLang="en-US" sz="2000" b="true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20" name="Line 19"/>
              <p:cNvSpPr>
                <a:spLocks noChangeShapeType="true"/>
              </p:cNvSpPr>
              <p:nvPr/>
            </p:nvSpPr>
            <p:spPr bwMode="auto">
              <a:xfrm>
                <a:off x="1468" y="2880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rgbClr val="DBF5F9"/>
                </a:solidFill>
                <a:round/>
              </a:ln>
              <a:effectLst/>
            </p:spPr>
            <p:txBody>
              <a:bodyPr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21" name="Text Box 20"/>
              <p:cNvSpPr txBox="true">
                <a:spLocks noChangeArrowheads="true"/>
              </p:cNvSpPr>
              <p:nvPr/>
            </p:nvSpPr>
            <p:spPr bwMode="auto">
              <a:xfrm>
                <a:off x="1185" y="2930"/>
                <a:ext cx="351" cy="229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false" fontAlgn="base" hangingPunct="false">
                  <a:spcBef>
                    <a:spcPct val="50000"/>
                  </a:spcBef>
                  <a:spcAft>
                    <a:spcPct val="1"/>
                  </a:spcAft>
                  <a:defRPr/>
                </a:pPr>
                <a:r>
                  <a:rPr kumimoji="true" lang="en-US" altLang="zh-CN" sz="24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a</a:t>
                </a:r>
                <a:r>
                  <a:rPr kumimoji="true" lang="en-US" altLang="zh-CN" sz="16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2</a:t>
                </a:r>
                <a:endParaRPr kumimoji="true" lang="en-US" altLang="zh-CN" sz="2000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22" name="Line 21"/>
              <p:cNvSpPr>
                <a:spLocks noChangeShapeType="true"/>
              </p:cNvSpPr>
              <p:nvPr/>
            </p:nvSpPr>
            <p:spPr bwMode="auto">
              <a:xfrm>
                <a:off x="1657" y="3072"/>
                <a:ext cx="330" cy="0"/>
              </a:xfrm>
              <a:prstGeom prst="line">
                <a:avLst/>
              </a:prstGeom>
              <a:noFill/>
              <a:ln w="12700" cap="rnd">
                <a:solidFill>
                  <a:srgbClr val="FF33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3296449" y="4218008"/>
              <a:ext cx="1143335" cy="645185"/>
              <a:chOff x="288" y="2880"/>
              <a:chExt cx="850" cy="323"/>
            </a:xfrm>
          </p:grpSpPr>
          <p:sp>
            <p:nvSpPr>
              <p:cNvPr id="24" name="Rectangle 23"/>
              <p:cNvSpPr>
                <a:spLocks noChangeArrowheads="true"/>
              </p:cNvSpPr>
              <p:nvPr/>
            </p:nvSpPr>
            <p:spPr bwMode="auto">
              <a:xfrm>
                <a:off x="288" y="2880"/>
                <a:ext cx="661" cy="323"/>
              </a:xfrm>
              <a:prstGeom prst="rect">
                <a:avLst/>
              </a:prstGeom>
              <a:solidFill>
                <a:srgbClr val="99CCFF"/>
              </a:solidFill>
              <a:ln w="12700" cap="rnd">
                <a:solidFill>
                  <a:srgbClr val="99CCFF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/>
                </a:pPr>
                <a:endParaRPr kumimoji="true" lang="zh-CN" altLang="en-US" sz="2000" b="true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25" name="Line 24"/>
              <p:cNvSpPr>
                <a:spLocks noChangeShapeType="true"/>
              </p:cNvSpPr>
              <p:nvPr/>
            </p:nvSpPr>
            <p:spPr bwMode="auto">
              <a:xfrm>
                <a:off x="619" y="2880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rgbClr val="DBF5F9"/>
                </a:solidFill>
                <a:round/>
              </a:ln>
              <a:effectLst/>
            </p:spPr>
            <p:txBody>
              <a:bodyPr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26" name="Text Box 25"/>
              <p:cNvSpPr txBox="true">
                <a:spLocks noChangeArrowheads="true"/>
              </p:cNvSpPr>
              <p:nvPr/>
            </p:nvSpPr>
            <p:spPr bwMode="auto">
              <a:xfrm>
                <a:off x="306" y="2937"/>
                <a:ext cx="337" cy="231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false" fontAlgn="base" hangingPunct="false">
                  <a:spcBef>
                    <a:spcPct val="50000"/>
                  </a:spcBef>
                  <a:spcAft>
                    <a:spcPct val="1"/>
                  </a:spcAft>
                  <a:defRPr/>
                </a:pPr>
                <a:r>
                  <a:rPr kumimoji="true" lang="en-US" altLang="zh-CN" sz="24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a</a:t>
                </a:r>
                <a:r>
                  <a:rPr kumimoji="true" lang="en-US" altLang="zh-CN" sz="16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1</a:t>
                </a:r>
                <a:endParaRPr kumimoji="true" lang="en-US" altLang="zh-CN" sz="2000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27" name="Line 26"/>
              <p:cNvSpPr>
                <a:spLocks noChangeShapeType="true"/>
              </p:cNvSpPr>
              <p:nvPr/>
            </p:nvSpPr>
            <p:spPr bwMode="auto">
              <a:xfrm>
                <a:off x="807" y="3072"/>
                <a:ext cx="331" cy="0"/>
              </a:xfrm>
              <a:prstGeom prst="line">
                <a:avLst/>
              </a:prstGeom>
              <a:noFill/>
              <a:ln w="12700" cap="rnd">
                <a:solidFill>
                  <a:srgbClr val="FF33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8289364" y="4218008"/>
              <a:ext cx="1173035" cy="645185"/>
              <a:chOff x="3893" y="2880"/>
              <a:chExt cx="791" cy="323"/>
            </a:xfrm>
          </p:grpSpPr>
          <p:sp>
            <p:nvSpPr>
              <p:cNvPr id="29" name="Rectangle 28"/>
              <p:cNvSpPr>
                <a:spLocks noChangeArrowheads="true"/>
              </p:cNvSpPr>
              <p:nvPr/>
            </p:nvSpPr>
            <p:spPr bwMode="auto">
              <a:xfrm>
                <a:off x="3936" y="2880"/>
                <a:ext cx="599" cy="323"/>
              </a:xfrm>
              <a:prstGeom prst="rect">
                <a:avLst/>
              </a:prstGeom>
              <a:solidFill>
                <a:srgbClr val="99CCFF"/>
              </a:solidFill>
              <a:ln w="12700" cap="rnd">
                <a:solidFill>
                  <a:srgbClr val="99CCFF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/>
                </a:pPr>
                <a:endParaRPr kumimoji="true" lang="zh-CN" altLang="en-US" sz="2000" b="true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30" name="Line 29"/>
              <p:cNvSpPr>
                <a:spLocks noChangeShapeType="true"/>
              </p:cNvSpPr>
              <p:nvPr/>
            </p:nvSpPr>
            <p:spPr bwMode="auto">
              <a:xfrm>
                <a:off x="4236" y="2880"/>
                <a:ext cx="0" cy="323"/>
              </a:xfrm>
              <a:prstGeom prst="line">
                <a:avLst/>
              </a:prstGeom>
              <a:noFill/>
              <a:ln w="12700" cap="rnd">
                <a:solidFill>
                  <a:srgbClr val="DBF5F9"/>
                </a:solidFill>
                <a:round/>
              </a:ln>
              <a:effectLst/>
            </p:spPr>
            <p:txBody>
              <a:bodyPr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1" name="Text Box 30"/>
              <p:cNvSpPr txBox="true">
                <a:spLocks noChangeArrowheads="true"/>
              </p:cNvSpPr>
              <p:nvPr/>
            </p:nvSpPr>
            <p:spPr bwMode="auto">
              <a:xfrm>
                <a:off x="3893" y="2914"/>
                <a:ext cx="519" cy="229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false" fontAlgn="base" hangingPunct="false">
                  <a:spcBef>
                    <a:spcPct val="50000"/>
                  </a:spcBef>
                  <a:spcAft>
                    <a:spcPct val="1"/>
                  </a:spcAft>
                  <a:defRPr/>
                </a:pPr>
                <a:r>
                  <a:rPr kumimoji="true" lang="en-US" altLang="zh-CN" sz="24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a</a:t>
                </a:r>
                <a:r>
                  <a:rPr kumimoji="true" lang="en-US" altLang="zh-CN" sz="16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i+</a:t>
                </a:r>
                <a:r>
                  <a:rPr kumimoji="true" lang="en-US" altLang="zh-CN" sz="14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1</a:t>
                </a:r>
                <a:endParaRPr kumimoji="true" lang="en-US" altLang="zh-CN" sz="2000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32" name="Line 31"/>
              <p:cNvSpPr>
                <a:spLocks noChangeShapeType="true"/>
              </p:cNvSpPr>
              <p:nvPr/>
            </p:nvSpPr>
            <p:spPr bwMode="auto">
              <a:xfrm>
                <a:off x="4384" y="3072"/>
                <a:ext cx="300" cy="0"/>
              </a:xfrm>
              <a:prstGeom prst="line">
                <a:avLst/>
              </a:prstGeom>
              <a:noFill/>
              <a:ln w="12700" cap="rnd">
                <a:solidFill>
                  <a:srgbClr val="FF33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</p:grpSp>
        <p:sp>
          <p:nvSpPr>
            <p:cNvPr id="33" name="Line 32"/>
            <p:cNvSpPr>
              <a:spLocks noChangeShapeType="true"/>
            </p:cNvSpPr>
            <p:nvPr/>
          </p:nvSpPr>
          <p:spPr bwMode="auto">
            <a:xfrm>
              <a:off x="5775223" y="4601524"/>
              <a:ext cx="317593" cy="0"/>
            </a:xfrm>
            <a:prstGeom prst="line">
              <a:avLst/>
            </a:prstGeom>
            <a:noFill/>
            <a:ln w="12700" cap="rnd">
              <a:solidFill>
                <a:srgbClr val="FF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fontAlgn="base">
                <a:lnSpc>
                  <a:spcPct val="120000"/>
                </a:lnSpc>
                <a:spcBef>
                  <a:spcPct val="20000"/>
                </a:spcBef>
                <a:spcAft>
                  <a:spcPct val="1"/>
                </a:spcAft>
                <a:buClr>
                  <a:srgbClr val="009DD9"/>
                </a:buClr>
                <a:buSzPct val="80000"/>
                <a:buFont typeface="Wingdings" panose="05000000000000000000" pitchFamily="2" charset="2"/>
                <a:buChar char="l"/>
                <a:defRPr/>
              </a:pPr>
              <a:endParaRPr kumimoji="true" lang="zh-CN" altLang="en-US" sz="3200" b="true" kern="0">
                <a:solidFill>
                  <a:srgbClr val="000000"/>
                </a:solidFill>
                <a:latin typeface="Arial" panose="020B0604020202090204" pitchFamily="34" charset="0"/>
                <a:ea typeface="楷体_GB2312" pitchFamily="49" charset="-122"/>
              </a:endParaRPr>
            </a:p>
          </p:txBody>
        </p:sp>
        <p:sp>
          <p:nvSpPr>
            <p:cNvPr id="34" name="Line 33"/>
            <p:cNvSpPr>
              <a:spLocks noChangeShapeType="true"/>
            </p:cNvSpPr>
            <p:nvPr/>
          </p:nvSpPr>
          <p:spPr bwMode="auto">
            <a:xfrm>
              <a:off x="5649735" y="4601524"/>
              <a:ext cx="2525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pPr fontAlgn="base">
                <a:lnSpc>
                  <a:spcPct val="120000"/>
                </a:lnSpc>
                <a:spcBef>
                  <a:spcPct val="20000"/>
                </a:spcBef>
                <a:spcAft>
                  <a:spcPct val="1"/>
                </a:spcAft>
                <a:buClr>
                  <a:srgbClr val="009DD9"/>
                </a:buClr>
                <a:buSzPct val="80000"/>
                <a:buFont typeface="Wingdings" panose="05000000000000000000" pitchFamily="2" charset="2"/>
                <a:buChar char="l"/>
                <a:defRPr/>
              </a:pPr>
              <a:endParaRPr kumimoji="true" lang="zh-CN" altLang="en-US" sz="3200" b="true" kern="0">
                <a:solidFill>
                  <a:srgbClr val="000000"/>
                </a:solidFill>
                <a:latin typeface="Arial" panose="020B0604020202090204" pitchFamily="34" charset="0"/>
                <a:ea typeface="楷体_GB2312" pitchFamily="49" charset="-122"/>
              </a:endParaRP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9493384" y="4218008"/>
              <a:ext cx="1462477" cy="645185"/>
              <a:chOff x="4914" y="2880"/>
              <a:chExt cx="1086" cy="323"/>
            </a:xfrm>
          </p:grpSpPr>
          <p:sp>
            <p:nvSpPr>
              <p:cNvPr id="36" name="Line 35"/>
              <p:cNvSpPr>
                <a:spLocks noChangeShapeType="true"/>
              </p:cNvSpPr>
              <p:nvPr/>
            </p:nvSpPr>
            <p:spPr bwMode="auto">
              <a:xfrm>
                <a:off x="5056" y="3072"/>
                <a:ext cx="283" cy="1"/>
              </a:xfrm>
              <a:prstGeom prst="line">
                <a:avLst/>
              </a:prstGeom>
              <a:noFill/>
              <a:ln w="12700" cap="rnd">
                <a:solidFill>
                  <a:srgbClr val="FF33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7" name="Line 36"/>
              <p:cNvSpPr>
                <a:spLocks noChangeShapeType="true"/>
              </p:cNvSpPr>
              <p:nvPr/>
            </p:nvSpPr>
            <p:spPr bwMode="auto">
              <a:xfrm>
                <a:off x="4914" y="3072"/>
                <a:ext cx="189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8" name="Text Box 37"/>
              <p:cNvSpPr txBox="true">
                <a:spLocks noChangeArrowheads="true"/>
              </p:cNvSpPr>
              <p:nvPr/>
            </p:nvSpPr>
            <p:spPr bwMode="auto">
              <a:xfrm>
                <a:off x="5433" y="2929"/>
                <a:ext cx="284" cy="199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false" fontAlgn="base" hangingPunct="false">
                  <a:spcBef>
                    <a:spcPct val="50000"/>
                  </a:spcBef>
                  <a:spcAft>
                    <a:spcPct val="1"/>
                  </a:spcAft>
                  <a:defRPr/>
                </a:pPr>
                <a:r>
                  <a:rPr kumimoji="true" lang="en-US" altLang="zh-CN" sz="20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n</a:t>
                </a:r>
                <a:endParaRPr kumimoji="true" lang="en-US" altLang="zh-CN" sz="2000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39" name="Rectangle 38"/>
              <p:cNvSpPr>
                <a:spLocks noChangeArrowheads="true"/>
              </p:cNvSpPr>
              <p:nvPr/>
            </p:nvSpPr>
            <p:spPr bwMode="auto">
              <a:xfrm>
                <a:off x="5339" y="2880"/>
                <a:ext cx="661" cy="323"/>
              </a:xfrm>
              <a:prstGeom prst="rect">
                <a:avLst/>
              </a:prstGeom>
              <a:solidFill>
                <a:srgbClr val="99CCFF"/>
              </a:solidFill>
              <a:ln w="12700" cap="rnd">
                <a:solidFill>
                  <a:srgbClr val="99CCFF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/>
                </a:pPr>
                <a:endParaRPr kumimoji="true" lang="zh-CN" altLang="en-US" sz="2000" b="true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grpSp>
            <p:nvGrpSpPr>
              <p:cNvPr id="40" name="Group 39"/>
              <p:cNvGrpSpPr/>
              <p:nvPr/>
            </p:nvGrpSpPr>
            <p:grpSpPr>
              <a:xfrm>
                <a:off x="5764" y="2976"/>
                <a:ext cx="189" cy="96"/>
                <a:chOff x="5616" y="2976"/>
                <a:chExt cx="192" cy="96"/>
              </a:xfrm>
            </p:grpSpPr>
            <p:sp>
              <p:nvSpPr>
                <p:cNvPr id="41" name="Line 40"/>
                <p:cNvSpPr>
                  <a:spLocks noChangeShapeType="true"/>
                </p:cNvSpPr>
                <p:nvPr/>
              </p:nvSpPr>
              <p:spPr bwMode="auto">
                <a:xfrm>
                  <a:off x="5712" y="2976"/>
                  <a:ext cx="96" cy="96"/>
                </a:xfrm>
                <a:prstGeom prst="line">
                  <a:avLst/>
                </a:prstGeom>
                <a:noFill/>
                <a:ln w="12700" cap="rnd">
                  <a:solidFill>
                    <a:srgbClr val="DBF5F9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fontAlgn="base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1"/>
                    </a:spcAft>
                    <a:buClr>
                      <a:srgbClr val="009DD9"/>
                    </a:buClr>
                    <a:buSzPct val="80000"/>
                    <a:buFont typeface="Wingdings" panose="05000000000000000000" pitchFamily="2" charset="2"/>
                    <a:buChar char="l"/>
                    <a:defRPr/>
                  </a:pPr>
                  <a:endParaRPr kumimoji="true" lang="zh-CN" altLang="en-US" sz="3200" b="true" kern="0">
                    <a:solidFill>
                      <a:srgbClr val="000000"/>
                    </a:solidFill>
                    <a:latin typeface="Arial" panose="020B060402020209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42" name="Line 41"/>
                <p:cNvSpPr>
                  <a:spLocks noChangeShapeType="true"/>
                </p:cNvSpPr>
                <p:nvPr/>
              </p:nvSpPr>
              <p:spPr bwMode="auto">
                <a:xfrm flipH="true">
                  <a:off x="5616" y="2976"/>
                  <a:ext cx="96" cy="96"/>
                </a:xfrm>
                <a:prstGeom prst="line">
                  <a:avLst/>
                </a:prstGeom>
                <a:noFill/>
                <a:ln w="12700" cap="rnd">
                  <a:solidFill>
                    <a:srgbClr val="DBF5F9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fontAlgn="base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1"/>
                    </a:spcAft>
                    <a:buClr>
                      <a:srgbClr val="009DD9"/>
                    </a:buClr>
                    <a:buSzPct val="80000"/>
                    <a:buFont typeface="Wingdings" panose="05000000000000000000" pitchFamily="2" charset="2"/>
                    <a:buChar char="l"/>
                    <a:defRPr/>
                  </a:pPr>
                  <a:endParaRPr kumimoji="true" lang="zh-CN" altLang="en-US" sz="3200" b="true" kern="0">
                    <a:solidFill>
                      <a:srgbClr val="000000"/>
                    </a:solidFill>
                    <a:latin typeface="Arial" panose="020B0604020202090204" pitchFamily="34" charset="0"/>
                    <a:ea typeface="楷体_GB2312" pitchFamily="49" charset="-122"/>
                  </a:endParaRPr>
                </a:p>
              </p:txBody>
            </p:sp>
          </p:grpSp>
          <p:sp>
            <p:nvSpPr>
              <p:cNvPr id="43" name="Text Box 42"/>
              <p:cNvSpPr txBox="true">
                <a:spLocks noChangeArrowheads="true"/>
              </p:cNvSpPr>
              <p:nvPr/>
            </p:nvSpPr>
            <p:spPr bwMode="auto">
              <a:xfrm>
                <a:off x="5340" y="2914"/>
                <a:ext cx="468" cy="229"/>
              </a:xfrm>
              <a:prstGeom prst="rect">
                <a:avLst/>
              </a:prstGeom>
              <a:noFill/>
              <a:ln w="12700" cap="rnd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false" fontAlgn="base" hangingPunct="false">
                  <a:spcBef>
                    <a:spcPct val="50000"/>
                  </a:spcBef>
                  <a:spcAft>
                    <a:spcPct val="1"/>
                  </a:spcAft>
                  <a:defRPr/>
                </a:pPr>
                <a:r>
                  <a:rPr kumimoji="true" lang="en-US" altLang="zh-CN" sz="24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a</a:t>
                </a:r>
                <a:r>
                  <a:rPr kumimoji="true" lang="en-US" altLang="zh-CN" sz="1600" kern="0">
                    <a:solidFill>
                      <a:srgbClr val="0000FF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n</a:t>
                </a:r>
                <a:endParaRPr kumimoji="true" lang="en-US" altLang="zh-CN" sz="2400" kern="0">
                  <a:solidFill>
                    <a:srgbClr val="0000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44" name="Line 43"/>
              <p:cNvSpPr>
                <a:spLocks noChangeShapeType="true"/>
              </p:cNvSpPr>
              <p:nvPr/>
            </p:nvSpPr>
            <p:spPr bwMode="auto">
              <a:xfrm>
                <a:off x="5669" y="2880"/>
                <a:ext cx="1" cy="323"/>
              </a:xfrm>
              <a:prstGeom prst="line">
                <a:avLst/>
              </a:prstGeom>
              <a:noFill/>
              <a:ln w="12700" cap="rnd">
                <a:solidFill>
                  <a:srgbClr val="DBF5F9"/>
                </a:solidFill>
                <a:round/>
              </a:ln>
              <a:effectLst/>
            </p:spPr>
            <p:txBody>
              <a:bodyPr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</p:grpSp>
      </p:grpSp>
      <p:grpSp>
        <p:nvGrpSpPr>
          <p:cNvPr id="45" name="组合 79"/>
          <p:cNvGrpSpPr/>
          <p:nvPr/>
        </p:nvGrpSpPr>
        <p:grpSpPr>
          <a:xfrm>
            <a:off x="1959167" y="3923112"/>
            <a:ext cx="1143335" cy="645185"/>
            <a:chOff x="2106637" y="4218008"/>
            <a:chExt cx="1143335" cy="645185"/>
          </a:xfrm>
        </p:grpSpPr>
        <p:sp>
          <p:nvSpPr>
            <p:cNvPr id="46" name="Rectangle 45"/>
            <p:cNvSpPr>
              <a:spLocks noChangeArrowheads="true"/>
            </p:cNvSpPr>
            <p:nvPr/>
          </p:nvSpPr>
          <p:spPr bwMode="auto">
            <a:xfrm>
              <a:off x="2106637" y="4218008"/>
              <a:ext cx="889260" cy="645185"/>
            </a:xfrm>
            <a:prstGeom prst="rect">
              <a:avLst/>
            </a:prstGeom>
            <a:solidFill>
              <a:srgbClr val="99CCFF"/>
            </a:solidFill>
            <a:ln w="12700" cap="rnd">
              <a:solidFill>
                <a:srgbClr val="99CCFF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false" fontAlgn="base" hangingPunct="false">
                <a:spcBef>
                  <a:spcPct val="1"/>
                </a:spcBef>
                <a:spcAft>
                  <a:spcPct val="1"/>
                </a:spcAft>
                <a:defRPr/>
              </a:pPr>
              <a:endParaRPr kumimoji="true" lang="zh-CN" altLang="en-US" sz="2000" b="true" kern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47" name="Line 46"/>
            <p:cNvSpPr>
              <a:spLocks noChangeShapeType="true"/>
            </p:cNvSpPr>
            <p:nvPr/>
          </p:nvSpPr>
          <p:spPr bwMode="auto">
            <a:xfrm>
              <a:off x="2551267" y="4218008"/>
              <a:ext cx="0" cy="645185"/>
            </a:xfrm>
            <a:prstGeom prst="line">
              <a:avLst/>
            </a:prstGeom>
            <a:noFill/>
            <a:ln w="12700" cap="rnd">
              <a:solidFill>
                <a:srgbClr val="DBF5F9"/>
              </a:solidFill>
              <a:round/>
            </a:ln>
            <a:effectLst/>
          </p:spPr>
          <p:txBody>
            <a:bodyPr/>
            <a:lstStyle/>
            <a:p>
              <a:pPr fontAlgn="base">
                <a:lnSpc>
                  <a:spcPct val="120000"/>
                </a:lnSpc>
                <a:spcBef>
                  <a:spcPct val="20000"/>
                </a:spcBef>
                <a:spcAft>
                  <a:spcPct val="1"/>
                </a:spcAft>
                <a:buClr>
                  <a:srgbClr val="009DD9"/>
                </a:buClr>
                <a:buSzPct val="80000"/>
                <a:buFont typeface="Wingdings" panose="05000000000000000000" pitchFamily="2" charset="2"/>
                <a:buChar char="l"/>
                <a:defRPr/>
              </a:pPr>
              <a:endParaRPr kumimoji="true" lang="zh-CN" altLang="en-US" sz="3200" b="true" kern="0">
                <a:solidFill>
                  <a:srgbClr val="000000"/>
                </a:solidFill>
                <a:latin typeface="Arial" panose="020B0604020202090204" pitchFamily="34" charset="0"/>
                <a:ea typeface="楷体_GB2312" pitchFamily="49" charset="-122"/>
              </a:endParaRPr>
            </a:p>
          </p:txBody>
        </p:sp>
        <p:sp>
          <p:nvSpPr>
            <p:cNvPr id="48" name="Line 47"/>
            <p:cNvSpPr>
              <a:spLocks noChangeShapeType="true"/>
            </p:cNvSpPr>
            <p:nvPr/>
          </p:nvSpPr>
          <p:spPr bwMode="auto">
            <a:xfrm>
              <a:off x="2805342" y="4601524"/>
              <a:ext cx="444630" cy="0"/>
            </a:xfrm>
            <a:prstGeom prst="line">
              <a:avLst/>
            </a:prstGeom>
            <a:noFill/>
            <a:ln w="12700" cap="rnd">
              <a:solidFill>
                <a:srgbClr val="FF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fontAlgn="base">
                <a:lnSpc>
                  <a:spcPct val="120000"/>
                </a:lnSpc>
                <a:spcBef>
                  <a:spcPct val="20000"/>
                </a:spcBef>
                <a:spcAft>
                  <a:spcPct val="1"/>
                </a:spcAft>
                <a:buClr>
                  <a:srgbClr val="009DD9"/>
                </a:buClr>
                <a:buSzPct val="80000"/>
                <a:buFont typeface="Wingdings" panose="05000000000000000000" pitchFamily="2" charset="2"/>
                <a:buChar char="l"/>
                <a:defRPr/>
              </a:pPr>
              <a:endParaRPr kumimoji="true" lang="zh-CN" altLang="en-US" sz="3200" b="true" kern="0">
                <a:solidFill>
                  <a:srgbClr val="000000"/>
                </a:solidFill>
                <a:latin typeface="Arial" panose="020B0604020202090204" pitchFamily="34" charset="0"/>
                <a:ea typeface="楷体_GB2312" pitchFamily="49" charset="-122"/>
              </a:endParaRPr>
            </a:p>
          </p:txBody>
        </p:sp>
      </p:grpSp>
      <p:sp>
        <p:nvSpPr>
          <p:cNvPr id="49" name="AutoShape 51"/>
          <p:cNvSpPr>
            <a:spLocks noChangeArrowheads="true"/>
          </p:cNvSpPr>
          <p:nvPr/>
        </p:nvSpPr>
        <p:spPr bwMode="auto">
          <a:xfrm>
            <a:off x="8234666" y="4940218"/>
            <a:ext cx="1902316" cy="586727"/>
          </a:xfrm>
          <a:prstGeom prst="wedgeEllipseCallout">
            <a:avLst>
              <a:gd name="adj1" fmla="val 78551"/>
              <a:gd name="adj2" fmla="val -122486"/>
            </a:avLst>
          </a:prstGeom>
          <a:gradFill rotWithShape="true">
            <a:gsLst>
              <a:gs pos="0">
                <a:srgbClr val="AABBDF">
                  <a:tint val="50000"/>
                  <a:satMod val="300000"/>
                </a:srgbClr>
              </a:gs>
              <a:gs pos="35000">
                <a:srgbClr val="AABBDF">
                  <a:tint val="37000"/>
                  <a:satMod val="300000"/>
                </a:srgbClr>
              </a:gs>
              <a:gs pos="100000">
                <a:srgbClr val="AABBDF">
                  <a:tint val="15000"/>
                  <a:satMod val="350000"/>
                </a:srgbClr>
              </a:gs>
            </a:gsLst>
            <a:lin ang="16200000" scaled="true"/>
          </a:gradFill>
          <a:ln w="9525" cap="flat" cmpd="sng" algn="ctr">
            <a:solidFill>
              <a:srgbClr val="AABBDF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eaLnBrk="false" fontAlgn="base" hangingPunct="false">
              <a:spcBef>
                <a:spcPct val="50000"/>
              </a:spcBef>
              <a:spcAft>
                <a:spcPct val="1"/>
              </a:spcAft>
              <a:defRPr/>
            </a:pPr>
            <a:r>
              <a:rPr kumimoji="true" lang="zh-CN" altLang="en-US" sz="2000" b="true" kern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 空指针</a:t>
            </a:r>
            <a:endParaRPr kumimoji="true" lang="zh-CN" altLang="en-US" sz="2000" b="true" kern="0">
              <a:solidFill>
                <a:srgbClr val="0000FF"/>
              </a:solidFill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50" name="组合 84"/>
          <p:cNvGrpSpPr/>
          <p:nvPr/>
        </p:nvGrpSpPr>
        <p:grpSpPr>
          <a:xfrm>
            <a:off x="1161795" y="3514897"/>
            <a:ext cx="1256747" cy="457200"/>
            <a:chOff x="1000012" y="3374917"/>
            <a:chExt cx="914401" cy="457200"/>
          </a:xfrm>
        </p:grpSpPr>
        <p:grpSp>
          <p:nvGrpSpPr>
            <p:cNvPr id="51" name="组合 85"/>
            <p:cNvGrpSpPr/>
            <p:nvPr/>
          </p:nvGrpSpPr>
          <p:grpSpPr>
            <a:xfrm>
              <a:off x="1138154" y="3475035"/>
              <a:ext cx="520543" cy="287636"/>
              <a:chOff x="1191040" y="2681950"/>
              <a:chExt cx="520543" cy="287636"/>
            </a:xfrm>
          </p:grpSpPr>
          <p:sp>
            <p:nvSpPr>
              <p:cNvPr id="52" name="Line 48"/>
              <p:cNvSpPr>
                <a:spLocks noChangeShapeType="true"/>
              </p:cNvSpPr>
              <p:nvPr/>
            </p:nvSpPr>
            <p:spPr bwMode="auto">
              <a:xfrm>
                <a:off x="1191040" y="2681950"/>
                <a:ext cx="520543" cy="0"/>
              </a:xfrm>
              <a:prstGeom prst="line">
                <a:avLst/>
              </a:prstGeom>
              <a:noFill/>
              <a:ln w="28575" cap="rnd">
                <a:solidFill>
                  <a:srgbClr val="04617B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53" name="Line 49"/>
              <p:cNvSpPr>
                <a:spLocks noChangeShapeType="true"/>
              </p:cNvSpPr>
              <p:nvPr/>
            </p:nvSpPr>
            <p:spPr bwMode="auto">
              <a:xfrm>
                <a:off x="1711583" y="2681950"/>
                <a:ext cx="0" cy="287636"/>
              </a:xfrm>
              <a:prstGeom prst="line">
                <a:avLst/>
              </a:prstGeom>
              <a:noFill/>
              <a:ln w="19050" cap="rnd">
                <a:solidFill>
                  <a:srgbClr val="04617B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1"/>
                  </a:spcAft>
                  <a:buClr>
                    <a:srgbClr val="009DD9"/>
                  </a:buClr>
                  <a:buSzPct val="80000"/>
                  <a:buFont typeface="Wingdings" panose="05000000000000000000" pitchFamily="2" charset="2"/>
                  <a:buChar char="l"/>
                  <a:defRPr/>
                </a:pPr>
                <a:endParaRPr kumimoji="true" lang="zh-CN" altLang="en-US" sz="3200" b="true" kern="0">
                  <a:solidFill>
                    <a:srgbClr val="000000"/>
                  </a:solidFill>
                  <a:latin typeface="Arial" panose="020B0604020202090204" pitchFamily="34" charset="0"/>
                  <a:ea typeface="楷体_GB2312" pitchFamily="49" charset="-122"/>
                </a:endParaRPr>
              </a:p>
            </p:txBody>
          </p:sp>
        </p:grpSp>
        <p:sp>
          <p:nvSpPr>
            <p:cNvPr id="54" name="Text Box 52"/>
            <p:cNvSpPr txBox="true">
              <a:spLocks noChangeArrowheads="true"/>
            </p:cNvSpPr>
            <p:nvPr/>
          </p:nvSpPr>
          <p:spPr bwMode="auto">
            <a:xfrm>
              <a:off x="1000012" y="3374917"/>
              <a:ext cx="914401" cy="457200"/>
            </a:xfrm>
            <a:prstGeom prst="rect">
              <a:avLst/>
            </a:prstGeom>
            <a:noFill/>
            <a:ln w="12700" cap="rnd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false" fontAlgn="base" hangingPunct="false">
                <a:spcBef>
                  <a:spcPct val="50000"/>
                </a:spcBef>
                <a:spcAft>
                  <a:spcPct val="1"/>
                </a:spcAft>
              </a:pPr>
              <a:r>
                <a:rPr kumimoji="true" lang="en-US" altLang="zh-CN" sz="2400">
                  <a:solidFill>
                    <a:srgbClr val="FF0000"/>
                  </a:solidFill>
                  <a:latin typeface="Times New Roman" panose="02020503050405090304" pitchFamily="18" charset="0"/>
                  <a:ea typeface="隶书" panose="02010509060101010101" pitchFamily="49" charset="-122"/>
                  <a:cs typeface="Times New Roman" panose="02020503050405090304" pitchFamily="18" charset="0"/>
                </a:rPr>
                <a:t>  head</a:t>
              </a:r>
              <a:endParaRPr kumimoji="true"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隶书" panose="02010509060101010101" pitchFamily="49" charset="-122"/>
                <a:cs typeface="Times New Roman" panose="02020503050405090304" pitchFamily="18" charset="0"/>
              </a:endParaRPr>
            </a:p>
          </p:txBody>
        </p:sp>
      </p:grpSp>
      <p:sp>
        <p:nvSpPr>
          <p:cNvPr id="55" name="TextBox 7"/>
          <p:cNvSpPr txBox="true"/>
          <p:nvPr/>
        </p:nvSpPr>
        <p:spPr>
          <a:xfrm>
            <a:off x="1938913" y="5142714"/>
            <a:ext cx="5958178" cy="10147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false">
            <a:spAutoFit/>
          </a:bodyPr>
          <a:lstStyle/>
          <a:p>
            <a:pPr/>
            <a:r>
              <a:rPr lang="zh-CN" altLang="en-US" sz="20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头结点和头指针的区别</a:t>
            </a:r>
            <a:r>
              <a:rPr lang="zh-CN" altLang="en-US" sz="2000" b="true">
                <a:latin typeface="黑体" panose="02010609060101010101" pitchFamily="49" charset="-122"/>
                <a:ea typeface="黑体" panose="02010609060101010101" pitchFamily="49" charset="-122"/>
              </a:rPr>
              <a:t>：不管带不带头结点，头指针始终指向链表的第一个结点，而头结点是带头结点链表中的第一个结点，结点内通常不存储信息。</a:t>
            </a:r>
            <a:endParaRPr lang="en-US" altLang="zh-CN" sz="2000" b="true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" name="Text Box 25"/>
          <p:cNvSpPr txBox="true">
            <a:spLocks noChangeArrowheads="true"/>
          </p:cNvSpPr>
          <p:nvPr/>
        </p:nvSpPr>
        <p:spPr bwMode="auto">
          <a:xfrm>
            <a:off x="1965370" y="4048692"/>
            <a:ext cx="453299" cy="400110"/>
          </a:xfrm>
          <a:prstGeom prst="rect">
            <a:avLst/>
          </a:prstGeom>
          <a:noFill/>
          <a:ln w="12700" cap="rnd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false" fontAlgn="base" hangingPunct="false">
              <a:spcBef>
                <a:spcPct val="50000"/>
              </a:spcBef>
              <a:spcAft>
                <a:spcPct val="1"/>
              </a:spcAft>
              <a:defRPr/>
            </a:pPr>
            <a:r>
              <a:rPr kumimoji="true" lang="zh-CN" altLang="en-US" sz="2000" kern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空</a:t>
            </a:r>
            <a:endParaRPr kumimoji="true" lang="en-US" altLang="zh-CN" sz="2000" kern="0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7" name="图片 92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799" y="3918385"/>
            <a:ext cx="439284" cy="645185"/>
          </a:xfrm>
          <a:prstGeom prst="rect">
            <a:avLst/>
          </a:prstGeom>
        </p:spPr>
      </p:pic>
      <p:sp>
        <p:nvSpPr>
          <p:cNvPr id="58" name="文本框 94"/>
          <p:cNvSpPr txBox="true"/>
          <p:nvPr/>
        </p:nvSpPr>
        <p:spPr>
          <a:xfrm>
            <a:off x="1261886" y="3217840"/>
            <a:ext cx="914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sz="18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头指针</a:t>
            </a:r>
            <a:endParaRPr lang="zh-CN" altLang="en-US"/>
          </a:p>
        </p:txBody>
      </p:sp>
      <p:sp>
        <p:nvSpPr>
          <p:cNvPr id="59" name="文本框 95"/>
          <p:cNvSpPr txBox="true"/>
          <p:nvPr/>
        </p:nvSpPr>
        <p:spPr>
          <a:xfrm>
            <a:off x="1981032" y="4524744"/>
            <a:ext cx="914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sz="18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头节点</a:t>
            </a:r>
            <a:endParaRPr lang="zh-CN" altLang="en-US"/>
          </a:p>
        </p:txBody>
      </p:sp>
      <p:sp>
        <p:nvSpPr>
          <p:cNvPr id="60" name="灯片编号占位符 1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2"/>
          <p:cNvSpPr>
            <a:spLocks noGrp="true"/>
          </p:cNvSpPr>
          <p:nvPr>
            <p:ph type="title"/>
          </p:nvPr>
        </p:nvSpPr>
        <p:spPr>
          <a:xfrm>
            <a:off x="2250440" y="654685"/>
            <a:ext cx="851471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7.1.3.1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向链表中添加节点操作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63" name="Rectangle 3"/>
          <p:cNvSpPr>
            <a:spLocks noGrp="true"/>
          </p:cNvSpPr>
          <p:nvPr>
            <p:ph idx="1"/>
          </p:nvPr>
        </p:nvSpPr>
        <p:spPr>
          <a:xfrm>
            <a:off x="191135" y="1337310"/>
            <a:ext cx="6337300" cy="1151890"/>
          </a:xfrm>
        </p:spPr>
        <p:txBody>
          <a:bodyPr vert="horz" wrap="square" lIns="91440" tIns="45720" rIns="91440" bIns="45720" anchor="t" anchorCtr="false">
            <a:normAutofit fontScale="97500"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sz="29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若原链表为</a:t>
            </a:r>
            <a:r>
              <a:rPr lang="zh-CN" altLang="en-US" sz="2900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空表</a:t>
            </a:r>
            <a:r>
              <a:rPr lang="zh-CN" altLang="en-US" sz="29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en-US" altLang="zh-CN" sz="29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</a:t>
            </a:r>
            <a:r>
              <a:rPr lang="en-US" altLang="zh-CN" sz="2900" b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head == NULL</a:t>
            </a:r>
            <a:r>
              <a:rPr lang="en-US" altLang="zh-CN" sz="29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)</a:t>
            </a:r>
            <a:r>
              <a:rPr lang="zh-CN" altLang="en-US" sz="29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，</a:t>
            </a:r>
            <a:endParaRPr lang="zh-CN" altLang="en-US" sz="29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sz="29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sz="29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则将头指针指向新建节点</a:t>
            </a:r>
            <a:r>
              <a:rPr lang="en-US" altLang="zh-CN" sz="29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p</a:t>
            </a:r>
            <a:endParaRPr lang="zh-CN" altLang="en-US" sz="29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ea typeface="仿宋_GB2312" pitchFamily="49" charset="-122"/>
            </a:endParaRPr>
          </a:p>
        </p:txBody>
      </p:sp>
      <p:grpSp>
        <p:nvGrpSpPr>
          <p:cNvPr id="64" name="Group 34"/>
          <p:cNvGrpSpPr/>
          <p:nvPr/>
        </p:nvGrpSpPr>
        <p:grpSpPr>
          <a:xfrm>
            <a:off x="2104207" y="4151078"/>
            <a:ext cx="1092200" cy="431800"/>
            <a:chOff x="1156" y="2568"/>
            <a:chExt cx="635" cy="272"/>
          </a:xfrm>
        </p:grpSpPr>
        <p:sp>
          <p:nvSpPr>
            <p:cNvPr id="65" name="Rectangle 27"/>
            <p:cNvSpPr>
              <a:spLocks noChangeArrowheads="true"/>
            </p:cNvSpPr>
            <p:nvPr/>
          </p:nvSpPr>
          <p:spPr bwMode="auto">
            <a:xfrm>
              <a:off x="1565" y="2568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66" name="Rectangle 32"/>
            <p:cNvSpPr>
              <a:spLocks noChangeArrowheads="true"/>
            </p:cNvSpPr>
            <p:nvPr/>
          </p:nvSpPr>
          <p:spPr bwMode="auto">
            <a:xfrm>
              <a:off x="1156" y="2568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67" name="Rectangle 28"/>
          <p:cNvSpPr>
            <a:spLocks noChangeArrowheads="true"/>
          </p:cNvSpPr>
          <p:nvPr/>
        </p:nvSpPr>
        <p:spPr bwMode="auto">
          <a:xfrm>
            <a:off x="1533501" y="3668159"/>
            <a:ext cx="234156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(1) head = p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8" name="Freeform 26"/>
          <p:cNvSpPr/>
          <p:nvPr/>
        </p:nvSpPr>
        <p:spPr bwMode="auto">
          <a:xfrm>
            <a:off x="3042420" y="4366978"/>
            <a:ext cx="466725" cy="503238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69" name="Group 47"/>
          <p:cNvGrpSpPr/>
          <p:nvPr/>
        </p:nvGrpSpPr>
        <p:grpSpPr>
          <a:xfrm>
            <a:off x="2501082" y="4440003"/>
            <a:ext cx="3311525" cy="801688"/>
            <a:chOff x="1205" y="2659"/>
            <a:chExt cx="1926" cy="505"/>
          </a:xfrm>
        </p:grpSpPr>
        <p:grpSp>
          <p:nvGrpSpPr>
            <p:cNvPr id="70" name="Group 45"/>
            <p:cNvGrpSpPr/>
            <p:nvPr/>
          </p:nvGrpSpPr>
          <p:grpSpPr>
            <a:xfrm>
              <a:off x="1205" y="2881"/>
              <a:ext cx="1630" cy="283"/>
              <a:chOff x="1205" y="2881"/>
              <a:chExt cx="1630" cy="283"/>
            </a:xfrm>
          </p:grpSpPr>
          <p:sp>
            <p:nvSpPr>
              <p:cNvPr id="71" name="Rectangle 4"/>
              <p:cNvSpPr>
                <a:spLocks noChangeArrowheads="true"/>
              </p:cNvSpPr>
              <p:nvPr/>
            </p:nvSpPr>
            <p:spPr bwMode="auto">
              <a:xfrm>
                <a:off x="1792" y="2892"/>
                <a:ext cx="634" cy="27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algn="ctr"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data</a:t>
                </a:r>
                <a:endParaRPr lang="en-US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72" name="Rectangle 5"/>
              <p:cNvSpPr>
                <a:spLocks noChangeArrowheads="true"/>
              </p:cNvSpPr>
              <p:nvPr/>
            </p:nvSpPr>
            <p:spPr bwMode="auto">
              <a:xfrm>
                <a:off x="2426" y="2892"/>
                <a:ext cx="409" cy="27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1800" b="true">
                    <a:latin typeface="华文中宋" panose="02010600040101010101" charset="-122"/>
                    <a:ea typeface="华文中宋" panose="02010600040101010101" charset="-122"/>
                  </a:rPr>
                  <a:t>n</a:t>
                </a: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ext</a:t>
                </a:r>
                <a:endParaRPr lang="zh-CN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73" name="Rectangle 8"/>
              <p:cNvSpPr>
                <a:spLocks noChangeArrowheads="true"/>
              </p:cNvSpPr>
              <p:nvPr/>
            </p:nvSpPr>
            <p:spPr bwMode="auto">
              <a:xfrm>
                <a:off x="1205" y="2881"/>
                <a:ext cx="273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    p</a:t>
                </a:r>
                <a:endParaRPr lang="en-US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74" name="Line 29"/>
              <p:cNvSpPr>
                <a:spLocks noChangeShapeType="true"/>
              </p:cNvSpPr>
              <p:nvPr/>
            </p:nvSpPr>
            <p:spPr bwMode="auto">
              <a:xfrm>
                <a:off x="1565" y="2997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75" name="Rectangle 32"/>
            <p:cNvSpPr>
              <a:spLocks noChangeArrowheads="true"/>
            </p:cNvSpPr>
            <p:nvPr/>
          </p:nvSpPr>
          <p:spPr bwMode="auto">
            <a:xfrm>
              <a:off x="1770" y="2659"/>
              <a:ext cx="1361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新建节点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76" name="Text Box 34"/>
          <p:cNvSpPr txBox="true">
            <a:spLocks noChangeArrowheads="true"/>
          </p:cNvSpPr>
          <p:nvPr/>
        </p:nvSpPr>
        <p:spPr bwMode="auto">
          <a:xfrm>
            <a:off x="1583507" y="5541728"/>
            <a:ext cx="3352800" cy="431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/>
          <a:lstStyle/>
          <a:p>
            <a:pPr algn="just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(2) pr = p</a:t>
            </a:r>
            <a:endParaRPr lang="en-US" altLang="zh-CN" sz="2000" b="true">
              <a:latin typeface="华文中宋" panose="02010600040101010101" charset="-122"/>
              <a:ea typeface="华文中宋" panose="02010600040101010101" charset="-122"/>
            </a:endParaRPr>
          </a:p>
          <a:p>
            <a:pPr algn="just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sz="2000">
              <a:effectLst>
                <a:outerShdw blurRad="38100" dist="38100" dir="2700000" algn="tl">
                  <a:srgbClr val="C0C0C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7" name="Rectangle 8"/>
          <p:cNvSpPr>
            <a:spLocks noChangeArrowheads="true"/>
          </p:cNvSpPr>
          <p:nvPr/>
        </p:nvSpPr>
        <p:spPr bwMode="auto">
          <a:xfrm>
            <a:off x="4679132" y="4871803"/>
            <a:ext cx="547688" cy="28733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true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  <a:ea typeface="华文中宋" panose="02010600040101010101" charset="-122"/>
              </a:rPr>
              <a:t>∧</a:t>
            </a:r>
            <a:endParaRPr lang="en-US" altLang="zh-CN" b="true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78" name="Group 46"/>
          <p:cNvGrpSpPr/>
          <p:nvPr/>
        </p:nvGrpSpPr>
        <p:grpSpPr>
          <a:xfrm>
            <a:off x="2704282" y="5014678"/>
            <a:ext cx="803275" cy="288925"/>
            <a:chOff x="1324" y="3021"/>
            <a:chExt cx="467" cy="182"/>
          </a:xfrm>
        </p:grpSpPr>
        <p:sp>
          <p:nvSpPr>
            <p:cNvPr id="79" name="Rectangle 8"/>
            <p:cNvSpPr>
              <a:spLocks noChangeArrowheads="true"/>
            </p:cNvSpPr>
            <p:nvPr/>
          </p:nvSpPr>
          <p:spPr bwMode="auto">
            <a:xfrm>
              <a:off x="1324" y="3021"/>
              <a:ext cx="355" cy="1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just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1800" b="true">
                  <a:solidFill>
                    <a:srgbClr val="FF0000"/>
                  </a:solidFill>
                  <a:latin typeface="华文中宋" panose="02010600040101010101" charset="-122"/>
                  <a:ea typeface="华文中宋" panose="02010600040101010101" charset="-122"/>
                </a:rPr>
                <a:t>pr</a:t>
              </a:r>
              <a:endParaRPr lang="en-US" altLang="zh-CN" sz="1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80" name="Line 43"/>
            <p:cNvSpPr>
              <a:spLocks noChangeShapeType="true"/>
            </p:cNvSpPr>
            <p:nvPr/>
          </p:nvSpPr>
          <p:spPr bwMode="auto">
            <a:xfrm>
              <a:off x="1565" y="3119"/>
              <a:ext cx="22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81" name="Text Box 50"/>
          <p:cNvSpPr txBox="true">
            <a:spLocks noChangeArrowheads="true"/>
          </p:cNvSpPr>
          <p:nvPr/>
        </p:nvSpPr>
        <p:spPr bwMode="auto">
          <a:xfrm>
            <a:off x="1594620" y="5925903"/>
            <a:ext cx="3354387" cy="5032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/>
          <a:lstStyle/>
          <a:p>
            <a:pPr algn="just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(3) pr-&gt;next = NULL</a:t>
            </a:r>
            <a:endParaRPr lang="en-US" altLang="zh-CN" sz="2000">
              <a:effectLst>
                <a:outerShdw blurRad="38100" dist="38100" dir="2700000" algn="tl">
                  <a:srgbClr val="C0C0C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2" name="Rectangle 64"/>
          <p:cNvSpPr>
            <a:spLocks noChangeArrowheads="true"/>
          </p:cNvSpPr>
          <p:nvPr/>
        </p:nvSpPr>
        <p:spPr bwMode="auto">
          <a:xfrm>
            <a:off x="1266825" y="2469515"/>
            <a:ext cx="9686925" cy="869950"/>
          </a:xfrm>
          <a:prstGeom prst="rect">
            <a:avLst/>
          </a:prstGeom>
          <a:solidFill>
            <a:srgbClr val="FFFFCC"/>
          </a:solidFill>
          <a:ln w="12700">
            <a:solidFill>
              <a:srgbClr val="2DAB24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struct link </a:t>
            </a:r>
            <a:r>
              <a:rPr lang="en-US" altLang="zh-CN" sz="1800" b="true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*</a:t>
            </a:r>
            <a:r>
              <a: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p = ( struct link </a:t>
            </a:r>
            <a:r>
              <a:rPr lang="en-US" altLang="zh-CN" sz="1800" b="true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*</a:t>
            </a:r>
            <a:r>
              <a: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) </a:t>
            </a:r>
            <a:r>
              <a:rPr lang="en-US" altLang="zh-CN" sz="1800" b="true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malloc</a:t>
            </a:r>
            <a:r>
              <a: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( </a:t>
            </a:r>
            <a:r>
              <a:rPr lang="en-US" altLang="zh-CN" sz="1800" b="tru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sizeof</a:t>
            </a:r>
            <a:r>
              <a: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( struct link ) );</a:t>
            </a:r>
            <a:endParaRPr lang="en-US" altLang="zh-CN" sz="1800" b="tru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p-&gt;data = </a:t>
            </a:r>
            <a:r>
              <a:rPr lang="en-US" altLang="zh-CN" sz="1800" b="tru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nodeData</a:t>
            </a:r>
            <a:r>
              <a: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;</a:t>
            </a:r>
            <a:endParaRPr lang="zh-CN" altLang="en-US" sz="1800" b="tru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</p:txBody>
      </p:sp>
      <p:sp>
        <p:nvSpPr>
          <p:cNvPr id="83" name="矩形 26"/>
          <p:cNvSpPr/>
          <p:nvPr/>
        </p:nvSpPr>
        <p:spPr>
          <a:xfrm>
            <a:off x="7293107" y="5656653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O(1)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84" name="table 706"/>
          <p:cNvGraphicFramePr/>
          <p:nvPr/>
        </p:nvGraphicFramePr>
        <p:xfrm>
          <a:off x="7639685" y="3964305"/>
          <a:ext cx="3554095" cy="1621155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5409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621155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85" name="灯片编号占位符 2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"/>
          <p:cNvSpPr>
            <a:spLocks noGrp="true"/>
          </p:cNvSpPr>
          <p:nvPr>
            <p:ph type="title"/>
          </p:nvPr>
        </p:nvSpPr>
        <p:spPr>
          <a:xfrm>
            <a:off x="2250440" y="654685"/>
            <a:ext cx="851471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7.1.3.1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向链表中添加节点操作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88" name="Rectangle 3"/>
          <p:cNvSpPr>
            <a:spLocks noGrp="true"/>
          </p:cNvSpPr>
          <p:nvPr>
            <p:ph idx="1"/>
          </p:nvPr>
        </p:nvSpPr>
        <p:spPr>
          <a:xfrm>
            <a:off x="191135" y="1337310"/>
            <a:ext cx="6337300" cy="1151890"/>
          </a:xfrm>
        </p:spPr>
        <p:txBody>
          <a:bodyPr vert="horz" wrap="square" lIns="91440" tIns="45720" rIns="91440" bIns="45720" anchor="t" anchorCtr="false">
            <a:norm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若原链表为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非空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则将新建节点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p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添加到表尾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89" name="Group 42"/>
          <p:cNvGrpSpPr/>
          <p:nvPr/>
        </p:nvGrpSpPr>
        <p:grpSpPr>
          <a:xfrm>
            <a:off x="4571042" y="4209779"/>
            <a:ext cx="2911475" cy="801688"/>
            <a:chOff x="2869" y="3016"/>
            <a:chExt cx="1692" cy="505"/>
          </a:xfrm>
        </p:grpSpPr>
        <p:grpSp>
          <p:nvGrpSpPr>
            <p:cNvPr id="90" name="Group 29"/>
            <p:cNvGrpSpPr/>
            <p:nvPr/>
          </p:nvGrpSpPr>
          <p:grpSpPr>
            <a:xfrm>
              <a:off x="3056" y="3016"/>
              <a:ext cx="1505" cy="505"/>
              <a:chOff x="3742" y="2976"/>
              <a:chExt cx="1505" cy="505"/>
            </a:xfrm>
          </p:grpSpPr>
          <p:sp>
            <p:nvSpPr>
              <p:cNvPr id="91" name="Rectangle 4"/>
              <p:cNvSpPr>
                <a:spLocks noChangeArrowheads="true"/>
              </p:cNvSpPr>
              <p:nvPr/>
            </p:nvSpPr>
            <p:spPr bwMode="auto">
              <a:xfrm>
                <a:off x="3969" y="3209"/>
                <a:ext cx="634" cy="27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algn="ctr"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data</a:t>
                </a:r>
                <a:endParaRPr lang="en-US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92" name="Rectangle 5"/>
              <p:cNvSpPr>
                <a:spLocks noChangeArrowheads="true"/>
              </p:cNvSpPr>
              <p:nvPr/>
            </p:nvSpPr>
            <p:spPr bwMode="auto">
              <a:xfrm>
                <a:off x="4603" y="3209"/>
                <a:ext cx="409" cy="27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1800" b="true">
                    <a:latin typeface="华文中宋" panose="02010600040101010101" charset="-122"/>
                    <a:ea typeface="华文中宋" panose="02010600040101010101" charset="-122"/>
                  </a:rPr>
                  <a:t>n</a:t>
                </a: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ext</a:t>
                </a:r>
                <a:endParaRPr lang="zh-CN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93" name="Line 25"/>
              <p:cNvSpPr>
                <a:spLocks noChangeShapeType="true"/>
              </p:cNvSpPr>
              <p:nvPr/>
            </p:nvSpPr>
            <p:spPr bwMode="auto">
              <a:xfrm>
                <a:off x="3742" y="3280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94" name="Rectangle 26"/>
              <p:cNvSpPr>
                <a:spLocks noChangeArrowheads="true"/>
              </p:cNvSpPr>
              <p:nvPr/>
            </p:nvSpPr>
            <p:spPr bwMode="auto">
              <a:xfrm>
                <a:off x="3890" y="2976"/>
                <a:ext cx="1357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000" b="true">
                    <a:latin typeface="华文中宋" panose="02010600040101010101" charset="-122"/>
                    <a:ea typeface="华文中宋" panose="02010600040101010101" charset="-122"/>
                  </a:rPr>
                  <a:t>新建节点</a:t>
                </a:r>
                <a:endParaRPr lang="zh-CN" altLang="en-US" sz="20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95" name="Rectangle 27"/>
            <p:cNvSpPr>
              <a:spLocks noChangeArrowheads="true"/>
            </p:cNvSpPr>
            <p:nvPr/>
          </p:nvSpPr>
          <p:spPr bwMode="auto">
            <a:xfrm>
              <a:off x="2869" y="3169"/>
              <a:ext cx="18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p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96" name="Rectangle 8"/>
          <p:cNvSpPr>
            <a:spLocks noChangeArrowheads="true"/>
          </p:cNvSpPr>
          <p:nvPr/>
        </p:nvSpPr>
        <p:spPr bwMode="auto">
          <a:xfrm>
            <a:off x="1192842" y="2844529"/>
            <a:ext cx="312102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(1) pr-&gt;next = p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7" name="Text Box 17"/>
          <p:cNvSpPr txBox="true">
            <a:spLocks noChangeArrowheads="true"/>
          </p:cNvSpPr>
          <p:nvPr/>
        </p:nvSpPr>
        <p:spPr bwMode="auto">
          <a:xfrm>
            <a:off x="1237292" y="4795567"/>
            <a:ext cx="3352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just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(2) pr = p</a:t>
            </a:r>
            <a:endParaRPr lang="en-US" altLang="zh-CN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8" name="Rectangle 8"/>
          <p:cNvSpPr>
            <a:spLocks noChangeArrowheads="true"/>
          </p:cNvSpPr>
          <p:nvPr/>
        </p:nvSpPr>
        <p:spPr bwMode="auto">
          <a:xfrm>
            <a:off x="6461755" y="4651104"/>
            <a:ext cx="546100" cy="28733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true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  <a:ea typeface="华文中宋" panose="02010600040101010101" charset="-122"/>
              </a:rPr>
              <a:t>∧</a:t>
            </a:r>
            <a:endParaRPr lang="en-US" altLang="zh-CN" b="true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99" name="Group 43"/>
          <p:cNvGrpSpPr/>
          <p:nvPr/>
        </p:nvGrpSpPr>
        <p:grpSpPr>
          <a:xfrm>
            <a:off x="1313492" y="3354117"/>
            <a:ext cx="3198813" cy="1090612"/>
            <a:chOff x="975" y="2477"/>
            <a:chExt cx="1860" cy="687"/>
          </a:xfrm>
        </p:grpSpPr>
        <p:sp>
          <p:nvSpPr>
            <p:cNvPr id="100" name="Rectangle 27"/>
            <p:cNvSpPr>
              <a:spLocks noChangeArrowheads="true"/>
            </p:cNvSpPr>
            <p:nvPr/>
          </p:nvSpPr>
          <p:spPr bwMode="auto">
            <a:xfrm>
              <a:off x="1384" y="2477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01" name="Rectangle 32"/>
            <p:cNvSpPr>
              <a:spLocks noChangeArrowheads="true"/>
            </p:cNvSpPr>
            <p:nvPr/>
          </p:nvSpPr>
          <p:spPr bwMode="auto">
            <a:xfrm>
              <a:off x="975" y="2477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02" name="Freeform 26"/>
            <p:cNvSpPr/>
            <p:nvPr/>
          </p:nvSpPr>
          <p:spPr bwMode="auto">
            <a:xfrm>
              <a:off x="1520" y="2613"/>
              <a:ext cx="272" cy="317"/>
            </a:xfrm>
            <a:custGeom>
              <a:avLst/>
              <a:gdLst>
                <a:gd name="T0" fmla="*/ 0 w 318"/>
                <a:gd name="T1" fmla="*/ 0 h 317"/>
                <a:gd name="T2" fmla="*/ 12376700 w 318"/>
                <a:gd name="T3" fmla="*/ 2147459781 h 317"/>
                <a:gd name="T4" fmla="*/ 12376700 w 318"/>
                <a:gd name="T5" fmla="*/ 2147459781 h 317"/>
                <a:gd name="T6" fmla="*/ 0 60000 65536"/>
                <a:gd name="T7" fmla="*/ 0 60000 65536"/>
                <a:gd name="T8" fmla="*/ 0 60000 65536"/>
                <a:gd name="T9" fmla="*/ 0 w 318"/>
                <a:gd name="T10" fmla="*/ 0 h 317"/>
                <a:gd name="T11" fmla="*/ 318 w 318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8" h="317">
                  <a:moveTo>
                    <a:pt x="0" y="0"/>
                  </a:moveTo>
                  <a:cubicBezTo>
                    <a:pt x="19" y="87"/>
                    <a:pt x="38" y="174"/>
                    <a:pt x="91" y="227"/>
                  </a:cubicBezTo>
                  <a:cubicBezTo>
                    <a:pt x="144" y="280"/>
                    <a:pt x="231" y="298"/>
                    <a:pt x="318" y="3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03" name="Rectangle 4"/>
            <p:cNvSpPr>
              <a:spLocks noChangeArrowheads="true"/>
            </p:cNvSpPr>
            <p:nvPr/>
          </p:nvSpPr>
          <p:spPr bwMode="auto">
            <a:xfrm>
              <a:off x="1792" y="2892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04" name="Rectangle 5"/>
            <p:cNvSpPr>
              <a:spLocks noChangeArrowheads="true"/>
            </p:cNvSpPr>
            <p:nvPr/>
          </p:nvSpPr>
          <p:spPr bwMode="auto">
            <a:xfrm>
              <a:off x="2426" y="2892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zh-CN" sz="1800" b="true">
                  <a:latin typeface="华文中宋" panose="02010600040101010101" charset="-122"/>
                  <a:ea typeface="华文中宋" panose="02010600040101010101" charset="-122"/>
                </a:rPr>
                <a:t>∧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105" name="Group 44"/>
          <p:cNvGrpSpPr/>
          <p:nvPr/>
        </p:nvGrpSpPr>
        <p:grpSpPr>
          <a:xfrm>
            <a:off x="1913567" y="4217717"/>
            <a:ext cx="803275" cy="288925"/>
            <a:chOff x="1324" y="3021"/>
            <a:chExt cx="467" cy="182"/>
          </a:xfrm>
        </p:grpSpPr>
        <p:sp>
          <p:nvSpPr>
            <p:cNvPr id="106" name="Rectangle 8"/>
            <p:cNvSpPr>
              <a:spLocks noChangeArrowheads="true"/>
            </p:cNvSpPr>
            <p:nvPr/>
          </p:nvSpPr>
          <p:spPr bwMode="auto">
            <a:xfrm>
              <a:off x="1324" y="3021"/>
              <a:ext cx="355" cy="1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just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pr</a:t>
              </a:r>
              <a:endParaRPr lang="en-US" altLang="zh-CN" sz="1800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07" name="Line 21"/>
            <p:cNvSpPr>
              <a:spLocks noChangeShapeType="true"/>
            </p:cNvSpPr>
            <p:nvPr/>
          </p:nvSpPr>
          <p:spPr bwMode="auto">
            <a:xfrm>
              <a:off x="1565" y="3119"/>
              <a:ext cx="2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108" name="Group 41"/>
          <p:cNvGrpSpPr/>
          <p:nvPr/>
        </p:nvGrpSpPr>
        <p:grpSpPr>
          <a:xfrm>
            <a:off x="4488492" y="4793979"/>
            <a:ext cx="803275" cy="288925"/>
            <a:chOff x="3547" y="2477"/>
            <a:chExt cx="467" cy="182"/>
          </a:xfrm>
        </p:grpSpPr>
        <p:sp>
          <p:nvSpPr>
            <p:cNvPr id="109" name="Rectangle 8"/>
            <p:cNvSpPr>
              <a:spLocks noChangeArrowheads="true"/>
            </p:cNvSpPr>
            <p:nvPr/>
          </p:nvSpPr>
          <p:spPr bwMode="auto">
            <a:xfrm>
              <a:off x="3547" y="2477"/>
              <a:ext cx="355" cy="1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just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1800" b="true">
                  <a:solidFill>
                    <a:srgbClr val="FF0000"/>
                  </a:solidFill>
                  <a:latin typeface="华文中宋" panose="02010600040101010101" charset="-122"/>
                  <a:ea typeface="华文中宋" panose="02010600040101010101" charset="-122"/>
                </a:rPr>
                <a:t>pr</a:t>
              </a:r>
              <a:endParaRPr lang="en-US" altLang="zh-CN" sz="1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10" name="Line 40"/>
            <p:cNvSpPr>
              <a:spLocks noChangeShapeType="true"/>
            </p:cNvSpPr>
            <p:nvPr/>
          </p:nvSpPr>
          <p:spPr bwMode="auto">
            <a:xfrm>
              <a:off x="3788" y="2575"/>
              <a:ext cx="22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11" name="Text Box 45"/>
          <p:cNvSpPr txBox="true">
            <a:spLocks noChangeArrowheads="true"/>
          </p:cNvSpPr>
          <p:nvPr/>
        </p:nvSpPr>
        <p:spPr bwMode="auto">
          <a:xfrm>
            <a:off x="1237292" y="5200379"/>
            <a:ext cx="3352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just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(3) pr-&gt;next = NULL</a:t>
            </a:r>
            <a:endParaRPr lang="en-US" altLang="zh-CN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2" name="Rectangle 5"/>
          <p:cNvSpPr>
            <a:spLocks noChangeArrowheads="true"/>
          </p:cNvSpPr>
          <p:nvPr/>
        </p:nvSpPr>
        <p:spPr bwMode="auto">
          <a:xfrm>
            <a:off x="3858255" y="4063729"/>
            <a:ext cx="568325" cy="3492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n</a:t>
            </a:r>
            <a:r>
              <a:rPr lang="en-US" altLang="zh-CN" sz="18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ext</a:t>
            </a:r>
            <a:endParaRPr lang="zh-CN" altLang="zh-CN" sz="1800" b="true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3" name="Freeform 26"/>
          <p:cNvSpPr/>
          <p:nvPr/>
        </p:nvSpPr>
        <p:spPr bwMode="auto">
          <a:xfrm>
            <a:off x="4356730" y="4363767"/>
            <a:ext cx="935037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4" name="矩形 3"/>
          <p:cNvSpPr/>
          <p:nvPr/>
        </p:nvSpPr>
        <p:spPr>
          <a:xfrm>
            <a:off x="7482517" y="4954614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O(1)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15" name="table 706"/>
          <p:cNvGraphicFramePr/>
          <p:nvPr/>
        </p:nvGraphicFramePr>
        <p:xfrm>
          <a:off x="7567930" y="3244850"/>
          <a:ext cx="3531870" cy="162306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3187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62306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16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2"/>
          <p:cNvSpPr>
            <a:spLocks noGrp="true"/>
          </p:cNvSpPr>
          <p:nvPr>
            <p:ph type="title"/>
          </p:nvPr>
        </p:nvSpPr>
        <p:spPr>
          <a:xfrm>
            <a:off x="3111500" y="654685"/>
            <a:ext cx="851471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7.1.3.2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链表的删除操作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19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6532245" cy="201739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若原链表为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空表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，则退出程序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若待删除节点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p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是</a:t>
            </a:r>
            <a:r>
              <a:rPr lang="en-US" altLang="zh-CN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head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所指节点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，则将，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head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指向当前节点的下一个节点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endParaRPr lang="en-US" altLang="zh-CN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即可删除当前节点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endParaRPr lang="en-US" altLang="zh-CN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en-US" altLang="zh-CN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20" name="Group 57"/>
          <p:cNvGrpSpPr/>
          <p:nvPr/>
        </p:nvGrpSpPr>
        <p:grpSpPr>
          <a:xfrm>
            <a:off x="4108791" y="4880130"/>
            <a:ext cx="1793875" cy="431800"/>
            <a:chOff x="3334" y="3213"/>
            <a:chExt cx="1043" cy="272"/>
          </a:xfrm>
        </p:grpSpPr>
        <p:sp>
          <p:nvSpPr>
            <p:cNvPr id="121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22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23" name="Rectangle 28"/>
          <p:cNvSpPr>
            <a:spLocks noChangeArrowheads="true"/>
          </p:cNvSpPr>
          <p:nvPr/>
        </p:nvSpPr>
        <p:spPr bwMode="auto">
          <a:xfrm>
            <a:off x="476876" y="3219605"/>
            <a:ext cx="397986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(1) head = p-&gt;next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24" name="Freeform 26"/>
          <p:cNvSpPr/>
          <p:nvPr/>
        </p:nvSpPr>
        <p:spPr bwMode="auto">
          <a:xfrm>
            <a:off x="1222716" y="4430868"/>
            <a:ext cx="468313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25" name="Rectangle 27"/>
          <p:cNvSpPr>
            <a:spLocks noChangeArrowheads="true"/>
          </p:cNvSpPr>
          <p:nvPr/>
        </p:nvSpPr>
        <p:spPr bwMode="auto">
          <a:xfrm>
            <a:off x="989354" y="4214968"/>
            <a:ext cx="38893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zh-CN" altLang="en-US" sz="1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26" name="Rectangle 32"/>
          <p:cNvSpPr>
            <a:spLocks noChangeArrowheads="true"/>
          </p:cNvSpPr>
          <p:nvPr/>
        </p:nvSpPr>
        <p:spPr bwMode="auto">
          <a:xfrm>
            <a:off x="286091" y="4214968"/>
            <a:ext cx="5461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head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27" name="Group 56"/>
          <p:cNvGrpSpPr/>
          <p:nvPr/>
        </p:nvGrpSpPr>
        <p:grpSpPr>
          <a:xfrm>
            <a:off x="886166" y="4489605"/>
            <a:ext cx="3222625" cy="1208088"/>
            <a:chOff x="1460" y="2967"/>
            <a:chExt cx="1874" cy="761"/>
          </a:xfrm>
        </p:grpSpPr>
        <p:sp>
          <p:nvSpPr>
            <p:cNvPr id="128" name="Rectangle 25"/>
            <p:cNvSpPr>
              <a:spLocks noChangeArrowheads="true"/>
            </p:cNvSpPr>
            <p:nvPr/>
          </p:nvSpPr>
          <p:spPr bwMode="auto">
            <a:xfrm>
              <a:off x="1885" y="2967"/>
              <a:ext cx="1363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待删除节点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129" name="Group 52"/>
            <p:cNvGrpSpPr/>
            <p:nvPr/>
          </p:nvGrpSpPr>
          <p:grpSpPr>
            <a:xfrm>
              <a:off x="1460" y="3209"/>
              <a:ext cx="1874" cy="519"/>
              <a:chOff x="1460" y="3028"/>
              <a:chExt cx="1874" cy="519"/>
            </a:xfrm>
          </p:grpSpPr>
          <p:sp>
            <p:nvSpPr>
              <p:cNvPr id="130" name="Rectangle 4"/>
              <p:cNvSpPr>
                <a:spLocks noChangeArrowheads="true"/>
              </p:cNvSpPr>
              <p:nvPr/>
            </p:nvSpPr>
            <p:spPr bwMode="auto">
              <a:xfrm>
                <a:off x="1928" y="3028"/>
                <a:ext cx="634" cy="27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algn="ctr"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data</a:t>
                </a:r>
                <a:endParaRPr lang="en-US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31" name="Rectangle 5"/>
              <p:cNvSpPr>
                <a:spLocks noChangeArrowheads="true"/>
              </p:cNvSpPr>
              <p:nvPr/>
            </p:nvSpPr>
            <p:spPr bwMode="auto">
              <a:xfrm>
                <a:off x="2562" y="3028"/>
                <a:ext cx="409" cy="27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1800" b="true">
                    <a:latin typeface="华文中宋" panose="02010600040101010101" charset="-122"/>
                    <a:ea typeface="华文中宋" panose="02010600040101010101" charset="-122"/>
                  </a:rPr>
                  <a:t>n</a:t>
                </a: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ext</a:t>
                </a:r>
                <a:endParaRPr lang="zh-CN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grpSp>
            <p:nvGrpSpPr>
              <p:cNvPr id="132" name="Group 37"/>
              <p:cNvGrpSpPr/>
              <p:nvPr/>
            </p:nvGrpSpPr>
            <p:grpSpPr>
              <a:xfrm>
                <a:off x="1460" y="3157"/>
                <a:ext cx="467" cy="182"/>
                <a:chOff x="1324" y="3021"/>
                <a:chExt cx="467" cy="182"/>
              </a:xfrm>
            </p:grpSpPr>
            <p:sp>
              <p:nvSpPr>
                <p:cNvPr id="133" name="Rectangle 8"/>
                <p:cNvSpPr>
                  <a:spLocks noChangeArrowheads="true"/>
                </p:cNvSpPr>
                <p:nvPr/>
              </p:nvSpPr>
              <p:spPr bwMode="auto">
                <a:xfrm>
                  <a:off x="1324" y="3021"/>
                  <a:ext cx="355" cy="18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anchor="ctr"/>
                <a:lstStyle/>
                <a:p>
                  <a:pPr algn="just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1800" b="true">
                      <a:latin typeface="华文中宋" panose="02010600040101010101" charset="-122"/>
                      <a:ea typeface="华文中宋" panose="02010600040101010101" charset="-122"/>
                    </a:rPr>
                    <a:t>  p</a:t>
                  </a:r>
                  <a:endParaRPr lang="en-US" altLang="zh-CN" sz="18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中宋" panose="02010600040101010101" charset="-122"/>
                    <a:ea typeface="华文中宋" panose="02010600040101010101" charset="-122"/>
                  </a:endParaRPr>
                </a:p>
              </p:txBody>
            </p:sp>
            <p:sp>
              <p:nvSpPr>
                <p:cNvPr id="134" name="Line 39"/>
                <p:cNvSpPr>
                  <a:spLocks noChangeShapeType="true"/>
                </p:cNvSpPr>
                <p:nvPr/>
              </p:nvSpPr>
              <p:spPr bwMode="auto">
                <a:xfrm>
                  <a:off x="1565" y="3119"/>
                  <a:ext cx="22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/>
                </a:extLst>
              </p:spPr>
              <p:txBody>
                <a:bodyPr/>
                <a:lstStyle/>
                <a:p>
                  <a:pPr/>
                  <a:endParaRPr lang="zh-CN" altLang="en-US">
                    <a:latin typeface="华文中宋" panose="02010600040101010101" charset="-122"/>
                    <a:ea typeface="华文中宋" panose="02010600040101010101" charset="-122"/>
                  </a:endParaRPr>
                </a:p>
              </p:txBody>
            </p:sp>
          </p:grpSp>
          <p:sp>
            <p:nvSpPr>
              <p:cNvPr id="135" name="Freeform 26"/>
              <p:cNvSpPr/>
              <p:nvPr/>
            </p:nvSpPr>
            <p:spPr bwMode="auto">
              <a:xfrm>
                <a:off x="2920" y="3113"/>
                <a:ext cx="414" cy="100"/>
              </a:xfrm>
              <a:custGeom>
                <a:avLst/>
                <a:gdLst>
                  <a:gd name="T0" fmla="*/ 0 w 318"/>
                  <a:gd name="T1" fmla="*/ 0 h 317"/>
                  <a:gd name="T2" fmla="*/ 2147483646 w 318"/>
                  <a:gd name="T3" fmla="*/ 0 h 317"/>
                  <a:gd name="T4" fmla="*/ 2147483646 w 318"/>
                  <a:gd name="T5" fmla="*/ 0 h 317"/>
                  <a:gd name="T6" fmla="*/ 0 60000 65536"/>
                  <a:gd name="T7" fmla="*/ 0 60000 65536"/>
                  <a:gd name="T8" fmla="*/ 0 60000 65536"/>
                  <a:gd name="T9" fmla="*/ 0 w 318"/>
                  <a:gd name="T10" fmla="*/ 0 h 317"/>
                  <a:gd name="T11" fmla="*/ 318 w 318"/>
                  <a:gd name="T12" fmla="*/ 317 h 3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8" h="317">
                    <a:moveTo>
                      <a:pt x="0" y="0"/>
                    </a:moveTo>
                    <a:cubicBezTo>
                      <a:pt x="19" y="87"/>
                      <a:pt x="38" y="174"/>
                      <a:pt x="91" y="227"/>
                    </a:cubicBezTo>
                    <a:cubicBezTo>
                      <a:pt x="144" y="280"/>
                      <a:pt x="231" y="298"/>
                      <a:pt x="318" y="317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36" name="Rectangle 50"/>
              <p:cNvSpPr>
                <a:spLocks noChangeArrowheads="true"/>
              </p:cNvSpPr>
              <p:nvPr/>
            </p:nvSpPr>
            <p:spPr bwMode="auto">
              <a:xfrm>
                <a:off x="1885" y="3316"/>
                <a:ext cx="1363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000" b="true">
                    <a:latin typeface="华文中宋" panose="02010600040101010101" charset="-122"/>
                    <a:ea typeface="华文中宋" panose="02010600040101010101" charset="-122"/>
                  </a:rPr>
                  <a:t>头节点</a:t>
                </a:r>
                <a:endParaRPr lang="zh-CN" altLang="en-US" sz="20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</p:grpSp>
      <p:sp>
        <p:nvSpPr>
          <p:cNvPr id="137" name="Freeform 51"/>
          <p:cNvSpPr/>
          <p:nvPr/>
        </p:nvSpPr>
        <p:spPr bwMode="auto">
          <a:xfrm>
            <a:off x="1376704" y="4287993"/>
            <a:ext cx="2732087" cy="720725"/>
          </a:xfrm>
          <a:custGeom>
            <a:avLst/>
            <a:gdLst>
              <a:gd name="T0" fmla="*/ 0 w 1995"/>
              <a:gd name="T1" fmla="*/ 2147483646 h 832"/>
              <a:gd name="T2" fmla="*/ 2147483646 w 1995"/>
              <a:gd name="T3" fmla="*/ 2147483646 h 832"/>
              <a:gd name="T4" fmla="*/ 2147483646 w 1995"/>
              <a:gd name="T5" fmla="*/ 2147483646 h 832"/>
              <a:gd name="T6" fmla="*/ 2147483646 w 1995"/>
              <a:gd name="T7" fmla="*/ 2147483646 h 832"/>
              <a:gd name="T8" fmla="*/ 2147483646 w 1995"/>
              <a:gd name="T9" fmla="*/ 2147483646 h 832"/>
              <a:gd name="T10" fmla="*/ 2147483646 w 1995"/>
              <a:gd name="T11" fmla="*/ 2147483646 h 832"/>
              <a:gd name="T12" fmla="*/ 2147483646 w 1995"/>
              <a:gd name="T13" fmla="*/ 2147483646 h 8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95"/>
              <a:gd name="T22" fmla="*/ 0 h 832"/>
              <a:gd name="T23" fmla="*/ 1995 w 1995"/>
              <a:gd name="T24" fmla="*/ 832 h 8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95" h="832">
                <a:moveTo>
                  <a:pt x="0" y="208"/>
                </a:moveTo>
                <a:cubicBezTo>
                  <a:pt x="44" y="143"/>
                  <a:pt x="88" y="78"/>
                  <a:pt x="210" y="52"/>
                </a:cubicBezTo>
                <a:cubicBezTo>
                  <a:pt x="332" y="26"/>
                  <a:pt x="525" y="52"/>
                  <a:pt x="735" y="52"/>
                </a:cubicBezTo>
                <a:cubicBezTo>
                  <a:pt x="945" y="52"/>
                  <a:pt x="1312" y="0"/>
                  <a:pt x="1470" y="52"/>
                </a:cubicBezTo>
                <a:cubicBezTo>
                  <a:pt x="1628" y="104"/>
                  <a:pt x="1628" y="260"/>
                  <a:pt x="1680" y="364"/>
                </a:cubicBezTo>
                <a:cubicBezTo>
                  <a:pt x="1732" y="468"/>
                  <a:pt x="1733" y="598"/>
                  <a:pt x="1785" y="676"/>
                </a:cubicBezTo>
                <a:cubicBezTo>
                  <a:pt x="1837" y="754"/>
                  <a:pt x="1960" y="806"/>
                  <a:pt x="1995" y="8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oval" w="sm" len="sm"/>
            <a:tailEnd type="triangle" w="med" len="med"/>
          </a:ln>
          <a:extLst>
            <a:ext uri="{909E8E84-426E-40DD-AFC4-6F175D3DCCD1}"/>
          </a:extLst>
        </p:spPr>
        <p:txBody>
          <a:bodyPr lIns="0" tIns="0" rIns="0" bIns="0"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8" name="Rectangle 55"/>
          <p:cNvSpPr>
            <a:spLocks noChangeArrowheads="true"/>
          </p:cNvSpPr>
          <p:nvPr/>
        </p:nvSpPr>
        <p:spPr bwMode="auto">
          <a:xfrm>
            <a:off x="476875" y="3658073"/>
            <a:ext cx="397986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) 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free(p)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9" name="Rectangle 64"/>
          <p:cNvSpPr>
            <a:spLocks noChangeArrowheads="true"/>
          </p:cNvSpPr>
          <p:nvPr/>
        </p:nvSpPr>
        <p:spPr bwMode="auto">
          <a:xfrm>
            <a:off x="6205855" y="3716020"/>
            <a:ext cx="5846445" cy="2056130"/>
          </a:xfrm>
          <a:prstGeom prst="rect">
            <a:avLst/>
          </a:prstGeom>
          <a:solidFill>
            <a:srgbClr val="FFFFCC"/>
          </a:solidFill>
          <a:ln w="28575">
            <a:solidFill>
              <a:srgbClr val="2DAB24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 p</a:t>
            </a:r>
            <a:r>
              <a:rPr lang="zh-CN" altLang="en-US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指向动态内存分配的一个</a:t>
            </a:r>
            <a:r>
              <a:rPr lang="en-US" altLang="zh-CN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link</a:t>
            </a:r>
            <a:r>
              <a:rPr lang="zh-CN" altLang="en-US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大小的内存块</a:t>
            </a:r>
            <a:endParaRPr lang="en-US" altLang="zh-CN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p = ( struct link </a:t>
            </a:r>
            <a:r>
              <a:rPr lang="en-US" altLang="zh-CN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*</a:t>
            </a:r>
            <a:r>
              <a:rPr lang="en-US" altLang="zh-CN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)</a:t>
            </a:r>
            <a:r>
              <a:rPr lang="en-US" altLang="zh-CN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malloc</a:t>
            </a:r>
            <a:r>
              <a:rPr lang="en-US" altLang="zh-CN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(</a:t>
            </a:r>
            <a:r>
              <a:rPr lang="en-US" altLang="zh-CN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sizeof</a:t>
            </a:r>
            <a:r>
              <a:rPr lang="en-US" altLang="zh-CN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(struct link));    </a:t>
            </a:r>
            <a:endParaRPr lang="en-US" altLang="zh-CN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 </a:t>
            </a:r>
            <a:r>
              <a:rPr lang="zh-CN" altLang="en-US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释放指针</a:t>
            </a:r>
            <a:r>
              <a:rPr lang="en-US" altLang="zh-CN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p</a:t>
            </a:r>
            <a:r>
              <a:rPr lang="zh-CN" altLang="en-US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指向的内存块</a:t>
            </a:r>
            <a:endParaRPr lang="en-US" altLang="zh-CN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free</a:t>
            </a:r>
            <a:r>
              <a:rPr lang="en-US" altLang="zh-CN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(p);</a:t>
            </a:r>
            <a:endParaRPr lang="en-US" altLang="zh-CN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 </a:t>
            </a:r>
            <a:r>
              <a:rPr lang="zh-CN" altLang="en-US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及时</a:t>
            </a:r>
            <a:r>
              <a:rPr lang="en-US" altLang="zh-CN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free</a:t>
            </a:r>
            <a:r>
              <a:rPr lang="zh-CN" altLang="en-US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不用的内存块，避免产生内存碎片</a:t>
            </a:r>
            <a:endParaRPr lang="en-US" altLang="zh-CN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</p:txBody>
      </p:sp>
      <p:graphicFrame>
        <p:nvGraphicFramePr>
          <p:cNvPr id="140" name="table 706"/>
          <p:cNvGraphicFramePr/>
          <p:nvPr/>
        </p:nvGraphicFramePr>
        <p:xfrm>
          <a:off x="7614285" y="1781810"/>
          <a:ext cx="3562350" cy="162814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6235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62814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41" name="矩形 4"/>
          <p:cNvSpPr/>
          <p:nvPr/>
        </p:nvSpPr>
        <p:spPr>
          <a:xfrm>
            <a:off x="7346966" y="5817207"/>
            <a:ext cx="34243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时间复杂度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400" b="true" i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O(1)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sz="2400" b="true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42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2"/>
          <p:cNvSpPr>
            <a:spLocks noGrp="true"/>
          </p:cNvSpPr>
          <p:nvPr>
            <p:ph type="title"/>
          </p:nvPr>
        </p:nvSpPr>
        <p:spPr>
          <a:xfrm>
            <a:off x="3111500" y="654685"/>
            <a:ext cx="851471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7.1.3.2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链表的删除操作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45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6532245" cy="1718310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待删除节点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不是</a:t>
            </a:r>
            <a:r>
              <a:rPr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head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所指节点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则将前一节点的指针域指向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当前节点的下一节点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46" name="Rectangle 8"/>
          <p:cNvSpPr>
            <a:spLocks noChangeArrowheads="true"/>
          </p:cNvSpPr>
          <p:nvPr/>
        </p:nvSpPr>
        <p:spPr bwMode="auto">
          <a:xfrm>
            <a:off x="1192929" y="2908978"/>
            <a:ext cx="397986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(1) pr-&gt;next = p-&gt;next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47" name="Group 37"/>
          <p:cNvGrpSpPr/>
          <p:nvPr/>
        </p:nvGrpSpPr>
        <p:grpSpPr>
          <a:xfrm>
            <a:off x="1074798" y="3941695"/>
            <a:ext cx="2116138" cy="431800"/>
            <a:chOff x="567" y="2704"/>
            <a:chExt cx="1230" cy="272"/>
          </a:xfrm>
        </p:grpSpPr>
        <p:sp>
          <p:nvSpPr>
            <p:cNvPr id="148" name="Rectangle 4"/>
            <p:cNvSpPr>
              <a:spLocks noChangeArrowheads="true"/>
            </p:cNvSpPr>
            <p:nvPr/>
          </p:nvSpPr>
          <p:spPr bwMode="auto">
            <a:xfrm>
              <a:off x="754" y="2704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49" name="Rectangle 5"/>
            <p:cNvSpPr>
              <a:spLocks noChangeArrowheads="true"/>
            </p:cNvSpPr>
            <p:nvPr/>
          </p:nvSpPr>
          <p:spPr bwMode="auto">
            <a:xfrm>
              <a:off x="1388" y="2704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0" name="Freeform 26"/>
            <p:cNvSpPr/>
            <p:nvPr/>
          </p:nvSpPr>
          <p:spPr bwMode="auto">
            <a:xfrm>
              <a:off x="567" y="2750"/>
              <a:ext cx="187" cy="135"/>
            </a:xfrm>
            <a:custGeom>
              <a:avLst/>
              <a:gdLst>
                <a:gd name="T0" fmla="*/ 0 w 318"/>
                <a:gd name="T1" fmla="*/ 0 h 317"/>
                <a:gd name="T2" fmla="*/ 53 w 318"/>
                <a:gd name="T3" fmla="*/ 0 h 317"/>
                <a:gd name="T4" fmla="*/ 53 w 318"/>
                <a:gd name="T5" fmla="*/ 0 h 317"/>
                <a:gd name="T6" fmla="*/ 0 60000 65536"/>
                <a:gd name="T7" fmla="*/ 0 60000 65536"/>
                <a:gd name="T8" fmla="*/ 0 60000 65536"/>
                <a:gd name="T9" fmla="*/ 0 w 318"/>
                <a:gd name="T10" fmla="*/ 0 h 317"/>
                <a:gd name="T11" fmla="*/ 318 w 318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8" h="317">
                  <a:moveTo>
                    <a:pt x="0" y="0"/>
                  </a:moveTo>
                  <a:cubicBezTo>
                    <a:pt x="19" y="87"/>
                    <a:pt x="38" y="174"/>
                    <a:pt x="91" y="227"/>
                  </a:cubicBezTo>
                  <a:cubicBezTo>
                    <a:pt x="144" y="280"/>
                    <a:pt x="231" y="298"/>
                    <a:pt x="318" y="3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151" name="Group 38"/>
          <p:cNvGrpSpPr/>
          <p:nvPr/>
        </p:nvGrpSpPr>
        <p:grpSpPr>
          <a:xfrm>
            <a:off x="3171886" y="4168707"/>
            <a:ext cx="2114550" cy="431800"/>
            <a:chOff x="567" y="2704"/>
            <a:chExt cx="1230" cy="272"/>
          </a:xfrm>
        </p:grpSpPr>
        <p:sp>
          <p:nvSpPr>
            <p:cNvPr id="152" name="Rectangle 4"/>
            <p:cNvSpPr>
              <a:spLocks noChangeArrowheads="true"/>
            </p:cNvSpPr>
            <p:nvPr/>
          </p:nvSpPr>
          <p:spPr bwMode="auto">
            <a:xfrm>
              <a:off x="754" y="2704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3" name="Rectangle 5"/>
            <p:cNvSpPr>
              <a:spLocks noChangeArrowheads="true"/>
            </p:cNvSpPr>
            <p:nvPr/>
          </p:nvSpPr>
          <p:spPr bwMode="auto">
            <a:xfrm>
              <a:off x="1388" y="2704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4" name="Freeform 26"/>
            <p:cNvSpPr/>
            <p:nvPr/>
          </p:nvSpPr>
          <p:spPr bwMode="auto">
            <a:xfrm>
              <a:off x="567" y="2750"/>
              <a:ext cx="187" cy="135"/>
            </a:xfrm>
            <a:custGeom>
              <a:avLst/>
              <a:gdLst>
                <a:gd name="T0" fmla="*/ 0 w 318"/>
                <a:gd name="T1" fmla="*/ 0 h 317"/>
                <a:gd name="T2" fmla="*/ 53 w 318"/>
                <a:gd name="T3" fmla="*/ 0 h 317"/>
                <a:gd name="T4" fmla="*/ 53 w 318"/>
                <a:gd name="T5" fmla="*/ 0 h 317"/>
                <a:gd name="T6" fmla="*/ 0 60000 65536"/>
                <a:gd name="T7" fmla="*/ 0 60000 65536"/>
                <a:gd name="T8" fmla="*/ 0 60000 65536"/>
                <a:gd name="T9" fmla="*/ 0 w 318"/>
                <a:gd name="T10" fmla="*/ 0 h 317"/>
                <a:gd name="T11" fmla="*/ 318 w 318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8" h="317">
                  <a:moveTo>
                    <a:pt x="0" y="0"/>
                  </a:moveTo>
                  <a:cubicBezTo>
                    <a:pt x="19" y="87"/>
                    <a:pt x="38" y="174"/>
                    <a:pt x="91" y="227"/>
                  </a:cubicBezTo>
                  <a:cubicBezTo>
                    <a:pt x="144" y="280"/>
                    <a:pt x="231" y="298"/>
                    <a:pt x="318" y="3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155" name="Group 50"/>
          <p:cNvGrpSpPr/>
          <p:nvPr/>
        </p:nvGrpSpPr>
        <p:grpSpPr>
          <a:xfrm>
            <a:off x="4754623" y="4143307"/>
            <a:ext cx="3065463" cy="1166813"/>
            <a:chOff x="2479" y="2580"/>
            <a:chExt cx="1782" cy="735"/>
          </a:xfrm>
        </p:grpSpPr>
        <p:sp>
          <p:nvSpPr>
            <p:cNvPr id="156" name="Rectangle 6"/>
            <p:cNvSpPr>
              <a:spLocks noChangeArrowheads="true"/>
            </p:cNvSpPr>
            <p:nvPr/>
          </p:nvSpPr>
          <p:spPr bwMode="auto">
            <a:xfrm>
              <a:off x="2900" y="2580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待删除节点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7" name="Rectangle 4"/>
            <p:cNvSpPr>
              <a:spLocks noChangeArrowheads="true"/>
            </p:cNvSpPr>
            <p:nvPr/>
          </p:nvSpPr>
          <p:spPr bwMode="auto">
            <a:xfrm>
              <a:off x="2947" y="2822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8" name="Rectangle 5"/>
            <p:cNvSpPr>
              <a:spLocks noChangeArrowheads="true"/>
            </p:cNvSpPr>
            <p:nvPr/>
          </p:nvSpPr>
          <p:spPr bwMode="auto">
            <a:xfrm>
              <a:off x="3581" y="2822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159" name="Group 16"/>
            <p:cNvGrpSpPr/>
            <p:nvPr/>
          </p:nvGrpSpPr>
          <p:grpSpPr>
            <a:xfrm>
              <a:off x="2479" y="2951"/>
              <a:ext cx="467" cy="182"/>
              <a:chOff x="1324" y="3021"/>
              <a:chExt cx="467" cy="182"/>
            </a:xfrm>
          </p:grpSpPr>
          <p:sp>
            <p:nvSpPr>
              <p:cNvPr id="160" name="Rectangle 8"/>
              <p:cNvSpPr>
                <a:spLocks noChangeArrowheads="true"/>
              </p:cNvSpPr>
              <p:nvPr/>
            </p:nvSpPr>
            <p:spPr bwMode="auto">
              <a:xfrm>
                <a:off x="1324" y="3021"/>
                <a:ext cx="355" cy="18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/>
              <a:lstStyle/>
              <a:p>
                <a:pPr algn="just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  p</a:t>
                </a:r>
                <a:endParaRPr lang="en-US" altLang="zh-CN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61" name="Line 18"/>
              <p:cNvSpPr>
                <a:spLocks noChangeShapeType="true"/>
              </p:cNvSpPr>
              <p:nvPr/>
            </p:nvSpPr>
            <p:spPr bwMode="auto">
              <a:xfrm>
                <a:off x="1565" y="3119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162" name="Rectangle 20"/>
            <p:cNvSpPr>
              <a:spLocks noChangeArrowheads="true"/>
            </p:cNvSpPr>
            <p:nvPr/>
          </p:nvSpPr>
          <p:spPr bwMode="auto">
            <a:xfrm>
              <a:off x="2900" y="3084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中间节点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63" name="Freeform 26"/>
            <p:cNvSpPr/>
            <p:nvPr/>
          </p:nvSpPr>
          <p:spPr bwMode="auto">
            <a:xfrm>
              <a:off x="3970" y="2998"/>
              <a:ext cx="187" cy="135"/>
            </a:xfrm>
            <a:custGeom>
              <a:avLst/>
              <a:gdLst>
                <a:gd name="T0" fmla="*/ 0 w 318"/>
                <a:gd name="T1" fmla="*/ 0 h 317"/>
                <a:gd name="T2" fmla="*/ 53 w 318"/>
                <a:gd name="T3" fmla="*/ 0 h 317"/>
                <a:gd name="T4" fmla="*/ 53 w 318"/>
                <a:gd name="T5" fmla="*/ 0 h 317"/>
                <a:gd name="T6" fmla="*/ 0 60000 65536"/>
                <a:gd name="T7" fmla="*/ 0 60000 65536"/>
                <a:gd name="T8" fmla="*/ 0 60000 65536"/>
                <a:gd name="T9" fmla="*/ 0 w 318"/>
                <a:gd name="T10" fmla="*/ 0 h 317"/>
                <a:gd name="T11" fmla="*/ 318 w 318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8" h="317">
                  <a:moveTo>
                    <a:pt x="0" y="0"/>
                  </a:moveTo>
                  <a:cubicBezTo>
                    <a:pt x="19" y="87"/>
                    <a:pt x="38" y="174"/>
                    <a:pt x="91" y="227"/>
                  </a:cubicBezTo>
                  <a:cubicBezTo>
                    <a:pt x="144" y="280"/>
                    <a:pt x="231" y="298"/>
                    <a:pt x="318" y="3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64" name="Freeform 26"/>
          <p:cNvSpPr/>
          <p:nvPr/>
        </p:nvSpPr>
        <p:spPr bwMode="auto">
          <a:xfrm>
            <a:off x="5257861" y="4446520"/>
            <a:ext cx="322262" cy="214312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65" name="Freeform 21"/>
          <p:cNvSpPr/>
          <p:nvPr/>
        </p:nvSpPr>
        <p:spPr bwMode="auto">
          <a:xfrm>
            <a:off x="5270561" y="4014720"/>
            <a:ext cx="2393950" cy="863600"/>
          </a:xfrm>
          <a:custGeom>
            <a:avLst/>
            <a:gdLst>
              <a:gd name="T0" fmla="*/ 0 w 1995"/>
              <a:gd name="T1" fmla="*/ 2147483646 h 832"/>
              <a:gd name="T2" fmla="*/ 2147483646 w 1995"/>
              <a:gd name="T3" fmla="*/ 2147483646 h 832"/>
              <a:gd name="T4" fmla="*/ 2147483646 w 1995"/>
              <a:gd name="T5" fmla="*/ 2147483646 h 832"/>
              <a:gd name="T6" fmla="*/ 2147483646 w 1995"/>
              <a:gd name="T7" fmla="*/ 2147483646 h 832"/>
              <a:gd name="T8" fmla="*/ 2147483646 w 1995"/>
              <a:gd name="T9" fmla="*/ 2147483646 h 832"/>
              <a:gd name="T10" fmla="*/ 2147483646 w 1995"/>
              <a:gd name="T11" fmla="*/ 2147483646 h 832"/>
              <a:gd name="T12" fmla="*/ 2147483646 w 1995"/>
              <a:gd name="T13" fmla="*/ 2147483646 h 8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95"/>
              <a:gd name="T22" fmla="*/ 0 h 832"/>
              <a:gd name="T23" fmla="*/ 1995 w 1995"/>
              <a:gd name="T24" fmla="*/ 832 h 8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95" h="832">
                <a:moveTo>
                  <a:pt x="0" y="208"/>
                </a:moveTo>
                <a:cubicBezTo>
                  <a:pt x="44" y="143"/>
                  <a:pt x="88" y="78"/>
                  <a:pt x="210" y="52"/>
                </a:cubicBezTo>
                <a:cubicBezTo>
                  <a:pt x="332" y="26"/>
                  <a:pt x="525" y="52"/>
                  <a:pt x="735" y="52"/>
                </a:cubicBezTo>
                <a:cubicBezTo>
                  <a:pt x="945" y="52"/>
                  <a:pt x="1312" y="0"/>
                  <a:pt x="1470" y="52"/>
                </a:cubicBezTo>
                <a:cubicBezTo>
                  <a:pt x="1628" y="104"/>
                  <a:pt x="1628" y="260"/>
                  <a:pt x="1680" y="364"/>
                </a:cubicBezTo>
                <a:cubicBezTo>
                  <a:pt x="1732" y="468"/>
                  <a:pt x="1733" y="598"/>
                  <a:pt x="1785" y="676"/>
                </a:cubicBezTo>
                <a:cubicBezTo>
                  <a:pt x="1837" y="754"/>
                  <a:pt x="1960" y="806"/>
                  <a:pt x="1995" y="8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oval" w="sm" len="sm"/>
            <a:tailEnd type="triangle" w="med" len="med"/>
          </a:ln>
          <a:extLst>
            <a:ext uri="{909E8E84-426E-40DD-AFC4-6F175D3DCCD1}"/>
          </a:extLst>
        </p:spPr>
        <p:txBody>
          <a:bodyPr lIns="0" tIns="0" rIns="0" bIns="0"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66" name="Group 49"/>
          <p:cNvGrpSpPr/>
          <p:nvPr/>
        </p:nvGrpSpPr>
        <p:grpSpPr>
          <a:xfrm>
            <a:off x="7639111" y="4733857"/>
            <a:ext cx="2095500" cy="503238"/>
            <a:chOff x="4157" y="2952"/>
            <a:chExt cx="1218" cy="317"/>
          </a:xfrm>
        </p:grpSpPr>
        <p:sp>
          <p:nvSpPr>
            <p:cNvPr id="167" name="Rectangle 4"/>
            <p:cNvSpPr>
              <a:spLocks noChangeArrowheads="true"/>
            </p:cNvSpPr>
            <p:nvPr/>
          </p:nvSpPr>
          <p:spPr bwMode="auto">
            <a:xfrm>
              <a:off x="4157" y="2952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68" name="Rectangle 5"/>
            <p:cNvSpPr>
              <a:spLocks noChangeArrowheads="true"/>
            </p:cNvSpPr>
            <p:nvPr/>
          </p:nvSpPr>
          <p:spPr bwMode="auto">
            <a:xfrm>
              <a:off x="4791" y="2952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69" name="Freeform 26"/>
            <p:cNvSpPr/>
            <p:nvPr/>
          </p:nvSpPr>
          <p:spPr bwMode="auto">
            <a:xfrm>
              <a:off x="5188" y="3134"/>
              <a:ext cx="187" cy="135"/>
            </a:xfrm>
            <a:custGeom>
              <a:avLst/>
              <a:gdLst>
                <a:gd name="T0" fmla="*/ 0 w 318"/>
                <a:gd name="T1" fmla="*/ 0 h 317"/>
                <a:gd name="T2" fmla="*/ 53 w 318"/>
                <a:gd name="T3" fmla="*/ 0 h 317"/>
                <a:gd name="T4" fmla="*/ 53 w 318"/>
                <a:gd name="T5" fmla="*/ 0 h 317"/>
                <a:gd name="T6" fmla="*/ 0 60000 65536"/>
                <a:gd name="T7" fmla="*/ 0 60000 65536"/>
                <a:gd name="T8" fmla="*/ 0 60000 65536"/>
                <a:gd name="T9" fmla="*/ 0 w 318"/>
                <a:gd name="T10" fmla="*/ 0 h 317"/>
                <a:gd name="T11" fmla="*/ 318 w 318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8" h="317">
                  <a:moveTo>
                    <a:pt x="0" y="0"/>
                  </a:moveTo>
                  <a:cubicBezTo>
                    <a:pt x="19" y="87"/>
                    <a:pt x="38" y="174"/>
                    <a:pt x="91" y="227"/>
                  </a:cubicBezTo>
                  <a:cubicBezTo>
                    <a:pt x="144" y="280"/>
                    <a:pt x="231" y="298"/>
                    <a:pt x="318" y="3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70" name="Rectangle 48"/>
          <p:cNvSpPr>
            <a:spLocks noChangeArrowheads="true"/>
          </p:cNvSpPr>
          <p:nvPr/>
        </p:nvSpPr>
        <p:spPr bwMode="auto">
          <a:xfrm>
            <a:off x="1192929" y="3413803"/>
            <a:ext cx="397986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) 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free(p)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71" name="Group 44"/>
          <p:cNvGrpSpPr/>
          <p:nvPr/>
        </p:nvGrpSpPr>
        <p:grpSpPr>
          <a:xfrm>
            <a:off x="2670236" y="4413182"/>
            <a:ext cx="803275" cy="288925"/>
            <a:chOff x="1324" y="3021"/>
            <a:chExt cx="467" cy="182"/>
          </a:xfrm>
        </p:grpSpPr>
        <p:sp>
          <p:nvSpPr>
            <p:cNvPr id="172" name="Rectangle 8"/>
            <p:cNvSpPr>
              <a:spLocks noChangeArrowheads="true"/>
            </p:cNvSpPr>
            <p:nvPr/>
          </p:nvSpPr>
          <p:spPr bwMode="auto">
            <a:xfrm>
              <a:off x="1324" y="3021"/>
              <a:ext cx="355" cy="1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just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pr</a:t>
              </a:r>
              <a:endParaRPr lang="en-US" altLang="zh-CN" sz="1800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73" name="Line 21"/>
            <p:cNvSpPr>
              <a:spLocks noChangeShapeType="true"/>
            </p:cNvSpPr>
            <p:nvPr/>
          </p:nvSpPr>
          <p:spPr bwMode="auto">
            <a:xfrm>
              <a:off x="1565" y="3119"/>
              <a:ext cx="2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aphicFrame>
        <p:nvGraphicFramePr>
          <p:cNvPr id="174" name="table 706"/>
          <p:cNvGraphicFramePr/>
          <p:nvPr/>
        </p:nvGraphicFramePr>
        <p:xfrm>
          <a:off x="7686040" y="2117090"/>
          <a:ext cx="3602990" cy="155194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60299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55194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75" name="Rectangle 3"/>
          <p:cNvSpPr>
            <a:spLocks noGrp="true"/>
          </p:cNvSpPr>
          <p:nvPr/>
        </p:nvSpPr>
        <p:spPr>
          <a:xfrm>
            <a:off x="335280" y="5471160"/>
            <a:ext cx="6532245" cy="1083310"/>
          </a:xfrm>
          <a:prstGeom prst="rect">
            <a:avLst/>
          </a:prstGeom>
        </p:spPr>
        <p:txBody>
          <a:bodyPr vert="horz" wrap="square" lIns="91440" tIns="45720" rIns="91440" bIns="45720" rtlCol="false" anchor="t" anchorCtr="false">
            <a:noAutofit/>
          </a:bodyPr>
          <a:lstStyle>
            <a:lvl1pPr marL="228600" indent="-22860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若已搜索到表尾（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p-&gt;next == NULL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仍未找到待删除节点，则显示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“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未找到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”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76" name="矩形 5"/>
          <p:cNvSpPr/>
          <p:nvPr/>
        </p:nvSpPr>
        <p:spPr>
          <a:xfrm>
            <a:off x="8107106" y="5607668"/>
            <a:ext cx="34243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时间复杂度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400" b="true" i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O(1)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sz="2400" b="true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77" name="灯片编号占位符 9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2"/>
          <p:cNvSpPr>
            <a:spLocks noGrp="true"/>
          </p:cNvSpPr>
          <p:nvPr>
            <p:ph type="title"/>
          </p:nvPr>
        </p:nvSpPr>
        <p:spPr>
          <a:xfrm>
            <a:off x="3111500" y="654685"/>
            <a:ext cx="851471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7.1.3.3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80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10821670" cy="68643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若原链表为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空表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，则将新节点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p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作为头节点，让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head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指向新节点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p 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81" name="Group 34"/>
          <p:cNvGrpSpPr/>
          <p:nvPr/>
        </p:nvGrpSpPr>
        <p:grpSpPr>
          <a:xfrm>
            <a:off x="1532274" y="3282155"/>
            <a:ext cx="1092200" cy="431800"/>
            <a:chOff x="1156" y="2568"/>
            <a:chExt cx="635" cy="272"/>
          </a:xfrm>
        </p:grpSpPr>
        <p:sp>
          <p:nvSpPr>
            <p:cNvPr id="182" name="Rectangle 27"/>
            <p:cNvSpPr>
              <a:spLocks noChangeArrowheads="true"/>
            </p:cNvSpPr>
            <p:nvPr/>
          </p:nvSpPr>
          <p:spPr bwMode="auto">
            <a:xfrm>
              <a:off x="1565" y="2568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83" name="Rectangle 32"/>
            <p:cNvSpPr>
              <a:spLocks noChangeArrowheads="true"/>
            </p:cNvSpPr>
            <p:nvPr/>
          </p:nvSpPr>
          <p:spPr bwMode="auto">
            <a:xfrm>
              <a:off x="1156" y="2568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84" name="Freeform 26"/>
          <p:cNvSpPr/>
          <p:nvPr/>
        </p:nvSpPr>
        <p:spPr bwMode="auto">
          <a:xfrm>
            <a:off x="2468899" y="3498055"/>
            <a:ext cx="468312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85" name="Group 60"/>
          <p:cNvGrpSpPr/>
          <p:nvPr/>
        </p:nvGrpSpPr>
        <p:grpSpPr>
          <a:xfrm>
            <a:off x="2137111" y="3447255"/>
            <a:ext cx="3067050" cy="1111250"/>
            <a:chOff x="828" y="2355"/>
            <a:chExt cx="1783" cy="700"/>
          </a:xfrm>
        </p:grpSpPr>
        <p:sp>
          <p:nvSpPr>
            <p:cNvPr id="186" name="Rectangle 52"/>
            <p:cNvSpPr>
              <a:spLocks noChangeArrowheads="true"/>
            </p:cNvSpPr>
            <p:nvPr/>
          </p:nvSpPr>
          <p:spPr bwMode="auto">
            <a:xfrm>
              <a:off x="1250" y="2355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待插入节点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87" name="Rectangle 4"/>
            <p:cNvSpPr>
              <a:spLocks noChangeArrowheads="true"/>
            </p:cNvSpPr>
            <p:nvPr/>
          </p:nvSpPr>
          <p:spPr bwMode="auto">
            <a:xfrm>
              <a:off x="1296" y="2597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88" name="Rectangle 5"/>
            <p:cNvSpPr>
              <a:spLocks noChangeArrowheads="true"/>
            </p:cNvSpPr>
            <p:nvPr/>
          </p:nvSpPr>
          <p:spPr bwMode="auto">
            <a:xfrm>
              <a:off x="1930" y="2597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zh-CN" sz="1800" b="true">
                  <a:latin typeface="华文中宋" panose="02010600040101010101" charset="-122"/>
                  <a:ea typeface="华文中宋" panose="02010600040101010101" charset="-122"/>
                </a:rPr>
                <a:t>∧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189" name="Group 55"/>
            <p:cNvGrpSpPr/>
            <p:nvPr/>
          </p:nvGrpSpPr>
          <p:grpSpPr>
            <a:xfrm>
              <a:off x="828" y="2726"/>
              <a:ext cx="467" cy="182"/>
              <a:chOff x="1324" y="3021"/>
              <a:chExt cx="467" cy="182"/>
            </a:xfrm>
          </p:grpSpPr>
          <p:sp>
            <p:nvSpPr>
              <p:cNvPr id="190" name="Rectangle 8"/>
              <p:cNvSpPr>
                <a:spLocks noChangeArrowheads="true"/>
              </p:cNvSpPr>
              <p:nvPr/>
            </p:nvSpPr>
            <p:spPr bwMode="auto">
              <a:xfrm>
                <a:off x="1324" y="3021"/>
                <a:ext cx="355" cy="18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/>
              <a:lstStyle/>
              <a:p>
                <a:pPr algn="just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  p</a:t>
                </a:r>
                <a:endParaRPr lang="en-US" altLang="zh-CN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91" name="Line 57"/>
              <p:cNvSpPr>
                <a:spLocks noChangeShapeType="true"/>
              </p:cNvSpPr>
              <p:nvPr/>
            </p:nvSpPr>
            <p:spPr bwMode="auto">
              <a:xfrm>
                <a:off x="1565" y="3119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192" name="Rectangle 58"/>
            <p:cNvSpPr>
              <a:spLocks noChangeArrowheads="true"/>
            </p:cNvSpPr>
            <p:nvPr/>
          </p:nvSpPr>
          <p:spPr bwMode="auto">
            <a:xfrm>
              <a:off x="1159" y="2840"/>
              <a:ext cx="1358" cy="21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lang="zh-CN" altLang="en-US" b="true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93" name="Rectangle 62"/>
          <p:cNvSpPr>
            <a:spLocks noChangeArrowheads="true"/>
          </p:cNvSpPr>
          <p:nvPr/>
        </p:nvSpPr>
        <p:spPr bwMode="auto">
          <a:xfrm>
            <a:off x="1441832" y="2514359"/>
            <a:ext cx="397986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(1) head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 = p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94" name="Text Box 50"/>
          <p:cNvSpPr txBox="true">
            <a:spLocks noChangeArrowheads="true"/>
          </p:cNvSpPr>
          <p:nvPr/>
        </p:nvSpPr>
        <p:spPr bwMode="auto">
          <a:xfrm>
            <a:off x="1441832" y="4770160"/>
            <a:ext cx="3190456" cy="3831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/>
          <a:lstStyle/>
          <a:p>
            <a:pPr algn="just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 (2) p-&gt;next = NULL</a:t>
            </a:r>
            <a:endParaRPr lang="en-US" altLang="zh-CN" sz="2000">
              <a:effectLst>
                <a:outerShdw blurRad="38100" dist="38100" dir="2700000" algn="tl">
                  <a:srgbClr val="C0C0C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95" name="矩形 1"/>
          <p:cNvSpPr/>
          <p:nvPr/>
        </p:nvSpPr>
        <p:spPr>
          <a:xfrm>
            <a:off x="7436617" y="4795593"/>
            <a:ext cx="34243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时间复杂度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400" b="true" i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O(1)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sz="2400" b="true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96" name="table 706"/>
          <p:cNvGraphicFramePr/>
          <p:nvPr/>
        </p:nvGraphicFramePr>
        <p:xfrm>
          <a:off x="7362825" y="2890520"/>
          <a:ext cx="3650615" cy="154813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65061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54813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97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2"/>
          <p:cNvSpPr>
            <a:spLocks noGrp="true"/>
          </p:cNvSpPr>
          <p:nvPr>
            <p:ph type="title"/>
          </p:nvPr>
        </p:nvSpPr>
        <p:spPr>
          <a:xfrm>
            <a:off x="3111500" y="654685"/>
            <a:ext cx="851471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7.1.3.3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200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9413875" cy="2198370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若原链表为非空，则按节点值的大小（假设以升序排序）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确定插入新节点的位置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若在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头节点前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插入节点，则将新节点的指针域指向原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链表的头节点，且让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head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指向新节点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201" name="Group 34"/>
          <p:cNvGrpSpPr/>
          <p:nvPr/>
        </p:nvGrpSpPr>
        <p:grpSpPr>
          <a:xfrm>
            <a:off x="2068818" y="4282899"/>
            <a:ext cx="1092200" cy="431800"/>
            <a:chOff x="1156" y="2568"/>
            <a:chExt cx="635" cy="272"/>
          </a:xfrm>
        </p:grpSpPr>
        <p:sp>
          <p:nvSpPr>
            <p:cNvPr id="202" name="Rectangle 27"/>
            <p:cNvSpPr>
              <a:spLocks noChangeArrowheads="true"/>
            </p:cNvSpPr>
            <p:nvPr/>
          </p:nvSpPr>
          <p:spPr bwMode="auto">
            <a:xfrm>
              <a:off x="1565" y="2568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03" name="Rectangle 32"/>
            <p:cNvSpPr>
              <a:spLocks noChangeArrowheads="true"/>
            </p:cNvSpPr>
            <p:nvPr/>
          </p:nvSpPr>
          <p:spPr bwMode="auto">
            <a:xfrm>
              <a:off x="1156" y="2568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204" name="Group 31"/>
          <p:cNvGrpSpPr/>
          <p:nvPr/>
        </p:nvGrpSpPr>
        <p:grpSpPr>
          <a:xfrm>
            <a:off x="1176643" y="5064880"/>
            <a:ext cx="3025775" cy="1136650"/>
            <a:chOff x="152" y="2659"/>
            <a:chExt cx="1759" cy="716"/>
          </a:xfrm>
        </p:grpSpPr>
        <p:sp>
          <p:nvSpPr>
            <p:cNvPr id="205" name="Rectangle 9"/>
            <p:cNvSpPr>
              <a:spLocks noChangeArrowheads="true"/>
            </p:cNvSpPr>
            <p:nvPr/>
          </p:nvSpPr>
          <p:spPr bwMode="auto">
            <a:xfrm>
              <a:off x="550" y="2659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latin typeface="黑体" panose="02010609060101010101" pitchFamily="49" charset="-122"/>
                  <a:ea typeface="黑体" panose="02010609060101010101" pitchFamily="49" charset="-122"/>
                </a:rPr>
                <a:t>待插入节点</a:t>
              </a:r>
              <a:endParaRPr lang="zh-CN" altLang="en-US" sz="2000" b="true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6" name="Rectangle 4"/>
            <p:cNvSpPr>
              <a:spLocks noChangeArrowheads="true"/>
            </p:cNvSpPr>
            <p:nvPr/>
          </p:nvSpPr>
          <p:spPr bwMode="auto">
            <a:xfrm>
              <a:off x="620" y="2901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Arial" panose="020B0604020202090204" pitchFamily="34" charset="0"/>
                </a:rPr>
                <a:t>data</a:t>
              </a:r>
              <a:endParaRPr lang="en-US" altLang="zh-CN" sz="1800" b="true">
                <a:latin typeface="Arial" panose="020B0604020202090204" pitchFamily="34" charset="0"/>
              </a:endParaRPr>
            </a:p>
          </p:txBody>
        </p:sp>
        <p:sp>
          <p:nvSpPr>
            <p:cNvPr id="207" name="Rectangle 5"/>
            <p:cNvSpPr>
              <a:spLocks noChangeArrowheads="true"/>
            </p:cNvSpPr>
            <p:nvPr/>
          </p:nvSpPr>
          <p:spPr bwMode="auto">
            <a:xfrm>
              <a:off x="1254" y="2901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Arial" panose="020B0604020202090204" pitchFamily="34" charset="0"/>
                </a:rPr>
                <a:t>n</a:t>
              </a:r>
              <a:r>
                <a:rPr lang="en-US" altLang="zh-CN" sz="1800" b="true">
                  <a:latin typeface="Arial" panose="020B0604020202090204" pitchFamily="34" charset="0"/>
                </a:rPr>
                <a:t>ext</a:t>
              </a:r>
              <a:endParaRPr lang="zh-CN" altLang="zh-CN" sz="1800" b="true">
                <a:latin typeface="Arial" panose="020B0604020202090204" pitchFamily="34" charset="0"/>
              </a:endParaRPr>
            </a:p>
          </p:txBody>
        </p:sp>
        <p:grpSp>
          <p:nvGrpSpPr>
            <p:cNvPr id="208" name="Group 12"/>
            <p:cNvGrpSpPr/>
            <p:nvPr/>
          </p:nvGrpSpPr>
          <p:grpSpPr>
            <a:xfrm>
              <a:off x="152" y="2948"/>
              <a:ext cx="467" cy="182"/>
              <a:chOff x="1324" y="3021"/>
              <a:chExt cx="467" cy="182"/>
            </a:xfrm>
          </p:grpSpPr>
          <p:sp>
            <p:nvSpPr>
              <p:cNvPr id="209" name="Rectangle 8"/>
              <p:cNvSpPr>
                <a:spLocks noChangeArrowheads="true"/>
              </p:cNvSpPr>
              <p:nvPr/>
            </p:nvSpPr>
            <p:spPr bwMode="auto">
              <a:xfrm>
                <a:off x="1324" y="3021"/>
                <a:ext cx="355" cy="18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/>
              <a:lstStyle/>
              <a:p>
                <a:pPr algn="just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1800" b="true">
                    <a:latin typeface="Arial" panose="020B0604020202090204" pitchFamily="34" charset="0"/>
                  </a:rPr>
                  <a:t>  p</a:t>
                </a:r>
                <a:endParaRPr lang="en-US" altLang="zh-CN" sz="18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10" name="Line 14"/>
              <p:cNvSpPr>
                <a:spLocks noChangeShapeType="true"/>
              </p:cNvSpPr>
              <p:nvPr/>
            </p:nvSpPr>
            <p:spPr bwMode="auto">
              <a:xfrm>
                <a:off x="1565" y="3119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/>
              </a:p>
            </p:txBody>
          </p:sp>
        </p:grpSp>
        <p:sp>
          <p:nvSpPr>
            <p:cNvPr id="211" name="Rectangle 15"/>
            <p:cNvSpPr>
              <a:spLocks noChangeArrowheads="true"/>
            </p:cNvSpPr>
            <p:nvPr/>
          </p:nvSpPr>
          <p:spPr bwMode="auto">
            <a:xfrm>
              <a:off x="483" y="3144"/>
              <a:ext cx="1358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lang="zh-CN" altLang="en-US" b="true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409020205090404" pitchFamily="49" charset="0"/>
                <a:ea typeface="幼圆" panose="02010509060101010101" pitchFamily="49" charset="-122"/>
              </a:endParaRPr>
            </a:p>
          </p:txBody>
        </p:sp>
      </p:grpSp>
      <p:sp>
        <p:nvSpPr>
          <p:cNvPr id="212" name="Rectangle 17"/>
          <p:cNvSpPr>
            <a:spLocks noChangeArrowheads="true"/>
          </p:cNvSpPr>
          <p:nvPr/>
        </p:nvSpPr>
        <p:spPr bwMode="auto">
          <a:xfrm>
            <a:off x="1090272" y="3717183"/>
            <a:ext cx="397827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(2) head = p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13" name="Group 18"/>
          <p:cNvGrpSpPr/>
          <p:nvPr/>
        </p:nvGrpSpPr>
        <p:grpSpPr>
          <a:xfrm>
            <a:off x="3472168" y="4786137"/>
            <a:ext cx="1793875" cy="431800"/>
            <a:chOff x="3334" y="3213"/>
            <a:chExt cx="1043" cy="272"/>
          </a:xfrm>
        </p:grpSpPr>
        <p:sp>
          <p:nvSpPr>
            <p:cNvPr id="214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15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16" name="Freeform 24"/>
          <p:cNvSpPr/>
          <p:nvPr/>
        </p:nvSpPr>
        <p:spPr bwMode="auto">
          <a:xfrm>
            <a:off x="5189843" y="5148088"/>
            <a:ext cx="711200" cy="194756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17" name="Group 22"/>
          <p:cNvGrpSpPr/>
          <p:nvPr/>
        </p:nvGrpSpPr>
        <p:grpSpPr>
          <a:xfrm>
            <a:off x="5901043" y="5091868"/>
            <a:ext cx="1793875" cy="431800"/>
            <a:chOff x="3334" y="3213"/>
            <a:chExt cx="1043" cy="272"/>
          </a:xfrm>
        </p:grpSpPr>
        <p:sp>
          <p:nvSpPr>
            <p:cNvPr id="218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19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20" name="Freeform 25"/>
          <p:cNvSpPr/>
          <p:nvPr/>
        </p:nvSpPr>
        <p:spPr bwMode="auto">
          <a:xfrm>
            <a:off x="7613586" y="5449055"/>
            <a:ext cx="765168" cy="16771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21" name="Group 26"/>
          <p:cNvGrpSpPr/>
          <p:nvPr/>
        </p:nvGrpSpPr>
        <p:grpSpPr>
          <a:xfrm>
            <a:off x="8378754" y="5342844"/>
            <a:ext cx="1793875" cy="431800"/>
            <a:chOff x="3334" y="3213"/>
            <a:chExt cx="1043" cy="272"/>
          </a:xfrm>
        </p:grpSpPr>
        <p:sp>
          <p:nvSpPr>
            <p:cNvPr id="222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23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zh-CN" sz="1800" b="true">
                  <a:latin typeface="华文中宋" panose="02010600040101010101" charset="-122"/>
                  <a:ea typeface="华文中宋" panose="02010600040101010101" charset="-122"/>
                </a:rPr>
                <a:t>∧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24" name="Rectangle 29"/>
          <p:cNvSpPr>
            <a:spLocks noChangeArrowheads="true"/>
          </p:cNvSpPr>
          <p:nvPr/>
        </p:nvSpPr>
        <p:spPr bwMode="auto">
          <a:xfrm>
            <a:off x="1082336" y="3325865"/>
            <a:ext cx="397986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(1) p-&gt;next = head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5" name="Freeform 30"/>
          <p:cNvSpPr/>
          <p:nvPr/>
        </p:nvSpPr>
        <p:spPr bwMode="auto">
          <a:xfrm>
            <a:off x="3213405" y="5125862"/>
            <a:ext cx="835025" cy="741362"/>
          </a:xfrm>
          <a:custGeom>
            <a:avLst/>
            <a:gdLst>
              <a:gd name="T0" fmla="*/ 2147483646 w 945"/>
              <a:gd name="T1" fmla="*/ 2147483646 h 676"/>
              <a:gd name="T2" fmla="*/ 2147483646 w 945"/>
              <a:gd name="T3" fmla="*/ 2147483646 h 676"/>
              <a:gd name="T4" fmla="*/ 2147483646 w 945"/>
              <a:gd name="T5" fmla="*/ 2147483646 h 676"/>
              <a:gd name="T6" fmla="*/ 2147483646 w 945"/>
              <a:gd name="T7" fmla="*/ 2147483646 h 676"/>
              <a:gd name="T8" fmla="*/ 2147483646 w 945"/>
              <a:gd name="T9" fmla="*/ 0 h 6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45"/>
              <a:gd name="T16" fmla="*/ 0 h 676"/>
              <a:gd name="T17" fmla="*/ 945 w 945"/>
              <a:gd name="T18" fmla="*/ 676 h 6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45" h="676">
                <a:moveTo>
                  <a:pt x="613" y="624"/>
                </a:moveTo>
                <a:cubicBezTo>
                  <a:pt x="700" y="650"/>
                  <a:pt x="788" y="676"/>
                  <a:pt x="823" y="624"/>
                </a:cubicBezTo>
                <a:cubicBezTo>
                  <a:pt x="858" y="572"/>
                  <a:pt x="945" y="390"/>
                  <a:pt x="823" y="312"/>
                </a:cubicBezTo>
                <a:cubicBezTo>
                  <a:pt x="701" y="234"/>
                  <a:pt x="176" y="208"/>
                  <a:pt x="88" y="156"/>
                </a:cubicBezTo>
                <a:cubicBezTo>
                  <a:pt x="0" y="104"/>
                  <a:pt x="149" y="52"/>
                  <a:pt x="298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 lIns="0" tIns="0" rIns="0" bIns="0"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6" name="Freeform 32"/>
          <p:cNvSpPr/>
          <p:nvPr/>
        </p:nvSpPr>
        <p:spPr bwMode="auto">
          <a:xfrm rot="2323505">
            <a:off x="1916418" y="4211462"/>
            <a:ext cx="612775" cy="1489075"/>
          </a:xfrm>
          <a:custGeom>
            <a:avLst/>
            <a:gdLst>
              <a:gd name="T0" fmla="*/ 2147483646 w 665"/>
              <a:gd name="T1" fmla="*/ 0 h 806"/>
              <a:gd name="T2" fmla="*/ 2147483646 w 665"/>
              <a:gd name="T3" fmla="*/ 2147483646 h 806"/>
              <a:gd name="T4" fmla="*/ 2147483646 w 665"/>
              <a:gd name="T5" fmla="*/ 2147483646 h 806"/>
              <a:gd name="T6" fmla="*/ 2147483646 w 665"/>
              <a:gd name="T7" fmla="*/ 2147483646 h 806"/>
              <a:gd name="T8" fmla="*/ 2147483646 w 665"/>
              <a:gd name="T9" fmla="*/ 2147483646 h 8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5"/>
              <a:gd name="T16" fmla="*/ 0 h 806"/>
              <a:gd name="T17" fmla="*/ 665 w 665"/>
              <a:gd name="T18" fmla="*/ 806 h 8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5" h="806">
                <a:moveTo>
                  <a:pt x="560" y="0"/>
                </a:moveTo>
                <a:cubicBezTo>
                  <a:pt x="551" y="104"/>
                  <a:pt x="542" y="208"/>
                  <a:pt x="455" y="312"/>
                </a:cubicBezTo>
                <a:cubicBezTo>
                  <a:pt x="368" y="416"/>
                  <a:pt x="70" y="546"/>
                  <a:pt x="35" y="624"/>
                </a:cubicBezTo>
                <a:cubicBezTo>
                  <a:pt x="0" y="702"/>
                  <a:pt x="140" y="754"/>
                  <a:pt x="245" y="780"/>
                </a:cubicBezTo>
                <a:cubicBezTo>
                  <a:pt x="350" y="806"/>
                  <a:pt x="507" y="793"/>
                  <a:pt x="665" y="78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 lIns="0" tIns="0" rIns="0" bIns="0"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7" name="Freeform 26"/>
          <p:cNvSpPr/>
          <p:nvPr/>
        </p:nvSpPr>
        <p:spPr bwMode="auto">
          <a:xfrm>
            <a:off x="2995918" y="4498799"/>
            <a:ext cx="468312" cy="503238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8" name="矩形 2"/>
          <p:cNvSpPr/>
          <p:nvPr/>
        </p:nvSpPr>
        <p:spPr>
          <a:xfrm>
            <a:off x="7455783" y="5912592"/>
            <a:ext cx="34243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时间复杂度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400" b="true" i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O(1)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sz="2400" b="true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29" name="table 706"/>
          <p:cNvGraphicFramePr/>
          <p:nvPr/>
        </p:nvGraphicFramePr>
        <p:xfrm>
          <a:off x="7466965" y="3138170"/>
          <a:ext cx="3641725" cy="1603375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64172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603375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230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92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2"/>
          <p:cNvSpPr>
            <a:spLocks noGrp="true"/>
          </p:cNvSpPr>
          <p:nvPr>
            <p:ph type="title"/>
          </p:nvPr>
        </p:nvSpPr>
        <p:spPr>
          <a:xfrm>
            <a:off x="3111500" y="654685"/>
            <a:ext cx="851471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7.1.3.3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233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8526780" cy="113982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若在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链表中间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插入新节点，则将新节点的指针域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指向下一节点，让前一节点的指针域指向新节点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234" name="Group 31"/>
          <p:cNvGrpSpPr/>
          <p:nvPr/>
        </p:nvGrpSpPr>
        <p:grpSpPr>
          <a:xfrm>
            <a:off x="1614790" y="3749789"/>
            <a:ext cx="1793875" cy="431800"/>
            <a:chOff x="3334" y="3213"/>
            <a:chExt cx="1043" cy="272"/>
          </a:xfrm>
        </p:grpSpPr>
        <p:sp>
          <p:nvSpPr>
            <p:cNvPr id="235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36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237" name="Group 7"/>
          <p:cNvGrpSpPr/>
          <p:nvPr/>
        </p:nvGrpSpPr>
        <p:grpSpPr>
          <a:xfrm>
            <a:off x="1516365" y="4824527"/>
            <a:ext cx="3001962" cy="1111250"/>
            <a:chOff x="152" y="2659"/>
            <a:chExt cx="1746" cy="700"/>
          </a:xfrm>
        </p:grpSpPr>
        <p:sp>
          <p:nvSpPr>
            <p:cNvPr id="238" name="Rectangle 8"/>
            <p:cNvSpPr>
              <a:spLocks noChangeArrowheads="true"/>
            </p:cNvSpPr>
            <p:nvPr/>
          </p:nvSpPr>
          <p:spPr bwMode="auto">
            <a:xfrm>
              <a:off x="537" y="2659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待插入节点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39" name="Rectangle 4"/>
            <p:cNvSpPr>
              <a:spLocks noChangeArrowheads="true"/>
            </p:cNvSpPr>
            <p:nvPr/>
          </p:nvSpPr>
          <p:spPr bwMode="auto">
            <a:xfrm>
              <a:off x="620" y="2901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40" name="Rectangle 5"/>
            <p:cNvSpPr>
              <a:spLocks noChangeArrowheads="true"/>
            </p:cNvSpPr>
            <p:nvPr/>
          </p:nvSpPr>
          <p:spPr bwMode="auto">
            <a:xfrm>
              <a:off x="1254" y="2901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241" name="Group 11"/>
            <p:cNvGrpSpPr/>
            <p:nvPr/>
          </p:nvGrpSpPr>
          <p:grpSpPr>
            <a:xfrm>
              <a:off x="152" y="2948"/>
              <a:ext cx="467" cy="182"/>
              <a:chOff x="1324" y="3021"/>
              <a:chExt cx="467" cy="182"/>
            </a:xfrm>
          </p:grpSpPr>
          <p:sp>
            <p:nvSpPr>
              <p:cNvPr id="242" name="Rectangle 8"/>
              <p:cNvSpPr>
                <a:spLocks noChangeArrowheads="true"/>
              </p:cNvSpPr>
              <p:nvPr/>
            </p:nvSpPr>
            <p:spPr bwMode="auto">
              <a:xfrm>
                <a:off x="1324" y="3021"/>
                <a:ext cx="355" cy="18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/>
              <a:lstStyle/>
              <a:p>
                <a:pPr algn="just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  p</a:t>
                </a:r>
                <a:endParaRPr lang="en-US" altLang="zh-CN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243" name="Line 13"/>
              <p:cNvSpPr>
                <a:spLocks noChangeShapeType="true"/>
              </p:cNvSpPr>
              <p:nvPr/>
            </p:nvSpPr>
            <p:spPr bwMode="auto">
              <a:xfrm>
                <a:off x="1565" y="3119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244" name="Rectangle 14"/>
            <p:cNvSpPr>
              <a:spLocks noChangeArrowheads="true"/>
            </p:cNvSpPr>
            <p:nvPr/>
          </p:nvSpPr>
          <p:spPr bwMode="auto">
            <a:xfrm>
              <a:off x="483" y="3144"/>
              <a:ext cx="1367" cy="21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lang="zh-CN" altLang="en-US" b="true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45" name="Rectangle 15"/>
          <p:cNvSpPr>
            <a:spLocks noChangeArrowheads="true"/>
          </p:cNvSpPr>
          <p:nvPr/>
        </p:nvSpPr>
        <p:spPr bwMode="auto">
          <a:xfrm>
            <a:off x="1673833" y="2941697"/>
            <a:ext cx="397827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(2) pr-&gt;next = p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46" name="Group 16"/>
          <p:cNvGrpSpPr/>
          <p:nvPr/>
        </p:nvGrpSpPr>
        <p:grpSpPr>
          <a:xfrm>
            <a:off x="3811890" y="4391139"/>
            <a:ext cx="1793875" cy="431800"/>
            <a:chOff x="3334" y="3213"/>
            <a:chExt cx="1043" cy="272"/>
          </a:xfrm>
        </p:grpSpPr>
        <p:sp>
          <p:nvSpPr>
            <p:cNvPr id="247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48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49" name="Freeform 24"/>
          <p:cNvSpPr/>
          <p:nvPr/>
        </p:nvSpPr>
        <p:spPr bwMode="auto">
          <a:xfrm>
            <a:off x="5529565" y="4753089"/>
            <a:ext cx="466725" cy="503238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50" name="Group 20"/>
          <p:cNvGrpSpPr/>
          <p:nvPr/>
        </p:nvGrpSpPr>
        <p:grpSpPr>
          <a:xfrm>
            <a:off x="5996290" y="5038839"/>
            <a:ext cx="1793875" cy="431800"/>
            <a:chOff x="3334" y="3213"/>
            <a:chExt cx="1043" cy="272"/>
          </a:xfrm>
        </p:grpSpPr>
        <p:sp>
          <p:nvSpPr>
            <p:cNvPr id="251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52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53" name="Freeform 25"/>
          <p:cNvSpPr/>
          <p:nvPr/>
        </p:nvSpPr>
        <p:spPr bwMode="auto">
          <a:xfrm>
            <a:off x="7713965" y="5405552"/>
            <a:ext cx="468312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54" name="Group 24"/>
          <p:cNvGrpSpPr/>
          <p:nvPr/>
        </p:nvGrpSpPr>
        <p:grpSpPr>
          <a:xfrm>
            <a:off x="8185452" y="5688127"/>
            <a:ext cx="1793875" cy="431800"/>
            <a:chOff x="3334" y="3213"/>
            <a:chExt cx="1043" cy="272"/>
          </a:xfrm>
        </p:grpSpPr>
        <p:sp>
          <p:nvSpPr>
            <p:cNvPr id="255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56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zh-CN" sz="1800" b="true">
                  <a:latin typeface="华文中宋" panose="02010600040101010101" charset="-122"/>
                  <a:ea typeface="华文中宋" panose="02010600040101010101" charset="-122"/>
                </a:rPr>
                <a:t>∧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57" name="Rectangle 27"/>
          <p:cNvSpPr>
            <a:spLocks noChangeArrowheads="true"/>
          </p:cNvSpPr>
          <p:nvPr/>
        </p:nvSpPr>
        <p:spPr bwMode="auto">
          <a:xfrm>
            <a:off x="1673833" y="2516284"/>
            <a:ext cx="397986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(1) p-&gt;next = pr-&gt;next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58" name="Freeform 28"/>
          <p:cNvSpPr/>
          <p:nvPr/>
        </p:nvSpPr>
        <p:spPr bwMode="auto">
          <a:xfrm>
            <a:off x="3553127" y="4730864"/>
            <a:ext cx="835025" cy="741363"/>
          </a:xfrm>
          <a:custGeom>
            <a:avLst/>
            <a:gdLst>
              <a:gd name="T0" fmla="*/ 2147483646 w 945"/>
              <a:gd name="T1" fmla="*/ 2147483646 h 676"/>
              <a:gd name="T2" fmla="*/ 2147483646 w 945"/>
              <a:gd name="T3" fmla="*/ 2147483646 h 676"/>
              <a:gd name="T4" fmla="*/ 2147483646 w 945"/>
              <a:gd name="T5" fmla="*/ 2147483646 h 676"/>
              <a:gd name="T6" fmla="*/ 2147483646 w 945"/>
              <a:gd name="T7" fmla="*/ 2147483646 h 676"/>
              <a:gd name="T8" fmla="*/ 2147483646 w 945"/>
              <a:gd name="T9" fmla="*/ 0 h 6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45"/>
              <a:gd name="T16" fmla="*/ 0 h 676"/>
              <a:gd name="T17" fmla="*/ 945 w 945"/>
              <a:gd name="T18" fmla="*/ 676 h 6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45" h="676">
                <a:moveTo>
                  <a:pt x="613" y="624"/>
                </a:moveTo>
                <a:cubicBezTo>
                  <a:pt x="700" y="650"/>
                  <a:pt x="788" y="676"/>
                  <a:pt x="823" y="624"/>
                </a:cubicBezTo>
                <a:cubicBezTo>
                  <a:pt x="858" y="572"/>
                  <a:pt x="945" y="390"/>
                  <a:pt x="823" y="312"/>
                </a:cubicBezTo>
                <a:cubicBezTo>
                  <a:pt x="701" y="234"/>
                  <a:pt x="176" y="208"/>
                  <a:pt x="88" y="156"/>
                </a:cubicBezTo>
                <a:cubicBezTo>
                  <a:pt x="0" y="104"/>
                  <a:pt x="149" y="52"/>
                  <a:pt x="298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 lIns="0" tIns="0" rIns="0" bIns="0"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59" name="Freeform 29"/>
          <p:cNvSpPr/>
          <p:nvPr/>
        </p:nvSpPr>
        <p:spPr bwMode="auto">
          <a:xfrm rot="2323505">
            <a:off x="2256140" y="3816464"/>
            <a:ext cx="612775" cy="1489075"/>
          </a:xfrm>
          <a:custGeom>
            <a:avLst/>
            <a:gdLst>
              <a:gd name="T0" fmla="*/ 2147483646 w 665"/>
              <a:gd name="T1" fmla="*/ 0 h 806"/>
              <a:gd name="T2" fmla="*/ 2147483646 w 665"/>
              <a:gd name="T3" fmla="*/ 2147483646 h 806"/>
              <a:gd name="T4" fmla="*/ 2147483646 w 665"/>
              <a:gd name="T5" fmla="*/ 2147483646 h 806"/>
              <a:gd name="T6" fmla="*/ 2147483646 w 665"/>
              <a:gd name="T7" fmla="*/ 2147483646 h 806"/>
              <a:gd name="T8" fmla="*/ 2147483646 w 665"/>
              <a:gd name="T9" fmla="*/ 2147483646 h 8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5"/>
              <a:gd name="T16" fmla="*/ 0 h 806"/>
              <a:gd name="T17" fmla="*/ 665 w 665"/>
              <a:gd name="T18" fmla="*/ 806 h 8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5" h="806">
                <a:moveTo>
                  <a:pt x="560" y="0"/>
                </a:moveTo>
                <a:cubicBezTo>
                  <a:pt x="551" y="104"/>
                  <a:pt x="542" y="208"/>
                  <a:pt x="455" y="312"/>
                </a:cubicBezTo>
                <a:cubicBezTo>
                  <a:pt x="368" y="416"/>
                  <a:pt x="70" y="546"/>
                  <a:pt x="35" y="624"/>
                </a:cubicBezTo>
                <a:cubicBezTo>
                  <a:pt x="0" y="702"/>
                  <a:pt x="140" y="754"/>
                  <a:pt x="245" y="780"/>
                </a:cubicBezTo>
                <a:cubicBezTo>
                  <a:pt x="350" y="806"/>
                  <a:pt x="507" y="793"/>
                  <a:pt x="665" y="78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 lIns="0" tIns="0" rIns="0" bIns="0"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60" name="Freeform 26"/>
          <p:cNvSpPr/>
          <p:nvPr/>
        </p:nvSpPr>
        <p:spPr bwMode="auto">
          <a:xfrm>
            <a:off x="3335640" y="4103802"/>
            <a:ext cx="468312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61" name="Freeform 24"/>
          <p:cNvSpPr/>
          <p:nvPr/>
        </p:nvSpPr>
        <p:spPr bwMode="auto">
          <a:xfrm>
            <a:off x="1163940" y="3456102"/>
            <a:ext cx="468312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62" name="Group 36"/>
          <p:cNvGrpSpPr/>
          <p:nvPr/>
        </p:nvGrpSpPr>
        <p:grpSpPr>
          <a:xfrm>
            <a:off x="830565" y="3937114"/>
            <a:ext cx="803275" cy="288925"/>
            <a:chOff x="1324" y="3021"/>
            <a:chExt cx="467" cy="182"/>
          </a:xfrm>
        </p:grpSpPr>
        <p:sp>
          <p:nvSpPr>
            <p:cNvPr id="263" name="Rectangle 8"/>
            <p:cNvSpPr>
              <a:spLocks noChangeArrowheads="true"/>
            </p:cNvSpPr>
            <p:nvPr/>
          </p:nvSpPr>
          <p:spPr bwMode="auto">
            <a:xfrm>
              <a:off x="1324" y="3021"/>
              <a:ext cx="355" cy="1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just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pr</a:t>
              </a:r>
              <a:endParaRPr lang="en-US" altLang="zh-CN" sz="1800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64" name="Line 38"/>
            <p:cNvSpPr>
              <a:spLocks noChangeShapeType="true"/>
            </p:cNvSpPr>
            <p:nvPr/>
          </p:nvSpPr>
          <p:spPr bwMode="auto">
            <a:xfrm>
              <a:off x="1565" y="3119"/>
              <a:ext cx="2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65" name="矩形 1"/>
          <p:cNvSpPr/>
          <p:nvPr/>
        </p:nvSpPr>
        <p:spPr>
          <a:xfrm>
            <a:off x="8014502" y="4674111"/>
            <a:ext cx="34243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时间复杂度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400" b="true" i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O(1)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sz="2400" b="true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66" name="table 706"/>
          <p:cNvGraphicFramePr/>
          <p:nvPr/>
        </p:nvGraphicFramePr>
        <p:xfrm>
          <a:off x="8001635" y="3006090"/>
          <a:ext cx="3378200" cy="144145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3782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44145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267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5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7"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"/>
          <p:cNvSpPr>
            <a:spLocks noGrp="true"/>
          </p:cNvSpPr>
          <p:nvPr>
            <p:ph type="title"/>
          </p:nvPr>
        </p:nvSpPr>
        <p:spPr>
          <a:xfrm>
            <a:off x="3111500" y="654685"/>
            <a:ext cx="851471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7.1.3.3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270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8526780" cy="113982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若在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表尾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插入新节点，则将末节点指针域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指向新节点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271" name="Group 2"/>
          <p:cNvGrpSpPr/>
          <p:nvPr/>
        </p:nvGrpSpPr>
        <p:grpSpPr>
          <a:xfrm>
            <a:off x="1671211" y="4290386"/>
            <a:ext cx="1793875" cy="431800"/>
            <a:chOff x="3334" y="3213"/>
            <a:chExt cx="1043" cy="272"/>
          </a:xfrm>
        </p:grpSpPr>
        <p:sp>
          <p:nvSpPr>
            <p:cNvPr id="272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73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274" name="Group 7"/>
          <p:cNvGrpSpPr/>
          <p:nvPr/>
        </p:nvGrpSpPr>
        <p:grpSpPr>
          <a:xfrm>
            <a:off x="5236736" y="5276223"/>
            <a:ext cx="3054350" cy="1111250"/>
            <a:chOff x="152" y="2659"/>
            <a:chExt cx="1776" cy="700"/>
          </a:xfrm>
        </p:grpSpPr>
        <p:sp>
          <p:nvSpPr>
            <p:cNvPr id="275" name="Rectangle 8"/>
            <p:cNvSpPr>
              <a:spLocks noChangeArrowheads="true"/>
            </p:cNvSpPr>
            <p:nvPr/>
          </p:nvSpPr>
          <p:spPr bwMode="auto">
            <a:xfrm>
              <a:off x="567" y="2659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rPr>
                <a:t>待插入节点</a:t>
              </a:r>
              <a:endParaRPr lang="zh-CN" altLang="en-US" sz="2000" b="true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76" name="Rectangle 4"/>
            <p:cNvSpPr>
              <a:spLocks noChangeArrowheads="true"/>
            </p:cNvSpPr>
            <p:nvPr/>
          </p:nvSpPr>
          <p:spPr bwMode="auto">
            <a:xfrm>
              <a:off x="620" y="2901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77" name="Rectangle 5"/>
            <p:cNvSpPr>
              <a:spLocks noChangeArrowheads="true"/>
            </p:cNvSpPr>
            <p:nvPr/>
          </p:nvSpPr>
          <p:spPr bwMode="auto">
            <a:xfrm>
              <a:off x="1254" y="2901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278" name="Group 11"/>
            <p:cNvGrpSpPr/>
            <p:nvPr/>
          </p:nvGrpSpPr>
          <p:grpSpPr>
            <a:xfrm>
              <a:off x="152" y="2948"/>
              <a:ext cx="467" cy="182"/>
              <a:chOff x="1324" y="3021"/>
              <a:chExt cx="467" cy="182"/>
            </a:xfrm>
          </p:grpSpPr>
          <p:sp>
            <p:nvSpPr>
              <p:cNvPr id="279" name="Rectangle 8"/>
              <p:cNvSpPr>
                <a:spLocks noChangeArrowheads="true"/>
              </p:cNvSpPr>
              <p:nvPr/>
            </p:nvSpPr>
            <p:spPr bwMode="auto">
              <a:xfrm>
                <a:off x="1324" y="3021"/>
                <a:ext cx="355" cy="18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/>
              <a:lstStyle/>
              <a:p>
                <a:pPr algn="just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  p</a:t>
                </a:r>
                <a:endParaRPr lang="en-US" altLang="zh-CN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280" name="Line 13"/>
              <p:cNvSpPr>
                <a:spLocks noChangeShapeType="true"/>
              </p:cNvSpPr>
              <p:nvPr/>
            </p:nvSpPr>
            <p:spPr bwMode="auto">
              <a:xfrm>
                <a:off x="1565" y="3119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281" name="Rectangle 14"/>
            <p:cNvSpPr>
              <a:spLocks noChangeArrowheads="true"/>
            </p:cNvSpPr>
            <p:nvPr/>
          </p:nvSpPr>
          <p:spPr bwMode="auto">
            <a:xfrm>
              <a:off x="483" y="3144"/>
              <a:ext cx="1361" cy="21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lang="zh-CN" altLang="en-US" b="true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82" name="Freeform 25"/>
          <p:cNvSpPr/>
          <p:nvPr/>
        </p:nvSpPr>
        <p:spPr bwMode="auto">
          <a:xfrm>
            <a:off x="3390474" y="4644398"/>
            <a:ext cx="468312" cy="503238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83" name="Rectangle 27"/>
          <p:cNvSpPr>
            <a:spLocks noChangeArrowheads="true"/>
          </p:cNvSpPr>
          <p:nvPr/>
        </p:nvSpPr>
        <p:spPr bwMode="auto">
          <a:xfrm>
            <a:off x="1479543" y="2669294"/>
            <a:ext cx="397986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(1) pr-&gt;next = p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84" name="Freeform 24"/>
          <p:cNvSpPr/>
          <p:nvPr/>
        </p:nvSpPr>
        <p:spPr bwMode="auto">
          <a:xfrm>
            <a:off x="1220361" y="3996698"/>
            <a:ext cx="468313" cy="503238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85" name="Group 32"/>
          <p:cNvGrpSpPr/>
          <p:nvPr/>
        </p:nvGrpSpPr>
        <p:grpSpPr>
          <a:xfrm>
            <a:off x="3069799" y="5085723"/>
            <a:ext cx="803275" cy="288925"/>
            <a:chOff x="1324" y="3021"/>
            <a:chExt cx="467" cy="182"/>
          </a:xfrm>
        </p:grpSpPr>
        <p:sp>
          <p:nvSpPr>
            <p:cNvPr id="286" name="Rectangle 8"/>
            <p:cNvSpPr>
              <a:spLocks noChangeArrowheads="true"/>
            </p:cNvSpPr>
            <p:nvPr/>
          </p:nvSpPr>
          <p:spPr bwMode="auto">
            <a:xfrm>
              <a:off x="1324" y="3021"/>
              <a:ext cx="355" cy="1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just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pr</a:t>
              </a:r>
              <a:endParaRPr lang="en-US" altLang="zh-CN" sz="1800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87" name="Line 34"/>
            <p:cNvSpPr>
              <a:spLocks noChangeShapeType="true"/>
            </p:cNvSpPr>
            <p:nvPr/>
          </p:nvSpPr>
          <p:spPr bwMode="auto">
            <a:xfrm>
              <a:off x="1565" y="3119"/>
              <a:ext cx="2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288" name="Group 44"/>
          <p:cNvGrpSpPr/>
          <p:nvPr/>
        </p:nvGrpSpPr>
        <p:grpSpPr>
          <a:xfrm>
            <a:off x="3717499" y="4534861"/>
            <a:ext cx="2341562" cy="823912"/>
            <a:chOff x="1837" y="2318"/>
            <a:chExt cx="1361" cy="519"/>
          </a:xfrm>
        </p:grpSpPr>
        <p:grpSp>
          <p:nvGrpSpPr>
            <p:cNvPr id="289" name="Group 24"/>
            <p:cNvGrpSpPr/>
            <p:nvPr/>
          </p:nvGrpSpPr>
          <p:grpSpPr>
            <a:xfrm>
              <a:off x="1921" y="2565"/>
              <a:ext cx="1043" cy="272"/>
              <a:chOff x="3334" y="3213"/>
              <a:chExt cx="1043" cy="272"/>
            </a:xfrm>
          </p:grpSpPr>
          <p:sp>
            <p:nvSpPr>
              <p:cNvPr id="290" name="Rectangle 4"/>
              <p:cNvSpPr>
                <a:spLocks noChangeArrowheads="true"/>
              </p:cNvSpPr>
              <p:nvPr/>
            </p:nvSpPr>
            <p:spPr bwMode="auto">
              <a:xfrm>
                <a:off x="3334" y="3213"/>
                <a:ext cx="634" cy="27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algn="ctr"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data</a:t>
                </a:r>
                <a:endParaRPr lang="en-US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291" name="Rectangle 5"/>
              <p:cNvSpPr>
                <a:spLocks noChangeArrowheads="true"/>
              </p:cNvSpPr>
              <p:nvPr/>
            </p:nvSpPr>
            <p:spPr bwMode="auto">
              <a:xfrm>
                <a:off x="3968" y="3213"/>
                <a:ext cx="409" cy="27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∧</a:t>
                </a:r>
                <a:endParaRPr lang="zh-CN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292" name="Rectangle 37"/>
            <p:cNvSpPr>
              <a:spLocks noChangeArrowheads="true"/>
            </p:cNvSpPr>
            <p:nvPr/>
          </p:nvSpPr>
          <p:spPr bwMode="auto">
            <a:xfrm>
              <a:off x="1837" y="2318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rPr>
                <a:t>原末节点</a:t>
              </a:r>
              <a:endParaRPr lang="zh-CN" altLang="en-US" sz="2000" b="true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93" name="Rectangle 5"/>
          <p:cNvSpPr>
            <a:spLocks noChangeArrowheads="true"/>
          </p:cNvSpPr>
          <p:nvPr/>
        </p:nvSpPr>
        <p:spPr bwMode="auto">
          <a:xfrm>
            <a:off x="4989086" y="4952373"/>
            <a:ext cx="568325" cy="3492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n</a:t>
            </a:r>
            <a:r>
              <a:rPr lang="en-US" altLang="zh-CN" sz="18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ext</a:t>
            </a:r>
            <a:endParaRPr lang="zh-CN" altLang="zh-CN" sz="1800" b="true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94" name="Freeform 25"/>
          <p:cNvSpPr/>
          <p:nvPr/>
        </p:nvSpPr>
        <p:spPr bwMode="auto">
          <a:xfrm>
            <a:off x="5578049" y="5280986"/>
            <a:ext cx="468312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95" name="Rectangle 8"/>
          <p:cNvSpPr>
            <a:spLocks noChangeArrowheads="true"/>
          </p:cNvSpPr>
          <p:nvPr/>
        </p:nvSpPr>
        <p:spPr bwMode="auto">
          <a:xfrm>
            <a:off x="7225874" y="5725486"/>
            <a:ext cx="547687" cy="287337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true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  <a:ea typeface="华文中宋" panose="02010600040101010101" charset="-122"/>
              </a:rPr>
              <a:t>∧</a:t>
            </a:r>
            <a:endParaRPr lang="en-US" altLang="zh-CN" b="true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96" name="Text Box 50"/>
          <p:cNvSpPr txBox="true">
            <a:spLocks noChangeArrowheads="true"/>
          </p:cNvSpPr>
          <p:nvPr/>
        </p:nvSpPr>
        <p:spPr bwMode="auto">
          <a:xfrm>
            <a:off x="1424732" y="3140872"/>
            <a:ext cx="3354388" cy="503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/>
          <a:lstStyle/>
          <a:p>
            <a:pPr algn="just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  (2) 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p-&gt;next = NULL</a:t>
            </a:r>
            <a:endParaRPr lang="en-US" altLang="zh-CN" sz="2000">
              <a:effectLst>
                <a:outerShdw blurRad="38100" dist="38100" dir="2700000" algn="tl">
                  <a:srgbClr val="C0C0C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97" name="矩形 69"/>
          <p:cNvSpPr/>
          <p:nvPr/>
        </p:nvSpPr>
        <p:spPr>
          <a:xfrm>
            <a:off x="7483643" y="4814558"/>
            <a:ext cx="34243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时间复杂度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400" b="true" i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O(1)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sz="2400" b="true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98" name="table 706"/>
          <p:cNvGraphicFramePr/>
          <p:nvPr/>
        </p:nvGraphicFramePr>
        <p:xfrm>
          <a:off x="7632065" y="3193415"/>
          <a:ext cx="3626485" cy="1519555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62648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519555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299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7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2"/>
          <p:cNvSpPr>
            <a:spLocks noGrp="true"/>
          </p:cNvSpPr>
          <p:nvPr>
            <p:ph type="title"/>
          </p:nvPr>
        </p:nvSpPr>
        <p:spPr>
          <a:xfrm>
            <a:off x="3111500" y="654685"/>
            <a:ext cx="851471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7.1.3.4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链表的查找操作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302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8526780" cy="65087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在单向链表中查找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尾节点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303" name="picture 31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39332" y="4186579"/>
            <a:ext cx="810006" cy="540004"/>
          </a:xfrm>
          <a:prstGeom prst="rect">
            <a:avLst/>
          </a:prstGeom>
        </p:spPr>
      </p:pic>
      <p:pic>
        <p:nvPicPr>
          <p:cNvPr id="304" name="picture 3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52970" y="4621681"/>
            <a:ext cx="809993" cy="540004"/>
          </a:xfrm>
          <a:prstGeom prst="rect">
            <a:avLst/>
          </a:prstGeom>
        </p:spPr>
      </p:pic>
      <p:pic>
        <p:nvPicPr>
          <p:cNvPr id="305" name="picture 3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734001" y="3707586"/>
            <a:ext cx="810005" cy="536397"/>
          </a:xfrm>
          <a:prstGeom prst="rect">
            <a:avLst/>
          </a:prstGeom>
        </p:spPr>
      </p:pic>
      <p:pic>
        <p:nvPicPr>
          <p:cNvPr id="306" name="table"/>
          <p:cNvPicPr>
            <a:picLocks noGrp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181" y="4345965"/>
            <a:ext cx="984884" cy="336550"/>
          </a:xfrm>
          <a:prstGeom prst="rect">
            <a:avLst/>
          </a:prstGeom>
        </p:spPr>
      </p:pic>
      <p:pic>
        <p:nvPicPr>
          <p:cNvPr id="307" name="table"/>
          <p:cNvPicPr>
            <a:picLocks noGrp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8981650" y="4778146"/>
            <a:ext cx="984884" cy="336550"/>
          </a:xfrm>
          <a:prstGeom prst="rect">
            <a:avLst/>
          </a:prstGeom>
        </p:spPr>
      </p:pic>
      <p:pic>
        <p:nvPicPr>
          <p:cNvPr id="308" name="table"/>
          <p:cNvPicPr>
            <a:picLocks noGrp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1388" y="5210327"/>
            <a:ext cx="984884" cy="336550"/>
          </a:xfrm>
          <a:prstGeom prst="rect">
            <a:avLst/>
          </a:prstGeom>
        </p:spPr>
      </p:pic>
      <p:pic>
        <p:nvPicPr>
          <p:cNvPr id="309" name="table"/>
          <p:cNvPicPr>
            <a:picLocks noGrp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787" y="4938864"/>
            <a:ext cx="812800" cy="382269"/>
          </a:xfrm>
          <a:prstGeom prst="rect">
            <a:avLst/>
          </a:prstGeom>
        </p:spPr>
      </p:pic>
      <p:pic>
        <p:nvPicPr>
          <p:cNvPr id="310" name="table"/>
          <p:cNvPicPr>
            <a:picLocks noGrp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9421735" y="5380202"/>
            <a:ext cx="810894" cy="369569"/>
          </a:xfrm>
          <a:prstGeom prst="rect">
            <a:avLst/>
          </a:prstGeom>
        </p:spPr>
      </p:pic>
      <p:pic>
        <p:nvPicPr>
          <p:cNvPr id="311" name="table"/>
          <p:cNvPicPr>
            <a:picLocks noGrp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8495875" y="4345965"/>
            <a:ext cx="281304" cy="336550"/>
          </a:xfrm>
          <a:prstGeom prst="rect">
            <a:avLst/>
          </a:prstGeom>
        </p:spPr>
      </p:pic>
      <p:pic>
        <p:nvPicPr>
          <p:cNvPr id="312" name="picture 33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600904" y="4452137"/>
            <a:ext cx="385952" cy="462914"/>
          </a:xfrm>
          <a:prstGeom prst="rect">
            <a:avLst/>
          </a:prstGeom>
        </p:spPr>
      </p:pic>
      <p:pic>
        <p:nvPicPr>
          <p:cNvPr id="313" name="table"/>
          <p:cNvPicPr>
            <a:picLocks noGrp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9954343" y="4778146"/>
            <a:ext cx="280034" cy="336550"/>
          </a:xfrm>
          <a:prstGeom prst="rect">
            <a:avLst/>
          </a:prstGeom>
        </p:spPr>
      </p:pic>
      <p:pic>
        <p:nvPicPr>
          <p:cNvPr id="314" name="picture 33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058229" y="4884317"/>
            <a:ext cx="385952" cy="462864"/>
          </a:xfrm>
          <a:prstGeom prst="rect">
            <a:avLst/>
          </a:prstGeom>
        </p:spPr>
      </p:pic>
      <p:pic>
        <p:nvPicPr>
          <p:cNvPr id="315" name="table"/>
          <p:cNvPicPr>
            <a:picLocks noGrp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5679" y="3913784"/>
            <a:ext cx="382904" cy="336550"/>
          </a:xfrm>
          <a:prstGeom prst="rect">
            <a:avLst/>
          </a:prstGeom>
        </p:spPr>
      </p:pic>
      <p:pic>
        <p:nvPicPr>
          <p:cNvPr id="316" name="picture 33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143578" y="4019956"/>
            <a:ext cx="385952" cy="462788"/>
          </a:xfrm>
          <a:prstGeom prst="rect">
            <a:avLst/>
          </a:prstGeom>
        </p:spPr>
      </p:pic>
      <p:sp>
        <p:nvSpPr>
          <p:cNvPr id="317" name="textbox 340"/>
          <p:cNvSpPr/>
          <p:nvPr/>
        </p:nvSpPr>
        <p:spPr>
          <a:xfrm>
            <a:off x="10633920" y="4340377"/>
            <a:ext cx="8445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false" eaLnBrk="false">
              <a:lnSpc>
                <a:spcPct val="86000"/>
              </a:lnSpc>
            </a:pPr>
            <a:endParaRPr sz="10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false" eaLnBrk="false">
              <a:lnSpc>
                <a:spcPct val="97000"/>
              </a:lnSpc>
            </a:pPr>
            <a:r>
              <a:rPr sz="1500" b="true" kern="0" spc="-30">
                <a:solidFill>
                  <a:srgbClr val="FF33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last</a:t>
            </a:r>
            <a:r>
              <a:rPr sz="1500" b="true" kern="0" spc="80">
                <a:solidFill>
                  <a:srgbClr val="FF33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b="true" kern="0" spc="-30">
                <a:solidFill>
                  <a:srgbClr val="FF33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node</a:t>
            </a:r>
            <a:endParaRPr sz="15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18" name="table"/>
          <p:cNvPicPr>
            <a:picLocks noGrp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14081" y="5210327"/>
            <a:ext cx="315594" cy="336550"/>
          </a:xfrm>
          <a:prstGeom prst="rect">
            <a:avLst/>
          </a:prstGeom>
        </p:spPr>
      </p:pic>
      <p:sp>
        <p:nvSpPr>
          <p:cNvPr id="319" name="path 346"/>
          <p:cNvSpPr/>
          <p:nvPr/>
        </p:nvSpPr>
        <p:spPr>
          <a:xfrm>
            <a:off x="9628588" y="5367502"/>
            <a:ext cx="785812" cy="25400"/>
          </a:xfrm>
          <a:custGeom>
            <a:avLst/>
            <a:gdLst/>
            <a:ahLst/>
            <a:cxnLst/>
            <a:rect l="0" t="0" r="0" b="0"/>
            <a:pathLst>
              <a:path w="1237" h="40">
                <a:moveTo>
                  <a:pt x="1237" y="20"/>
                </a:moveTo>
                <a:lnTo>
                  <a:pt x="0" y="20"/>
                </a:lnTo>
              </a:path>
            </a:pathLst>
          </a:custGeom>
          <a:noFill/>
          <a:ln w="25400" cap="flat">
            <a:solidFill>
              <a:srgbClr val="FFFFF4"/>
            </a:solidFill>
            <a:prstDash val="solid"/>
            <a:round/>
          </a:ln>
        </p:spPr>
        <p:txBody>
          <a:bodyPr rtlCol="false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0" name="path 348"/>
          <p:cNvSpPr/>
          <p:nvPr/>
        </p:nvSpPr>
        <p:spPr>
          <a:xfrm>
            <a:off x="8958599" y="4951564"/>
            <a:ext cx="39751" cy="357187"/>
          </a:xfrm>
          <a:custGeom>
            <a:avLst/>
            <a:gdLst/>
            <a:ahLst/>
            <a:cxnLst/>
            <a:rect l="0" t="0" r="0" b="0"/>
            <a:pathLst>
              <a:path w="62" h="562">
                <a:moveTo>
                  <a:pt x="42" y="562"/>
                </a:moveTo>
                <a:lnTo>
                  <a:pt x="42" y="0"/>
                </a:lnTo>
                <a:moveTo>
                  <a:pt x="20" y="562"/>
                </a:moveTo>
                <a:lnTo>
                  <a:pt x="20" y="0"/>
                </a:lnTo>
              </a:path>
            </a:pathLst>
          </a:custGeom>
          <a:noFill/>
          <a:ln w="25400" cap="flat">
            <a:solidFill>
              <a:srgbClr val="FFFFF4"/>
            </a:solidFill>
            <a:prstDash val="solid"/>
            <a:round/>
          </a:ln>
        </p:spPr>
        <p:txBody>
          <a:bodyPr rtlCol="false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1" name="path 350"/>
          <p:cNvSpPr/>
          <p:nvPr/>
        </p:nvSpPr>
        <p:spPr>
          <a:xfrm>
            <a:off x="7501274" y="4522939"/>
            <a:ext cx="25400" cy="357187"/>
          </a:xfrm>
          <a:custGeom>
            <a:avLst/>
            <a:gdLst/>
            <a:ahLst/>
            <a:cxnLst/>
            <a:rect l="0" t="0" r="0" b="0"/>
            <a:pathLst>
              <a:path w="40" h="562">
                <a:moveTo>
                  <a:pt x="20" y="562"/>
                </a:moveTo>
                <a:lnTo>
                  <a:pt x="20" y="0"/>
                </a:lnTo>
              </a:path>
            </a:pathLst>
          </a:custGeom>
          <a:noFill/>
          <a:ln w="25400" cap="flat">
            <a:solidFill>
              <a:srgbClr val="FFFFF4"/>
            </a:solidFill>
            <a:prstDash val="solid"/>
            <a:round/>
          </a:ln>
        </p:spPr>
        <p:txBody>
          <a:bodyPr rtlCol="false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2" name="文本框 8"/>
          <p:cNvSpPr txBox="true"/>
          <p:nvPr/>
        </p:nvSpPr>
        <p:spPr>
          <a:xfrm>
            <a:off x="6735456" y="3522920"/>
            <a:ext cx="745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1800" b="true" kern="0" spc="-3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head</a:t>
            </a:r>
            <a:endParaRPr lang="zh-CN" altLang="en-US"/>
          </a:p>
        </p:txBody>
      </p:sp>
      <p:pic>
        <p:nvPicPr>
          <p:cNvPr id="323" name="图片 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799804" y="5351368"/>
            <a:ext cx="588371" cy="203968"/>
          </a:xfrm>
          <a:prstGeom prst="rect">
            <a:avLst/>
          </a:prstGeom>
        </p:spPr>
      </p:pic>
      <p:sp>
        <p:nvSpPr>
          <p:cNvPr id="324" name="文本框 10"/>
          <p:cNvSpPr txBox="true"/>
          <p:nvPr/>
        </p:nvSpPr>
        <p:spPr>
          <a:xfrm>
            <a:off x="455930" y="2400300"/>
            <a:ext cx="6151245" cy="3046988"/>
          </a:xfrm>
          <a:prstGeom prst="rect">
            <a:avLst/>
          </a:prstGeom>
          <a:solidFill>
            <a:srgbClr val="FFFFCC"/>
          </a:solidFill>
          <a:ln w="28575">
            <a:solidFill>
              <a:schemeClr val="accent6"/>
            </a:solidFill>
          </a:ln>
        </p:spPr>
        <p:txBody>
          <a:bodyPr wrap="square" rtlCol="false">
            <a:spAutoFit/>
          </a:bodyPr>
          <a:lstStyle/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struct</a:t>
            </a:r>
            <a:r>
              <a:rPr lang="zh-CN" altLang="en-US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link </a:t>
            </a:r>
            <a:r>
              <a:rPr lang="zh-CN" altLang="en-US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*</a:t>
            </a:r>
            <a:r>
              <a:rPr lang="en-US" altLang="zh-CN" sz="2400" b="true" dirty="false" err="true">
                <a:latin typeface="Courier New" panose="02070409020205090404" pitchFamily="49" charset="0"/>
                <a:cs typeface="Courier New" panose="02070409020205090404" pitchFamily="49" charset="0"/>
              </a:rPr>
              <a:t>FindLast</a:t>
            </a:r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(struct</a:t>
            </a:r>
            <a:r>
              <a:rPr lang="zh-CN" altLang="en-US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link *head)</a:t>
            </a:r>
            <a:endParaRPr lang="en-US" altLang="zh-CN" sz="2400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altLang="zh-CN" sz="2400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struct</a:t>
            </a:r>
            <a:r>
              <a:rPr lang="zh-CN" altLang="en-US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link *</a:t>
            </a:r>
            <a:r>
              <a:rPr lang="en-US" altLang="zh-CN" sz="2400" b="true" dirty="false" err="tru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=head;</a:t>
            </a:r>
            <a:endParaRPr lang="en-US" altLang="zh-CN" sz="2400" b="true" dirty="false">
              <a:solidFill>
                <a:srgbClr val="0070C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while(</a:t>
            </a:r>
            <a:r>
              <a:rPr lang="en-US" altLang="zh-CN" sz="2400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-&gt;next!=NULL)</a:t>
            </a:r>
            <a:endParaRPr lang="en-US" altLang="zh-CN" sz="2400" b="true" dirty="false">
              <a:solidFill>
                <a:srgbClr val="FF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   </a:t>
            </a:r>
            <a:r>
              <a:rPr lang="en-US" altLang="zh-CN" sz="2400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=</a:t>
            </a:r>
            <a:r>
              <a:rPr lang="en-US" altLang="zh-CN" sz="2400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-&gt;next;</a:t>
            </a:r>
            <a:endParaRPr lang="en-US" altLang="zh-CN" sz="2400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return </a:t>
            </a:r>
            <a:r>
              <a:rPr lang="en-US" altLang="zh-CN" sz="2400" b="true" dirty="false" err="tru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altLang="zh-CN" sz="2400" b="true" dirty="false">
              <a:solidFill>
                <a:srgbClr val="0070C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zh-CN" altLang="en-US" sz="2400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325" name="矩形 11"/>
          <p:cNvSpPr/>
          <p:nvPr/>
        </p:nvSpPr>
        <p:spPr>
          <a:xfrm>
            <a:off x="7670743" y="5868210"/>
            <a:ext cx="34243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时间复杂度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400" b="true" i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O(n)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sz="2400" b="true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26" name="灯片编号占位符 29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Rectangle 2"/>
          <p:cNvSpPr>
            <a:spLocks noGrp="true"/>
          </p:cNvSpPr>
          <p:nvPr>
            <p:ph type="title"/>
          </p:nvPr>
        </p:nvSpPr>
        <p:spPr>
          <a:xfrm>
            <a:off x="3111500" y="654685"/>
            <a:ext cx="851471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7.1.3.4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链表的查找操作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334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10930890" cy="65087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在单向链表中查找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第</a:t>
            </a:r>
            <a:r>
              <a:rPr lang="en-US" altLang="zh-CN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k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个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节点，如果不存在则输出最后一个节点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335" name="picture 31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417304" y="4262552"/>
            <a:ext cx="810006" cy="540004"/>
          </a:xfrm>
          <a:prstGeom prst="rect">
            <a:avLst/>
          </a:prstGeom>
        </p:spPr>
      </p:pic>
      <p:pic>
        <p:nvPicPr>
          <p:cNvPr id="336" name="picture 3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830942" y="4697654"/>
            <a:ext cx="809993" cy="540004"/>
          </a:xfrm>
          <a:prstGeom prst="rect">
            <a:avLst/>
          </a:prstGeom>
        </p:spPr>
      </p:pic>
      <p:pic>
        <p:nvPicPr>
          <p:cNvPr id="337" name="picture 3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11973" y="3783559"/>
            <a:ext cx="810005" cy="536397"/>
          </a:xfrm>
          <a:prstGeom prst="rect">
            <a:avLst/>
          </a:prstGeom>
        </p:spPr>
      </p:pic>
      <p:pic>
        <p:nvPicPr>
          <p:cNvPr id="338" name="table"/>
          <p:cNvPicPr>
            <a:picLocks noGrp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153" y="4421938"/>
            <a:ext cx="984884" cy="336550"/>
          </a:xfrm>
          <a:prstGeom prst="rect">
            <a:avLst/>
          </a:prstGeom>
        </p:spPr>
      </p:pic>
      <p:pic>
        <p:nvPicPr>
          <p:cNvPr id="339" name="table"/>
          <p:cNvPicPr>
            <a:picLocks noGrp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9159622" y="4854119"/>
            <a:ext cx="984884" cy="336550"/>
          </a:xfrm>
          <a:prstGeom prst="rect">
            <a:avLst/>
          </a:prstGeom>
        </p:spPr>
      </p:pic>
      <p:pic>
        <p:nvPicPr>
          <p:cNvPr id="340" name="table"/>
          <p:cNvPicPr>
            <a:picLocks noGrp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9360" y="5286300"/>
            <a:ext cx="984884" cy="336550"/>
          </a:xfrm>
          <a:prstGeom prst="rect">
            <a:avLst/>
          </a:prstGeom>
        </p:spPr>
      </p:pic>
      <p:pic>
        <p:nvPicPr>
          <p:cNvPr id="341" name="table"/>
          <p:cNvPicPr>
            <a:picLocks noGrp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8350759" y="5014837"/>
            <a:ext cx="812800" cy="382269"/>
          </a:xfrm>
          <a:prstGeom prst="rect">
            <a:avLst/>
          </a:prstGeom>
        </p:spPr>
      </p:pic>
      <p:pic>
        <p:nvPicPr>
          <p:cNvPr id="342" name="table"/>
          <p:cNvPicPr>
            <a:picLocks noGrp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9793860" y="5456175"/>
            <a:ext cx="810894" cy="369569"/>
          </a:xfrm>
          <a:prstGeom prst="rect">
            <a:avLst/>
          </a:prstGeom>
        </p:spPr>
      </p:pic>
      <p:pic>
        <p:nvPicPr>
          <p:cNvPr id="343" name="table"/>
          <p:cNvPicPr>
            <a:picLocks noGrp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8673847" y="4421938"/>
            <a:ext cx="281304" cy="336550"/>
          </a:xfrm>
          <a:prstGeom prst="rect">
            <a:avLst/>
          </a:prstGeom>
        </p:spPr>
      </p:pic>
      <p:pic>
        <p:nvPicPr>
          <p:cNvPr id="344" name="picture 33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778876" y="4528110"/>
            <a:ext cx="385952" cy="462914"/>
          </a:xfrm>
          <a:prstGeom prst="rect">
            <a:avLst/>
          </a:prstGeom>
        </p:spPr>
      </p:pic>
      <p:pic>
        <p:nvPicPr>
          <p:cNvPr id="345" name="table"/>
          <p:cNvPicPr>
            <a:picLocks noGrp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2315" y="4854119"/>
            <a:ext cx="280034" cy="336550"/>
          </a:xfrm>
          <a:prstGeom prst="rect">
            <a:avLst/>
          </a:prstGeom>
        </p:spPr>
      </p:pic>
      <p:pic>
        <p:nvPicPr>
          <p:cNvPr id="346" name="picture 33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236201" y="4960290"/>
            <a:ext cx="385952" cy="462864"/>
          </a:xfrm>
          <a:prstGeom prst="rect">
            <a:avLst/>
          </a:prstGeom>
        </p:spPr>
      </p:pic>
      <p:pic>
        <p:nvPicPr>
          <p:cNvPr id="347" name="table"/>
          <p:cNvPicPr>
            <a:picLocks noGrp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3651" y="3989757"/>
            <a:ext cx="382904" cy="336550"/>
          </a:xfrm>
          <a:prstGeom prst="rect">
            <a:avLst/>
          </a:prstGeom>
        </p:spPr>
      </p:pic>
      <p:pic>
        <p:nvPicPr>
          <p:cNvPr id="348" name="picture 33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321550" y="4095929"/>
            <a:ext cx="385952" cy="462788"/>
          </a:xfrm>
          <a:prstGeom prst="rect">
            <a:avLst/>
          </a:prstGeom>
        </p:spPr>
      </p:pic>
      <p:sp>
        <p:nvSpPr>
          <p:cNvPr id="349" name="textbox 340"/>
          <p:cNvSpPr/>
          <p:nvPr/>
        </p:nvSpPr>
        <p:spPr>
          <a:xfrm>
            <a:off x="10811892" y="4416350"/>
            <a:ext cx="8445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false" eaLnBrk="false">
              <a:lnSpc>
                <a:spcPct val="86000"/>
              </a:lnSpc>
            </a:pPr>
            <a:endParaRPr sz="10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false" eaLnBrk="false">
              <a:lnSpc>
                <a:spcPct val="97000"/>
              </a:lnSpc>
            </a:pPr>
            <a:r>
              <a:rPr sz="1500" b="true" kern="0" spc="-30">
                <a:solidFill>
                  <a:srgbClr val="FF33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last</a:t>
            </a:r>
            <a:r>
              <a:rPr sz="1500" b="true" kern="0" spc="80">
                <a:solidFill>
                  <a:srgbClr val="FF33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b="true" kern="0" spc="-30">
                <a:solidFill>
                  <a:srgbClr val="FF33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node</a:t>
            </a:r>
            <a:endParaRPr sz="15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50" name="table"/>
          <p:cNvPicPr>
            <a:picLocks noGrp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92053" y="5286300"/>
            <a:ext cx="315594" cy="336550"/>
          </a:xfrm>
          <a:prstGeom prst="rect">
            <a:avLst/>
          </a:prstGeom>
        </p:spPr>
      </p:pic>
      <p:sp>
        <p:nvSpPr>
          <p:cNvPr id="351" name="path 346"/>
          <p:cNvSpPr/>
          <p:nvPr/>
        </p:nvSpPr>
        <p:spPr>
          <a:xfrm>
            <a:off x="9806560" y="5443475"/>
            <a:ext cx="785812" cy="25400"/>
          </a:xfrm>
          <a:custGeom>
            <a:avLst/>
            <a:gdLst/>
            <a:ahLst/>
            <a:cxnLst/>
            <a:rect l="0" t="0" r="0" b="0"/>
            <a:pathLst>
              <a:path w="1237" h="40">
                <a:moveTo>
                  <a:pt x="1237" y="20"/>
                </a:moveTo>
                <a:lnTo>
                  <a:pt x="0" y="20"/>
                </a:lnTo>
              </a:path>
            </a:pathLst>
          </a:custGeom>
          <a:noFill/>
          <a:ln w="25400" cap="flat">
            <a:solidFill>
              <a:srgbClr val="FFFFF4"/>
            </a:solidFill>
            <a:prstDash val="solid"/>
            <a:round/>
          </a:ln>
        </p:spPr>
        <p:txBody>
          <a:bodyPr rtlCol="false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52" name="path 348"/>
          <p:cNvSpPr/>
          <p:nvPr/>
        </p:nvSpPr>
        <p:spPr>
          <a:xfrm>
            <a:off x="9136571" y="5027537"/>
            <a:ext cx="39751" cy="357187"/>
          </a:xfrm>
          <a:custGeom>
            <a:avLst/>
            <a:gdLst/>
            <a:ahLst/>
            <a:cxnLst/>
            <a:rect l="0" t="0" r="0" b="0"/>
            <a:pathLst>
              <a:path w="62" h="562">
                <a:moveTo>
                  <a:pt x="42" y="562"/>
                </a:moveTo>
                <a:lnTo>
                  <a:pt x="42" y="0"/>
                </a:lnTo>
                <a:moveTo>
                  <a:pt x="20" y="562"/>
                </a:moveTo>
                <a:lnTo>
                  <a:pt x="20" y="0"/>
                </a:lnTo>
              </a:path>
            </a:pathLst>
          </a:custGeom>
          <a:noFill/>
          <a:ln w="25400" cap="flat">
            <a:solidFill>
              <a:srgbClr val="FFFFF4"/>
            </a:solidFill>
            <a:prstDash val="solid"/>
            <a:round/>
          </a:ln>
        </p:spPr>
        <p:txBody>
          <a:bodyPr rtlCol="false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53" name="path 350"/>
          <p:cNvSpPr/>
          <p:nvPr/>
        </p:nvSpPr>
        <p:spPr>
          <a:xfrm>
            <a:off x="7679246" y="4598912"/>
            <a:ext cx="25400" cy="357187"/>
          </a:xfrm>
          <a:custGeom>
            <a:avLst/>
            <a:gdLst/>
            <a:ahLst/>
            <a:cxnLst/>
            <a:rect l="0" t="0" r="0" b="0"/>
            <a:pathLst>
              <a:path w="40" h="562">
                <a:moveTo>
                  <a:pt x="20" y="562"/>
                </a:moveTo>
                <a:lnTo>
                  <a:pt x="20" y="0"/>
                </a:lnTo>
              </a:path>
            </a:pathLst>
          </a:custGeom>
          <a:noFill/>
          <a:ln w="25400" cap="flat">
            <a:solidFill>
              <a:srgbClr val="FFFFF4"/>
            </a:solidFill>
            <a:prstDash val="solid"/>
            <a:round/>
          </a:ln>
        </p:spPr>
        <p:txBody>
          <a:bodyPr rtlCol="false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54" name="文本框 43"/>
          <p:cNvSpPr txBox="true"/>
          <p:nvPr/>
        </p:nvSpPr>
        <p:spPr>
          <a:xfrm>
            <a:off x="6922607" y="3540267"/>
            <a:ext cx="745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1800" b="true" kern="0" spc="-3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head</a:t>
            </a:r>
            <a:endParaRPr lang="zh-CN" altLang="en-US"/>
          </a:p>
        </p:txBody>
      </p:sp>
      <p:pic>
        <p:nvPicPr>
          <p:cNvPr id="355" name="图片 4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977776" y="5427341"/>
            <a:ext cx="588371" cy="203968"/>
          </a:xfrm>
          <a:prstGeom prst="rect">
            <a:avLst/>
          </a:prstGeom>
        </p:spPr>
      </p:pic>
      <p:sp>
        <p:nvSpPr>
          <p:cNvPr id="356" name="文本框 45"/>
          <p:cNvSpPr txBox="true"/>
          <p:nvPr/>
        </p:nvSpPr>
        <p:spPr>
          <a:xfrm>
            <a:off x="426085" y="1974215"/>
            <a:ext cx="6179185" cy="4523105"/>
          </a:xfrm>
          <a:prstGeom prst="rect">
            <a:avLst/>
          </a:prstGeom>
          <a:solidFill>
            <a:srgbClr val="FFFFCC"/>
          </a:solidFill>
          <a:ln w="28575">
            <a:solidFill>
              <a:schemeClr val="accent6"/>
            </a:solidFill>
          </a:ln>
        </p:spPr>
        <p:txBody>
          <a:bodyPr wrap="square" rtlCol="false">
            <a:spAutoFit/>
          </a:bodyPr>
          <a:lstStyle/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struct</a:t>
            </a:r>
            <a:r>
              <a:rPr lang="zh-CN" altLang="en-US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link *FindK(struct</a:t>
            </a:r>
            <a:r>
              <a:rPr lang="zh-CN" altLang="en-US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link *head, int k)</a:t>
            </a:r>
            <a:endParaRPr lang="en-US" altLang="zh-CN" sz="2400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altLang="zh-CN" sz="2400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struct</a:t>
            </a:r>
            <a:r>
              <a:rPr lang="zh-CN" altLang="en-US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link *</a:t>
            </a:r>
            <a:r>
              <a:rPr lang="en-US" altLang="zh-CN" sz="2400" b="true" dirty="false" err="tru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=head;</a:t>
            </a:r>
            <a:endParaRPr lang="en-US" altLang="zh-CN" sz="2400" b="true" dirty="false">
              <a:solidFill>
                <a:srgbClr val="0070C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int </a:t>
            </a:r>
            <a:r>
              <a:rPr lang="en-US" altLang="zh-CN" sz="2400" b="true" dirty="false" err="tru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=1;</a:t>
            </a:r>
            <a:endParaRPr lang="en-US" altLang="zh-CN" sz="2400" b="true" dirty="false">
              <a:solidFill>
                <a:srgbClr val="0070C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while(</a:t>
            </a:r>
            <a:r>
              <a:rPr lang="en-US" altLang="zh-CN" sz="2400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&lt;k &amp;&amp; </a:t>
            </a:r>
            <a:r>
              <a:rPr lang="en-US" altLang="zh-CN" sz="2400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-&gt;next!=NULL)</a:t>
            </a:r>
            <a:endParaRPr lang="en-US" altLang="zh-CN" sz="2400" b="true" dirty="false">
              <a:solidFill>
                <a:srgbClr val="FF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{</a:t>
            </a:r>
            <a:endParaRPr lang="en-US" altLang="zh-CN" sz="2400" b="true" dirty="false">
              <a:solidFill>
                <a:srgbClr val="FF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   </a:t>
            </a:r>
            <a:r>
              <a:rPr lang="en-US" altLang="zh-CN" sz="2400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=</a:t>
            </a:r>
            <a:r>
              <a:rPr lang="en-US" altLang="zh-CN" sz="2400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-&gt;next;</a:t>
            </a:r>
            <a:endParaRPr lang="en-US" altLang="zh-CN" sz="2400" b="true" dirty="false">
              <a:solidFill>
                <a:srgbClr val="FF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   </a:t>
            </a:r>
            <a:r>
              <a:rPr lang="en-US" altLang="zh-CN" sz="2400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++;</a:t>
            </a:r>
            <a:endParaRPr lang="en-US" altLang="zh-CN" sz="2400" b="true" dirty="false">
              <a:solidFill>
                <a:srgbClr val="FF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}</a:t>
            </a:r>
            <a:endParaRPr lang="en-US" altLang="zh-CN" sz="2400" b="true" dirty="false">
              <a:solidFill>
                <a:srgbClr val="FF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return </a:t>
            </a:r>
            <a:r>
              <a:rPr lang="en-US" altLang="zh-CN" sz="2400" b="true" dirty="false" err="tru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altLang="zh-CN" sz="2400" b="true" dirty="false">
              <a:solidFill>
                <a:srgbClr val="0070C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zh-CN" altLang="en-US" sz="2400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357" name="矩形 46"/>
          <p:cNvSpPr/>
          <p:nvPr/>
        </p:nvSpPr>
        <p:spPr>
          <a:xfrm>
            <a:off x="7939896" y="5775221"/>
            <a:ext cx="34243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时间复杂度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400" b="true" i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O(k)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sz="2400" b="true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58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angle 2"/>
          <p:cNvSpPr>
            <a:spLocks noGrp="true"/>
          </p:cNvSpPr>
          <p:nvPr>
            <p:ph type="title"/>
          </p:nvPr>
        </p:nvSpPr>
        <p:spPr>
          <a:xfrm>
            <a:off x="4546600" y="654685"/>
            <a:ext cx="296735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链表</a:t>
            </a:r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vs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数组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361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10930890" cy="57086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链表与数组的优缺点总结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362" name="table"/>
          <p:cNvPicPr>
            <a:picLocks noGrp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963" y="1978941"/>
            <a:ext cx="1105373" cy="2205990"/>
          </a:xfrm>
          <a:prstGeom prst="rect">
            <a:avLst/>
          </a:prstGeom>
        </p:spPr>
      </p:pic>
      <p:pic>
        <p:nvPicPr>
          <p:cNvPr id="363" name="table"/>
          <p:cNvPicPr>
            <a:picLocks noGr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878" y="3702891"/>
            <a:ext cx="1493440" cy="340360"/>
          </a:xfrm>
          <a:prstGeom prst="rect">
            <a:avLst/>
          </a:prstGeom>
        </p:spPr>
      </p:pic>
      <p:pic>
        <p:nvPicPr>
          <p:cNvPr id="364" name="table"/>
          <p:cNvPicPr>
            <a:picLocks noGrp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767" y="2407764"/>
            <a:ext cx="1488918" cy="336550"/>
          </a:xfrm>
          <a:prstGeom prst="rect">
            <a:avLst/>
          </a:prstGeom>
        </p:spPr>
      </p:pic>
      <p:pic>
        <p:nvPicPr>
          <p:cNvPr id="365" name="table"/>
          <p:cNvPicPr>
            <a:picLocks noGrp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825" y="2877105"/>
            <a:ext cx="1487411" cy="336550"/>
          </a:xfrm>
          <a:prstGeom prst="rect">
            <a:avLst/>
          </a:prstGeom>
        </p:spPr>
      </p:pic>
      <p:pic>
        <p:nvPicPr>
          <p:cNvPr id="366" name="table"/>
          <p:cNvPicPr>
            <a:picLocks noGrp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869" y="3263475"/>
            <a:ext cx="1485903" cy="336550"/>
          </a:xfrm>
          <a:prstGeom prst="rect">
            <a:avLst/>
          </a:prstGeom>
        </p:spPr>
      </p:pic>
      <p:pic>
        <p:nvPicPr>
          <p:cNvPr id="367" name="picture 9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543667" y="3378574"/>
            <a:ext cx="458210" cy="549579"/>
          </a:xfrm>
          <a:prstGeom prst="rect">
            <a:avLst/>
          </a:prstGeom>
        </p:spPr>
      </p:pic>
      <p:pic>
        <p:nvPicPr>
          <p:cNvPr id="368" name="picture 9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197580" y="2532355"/>
            <a:ext cx="458209" cy="549581"/>
          </a:xfrm>
          <a:prstGeom prst="rect">
            <a:avLst/>
          </a:prstGeom>
        </p:spPr>
      </p:pic>
      <p:pic>
        <p:nvPicPr>
          <p:cNvPr id="369" name="table"/>
          <p:cNvPicPr>
            <a:picLocks noGrp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3451992" y="1975583"/>
            <a:ext cx="333969" cy="336550"/>
          </a:xfrm>
          <a:prstGeom prst="rect">
            <a:avLst/>
          </a:prstGeom>
        </p:spPr>
      </p:pic>
      <p:pic>
        <p:nvPicPr>
          <p:cNvPr id="370" name="picture 9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558290" y="2081882"/>
            <a:ext cx="458209" cy="549430"/>
          </a:xfrm>
          <a:prstGeom prst="rect">
            <a:avLst/>
          </a:prstGeom>
        </p:spPr>
      </p:pic>
      <p:pic>
        <p:nvPicPr>
          <p:cNvPr id="371" name="picture 9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864937" y="2966863"/>
            <a:ext cx="458209" cy="549430"/>
          </a:xfrm>
          <a:prstGeom prst="rect">
            <a:avLst/>
          </a:prstGeom>
        </p:spPr>
      </p:pic>
      <p:sp>
        <p:nvSpPr>
          <p:cNvPr id="372" name="textbox 924"/>
          <p:cNvSpPr/>
          <p:nvPr/>
        </p:nvSpPr>
        <p:spPr>
          <a:xfrm>
            <a:off x="3355677" y="1642665"/>
            <a:ext cx="612152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false" eaLnBrk="false">
              <a:lnSpc>
                <a:spcPct val="90000"/>
              </a:lnSpc>
            </a:pPr>
            <a:endParaRPr sz="10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false" eaLnBrk="false">
              <a:lnSpc>
                <a:spcPct val="97000"/>
              </a:lnSpc>
            </a:pPr>
            <a:r>
              <a:rPr sz="1700" b="true" kern="0" spc="-3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head</a:t>
            </a:r>
            <a:endParaRPr sz="17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373" name="表格 55"/>
          <p:cNvGraphicFramePr/>
          <p:nvPr/>
        </p:nvGraphicFramePr>
        <p:xfrm>
          <a:off x="1371948" y="4808836"/>
          <a:ext cx="9505704" cy="1393650"/>
        </p:xfrm>
        <a:graphic>
          <a:graphicData uri="http://schemas.openxmlformats.org/drawingml/2006/table">
            <a:tbl>
              <a:tblPr firstRow="true" bandRow="true">
                <a:tableStyleId>{00A15C55-8517-42AA-B614-E9B94910E393}</a:tableStyleId>
              </a:tblPr>
              <a:tblGrid>
                <a:gridCol w="1188213">
                  <a:extLst>
                    <a:ext uri="{9D8B030D-6E8A-4147-A177-3AD203B41FA5}">
                      <a16:colId val="1"/>
                    </a:ext>
                  </a:extLst>
                </a:gridCol>
                <a:gridCol w="1120087">
                  <a:extLst>
                    <a:ext uri="{9D8B030D-6E8A-4147-A177-3AD203B41FA5}">
                      <a16:colId val="2"/>
                    </a:ext>
                  </a:extLst>
                </a:gridCol>
                <a:gridCol w="1209040">
                  <a:extLst>
                    <a:ext uri="{9D8B030D-6E8A-4147-A177-3AD203B41FA5}">
                      <a16:colId val="3"/>
                    </a:ext>
                  </a:extLst>
                </a:gridCol>
                <a:gridCol w="1235512">
                  <a:extLst>
                    <a:ext uri="{9D8B030D-6E8A-4147-A177-3AD203B41FA5}">
                      <a16:colId val="4"/>
                    </a:ext>
                  </a:extLst>
                </a:gridCol>
                <a:gridCol w="1188213">
                  <a:extLst>
                    <a:ext uri="{9D8B030D-6E8A-4147-A177-3AD203B41FA5}">
                      <a16:colId val="5"/>
                    </a:ext>
                  </a:extLst>
                </a:gridCol>
                <a:gridCol w="1188213">
                  <a:extLst>
                    <a:ext uri="{9D8B030D-6E8A-4147-A177-3AD203B41FA5}">
                      <a16:colId val="6"/>
                    </a:ext>
                  </a:extLst>
                </a:gridCol>
                <a:gridCol w="1188213">
                  <a:extLst>
                    <a:ext uri="{9D8B030D-6E8A-4147-A177-3AD203B41FA5}">
                      <a16:colId val="7"/>
                    </a:ext>
                  </a:extLst>
                </a:gridCol>
                <a:gridCol w="1188213">
                  <a:extLst>
                    <a:ext uri="{9D8B030D-6E8A-4147-A177-3AD203B41FA5}">
                      <a16:colId val="8"/>
                    </a:ext>
                  </a:extLst>
                </a:gridCol>
              </a:tblGrid>
              <a:tr h="46455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存储模式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空间占用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访问效率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插入效率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删除效率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可拓展性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即时需求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val="1"/>
                  </a:ext>
                </a:extLst>
              </a:tr>
              <a:tr h="46455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数组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连续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val="2"/>
                  </a:ext>
                </a:extLst>
              </a:tr>
              <a:tr h="46455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链表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不定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val="3"/>
                  </a:ext>
                </a:extLst>
              </a:tr>
            </a:tbl>
          </a:graphicData>
        </a:graphic>
      </p:graphicFrame>
      <p:pic>
        <p:nvPicPr>
          <p:cNvPr id="374" name="picture 936"/>
          <p:cNvPicPr>
            <a:picLocks noChangeAspect="true"/>
          </p:cNvPicPr>
          <p:nvPr/>
        </p:nvPicPr>
        <p:blipFill>
          <a:blip r:embed="rId11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</a:blip>
          <a:stretch>
            <a:fillRect/>
          </a:stretch>
        </p:blipFill>
        <p:spPr>
          <a:xfrm rot="21600000">
            <a:off x="4075796" y="5347165"/>
            <a:ext cx="334376" cy="316992"/>
          </a:xfrm>
          <a:prstGeom prst="rect">
            <a:avLst/>
          </a:prstGeom>
        </p:spPr>
      </p:pic>
      <p:pic>
        <p:nvPicPr>
          <p:cNvPr id="375" name="picture 936"/>
          <p:cNvPicPr>
            <a:picLocks noChangeAspect="true"/>
          </p:cNvPicPr>
          <p:nvPr/>
        </p:nvPicPr>
        <p:blipFill>
          <a:blip r:embed="rId11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</a:blip>
          <a:stretch>
            <a:fillRect/>
          </a:stretch>
        </p:blipFill>
        <p:spPr>
          <a:xfrm rot="21600000">
            <a:off x="5386247" y="5347165"/>
            <a:ext cx="334376" cy="316992"/>
          </a:xfrm>
          <a:prstGeom prst="rect">
            <a:avLst/>
          </a:prstGeom>
        </p:spPr>
      </p:pic>
      <p:pic>
        <p:nvPicPr>
          <p:cNvPr id="376" name="picture 936"/>
          <p:cNvPicPr>
            <a:picLocks noChangeAspect="true"/>
          </p:cNvPicPr>
          <p:nvPr/>
        </p:nvPicPr>
        <p:blipFill>
          <a:blip r:embed="rId11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</a:blip>
          <a:stretch>
            <a:fillRect/>
          </a:stretch>
        </p:blipFill>
        <p:spPr>
          <a:xfrm rot="21600000">
            <a:off x="6503418" y="5797903"/>
            <a:ext cx="334376" cy="316992"/>
          </a:xfrm>
          <a:prstGeom prst="rect">
            <a:avLst/>
          </a:prstGeom>
        </p:spPr>
      </p:pic>
      <p:pic>
        <p:nvPicPr>
          <p:cNvPr id="377" name="picture 936"/>
          <p:cNvPicPr>
            <a:picLocks noChangeAspect="true"/>
          </p:cNvPicPr>
          <p:nvPr/>
        </p:nvPicPr>
        <p:blipFill>
          <a:blip r:embed="rId11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</a:blip>
          <a:stretch>
            <a:fillRect/>
          </a:stretch>
        </p:blipFill>
        <p:spPr>
          <a:xfrm rot="21600000">
            <a:off x="7750994" y="5797903"/>
            <a:ext cx="334376" cy="316992"/>
          </a:xfrm>
          <a:prstGeom prst="rect">
            <a:avLst/>
          </a:prstGeom>
        </p:spPr>
      </p:pic>
      <p:pic>
        <p:nvPicPr>
          <p:cNvPr id="378" name="picture 936"/>
          <p:cNvPicPr>
            <a:picLocks noChangeAspect="true"/>
          </p:cNvPicPr>
          <p:nvPr/>
        </p:nvPicPr>
        <p:blipFill>
          <a:blip r:embed="rId11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</a:blip>
          <a:stretch>
            <a:fillRect/>
          </a:stretch>
        </p:blipFill>
        <p:spPr>
          <a:xfrm rot="21600000">
            <a:off x="8928870" y="5796179"/>
            <a:ext cx="334376" cy="316992"/>
          </a:xfrm>
          <a:prstGeom prst="rect">
            <a:avLst/>
          </a:prstGeom>
        </p:spPr>
      </p:pic>
      <p:pic>
        <p:nvPicPr>
          <p:cNvPr id="379" name="picture 930"/>
          <p:cNvPicPr>
            <a:picLocks noChangeAspect="true"/>
          </p:cNvPicPr>
          <p:nvPr/>
        </p:nvPicPr>
        <p:blipFill>
          <a:blip r:embed="rId11">
            <a:clrChange>
              <a:clrFrom>
                <a:srgbClr val="FFFCFF"/>
              </a:clrFrom>
              <a:clrTo>
                <a:srgbClr val="FFFCFF">
                  <a:alpha val="0"/>
                </a:srgbClr>
              </a:clrTo>
            </a:clrChange>
          </a:blip>
          <a:stretch>
            <a:fillRect/>
          </a:stretch>
        </p:blipFill>
        <p:spPr>
          <a:xfrm rot="21600000">
            <a:off x="10057924" y="5796179"/>
            <a:ext cx="334376" cy="316992"/>
          </a:xfrm>
          <a:prstGeom prst="rect">
            <a:avLst/>
          </a:prstGeom>
        </p:spPr>
      </p:pic>
      <p:sp>
        <p:nvSpPr>
          <p:cNvPr id="380" name="灯片编号占位符 17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2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ctr" anchorCtr="false"/>
          <a:lstStyle/>
          <a:p>
            <a:pPr eaLnBrk="true" hangingPunct="true"/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第七讲</a:t>
            </a:r>
            <a:r>
              <a:rPr lang="zh-CN" altLang="en-US" kern="1200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 链表</a:t>
            </a:r>
            <a:r>
              <a:rPr lang="en-US" altLang="zh-CN" kern="1200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——</a:t>
            </a:r>
            <a:r>
              <a:rPr lang="zh-CN" altLang="en-US" kern="1200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学习内容</a:t>
            </a:r>
            <a:endParaRPr lang="zh-CN" altLang="en-US" kern="1200" dirty="false">
              <a:latin typeface="黑体" panose="02010609060101010101" pitchFamily="49" charset="-122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383" name="Rectangle 3"/>
          <p:cNvSpPr>
            <a:spLocks noGrp="true"/>
          </p:cNvSpPr>
          <p:nvPr>
            <p:ph idx="1"/>
          </p:nvPr>
        </p:nvSpPr>
        <p:spPr>
          <a:xfrm>
            <a:off x="1271270" y="2360930"/>
            <a:ext cx="7848600" cy="3277870"/>
          </a:xfrm>
        </p:spPr>
        <p:txBody>
          <a:bodyPr vert="horz" wrap="square" lIns="91440" tIns="45720" rIns="91440" bIns="45720" anchor="t" anchorCtr="false"/>
          <a:lstStyle/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r>
              <a:rPr lang="en-US" altLang="zh-CN" sz="3200" dirty="false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 </a:t>
            </a:r>
            <a:r>
              <a:rPr lang="zh-CN" altLang="en-US" sz="3200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链表及其基本操作</a:t>
            </a:r>
            <a:endParaRPr lang="zh-CN" altLang="en-US" sz="3200" dirty="false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r>
              <a:rPr lang="en-US" altLang="zh-CN" sz="3200" dirty="false">
                <a:solidFill>
                  <a:srgbClr val="FF0000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 </a:t>
            </a:r>
            <a:r>
              <a:rPr lang="zh-CN" altLang="en-US" sz="3200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链式队列</a:t>
            </a:r>
            <a:endParaRPr lang="zh-CN" altLang="en-US" sz="3200" dirty="false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r>
              <a:rPr lang="en-US" altLang="zh-CN" sz="3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 </a:t>
            </a:r>
            <a:r>
              <a:rPr lang="zh-CN" altLang="en-US" sz="32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双向链表</a:t>
            </a: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384" name="Picture 7"/>
          <p:cNvPicPr>
            <a:picLocks noChangeAspect="true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07120" y="3068960"/>
            <a:ext cx="3232610" cy="30476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5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ransition/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Rectangle 2"/>
          <p:cNvSpPr>
            <a:spLocks noGrp="true"/>
          </p:cNvSpPr>
          <p:nvPr>
            <p:ph type="title"/>
          </p:nvPr>
        </p:nvSpPr>
        <p:spPr>
          <a:xfrm>
            <a:off x="4618355" y="654685"/>
            <a:ext cx="269113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7.2.1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队列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pic>
        <p:nvPicPr>
          <p:cNvPr id="388" name="Picture 12" descr="E:\剪贴画\思考问题的卡通男孩.jpg"/>
          <p:cNvPicPr>
            <a:picLocks noChangeAspect="true" noChangeArrowheads="true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9739313" y="4658646"/>
            <a:ext cx="904557" cy="1356836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  <p:sp>
        <p:nvSpPr>
          <p:cNvPr id="389" name="文本框 3"/>
          <p:cNvSpPr txBox="true">
            <a:spLocks noChangeArrowheads="true"/>
          </p:cNvSpPr>
          <p:nvPr/>
        </p:nvSpPr>
        <p:spPr bwMode="auto">
          <a:xfrm>
            <a:off x="1167764" y="1134745"/>
            <a:ext cx="103288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spcBef>
                <a:spcPct val="1"/>
              </a:spcBef>
              <a:buClrTx/>
              <a:buSzTx/>
              <a:buFontTx/>
              <a:buNone/>
            </a:pPr>
            <a:r>
              <a:rPr lang="zh-CN" altLang="en-US" sz="24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队列是一种先进先出（</a:t>
            </a:r>
            <a:r>
              <a:rPr lang="en-US" altLang="zh-CN" sz="24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First in First Out</a:t>
            </a:r>
            <a:r>
              <a:rPr lang="zh-CN" altLang="en-US" sz="24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）的数据结构，简称</a:t>
            </a:r>
            <a:r>
              <a:rPr lang="en-US" altLang="zh-CN" sz="24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FIFO</a:t>
            </a:r>
            <a:r>
              <a:rPr lang="zh-CN" altLang="en-US" sz="24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90" name="Rectangle 5"/>
          <p:cNvSpPr>
            <a:spLocks noChangeArrowheads="true"/>
          </p:cNvSpPr>
          <p:nvPr/>
        </p:nvSpPr>
        <p:spPr bwMode="auto">
          <a:xfrm>
            <a:off x="3563106" y="2053732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91" name="Rectangle 5"/>
          <p:cNvSpPr>
            <a:spLocks noChangeArrowheads="true"/>
          </p:cNvSpPr>
          <p:nvPr/>
        </p:nvSpPr>
        <p:spPr bwMode="auto">
          <a:xfrm>
            <a:off x="4266686" y="2053732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92" name="Rectangle 5"/>
          <p:cNvSpPr>
            <a:spLocks noChangeArrowheads="true"/>
          </p:cNvSpPr>
          <p:nvPr/>
        </p:nvSpPr>
        <p:spPr bwMode="auto">
          <a:xfrm>
            <a:off x="4970266" y="2053732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93" name="Rectangle 5"/>
          <p:cNvSpPr>
            <a:spLocks noChangeArrowheads="true"/>
          </p:cNvSpPr>
          <p:nvPr/>
        </p:nvSpPr>
        <p:spPr bwMode="auto">
          <a:xfrm>
            <a:off x="5673846" y="2053732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94" name="Rectangle 5"/>
          <p:cNvSpPr>
            <a:spLocks noChangeArrowheads="true"/>
          </p:cNvSpPr>
          <p:nvPr/>
        </p:nvSpPr>
        <p:spPr bwMode="auto">
          <a:xfrm>
            <a:off x="6377426" y="2053732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A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95" name="Rectangle 32"/>
          <p:cNvSpPr>
            <a:spLocks noChangeArrowheads="true"/>
          </p:cNvSpPr>
          <p:nvPr/>
        </p:nvSpPr>
        <p:spPr bwMode="auto">
          <a:xfrm>
            <a:off x="3565525" y="1660525"/>
            <a:ext cx="70104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队尾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96" name="Rectangle 32"/>
          <p:cNvSpPr>
            <a:spLocks noChangeArrowheads="true"/>
          </p:cNvSpPr>
          <p:nvPr/>
        </p:nvSpPr>
        <p:spPr bwMode="auto">
          <a:xfrm>
            <a:off x="6377305" y="1621790"/>
            <a:ext cx="70104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队头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397" name="直接箭头连接符 19"/>
          <p:cNvCxnSpPr/>
          <p:nvPr/>
        </p:nvCxnSpPr>
        <p:spPr>
          <a:xfrm>
            <a:off x="2286000" y="2269490"/>
            <a:ext cx="127698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8" name="直接箭头连接符 20"/>
          <p:cNvCxnSpPr/>
          <p:nvPr/>
        </p:nvCxnSpPr>
        <p:spPr>
          <a:xfrm>
            <a:off x="7080885" y="2269490"/>
            <a:ext cx="110426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9" name="Rectangle 32"/>
          <p:cNvSpPr>
            <a:spLocks noChangeArrowheads="true"/>
          </p:cNvSpPr>
          <p:nvPr/>
        </p:nvSpPr>
        <p:spPr bwMode="auto">
          <a:xfrm>
            <a:off x="2441575" y="1901190"/>
            <a:ext cx="80835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入队列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00" name="Rectangle 32"/>
          <p:cNvSpPr>
            <a:spLocks noChangeArrowheads="true"/>
          </p:cNvSpPr>
          <p:nvPr/>
        </p:nvSpPr>
        <p:spPr bwMode="auto">
          <a:xfrm>
            <a:off x="7165340" y="1901190"/>
            <a:ext cx="80835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出队列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01" name="Rectangle 5"/>
          <p:cNvSpPr>
            <a:spLocks noChangeArrowheads="true"/>
          </p:cNvSpPr>
          <p:nvPr/>
        </p:nvSpPr>
        <p:spPr bwMode="auto">
          <a:xfrm>
            <a:off x="3874891" y="3380247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02" name="Rectangle 5"/>
          <p:cNvSpPr>
            <a:spLocks noChangeArrowheads="true"/>
          </p:cNvSpPr>
          <p:nvPr/>
        </p:nvSpPr>
        <p:spPr bwMode="auto">
          <a:xfrm>
            <a:off x="4578471" y="3380247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03" name="Rectangle 5"/>
          <p:cNvSpPr>
            <a:spLocks noChangeArrowheads="true"/>
          </p:cNvSpPr>
          <p:nvPr/>
        </p:nvSpPr>
        <p:spPr bwMode="auto">
          <a:xfrm>
            <a:off x="5282051" y="3380247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04" name="Rectangle 5"/>
          <p:cNvSpPr>
            <a:spLocks noChangeArrowheads="true"/>
          </p:cNvSpPr>
          <p:nvPr/>
        </p:nvSpPr>
        <p:spPr bwMode="auto">
          <a:xfrm>
            <a:off x="5985631" y="3380247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05" name="Rectangle 32"/>
          <p:cNvSpPr>
            <a:spLocks noChangeArrowheads="true"/>
          </p:cNvSpPr>
          <p:nvPr/>
        </p:nvSpPr>
        <p:spPr bwMode="auto">
          <a:xfrm>
            <a:off x="3877310" y="2987040"/>
            <a:ext cx="70104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队尾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406" name="直接箭头连接符 9"/>
          <p:cNvCxnSpPr/>
          <p:nvPr/>
        </p:nvCxnSpPr>
        <p:spPr>
          <a:xfrm>
            <a:off x="2597785" y="3596005"/>
            <a:ext cx="127698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7" name="直接箭头连接符 10"/>
          <p:cNvCxnSpPr/>
          <p:nvPr/>
        </p:nvCxnSpPr>
        <p:spPr>
          <a:xfrm>
            <a:off x="6694170" y="3596005"/>
            <a:ext cx="110426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8" name="Rectangle 32"/>
          <p:cNvSpPr>
            <a:spLocks noChangeArrowheads="true"/>
          </p:cNvSpPr>
          <p:nvPr/>
        </p:nvSpPr>
        <p:spPr bwMode="auto">
          <a:xfrm>
            <a:off x="2753360" y="3227705"/>
            <a:ext cx="80835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入队列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09" name="Rectangle 32"/>
          <p:cNvSpPr>
            <a:spLocks noChangeArrowheads="true"/>
          </p:cNvSpPr>
          <p:nvPr/>
        </p:nvSpPr>
        <p:spPr bwMode="auto">
          <a:xfrm>
            <a:off x="6778625" y="3227705"/>
            <a:ext cx="80835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出队列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0" name="Rectangle 32"/>
          <p:cNvSpPr>
            <a:spLocks noChangeArrowheads="true"/>
          </p:cNvSpPr>
          <p:nvPr/>
        </p:nvSpPr>
        <p:spPr bwMode="auto">
          <a:xfrm>
            <a:off x="5985510" y="2948305"/>
            <a:ext cx="70104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队头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1" name="Text Box 13"/>
          <p:cNvSpPr txBox="true">
            <a:spLocks noChangeArrowheads="true"/>
          </p:cNvSpPr>
          <p:nvPr/>
        </p:nvSpPr>
        <p:spPr bwMode="auto">
          <a:xfrm>
            <a:off x="4696778" y="4067366"/>
            <a:ext cx="124904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(a) A</a:t>
            </a:r>
            <a:r>
              <a:rPr lang="zh-CN" altLang="en-US" sz="2000" b="true">
                <a:latin typeface="华文中宋" panose="02010600040101010101" charset="-122"/>
                <a:ea typeface="华文中宋" panose="02010600040101010101" charset="-122"/>
              </a:rPr>
              <a:t>出队</a:t>
            </a:r>
            <a:endParaRPr lang="en-US" altLang="zh-CN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2" name="Rectangle 5"/>
          <p:cNvSpPr>
            <a:spLocks noChangeArrowheads="true"/>
          </p:cNvSpPr>
          <p:nvPr/>
        </p:nvSpPr>
        <p:spPr bwMode="auto">
          <a:xfrm>
            <a:off x="3563106" y="5006482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F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3" name="Rectangle 5"/>
          <p:cNvSpPr>
            <a:spLocks noChangeArrowheads="true"/>
          </p:cNvSpPr>
          <p:nvPr/>
        </p:nvSpPr>
        <p:spPr bwMode="auto">
          <a:xfrm>
            <a:off x="4266686" y="5006482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4" name="Rectangle 5"/>
          <p:cNvSpPr>
            <a:spLocks noChangeArrowheads="true"/>
          </p:cNvSpPr>
          <p:nvPr/>
        </p:nvSpPr>
        <p:spPr bwMode="auto">
          <a:xfrm>
            <a:off x="4970266" y="5006482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5" name="Rectangle 5"/>
          <p:cNvSpPr>
            <a:spLocks noChangeArrowheads="true"/>
          </p:cNvSpPr>
          <p:nvPr/>
        </p:nvSpPr>
        <p:spPr bwMode="auto">
          <a:xfrm>
            <a:off x="5673846" y="5006482"/>
            <a:ext cx="70344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6" name="Rectangle 5"/>
          <p:cNvSpPr>
            <a:spLocks noChangeArrowheads="true"/>
          </p:cNvSpPr>
          <p:nvPr/>
        </p:nvSpPr>
        <p:spPr bwMode="auto">
          <a:xfrm>
            <a:off x="6377426" y="5006482"/>
            <a:ext cx="703447" cy="4318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7" name="Rectangle 32"/>
          <p:cNvSpPr>
            <a:spLocks noChangeArrowheads="true"/>
          </p:cNvSpPr>
          <p:nvPr/>
        </p:nvSpPr>
        <p:spPr bwMode="auto">
          <a:xfrm>
            <a:off x="3565525" y="4613275"/>
            <a:ext cx="70104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队尾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8" name="Rectangle 32"/>
          <p:cNvSpPr>
            <a:spLocks noChangeArrowheads="true"/>
          </p:cNvSpPr>
          <p:nvPr/>
        </p:nvSpPr>
        <p:spPr bwMode="auto">
          <a:xfrm>
            <a:off x="6377305" y="4574540"/>
            <a:ext cx="70104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队头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419" name="直接箭头连接符 89"/>
          <p:cNvCxnSpPr/>
          <p:nvPr/>
        </p:nvCxnSpPr>
        <p:spPr>
          <a:xfrm>
            <a:off x="2286000" y="5222240"/>
            <a:ext cx="127698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0" name="直接箭头连接符 90"/>
          <p:cNvCxnSpPr/>
          <p:nvPr/>
        </p:nvCxnSpPr>
        <p:spPr>
          <a:xfrm>
            <a:off x="7080885" y="5222240"/>
            <a:ext cx="110426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1" name="Rectangle 32"/>
          <p:cNvSpPr>
            <a:spLocks noChangeArrowheads="true"/>
          </p:cNvSpPr>
          <p:nvPr/>
        </p:nvSpPr>
        <p:spPr bwMode="auto">
          <a:xfrm>
            <a:off x="2441575" y="4853940"/>
            <a:ext cx="80835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入队列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22" name="Rectangle 32"/>
          <p:cNvSpPr>
            <a:spLocks noChangeArrowheads="true"/>
          </p:cNvSpPr>
          <p:nvPr/>
        </p:nvSpPr>
        <p:spPr bwMode="auto">
          <a:xfrm>
            <a:off x="7165340" y="4853940"/>
            <a:ext cx="80835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出队列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23" name="Text Box 13"/>
          <p:cNvSpPr txBox="true">
            <a:spLocks noChangeArrowheads="true"/>
          </p:cNvSpPr>
          <p:nvPr/>
        </p:nvSpPr>
        <p:spPr bwMode="auto">
          <a:xfrm>
            <a:off x="4696778" y="5724716"/>
            <a:ext cx="124904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(b) F</a:t>
            </a:r>
            <a:r>
              <a:rPr lang="zh-CN" altLang="en-US" sz="2000" b="true">
                <a:latin typeface="华文中宋" panose="02010600040101010101" charset="-122"/>
                <a:ea typeface="华文中宋" panose="02010600040101010101" charset="-122"/>
              </a:rPr>
              <a:t>入队</a:t>
            </a:r>
            <a:endParaRPr lang="en-US" altLang="zh-CN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24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9075420" y="2186940"/>
            <a:ext cx="2286000" cy="2286000"/>
          </a:xfrm>
          <a:prstGeom prst="rect">
            <a:avLst/>
          </a:prstGeom>
        </p:spPr>
      </p:pic>
      <p:sp>
        <p:nvSpPr>
          <p:cNvPr id="425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4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ext Box 60"/>
          <p:cNvSpPr txBox="true"/>
          <p:nvPr/>
        </p:nvSpPr>
        <p:spPr>
          <a:xfrm>
            <a:off x="4117340" y="4259580"/>
            <a:ext cx="7867015" cy="235331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int</a:t>
            </a:r>
            <a:r>
              <a:rPr lang="zh-CN" altLang="en-US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EnQueue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(struct</a:t>
            </a:r>
            <a:r>
              <a:rPr lang="zh-CN" altLang="en-US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queue *Q, char 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nodeData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)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{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if(Q-&gt;rear==MAXSIZE) return -1;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队列已满，入队失败</a:t>
            </a:r>
            <a:endParaRPr lang="en-US" altLang="zh-CN" sz="18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  Q-&gt;data[Q-&gt;rear] = </a:t>
            </a:r>
            <a:r>
              <a:rPr lang="en-US" altLang="zh-CN" sz="1800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nodeData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;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新节点入队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      </a:t>
            </a:r>
            <a:endParaRPr lang="zh-CN" altLang="en-US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Q-&gt;rear++;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    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尾标识后移</a:t>
            </a:r>
            <a:endParaRPr lang="zh-CN" altLang="en-US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return  1;		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入队成功</a:t>
            </a:r>
            <a:endParaRPr lang="en-US" altLang="zh-CN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}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</p:txBody>
      </p:sp>
      <p:sp>
        <p:nvSpPr>
          <p:cNvPr id="428" name="Rectangle 2"/>
          <p:cNvSpPr>
            <a:spLocks noGrp="true"/>
          </p:cNvSpPr>
          <p:nvPr>
            <p:ph type="title"/>
          </p:nvPr>
        </p:nvSpPr>
        <p:spPr>
          <a:xfrm>
            <a:off x="3702685" y="582930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队列的顺序存储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429" name="Rectangle 4"/>
          <p:cNvSpPr>
            <a:spLocks noChangeArrowheads="true"/>
          </p:cNvSpPr>
          <p:nvPr/>
        </p:nvSpPr>
        <p:spPr bwMode="auto">
          <a:xfrm>
            <a:off x="2639048" y="14403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0" name="Rectangle 4"/>
          <p:cNvSpPr>
            <a:spLocks noChangeArrowheads="true"/>
          </p:cNvSpPr>
          <p:nvPr/>
        </p:nvSpPr>
        <p:spPr bwMode="auto">
          <a:xfrm>
            <a:off x="2639048" y="18721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1" name="Rectangle 4"/>
          <p:cNvSpPr>
            <a:spLocks noChangeArrowheads="true"/>
          </p:cNvSpPr>
          <p:nvPr/>
        </p:nvSpPr>
        <p:spPr bwMode="auto">
          <a:xfrm>
            <a:off x="2639048" y="23039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2" name="Rectangle 4"/>
          <p:cNvSpPr>
            <a:spLocks noChangeArrowheads="true"/>
          </p:cNvSpPr>
          <p:nvPr/>
        </p:nvSpPr>
        <p:spPr bwMode="auto">
          <a:xfrm>
            <a:off x="2639048" y="272937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3" name="Rectangle 4"/>
          <p:cNvSpPr>
            <a:spLocks noChangeArrowheads="true"/>
          </p:cNvSpPr>
          <p:nvPr/>
        </p:nvSpPr>
        <p:spPr bwMode="auto">
          <a:xfrm>
            <a:off x="2639048" y="31675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4" name="Rectangle 32"/>
          <p:cNvSpPr>
            <a:spLocks noChangeArrowheads="true"/>
          </p:cNvSpPr>
          <p:nvPr/>
        </p:nvSpPr>
        <p:spPr bwMode="auto">
          <a:xfrm>
            <a:off x="2212340" y="322389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5" name="Rectangle 32"/>
          <p:cNvSpPr>
            <a:spLocks noChangeArrowheads="true"/>
          </p:cNvSpPr>
          <p:nvPr/>
        </p:nvSpPr>
        <p:spPr bwMode="auto">
          <a:xfrm>
            <a:off x="2212340" y="279781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6" name="Rectangle 32"/>
          <p:cNvSpPr>
            <a:spLocks noChangeArrowheads="true"/>
          </p:cNvSpPr>
          <p:nvPr/>
        </p:nvSpPr>
        <p:spPr bwMode="auto">
          <a:xfrm>
            <a:off x="2212340" y="237172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7" name="Rectangle 32"/>
          <p:cNvSpPr>
            <a:spLocks noChangeArrowheads="true"/>
          </p:cNvSpPr>
          <p:nvPr/>
        </p:nvSpPr>
        <p:spPr bwMode="auto">
          <a:xfrm>
            <a:off x="2230755" y="144018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8" name="Rectangle 32"/>
          <p:cNvSpPr>
            <a:spLocks noChangeArrowheads="true"/>
          </p:cNvSpPr>
          <p:nvPr/>
        </p:nvSpPr>
        <p:spPr bwMode="auto">
          <a:xfrm>
            <a:off x="2212340" y="192659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9" name="右箭头 85"/>
          <p:cNvSpPr/>
          <p:nvPr/>
        </p:nvSpPr>
        <p:spPr>
          <a:xfrm>
            <a:off x="1577975" y="342836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440" name="右箭头 86"/>
          <p:cNvSpPr/>
          <p:nvPr/>
        </p:nvSpPr>
        <p:spPr>
          <a:xfrm>
            <a:off x="1576705" y="322389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441" name="Rectangle 32"/>
          <p:cNvSpPr>
            <a:spLocks noChangeArrowheads="true"/>
          </p:cNvSpPr>
          <p:nvPr/>
        </p:nvSpPr>
        <p:spPr bwMode="auto">
          <a:xfrm>
            <a:off x="1507490" y="296672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42" name="Rectangle 32"/>
          <p:cNvSpPr>
            <a:spLocks noChangeArrowheads="true"/>
          </p:cNvSpPr>
          <p:nvPr/>
        </p:nvSpPr>
        <p:spPr bwMode="auto">
          <a:xfrm>
            <a:off x="1494790" y="347281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43" name="Rectangle 4"/>
          <p:cNvSpPr>
            <a:spLocks noChangeArrowheads="true"/>
          </p:cNvSpPr>
          <p:nvPr/>
        </p:nvSpPr>
        <p:spPr bwMode="auto">
          <a:xfrm>
            <a:off x="5261598" y="14403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44" name="Rectangle 4"/>
          <p:cNvSpPr>
            <a:spLocks noChangeArrowheads="true"/>
          </p:cNvSpPr>
          <p:nvPr/>
        </p:nvSpPr>
        <p:spPr bwMode="auto">
          <a:xfrm>
            <a:off x="5261598" y="18721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45" name="Rectangle 4"/>
          <p:cNvSpPr>
            <a:spLocks noChangeArrowheads="true"/>
          </p:cNvSpPr>
          <p:nvPr/>
        </p:nvSpPr>
        <p:spPr bwMode="auto">
          <a:xfrm>
            <a:off x="5261598" y="23039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46" name="Rectangle 4"/>
          <p:cNvSpPr>
            <a:spLocks noChangeArrowheads="true"/>
          </p:cNvSpPr>
          <p:nvPr/>
        </p:nvSpPr>
        <p:spPr bwMode="auto">
          <a:xfrm>
            <a:off x="5261598" y="272937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47" name="Rectangle 4"/>
          <p:cNvSpPr>
            <a:spLocks noChangeArrowheads="true"/>
          </p:cNvSpPr>
          <p:nvPr/>
        </p:nvSpPr>
        <p:spPr bwMode="auto">
          <a:xfrm>
            <a:off x="5261598" y="31675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A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48" name="Rectangle 32"/>
          <p:cNvSpPr>
            <a:spLocks noChangeArrowheads="true"/>
          </p:cNvSpPr>
          <p:nvPr/>
        </p:nvSpPr>
        <p:spPr bwMode="auto">
          <a:xfrm>
            <a:off x="4834890" y="322389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49" name="Rectangle 32"/>
          <p:cNvSpPr>
            <a:spLocks noChangeArrowheads="true"/>
          </p:cNvSpPr>
          <p:nvPr/>
        </p:nvSpPr>
        <p:spPr bwMode="auto">
          <a:xfrm>
            <a:off x="4834890" y="279781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50" name="Rectangle 32"/>
          <p:cNvSpPr>
            <a:spLocks noChangeArrowheads="true"/>
          </p:cNvSpPr>
          <p:nvPr/>
        </p:nvSpPr>
        <p:spPr bwMode="auto">
          <a:xfrm>
            <a:off x="4834890" y="237172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51" name="Rectangle 32"/>
          <p:cNvSpPr>
            <a:spLocks noChangeArrowheads="true"/>
          </p:cNvSpPr>
          <p:nvPr/>
        </p:nvSpPr>
        <p:spPr bwMode="auto">
          <a:xfrm>
            <a:off x="4853305" y="144018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52" name="Rectangle 32"/>
          <p:cNvSpPr>
            <a:spLocks noChangeArrowheads="true"/>
          </p:cNvSpPr>
          <p:nvPr/>
        </p:nvSpPr>
        <p:spPr bwMode="auto">
          <a:xfrm>
            <a:off x="4834890" y="192659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53" name="右箭头 108"/>
          <p:cNvSpPr/>
          <p:nvPr/>
        </p:nvSpPr>
        <p:spPr>
          <a:xfrm>
            <a:off x="4200525" y="331406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454" name="右箭头 109"/>
          <p:cNvSpPr/>
          <p:nvPr/>
        </p:nvSpPr>
        <p:spPr>
          <a:xfrm>
            <a:off x="4231005" y="161099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455" name="Rectangle 32"/>
          <p:cNvSpPr>
            <a:spLocks noChangeArrowheads="true"/>
          </p:cNvSpPr>
          <p:nvPr/>
        </p:nvSpPr>
        <p:spPr bwMode="auto">
          <a:xfrm>
            <a:off x="4161790" y="135382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rear=4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56" name="Rectangle 32"/>
          <p:cNvSpPr>
            <a:spLocks noChangeArrowheads="true"/>
          </p:cNvSpPr>
          <p:nvPr/>
        </p:nvSpPr>
        <p:spPr bwMode="auto">
          <a:xfrm>
            <a:off x="4117340" y="335851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57" name="Rectangle 4"/>
          <p:cNvSpPr>
            <a:spLocks noChangeArrowheads="true"/>
          </p:cNvSpPr>
          <p:nvPr/>
        </p:nvSpPr>
        <p:spPr bwMode="auto">
          <a:xfrm>
            <a:off x="7896848" y="14403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58" name="Rectangle 4"/>
          <p:cNvSpPr>
            <a:spLocks noChangeArrowheads="true"/>
          </p:cNvSpPr>
          <p:nvPr/>
        </p:nvSpPr>
        <p:spPr bwMode="auto">
          <a:xfrm>
            <a:off x="7896848" y="18721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59" name="Rectangle 4"/>
          <p:cNvSpPr>
            <a:spLocks noChangeArrowheads="true"/>
          </p:cNvSpPr>
          <p:nvPr/>
        </p:nvSpPr>
        <p:spPr bwMode="auto">
          <a:xfrm>
            <a:off x="7896848" y="23039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60" name="Rectangle 4"/>
          <p:cNvSpPr>
            <a:spLocks noChangeArrowheads="true"/>
          </p:cNvSpPr>
          <p:nvPr/>
        </p:nvSpPr>
        <p:spPr bwMode="auto">
          <a:xfrm>
            <a:off x="7896848" y="272937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61" name="Rectangle 4"/>
          <p:cNvSpPr>
            <a:spLocks noChangeArrowheads="true"/>
          </p:cNvSpPr>
          <p:nvPr/>
        </p:nvSpPr>
        <p:spPr bwMode="auto">
          <a:xfrm>
            <a:off x="7896848" y="31675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62" name="Rectangle 32"/>
          <p:cNvSpPr>
            <a:spLocks noChangeArrowheads="true"/>
          </p:cNvSpPr>
          <p:nvPr/>
        </p:nvSpPr>
        <p:spPr bwMode="auto">
          <a:xfrm>
            <a:off x="7470140" y="322389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63" name="Rectangle 32"/>
          <p:cNvSpPr>
            <a:spLocks noChangeArrowheads="true"/>
          </p:cNvSpPr>
          <p:nvPr/>
        </p:nvSpPr>
        <p:spPr bwMode="auto">
          <a:xfrm>
            <a:off x="7470140" y="279781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64" name="Rectangle 32"/>
          <p:cNvSpPr>
            <a:spLocks noChangeArrowheads="true"/>
          </p:cNvSpPr>
          <p:nvPr/>
        </p:nvSpPr>
        <p:spPr bwMode="auto">
          <a:xfrm>
            <a:off x="7470140" y="237172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65" name="Rectangle 32"/>
          <p:cNvSpPr>
            <a:spLocks noChangeArrowheads="true"/>
          </p:cNvSpPr>
          <p:nvPr/>
        </p:nvSpPr>
        <p:spPr bwMode="auto">
          <a:xfrm>
            <a:off x="7488555" y="144018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66" name="Rectangle 32"/>
          <p:cNvSpPr>
            <a:spLocks noChangeArrowheads="true"/>
          </p:cNvSpPr>
          <p:nvPr/>
        </p:nvSpPr>
        <p:spPr bwMode="auto">
          <a:xfrm>
            <a:off x="7470140" y="192659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67" name="右箭头 122"/>
          <p:cNvSpPr/>
          <p:nvPr/>
        </p:nvSpPr>
        <p:spPr>
          <a:xfrm>
            <a:off x="6835775" y="288861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468" name="右箭头 125"/>
          <p:cNvSpPr/>
          <p:nvPr/>
        </p:nvSpPr>
        <p:spPr>
          <a:xfrm>
            <a:off x="6866255" y="124269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469" name="Rectangle 32"/>
          <p:cNvSpPr>
            <a:spLocks noChangeArrowheads="true"/>
          </p:cNvSpPr>
          <p:nvPr/>
        </p:nvSpPr>
        <p:spPr bwMode="auto">
          <a:xfrm>
            <a:off x="6797040" y="98552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rear=5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70" name="Rectangle 32"/>
          <p:cNvSpPr>
            <a:spLocks noChangeArrowheads="true"/>
          </p:cNvSpPr>
          <p:nvPr/>
        </p:nvSpPr>
        <p:spPr bwMode="auto">
          <a:xfrm>
            <a:off x="6752590" y="293306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front=1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71" name="Text Box 13"/>
          <p:cNvSpPr txBox="true">
            <a:spLocks noChangeArrowheads="true"/>
          </p:cNvSpPr>
          <p:nvPr/>
        </p:nvSpPr>
        <p:spPr bwMode="auto">
          <a:xfrm>
            <a:off x="2759393" y="3753676"/>
            <a:ext cx="79438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空队列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72" name="Text Box 13"/>
          <p:cNvSpPr txBox="true">
            <a:spLocks noChangeArrowheads="true"/>
          </p:cNvSpPr>
          <p:nvPr/>
        </p:nvSpPr>
        <p:spPr bwMode="auto">
          <a:xfrm>
            <a:off x="5212398" y="3798126"/>
            <a:ext cx="119507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ABCD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入队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73" name="Text Box 13"/>
          <p:cNvSpPr txBox="true">
            <a:spLocks noChangeArrowheads="true"/>
          </p:cNvSpPr>
          <p:nvPr/>
        </p:nvSpPr>
        <p:spPr bwMode="auto">
          <a:xfrm>
            <a:off x="7699058" y="3798126"/>
            <a:ext cx="148780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A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出队，</a:t>
            </a: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入队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74" name="table 706"/>
          <p:cNvGraphicFramePr/>
          <p:nvPr/>
        </p:nvGraphicFramePr>
        <p:xfrm>
          <a:off x="263525" y="4493260"/>
          <a:ext cx="3710305" cy="193548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71030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93548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queue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char data[MAXSIZE];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int front;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int rear;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475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4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Text Box 60"/>
          <p:cNvSpPr txBox="true"/>
          <p:nvPr/>
        </p:nvSpPr>
        <p:spPr>
          <a:xfrm>
            <a:off x="4117340" y="4259580"/>
            <a:ext cx="8074660" cy="235756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int</a:t>
            </a:r>
            <a:r>
              <a:rPr lang="zh-CN" altLang="en-US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DeQueue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(struct</a:t>
            </a:r>
            <a:r>
              <a:rPr lang="zh-CN" altLang="en-US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queue *Q, char *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nodeData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)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{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if(Q-&gt;rear==Q-&gt;front) return -1;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队列已空，出队失败</a:t>
            </a:r>
            <a:endParaRPr lang="en-US" altLang="zh-CN" sz="18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SzPct val="80000"/>
              <a:buNone/>
              <a:defRPr/>
            </a:pP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  *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nodeData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=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Q-&gt;data[Q-&gt;front];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队头出队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      </a:t>
            </a:r>
            <a:endParaRPr lang="zh-CN" altLang="en-US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Q-&gt;front++;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    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头标识后移</a:t>
            </a:r>
            <a:endParaRPr lang="zh-CN" altLang="en-US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return 1;		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出队成功</a:t>
            </a:r>
            <a:endParaRPr lang="en-US" altLang="zh-CN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}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</p:txBody>
      </p:sp>
      <p:sp>
        <p:nvSpPr>
          <p:cNvPr id="478" name="Rectangle 2"/>
          <p:cNvSpPr>
            <a:spLocks noGrp="true"/>
          </p:cNvSpPr>
          <p:nvPr>
            <p:ph type="title"/>
          </p:nvPr>
        </p:nvSpPr>
        <p:spPr>
          <a:xfrm>
            <a:off x="3702685" y="582930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队列的顺序存储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479" name="Rectangle 4"/>
          <p:cNvSpPr>
            <a:spLocks noChangeArrowheads="true"/>
          </p:cNvSpPr>
          <p:nvPr/>
        </p:nvSpPr>
        <p:spPr bwMode="auto">
          <a:xfrm>
            <a:off x="2639048" y="14403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80" name="Rectangle 4"/>
          <p:cNvSpPr>
            <a:spLocks noChangeArrowheads="true"/>
          </p:cNvSpPr>
          <p:nvPr/>
        </p:nvSpPr>
        <p:spPr bwMode="auto">
          <a:xfrm>
            <a:off x="2639048" y="18721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81" name="Rectangle 4"/>
          <p:cNvSpPr>
            <a:spLocks noChangeArrowheads="true"/>
          </p:cNvSpPr>
          <p:nvPr/>
        </p:nvSpPr>
        <p:spPr bwMode="auto">
          <a:xfrm>
            <a:off x="2639048" y="23039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82" name="Rectangle 4"/>
          <p:cNvSpPr>
            <a:spLocks noChangeArrowheads="true"/>
          </p:cNvSpPr>
          <p:nvPr/>
        </p:nvSpPr>
        <p:spPr bwMode="auto">
          <a:xfrm>
            <a:off x="2639048" y="272937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83" name="Rectangle 4"/>
          <p:cNvSpPr>
            <a:spLocks noChangeArrowheads="true"/>
          </p:cNvSpPr>
          <p:nvPr/>
        </p:nvSpPr>
        <p:spPr bwMode="auto">
          <a:xfrm>
            <a:off x="2639048" y="31675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84" name="Rectangle 32"/>
          <p:cNvSpPr>
            <a:spLocks noChangeArrowheads="true"/>
          </p:cNvSpPr>
          <p:nvPr/>
        </p:nvSpPr>
        <p:spPr bwMode="auto">
          <a:xfrm>
            <a:off x="2212340" y="322389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85" name="Rectangle 32"/>
          <p:cNvSpPr>
            <a:spLocks noChangeArrowheads="true"/>
          </p:cNvSpPr>
          <p:nvPr/>
        </p:nvSpPr>
        <p:spPr bwMode="auto">
          <a:xfrm>
            <a:off x="2212340" y="279781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86" name="Rectangle 32"/>
          <p:cNvSpPr>
            <a:spLocks noChangeArrowheads="true"/>
          </p:cNvSpPr>
          <p:nvPr/>
        </p:nvSpPr>
        <p:spPr bwMode="auto">
          <a:xfrm>
            <a:off x="2212340" y="237172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87" name="Rectangle 32"/>
          <p:cNvSpPr>
            <a:spLocks noChangeArrowheads="true"/>
          </p:cNvSpPr>
          <p:nvPr/>
        </p:nvSpPr>
        <p:spPr bwMode="auto">
          <a:xfrm>
            <a:off x="2230755" y="144018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88" name="Rectangle 32"/>
          <p:cNvSpPr>
            <a:spLocks noChangeArrowheads="true"/>
          </p:cNvSpPr>
          <p:nvPr/>
        </p:nvSpPr>
        <p:spPr bwMode="auto">
          <a:xfrm>
            <a:off x="2212340" y="192659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89" name="右箭头 85"/>
          <p:cNvSpPr/>
          <p:nvPr/>
        </p:nvSpPr>
        <p:spPr>
          <a:xfrm>
            <a:off x="1577975" y="342836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490" name="右箭头 86"/>
          <p:cNvSpPr/>
          <p:nvPr/>
        </p:nvSpPr>
        <p:spPr>
          <a:xfrm>
            <a:off x="1576705" y="322389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491" name="Rectangle 32"/>
          <p:cNvSpPr>
            <a:spLocks noChangeArrowheads="true"/>
          </p:cNvSpPr>
          <p:nvPr/>
        </p:nvSpPr>
        <p:spPr bwMode="auto">
          <a:xfrm>
            <a:off x="1507490" y="296672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92" name="Rectangle 32"/>
          <p:cNvSpPr>
            <a:spLocks noChangeArrowheads="true"/>
          </p:cNvSpPr>
          <p:nvPr/>
        </p:nvSpPr>
        <p:spPr bwMode="auto">
          <a:xfrm>
            <a:off x="1494790" y="347281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93" name="Rectangle 4"/>
          <p:cNvSpPr>
            <a:spLocks noChangeArrowheads="true"/>
          </p:cNvSpPr>
          <p:nvPr/>
        </p:nvSpPr>
        <p:spPr bwMode="auto">
          <a:xfrm>
            <a:off x="5261598" y="14403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94" name="Rectangle 4"/>
          <p:cNvSpPr>
            <a:spLocks noChangeArrowheads="true"/>
          </p:cNvSpPr>
          <p:nvPr/>
        </p:nvSpPr>
        <p:spPr bwMode="auto">
          <a:xfrm>
            <a:off x="5261598" y="18721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95" name="Rectangle 4"/>
          <p:cNvSpPr>
            <a:spLocks noChangeArrowheads="true"/>
          </p:cNvSpPr>
          <p:nvPr/>
        </p:nvSpPr>
        <p:spPr bwMode="auto">
          <a:xfrm>
            <a:off x="5261598" y="23039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96" name="Rectangle 4"/>
          <p:cNvSpPr>
            <a:spLocks noChangeArrowheads="true"/>
          </p:cNvSpPr>
          <p:nvPr/>
        </p:nvSpPr>
        <p:spPr bwMode="auto">
          <a:xfrm>
            <a:off x="5261598" y="272937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97" name="Rectangle 4"/>
          <p:cNvSpPr>
            <a:spLocks noChangeArrowheads="true"/>
          </p:cNvSpPr>
          <p:nvPr/>
        </p:nvSpPr>
        <p:spPr bwMode="auto">
          <a:xfrm>
            <a:off x="5261598" y="31675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A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98" name="Rectangle 32"/>
          <p:cNvSpPr>
            <a:spLocks noChangeArrowheads="true"/>
          </p:cNvSpPr>
          <p:nvPr/>
        </p:nvSpPr>
        <p:spPr bwMode="auto">
          <a:xfrm>
            <a:off x="4834890" y="322389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99" name="Rectangle 32"/>
          <p:cNvSpPr>
            <a:spLocks noChangeArrowheads="true"/>
          </p:cNvSpPr>
          <p:nvPr/>
        </p:nvSpPr>
        <p:spPr bwMode="auto">
          <a:xfrm>
            <a:off x="4834890" y="279781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00" name="Rectangle 32"/>
          <p:cNvSpPr>
            <a:spLocks noChangeArrowheads="true"/>
          </p:cNvSpPr>
          <p:nvPr/>
        </p:nvSpPr>
        <p:spPr bwMode="auto">
          <a:xfrm>
            <a:off x="4834890" y="237172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01" name="Rectangle 32"/>
          <p:cNvSpPr>
            <a:spLocks noChangeArrowheads="true"/>
          </p:cNvSpPr>
          <p:nvPr/>
        </p:nvSpPr>
        <p:spPr bwMode="auto">
          <a:xfrm>
            <a:off x="4853305" y="144018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02" name="Rectangle 32"/>
          <p:cNvSpPr>
            <a:spLocks noChangeArrowheads="true"/>
          </p:cNvSpPr>
          <p:nvPr/>
        </p:nvSpPr>
        <p:spPr bwMode="auto">
          <a:xfrm>
            <a:off x="4834890" y="192659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03" name="右箭头 108"/>
          <p:cNvSpPr/>
          <p:nvPr/>
        </p:nvSpPr>
        <p:spPr>
          <a:xfrm>
            <a:off x="4200525" y="331406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504" name="右箭头 109"/>
          <p:cNvSpPr/>
          <p:nvPr/>
        </p:nvSpPr>
        <p:spPr>
          <a:xfrm>
            <a:off x="4231005" y="161099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505" name="Rectangle 32"/>
          <p:cNvSpPr>
            <a:spLocks noChangeArrowheads="true"/>
          </p:cNvSpPr>
          <p:nvPr/>
        </p:nvSpPr>
        <p:spPr bwMode="auto">
          <a:xfrm>
            <a:off x="4161790" y="135382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rear=4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06" name="Rectangle 32"/>
          <p:cNvSpPr>
            <a:spLocks noChangeArrowheads="true"/>
          </p:cNvSpPr>
          <p:nvPr/>
        </p:nvSpPr>
        <p:spPr bwMode="auto">
          <a:xfrm>
            <a:off x="4117340" y="335851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07" name="Rectangle 4"/>
          <p:cNvSpPr>
            <a:spLocks noChangeArrowheads="true"/>
          </p:cNvSpPr>
          <p:nvPr/>
        </p:nvSpPr>
        <p:spPr bwMode="auto">
          <a:xfrm>
            <a:off x="7896848" y="14403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08" name="Rectangle 4"/>
          <p:cNvSpPr>
            <a:spLocks noChangeArrowheads="true"/>
          </p:cNvSpPr>
          <p:nvPr/>
        </p:nvSpPr>
        <p:spPr bwMode="auto">
          <a:xfrm>
            <a:off x="7896848" y="18721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09" name="Rectangle 4"/>
          <p:cNvSpPr>
            <a:spLocks noChangeArrowheads="true"/>
          </p:cNvSpPr>
          <p:nvPr/>
        </p:nvSpPr>
        <p:spPr bwMode="auto">
          <a:xfrm>
            <a:off x="7896848" y="23039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10" name="Rectangle 4"/>
          <p:cNvSpPr>
            <a:spLocks noChangeArrowheads="true"/>
          </p:cNvSpPr>
          <p:nvPr/>
        </p:nvSpPr>
        <p:spPr bwMode="auto">
          <a:xfrm>
            <a:off x="7896848" y="272937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11" name="Rectangle 4"/>
          <p:cNvSpPr>
            <a:spLocks noChangeArrowheads="true"/>
          </p:cNvSpPr>
          <p:nvPr/>
        </p:nvSpPr>
        <p:spPr bwMode="auto">
          <a:xfrm>
            <a:off x="7896848" y="316752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12" name="Rectangle 32"/>
          <p:cNvSpPr>
            <a:spLocks noChangeArrowheads="true"/>
          </p:cNvSpPr>
          <p:nvPr/>
        </p:nvSpPr>
        <p:spPr bwMode="auto">
          <a:xfrm>
            <a:off x="7470140" y="322389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13" name="Rectangle 32"/>
          <p:cNvSpPr>
            <a:spLocks noChangeArrowheads="true"/>
          </p:cNvSpPr>
          <p:nvPr/>
        </p:nvSpPr>
        <p:spPr bwMode="auto">
          <a:xfrm>
            <a:off x="7470140" y="279781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14" name="Rectangle 32"/>
          <p:cNvSpPr>
            <a:spLocks noChangeArrowheads="true"/>
          </p:cNvSpPr>
          <p:nvPr/>
        </p:nvSpPr>
        <p:spPr bwMode="auto">
          <a:xfrm>
            <a:off x="7470140" y="237172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15" name="Rectangle 32"/>
          <p:cNvSpPr>
            <a:spLocks noChangeArrowheads="true"/>
          </p:cNvSpPr>
          <p:nvPr/>
        </p:nvSpPr>
        <p:spPr bwMode="auto">
          <a:xfrm>
            <a:off x="7488555" y="144018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16" name="Rectangle 32"/>
          <p:cNvSpPr>
            <a:spLocks noChangeArrowheads="true"/>
          </p:cNvSpPr>
          <p:nvPr/>
        </p:nvSpPr>
        <p:spPr bwMode="auto">
          <a:xfrm>
            <a:off x="7470140" y="192659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17" name="右箭头 122"/>
          <p:cNvSpPr/>
          <p:nvPr/>
        </p:nvSpPr>
        <p:spPr>
          <a:xfrm>
            <a:off x="6835775" y="288861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518" name="右箭头 125"/>
          <p:cNvSpPr/>
          <p:nvPr/>
        </p:nvSpPr>
        <p:spPr>
          <a:xfrm>
            <a:off x="6866255" y="124269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519" name="Rectangle 32"/>
          <p:cNvSpPr>
            <a:spLocks noChangeArrowheads="true"/>
          </p:cNvSpPr>
          <p:nvPr/>
        </p:nvSpPr>
        <p:spPr bwMode="auto">
          <a:xfrm>
            <a:off x="6797040" y="98552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rear=5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20" name="Rectangle 32"/>
          <p:cNvSpPr>
            <a:spLocks noChangeArrowheads="true"/>
          </p:cNvSpPr>
          <p:nvPr/>
        </p:nvSpPr>
        <p:spPr bwMode="auto">
          <a:xfrm>
            <a:off x="6752590" y="293306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front=1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21" name="Text Box 13"/>
          <p:cNvSpPr txBox="true">
            <a:spLocks noChangeArrowheads="true"/>
          </p:cNvSpPr>
          <p:nvPr/>
        </p:nvSpPr>
        <p:spPr bwMode="auto">
          <a:xfrm>
            <a:off x="2759393" y="3753676"/>
            <a:ext cx="79438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空队列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22" name="Text Box 13"/>
          <p:cNvSpPr txBox="true">
            <a:spLocks noChangeArrowheads="true"/>
          </p:cNvSpPr>
          <p:nvPr/>
        </p:nvSpPr>
        <p:spPr bwMode="auto">
          <a:xfrm>
            <a:off x="5212398" y="3798126"/>
            <a:ext cx="119507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ABCD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入队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23" name="Text Box 13"/>
          <p:cNvSpPr txBox="true">
            <a:spLocks noChangeArrowheads="true"/>
          </p:cNvSpPr>
          <p:nvPr/>
        </p:nvSpPr>
        <p:spPr bwMode="auto">
          <a:xfrm>
            <a:off x="7699058" y="3798126"/>
            <a:ext cx="148780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A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出队，</a:t>
            </a: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入队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24" name="table 706"/>
          <p:cNvGraphicFramePr/>
          <p:nvPr/>
        </p:nvGraphicFramePr>
        <p:xfrm>
          <a:off x="263525" y="4493260"/>
          <a:ext cx="3710305" cy="193548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71030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93548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 dirty="fals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queue</a:t>
                      </a:r>
                      <a:br>
                        <a:rPr lang="en-US" altLang="zh-CN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 dirty="fals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char data[MAXSIZE];</a:t>
                      </a:r>
                      <a:endParaRPr lang="en-US" altLang="zh-CN" sz="2000" b="true" dirty="fals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int front;</a:t>
                      </a:r>
                      <a:endParaRPr lang="en-US" altLang="zh-CN" sz="2000" b="true" dirty="fals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int rear;</a:t>
                      </a:r>
                      <a:br>
                        <a:rPr lang="en-US" altLang="zh-CN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 dirty="fals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525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5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Rectangle 2"/>
          <p:cNvSpPr>
            <a:spLocks noGrp="true"/>
          </p:cNvSpPr>
          <p:nvPr>
            <p:ph type="title"/>
          </p:nvPr>
        </p:nvSpPr>
        <p:spPr>
          <a:xfrm>
            <a:off x="3702685" y="582930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队列的顺序存储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528" name="Rectangle 4"/>
          <p:cNvSpPr>
            <a:spLocks noChangeArrowheads="true"/>
          </p:cNvSpPr>
          <p:nvPr/>
        </p:nvSpPr>
        <p:spPr bwMode="auto">
          <a:xfrm>
            <a:off x="2639048" y="15838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29" name="Rectangle 4"/>
          <p:cNvSpPr>
            <a:spLocks noChangeArrowheads="true"/>
          </p:cNvSpPr>
          <p:nvPr/>
        </p:nvSpPr>
        <p:spPr bwMode="auto">
          <a:xfrm>
            <a:off x="2639048" y="20156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0" name="Rectangle 4"/>
          <p:cNvSpPr>
            <a:spLocks noChangeArrowheads="true"/>
          </p:cNvSpPr>
          <p:nvPr/>
        </p:nvSpPr>
        <p:spPr bwMode="auto">
          <a:xfrm>
            <a:off x="2639048" y="24474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1" name="Rectangle 4"/>
          <p:cNvSpPr>
            <a:spLocks noChangeArrowheads="true"/>
          </p:cNvSpPr>
          <p:nvPr/>
        </p:nvSpPr>
        <p:spPr bwMode="auto">
          <a:xfrm>
            <a:off x="2639048" y="287288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2" name="Rectangle 4"/>
          <p:cNvSpPr>
            <a:spLocks noChangeArrowheads="true"/>
          </p:cNvSpPr>
          <p:nvPr/>
        </p:nvSpPr>
        <p:spPr bwMode="auto">
          <a:xfrm>
            <a:off x="2639048" y="33110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3" name="Rectangle 32"/>
          <p:cNvSpPr>
            <a:spLocks noChangeArrowheads="true"/>
          </p:cNvSpPr>
          <p:nvPr/>
        </p:nvSpPr>
        <p:spPr bwMode="auto">
          <a:xfrm>
            <a:off x="2212340" y="336740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4" name="Rectangle 32"/>
          <p:cNvSpPr>
            <a:spLocks noChangeArrowheads="true"/>
          </p:cNvSpPr>
          <p:nvPr/>
        </p:nvSpPr>
        <p:spPr bwMode="auto">
          <a:xfrm>
            <a:off x="2212340" y="294132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5" name="Rectangle 32"/>
          <p:cNvSpPr>
            <a:spLocks noChangeArrowheads="true"/>
          </p:cNvSpPr>
          <p:nvPr/>
        </p:nvSpPr>
        <p:spPr bwMode="auto">
          <a:xfrm>
            <a:off x="2212340" y="251523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6" name="Rectangle 32"/>
          <p:cNvSpPr>
            <a:spLocks noChangeArrowheads="true"/>
          </p:cNvSpPr>
          <p:nvPr/>
        </p:nvSpPr>
        <p:spPr bwMode="auto">
          <a:xfrm>
            <a:off x="2230755" y="158369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7" name="Rectangle 32"/>
          <p:cNvSpPr>
            <a:spLocks noChangeArrowheads="true"/>
          </p:cNvSpPr>
          <p:nvPr/>
        </p:nvSpPr>
        <p:spPr bwMode="auto">
          <a:xfrm>
            <a:off x="2212340" y="207010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8" name="右箭头 41"/>
          <p:cNvSpPr/>
          <p:nvPr/>
        </p:nvSpPr>
        <p:spPr>
          <a:xfrm>
            <a:off x="1577975" y="357187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539" name="右箭头 42"/>
          <p:cNvSpPr/>
          <p:nvPr/>
        </p:nvSpPr>
        <p:spPr>
          <a:xfrm>
            <a:off x="1576705" y="336740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540" name="Rectangle 32"/>
          <p:cNvSpPr>
            <a:spLocks noChangeArrowheads="true"/>
          </p:cNvSpPr>
          <p:nvPr/>
        </p:nvSpPr>
        <p:spPr bwMode="auto">
          <a:xfrm>
            <a:off x="1507490" y="311023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41" name="Rectangle 32"/>
          <p:cNvSpPr>
            <a:spLocks noChangeArrowheads="true"/>
          </p:cNvSpPr>
          <p:nvPr/>
        </p:nvSpPr>
        <p:spPr bwMode="auto">
          <a:xfrm>
            <a:off x="1494790" y="361632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42" name="Rectangle 4"/>
          <p:cNvSpPr>
            <a:spLocks noChangeArrowheads="true"/>
          </p:cNvSpPr>
          <p:nvPr/>
        </p:nvSpPr>
        <p:spPr bwMode="auto">
          <a:xfrm>
            <a:off x="5261598" y="15838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43" name="Rectangle 4"/>
          <p:cNvSpPr>
            <a:spLocks noChangeArrowheads="true"/>
          </p:cNvSpPr>
          <p:nvPr/>
        </p:nvSpPr>
        <p:spPr bwMode="auto">
          <a:xfrm>
            <a:off x="5261598" y="20156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44" name="Rectangle 4"/>
          <p:cNvSpPr>
            <a:spLocks noChangeArrowheads="true"/>
          </p:cNvSpPr>
          <p:nvPr/>
        </p:nvSpPr>
        <p:spPr bwMode="auto">
          <a:xfrm>
            <a:off x="5261598" y="24474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45" name="Rectangle 4"/>
          <p:cNvSpPr>
            <a:spLocks noChangeArrowheads="true"/>
          </p:cNvSpPr>
          <p:nvPr/>
        </p:nvSpPr>
        <p:spPr bwMode="auto">
          <a:xfrm>
            <a:off x="5261598" y="287288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46" name="Rectangle 4"/>
          <p:cNvSpPr>
            <a:spLocks noChangeArrowheads="true"/>
          </p:cNvSpPr>
          <p:nvPr/>
        </p:nvSpPr>
        <p:spPr bwMode="auto">
          <a:xfrm>
            <a:off x="5261598" y="33110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A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47" name="Rectangle 32"/>
          <p:cNvSpPr>
            <a:spLocks noChangeArrowheads="true"/>
          </p:cNvSpPr>
          <p:nvPr/>
        </p:nvSpPr>
        <p:spPr bwMode="auto">
          <a:xfrm>
            <a:off x="4834890" y="336740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48" name="Rectangle 32"/>
          <p:cNvSpPr>
            <a:spLocks noChangeArrowheads="true"/>
          </p:cNvSpPr>
          <p:nvPr/>
        </p:nvSpPr>
        <p:spPr bwMode="auto">
          <a:xfrm>
            <a:off x="4834890" y="294132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49" name="Rectangle 32"/>
          <p:cNvSpPr>
            <a:spLocks noChangeArrowheads="true"/>
          </p:cNvSpPr>
          <p:nvPr/>
        </p:nvSpPr>
        <p:spPr bwMode="auto">
          <a:xfrm>
            <a:off x="4834890" y="251523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0" name="Rectangle 32"/>
          <p:cNvSpPr>
            <a:spLocks noChangeArrowheads="true"/>
          </p:cNvSpPr>
          <p:nvPr/>
        </p:nvSpPr>
        <p:spPr bwMode="auto">
          <a:xfrm>
            <a:off x="4853305" y="158369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1" name="Rectangle 32"/>
          <p:cNvSpPr>
            <a:spLocks noChangeArrowheads="true"/>
          </p:cNvSpPr>
          <p:nvPr/>
        </p:nvSpPr>
        <p:spPr bwMode="auto">
          <a:xfrm>
            <a:off x="4834890" y="207010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2" name="右箭头 57"/>
          <p:cNvSpPr/>
          <p:nvPr/>
        </p:nvSpPr>
        <p:spPr>
          <a:xfrm>
            <a:off x="4200525" y="345757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553" name="右箭头 58"/>
          <p:cNvSpPr/>
          <p:nvPr/>
        </p:nvSpPr>
        <p:spPr>
          <a:xfrm>
            <a:off x="4231005" y="175450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554" name="Rectangle 32"/>
          <p:cNvSpPr>
            <a:spLocks noChangeArrowheads="true"/>
          </p:cNvSpPr>
          <p:nvPr/>
        </p:nvSpPr>
        <p:spPr bwMode="auto">
          <a:xfrm>
            <a:off x="4161790" y="149733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rear=4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5" name="Rectangle 32"/>
          <p:cNvSpPr>
            <a:spLocks noChangeArrowheads="true"/>
          </p:cNvSpPr>
          <p:nvPr/>
        </p:nvSpPr>
        <p:spPr bwMode="auto">
          <a:xfrm>
            <a:off x="4117340" y="350202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6" name="Rectangle 4"/>
          <p:cNvSpPr>
            <a:spLocks noChangeArrowheads="true"/>
          </p:cNvSpPr>
          <p:nvPr/>
        </p:nvSpPr>
        <p:spPr bwMode="auto">
          <a:xfrm>
            <a:off x="7896848" y="15838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7" name="Rectangle 4"/>
          <p:cNvSpPr>
            <a:spLocks noChangeArrowheads="true"/>
          </p:cNvSpPr>
          <p:nvPr/>
        </p:nvSpPr>
        <p:spPr bwMode="auto">
          <a:xfrm>
            <a:off x="7896848" y="20156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8" name="Rectangle 4"/>
          <p:cNvSpPr>
            <a:spLocks noChangeArrowheads="true"/>
          </p:cNvSpPr>
          <p:nvPr/>
        </p:nvSpPr>
        <p:spPr bwMode="auto">
          <a:xfrm>
            <a:off x="7896848" y="24474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9" name="Rectangle 4"/>
          <p:cNvSpPr>
            <a:spLocks noChangeArrowheads="true"/>
          </p:cNvSpPr>
          <p:nvPr/>
        </p:nvSpPr>
        <p:spPr bwMode="auto">
          <a:xfrm>
            <a:off x="7896848" y="287288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60" name="Rectangle 4"/>
          <p:cNvSpPr>
            <a:spLocks noChangeArrowheads="true"/>
          </p:cNvSpPr>
          <p:nvPr/>
        </p:nvSpPr>
        <p:spPr bwMode="auto">
          <a:xfrm>
            <a:off x="7896848" y="33110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61" name="Rectangle 32"/>
          <p:cNvSpPr>
            <a:spLocks noChangeArrowheads="true"/>
          </p:cNvSpPr>
          <p:nvPr/>
        </p:nvSpPr>
        <p:spPr bwMode="auto">
          <a:xfrm>
            <a:off x="7470140" y="336740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62" name="Rectangle 32"/>
          <p:cNvSpPr>
            <a:spLocks noChangeArrowheads="true"/>
          </p:cNvSpPr>
          <p:nvPr/>
        </p:nvSpPr>
        <p:spPr bwMode="auto">
          <a:xfrm>
            <a:off x="7470140" y="294132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63" name="Rectangle 32"/>
          <p:cNvSpPr>
            <a:spLocks noChangeArrowheads="true"/>
          </p:cNvSpPr>
          <p:nvPr/>
        </p:nvSpPr>
        <p:spPr bwMode="auto">
          <a:xfrm>
            <a:off x="7470140" y="251523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64" name="Rectangle 32"/>
          <p:cNvSpPr>
            <a:spLocks noChangeArrowheads="true"/>
          </p:cNvSpPr>
          <p:nvPr/>
        </p:nvSpPr>
        <p:spPr bwMode="auto">
          <a:xfrm>
            <a:off x="7488555" y="158369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65" name="Rectangle 32"/>
          <p:cNvSpPr>
            <a:spLocks noChangeArrowheads="true"/>
          </p:cNvSpPr>
          <p:nvPr/>
        </p:nvSpPr>
        <p:spPr bwMode="auto">
          <a:xfrm>
            <a:off x="7470140" y="207010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66" name="右箭头 71"/>
          <p:cNvSpPr/>
          <p:nvPr/>
        </p:nvSpPr>
        <p:spPr>
          <a:xfrm>
            <a:off x="6835775" y="303212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567" name="右箭头 72"/>
          <p:cNvSpPr/>
          <p:nvPr/>
        </p:nvSpPr>
        <p:spPr>
          <a:xfrm>
            <a:off x="6866255" y="1386205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568" name="Rectangle 32"/>
          <p:cNvSpPr>
            <a:spLocks noChangeArrowheads="true"/>
          </p:cNvSpPr>
          <p:nvPr/>
        </p:nvSpPr>
        <p:spPr bwMode="auto">
          <a:xfrm>
            <a:off x="6752590" y="307657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front=1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69" name="Text Box 13"/>
          <p:cNvSpPr txBox="true">
            <a:spLocks noChangeArrowheads="true"/>
          </p:cNvSpPr>
          <p:nvPr/>
        </p:nvSpPr>
        <p:spPr bwMode="auto">
          <a:xfrm>
            <a:off x="2759393" y="3897186"/>
            <a:ext cx="79438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空队列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70" name="Text Box 13"/>
          <p:cNvSpPr txBox="true">
            <a:spLocks noChangeArrowheads="true"/>
          </p:cNvSpPr>
          <p:nvPr/>
        </p:nvSpPr>
        <p:spPr bwMode="auto">
          <a:xfrm>
            <a:off x="5212398" y="3941636"/>
            <a:ext cx="119507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ABCD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入队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71" name="Text Box 13"/>
          <p:cNvSpPr txBox="true">
            <a:spLocks noChangeArrowheads="true"/>
          </p:cNvSpPr>
          <p:nvPr/>
        </p:nvSpPr>
        <p:spPr bwMode="auto">
          <a:xfrm>
            <a:off x="7699058" y="3941636"/>
            <a:ext cx="148780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A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出队，</a:t>
            </a: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入队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72" name="table 706"/>
          <p:cNvGraphicFramePr/>
          <p:nvPr/>
        </p:nvGraphicFramePr>
        <p:xfrm>
          <a:off x="329565" y="4565650"/>
          <a:ext cx="3757295" cy="1934845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75729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934845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queue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char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data[MAXSIZE];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int front;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int rear;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573" name="文本框 1"/>
          <p:cNvSpPr txBox="true"/>
          <p:nvPr/>
        </p:nvSpPr>
        <p:spPr>
          <a:xfrm>
            <a:off x="4271950" y="4717464"/>
            <a:ext cx="7249795" cy="157353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457200"/>
            <a:r>
              <a:rPr lang="zh-CN" altLang="en-US" sz="2400" b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假溢出：在插入</a:t>
            </a:r>
            <a:r>
              <a:rPr lang="en-US" altLang="zh-CN" sz="2400" b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E</a:t>
            </a:r>
            <a:r>
              <a:rPr lang="zh-CN" altLang="en-US" sz="2400" b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的基础上再插入元素</a:t>
            </a:r>
            <a:r>
              <a:rPr lang="en-US" altLang="zh-CN" sz="2400" b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F</a:t>
            </a:r>
            <a:r>
              <a:rPr lang="zh-CN" altLang="en-US" sz="2400" b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，将会插入失败。因为</a:t>
            </a:r>
            <a:r>
              <a:rPr lang="en-US" altLang="zh-CN" sz="2400" b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rear==MAXSIZE</a:t>
            </a:r>
            <a:r>
              <a:rPr lang="zh-CN" altLang="en-US" sz="2400" b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，尾指针已经达到队列的最大长度。但实际上队列存储空间并未全部被占满。可通过循环队列解决。</a:t>
            </a:r>
            <a:endParaRPr lang="zh-CN" altLang="en-US" sz="2400" b="true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574" name="Rectangle 32"/>
          <p:cNvSpPr>
            <a:spLocks noChangeArrowheads="true"/>
          </p:cNvSpPr>
          <p:nvPr/>
        </p:nvSpPr>
        <p:spPr bwMode="auto">
          <a:xfrm>
            <a:off x="6797040" y="112903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rear=5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75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5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 Box 60"/>
          <p:cNvSpPr txBox="true"/>
          <p:nvPr/>
        </p:nvSpPr>
        <p:spPr>
          <a:xfrm>
            <a:off x="4038600" y="3910965"/>
            <a:ext cx="8143875" cy="26301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int</a:t>
            </a:r>
            <a:r>
              <a:rPr lang="zh-CN" altLang="en-US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EnQueue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(struct</a:t>
            </a:r>
            <a:r>
              <a:rPr lang="zh-CN" altLang="en-US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queue *Q, char 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nodeData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)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{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if((Q-&gt;rear + 1)%MAXSIZE == Q-&gt;front) return -1;   					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队列已满，入队失败</a:t>
            </a:r>
            <a:endParaRPr lang="en-US" altLang="zh-CN" sz="18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  Q-&gt;data[Q-&gt;rear] = </a:t>
            </a:r>
            <a:r>
              <a:rPr lang="en-US" altLang="zh-CN" sz="1800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nodeData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;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新节点入队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      </a:t>
            </a:r>
            <a:endParaRPr lang="zh-CN" altLang="en-US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Q-&gt;rear = (Q-&gt;rear + 1) </a:t>
            </a:r>
            <a:r>
              <a:rPr lang="en-US" altLang="zh-CN" sz="1800" b="true" dirty="false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% MAXSIZE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;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尾标识后移</a:t>
            </a:r>
            <a:endParaRPr lang="zh-CN" altLang="en-US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return  1;		    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入队成功</a:t>
            </a:r>
            <a:endParaRPr lang="en-US" altLang="zh-CN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}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</p:txBody>
      </p:sp>
      <p:sp>
        <p:nvSpPr>
          <p:cNvPr id="578" name="Rectangle 2"/>
          <p:cNvSpPr>
            <a:spLocks noGrp="true"/>
          </p:cNvSpPr>
          <p:nvPr>
            <p:ph type="title"/>
          </p:nvPr>
        </p:nvSpPr>
        <p:spPr>
          <a:xfrm>
            <a:off x="3989705" y="582930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7.2.3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循环队列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579" name="Rectangle 4"/>
          <p:cNvSpPr>
            <a:spLocks noChangeArrowheads="true"/>
          </p:cNvSpPr>
          <p:nvPr/>
        </p:nvSpPr>
        <p:spPr bwMode="auto">
          <a:xfrm>
            <a:off x="2639048" y="11018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80" name="Rectangle 4"/>
          <p:cNvSpPr>
            <a:spLocks noChangeArrowheads="true"/>
          </p:cNvSpPr>
          <p:nvPr/>
        </p:nvSpPr>
        <p:spPr bwMode="auto">
          <a:xfrm>
            <a:off x="2639048" y="15336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81" name="Rectangle 4"/>
          <p:cNvSpPr>
            <a:spLocks noChangeArrowheads="true"/>
          </p:cNvSpPr>
          <p:nvPr/>
        </p:nvSpPr>
        <p:spPr bwMode="auto">
          <a:xfrm>
            <a:off x="2639048" y="19654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82" name="Rectangle 4"/>
          <p:cNvSpPr>
            <a:spLocks noChangeArrowheads="true"/>
          </p:cNvSpPr>
          <p:nvPr/>
        </p:nvSpPr>
        <p:spPr bwMode="auto">
          <a:xfrm>
            <a:off x="2639048" y="239091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83" name="Rectangle 4"/>
          <p:cNvSpPr>
            <a:spLocks noChangeArrowheads="true"/>
          </p:cNvSpPr>
          <p:nvPr/>
        </p:nvSpPr>
        <p:spPr bwMode="auto">
          <a:xfrm>
            <a:off x="2639048" y="28290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84" name="Rectangle 32"/>
          <p:cNvSpPr>
            <a:spLocks noChangeArrowheads="true"/>
          </p:cNvSpPr>
          <p:nvPr/>
        </p:nvSpPr>
        <p:spPr bwMode="auto">
          <a:xfrm>
            <a:off x="2212340" y="288544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85" name="Rectangle 32"/>
          <p:cNvSpPr>
            <a:spLocks noChangeArrowheads="true"/>
          </p:cNvSpPr>
          <p:nvPr/>
        </p:nvSpPr>
        <p:spPr bwMode="auto">
          <a:xfrm>
            <a:off x="2212340" y="245935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86" name="Rectangle 32"/>
          <p:cNvSpPr>
            <a:spLocks noChangeArrowheads="true"/>
          </p:cNvSpPr>
          <p:nvPr/>
        </p:nvSpPr>
        <p:spPr bwMode="auto">
          <a:xfrm>
            <a:off x="2212340" y="203327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87" name="Rectangle 32"/>
          <p:cNvSpPr>
            <a:spLocks noChangeArrowheads="true"/>
          </p:cNvSpPr>
          <p:nvPr/>
        </p:nvSpPr>
        <p:spPr bwMode="auto">
          <a:xfrm>
            <a:off x="2230755" y="110172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88" name="Rectangle 32"/>
          <p:cNvSpPr>
            <a:spLocks noChangeArrowheads="true"/>
          </p:cNvSpPr>
          <p:nvPr/>
        </p:nvSpPr>
        <p:spPr bwMode="auto">
          <a:xfrm>
            <a:off x="2212340" y="158813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89" name="右箭头 13"/>
          <p:cNvSpPr/>
          <p:nvPr/>
        </p:nvSpPr>
        <p:spPr>
          <a:xfrm>
            <a:off x="1577975" y="3089910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590" name="右箭头 14"/>
          <p:cNvSpPr/>
          <p:nvPr/>
        </p:nvSpPr>
        <p:spPr>
          <a:xfrm>
            <a:off x="1576705" y="2885440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591" name="Rectangle 32"/>
          <p:cNvSpPr>
            <a:spLocks noChangeArrowheads="true"/>
          </p:cNvSpPr>
          <p:nvPr/>
        </p:nvSpPr>
        <p:spPr bwMode="auto">
          <a:xfrm>
            <a:off x="1507490" y="262826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92" name="Rectangle 32"/>
          <p:cNvSpPr>
            <a:spLocks noChangeArrowheads="true"/>
          </p:cNvSpPr>
          <p:nvPr/>
        </p:nvSpPr>
        <p:spPr bwMode="auto">
          <a:xfrm>
            <a:off x="1494790" y="313436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93" name="Rectangle 4"/>
          <p:cNvSpPr>
            <a:spLocks noChangeArrowheads="true"/>
          </p:cNvSpPr>
          <p:nvPr/>
        </p:nvSpPr>
        <p:spPr bwMode="auto">
          <a:xfrm>
            <a:off x="5261598" y="11018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94" name="Rectangle 4"/>
          <p:cNvSpPr>
            <a:spLocks noChangeArrowheads="true"/>
          </p:cNvSpPr>
          <p:nvPr/>
        </p:nvSpPr>
        <p:spPr bwMode="auto">
          <a:xfrm>
            <a:off x="5261598" y="15336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95" name="Rectangle 4"/>
          <p:cNvSpPr>
            <a:spLocks noChangeArrowheads="true"/>
          </p:cNvSpPr>
          <p:nvPr/>
        </p:nvSpPr>
        <p:spPr bwMode="auto">
          <a:xfrm>
            <a:off x="5261598" y="19654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96" name="Rectangle 4"/>
          <p:cNvSpPr>
            <a:spLocks noChangeArrowheads="true"/>
          </p:cNvSpPr>
          <p:nvPr/>
        </p:nvSpPr>
        <p:spPr bwMode="auto">
          <a:xfrm>
            <a:off x="5261598" y="239091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97" name="Rectangle 4"/>
          <p:cNvSpPr>
            <a:spLocks noChangeArrowheads="true"/>
          </p:cNvSpPr>
          <p:nvPr/>
        </p:nvSpPr>
        <p:spPr bwMode="auto">
          <a:xfrm>
            <a:off x="5261598" y="28290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A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98" name="Rectangle 32"/>
          <p:cNvSpPr>
            <a:spLocks noChangeArrowheads="true"/>
          </p:cNvSpPr>
          <p:nvPr/>
        </p:nvSpPr>
        <p:spPr bwMode="auto">
          <a:xfrm>
            <a:off x="4834890" y="288544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99" name="Rectangle 32"/>
          <p:cNvSpPr>
            <a:spLocks noChangeArrowheads="true"/>
          </p:cNvSpPr>
          <p:nvPr/>
        </p:nvSpPr>
        <p:spPr bwMode="auto">
          <a:xfrm>
            <a:off x="4834890" y="245935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00" name="Rectangle 32"/>
          <p:cNvSpPr>
            <a:spLocks noChangeArrowheads="true"/>
          </p:cNvSpPr>
          <p:nvPr/>
        </p:nvSpPr>
        <p:spPr bwMode="auto">
          <a:xfrm>
            <a:off x="4834890" y="203327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01" name="Rectangle 32"/>
          <p:cNvSpPr>
            <a:spLocks noChangeArrowheads="true"/>
          </p:cNvSpPr>
          <p:nvPr/>
        </p:nvSpPr>
        <p:spPr bwMode="auto">
          <a:xfrm>
            <a:off x="4853305" y="110172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02" name="Rectangle 32"/>
          <p:cNvSpPr>
            <a:spLocks noChangeArrowheads="true"/>
          </p:cNvSpPr>
          <p:nvPr/>
        </p:nvSpPr>
        <p:spPr bwMode="auto">
          <a:xfrm>
            <a:off x="4834890" y="158813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03" name="右箭头 28"/>
          <p:cNvSpPr/>
          <p:nvPr/>
        </p:nvSpPr>
        <p:spPr>
          <a:xfrm>
            <a:off x="4200525" y="2975610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604" name="右箭头 29"/>
          <p:cNvSpPr/>
          <p:nvPr/>
        </p:nvSpPr>
        <p:spPr>
          <a:xfrm>
            <a:off x="4231005" y="1272540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605" name="Rectangle 32"/>
          <p:cNvSpPr>
            <a:spLocks noChangeArrowheads="true"/>
          </p:cNvSpPr>
          <p:nvPr/>
        </p:nvSpPr>
        <p:spPr bwMode="auto">
          <a:xfrm>
            <a:off x="4161790" y="101536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rear=4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06" name="Rectangle 32"/>
          <p:cNvSpPr>
            <a:spLocks noChangeArrowheads="true"/>
          </p:cNvSpPr>
          <p:nvPr/>
        </p:nvSpPr>
        <p:spPr bwMode="auto">
          <a:xfrm>
            <a:off x="4117340" y="302006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07" name="Rectangle 4"/>
          <p:cNvSpPr>
            <a:spLocks noChangeArrowheads="true"/>
          </p:cNvSpPr>
          <p:nvPr/>
        </p:nvSpPr>
        <p:spPr bwMode="auto">
          <a:xfrm>
            <a:off x="7896848" y="11018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08" name="Rectangle 4"/>
          <p:cNvSpPr>
            <a:spLocks noChangeArrowheads="true"/>
          </p:cNvSpPr>
          <p:nvPr/>
        </p:nvSpPr>
        <p:spPr bwMode="auto">
          <a:xfrm>
            <a:off x="7896848" y="15336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09" name="Rectangle 4"/>
          <p:cNvSpPr>
            <a:spLocks noChangeArrowheads="true"/>
          </p:cNvSpPr>
          <p:nvPr/>
        </p:nvSpPr>
        <p:spPr bwMode="auto">
          <a:xfrm>
            <a:off x="7896848" y="19654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10" name="Rectangle 4"/>
          <p:cNvSpPr>
            <a:spLocks noChangeArrowheads="true"/>
          </p:cNvSpPr>
          <p:nvPr/>
        </p:nvSpPr>
        <p:spPr bwMode="auto">
          <a:xfrm>
            <a:off x="7896848" y="239091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11" name="Rectangle 4"/>
          <p:cNvSpPr>
            <a:spLocks noChangeArrowheads="true"/>
          </p:cNvSpPr>
          <p:nvPr/>
        </p:nvSpPr>
        <p:spPr bwMode="auto">
          <a:xfrm>
            <a:off x="7896848" y="28290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12" name="Rectangle 32"/>
          <p:cNvSpPr>
            <a:spLocks noChangeArrowheads="true"/>
          </p:cNvSpPr>
          <p:nvPr/>
        </p:nvSpPr>
        <p:spPr bwMode="auto">
          <a:xfrm>
            <a:off x="7470140" y="288544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13" name="Rectangle 32"/>
          <p:cNvSpPr>
            <a:spLocks noChangeArrowheads="true"/>
          </p:cNvSpPr>
          <p:nvPr/>
        </p:nvSpPr>
        <p:spPr bwMode="auto">
          <a:xfrm>
            <a:off x="7470140" y="245935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14" name="Rectangle 32"/>
          <p:cNvSpPr>
            <a:spLocks noChangeArrowheads="true"/>
          </p:cNvSpPr>
          <p:nvPr/>
        </p:nvSpPr>
        <p:spPr bwMode="auto">
          <a:xfrm>
            <a:off x="7470140" y="203327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15" name="Rectangle 32"/>
          <p:cNvSpPr>
            <a:spLocks noChangeArrowheads="true"/>
          </p:cNvSpPr>
          <p:nvPr/>
        </p:nvSpPr>
        <p:spPr bwMode="auto">
          <a:xfrm>
            <a:off x="7488555" y="110172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16" name="Rectangle 32"/>
          <p:cNvSpPr>
            <a:spLocks noChangeArrowheads="true"/>
          </p:cNvSpPr>
          <p:nvPr/>
        </p:nvSpPr>
        <p:spPr bwMode="auto">
          <a:xfrm>
            <a:off x="7470140" y="158813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17" name="右箭头 82"/>
          <p:cNvSpPr/>
          <p:nvPr/>
        </p:nvSpPr>
        <p:spPr>
          <a:xfrm>
            <a:off x="6835775" y="2550160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618" name="右箭头 83"/>
          <p:cNvSpPr/>
          <p:nvPr/>
        </p:nvSpPr>
        <p:spPr>
          <a:xfrm>
            <a:off x="6821805" y="3079750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619" name="Rectangle 32"/>
          <p:cNvSpPr>
            <a:spLocks noChangeArrowheads="true"/>
          </p:cNvSpPr>
          <p:nvPr/>
        </p:nvSpPr>
        <p:spPr bwMode="auto">
          <a:xfrm>
            <a:off x="6752590" y="282257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20" name="Rectangle 32"/>
          <p:cNvSpPr>
            <a:spLocks noChangeArrowheads="true"/>
          </p:cNvSpPr>
          <p:nvPr/>
        </p:nvSpPr>
        <p:spPr bwMode="auto">
          <a:xfrm>
            <a:off x="6752590" y="259461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front=1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21" name="Text Box 13"/>
          <p:cNvSpPr txBox="true">
            <a:spLocks noChangeArrowheads="true"/>
          </p:cNvSpPr>
          <p:nvPr/>
        </p:nvSpPr>
        <p:spPr bwMode="auto">
          <a:xfrm>
            <a:off x="2759393" y="3415221"/>
            <a:ext cx="79438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空队列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22" name="Text Box 13"/>
          <p:cNvSpPr txBox="true">
            <a:spLocks noChangeArrowheads="true"/>
          </p:cNvSpPr>
          <p:nvPr/>
        </p:nvSpPr>
        <p:spPr bwMode="auto">
          <a:xfrm>
            <a:off x="5212398" y="3459671"/>
            <a:ext cx="119507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ABCD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入队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23" name="Text Box 13"/>
          <p:cNvSpPr txBox="true">
            <a:spLocks noChangeArrowheads="true"/>
          </p:cNvSpPr>
          <p:nvPr/>
        </p:nvSpPr>
        <p:spPr bwMode="auto">
          <a:xfrm>
            <a:off x="7699058" y="3459671"/>
            <a:ext cx="148780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A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出队，</a:t>
            </a: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入队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24" name="table 706"/>
          <p:cNvGraphicFramePr/>
          <p:nvPr/>
        </p:nvGraphicFramePr>
        <p:xfrm>
          <a:off x="127000" y="4425950"/>
          <a:ext cx="3840480" cy="189484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84048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89484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queue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char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data[MAXSIZE];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int front;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int rear;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625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6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Text Box 60"/>
          <p:cNvSpPr txBox="true"/>
          <p:nvPr/>
        </p:nvSpPr>
        <p:spPr>
          <a:xfrm>
            <a:off x="4038600" y="3910965"/>
            <a:ext cx="8143875" cy="236372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int</a:t>
            </a:r>
            <a:r>
              <a:rPr lang="zh-CN" altLang="en-US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DeQueue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(struct</a:t>
            </a:r>
            <a:r>
              <a:rPr lang="zh-CN" altLang="en-US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queue *Q, char *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nodeData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)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{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if(Q-&gt;rear==Q-&gt;front) return -1;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队列已空，出队失败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;   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*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nodeData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= 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Q-&gt;data[Q-&gt;front];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队头出队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; </a:t>
            </a:r>
            <a:endParaRPr lang="en-US" altLang="zh-CN" sz="18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Q-&gt;front = (Q-&gt;front + 1) </a:t>
            </a:r>
            <a:r>
              <a:rPr lang="en-US" altLang="zh-CN" sz="1800" b="true" dirty="false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% MAXSIZE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;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头标识后移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; </a:t>
            </a:r>
            <a:endParaRPr lang="en-US" altLang="zh-CN" sz="18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 marL="0" indent="0">
              <a:buClrTx/>
              <a:buSz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return  1;		   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出队成功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; </a:t>
            </a:r>
            <a:endParaRPr lang="en-US" altLang="zh-CN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}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</p:txBody>
      </p:sp>
      <p:sp>
        <p:nvSpPr>
          <p:cNvPr id="628" name="Rectangle 2"/>
          <p:cNvSpPr>
            <a:spLocks noGrp="true"/>
          </p:cNvSpPr>
          <p:nvPr>
            <p:ph type="title"/>
          </p:nvPr>
        </p:nvSpPr>
        <p:spPr>
          <a:xfrm>
            <a:off x="3989705" y="582930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7.2.3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循环队列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629" name="Rectangle 4"/>
          <p:cNvSpPr>
            <a:spLocks noChangeArrowheads="true"/>
          </p:cNvSpPr>
          <p:nvPr/>
        </p:nvSpPr>
        <p:spPr bwMode="auto">
          <a:xfrm>
            <a:off x="2639048" y="11018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30" name="Rectangle 4"/>
          <p:cNvSpPr>
            <a:spLocks noChangeArrowheads="true"/>
          </p:cNvSpPr>
          <p:nvPr/>
        </p:nvSpPr>
        <p:spPr bwMode="auto">
          <a:xfrm>
            <a:off x="2639048" y="15336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31" name="Rectangle 4"/>
          <p:cNvSpPr>
            <a:spLocks noChangeArrowheads="true"/>
          </p:cNvSpPr>
          <p:nvPr/>
        </p:nvSpPr>
        <p:spPr bwMode="auto">
          <a:xfrm>
            <a:off x="2639048" y="19654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32" name="Rectangle 4"/>
          <p:cNvSpPr>
            <a:spLocks noChangeArrowheads="true"/>
          </p:cNvSpPr>
          <p:nvPr/>
        </p:nvSpPr>
        <p:spPr bwMode="auto">
          <a:xfrm>
            <a:off x="2639048" y="239091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33" name="Rectangle 4"/>
          <p:cNvSpPr>
            <a:spLocks noChangeArrowheads="true"/>
          </p:cNvSpPr>
          <p:nvPr/>
        </p:nvSpPr>
        <p:spPr bwMode="auto">
          <a:xfrm>
            <a:off x="2639048" y="28290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34" name="Rectangle 32"/>
          <p:cNvSpPr>
            <a:spLocks noChangeArrowheads="true"/>
          </p:cNvSpPr>
          <p:nvPr/>
        </p:nvSpPr>
        <p:spPr bwMode="auto">
          <a:xfrm>
            <a:off x="2212340" y="288544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35" name="Rectangle 32"/>
          <p:cNvSpPr>
            <a:spLocks noChangeArrowheads="true"/>
          </p:cNvSpPr>
          <p:nvPr/>
        </p:nvSpPr>
        <p:spPr bwMode="auto">
          <a:xfrm>
            <a:off x="2212340" y="245935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36" name="Rectangle 32"/>
          <p:cNvSpPr>
            <a:spLocks noChangeArrowheads="true"/>
          </p:cNvSpPr>
          <p:nvPr/>
        </p:nvSpPr>
        <p:spPr bwMode="auto">
          <a:xfrm>
            <a:off x="2212340" y="203327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37" name="Rectangle 32"/>
          <p:cNvSpPr>
            <a:spLocks noChangeArrowheads="true"/>
          </p:cNvSpPr>
          <p:nvPr/>
        </p:nvSpPr>
        <p:spPr bwMode="auto">
          <a:xfrm>
            <a:off x="2230755" y="110172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38" name="Rectangle 32"/>
          <p:cNvSpPr>
            <a:spLocks noChangeArrowheads="true"/>
          </p:cNvSpPr>
          <p:nvPr/>
        </p:nvSpPr>
        <p:spPr bwMode="auto">
          <a:xfrm>
            <a:off x="2212340" y="158813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39" name="右箭头 13"/>
          <p:cNvSpPr/>
          <p:nvPr/>
        </p:nvSpPr>
        <p:spPr>
          <a:xfrm>
            <a:off x="1577975" y="3089910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640" name="右箭头 14"/>
          <p:cNvSpPr/>
          <p:nvPr/>
        </p:nvSpPr>
        <p:spPr>
          <a:xfrm>
            <a:off x="1576705" y="2885440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641" name="Rectangle 32"/>
          <p:cNvSpPr>
            <a:spLocks noChangeArrowheads="true"/>
          </p:cNvSpPr>
          <p:nvPr/>
        </p:nvSpPr>
        <p:spPr bwMode="auto">
          <a:xfrm>
            <a:off x="1507490" y="262826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42" name="Rectangle 32"/>
          <p:cNvSpPr>
            <a:spLocks noChangeArrowheads="true"/>
          </p:cNvSpPr>
          <p:nvPr/>
        </p:nvSpPr>
        <p:spPr bwMode="auto">
          <a:xfrm>
            <a:off x="1494790" y="313436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43" name="Rectangle 4"/>
          <p:cNvSpPr>
            <a:spLocks noChangeArrowheads="true"/>
          </p:cNvSpPr>
          <p:nvPr/>
        </p:nvSpPr>
        <p:spPr bwMode="auto">
          <a:xfrm>
            <a:off x="5261598" y="11018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44" name="Rectangle 4"/>
          <p:cNvSpPr>
            <a:spLocks noChangeArrowheads="true"/>
          </p:cNvSpPr>
          <p:nvPr/>
        </p:nvSpPr>
        <p:spPr bwMode="auto">
          <a:xfrm>
            <a:off x="5261598" y="15336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45" name="Rectangle 4"/>
          <p:cNvSpPr>
            <a:spLocks noChangeArrowheads="true"/>
          </p:cNvSpPr>
          <p:nvPr/>
        </p:nvSpPr>
        <p:spPr bwMode="auto">
          <a:xfrm>
            <a:off x="5261598" y="19654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46" name="Rectangle 4"/>
          <p:cNvSpPr>
            <a:spLocks noChangeArrowheads="true"/>
          </p:cNvSpPr>
          <p:nvPr/>
        </p:nvSpPr>
        <p:spPr bwMode="auto">
          <a:xfrm>
            <a:off x="5261598" y="239091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47" name="Rectangle 4"/>
          <p:cNvSpPr>
            <a:spLocks noChangeArrowheads="true"/>
          </p:cNvSpPr>
          <p:nvPr/>
        </p:nvSpPr>
        <p:spPr bwMode="auto">
          <a:xfrm>
            <a:off x="5261598" y="28290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A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48" name="Rectangle 32"/>
          <p:cNvSpPr>
            <a:spLocks noChangeArrowheads="true"/>
          </p:cNvSpPr>
          <p:nvPr/>
        </p:nvSpPr>
        <p:spPr bwMode="auto">
          <a:xfrm>
            <a:off x="4834890" y="288544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49" name="Rectangle 32"/>
          <p:cNvSpPr>
            <a:spLocks noChangeArrowheads="true"/>
          </p:cNvSpPr>
          <p:nvPr/>
        </p:nvSpPr>
        <p:spPr bwMode="auto">
          <a:xfrm>
            <a:off x="4834890" y="245935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50" name="Rectangle 32"/>
          <p:cNvSpPr>
            <a:spLocks noChangeArrowheads="true"/>
          </p:cNvSpPr>
          <p:nvPr/>
        </p:nvSpPr>
        <p:spPr bwMode="auto">
          <a:xfrm>
            <a:off x="4834890" y="203327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51" name="Rectangle 32"/>
          <p:cNvSpPr>
            <a:spLocks noChangeArrowheads="true"/>
          </p:cNvSpPr>
          <p:nvPr/>
        </p:nvSpPr>
        <p:spPr bwMode="auto">
          <a:xfrm>
            <a:off x="4853305" y="110172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52" name="Rectangle 32"/>
          <p:cNvSpPr>
            <a:spLocks noChangeArrowheads="true"/>
          </p:cNvSpPr>
          <p:nvPr/>
        </p:nvSpPr>
        <p:spPr bwMode="auto">
          <a:xfrm>
            <a:off x="4834890" y="158813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53" name="右箭头 28"/>
          <p:cNvSpPr/>
          <p:nvPr/>
        </p:nvSpPr>
        <p:spPr>
          <a:xfrm>
            <a:off x="4200525" y="2975610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654" name="右箭头 29"/>
          <p:cNvSpPr/>
          <p:nvPr/>
        </p:nvSpPr>
        <p:spPr>
          <a:xfrm>
            <a:off x="4231005" y="1272540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655" name="Rectangle 32"/>
          <p:cNvSpPr>
            <a:spLocks noChangeArrowheads="true"/>
          </p:cNvSpPr>
          <p:nvPr/>
        </p:nvSpPr>
        <p:spPr bwMode="auto">
          <a:xfrm>
            <a:off x="4161790" y="101536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rear=4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56" name="Rectangle 32"/>
          <p:cNvSpPr>
            <a:spLocks noChangeArrowheads="true"/>
          </p:cNvSpPr>
          <p:nvPr/>
        </p:nvSpPr>
        <p:spPr bwMode="auto">
          <a:xfrm>
            <a:off x="4117340" y="302006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57" name="Rectangle 4"/>
          <p:cNvSpPr>
            <a:spLocks noChangeArrowheads="true"/>
          </p:cNvSpPr>
          <p:nvPr/>
        </p:nvSpPr>
        <p:spPr bwMode="auto">
          <a:xfrm>
            <a:off x="7896848" y="11018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58" name="Rectangle 4"/>
          <p:cNvSpPr>
            <a:spLocks noChangeArrowheads="true"/>
          </p:cNvSpPr>
          <p:nvPr/>
        </p:nvSpPr>
        <p:spPr bwMode="auto">
          <a:xfrm>
            <a:off x="7896848" y="15336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D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59" name="Rectangle 4"/>
          <p:cNvSpPr>
            <a:spLocks noChangeArrowheads="true"/>
          </p:cNvSpPr>
          <p:nvPr/>
        </p:nvSpPr>
        <p:spPr bwMode="auto">
          <a:xfrm>
            <a:off x="7896848" y="19654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C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60" name="Rectangle 4"/>
          <p:cNvSpPr>
            <a:spLocks noChangeArrowheads="true"/>
          </p:cNvSpPr>
          <p:nvPr/>
        </p:nvSpPr>
        <p:spPr bwMode="auto">
          <a:xfrm>
            <a:off x="7896848" y="239091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B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61" name="Rectangle 4"/>
          <p:cNvSpPr>
            <a:spLocks noChangeArrowheads="true"/>
          </p:cNvSpPr>
          <p:nvPr/>
        </p:nvSpPr>
        <p:spPr bwMode="auto">
          <a:xfrm>
            <a:off x="7896848" y="282906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62" name="Rectangle 32"/>
          <p:cNvSpPr>
            <a:spLocks noChangeArrowheads="true"/>
          </p:cNvSpPr>
          <p:nvPr/>
        </p:nvSpPr>
        <p:spPr bwMode="auto">
          <a:xfrm>
            <a:off x="7470140" y="288544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0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63" name="Rectangle 32"/>
          <p:cNvSpPr>
            <a:spLocks noChangeArrowheads="true"/>
          </p:cNvSpPr>
          <p:nvPr/>
        </p:nvSpPr>
        <p:spPr bwMode="auto">
          <a:xfrm>
            <a:off x="7470140" y="245935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64" name="Rectangle 32"/>
          <p:cNvSpPr>
            <a:spLocks noChangeArrowheads="true"/>
          </p:cNvSpPr>
          <p:nvPr/>
        </p:nvSpPr>
        <p:spPr bwMode="auto">
          <a:xfrm>
            <a:off x="7470140" y="2033270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65" name="Rectangle 32"/>
          <p:cNvSpPr>
            <a:spLocks noChangeArrowheads="true"/>
          </p:cNvSpPr>
          <p:nvPr/>
        </p:nvSpPr>
        <p:spPr bwMode="auto">
          <a:xfrm>
            <a:off x="7488555" y="110172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66" name="Rectangle 32"/>
          <p:cNvSpPr>
            <a:spLocks noChangeArrowheads="true"/>
          </p:cNvSpPr>
          <p:nvPr/>
        </p:nvSpPr>
        <p:spPr bwMode="auto">
          <a:xfrm>
            <a:off x="7470140" y="1588135"/>
            <a:ext cx="35623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67" name="右箭头 82"/>
          <p:cNvSpPr/>
          <p:nvPr/>
        </p:nvSpPr>
        <p:spPr>
          <a:xfrm>
            <a:off x="6835775" y="2550160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668" name="右箭头 83"/>
          <p:cNvSpPr/>
          <p:nvPr/>
        </p:nvSpPr>
        <p:spPr>
          <a:xfrm>
            <a:off x="6821805" y="3079750"/>
            <a:ext cx="565150" cy="1206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sp>
        <p:nvSpPr>
          <p:cNvPr id="669" name="Rectangle 32"/>
          <p:cNvSpPr>
            <a:spLocks noChangeArrowheads="true"/>
          </p:cNvSpPr>
          <p:nvPr/>
        </p:nvSpPr>
        <p:spPr bwMode="auto">
          <a:xfrm>
            <a:off x="6752590" y="2822575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rear=0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70" name="Rectangle 32"/>
          <p:cNvSpPr>
            <a:spLocks noChangeArrowheads="true"/>
          </p:cNvSpPr>
          <p:nvPr/>
        </p:nvSpPr>
        <p:spPr bwMode="auto">
          <a:xfrm>
            <a:off x="6752590" y="2594610"/>
            <a:ext cx="602615" cy="36957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200" b="true">
                <a:latin typeface="华文中宋" panose="02010600040101010101" charset="-122"/>
                <a:ea typeface="华文中宋" panose="02010600040101010101" charset="-122"/>
              </a:rPr>
              <a:t>front=1</a:t>
            </a:r>
            <a:endParaRPr lang="en-US" altLang="zh-CN" sz="12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71" name="Text Box 13"/>
          <p:cNvSpPr txBox="true">
            <a:spLocks noChangeArrowheads="true"/>
          </p:cNvSpPr>
          <p:nvPr/>
        </p:nvSpPr>
        <p:spPr bwMode="auto">
          <a:xfrm>
            <a:off x="2759393" y="3415221"/>
            <a:ext cx="79438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空队列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72" name="Text Box 13"/>
          <p:cNvSpPr txBox="true">
            <a:spLocks noChangeArrowheads="true"/>
          </p:cNvSpPr>
          <p:nvPr/>
        </p:nvSpPr>
        <p:spPr bwMode="auto">
          <a:xfrm>
            <a:off x="5212398" y="3459671"/>
            <a:ext cx="119507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ABCD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入队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73" name="Text Box 13"/>
          <p:cNvSpPr txBox="true">
            <a:spLocks noChangeArrowheads="true"/>
          </p:cNvSpPr>
          <p:nvPr/>
        </p:nvSpPr>
        <p:spPr bwMode="auto">
          <a:xfrm>
            <a:off x="7699058" y="3459671"/>
            <a:ext cx="148780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A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出队，</a:t>
            </a:r>
            <a:r>
              <a:rPr lang="en-US" altLang="zh-CN" sz="1600" b="true">
                <a:latin typeface="华文中宋" panose="02010600040101010101" charset="-122"/>
                <a:ea typeface="华文中宋" panose="02010600040101010101" charset="-122"/>
              </a:rPr>
              <a:t>E</a:t>
            </a:r>
            <a:r>
              <a:rPr lang="zh-CN" altLang="en-US" sz="1600" b="true">
                <a:latin typeface="华文中宋" panose="02010600040101010101" charset="-122"/>
                <a:ea typeface="华文中宋" panose="02010600040101010101" charset="-122"/>
              </a:rPr>
              <a:t>入队</a:t>
            </a:r>
            <a:endParaRPr lang="zh-CN" altLang="en-US" sz="16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74" name="table 706"/>
          <p:cNvGraphicFramePr/>
          <p:nvPr/>
        </p:nvGraphicFramePr>
        <p:xfrm>
          <a:off x="127000" y="4425950"/>
          <a:ext cx="3840480" cy="189484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84048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89484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queue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char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data[MAXSIZE];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int front;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int rear;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675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Rectangle 3"/>
          <p:cNvSpPr>
            <a:spLocks noGrp="true"/>
          </p:cNvSpPr>
          <p:nvPr>
            <p:ph idx="1"/>
          </p:nvPr>
        </p:nvSpPr>
        <p:spPr>
          <a:xfrm>
            <a:off x="262890" y="1122045"/>
            <a:ext cx="11737766" cy="1296670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sz="24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为了便于操作，通常也会创建管理结构体，用来存储队头指针、队尾指针、队列元素个数等信息</a:t>
            </a:r>
            <a:endParaRPr lang="zh-CN" altLang="en-US" sz="24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sz="24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为了使空队列与非空队列处理一致，通常可以设一个头结点，当然不是所有的链式队列一定要头结点。</a:t>
            </a:r>
            <a:endParaRPr lang="zh-CN" altLang="en-US" sz="24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sz="20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sz="20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sz="20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sz="20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678" name="Picture 12" descr="E:\剪贴画\思考问题的卡通男孩.jpg"/>
          <p:cNvPicPr>
            <a:picLocks noChangeAspect="true" noChangeArrowheads="true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10901521" y="5072152"/>
            <a:ext cx="904557" cy="1356836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</p:pic>
      <p:grpSp>
        <p:nvGrpSpPr>
          <p:cNvPr id="679" name="Group 18"/>
          <p:cNvGrpSpPr/>
          <p:nvPr/>
        </p:nvGrpSpPr>
        <p:grpSpPr>
          <a:xfrm>
            <a:off x="4024618" y="3140720"/>
            <a:ext cx="1793875" cy="431800"/>
            <a:chOff x="3334" y="3213"/>
            <a:chExt cx="1043" cy="272"/>
          </a:xfrm>
        </p:grpSpPr>
        <p:sp>
          <p:nvSpPr>
            <p:cNvPr id="680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681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682" name="Group 18"/>
          <p:cNvGrpSpPr/>
          <p:nvPr/>
        </p:nvGrpSpPr>
        <p:grpSpPr>
          <a:xfrm>
            <a:off x="6280773" y="3140720"/>
            <a:ext cx="1793875" cy="431800"/>
            <a:chOff x="3334" y="3213"/>
            <a:chExt cx="1043" cy="272"/>
          </a:xfrm>
        </p:grpSpPr>
        <p:sp>
          <p:nvSpPr>
            <p:cNvPr id="683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684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685" name="Group 18"/>
          <p:cNvGrpSpPr/>
          <p:nvPr/>
        </p:nvGrpSpPr>
        <p:grpSpPr>
          <a:xfrm>
            <a:off x="8539468" y="3140720"/>
            <a:ext cx="1793875" cy="431800"/>
            <a:chOff x="3334" y="3213"/>
            <a:chExt cx="1043" cy="272"/>
          </a:xfrm>
        </p:grpSpPr>
        <p:sp>
          <p:nvSpPr>
            <p:cNvPr id="686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687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zh-CN" sz="1800" b="true">
                  <a:latin typeface="华文中宋" panose="02010600040101010101" charset="-122"/>
                  <a:ea typeface="华文中宋" panose="02010600040101010101" charset="-122"/>
                  <a:sym typeface="+mn-ea"/>
                </a:rPr>
                <a:t>∧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688" name="Rectangle 4"/>
          <p:cNvSpPr>
            <a:spLocks noChangeArrowheads="true"/>
          </p:cNvSpPr>
          <p:nvPr/>
        </p:nvSpPr>
        <p:spPr bwMode="auto">
          <a:xfrm>
            <a:off x="895338" y="2708920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front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89" name="Rectangle 4"/>
          <p:cNvSpPr>
            <a:spLocks noChangeArrowheads="true"/>
          </p:cNvSpPr>
          <p:nvPr/>
        </p:nvSpPr>
        <p:spPr bwMode="auto">
          <a:xfrm>
            <a:off x="895338" y="3140720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rear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90" name="Rectangle 4"/>
          <p:cNvSpPr>
            <a:spLocks noChangeArrowheads="true"/>
          </p:cNvSpPr>
          <p:nvPr/>
        </p:nvSpPr>
        <p:spPr bwMode="auto">
          <a:xfrm>
            <a:off x="895338" y="3572520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size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691" name="Group 34"/>
          <p:cNvGrpSpPr/>
          <p:nvPr/>
        </p:nvGrpSpPr>
        <p:grpSpPr>
          <a:xfrm>
            <a:off x="2989288" y="2592716"/>
            <a:ext cx="564160" cy="979488"/>
            <a:chOff x="1463" y="2223"/>
            <a:chExt cx="328" cy="617"/>
          </a:xfrm>
        </p:grpSpPr>
        <p:sp>
          <p:nvSpPr>
            <p:cNvPr id="692" name="Rectangle 27"/>
            <p:cNvSpPr>
              <a:spLocks noChangeArrowheads="true"/>
            </p:cNvSpPr>
            <p:nvPr/>
          </p:nvSpPr>
          <p:spPr bwMode="auto">
            <a:xfrm>
              <a:off x="1565" y="2568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693" name="Rectangle 32"/>
            <p:cNvSpPr>
              <a:spLocks noChangeArrowheads="true"/>
            </p:cNvSpPr>
            <p:nvPr/>
          </p:nvSpPr>
          <p:spPr bwMode="auto">
            <a:xfrm>
              <a:off x="1463" y="2223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 dirty="fals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 dirty="fals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cxnSp>
        <p:nvCxnSpPr>
          <p:cNvPr id="694" name="直接箭头连接符 57"/>
          <p:cNvCxnSpPr/>
          <p:nvPr/>
        </p:nvCxnSpPr>
        <p:spPr>
          <a:xfrm>
            <a:off x="3368040" y="3344413"/>
            <a:ext cx="635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5" name="直接箭头连接符 60"/>
          <p:cNvCxnSpPr/>
          <p:nvPr/>
        </p:nvCxnSpPr>
        <p:spPr>
          <a:xfrm>
            <a:off x="5728970" y="3344413"/>
            <a:ext cx="521970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6" name="直接箭头连接符 62"/>
          <p:cNvCxnSpPr/>
          <p:nvPr/>
        </p:nvCxnSpPr>
        <p:spPr>
          <a:xfrm>
            <a:off x="8017510" y="3338063"/>
            <a:ext cx="521970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7" name="曲线连接符 63"/>
          <p:cNvCxnSpPr>
            <a:stCxn id="688" idx="3"/>
            <a:endCxn id="698" idx="0"/>
          </p:cNvCxnSpPr>
          <p:nvPr/>
        </p:nvCxnSpPr>
        <p:spPr>
          <a:xfrm>
            <a:off x="1985766" y="2924820"/>
            <a:ext cx="984912" cy="205035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9" name="曲线连接符 64"/>
          <p:cNvCxnSpPr/>
          <p:nvPr/>
        </p:nvCxnSpPr>
        <p:spPr>
          <a:xfrm>
            <a:off x="1985645" y="3356478"/>
            <a:ext cx="7098665" cy="215900"/>
          </a:xfrm>
          <a:prstGeom prst="curvedConnector4">
            <a:avLst>
              <a:gd name="adj1" fmla="val 9601"/>
              <a:gd name="adj2" fmla="val 3397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0" name="Rectangle 4"/>
          <p:cNvSpPr>
            <a:spLocks noChangeArrowheads="true"/>
          </p:cNvSpPr>
          <p:nvPr/>
        </p:nvSpPr>
        <p:spPr bwMode="auto">
          <a:xfrm>
            <a:off x="895338" y="4671070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front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01" name="Rectangle 4"/>
          <p:cNvSpPr>
            <a:spLocks noChangeArrowheads="true"/>
          </p:cNvSpPr>
          <p:nvPr/>
        </p:nvSpPr>
        <p:spPr bwMode="auto">
          <a:xfrm>
            <a:off x="895338" y="5102870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rear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02" name="Rectangle 4"/>
          <p:cNvSpPr>
            <a:spLocks noChangeArrowheads="true"/>
          </p:cNvSpPr>
          <p:nvPr/>
        </p:nvSpPr>
        <p:spPr bwMode="auto">
          <a:xfrm>
            <a:off x="895338" y="5534670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size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703" name="Group 34"/>
          <p:cNvGrpSpPr/>
          <p:nvPr/>
        </p:nvGrpSpPr>
        <p:grpSpPr>
          <a:xfrm>
            <a:off x="2820728" y="4542166"/>
            <a:ext cx="732720" cy="992188"/>
            <a:chOff x="1365" y="2215"/>
            <a:chExt cx="426" cy="625"/>
          </a:xfrm>
        </p:grpSpPr>
        <p:sp>
          <p:nvSpPr>
            <p:cNvPr id="704" name="Rectangle 27"/>
            <p:cNvSpPr>
              <a:spLocks noChangeArrowheads="true"/>
            </p:cNvSpPr>
            <p:nvPr/>
          </p:nvSpPr>
          <p:spPr bwMode="auto">
            <a:xfrm>
              <a:off x="1565" y="2568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705" name="Rectangle 32"/>
            <p:cNvSpPr>
              <a:spLocks noChangeArrowheads="true"/>
            </p:cNvSpPr>
            <p:nvPr/>
          </p:nvSpPr>
          <p:spPr bwMode="auto">
            <a:xfrm>
              <a:off x="1365" y="2215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 dirty="fals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 dirty="fals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cxnSp>
        <p:nvCxnSpPr>
          <p:cNvPr id="706" name="曲线连接符 92"/>
          <p:cNvCxnSpPr>
            <a:stCxn id="700" idx="3"/>
            <a:endCxn id="707" idx="0"/>
          </p:cNvCxnSpPr>
          <p:nvPr/>
        </p:nvCxnSpPr>
        <p:spPr>
          <a:xfrm>
            <a:off x="1985766" y="4886970"/>
            <a:ext cx="991917" cy="215152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8" name="曲线连接符 94"/>
          <p:cNvCxnSpPr>
            <a:stCxn id="701" idx="3"/>
            <a:endCxn id="704" idx="2"/>
          </p:cNvCxnSpPr>
          <p:nvPr/>
        </p:nvCxnSpPr>
        <p:spPr>
          <a:xfrm>
            <a:off x="1985645" y="5318628"/>
            <a:ext cx="1373505" cy="215900"/>
          </a:xfrm>
          <a:prstGeom prst="curvedConnector4">
            <a:avLst>
              <a:gd name="adj1" fmla="val 42950"/>
              <a:gd name="adj2" fmla="val 21029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9" name="Text Box 13"/>
          <p:cNvSpPr txBox="true">
            <a:spLocks noChangeArrowheads="true"/>
          </p:cNvSpPr>
          <p:nvPr/>
        </p:nvSpPr>
        <p:spPr bwMode="auto">
          <a:xfrm>
            <a:off x="895033" y="4036119"/>
            <a:ext cx="209423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(a) </a:t>
            </a:r>
            <a:r>
              <a:rPr lang="zh-CN" altLang="en-US" sz="2000" b="true">
                <a:latin typeface="华文中宋" panose="02010600040101010101" charset="-122"/>
                <a:ea typeface="华文中宋" panose="02010600040101010101" charset="-122"/>
              </a:rPr>
              <a:t>非空链式队列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10" name="Text Box 13"/>
          <p:cNvSpPr txBox="true">
            <a:spLocks noChangeArrowheads="true"/>
          </p:cNvSpPr>
          <p:nvPr/>
        </p:nvSpPr>
        <p:spPr bwMode="auto">
          <a:xfrm>
            <a:off x="895033" y="5998269"/>
            <a:ext cx="183959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(a) </a:t>
            </a:r>
            <a:r>
              <a:rPr lang="zh-CN" altLang="en-US" sz="2000" b="true">
                <a:latin typeface="华文中宋" panose="02010600040101010101" charset="-122"/>
                <a:ea typeface="华文中宋" panose="02010600040101010101" charset="-122"/>
              </a:rPr>
              <a:t>空链式队列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11" name="文本框 3"/>
          <p:cNvSpPr txBox="true">
            <a:spLocks noChangeArrowheads="true"/>
          </p:cNvSpPr>
          <p:nvPr/>
        </p:nvSpPr>
        <p:spPr bwMode="auto">
          <a:xfrm>
            <a:off x="4530081" y="4994778"/>
            <a:ext cx="645335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spcBef>
                <a:spcPct val="1"/>
              </a:spcBef>
              <a:buClrTx/>
              <a:buSzTx/>
              <a:buFontTx/>
              <a:buNone/>
            </a:pPr>
            <a:r>
              <a:rPr lang="zh-CN" altLang="en-US" sz="2000" dirty="false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链式队列和单链表的组织形式相同，主要差异在于链式队列的插入和删除被约束在固定的两端。</a:t>
            </a:r>
            <a:endParaRPr lang="zh-CN" altLang="en-US" sz="2000" dirty="false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12" name="Rectangle 2"/>
          <p:cNvSpPr>
            <a:spLocks noGrp="true"/>
          </p:cNvSpPr>
          <p:nvPr>
            <p:ph type="title"/>
          </p:nvPr>
        </p:nvSpPr>
        <p:spPr>
          <a:xfrm>
            <a:off x="4276725" y="582930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7.2.4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链式队列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713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  <p:pic>
        <p:nvPicPr>
          <p:cNvPr id="698" name="图片 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627" y="3129855"/>
            <a:ext cx="388102" cy="454335"/>
          </a:xfrm>
          <a:prstGeom prst="rect">
            <a:avLst/>
          </a:prstGeom>
        </p:spPr>
      </p:pic>
      <p:pic>
        <p:nvPicPr>
          <p:cNvPr id="707" name="图片 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5102122"/>
            <a:ext cx="388102" cy="4543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7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Rectangle 2"/>
          <p:cNvSpPr>
            <a:spLocks noGrp="true"/>
          </p:cNvSpPr>
          <p:nvPr>
            <p:ph type="title"/>
          </p:nvPr>
        </p:nvSpPr>
        <p:spPr>
          <a:xfrm>
            <a:off x="4276725" y="582930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7.2.4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链式队列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719" name="Rectangle 4"/>
          <p:cNvSpPr>
            <a:spLocks noChangeArrowheads="true"/>
          </p:cNvSpPr>
          <p:nvPr/>
        </p:nvSpPr>
        <p:spPr bwMode="auto">
          <a:xfrm>
            <a:off x="6389370" y="4221480"/>
            <a:ext cx="4471035" cy="1075690"/>
          </a:xfrm>
          <a:prstGeom prst="rect">
            <a:avLst/>
          </a:prstGeom>
          <a:solidFill>
            <a:srgbClr val="4472C4"/>
          </a:solidFill>
          <a:ln w="9525">
            <a:solidFill>
              <a:srgbClr val="4472C4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24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20" name="Rectangle 4"/>
          <p:cNvSpPr>
            <a:spLocks noChangeArrowheads="true"/>
          </p:cNvSpPr>
          <p:nvPr/>
        </p:nvSpPr>
        <p:spPr bwMode="auto">
          <a:xfrm>
            <a:off x="6952615" y="1793240"/>
            <a:ext cx="2930525" cy="949325"/>
          </a:xfrm>
          <a:prstGeom prst="rect">
            <a:avLst/>
          </a:prstGeom>
          <a:solidFill>
            <a:srgbClr val="4472C4"/>
          </a:solidFill>
          <a:ln w="9525">
            <a:solidFill>
              <a:srgbClr val="4472C4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21" name="table 706"/>
          <p:cNvGraphicFramePr/>
          <p:nvPr/>
        </p:nvGraphicFramePr>
        <p:xfrm>
          <a:off x="1320800" y="1400175"/>
          <a:ext cx="3658235" cy="173609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65823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73609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struct link</a:t>
                      </a:r>
                      <a:b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</a:b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{</a:t>
                      </a:r>
                      <a:endParaRPr lang="en-US" altLang="zh-CN" sz="2400" b="true">
                        <a:solidFill>
                          <a:srgbClr val="000000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    </a:t>
                      </a:r>
                      <a:r>
                        <a:rPr lang="en-US" altLang="zh-CN" sz="2400" b="true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int</a:t>
                      </a: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data;</a:t>
                      </a:r>
                      <a:endParaRPr lang="en-US" altLang="zh-CN" sz="2400" b="true">
                        <a:solidFill>
                          <a:srgbClr val="000000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    </a:t>
                      </a:r>
                      <a:r>
                        <a:rPr lang="en-US" altLang="zh-CN" sz="2400" b="true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struct link *</a:t>
                      </a: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next;</a:t>
                      </a:r>
                      <a:b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</a:b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};</a:t>
                      </a:r>
                      <a:endParaRPr lang="en-US" altLang="zh-CN" sz="2400" b="true">
                        <a:solidFill>
                          <a:srgbClr val="000000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graphicFrame>
        <p:nvGraphicFramePr>
          <p:cNvPr id="722" name="table 706"/>
          <p:cNvGraphicFramePr/>
          <p:nvPr/>
        </p:nvGraphicFramePr>
        <p:xfrm>
          <a:off x="1314450" y="3764280"/>
          <a:ext cx="3665220" cy="2087245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66522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2087245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struct link_queue</a:t>
                      </a:r>
                      <a:b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</a:b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{</a:t>
                      </a:r>
                      <a:endParaRPr lang="en-US" altLang="zh-CN" sz="2400" b="true">
                        <a:solidFill>
                          <a:srgbClr val="000000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    </a:t>
                      </a:r>
                      <a:r>
                        <a:rPr lang="en-US" altLang="zh-CN" sz="2400" b="true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struct link *</a:t>
                      </a:r>
                      <a:r>
                        <a:rPr lang="en-US" altLang="zh-CN" sz="2400" b="true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front</a:t>
                      </a: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;</a:t>
                      </a:r>
                      <a:endParaRPr lang="en-US" altLang="zh-CN" sz="2400" b="true">
                        <a:solidFill>
                          <a:srgbClr val="000000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    </a:t>
                      </a:r>
                      <a:r>
                        <a:rPr lang="en-US" altLang="zh-CN" sz="2400" b="true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struct link *</a:t>
                      </a:r>
                      <a:r>
                        <a:rPr lang="en-US" altLang="zh-CN" sz="2400" b="true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rear</a:t>
                      </a: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;</a:t>
                      </a:r>
                      <a:endParaRPr lang="en-US" altLang="zh-CN" sz="2400" b="true">
                        <a:solidFill>
                          <a:srgbClr val="000000"/>
                        </a:solidFill>
                        <a:latin typeface="华文中宋" panose="02010600040101010101" charset="-122"/>
                        <a:ea typeface="华文中宋" panose="02010600040101010101" charset="-122"/>
                        <a:sym typeface="+mn-ea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     </a:t>
                      </a:r>
                      <a:r>
                        <a:rPr lang="en-US" altLang="zh-CN" sz="2400" b="true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sym typeface="+mn-ea"/>
                        </a:rPr>
                        <a:t>int size;</a:t>
                      </a:r>
                      <a:b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</a:br>
                      <a:r>
                        <a:rPr lang="en-US" altLang="zh-CN" sz="2400" b="true">
                          <a:solidFill>
                            <a:srgbClr val="0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};</a:t>
                      </a:r>
                      <a:endParaRPr lang="en-US" altLang="zh-CN" sz="2400" b="true">
                        <a:solidFill>
                          <a:srgbClr val="000000"/>
                        </a:solidFill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grpSp>
        <p:nvGrpSpPr>
          <p:cNvPr id="723" name="Group 18"/>
          <p:cNvGrpSpPr/>
          <p:nvPr/>
        </p:nvGrpSpPr>
        <p:grpSpPr>
          <a:xfrm>
            <a:off x="7085330" y="1953895"/>
            <a:ext cx="2608580" cy="628015"/>
            <a:chOff x="3334" y="3213"/>
            <a:chExt cx="1043" cy="272"/>
          </a:xfrm>
        </p:grpSpPr>
        <p:sp>
          <p:nvSpPr>
            <p:cNvPr id="724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24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24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725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24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24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24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726" name="Rectangle 4"/>
          <p:cNvSpPr>
            <a:spLocks noChangeArrowheads="true"/>
          </p:cNvSpPr>
          <p:nvPr/>
        </p:nvSpPr>
        <p:spPr bwMode="auto">
          <a:xfrm>
            <a:off x="6639560" y="4415790"/>
            <a:ext cx="1343660" cy="72771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2400" b="true">
                <a:latin typeface="华文中宋" panose="02010600040101010101" charset="-122"/>
                <a:ea typeface="华文中宋" panose="02010600040101010101" charset="-122"/>
              </a:rPr>
              <a:t>front</a:t>
            </a:r>
            <a:endParaRPr lang="en-US" altLang="zh-CN" sz="24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27" name="Rectangle 4"/>
          <p:cNvSpPr>
            <a:spLocks noChangeArrowheads="true"/>
          </p:cNvSpPr>
          <p:nvPr/>
        </p:nvSpPr>
        <p:spPr bwMode="auto">
          <a:xfrm>
            <a:off x="7983855" y="4415790"/>
            <a:ext cx="1343660" cy="727710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2400" b="true">
                <a:latin typeface="华文中宋" panose="02010600040101010101" charset="-122"/>
                <a:ea typeface="华文中宋" panose="02010600040101010101" charset="-122"/>
              </a:rPr>
              <a:t>rear</a:t>
            </a:r>
            <a:endParaRPr lang="en-US" altLang="zh-CN" sz="24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28" name="Rectangle 4"/>
          <p:cNvSpPr>
            <a:spLocks noChangeArrowheads="true"/>
          </p:cNvSpPr>
          <p:nvPr/>
        </p:nvSpPr>
        <p:spPr bwMode="auto">
          <a:xfrm>
            <a:off x="9334500" y="4415790"/>
            <a:ext cx="1343660" cy="727710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2400" b="true">
                <a:latin typeface="华文中宋" panose="02010600040101010101" charset="-122"/>
                <a:ea typeface="华文中宋" panose="02010600040101010101" charset="-122"/>
              </a:rPr>
              <a:t>size</a:t>
            </a:r>
            <a:endParaRPr lang="en-US" altLang="zh-CN" sz="24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29" name="Line 7"/>
          <p:cNvSpPr/>
          <p:nvPr/>
        </p:nvSpPr>
        <p:spPr>
          <a:xfrm flipV="true">
            <a:off x="7273925" y="2624455"/>
            <a:ext cx="862965" cy="1767205"/>
          </a:xfrm>
          <a:prstGeom prst="line">
            <a:avLst/>
          </a:prstGeom>
          <a:solidFill>
            <a:srgbClr val="FFFFCC"/>
          </a:solidFill>
          <a:ln w="76200" cap="flat" cmpd="sng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730" name="Line 7"/>
          <p:cNvSpPr/>
          <p:nvPr/>
        </p:nvSpPr>
        <p:spPr>
          <a:xfrm flipH="true" flipV="true">
            <a:off x="8314055" y="2625090"/>
            <a:ext cx="306070" cy="1790700"/>
          </a:xfrm>
          <a:prstGeom prst="line">
            <a:avLst/>
          </a:prstGeom>
          <a:solidFill>
            <a:srgbClr val="FFFFCC"/>
          </a:solidFill>
          <a:ln w="76200" cap="flat" cmpd="sng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731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7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Rectangle 2"/>
          <p:cNvSpPr>
            <a:spLocks noGrp="true"/>
          </p:cNvSpPr>
          <p:nvPr>
            <p:ph type="title"/>
          </p:nvPr>
        </p:nvSpPr>
        <p:spPr>
          <a:xfrm>
            <a:off x="4276725" y="582930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7.2.4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链式队列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734" name="文本框 9"/>
          <p:cNvSpPr txBox="true"/>
          <p:nvPr/>
        </p:nvSpPr>
        <p:spPr>
          <a:xfrm>
            <a:off x="1264285" y="3014345"/>
            <a:ext cx="9678670" cy="829945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457200"/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链式队列可以快速地在队尾插入新元素，而单链表做不到，单链表需要先遍历找到最后一个元素再进行插入；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735" name="Object 2"/>
          <p:cNvPicPr/>
          <p:nvPr/>
        </p:nvPicPr>
        <p:blipFill>
          <a:blip r:embed="rId1"/>
          <a:stretch>
            <a:fillRect/>
          </a:stretch>
        </p:blipFill>
        <p:spPr>
          <a:xfrm>
            <a:off x="1690094" y="4236442"/>
            <a:ext cx="720725" cy="708025"/>
          </a:xfrm>
          <a:prstGeom prst="rect">
            <a:avLst/>
          </a:prstGeom>
          <a:noFill/>
          <a:ln w="38100">
            <a:noFill/>
            <a:miter/>
          </a:ln>
        </p:spPr>
      </p:pic>
      <p:sp>
        <p:nvSpPr>
          <p:cNvPr id="736" name="Rectangle 69"/>
          <p:cNvSpPr/>
          <p:nvPr/>
        </p:nvSpPr>
        <p:spPr>
          <a:xfrm>
            <a:off x="2555281" y="4337724"/>
            <a:ext cx="4652645" cy="52197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fals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zh-CN" altLang="en-US" sz="2800" b="true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链式队列如何判断是否为空 </a:t>
            </a:r>
            <a:endParaRPr lang="zh-CN" altLang="en-US" sz="2800" b="true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737" name="Text Box 73"/>
          <p:cNvSpPr txBox="true"/>
          <p:nvPr/>
        </p:nvSpPr>
        <p:spPr>
          <a:xfrm>
            <a:off x="2699426" y="5130839"/>
            <a:ext cx="4210050" cy="60769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lnSpc>
                <a:spcPct val="120000"/>
              </a:lnSpc>
              <a:spcBef>
                <a:spcPct val="1"/>
              </a:spcBef>
              <a:buClrTx/>
              <a:buSzPct val="85000"/>
              <a:buFontTx/>
              <a:buNone/>
            </a:pPr>
            <a:r>
              <a:rPr lang="zh-CN" altLang="en-US" sz="2800" b="true" dirty="false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队列为空</a:t>
            </a:r>
            <a:r>
              <a:rPr lang="zh-CN" altLang="en-US" sz="2800" b="true" dirty="false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rPr>
              <a:t>：</a:t>
            </a:r>
            <a:r>
              <a:rPr lang="en-US" altLang="zh-CN" sz="2800" b="true" dirty="false">
                <a:solidFill>
                  <a:schemeClr val="tx2"/>
                </a:solidFill>
                <a:latin typeface="Times New Roman" panose="02020503050405090304" pitchFamily="18" charset="0"/>
                <a:ea typeface="宋体" pitchFamily="2" charset="-122"/>
              </a:rPr>
              <a:t>front == rear</a:t>
            </a:r>
            <a:endParaRPr lang="en-US" altLang="zh-CN" sz="2800" b="true" dirty="false">
              <a:solidFill>
                <a:schemeClr val="tx2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grpSp>
        <p:nvGrpSpPr>
          <p:cNvPr id="738" name="Group 18"/>
          <p:cNvGrpSpPr/>
          <p:nvPr/>
        </p:nvGrpSpPr>
        <p:grpSpPr>
          <a:xfrm>
            <a:off x="4311638" y="1763537"/>
            <a:ext cx="1793875" cy="431800"/>
            <a:chOff x="3334" y="3213"/>
            <a:chExt cx="1043" cy="272"/>
          </a:xfrm>
        </p:grpSpPr>
        <p:sp>
          <p:nvSpPr>
            <p:cNvPr id="739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740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741" name="Group 18"/>
          <p:cNvGrpSpPr/>
          <p:nvPr/>
        </p:nvGrpSpPr>
        <p:grpSpPr>
          <a:xfrm rot="0" flipH="false" flipV="false">
            <a:off x="6510655" y="1775286"/>
            <a:ext cx="1793875" cy="431800"/>
            <a:chOff x="3334" y="3213"/>
            <a:chExt cx="1043" cy="272"/>
          </a:xfrm>
        </p:grpSpPr>
        <p:sp>
          <p:nvSpPr>
            <p:cNvPr id="742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743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744" name="Group 18"/>
          <p:cNvGrpSpPr/>
          <p:nvPr/>
        </p:nvGrpSpPr>
        <p:grpSpPr>
          <a:xfrm>
            <a:off x="8826488" y="1763537"/>
            <a:ext cx="1793875" cy="431800"/>
            <a:chOff x="3334" y="3213"/>
            <a:chExt cx="1043" cy="272"/>
          </a:xfrm>
        </p:grpSpPr>
        <p:sp>
          <p:nvSpPr>
            <p:cNvPr id="745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746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zh-CN" sz="1800" b="true">
                  <a:latin typeface="华文中宋" panose="02010600040101010101" charset="-122"/>
                  <a:ea typeface="华文中宋" panose="02010600040101010101" charset="-122"/>
                  <a:sym typeface="+mn-ea"/>
                </a:rPr>
                <a:t>∧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747" name="Rectangle 4"/>
          <p:cNvSpPr>
            <a:spLocks noChangeArrowheads="true"/>
          </p:cNvSpPr>
          <p:nvPr/>
        </p:nvSpPr>
        <p:spPr bwMode="auto">
          <a:xfrm>
            <a:off x="1182358" y="133173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front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48" name="Rectangle 4"/>
          <p:cNvSpPr>
            <a:spLocks noChangeArrowheads="true"/>
          </p:cNvSpPr>
          <p:nvPr/>
        </p:nvSpPr>
        <p:spPr bwMode="auto">
          <a:xfrm>
            <a:off x="1182358" y="176353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rear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49" name="Rectangle 4"/>
          <p:cNvSpPr>
            <a:spLocks noChangeArrowheads="true"/>
          </p:cNvSpPr>
          <p:nvPr/>
        </p:nvSpPr>
        <p:spPr bwMode="auto">
          <a:xfrm>
            <a:off x="1182358" y="219533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size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750" name="Group 34"/>
          <p:cNvGrpSpPr/>
          <p:nvPr/>
        </p:nvGrpSpPr>
        <p:grpSpPr>
          <a:xfrm>
            <a:off x="3090548" y="1167908"/>
            <a:ext cx="749920" cy="1027113"/>
            <a:chOff x="1355" y="2193"/>
            <a:chExt cx="436" cy="647"/>
          </a:xfrm>
        </p:grpSpPr>
        <p:sp>
          <p:nvSpPr>
            <p:cNvPr id="751" name="Rectangle 27"/>
            <p:cNvSpPr>
              <a:spLocks noChangeArrowheads="true"/>
            </p:cNvSpPr>
            <p:nvPr/>
          </p:nvSpPr>
          <p:spPr bwMode="auto">
            <a:xfrm>
              <a:off x="1565" y="2568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752" name="Rectangle 32"/>
            <p:cNvSpPr>
              <a:spLocks noChangeArrowheads="true"/>
            </p:cNvSpPr>
            <p:nvPr/>
          </p:nvSpPr>
          <p:spPr bwMode="auto">
            <a:xfrm>
              <a:off x="1355" y="2193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 dirty="fals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 dirty="fals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cxnSp>
        <p:nvCxnSpPr>
          <p:cNvPr id="753" name="直接箭头连接符 57"/>
          <p:cNvCxnSpPr/>
          <p:nvPr/>
        </p:nvCxnSpPr>
        <p:spPr>
          <a:xfrm>
            <a:off x="3655060" y="1967230"/>
            <a:ext cx="635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4" name="直接箭头连接符 60"/>
          <p:cNvCxnSpPr/>
          <p:nvPr/>
        </p:nvCxnSpPr>
        <p:spPr>
          <a:xfrm>
            <a:off x="6015990" y="1967230"/>
            <a:ext cx="521970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5" name="直接箭头连接符 62"/>
          <p:cNvCxnSpPr/>
          <p:nvPr/>
        </p:nvCxnSpPr>
        <p:spPr>
          <a:xfrm>
            <a:off x="8304530" y="1960880"/>
            <a:ext cx="521970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6" name="曲线连接符 63"/>
          <p:cNvCxnSpPr>
            <a:stCxn id="747" idx="3"/>
            <a:endCxn id="757" idx="0"/>
          </p:cNvCxnSpPr>
          <p:nvPr/>
        </p:nvCxnSpPr>
        <p:spPr>
          <a:xfrm>
            <a:off x="2272786" y="1547637"/>
            <a:ext cx="990785" cy="215411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8" name="曲线连接符 64"/>
          <p:cNvCxnSpPr/>
          <p:nvPr/>
        </p:nvCxnSpPr>
        <p:spPr>
          <a:xfrm>
            <a:off x="2272665" y="1979295"/>
            <a:ext cx="7098665" cy="215900"/>
          </a:xfrm>
          <a:prstGeom prst="curvedConnector4">
            <a:avLst>
              <a:gd name="adj1" fmla="val 9601"/>
              <a:gd name="adj2" fmla="val 3397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7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  <p:pic>
        <p:nvPicPr>
          <p:cNvPr id="759" name="图片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520" y="1763048"/>
            <a:ext cx="388102" cy="444038"/>
          </a:xfrm>
          <a:prstGeom prst="rect">
            <a:avLst/>
          </a:prstGeom>
        </p:spPr>
      </p:pic>
      <p:sp>
        <p:nvSpPr>
          <p:cNvPr id="760" name="Rectangle 4"/>
          <p:cNvSpPr>
            <a:spLocks noChangeArrowheads="true"/>
          </p:cNvSpPr>
          <p:nvPr/>
        </p:nvSpPr>
        <p:spPr bwMode="auto">
          <a:xfrm>
            <a:off x="8915651" y="416765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front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61" name="Rectangle 4"/>
          <p:cNvSpPr>
            <a:spLocks noChangeArrowheads="true"/>
          </p:cNvSpPr>
          <p:nvPr/>
        </p:nvSpPr>
        <p:spPr bwMode="auto">
          <a:xfrm>
            <a:off x="8915651" y="459945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rear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62" name="Rectangle 4"/>
          <p:cNvSpPr>
            <a:spLocks noChangeArrowheads="true"/>
          </p:cNvSpPr>
          <p:nvPr/>
        </p:nvSpPr>
        <p:spPr bwMode="auto">
          <a:xfrm>
            <a:off x="8915651" y="503125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size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63" name="Rectangle 27"/>
          <p:cNvSpPr>
            <a:spLocks noChangeArrowheads="true"/>
          </p:cNvSpPr>
          <p:nvPr/>
        </p:nvSpPr>
        <p:spPr bwMode="auto">
          <a:xfrm>
            <a:off x="11185041" y="4599139"/>
            <a:ext cx="388720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zh-CN" altLang="en-US" sz="1800"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764" name="曲线连接符 92"/>
          <p:cNvCxnSpPr>
            <a:stCxn id="760" idx="3"/>
            <a:endCxn id="765" idx="0"/>
          </p:cNvCxnSpPr>
          <p:nvPr/>
        </p:nvCxnSpPr>
        <p:spPr>
          <a:xfrm>
            <a:off x="10006079" y="4383557"/>
            <a:ext cx="991917" cy="215152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6" name="曲线连接符 94"/>
          <p:cNvCxnSpPr>
            <a:stCxn id="761" idx="3"/>
            <a:endCxn id="763" idx="2"/>
          </p:cNvCxnSpPr>
          <p:nvPr/>
        </p:nvCxnSpPr>
        <p:spPr>
          <a:xfrm>
            <a:off x="10005958" y="4815215"/>
            <a:ext cx="1373505" cy="215900"/>
          </a:xfrm>
          <a:prstGeom prst="curvedConnector4">
            <a:avLst>
              <a:gd name="adj1" fmla="val 42950"/>
              <a:gd name="adj2" fmla="val 21029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65" name="图片 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945" y="4598709"/>
            <a:ext cx="388102" cy="454335"/>
          </a:xfrm>
          <a:prstGeom prst="rect">
            <a:avLst/>
          </a:prstGeom>
        </p:spPr>
      </p:pic>
      <p:sp>
        <p:nvSpPr>
          <p:cNvPr id="767" name="文本框 13"/>
          <p:cNvSpPr txBox="true"/>
          <p:nvPr/>
        </p:nvSpPr>
        <p:spPr>
          <a:xfrm>
            <a:off x="11173823" y="4630373"/>
            <a:ext cx="399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zh-CN" sz="2000" b="true" dirty="false">
                <a:latin typeface="华文中宋" panose="02010600040101010101" charset="-122"/>
                <a:ea typeface="华文中宋" panose="02010600040101010101" charset="-122"/>
                <a:sym typeface="+mn-ea"/>
              </a:rPr>
              <a:t>∧</a:t>
            </a:r>
            <a:endParaRPr lang="zh-CN" altLang="zh-CN" sz="2000" b="true" dirty="fals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68" name="文本框 14"/>
          <p:cNvSpPr txBox="true"/>
          <p:nvPr/>
        </p:nvSpPr>
        <p:spPr>
          <a:xfrm>
            <a:off x="10049197" y="5361707"/>
            <a:ext cx="1535347" cy="584775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endParaRPr lang="en-US" altLang="zh-CN" sz="1600" b="true" dirty="false"/>
          </a:p>
          <a:p>
            <a:pPr/>
            <a:r>
              <a:rPr lang="zh-CN" altLang="en-US" sz="1600" b="true" dirty="false"/>
              <a:t>空队列</a:t>
            </a:r>
            <a:endParaRPr lang="zh-CN" altLang="en-US" sz="1600" b="true" dirty="fals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0" dur="20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7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Rectangle 3"/>
          <p:cNvSpPr>
            <a:spLocks noGrp="true"/>
          </p:cNvSpPr>
          <p:nvPr/>
        </p:nvSpPr>
        <p:spPr>
          <a:xfrm>
            <a:off x="262890" y="1337310"/>
            <a:ext cx="9973945" cy="3819882"/>
          </a:xfrm>
          <a:prstGeom prst="rect">
            <a:avLst/>
          </a:prstGeom>
        </p:spPr>
        <p:txBody>
          <a:bodyPr vert="horz" wrap="square" lIns="91440" tIns="45720" rIns="91440" bIns="45720" rtlCol="false" anchor="t" anchorCtr="false">
            <a:noAutofit/>
          </a:bodyPr>
          <a:lstStyle>
            <a:lvl1pPr marL="228600" indent="-22860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链式队列的常见操作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</a:t>
            </a:r>
            <a:r>
              <a:rPr lang="zh-CN" altLang="en-US" sz="24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与单链表相似，甚至更为简单！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buSzPct val="50000"/>
              <a:buFont typeface="Wingdings" panose="05000000000000000000" pitchFamily="2" charset="2"/>
              <a:buChar char="n"/>
            </a:pPr>
            <a:r>
              <a:rPr lang="zh-CN" altLang="en-US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入队</a:t>
            </a:r>
            <a:endParaRPr lang="zh-CN" altLang="en-US" sz="2400" dirty="false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buSzPct val="50000"/>
              <a:buFont typeface="Wingdings" panose="05000000000000000000" pitchFamily="2" charset="2"/>
              <a:buChar char="n"/>
            </a:pPr>
            <a:r>
              <a:rPr lang="zh-CN" altLang="en-US" sz="2000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链表尾插法</a:t>
            </a:r>
            <a:endParaRPr lang="zh-CN" altLang="en-US" dirty="false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algn="l">
              <a:buSzPct val="50000"/>
              <a:buFont typeface="Wingdings" panose="05000000000000000000" pitchFamily="2" charset="2"/>
              <a:buChar char="n"/>
            </a:pPr>
            <a:r>
              <a:rPr lang="zh-CN" altLang="en-US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出队</a:t>
            </a:r>
            <a:endParaRPr lang="en-US" altLang="zh-CN" sz="2400" dirty="false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删除链表第一个节点</a:t>
            </a:r>
            <a:endParaRPr lang="zh-CN" altLang="en-US" dirty="false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algn="l">
              <a:buSzPct val="50000"/>
              <a:buFont typeface="Wingdings" panose="05000000000000000000" pitchFamily="2" charset="2"/>
              <a:buChar char="n"/>
            </a:pPr>
            <a:r>
              <a:rPr lang="zh-CN" altLang="en-US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查找节点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771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7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Rectangle 2"/>
          <p:cNvSpPr>
            <a:spLocks noGrp="true"/>
          </p:cNvSpPr>
          <p:nvPr>
            <p:ph type="title"/>
          </p:nvPr>
        </p:nvSpPr>
        <p:spPr>
          <a:xfrm>
            <a:off x="2748915" y="582930"/>
            <a:ext cx="672274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7.2.4.1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链式队列的入队操作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774" name="Rectangle 3"/>
          <p:cNvSpPr>
            <a:spLocks noGrp="true"/>
          </p:cNvSpPr>
          <p:nvPr>
            <p:ph idx="1"/>
          </p:nvPr>
        </p:nvSpPr>
        <p:spPr>
          <a:xfrm>
            <a:off x="262890" y="977925"/>
            <a:ext cx="8526780" cy="65087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入队：修改</a:t>
            </a:r>
            <a:r>
              <a:rPr lang="en-US" altLang="zh-CN" dirty="false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rear</a:t>
            </a:r>
            <a:endParaRPr lang="zh-CN" altLang="en-US" dirty="false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775" name="Group 18"/>
          <p:cNvGrpSpPr/>
          <p:nvPr/>
        </p:nvGrpSpPr>
        <p:grpSpPr>
          <a:xfrm>
            <a:off x="3678543" y="1982395"/>
            <a:ext cx="1793875" cy="431800"/>
            <a:chOff x="3334" y="3213"/>
            <a:chExt cx="1043" cy="272"/>
          </a:xfrm>
        </p:grpSpPr>
        <p:sp>
          <p:nvSpPr>
            <p:cNvPr id="776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777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778" name="Group 18"/>
          <p:cNvGrpSpPr/>
          <p:nvPr/>
        </p:nvGrpSpPr>
        <p:grpSpPr>
          <a:xfrm>
            <a:off x="5934698" y="1982395"/>
            <a:ext cx="1793875" cy="431800"/>
            <a:chOff x="3334" y="3213"/>
            <a:chExt cx="1043" cy="272"/>
          </a:xfrm>
        </p:grpSpPr>
        <p:sp>
          <p:nvSpPr>
            <p:cNvPr id="779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780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781" name="Group 18"/>
          <p:cNvGrpSpPr/>
          <p:nvPr/>
        </p:nvGrpSpPr>
        <p:grpSpPr>
          <a:xfrm>
            <a:off x="8193393" y="1982395"/>
            <a:ext cx="1793875" cy="431800"/>
            <a:chOff x="3334" y="3213"/>
            <a:chExt cx="1043" cy="272"/>
          </a:xfrm>
        </p:grpSpPr>
        <p:sp>
          <p:nvSpPr>
            <p:cNvPr id="782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783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784" name="Rectangle 4"/>
          <p:cNvSpPr>
            <a:spLocks noChangeArrowheads="true"/>
          </p:cNvSpPr>
          <p:nvPr/>
        </p:nvSpPr>
        <p:spPr bwMode="auto">
          <a:xfrm>
            <a:off x="549263" y="1550595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front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85" name="Rectangle 4"/>
          <p:cNvSpPr>
            <a:spLocks noChangeArrowheads="true"/>
          </p:cNvSpPr>
          <p:nvPr/>
        </p:nvSpPr>
        <p:spPr bwMode="auto">
          <a:xfrm>
            <a:off x="549263" y="1982395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 dirty="false">
                <a:latin typeface="华文中宋" panose="02010600040101010101" charset="-122"/>
                <a:ea typeface="华文中宋" panose="02010600040101010101" charset="-122"/>
              </a:rPr>
              <a:t>rear</a:t>
            </a:r>
            <a:endParaRPr lang="en-US" altLang="zh-CN" sz="1800" b="true" dirty="fals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86" name="Rectangle 4"/>
          <p:cNvSpPr>
            <a:spLocks noChangeArrowheads="true"/>
          </p:cNvSpPr>
          <p:nvPr/>
        </p:nvSpPr>
        <p:spPr bwMode="auto">
          <a:xfrm>
            <a:off x="549263" y="2414195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size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787" name="Group 34"/>
          <p:cNvGrpSpPr/>
          <p:nvPr/>
        </p:nvGrpSpPr>
        <p:grpSpPr>
          <a:xfrm>
            <a:off x="2476373" y="1982077"/>
            <a:ext cx="731000" cy="793750"/>
            <a:chOff x="1366" y="2568"/>
            <a:chExt cx="425" cy="500"/>
          </a:xfrm>
        </p:grpSpPr>
        <p:sp>
          <p:nvSpPr>
            <p:cNvPr id="788" name="Rectangle 27"/>
            <p:cNvSpPr>
              <a:spLocks noChangeArrowheads="true"/>
            </p:cNvSpPr>
            <p:nvPr/>
          </p:nvSpPr>
          <p:spPr bwMode="auto">
            <a:xfrm>
              <a:off x="1565" y="2568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789" name="Rectangle 32"/>
            <p:cNvSpPr>
              <a:spLocks noChangeArrowheads="true"/>
            </p:cNvSpPr>
            <p:nvPr/>
          </p:nvSpPr>
          <p:spPr bwMode="auto">
            <a:xfrm>
              <a:off x="1366" y="2796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 dirty="fals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 dirty="fals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cxnSp>
        <p:nvCxnSpPr>
          <p:cNvPr id="790" name="直接箭头连接符 84"/>
          <p:cNvCxnSpPr/>
          <p:nvPr/>
        </p:nvCxnSpPr>
        <p:spPr>
          <a:xfrm>
            <a:off x="3021965" y="2186088"/>
            <a:ext cx="635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1" name="直接箭头连接符 85"/>
          <p:cNvCxnSpPr/>
          <p:nvPr/>
        </p:nvCxnSpPr>
        <p:spPr>
          <a:xfrm>
            <a:off x="5382895" y="2186088"/>
            <a:ext cx="521970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2" name="直接箭头连接符 86"/>
          <p:cNvCxnSpPr/>
          <p:nvPr/>
        </p:nvCxnSpPr>
        <p:spPr>
          <a:xfrm>
            <a:off x="7671435" y="2179738"/>
            <a:ext cx="521970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3" name="曲线连接符 87"/>
          <p:cNvCxnSpPr>
            <a:stCxn id="784" idx="3"/>
          </p:cNvCxnSpPr>
          <p:nvPr/>
        </p:nvCxnSpPr>
        <p:spPr>
          <a:xfrm>
            <a:off x="1639570" y="1766353"/>
            <a:ext cx="1373505" cy="215900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4" name="曲线连接符 88"/>
          <p:cNvCxnSpPr/>
          <p:nvPr/>
        </p:nvCxnSpPr>
        <p:spPr>
          <a:xfrm>
            <a:off x="1639570" y="2198153"/>
            <a:ext cx="7098665" cy="215900"/>
          </a:xfrm>
          <a:prstGeom prst="curvedConnector4">
            <a:avLst>
              <a:gd name="adj1" fmla="val 7970"/>
              <a:gd name="adj2" fmla="val 3397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95" name="Group 18"/>
          <p:cNvGrpSpPr/>
          <p:nvPr/>
        </p:nvGrpSpPr>
        <p:grpSpPr>
          <a:xfrm>
            <a:off x="9584678" y="2884095"/>
            <a:ext cx="1793875" cy="431800"/>
            <a:chOff x="3334" y="3213"/>
            <a:chExt cx="1043" cy="272"/>
          </a:xfrm>
        </p:grpSpPr>
        <p:sp>
          <p:nvSpPr>
            <p:cNvPr id="796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797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zh-CN" sz="1800" b="true">
                  <a:latin typeface="华文中宋" panose="02010600040101010101" charset="-122"/>
                  <a:ea typeface="华文中宋" panose="02010600040101010101" charset="-122"/>
                  <a:sym typeface="+mn-ea"/>
                </a:rPr>
                <a:t>∧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798" name="文本框 164"/>
          <p:cNvSpPr txBox="true"/>
          <p:nvPr/>
        </p:nvSpPr>
        <p:spPr>
          <a:xfrm>
            <a:off x="9997440" y="1758098"/>
            <a:ext cx="4318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ClrTx/>
              <a:buSzTx/>
              <a:buFontTx/>
              <a:buNone/>
            </a:pPr>
            <a:r>
              <a:rPr lang="zh-CN" altLang="en-US" sz="2400" b="true">
                <a:solidFill>
                  <a:srgbClr val="FF0000"/>
                </a:solidFill>
                <a:latin typeface="楷体_GB2312" pitchFamily="49" charset="-122"/>
                <a:ea typeface="仿宋_GB2312" pitchFamily="49" charset="-122"/>
              </a:rPr>
              <a:t>②</a:t>
            </a:r>
            <a:endParaRPr lang="zh-CN" altLang="en-US" sz="2400" b="true">
              <a:solidFill>
                <a:srgbClr val="FF0000"/>
              </a:solidFill>
              <a:latin typeface="楷体_GB2312" pitchFamily="49" charset="-122"/>
              <a:ea typeface="仿宋_GB2312" pitchFamily="49" charset="-122"/>
            </a:endParaRPr>
          </a:p>
        </p:txBody>
      </p:sp>
      <p:sp>
        <p:nvSpPr>
          <p:cNvPr id="799" name="文本框 113"/>
          <p:cNvSpPr txBox="true"/>
          <p:nvPr/>
        </p:nvSpPr>
        <p:spPr>
          <a:xfrm>
            <a:off x="9446895" y="2022258"/>
            <a:ext cx="381635" cy="347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zh-CN" b="true">
                <a:latin typeface="华文中宋" panose="02010600040101010101" charset="-122"/>
                <a:ea typeface="华文中宋" panose="02010600040101010101" charset="-122"/>
                <a:sym typeface="+mn-ea"/>
              </a:rPr>
              <a:t>∧</a:t>
            </a:r>
            <a:endParaRPr lang="en-US" altLang="zh-CN" sz="1800" b="true">
              <a:solidFill>
                <a:srgbClr val="FF0000"/>
              </a:solidFill>
              <a:latin typeface="楷体_GB2312" pitchFamily="49" charset="-122"/>
              <a:ea typeface="仿宋_GB2312" pitchFamily="49" charset="-122"/>
            </a:endParaRPr>
          </a:p>
        </p:txBody>
      </p:sp>
      <p:sp>
        <p:nvSpPr>
          <p:cNvPr id="800" name="文本框 114"/>
          <p:cNvSpPr txBox="true"/>
          <p:nvPr/>
        </p:nvSpPr>
        <p:spPr>
          <a:xfrm>
            <a:off x="9228147" y="2009558"/>
            <a:ext cx="756285" cy="347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 dirty="false">
                <a:solidFill>
                  <a:srgbClr val="FF0000"/>
                </a:solidFill>
                <a:latin typeface="楷体_GB2312" pitchFamily="49" charset="-122"/>
                <a:ea typeface="仿宋_GB2312" pitchFamily="49" charset="-122"/>
              </a:rPr>
              <a:t>next</a:t>
            </a:r>
            <a:endParaRPr lang="en-US" altLang="zh-CN" sz="1800" b="true" dirty="false">
              <a:solidFill>
                <a:srgbClr val="FF0000"/>
              </a:solidFill>
              <a:latin typeface="楷体_GB2312" pitchFamily="49" charset="-122"/>
              <a:ea typeface="仿宋_GB2312" pitchFamily="49" charset="-122"/>
            </a:endParaRPr>
          </a:p>
        </p:txBody>
      </p:sp>
      <p:sp>
        <p:nvSpPr>
          <p:cNvPr id="801" name="文本框 115"/>
          <p:cNvSpPr txBox="true"/>
          <p:nvPr/>
        </p:nvSpPr>
        <p:spPr>
          <a:xfrm>
            <a:off x="5854897" y="2540719"/>
            <a:ext cx="5074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ClrTx/>
              <a:buSzTx/>
              <a:buFontTx/>
              <a:buNone/>
            </a:pPr>
            <a:r>
              <a:rPr lang="zh-CN" altLang="en-US" sz="2400" b="true">
                <a:solidFill>
                  <a:srgbClr val="FF0000"/>
                </a:solidFill>
                <a:latin typeface="楷体_GB2312" pitchFamily="49" charset="-122"/>
                <a:ea typeface="仿宋_GB2312" pitchFamily="49" charset="-122"/>
              </a:rPr>
              <a:t>③</a:t>
            </a:r>
            <a:endParaRPr lang="zh-CN" altLang="en-US" sz="2400" b="true">
              <a:solidFill>
                <a:srgbClr val="FF0000"/>
              </a:solidFill>
              <a:latin typeface="楷体_GB2312" pitchFamily="49" charset="-122"/>
              <a:ea typeface="仿宋_GB2312" pitchFamily="49" charset="-122"/>
            </a:endParaRPr>
          </a:p>
        </p:txBody>
      </p:sp>
      <p:cxnSp>
        <p:nvCxnSpPr>
          <p:cNvPr id="802" name="曲线连接符 116"/>
          <p:cNvCxnSpPr/>
          <p:nvPr/>
        </p:nvCxnSpPr>
        <p:spPr>
          <a:xfrm>
            <a:off x="1655445" y="2192438"/>
            <a:ext cx="7922895" cy="909320"/>
          </a:xfrm>
          <a:prstGeom prst="curvedConnector3">
            <a:avLst>
              <a:gd name="adj1" fmla="val 710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3" name="曲线连接符 117"/>
          <p:cNvCxnSpPr>
            <a:stCxn id="800" idx="3"/>
            <a:endCxn id="796" idx="1"/>
          </p:cNvCxnSpPr>
          <p:nvPr/>
        </p:nvCxnSpPr>
        <p:spPr>
          <a:xfrm flipH="true">
            <a:off x="9584678" y="2183231"/>
            <a:ext cx="399754" cy="916764"/>
          </a:xfrm>
          <a:prstGeom prst="curvedConnector5">
            <a:avLst>
              <a:gd name="adj1" fmla="val -57185"/>
              <a:gd name="adj2" fmla="val 47697"/>
              <a:gd name="adj3" fmla="val 15718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4" name="直接箭头连接符 118"/>
          <p:cNvCxnSpPr/>
          <p:nvPr/>
        </p:nvCxnSpPr>
        <p:spPr>
          <a:xfrm>
            <a:off x="9895840" y="2186088"/>
            <a:ext cx="635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5" name="文本框 120"/>
          <p:cNvSpPr txBox="true"/>
          <p:nvPr/>
        </p:nvSpPr>
        <p:spPr>
          <a:xfrm>
            <a:off x="10537189" y="2030513"/>
            <a:ext cx="841375" cy="347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 dirty="false">
                <a:solidFill>
                  <a:schemeClr val="tx1"/>
                </a:solidFill>
                <a:latin typeface="楷体_GB2312" pitchFamily="49" charset="-122"/>
                <a:ea typeface="仿宋_GB2312" pitchFamily="49" charset="-122"/>
              </a:rPr>
              <a:t>NULL</a:t>
            </a:r>
            <a:endParaRPr lang="en-US" altLang="zh-CN" sz="1800" b="true" dirty="false">
              <a:solidFill>
                <a:schemeClr val="tx1"/>
              </a:solidFill>
              <a:latin typeface="楷体_GB2312" pitchFamily="49" charset="-122"/>
              <a:ea typeface="仿宋_GB2312" pitchFamily="49" charset="-122"/>
            </a:endParaRPr>
          </a:p>
        </p:txBody>
      </p:sp>
      <p:cxnSp>
        <p:nvCxnSpPr>
          <p:cNvPr id="806" name="曲线连接符 121"/>
          <p:cNvCxnSpPr>
            <a:stCxn id="797" idx="3"/>
            <a:endCxn id="805" idx="3"/>
          </p:cNvCxnSpPr>
          <p:nvPr/>
        </p:nvCxnSpPr>
        <p:spPr>
          <a:xfrm flipV="true">
            <a:off x="11378553" y="2204186"/>
            <a:ext cx="11" cy="895809"/>
          </a:xfrm>
          <a:prstGeom prst="curvedConnector3">
            <a:avLst>
              <a:gd name="adj1" fmla="val 207828181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7" name="Text Box 60"/>
          <p:cNvSpPr txBox="true"/>
          <p:nvPr/>
        </p:nvSpPr>
        <p:spPr>
          <a:xfrm>
            <a:off x="334010" y="3182891"/>
            <a:ext cx="9290382" cy="334245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int</a:t>
            </a:r>
            <a:r>
              <a:rPr lang="zh-CN" altLang="en-US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EnQueue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(struct</a:t>
            </a:r>
            <a:r>
              <a:rPr lang="zh-CN" altLang="en-US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link_queue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*Q, int 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nodeData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)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{</a:t>
            </a:r>
            <a:endParaRPr lang="zh-CN" altLang="en-US" sz="1800" b="true" dirty="false">
              <a:solidFill>
                <a:srgbClr val="000000"/>
              </a:solidFill>
              <a:latin typeface="Courier New" panose="02070409020205090404" pitchFamily="49" charset="0"/>
              <a:ea typeface="华文仿宋" panose="02010600040101010101" pitchFamily="2" charset="-122"/>
              <a:cs typeface="Courier New" panose="02070409020205090404" pitchFamily="49" charset="0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  <a:sym typeface="+mn-ea"/>
              </a:rPr>
              <a:t>    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struct link </a:t>
            </a:r>
            <a:r>
              <a:rPr lang="en-US" altLang="zh-CN" sz="1800" b="true" dirty="false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*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p = (struct link </a:t>
            </a:r>
            <a:r>
              <a:rPr lang="en-US" altLang="zh-CN" sz="1800" b="true" dirty="false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*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)</a:t>
            </a:r>
            <a:r>
              <a:rPr lang="en-US" altLang="zh-CN" sz="1800" b="true" dirty="false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malloc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(</a:t>
            </a:r>
            <a:r>
              <a:rPr lang="en-US" altLang="zh-CN" sz="1800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sizeof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(struct link));</a:t>
            </a:r>
            <a:endParaRPr lang="en-US" altLang="zh-CN" sz="18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p-&gt;data = </a:t>
            </a:r>
            <a:r>
              <a:rPr lang="en-US" altLang="zh-CN" sz="1800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nodeData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;         </a:t>
            </a:r>
            <a:endParaRPr lang="en-US" altLang="zh-CN" sz="18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p-&gt;next = NULL;   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//①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创建数据节点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p</a:t>
            </a:r>
            <a:endParaRPr lang="zh-CN" altLang="en-US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Q-&gt;rear-&gt;next = p;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//②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将新节点与队列相连</a:t>
            </a:r>
            <a:endParaRPr lang="zh-CN" altLang="en-US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Q-&gt;rear = p;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 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//③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将队列尾指针指向新节点</a:t>
            </a:r>
            <a:endParaRPr lang="zh-CN" altLang="en-US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Q-&gt;size++;        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队列大小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+1</a:t>
            </a:r>
            <a:endParaRPr lang="zh-CN" altLang="en-US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return 1;		  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入队成功</a:t>
            </a:r>
            <a:endParaRPr lang="en-US" altLang="zh-CN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}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</p:txBody>
      </p:sp>
      <p:sp>
        <p:nvSpPr>
          <p:cNvPr id="808" name="文本框 127"/>
          <p:cNvSpPr txBox="true"/>
          <p:nvPr/>
        </p:nvSpPr>
        <p:spPr>
          <a:xfrm>
            <a:off x="10346252" y="2488014"/>
            <a:ext cx="5074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ClrTx/>
              <a:buSzTx/>
              <a:buFontTx/>
              <a:buNone/>
            </a:pPr>
            <a:r>
              <a:rPr lang="zh-CN" altLang="en-US" sz="2400" b="true">
                <a:solidFill>
                  <a:srgbClr val="FF0000"/>
                </a:solidFill>
                <a:latin typeface="楷体_GB2312" pitchFamily="49" charset="-122"/>
                <a:ea typeface="仿宋_GB2312" pitchFamily="49" charset="-122"/>
              </a:rPr>
              <a:t>①</a:t>
            </a:r>
            <a:endParaRPr lang="zh-CN" altLang="en-US" sz="2400" b="true">
              <a:solidFill>
                <a:srgbClr val="FF0000"/>
              </a:solidFill>
              <a:latin typeface="楷体_GB2312" pitchFamily="49" charset="-122"/>
              <a:ea typeface="仿宋_GB2312" pitchFamily="49" charset="-122"/>
            </a:endParaRPr>
          </a:p>
        </p:txBody>
      </p:sp>
      <p:sp>
        <p:nvSpPr>
          <p:cNvPr id="809" name="矩形 128"/>
          <p:cNvSpPr/>
          <p:nvPr/>
        </p:nvSpPr>
        <p:spPr>
          <a:xfrm>
            <a:off x="8501600" y="4804621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O(1)</a:t>
            </a:r>
            <a:r>
              <a:rPr lang="zh-CN" altLang="en-US" sz="2400" b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810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  <p:sp>
        <p:nvSpPr>
          <p:cNvPr id="811" name="文本框 13"/>
          <p:cNvSpPr txBox="true"/>
          <p:nvPr/>
        </p:nvSpPr>
        <p:spPr>
          <a:xfrm>
            <a:off x="2341276" y="1484784"/>
            <a:ext cx="1090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50000"/>
            </a:pPr>
            <a:r>
              <a:rPr lang="zh-CN" altLang="en-US" dirty="false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头节点</a:t>
            </a:r>
            <a:endParaRPr lang="zh-CN" altLang="en-US" dirty="false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812" name="图片 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980" y="1982077"/>
            <a:ext cx="388102" cy="432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Text Box 60"/>
          <p:cNvSpPr txBox="true"/>
          <p:nvPr/>
        </p:nvSpPr>
        <p:spPr>
          <a:xfrm>
            <a:off x="1067770" y="2996952"/>
            <a:ext cx="11124230" cy="365023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int</a:t>
            </a:r>
            <a:r>
              <a:rPr lang="zh-CN" altLang="en-US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DeQueue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(struct</a:t>
            </a:r>
            <a:r>
              <a:rPr lang="zh-CN" altLang="en-US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link_queue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*Q, int *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nodeData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){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if(Q-&gt;front == Q-&gt;rear) return -1;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空队列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  <a:sym typeface="+mn-ea"/>
              </a:rPr>
              <a:t>    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struct link *del = Q-&gt;front-&gt;next;</a:t>
            </a:r>
            <a:endParaRPr lang="en-US" altLang="zh-CN" sz="18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SzPct val="80000"/>
              <a:buNone/>
              <a:defRPr/>
            </a:pP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*</a:t>
            </a:r>
            <a:r>
              <a:rPr lang="en-US" altLang="zh-CN" sz="1800" b="true" dirty="false" err="tru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nodeData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= del-&gt;data;   </a:t>
            </a:r>
            <a:endParaRPr lang="en-US" altLang="zh-CN" sz="18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SzPct val="80000"/>
              <a:buNone/>
              <a:defRPr/>
            </a:pPr>
            <a:r>
              <a: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Q-&gt;front-&gt;next = del-&gt;next;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删除队头节点</a:t>
            </a:r>
            <a:endParaRPr lang="zh-CN" altLang="en-US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SzPct val="80000"/>
              <a:buNone/>
              <a:defRPr/>
            </a:pP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Q-&gt;size--;              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队列大小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-1</a:t>
            </a:r>
            <a:endParaRPr lang="en-US" altLang="zh-CN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SzPct val="80000"/>
              <a:buNone/>
              <a:defRPr/>
            </a:pP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if(Q-&gt;front-&gt;next == NULL) 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SzPct val="80000"/>
              <a:buNone/>
              <a:defRPr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	Q-&gt;rear = Q-&gt;front;  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若删除后队列为空，则将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rear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指向头节点</a:t>
            </a:r>
            <a:endParaRPr lang="zh-CN" altLang="en-US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SzPct val="80000"/>
              <a:buNone/>
              <a:defRPr/>
            </a:pP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    </a:t>
            </a: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free(del);              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//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  <a:sym typeface="+mn-ea"/>
              </a:rPr>
              <a:t>释放内存</a:t>
            </a:r>
            <a:endParaRPr lang="en-US" altLang="zh-CN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  <a:sym typeface="+mn-ea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SzPct val="80000"/>
              <a:buNone/>
              <a:defRPr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return 1;		                     </a:t>
            </a:r>
            <a:r>
              <a:rPr lang="en-US" altLang="zh-CN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 </a:t>
            </a:r>
            <a:r>
              <a:rPr lang="zh-CN" altLang="en-US" sz="1800" dirty="false">
                <a:solidFill>
                  <a:srgbClr val="0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出队成功</a:t>
            </a:r>
            <a:endParaRPr lang="en-US" altLang="zh-CN" sz="1800" dirty="false">
              <a:solidFill>
                <a:srgbClr val="0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0" lvl="0" indent="0">
              <a:buClrTx/>
              <a:buSzTx/>
              <a:buFontTx/>
              <a:buNone/>
            </a:pPr>
            <a:r>
              <a:rPr lang="en-US" altLang="zh-CN" sz="1800" b="true" dirty="false">
                <a:solidFill>
                  <a:srgbClr val="00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}</a:t>
            </a:r>
            <a:endParaRPr lang="en-US" altLang="zh-CN" sz="1800" b="true" dirty="false">
              <a:solidFill>
                <a:srgbClr val="00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</p:txBody>
      </p:sp>
      <p:sp>
        <p:nvSpPr>
          <p:cNvPr id="815" name="Rectangle 2"/>
          <p:cNvSpPr>
            <a:spLocks noGrp="true"/>
          </p:cNvSpPr>
          <p:nvPr>
            <p:ph type="title"/>
          </p:nvPr>
        </p:nvSpPr>
        <p:spPr>
          <a:xfrm>
            <a:off x="2748915" y="582930"/>
            <a:ext cx="672274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7.2.4.2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链式队列的出队操作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grpSp>
        <p:nvGrpSpPr>
          <p:cNvPr id="816" name="Group 18"/>
          <p:cNvGrpSpPr/>
          <p:nvPr/>
        </p:nvGrpSpPr>
        <p:grpSpPr>
          <a:xfrm>
            <a:off x="4239883" y="1990596"/>
            <a:ext cx="1793875" cy="431800"/>
            <a:chOff x="3334" y="3213"/>
            <a:chExt cx="1043" cy="272"/>
          </a:xfrm>
        </p:grpSpPr>
        <p:sp>
          <p:nvSpPr>
            <p:cNvPr id="817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Courier New" panose="02070409020205090404" pitchFamily="49" charset="0"/>
                  <a:ea typeface="华文中宋" panose="02010600040101010101" charset="-122"/>
                  <a:cs typeface="Courier New" panose="02070409020205090404" pitchFamily="49" charset="0"/>
                </a:rPr>
                <a:t>data</a:t>
              </a:r>
              <a:endPara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endParaRPr>
            </a:p>
          </p:txBody>
        </p:sp>
        <p:sp>
          <p:nvSpPr>
            <p:cNvPr id="818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Courier New" panose="02070409020205090404" pitchFamily="49" charset="0"/>
                  <a:ea typeface="华文中宋" panose="02010600040101010101" charset="-122"/>
                  <a:cs typeface="Courier New" panose="02070409020205090404" pitchFamily="49" charset="0"/>
                </a:rPr>
                <a:t>n</a:t>
              </a:r>
              <a:r>
                <a:rPr lang="en-US" altLang="zh-CN" sz="1800" b="true">
                  <a:latin typeface="Courier New" panose="02070409020205090404" pitchFamily="49" charset="0"/>
                  <a:ea typeface="华文中宋" panose="02010600040101010101" charset="-122"/>
                  <a:cs typeface="Courier New" panose="02070409020205090404" pitchFamily="49" charset="0"/>
                </a:rPr>
                <a:t>ext</a:t>
              </a:r>
              <a:endParaRPr lang="zh-CN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endParaRPr>
            </a:p>
          </p:txBody>
        </p:sp>
      </p:grpSp>
      <p:grpSp>
        <p:nvGrpSpPr>
          <p:cNvPr id="819" name="Group 18"/>
          <p:cNvGrpSpPr/>
          <p:nvPr/>
        </p:nvGrpSpPr>
        <p:grpSpPr>
          <a:xfrm>
            <a:off x="6496038" y="1990596"/>
            <a:ext cx="1793875" cy="431800"/>
            <a:chOff x="3334" y="3213"/>
            <a:chExt cx="1043" cy="272"/>
          </a:xfrm>
        </p:grpSpPr>
        <p:sp>
          <p:nvSpPr>
            <p:cNvPr id="820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Courier New" panose="02070409020205090404" pitchFamily="49" charset="0"/>
                  <a:ea typeface="华文中宋" panose="02010600040101010101" charset="-122"/>
                  <a:cs typeface="Courier New" panose="02070409020205090404" pitchFamily="49" charset="0"/>
                </a:rPr>
                <a:t>data</a:t>
              </a:r>
              <a:endPara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endParaRPr>
            </a:p>
          </p:txBody>
        </p:sp>
        <p:sp>
          <p:nvSpPr>
            <p:cNvPr id="821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Courier New" panose="02070409020205090404" pitchFamily="49" charset="0"/>
                  <a:ea typeface="华文中宋" panose="02010600040101010101" charset="-122"/>
                  <a:cs typeface="Courier New" panose="02070409020205090404" pitchFamily="49" charset="0"/>
                </a:rPr>
                <a:t>n</a:t>
              </a:r>
              <a:r>
                <a:rPr lang="en-US" altLang="zh-CN" sz="1800" b="true">
                  <a:latin typeface="Courier New" panose="02070409020205090404" pitchFamily="49" charset="0"/>
                  <a:ea typeface="华文中宋" panose="02010600040101010101" charset="-122"/>
                  <a:cs typeface="Courier New" panose="02070409020205090404" pitchFamily="49" charset="0"/>
                </a:rPr>
                <a:t>ext</a:t>
              </a:r>
              <a:endParaRPr lang="zh-CN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endParaRPr>
            </a:p>
          </p:txBody>
        </p:sp>
      </p:grpSp>
      <p:grpSp>
        <p:nvGrpSpPr>
          <p:cNvPr id="822" name="Group 18"/>
          <p:cNvGrpSpPr/>
          <p:nvPr/>
        </p:nvGrpSpPr>
        <p:grpSpPr>
          <a:xfrm>
            <a:off x="8754733" y="1990596"/>
            <a:ext cx="1793875" cy="431800"/>
            <a:chOff x="3334" y="3213"/>
            <a:chExt cx="1043" cy="272"/>
          </a:xfrm>
        </p:grpSpPr>
        <p:sp>
          <p:nvSpPr>
            <p:cNvPr id="823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Courier New" panose="02070409020205090404" pitchFamily="49" charset="0"/>
                  <a:ea typeface="华文中宋" panose="02010600040101010101" charset="-122"/>
                  <a:cs typeface="Courier New" panose="02070409020205090404" pitchFamily="49" charset="0"/>
                </a:rPr>
                <a:t>data</a:t>
              </a:r>
              <a:endPara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endParaRPr>
            </a:p>
          </p:txBody>
        </p:sp>
        <p:sp>
          <p:nvSpPr>
            <p:cNvPr id="824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endParaRPr>
            </a:p>
          </p:txBody>
        </p:sp>
      </p:grpSp>
      <p:sp>
        <p:nvSpPr>
          <p:cNvPr id="825" name="Rectangle 4"/>
          <p:cNvSpPr>
            <a:spLocks noChangeArrowheads="true"/>
          </p:cNvSpPr>
          <p:nvPr/>
        </p:nvSpPr>
        <p:spPr bwMode="auto">
          <a:xfrm>
            <a:off x="1110603" y="1558796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front</a:t>
            </a:r>
            <a:endParaRPr lang="en-US" altLang="zh-CN" sz="1800" b="tru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</p:txBody>
      </p:sp>
      <p:sp>
        <p:nvSpPr>
          <p:cNvPr id="826" name="Rectangle 4"/>
          <p:cNvSpPr>
            <a:spLocks noChangeArrowheads="true"/>
          </p:cNvSpPr>
          <p:nvPr/>
        </p:nvSpPr>
        <p:spPr bwMode="auto">
          <a:xfrm>
            <a:off x="1110603" y="1990596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rear</a:t>
            </a:r>
            <a:endParaRPr lang="en-US" altLang="zh-CN" sz="1800" b="tru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</p:txBody>
      </p:sp>
      <p:sp>
        <p:nvSpPr>
          <p:cNvPr id="827" name="Rectangle 4"/>
          <p:cNvSpPr>
            <a:spLocks noChangeArrowheads="true"/>
          </p:cNvSpPr>
          <p:nvPr/>
        </p:nvSpPr>
        <p:spPr bwMode="auto">
          <a:xfrm>
            <a:off x="1110603" y="2422396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size</a:t>
            </a:r>
            <a:endParaRPr lang="en-US" altLang="zh-CN" sz="1800" b="tru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</p:txBody>
      </p:sp>
      <p:grpSp>
        <p:nvGrpSpPr>
          <p:cNvPr id="828" name="Group 34"/>
          <p:cNvGrpSpPr/>
          <p:nvPr/>
        </p:nvGrpSpPr>
        <p:grpSpPr>
          <a:xfrm>
            <a:off x="3035993" y="1990281"/>
            <a:ext cx="732720" cy="814388"/>
            <a:chOff x="1365" y="2568"/>
            <a:chExt cx="426" cy="513"/>
          </a:xfrm>
        </p:grpSpPr>
        <p:sp>
          <p:nvSpPr>
            <p:cNvPr id="829" name="Rectangle 27"/>
            <p:cNvSpPr>
              <a:spLocks noChangeArrowheads="true"/>
            </p:cNvSpPr>
            <p:nvPr/>
          </p:nvSpPr>
          <p:spPr bwMode="auto">
            <a:xfrm>
              <a:off x="1565" y="2568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endParaRPr>
            </a:p>
          </p:txBody>
        </p:sp>
        <p:sp>
          <p:nvSpPr>
            <p:cNvPr id="830" name="Rectangle 32"/>
            <p:cNvSpPr>
              <a:spLocks noChangeArrowheads="true"/>
            </p:cNvSpPr>
            <p:nvPr/>
          </p:nvSpPr>
          <p:spPr bwMode="auto">
            <a:xfrm>
              <a:off x="1365" y="2809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 dirty="false">
                  <a:latin typeface="Courier New" panose="02070409020205090404" pitchFamily="49" charset="0"/>
                  <a:ea typeface="华文中宋" panose="02010600040101010101" charset="-122"/>
                  <a:cs typeface="Courier New" panose="02070409020205090404" pitchFamily="49" charset="0"/>
                </a:rPr>
                <a:t>head</a:t>
              </a:r>
              <a:endParaRPr lang="en-US" altLang="zh-CN" sz="18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endParaRPr>
            </a:p>
          </p:txBody>
        </p:sp>
      </p:grpSp>
      <p:cxnSp>
        <p:nvCxnSpPr>
          <p:cNvPr id="831" name="直接箭头连接符 31"/>
          <p:cNvCxnSpPr/>
          <p:nvPr/>
        </p:nvCxnSpPr>
        <p:spPr>
          <a:xfrm>
            <a:off x="3583305" y="2194289"/>
            <a:ext cx="635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2" name="直接箭头连接符 32"/>
          <p:cNvCxnSpPr/>
          <p:nvPr/>
        </p:nvCxnSpPr>
        <p:spPr>
          <a:xfrm>
            <a:off x="5944235" y="2194289"/>
            <a:ext cx="521970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3" name="直接箭头连接符 33"/>
          <p:cNvCxnSpPr/>
          <p:nvPr/>
        </p:nvCxnSpPr>
        <p:spPr>
          <a:xfrm>
            <a:off x="8232775" y="2187939"/>
            <a:ext cx="521970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4" name="曲线连接符 34"/>
          <p:cNvCxnSpPr>
            <a:stCxn id="825" idx="3"/>
          </p:cNvCxnSpPr>
          <p:nvPr/>
        </p:nvCxnSpPr>
        <p:spPr>
          <a:xfrm>
            <a:off x="2200910" y="1774554"/>
            <a:ext cx="1373505" cy="215900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5" name="曲线连接符 35"/>
          <p:cNvCxnSpPr/>
          <p:nvPr/>
        </p:nvCxnSpPr>
        <p:spPr>
          <a:xfrm>
            <a:off x="2200910" y="2206354"/>
            <a:ext cx="7098665" cy="215900"/>
          </a:xfrm>
          <a:prstGeom prst="curvedConnector4">
            <a:avLst>
              <a:gd name="adj1" fmla="val 3891"/>
              <a:gd name="adj2" fmla="val 3397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6" name="直接箭头连接符 118"/>
          <p:cNvCxnSpPr/>
          <p:nvPr/>
        </p:nvCxnSpPr>
        <p:spPr>
          <a:xfrm>
            <a:off x="10230485" y="2181589"/>
            <a:ext cx="635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7" name="文本框 120"/>
          <p:cNvSpPr txBox="true"/>
          <p:nvPr/>
        </p:nvSpPr>
        <p:spPr>
          <a:xfrm>
            <a:off x="10871834" y="2026014"/>
            <a:ext cx="912797" cy="347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 dirty="false">
                <a:solidFill>
                  <a:schemeClr val="tx1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NULL</a:t>
            </a:r>
            <a:endParaRPr lang="en-US" altLang="zh-CN" sz="1800" b="true" dirty="false">
              <a:solidFill>
                <a:schemeClr val="tx1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</p:txBody>
      </p:sp>
      <p:sp>
        <p:nvSpPr>
          <p:cNvPr id="838" name="矩形 36"/>
          <p:cNvSpPr/>
          <p:nvPr/>
        </p:nvSpPr>
        <p:spPr>
          <a:xfrm>
            <a:off x="8531860" y="5895975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O(1)</a:t>
            </a:r>
            <a:r>
              <a:rPr lang="zh-CN" altLang="en-US" sz="2400" b="true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cxnSp>
        <p:nvCxnSpPr>
          <p:cNvPr id="839" name="曲线连接符 37"/>
          <p:cNvCxnSpPr/>
          <p:nvPr/>
        </p:nvCxnSpPr>
        <p:spPr>
          <a:xfrm flipV="true">
            <a:off x="3768725" y="1990454"/>
            <a:ext cx="3272155" cy="215900"/>
          </a:xfrm>
          <a:prstGeom prst="curvedConnector4">
            <a:avLst>
              <a:gd name="adj1" fmla="val 10052"/>
              <a:gd name="adj2" fmla="val 25147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0" name="文本框 127"/>
          <p:cNvSpPr txBox="true"/>
          <p:nvPr/>
        </p:nvSpPr>
        <p:spPr>
          <a:xfrm>
            <a:off x="5246567" y="1268760"/>
            <a:ext cx="50749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ClrTx/>
              <a:buSzTx/>
              <a:buFontTx/>
              <a:buNone/>
            </a:pPr>
            <a:r>
              <a:rPr lang="zh-CN" altLang="en-US" sz="1800" b="true">
                <a:solidFill>
                  <a:srgbClr val="FF0000"/>
                </a:solidFill>
                <a:latin typeface="Courier New" panose="02070409020205090404" pitchFamily="49" charset="0"/>
                <a:ea typeface="仿宋_GB2312" pitchFamily="49" charset="-122"/>
              </a:rPr>
              <a:t>①</a:t>
            </a:r>
            <a:endParaRPr lang="zh-CN" altLang="en-US" sz="1800" b="true">
              <a:solidFill>
                <a:srgbClr val="FF0000"/>
              </a:solidFill>
              <a:latin typeface="Courier New" panose="02070409020205090404" pitchFamily="49" charset="0"/>
              <a:ea typeface="仿宋_GB2312" pitchFamily="49" charset="-122"/>
            </a:endParaRPr>
          </a:p>
        </p:txBody>
      </p:sp>
      <p:sp>
        <p:nvSpPr>
          <p:cNvPr id="841" name="文本框 38"/>
          <p:cNvSpPr txBox="true"/>
          <p:nvPr/>
        </p:nvSpPr>
        <p:spPr>
          <a:xfrm>
            <a:off x="5037017" y="2415570"/>
            <a:ext cx="50749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ClrTx/>
              <a:buSzTx/>
              <a:buFontTx/>
              <a:buNone/>
            </a:pPr>
            <a:r>
              <a:rPr lang="zh-CN" altLang="en-US" sz="1800" b="true">
                <a:solidFill>
                  <a:srgbClr val="FF0000"/>
                </a:solidFill>
                <a:latin typeface="Courier New" panose="02070409020205090404" pitchFamily="49" charset="0"/>
                <a:ea typeface="仿宋_GB2312" pitchFamily="49" charset="-122"/>
              </a:rPr>
              <a:t>②</a:t>
            </a:r>
            <a:endParaRPr lang="zh-CN" altLang="en-US" sz="1800" b="true">
              <a:solidFill>
                <a:srgbClr val="FF0000"/>
              </a:solidFill>
              <a:latin typeface="Courier New" panose="02070409020205090404" pitchFamily="49" charset="0"/>
              <a:ea typeface="仿宋_GB2312" pitchFamily="49" charset="-122"/>
            </a:endParaRPr>
          </a:p>
        </p:txBody>
      </p:sp>
      <p:sp>
        <p:nvSpPr>
          <p:cNvPr id="842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  <p:sp>
        <p:nvSpPr>
          <p:cNvPr id="843" name="文本框 8"/>
          <p:cNvSpPr txBox="true"/>
          <p:nvPr/>
        </p:nvSpPr>
        <p:spPr>
          <a:xfrm>
            <a:off x="2969400" y="1488167"/>
            <a:ext cx="1090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50000"/>
            </a:pPr>
            <a:r>
              <a:rPr lang="zh-CN" altLang="en-US" dirty="false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头节点</a:t>
            </a:r>
            <a:endParaRPr lang="zh-CN" altLang="en-US" dirty="false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844" name="Rectangle 3"/>
          <p:cNvSpPr>
            <a:spLocks noGrp="true"/>
          </p:cNvSpPr>
          <p:nvPr>
            <p:ph idx="1"/>
          </p:nvPr>
        </p:nvSpPr>
        <p:spPr>
          <a:xfrm>
            <a:off x="291643" y="1009988"/>
            <a:ext cx="4680982" cy="474796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出队：修改头节点的指针域</a:t>
            </a:r>
            <a:endParaRPr lang="zh-CN" altLang="en-US" dirty="false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845" name="图片 1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3005608" y="1984449"/>
            <a:ext cx="388102" cy="432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8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Rectangle 2"/>
          <p:cNvSpPr>
            <a:spLocks noGrp="true"/>
          </p:cNvSpPr>
          <p:nvPr>
            <p:ph type="title"/>
          </p:nvPr>
        </p:nvSpPr>
        <p:spPr>
          <a:xfrm>
            <a:off x="2748915" y="582930"/>
            <a:ext cx="672274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7.2.4.3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链式队列的查找操作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grpSp>
        <p:nvGrpSpPr>
          <p:cNvPr id="848" name="Group 18"/>
          <p:cNvGrpSpPr/>
          <p:nvPr/>
        </p:nvGrpSpPr>
        <p:grpSpPr>
          <a:xfrm>
            <a:off x="4123678" y="1951497"/>
            <a:ext cx="1793875" cy="431800"/>
            <a:chOff x="3334" y="3213"/>
            <a:chExt cx="1043" cy="272"/>
          </a:xfrm>
        </p:grpSpPr>
        <p:sp>
          <p:nvSpPr>
            <p:cNvPr id="849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850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851" name="Group 18"/>
          <p:cNvGrpSpPr/>
          <p:nvPr/>
        </p:nvGrpSpPr>
        <p:grpSpPr>
          <a:xfrm>
            <a:off x="6379833" y="1951497"/>
            <a:ext cx="1793875" cy="431800"/>
            <a:chOff x="3334" y="3213"/>
            <a:chExt cx="1043" cy="272"/>
          </a:xfrm>
        </p:grpSpPr>
        <p:sp>
          <p:nvSpPr>
            <p:cNvPr id="852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853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854" name="Group 18"/>
          <p:cNvGrpSpPr/>
          <p:nvPr/>
        </p:nvGrpSpPr>
        <p:grpSpPr>
          <a:xfrm>
            <a:off x="8638528" y="1951497"/>
            <a:ext cx="1793875" cy="431800"/>
            <a:chOff x="3334" y="3213"/>
            <a:chExt cx="1043" cy="272"/>
          </a:xfrm>
        </p:grpSpPr>
        <p:sp>
          <p:nvSpPr>
            <p:cNvPr id="855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856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857" name="Rectangle 4"/>
          <p:cNvSpPr>
            <a:spLocks noChangeArrowheads="true"/>
          </p:cNvSpPr>
          <p:nvPr/>
        </p:nvSpPr>
        <p:spPr bwMode="auto">
          <a:xfrm>
            <a:off x="994398" y="151969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front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58" name="Rectangle 4"/>
          <p:cNvSpPr>
            <a:spLocks noChangeArrowheads="true"/>
          </p:cNvSpPr>
          <p:nvPr/>
        </p:nvSpPr>
        <p:spPr bwMode="auto">
          <a:xfrm>
            <a:off x="994398" y="195149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rear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59" name="Rectangle 4"/>
          <p:cNvSpPr>
            <a:spLocks noChangeArrowheads="true"/>
          </p:cNvSpPr>
          <p:nvPr/>
        </p:nvSpPr>
        <p:spPr bwMode="auto">
          <a:xfrm>
            <a:off x="994398" y="2383297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size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860" name="Group 34"/>
          <p:cNvGrpSpPr/>
          <p:nvPr/>
        </p:nvGrpSpPr>
        <p:grpSpPr>
          <a:xfrm>
            <a:off x="2893988" y="1951182"/>
            <a:ext cx="758520" cy="779463"/>
            <a:chOff x="1350" y="2568"/>
            <a:chExt cx="441" cy="491"/>
          </a:xfrm>
        </p:grpSpPr>
        <p:sp>
          <p:nvSpPr>
            <p:cNvPr id="861" name="Rectangle 27"/>
            <p:cNvSpPr>
              <a:spLocks noChangeArrowheads="true"/>
            </p:cNvSpPr>
            <p:nvPr/>
          </p:nvSpPr>
          <p:spPr bwMode="auto">
            <a:xfrm>
              <a:off x="1565" y="2568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862" name="Rectangle 32"/>
            <p:cNvSpPr>
              <a:spLocks noChangeArrowheads="true"/>
            </p:cNvSpPr>
            <p:nvPr/>
          </p:nvSpPr>
          <p:spPr bwMode="auto">
            <a:xfrm>
              <a:off x="1350" y="2787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 dirty="fals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 dirty="fals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cxnSp>
        <p:nvCxnSpPr>
          <p:cNvPr id="863" name="直接箭头连接符 57"/>
          <p:cNvCxnSpPr/>
          <p:nvPr/>
        </p:nvCxnSpPr>
        <p:spPr>
          <a:xfrm>
            <a:off x="3467100" y="2155190"/>
            <a:ext cx="635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4" name="直接箭头连接符 60"/>
          <p:cNvCxnSpPr/>
          <p:nvPr/>
        </p:nvCxnSpPr>
        <p:spPr>
          <a:xfrm>
            <a:off x="5828030" y="2155190"/>
            <a:ext cx="521970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5" name="直接箭头连接符 62"/>
          <p:cNvCxnSpPr/>
          <p:nvPr/>
        </p:nvCxnSpPr>
        <p:spPr>
          <a:xfrm>
            <a:off x="8116570" y="2148840"/>
            <a:ext cx="521970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6" name="曲线连接符 63"/>
          <p:cNvCxnSpPr>
            <a:stCxn id="857" idx="3"/>
          </p:cNvCxnSpPr>
          <p:nvPr/>
        </p:nvCxnSpPr>
        <p:spPr>
          <a:xfrm>
            <a:off x="2084705" y="1735455"/>
            <a:ext cx="1373505" cy="215900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7" name="曲线连接符 64"/>
          <p:cNvCxnSpPr/>
          <p:nvPr/>
        </p:nvCxnSpPr>
        <p:spPr>
          <a:xfrm>
            <a:off x="2084705" y="2167255"/>
            <a:ext cx="7098665" cy="215900"/>
          </a:xfrm>
          <a:prstGeom prst="curvedConnector4">
            <a:avLst>
              <a:gd name="adj1" fmla="val 6950"/>
              <a:gd name="adj2" fmla="val 3397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8" name="直接箭头连接符 1"/>
          <p:cNvCxnSpPr/>
          <p:nvPr/>
        </p:nvCxnSpPr>
        <p:spPr>
          <a:xfrm>
            <a:off x="10114280" y="2142490"/>
            <a:ext cx="635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9" name="文本框 2"/>
          <p:cNvSpPr txBox="true"/>
          <p:nvPr/>
        </p:nvSpPr>
        <p:spPr>
          <a:xfrm>
            <a:off x="10755630" y="1986915"/>
            <a:ext cx="956994" cy="36512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 dirty="false">
                <a:solidFill>
                  <a:schemeClr val="tx1"/>
                </a:solidFill>
                <a:latin typeface="楷体_GB2312" pitchFamily="49" charset="-122"/>
                <a:ea typeface="仿宋_GB2312" pitchFamily="49" charset="-122"/>
              </a:rPr>
              <a:t>NULL</a:t>
            </a:r>
            <a:endParaRPr lang="en-US" altLang="zh-CN" sz="1800" b="true" dirty="false">
              <a:solidFill>
                <a:schemeClr val="tx1"/>
              </a:solidFill>
              <a:latin typeface="楷体_GB2312" pitchFamily="49" charset="-122"/>
              <a:ea typeface="仿宋_GB2312" pitchFamily="49" charset="-122"/>
            </a:endParaRPr>
          </a:p>
        </p:txBody>
      </p:sp>
      <p:sp>
        <p:nvSpPr>
          <p:cNvPr id="870" name="文本框 3"/>
          <p:cNvSpPr txBox="true">
            <a:spLocks noChangeArrowheads="true"/>
          </p:cNvSpPr>
          <p:nvPr/>
        </p:nvSpPr>
        <p:spPr bwMode="auto">
          <a:xfrm>
            <a:off x="878840" y="3379470"/>
            <a:ext cx="1066990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spcBef>
                <a:spcPct val="1"/>
              </a:spcBef>
              <a:buClrTx/>
              <a:buSzTx/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查找尾节点可直接通过队尾指针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rear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进行，</a:t>
            </a: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时间复杂度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为</a:t>
            </a:r>
            <a:r>
              <a:rPr lang="en-US" altLang="zh-CN" sz="20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O(1)</a:t>
            </a:r>
            <a:r>
              <a:rPr lang="zh-CN" altLang="en-US" sz="20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。</a:t>
            </a:r>
            <a:endParaRPr lang="zh-CN" altLang="en-US" sz="20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spcBef>
                <a:spcPct val="1"/>
              </a:spcBef>
              <a:buClrTx/>
              <a:buSzTx/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查找头节点和第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k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个节点（除尾节点外）的操作与单链表相同，</a:t>
            </a: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时间复杂度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分别为</a:t>
            </a:r>
            <a:r>
              <a:rPr lang="en-US" altLang="zh-CN" sz="20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O(1)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和</a:t>
            </a:r>
            <a:r>
              <a:rPr lang="en-US" altLang="zh-CN" sz="20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O(n)</a:t>
            </a:r>
            <a:endParaRPr lang="zh-CN" altLang="en-US" sz="2000" b="true" i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graphicFrame>
        <p:nvGraphicFramePr>
          <p:cNvPr id="871" name="table 706"/>
          <p:cNvGraphicFramePr/>
          <p:nvPr/>
        </p:nvGraphicFramePr>
        <p:xfrm>
          <a:off x="2647950" y="4511675"/>
          <a:ext cx="6880860" cy="137033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688086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370330">
                <a:tc>
                  <a:txBody>
                    <a:bodyPr/>
                    <a:lstStyle/>
                    <a:p>
                      <a:pPr marL="0" lvl="0" indent="0"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true" dirty="false">
                          <a:latin typeface="Courier New" panose="02070409020205090404" pitchFamily="49" charset="0"/>
                          <a:cs typeface="Courier New" panose="02070409020205090404" pitchFamily="49" charset="0"/>
                          <a:sym typeface="+mn-ea"/>
                        </a:rPr>
                        <a:t>struct</a:t>
                      </a:r>
                      <a:r>
                        <a:rPr lang="zh-CN" altLang="en-US" sz="2000" b="true" dirty="false">
                          <a:latin typeface="Courier New" panose="02070409020205090404" pitchFamily="49" charset="0"/>
                          <a:cs typeface="Courier New" panose="02070409020205090404" pitchFamily="49" charset="0"/>
                          <a:sym typeface="+mn-ea"/>
                        </a:rPr>
                        <a:t> </a:t>
                      </a:r>
                      <a:r>
                        <a:rPr lang="en-US" altLang="zh-CN" sz="2000" b="true" dirty="false">
                          <a:latin typeface="Courier New" panose="02070409020205090404" pitchFamily="49" charset="0"/>
                          <a:cs typeface="Courier New" panose="02070409020205090404" pitchFamily="49" charset="0"/>
                          <a:sym typeface="+mn-ea"/>
                        </a:rPr>
                        <a:t>link </a:t>
                      </a:r>
                      <a:r>
                        <a:rPr lang="zh-CN" altLang="en-US" sz="2000" b="true" dirty="false">
                          <a:latin typeface="Courier New" panose="02070409020205090404" pitchFamily="49" charset="0"/>
                          <a:cs typeface="Courier New" panose="02070409020205090404" pitchFamily="49" charset="0"/>
                          <a:sym typeface="+mn-ea"/>
                        </a:rPr>
                        <a:t>*</a:t>
                      </a:r>
                      <a:r>
                        <a:rPr lang="en-US" altLang="zh-CN" sz="2000" b="true" dirty="false" err="true">
                          <a:latin typeface="Courier New" panose="02070409020205090404" pitchFamily="49" charset="0"/>
                          <a:cs typeface="Courier New" panose="02070409020205090404" pitchFamily="49" charset="0"/>
                          <a:sym typeface="+mn-ea"/>
                        </a:rPr>
                        <a:t>FindLast</a:t>
                      </a:r>
                      <a:r>
                        <a:rPr lang="en-US" altLang="zh-CN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仿宋_GB2312" pitchFamily="49" charset="-122"/>
                          <a:cs typeface="Courier New" panose="02070409020205090404" pitchFamily="49" charset="0"/>
                          <a:sym typeface="+mn-ea"/>
                        </a:rPr>
                        <a:t>(struct</a:t>
                      </a:r>
                      <a:r>
                        <a:rPr lang="zh-CN" altLang="en-US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仿宋_GB2312" pitchFamily="49" charset="-122"/>
                          <a:cs typeface="Courier New" panose="02070409020205090404" pitchFamily="49" charset="0"/>
                          <a:sym typeface="+mn-ea"/>
                        </a:rPr>
                        <a:t> </a:t>
                      </a:r>
                      <a:r>
                        <a:rPr lang="en-US" altLang="zh-CN" sz="2000" b="true" dirty="false" err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仿宋_GB2312" pitchFamily="49" charset="-122"/>
                          <a:cs typeface="Courier New" panose="02070409020205090404" pitchFamily="49" charset="0"/>
                          <a:sym typeface="+mn-ea"/>
                        </a:rPr>
                        <a:t>link_queue</a:t>
                      </a:r>
                      <a:r>
                        <a:rPr lang="en-US" altLang="zh-CN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仿宋_GB2312" pitchFamily="49" charset="-122"/>
                          <a:cs typeface="Courier New" panose="02070409020205090404" pitchFamily="49" charset="0"/>
                          <a:sym typeface="+mn-ea"/>
                        </a:rPr>
                        <a:t> *Q)</a:t>
                      </a:r>
                      <a:endParaRPr lang="en-US" altLang="zh-CN" sz="2000" b="true" dirty="fals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仿宋_GB2312" pitchFamily="49" charset="-122"/>
                        <a:cs typeface="Courier New" panose="02070409020205090404" pitchFamily="49" charset="0"/>
                      </a:endParaRPr>
                    </a:p>
                    <a:p>
                      <a:pPr marL="0" lvl="0" indent="0"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仿宋_GB2312" pitchFamily="49" charset="-122"/>
                          <a:cs typeface="Courier New" panose="02070409020205090404" pitchFamily="49" charset="0"/>
                          <a:sym typeface="+mn-ea"/>
                        </a:rPr>
                        <a:t>{</a:t>
                      </a:r>
                      <a:endParaRPr lang="zh-CN" altLang="en-US" sz="2000" b="true" dirty="fals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仿宋" panose="02010600040101010101" pitchFamily="2" charset="-122"/>
                        <a:cs typeface="Courier New" panose="02070409020205090404" pitchFamily="49" charset="0"/>
                      </a:endParaRPr>
                    </a:p>
                    <a:p>
                      <a:pPr indent="0">
                        <a:lnSpc>
                          <a:spcPct val="9000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仿宋_GB2312" pitchFamily="49" charset="-122"/>
                          <a:cs typeface="Courier New" panose="02070409020205090404" pitchFamily="49" charset="0"/>
                          <a:sym typeface="+mn-ea"/>
                        </a:rPr>
                        <a:t>    return Q-&gt;rear;    </a:t>
                      </a:r>
                      <a:r>
                        <a:rPr lang="en-US" altLang="zh-CN" sz="2000" b="true" dirty="false"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  <a:sym typeface="+mn-ea"/>
                        </a:rPr>
                        <a:t>   </a:t>
                      </a:r>
                      <a:endParaRPr lang="en-US" altLang="zh-CN" sz="2000" b="true" dirty="false"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  <a:sym typeface="+mn-ea"/>
                      </a:endParaRPr>
                    </a:p>
                    <a:p>
                      <a:pPr>
                        <a:lnSpc>
                          <a:spcPct val="9000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2000" b="true" dirty="fals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仿宋_GB2312" pitchFamily="49" charset="-122"/>
                          <a:cs typeface="Courier New" panose="02070409020205090404" pitchFamily="49" charset="0"/>
                          <a:sym typeface="+mn-ea"/>
                        </a:rPr>
                        <a:t>}</a:t>
                      </a:r>
                      <a:endParaRPr lang="en-US" altLang="zh-CN" sz="2000" b="true" dirty="fals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872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  <p:pic>
        <p:nvPicPr>
          <p:cNvPr id="873" name="图片 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772" y="1947134"/>
            <a:ext cx="388102" cy="4323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8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Rectangle 3"/>
          <p:cNvSpPr>
            <a:spLocks noGrp="true"/>
          </p:cNvSpPr>
          <p:nvPr>
            <p:ph idx="1"/>
          </p:nvPr>
        </p:nvSpPr>
        <p:spPr>
          <a:xfrm>
            <a:off x="262890" y="1337310"/>
            <a:ext cx="10801662" cy="323913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链式队列的常见应用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buSzPct val="50000"/>
              <a:buFont typeface="Wingdings" panose="05000000000000000000" pitchFamily="2" charset="2"/>
              <a:buChar char="n"/>
            </a:pPr>
            <a:r>
              <a:rPr lang="zh-CN" altLang="en-US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任务</a:t>
            </a:r>
            <a:r>
              <a:rPr lang="en-US" altLang="zh-CN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lang="zh-CN" altLang="en-US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作业调度</a:t>
            </a:r>
            <a:endParaRPr lang="zh-CN" altLang="en-US" sz="2400" dirty="false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spcAft>
                <a:spcPts val="600"/>
              </a:spcAft>
              <a:buSzPct val="50000"/>
              <a:buFont typeface="Wingdings" panose="05000000000000000000" pitchFamily="2" charset="2"/>
              <a:buChar char="n"/>
            </a:pPr>
            <a:r>
              <a:rPr lang="zh-CN" altLang="en-US" sz="2000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按到达</a:t>
            </a:r>
            <a:r>
              <a:rPr lang="zh-CN" altLang="en-US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顺序处理作业或任务，适合后台批处理、打印任务等</a:t>
            </a:r>
            <a:r>
              <a:rPr lang="en-US" altLang="zh-CN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FIFO </a:t>
            </a:r>
            <a:r>
              <a:rPr lang="zh-CN" altLang="en-US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场景</a:t>
            </a:r>
            <a:endParaRPr lang="zh-CN" altLang="en-US" dirty="false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algn="l">
              <a:buSzPct val="50000"/>
              <a:buFont typeface="Wingdings" panose="05000000000000000000" pitchFamily="2" charset="2"/>
              <a:buChar char="n"/>
            </a:pPr>
            <a:r>
              <a:rPr lang="zh-CN" altLang="en-US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操作系统中的就绪队列</a:t>
            </a:r>
            <a:r>
              <a:rPr lang="en-US" altLang="zh-CN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lang="zh-CN" altLang="en-US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进程调度</a:t>
            </a:r>
            <a:endParaRPr lang="zh-CN" altLang="en-US" sz="2400" dirty="false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 algn="l">
              <a:spcAft>
                <a:spcPts val="600"/>
              </a:spcAft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管理等待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CPU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分配的进程或线程，支持进程入队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/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出队的高效操作</a:t>
            </a:r>
            <a:endParaRPr lang="zh-CN" altLang="en-US" dirty="false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algn="l">
              <a:buSzPct val="50000"/>
              <a:buFont typeface="Wingdings" panose="05000000000000000000" pitchFamily="2" charset="2"/>
              <a:buChar char="n"/>
            </a:pPr>
            <a:r>
              <a:rPr lang="zh-CN" altLang="en-US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网络包</a:t>
            </a:r>
            <a:r>
              <a:rPr lang="en-US" altLang="zh-CN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lang="zh-CN" altLang="en-US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消息缓冲与消息队列</a:t>
            </a:r>
            <a:endParaRPr lang="zh-CN" altLang="en-US" sz="2400" dirty="false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 algn="l"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在网络传输或分布式系统中缓存待处理的包或消息，保证发送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/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消费的先来先服务</a:t>
            </a:r>
            <a:endParaRPr lang="zh-CN" altLang="en-US" dirty="false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876" name="Rectangle 2"/>
          <p:cNvSpPr>
            <a:spLocks noGrp="true"/>
          </p:cNvSpPr>
          <p:nvPr>
            <p:ph type="title"/>
          </p:nvPr>
        </p:nvSpPr>
        <p:spPr>
          <a:xfrm>
            <a:off x="3791585" y="511175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7.2.5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链式队列的应用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877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Rectangle 2"/>
          <p:cNvSpPr>
            <a:spLocks noGrp="true"/>
          </p:cNvSpPr>
          <p:nvPr>
            <p:ph type="title"/>
          </p:nvPr>
        </p:nvSpPr>
        <p:spPr>
          <a:xfrm>
            <a:off x="3791585" y="511175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7.2.5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链式队列的应用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880" name="textbox 930"/>
          <p:cNvSpPr/>
          <p:nvPr/>
        </p:nvSpPr>
        <p:spPr>
          <a:xfrm>
            <a:off x="623570" y="1287780"/>
            <a:ext cx="4848225" cy="3507740"/>
          </a:xfrm>
          <a:prstGeom prst="rect">
            <a:avLst/>
          </a:prstGeom>
          <a:solidFill>
            <a:srgbClr val="FAECE5"/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algn="ctr" eaLnBrk="false">
              <a:lnSpc>
                <a:spcPct val="150000"/>
              </a:lnSpc>
            </a:pP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81" name="textbox 934"/>
          <p:cNvSpPr/>
          <p:nvPr/>
        </p:nvSpPr>
        <p:spPr>
          <a:xfrm>
            <a:off x="1125308" y="1072832"/>
            <a:ext cx="2647862" cy="434975"/>
          </a:xfrm>
          <a:prstGeom prst="rect">
            <a:avLst/>
          </a:prstGeom>
          <a:solidFill>
            <a:srgbClr val="F2C188"/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false" eaLnBrk="false">
              <a:lnSpc>
                <a:spcPct val="107000"/>
              </a:lnSpc>
            </a:pPr>
            <a:r>
              <a:rPr lang="zh-CN" altLang="en-US" sz="2400" b="true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操作系统进程调度</a:t>
            </a:r>
            <a:endParaRPr lang="zh-CN" altLang="en-US" sz="2400" b="true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82" name="文本框 4"/>
          <p:cNvSpPr txBox="true"/>
          <p:nvPr/>
        </p:nvSpPr>
        <p:spPr>
          <a:xfrm>
            <a:off x="680085" y="1549400"/>
            <a:ext cx="4671060" cy="3205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 eaLnBrk="false">
              <a:lnSpc>
                <a:spcPct val="125000"/>
              </a:lnSpc>
            </a:pPr>
            <a:r>
              <a:rPr lang="zh-CN" altLang="en-US" sz="2000" b="true">
                <a:latin typeface="华文中宋" panose="02010600040101010101" charset="-122"/>
                <a:ea typeface="华文中宋" panose="02010600040101010101" charset="-122"/>
              </a:rPr>
              <a:t>在操作系统的进程调度中，先来先服务（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FCFS</a:t>
            </a:r>
            <a:r>
              <a:rPr lang="zh-CN" altLang="en-US" sz="2000" b="true">
                <a:latin typeface="华文中宋" panose="02010600040101010101" charset="-122"/>
                <a:ea typeface="华文中宋" panose="02010600040101010101" charset="-122"/>
              </a:rPr>
              <a:t>）是一种最基本的调度算法，其核心原则是严格按照进程到达就绪队列的先后顺序进行调度。当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CPU</a:t>
            </a:r>
            <a:r>
              <a:rPr lang="zh-CN" altLang="en-US" sz="2000" b="true">
                <a:latin typeface="华文中宋" panose="02010600040101010101" charset="-122"/>
                <a:ea typeface="华文中宋" panose="02010600040101010101" charset="-122"/>
              </a:rPr>
              <a:t>空闲时，调度程序总是选择队列中等待时间最长的进程，即最先到达的进程，赋予其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CPU</a:t>
            </a:r>
            <a:r>
              <a:rPr lang="zh-CN" altLang="en-US" sz="2000" b="true">
                <a:latin typeface="华文中宋" panose="02010600040101010101" charset="-122"/>
                <a:ea typeface="华文中宋" panose="02010600040101010101" charset="-122"/>
              </a:rPr>
              <a:t>使用权。该进程会一直运行直到完成或主动阻塞，才会切换下一个进程。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883" name="Group 18"/>
          <p:cNvGrpSpPr/>
          <p:nvPr/>
        </p:nvGrpSpPr>
        <p:grpSpPr>
          <a:xfrm>
            <a:off x="3962388" y="5508132"/>
            <a:ext cx="1793875" cy="431800"/>
            <a:chOff x="3334" y="3213"/>
            <a:chExt cx="1043" cy="272"/>
          </a:xfrm>
        </p:grpSpPr>
        <p:sp>
          <p:nvSpPr>
            <p:cNvPr id="884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885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886" name="Group 18"/>
          <p:cNvGrpSpPr/>
          <p:nvPr/>
        </p:nvGrpSpPr>
        <p:grpSpPr>
          <a:xfrm>
            <a:off x="6218543" y="5508132"/>
            <a:ext cx="1793875" cy="431800"/>
            <a:chOff x="3334" y="3213"/>
            <a:chExt cx="1043" cy="272"/>
          </a:xfrm>
        </p:grpSpPr>
        <p:sp>
          <p:nvSpPr>
            <p:cNvPr id="887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888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889" name="Group 18"/>
          <p:cNvGrpSpPr/>
          <p:nvPr/>
        </p:nvGrpSpPr>
        <p:grpSpPr>
          <a:xfrm>
            <a:off x="8477238" y="5508132"/>
            <a:ext cx="1793875" cy="431800"/>
            <a:chOff x="3334" y="3213"/>
            <a:chExt cx="1043" cy="272"/>
          </a:xfrm>
        </p:grpSpPr>
        <p:sp>
          <p:nvSpPr>
            <p:cNvPr id="890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891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892" name="Rectangle 4"/>
          <p:cNvSpPr>
            <a:spLocks noChangeArrowheads="true"/>
          </p:cNvSpPr>
          <p:nvPr/>
        </p:nvSpPr>
        <p:spPr bwMode="auto">
          <a:xfrm>
            <a:off x="833108" y="50763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front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93" name="Rectangle 4"/>
          <p:cNvSpPr>
            <a:spLocks noChangeArrowheads="true"/>
          </p:cNvSpPr>
          <p:nvPr/>
        </p:nvSpPr>
        <p:spPr bwMode="auto">
          <a:xfrm>
            <a:off x="833108" y="55081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rear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94" name="Rectangle 4"/>
          <p:cNvSpPr>
            <a:spLocks noChangeArrowheads="true"/>
          </p:cNvSpPr>
          <p:nvPr/>
        </p:nvSpPr>
        <p:spPr bwMode="auto">
          <a:xfrm>
            <a:off x="833108" y="5939932"/>
            <a:ext cx="1090428" cy="4318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size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895" name="Group 34"/>
          <p:cNvGrpSpPr/>
          <p:nvPr/>
        </p:nvGrpSpPr>
        <p:grpSpPr>
          <a:xfrm>
            <a:off x="2870298" y="5507817"/>
            <a:ext cx="620920" cy="814388"/>
            <a:chOff x="1430" y="2568"/>
            <a:chExt cx="361" cy="513"/>
          </a:xfrm>
        </p:grpSpPr>
        <p:sp>
          <p:nvSpPr>
            <p:cNvPr id="896" name="Rectangle 27"/>
            <p:cNvSpPr>
              <a:spLocks noChangeArrowheads="true"/>
            </p:cNvSpPr>
            <p:nvPr/>
          </p:nvSpPr>
          <p:spPr bwMode="auto">
            <a:xfrm>
              <a:off x="1565" y="2568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897" name="Rectangle 32"/>
            <p:cNvSpPr>
              <a:spLocks noChangeArrowheads="true"/>
            </p:cNvSpPr>
            <p:nvPr/>
          </p:nvSpPr>
          <p:spPr bwMode="auto">
            <a:xfrm>
              <a:off x="1430" y="2809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 dirty="fals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 dirty="fals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cxnSp>
        <p:nvCxnSpPr>
          <p:cNvPr id="898" name="直接箭头连接符 41"/>
          <p:cNvCxnSpPr/>
          <p:nvPr/>
        </p:nvCxnSpPr>
        <p:spPr>
          <a:xfrm>
            <a:off x="3305810" y="5711825"/>
            <a:ext cx="635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9" name="直接箭头连接符 42"/>
          <p:cNvCxnSpPr/>
          <p:nvPr/>
        </p:nvCxnSpPr>
        <p:spPr>
          <a:xfrm>
            <a:off x="5666740" y="5711825"/>
            <a:ext cx="521970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0" name="直接箭头连接符 43"/>
          <p:cNvCxnSpPr/>
          <p:nvPr/>
        </p:nvCxnSpPr>
        <p:spPr>
          <a:xfrm>
            <a:off x="7955280" y="5705475"/>
            <a:ext cx="521970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1" name="曲线连接符 44"/>
          <p:cNvCxnSpPr>
            <a:stCxn id="892" idx="3"/>
          </p:cNvCxnSpPr>
          <p:nvPr/>
        </p:nvCxnSpPr>
        <p:spPr>
          <a:xfrm>
            <a:off x="1923415" y="5292090"/>
            <a:ext cx="1373505" cy="215900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2" name="曲线连接符 45"/>
          <p:cNvCxnSpPr/>
          <p:nvPr/>
        </p:nvCxnSpPr>
        <p:spPr>
          <a:xfrm>
            <a:off x="1923415" y="5723890"/>
            <a:ext cx="7098665" cy="215900"/>
          </a:xfrm>
          <a:prstGeom prst="curvedConnector4">
            <a:avLst>
              <a:gd name="adj1" fmla="val 5351"/>
              <a:gd name="adj2" fmla="val 3397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3" name="直接箭头连接符 46"/>
          <p:cNvCxnSpPr/>
          <p:nvPr/>
        </p:nvCxnSpPr>
        <p:spPr>
          <a:xfrm>
            <a:off x="9952990" y="5699125"/>
            <a:ext cx="635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4" name="文本框 47"/>
          <p:cNvSpPr txBox="true"/>
          <p:nvPr/>
        </p:nvSpPr>
        <p:spPr>
          <a:xfrm>
            <a:off x="10594340" y="5543550"/>
            <a:ext cx="902260" cy="347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 dirty="false">
                <a:solidFill>
                  <a:schemeClr val="tx1"/>
                </a:solidFill>
                <a:latin typeface="楷体_GB2312" pitchFamily="49" charset="-122"/>
                <a:ea typeface="仿宋_GB2312" pitchFamily="49" charset="-122"/>
              </a:rPr>
              <a:t>NULL</a:t>
            </a:r>
            <a:endParaRPr lang="en-US" altLang="zh-CN" sz="1800" b="true" dirty="false">
              <a:solidFill>
                <a:schemeClr val="tx1"/>
              </a:solidFill>
              <a:latin typeface="楷体_GB2312" pitchFamily="49" charset="-122"/>
              <a:ea typeface="仿宋_GB2312" pitchFamily="49" charset="-122"/>
            </a:endParaRPr>
          </a:p>
        </p:txBody>
      </p:sp>
      <p:sp>
        <p:nvSpPr>
          <p:cNvPr id="905" name="Rectangle 4"/>
          <p:cNvSpPr>
            <a:spLocks noChangeArrowheads="true"/>
          </p:cNvSpPr>
          <p:nvPr/>
        </p:nvSpPr>
        <p:spPr bwMode="auto">
          <a:xfrm>
            <a:off x="6218555" y="4441190"/>
            <a:ext cx="1090295" cy="80645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CPU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906" name="曲线连接符 49"/>
          <p:cNvCxnSpPr>
            <a:stCxn id="884" idx="0"/>
            <a:endCxn id="905" idx="1"/>
          </p:cNvCxnSpPr>
          <p:nvPr/>
        </p:nvCxnSpPr>
        <p:spPr>
          <a:xfrm rot="16200000">
            <a:off x="5030470" y="4320540"/>
            <a:ext cx="663575" cy="1711325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7" name="Rectangle 32"/>
          <p:cNvSpPr>
            <a:spLocks noChangeArrowheads="true"/>
          </p:cNvSpPr>
          <p:nvPr/>
        </p:nvSpPr>
        <p:spPr bwMode="auto">
          <a:xfrm>
            <a:off x="5126343" y="4898214"/>
            <a:ext cx="54696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调度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908" name="直接箭头连接符 51"/>
          <p:cNvCxnSpPr>
            <a:stCxn id="905" idx="3"/>
          </p:cNvCxnSpPr>
          <p:nvPr/>
        </p:nvCxnSpPr>
        <p:spPr>
          <a:xfrm>
            <a:off x="7308850" y="4844415"/>
            <a:ext cx="112141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9" name="Rectangle 32"/>
          <p:cNvSpPr>
            <a:spLocks noChangeArrowheads="true"/>
          </p:cNvSpPr>
          <p:nvPr/>
        </p:nvSpPr>
        <p:spPr bwMode="auto">
          <a:xfrm>
            <a:off x="7515213" y="4466414"/>
            <a:ext cx="54696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完成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10" name="Rectangle 4"/>
          <p:cNvSpPr>
            <a:spLocks noChangeArrowheads="true"/>
          </p:cNvSpPr>
          <p:nvPr/>
        </p:nvSpPr>
        <p:spPr bwMode="auto">
          <a:xfrm>
            <a:off x="6814820" y="1922145"/>
            <a:ext cx="824230" cy="10407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进程</a:t>
            </a: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11" name="Rectangle 4"/>
          <p:cNvSpPr>
            <a:spLocks noChangeArrowheads="true"/>
          </p:cNvSpPr>
          <p:nvPr/>
        </p:nvSpPr>
        <p:spPr bwMode="auto">
          <a:xfrm>
            <a:off x="7639050" y="1922145"/>
            <a:ext cx="824230" cy="10407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进程</a:t>
            </a: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12" name="Rectangle 4"/>
          <p:cNvSpPr>
            <a:spLocks noChangeArrowheads="true"/>
          </p:cNvSpPr>
          <p:nvPr/>
        </p:nvSpPr>
        <p:spPr bwMode="auto">
          <a:xfrm>
            <a:off x="8463280" y="1922145"/>
            <a:ext cx="824230" cy="10407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进程</a:t>
            </a: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13" name="Rectangle 4"/>
          <p:cNvSpPr>
            <a:spLocks noChangeArrowheads="true"/>
          </p:cNvSpPr>
          <p:nvPr/>
        </p:nvSpPr>
        <p:spPr bwMode="auto">
          <a:xfrm>
            <a:off x="9287510" y="1922145"/>
            <a:ext cx="824230" cy="10407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14" name="Rectangle 4"/>
          <p:cNvSpPr>
            <a:spLocks noChangeArrowheads="true"/>
          </p:cNvSpPr>
          <p:nvPr/>
        </p:nvSpPr>
        <p:spPr bwMode="auto">
          <a:xfrm>
            <a:off x="10105390" y="1922145"/>
            <a:ext cx="824230" cy="10407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进程</a:t>
            </a: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n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15" name="Rectangle 4"/>
          <p:cNvSpPr>
            <a:spLocks noChangeArrowheads="true"/>
          </p:cNvSpPr>
          <p:nvPr/>
        </p:nvSpPr>
        <p:spPr bwMode="auto">
          <a:xfrm>
            <a:off x="6217920" y="2962910"/>
            <a:ext cx="5370195" cy="68770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调度程序（</a:t>
            </a: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scheduler</a:t>
            </a:r>
            <a:r>
              <a:rPr lang="zh-CN" altLang="en-US" sz="1800" b="true">
                <a:latin typeface="华文中宋" panose="02010600040101010101" charset="-122"/>
                <a:ea typeface="华文中宋" panose="02010600040101010101" charset="-122"/>
              </a:rPr>
              <a:t>）</a:t>
            </a:r>
            <a:endParaRPr lang="zh-CN" altLang="en-US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16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  <p:pic>
        <p:nvPicPr>
          <p:cNvPr id="917" name="图片 7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723346" y="5507817"/>
            <a:ext cx="388102" cy="4323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9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Rectangle 2"/>
          <p:cNvSpPr>
            <a:spLocks noGrp="true"/>
          </p:cNvSpPr>
          <p:nvPr>
            <p:ph type="title"/>
          </p:nvPr>
        </p:nvSpPr>
        <p:spPr>
          <a:xfrm>
            <a:off x="3791585" y="511175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顺序存储</a:t>
            </a:r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vs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链式存储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graphicFrame>
        <p:nvGraphicFramePr>
          <p:cNvPr id="920" name="表格 1"/>
          <p:cNvGraphicFramePr/>
          <p:nvPr/>
        </p:nvGraphicFramePr>
        <p:xfrm>
          <a:off x="896620" y="1330960"/>
          <a:ext cx="10407015" cy="429768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2804795">
                  <a:extLst>
                    <a:ext uri="{9D8B030D-6E8A-4147-A177-3AD203B41FA5}">
                      <a16:colId val="1"/>
                    </a:ext>
                  </a:extLst>
                </a:gridCol>
                <a:gridCol w="2582545">
                  <a:extLst>
                    <a:ext uri="{9D8B030D-6E8A-4147-A177-3AD203B41FA5}">
                      <a16:colId val="2"/>
                    </a:ext>
                  </a:extLst>
                </a:gridCol>
                <a:gridCol w="2192655">
                  <a:extLst>
                    <a:ext uri="{9D8B030D-6E8A-4147-A177-3AD203B41FA5}">
                      <a16:colId val="3"/>
                    </a:ext>
                  </a:extLst>
                </a:gridCol>
                <a:gridCol w="282702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操作</a:t>
                      </a:r>
                      <a:endParaRPr lang="zh-CN" altLang="en-US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基于数组</a:t>
                      </a:r>
                      <a:endParaRPr lang="zh-CN" altLang="en-US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基于链表</a:t>
                      </a:r>
                      <a:endParaRPr lang="zh-CN" altLang="en-US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说明</a:t>
                      </a:r>
                      <a:endParaRPr lang="zh-CN" altLang="en-US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val="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入队</a:t>
                      </a:r>
                      <a:r>
                        <a:rPr lang="en-US" altLang="zh-CN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(enqueue)</a:t>
                      </a:r>
                      <a:endParaRPr lang="en-US" altLang="zh-CN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false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O(1)</a:t>
                      </a:r>
                      <a:endParaRPr lang="en-US" b="false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O(1)</a:t>
                      </a:r>
                      <a:endParaRPr lang="en-US" altLang="zh-CN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尾部添加</a:t>
                      </a:r>
                      <a:endParaRPr lang="zh-CN" altLang="en-US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val="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出队</a:t>
                      </a:r>
                      <a:r>
                        <a:rPr lang="en-US" altLang="zh-CN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(dequeue)</a:t>
                      </a:r>
                      <a:endParaRPr lang="en-US" altLang="zh-CN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O(1)</a:t>
                      </a:r>
                      <a:endParaRPr lang="en-US" altLang="en-US" sz="1800" b="false">
                        <a:latin typeface="黑体" panose="02010609060101010101" pitchFamily="49" charset="-122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O(1)</a:t>
                      </a:r>
                      <a:endParaRPr lang="en-US" altLang="zh-CN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头部移除</a:t>
                      </a:r>
                      <a:endParaRPr lang="zh-CN" altLang="en-US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val="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marR="0" lvl="0" indent="0" algn="ctr" defTabSz="914400" rtl="false" eaLnBrk="true" fontAlgn="auto" latinLnBrk="false" hangingPunct="tru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查看队首</a:t>
                      </a:r>
                      <a:r>
                        <a:rPr lang="en-US" altLang="zh-CN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(peek)</a:t>
                      </a:r>
                      <a:endParaRPr lang="en-US" altLang="zh-CN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O(1)</a:t>
                      </a:r>
                      <a:endParaRPr lang="en-US" altLang="en-US" sz="1800" b="false">
                        <a:latin typeface="黑体" panose="02010609060101010101" pitchFamily="49" charset="-122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O(1)</a:t>
                      </a:r>
                      <a:endParaRPr lang="en-US" altLang="zh-CN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访问头部</a:t>
                      </a:r>
                      <a:endParaRPr lang="zh-CN" altLang="en-US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val="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false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查找</a:t>
                      </a:r>
                      <a:r>
                        <a:rPr lang="en-US" altLang="zh-CN" dirty="false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(search)</a:t>
                      </a:r>
                      <a:endParaRPr lang="en-US" altLang="zh-CN" dirty="false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O(n)</a:t>
                      </a:r>
                      <a:endParaRPr lang="en-US" altLang="zh-CN" sz="1800" b="false">
                        <a:latin typeface="黑体" panose="02010609060101010101" pitchFamily="49" charset="-122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O(n)</a:t>
                      </a:r>
                      <a:endParaRPr lang="en-US" altLang="zh-CN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需要遍历</a:t>
                      </a:r>
                      <a:endParaRPr lang="zh-CN" altLang="en-US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val="5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false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空间复杂度</a:t>
                      </a:r>
                      <a:endParaRPr lang="zh-CN" altLang="en-US" dirty="false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O(n)</a:t>
                      </a:r>
                      <a:endParaRPr lang="en-US" altLang="zh-CN" sz="1800" b="false">
                        <a:latin typeface="黑体" panose="02010609060101010101" pitchFamily="49" charset="-122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false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O(n)</a:t>
                      </a:r>
                      <a:endParaRPr lang="en-US" altLang="zh-CN" dirty="false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false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存储</a:t>
                      </a:r>
                      <a:r>
                        <a:rPr lang="en-US" altLang="zh-CN" dirty="false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n</a:t>
                      </a:r>
                      <a:r>
                        <a:rPr lang="zh-CN" altLang="en-US" dirty="false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个元素</a:t>
                      </a:r>
                      <a:endParaRPr lang="zh-CN" altLang="en-US" dirty="false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921" name="文本框 3"/>
          <p:cNvSpPr txBox="true">
            <a:spLocks noChangeArrowheads="true"/>
          </p:cNvSpPr>
          <p:nvPr/>
        </p:nvSpPr>
        <p:spPr bwMode="auto">
          <a:xfrm>
            <a:off x="896620" y="5774055"/>
            <a:ext cx="1066990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4546A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rgbClr val="000000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rgbClr val="44546A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>
              <a:spcBef>
                <a:spcPct val="1"/>
              </a:spcBef>
              <a:buClrTx/>
              <a:buSzTx/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链式存储动态分配内存，队列容量可动态调整，不会出现假溢出现象（可通过循环队列解决）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22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Rectangle 2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ctr" anchorCtr="false"/>
          <a:lstStyle/>
          <a:p>
            <a:pPr eaLnBrk="true" hangingPunct="true"/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第七讲</a:t>
            </a:r>
            <a:r>
              <a:rPr lang="zh-CN" altLang="en-US" kern="1200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 链表</a:t>
            </a:r>
            <a:r>
              <a:rPr lang="en-US" altLang="zh-CN" kern="1200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——</a:t>
            </a:r>
            <a:r>
              <a:rPr lang="zh-CN" altLang="en-US" kern="1200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学习内容</a:t>
            </a:r>
            <a:endParaRPr lang="zh-CN" altLang="en-US" kern="1200" dirty="false">
              <a:latin typeface="黑体" panose="02010609060101010101" pitchFamily="49" charset="-122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925" name="Rectangle 3"/>
          <p:cNvSpPr>
            <a:spLocks noGrp="true"/>
          </p:cNvSpPr>
          <p:nvPr>
            <p:ph idx="1"/>
          </p:nvPr>
        </p:nvSpPr>
        <p:spPr>
          <a:xfrm>
            <a:off x="1271270" y="2360930"/>
            <a:ext cx="7848600" cy="3277870"/>
          </a:xfrm>
        </p:spPr>
        <p:txBody>
          <a:bodyPr vert="horz" wrap="square" lIns="91440" tIns="45720" rIns="91440" bIns="45720" anchor="t" anchorCtr="false"/>
          <a:lstStyle/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r>
              <a:rPr lang="en-US" altLang="zh-CN" sz="3200" dirty="false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7.1 </a:t>
            </a:r>
            <a:r>
              <a:rPr lang="zh-CN" altLang="en-US" sz="3200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链表及其基本操作</a:t>
            </a:r>
            <a:endParaRPr lang="zh-CN" altLang="en-US" sz="3200" dirty="false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r>
              <a:rPr lang="en-US" altLang="zh-CN" sz="3200" dirty="false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7.2 </a:t>
            </a:r>
            <a:r>
              <a:rPr lang="zh-CN" altLang="en-US" sz="3200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链式队列</a:t>
            </a:r>
            <a:endParaRPr lang="zh-CN" altLang="en-US" sz="3200" dirty="false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r>
              <a:rPr lang="en-US" altLang="zh-CN" sz="3200" dirty="false">
                <a:solidFill>
                  <a:srgbClr val="FF0000"/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 </a:t>
            </a:r>
            <a:r>
              <a:rPr lang="zh-CN" altLang="en-US" sz="3200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双向链表</a:t>
            </a:r>
            <a:endParaRPr lang="zh-CN" altLang="en-US" sz="3200" dirty="false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926" name="Picture 7"/>
          <p:cNvPicPr>
            <a:picLocks noChangeAspect="true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07120" y="3068960"/>
            <a:ext cx="3232610" cy="30476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7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ransition/>
</p:sld>
</file>

<file path=ppt/slides/slide4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Rectangle 2"/>
          <p:cNvSpPr>
            <a:spLocks noGrp="true"/>
          </p:cNvSpPr>
          <p:nvPr>
            <p:ph type="title"/>
          </p:nvPr>
        </p:nvSpPr>
        <p:spPr>
          <a:xfrm>
            <a:off x="4276725" y="582930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单链表</a:t>
            </a:r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vs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双链表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956" name="rect 196"/>
          <p:cNvSpPr/>
          <p:nvPr/>
        </p:nvSpPr>
        <p:spPr>
          <a:xfrm>
            <a:off x="6367259" y="1372870"/>
            <a:ext cx="5190196" cy="4882515"/>
          </a:xfrm>
          <a:prstGeom prst="rect">
            <a:avLst/>
          </a:prstGeom>
          <a:solidFill>
            <a:srgbClr val="FFEFD9"/>
          </a:solidFill>
          <a:ln w="0" cap="flat">
            <a:noFill/>
            <a:prstDash val="solid"/>
            <a:miter lim="0"/>
          </a:ln>
        </p:spPr>
        <p:txBody>
          <a:bodyPr rtlCol="false"/>
          <a:lstStyle/>
          <a:p>
            <a:pPr algn="ctr"/>
            <a:endParaRPr lang="zh-CN" altLang="en-US"/>
          </a:p>
        </p:txBody>
      </p:sp>
      <p:sp>
        <p:nvSpPr>
          <p:cNvPr id="957" name="rect 196"/>
          <p:cNvSpPr/>
          <p:nvPr/>
        </p:nvSpPr>
        <p:spPr>
          <a:xfrm>
            <a:off x="659892" y="1385316"/>
            <a:ext cx="5102352" cy="4870069"/>
          </a:xfrm>
          <a:prstGeom prst="rect">
            <a:avLst/>
          </a:prstGeom>
          <a:solidFill>
            <a:srgbClr val="D3F3E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false"/>
          <a:lstStyle/>
          <a:p>
            <a:pPr algn="ctr"/>
            <a:endParaRPr lang="zh-CN" altLang="en-US"/>
          </a:p>
        </p:txBody>
      </p:sp>
      <p:sp>
        <p:nvSpPr>
          <p:cNvPr id="958" name="textbox 200"/>
          <p:cNvSpPr/>
          <p:nvPr/>
        </p:nvSpPr>
        <p:spPr>
          <a:xfrm>
            <a:off x="6579096" y="1994763"/>
            <a:ext cx="4808042" cy="3041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indent="457200" algn="just" eaLnBrk="false"/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双向链表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是在单链表的每个结点中，再设置一个指向其前驱结点的指针域。所以双向链表结点都有两个指针域，一个指向直接前驱，一个指向直接后继。</a:t>
            </a:r>
            <a:endParaRPr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59" name="textbox 202"/>
          <p:cNvSpPr/>
          <p:nvPr/>
        </p:nvSpPr>
        <p:spPr>
          <a:xfrm>
            <a:off x="873760" y="1821180"/>
            <a:ext cx="4576445" cy="2397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indent="457200" algn="just" rtl="false" eaLnBrk="false">
              <a:lnSpc>
                <a:spcPct val="100000"/>
              </a:lnSpc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单链表在查找某个结点的直接前驱时，要从头结点开始，遍历整个链表，时间复杂度为</a:t>
            </a:r>
            <a:r>
              <a:rPr lang="zh-CN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O(n)。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双向链表解决了这个问题，但需要付出一定的空间代价。</a:t>
            </a:r>
            <a:endParaRPr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960" name="textbox 204"/>
          <p:cNvSpPr/>
          <p:nvPr/>
        </p:nvSpPr>
        <p:spPr>
          <a:xfrm>
            <a:off x="6973861" y="1180085"/>
            <a:ext cx="2209800" cy="483234"/>
          </a:xfrm>
          <a:prstGeom prst="rect">
            <a:avLst/>
          </a:prstGeom>
          <a:solidFill>
            <a:srgbClr val="C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false" eaLnBrk="false">
              <a:lnSpc>
                <a:spcPct val="118000"/>
              </a:lnSpc>
            </a:pPr>
            <a:endParaRPr sz="5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90204"/>
            </a:endParaRPr>
          </a:p>
          <a:p>
            <a:pPr marL="502285" algn="l" rtl="false" eaLnBrk="false">
              <a:lnSpc>
                <a:spcPct val="91000"/>
              </a:lnSpc>
              <a:spcBef>
                <a:spcPts val="0"/>
              </a:spcBef>
            </a:pPr>
            <a:r>
              <a:rPr lang="zh-CN" altLang="en-US" sz="2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华文中宋" panose="02010600040101010101" charset="-122"/>
              </a:rPr>
              <a:t>双向链表</a:t>
            </a:r>
            <a:endParaRPr sz="24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华文中宋" panose="02010600040101010101" charset="-122"/>
            </a:endParaRPr>
          </a:p>
        </p:txBody>
      </p:sp>
      <p:sp>
        <p:nvSpPr>
          <p:cNvPr id="961" name="textbox 206"/>
          <p:cNvSpPr/>
          <p:nvPr/>
        </p:nvSpPr>
        <p:spPr>
          <a:xfrm>
            <a:off x="1152143" y="1228344"/>
            <a:ext cx="2209800" cy="434975"/>
          </a:xfrm>
          <a:prstGeom prst="rect">
            <a:avLst/>
          </a:prstGeom>
          <a:solidFill>
            <a:srgbClr val="005C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false" eaLnBrk="false">
              <a:lnSpc>
                <a:spcPct val="108000"/>
              </a:lnSpc>
            </a:pPr>
            <a:endParaRPr sz="400">
              <a:latin typeface="黑体" panose="02010609060101010101" pitchFamily="49" charset="-122"/>
              <a:ea typeface="黑体" panose="02010609060101010101" pitchFamily="49" charset="-122"/>
              <a:cs typeface="Arial" panose="020B0604020202090204"/>
            </a:endParaRPr>
          </a:p>
          <a:p>
            <a:pPr marL="670560" algn="l" rtl="false" eaLnBrk="false">
              <a:lnSpc>
                <a:spcPct val="89000"/>
              </a:lnSpc>
              <a:spcBef>
                <a:spcPts val="0"/>
              </a:spcBef>
            </a:pPr>
            <a:r>
              <a:rPr lang="zh-CN" sz="2400" kern="0" spc="-20">
                <a:solidFill>
                  <a:srgbClr val="FFFFFF">
                    <a:alpha val="10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华文中宋" panose="02010600040101010101" charset="-122"/>
              </a:rPr>
              <a:t>单链表</a:t>
            </a:r>
            <a:endParaRPr lang="zh-CN" sz="2400" kern="0" spc="-20">
              <a:solidFill>
                <a:srgbClr val="FFFFFF">
                  <a:alpha val="100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  <a:cs typeface="华文中宋" panose="02010600040101010101" charset="-122"/>
            </a:endParaRPr>
          </a:p>
        </p:txBody>
      </p:sp>
      <p:pic>
        <p:nvPicPr>
          <p:cNvPr id="962" name="Object 4"/>
          <p:cNvPicPr/>
          <p:nvPr/>
        </p:nvPicPr>
        <p:blipFill>
          <a:blip r:embed="rId1"/>
          <a:stretch>
            <a:fillRect/>
          </a:stretch>
        </p:blipFill>
        <p:spPr>
          <a:xfrm>
            <a:off x="2211980" y="4794053"/>
            <a:ext cx="2298749" cy="1004897"/>
          </a:xfrm>
          <a:prstGeom prst="rect">
            <a:avLst/>
          </a:prstGeom>
          <a:solidFill>
            <a:schemeClr val="accent1"/>
          </a:solidFill>
          <a:ln w="38100">
            <a:noFill/>
            <a:miter/>
          </a:ln>
        </p:spPr>
      </p:pic>
      <p:pic>
        <p:nvPicPr>
          <p:cNvPr id="963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7386985" y="4716796"/>
            <a:ext cx="3062899" cy="1024804"/>
          </a:xfrm>
          <a:prstGeom prst="rect">
            <a:avLst/>
          </a:prstGeom>
          <a:solidFill>
            <a:schemeClr val="accent1"/>
          </a:solidFill>
          <a:ln w="38100">
            <a:noFill/>
            <a:miter/>
          </a:ln>
        </p:spPr>
      </p:pic>
      <p:sp>
        <p:nvSpPr>
          <p:cNvPr id="964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Rectangle 2"/>
          <p:cNvSpPr>
            <a:spLocks noGrp="true"/>
          </p:cNvSpPr>
          <p:nvPr>
            <p:ph type="title"/>
          </p:nvPr>
        </p:nvSpPr>
        <p:spPr>
          <a:xfrm>
            <a:off x="3433445" y="582930"/>
            <a:ext cx="633349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7.3.1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双向链表的数据结构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grpSp>
        <p:nvGrpSpPr>
          <p:cNvPr id="967" name="Group 5"/>
          <p:cNvGrpSpPr/>
          <p:nvPr/>
        </p:nvGrpSpPr>
        <p:grpSpPr>
          <a:xfrm>
            <a:off x="692003" y="1855597"/>
            <a:ext cx="6183313" cy="3157538"/>
            <a:chOff x="-508" y="47"/>
            <a:chExt cx="3895" cy="1989"/>
          </a:xfrm>
          <a:solidFill>
            <a:srgbClr val="FFFFCC"/>
          </a:solidFill>
        </p:grpSpPr>
        <p:sp>
          <p:nvSpPr>
            <p:cNvPr id="968" name="Text Box 6"/>
            <p:cNvSpPr txBox="true"/>
            <p:nvPr/>
          </p:nvSpPr>
          <p:spPr>
            <a:xfrm>
              <a:off x="-508" y="47"/>
              <a:ext cx="3319" cy="1666"/>
            </a:xfrm>
            <a:prstGeom prst="rect">
              <a:avLst/>
            </a:prstGeom>
            <a:grpFill/>
            <a:ln w="9525">
              <a:solidFill>
                <a:schemeClr val="accent6"/>
              </a:solidFill>
            </a:ln>
          </p:spPr>
          <p:txBody>
            <a:bodyPr>
              <a:noAutofit/>
            </a:bodyPr>
            <a:lstStyle>
              <a:lvl1pPr marL="342900" indent="-3429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rgbClr val="333399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rgbClr val="3333CC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5pPr>
            </a:lstStyle>
            <a:p>
              <a:pPr marL="0" lvl="0" indent="0" eaLnBrk="true" hangingPunct="true">
                <a:lnSpc>
                  <a:spcPct val="130000"/>
                </a:lnSpc>
                <a:spcBef>
                  <a:spcPct val="1"/>
                </a:spcBef>
                <a:buClrTx/>
                <a:buSzTx/>
                <a:buFontTx/>
                <a:buNone/>
              </a:pPr>
              <a:r>
                <a:rPr lang="en-US" altLang="zh-CN" sz="2400" b="true" dirty="fals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typedef struct </a:t>
              </a:r>
              <a:r>
                <a:rPr lang="en-US" altLang="zh-CN" sz="2400" b="true" dirty="false" err="tru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DuLNode</a:t>
              </a:r>
              <a:r>
                <a:rPr lang="en-US" altLang="zh-CN" sz="2400" b="true" dirty="fals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{</a:t>
              </a:r>
              <a:endParaRPr lang="en-US" altLang="zh-CN" sz="24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endParaRPr>
            </a:p>
            <a:p>
              <a:pPr marL="0" lvl="0" indent="0" eaLnBrk="true" hangingPunct="true">
                <a:lnSpc>
                  <a:spcPct val="130000"/>
                </a:lnSpc>
                <a:spcBef>
                  <a:spcPct val="1"/>
                </a:spcBef>
                <a:buClrTx/>
                <a:buSzTx/>
                <a:buFontTx/>
                <a:buNone/>
              </a:pPr>
              <a:r>
                <a:rPr lang="en-US" altLang="zh-CN" sz="2400" b="true" dirty="fals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    </a:t>
              </a:r>
              <a:r>
                <a:rPr lang="en-US" altLang="zh-CN" sz="2400" b="true" dirty="false" err="tru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ElemType</a:t>
              </a:r>
              <a:r>
                <a:rPr lang="en-US" altLang="zh-CN" sz="2400" b="true" dirty="fals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   data;              </a:t>
              </a:r>
              <a:endParaRPr lang="en-US" altLang="zh-CN" sz="24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endParaRPr>
            </a:p>
            <a:p>
              <a:pPr marL="0" lvl="0" indent="0" eaLnBrk="true" hangingPunct="true">
                <a:lnSpc>
                  <a:spcPct val="130000"/>
                </a:lnSpc>
                <a:spcBef>
                  <a:spcPct val="1"/>
                </a:spcBef>
                <a:buClrTx/>
                <a:buSzTx/>
                <a:buFontTx/>
                <a:buNone/>
              </a:pPr>
              <a:r>
                <a:rPr lang="en-US" altLang="zh-CN" sz="2400" b="true" dirty="fals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    struct </a:t>
              </a:r>
              <a:r>
                <a:rPr lang="en-US" altLang="zh-CN" sz="2400" b="true" dirty="false" err="tru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DuLNode</a:t>
              </a:r>
              <a:r>
                <a:rPr lang="en-US" altLang="zh-CN" sz="2400" b="true" dirty="fals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  *prior;  </a:t>
              </a:r>
              <a:endParaRPr lang="en-US" altLang="zh-CN" sz="24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endParaRPr>
            </a:p>
            <a:p>
              <a:pPr marL="0" lvl="0" indent="0" eaLnBrk="true" hangingPunct="true">
                <a:lnSpc>
                  <a:spcPct val="130000"/>
                </a:lnSpc>
                <a:spcBef>
                  <a:spcPct val="1"/>
                </a:spcBef>
                <a:buClrTx/>
                <a:buSzTx/>
                <a:buFontTx/>
                <a:buNone/>
              </a:pPr>
              <a:r>
                <a:rPr lang="en-US" altLang="zh-CN" sz="2400" b="true" dirty="fals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    struct </a:t>
              </a:r>
              <a:r>
                <a:rPr lang="en-US" altLang="zh-CN" sz="2400" b="true" dirty="false" err="tru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DuLNode</a:t>
              </a:r>
              <a:r>
                <a:rPr lang="en-US" altLang="zh-CN" sz="2400" b="true" dirty="fals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  *next;  </a:t>
              </a:r>
              <a:endParaRPr lang="en-US" altLang="zh-CN" sz="24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endParaRPr>
            </a:p>
            <a:p>
              <a:pPr marL="0" lvl="0" indent="0" eaLnBrk="true" hangingPunct="true">
                <a:lnSpc>
                  <a:spcPct val="130000"/>
                </a:lnSpc>
                <a:spcBef>
                  <a:spcPct val="1"/>
                </a:spcBef>
                <a:buClrTx/>
                <a:buSzTx/>
                <a:buFontTx/>
                <a:buNone/>
              </a:pPr>
              <a:r>
                <a:rPr lang="en-US" altLang="zh-CN" sz="2400" b="true" dirty="fals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}</a:t>
              </a:r>
              <a:r>
                <a:rPr lang="en-US" altLang="zh-CN" sz="2400" b="true" dirty="false" err="tru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DuLNode</a:t>
              </a:r>
              <a:r>
                <a:rPr lang="en-US" altLang="zh-CN" sz="2400" b="true" dirty="fals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, *</a:t>
              </a:r>
              <a:r>
                <a:rPr lang="en-US" altLang="zh-CN" sz="2400" b="true" dirty="false" err="tru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DuLinkList</a:t>
              </a:r>
              <a:r>
                <a:rPr lang="en-US" altLang="zh-CN" sz="2400" b="true" dirty="false">
                  <a:latin typeface="Courier New" panose="02070409020205090404" pitchFamily="49" charset="0"/>
                  <a:ea typeface="宋体" pitchFamily="2" charset="-122"/>
                  <a:cs typeface="Courier New" panose="02070409020205090404" pitchFamily="49" charset="0"/>
                </a:rPr>
                <a:t>;</a:t>
              </a:r>
              <a:endParaRPr lang="en-US" altLang="zh-CN" sz="24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endParaRPr>
            </a:p>
            <a:p>
              <a:pPr marL="0" lvl="0" indent="0" eaLnBrk="true" hangingPunct="true">
                <a:spcBef>
                  <a:spcPct val="1"/>
                </a:spcBef>
                <a:buClrTx/>
                <a:buSzTx/>
                <a:buFontTx/>
                <a:buNone/>
              </a:pPr>
              <a:endParaRPr lang="en-US" altLang="zh-CN" sz="24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endParaRPr>
            </a:p>
          </p:txBody>
        </p:sp>
        <p:sp>
          <p:nvSpPr>
            <p:cNvPr id="969" name="Line 7"/>
            <p:cNvSpPr/>
            <p:nvPr/>
          </p:nvSpPr>
          <p:spPr>
            <a:xfrm flipH="true" flipV="true">
              <a:off x="2955" y="1748"/>
              <a:ext cx="432" cy="288"/>
            </a:xfrm>
            <a:prstGeom prst="line">
              <a:avLst/>
            </a:prstGeom>
            <a:grpFill/>
            <a:ln w="76200" cap="flat" cmpd="sng">
              <a:solidFill>
                <a:schemeClr val="accent6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pPr/>
              <a:endParaRPr lang="zh-CN" altLang="en-US"/>
            </a:p>
          </p:txBody>
        </p:sp>
      </p:grpSp>
      <p:pic>
        <p:nvPicPr>
          <p:cNvPr id="970" name="Object 4"/>
          <p:cNvPicPr/>
          <p:nvPr/>
        </p:nvPicPr>
        <p:blipFill>
          <a:blip r:embed="rId1"/>
          <a:stretch>
            <a:fillRect/>
          </a:stretch>
        </p:blipFill>
        <p:spPr>
          <a:xfrm>
            <a:off x="7654329" y="1894153"/>
            <a:ext cx="3200400" cy="1391337"/>
          </a:xfrm>
          <a:prstGeom prst="rect">
            <a:avLst/>
          </a:prstGeom>
          <a:solidFill>
            <a:schemeClr val="accent1"/>
          </a:solidFill>
          <a:ln w="38100">
            <a:noFill/>
            <a:miter/>
          </a:ln>
        </p:spPr>
      </p:pic>
      <p:pic>
        <p:nvPicPr>
          <p:cNvPr id="971" name="Object 3"/>
          <p:cNvPicPr/>
          <p:nvPr/>
        </p:nvPicPr>
        <p:blipFill>
          <a:blip r:embed="rId2"/>
          <a:stretch>
            <a:fillRect/>
          </a:stretch>
        </p:blipFill>
        <p:spPr>
          <a:xfrm>
            <a:off x="7175500" y="4174490"/>
            <a:ext cx="4158058" cy="1391337"/>
          </a:xfrm>
          <a:prstGeom prst="rect">
            <a:avLst/>
          </a:prstGeom>
          <a:solidFill>
            <a:schemeClr val="accent1"/>
          </a:solidFill>
          <a:ln w="38100">
            <a:noFill/>
            <a:miter/>
          </a:ln>
        </p:spPr>
      </p:pic>
      <p:sp>
        <p:nvSpPr>
          <p:cNvPr id="972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Rectangle 2"/>
          <p:cNvSpPr>
            <a:spLocks noGrp="true"/>
          </p:cNvSpPr>
          <p:nvPr>
            <p:ph type="title"/>
          </p:nvPr>
        </p:nvSpPr>
        <p:spPr>
          <a:xfrm>
            <a:off x="3433445" y="582930"/>
            <a:ext cx="633349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7.3.1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双向链表的数据结构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grpSp>
        <p:nvGrpSpPr>
          <p:cNvPr id="975" name="Group 2"/>
          <p:cNvGrpSpPr/>
          <p:nvPr/>
        </p:nvGrpSpPr>
        <p:grpSpPr>
          <a:xfrm>
            <a:off x="893113" y="2604878"/>
            <a:ext cx="3124200" cy="1355725"/>
            <a:chOff x="0" y="0"/>
            <a:chExt cx="1968" cy="854"/>
          </a:xfrm>
        </p:grpSpPr>
        <p:pic>
          <p:nvPicPr>
            <p:cNvPr id="976" name="Object 3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968" cy="545"/>
            </a:xfrm>
            <a:prstGeom prst="rect">
              <a:avLst/>
            </a:prstGeom>
            <a:solidFill>
              <a:schemeClr val="accent1"/>
            </a:solidFill>
            <a:ln w="38100">
              <a:noFill/>
              <a:miter/>
            </a:ln>
          </p:spPr>
        </p:pic>
        <p:sp>
          <p:nvSpPr>
            <p:cNvPr id="977" name="Text Box 4"/>
            <p:cNvSpPr txBox="true"/>
            <p:nvPr/>
          </p:nvSpPr>
          <p:spPr>
            <a:xfrm>
              <a:off x="0" y="563"/>
              <a:ext cx="1869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rgbClr val="333399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rgbClr val="3333CC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5pPr>
            </a:lstStyle>
            <a:p>
              <a:pPr marL="0" lvl="0" indent="0" eaLnBrk="true" hangingPunct="true">
                <a:spcBef>
                  <a:spcPct val="1"/>
                </a:spcBef>
                <a:buClrTx/>
                <a:buSzTx/>
                <a:buFontTx/>
                <a:buNone/>
              </a:pPr>
              <a:r>
                <a:rPr lang="en-US" altLang="zh-CN" sz="2400" b="true" dirty="false">
                  <a:latin typeface="楷体_GB2312" pitchFamily="49" charset="-122"/>
                  <a:ea typeface="楷体_GB2312" pitchFamily="49" charset="-122"/>
                </a:rPr>
                <a:t>(b)  </a:t>
              </a:r>
              <a:r>
                <a:rPr lang="zh-CN" altLang="en-US" sz="2400" b="true" dirty="false">
                  <a:latin typeface="楷体_GB2312" pitchFamily="49" charset="-122"/>
                  <a:ea typeface="楷体_GB2312" pitchFamily="49" charset="-122"/>
                </a:rPr>
                <a:t>空双向循环链表</a:t>
              </a:r>
              <a:endParaRPr lang="zh-CN" altLang="en-US" sz="2400" b="true" dirty="false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978" name="Group 9"/>
          <p:cNvGrpSpPr/>
          <p:nvPr/>
        </p:nvGrpSpPr>
        <p:grpSpPr>
          <a:xfrm>
            <a:off x="4100195" y="3031041"/>
            <a:ext cx="4343400" cy="674688"/>
            <a:chOff x="0" y="0"/>
            <a:chExt cx="2736" cy="425"/>
          </a:xfrm>
        </p:grpSpPr>
        <p:sp>
          <p:nvSpPr>
            <p:cNvPr id="979" name="Text Box 10"/>
            <p:cNvSpPr txBox="true"/>
            <p:nvPr/>
          </p:nvSpPr>
          <p:spPr>
            <a:xfrm>
              <a:off x="624" y="96"/>
              <a:ext cx="2112" cy="329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70AD47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rgbClr val="333399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rgbClr val="3333CC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5pPr>
            </a:lstStyle>
            <a:p>
              <a:pPr marL="0" lvl="0" indent="0" eaLnBrk="true" hangingPunct="true">
                <a:spcBef>
                  <a:spcPct val="1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Courier New" panose="02070409020205090404" pitchFamily="49" charset="0"/>
                  <a:ea typeface="华文中宋" panose="02010600040101010101" charset="-122"/>
                  <a:cs typeface="Courier New" panose="02070409020205090404" pitchFamily="49" charset="0"/>
                </a:rPr>
                <a:t>L-&gt;next=L</a:t>
              </a:r>
              <a:endParaRPr lang="en-US" altLang="zh-CN" sz="2800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endParaRPr>
            </a:p>
          </p:txBody>
        </p:sp>
        <p:sp>
          <p:nvSpPr>
            <p:cNvPr id="980" name="Line 11"/>
            <p:cNvSpPr/>
            <p:nvPr/>
          </p:nvSpPr>
          <p:spPr>
            <a:xfrm flipH="true" flipV="true">
              <a:off x="0" y="0"/>
              <a:ext cx="528" cy="384"/>
            </a:xfrm>
            <a:prstGeom prst="line">
              <a:avLst/>
            </a:prstGeom>
            <a:ln w="76200" cap="flat" cmpd="sng">
              <a:solidFill>
                <a:srgbClr val="FF0066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pPr/>
              <a:endParaRPr lang="zh-CN" altLang="en-US"/>
            </a:p>
          </p:txBody>
        </p:sp>
      </p:grpSp>
      <p:grpSp>
        <p:nvGrpSpPr>
          <p:cNvPr id="981" name="Group 5"/>
          <p:cNvGrpSpPr/>
          <p:nvPr/>
        </p:nvGrpSpPr>
        <p:grpSpPr>
          <a:xfrm>
            <a:off x="893113" y="4076305"/>
            <a:ext cx="8830945" cy="1550881"/>
            <a:chOff x="56" y="98"/>
            <a:chExt cx="5624" cy="1307"/>
          </a:xfrm>
        </p:grpSpPr>
        <p:pic>
          <p:nvPicPr>
            <p:cNvPr id="982" name="Object 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6" y="98"/>
              <a:ext cx="5624" cy="866"/>
            </a:xfrm>
            <a:prstGeom prst="rect">
              <a:avLst/>
            </a:prstGeom>
            <a:solidFill>
              <a:schemeClr val="accent1"/>
            </a:solidFill>
            <a:ln w="38100">
              <a:noFill/>
              <a:miter/>
            </a:ln>
          </p:spPr>
        </p:pic>
        <p:sp>
          <p:nvSpPr>
            <p:cNvPr id="983" name="Text Box 7"/>
            <p:cNvSpPr txBox="true"/>
            <p:nvPr/>
          </p:nvSpPr>
          <p:spPr>
            <a:xfrm>
              <a:off x="56" y="1016"/>
              <a:ext cx="2242" cy="38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 kern="1200">
                  <a:solidFill>
                    <a:srgbClr val="333399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 kern="1200">
                  <a:solidFill>
                    <a:srgbClr val="3333CC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 kern="1200">
                  <a:solidFill>
                    <a:schemeClr val="tx1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 algn="l" rtl="false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 kern="1200">
                  <a:solidFill>
                    <a:schemeClr val="tx1"/>
                  </a:solidFill>
                  <a:latin typeface="Times New Roman" panose="02020503050405090304" pitchFamily="18" charset="0"/>
                  <a:ea typeface="Times New Roman" panose="02020503050405090304" pitchFamily="18" charset="0"/>
                  <a:cs typeface="Times New Roman" panose="02020503050405090304" pitchFamily="18" charset="0"/>
                </a:defRPr>
              </a:lvl5pPr>
            </a:lstStyle>
            <a:p>
              <a:pPr marL="0" lvl="0" indent="0" eaLnBrk="true" hangingPunct="true">
                <a:spcBef>
                  <a:spcPct val="1"/>
                </a:spcBef>
                <a:buClrTx/>
                <a:buSzTx/>
                <a:buFontTx/>
                <a:buNone/>
              </a:pPr>
              <a:r>
                <a:rPr lang="en-US" altLang="zh-CN" sz="2400" b="true">
                  <a:latin typeface="楷体_GB2312" pitchFamily="49" charset="-122"/>
                  <a:ea typeface="楷体_GB2312" pitchFamily="49" charset="-122"/>
                </a:rPr>
                <a:t>(c) </a:t>
              </a:r>
              <a:r>
                <a:rPr lang="zh-CN" altLang="en-US" sz="2400" b="true">
                  <a:latin typeface="楷体_GB2312" pitchFamily="49" charset="-122"/>
                  <a:ea typeface="楷体_GB2312" pitchFamily="49" charset="-122"/>
                </a:rPr>
                <a:t>双向循环链表</a:t>
              </a:r>
              <a:endParaRPr lang="zh-CN" altLang="en-US" sz="2400" b="true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984" name="Text Box 8"/>
          <p:cNvSpPr txBox="true"/>
          <p:nvPr/>
        </p:nvSpPr>
        <p:spPr>
          <a:xfrm>
            <a:off x="899795" y="5801303"/>
            <a:ext cx="8382000" cy="521970"/>
          </a:xfrm>
          <a:prstGeom prst="rect">
            <a:avLst/>
          </a:prstGeom>
          <a:solidFill>
            <a:srgbClr val="FFFFE7"/>
          </a:solidFill>
          <a:ln w="19050" cap="flat" cmpd="sng">
            <a:solidFill>
              <a:srgbClr val="70AD47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p-&gt;next-&gt;prior = p-&gt;prior-&gt;next = p</a:t>
            </a:r>
            <a:endParaRPr lang="en-US" altLang="zh-CN" sz="2800" b="tru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</p:txBody>
      </p:sp>
      <p:pic>
        <p:nvPicPr>
          <p:cNvPr id="985" name="图片 16" descr="图表, 图示, 箱线图  描述已自动生成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893113" y="990578"/>
            <a:ext cx="6788871" cy="1121293"/>
          </a:xfrm>
          <a:prstGeom prst="rect">
            <a:avLst/>
          </a:prstGeom>
        </p:spPr>
      </p:pic>
      <p:sp>
        <p:nvSpPr>
          <p:cNvPr id="986" name="Text Box 4"/>
          <p:cNvSpPr txBox="true"/>
          <p:nvPr/>
        </p:nvSpPr>
        <p:spPr>
          <a:xfrm>
            <a:off x="893113" y="2001034"/>
            <a:ext cx="2541080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400" b="true" dirty="false">
                <a:latin typeface="楷体_GB2312" pitchFamily="49" charset="-122"/>
                <a:ea typeface="楷体_GB2312" pitchFamily="49" charset="-122"/>
              </a:rPr>
              <a:t>(a) </a:t>
            </a:r>
            <a:r>
              <a:rPr lang="zh-CN" altLang="en-US" sz="2400" b="true" dirty="false">
                <a:latin typeface="楷体_GB2312" pitchFamily="49" charset="-122"/>
                <a:ea typeface="楷体_GB2312" pitchFamily="49" charset="-122"/>
              </a:rPr>
              <a:t>标准双向链表</a:t>
            </a:r>
            <a:endParaRPr lang="zh-CN" altLang="en-US" sz="2400" b="true" dirty="false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87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9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Rectangle 2"/>
          <p:cNvSpPr>
            <a:spLocks noGrp="true"/>
          </p:cNvSpPr>
          <p:nvPr>
            <p:ph type="title"/>
          </p:nvPr>
        </p:nvSpPr>
        <p:spPr>
          <a:xfrm>
            <a:off x="3074670" y="582930"/>
            <a:ext cx="648081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7.3.2.1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双向链表的建立操作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990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8526780" cy="65087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新建节点，并将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head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指向当前节点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991" name="Text Box 6"/>
          <p:cNvSpPr txBox="true"/>
          <p:nvPr/>
        </p:nvSpPr>
        <p:spPr>
          <a:xfrm>
            <a:off x="7454900" y="1630045"/>
            <a:ext cx="3953510" cy="1945005"/>
          </a:xfrm>
          <a:prstGeom prst="rect">
            <a:avLst/>
          </a:prstGeom>
          <a:solidFill>
            <a:srgbClr val="FFFFCC"/>
          </a:solidFill>
          <a:ln w="28575">
            <a:solidFill>
              <a:schemeClr val="accent6"/>
            </a:solidFill>
          </a:ln>
        </p:spPr>
        <p:txBody>
          <a:bodyPr>
            <a:no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lnSpc>
                <a:spcPct val="130000"/>
              </a:lnSpc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8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typedef struct </a:t>
            </a:r>
            <a:r>
              <a:rPr lang="en-US" altLang="zh-CN" sz="1800" b="true" dirty="false" err="tru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DuLNode</a:t>
            </a:r>
            <a:r>
              <a:rPr lang="en-US" altLang="zh-CN" sz="18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{</a:t>
            </a:r>
            <a:endParaRPr lang="en-US" altLang="zh-CN" sz="1800" b="true" dirty="false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0" lvl="0" indent="0" eaLnBrk="true" hangingPunct="true">
              <a:lnSpc>
                <a:spcPct val="130000"/>
              </a:lnSpc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8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</a:t>
            </a:r>
            <a:r>
              <a:rPr lang="en-US" altLang="zh-CN" sz="1800" b="true" dirty="false" err="tru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ElemType</a:t>
            </a:r>
            <a:r>
              <a:rPr lang="en-US" altLang="zh-CN" sz="18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data;              </a:t>
            </a:r>
            <a:endParaRPr lang="en-US" altLang="zh-CN" sz="1800" b="true" dirty="false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0" lvl="0" indent="0" eaLnBrk="true" hangingPunct="true">
              <a:lnSpc>
                <a:spcPct val="130000"/>
              </a:lnSpc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8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struct </a:t>
            </a:r>
            <a:r>
              <a:rPr lang="en-US" altLang="zh-CN" sz="1800" b="true" dirty="false" err="tru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DuLNode</a:t>
            </a:r>
            <a:r>
              <a:rPr lang="en-US" altLang="zh-CN" sz="18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*prior;  </a:t>
            </a:r>
            <a:endParaRPr lang="en-US" altLang="zh-CN" sz="1800" b="true" dirty="false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0" lvl="0" indent="0" eaLnBrk="true" hangingPunct="true">
              <a:lnSpc>
                <a:spcPct val="130000"/>
              </a:lnSpc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8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  struct </a:t>
            </a:r>
            <a:r>
              <a:rPr lang="en-US" altLang="zh-CN" sz="1800" b="true" dirty="false" err="tru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DuLNode</a:t>
            </a:r>
            <a:r>
              <a:rPr lang="en-US" altLang="zh-CN" sz="18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  *next;  </a:t>
            </a:r>
            <a:endParaRPr lang="en-US" altLang="zh-CN" sz="1800" b="true" dirty="false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  <a:p>
            <a:pPr marL="0" lvl="0" indent="0" eaLnBrk="true" hangingPunct="true">
              <a:lnSpc>
                <a:spcPct val="130000"/>
              </a:lnSpc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18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}</a:t>
            </a:r>
            <a:r>
              <a:rPr lang="en-US" altLang="zh-CN" sz="1800" b="true" dirty="false" err="tru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DuLNode</a:t>
            </a:r>
            <a:r>
              <a:rPr lang="en-US" altLang="zh-CN" sz="18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, *</a:t>
            </a:r>
            <a:r>
              <a:rPr lang="en-US" altLang="zh-CN" sz="1800" b="true" dirty="false" err="tru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DuLinkList</a:t>
            </a:r>
            <a:r>
              <a:rPr lang="en-US" altLang="zh-CN" sz="1800" b="true" dirty="false"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;</a:t>
            </a:r>
            <a:endParaRPr lang="en-US" altLang="zh-CN" sz="1800" b="true" dirty="false"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992" name="Rectangle 64"/>
          <p:cNvSpPr>
            <a:spLocks noChangeArrowheads="true"/>
          </p:cNvSpPr>
          <p:nvPr/>
        </p:nvSpPr>
        <p:spPr bwMode="auto">
          <a:xfrm>
            <a:off x="785495" y="4029710"/>
            <a:ext cx="7952105" cy="1982470"/>
          </a:xfrm>
          <a:prstGeom prst="rect">
            <a:avLst/>
          </a:prstGeom>
          <a:solidFill>
            <a:srgbClr val="FFFFCC"/>
          </a:solidFill>
          <a:ln w="28575">
            <a:solidFill>
              <a:srgbClr val="2DAB24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noAutofit/>
          </a:bodyPr>
          <a:lstStyle/>
          <a:p>
            <a:pPr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</a:t>
            </a:r>
            <a:r>
              <a:rPr lang="en-US" altLang="zh-CN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DuLNode</a:t>
            </a:r>
            <a:r>
              <a:rPr lang="en-US" altLang="zh-CN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*p = (</a:t>
            </a:r>
            <a:r>
              <a:rPr lang="en-US" altLang="zh-CN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DuLNode</a:t>
            </a:r>
            <a:r>
              <a:rPr lang="en-US" altLang="zh-CN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*)malloc(</a:t>
            </a:r>
            <a:r>
              <a:rPr lang="en-US" altLang="zh-CN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sizeof</a:t>
            </a:r>
            <a:r>
              <a:rPr lang="en-US" altLang="zh-CN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(</a:t>
            </a:r>
            <a:r>
              <a:rPr lang="en-US" altLang="zh-CN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DuLNode</a:t>
            </a:r>
            <a:r>
              <a:rPr lang="en-US" altLang="zh-CN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));</a:t>
            </a:r>
            <a:endParaRPr lang="en-US" altLang="zh-CN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p-&gt;data = x;</a:t>
            </a:r>
            <a:endParaRPr lang="en-US" altLang="zh-CN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p-&gt;next = NULL;</a:t>
            </a:r>
            <a:endParaRPr lang="en-US" altLang="zh-CN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p-&gt;prior = NULL;</a:t>
            </a:r>
            <a:endParaRPr lang="en-US" altLang="zh-CN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head = p;</a:t>
            </a:r>
            <a:endParaRPr lang="en-US" altLang="zh-CN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</p:txBody>
      </p:sp>
      <p:grpSp>
        <p:nvGrpSpPr>
          <p:cNvPr id="993" name="Group 34"/>
          <p:cNvGrpSpPr/>
          <p:nvPr/>
        </p:nvGrpSpPr>
        <p:grpSpPr>
          <a:xfrm>
            <a:off x="1581911" y="2208388"/>
            <a:ext cx="1092200" cy="431800"/>
            <a:chOff x="1156" y="2568"/>
            <a:chExt cx="635" cy="272"/>
          </a:xfrm>
        </p:grpSpPr>
        <p:sp>
          <p:nvSpPr>
            <p:cNvPr id="994" name="Rectangle 27"/>
            <p:cNvSpPr>
              <a:spLocks noChangeArrowheads="true"/>
            </p:cNvSpPr>
            <p:nvPr/>
          </p:nvSpPr>
          <p:spPr bwMode="auto">
            <a:xfrm>
              <a:off x="1565" y="2568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995" name="Rectangle 32"/>
            <p:cNvSpPr>
              <a:spLocks noChangeArrowheads="true"/>
            </p:cNvSpPr>
            <p:nvPr/>
          </p:nvSpPr>
          <p:spPr bwMode="auto">
            <a:xfrm>
              <a:off x="1156" y="2568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996" name="Freeform 26"/>
          <p:cNvSpPr/>
          <p:nvPr/>
        </p:nvSpPr>
        <p:spPr bwMode="auto">
          <a:xfrm>
            <a:off x="2518536" y="2424288"/>
            <a:ext cx="687868" cy="512759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997" name="Group 60"/>
          <p:cNvGrpSpPr/>
          <p:nvPr/>
        </p:nvGrpSpPr>
        <p:grpSpPr>
          <a:xfrm>
            <a:off x="2320921" y="2308402"/>
            <a:ext cx="3385280" cy="1176338"/>
            <a:chOff x="906" y="2314"/>
            <a:chExt cx="1968" cy="741"/>
          </a:xfrm>
        </p:grpSpPr>
        <p:sp>
          <p:nvSpPr>
            <p:cNvPr id="998" name="Rectangle 52"/>
            <p:cNvSpPr>
              <a:spLocks noChangeArrowheads="true"/>
            </p:cNvSpPr>
            <p:nvPr/>
          </p:nvSpPr>
          <p:spPr bwMode="auto">
            <a:xfrm>
              <a:off x="1513" y="2314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新节点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999" name="Rectangle 4"/>
            <p:cNvSpPr>
              <a:spLocks noChangeArrowheads="true"/>
            </p:cNvSpPr>
            <p:nvPr/>
          </p:nvSpPr>
          <p:spPr bwMode="auto">
            <a:xfrm>
              <a:off x="1725" y="2601"/>
              <a:ext cx="487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000" name="Rectangle 5"/>
            <p:cNvSpPr>
              <a:spLocks noChangeArrowheads="true"/>
            </p:cNvSpPr>
            <p:nvPr/>
          </p:nvSpPr>
          <p:spPr bwMode="auto">
            <a:xfrm>
              <a:off x="2213" y="2601"/>
              <a:ext cx="314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zh-CN" sz="1800" b="true">
                  <a:latin typeface="华文中宋" panose="02010600040101010101" charset="-122"/>
                  <a:ea typeface="华文中宋" panose="02010600040101010101" charset="-122"/>
                </a:rPr>
                <a:t>∧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1001" name="Group 55"/>
            <p:cNvGrpSpPr/>
            <p:nvPr/>
          </p:nvGrpSpPr>
          <p:grpSpPr>
            <a:xfrm>
              <a:off x="906" y="2691"/>
              <a:ext cx="515" cy="182"/>
              <a:chOff x="1402" y="2986"/>
              <a:chExt cx="515" cy="182"/>
            </a:xfrm>
          </p:grpSpPr>
          <p:sp>
            <p:nvSpPr>
              <p:cNvPr id="1002" name="Rectangle 8"/>
              <p:cNvSpPr>
                <a:spLocks noChangeArrowheads="true"/>
              </p:cNvSpPr>
              <p:nvPr/>
            </p:nvSpPr>
            <p:spPr bwMode="auto">
              <a:xfrm>
                <a:off x="1402" y="2986"/>
                <a:ext cx="355" cy="18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/>
              <a:lstStyle/>
              <a:p>
                <a:pPr algn="just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  p</a:t>
                </a:r>
                <a:endParaRPr lang="en-US" altLang="zh-CN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003" name="Line 57"/>
              <p:cNvSpPr>
                <a:spLocks noChangeShapeType="true"/>
              </p:cNvSpPr>
              <p:nvPr/>
            </p:nvSpPr>
            <p:spPr bwMode="auto">
              <a:xfrm>
                <a:off x="1691" y="3090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1004" name="Rectangle 58"/>
            <p:cNvSpPr>
              <a:spLocks noChangeArrowheads="true"/>
            </p:cNvSpPr>
            <p:nvPr/>
          </p:nvSpPr>
          <p:spPr bwMode="auto">
            <a:xfrm>
              <a:off x="1159" y="2840"/>
              <a:ext cx="1358" cy="21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lang="zh-CN" altLang="en-US" b="true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005" name="Rectangle 5"/>
          <p:cNvSpPr>
            <a:spLocks noChangeArrowheads="true"/>
          </p:cNvSpPr>
          <p:nvPr/>
        </p:nvSpPr>
        <p:spPr bwMode="auto">
          <a:xfrm>
            <a:off x="3197441" y="2764015"/>
            <a:ext cx="540131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algn="ctr"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zh-CN" sz="1800" b="true">
                <a:latin typeface="华文中宋" panose="02010600040101010101" charset="-122"/>
                <a:ea typeface="华文中宋" panose="02010600040101010101" charset="-122"/>
              </a:rPr>
              <a:t>∧</a:t>
            </a:r>
            <a:endParaRPr lang="zh-CN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06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500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500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8"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1" dur="5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0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Rectangle 2"/>
          <p:cNvSpPr>
            <a:spLocks noGrp="true"/>
          </p:cNvSpPr>
          <p:nvPr>
            <p:ph type="title"/>
          </p:nvPr>
        </p:nvSpPr>
        <p:spPr>
          <a:xfrm>
            <a:off x="3074670" y="582930"/>
            <a:ext cx="647001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7.3.2.2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pic>
        <p:nvPicPr>
          <p:cNvPr id="1009" name="Object 2"/>
          <p:cNvPicPr/>
          <p:nvPr/>
        </p:nvPicPr>
        <p:blipFill>
          <a:blip r:embed="rId1"/>
          <a:stretch>
            <a:fillRect/>
          </a:stretch>
        </p:blipFill>
        <p:spPr>
          <a:xfrm>
            <a:off x="1670685" y="1545590"/>
            <a:ext cx="7467600" cy="2362200"/>
          </a:xfrm>
          <a:prstGeom prst="rect">
            <a:avLst/>
          </a:prstGeom>
          <a:solidFill>
            <a:srgbClr val="FFFFE7"/>
          </a:solidFill>
          <a:ln w="38100">
            <a:noFill/>
            <a:miter/>
          </a:ln>
        </p:spPr>
      </p:pic>
      <p:sp>
        <p:nvSpPr>
          <p:cNvPr id="1010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10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Rectangle 2"/>
          <p:cNvSpPr>
            <a:spLocks noGrp="true"/>
          </p:cNvSpPr>
          <p:nvPr>
            <p:ph type="title"/>
          </p:nvPr>
        </p:nvSpPr>
        <p:spPr>
          <a:xfrm>
            <a:off x="3074670" y="582930"/>
            <a:ext cx="646176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7.3.2.2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013" name="Rectangle 2"/>
          <p:cNvSpPr/>
          <p:nvPr/>
        </p:nvSpPr>
        <p:spPr>
          <a:xfrm>
            <a:off x="2353310" y="3907473"/>
            <a:ext cx="46634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 b="true">
                <a:solidFill>
                  <a:schemeClr val="accent2"/>
                </a:solidFill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1. s-&gt;prior=p-&gt;prior;</a:t>
            </a:r>
            <a:endParaRPr lang="en-US" altLang="zh-CN" sz="2800" b="true">
              <a:solidFill>
                <a:schemeClr val="accent2"/>
              </a:solidFill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1014" name="AutoShape 4"/>
          <p:cNvSpPr>
            <a:spLocks noChangeAspect="true" noTextEdit="true"/>
          </p:cNvSpPr>
          <p:nvPr/>
        </p:nvSpPr>
        <p:spPr>
          <a:xfrm>
            <a:off x="1819910" y="1545273"/>
            <a:ext cx="7467600" cy="2362200"/>
          </a:xfrm>
          <a:prstGeom prst="rect">
            <a:avLst/>
          </a:prstGeom>
          <a:solidFill>
            <a:srgbClr val="FFFFE7"/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15" name="Rectangle 5"/>
          <p:cNvSpPr/>
          <p:nvPr/>
        </p:nvSpPr>
        <p:spPr>
          <a:xfrm>
            <a:off x="3574098" y="2027873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16" name="Rectangle 6"/>
          <p:cNvSpPr/>
          <p:nvPr/>
        </p:nvSpPr>
        <p:spPr>
          <a:xfrm>
            <a:off x="3772535" y="2104073"/>
            <a:ext cx="174625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 b="true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</a:t>
            </a:r>
            <a:endParaRPr lang="en-US" altLang="zh-CN" sz="2800" b="true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17" name="Rectangle 7"/>
          <p:cNvSpPr/>
          <p:nvPr/>
        </p:nvSpPr>
        <p:spPr>
          <a:xfrm>
            <a:off x="2989898" y="2027873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18" name="Rectangle 8"/>
          <p:cNvSpPr/>
          <p:nvPr/>
        </p:nvSpPr>
        <p:spPr>
          <a:xfrm>
            <a:off x="4158298" y="2027873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19" name="Rectangle 9"/>
          <p:cNvSpPr/>
          <p:nvPr/>
        </p:nvSpPr>
        <p:spPr>
          <a:xfrm>
            <a:off x="5620385" y="2027873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20" name="Rectangle 10"/>
          <p:cNvSpPr/>
          <p:nvPr/>
        </p:nvSpPr>
        <p:spPr>
          <a:xfrm>
            <a:off x="6204585" y="2027873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21" name="Rectangle 11"/>
          <p:cNvSpPr/>
          <p:nvPr/>
        </p:nvSpPr>
        <p:spPr>
          <a:xfrm>
            <a:off x="6403023" y="2104073"/>
            <a:ext cx="174625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 b="true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b</a:t>
            </a:r>
            <a:endParaRPr lang="en-US" altLang="zh-CN" sz="2800" b="true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22" name="Rectangle 12"/>
          <p:cNvSpPr/>
          <p:nvPr/>
        </p:nvSpPr>
        <p:spPr>
          <a:xfrm>
            <a:off x="6788785" y="2027873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23" name="Rectangle 13"/>
          <p:cNvSpPr/>
          <p:nvPr/>
        </p:nvSpPr>
        <p:spPr>
          <a:xfrm>
            <a:off x="4450398" y="3351848"/>
            <a:ext cx="584200" cy="528637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24" name="Rectangle 14"/>
          <p:cNvSpPr/>
          <p:nvPr/>
        </p:nvSpPr>
        <p:spPr>
          <a:xfrm>
            <a:off x="5034598" y="3351848"/>
            <a:ext cx="585787" cy="528637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25" name="Rectangle 15"/>
          <p:cNvSpPr/>
          <p:nvPr/>
        </p:nvSpPr>
        <p:spPr>
          <a:xfrm>
            <a:off x="5234623" y="3428048"/>
            <a:ext cx="174625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 b="true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  <a:endParaRPr lang="en-US" altLang="zh-CN" sz="2800" b="true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26" name="Rectangle 16"/>
          <p:cNvSpPr/>
          <p:nvPr/>
        </p:nvSpPr>
        <p:spPr>
          <a:xfrm>
            <a:off x="5620385" y="3351848"/>
            <a:ext cx="584200" cy="528637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27" name="Line 17"/>
          <p:cNvSpPr/>
          <p:nvPr/>
        </p:nvSpPr>
        <p:spPr>
          <a:xfrm>
            <a:off x="2550160" y="2159635"/>
            <a:ext cx="338138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28" name="Freeform 18"/>
          <p:cNvSpPr/>
          <p:nvPr/>
        </p:nvSpPr>
        <p:spPr>
          <a:xfrm>
            <a:off x="2856548" y="2099310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211693125" y="95765938"/>
              </a:cxn>
              <a:cxn ang="0">
                <a:pos x="0" y="191531875"/>
              </a:cxn>
              <a:cxn ang="0">
                <a:pos x="15120938" y="146169063"/>
              </a:cxn>
              <a:cxn ang="0">
                <a:pos x="22682200" y="95765938"/>
              </a:cxn>
              <a:cxn ang="0">
                <a:pos x="15120938" y="47883763"/>
              </a:cxn>
              <a:cxn ang="0">
                <a:pos x="0" y="0"/>
              </a:cxn>
              <a:cxn ang="0">
                <a:pos x="211693125" y="95765938"/>
              </a:cxn>
            </a:cxnLst>
            <a:rect l="txL" t="txT" r="txR" b="txB"/>
            <a:pathLst>
              <a:path w="84" h="76">
                <a:moveTo>
                  <a:pt x="84" y="38"/>
                </a:moveTo>
                <a:lnTo>
                  <a:pt x="0" y="76"/>
                </a:lnTo>
                <a:lnTo>
                  <a:pt x="6" y="58"/>
                </a:lnTo>
                <a:lnTo>
                  <a:pt x="9" y="38"/>
                </a:lnTo>
                <a:lnTo>
                  <a:pt x="6" y="19"/>
                </a:lnTo>
                <a:lnTo>
                  <a:pt x="0" y="0"/>
                </a:lnTo>
                <a:lnTo>
                  <a:pt x="84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29" name="Line 19"/>
          <p:cNvSpPr/>
          <p:nvPr/>
        </p:nvSpPr>
        <p:spPr>
          <a:xfrm>
            <a:off x="2651760" y="2426335"/>
            <a:ext cx="630238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30" name="Freeform 20"/>
          <p:cNvSpPr/>
          <p:nvPr/>
        </p:nvSpPr>
        <p:spPr>
          <a:xfrm>
            <a:off x="2550160" y="2366010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0" y="95765938"/>
              </a:cxn>
              <a:cxn ang="0">
                <a:pos x="211693125" y="191531875"/>
              </a:cxn>
              <a:cxn ang="0">
                <a:pos x="196572188" y="141128750"/>
              </a:cxn>
              <a:cxn ang="0">
                <a:pos x="189012513" y="95765938"/>
              </a:cxn>
              <a:cxn ang="0">
                <a:pos x="196572188" y="45362813"/>
              </a:cxn>
              <a:cxn ang="0">
                <a:pos x="211693125" y="0"/>
              </a:cxn>
              <a:cxn ang="0">
                <a:pos x="0" y="95765938"/>
              </a:cxn>
            </a:cxnLst>
            <a:rect l="txL" t="txT" r="txR" b="txB"/>
            <a:pathLst>
              <a:path w="84" h="76">
                <a:moveTo>
                  <a:pt x="0" y="38"/>
                </a:moveTo>
                <a:lnTo>
                  <a:pt x="84" y="76"/>
                </a:lnTo>
                <a:lnTo>
                  <a:pt x="78" y="56"/>
                </a:lnTo>
                <a:lnTo>
                  <a:pt x="75" y="38"/>
                </a:lnTo>
                <a:lnTo>
                  <a:pt x="78" y="18"/>
                </a:lnTo>
                <a:lnTo>
                  <a:pt x="84" y="0"/>
                </a:lnTo>
                <a:lnTo>
                  <a:pt x="0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31" name="Line 21"/>
          <p:cNvSpPr/>
          <p:nvPr/>
        </p:nvSpPr>
        <p:spPr>
          <a:xfrm>
            <a:off x="4596448" y="2159635"/>
            <a:ext cx="922337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32" name="Freeform 22"/>
          <p:cNvSpPr/>
          <p:nvPr/>
        </p:nvSpPr>
        <p:spPr>
          <a:xfrm>
            <a:off x="5487035" y="2099310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211693125" y="95765938"/>
              </a:cxn>
              <a:cxn ang="0">
                <a:pos x="0" y="191531875"/>
              </a:cxn>
              <a:cxn ang="0">
                <a:pos x="15120938" y="146169063"/>
              </a:cxn>
              <a:cxn ang="0">
                <a:pos x="22682200" y="95765938"/>
              </a:cxn>
              <a:cxn ang="0">
                <a:pos x="15120938" y="47883763"/>
              </a:cxn>
              <a:cxn ang="0">
                <a:pos x="0" y="0"/>
              </a:cxn>
              <a:cxn ang="0">
                <a:pos x="211693125" y="95765938"/>
              </a:cxn>
            </a:cxnLst>
            <a:rect l="txL" t="txT" r="txR" b="txB"/>
            <a:pathLst>
              <a:path w="84" h="76">
                <a:moveTo>
                  <a:pt x="84" y="38"/>
                </a:moveTo>
                <a:lnTo>
                  <a:pt x="0" y="76"/>
                </a:lnTo>
                <a:lnTo>
                  <a:pt x="6" y="58"/>
                </a:lnTo>
                <a:lnTo>
                  <a:pt x="9" y="38"/>
                </a:lnTo>
                <a:lnTo>
                  <a:pt x="6" y="19"/>
                </a:lnTo>
                <a:lnTo>
                  <a:pt x="0" y="0"/>
                </a:lnTo>
                <a:lnTo>
                  <a:pt x="84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33" name="Line 23"/>
          <p:cNvSpPr/>
          <p:nvPr/>
        </p:nvSpPr>
        <p:spPr>
          <a:xfrm>
            <a:off x="4844098" y="2426335"/>
            <a:ext cx="922337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34" name="Freeform 24"/>
          <p:cNvSpPr/>
          <p:nvPr/>
        </p:nvSpPr>
        <p:spPr>
          <a:xfrm>
            <a:off x="4742498" y="2366010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0" y="95765938"/>
              </a:cxn>
              <a:cxn ang="0">
                <a:pos x="211693125" y="191531875"/>
              </a:cxn>
              <a:cxn ang="0">
                <a:pos x="196572188" y="141128750"/>
              </a:cxn>
              <a:cxn ang="0">
                <a:pos x="189012513" y="95765938"/>
              </a:cxn>
              <a:cxn ang="0">
                <a:pos x="196572188" y="45362813"/>
              </a:cxn>
              <a:cxn ang="0">
                <a:pos x="211693125" y="0"/>
              </a:cxn>
              <a:cxn ang="0">
                <a:pos x="0" y="95765938"/>
              </a:cxn>
            </a:cxnLst>
            <a:rect l="txL" t="txT" r="txR" b="txB"/>
            <a:pathLst>
              <a:path w="84" h="76">
                <a:moveTo>
                  <a:pt x="0" y="38"/>
                </a:moveTo>
                <a:lnTo>
                  <a:pt x="84" y="76"/>
                </a:lnTo>
                <a:lnTo>
                  <a:pt x="78" y="56"/>
                </a:lnTo>
                <a:lnTo>
                  <a:pt x="75" y="38"/>
                </a:lnTo>
                <a:lnTo>
                  <a:pt x="78" y="18"/>
                </a:lnTo>
                <a:lnTo>
                  <a:pt x="84" y="0"/>
                </a:lnTo>
                <a:lnTo>
                  <a:pt x="0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35" name="Line 25"/>
          <p:cNvSpPr/>
          <p:nvPr/>
        </p:nvSpPr>
        <p:spPr>
          <a:xfrm>
            <a:off x="7226935" y="2159635"/>
            <a:ext cx="922338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36" name="Freeform 26"/>
          <p:cNvSpPr/>
          <p:nvPr/>
        </p:nvSpPr>
        <p:spPr>
          <a:xfrm>
            <a:off x="8117523" y="2099310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211693125" y="95765938"/>
              </a:cxn>
              <a:cxn ang="0">
                <a:pos x="0" y="191531875"/>
              </a:cxn>
              <a:cxn ang="0">
                <a:pos x="15120938" y="146169063"/>
              </a:cxn>
              <a:cxn ang="0">
                <a:pos x="22682200" y="95765938"/>
              </a:cxn>
              <a:cxn ang="0">
                <a:pos x="15120938" y="47883763"/>
              </a:cxn>
              <a:cxn ang="0">
                <a:pos x="0" y="0"/>
              </a:cxn>
              <a:cxn ang="0">
                <a:pos x="211693125" y="95765938"/>
              </a:cxn>
            </a:cxnLst>
            <a:rect l="txL" t="txT" r="txR" b="txB"/>
            <a:pathLst>
              <a:path w="84" h="76">
                <a:moveTo>
                  <a:pt x="84" y="38"/>
                </a:moveTo>
                <a:lnTo>
                  <a:pt x="0" y="76"/>
                </a:lnTo>
                <a:lnTo>
                  <a:pt x="6" y="58"/>
                </a:lnTo>
                <a:lnTo>
                  <a:pt x="9" y="38"/>
                </a:lnTo>
                <a:lnTo>
                  <a:pt x="6" y="19"/>
                </a:lnTo>
                <a:lnTo>
                  <a:pt x="0" y="0"/>
                </a:lnTo>
                <a:lnTo>
                  <a:pt x="84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37" name="Line 27"/>
          <p:cNvSpPr/>
          <p:nvPr/>
        </p:nvSpPr>
        <p:spPr>
          <a:xfrm>
            <a:off x="7474585" y="2426335"/>
            <a:ext cx="922338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38" name="Freeform 28"/>
          <p:cNvSpPr/>
          <p:nvPr/>
        </p:nvSpPr>
        <p:spPr>
          <a:xfrm>
            <a:off x="7372985" y="2366010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0" y="95765938"/>
              </a:cxn>
              <a:cxn ang="0">
                <a:pos x="211693125" y="191531875"/>
              </a:cxn>
              <a:cxn ang="0">
                <a:pos x="196572188" y="141128750"/>
              </a:cxn>
              <a:cxn ang="0">
                <a:pos x="186491563" y="95765938"/>
              </a:cxn>
              <a:cxn ang="0">
                <a:pos x="196572188" y="45362813"/>
              </a:cxn>
              <a:cxn ang="0">
                <a:pos x="211693125" y="0"/>
              </a:cxn>
              <a:cxn ang="0">
                <a:pos x="0" y="95765938"/>
              </a:cxn>
            </a:cxnLst>
            <a:rect l="txL" t="txT" r="txR" b="txB"/>
            <a:pathLst>
              <a:path w="84" h="76">
                <a:moveTo>
                  <a:pt x="0" y="38"/>
                </a:moveTo>
                <a:lnTo>
                  <a:pt x="84" y="76"/>
                </a:lnTo>
                <a:lnTo>
                  <a:pt x="78" y="56"/>
                </a:lnTo>
                <a:lnTo>
                  <a:pt x="74" y="38"/>
                </a:lnTo>
                <a:lnTo>
                  <a:pt x="78" y="18"/>
                </a:lnTo>
                <a:lnTo>
                  <a:pt x="84" y="0"/>
                </a:lnTo>
                <a:lnTo>
                  <a:pt x="0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39" name="Rectangle 29"/>
          <p:cNvSpPr/>
          <p:nvPr/>
        </p:nvSpPr>
        <p:spPr>
          <a:xfrm>
            <a:off x="8555673" y="2027873"/>
            <a:ext cx="523875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 b="true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...</a:t>
            </a:r>
            <a:endParaRPr lang="en-US" altLang="zh-CN" sz="2800" b="true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40" name="Rectangle 30"/>
          <p:cNvSpPr/>
          <p:nvPr/>
        </p:nvSpPr>
        <p:spPr>
          <a:xfrm>
            <a:off x="1996123" y="2027873"/>
            <a:ext cx="523875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 b="true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...</a:t>
            </a:r>
            <a:endParaRPr lang="en-US" altLang="zh-CN" sz="2800" b="true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41" name="Line 31"/>
          <p:cNvSpPr/>
          <p:nvPr/>
        </p:nvSpPr>
        <p:spPr>
          <a:xfrm flipH="true">
            <a:off x="4623435" y="3615373"/>
            <a:ext cx="119063" cy="1587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42" name="Line 32"/>
          <p:cNvSpPr/>
          <p:nvPr/>
        </p:nvSpPr>
        <p:spPr>
          <a:xfrm flipH="true">
            <a:off x="4429760" y="3615373"/>
            <a:ext cx="119063" cy="1587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43" name="Line 33"/>
          <p:cNvSpPr/>
          <p:nvPr/>
        </p:nvSpPr>
        <p:spPr>
          <a:xfrm flipH="true">
            <a:off x="4237673" y="3615373"/>
            <a:ext cx="119062" cy="1587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44" name="Line 34"/>
          <p:cNvSpPr/>
          <p:nvPr/>
        </p:nvSpPr>
        <p:spPr>
          <a:xfrm flipH="true">
            <a:off x="4043998" y="3615373"/>
            <a:ext cx="119062" cy="1587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45" name="Freeform 35"/>
          <p:cNvSpPr/>
          <p:nvPr/>
        </p:nvSpPr>
        <p:spPr>
          <a:xfrm>
            <a:off x="3866198" y="3602673"/>
            <a:ext cx="103187" cy="12700"/>
          </a:xfrm>
          <a:custGeom>
            <a:avLst/>
            <a:gdLst>
              <a:gd name="txL" fmla="*/ 0 w 42"/>
              <a:gd name="txT" fmla="*/ 0 h 6"/>
              <a:gd name="txR" fmla="*/ 42 w 42"/>
              <a:gd name="txB" fmla="*/ 6 h 6"/>
            </a:gdLst>
            <a:ahLst/>
            <a:cxnLst>
              <a:cxn ang="0">
                <a:pos x="253513261" y="26881667"/>
              </a:cxn>
              <a:cxn ang="0">
                <a:pos x="0" y="26881667"/>
              </a:cxn>
              <a:cxn ang="0">
                <a:pos x="0" y="0"/>
              </a:cxn>
            </a:cxnLst>
            <a:rect l="txL" t="txT" r="txR" b="txB"/>
            <a:pathLst>
              <a:path w="42" h="6">
                <a:moveTo>
                  <a:pt x="42" y="6"/>
                </a:moveTo>
                <a:lnTo>
                  <a:pt x="0" y="6"/>
                </a:lnTo>
                <a:lnTo>
                  <a:pt x="0" y="0"/>
                </a:lnTo>
              </a:path>
            </a:pathLst>
          </a:custGeom>
          <a:noFill/>
          <a:ln w="14288" cap="flat" cmpd="sng">
            <a:solidFill>
              <a:srgbClr val="00FFFF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46" name="Line 36"/>
          <p:cNvSpPr/>
          <p:nvPr/>
        </p:nvSpPr>
        <p:spPr>
          <a:xfrm flipV="true">
            <a:off x="3866198" y="3428048"/>
            <a:ext cx="1587" cy="107950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47" name="Line 37"/>
          <p:cNvSpPr/>
          <p:nvPr/>
        </p:nvSpPr>
        <p:spPr>
          <a:xfrm flipV="true">
            <a:off x="3866198" y="3253423"/>
            <a:ext cx="1587" cy="107950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48" name="Line 38"/>
          <p:cNvSpPr/>
          <p:nvPr/>
        </p:nvSpPr>
        <p:spPr>
          <a:xfrm flipV="true">
            <a:off x="3866198" y="3078798"/>
            <a:ext cx="1587" cy="106362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49" name="Line 39"/>
          <p:cNvSpPr/>
          <p:nvPr/>
        </p:nvSpPr>
        <p:spPr>
          <a:xfrm flipV="true">
            <a:off x="3866198" y="2904173"/>
            <a:ext cx="1587" cy="106362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50" name="Line 40"/>
          <p:cNvSpPr/>
          <p:nvPr/>
        </p:nvSpPr>
        <p:spPr>
          <a:xfrm flipV="true">
            <a:off x="3866198" y="2727960"/>
            <a:ext cx="1587" cy="107950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51" name="Line 41"/>
          <p:cNvSpPr/>
          <p:nvPr/>
        </p:nvSpPr>
        <p:spPr>
          <a:xfrm flipV="true">
            <a:off x="3866198" y="2648585"/>
            <a:ext cx="1587" cy="12700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52" name="Freeform 42"/>
          <p:cNvSpPr/>
          <p:nvPr/>
        </p:nvSpPr>
        <p:spPr>
          <a:xfrm>
            <a:off x="3799523" y="2558098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105846563" y="0"/>
              </a:cxn>
              <a:cxn ang="0">
                <a:pos x="211693125" y="191531875"/>
              </a:cxn>
              <a:cxn ang="0">
                <a:pos x="161290000" y="173891575"/>
              </a:cxn>
              <a:cxn ang="0">
                <a:pos x="105846563" y="166330313"/>
              </a:cxn>
              <a:cxn ang="0">
                <a:pos x="50403125" y="173891575"/>
              </a:cxn>
              <a:cxn ang="0">
                <a:pos x="0" y="191531875"/>
              </a:cxn>
              <a:cxn ang="0">
                <a:pos x="105846563" y="0"/>
              </a:cxn>
            </a:cxnLst>
            <a:rect l="txL" t="txT" r="txR" b="txB"/>
            <a:pathLst>
              <a:path w="84" h="76">
                <a:moveTo>
                  <a:pt x="42" y="0"/>
                </a:moveTo>
                <a:lnTo>
                  <a:pt x="84" y="76"/>
                </a:lnTo>
                <a:lnTo>
                  <a:pt x="64" y="69"/>
                </a:lnTo>
                <a:lnTo>
                  <a:pt x="42" y="66"/>
                </a:lnTo>
                <a:lnTo>
                  <a:pt x="20" y="69"/>
                </a:lnTo>
                <a:lnTo>
                  <a:pt x="0" y="76"/>
                </a:lnTo>
                <a:lnTo>
                  <a:pt x="42" y="0"/>
                </a:lnTo>
                <a:close/>
              </a:path>
            </a:pathLst>
          </a:custGeom>
          <a:solidFill>
            <a:srgbClr val="00FFFF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53" name="Freeform 43"/>
          <p:cNvSpPr/>
          <p:nvPr/>
        </p:nvSpPr>
        <p:spPr>
          <a:xfrm>
            <a:off x="3515360" y="2715260"/>
            <a:ext cx="263525" cy="239713"/>
          </a:xfrm>
          <a:custGeom>
            <a:avLst/>
            <a:gdLst>
              <a:gd name="txL" fmla="*/ 0 w 166"/>
              <a:gd name="txT" fmla="*/ 0 h 151"/>
              <a:gd name="txR" fmla="*/ 166 w 166"/>
              <a:gd name="txB" fmla="*/ 151 h 151"/>
            </a:gdLst>
            <a:ahLst/>
            <a:cxnLst>
              <a:cxn ang="0">
                <a:pos x="0" y="191532275"/>
              </a:cxn>
              <a:cxn ang="0">
                <a:pos x="7561263" y="141129044"/>
              </a:cxn>
              <a:cxn ang="0">
                <a:pos x="27722513" y="95766137"/>
              </a:cxn>
              <a:cxn ang="0">
                <a:pos x="63004700" y="57964508"/>
              </a:cxn>
              <a:cxn ang="0">
                <a:pos x="105846563" y="27722570"/>
              </a:cxn>
              <a:cxn ang="0">
                <a:pos x="156249688" y="7561278"/>
              </a:cxn>
              <a:cxn ang="0">
                <a:pos x="206652813" y="0"/>
              </a:cxn>
              <a:cxn ang="0">
                <a:pos x="262096250" y="7561278"/>
              </a:cxn>
              <a:cxn ang="0">
                <a:pos x="312499375" y="27722570"/>
              </a:cxn>
              <a:cxn ang="0">
                <a:pos x="357862188" y="57964508"/>
              </a:cxn>
              <a:cxn ang="0">
                <a:pos x="388104063" y="95766137"/>
              </a:cxn>
              <a:cxn ang="0">
                <a:pos x="410786263" y="141129044"/>
              </a:cxn>
              <a:cxn ang="0">
                <a:pos x="418345938" y="191532275"/>
              </a:cxn>
              <a:cxn ang="0">
                <a:pos x="410786263" y="239416137"/>
              </a:cxn>
              <a:cxn ang="0">
                <a:pos x="388104063" y="284779044"/>
              </a:cxn>
              <a:cxn ang="0">
                <a:pos x="357862188" y="322580673"/>
              </a:cxn>
              <a:cxn ang="0">
                <a:pos x="312499375" y="355343566"/>
              </a:cxn>
              <a:cxn ang="0">
                <a:pos x="262096250" y="372983903"/>
              </a:cxn>
              <a:cxn ang="0">
                <a:pos x="206652813" y="380545181"/>
              </a:cxn>
              <a:cxn ang="0">
                <a:pos x="156249688" y="372983903"/>
              </a:cxn>
              <a:cxn ang="0">
                <a:pos x="105846563" y="355343566"/>
              </a:cxn>
              <a:cxn ang="0">
                <a:pos x="63004700" y="322580673"/>
              </a:cxn>
              <a:cxn ang="0">
                <a:pos x="27722513" y="284779044"/>
              </a:cxn>
              <a:cxn ang="0">
                <a:pos x="7561263" y="239416137"/>
              </a:cxn>
              <a:cxn ang="0">
                <a:pos x="0" y="191532275"/>
              </a:cxn>
            </a:cxnLst>
            <a:rect l="txL" t="txT" r="txR" b="txB"/>
            <a:pathLst>
              <a:path w="166" h="151">
                <a:moveTo>
                  <a:pt x="0" y="76"/>
                </a:moveTo>
                <a:lnTo>
                  <a:pt x="3" y="56"/>
                </a:lnTo>
                <a:lnTo>
                  <a:pt x="11" y="38"/>
                </a:lnTo>
                <a:lnTo>
                  <a:pt x="25" y="23"/>
                </a:lnTo>
                <a:lnTo>
                  <a:pt x="42" y="11"/>
                </a:lnTo>
                <a:lnTo>
                  <a:pt x="62" y="3"/>
                </a:lnTo>
                <a:lnTo>
                  <a:pt x="82" y="0"/>
                </a:lnTo>
                <a:lnTo>
                  <a:pt x="104" y="3"/>
                </a:lnTo>
                <a:lnTo>
                  <a:pt x="124" y="11"/>
                </a:lnTo>
                <a:lnTo>
                  <a:pt x="142" y="23"/>
                </a:lnTo>
                <a:lnTo>
                  <a:pt x="154" y="38"/>
                </a:lnTo>
                <a:lnTo>
                  <a:pt x="163" y="56"/>
                </a:lnTo>
                <a:lnTo>
                  <a:pt x="166" y="76"/>
                </a:lnTo>
                <a:lnTo>
                  <a:pt x="163" y="95"/>
                </a:lnTo>
                <a:lnTo>
                  <a:pt x="154" y="113"/>
                </a:lnTo>
                <a:lnTo>
                  <a:pt x="142" y="128"/>
                </a:lnTo>
                <a:lnTo>
                  <a:pt x="124" y="141"/>
                </a:lnTo>
                <a:lnTo>
                  <a:pt x="104" y="148"/>
                </a:lnTo>
                <a:lnTo>
                  <a:pt x="82" y="151"/>
                </a:lnTo>
                <a:lnTo>
                  <a:pt x="62" y="148"/>
                </a:lnTo>
                <a:lnTo>
                  <a:pt x="42" y="141"/>
                </a:lnTo>
                <a:lnTo>
                  <a:pt x="25" y="128"/>
                </a:lnTo>
                <a:lnTo>
                  <a:pt x="11" y="113"/>
                </a:lnTo>
                <a:lnTo>
                  <a:pt x="3" y="95"/>
                </a:lnTo>
                <a:lnTo>
                  <a:pt x="0" y="76"/>
                </a:lnTo>
                <a:close/>
              </a:path>
            </a:pathLst>
          </a:custGeom>
          <a:solidFill>
            <a:srgbClr val="00FFFF">
              <a:alpha val="100000"/>
            </a:srgbClr>
          </a:solidFill>
          <a:ln w="14288" cap="flat" cmpd="sng">
            <a:solidFill>
              <a:srgbClr val="00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54" name="Rectangle 44"/>
          <p:cNvSpPr/>
          <p:nvPr/>
        </p:nvSpPr>
        <p:spPr>
          <a:xfrm>
            <a:off x="3599498" y="2742248"/>
            <a:ext cx="82550" cy="1984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1300" b="true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endParaRPr lang="en-US" altLang="zh-CN" sz="2800" b="true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55" name="Line 45"/>
          <p:cNvSpPr/>
          <p:nvPr/>
        </p:nvSpPr>
        <p:spPr>
          <a:xfrm>
            <a:off x="6496685" y="1630998"/>
            <a:ext cx="1588" cy="304800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56" name="Freeform 46"/>
          <p:cNvSpPr/>
          <p:nvPr/>
        </p:nvSpPr>
        <p:spPr>
          <a:xfrm>
            <a:off x="6430010" y="1905635"/>
            <a:ext cx="133350" cy="122238"/>
          </a:xfrm>
          <a:custGeom>
            <a:avLst/>
            <a:gdLst>
              <a:gd name="txL" fmla="*/ 0 w 84"/>
              <a:gd name="txT" fmla="*/ 0 h 77"/>
              <a:gd name="txR" fmla="*/ 84 w 84"/>
              <a:gd name="txB" fmla="*/ 77 h 77"/>
            </a:gdLst>
            <a:ahLst/>
            <a:cxnLst>
              <a:cxn ang="0">
                <a:pos x="105846563" y="194053619"/>
              </a:cxn>
              <a:cxn ang="0">
                <a:pos x="0" y="0"/>
              </a:cxn>
              <a:cxn ang="0">
                <a:pos x="50403125" y="17641960"/>
              </a:cxn>
              <a:cxn ang="0">
                <a:pos x="105846563" y="25201666"/>
              </a:cxn>
              <a:cxn ang="0">
                <a:pos x="161290000" y="17641960"/>
              </a:cxn>
              <a:cxn ang="0">
                <a:pos x="211693125" y="0"/>
              </a:cxn>
              <a:cxn ang="0">
                <a:pos x="105846563" y="194053619"/>
              </a:cxn>
            </a:cxnLst>
            <a:rect l="txL" t="txT" r="txR" b="txB"/>
            <a:pathLst>
              <a:path w="84" h="77">
                <a:moveTo>
                  <a:pt x="42" y="77"/>
                </a:moveTo>
                <a:lnTo>
                  <a:pt x="0" y="0"/>
                </a:lnTo>
                <a:lnTo>
                  <a:pt x="20" y="7"/>
                </a:lnTo>
                <a:lnTo>
                  <a:pt x="42" y="10"/>
                </a:lnTo>
                <a:lnTo>
                  <a:pt x="64" y="7"/>
                </a:lnTo>
                <a:lnTo>
                  <a:pt x="84" y="0"/>
                </a:lnTo>
                <a:lnTo>
                  <a:pt x="42" y="7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57" name="Rectangle 47"/>
          <p:cNvSpPr/>
          <p:nvPr/>
        </p:nvSpPr>
        <p:spPr>
          <a:xfrm>
            <a:off x="6110923" y="1523048"/>
            <a:ext cx="174625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 b="true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p</a:t>
            </a:r>
            <a:endParaRPr lang="en-US" altLang="zh-CN" sz="2800" b="true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58" name="Line 48"/>
          <p:cNvSpPr/>
          <p:nvPr/>
        </p:nvSpPr>
        <p:spPr>
          <a:xfrm>
            <a:off x="6306185" y="3748723"/>
            <a:ext cx="890588" cy="1587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59" name="Freeform 49"/>
          <p:cNvSpPr/>
          <p:nvPr/>
        </p:nvSpPr>
        <p:spPr>
          <a:xfrm>
            <a:off x="6204585" y="3688398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0" y="95765938"/>
              </a:cxn>
              <a:cxn ang="0">
                <a:pos x="211693125" y="0"/>
              </a:cxn>
              <a:cxn ang="0">
                <a:pos x="191531875" y="45362813"/>
              </a:cxn>
              <a:cxn ang="0">
                <a:pos x="183972200" y="95765938"/>
              </a:cxn>
              <a:cxn ang="0">
                <a:pos x="191531875" y="146169063"/>
              </a:cxn>
              <a:cxn ang="0">
                <a:pos x="211693125" y="191531875"/>
              </a:cxn>
              <a:cxn ang="0">
                <a:pos x="0" y="95765938"/>
              </a:cxn>
            </a:cxnLst>
            <a:rect l="txL" t="txT" r="txR" b="txB"/>
            <a:pathLst>
              <a:path w="84" h="76">
                <a:moveTo>
                  <a:pt x="0" y="38"/>
                </a:moveTo>
                <a:lnTo>
                  <a:pt x="84" y="0"/>
                </a:lnTo>
                <a:lnTo>
                  <a:pt x="76" y="18"/>
                </a:lnTo>
                <a:lnTo>
                  <a:pt x="73" y="38"/>
                </a:lnTo>
                <a:lnTo>
                  <a:pt x="76" y="58"/>
                </a:lnTo>
                <a:lnTo>
                  <a:pt x="84" y="76"/>
                </a:lnTo>
                <a:lnTo>
                  <a:pt x="0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60" name="Rectangle 50"/>
          <p:cNvSpPr/>
          <p:nvPr/>
        </p:nvSpPr>
        <p:spPr>
          <a:xfrm>
            <a:off x="6985635" y="3377248"/>
            <a:ext cx="174625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 b="true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</a:t>
            </a:r>
            <a:endParaRPr lang="en-US" altLang="zh-CN" sz="2800" b="true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61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spTree>
      <p:nvGrpSpPr>
        <p:cNvPr id="10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Rectangle 2"/>
          <p:cNvSpPr>
            <a:spLocks noGrp="true"/>
          </p:cNvSpPr>
          <p:nvPr>
            <p:ph type="title"/>
          </p:nvPr>
        </p:nvSpPr>
        <p:spPr>
          <a:xfrm>
            <a:off x="3074670" y="582930"/>
            <a:ext cx="652780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7.3.2.2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064" name="Rectangle 3"/>
          <p:cNvSpPr/>
          <p:nvPr/>
        </p:nvSpPr>
        <p:spPr>
          <a:xfrm>
            <a:off x="2204720" y="3919855"/>
            <a:ext cx="475488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 b="true">
                <a:solidFill>
                  <a:schemeClr val="accent2"/>
                </a:solidFill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1. s-&gt;prior=p-&gt;prior;</a:t>
            </a:r>
            <a:endParaRPr lang="en-US" altLang="zh-CN" sz="2800" b="true">
              <a:solidFill>
                <a:schemeClr val="accent2"/>
              </a:solidFill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1065" name="Rectangle 4"/>
          <p:cNvSpPr/>
          <p:nvPr/>
        </p:nvSpPr>
        <p:spPr>
          <a:xfrm>
            <a:off x="2204720" y="4464685"/>
            <a:ext cx="46691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 b="true">
                <a:solidFill>
                  <a:srgbClr val="FF0000"/>
                </a:solidFill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2. p-&gt;prior-&gt;next=s;</a:t>
            </a:r>
            <a:endParaRPr lang="en-US" altLang="zh-CN" sz="2800" b="true">
              <a:solidFill>
                <a:srgbClr val="FF0000"/>
              </a:solidFill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1066" name="AutoShape 5"/>
          <p:cNvSpPr>
            <a:spLocks noChangeAspect="true" noTextEdit="true"/>
          </p:cNvSpPr>
          <p:nvPr/>
        </p:nvSpPr>
        <p:spPr>
          <a:xfrm>
            <a:off x="1671320" y="1481455"/>
            <a:ext cx="7467600" cy="2362200"/>
          </a:xfrm>
          <a:prstGeom prst="rect">
            <a:avLst/>
          </a:prstGeom>
          <a:solidFill>
            <a:srgbClr val="FFFFE7"/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67" name="Rectangle 6"/>
          <p:cNvSpPr/>
          <p:nvPr/>
        </p:nvSpPr>
        <p:spPr>
          <a:xfrm>
            <a:off x="3425508" y="1964055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68" name="Rectangle 7"/>
          <p:cNvSpPr/>
          <p:nvPr/>
        </p:nvSpPr>
        <p:spPr>
          <a:xfrm>
            <a:off x="3623945" y="2040255"/>
            <a:ext cx="173038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69" name="Rectangle 8"/>
          <p:cNvSpPr/>
          <p:nvPr/>
        </p:nvSpPr>
        <p:spPr>
          <a:xfrm>
            <a:off x="2841308" y="1964055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70" name="Rectangle 9"/>
          <p:cNvSpPr/>
          <p:nvPr/>
        </p:nvSpPr>
        <p:spPr>
          <a:xfrm>
            <a:off x="4009708" y="1964055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71" name="Rectangle 10"/>
          <p:cNvSpPr/>
          <p:nvPr/>
        </p:nvSpPr>
        <p:spPr>
          <a:xfrm>
            <a:off x="5471795" y="1964055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72" name="Rectangle 11"/>
          <p:cNvSpPr/>
          <p:nvPr/>
        </p:nvSpPr>
        <p:spPr>
          <a:xfrm>
            <a:off x="6055995" y="1964055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73" name="Rectangle 12"/>
          <p:cNvSpPr/>
          <p:nvPr/>
        </p:nvSpPr>
        <p:spPr>
          <a:xfrm>
            <a:off x="6254433" y="2040255"/>
            <a:ext cx="173037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b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74" name="Rectangle 13"/>
          <p:cNvSpPr/>
          <p:nvPr/>
        </p:nvSpPr>
        <p:spPr>
          <a:xfrm>
            <a:off x="6640195" y="1964055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75" name="Rectangle 14"/>
          <p:cNvSpPr/>
          <p:nvPr/>
        </p:nvSpPr>
        <p:spPr>
          <a:xfrm>
            <a:off x="4301808" y="3288030"/>
            <a:ext cx="584200" cy="528638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76" name="Rectangle 15"/>
          <p:cNvSpPr/>
          <p:nvPr/>
        </p:nvSpPr>
        <p:spPr>
          <a:xfrm>
            <a:off x="4886008" y="3288030"/>
            <a:ext cx="585787" cy="528638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77" name="Rectangle 16"/>
          <p:cNvSpPr/>
          <p:nvPr/>
        </p:nvSpPr>
        <p:spPr>
          <a:xfrm>
            <a:off x="5086033" y="3364230"/>
            <a:ext cx="173037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78" name="Rectangle 17"/>
          <p:cNvSpPr/>
          <p:nvPr/>
        </p:nvSpPr>
        <p:spPr>
          <a:xfrm>
            <a:off x="5471795" y="3288030"/>
            <a:ext cx="584200" cy="528638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79" name="Line 18"/>
          <p:cNvSpPr/>
          <p:nvPr/>
        </p:nvSpPr>
        <p:spPr>
          <a:xfrm>
            <a:off x="2401570" y="2095818"/>
            <a:ext cx="338138" cy="1587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80" name="Freeform 19"/>
          <p:cNvSpPr/>
          <p:nvPr/>
        </p:nvSpPr>
        <p:spPr>
          <a:xfrm>
            <a:off x="2707958" y="2035493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211693125" y="95765938"/>
              </a:cxn>
              <a:cxn ang="0">
                <a:pos x="0" y="191531875"/>
              </a:cxn>
              <a:cxn ang="0">
                <a:pos x="15120938" y="146169063"/>
              </a:cxn>
              <a:cxn ang="0">
                <a:pos x="22682200" y="95765938"/>
              </a:cxn>
              <a:cxn ang="0">
                <a:pos x="15120938" y="47883763"/>
              </a:cxn>
              <a:cxn ang="0">
                <a:pos x="0" y="0"/>
              </a:cxn>
              <a:cxn ang="0">
                <a:pos x="211693125" y="95765938"/>
              </a:cxn>
            </a:cxnLst>
            <a:rect l="txL" t="txT" r="txR" b="txB"/>
            <a:pathLst>
              <a:path w="84" h="76">
                <a:moveTo>
                  <a:pt x="84" y="38"/>
                </a:moveTo>
                <a:lnTo>
                  <a:pt x="0" y="76"/>
                </a:lnTo>
                <a:lnTo>
                  <a:pt x="6" y="58"/>
                </a:lnTo>
                <a:lnTo>
                  <a:pt x="9" y="38"/>
                </a:lnTo>
                <a:lnTo>
                  <a:pt x="6" y="19"/>
                </a:lnTo>
                <a:lnTo>
                  <a:pt x="0" y="0"/>
                </a:lnTo>
                <a:lnTo>
                  <a:pt x="84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81" name="Line 20"/>
          <p:cNvSpPr/>
          <p:nvPr/>
        </p:nvSpPr>
        <p:spPr>
          <a:xfrm>
            <a:off x="2503170" y="2362518"/>
            <a:ext cx="630238" cy="1587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82" name="Freeform 21"/>
          <p:cNvSpPr/>
          <p:nvPr/>
        </p:nvSpPr>
        <p:spPr>
          <a:xfrm>
            <a:off x="2401570" y="2302193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0" y="95765938"/>
              </a:cxn>
              <a:cxn ang="0">
                <a:pos x="211693125" y="191531875"/>
              </a:cxn>
              <a:cxn ang="0">
                <a:pos x="196572188" y="141128750"/>
              </a:cxn>
              <a:cxn ang="0">
                <a:pos x="189012513" y="95765938"/>
              </a:cxn>
              <a:cxn ang="0">
                <a:pos x="196572188" y="45362813"/>
              </a:cxn>
              <a:cxn ang="0">
                <a:pos x="211693125" y="0"/>
              </a:cxn>
              <a:cxn ang="0">
                <a:pos x="0" y="95765938"/>
              </a:cxn>
            </a:cxnLst>
            <a:rect l="txL" t="txT" r="txR" b="txB"/>
            <a:pathLst>
              <a:path w="84" h="76">
                <a:moveTo>
                  <a:pt x="0" y="38"/>
                </a:moveTo>
                <a:lnTo>
                  <a:pt x="84" y="76"/>
                </a:lnTo>
                <a:lnTo>
                  <a:pt x="78" y="56"/>
                </a:lnTo>
                <a:lnTo>
                  <a:pt x="75" y="38"/>
                </a:lnTo>
                <a:lnTo>
                  <a:pt x="78" y="18"/>
                </a:lnTo>
                <a:lnTo>
                  <a:pt x="84" y="0"/>
                </a:lnTo>
                <a:lnTo>
                  <a:pt x="0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83" name="Line 22"/>
          <p:cNvSpPr/>
          <p:nvPr/>
        </p:nvSpPr>
        <p:spPr>
          <a:xfrm>
            <a:off x="4447858" y="2095818"/>
            <a:ext cx="922337" cy="1587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84" name="Freeform 23"/>
          <p:cNvSpPr/>
          <p:nvPr/>
        </p:nvSpPr>
        <p:spPr>
          <a:xfrm>
            <a:off x="5338445" y="2035493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211693125" y="95765938"/>
              </a:cxn>
              <a:cxn ang="0">
                <a:pos x="0" y="191531875"/>
              </a:cxn>
              <a:cxn ang="0">
                <a:pos x="15120938" y="146169063"/>
              </a:cxn>
              <a:cxn ang="0">
                <a:pos x="22682200" y="95765938"/>
              </a:cxn>
              <a:cxn ang="0">
                <a:pos x="15120938" y="47883763"/>
              </a:cxn>
              <a:cxn ang="0">
                <a:pos x="0" y="0"/>
              </a:cxn>
              <a:cxn ang="0">
                <a:pos x="211693125" y="95765938"/>
              </a:cxn>
            </a:cxnLst>
            <a:rect l="txL" t="txT" r="txR" b="txB"/>
            <a:pathLst>
              <a:path w="84" h="76">
                <a:moveTo>
                  <a:pt x="84" y="38"/>
                </a:moveTo>
                <a:lnTo>
                  <a:pt x="0" y="76"/>
                </a:lnTo>
                <a:lnTo>
                  <a:pt x="6" y="58"/>
                </a:lnTo>
                <a:lnTo>
                  <a:pt x="9" y="38"/>
                </a:lnTo>
                <a:lnTo>
                  <a:pt x="6" y="19"/>
                </a:lnTo>
                <a:lnTo>
                  <a:pt x="0" y="0"/>
                </a:lnTo>
                <a:lnTo>
                  <a:pt x="84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85" name="Line 24"/>
          <p:cNvSpPr/>
          <p:nvPr/>
        </p:nvSpPr>
        <p:spPr>
          <a:xfrm>
            <a:off x="4695508" y="2362518"/>
            <a:ext cx="922337" cy="1587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86" name="Freeform 25"/>
          <p:cNvSpPr/>
          <p:nvPr/>
        </p:nvSpPr>
        <p:spPr>
          <a:xfrm>
            <a:off x="4593908" y="2302193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0" y="95765938"/>
              </a:cxn>
              <a:cxn ang="0">
                <a:pos x="211693125" y="191531875"/>
              </a:cxn>
              <a:cxn ang="0">
                <a:pos x="196572188" y="141128750"/>
              </a:cxn>
              <a:cxn ang="0">
                <a:pos x="189012513" y="95765938"/>
              </a:cxn>
              <a:cxn ang="0">
                <a:pos x="196572188" y="45362813"/>
              </a:cxn>
              <a:cxn ang="0">
                <a:pos x="211693125" y="0"/>
              </a:cxn>
              <a:cxn ang="0">
                <a:pos x="0" y="95765938"/>
              </a:cxn>
            </a:cxnLst>
            <a:rect l="txL" t="txT" r="txR" b="txB"/>
            <a:pathLst>
              <a:path w="84" h="76">
                <a:moveTo>
                  <a:pt x="0" y="38"/>
                </a:moveTo>
                <a:lnTo>
                  <a:pt x="84" y="76"/>
                </a:lnTo>
                <a:lnTo>
                  <a:pt x="78" y="56"/>
                </a:lnTo>
                <a:lnTo>
                  <a:pt x="75" y="38"/>
                </a:lnTo>
                <a:lnTo>
                  <a:pt x="78" y="18"/>
                </a:lnTo>
                <a:lnTo>
                  <a:pt x="84" y="0"/>
                </a:lnTo>
                <a:lnTo>
                  <a:pt x="0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87" name="Line 26"/>
          <p:cNvSpPr/>
          <p:nvPr/>
        </p:nvSpPr>
        <p:spPr>
          <a:xfrm>
            <a:off x="7078345" y="2095818"/>
            <a:ext cx="922338" cy="1587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88" name="Freeform 27"/>
          <p:cNvSpPr/>
          <p:nvPr/>
        </p:nvSpPr>
        <p:spPr>
          <a:xfrm>
            <a:off x="7968933" y="2035493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211693125" y="95765938"/>
              </a:cxn>
              <a:cxn ang="0">
                <a:pos x="0" y="191531875"/>
              </a:cxn>
              <a:cxn ang="0">
                <a:pos x="15120938" y="146169063"/>
              </a:cxn>
              <a:cxn ang="0">
                <a:pos x="22682200" y="95765938"/>
              </a:cxn>
              <a:cxn ang="0">
                <a:pos x="15120938" y="47883763"/>
              </a:cxn>
              <a:cxn ang="0">
                <a:pos x="0" y="0"/>
              </a:cxn>
              <a:cxn ang="0">
                <a:pos x="211693125" y="95765938"/>
              </a:cxn>
            </a:cxnLst>
            <a:rect l="txL" t="txT" r="txR" b="txB"/>
            <a:pathLst>
              <a:path w="84" h="76">
                <a:moveTo>
                  <a:pt x="84" y="38"/>
                </a:moveTo>
                <a:lnTo>
                  <a:pt x="0" y="76"/>
                </a:lnTo>
                <a:lnTo>
                  <a:pt x="6" y="58"/>
                </a:lnTo>
                <a:lnTo>
                  <a:pt x="9" y="38"/>
                </a:lnTo>
                <a:lnTo>
                  <a:pt x="6" y="19"/>
                </a:lnTo>
                <a:lnTo>
                  <a:pt x="0" y="0"/>
                </a:lnTo>
                <a:lnTo>
                  <a:pt x="84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89" name="Line 28"/>
          <p:cNvSpPr/>
          <p:nvPr/>
        </p:nvSpPr>
        <p:spPr>
          <a:xfrm>
            <a:off x="7325995" y="2362518"/>
            <a:ext cx="922338" cy="1587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90" name="Freeform 29"/>
          <p:cNvSpPr/>
          <p:nvPr/>
        </p:nvSpPr>
        <p:spPr>
          <a:xfrm>
            <a:off x="7224395" y="2302193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0" y="95765938"/>
              </a:cxn>
              <a:cxn ang="0">
                <a:pos x="211693125" y="191531875"/>
              </a:cxn>
              <a:cxn ang="0">
                <a:pos x="196572188" y="141128750"/>
              </a:cxn>
              <a:cxn ang="0">
                <a:pos x="186491563" y="95765938"/>
              </a:cxn>
              <a:cxn ang="0">
                <a:pos x="196572188" y="45362813"/>
              </a:cxn>
              <a:cxn ang="0">
                <a:pos x="211693125" y="0"/>
              </a:cxn>
              <a:cxn ang="0">
                <a:pos x="0" y="95765938"/>
              </a:cxn>
            </a:cxnLst>
            <a:rect l="txL" t="txT" r="txR" b="txB"/>
            <a:pathLst>
              <a:path w="84" h="76">
                <a:moveTo>
                  <a:pt x="0" y="38"/>
                </a:moveTo>
                <a:lnTo>
                  <a:pt x="84" y="76"/>
                </a:lnTo>
                <a:lnTo>
                  <a:pt x="78" y="56"/>
                </a:lnTo>
                <a:lnTo>
                  <a:pt x="74" y="38"/>
                </a:lnTo>
                <a:lnTo>
                  <a:pt x="78" y="18"/>
                </a:lnTo>
                <a:lnTo>
                  <a:pt x="84" y="0"/>
                </a:lnTo>
                <a:lnTo>
                  <a:pt x="0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91" name="Rectangle 30"/>
          <p:cNvSpPr/>
          <p:nvPr/>
        </p:nvSpPr>
        <p:spPr>
          <a:xfrm>
            <a:off x="8407083" y="1964055"/>
            <a:ext cx="519112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...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92" name="Rectangle 31"/>
          <p:cNvSpPr/>
          <p:nvPr/>
        </p:nvSpPr>
        <p:spPr>
          <a:xfrm>
            <a:off x="1847533" y="1964055"/>
            <a:ext cx="519112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...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093" name="Line 32"/>
          <p:cNvSpPr/>
          <p:nvPr/>
        </p:nvSpPr>
        <p:spPr>
          <a:xfrm flipH="true">
            <a:off x="4474845" y="3551555"/>
            <a:ext cx="119063" cy="1588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94" name="Line 33"/>
          <p:cNvSpPr/>
          <p:nvPr/>
        </p:nvSpPr>
        <p:spPr>
          <a:xfrm flipH="true">
            <a:off x="4281170" y="3551555"/>
            <a:ext cx="119063" cy="1588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95" name="Line 34"/>
          <p:cNvSpPr/>
          <p:nvPr/>
        </p:nvSpPr>
        <p:spPr>
          <a:xfrm flipH="true">
            <a:off x="4089083" y="3551555"/>
            <a:ext cx="119062" cy="1588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96" name="Line 35"/>
          <p:cNvSpPr/>
          <p:nvPr/>
        </p:nvSpPr>
        <p:spPr>
          <a:xfrm flipH="true">
            <a:off x="3895408" y="3551555"/>
            <a:ext cx="119062" cy="1588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97" name="Freeform 36"/>
          <p:cNvSpPr/>
          <p:nvPr/>
        </p:nvSpPr>
        <p:spPr>
          <a:xfrm>
            <a:off x="3717608" y="3538855"/>
            <a:ext cx="103187" cy="12700"/>
          </a:xfrm>
          <a:custGeom>
            <a:avLst/>
            <a:gdLst>
              <a:gd name="txL" fmla="*/ 0 w 42"/>
              <a:gd name="txT" fmla="*/ 0 h 6"/>
              <a:gd name="txR" fmla="*/ 42 w 42"/>
              <a:gd name="txB" fmla="*/ 6 h 6"/>
            </a:gdLst>
            <a:ahLst/>
            <a:cxnLst>
              <a:cxn ang="0">
                <a:pos x="253513261" y="26881667"/>
              </a:cxn>
              <a:cxn ang="0">
                <a:pos x="0" y="26881667"/>
              </a:cxn>
              <a:cxn ang="0">
                <a:pos x="0" y="0"/>
              </a:cxn>
            </a:cxnLst>
            <a:rect l="txL" t="txT" r="txR" b="txB"/>
            <a:pathLst>
              <a:path w="42" h="6">
                <a:moveTo>
                  <a:pt x="42" y="6"/>
                </a:moveTo>
                <a:lnTo>
                  <a:pt x="0" y="6"/>
                </a:lnTo>
                <a:lnTo>
                  <a:pt x="0" y="0"/>
                </a:lnTo>
              </a:path>
            </a:pathLst>
          </a:custGeom>
          <a:noFill/>
          <a:ln w="14288" cap="flat" cmpd="sng">
            <a:solidFill>
              <a:srgbClr val="00FFFF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98" name="Line 37"/>
          <p:cNvSpPr/>
          <p:nvPr/>
        </p:nvSpPr>
        <p:spPr>
          <a:xfrm flipV="true">
            <a:off x="3717608" y="3364230"/>
            <a:ext cx="1587" cy="107950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99" name="Line 38"/>
          <p:cNvSpPr/>
          <p:nvPr/>
        </p:nvSpPr>
        <p:spPr>
          <a:xfrm flipV="true">
            <a:off x="3717608" y="3189605"/>
            <a:ext cx="1587" cy="107950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00" name="Line 39"/>
          <p:cNvSpPr/>
          <p:nvPr/>
        </p:nvSpPr>
        <p:spPr>
          <a:xfrm flipV="true">
            <a:off x="3717608" y="3014980"/>
            <a:ext cx="1587" cy="106363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01" name="Line 40"/>
          <p:cNvSpPr/>
          <p:nvPr/>
        </p:nvSpPr>
        <p:spPr>
          <a:xfrm flipV="true">
            <a:off x="3717608" y="2840355"/>
            <a:ext cx="1587" cy="106363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02" name="Line 41"/>
          <p:cNvSpPr/>
          <p:nvPr/>
        </p:nvSpPr>
        <p:spPr>
          <a:xfrm flipV="true">
            <a:off x="3717608" y="2664143"/>
            <a:ext cx="1587" cy="107950"/>
          </a:xfrm>
          <a:prstGeom prst="line">
            <a:avLst/>
          </a:prstGeom>
          <a:ln w="14351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03" name="Line 42"/>
          <p:cNvSpPr/>
          <p:nvPr/>
        </p:nvSpPr>
        <p:spPr>
          <a:xfrm flipV="true">
            <a:off x="3717608" y="2584768"/>
            <a:ext cx="1587" cy="12700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04" name="Freeform 43"/>
          <p:cNvSpPr/>
          <p:nvPr/>
        </p:nvSpPr>
        <p:spPr>
          <a:xfrm>
            <a:off x="3650933" y="2494280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105846563" y="0"/>
              </a:cxn>
              <a:cxn ang="0">
                <a:pos x="211693125" y="191531875"/>
              </a:cxn>
              <a:cxn ang="0">
                <a:pos x="161290000" y="173891575"/>
              </a:cxn>
              <a:cxn ang="0">
                <a:pos x="105846563" y="166330313"/>
              </a:cxn>
              <a:cxn ang="0">
                <a:pos x="50403125" y="173891575"/>
              </a:cxn>
              <a:cxn ang="0">
                <a:pos x="0" y="191531875"/>
              </a:cxn>
              <a:cxn ang="0">
                <a:pos x="105846563" y="0"/>
              </a:cxn>
            </a:cxnLst>
            <a:rect l="txL" t="txT" r="txR" b="txB"/>
            <a:pathLst>
              <a:path w="84" h="76">
                <a:moveTo>
                  <a:pt x="42" y="0"/>
                </a:moveTo>
                <a:lnTo>
                  <a:pt x="84" y="76"/>
                </a:lnTo>
                <a:lnTo>
                  <a:pt x="64" y="69"/>
                </a:lnTo>
                <a:lnTo>
                  <a:pt x="42" y="66"/>
                </a:lnTo>
                <a:lnTo>
                  <a:pt x="20" y="69"/>
                </a:lnTo>
                <a:lnTo>
                  <a:pt x="0" y="76"/>
                </a:lnTo>
                <a:lnTo>
                  <a:pt x="42" y="0"/>
                </a:lnTo>
                <a:close/>
              </a:path>
            </a:pathLst>
          </a:custGeom>
          <a:solidFill>
            <a:srgbClr val="00FFFF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05" name="Freeform 44"/>
          <p:cNvSpPr/>
          <p:nvPr/>
        </p:nvSpPr>
        <p:spPr>
          <a:xfrm>
            <a:off x="3366770" y="2651443"/>
            <a:ext cx="263525" cy="239712"/>
          </a:xfrm>
          <a:custGeom>
            <a:avLst/>
            <a:gdLst>
              <a:gd name="txL" fmla="*/ 0 w 166"/>
              <a:gd name="txT" fmla="*/ 0 h 151"/>
              <a:gd name="txR" fmla="*/ 166 w 166"/>
              <a:gd name="txB" fmla="*/ 151 h 151"/>
            </a:gdLst>
            <a:ahLst/>
            <a:cxnLst>
              <a:cxn ang="0">
                <a:pos x="0" y="191531475"/>
              </a:cxn>
              <a:cxn ang="0">
                <a:pos x="7561263" y="141128456"/>
              </a:cxn>
              <a:cxn ang="0">
                <a:pos x="27722513" y="95765738"/>
              </a:cxn>
              <a:cxn ang="0">
                <a:pos x="63004700" y="57962679"/>
              </a:cxn>
              <a:cxn ang="0">
                <a:pos x="105846563" y="27720867"/>
              </a:cxn>
              <a:cxn ang="0">
                <a:pos x="156249688" y="7559659"/>
              </a:cxn>
              <a:cxn ang="0">
                <a:pos x="206652813" y="0"/>
              </a:cxn>
              <a:cxn ang="0">
                <a:pos x="262096250" y="7559659"/>
              </a:cxn>
              <a:cxn ang="0">
                <a:pos x="312499375" y="27720867"/>
              </a:cxn>
              <a:cxn ang="0">
                <a:pos x="357862188" y="57962679"/>
              </a:cxn>
              <a:cxn ang="0">
                <a:pos x="388104063" y="95765738"/>
              </a:cxn>
              <a:cxn ang="0">
                <a:pos x="410786263" y="141128456"/>
              </a:cxn>
              <a:cxn ang="0">
                <a:pos x="418345938" y="191531475"/>
              </a:cxn>
              <a:cxn ang="0">
                <a:pos x="410786263" y="239413551"/>
              </a:cxn>
              <a:cxn ang="0">
                <a:pos x="388104063" y="284776269"/>
              </a:cxn>
              <a:cxn ang="0">
                <a:pos x="357862188" y="322579327"/>
              </a:cxn>
              <a:cxn ang="0">
                <a:pos x="312499375" y="355340496"/>
              </a:cxn>
              <a:cxn ang="0">
                <a:pos x="262096250" y="372982347"/>
              </a:cxn>
              <a:cxn ang="0">
                <a:pos x="206652813" y="380542006"/>
              </a:cxn>
              <a:cxn ang="0">
                <a:pos x="156249688" y="372982347"/>
              </a:cxn>
              <a:cxn ang="0">
                <a:pos x="105846563" y="355340496"/>
              </a:cxn>
              <a:cxn ang="0">
                <a:pos x="63004700" y="322579327"/>
              </a:cxn>
              <a:cxn ang="0">
                <a:pos x="27722513" y="284776269"/>
              </a:cxn>
              <a:cxn ang="0">
                <a:pos x="7561263" y="239413551"/>
              </a:cxn>
              <a:cxn ang="0">
                <a:pos x="0" y="191531475"/>
              </a:cxn>
            </a:cxnLst>
            <a:rect l="txL" t="txT" r="txR" b="txB"/>
            <a:pathLst>
              <a:path w="166" h="151">
                <a:moveTo>
                  <a:pt x="0" y="76"/>
                </a:moveTo>
                <a:lnTo>
                  <a:pt x="3" y="56"/>
                </a:lnTo>
                <a:lnTo>
                  <a:pt x="11" y="38"/>
                </a:lnTo>
                <a:lnTo>
                  <a:pt x="25" y="23"/>
                </a:lnTo>
                <a:lnTo>
                  <a:pt x="42" y="11"/>
                </a:lnTo>
                <a:lnTo>
                  <a:pt x="62" y="3"/>
                </a:lnTo>
                <a:lnTo>
                  <a:pt x="82" y="0"/>
                </a:lnTo>
                <a:lnTo>
                  <a:pt x="104" y="3"/>
                </a:lnTo>
                <a:lnTo>
                  <a:pt x="124" y="11"/>
                </a:lnTo>
                <a:lnTo>
                  <a:pt x="142" y="23"/>
                </a:lnTo>
                <a:lnTo>
                  <a:pt x="154" y="38"/>
                </a:lnTo>
                <a:lnTo>
                  <a:pt x="163" y="56"/>
                </a:lnTo>
                <a:lnTo>
                  <a:pt x="166" y="76"/>
                </a:lnTo>
                <a:lnTo>
                  <a:pt x="163" y="95"/>
                </a:lnTo>
                <a:lnTo>
                  <a:pt x="154" y="113"/>
                </a:lnTo>
                <a:lnTo>
                  <a:pt x="142" y="128"/>
                </a:lnTo>
                <a:lnTo>
                  <a:pt x="124" y="141"/>
                </a:lnTo>
                <a:lnTo>
                  <a:pt x="104" y="148"/>
                </a:lnTo>
                <a:lnTo>
                  <a:pt x="82" y="151"/>
                </a:lnTo>
                <a:lnTo>
                  <a:pt x="62" y="148"/>
                </a:lnTo>
                <a:lnTo>
                  <a:pt x="42" y="141"/>
                </a:lnTo>
                <a:lnTo>
                  <a:pt x="25" y="128"/>
                </a:lnTo>
                <a:lnTo>
                  <a:pt x="11" y="113"/>
                </a:lnTo>
                <a:lnTo>
                  <a:pt x="3" y="95"/>
                </a:lnTo>
                <a:lnTo>
                  <a:pt x="0" y="76"/>
                </a:lnTo>
                <a:close/>
              </a:path>
            </a:pathLst>
          </a:custGeom>
          <a:solidFill>
            <a:srgbClr val="00FFFF">
              <a:alpha val="100000"/>
            </a:srgbClr>
          </a:solidFill>
          <a:ln w="14288" cap="flat" cmpd="sng">
            <a:solidFill>
              <a:srgbClr val="00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06" name="Rectangle 45"/>
          <p:cNvSpPr/>
          <p:nvPr/>
        </p:nvSpPr>
        <p:spPr>
          <a:xfrm>
            <a:off x="3450908" y="2678430"/>
            <a:ext cx="82550" cy="1984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13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07" name="Freeform 46"/>
          <p:cNvSpPr/>
          <p:nvPr/>
        </p:nvSpPr>
        <p:spPr>
          <a:xfrm>
            <a:off x="4195445" y="2203768"/>
            <a:ext cx="106363" cy="41275"/>
          </a:xfrm>
          <a:custGeom>
            <a:avLst/>
            <a:gdLst>
              <a:gd name="txL" fmla="*/ 0 w 43"/>
              <a:gd name="txT" fmla="*/ 0 h 19"/>
              <a:gd name="txR" fmla="*/ 43 w 43"/>
              <a:gd name="txB" fmla="*/ 19 h 19"/>
            </a:gdLst>
            <a:ahLst/>
            <a:cxnLst>
              <a:cxn ang="0">
                <a:pos x="263095064" y="0"/>
              </a:cxn>
              <a:cxn ang="0">
                <a:pos x="183555329" y="4718384"/>
              </a:cxn>
              <a:cxn ang="0">
                <a:pos x="97896010" y="33035207"/>
              </a:cxn>
              <a:cxn ang="0">
                <a:pos x="18356275" y="75507182"/>
              </a:cxn>
              <a:cxn ang="0">
                <a:pos x="0" y="89664507"/>
              </a:cxn>
            </a:cxnLst>
            <a:rect l="txL" t="txT" r="txR" b="txB"/>
            <a:pathLst>
              <a:path w="43" h="19">
                <a:moveTo>
                  <a:pt x="43" y="0"/>
                </a:moveTo>
                <a:lnTo>
                  <a:pt x="30" y="1"/>
                </a:lnTo>
                <a:lnTo>
                  <a:pt x="16" y="7"/>
                </a:lnTo>
                <a:lnTo>
                  <a:pt x="3" y="16"/>
                </a:lnTo>
                <a:lnTo>
                  <a:pt x="0" y="19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08" name="Freeform 47"/>
          <p:cNvSpPr/>
          <p:nvPr/>
        </p:nvSpPr>
        <p:spPr>
          <a:xfrm>
            <a:off x="4089083" y="2294255"/>
            <a:ext cx="57150" cy="95250"/>
          </a:xfrm>
          <a:custGeom>
            <a:avLst/>
            <a:gdLst>
              <a:gd name="txL" fmla="*/ 0 w 23"/>
              <a:gd name="txT" fmla="*/ 0 h 42"/>
              <a:gd name="txR" fmla="*/ 23 w 23"/>
              <a:gd name="txB" fmla="*/ 42 h 42"/>
            </a:gdLst>
            <a:ahLst/>
            <a:cxnLst>
              <a:cxn ang="0">
                <a:pos x="142005326" y="0"/>
              </a:cxn>
              <a:cxn ang="0">
                <a:pos x="129655957" y="15430500"/>
              </a:cxn>
              <a:cxn ang="0">
                <a:pos x="61741878" y="113150196"/>
              </a:cxn>
              <a:cxn ang="0">
                <a:pos x="0" y="216013393"/>
              </a:cxn>
            </a:cxnLst>
            <a:rect l="txL" t="txT" r="txR" b="txB"/>
            <a:pathLst>
              <a:path w="23" h="42">
                <a:moveTo>
                  <a:pt x="23" y="0"/>
                </a:moveTo>
                <a:lnTo>
                  <a:pt x="21" y="3"/>
                </a:lnTo>
                <a:lnTo>
                  <a:pt x="10" y="22"/>
                </a:lnTo>
                <a:lnTo>
                  <a:pt x="0" y="42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09" name="Freeform 48"/>
          <p:cNvSpPr/>
          <p:nvPr/>
        </p:nvSpPr>
        <p:spPr>
          <a:xfrm>
            <a:off x="4028758" y="2451418"/>
            <a:ext cx="33337" cy="103187"/>
          </a:xfrm>
          <a:custGeom>
            <a:avLst/>
            <a:gdLst>
              <a:gd name="txL" fmla="*/ 0 w 13"/>
              <a:gd name="txT" fmla="*/ 0 h 46"/>
              <a:gd name="txR" fmla="*/ 13 w 13"/>
              <a:gd name="txB" fmla="*/ 46 h 46"/>
            </a:gdLst>
            <a:ahLst/>
            <a:cxnLst>
              <a:cxn ang="0">
                <a:pos x="85488890" y="0"/>
              </a:cxn>
              <a:cxn ang="0">
                <a:pos x="32880540" y="125798412"/>
              </a:cxn>
              <a:cxn ang="0">
                <a:pos x="0" y="231468630"/>
              </a:cxn>
            </a:cxnLst>
            <a:rect l="txL" t="txT" r="txR" b="txB"/>
            <a:pathLst>
              <a:path w="13" h="46">
                <a:moveTo>
                  <a:pt x="13" y="0"/>
                </a:moveTo>
                <a:lnTo>
                  <a:pt x="5" y="25"/>
                </a:lnTo>
                <a:lnTo>
                  <a:pt x="0" y="46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10" name="Freeform 49"/>
          <p:cNvSpPr/>
          <p:nvPr/>
        </p:nvSpPr>
        <p:spPr>
          <a:xfrm>
            <a:off x="3995420" y="2619693"/>
            <a:ext cx="15875" cy="107950"/>
          </a:xfrm>
          <a:custGeom>
            <a:avLst/>
            <a:gdLst>
              <a:gd name="txL" fmla="*/ 0 w 7"/>
              <a:gd name="txT" fmla="*/ 0 h 48"/>
              <a:gd name="txR" fmla="*/ 7 w 7"/>
              <a:gd name="txB" fmla="*/ 48 h 48"/>
            </a:gdLst>
            <a:ahLst/>
            <a:cxnLst>
              <a:cxn ang="0">
                <a:pos x="36002232" y="0"/>
              </a:cxn>
              <a:cxn ang="0">
                <a:pos x="25715232" y="50579073"/>
              </a:cxn>
              <a:cxn ang="0">
                <a:pos x="5143500" y="212427608"/>
              </a:cxn>
              <a:cxn ang="0">
                <a:pos x="0" y="242775052"/>
              </a:cxn>
            </a:cxnLst>
            <a:rect l="txL" t="txT" r="txR" b="txB"/>
            <a:pathLst>
              <a:path w="7" h="48">
                <a:moveTo>
                  <a:pt x="7" y="0"/>
                </a:moveTo>
                <a:lnTo>
                  <a:pt x="5" y="10"/>
                </a:lnTo>
                <a:lnTo>
                  <a:pt x="1" y="42"/>
                </a:lnTo>
                <a:lnTo>
                  <a:pt x="0" y="48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11" name="Freeform 50"/>
          <p:cNvSpPr/>
          <p:nvPr/>
        </p:nvSpPr>
        <p:spPr>
          <a:xfrm>
            <a:off x="3982720" y="2794318"/>
            <a:ext cx="4763" cy="107950"/>
          </a:xfrm>
          <a:custGeom>
            <a:avLst/>
            <a:gdLst>
              <a:gd name="txL" fmla="*/ 0 w 2"/>
              <a:gd name="txT" fmla="*/ 0 h 48"/>
              <a:gd name="txR" fmla="*/ 2 w 2"/>
              <a:gd name="txB" fmla="*/ 48 h 48"/>
            </a:gdLst>
            <a:ahLst/>
            <a:cxnLst>
              <a:cxn ang="0">
                <a:pos x="11343085" y="0"/>
              </a:cxn>
              <a:cxn ang="0">
                <a:pos x="0" y="161850784"/>
              </a:cxn>
              <a:cxn ang="0">
                <a:pos x="0" y="242775052"/>
              </a:cxn>
            </a:cxnLst>
            <a:rect l="txL" t="txT" r="txR" b="txB"/>
            <a:pathLst>
              <a:path w="2" h="48">
                <a:moveTo>
                  <a:pt x="2" y="0"/>
                </a:moveTo>
                <a:lnTo>
                  <a:pt x="0" y="32"/>
                </a:lnTo>
                <a:lnTo>
                  <a:pt x="0" y="48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12" name="Freeform 51"/>
          <p:cNvSpPr/>
          <p:nvPr/>
        </p:nvSpPr>
        <p:spPr>
          <a:xfrm>
            <a:off x="3979545" y="2941955"/>
            <a:ext cx="7938" cy="107950"/>
          </a:xfrm>
          <a:custGeom>
            <a:avLst/>
            <a:gdLst>
              <a:gd name="txL" fmla="*/ 0 w 3"/>
              <a:gd name="txT" fmla="*/ 0 h 48"/>
              <a:gd name="txR" fmla="*/ 3 w 3"/>
              <a:gd name="txB" fmla="*/ 48 h 48"/>
            </a:gdLst>
            <a:ahLst/>
            <a:cxnLst>
              <a:cxn ang="0">
                <a:pos x="0" y="0"/>
              </a:cxn>
              <a:cxn ang="0">
                <a:pos x="7001316" y="161850784"/>
              </a:cxn>
              <a:cxn ang="0">
                <a:pos x="21003948" y="242775052"/>
              </a:cxn>
            </a:cxnLst>
            <a:rect l="txL" t="txT" r="txR" b="txB"/>
            <a:pathLst>
              <a:path w="3" h="48">
                <a:moveTo>
                  <a:pt x="0" y="0"/>
                </a:moveTo>
                <a:lnTo>
                  <a:pt x="1" y="32"/>
                </a:lnTo>
                <a:lnTo>
                  <a:pt x="3" y="48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13" name="Freeform 52"/>
          <p:cNvSpPr/>
          <p:nvPr/>
        </p:nvSpPr>
        <p:spPr>
          <a:xfrm>
            <a:off x="3997008" y="3118168"/>
            <a:ext cx="26987" cy="104775"/>
          </a:xfrm>
          <a:custGeom>
            <a:avLst/>
            <a:gdLst>
              <a:gd name="txL" fmla="*/ 0 w 11"/>
              <a:gd name="txT" fmla="*/ 0 h 47"/>
              <a:gd name="txR" fmla="*/ 11 w 11"/>
              <a:gd name="txB" fmla="*/ 47 h 47"/>
            </a:gdLst>
            <a:ahLst/>
            <a:cxnLst>
              <a:cxn ang="0">
                <a:pos x="0" y="0"/>
              </a:cxn>
              <a:cxn ang="0">
                <a:pos x="12038655" y="69575059"/>
              </a:cxn>
              <a:cxn ang="0">
                <a:pos x="60190823" y="213691956"/>
              </a:cxn>
              <a:cxn ang="0">
                <a:pos x="66208924" y="233570226"/>
              </a:cxn>
            </a:cxnLst>
            <a:rect l="txL" t="txT" r="txR" b="txB"/>
            <a:pathLst>
              <a:path w="11" h="47">
                <a:moveTo>
                  <a:pt x="0" y="0"/>
                </a:moveTo>
                <a:lnTo>
                  <a:pt x="2" y="14"/>
                </a:lnTo>
                <a:lnTo>
                  <a:pt x="10" y="43"/>
                </a:lnTo>
                <a:lnTo>
                  <a:pt x="11" y="47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14" name="Freeform 53"/>
          <p:cNvSpPr/>
          <p:nvPr/>
        </p:nvSpPr>
        <p:spPr>
          <a:xfrm>
            <a:off x="4049395" y="3284855"/>
            <a:ext cx="53975" cy="95250"/>
          </a:xfrm>
          <a:custGeom>
            <a:avLst/>
            <a:gdLst>
              <a:gd name="txL" fmla="*/ 0 w 22"/>
              <a:gd name="txT" fmla="*/ 0 h 42"/>
              <a:gd name="txR" fmla="*/ 22 w 22"/>
              <a:gd name="txB" fmla="*/ 42 h 42"/>
            </a:gdLst>
            <a:ahLst/>
            <a:cxnLst>
              <a:cxn ang="0">
                <a:pos x="0" y="0"/>
              </a:cxn>
              <a:cxn ang="0">
                <a:pos x="48153060" y="92576196"/>
              </a:cxn>
              <a:cxn ang="0">
                <a:pos x="120383877" y="200582893"/>
              </a:cxn>
              <a:cxn ang="0">
                <a:pos x="132422756" y="216013393"/>
              </a:cxn>
            </a:cxnLst>
            <a:rect l="txL" t="txT" r="txR" b="txB"/>
            <a:pathLst>
              <a:path w="22" h="42">
                <a:moveTo>
                  <a:pt x="0" y="0"/>
                </a:moveTo>
                <a:lnTo>
                  <a:pt x="8" y="18"/>
                </a:lnTo>
                <a:lnTo>
                  <a:pt x="20" y="39"/>
                </a:lnTo>
                <a:lnTo>
                  <a:pt x="22" y="42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15" name="Freeform 54"/>
          <p:cNvSpPr/>
          <p:nvPr/>
        </p:nvSpPr>
        <p:spPr>
          <a:xfrm>
            <a:off x="4147820" y="3430905"/>
            <a:ext cx="57150" cy="42863"/>
          </a:xfrm>
          <a:custGeom>
            <a:avLst/>
            <a:gdLst>
              <a:gd name="txL" fmla="*/ 0 w 23"/>
              <a:gd name="txT" fmla="*/ 0 h 19"/>
              <a:gd name="txR" fmla="*/ 23 w 23"/>
              <a:gd name="txB" fmla="*/ 19 h 19"/>
            </a:gdLst>
            <a:ahLst/>
            <a:cxnLst>
              <a:cxn ang="0">
                <a:pos x="0" y="0"/>
              </a:cxn>
              <a:cxn ang="0">
                <a:pos x="49392509" y="40715338"/>
              </a:cxn>
              <a:cxn ang="0">
                <a:pos x="142005326" y="96696672"/>
              </a:cxn>
            </a:cxnLst>
            <a:rect l="txL" t="txT" r="txR" b="txB"/>
            <a:pathLst>
              <a:path w="23" h="19">
                <a:moveTo>
                  <a:pt x="0" y="0"/>
                </a:moveTo>
                <a:lnTo>
                  <a:pt x="8" y="8"/>
                </a:lnTo>
                <a:lnTo>
                  <a:pt x="23" y="19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16" name="Freeform 55"/>
          <p:cNvSpPr/>
          <p:nvPr/>
        </p:nvSpPr>
        <p:spPr>
          <a:xfrm>
            <a:off x="4155758" y="3407093"/>
            <a:ext cx="146050" cy="115887"/>
          </a:xfrm>
          <a:custGeom>
            <a:avLst/>
            <a:gdLst>
              <a:gd name="txL" fmla="*/ 0 w 92"/>
              <a:gd name="txT" fmla="*/ 0 h 73"/>
              <a:gd name="txR" fmla="*/ 92 w 92"/>
              <a:gd name="txB" fmla="*/ 73 h 73"/>
            </a:gdLst>
            <a:ahLst/>
            <a:cxnLst>
              <a:cxn ang="0">
                <a:pos x="231854375" y="146168432"/>
              </a:cxn>
              <a:cxn ang="0">
                <a:pos x="0" y="183969819"/>
              </a:cxn>
              <a:cxn ang="0">
                <a:pos x="30241875" y="146168432"/>
              </a:cxn>
              <a:cxn ang="0">
                <a:pos x="55443438" y="98284876"/>
              </a:cxn>
              <a:cxn ang="0">
                <a:pos x="63004700" y="47881968"/>
              </a:cxn>
              <a:cxn ang="0">
                <a:pos x="57964388" y="0"/>
              </a:cxn>
              <a:cxn ang="0">
                <a:pos x="231854375" y="146168432"/>
              </a:cxn>
            </a:cxnLst>
            <a:rect l="txL" t="txT" r="txR" b="txB"/>
            <a:pathLst>
              <a:path w="92" h="73">
                <a:moveTo>
                  <a:pt x="92" y="58"/>
                </a:moveTo>
                <a:lnTo>
                  <a:pt x="0" y="73"/>
                </a:lnTo>
                <a:lnTo>
                  <a:pt x="12" y="58"/>
                </a:lnTo>
                <a:lnTo>
                  <a:pt x="22" y="39"/>
                </a:lnTo>
                <a:lnTo>
                  <a:pt x="25" y="19"/>
                </a:lnTo>
                <a:lnTo>
                  <a:pt x="23" y="0"/>
                </a:lnTo>
                <a:lnTo>
                  <a:pt x="92" y="58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17" name="Freeform 56"/>
          <p:cNvSpPr/>
          <p:nvPr/>
        </p:nvSpPr>
        <p:spPr>
          <a:xfrm>
            <a:off x="4098608" y="2626043"/>
            <a:ext cx="261937" cy="238125"/>
          </a:xfrm>
          <a:custGeom>
            <a:avLst/>
            <a:gdLst>
              <a:gd name="txL" fmla="*/ 0 w 165"/>
              <a:gd name="txT" fmla="*/ 0 h 150"/>
              <a:gd name="txR" fmla="*/ 165 w 165"/>
              <a:gd name="txB" fmla="*/ 150 h 150"/>
            </a:gdLst>
            <a:ahLst/>
            <a:cxnLst>
              <a:cxn ang="0">
                <a:pos x="0" y="189012513"/>
              </a:cxn>
              <a:cxn ang="0">
                <a:pos x="5040303" y="138609388"/>
              </a:cxn>
              <a:cxn ang="0">
                <a:pos x="27720872" y="93246575"/>
              </a:cxn>
              <a:cxn ang="0">
                <a:pos x="57962689" y="55443438"/>
              </a:cxn>
              <a:cxn ang="0">
                <a:pos x="103325415" y="25201563"/>
              </a:cxn>
              <a:cxn ang="0">
                <a:pos x="153728444" y="5040313"/>
              </a:cxn>
              <a:cxn ang="0">
                <a:pos x="209171776" y="0"/>
              </a:cxn>
              <a:cxn ang="0">
                <a:pos x="259574805" y="5040313"/>
              </a:cxn>
              <a:cxn ang="0">
                <a:pos x="309977833" y="25201563"/>
              </a:cxn>
              <a:cxn ang="0">
                <a:pos x="352821202" y="55443438"/>
              </a:cxn>
              <a:cxn ang="0">
                <a:pos x="388103322" y="93246575"/>
              </a:cxn>
              <a:cxn ang="0">
                <a:pos x="408264533" y="138609388"/>
              </a:cxn>
              <a:cxn ang="0">
                <a:pos x="415824194" y="189012513"/>
              </a:cxn>
              <a:cxn ang="0">
                <a:pos x="408264533" y="239415638"/>
              </a:cxn>
              <a:cxn ang="0">
                <a:pos x="388103322" y="282257500"/>
              </a:cxn>
              <a:cxn ang="0">
                <a:pos x="352821202" y="320060638"/>
              </a:cxn>
              <a:cxn ang="0">
                <a:pos x="309977833" y="352821875"/>
              </a:cxn>
              <a:cxn ang="0">
                <a:pos x="259574805" y="370463763"/>
              </a:cxn>
              <a:cxn ang="0">
                <a:pos x="209171776" y="378023438"/>
              </a:cxn>
              <a:cxn ang="0">
                <a:pos x="153728444" y="370463763"/>
              </a:cxn>
              <a:cxn ang="0">
                <a:pos x="103325415" y="352821875"/>
              </a:cxn>
              <a:cxn ang="0">
                <a:pos x="57962689" y="320060638"/>
              </a:cxn>
              <a:cxn ang="0">
                <a:pos x="27720872" y="282257500"/>
              </a:cxn>
              <a:cxn ang="0">
                <a:pos x="5040303" y="239415638"/>
              </a:cxn>
              <a:cxn ang="0">
                <a:pos x="0" y="189012513"/>
              </a:cxn>
            </a:cxnLst>
            <a:rect l="txL" t="txT" r="txR" b="txB"/>
            <a:pathLst>
              <a:path w="165" h="150">
                <a:moveTo>
                  <a:pt x="0" y="75"/>
                </a:moveTo>
                <a:lnTo>
                  <a:pt x="2" y="55"/>
                </a:lnTo>
                <a:lnTo>
                  <a:pt x="11" y="37"/>
                </a:lnTo>
                <a:lnTo>
                  <a:pt x="23" y="22"/>
                </a:lnTo>
                <a:lnTo>
                  <a:pt x="41" y="10"/>
                </a:lnTo>
                <a:lnTo>
                  <a:pt x="61" y="2"/>
                </a:lnTo>
                <a:lnTo>
                  <a:pt x="83" y="0"/>
                </a:lnTo>
                <a:lnTo>
                  <a:pt x="103" y="2"/>
                </a:lnTo>
                <a:lnTo>
                  <a:pt x="123" y="10"/>
                </a:lnTo>
                <a:lnTo>
                  <a:pt x="140" y="22"/>
                </a:lnTo>
                <a:lnTo>
                  <a:pt x="154" y="37"/>
                </a:lnTo>
                <a:lnTo>
                  <a:pt x="162" y="55"/>
                </a:lnTo>
                <a:lnTo>
                  <a:pt x="165" y="75"/>
                </a:lnTo>
                <a:lnTo>
                  <a:pt x="162" y="95"/>
                </a:lnTo>
                <a:lnTo>
                  <a:pt x="154" y="112"/>
                </a:lnTo>
                <a:lnTo>
                  <a:pt x="140" y="127"/>
                </a:lnTo>
                <a:lnTo>
                  <a:pt x="123" y="140"/>
                </a:lnTo>
                <a:lnTo>
                  <a:pt x="103" y="147"/>
                </a:lnTo>
                <a:lnTo>
                  <a:pt x="83" y="150"/>
                </a:lnTo>
                <a:lnTo>
                  <a:pt x="61" y="147"/>
                </a:lnTo>
                <a:lnTo>
                  <a:pt x="41" y="140"/>
                </a:lnTo>
                <a:lnTo>
                  <a:pt x="23" y="127"/>
                </a:lnTo>
                <a:lnTo>
                  <a:pt x="11" y="112"/>
                </a:lnTo>
                <a:lnTo>
                  <a:pt x="2" y="95"/>
                </a:lnTo>
                <a:lnTo>
                  <a:pt x="0" y="75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14288" cap="flat" cmpd="sng">
            <a:solidFill>
              <a:srgbClr val="00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18" name="Rectangle 57"/>
          <p:cNvSpPr/>
          <p:nvPr/>
        </p:nvSpPr>
        <p:spPr>
          <a:xfrm>
            <a:off x="4179570" y="2651443"/>
            <a:ext cx="82550" cy="1984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13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19" name="Line 58"/>
          <p:cNvSpPr/>
          <p:nvPr/>
        </p:nvSpPr>
        <p:spPr>
          <a:xfrm>
            <a:off x="6348095" y="1567180"/>
            <a:ext cx="1588" cy="304800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20" name="Freeform 59"/>
          <p:cNvSpPr/>
          <p:nvPr/>
        </p:nvSpPr>
        <p:spPr>
          <a:xfrm>
            <a:off x="6281420" y="1841818"/>
            <a:ext cx="133350" cy="122237"/>
          </a:xfrm>
          <a:custGeom>
            <a:avLst/>
            <a:gdLst>
              <a:gd name="txL" fmla="*/ 0 w 84"/>
              <a:gd name="txT" fmla="*/ 0 h 77"/>
              <a:gd name="txR" fmla="*/ 84 w 84"/>
              <a:gd name="txB" fmla="*/ 77 h 77"/>
            </a:gdLst>
            <a:ahLst/>
            <a:cxnLst>
              <a:cxn ang="0">
                <a:pos x="105846563" y="194050444"/>
              </a:cxn>
              <a:cxn ang="0">
                <a:pos x="0" y="0"/>
              </a:cxn>
              <a:cxn ang="0">
                <a:pos x="50403125" y="17640228"/>
              </a:cxn>
              <a:cxn ang="0">
                <a:pos x="105846563" y="25201459"/>
              </a:cxn>
              <a:cxn ang="0">
                <a:pos x="161290000" y="17640228"/>
              </a:cxn>
              <a:cxn ang="0">
                <a:pos x="211693125" y="0"/>
              </a:cxn>
              <a:cxn ang="0">
                <a:pos x="105846563" y="194050444"/>
              </a:cxn>
            </a:cxnLst>
            <a:rect l="txL" t="txT" r="txR" b="txB"/>
            <a:pathLst>
              <a:path w="84" h="77">
                <a:moveTo>
                  <a:pt x="42" y="77"/>
                </a:moveTo>
                <a:lnTo>
                  <a:pt x="0" y="0"/>
                </a:lnTo>
                <a:lnTo>
                  <a:pt x="20" y="7"/>
                </a:lnTo>
                <a:lnTo>
                  <a:pt x="42" y="10"/>
                </a:lnTo>
                <a:lnTo>
                  <a:pt x="64" y="7"/>
                </a:lnTo>
                <a:lnTo>
                  <a:pt x="84" y="0"/>
                </a:lnTo>
                <a:lnTo>
                  <a:pt x="42" y="7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21" name="Rectangle 60"/>
          <p:cNvSpPr/>
          <p:nvPr/>
        </p:nvSpPr>
        <p:spPr>
          <a:xfrm>
            <a:off x="5962333" y="1459230"/>
            <a:ext cx="173037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p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22" name="Line 61"/>
          <p:cNvSpPr/>
          <p:nvPr/>
        </p:nvSpPr>
        <p:spPr>
          <a:xfrm>
            <a:off x="6157595" y="3684905"/>
            <a:ext cx="890588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23" name="Freeform 62"/>
          <p:cNvSpPr/>
          <p:nvPr/>
        </p:nvSpPr>
        <p:spPr>
          <a:xfrm>
            <a:off x="6055995" y="3624580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0" y="95765938"/>
              </a:cxn>
              <a:cxn ang="0">
                <a:pos x="211693125" y="0"/>
              </a:cxn>
              <a:cxn ang="0">
                <a:pos x="191531875" y="45362813"/>
              </a:cxn>
              <a:cxn ang="0">
                <a:pos x="183972200" y="95765938"/>
              </a:cxn>
              <a:cxn ang="0">
                <a:pos x="191531875" y="146169063"/>
              </a:cxn>
              <a:cxn ang="0">
                <a:pos x="211693125" y="191531875"/>
              </a:cxn>
              <a:cxn ang="0">
                <a:pos x="0" y="95765938"/>
              </a:cxn>
            </a:cxnLst>
            <a:rect l="txL" t="txT" r="txR" b="txB"/>
            <a:pathLst>
              <a:path w="84" h="76">
                <a:moveTo>
                  <a:pt x="0" y="38"/>
                </a:moveTo>
                <a:lnTo>
                  <a:pt x="84" y="0"/>
                </a:lnTo>
                <a:lnTo>
                  <a:pt x="76" y="18"/>
                </a:lnTo>
                <a:lnTo>
                  <a:pt x="73" y="38"/>
                </a:lnTo>
                <a:lnTo>
                  <a:pt x="76" y="58"/>
                </a:lnTo>
                <a:lnTo>
                  <a:pt x="84" y="76"/>
                </a:lnTo>
                <a:lnTo>
                  <a:pt x="0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24" name="Rectangle 63"/>
          <p:cNvSpPr/>
          <p:nvPr/>
        </p:nvSpPr>
        <p:spPr>
          <a:xfrm>
            <a:off x="6837045" y="3313430"/>
            <a:ext cx="173038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25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Rectangle 2"/>
          <p:cNvSpPr>
            <a:spLocks noGrp="true"/>
          </p:cNvSpPr>
          <p:nvPr>
            <p:ph type="title"/>
          </p:nvPr>
        </p:nvSpPr>
        <p:spPr>
          <a:xfrm>
            <a:off x="3074670" y="582930"/>
            <a:ext cx="646430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7.3.2.2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pic>
        <p:nvPicPr>
          <p:cNvPr id="1128" name="Object 3"/>
          <p:cNvPicPr/>
          <p:nvPr/>
        </p:nvPicPr>
        <p:blipFill>
          <a:blip r:embed="rId1"/>
          <a:stretch>
            <a:fillRect/>
          </a:stretch>
        </p:blipFill>
        <p:spPr>
          <a:xfrm>
            <a:off x="1922463" y="1546225"/>
            <a:ext cx="7467600" cy="2362200"/>
          </a:xfrm>
          <a:prstGeom prst="rect">
            <a:avLst/>
          </a:prstGeom>
          <a:solidFill>
            <a:srgbClr val="FFFFE7"/>
          </a:solidFill>
          <a:ln w="38100">
            <a:noFill/>
            <a:miter/>
          </a:ln>
        </p:spPr>
      </p:pic>
      <p:sp>
        <p:nvSpPr>
          <p:cNvPr id="1129" name="Rectangle 4"/>
          <p:cNvSpPr/>
          <p:nvPr/>
        </p:nvSpPr>
        <p:spPr>
          <a:xfrm>
            <a:off x="2456180" y="3983990"/>
            <a:ext cx="46335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 b="true">
                <a:solidFill>
                  <a:schemeClr val="accent2"/>
                </a:solidFill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1. s-&gt;prior=p-&gt;prior;</a:t>
            </a:r>
            <a:endParaRPr lang="en-US" altLang="zh-CN" sz="2800" b="true">
              <a:solidFill>
                <a:schemeClr val="accent2"/>
              </a:solidFill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1130" name="Rectangle 5"/>
          <p:cNvSpPr/>
          <p:nvPr/>
        </p:nvSpPr>
        <p:spPr>
          <a:xfrm>
            <a:off x="2456180" y="4528820"/>
            <a:ext cx="47021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 b="true">
                <a:solidFill>
                  <a:srgbClr val="FF0000"/>
                </a:solidFill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2. p-&gt;prior-&gt;next=s;</a:t>
            </a:r>
            <a:endParaRPr lang="en-US" altLang="zh-CN" sz="2800" b="true">
              <a:solidFill>
                <a:srgbClr val="FF0000"/>
              </a:solidFill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1131" name="Rectangle 6"/>
          <p:cNvSpPr/>
          <p:nvPr/>
        </p:nvSpPr>
        <p:spPr>
          <a:xfrm>
            <a:off x="2456180" y="5104765"/>
            <a:ext cx="43421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 b="true">
                <a:solidFill>
                  <a:schemeClr val="accent1"/>
                </a:solidFill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3. s-&gt;next=p;</a:t>
            </a:r>
            <a:endParaRPr lang="en-US" altLang="zh-CN" sz="2800" b="true">
              <a:solidFill>
                <a:schemeClr val="accent1"/>
              </a:solidFill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1132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Rectangle 2"/>
          <p:cNvSpPr>
            <a:spLocks noGrp="true"/>
          </p:cNvSpPr>
          <p:nvPr>
            <p:ph type="title"/>
          </p:nvPr>
        </p:nvSpPr>
        <p:spPr>
          <a:xfrm>
            <a:off x="3074670" y="582930"/>
            <a:ext cx="648081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7.3.2.2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135" name="Rectangle 3"/>
          <p:cNvSpPr/>
          <p:nvPr/>
        </p:nvSpPr>
        <p:spPr>
          <a:xfrm>
            <a:off x="2024380" y="5029835"/>
            <a:ext cx="3677920" cy="5651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lnSpc>
                <a:spcPct val="110000"/>
              </a:lnSpc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 b="true">
                <a:solidFill>
                  <a:srgbClr val="800080"/>
                </a:solidFill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4. p-&gt;prior=s;</a:t>
            </a:r>
            <a:endParaRPr lang="en-US" altLang="zh-CN" sz="2800" b="true">
              <a:solidFill>
                <a:srgbClr val="800080"/>
              </a:solidFill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1136" name="Rectangle 5"/>
          <p:cNvSpPr/>
          <p:nvPr/>
        </p:nvSpPr>
        <p:spPr>
          <a:xfrm>
            <a:off x="3245168" y="1465898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37" name="Rectangle 6"/>
          <p:cNvSpPr/>
          <p:nvPr/>
        </p:nvSpPr>
        <p:spPr>
          <a:xfrm>
            <a:off x="3443605" y="1542098"/>
            <a:ext cx="173038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38" name="Rectangle 7"/>
          <p:cNvSpPr/>
          <p:nvPr/>
        </p:nvSpPr>
        <p:spPr>
          <a:xfrm>
            <a:off x="2660968" y="1465898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39" name="Rectangle 8"/>
          <p:cNvSpPr/>
          <p:nvPr/>
        </p:nvSpPr>
        <p:spPr>
          <a:xfrm>
            <a:off x="3829368" y="1465898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40" name="Rectangle 9"/>
          <p:cNvSpPr/>
          <p:nvPr/>
        </p:nvSpPr>
        <p:spPr>
          <a:xfrm>
            <a:off x="5291455" y="1465898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41" name="Rectangle 10"/>
          <p:cNvSpPr/>
          <p:nvPr/>
        </p:nvSpPr>
        <p:spPr>
          <a:xfrm>
            <a:off x="5875655" y="1465898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42" name="Rectangle 11"/>
          <p:cNvSpPr/>
          <p:nvPr/>
        </p:nvSpPr>
        <p:spPr>
          <a:xfrm>
            <a:off x="6074093" y="1542098"/>
            <a:ext cx="173037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b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43" name="Rectangle 12"/>
          <p:cNvSpPr/>
          <p:nvPr/>
        </p:nvSpPr>
        <p:spPr>
          <a:xfrm>
            <a:off x="6459855" y="1465898"/>
            <a:ext cx="584200" cy="530225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44" name="Rectangle 13"/>
          <p:cNvSpPr/>
          <p:nvPr/>
        </p:nvSpPr>
        <p:spPr>
          <a:xfrm>
            <a:off x="4121468" y="2789873"/>
            <a:ext cx="584200" cy="528637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45" name="Rectangle 14"/>
          <p:cNvSpPr/>
          <p:nvPr/>
        </p:nvSpPr>
        <p:spPr>
          <a:xfrm>
            <a:off x="4705668" y="2789873"/>
            <a:ext cx="585787" cy="528637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46" name="Rectangle 15"/>
          <p:cNvSpPr/>
          <p:nvPr/>
        </p:nvSpPr>
        <p:spPr>
          <a:xfrm>
            <a:off x="4905693" y="2866073"/>
            <a:ext cx="173037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47" name="Rectangle 16"/>
          <p:cNvSpPr/>
          <p:nvPr/>
        </p:nvSpPr>
        <p:spPr>
          <a:xfrm>
            <a:off x="5291455" y="2789873"/>
            <a:ext cx="584200" cy="528637"/>
          </a:xfrm>
          <a:prstGeom prst="rect">
            <a:avLst/>
          </a:prstGeom>
          <a:solidFill>
            <a:srgbClr val="FFFFFF"/>
          </a:solidFill>
          <a:ln w="14288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endParaRPr lang="zh-CN" altLang="en-US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48" name="Line 17"/>
          <p:cNvSpPr/>
          <p:nvPr/>
        </p:nvSpPr>
        <p:spPr>
          <a:xfrm>
            <a:off x="2221230" y="1597660"/>
            <a:ext cx="338138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49" name="Freeform 18"/>
          <p:cNvSpPr/>
          <p:nvPr/>
        </p:nvSpPr>
        <p:spPr>
          <a:xfrm>
            <a:off x="2527618" y="1537335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211693125" y="95765938"/>
              </a:cxn>
              <a:cxn ang="0">
                <a:pos x="0" y="191531875"/>
              </a:cxn>
              <a:cxn ang="0">
                <a:pos x="15120938" y="146169063"/>
              </a:cxn>
              <a:cxn ang="0">
                <a:pos x="22682200" y="95765938"/>
              </a:cxn>
              <a:cxn ang="0">
                <a:pos x="15120938" y="47883763"/>
              </a:cxn>
              <a:cxn ang="0">
                <a:pos x="0" y="0"/>
              </a:cxn>
              <a:cxn ang="0">
                <a:pos x="211693125" y="95765938"/>
              </a:cxn>
            </a:cxnLst>
            <a:rect l="txL" t="txT" r="txR" b="txB"/>
            <a:pathLst>
              <a:path w="84" h="76">
                <a:moveTo>
                  <a:pt x="84" y="38"/>
                </a:moveTo>
                <a:lnTo>
                  <a:pt x="0" y="76"/>
                </a:lnTo>
                <a:lnTo>
                  <a:pt x="6" y="58"/>
                </a:lnTo>
                <a:lnTo>
                  <a:pt x="9" y="38"/>
                </a:lnTo>
                <a:lnTo>
                  <a:pt x="6" y="19"/>
                </a:lnTo>
                <a:lnTo>
                  <a:pt x="0" y="0"/>
                </a:lnTo>
                <a:lnTo>
                  <a:pt x="84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50" name="Line 19"/>
          <p:cNvSpPr/>
          <p:nvPr/>
        </p:nvSpPr>
        <p:spPr>
          <a:xfrm>
            <a:off x="2322830" y="1864360"/>
            <a:ext cx="630238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51" name="Freeform 20"/>
          <p:cNvSpPr/>
          <p:nvPr/>
        </p:nvSpPr>
        <p:spPr>
          <a:xfrm>
            <a:off x="2221230" y="1804035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0" y="95765938"/>
              </a:cxn>
              <a:cxn ang="0">
                <a:pos x="211693125" y="191531875"/>
              </a:cxn>
              <a:cxn ang="0">
                <a:pos x="196572188" y="141128750"/>
              </a:cxn>
              <a:cxn ang="0">
                <a:pos x="189012513" y="95765938"/>
              </a:cxn>
              <a:cxn ang="0">
                <a:pos x="196572188" y="45362813"/>
              </a:cxn>
              <a:cxn ang="0">
                <a:pos x="211693125" y="0"/>
              </a:cxn>
              <a:cxn ang="0">
                <a:pos x="0" y="95765938"/>
              </a:cxn>
            </a:cxnLst>
            <a:rect l="txL" t="txT" r="txR" b="txB"/>
            <a:pathLst>
              <a:path w="84" h="76">
                <a:moveTo>
                  <a:pt x="0" y="38"/>
                </a:moveTo>
                <a:lnTo>
                  <a:pt x="84" y="76"/>
                </a:lnTo>
                <a:lnTo>
                  <a:pt x="78" y="56"/>
                </a:lnTo>
                <a:lnTo>
                  <a:pt x="75" y="38"/>
                </a:lnTo>
                <a:lnTo>
                  <a:pt x="78" y="18"/>
                </a:lnTo>
                <a:lnTo>
                  <a:pt x="84" y="0"/>
                </a:lnTo>
                <a:lnTo>
                  <a:pt x="0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52" name="Line 21"/>
          <p:cNvSpPr/>
          <p:nvPr/>
        </p:nvSpPr>
        <p:spPr>
          <a:xfrm>
            <a:off x="4267518" y="1597660"/>
            <a:ext cx="922337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53" name="Freeform 22"/>
          <p:cNvSpPr/>
          <p:nvPr/>
        </p:nvSpPr>
        <p:spPr>
          <a:xfrm>
            <a:off x="5158105" y="1537335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211693125" y="95765938"/>
              </a:cxn>
              <a:cxn ang="0">
                <a:pos x="0" y="191531875"/>
              </a:cxn>
              <a:cxn ang="0">
                <a:pos x="15120938" y="146169063"/>
              </a:cxn>
              <a:cxn ang="0">
                <a:pos x="22682200" y="95765938"/>
              </a:cxn>
              <a:cxn ang="0">
                <a:pos x="15120938" y="47883763"/>
              </a:cxn>
              <a:cxn ang="0">
                <a:pos x="0" y="0"/>
              </a:cxn>
              <a:cxn ang="0">
                <a:pos x="211693125" y="95765938"/>
              </a:cxn>
            </a:cxnLst>
            <a:rect l="txL" t="txT" r="txR" b="txB"/>
            <a:pathLst>
              <a:path w="84" h="76">
                <a:moveTo>
                  <a:pt x="84" y="38"/>
                </a:moveTo>
                <a:lnTo>
                  <a:pt x="0" y="76"/>
                </a:lnTo>
                <a:lnTo>
                  <a:pt x="6" y="58"/>
                </a:lnTo>
                <a:lnTo>
                  <a:pt x="9" y="38"/>
                </a:lnTo>
                <a:lnTo>
                  <a:pt x="6" y="19"/>
                </a:lnTo>
                <a:lnTo>
                  <a:pt x="0" y="0"/>
                </a:lnTo>
                <a:lnTo>
                  <a:pt x="84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54" name="Line 23"/>
          <p:cNvSpPr/>
          <p:nvPr/>
        </p:nvSpPr>
        <p:spPr>
          <a:xfrm>
            <a:off x="4515168" y="1864360"/>
            <a:ext cx="922337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55" name="Freeform 24"/>
          <p:cNvSpPr/>
          <p:nvPr/>
        </p:nvSpPr>
        <p:spPr>
          <a:xfrm>
            <a:off x="4413568" y="1804035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0" y="95765938"/>
              </a:cxn>
              <a:cxn ang="0">
                <a:pos x="211693125" y="191531875"/>
              </a:cxn>
              <a:cxn ang="0">
                <a:pos x="196572188" y="141128750"/>
              </a:cxn>
              <a:cxn ang="0">
                <a:pos x="189012513" y="95765938"/>
              </a:cxn>
              <a:cxn ang="0">
                <a:pos x="196572188" y="45362813"/>
              </a:cxn>
              <a:cxn ang="0">
                <a:pos x="211693125" y="0"/>
              </a:cxn>
              <a:cxn ang="0">
                <a:pos x="0" y="95765938"/>
              </a:cxn>
            </a:cxnLst>
            <a:rect l="txL" t="txT" r="txR" b="txB"/>
            <a:pathLst>
              <a:path w="84" h="76">
                <a:moveTo>
                  <a:pt x="0" y="38"/>
                </a:moveTo>
                <a:lnTo>
                  <a:pt x="84" y="76"/>
                </a:lnTo>
                <a:lnTo>
                  <a:pt x="78" y="56"/>
                </a:lnTo>
                <a:lnTo>
                  <a:pt x="75" y="38"/>
                </a:lnTo>
                <a:lnTo>
                  <a:pt x="78" y="18"/>
                </a:lnTo>
                <a:lnTo>
                  <a:pt x="84" y="0"/>
                </a:lnTo>
                <a:lnTo>
                  <a:pt x="0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56" name="Line 25"/>
          <p:cNvSpPr/>
          <p:nvPr/>
        </p:nvSpPr>
        <p:spPr>
          <a:xfrm>
            <a:off x="6898005" y="1597660"/>
            <a:ext cx="922338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57" name="Freeform 26"/>
          <p:cNvSpPr/>
          <p:nvPr/>
        </p:nvSpPr>
        <p:spPr>
          <a:xfrm>
            <a:off x="7788593" y="1537335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211693125" y="95765938"/>
              </a:cxn>
              <a:cxn ang="0">
                <a:pos x="0" y="191531875"/>
              </a:cxn>
              <a:cxn ang="0">
                <a:pos x="15120938" y="146169063"/>
              </a:cxn>
              <a:cxn ang="0">
                <a:pos x="22682200" y="95765938"/>
              </a:cxn>
              <a:cxn ang="0">
                <a:pos x="15120938" y="47883763"/>
              </a:cxn>
              <a:cxn ang="0">
                <a:pos x="0" y="0"/>
              </a:cxn>
              <a:cxn ang="0">
                <a:pos x="211693125" y="95765938"/>
              </a:cxn>
            </a:cxnLst>
            <a:rect l="txL" t="txT" r="txR" b="txB"/>
            <a:pathLst>
              <a:path w="84" h="76">
                <a:moveTo>
                  <a:pt x="84" y="38"/>
                </a:moveTo>
                <a:lnTo>
                  <a:pt x="0" y="76"/>
                </a:lnTo>
                <a:lnTo>
                  <a:pt x="6" y="58"/>
                </a:lnTo>
                <a:lnTo>
                  <a:pt x="9" y="38"/>
                </a:lnTo>
                <a:lnTo>
                  <a:pt x="6" y="19"/>
                </a:lnTo>
                <a:lnTo>
                  <a:pt x="0" y="0"/>
                </a:lnTo>
                <a:lnTo>
                  <a:pt x="84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58" name="Line 27"/>
          <p:cNvSpPr/>
          <p:nvPr/>
        </p:nvSpPr>
        <p:spPr>
          <a:xfrm>
            <a:off x="7145655" y="1864360"/>
            <a:ext cx="922338" cy="1588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59" name="Freeform 28"/>
          <p:cNvSpPr/>
          <p:nvPr/>
        </p:nvSpPr>
        <p:spPr>
          <a:xfrm>
            <a:off x="7044055" y="1804035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0" y="95765938"/>
              </a:cxn>
              <a:cxn ang="0">
                <a:pos x="211693125" y="191531875"/>
              </a:cxn>
              <a:cxn ang="0">
                <a:pos x="196572188" y="141128750"/>
              </a:cxn>
              <a:cxn ang="0">
                <a:pos x="186491563" y="95765938"/>
              </a:cxn>
              <a:cxn ang="0">
                <a:pos x="196572188" y="45362813"/>
              </a:cxn>
              <a:cxn ang="0">
                <a:pos x="211693125" y="0"/>
              </a:cxn>
              <a:cxn ang="0">
                <a:pos x="0" y="95765938"/>
              </a:cxn>
            </a:cxnLst>
            <a:rect l="txL" t="txT" r="txR" b="txB"/>
            <a:pathLst>
              <a:path w="84" h="76">
                <a:moveTo>
                  <a:pt x="0" y="38"/>
                </a:moveTo>
                <a:lnTo>
                  <a:pt x="84" y="76"/>
                </a:lnTo>
                <a:lnTo>
                  <a:pt x="78" y="56"/>
                </a:lnTo>
                <a:lnTo>
                  <a:pt x="74" y="38"/>
                </a:lnTo>
                <a:lnTo>
                  <a:pt x="78" y="18"/>
                </a:lnTo>
                <a:lnTo>
                  <a:pt x="84" y="0"/>
                </a:lnTo>
                <a:lnTo>
                  <a:pt x="0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60" name="Rectangle 29"/>
          <p:cNvSpPr/>
          <p:nvPr/>
        </p:nvSpPr>
        <p:spPr>
          <a:xfrm>
            <a:off x="8226743" y="1465898"/>
            <a:ext cx="519112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...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61" name="Rectangle 30"/>
          <p:cNvSpPr/>
          <p:nvPr/>
        </p:nvSpPr>
        <p:spPr>
          <a:xfrm>
            <a:off x="1667193" y="1465898"/>
            <a:ext cx="519112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...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62" name="Line 31"/>
          <p:cNvSpPr/>
          <p:nvPr/>
        </p:nvSpPr>
        <p:spPr>
          <a:xfrm flipH="true">
            <a:off x="4294505" y="3053398"/>
            <a:ext cx="119063" cy="1587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63" name="Line 32"/>
          <p:cNvSpPr/>
          <p:nvPr/>
        </p:nvSpPr>
        <p:spPr>
          <a:xfrm flipH="true">
            <a:off x="4100830" y="3053398"/>
            <a:ext cx="119063" cy="1587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64" name="Line 33"/>
          <p:cNvSpPr/>
          <p:nvPr/>
        </p:nvSpPr>
        <p:spPr>
          <a:xfrm flipH="true">
            <a:off x="3908743" y="3053398"/>
            <a:ext cx="119062" cy="1587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65" name="Line 34"/>
          <p:cNvSpPr/>
          <p:nvPr/>
        </p:nvSpPr>
        <p:spPr>
          <a:xfrm flipH="true">
            <a:off x="3715068" y="3053398"/>
            <a:ext cx="119062" cy="1587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66" name="Freeform 35"/>
          <p:cNvSpPr/>
          <p:nvPr/>
        </p:nvSpPr>
        <p:spPr>
          <a:xfrm>
            <a:off x="3537268" y="3040698"/>
            <a:ext cx="103187" cy="12700"/>
          </a:xfrm>
          <a:custGeom>
            <a:avLst/>
            <a:gdLst>
              <a:gd name="txL" fmla="*/ 0 w 42"/>
              <a:gd name="txT" fmla="*/ 0 h 6"/>
              <a:gd name="txR" fmla="*/ 42 w 42"/>
              <a:gd name="txB" fmla="*/ 6 h 6"/>
            </a:gdLst>
            <a:ahLst/>
            <a:cxnLst>
              <a:cxn ang="0">
                <a:pos x="253513261" y="26881667"/>
              </a:cxn>
              <a:cxn ang="0">
                <a:pos x="0" y="26881667"/>
              </a:cxn>
              <a:cxn ang="0">
                <a:pos x="0" y="0"/>
              </a:cxn>
            </a:cxnLst>
            <a:rect l="txL" t="txT" r="txR" b="txB"/>
            <a:pathLst>
              <a:path w="42" h="6">
                <a:moveTo>
                  <a:pt x="42" y="6"/>
                </a:moveTo>
                <a:lnTo>
                  <a:pt x="0" y="6"/>
                </a:lnTo>
                <a:lnTo>
                  <a:pt x="0" y="0"/>
                </a:lnTo>
              </a:path>
            </a:pathLst>
          </a:custGeom>
          <a:noFill/>
          <a:ln w="14288" cap="flat" cmpd="sng">
            <a:solidFill>
              <a:srgbClr val="00FFFF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67" name="Line 36"/>
          <p:cNvSpPr/>
          <p:nvPr/>
        </p:nvSpPr>
        <p:spPr>
          <a:xfrm flipV="true">
            <a:off x="3537268" y="2866073"/>
            <a:ext cx="1587" cy="107950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68" name="Line 37"/>
          <p:cNvSpPr/>
          <p:nvPr/>
        </p:nvSpPr>
        <p:spPr>
          <a:xfrm flipV="true">
            <a:off x="3537268" y="2691448"/>
            <a:ext cx="1587" cy="107950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69" name="Line 38"/>
          <p:cNvSpPr/>
          <p:nvPr/>
        </p:nvSpPr>
        <p:spPr>
          <a:xfrm flipV="true">
            <a:off x="3537268" y="2516823"/>
            <a:ext cx="1587" cy="106362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70" name="Line 39"/>
          <p:cNvSpPr/>
          <p:nvPr/>
        </p:nvSpPr>
        <p:spPr>
          <a:xfrm flipV="true">
            <a:off x="3537268" y="2342198"/>
            <a:ext cx="1587" cy="106362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71" name="Line 40"/>
          <p:cNvSpPr/>
          <p:nvPr/>
        </p:nvSpPr>
        <p:spPr>
          <a:xfrm flipV="true">
            <a:off x="3537268" y="2165985"/>
            <a:ext cx="1587" cy="107950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72" name="Line 41"/>
          <p:cNvSpPr/>
          <p:nvPr/>
        </p:nvSpPr>
        <p:spPr>
          <a:xfrm flipV="true">
            <a:off x="3537268" y="2086610"/>
            <a:ext cx="1587" cy="12700"/>
          </a:xfrm>
          <a:prstGeom prst="line">
            <a:avLst/>
          </a:prstGeom>
          <a:ln w="14288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73" name="Freeform 42"/>
          <p:cNvSpPr/>
          <p:nvPr/>
        </p:nvSpPr>
        <p:spPr>
          <a:xfrm>
            <a:off x="3470593" y="1996123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105846563" y="0"/>
              </a:cxn>
              <a:cxn ang="0">
                <a:pos x="211693125" y="191531875"/>
              </a:cxn>
              <a:cxn ang="0">
                <a:pos x="161290000" y="173891575"/>
              </a:cxn>
              <a:cxn ang="0">
                <a:pos x="105846563" y="166330313"/>
              </a:cxn>
              <a:cxn ang="0">
                <a:pos x="50403125" y="173891575"/>
              </a:cxn>
              <a:cxn ang="0">
                <a:pos x="0" y="191531875"/>
              </a:cxn>
              <a:cxn ang="0">
                <a:pos x="105846563" y="0"/>
              </a:cxn>
            </a:cxnLst>
            <a:rect l="txL" t="txT" r="txR" b="txB"/>
            <a:pathLst>
              <a:path w="84" h="76">
                <a:moveTo>
                  <a:pt x="42" y="0"/>
                </a:moveTo>
                <a:lnTo>
                  <a:pt x="84" y="76"/>
                </a:lnTo>
                <a:lnTo>
                  <a:pt x="64" y="69"/>
                </a:lnTo>
                <a:lnTo>
                  <a:pt x="42" y="66"/>
                </a:lnTo>
                <a:lnTo>
                  <a:pt x="20" y="69"/>
                </a:lnTo>
                <a:lnTo>
                  <a:pt x="0" y="76"/>
                </a:lnTo>
                <a:lnTo>
                  <a:pt x="42" y="0"/>
                </a:lnTo>
                <a:close/>
              </a:path>
            </a:pathLst>
          </a:custGeom>
          <a:solidFill>
            <a:srgbClr val="00FFFF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74" name="Freeform 43"/>
          <p:cNvSpPr/>
          <p:nvPr/>
        </p:nvSpPr>
        <p:spPr>
          <a:xfrm>
            <a:off x="3186430" y="2153285"/>
            <a:ext cx="263525" cy="239713"/>
          </a:xfrm>
          <a:custGeom>
            <a:avLst/>
            <a:gdLst>
              <a:gd name="txL" fmla="*/ 0 w 166"/>
              <a:gd name="txT" fmla="*/ 0 h 151"/>
              <a:gd name="txR" fmla="*/ 166 w 166"/>
              <a:gd name="txB" fmla="*/ 151 h 151"/>
            </a:gdLst>
            <a:ahLst/>
            <a:cxnLst>
              <a:cxn ang="0">
                <a:pos x="0" y="191532275"/>
              </a:cxn>
              <a:cxn ang="0">
                <a:pos x="7561263" y="141129044"/>
              </a:cxn>
              <a:cxn ang="0">
                <a:pos x="27722513" y="95766137"/>
              </a:cxn>
              <a:cxn ang="0">
                <a:pos x="63004700" y="57964508"/>
              </a:cxn>
              <a:cxn ang="0">
                <a:pos x="105846563" y="27722570"/>
              </a:cxn>
              <a:cxn ang="0">
                <a:pos x="156249688" y="7561278"/>
              </a:cxn>
              <a:cxn ang="0">
                <a:pos x="206652813" y="0"/>
              </a:cxn>
              <a:cxn ang="0">
                <a:pos x="262096250" y="7561278"/>
              </a:cxn>
              <a:cxn ang="0">
                <a:pos x="312499375" y="27722570"/>
              </a:cxn>
              <a:cxn ang="0">
                <a:pos x="357862188" y="57964508"/>
              </a:cxn>
              <a:cxn ang="0">
                <a:pos x="388104063" y="95766137"/>
              </a:cxn>
              <a:cxn ang="0">
                <a:pos x="410786263" y="141129044"/>
              </a:cxn>
              <a:cxn ang="0">
                <a:pos x="418345938" y="191532275"/>
              </a:cxn>
              <a:cxn ang="0">
                <a:pos x="410786263" y="239416137"/>
              </a:cxn>
              <a:cxn ang="0">
                <a:pos x="388104063" y="284779044"/>
              </a:cxn>
              <a:cxn ang="0">
                <a:pos x="357862188" y="322580673"/>
              </a:cxn>
              <a:cxn ang="0">
                <a:pos x="312499375" y="355343566"/>
              </a:cxn>
              <a:cxn ang="0">
                <a:pos x="262096250" y="372983903"/>
              </a:cxn>
              <a:cxn ang="0">
                <a:pos x="206652813" y="380545181"/>
              </a:cxn>
              <a:cxn ang="0">
                <a:pos x="156249688" y="372983903"/>
              </a:cxn>
              <a:cxn ang="0">
                <a:pos x="105846563" y="355343566"/>
              </a:cxn>
              <a:cxn ang="0">
                <a:pos x="63004700" y="322580673"/>
              </a:cxn>
              <a:cxn ang="0">
                <a:pos x="27722513" y="284779044"/>
              </a:cxn>
              <a:cxn ang="0">
                <a:pos x="7561263" y="239416137"/>
              </a:cxn>
              <a:cxn ang="0">
                <a:pos x="0" y="191532275"/>
              </a:cxn>
            </a:cxnLst>
            <a:rect l="txL" t="txT" r="txR" b="txB"/>
            <a:pathLst>
              <a:path w="166" h="151">
                <a:moveTo>
                  <a:pt x="0" y="76"/>
                </a:moveTo>
                <a:lnTo>
                  <a:pt x="3" y="56"/>
                </a:lnTo>
                <a:lnTo>
                  <a:pt x="11" y="38"/>
                </a:lnTo>
                <a:lnTo>
                  <a:pt x="25" y="23"/>
                </a:lnTo>
                <a:lnTo>
                  <a:pt x="42" y="11"/>
                </a:lnTo>
                <a:lnTo>
                  <a:pt x="62" y="3"/>
                </a:lnTo>
                <a:lnTo>
                  <a:pt x="82" y="0"/>
                </a:lnTo>
                <a:lnTo>
                  <a:pt x="104" y="3"/>
                </a:lnTo>
                <a:lnTo>
                  <a:pt x="124" y="11"/>
                </a:lnTo>
                <a:lnTo>
                  <a:pt x="142" y="23"/>
                </a:lnTo>
                <a:lnTo>
                  <a:pt x="154" y="38"/>
                </a:lnTo>
                <a:lnTo>
                  <a:pt x="163" y="56"/>
                </a:lnTo>
                <a:lnTo>
                  <a:pt x="166" y="76"/>
                </a:lnTo>
                <a:lnTo>
                  <a:pt x="163" y="95"/>
                </a:lnTo>
                <a:lnTo>
                  <a:pt x="154" y="113"/>
                </a:lnTo>
                <a:lnTo>
                  <a:pt x="142" y="128"/>
                </a:lnTo>
                <a:lnTo>
                  <a:pt x="124" y="141"/>
                </a:lnTo>
                <a:lnTo>
                  <a:pt x="104" y="148"/>
                </a:lnTo>
                <a:lnTo>
                  <a:pt x="82" y="151"/>
                </a:lnTo>
                <a:lnTo>
                  <a:pt x="62" y="148"/>
                </a:lnTo>
                <a:lnTo>
                  <a:pt x="42" y="141"/>
                </a:lnTo>
                <a:lnTo>
                  <a:pt x="25" y="128"/>
                </a:lnTo>
                <a:lnTo>
                  <a:pt x="11" y="113"/>
                </a:lnTo>
                <a:lnTo>
                  <a:pt x="3" y="95"/>
                </a:lnTo>
                <a:lnTo>
                  <a:pt x="0" y="76"/>
                </a:lnTo>
                <a:close/>
              </a:path>
            </a:pathLst>
          </a:custGeom>
          <a:solidFill>
            <a:srgbClr val="00FFFF">
              <a:alpha val="100000"/>
            </a:srgbClr>
          </a:solidFill>
          <a:ln w="14288" cap="flat" cmpd="sng">
            <a:solidFill>
              <a:srgbClr val="00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75" name="Rectangle 44"/>
          <p:cNvSpPr/>
          <p:nvPr/>
        </p:nvSpPr>
        <p:spPr>
          <a:xfrm>
            <a:off x="3270568" y="2180273"/>
            <a:ext cx="82550" cy="1984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13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76" name="Freeform 45"/>
          <p:cNvSpPr/>
          <p:nvPr/>
        </p:nvSpPr>
        <p:spPr>
          <a:xfrm>
            <a:off x="4015105" y="1705610"/>
            <a:ext cx="106363" cy="41275"/>
          </a:xfrm>
          <a:custGeom>
            <a:avLst/>
            <a:gdLst>
              <a:gd name="txL" fmla="*/ 0 w 43"/>
              <a:gd name="txT" fmla="*/ 0 h 19"/>
              <a:gd name="txR" fmla="*/ 43 w 43"/>
              <a:gd name="txB" fmla="*/ 19 h 19"/>
            </a:gdLst>
            <a:ahLst/>
            <a:cxnLst>
              <a:cxn ang="0">
                <a:pos x="263095064" y="0"/>
              </a:cxn>
              <a:cxn ang="0">
                <a:pos x="183555329" y="4718384"/>
              </a:cxn>
              <a:cxn ang="0">
                <a:pos x="97896010" y="33035207"/>
              </a:cxn>
              <a:cxn ang="0">
                <a:pos x="18356275" y="75507182"/>
              </a:cxn>
              <a:cxn ang="0">
                <a:pos x="0" y="89664507"/>
              </a:cxn>
            </a:cxnLst>
            <a:rect l="txL" t="txT" r="txR" b="txB"/>
            <a:pathLst>
              <a:path w="43" h="19">
                <a:moveTo>
                  <a:pt x="43" y="0"/>
                </a:moveTo>
                <a:lnTo>
                  <a:pt x="30" y="1"/>
                </a:lnTo>
                <a:lnTo>
                  <a:pt x="16" y="7"/>
                </a:lnTo>
                <a:lnTo>
                  <a:pt x="3" y="16"/>
                </a:lnTo>
                <a:lnTo>
                  <a:pt x="0" y="19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77" name="Freeform 46"/>
          <p:cNvSpPr/>
          <p:nvPr/>
        </p:nvSpPr>
        <p:spPr>
          <a:xfrm>
            <a:off x="3908743" y="1796098"/>
            <a:ext cx="57150" cy="95250"/>
          </a:xfrm>
          <a:custGeom>
            <a:avLst/>
            <a:gdLst>
              <a:gd name="txL" fmla="*/ 0 w 23"/>
              <a:gd name="txT" fmla="*/ 0 h 42"/>
              <a:gd name="txR" fmla="*/ 23 w 23"/>
              <a:gd name="txB" fmla="*/ 42 h 42"/>
            </a:gdLst>
            <a:ahLst/>
            <a:cxnLst>
              <a:cxn ang="0">
                <a:pos x="142005326" y="0"/>
              </a:cxn>
              <a:cxn ang="0">
                <a:pos x="129655957" y="15430500"/>
              </a:cxn>
              <a:cxn ang="0">
                <a:pos x="61741878" y="113150196"/>
              </a:cxn>
              <a:cxn ang="0">
                <a:pos x="0" y="216013393"/>
              </a:cxn>
            </a:cxnLst>
            <a:rect l="txL" t="txT" r="txR" b="txB"/>
            <a:pathLst>
              <a:path w="23" h="42">
                <a:moveTo>
                  <a:pt x="23" y="0"/>
                </a:moveTo>
                <a:lnTo>
                  <a:pt x="21" y="3"/>
                </a:lnTo>
                <a:lnTo>
                  <a:pt x="10" y="22"/>
                </a:lnTo>
                <a:lnTo>
                  <a:pt x="0" y="42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78" name="Freeform 47"/>
          <p:cNvSpPr/>
          <p:nvPr/>
        </p:nvSpPr>
        <p:spPr>
          <a:xfrm>
            <a:off x="3848418" y="1953260"/>
            <a:ext cx="33337" cy="103188"/>
          </a:xfrm>
          <a:custGeom>
            <a:avLst/>
            <a:gdLst>
              <a:gd name="txL" fmla="*/ 0 w 13"/>
              <a:gd name="txT" fmla="*/ 0 h 46"/>
              <a:gd name="txR" fmla="*/ 13 w 13"/>
              <a:gd name="txB" fmla="*/ 46 h 46"/>
            </a:gdLst>
            <a:ahLst/>
            <a:cxnLst>
              <a:cxn ang="0">
                <a:pos x="85488890" y="0"/>
              </a:cxn>
              <a:cxn ang="0">
                <a:pos x="32880540" y="125799631"/>
              </a:cxn>
              <a:cxn ang="0">
                <a:pos x="0" y="231473116"/>
              </a:cxn>
            </a:cxnLst>
            <a:rect l="txL" t="txT" r="txR" b="txB"/>
            <a:pathLst>
              <a:path w="13" h="46">
                <a:moveTo>
                  <a:pt x="13" y="0"/>
                </a:moveTo>
                <a:lnTo>
                  <a:pt x="5" y="25"/>
                </a:lnTo>
                <a:lnTo>
                  <a:pt x="0" y="46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79" name="Freeform 48"/>
          <p:cNvSpPr/>
          <p:nvPr/>
        </p:nvSpPr>
        <p:spPr>
          <a:xfrm>
            <a:off x="3815080" y="2121535"/>
            <a:ext cx="15875" cy="107950"/>
          </a:xfrm>
          <a:custGeom>
            <a:avLst/>
            <a:gdLst>
              <a:gd name="txL" fmla="*/ 0 w 7"/>
              <a:gd name="txT" fmla="*/ 0 h 48"/>
              <a:gd name="txR" fmla="*/ 7 w 7"/>
              <a:gd name="txB" fmla="*/ 48 h 48"/>
            </a:gdLst>
            <a:ahLst/>
            <a:cxnLst>
              <a:cxn ang="0">
                <a:pos x="36002232" y="0"/>
              </a:cxn>
              <a:cxn ang="0">
                <a:pos x="25715232" y="50579073"/>
              </a:cxn>
              <a:cxn ang="0">
                <a:pos x="5143500" y="212427608"/>
              </a:cxn>
              <a:cxn ang="0">
                <a:pos x="0" y="242775052"/>
              </a:cxn>
            </a:cxnLst>
            <a:rect l="txL" t="txT" r="txR" b="txB"/>
            <a:pathLst>
              <a:path w="7" h="48">
                <a:moveTo>
                  <a:pt x="7" y="0"/>
                </a:moveTo>
                <a:lnTo>
                  <a:pt x="5" y="10"/>
                </a:lnTo>
                <a:lnTo>
                  <a:pt x="1" y="42"/>
                </a:lnTo>
                <a:lnTo>
                  <a:pt x="0" y="48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80" name="Freeform 49"/>
          <p:cNvSpPr/>
          <p:nvPr/>
        </p:nvSpPr>
        <p:spPr>
          <a:xfrm>
            <a:off x="3802380" y="2296160"/>
            <a:ext cx="4763" cy="107950"/>
          </a:xfrm>
          <a:custGeom>
            <a:avLst/>
            <a:gdLst>
              <a:gd name="txL" fmla="*/ 0 w 2"/>
              <a:gd name="txT" fmla="*/ 0 h 48"/>
              <a:gd name="txR" fmla="*/ 2 w 2"/>
              <a:gd name="txB" fmla="*/ 48 h 48"/>
            </a:gdLst>
            <a:ahLst/>
            <a:cxnLst>
              <a:cxn ang="0">
                <a:pos x="11343085" y="0"/>
              </a:cxn>
              <a:cxn ang="0">
                <a:pos x="0" y="161850784"/>
              </a:cxn>
              <a:cxn ang="0">
                <a:pos x="0" y="242775052"/>
              </a:cxn>
            </a:cxnLst>
            <a:rect l="txL" t="txT" r="txR" b="txB"/>
            <a:pathLst>
              <a:path w="2" h="48">
                <a:moveTo>
                  <a:pt x="2" y="0"/>
                </a:moveTo>
                <a:lnTo>
                  <a:pt x="0" y="32"/>
                </a:lnTo>
                <a:lnTo>
                  <a:pt x="0" y="48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81" name="Freeform 50"/>
          <p:cNvSpPr/>
          <p:nvPr/>
        </p:nvSpPr>
        <p:spPr>
          <a:xfrm>
            <a:off x="3799205" y="2443798"/>
            <a:ext cx="7938" cy="107950"/>
          </a:xfrm>
          <a:custGeom>
            <a:avLst/>
            <a:gdLst>
              <a:gd name="txL" fmla="*/ 0 w 3"/>
              <a:gd name="txT" fmla="*/ 0 h 48"/>
              <a:gd name="txR" fmla="*/ 3 w 3"/>
              <a:gd name="txB" fmla="*/ 48 h 48"/>
            </a:gdLst>
            <a:ahLst/>
            <a:cxnLst>
              <a:cxn ang="0">
                <a:pos x="0" y="0"/>
              </a:cxn>
              <a:cxn ang="0">
                <a:pos x="7001316" y="161850784"/>
              </a:cxn>
              <a:cxn ang="0">
                <a:pos x="21003948" y="242775052"/>
              </a:cxn>
            </a:cxnLst>
            <a:rect l="txL" t="txT" r="txR" b="txB"/>
            <a:pathLst>
              <a:path w="3" h="48">
                <a:moveTo>
                  <a:pt x="0" y="0"/>
                </a:moveTo>
                <a:lnTo>
                  <a:pt x="1" y="32"/>
                </a:lnTo>
                <a:lnTo>
                  <a:pt x="3" y="48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82" name="Freeform 51"/>
          <p:cNvSpPr/>
          <p:nvPr/>
        </p:nvSpPr>
        <p:spPr>
          <a:xfrm>
            <a:off x="3816668" y="2620010"/>
            <a:ext cx="26987" cy="104775"/>
          </a:xfrm>
          <a:custGeom>
            <a:avLst/>
            <a:gdLst>
              <a:gd name="txL" fmla="*/ 0 w 11"/>
              <a:gd name="txT" fmla="*/ 0 h 47"/>
              <a:gd name="txR" fmla="*/ 11 w 11"/>
              <a:gd name="txB" fmla="*/ 47 h 47"/>
            </a:gdLst>
            <a:ahLst/>
            <a:cxnLst>
              <a:cxn ang="0">
                <a:pos x="0" y="0"/>
              </a:cxn>
              <a:cxn ang="0">
                <a:pos x="12038655" y="69575059"/>
              </a:cxn>
              <a:cxn ang="0">
                <a:pos x="60190823" y="213691956"/>
              </a:cxn>
              <a:cxn ang="0">
                <a:pos x="66208924" y="233570226"/>
              </a:cxn>
            </a:cxnLst>
            <a:rect l="txL" t="txT" r="txR" b="txB"/>
            <a:pathLst>
              <a:path w="11" h="47">
                <a:moveTo>
                  <a:pt x="0" y="0"/>
                </a:moveTo>
                <a:lnTo>
                  <a:pt x="2" y="14"/>
                </a:lnTo>
                <a:lnTo>
                  <a:pt x="10" y="43"/>
                </a:lnTo>
                <a:lnTo>
                  <a:pt x="11" y="47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83" name="Freeform 52"/>
          <p:cNvSpPr/>
          <p:nvPr/>
        </p:nvSpPr>
        <p:spPr>
          <a:xfrm>
            <a:off x="3869055" y="2786698"/>
            <a:ext cx="53975" cy="95250"/>
          </a:xfrm>
          <a:custGeom>
            <a:avLst/>
            <a:gdLst>
              <a:gd name="txL" fmla="*/ 0 w 22"/>
              <a:gd name="txT" fmla="*/ 0 h 42"/>
              <a:gd name="txR" fmla="*/ 22 w 22"/>
              <a:gd name="txB" fmla="*/ 42 h 42"/>
            </a:gdLst>
            <a:ahLst/>
            <a:cxnLst>
              <a:cxn ang="0">
                <a:pos x="0" y="0"/>
              </a:cxn>
              <a:cxn ang="0">
                <a:pos x="48153060" y="92576196"/>
              </a:cxn>
              <a:cxn ang="0">
                <a:pos x="120383877" y="200582893"/>
              </a:cxn>
              <a:cxn ang="0">
                <a:pos x="132422756" y="216013393"/>
              </a:cxn>
            </a:cxnLst>
            <a:rect l="txL" t="txT" r="txR" b="txB"/>
            <a:pathLst>
              <a:path w="22" h="42">
                <a:moveTo>
                  <a:pt x="0" y="0"/>
                </a:moveTo>
                <a:lnTo>
                  <a:pt x="8" y="18"/>
                </a:lnTo>
                <a:lnTo>
                  <a:pt x="20" y="39"/>
                </a:lnTo>
                <a:lnTo>
                  <a:pt x="22" y="42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84" name="Freeform 53"/>
          <p:cNvSpPr/>
          <p:nvPr/>
        </p:nvSpPr>
        <p:spPr>
          <a:xfrm>
            <a:off x="3967480" y="2932748"/>
            <a:ext cx="57150" cy="42862"/>
          </a:xfrm>
          <a:custGeom>
            <a:avLst/>
            <a:gdLst>
              <a:gd name="txL" fmla="*/ 0 w 23"/>
              <a:gd name="txT" fmla="*/ 0 h 19"/>
              <a:gd name="txR" fmla="*/ 23 w 23"/>
              <a:gd name="txB" fmla="*/ 19 h 19"/>
            </a:gdLst>
            <a:ahLst/>
            <a:cxnLst>
              <a:cxn ang="0">
                <a:pos x="0" y="0"/>
              </a:cxn>
              <a:cxn ang="0">
                <a:pos x="49392509" y="40712132"/>
              </a:cxn>
              <a:cxn ang="0">
                <a:pos x="142005326" y="96692160"/>
              </a:cxn>
            </a:cxnLst>
            <a:rect l="txL" t="txT" r="txR" b="txB"/>
            <a:pathLst>
              <a:path w="23" h="19">
                <a:moveTo>
                  <a:pt x="0" y="0"/>
                </a:moveTo>
                <a:lnTo>
                  <a:pt x="8" y="8"/>
                </a:lnTo>
                <a:lnTo>
                  <a:pt x="23" y="19"/>
                </a:lnTo>
              </a:path>
            </a:pathLst>
          </a:custGeom>
          <a:noFill/>
          <a:ln w="14288" cap="flat" cmpd="sng">
            <a:solidFill>
              <a:srgbClr val="FF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85" name="Freeform 54"/>
          <p:cNvSpPr/>
          <p:nvPr/>
        </p:nvSpPr>
        <p:spPr>
          <a:xfrm>
            <a:off x="3975418" y="2908935"/>
            <a:ext cx="146050" cy="115888"/>
          </a:xfrm>
          <a:custGeom>
            <a:avLst/>
            <a:gdLst>
              <a:gd name="txL" fmla="*/ 0 w 92"/>
              <a:gd name="txT" fmla="*/ 0 h 73"/>
              <a:gd name="txR" fmla="*/ 92 w 92"/>
              <a:gd name="txB" fmla="*/ 73 h 73"/>
            </a:gdLst>
            <a:ahLst/>
            <a:cxnLst>
              <a:cxn ang="0">
                <a:pos x="231854375" y="146169693"/>
              </a:cxn>
              <a:cxn ang="0">
                <a:pos x="0" y="183972994"/>
              </a:cxn>
              <a:cxn ang="0">
                <a:pos x="30241875" y="146169693"/>
              </a:cxn>
              <a:cxn ang="0">
                <a:pos x="55443438" y="98287312"/>
              </a:cxn>
              <a:cxn ang="0">
                <a:pos x="63004700" y="47883969"/>
              </a:cxn>
              <a:cxn ang="0">
                <a:pos x="57964388" y="0"/>
              </a:cxn>
              <a:cxn ang="0">
                <a:pos x="231854375" y="146169693"/>
              </a:cxn>
            </a:cxnLst>
            <a:rect l="txL" t="txT" r="txR" b="txB"/>
            <a:pathLst>
              <a:path w="92" h="73">
                <a:moveTo>
                  <a:pt x="92" y="58"/>
                </a:moveTo>
                <a:lnTo>
                  <a:pt x="0" y="73"/>
                </a:lnTo>
                <a:lnTo>
                  <a:pt x="12" y="58"/>
                </a:lnTo>
                <a:lnTo>
                  <a:pt x="22" y="39"/>
                </a:lnTo>
                <a:lnTo>
                  <a:pt x="25" y="19"/>
                </a:lnTo>
                <a:lnTo>
                  <a:pt x="23" y="0"/>
                </a:lnTo>
                <a:lnTo>
                  <a:pt x="92" y="58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86" name="Freeform 55"/>
          <p:cNvSpPr/>
          <p:nvPr/>
        </p:nvSpPr>
        <p:spPr>
          <a:xfrm>
            <a:off x="3918268" y="2127885"/>
            <a:ext cx="261937" cy="238125"/>
          </a:xfrm>
          <a:custGeom>
            <a:avLst/>
            <a:gdLst>
              <a:gd name="txL" fmla="*/ 0 w 165"/>
              <a:gd name="txT" fmla="*/ 0 h 150"/>
              <a:gd name="txR" fmla="*/ 165 w 165"/>
              <a:gd name="txB" fmla="*/ 150 h 150"/>
            </a:gdLst>
            <a:ahLst/>
            <a:cxnLst>
              <a:cxn ang="0">
                <a:pos x="0" y="189012513"/>
              </a:cxn>
              <a:cxn ang="0">
                <a:pos x="5040303" y="138609388"/>
              </a:cxn>
              <a:cxn ang="0">
                <a:pos x="27720872" y="93246575"/>
              </a:cxn>
              <a:cxn ang="0">
                <a:pos x="57962689" y="55443438"/>
              </a:cxn>
              <a:cxn ang="0">
                <a:pos x="103325415" y="25201563"/>
              </a:cxn>
              <a:cxn ang="0">
                <a:pos x="153728444" y="5040313"/>
              </a:cxn>
              <a:cxn ang="0">
                <a:pos x="209171776" y="0"/>
              </a:cxn>
              <a:cxn ang="0">
                <a:pos x="259574805" y="5040313"/>
              </a:cxn>
              <a:cxn ang="0">
                <a:pos x="309977833" y="25201563"/>
              </a:cxn>
              <a:cxn ang="0">
                <a:pos x="352821202" y="55443438"/>
              </a:cxn>
              <a:cxn ang="0">
                <a:pos x="388103322" y="93246575"/>
              </a:cxn>
              <a:cxn ang="0">
                <a:pos x="408264533" y="138609388"/>
              </a:cxn>
              <a:cxn ang="0">
                <a:pos x="415824194" y="189012513"/>
              </a:cxn>
              <a:cxn ang="0">
                <a:pos x="408264533" y="239415638"/>
              </a:cxn>
              <a:cxn ang="0">
                <a:pos x="388103322" y="282257500"/>
              </a:cxn>
              <a:cxn ang="0">
                <a:pos x="352821202" y="320060638"/>
              </a:cxn>
              <a:cxn ang="0">
                <a:pos x="309977833" y="352821875"/>
              </a:cxn>
              <a:cxn ang="0">
                <a:pos x="259574805" y="370463763"/>
              </a:cxn>
              <a:cxn ang="0">
                <a:pos x="209171776" y="378023438"/>
              </a:cxn>
              <a:cxn ang="0">
                <a:pos x="153728444" y="370463763"/>
              </a:cxn>
              <a:cxn ang="0">
                <a:pos x="103325415" y="352821875"/>
              </a:cxn>
              <a:cxn ang="0">
                <a:pos x="57962689" y="320060638"/>
              </a:cxn>
              <a:cxn ang="0">
                <a:pos x="27720872" y="282257500"/>
              </a:cxn>
              <a:cxn ang="0">
                <a:pos x="5040303" y="239415638"/>
              </a:cxn>
              <a:cxn ang="0">
                <a:pos x="0" y="189012513"/>
              </a:cxn>
            </a:cxnLst>
            <a:rect l="txL" t="txT" r="txR" b="txB"/>
            <a:pathLst>
              <a:path w="165" h="150">
                <a:moveTo>
                  <a:pt x="0" y="75"/>
                </a:moveTo>
                <a:lnTo>
                  <a:pt x="2" y="55"/>
                </a:lnTo>
                <a:lnTo>
                  <a:pt x="11" y="37"/>
                </a:lnTo>
                <a:lnTo>
                  <a:pt x="23" y="22"/>
                </a:lnTo>
                <a:lnTo>
                  <a:pt x="41" y="10"/>
                </a:lnTo>
                <a:lnTo>
                  <a:pt x="61" y="2"/>
                </a:lnTo>
                <a:lnTo>
                  <a:pt x="83" y="0"/>
                </a:lnTo>
                <a:lnTo>
                  <a:pt x="103" y="2"/>
                </a:lnTo>
                <a:lnTo>
                  <a:pt x="123" y="10"/>
                </a:lnTo>
                <a:lnTo>
                  <a:pt x="140" y="22"/>
                </a:lnTo>
                <a:lnTo>
                  <a:pt x="154" y="37"/>
                </a:lnTo>
                <a:lnTo>
                  <a:pt x="162" y="55"/>
                </a:lnTo>
                <a:lnTo>
                  <a:pt x="165" y="75"/>
                </a:lnTo>
                <a:lnTo>
                  <a:pt x="162" y="95"/>
                </a:lnTo>
                <a:lnTo>
                  <a:pt x="154" y="112"/>
                </a:lnTo>
                <a:lnTo>
                  <a:pt x="140" y="127"/>
                </a:lnTo>
                <a:lnTo>
                  <a:pt x="123" y="140"/>
                </a:lnTo>
                <a:lnTo>
                  <a:pt x="103" y="147"/>
                </a:lnTo>
                <a:lnTo>
                  <a:pt x="83" y="150"/>
                </a:lnTo>
                <a:lnTo>
                  <a:pt x="61" y="147"/>
                </a:lnTo>
                <a:lnTo>
                  <a:pt x="41" y="140"/>
                </a:lnTo>
                <a:lnTo>
                  <a:pt x="23" y="127"/>
                </a:lnTo>
                <a:lnTo>
                  <a:pt x="11" y="112"/>
                </a:lnTo>
                <a:lnTo>
                  <a:pt x="2" y="95"/>
                </a:lnTo>
                <a:lnTo>
                  <a:pt x="0" y="75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14288" cap="flat" cmpd="sng">
            <a:solidFill>
              <a:srgbClr val="00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87" name="Rectangle 56"/>
          <p:cNvSpPr/>
          <p:nvPr/>
        </p:nvSpPr>
        <p:spPr>
          <a:xfrm>
            <a:off x="3999230" y="2153285"/>
            <a:ext cx="82550" cy="1984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13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188" name="Line 57"/>
          <p:cNvSpPr/>
          <p:nvPr/>
        </p:nvSpPr>
        <p:spPr>
          <a:xfrm>
            <a:off x="5583555" y="3053398"/>
            <a:ext cx="119063" cy="1587"/>
          </a:xfrm>
          <a:prstGeom prst="line">
            <a:avLst/>
          </a:prstGeom>
          <a:ln w="14288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89" name="Line 58"/>
          <p:cNvSpPr/>
          <p:nvPr/>
        </p:nvSpPr>
        <p:spPr>
          <a:xfrm>
            <a:off x="5777230" y="3053398"/>
            <a:ext cx="117475" cy="1587"/>
          </a:xfrm>
          <a:prstGeom prst="line">
            <a:avLst/>
          </a:prstGeom>
          <a:ln w="14288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90" name="Line 59"/>
          <p:cNvSpPr/>
          <p:nvPr/>
        </p:nvSpPr>
        <p:spPr>
          <a:xfrm>
            <a:off x="5969318" y="3053398"/>
            <a:ext cx="119062" cy="1587"/>
          </a:xfrm>
          <a:prstGeom prst="line">
            <a:avLst/>
          </a:prstGeom>
          <a:ln w="14288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91" name="Freeform 60"/>
          <p:cNvSpPr/>
          <p:nvPr/>
        </p:nvSpPr>
        <p:spPr>
          <a:xfrm>
            <a:off x="6162993" y="2951798"/>
            <a:ext cx="4762" cy="101600"/>
          </a:xfrm>
          <a:custGeom>
            <a:avLst/>
            <a:gdLst>
              <a:gd name="txL" fmla="*/ 0 w 2"/>
              <a:gd name="txT" fmla="*/ 0 h 46"/>
              <a:gd name="txR" fmla="*/ 2 w 2"/>
              <a:gd name="txB" fmla="*/ 46 h 46"/>
            </a:gdLst>
            <a:ahLst/>
            <a:cxnLst>
              <a:cxn ang="0">
                <a:pos x="0" y="224403478"/>
              </a:cxn>
              <a:cxn ang="0">
                <a:pos x="11338322" y="224403478"/>
              </a:cxn>
              <a:cxn ang="0">
                <a:pos x="11338322" y="0"/>
              </a:cxn>
            </a:cxnLst>
            <a:rect l="txL" t="txT" r="txR" b="txB"/>
            <a:pathLst>
              <a:path w="2" h="46">
                <a:moveTo>
                  <a:pt x="0" y="46"/>
                </a:moveTo>
                <a:lnTo>
                  <a:pt x="2" y="46"/>
                </a:lnTo>
                <a:lnTo>
                  <a:pt x="2" y="0"/>
                </a:lnTo>
              </a:path>
            </a:pathLst>
          </a:custGeom>
          <a:noFill/>
          <a:ln w="14288" cap="flat" cmpd="sng">
            <a:solidFill>
              <a:srgbClr val="00FF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92" name="Line 61"/>
          <p:cNvSpPr/>
          <p:nvPr/>
        </p:nvSpPr>
        <p:spPr>
          <a:xfrm flipV="true">
            <a:off x="6167755" y="2775585"/>
            <a:ext cx="1588" cy="107950"/>
          </a:xfrm>
          <a:prstGeom prst="line">
            <a:avLst/>
          </a:prstGeom>
          <a:ln w="14288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93" name="Line 62"/>
          <p:cNvSpPr/>
          <p:nvPr/>
        </p:nvSpPr>
        <p:spPr>
          <a:xfrm flipV="true">
            <a:off x="6167755" y="2600960"/>
            <a:ext cx="1588" cy="107950"/>
          </a:xfrm>
          <a:prstGeom prst="line">
            <a:avLst/>
          </a:prstGeom>
          <a:ln w="14288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94" name="Line 63"/>
          <p:cNvSpPr/>
          <p:nvPr/>
        </p:nvSpPr>
        <p:spPr>
          <a:xfrm flipV="true">
            <a:off x="6167755" y="2426335"/>
            <a:ext cx="1588" cy="107950"/>
          </a:xfrm>
          <a:prstGeom prst="line">
            <a:avLst/>
          </a:prstGeom>
          <a:ln w="14288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95" name="Line 64"/>
          <p:cNvSpPr/>
          <p:nvPr/>
        </p:nvSpPr>
        <p:spPr>
          <a:xfrm flipV="true">
            <a:off x="6167755" y="2251710"/>
            <a:ext cx="1588" cy="107950"/>
          </a:xfrm>
          <a:prstGeom prst="line">
            <a:avLst/>
          </a:prstGeom>
          <a:ln w="14288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96" name="Line 65"/>
          <p:cNvSpPr/>
          <p:nvPr/>
        </p:nvSpPr>
        <p:spPr>
          <a:xfrm flipV="true">
            <a:off x="6167755" y="2086610"/>
            <a:ext cx="1588" cy="98425"/>
          </a:xfrm>
          <a:prstGeom prst="line">
            <a:avLst/>
          </a:prstGeom>
          <a:ln w="14288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97" name="Freeform 66"/>
          <p:cNvSpPr/>
          <p:nvPr/>
        </p:nvSpPr>
        <p:spPr>
          <a:xfrm>
            <a:off x="6101080" y="1996123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105846563" y="0"/>
              </a:cxn>
              <a:cxn ang="0">
                <a:pos x="0" y="191531875"/>
              </a:cxn>
              <a:cxn ang="0">
                <a:pos x="50403125" y="173891575"/>
              </a:cxn>
              <a:cxn ang="0">
                <a:pos x="105846563" y="166330313"/>
              </a:cxn>
              <a:cxn ang="0">
                <a:pos x="161290000" y="173891575"/>
              </a:cxn>
              <a:cxn ang="0">
                <a:pos x="211693125" y="191531875"/>
              </a:cxn>
              <a:cxn ang="0">
                <a:pos x="105846563" y="0"/>
              </a:cxn>
            </a:cxnLst>
            <a:rect l="txL" t="txT" r="txR" b="txB"/>
            <a:pathLst>
              <a:path w="84" h="76">
                <a:moveTo>
                  <a:pt x="42" y="0"/>
                </a:moveTo>
                <a:lnTo>
                  <a:pt x="0" y="76"/>
                </a:lnTo>
                <a:lnTo>
                  <a:pt x="20" y="69"/>
                </a:lnTo>
                <a:lnTo>
                  <a:pt x="42" y="66"/>
                </a:lnTo>
                <a:lnTo>
                  <a:pt x="64" y="69"/>
                </a:lnTo>
                <a:lnTo>
                  <a:pt x="84" y="76"/>
                </a:lnTo>
                <a:lnTo>
                  <a:pt x="42" y="0"/>
                </a:lnTo>
                <a:close/>
              </a:path>
            </a:pathLst>
          </a:custGeom>
          <a:solidFill>
            <a:srgbClr val="00FF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98" name="Freeform 67"/>
          <p:cNvSpPr/>
          <p:nvPr/>
        </p:nvSpPr>
        <p:spPr>
          <a:xfrm>
            <a:off x="6197918" y="2127885"/>
            <a:ext cx="261937" cy="238125"/>
          </a:xfrm>
          <a:custGeom>
            <a:avLst/>
            <a:gdLst>
              <a:gd name="txL" fmla="*/ 0 w 165"/>
              <a:gd name="txT" fmla="*/ 0 h 150"/>
              <a:gd name="txR" fmla="*/ 165 w 165"/>
              <a:gd name="txB" fmla="*/ 150 h 150"/>
            </a:gdLst>
            <a:ahLst/>
            <a:cxnLst>
              <a:cxn ang="0">
                <a:pos x="0" y="189012513"/>
              </a:cxn>
              <a:cxn ang="0">
                <a:pos x="7559661" y="138609388"/>
              </a:cxn>
              <a:cxn ang="0">
                <a:pos x="25201514" y="93246575"/>
              </a:cxn>
              <a:cxn ang="0">
                <a:pos x="57962689" y="55443438"/>
              </a:cxn>
              <a:cxn ang="0">
                <a:pos x="100806058" y="25201563"/>
              </a:cxn>
              <a:cxn ang="0">
                <a:pos x="151209086" y="5040313"/>
              </a:cxn>
              <a:cxn ang="0">
                <a:pos x="206652418" y="0"/>
              </a:cxn>
              <a:cxn ang="0">
                <a:pos x="262095750" y="5040313"/>
              </a:cxn>
              <a:cxn ang="0">
                <a:pos x="309977833" y="25201563"/>
              </a:cxn>
              <a:cxn ang="0">
                <a:pos x="352821202" y="55443438"/>
              </a:cxn>
              <a:cxn ang="0">
                <a:pos x="388103322" y="93246575"/>
              </a:cxn>
              <a:cxn ang="0">
                <a:pos x="408264533" y="138609388"/>
              </a:cxn>
              <a:cxn ang="0">
                <a:pos x="415824194" y="189012513"/>
              </a:cxn>
              <a:cxn ang="0">
                <a:pos x="408264533" y="239415638"/>
              </a:cxn>
              <a:cxn ang="0">
                <a:pos x="388103322" y="282257500"/>
              </a:cxn>
              <a:cxn ang="0">
                <a:pos x="352821202" y="320060638"/>
              </a:cxn>
              <a:cxn ang="0">
                <a:pos x="309977833" y="352821875"/>
              </a:cxn>
              <a:cxn ang="0">
                <a:pos x="262095750" y="370463763"/>
              </a:cxn>
              <a:cxn ang="0">
                <a:pos x="206652418" y="378023438"/>
              </a:cxn>
              <a:cxn ang="0">
                <a:pos x="151209086" y="370463763"/>
              </a:cxn>
              <a:cxn ang="0">
                <a:pos x="100806058" y="352821875"/>
              </a:cxn>
              <a:cxn ang="0">
                <a:pos x="57962689" y="320060638"/>
              </a:cxn>
              <a:cxn ang="0">
                <a:pos x="25201514" y="282257500"/>
              </a:cxn>
              <a:cxn ang="0">
                <a:pos x="7559661" y="239415638"/>
              </a:cxn>
              <a:cxn ang="0">
                <a:pos x="0" y="189012513"/>
              </a:cxn>
            </a:cxnLst>
            <a:rect l="txL" t="txT" r="txR" b="txB"/>
            <a:pathLst>
              <a:path w="165" h="150">
                <a:moveTo>
                  <a:pt x="0" y="75"/>
                </a:moveTo>
                <a:lnTo>
                  <a:pt x="3" y="55"/>
                </a:lnTo>
                <a:lnTo>
                  <a:pt x="10" y="37"/>
                </a:lnTo>
                <a:lnTo>
                  <a:pt x="23" y="22"/>
                </a:lnTo>
                <a:lnTo>
                  <a:pt x="40" y="10"/>
                </a:lnTo>
                <a:lnTo>
                  <a:pt x="60" y="2"/>
                </a:lnTo>
                <a:lnTo>
                  <a:pt x="82" y="0"/>
                </a:lnTo>
                <a:lnTo>
                  <a:pt x="104" y="2"/>
                </a:lnTo>
                <a:lnTo>
                  <a:pt x="123" y="10"/>
                </a:lnTo>
                <a:lnTo>
                  <a:pt x="140" y="22"/>
                </a:lnTo>
                <a:lnTo>
                  <a:pt x="154" y="37"/>
                </a:lnTo>
                <a:lnTo>
                  <a:pt x="162" y="55"/>
                </a:lnTo>
                <a:lnTo>
                  <a:pt x="165" y="75"/>
                </a:lnTo>
                <a:lnTo>
                  <a:pt x="162" y="95"/>
                </a:lnTo>
                <a:lnTo>
                  <a:pt x="154" y="112"/>
                </a:lnTo>
                <a:lnTo>
                  <a:pt x="140" y="127"/>
                </a:lnTo>
                <a:lnTo>
                  <a:pt x="123" y="140"/>
                </a:lnTo>
                <a:lnTo>
                  <a:pt x="104" y="147"/>
                </a:lnTo>
                <a:lnTo>
                  <a:pt x="82" y="150"/>
                </a:lnTo>
                <a:lnTo>
                  <a:pt x="60" y="147"/>
                </a:lnTo>
                <a:lnTo>
                  <a:pt x="40" y="140"/>
                </a:lnTo>
                <a:lnTo>
                  <a:pt x="23" y="127"/>
                </a:lnTo>
                <a:lnTo>
                  <a:pt x="10" y="112"/>
                </a:lnTo>
                <a:lnTo>
                  <a:pt x="3" y="95"/>
                </a:lnTo>
                <a:lnTo>
                  <a:pt x="0" y="75"/>
                </a:lnTo>
                <a:close/>
              </a:path>
            </a:pathLst>
          </a:custGeom>
          <a:solidFill>
            <a:srgbClr val="00FF00">
              <a:alpha val="100000"/>
            </a:srgbClr>
          </a:solidFill>
          <a:ln w="14288" cap="flat" cmpd="sng">
            <a:solidFill>
              <a:srgbClr val="00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99" name="Rectangle 68"/>
          <p:cNvSpPr/>
          <p:nvPr/>
        </p:nvSpPr>
        <p:spPr>
          <a:xfrm>
            <a:off x="6282055" y="2153285"/>
            <a:ext cx="82550" cy="1984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13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200" name="Freeform 69"/>
          <p:cNvSpPr/>
          <p:nvPr/>
        </p:nvSpPr>
        <p:spPr>
          <a:xfrm>
            <a:off x="5875655" y="2843848"/>
            <a:ext cx="19050" cy="104775"/>
          </a:xfrm>
          <a:custGeom>
            <a:avLst/>
            <a:gdLst>
              <a:gd name="txL" fmla="*/ 0 w 8"/>
              <a:gd name="txT" fmla="*/ 0 h 47"/>
              <a:gd name="txR" fmla="*/ 8 w 8"/>
              <a:gd name="txB" fmla="*/ 47 h 47"/>
            </a:gdLst>
            <a:ahLst/>
            <a:cxnLst>
              <a:cxn ang="0">
                <a:pos x="0" y="233570226"/>
              </a:cxn>
              <a:cxn ang="0">
                <a:pos x="45362813" y="9940249"/>
              </a:cxn>
              <a:cxn ang="0">
                <a:pos x="45362813" y="0"/>
              </a:cxn>
            </a:cxnLst>
            <a:rect l="txL" t="txT" r="txR" b="txB"/>
            <a:pathLst>
              <a:path w="8" h="47">
                <a:moveTo>
                  <a:pt x="0" y="47"/>
                </a:moveTo>
                <a:lnTo>
                  <a:pt x="8" y="2"/>
                </a:lnTo>
                <a:lnTo>
                  <a:pt x="8" y="0"/>
                </a:lnTo>
              </a:path>
            </a:pathLst>
          </a:custGeom>
          <a:noFill/>
          <a:ln w="14351" cap="flat" cmpd="sng">
            <a:solidFill>
              <a:srgbClr val="80008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01" name="Freeform 70"/>
          <p:cNvSpPr/>
          <p:nvPr/>
        </p:nvSpPr>
        <p:spPr>
          <a:xfrm>
            <a:off x="5905818" y="2669223"/>
            <a:ext cx="14287" cy="106362"/>
          </a:xfrm>
          <a:custGeom>
            <a:avLst/>
            <a:gdLst>
              <a:gd name="txL" fmla="*/ 0 w 6"/>
              <a:gd name="txT" fmla="*/ 0 h 48"/>
              <a:gd name="txR" fmla="*/ 6 w 6"/>
              <a:gd name="txB" fmla="*/ 48 h 48"/>
            </a:gdLst>
            <a:ahLst/>
            <a:cxnLst>
              <a:cxn ang="0">
                <a:pos x="0" y="235684897"/>
              </a:cxn>
              <a:cxn ang="0">
                <a:pos x="11339116" y="176764781"/>
              </a:cxn>
              <a:cxn ang="0">
                <a:pos x="34019728" y="0"/>
              </a:cxn>
            </a:cxnLst>
            <a:rect l="txL" t="txT" r="txR" b="txB"/>
            <a:pathLst>
              <a:path w="6" h="48">
                <a:moveTo>
                  <a:pt x="0" y="48"/>
                </a:moveTo>
                <a:lnTo>
                  <a:pt x="2" y="36"/>
                </a:lnTo>
                <a:lnTo>
                  <a:pt x="6" y="0"/>
                </a:lnTo>
              </a:path>
            </a:pathLst>
          </a:custGeom>
          <a:noFill/>
          <a:ln w="73025" cap="flat" cmpd="sng">
            <a:solidFill>
              <a:srgbClr val="993366">
                <a:alpha val="100000"/>
              </a:srgbClr>
            </a:solidFill>
            <a:prstDash val="solid"/>
            <a:bevel/>
            <a:headEnd type="triangl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02" name="Freeform 71"/>
          <p:cNvSpPr/>
          <p:nvPr/>
        </p:nvSpPr>
        <p:spPr>
          <a:xfrm>
            <a:off x="5924868" y="2494598"/>
            <a:ext cx="4762" cy="106362"/>
          </a:xfrm>
          <a:custGeom>
            <a:avLst/>
            <a:gdLst>
              <a:gd name="txL" fmla="*/ 0 w 2"/>
              <a:gd name="txT" fmla="*/ 0 h 48"/>
              <a:gd name="txR" fmla="*/ 2 w 2"/>
              <a:gd name="txB" fmla="*/ 48 h 48"/>
            </a:gdLst>
            <a:ahLst/>
            <a:cxnLst>
              <a:cxn ang="0">
                <a:pos x="0" y="235684897"/>
              </a:cxn>
              <a:cxn ang="0">
                <a:pos x="5669161" y="142392128"/>
              </a:cxn>
              <a:cxn ang="0">
                <a:pos x="11338322" y="0"/>
              </a:cxn>
            </a:cxnLst>
            <a:rect l="txL" t="txT" r="txR" b="txB"/>
            <a:pathLst>
              <a:path w="2" h="48">
                <a:moveTo>
                  <a:pt x="0" y="48"/>
                </a:moveTo>
                <a:lnTo>
                  <a:pt x="1" y="29"/>
                </a:lnTo>
                <a:lnTo>
                  <a:pt x="2" y="0"/>
                </a:lnTo>
              </a:path>
            </a:pathLst>
          </a:custGeom>
          <a:noFill/>
          <a:ln w="73025" cap="flat" cmpd="sng">
            <a:solidFill>
              <a:srgbClr val="993366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03" name="Freeform 72"/>
          <p:cNvSpPr/>
          <p:nvPr/>
        </p:nvSpPr>
        <p:spPr>
          <a:xfrm>
            <a:off x="5920105" y="2318385"/>
            <a:ext cx="7938" cy="107950"/>
          </a:xfrm>
          <a:custGeom>
            <a:avLst/>
            <a:gdLst>
              <a:gd name="txL" fmla="*/ 0 w 3"/>
              <a:gd name="txT" fmla="*/ 0 h 48"/>
              <a:gd name="txR" fmla="*/ 3 w 3"/>
              <a:gd name="txB" fmla="*/ 48 h 48"/>
            </a:gdLst>
            <a:ahLst/>
            <a:cxnLst>
              <a:cxn ang="0">
                <a:pos x="21003948" y="242775052"/>
              </a:cxn>
              <a:cxn ang="0">
                <a:pos x="14002632" y="136561248"/>
              </a:cxn>
              <a:cxn ang="0">
                <a:pos x="0" y="0"/>
              </a:cxn>
            </a:cxnLst>
            <a:rect l="txL" t="txT" r="txR" b="txB"/>
            <a:pathLst>
              <a:path w="3" h="48">
                <a:moveTo>
                  <a:pt x="3" y="48"/>
                </a:moveTo>
                <a:lnTo>
                  <a:pt x="2" y="27"/>
                </a:lnTo>
                <a:lnTo>
                  <a:pt x="0" y="0"/>
                </a:lnTo>
              </a:path>
            </a:pathLst>
          </a:custGeom>
          <a:noFill/>
          <a:ln w="73025" cap="flat" cmpd="sng">
            <a:solidFill>
              <a:srgbClr val="993366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04" name="Freeform 73"/>
          <p:cNvSpPr/>
          <p:nvPr/>
        </p:nvSpPr>
        <p:spPr>
          <a:xfrm>
            <a:off x="5888355" y="2146935"/>
            <a:ext cx="22225" cy="104775"/>
          </a:xfrm>
          <a:custGeom>
            <a:avLst/>
            <a:gdLst>
              <a:gd name="txL" fmla="*/ 0 w 9"/>
              <a:gd name="txT" fmla="*/ 0 h 47"/>
              <a:gd name="txR" fmla="*/ 9 w 9"/>
              <a:gd name="txB" fmla="*/ 47 h 47"/>
            </a:gdLst>
            <a:ahLst/>
            <a:cxnLst>
              <a:cxn ang="0">
                <a:pos x="54883403" y="233570226"/>
              </a:cxn>
              <a:cxn ang="0">
                <a:pos x="42686817" y="159026157"/>
              </a:cxn>
              <a:cxn ang="0">
                <a:pos x="0" y="0"/>
              </a:cxn>
            </a:cxnLst>
            <a:rect l="txL" t="txT" r="txR" b="txB"/>
            <a:pathLst>
              <a:path w="9" h="47">
                <a:moveTo>
                  <a:pt x="9" y="47"/>
                </a:moveTo>
                <a:lnTo>
                  <a:pt x="7" y="32"/>
                </a:lnTo>
                <a:lnTo>
                  <a:pt x="0" y="0"/>
                </a:lnTo>
              </a:path>
            </a:pathLst>
          </a:custGeom>
          <a:noFill/>
          <a:ln w="73025" cap="flat" cmpd="sng">
            <a:solidFill>
              <a:srgbClr val="993366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05" name="Freeform 74"/>
          <p:cNvSpPr/>
          <p:nvPr/>
        </p:nvSpPr>
        <p:spPr>
          <a:xfrm>
            <a:off x="5821680" y="1983423"/>
            <a:ext cx="46038" cy="98425"/>
          </a:xfrm>
          <a:custGeom>
            <a:avLst/>
            <a:gdLst>
              <a:gd name="txL" fmla="*/ 0 w 19"/>
              <a:gd name="txT" fmla="*/ 0 h 44"/>
              <a:gd name="txR" fmla="*/ 19 w 19"/>
              <a:gd name="txB" fmla="*/ 44 h 44"/>
            </a:gdLst>
            <a:ahLst/>
            <a:cxnLst>
              <a:cxn ang="0">
                <a:pos x="111552497" y="220170014"/>
              </a:cxn>
              <a:cxn ang="0">
                <a:pos x="105681441" y="210161981"/>
              </a:cxn>
              <a:cxn ang="0">
                <a:pos x="41097396" y="75058010"/>
              </a:cxn>
              <a:cxn ang="0">
                <a:pos x="0" y="0"/>
              </a:cxn>
            </a:cxnLst>
            <a:rect l="txL" t="txT" r="txR" b="txB"/>
            <a:pathLst>
              <a:path w="19" h="44">
                <a:moveTo>
                  <a:pt x="19" y="44"/>
                </a:moveTo>
                <a:lnTo>
                  <a:pt x="18" y="42"/>
                </a:lnTo>
                <a:lnTo>
                  <a:pt x="7" y="15"/>
                </a:lnTo>
                <a:lnTo>
                  <a:pt x="0" y="0"/>
                </a:lnTo>
              </a:path>
            </a:pathLst>
          </a:custGeom>
          <a:noFill/>
          <a:ln w="14288" cap="flat" cmpd="sng">
            <a:solidFill>
              <a:srgbClr val="FFFF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06" name="Freeform 75"/>
          <p:cNvSpPr/>
          <p:nvPr/>
        </p:nvSpPr>
        <p:spPr>
          <a:xfrm>
            <a:off x="5702618" y="1846898"/>
            <a:ext cx="80962" cy="77787"/>
          </a:xfrm>
          <a:custGeom>
            <a:avLst/>
            <a:gdLst>
              <a:gd name="txL" fmla="*/ 0 w 33"/>
              <a:gd name="txT" fmla="*/ 0 h 35"/>
              <a:gd name="txR" fmla="*/ 33 w 33"/>
              <a:gd name="txB" fmla="*/ 35 h 35"/>
            </a:gdLst>
            <a:ahLst/>
            <a:cxnLst>
              <a:cxn ang="0">
                <a:pos x="198631680" y="172880496"/>
              </a:cxn>
              <a:cxn ang="0">
                <a:pos x="174554072" y="148184235"/>
              </a:cxn>
              <a:cxn ang="0">
                <a:pos x="78248546" y="54333108"/>
              </a:cxn>
              <a:cxn ang="0">
                <a:pos x="0" y="0"/>
              </a:cxn>
            </a:cxnLst>
            <a:rect l="txL" t="txT" r="txR" b="txB"/>
            <a:pathLst>
              <a:path w="33" h="35">
                <a:moveTo>
                  <a:pt x="33" y="35"/>
                </a:moveTo>
                <a:lnTo>
                  <a:pt x="29" y="30"/>
                </a:lnTo>
                <a:lnTo>
                  <a:pt x="13" y="11"/>
                </a:lnTo>
                <a:lnTo>
                  <a:pt x="0" y="0"/>
                </a:lnTo>
              </a:path>
            </a:pathLst>
          </a:custGeom>
          <a:noFill/>
          <a:ln w="73025" cap="flat" cmpd="sng">
            <a:solidFill>
              <a:srgbClr val="993366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07" name="Freeform 76"/>
          <p:cNvSpPr/>
          <p:nvPr/>
        </p:nvSpPr>
        <p:spPr>
          <a:xfrm>
            <a:off x="5526405" y="1781810"/>
            <a:ext cx="114300" cy="26988"/>
          </a:xfrm>
          <a:custGeom>
            <a:avLst/>
            <a:gdLst>
              <a:gd name="txL" fmla="*/ 0 w 46"/>
              <a:gd name="txT" fmla="*/ 0 h 12"/>
              <a:gd name="txR" fmla="*/ 46 w 46"/>
              <a:gd name="txB" fmla="*/ 12 h 12"/>
            </a:gdLst>
            <a:ahLst/>
            <a:cxnLst>
              <a:cxn ang="0">
                <a:pos x="284010652" y="60696012"/>
              </a:cxn>
              <a:cxn ang="0">
                <a:pos x="179050950" y="25290005"/>
              </a:cxn>
              <a:cxn ang="0">
                <a:pos x="49392509" y="0"/>
              </a:cxn>
              <a:cxn ang="0">
                <a:pos x="0" y="0"/>
              </a:cxn>
            </a:cxnLst>
            <a:rect l="txL" t="txT" r="txR" b="txB"/>
            <a:pathLst>
              <a:path w="46" h="12">
                <a:moveTo>
                  <a:pt x="46" y="12"/>
                </a:moveTo>
                <a:lnTo>
                  <a:pt x="29" y="5"/>
                </a:lnTo>
                <a:lnTo>
                  <a:pt x="8" y="0"/>
                </a:lnTo>
                <a:lnTo>
                  <a:pt x="0" y="0"/>
                </a:lnTo>
              </a:path>
            </a:pathLst>
          </a:custGeom>
          <a:noFill/>
          <a:ln w="14288" cap="flat" cmpd="sng">
            <a:solidFill>
              <a:srgbClr val="FFFF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08" name="Line 77"/>
          <p:cNvSpPr/>
          <p:nvPr/>
        </p:nvSpPr>
        <p:spPr>
          <a:xfrm flipH="true">
            <a:off x="5437505" y="1781810"/>
            <a:ext cx="14288" cy="1588"/>
          </a:xfrm>
          <a:prstGeom prst="line">
            <a:avLst/>
          </a:prstGeom>
          <a:ln w="14288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09" name="Freeform 78"/>
          <p:cNvSpPr/>
          <p:nvPr/>
        </p:nvSpPr>
        <p:spPr>
          <a:xfrm>
            <a:off x="5524818" y="2142173"/>
            <a:ext cx="261937" cy="238125"/>
          </a:xfrm>
          <a:custGeom>
            <a:avLst/>
            <a:gdLst>
              <a:gd name="txL" fmla="*/ 0 w 165"/>
              <a:gd name="txT" fmla="*/ 0 h 150"/>
              <a:gd name="txR" fmla="*/ 165 w 165"/>
              <a:gd name="txB" fmla="*/ 150 h 150"/>
            </a:gdLst>
            <a:ahLst/>
            <a:cxnLst>
              <a:cxn ang="0">
                <a:pos x="0" y="189012513"/>
              </a:cxn>
              <a:cxn ang="0">
                <a:pos x="7559661" y="138609388"/>
              </a:cxn>
              <a:cxn ang="0">
                <a:pos x="27720872" y="93246575"/>
              </a:cxn>
              <a:cxn ang="0">
                <a:pos x="63002992" y="52924075"/>
              </a:cxn>
              <a:cxn ang="0">
                <a:pos x="105846360" y="25201563"/>
              </a:cxn>
              <a:cxn ang="0">
                <a:pos x="156249389" y="2520950"/>
              </a:cxn>
              <a:cxn ang="0">
                <a:pos x="206652418" y="0"/>
              </a:cxn>
              <a:cxn ang="0">
                <a:pos x="262095750" y="2520950"/>
              </a:cxn>
              <a:cxn ang="0">
                <a:pos x="312498778" y="25201563"/>
              </a:cxn>
              <a:cxn ang="0">
                <a:pos x="355340559" y="52924075"/>
              </a:cxn>
              <a:cxn ang="0">
                <a:pos x="388103322" y="93246575"/>
              </a:cxn>
              <a:cxn ang="0">
                <a:pos x="410783891" y="138609388"/>
              </a:cxn>
              <a:cxn ang="0">
                <a:pos x="415824194" y="189012513"/>
              </a:cxn>
              <a:cxn ang="0">
                <a:pos x="410783891" y="234375325"/>
              </a:cxn>
              <a:cxn ang="0">
                <a:pos x="388103322" y="279738138"/>
              </a:cxn>
              <a:cxn ang="0">
                <a:pos x="355340559" y="320060638"/>
              </a:cxn>
              <a:cxn ang="0">
                <a:pos x="312498778" y="352821875"/>
              </a:cxn>
              <a:cxn ang="0">
                <a:pos x="262095750" y="370463763"/>
              </a:cxn>
              <a:cxn ang="0">
                <a:pos x="206652418" y="378023438"/>
              </a:cxn>
              <a:cxn ang="0">
                <a:pos x="156249389" y="370463763"/>
              </a:cxn>
              <a:cxn ang="0">
                <a:pos x="105846360" y="352821875"/>
              </a:cxn>
              <a:cxn ang="0">
                <a:pos x="63002992" y="320060638"/>
              </a:cxn>
              <a:cxn ang="0">
                <a:pos x="27720872" y="279738138"/>
              </a:cxn>
              <a:cxn ang="0">
                <a:pos x="7559661" y="234375325"/>
              </a:cxn>
              <a:cxn ang="0">
                <a:pos x="0" y="189012513"/>
              </a:cxn>
            </a:cxnLst>
            <a:rect l="txL" t="txT" r="txR" b="txB"/>
            <a:pathLst>
              <a:path w="165" h="150">
                <a:moveTo>
                  <a:pt x="0" y="75"/>
                </a:moveTo>
                <a:lnTo>
                  <a:pt x="3" y="55"/>
                </a:lnTo>
                <a:lnTo>
                  <a:pt x="11" y="37"/>
                </a:lnTo>
                <a:lnTo>
                  <a:pt x="25" y="21"/>
                </a:lnTo>
                <a:lnTo>
                  <a:pt x="42" y="10"/>
                </a:lnTo>
                <a:lnTo>
                  <a:pt x="62" y="1"/>
                </a:lnTo>
                <a:lnTo>
                  <a:pt x="82" y="0"/>
                </a:lnTo>
                <a:lnTo>
                  <a:pt x="104" y="1"/>
                </a:lnTo>
                <a:lnTo>
                  <a:pt x="124" y="10"/>
                </a:lnTo>
                <a:lnTo>
                  <a:pt x="141" y="21"/>
                </a:lnTo>
                <a:lnTo>
                  <a:pt x="154" y="37"/>
                </a:lnTo>
                <a:lnTo>
                  <a:pt x="163" y="55"/>
                </a:lnTo>
                <a:lnTo>
                  <a:pt x="165" y="75"/>
                </a:lnTo>
                <a:lnTo>
                  <a:pt x="163" y="93"/>
                </a:lnTo>
                <a:lnTo>
                  <a:pt x="154" y="111"/>
                </a:lnTo>
                <a:lnTo>
                  <a:pt x="141" y="127"/>
                </a:lnTo>
                <a:lnTo>
                  <a:pt x="124" y="140"/>
                </a:lnTo>
                <a:lnTo>
                  <a:pt x="104" y="147"/>
                </a:lnTo>
                <a:lnTo>
                  <a:pt x="82" y="150"/>
                </a:lnTo>
                <a:lnTo>
                  <a:pt x="62" y="147"/>
                </a:lnTo>
                <a:lnTo>
                  <a:pt x="42" y="140"/>
                </a:lnTo>
                <a:lnTo>
                  <a:pt x="25" y="127"/>
                </a:lnTo>
                <a:lnTo>
                  <a:pt x="11" y="111"/>
                </a:lnTo>
                <a:lnTo>
                  <a:pt x="3" y="93"/>
                </a:lnTo>
                <a:lnTo>
                  <a:pt x="0" y="75"/>
                </a:lnTo>
                <a:close/>
              </a:path>
            </a:pathLst>
          </a:custGeom>
          <a:solidFill>
            <a:srgbClr val="FFFF00">
              <a:alpha val="100000"/>
            </a:srgbClr>
          </a:solidFill>
          <a:ln w="14288" cap="flat" cmpd="sng">
            <a:solidFill>
              <a:srgbClr val="000000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10" name="Rectangle 79"/>
          <p:cNvSpPr/>
          <p:nvPr/>
        </p:nvSpPr>
        <p:spPr>
          <a:xfrm>
            <a:off x="5608955" y="2167573"/>
            <a:ext cx="82550" cy="1984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13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211" name="Line 80"/>
          <p:cNvSpPr/>
          <p:nvPr/>
        </p:nvSpPr>
        <p:spPr>
          <a:xfrm>
            <a:off x="6167755" y="1069023"/>
            <a:ext cx="1588" cy="304800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12" name="Freeform 81"/>
          <p:cNvSpPr/>
          <p:nvPr/>
        </p:nvSpPr>
        <p:spPr>
          <a:xfrm>
            <a:off x="6101080" y="1343660"/>
            <a:ext cx="133350" cy="122238"/>
          </a:xfrm>
          <a:custGeom>
            <a:avLst/>
            <a:gdLst>
              <a:gd name="txL" fmla="*/ 0 w 84"/>
              <a:gd name="txT" fmla="*/ 0 h 77"/>
              <a:gd name="txR" fmla="*/ 84 w 84"/>
              <a:gd name="txB" fmla="*/ 77 h 77"/>
            </a:gdLst>
            <a:ahLst/>
            <a:cxnLst>
              <a:cxn ang="0">
                <a:pos x="105846563" y="194053619"/>
              </a:cxn>
              <a:cxn ang="0">
                <a:pos x="0" y="0"/>
              </a:cxn>
              <a:cxn ang="0">
                <a:pos x="50403125" y="17641960"/>
              </a:cxn>
              <a:cxn ang="0">
                <a:pos x="105846563" y="25201666"/>
              </a:cxn>
              <a:cxn ang="0">
                <a:pos x="161290000" y="17641960"/>
              </a:cxn>
              <a:cxn ang="0">
                <a:pos x="211693125" y="0"/>
              </a:cxn>
              <a:cxn ang="0">
                <a:pos x="105846563" y="194053619"/>
              </a:cxn>
            </a:cxnLst>
            <a:rect l="txL" t="txT" r="txR" b="txB"/>
            <a:pathLst>
              <a:path w="84" h="77">
                <a:moveTo>
                  <a:pt x="42" y="77"/>
                </a:moveTo>
                <a:lnTo>
                  <a:pt x="0" y="0"/>
                </a:lnTo>
                <a:lnTo>
                  <a:pt x="20" y="7"/>
                </a:lnTo>
                <a:lnTo>
                  <a:pt x="42" y="10"/>
                </a:lnTo>
                <a:lnTo>
                  <a:pt x="64" y="7"/>
                </a:lnTo>
                <a:lnTo>
                  <a:pt x="84" y="0"/>
                </a:lnTo>
                <a:lnTo>
                  <a:pt x="42" y="7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13" name="Rectangle 82"/>
          <p:cNvSpPr/>
          <p:nvPr/>
        </p:nvSpPr>
        <p:spPr>
          <a:xfrm>
            <a:off x="5853748" y="961073"/>
            <a:ext cx="173037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p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214" name="Line 83"/>
          <p:cNvSpPr/>
          <p:nvPr/>
        </p:nvSpPr>
        <p:spPr>
          <a:xfrm>
            <a:off x="5977255" y="3186748"/>
            <a:ext cx="890588" cy="1587"/>
          </a:xfrm>
          <a:prstGeom prst="line">
            <a:avLst/>
          </a:prstGeom>
          <a:ln w="14288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15" name="Freeform 84"/>
          <p:cNvSpPr/>
          <p:nvPr/>
        </p:nvSpPr>
        <p:spPr>
          <a:xfrm>
            <a:off x="5875655" y="3126423"/>
            <a:ext cx="133350" cy="120650"/>
          </a:xfrm>
          <a:custGeom>
            <a:avLst/>
            <a:gdLst>
              <a:gd name="txL" fmla="*/ 0 w 84"/>
              <a:gd name="txT" fmla="*/ 0 h 76"/>
              <a:gd name="txR" fmla="*/ 84 w 84"/>
              <a:gd name="txB" fmla="*/ 76 h 76"/>
            </a:gdLst>
            <a:ahLst/>
            <a:cxnLst>
              <a:cxn ang="0">
                <a:pos x="0" y="95765938"/>
              </a:cxn>
              <a:cxn ang="0">
                <a:pos x="211693125" y="0"/>
              </a:cxn>
              <a:cxn ang="0">
                <a:pos x="191531875" y="45362813"/>
              </a:cxn>
              <a:cxn ang="0">
                <a:pos x="183972200" y="95765938"/>
              </a:cxn>
              <a:cxn ang="0">
                <a:pos x="191531875" y="146169063"/>
              </a:cxn>
              <a:cxn ang="0">
                <a:pos x="211693125" y="191531875"/>
              </a:cxn>
              <a:cxn ang="0">
                <a:pos x="0" y="95765938"/>
              </a:cxn>
            </a:cxnLst>
            <a:rect l="txL" t="txT" r="txR" b="txB"/>
            <a:pathLst>
              <a:path w="84" h="76">
                <a:moveTo>
                  <a:pt x="0" y="38"/>
                </a:moveTo>
                <a:lnTo>
                  <a:pt x="84" y="0"/>
                </a:lnTo>
                <a:lnTo>
                  <a:pt x="76" y="18"/>
                </a:lnTo>
                <a:lnTo>
                  <a:pt x="73" y="38"/>
                </a:lnTo>
                <a:lnTo>
                  <a:pt x="76" y="58"/>
                </a:lnTo>
                <a:lnTo>
                  <a:pt x="84" y="76"/>
                </a:lnTo>
                <a:lnTo>
                  <a:pt x="0" y="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16" name="Rectangle 85"/>
          <p:cNvSpPr/>
          <p:nvPr/>
        </p:nvSpPr>
        <p:spPr>
          <a:xfrm>
            <a:off x="6656705" y="2815273"/>
            <a:ext cx="173038" cy="4159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</a:t>
            </a:r>
            <a:endParaRPr lang="en-US" altLang="zh-CN" sz="2800">
              <a:latin typeface="Times New Roman" panose="02020503050405090304" pitchFamily="18" charset="0"/>
              <a:ea typeface="仿宋_GB2312" pitchFamily="49" charset="-122"/>
            </a:endParaRPr>
          </a:p>
        </p:txBody>
      </p:sp>
      <p:sp>
        <p:nvSpPr>
          <p:cNvPr id="1217" name="Rectangle 86"/>
          <p:cNvSpPr/>
          <p:nvPr/>
        </p:nvSpPr>
        <p:spPr>
          <a:xfrm>
            <a:off x="2024380" y="3477260"/>
            <a:ext cx="46329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 b="true">
                <a:solidFill>
                  <a:schemeClr val="accent2"/>
                </a:solidFill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1. s-&gt;prior=p-&gt;prior;</a:t>
            </a:r>
            <a:endParaRPr lang="en-US" altLang="zh-CN" sz="2800" b="true">
              <a:solidFill>
                <a:schemeClr val="accent2"/>
              </a:solidFill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1218" name="Rectangle 87"/>
          <p:cNvSpPr/>
          <p:nvPr/>
        </p:nvSpPr>
        <p:spPr>
          <a:xfrm>
            <a:off x="2024380" y="4022090"/>
            <a:ext cx="46888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 b="true">
                <a:solidFill>
                  <a:srgbClr val="FF0000"/>
                </a:solidFill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2. p-&gt;prior-&gt;next=s;</a:t>
            </a:r>
            <a:endParaRPr lang="en-US" altLang="zh-CN" sz="2800" b="true">
              <a:solidFill>
                <a:srgbClr val="FF0000"/>
              </a:solidFill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1219" name="Rectangle 88"/>
          <p:cNvSpPr/>
          <p:nvPr/>
        </p:nvSpPr>
        <p:spPr>
          <a:xfrm>
            <a:off x="2024380" y="4598035"/>
            <a:ext cx="38868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 b="true">
                <a:solidFill>
                  <a:schemeClr val="accent1"/>
                </a:solidFill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3. s-&gt;next=p;</a:t>
            </a:r>
            <a:endParaRPr lang="en-US" altLang="zh-CN" sz="2800" b="true">
              <a:solidFill>
                <a:schemeClr val="accent1"/>
              </a:solidFill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grpSp>
        <p:nvGrpSpPr>
          <p:cNvPr id="1220" name="组合 94"/>
          <p:cNvGrpSpPr/>
          <p:nvPr/>
        </p:nvGrpSpPr>
        <p:grpSpPr>
          <a:xfrm>
            <a:off x="7485492" y="3327848"/>
            <a:ext cx="3320083" cy="2876791"/>
            <a:chOff x="8128173" y="3976542"/>
            <a:chExt cx="3320083" cy="2876791"/>
          </a:xfrm>
        </p:grpSpPr>
        <p:pic>
          <p:nvPicPr>
            <p:cNvPr id="1221" name="图片 7" descr="Image3.jpg"/>
            <p:cNvPicPr>
              <a:picLocks noChangeAspect="true" noChangeArrowheads="true"/>
            </p:cNvPicPr>
            <p:nvPr/>
          </p:nvPicPr>
          <p:blipFill>
            <a:blip r:embed="rId1">
              <a:clrChange>
                <a:clrFrom>
                  <a:srgbClr val="FFFFFD"/>
                </a:clrFrom>
                <a:clrTo>
                  <a:srgbClr val="FFFFFD">
                    <a:alpha val="0"/>
                  </a:srgbClr>
                </a:clrTo>
              </a:clrChange>
              <a:extLst>
                <a:ext uri="{28A0092B-C50C-407E-A947-70E740481C1C}"/>
              </a:extLst>
            </a:blip>
            <a:srcRect/>
            <a:stretch>
              <a:fillRect/>
            </a:stretch>
          </p:blipFill>
          <p:spPr bwMode="auto">
            <a:xfrm>
              <a:off x="10535444" y="5067395"/>
              <a:ext cx="912812" cy="1785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</p:pic>
        <p:sp>
          <p:nvSpPr>
            <p:cNvPr id="1222" name="AutoShape 4"/>
            <p:cNvSpPr>
              <a:spLocks noChangeArrowheads="true"/>
            </p:cNvSpPr>
            <p:nvPr/>
          </p:nvSpPr>
          <p:spPr bwMode="auto">
            <a:xfrm>
              <a:off x="8128173" y="3976542"/>
              <a:ext cx="3160416" cy="891665"/>
            </a:xfrm>
            <a:prstGeom prst="cloudCallout">
              <a:avLst>
                <a:gd name="adj1" fmla="val 33388"/>
                <a:gd name="adj2" fmla="val 74559"/>
              </a:avLst>
            </a:prstGeom>
            <a:solidFill>
              <a:srgbClr val="FFFFCC"/>
            </a:solidFill>
            <a:ln w="28575">
              <a:solidFill>
                <a:srgbClr val="008000"/>
              </a:solidFill>
              <a:round/>
            </a:ln>
          </p:spPr>
          <p:txBody>
            <a:bodyPr lIns="0" tIns="0" rIns="0" bIns="0" anchor="ctr"/>
            <a:lstStyle/>
            <a:p>
              <a:pPr algn="ctr" eaLnBrk="false" fontAlgn="base" hangingPunct="false">
                <a:lnSpc>
                  <a:spcPct val="90000"/>
                </a:lnSpc>
                <a:spcBef>
                  <a:spcPct val="1"/>
                </a:spcBef>
                <a:spcAft>
                  <a:spcPts val="590"/>
                </a:spcAft>
                <a:buClr>
                  <a:srgbClr val="2F2F2F"/>
                </a:buClr>
                <a:buSzPct val="80000"/>
                <a:buFont typeface="Monotype Sorts"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顺序可否改变？</a:t>
              </a:r>
              <a:endParaRPr lang="zh-CN" altLang="en-US" sz="200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223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p="http://schemas.openxmlformats.org/presentationml/2006/main" xmlns:a="http://schemas.openxmlformats.org/drawingml/2006/main">
  <p:cSld>
    <p:spTree>
      <p:nvGrpSpPr>
        <p:cNvPr id="1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Rectangle 2"/>
          <p:cNvSpPr>
            <a:spLocks noGrp="true"/>
          </p:cNvSpPr>
          <p:nvPr>
            <p:ph type="title"/>
          </p:nvPr>
        </p:nvSpPr>
        <p:spPr>
          <a:xfrm>
            <a:off x="3074670" y="582930"/>
            <a:ext cx="65430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7.3.2.2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226" name="Rectangle 2"/>
          <p:cNvSpPr/>
          <p:nvPr/>
        </p:nvSpPr>
        <p:spPr>
          <a:xfrm>
            <a:off x="1140460" y="1254760"/>
            <a:ext cx="10017125" cy="4521835"/>
          </a:xfrm>
          <a:prstGeom prst="rect">
            <a:avLst/>
          </a:prstGeom>
          <a:solidFill>
            <a:srgbClr val="FFFFCC"/>
          </a:solidFill>
          <a:ln w="28575">
            <a:solidFill>
              <a:schemeClr val="accent6"/>
            </a:solidFill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int </a:t>
            </a:r>
            <a:r>
              <a:rPr lang="en-US" altLang="zh-CN" sz="2400" b="true" err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ListInsert_DuL</a:t>
            </a:r>
            <a:r>
              <a:rPr lang="en-US" altLang="zh-CN" sz="2400" b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(</a:t>
            </a:r>
            <a:r>
              <a:rPr lang="en-US" altLang="zh-CN" sz="2400" b="true" err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DuLinkList</a:t>
            </a:r>
            <a:r>
              <a:rPr lang="en-US" altLang="zh-CN" sz="2400" b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*L,</a:t>
            </a:r>
            <a:r>
              <a:rPr lang="zh-CN" altLang="en-US" sz="2400" b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2400" b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int </a:t>
            </a:r>
            <a:r>
              <a:rPr lang="en-US" altLang="zh-CN" sz="2400" b="true" err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i</a:t>
            </a:r>
            <a:r>
              <a:rPr lang="en-US" altLang="zh-CN" sz="2400" b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,</a:t>
            </a:r>
            <a:r>
              <a:rPr lang="zh-CN" altLang="en-US" sz="2400" b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2400" b="true" err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ElemType</a:t>
            </a:r>
            <a:r>
              <a:rPr lang="en-US" altLang="zh-CN" sz="2400" b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e)</a:t>
            </a: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{</a:t>
            </a:r>
            <a:endParaRPr lang="en-US" altLang="zh-CN" sz="2400" b="true"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// </a:t>
            </a:r>
            <a:r>
              <a:rPr lang="zh-CN" altLang="en-US" sz="2400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在双向链表</a:t>
            </a:r>
            <a:r>
              <a:rPr lang="en-US" altLang="zh-CN" sz="2400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L</a:t>
            </a:r>
            <a:r>
              <a:rPr lang="zh-CN" altLang="en-US" sz="2400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第</a:t>
            </a:r>
            <a:r>
              <a:rPr lang="en-US" altLang="zh-CN" sz="2400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i</a:t>
            </a:r>
            <a:r>
              <a:rPr lang="zh-CN" altLang="en-US" sz="2400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个元素后插入值为</a:t>
            </a:r>
            <a:r>
              <a:rPr lang="en-US" altLang="zh-CN" sz="2400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e</a:t>
            </a:r>
            <a:r>
              <a:rPr lang="zh-CN" altLang="en-US" sz="2400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的新节点</a:t>
            </a:r>
            <a:endParaRPr lang="en-US" altLang="zh-CN" sz="2400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if(!(p=</a:t>
            </a:r>
            <a:r>
              <a:rPr lang="en-US" altLang="zh-CN" sz="2400" b="true" err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GetElemP_DuL</a:t>
            </a: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(</a:t>
            </a:r>
            <a:r>
              <a:rPr lang="en-US" altLang="zh-CN" sz="2400" b="true" err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L,i</a:t>
            </a: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))) return </a:t>
            </a:r>
            <a:r>
              <a:rPr lang="en-US" altLang="zh-CN" sz="2400" b="true">
                <a:solidFill>
                  <a:schemeClr val="accent1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0</a:t>
            </a: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; //</a:t>
            </a:r>
            <a:r>
              <a:rPr lang="zh-CN" altLang="en-US" sz="2400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插入失败</a:t>
            </a:r>
            <a:endParaRPr lang="en-US" altLang="zh-CN" sz="2400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</a:t>
            </a:r>
            <a:r>
              <a:rPr lang="en-US" altLang="zh-CN" sz="2400" b="true" err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DuLNode</a:t>
            </a: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*s = </a:t>
            </a:r>
            <a:r>
              <a:rPr lang="en-US" altLang="zh-CN" sz="2400" b="true" err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CreateDuLNode</a:t>
            </a: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(e);</a:t>
            </a:r>
            <a:r>
              <a:rPr lang="en-US" altLang="zh-CN" sz="2400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  //</a:t>
            </a:r>
            <a:r>
              <a:rPr lang="zh-CN" altLang="en-US" sz="2400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创建一个新节点</a:t>
            </a:r>
            <a:endParaRPr lang="en-US" altLang="zh-CN" sz="2400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>
                <a:solidFill>
                  <a:srgbClr val="FF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s-&gt;prior=p-&gt;prior;  </a:t>
            </a:r>
            <a:endParaRPr lang="en-US" altLang="zh-CN" sz="2400" b="true">
              <a:solidFill>
                <a:srgbClr val="FF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>
                <a:solidFill>
                  <a:srgbClr val="FF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p-&gt;prior-&gt;next=s;</a:t>
            </a:r>
            <a:endParaRPr lang="en-US" altLang="zh-CN" sz="2400" b="true">
              <a:solidFill>
                <a:srgbClr val="FF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>
                <a:solidFill>
                  <a:srgbClr val="FF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s-&gt;next=p;  </a:t>
            </a:r>
            <a:endParaRPr lang="en-US" altLang="zh-CN" sz="2400" b="true">
              <a:solidFill>
                <a:srgbClr val="FF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>
                <a:solidFill>
                  <a:srgbClr val="FF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p-&gt;prior=s;</a:t>
            </a:r>
            <a:endParaRPr lang="en-US" altLang="zh-CN" sz="2400" b="true">
              <a:solidFill>
                <a:srgbClr val="FF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return </a:t>
            </a:r>
            <a:r>
              <a:rPr lang="en-US" altLang="zh-CN" sz="2400" b="true">
                <a:solidFill>
                  <a:schemeClr val="accent1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1</a:t>
            </a: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;				       //</a:t>
            </a:r>
            <a:r>
              <a:rPr lang="zh-CN" altLang="en-US" sz="2400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插入成功</a:t>
            </a:r>
            <a:endParaRPr lang="en-US" altLang="zh-CN" sz="2400" b="true"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}</a:t>
            </a:r>
            <a:endParaRPr lang="en-US" altLang="zh-CN" sz="2400" b="true"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</p:txBody>
      </p:sp>
      <p:sp>
        <p:nvSpPr>
          <p:cNvPr id="1227" name="矩形 7"/>
          <p:cNvSpPr/>
          <p:nvPr/>
        </p:nvSpPr>
        <p:spPr>
          <a:xfrm>
            <a:off x="8581610" y="5880828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O(1)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228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p="http://schemas.openxmlformats.org/presentationml/2006/main" xmlns:a="http://schemas.openxmlformats.org/drawingml/2006/main">
  <p:cSld>
    <p:spTree>
      <p:nvGrpSpPr>
        <p:cNvPr id="1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Rectangle 2"/>
          <p:cNvSpPr>
            <a:spLocks noGrp="true"/>
          </p:cNvSpPr>
          <p:nvPr>
            <p:ph type="title"/>
          </p:nvPr>
        </p:nvSpPr>
        <p:spPr>
          <a:xfrm>
            <a:off x="3074670" y="582930"/>
            <a:ext cx="65430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7.3.2.3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从数组建立双向链表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280" name="文本框 9"/>
          <p:cNvSpPr txBox="true"/>
          <p:nvPr/>
        </p:nvSpPr>
        <p:spPr>
          <a:xfrm>
            <a:off x="701040" y="1195705"/>
            <a:ext cx="10783570" cy="5015865"/>
          </a:xfrm>
          <a:prstGeom prst="rect">
            <a:avLst/>
          </a:prstGeom>
          <a:solidFill>
            <a:srgbClr val="FFFFCC"/>
          </a:solidFill>
          <a:ln w="28575">
            <a:solidFill>
              <a:schemeClr val="accent6"/>
            </a:solidFill>
          </a:ln>
        </p:spPr>
        <p:txBody>
          <a:bodyPr wrap="square" rtlCol="false">
            <a:spAutoFit/>
          </a:bodyPr>
          <a:lstStyle/>
          <a:p>
            <a:pPr/>
            <a:r>
              <a:rPr lang="en-US" altLang="zh-CN" sz="1600" b="true" dirty="false" err="tru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DuLinkList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*</a:t>
            </a:r>
            <a:r>
              <a:rPr lang="en-US" altLang="zh-CN" sz="1600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CreateDuLink</a:t>
            </a:r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(int n)          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</a:t>
            </a:r>
            <a:r>
              <a:rPr lang="zh-CN" altLang="en-US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未考虑节点内存申请是否成功版本</a:t>
            </a:r>
            <a:endParaRPr lang="en-US" altLang="zh-CN" sz="1600" b="true" dirty="false">
              <a:solidFill>
                <a:srgbClr val="C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{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</a:t>
            </a:r>
            <a:r>
              <a:rPr lang="en-US" altLang="zh-CN" sz="1600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DuLinkList</a:t>
            </a:r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*pr, *pre, *head = NULL;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for (int </a:t>
            </a:r>
            <a:r>
              <a:rPr lang="en-US" altLang="zh-CN" sz="1600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i</a:t>
            </a:r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=1; </a:t>
            </a:r>
            <a:r>
              <a:rPr lang="en-US" altLang="zh-CN" sz="1600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i</a:t>
            </a:r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&lt;=n; </a:t>
            </a:r>
            <a:r>
              <a:rPr lang="en-US" altLang="zh-CN" sz="1600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i</a:t>
            </a:r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++)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{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  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pr = (</a:t>
            </a:r>
            <a:r>
              <a:rPr lang="en-US" altLang="zh-CN" sz="1600" b="true" dirty="false" err="tru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DuLinkList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*)malloc(</a:t>
            </a:r>
            <a:r>
              <a:rPr lang="en-US" altLang="zh-CN" sz="1600" b="true" dirty="false" err="tru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sizeof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(</a:t>
            </a:r>
            <a:r>
              <a:rPr lang="en-US" altLang="zh-CN" sz="1600" b="true" dirty="false" err="tru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DuLinkList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)); //</a:t>
            </a:r>
            <a:r>
              <a:rPr lang="zh-CN" altLang="en-US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申请新节点内存，应判断申请是否成功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  if (</a:t>
            </a:r>
            <a:r>
              <a:rPr lang="en-US" altLang="zh-CN" sz="1600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i</a:t>
            </a:r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== 1) {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      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head = pr;              </a:t>
            </a:r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</a:t>
            </a:r>
            <a:r>
              <a:rPr lang="zh-CN" altLang="en-US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头指针指向首节点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      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pr-&gt;prior=NULL;</a:t>
            </a:r>
            <a:endParaRPr lang="en-US" altLang="zh-CN" sz="1600" b="true" dirty="false">
              <a:solidFill>
                <a:srgbClr val="C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  }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  else{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      pre-&gt;next = pr;     //</a:t>
            </a:r>
            <a:r>
              <a:rPr lang="zh-CN" altLang="en-US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前驱节点链上后继（新）节点</a:t>
            </a:r>
            <a:endParaRPr lang="en-US" altLang="zh-CN" sz="1600" b="true" dirty="false">
              <a:solidFill>
                <a:srgbClr val="C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      pr-&gt;prior = pre;</a:t>
            </a:r>
            <a:endParaRPr lang="en-US" altLang="zh-CN" sz="1600" b="true" dirty="false">
              <a:solidFill>
                <a:srgbClr val="C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  </a:t>
            </a:r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}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  pr-&gt;data = </a:t>
            </a:r>
            <a:r>
              <a:rPr lang="en-US" altLang="zh-CN" sz="1600" b="true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i</a:t>
            </a:r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;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  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pre = pr;                     //</a:t>
            </a:r>
            <a:r>
              <a:rPr lang="zh-CN" altLang="en-US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记录前驱节点的指针</a:t>
            </a:r>
            <a:endParaRPr lang="en-US" altLang="zh-CN" sz="1600" b="true" dirty="false">
              <a:solidFill>
                <a:srgbClr val="C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}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pre-&gt;next</a:t>
            </a:r>
            <a:r>
              <a:rPr lang="zh-CN" altLang="en-US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=</a:t>
            </a:r>
            <a:r>
              <a:rPr lang="zh-CN" altLang="en-US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NULL;</a:t>
            </a:r>
            <a:r>
              <a:rPr lang="zh-CN" altLang="en-US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       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//</a:t>
            </a:r>
            <a:r>
              <a:rPr lang="zh-CN" altLang="en-US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尾节点</a:t>
            </a:r>
            <a:endParaRPr lang="en-US" altLang="zh-CN" sz="1600" b="true" dirty="false">
              <a:solidFill>
                <a:srgbClr val="C00000"/>
              </a:solidFill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    return </a:t>
            </a:r>
            <a:r>
              <a:rPr lang="en-US" altLang="zh-CN" sz="1600" b="true" dirty="false">
                <a:solidFill>
                  <a:srgbClr val="C0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head</a:t>
            </a:r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;</a:t>
            </a:r>
            <a:endParaRPr lang="en-US" altLang="zh-CN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/>
            <a:r>
              <a:rPr lang="en-US" altLang="zh-CN" sz="1600" b="true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}</a:t>
            </a:r>
            <a:endParaRPr lang="zh-CN" altLang="en-US" sz="1600" b="true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</p:txBody>
      </p:sp>
      <p:sp>
        <p:nvSpPr>
          <p:cNvPr id="1281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Rectangle 2"/>
          <p:cNvSpPr>
            <a:spLocks noGrp="true"/>
          </p:cNvSpPr>
          <p:nvPr>
            <p:ph type="title"/>
          </p:nvPr>
        </p:nvSpPr>
        <p:spPr>
          <a:xfrm>
            <a:off x="2859405" y="582930"/>
            <a:ext cx="655891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7.3.2.4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双向链表的删除操作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pic>
        <p:nvPicPr>
          <p:cNvPr id="1284" name="Object 2"/>
          <p:cNvPicPr/>
          <p:nvPr/>
        </p:nvPicPr>
        <p:blipFill>
          <a:blip r:embed="rId1"/>
          <a:stretch>
            <a:fillRect/>
          </a:stretch>
        </p:blipFill>
        <p:spPr>
          <a:xfrm>
            <a:off x="1456373" y="1555115"/>
            <a:ext cx="8628062" cy="2247900"/>
          </a:xfrm>
          <a:prstGeom prst="rect">
            <a:avLst/>
          </a:prstGeom>
          <a:solidFill>
            <a:srgbClr val="FFFFE7"/>
          </a:solidFill>
          <a:ln w="38100">
            <a:noFill/>
            <a:miter/>
          </a:ln>
        </p:spPr>
      </p:pic>
      <p:sp>
        <p:nvSpPr>
          <p:cNvPr id="1285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Rectangle 2"/>
          <p:cNvSpPr>
            <a:spLocks noGrp="true"/>
          </p:cNvSpPr>
          <p:nvPr>
            <p:ph type="title"/>
          </p:nvPr>
        </p:nvSpPr>
        <p:spPr>
          <a:xfrm>
            <a:off x="2859405" y="582930"/>
            <a:ext cx="646811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7.3.2.4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双向链表的删除操作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pic>
        <p:nvPicPr>
          <p:cNvPr id="1288" name="Object 3"/>
          <p:cNvPicPr/>
          <p:nvPr/>
        </p:nvPicPr>
        <p:blipFill>
          <a:blip r:embed="rId1"/>
          <a:stretch>
            <a:fillRect/>
          </a:stretch>
        </p:blipFill>
        <p:spPr>
          <a:xfrm>
            <a:off x="1706880" y="1365568"/>
            <a:ext cx="8628063" cy="2247900"/>
          </a:xfrm>
          <a:prstGeom prst="rect">
            <a:avLst/>
          </a:prstGeom>
          <a:noFill/>
          <a:ln w="38100">
            <a:noFill/>
            <a:miter/>
          </a:ln>
        </p:spPr>
      </p:pic>
      <p:sp>
        <p:nvSpPr>
          <p:cNvPr id="1289" name="Rectangle 4"/>
          <p:cNvSpPr/>
          <p:nvPr/>
        </p:nvSpPr>
        <p:spPr>
          <a:xfrm>
            <a:off x="2638425" y="3803650"/>
            <a:ext cx="668147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66"/>
                </a:solidFill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1. p-&gt;prior-&gt;next=p-&gt;next;</a:t>
            </a:r>
            <a:endParaRPr lang="en-US" altLang="zh-CN" sz="2800">
              <a:solidFill>
                <a:srgbClr val="FF0066"/>
              </a:solidFill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1290" name="Rectangle 5"/>
          <p:cNvSpPr/>
          <p:nvPr/>
        </p:nvSpPr>
        <p:spPr>
          <a:xfrm>
            <a:off x="2638425" y="4718050"/>
            <a:ext cx="66224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0" lvl="0" indent="0" eaLnBrk="true" hangingPunct="true">
              <a:spcBef>
                <a:spcPct val="1"/>
              </a:spcBef>
              <a:buClrTx/>
              <a:buSzTx/>
              <a:buFontTx/>
              <a:buNone/>
            </a:pPr>
            <a:r>
              <a:rPr lang="en-US" altLang="zh-CN" sz="2800" b="true">
                <a:solidFill>
                  <a:schemeClr val="hlink"/>
                </a:solidFill>
                <a:latin typeface="Courier New" panose="02070409020205090404" pitchFamily="49" charset="0"/>
                <a:ea typeface="宋体" pitchFamily="2" charset="-122"/>
                <a:cs typeface="Courier New" panose="02070409020205090404" pitchFamily="49" charset="0"/>
              </a:rPr>
              <a:t>2. p-&gt;next-&gt;prior=p-&gt;prior;</a:t>
            </a:r>
            <a:endParaRPr lang="en-US" altLang="zh-CN" sz="2800" b="true">
              <a:solidFill>
                <a:schemeClr val="hlink"/>
              </a:solidFill>
              <a:latin typeface="Courier New" panose="02070409020205090404" pitchFamily="49" charset="0"/>
              <a:ea typeface="宋体" pitchFamily="2" charset="-122"/>
              <a:cs typeface="Courier New" panose="02070409020205090404" pitchFamily="49" charset="0"/>
            </a:endParaRPr>
          </a:p>
        </p:txBody>
      </p:sp>
      <p:sp>
        <p:nvSpPr>
          <p:cNvPr id="1291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>
  <p:cSld>
    <p:spTree>
      <p:nvGrpSpPr>
        <p:cNvPr id="1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Rectangle 2"/>
          <p:cNvSpPr>
            <a:spLocks noGrp="true"/>
          </p:cNvSpPr>
          <p:nvPr>
            <p:ph type="title"/>
          </p:nvPr>
        </p:nvSpPr>
        <p:spPr>
          <a:xfrm>
            <a:off x="2859405" y="582930"/>
            <a:ext cx="65303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7.3.2.4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双向链表的删除操作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294" name="Rectangle 2"/>
          <p:cNvSpPr/>
          <p:nvPr/>
        </p:nvSpPr>
        <p:spPr>
          <a:xfrm>
            <a:off x="1093470" y="1355725"/>
            <a:ext cx="10116820" cy="4049395"/>
          </a:xfrm>
          <a:prstGeom prst="rect">
            <a:avLst/>
          </a:prstGeom>
          <a:solidFill>
            <a:srgbClr val="FFFFCC"/>
          </a:solidFill>
          <a:ln w="28575">
            <a:solidFill>
              <a:schemeClr val="accent6"/>
            </a:solidFill>
          </a:ln>
        </p:spPr>
        <p:txBody>
          <a:bodyPr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rgbClr val="333399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rgbClr val="3333CC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defRPr>
            </a:lvl5pPr>
          </a:lstStyle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 dirty="fals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int </a:t>
            </a:r>
            <a:r>
              <a:rPr lang="en-US" altLang="zh-CN" sz="2400" b="true" dirty="false" err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ListDelete_DuL</a:t>
            </a:r>
            <a:r>
              <a:rPr lang="en-US" altLang="zh-CN" sz="2400" b="true" dirty="fals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(</a:t>
            </a:r>
            <a:r>
              <a:rPr lang="en-US" altLang="zh-CN" sz="2400" b="true" dirty="false" err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DuLinkList</a:t>
            </a:r>
            <a:r>
              <a:rPr lang="en-US" altLang="zh-CN" sz="2400" b="true" dirty="fals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zh-CN" altLang="en-US" sz="2400" b="true" dirty="fals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*</a:t>
            </a:r>
            <a:r>
              <a:rPr lang="en-US" altLang="zh-CN" sz="2400" b="true" dirty="fals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L,</a:t>
            </a:r>
            <a:r>
              <a:rPr lang="zh-CN" altLang="en-US" sz="2400" b="true" dirty="fals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2400" b="true" dirty="fals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int I,</a:t>
            </a:r>
            <a:r>
              <a:rPr lang="zh-CN" altLang="en-US" sz="2400" b="true" dirty="fals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en-US" altLang="zh-CN" sz="2400" b="true" dirty="false" err="tru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ElemType</a:t>
            </a:r>
            <a:r>
              <a:rPr lang="en-US" altLang="zh-CN" sz="2400" b="true" dirty="fals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zh-CN" altLang="en-US" sz="2400" b="true" dirty="fals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*</a:t>
            </a:r>
            <a:r>
              <a:rPr lang="en-US" altLang="zh-CN" sz="2400" b="true" dirty="false">
                <a:solidFill>
                  <a:schemeClr val="folHlink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e)</a:t>
            </a:r>
            <a:r>
              <a:rPr lang="en-US" altLang="zh-CN" sz="2400" b="true" dirty="fals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{</a:t>
            </a:r>
            <a:endParaRPr lang="en-US" altLang="zh-CN" sz="2400" b="true" dirty="false"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 dirty="fals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//</a:t>
            </a:r>
            <a:r>
              <a:rPr lang="zh-CN" altLang="en-US" sz="2400" b="true" dirty="fals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</a:t>
            </a:r>
            <a:r>
              <a:rPr lang="zh-CN" altLang="en-US" sz="2400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删除双向链表中第</a:t>
            </a:r>
            <a:r>
              <a:rPr lang="en-US" altLang="zh-CN" sz="2400" dirty="fals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i</a:t>
            </a:r>
            <a:r>
              <a:rPr lang="zh-CN" altLang="en-US" sz="2400" dirty="fals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个节点</a:t>
            </a:r>
            <a:endParaRPr lang="en-US" altLang="zh-CN" sz="2400" dirty="fals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 dirty="fals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if(!(p=</a:t>
            </a:r>
            <a:r>
              <a:rPr lang="en-US" altLang="zh-CN" sz="2400" b="true" dirty="false" err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GetElemP_DuL</a:t>
            </a:r>
            <a:r>
              <a:rPr lang="en-US" altLang="zh-CN" sz="2400" b="true" dirty="fals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(</a:t>
            </a:r>
            <a:r>
              <a:rPr lang="en-US" altLang="zh-CN" sz="2400" b="true" dirty="false" err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L,i</a:t>
            </a:r>
            <a:r>
              <a:rPr lang="en-US" altLang="zh-CN" sz="2400" b="true" dirty="fals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)))     return </a:t>
            </a:r>
            <a:r>
              <a:rPr lang="en-US" altLang="zh-CN" sz="2400" b="true" dirty="false">
                <a:solidFill>
                  <a:schemeClr val="accent1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0</a:t>
            </a:r>
            <a:r>
              <a:rPr lang="en-US" altLang="zh-CN" sz="2400" b="true" dirty="fals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;</a:t>
            </a:r>
            <a:endParaRPr lang="en-US" altLang="zh-CN" sz="2400" b="true" dirty="false"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*e=p-&gt;data;</a:t>
            </a:r>
            <a:endParaRPr lang="en-US" altLang="zh-CN" sz="2400" b="true"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 dirty="fals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p-&gt;prior-&gt;next=p-&gt;next;</a:t>
            </a:r>
            <a:endParaRPr lang="en-US" altLang="zh-CN" sz="2400" b="true" dirty="false">
              <a:solidFill>
                <a:srgbClr val="FF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p-&gt;next-&gt;prior=p-&gt;prior;</a:t>
            </a:r>
            <a:endParaRPr lang="en-US" altLang="zh-CN" sz="2400" b="true" dirty="false">
              <a:solidFill>
                <a:srgbClr val="FF0000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 dirty="fals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free(p); </a:t>
            </a:r>
            <a:endParaRPr lang="en-US" altLang="zh-CN" sz="2400" b="true" dirty="false"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 dirty="fals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   return </a:t>
            </a:r>
            <a:r>
              <a:rPr lang="en-US" altLang="zh-CN" sz="2400" b="true" dirty="false">
                <a:solidFill>
                  <a:schemeClr val="accent1"/>
                </a:solidFill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1</a:t>
            </a:r>
            <a:r>
              <a:rPr lang="en-US" altLang="zh-CN" sz="2400" b="true" dirty="fals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;</a:t>
            </a:r>
            <a:endParaRPr lang="en-US" altLang="zh-CN" sz="2400" b="true" dirty="false"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true" dirty="false">
                <a:latin typeface="Courier New" panose="02070409020205090404" pitchFamily="49" charset="0"/>
                <a:ea typeface="仿宋_GB2312" pitchFamily="49" charset="-122"/>
                <a:cs typeface="Courier New" panose="02070409020205090404" pitchFamily="49" charset="0"/>
              </a:rPr>
              <a:t>}</a:t>
            </a:r>
            <a:endParaRPr lang="en-US" altLang="zh-CN" sz="2400" b="true" dirty="false">
              <a:solidFill>
                <a:schemeClr val="accent1"/>
              </a:solidFill>
              <a:latin typeface="Courier New" panose="02070409020205090404" pitchFamily="49" charset="0"/>
              <a:ea typeface="仿宋_GB2312" pitchFamily="49" charset="-122"/>
              <a:cs typeface="Courier New" panose="02070409020205090404" pitchFamily="49" charset="0"/>
            </a:endParaRPr>
          </a:p>
        </p:txBody>
      </p:sp>
      <p:sp>
        <p:nvSpPr>
          <p:cNvPr id="1295" name="矩形 7"/>
          <p:cNvSpPr/>
          <p:nvPr/>
        </p:nvSpPr>
        <p:spPr>
          <a:xfrm>
            <a:off x="8645745" y="5659894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O(1)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296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p="http://schemas.openxmlformats.org/presentationml/2006/main" xmlns:a="http://schemas.openxmlformats.org/drawingml/2006/main">
  <p:cSld>
    <p:spTree>
      <p:nvGrpSpPr>
        <p:cNvPr id="1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Rectangle 3"/>
          <p:cNvSpPr>
            <a:spLocks noGrp="true"/>
          </p:cNvSpPr>
          <p:nvPr>
            <p:ph idx="1"/>
          </p:nvPr>
        </p:nvSpPr>
        <p:spPr>
          <a:xfrm>
            <a:off x="262890" y="1337310"/>
            <a:ext cx="9973945" cy="2966720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spcAft>
                <a:spcPts val="600"/>
              </a:spcAft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双向链表的常见应用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buSzPct val="50000"/>
              <a:buFont typeface="Wingdings" panose="05000000000000000000" pitchFamily="2" charset="2"/>
              <a:buChar char="n"/>
            </a:pPr>
            <a:r>
              <a:rPr lang="zh-CN" altLang="en-US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音乐播放器播放列表</a:t>
            </a:r>
            <a:endParaRPr lang="zh-CN" altLang="en-US" sz="2400" dirty="false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spcAft>
                <a:spcPts val="600"/>
              </a:spcAft>
              <a:buSzPct val="50000"/>
              <a:buFont typeface="Wingdings" panose="05000000000000000000" pitchFamily="2" charset="2"/>
              <a:buChar char="n"/>
            </a:pPr>
            <a:r>
              <a:rPr lang="zh-CN" altLang="en-US" sz="2000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前后切换和循环播放</a:t>
            </a:r>
            <a:endParaRPr lang="zh-CN" altLang="en-US" dirty="false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algn="l">
              <a:buSzPct val="50000"/>
              <a:buFont typeface="Wingdings" panose="05000000000000000000" pitchFamily="2" charset="2"/>
              <a:buChar char="n"/>
            </a:pPr>
            <a:r>
              <a:rPr lang="zh-CN" altLang="en-US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浏览器历史记录</a:t>
            </a:r>
            <a:endParaRPr lang="zh-CN" altLang="en-US" sz="2400" dirty="false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 algn="l">
              <a:spcAft>
                <a:spcPts val="600"/>
              </a:spcAft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管页面的前进和后退</a:t>
            </a:r>
            <a:endParaRPr lang="zh-CN" altLang="en-US" dirty="false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algn="l">
              <a:buSzPct val="50000"/>
              <a:buFont typeface="Wingdings" panose="05000000000000000000" pitchFamily="2" charset="2"/>
              <a:buChar char="n"/>
            </a:pPr>
            <a:r>
              <a:rPr lang="zh-CN" altLang="en-US" sz="2400" dirty="false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缓存管理</a:t>
            </a:r>
            <a:endParaRPr lang="zh-CN" altLang="en-US" sz="2400" dirty="false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 algn="l"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可以实现最近最少使用（</a:t>
            </a:r>
            <a:r>
              <a:rPr lang="en-US" altLang="zh-CN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LRU</a:t>
            </a:r>
            <a:r>
              <a:rPr lang="zh-CN" altLang="en-US" dirty="false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）算法，快速找到最旧的缓存进行替换。</a:t>
            </a:r>
            <a:endParaRPr lang="zh-CN" altLang="en-US" dirty="false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 algn="l"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299" name="Rectangle 2"/>
          <p:cNvSpPr>
            <a:spLocks noGrp="true"/>
          </p:cNvSpPr>
          <p:nvPr>
            <p:ph type="title"/>
          </p:nvPr>
        </p:nvSpPr>
        <p:spPr>
          <a:xfrm>
            <a:off x="3791585" y="511175"/>
            <a:ext cx="518414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altLang="zh-CN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7.3.4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双向链表的应用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300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3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Rectangle 2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ctr" anchorCtr="false"/>
          <a:lstStyle/>
          <a:p>
            <a:pPr/>
            <a:r>
              <a:rPr lang="zh-CN" altLang="en-US" kern="1200" dirty="false">
                <a:latin typeface="黑体" panose="02010609060101010101" pitchFamily="49" charset="-122"/>
                <a:ea typeface="黑体" panose="02010609060101010101" pitchFamily="49" charset="-122"/>
                <a:cs typeface="Arial" panose="020B0604020202090204" pitchFamily="34" charset="0"/>
              </a:rPr>
              <a:t>小结</a:t>
            </a:r>
            <a:endParaRPr lang="zh-CN" altLang="en-US" kern="1200" dirty="false">
              <a:latin typeface="黑体" panose="02010609060101010101" pitchFamily="49" charset="-122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303" name="Rectangle 3"/>
          <p:cNvSpPr txBox="true">
            <a:spLocks noChangeArrowheads="true"/>
          </p:cNvSpPr>
          <p:nvPr/>
        </p:nvSpPr>
        <p:spPr bwMode="auto">
          <a:xfrm>
            <a:off x="555625" y="1485265"/>
            <a:ext cx="8420100" cy="737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7" rIns="92075" bIns="46037"/>
          <a:lstStyle>
            <a:lvl1pPr marL="374650" indent="-3746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false" hangingPunct="false">
              <a:spcBef>
                <a:spcPts val="590"/>
              </a:spcBef>
              <a:spcAft>
                <a:spcPct val="1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dirty="false">
                <a:solidFill>
                  <a:srgbClr val="000066"/>
                </a:solidFill>
                <a:latin typeface="Courier New" panose="02070409020205090404" pitchFamily="49" charset="0"/>
                <a:ea typeface="黑体" panose="02010609060101010101" pitchFamily="49" charset="-122"/>
                <a:cs typeface="Courier New" panose="02070409020205090404" pitchFamily="49" charset="0"/>
              </a:rPr>
              <a:t>常单链表</a:t>
            </a:r>
            <a:r>
              <a:rPr lang="en-US" altLang="zh-CN" dirty="false">
                <a:solidFill>
                  <a:srgbClr val="000066"/>
                </a:solidFill>
                <a:latin typeface="Courier New" panose="02070409020205090404" pitchFamily="49" charset="0"/>
                <a:ea typeface="黑体" panose="02010609060101010101" pitchFamily="49" charset="-122"/>
                <a:cs typeface="Courier New" panose="02070409020205090404" pitchFamily="49" charset="0"/>
              </a:rPr>
              <a:t>vs</a:t>
            </a:r>
            <a:r>
              <a:rPr lang="zh-CN" altLang="en-US" dirty="false">
                <a:solidFill>
                  <a:srgbClr val="000066"/>
                </a:solidFill>
                <a:latin typeface="Courier New" panose="02070409020205090404" pitchFamily="49" charset="0"/>
                <a:ea typeface="黑体" panose="02010609060101010101" pitchFamily="49" charset="-122"/>
                <a:cs typeface="Courier New" panose="02070409020205090404" pitchFamily="49" charset="0"/>
              </a:rPr>
              <a:t>链式队列</a:t>
            </a:r>
            <a:r>
              <a:rPr lang="en-US" altLang="zh-CN" dirty="false">
                <a:solidFill>
                  <a:srgbClr val="000066"/>
                </a:solidFill>
                <a:latin typeface="Courier New" panose="02070409020205090404" pitchFamily="49" charset="0"/>
                <a:ea typeface="黑体" panose="02010609060101010101" pitchFamily="49" charset="-122"/>
                <a:cs typeface="Courier New" panose="02070409020205090404" pitchFamily="49" charset="0"/>
              </a:rPr>
              <a:t>vs</a:t>
            </a:r>
            <a:r>
              <a:rPr lang="zh-CN" altLang="en-US" dirty="false">
                <a:solidFill>
                  <a:srgbClr val="000066"/>
                </a:solidFill>
                <a:latin typeface="Courier New" panose="02070409020205090404" pitchFamily="49" charset="0"/>
                <a:ea typeface="黑体" panose="02010609060101010101" pitchFamily="49" charset="-122"/>
                <a:cs typeface="Courier New" panose="02070409020205090404" pitchFamily="49" charset="0"/>
              </a:rPr>
              <a:t>双向列表</a:t>
            </a:r>
            <a:endParaRPr lang="zh-CN" altLang="en-US" dirty="false">
              <a:solidFill>
                <a:srgbClr val="000066"/>
              </a:solidFill>
              <a:latin typeface="Courier New" panose="02070409020205090404" pitchFamily="49" charset="0"/>
              <a:ea typeface="黑体" panose="02010609060101010101" pitchFamily="49" charset="-122"/>
              <a:cs typeface="Courier New" panose="02070409020205090404" pitchFamily="49" charset="0"/>
            </a:endParaRPr>
          </a:p>
          <a:p>
            <a:pPr marL="0" indent="0" eaLnBrk="false" hangingPunct="false">
              <a:spcBef>
                <a:spcPts val="590"/>
              </a:spcBef>
              <a:spcAft>
                <a:spcPct val="1"/>
              </a:spcAft>
              <a:buFont typeface="Wingdings" panose="05000000000000000000" pitchFamily="2" charset="2"/>
              <a:buNone/>
              <a:defRPr/>
            </a:pPr>
            <a:endParaRPr lang="zh-CN" altLang="en-US" sz="3600" dirty="false">
              <a:solidFill>
                <a:srgbClr val="000066"/>
              </a:solidFill>
              <a:latin typeface="Courier New" panose="02070409020205090404" pitchFamily="49" charset="0"/>
              <a:ea typeface="黑体" panose="02010609060101010101" pitchFamily="49" charset="-122"/>
              <a:cs typeface="Courier New" panose="02070409020205090404" pitchFamily="49" charset="0"/>
            </a:endParaRPr>
          </a:p>
          <a:p>
            <a:pPr eaLnBrk="false" hangingPunct="false">
              <a:spcBef>
                <a:spcPts val="590"/>
              </a:spcBef>
              <a:spcAft>
                <a:spcPct val="1"/>
              </a:spcAft>
              <a:buSzPct val="80000"/>
              <a:buFont typeface="Monotype Sorts"/>
              <a:buChar char=""/>
              <a:defRPr/>
            </a:pPr>
            <a:endParaRPr lang="zh-CN" altLang="en-US" sz="3600" b="true" dirty="false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华文仿宋" panose="02010600040101010101" pitchFamily="2" charset="-122"/>
              <a:cs typeface="Courier New" panose="02070409020205090404" pitchFamily="49" charset="0"/>
            </a:endParaRPr>
          </a:p>
        </p:txBody>
      </p:sp>
      <p:graphicFrame>
        <p:nvGraphicFramePr>
          <p:cNvPr id="1304" name="表格 7"/>
          <p:cNvGraphicFramePr/>
          <p:nvPr/>
        </p:nvGraphicFramePr>
        <p:xfrm>
          <a:off x="418097" y="2276872"/>
          <a:ext cx="11355805" cy="3599725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2448272">
                  <a:extLst>
                    <a:ext uri="{9D8B030D-6E8A-4147-A177-3AD203B41FA5}">
                      <a16:colId val="1"/>
                    </a:ext>
                  </a:extLst>
                </a:gridCol>
                <a:gridCol w="2160240">
                  <a:extLst>
                    <a:ext uri="{9D8B030D-6E8A-4147-A177-3AD203B41FA5}">
                      <a16:colId val="2"/>
                    </a:ext>
                  </a:extLst>
                </a:gridCol>
                <a:gridCol w="1872208">
                  <a:extLst>
                    <a:ext uri="{9D8B030D-6E8A-4147-A177-3AD203B41FA5}">
                      <a16:colId val="3"/>
                    </a:ext>
                  </a:extLst>
                </a:gridCol>
                <a:gridCol w="2016224">
                  <a:extLst>
                    <a:ext uri="{9D8B030D-6E8A-4147-A177-3AD203B41FA5}">
                      <a16:colId val="4"/>
                    </a:ext>
                  </a:extLst>
                </a:gridCol>
                <a:gridCol w="2858861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719945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存储占用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false"/>
                        <a:t>查找头结点</a:t>
                      </a:r>
                      <a:endParaRPr lang="en-US" altLang="zh-CN" dirty="false"/>
                    </a:p>
                    <a:p>
                      <a:pPr algn="ctr"/>
                      <a:r>
                        <a:rPr lang="zh-CN" altLang="en-US" dirty="false"/>
                        <a:t>（首元结点）</a:t>
                      </a:r>
                      <a:endParaRPr lang="zh-CN" altLang="en-US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查找表尾结点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false"/>
                        <a:t>查找结点*</a:t>
                      </a:r>
                      <a:r>
                        <a:rPr lang="en-US" altLang="zh-CN" dirty="false"/>
                        <a:t>p</a:t>
                      </a:r>
                      <a:r>
                        <a:rPr lang="zh-CN" altLang="en-US" dirty="false"/>
                        <a:t>的</a:t>
                      </a:r>
                      <a:endParaRPr lang="en-US" altLang="zh-CN" dirty="false"/>
                    </a:p>
                    <a:p>
                      <a:pPr algn="ctr"/>
                      <a:r>
                        <a:rPr lang="zh-CN" altLang="en-US" dirty="false"/>
                        <a:t>前驱结点</a:t>
                      </a:r>
                      <a:endParaRPr lang="zh-CN" altLang="en-US" dirty="false"/>
                    </a:p>
                  </a:txBody>
                  <a:tcPr anchor="ctr"/>
                </a:tc>
                <a:extLst>
                  <a:ext uri="{0D108BD9-81ED-4DB2-BD59-A6C34878D82A}">
                    <a16:rowId val="1"/>
                  </a:ext>
                </a:extLst>
              </a:tr>
              <a:tr h="719945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带头结点的单链表</a:t>
                      </a:r>
                      <a:r>
                        <a:rPr lang="en-US" altLang="zh-CN" b="true"/>
                        <a:t>L</a:t>
                      </a:r>
                      <a:endParaRPr lang="zh-CN" altLang="en-US" b="tru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false"/>
                        <a:t>数据：</a:t>
                      </a:r>
                      <a:r>
                        <a:rPr lang="en-US" altLang="zh-CN" b="false"/>
                        <a:t>data</a:t>
                      </a:r>
                      <a:endParaRPr lang="en-US" altLang="zh-CN" b="false"/>
                    </a:p>
                    <a:p>
                      <a:pPr algn="ctr"/>
                      <a:r>
                        <a:rPr lang="zh-CN" altLang="en-US" b="false"/>
                        <a:t>指针：</a:t>
                      </a:r>
                      <a:r>
                        <a:rPr lang="en-US" altLang="zh-CN" b="false"/>
                        <a:t>next</a:t>
                      </a:r>
                      <a:endParaRPr lang="zh-CN" altLang="en-US" b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false"/>
                        <a:t>L-&gt;next</a:t>
                      </a:r>
                      <a:endParaRPr lang="en-US" altLang="zh-CN" dirty="false"/>
                    </a:p>
                    <a:p>
                      <a:pPr algn="ctr"/>
                      <a:r>
                        <a:rPr lang="zh-CN" altLang="en-US" dirty="false"/>
                        <a:t>时间复杂度</a:t>
                      </a:r>
                      <a:r>
                        <a:rPr lang="en-US" altLang="zh-CN" dirty="false"/>
                        <a:t>O(1)</a:t>
                      </a:r>
                      <a:endParaRPr lang="zh-CN" altLang="en-US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false"/>
                        <a:t>从</a:t>
                      </a:r>
                      <a:r>
                        <a:rPr lang="en-US" altLang="zh-CN" dirty="false"/>
                        <a:t>L-&gt;next</a:t>
                      </a:r>
                      <a:r>
                        <a:rPr lang="zh-CN" altLang="en-US" dirty="false"/>
                        <a:t>向后遍历</a:t>
                      </a:r>
                      <a:endParaRPr lang="en-US" altLang="zh-CN" dirty="false"/>
                    </a:p>
                    <a:p>
                      <a:pPr algn="ctr"/>
                      <a:r>
                        <a:rPr lang="zh-CN" altLang="en-US" dirty="false"/>
                        <a:t>时间复杂度</a:t>
                      </a:r>
                      <a:r>
                        <a:rPr lang="en-US" altLang="zh-CN" dirty="false"/>
                        <a:t>O(n)</a:t>
                      </a:r>
                      <a:endParaRPr lang="zh-CN" altLang="en-US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通过</a:t>
                      </a:r>
                      <a:r>
                        <a:rPr lang="en-US" altLang="zh-CN"/>
                        <a:t>p-&gt;next</a:t>
                      </a:r>
                      <a:r>
                        <a:rPr lang="zh-CN" altLang="en-US"/>
                        <a:t>找不到其前驱</a:t>
                      </a:r>
                      <a:endParaRPr lang="en-US" altLang="zh-CN"/>
                    </a:p>
                  </a:txBody>
                  <a:tcPr anchor="ctr"/>
                </a:tc>
                <a:extLst>
                  <a:ext uri="{0D108BD9-81ED-4DB2-BD59-A6C34878D82A}">
                    <a16:rowId val="2"/>
                  </a:ext>
                </a:extLst>
              </a:tr>
              <a:tr h="71994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false"/>
                        <a:t>带头结点的链式队列</a:t>
                      </a:r>
                      <a:r>
                        <a:rPr lang="en-US" altLang="zh-CN" dirty="false"/>
                        <a:t>L</a:t>
                      </a:r>
                      <a:endParaRPr lang="en-US" altLang="zh-CN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false"/>
                        <a:t>数据：</a:t>
                      </a:r>
                      <a:r>
                        <a:rPr lang="en-US" altLang="zh-CN" b="false"/>
                        <a:t>data</a:t>
                      </a:r>
                      <a:endParaRPr lang="en-US" altLang="zh-CN" b="false"/>
                    </a:p>
                    <a:p>
                      <a:pPr algn="ctr"/>
                      <a:r>
                        <a:rPr lang="zh-CN" altLang="en-US" b="false"/>
                        <a:t>指针：</a:t>
                      </a:r>
                      <a:r>
                        <a:rPr lang="en-US" altLang="zh-CN" b="false"/>
                        <a:t>front</a:t>
                      </a:r>
                      <a:r>
                        <a:rPr lang="zh-CN" altLang="en-US" b="false">
                          <a:ea typeface="宋体" pitchFamily="2" charset="-122"/>
                        </a:rPr>
                        <a:t>，</a:t>
                      </a:r>
                      <a:r>
                        <a:rPr lang="en-US" altLang="zh-CN" b="false">
                          <a:ea typeface="宋体" pitchFamily="2" charset="-122"/>
                        </a:rPr>
                        <a:t>rear</a:t>
                      </a:r>
                      <a:endParaRPr lang="en-US" altLang="zh-CN" b="false">
                        <a:ea typeface="宋体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L-&gt;front</a:t>
                      </a:r>
                      <a:endParaRPr lang="en-US" altLang="zh-CN"/>
                    </a:p>
                    <a:p>
                      <a:pPr algn="ctr"/>
                      <a:r>
                        <a:rPr lang="zh-CN" altLang="en-US"/>
                        <a:t>时间复杂度</a:t>
                      </a:r>
                      <a:r>
                        <a:rPr lang="en-US" altLang="zh-CN"/>
                        <a:t>O(1)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false"/>
                        <a:t>L-&gt;rear</a:t>
                      </a:r>
                      <a:endParaRPr lang="en-US" altLang="zh-CN" dirty="false"/>
                    </a:p>
                    <a:p>
                      <a:pPr algn="ctr"/>
                      <a:r>
                        <a:rPr lang="zh-CN" altLang="en-US" dirty="false"/>
                        <a:t>时间复杂度</a:t>
                      </a:r>
                      <a:r>
                        <a:rPr lang="en-US" altLang="zh-CN" dirty="false"/>
                        <a:t>O(1)</a:t>
                      </a:r>
                      <a:endParaRPr lang="zh-CN" altLang="en-US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ym typeface="+mn-ea"/>
                        </a:rPr>
                        <a:t>通过</a:t>
                      </a:r>
                      <a:r>
                        <a:rPr lang="en-US" altLang="zh-CN" sz="1800">
                          <a:sym typeface="+mn-ea"/>
                        </a:rPr>
                        <a:t>p-&gt;next</a:t>
                      </a:r>
                      <a:r>
                        <a:rPr lang="zh-CN" altLang="en-US" sz="1800">
                          <a:sym typeface="+mn-ea"/>
                        </a:rPr>
                        <a:t>找不到其前驱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val="3"/>
                  </a:ext>
                </a:extLst>
              </a:tr>
              <a:tr h="71994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false"/>
                        <a:t>带头结点的双向链表</a:t>
                      </a:r>
                      <a:r>
                        <a:rPr lang="en-US" altLang="zh-CN" b="true" dirty="false"/>
                        <a:t>L</a:t>
                      </a:r>
                      <a:endParaRPr lang="zh-CN" altLang="en-US" b="true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false" dirty="false"/>
                        <a:t>数据：</a:t>
                      </a:r>
                      <a:r>
                        <a:rPr lang="en-US" altLang="zh-CN" b="false" dirty="false"/>
                        <a:t>data</a:t>
                      </a:r>
                      <a:endParaRPr lang="en-US" altLang="zh-CN" b="false" dirty="false"/>
                    </a:p>
                    <a:p>
                      <a:pPr algn="ctr"/>
                      <a:r>
                        <a:rPr lang="zh-CN" altLang="en-US" b="false" dirty="false"/>
                        <a:t>指针：</a:t>
                      </a:r>
                      <a:r>
                        <a:rPr lang="en-US" altLang="zh-CN" b="false" dirty="false"/>
                        <a:t>next</a:t>
                      </a:r>
                      <a:r>
                        <a:rPr lang="zh-CN" altLang="en-US" b="true" dirty="false"/>
                        <a:t>，</a:t>
                      </a:r>
                      <a:r>
                        <a:rPr lang="en-US" altLang="zh-CN" b="false" dirty="false"/>
                        <a:t>prior</a:t>
                      </a:r>
                      <a:endParaRPr lang="en-US" altLang="zh-CN" b="false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false"/>
                        <a:t>L-&gt;next</a:t>
                      </a:r>
                      <a:endParaRPr lang="en-US" altLang="zh-CN" dirty="false"/>
                    </a:p>
                    <a:p>
                      <a:pPr algn="ctr"/>
                      <a:r>
                        <a:rPr lang="zh-CN" altLang="en-US" dirty="false"/>
                        <a:t>时间复杂度</a:t>
                      </a:r>
                      <a:r>
                        <a:rPr lang="en-US" altLang="zh-CN" dirty="false"/>
                        <a:t>O(1)</a:t>
                      </a:r>
                      <a:endParaRPr lang="zh-CN" altLang="en-US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false"/>
                        <a:t>从</a:t>
                      </a:r>
                      <a:r>
                        <a:rPr lang="en-US" altLang="zh-CN" dirty="false"/>
                        <a:t>L-&gt;next</a:t>
                      </a:r>
                      <a:r>
                        <a:rPr lang="zh-CN" altLang="en-US" dirty="false"/>
                        <a:t>向后遍历</a:t>
                      </a:r>
                      <a:endParaRPr lang="en-US" altLang="zh-CN" dirty="false"/>
                    </a:p>
                    <a:p>
                      <a:pPr algn="ctr"/>
                      <a:r>
                        <a:rPr lang="zh-CN" altLang="en-US" dirty="false"/>
                        <a:t>时间复杂度</a:t>
                      </a:r>
                      <a:r>
                        <a:rPr lang="en-US" altLang="zh-CN" dirty="false"/>
                        <a:t>O(n)</a:t>
                      </a:r>
                      <a:endParaRPr lang="zh-CN" altLang="en-US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false"/>
                        <a:t>P-&gt;prior</a:t>
                      </a:r>
                      <a:endParaRPr lang="en-US" altLang="zh-CN" dirty="false"/>
                    </a:p>
                    <a:p>
                      <a:pPr algn="ctr"/>
                      <a:r>
                        <a:rPr lang="zh-CN" altLang="en-US" dirty="false"/>
                        <a:t>时间复杂度</a:t>
                      </a:r>
                      <a:r>
                        <a:rPr lang="en-US" altLang="zh-CN" dirty="false"/>
                        <a:t>O(1)</a:t>
                      </a:r>
                      <a:endParaRPr lang="zh-CN" altLang="en-US" dirty="false"/>
                    </a:p>
                  </a:txBody>
                  <a:tcPr anchor="ctr"/>
                </a:tc>
                <a:extLst>
                  <a:ext uri="{0D108BD9-81ED-4DB2-BD59-A6C34878D82A}">
                    <a16:rowId val="4"/>
                  </a:ext>
                </a:extLst>
              </a:tr>
              <a:tr h="719945">
                <a:tc>
                  <a:txBody>
                    <a:bodyPr/>
                    <a:lstStyle/>
                    <a:p>
                      <a:pPr marL="0" marR="0" lvl="0" indent="0" algn="ctr" defTabSz="914400" rtl="false" eaLnBrk="true" fontAlgn="auto" latinLnBrk="false" hangingPunct="tru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false"/>
                        <a:t>带头结点的双向循环链表</a:t>
                      </a:r>
                      <a:r>
                        <a:rPr lang="en-US" altLang="zh-CN" b="true" dirty="false"/>
                        <a:t>L</a:t>
                      </a:r>
                      <a:endParaRPr lang="zh-CN" altLang="en-US" b="true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false" dirty="false"/>
                        <a:t>数据：</a:t>
                      </a:r>
                      <a:r>
                        <a:rPr lang="en-US" altLang="zh-CN" b="false" dirty="false"/>
                        <a:t>data</a:t>
                      </a:r>
                      <a:endParaRPr lang="en-US" altLang="zh-CN" b="false" dirty="false"/>
                    </a:p>
                    <a:p>
                      <a:pPr algn="ctr"/>
                      <a:r>
                        <a:rPr lang="zh-CN" altLang="en-US" b="false" dirty="false"/>
                        <a:t>指针：</a:t>
                      </a:r>
                      <a:r>
                        <a:rPr lang="en-US" altLang="zh-CN" b="false" dirty="false"/>
                        <a:t>next</a:t>
                      </a:r>
                      <a:r>
                        <a:rPr lang="zh-CN" altLang="en-US" b="true" dirty="false"/>
                        <a:t>，</a:t>
                      </a:r>
                      <a:r>
                        <a:rPr lang="en-US" altLang="zh-CN" b="false" dirty="false"/>
                        <a:t>prior</a:t>
                      </a:r>
                      <a:endParaRPr lang="en-US" altLang="zh-CN" b="false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false"/>
                        <a:t>L-&gt;next</a:t>
                      </a:r>
                      <a:endParaRPr lang="en-US" altLang="zh-CN" dirty="false"/>
                    </a:p>
                    <a:p>
                      <a:pPr algn="ctr"/>
                      <a:r>
                        <a:rPr lang="zh-CN" altLang="en-US" dirty="false"/>
                        <a:t>时间复杂度</a:t>
                      </a:r>
                      <a:r>
                        <a:rPr lang="en-US" altLang="zh-CN" dirty="false"/>
                        <a:t>O(1)</a:t>
                      </a:r>
                      <a:endParaRPr lang="zh-CN" altLang="en-US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false"/>
                        <a:t>L-&gt;prior</a:t>
                      </a:r>
                      <a:endParaRPr lang="en-US" altLang="zh-CN" dirty="false"/>
                    </a:p>
                    <a:p>
                      <a:pPr algn="ctr"/>
                      <a:r>
                        <a:rPr lang="zh-CN" altLang="en-US" dirty="false"/>
                        <a:t>时间复杂度</a:t>
                      </a:r>
                      <a:r>
                        <a:rPr lang="en-US" altLang="zh-CN" dirty="false"/>
                        <a:t>O(1)</a:t>
                      </a:r>
                      <a:endParaRPr lang="zh-CN" altLang="en-US" dirty="fals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false"/>
                        <a:t>P-&gt;prior</a:t>
                      </a:r>
                      <a:endParaRPr lang="en-US" altLang="zh-CN" dirty="false"/>
                    </a:p>
                    <a:p>
                      <a:pPr algn="ctr"/>
                      <a:r>
                        <a:rPr lang="zh-CN" altLang="en-US" dirty="false"/>
                        <a:t>时间复杂度</a:t>
                      </a:r>
                      <a:r>
                        <a:rPr lang="en-US" altLang="zh-CN" dirty="false"/>
                        <a:t>O(1)</a:t>
                      </a:r>
                      <a:endParaRPr lang="zh-CN" altLang="en-US" dirty="false"/>
                    </a:p>
                  </a:txBody>
                  <a:tcPr anchor="ctr"/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305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ransition/>
</p:sld>
</file>

<file path=ppt/slides/slide56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3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Rectangle 2"/>
          <p:cNvSpPr>
            <a:spLocks noGrp="true"/>
          </p:cNvSpPr>
          <p:nvPr>
            <p:ph type="title"/>
          </p:nvPr>
        </p:nvSpPr>
        <p:spPr>
          <a:xfrm>
            <a:off x="2859404" y="582930"/>
            <a:ext cx="8263255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7.4.1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带头链表的建立操作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308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8526780" cy="65087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新建头节点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head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309" name="Rectangle 64"/>
          <p:cNvSpPr>
            <a:spLocks noChangeArrowheads="true"/>
          </p:cNvSpPr>
          <p:nvPr/>
        </p:nvSpPr>
        <p:spPr bwMode="auto">
          <a:xfrm>
            <a:off x="1270635" y="2060575"/>
            <a:ext cx="9852025" cy="720725"/>
          </a:xfrm>
          <a:prstGeom prst="rect">
            <a:avLst/>
          </a:prstGeom>
          <a:solidFill>
            <a:srgbClr val="FFFFCC"/>
          </a:solidFill>
          <a:ln w="12700">
            <a:solidFill>
              <a:srgbClr val="2DAB24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struct link </a:t>
            </a:r>
            <a:r>
              <a:rPr lang="zh-CN" altLang="en-US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*</a:t>
            </a: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head = (struct link </a:t>
            </a:r>
            <a:r>
              <a:rPr lang="en-US" altLang="zh-CN" sz="2000" b="true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*</a:t>
            </a: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)</a:t>
            </a:r>
            <a:r>
              <a:rPr lang="en-US" altLang="zh-CN" sz="2000" b="true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malloc</a:t>
            </a: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(</a:t>
            </a:r>
            <a:r>
              <a:rPr lang="en-US" altLang="zh-CN" sz="2000" b="tru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sizeof</a:t>
            </a: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(struct link));</a:t>
            </a:r>
            <a:endParaRPr lang="en-US" altLang="zh-CN" sz="2000" b="tru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head-&gt;next = NULL;</a:t>
            </a:r>
            <a:endParaRPr lang="en-US" altLang="zh-CN" sz="2000" b="tru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</p:txBody>
      </p:sp>
      <p:graphicFrame>
        <p:nvGraphicFramePr>
          <p:cNvPr id="1310" name="table 706"/>
          <p:cNvGraphicFramePr/>
          <p:nvPr/>
        </p:nvGraphicFramePr>
        <p:xfrm>
          <a:off x="7824470" y="3283585"/>
          <a:ext cx="3581400" cy="163195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814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63195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311" name="矩形 1"/>
          <p:cNvSpPr/>
          <p:nvPr/>
        </p:nvSpPr>
        <p:spPr>
          <a:xfrm>
            <a:off x="7867147" y="4939103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O(1)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312" name="组合 4"/>
          <p:cNvGrpSpPr/>
          <p:nvPr/>
        </p:nvGrpSpPr>
        <p:grpSpPr>
          <a:xfrm>
            <a:off x="1128472" y="3325296"/>
            <a:ext cx="3302928" cy="999107"/>
            <a:chOff x="1469848" y="3241674"/>
            <a:chExt cx="3302928" cy="999107"/>
          </a:xfrm>
        </p:grpSpPr>
        <p:grpSp>
          <p:nvGrpSpPr>
            <p:cNvPr id="1313" name="Group 47"/>
            <p:cNvGrpSpPr/>
            <p:nvPr/>
          </p:nvGrpSpPr>
          <p:grpSpPr>
            <a:xfrm>
              <a:off x="1469848" y="3241674"/>
              <a:ext cx="3302928" cy="989013"/>
              <a:chOff x="1210" y="2541"/>
              <a:chExt cx="1921" cy="623"/>
            </a:xfrm>
          </p:grpSpPr>
          <p:grpSp>
            <p:nvGrpSpPr>
              <p:cNvPr id="1314" name="Group 45"/>
              <p:cNvGrpSpPr/>
              <p:nvPr/>
            </p:nvGrpSpPr>
            <p:grpSpPr>
              <a:xfrm>
                <a:off x="1210" y="2892"/>
                <a:ext cx="1625" cy="272"/>
                <a:chOff x="1210" y="2892"/>
                <a:chExt cx="1625" cy="272"/>
              </a:xfrm>
            </p:grpSpPr>
            <p:sp>
              <p:nvSpPr>
                <p:cNvPr id="1315" name="Rectangle 4"/>
                <p:cNvSpPr>
                  <a:spLocks noChangeArrowheads="true"/>
                </p:cNvSpPr>
                <p:nvPr/>
              </p:nvSpPr>
              <p:spPr bwMode="auto">
                <a:xfrm>
                  <a:off x="2015" y="2892"/>
                  <a:ext cx="411" cy="272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Þ"/>
                    <a:defRPr sz="2800">
                      <a:solidFill>
                        <a:srgbClr val="333399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"/>
                    <a:defRPr sz="2400">
                      <a:solidFill>
                        <a:srgbClr val="3333CC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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5pPr>
                  <a:lvl6pPr marL="2514600" indent="-228600" eaLnBrk="false" fontAlgn="base" hangingPunct="false">
                    <a:spcBef>
                      <a:spcPct val="20000"/>
                    </a:spcBef>
                    <a:spcAft>
                      <a:spcPct val="1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6pPr>
                  <a:lvl7pPr marL="2971800" indent="-228600" eaLnBrk="false" fontAlgn="base" hangingPunct="false">
                    <a:spcBef>
                      <a:spcPct val="20000"/>
                    </a:spcBef>
                    <a:spcAft>
                      <a:spcPct val="1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7pPr>
                  <a:lvl8pPr marL="3429000" indent="-228600" eaLnBrk="false" fontAlgn="base" hangingPunct="false">
                    <a:spcBef>
                      <a:spcPct val="20000"/>
                    </a:spcBef>
                    <a:spcAft>
                      <a:spcPct val="1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8pPr>
                  <a:lvl9pPr marL="3886200" indent="-228600" eaLnBrk="false" fontAlgn="base" hangingPunct="false">
                    <a:spcBef>
                      <a:spcPct val="20000"/>
                    </a:spcBef>
                    <a:spcAft>
                      <a:spcPct val="1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9pPr>
                </a:lstStyle>
                <a:p>
                  <a:pPr algn="ctr" eaLnBrk="true" hangingPunct="true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SzPct val="80000"/>
                    <a:buFont typeface="Wingdings" panose="05000000000000000000" pitchFamily="2" charset="2"/>
                    <a:buNone/>
                  </a:pPr>
                  <a:endParaRPr lang="en-US" altLang="zh-CN" sz="1800" b="true">
                    <a:latin typeface="华文中宋" panose="02010600040101010101" charset="-122"/>
                    <a:ea typeface="华文中宋" panose="02010600040101010101" charset="-122"/>
                  </a:endParaRPr>
                </a:p>
              </p:txBody>
            </p:sp>
            <p:sp>
              <p:nvSpPr>
                <p:cNvPr id="1316" name="Rectangle 5"/>
                <p:cNvSpPr>
                  <a:spLocks noChangeArrowheads="true"/>
                </p:cNvSpPr>
                <p:nvPr/>
              </p:nvSpPr>
              <p:spPr bwMode="auto">
                <a:xfrm>
                  <a:off x="2426" y="2892"/>
                  <a:ext cx="409" cy="272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Þ"/>
                    <a:defRPr sz="2800">
                      <a:solidFill>
                        <a:srgbClr val="333399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"/>
                    <a:defRPr sz="2400">
                      <a:solidFill>
                        <a:srgbClr val="3333CC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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5pPr>
                  <a:lvl6pPr marL="2514600" indent="-228600" eaLnBrk="false" fontAlgn="base" hangingPunct="false">
                    <a:spcBef>
                      <a:spcPct val="20000"/>
                    </a:spcBef>
                    <a:spcAft>
                      <a:spcPct val="1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6pPr>
                  <a:lvl7pPr marL="2971800" indent="-228600" eaLnBrk="false" fontAlgn="base" hangingPunct="false">
                    <a:spcBef>
                      <a:spcPct val="20000"/>
                    </a:spcBef>
                    <a:spcAft>
                      <a:spcPct val="1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7pPr>
                  <a:lvl8pPr marL="3429000" indent="-228600" eaLnBrk="false" fontAlgn="base" hangingPunct="false">
                    <a:spcBef>
                      <a:spcPct val="20000"/>
                    </a:spcBef>
                    <a:spcAft>
                      <a:spcPct val="1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8pPr>
                  <a:lvl9pPr marL="3886200" indent="-228600" eaLnBrk="false" fontAlgn="base" hangingPunct="false">
                    <a:spcBef>
                      <a:spcPct val="20000"/>
                    </a:spcBef>
                    <a:spcAft>
                      <a:spcPct val="1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9pPr>
                </a:lstStyle>
                <a:p>
                  <a:pPr eaLnBrk="true" hangingPunct="true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SzPct val="80000"/>
                    <a:buFont typeface="Wingdings" panose="05000000000000000000" pitchFamily="2" charset="2"/>
                    <a:buNone/>
                  </a:pPr>
                  <a:r>
                    <a:rPr lang="zh-CN" altLang="en-US" sz="1800" b="true">
                      <a:latin typeface="华文中宋" panose="02010600040101010101" charset="-122"/>
                      <a:ea typeface="华文中宋" panose="02010600040101010101" charset="-122"/>
                    </a:rPr>
                    <a:t>n</a:t>
                  </a:r>
                  <a:r>
                    <a:rPr lang="en-US" altLang="zh-CN" sz="1800" b="true">
                      <a:latin typeface="华文中宋" panose="02010600040101010101" charset="-122"/>
                      <a:ea typeface="华文中宋" panose="02010600040101010101" charset="-122"/>
                    </a:rPr>
                    <a:t>ext</a:t>
                  </a:r>
                  <a:endParaRPr lang="zh-CN" altLang="zh-CN" sz="1800" b="true">
                    <a:latin typeface="华文中宋" panose="02010600040101010101" charset="-122"/>
                    <a:ea typeface="华文中宋" panose="02010600040101010101" charset="-122"/>
                  </a:endParaRPr>
                </a:p>
              </p:txBody>
            </p:sp>
            <p:sp>
              <p:nvSpPr>
                <p:cNvPr id="1317" name="Rectangle 8"/>
                <p:cNvSpPr>
                  <a:spLocks noChangeArrowheads="true"/>
                </p:cNvSpPr>
                <p:nvPr/>
              </p:nvSpPr>
              <p:spPr bwMode="auto">
                <a:xfrm>
                  <a:off x="1210" y="2938"/>
                  <a:ext cx="600" cy="1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Þ"/>
                    <a:defRPr sz="2800">
                      <a:solidFill>
                        <a:srgbClr val="333399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"/>
                    <a:defRPr sz="2400">
                      <a:solidFill>
                        <a:srgbClr val="3333CC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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5pPr>
                  <a:lvl6pPr marL="2514600" indent="-228600" eaLnBrk="false" fontAlgn="base" hangingPunct="false">
                    <a:spcBef>
                      <a:spcPct val="20000"/>
                    </a:spcBef>
                    <a:spcAft>
                      <a:spcPct val="1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6pPr>
                  <a:lvl7pPr marL="2971800" indent="-228600" eaLnBrk="false" fontAlgn="base" hangingPunct="false">
                    <a:spcBef>
                      <a:spcPct val="20000"/>
                    </a:spcBef>
                    <a:spcAft>
                      <a:spcPct val="1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7pPr>
                  <a:lvl8pPr marL="3429000" indent="-228600" eaLnBrk="false" fontAlgn="base" hangingPunct="false">
                    <a:spcBef>
                      <a:spcPct val="20000"/>
                    </a:spcBef>
                    <a:spcAft>
                      <a:spcPct val="1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8pPr>
                  <a:lvl9pPr marL="3886200" indent="-228600" eaLnBrk="false" fontAlgn="base" hangingPunct="false">
                    <a:spcBef>
                      <a:spcPct val="20000"/>
                    </a:spcBef>
                    <a:spcAft>
                      <a:spcPct val="1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defRPr>
                  </a:lvl9pPr>
                </a:lstStyle>
                <a:p>
                  <a:pPr eaLnBrk="true" hangingPunct="true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SzPct val="80000"/>
                    <a:buFont typeface="Wingdings" panose="05000000000000000000" pitchFamily="2" charset="2"/>
                    <a:buNone/>
                  </a:pPr>
                  <a:r>
                    <a:rPr lang="en-US" altLang="zh-CN" sz="1800" b="true">
                      <a:latin typeface="华文中宋" panose="02010600040101010101" charset="-122"/>
                      <a:ea typeface="华文中宋" panose="02010600040101010101" charset="-122"/>
                    </a:rPr>
                    <a:t>    head</a:t>
                  </a:r>
                  <a:endParaRPr lang="en-US" altLang="zh-CN" sz="1800" b="true">
                    <a:latin typeface="华文中宋" panose="02010600040101010101" charset="-122"/>
                    <a:ea typeface="华文中宋" panose="02010600040101010101" charset="-122"/>
                  </a:endParaRPr>
                </a:p>
              </p:txBody>
            </p:sp>
            <p:sp>
              <p:nvSpPr>
                <p:cNvPr id="1318" name="Line 29"/>
                <p:cNvSpPr>
                  <a:spLocks noChangeShapeType="true"/>
                </p:cNvSpPr>
                <p:nvPr/>
              </p:nvSpPr>
              <p:spPr bwMode="auto">
                <a:xfrm>
                  <a:off x="1770" y="3025"/>
                  <a:ext cx="22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/>
                </a:extLst>
              </p:spPr>
              <p:txBody>
                <a:bodyPr/>
                <a:lstStyle/>
                <a:p>
                  <a:pPr/>
                  <a:endParaRPr lang="zh-CN" altLang="en-US">
                    <a:latin typeface="华文中宋" panose="02010600040101010101" charset="-122"/>
                    <a:ea typeface="华文中宋" panose="02010600040101010101" charset="-122"/>
                  </a:endParaRPr>
                </a:p>
              </p:txBody>
            </p:sp>
          </p:grpSp>
          <p:sp>
            <p:nvSpPr>
              <p:cNvPr id="1319" name="Rectangle 32"/>
              <p:cNvSpPr>
                <a:spLocks noChangeArrowheads="true"/>
              </p:cNvSpPr>
              <p:nvPr/>
            </p:nvSpPr>
            <p:spPr bwMode="auto">
              <a:xfrm>
                <a:off x="1770" y="2541"/>
                <a:ext cx="1361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2000" b="true">
                    <a:latin typeface="华文中宋" panose="02010600040101010101" charset="-122"/>
                    <a:ea typeface="华文中宋" panose="02010600040101010101" charset="-122"/>
                  </a:rPr>
                  <a:t>新建节点</a:t>
                </a:r>
                <a:endParaRPr lang="zh-CN" altLang="en-US" sz="20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1320" name="Rectangle 8"/>
            <p:cNvSpPr>
              <a:spLocks noChangeArrowheads="true"/>
            </p:cNvSpPr>
            <p:nvPr/>
          </p:nvSpPr>
          <p:spPr bwMode="auto">
            <a:xfrm>
              <a:off x="3639301" y="3860800"/>
              <a:ext cx="547688" cy="287338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b="true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rPr>
                <a:t>∧</a:t>
              </a:r>
              <a:endParaRPr lang="en-US" altLang="zh-CN" b="true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pic>
          <p:nvPicPr>
            <p:cNvPr id="1321" name="图片 3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854587" y="3808981"/>
              <a:ext cx="703226" cy="431800"/>
            </a:xfrm>
            <a:prstGeom prst="rect">
              <a:avLst/>
            </a:prstGeom>
          </p:spPr>
        </p:pic>
      </p:grpSp>
      <p:sp>
        <p:nvSpPr>
          <p:cNvPr id="1322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6" dur="500" fill="hold"/>
                                        <p:tgtEl>
                                          <p:spTgt spid="1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7" dur="500" fill="hold"/>
                                        <p:tgtEl>
                                          <p:spTgt spid="1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8" dur="5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3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Rectangle 2"/>
          <p:cNvSpPr>
            <a:spLocks noGrp="true"/>
          </p:cNvSpPr>
          <p:nvPr>
            <p:ph type="title"/>
          </p:nvPr>
        </p:nvSpPr>
        <p:spPr>
          <a:xfrm>
            <a:off x="2859405" y="582930"/>
            <a:ext cx="646811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7.4.2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带头链表的插入操作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325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11030585" cy="100520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若原链表为除头结点外没有其他节点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(head-&gt;next == NULL)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则将头结点后继指向新建节点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p</a:t>
            </a:r>
            <a:endParaRPr lang="en-US" altLang="zh-CN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en-US" altLang="zh-CN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326" name="Group 47"/>
          <p:cNvGrpSpPr/>
          <p:nvPr/>
        </p:nvGrpSpPr>
        <p:grpSpPr>
          <a:xfrm>
            <a:off x="3653866" y="4322213"/>
            <a:ext cx="1793312" cy="847726"/>
            <a:chOff x="1792" y="2630"/>
            <a:chExt cx="1043" cy="534"/>
          </a:xfrm>
        </p:grpSpPr>
        <p:grpSp>
          <p:nvGrpSpPr>
            <p:cNvPr id="1327" name="Group 45"/>
            <p:cNvGrpSpPr/>
            <p:nvPr/>
          </p:nvGrpSpPr>
          <p:grpSpPr>
            <a:xfrm>
              <a:off x="1792" y="2892"/>
              <a:ext cx="1043" cy="272"/>
              <a:chOff x="1792" y="2892"/>
              <a:chExt cx="1043" cy="272"/>
            </a:xfrm>
          </p:grpSpPr>
          <p:sp>
            <p:nvSpPr>
              <p:cNvPr id="1328" name="Rectangle 4"/>
              <p:cNvSpPr>
                <a:spLocks noChangeArrowheads="true"/>
              </p:cNvSpPr>
              <p:nvPr/>
            </p:nvSpPr>
            <p:spPr bwMode="auto">
              <a:xfrm>
                <a:off x="1792" y="2892"/>
                <a:ext cx="634" cy="27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algn="ctr"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data</a:t>
                </a:r>
                <a:endParaRPr lang="en-US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329" name="Rectangle 5"/>
              <p:cNvSpPr>
                <a:spLocks noChangeArrowheads="true"/>
              </p:cNvSpPr>
              <p:nvPr/>
            </p:nvSpPr>
            <p:spPr bwMode="auto">
              <a:xfrm>
                <a:off x="2426" y="2892"/>
                <a:ext cx="409" cy="27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1800" b="true">
                    <a:latin typeface="华文中宋" panose="02010600040101010101" charset="-122"/>
                    <a:ea typeface="华文中宋" panose="02010600040101010101" charset="-122"/>
                  </a:rPr>
                  <a:t>n</a:t>
                </a: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ext</a:t>
                </a:r>
                <a:endParaRPr lang="zh-CN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1330" name="Rectangle 32"/>
            <p:cNvSpPr>
              <a:spLocks noChangeArrowheads="true"/>
            </p:cNvSpPr>
            <p:nvPr/>
          </p:nvSpPr>
          <p:spPr bwMode="auto">
            <a:xfrm>
              <a:off x="1938" y="2630"/>
              <a:ext cx="795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新建节点</a:t>
              </a:r>
              <a:r>
                <a:rPr lang="en-US" altLang="zh-CN" sz="2000" b="true">
                  <a:latin typeface="华文中宋" panose="02010600040101010101" charset="-122"/>
                  <a:ea typeface="华文中宋" panose="02010600040101010101" charset="-122"/>
                </a:rPr>
                <a:t>p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331" name="Text Box 34"/>
          <p:cNvSpPr txBox="true">
            <a:spLocks noChangeArrowheads="true"/>
          </p:cNvSpPr>
          <p:nvPr/>
        </p:nvSpPr>
        <p:spPr bwMode="auto">
          <a:xfrm>
            <a:off x="1727017" y="5469973"/>
            <a:ext cx="3352800" cy="431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/>
          <a:lstStyle/>
          <a:p>
            <a:pPr algn="just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true">
                <a:latin typeface="华文中宋" panose="02010600040101010101" charset="-122"/>
                <a:ea typeface="华文中宋" panose="02010600040101010101" charset="-122"/>
              </a:rPr>
              <a:t>(1) head-&gt;next = p</a:t>
            </a:r>
            <a:endParaRPr lang="en-US" altLang="zh-CN" b="true">
              <a:latin typeface="华文中宋" panose="02010600040101010101" charset="-122"/>
              <a:ea typeface="华文中宋" panose="02010600040101010101" charset="-122"/>
            </a:endParaRPr>
          </a:p>
          <a:p>
            <a:pPr algn="just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32" name="Rectangle 8"/>
          <p:cNvSpPr>
            <a:spLocks noChangeArrowheads="true"/>
          </p:cNvSpPr>
          <p:nvPr/>
        </p:nvSpPr>
        <p:spPr bwMode="auto">
          <a:xfrm>
            <a:off x="4822642" y="4800048"/>
            <a:ext cx="547688" cy="28733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true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  <a:ea typeface="华文中宋" panose="02010600040101010101" charset="-122"/>
              </a:rPr>
              <a:t>∧</a:t>
            </a:r>
            <a:endParaRPr lang="en-US" altLang="zh-CN" b="true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33" name="Text Box 50"/>
          <p:cNvSpPr txBox="true">
            <a:spLocks noChangeArrowheads="true"/>
          </p:cNvSpPr>
          <p:nvPr/>
        </p:nvSpPr>
        <p:spPr bwMode="auto">
          <a:xfrm>
            <a:off x="1738130" y="5854148"/>
            <a:ext cx="3354387" cy="5032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/>
          <a:lstStyle/>
          <a:p>
            <a:pPr algn="just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true">
                <a:latin typeface="华文中宋" panose="02010600040101010101" charset="-122"/>
                <a:ea typeface="华文中宋" panose="02010600040101010101" charset="-122"/>
              </a:rPr>
              <a:t>(2) p-&gt;next = NULL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34" name="Rectangle 64"/>
          <p:cNvSpPr>
            <a:spLocks noChangeArrowheads="true"/>
          </p:cNvSpPr>
          <p:nvPr/>
        </p:nvSpPr>
        <p:spPr bwMode="auto">
          <a:xfrm>
            <a:off x="1268730" y="2626995"/>
            <a:ext cx="9428480" cy="720725"/>
          </a:xfrm>
          <a:prstGeom prst="rect">
            <a:avLst/>
          </a:prstGeom>
          <a:solidFill>
            <a:srgbClr val="FFFFCC"/>
          </a:solidFill>
          <a:ln w="12700">
            <a:solidFill>
              <a:srgbClr val="2DAB24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struct link </a:t>
            </a:r>
            <a:r>
              <a:rPr lang="zh-CN" altLang="en-US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*</a:t>
            </a: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p = (struct link </a:t>
            </a:r>
            <a:r>
              <a:rPr lang="en-US" altLang="zh-CN" sz="2000" b="true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*</a:t>
            </a: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)</a:t>
            </a:r>
            <a:r>
              <a:rPr lang="en-US" altLang="zh-CN" sz="2000" b="true">
                <a:solidFill>
                  <a:srgbClr val="FF0000"/>
                </a:solidFill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malloc</a:t>
            </a: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(</a:t>
            </a:r>
            <a:r>
              <a:rPr lang="en-US" altLang="zh-CN" sz="2000" b="tru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sizeof</a:t>
            </a: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(struct link));</a:t>
            </a:r>
            <a:endParaRPr lang="en-US" altLang="zh-CN" sz="2000" b="tru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p-&gt;data = </a:t>
            </a:r>
            <a:r>
              <a:rPr lang="en-US" altLang="zh-CN" sz="2000" b="true" err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nodeData</a:t>
            </a:r>
            <a:r>
              <a:rPr lang="en-US" altLang="zh-CN" sz="2000" b="true">
                <a:latin typeface="Courier New" panose="02070409020205090404" pitchFamily="49" charset="0"/>
                <a:ea typeface="华文中宋" panose="02010600040101010101" charset="-122"/>
                <a:cs typeface="Courier New" panose="02070409020205090404" pitchFamily="49" charset="0"/>
              </a:rPr>
              <a:t>;</a:t>
            </a:r>
            <a:endParaRPr lang="en-US" altLang="zh-CN" sz="2000" b="true">
              <a:latin typeface="Courier New" panose="02070409020205090404" pitchFamily="49" charset="0"/>
              <a:ea typeface="华文中宋" panose="02010600040101010101" charset="-122"/>
              <a:cs typeface="Courier New" panose="02070409020205090404" pitchFamily="49" charset="0"/>
            </a:endParaRPr>
          </a:p>
        </p:txBody>
      </p:sp>
      <p:sp>
        <p:nvSpPr>
          <p:cNvPr id="1335" name="矩形 11"/>
          <p:cNvSpPr/>
          <p:nvPr/>
        </p:nvSpPr>
        <p:spPr>
          <a:xfrm>
            <a:off x="7894732" y="5349159"/>
            <a:ext cx="34243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时间复杂度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400" b="true" i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O(1)</a:t>
            </a:r>
            <a:r>
              <a:rPr lang="zh-CN" altLang="en-US" sz="2400" b="true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sz="2400" b="true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336" name="Group 47"/>
          <p:cNvGrpSpPr/>
          <p:nvPr/>
        </p:nvGrpSpPr>
        <p:grpSpPr>
          <a:xfrm>
            <a:off x="855108" y="3714712"/>
            <a:ext cx="3772319" cy="842963"/>
            <a:chOff x="1216" y="2633"/>
            <a:chExt cx="2194" cy="531"/>
          </a:xfrm>
        </p:grpSpPr>
        <p:grpSp>
          <p:nvGrpSpPr>
            <p:cNvPr id="1337" name="Group 45"/>
            <p:cNvGrpSpPr/>
            <p:nvPr/>
          </p:nvGrpSpPr>
          <p:grpSpPr>
            <a:xfrm>
              <a:off x="1216" y="2892"/>
              <a:ext cx="1619" cy="272"/>
              <a:chOff x="1216" y="2892"/>
              <a:chExt cx="1619" cy="272"/>
            </a:xfrm>
          </p:grpSpPr>
          <p:sp>
            <p:nvSpPr>
              <p:cNvPr id="1338" name="Rectangle 4"/>
              <p:cNvSpPr>
                <a:spLocks noChangeArrowheads="true"/>
              </p:cNvSpPr>
              <p:nvPr/>
            </p:nvSpPr>
            <p:spPr bwMode="auto">
              <a:xfrm>
                <a:off x="2015" y="2892"/>
                <a:ext cx="411" cy="27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algn="ctr"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endParaRPr lang="en-US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339" name="Rectangle 5"/>
              <p:cNvSpPr>
                <a:spLocks noChangeArrowheads="true"/>
              </p:cNvSpPr>
              <p:nvPr/>
            </p:nvSpPr>
            <p:spPr bwMode="auto">
              <a:xfrm>
                <a:off x="2426" y="2892"/>
                <a:ext cx="409" cy="27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endParaRPr lang="zh-CN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340" name="Rectangle 8"/>
              <p:cNvSpPr>
                <a:spLocks noChangeArrowheads="true"/>
              </p:cNvSpPr>
              <p:nvPr/>
            </p:nvSpPr>
            <p:spPr bwMode="auto">
              <a:xfrm>
                <a:off x="1216" y="2925"/>
                <a:ext cx="273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    head</a:t>
                </a:r>
                <a:endParaRPr lang="en-US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341" name="Line 29"/>
              <p:cNvSpPr>
                <a:spLocks noChangeShapeType="true"/>
              </p:cNvSpPr>
              <p:nvPr/>
            </p:nvSpPr>
            <p:spPr bwMode="auto">
              <a:xfrm>
                <a:off x="1789" y="3024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1342" name="Rectangle 32"/>
            <p:cNvSpPr>
              <a:spLocks noChangeArrowheads="true"/>
            </p:cNvSpPr>
            <p:nvPr/>
          </p:nvSpPr>
          <p:spPr bwMode="auto">
            <a:xfrm>
              <a:off x="2049" y="2633"/>
              <a:ext cx="1361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头节点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pic>
        <p:nvPicPr>
          <p:cNvPr id="1343" name="图片 19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229530" y="4135968"/>
            <a:ext cx="703226" cy="431800"/>
          </a:xfrm>
          <a:prstGeom prst="rect">
            <a:avLst/>
          </a:prstGeom>
        </p:spPr>
      </p:pic>
      <p:sp>
        <p:nvSpPr>
          <p:cNvPr id="1344" name="Freeform 26"/>
          <p:cNvSpPr/>
          <p:nvPr/>
        </p:nvSpPr>
        <p:spPr bwMode="auto">
          <a:xfrm>
            <a:off x="3223496" y="4449220"/>
            <a:ext cx="467783" cy="503237"/>
          </a:xfrm>
          <a:custGeom>
            <a:avLst/>
            <a:gdLst>
              <a:gd name="T0" fmla="*/ 0 w 318"/>
              <a:gd name="T1" fmla="*/ 0 h 317"/>
              <a:gd name="T2" fmla="*/ 12376700 w 318"/>
              <a:gd name="T3" fmla="*/ 2147459781 h 317"/>
              <a:gd name="T4" fmla="*/ 12376700 w 318"/>
              <a:gd name="T5" fmla="*/ 2147459781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45" name="Rectangle 8"/>
          <p:cNvSpPr>
            <a:spLocks noChangeArrowheads="true"/>
          </p:cNvSpPr>
          <p:nvPr/>
        </p:nvSpPr>
        <p:spPr bwMode="auto">
          <a:xfrm>
            <a:off x="3010525" y="4194624"/>
            <a:ext cx="547688" cy="28733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true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  <a:ea typeface="华文中宋" panose="02010600040101010101" charset="-122"/>
              </a:rPr>
              <a:t>∧</a:t>
            </a:r>
            <a:endParaRPr lang="en-US" altLang="zh-CN" b="true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346" name="table 706"/>
          <p:cNvGraphicFramePr/>
          <p:nvPr/>
        </p:nvGraphicFramePr>
        <p:xfrm>
          <a:off x="7922895" y="3933190"/>
          <a:ext cx="3557905" cy="145034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5790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45034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347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3" dur="500"/>
                                        <p:tgtEl>
                                          <p:spTgt spid="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6" dur="5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7" dur="5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8" dur="500"/>
                                        <p:tgtEl>
                                          <p:spTgt spid="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1" dur="5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3"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6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0" dur="500" fill="hold"/>
                                        <p:tgtEl>
                                          <p:spTgt spid="1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1" dur="500" fill="hold"/>
                                        <p:tgtEl>
                                          <p:spTgt spid="1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2" dur="500"/>
                                        <p:tgtEl>
                                          <p:spTgt spid="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5" dur="5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7"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3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Rectangle 2"/>
          <p:cNvSpPr>
            <a:spLocks noGrp="true"/>
          </p:cNvSpPr>
          <p:nvPr>
            <p:ph type="title"/>
          </p:nvPr>
        </p:nvSpPr>
        <p:spPr>
          <a:xfrm>
            <a:off x="2859405" y="582930"/>
            <a:ext cx="646811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7.4.2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带头链表的插入操作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350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9509125" cy="1958340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若原链表为非空，则按节点值的大小（假设以升序排序）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确定插入新节点的位置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若在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头节点后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插入节点，则将新节点的指针域指向原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链表头的后一节点，且让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head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的后继指向新节点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351" name="Group 34"/>
          <p:cNvGrpSpPr/>
          <p:nvPr/>
        </p:nvGrpSpPr>
        <p:grpSpPr>
          <a:xfrm>
            <a:off x="1661178" y="4278142"/>
            <a:ext cx="1499840" cy="436563"/>
            <a:chOff x="919" y="2565"/>
            <a:chExt cx="872" cy="275"/>
          </a:xfrm>
        </p:grpSpPr>
        <p:sp>
          <p:nvSpPr>
            <p:cNvPr id="1352" name="Rectangle 27"/>
            <p:cNvSpPr>
              <a:spLocks noChangeArrowheads="true"/>
            </p:cNvSpPr>
            <p:nvPr/>
          </p:nvSpPr>
          <p:spPr bwMode="auto">
            <a:xfrm>
              <a:off x="1565" y="2568"/>
              <a:ext cx="226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353" name="Rectangle 32"/>
            <p:cNvSpPr>
              <a:spLocks noChangeArrowheads="true"/>
            </p:cNvSpPr>
            <p:nvPr/>
          </p:nvSpPr>
          <p:spPr bwMode="auto">
            <a:xfrm>
              <a:off x="919" y="2565"/>
              <a:ext cx="3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1354" name="Group 31"/>
          <p:cNvGrpSpPr/>
          <p:nvPr/>
        </p:nvGrpSpPr>
        <p:grpSpPr>
          <a:xfrm>
            <a:off x="1176643" y="5064880"/>
            <a:ext cx="3025775" cy="1136650"/>
            <a:chOff x="152" y="2659"/>
            <a:chExt cx="1759" cy="716"/>
          </a:xfrm>
        </p:grpSpPr>
        <p:sp>
          <p:nvSpPr>
            <p:cNvPr id="1355" name="Rectangle 9"/>
            <p:cNvSpPr>
              <a:spLocks noChangeArrowheads="true"/>
            </p:cNvSpPr>
            <p:nvPr/>
          </p:nvSpPr>
          <p:spPr bwMode="auto">
            <a:xfrm>
              <a:off x="550" y="2659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latin typeface="黑体" panose="02010609060101010101" pitchFamily="49" charset="-122"/>
                  <a:ea typeface="黑体" panose="02010609060101010101" pitchFamily="49" charset="-122"/>
                </a:rPr>
                <a:t>待插入节点</a:t>
              </a:r>
              <a:endParaRPr lang="zh-CN" altLang="en-US" sz="2000" b="true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56" name="Rectangle 4"/>
            <p:cNvSpPr>
              <a:spLocks noChangeArrowheads="true"/>
            </p:cNvSpPr>
            <p:nvPr/>
          </p:nvSpPr>
          <p:spPr bwMode="auto">
            <a:xfrm>
              <a:off x="620" y="2901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Arial" panose="020B0604020202090204" pitchFamily="34" charset="0"/>
                </a:rPr>
                <a:t>data</a:t>
              </a:r>
              <a:endParaRPr lang="en-US" altLang="zh-CN" sz="1800" b="true">
                <a:latin typeface="Arial" panose="020B0604020202090204" pitchFamily="34" charset="0"/>
              </a:endParaRPr>
            </a:p>
          </p:txBody>
        </p:sp>
        <p:sp>
          <p:nvSpPr>
            <p:cNvPr id="1357" name="Rectangle 5"/>
            <p:cNvSpPr>
              <a:spLocks noChangeArrowheads="true"/>
            </p:cNvSpPr>
            <p:nvPr/>
          </p:nvSpPr>
          <p:spPr bwMode="auto">
            <a:xfrm>
              <a:off x="1254" y="2901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Arial" panose="020B0604020202090204" pitchFamily="34" charset="0"/>
                </a:rPr>
                <a:t>n</a:t>
              </a:r>
              <a:r>
                <a:rPr lang="en-US" altLang="zh-CN" sz="1800" b="true">
                  <a:latin typeface="Arial" panose="020B0604020202090204" pitchFamily="34" charset="0"/>
                </a:rPr>
                <a:t>ext</a:t>
              </a:r>
              <a:endParaRPr lang="zh-CN" altLang="zh-CN" sz="1800" b="true">
                <a:latin typeface="Arial" panose="020B0604020202090204" pitchFamily="34" charset="0"/>
              </a:endParaRPr>
            </a:p>
          </p:txBody>
        </p:sp>
        <p:grpSp>
          <p:nvGrpSpPr>
            <p:cNvPr id="1358" name="Group 12"/>
            <p:cNvGrpSpPr/>
            <p:nvPr/>
          </p:nvGrpSpPr>
          <p:grpSpPr>
            <a:xfrm>
              <a:off x="152" y="2948"/>
              <a:ext cx="467" cy="182"/>
              <a:chOff x="1324" y="3021"/>
              <a:chExt cx="467" cy="182"/>
            </a:xfrm>
          </p:grpSpPr>
          <p:sp>
            <p:nvSpPr>
              <p:cNvPr id="1359" name="Rectangle 8"/>
              <p:cNvSpPr>
                <a:spLocks noChangeArrowheads="true"/>
              </p:cNvSpPr>
              <p:nvPr/>
            </p:nvSpPr>
            <p:spPr bwMode="auto">
              <a:xfrm>
                <a:off x="1324" y="3021"/>
                <a:ext cx="355" cy="18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/>
              <a:lstStyle/>
              <a:p>
                <a:pPr algn="just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1800" b="true">
                    <a:latin typeface="Arial" panose="020B0604020202090204" pitchFamily="34" charset="0"/>
                  </a:rPr>
                  <a:t>  p</a:t>
                </a:r>
                <a:endParaRPr lang="en-US" altLang="zh-CN" sz="18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360" name="Line 14"/>
              <p:cNvSpPr>
                <a:spLocks noChangeShapeType="true"/>
              </p:cNvSpPr>
              <p:nvPr/>
            </p:nvSpPr>
            <p:spPr bwMode="auto">
              <a:xfrm>
                <a:off x="1565" y="3119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/>
              </a:p>
            </p:txBody>
          </p:sp>
        </p:grpSp>
        <p:sp>
          <p:nvSpPr>
            <p:cNvPr id="1361" name="Rectangle 15"/>
            <p:cNvSpPr>
              <a:spLocks noChangeArrowheads="true"/>
            </p:cNvSpPr>
            <p:nvPr/>
          </p:nvSpPr>
          <p:spPr bwMode="auto">
            <a:xfrm>
              <a:off x="483" y="3144"/>
              <a:ext cx="1358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lang="zh-CN" altLang="en-US" b="true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409020205090404" pitchFamily="49" charset="0"/>
                <a:ea typeface="幼圆" panose="02010509060101010101" pitchFamily="49" charset="-122"/>
              </a:endParaRPr>
            </a:p>
          </p:txBody>
        </p:sp>
      </p:grpSp>
      <p:sp>
        <p:nvSpPr>
          <p:cNvPr id="1362" name="Rectangle 17"/>
          <p:cNvSpPr>
            <a:spLocks noChangeArrowheads="true"/>
          </p:cNvSpPr>
          <p:nvPr/>
        </p:nvSpPr>
        <p:spPr bwMode="auto">
          <a:xfrm>
            <a:off x="1541996" y="3701256"/>
            <a:ext cx="397827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(2) head-&gt;next = p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363" name="Group 18"/>
          <p:cNvGrpSpPr/>
          <p:nvPr/>
        </p:nvGrpSpPr>
        <p:grpSpPr>
          <a:xfrm>
            <a:off x="3472168" y="4786137"/>
            <a:ext cx="1793875" cy="431800"/>
            <a:chOff x="3334" y="3213"/>
            <a:chExt cx="1043" cy="272"/>
          </a:xfrm>
        </p:grpSpPr>
        <p:sp>
          <p:nvSpPr>
            <p:cNvPr id="1364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365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366" name="Freeform 24"/>
          <p:cNvSpPr/>
          <p:nvPr/>
        </p:nvSpPr>
        <p:spPr bwMode="auto">
          <a:xfrm>
            <a:off x="5189843" y="5148088"/>
            <a:ext cx="711200" cy="194756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367" name="Group 22"/>
          <p:cNvGrpSpPr/>
          <p:nvPr/>
        </p:nvGrpSpPr>
        <p:grpSpPr>
          <a:xfrm>
            <a:off x="5901043" y="5091868"/>
            <a:ext cx="1793875" cy="431800"/>
            <a:chOff x="3334" y="3213"/>
            <a:chExt cx="1043" cy="272"/>
          </a:xfrm>
        </p:grpSpPr>
        <p:sp>
          <p:nvSpPr>
            <p:cNvPr id="1368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369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370" name="Freeform 25"/>
          <p:cNvSpPr/>
          <p:nvPr/>
        </p:nvSpPr>
        <p:spPr bwMode="auto">
          <a:xfrm>
            <a:off x="7613586" y="5449055"/>
            <a:ext cx="765168" cy="16771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371" name="Group 26"/>
          <p:cNvGrpSpPr/>
          <p:nvPr/>
        </p:nvGrpSpPr>
        <p:grpSpPr>
          <a:xfrm>
            <a:off x="8378754" y="5342844"/>
            <a:ext cx="1793875" cy="431800"/>
            <a:chOff x="3334" y="3213"/>
            <a:chExt cx="1043" cy="272"/>
          </a:xfrm>
        </p:grpSpPr>
        <p:sp>
          <p:nvSpPr>
            <p:cNvPr id="1372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373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zh-CN" sz="1800" b="true">
                  <a:latin typeface="华文中宋" panose="02010600040101010101" charset="-122"/>
                  <a:ea typeface="华文中宋" panose="02010600040101010101" charset="-122"/>
                </a:rPr>
                <a:t>∧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374" name="Rectangle 29"/>
          <p:cNvSpPr>
            <a:spLocks noChangeArrowheads="true"/>
          </p:cNvSpPr>
          <p:nvPr/>
        </p:nvSpPr>
        <p:spPr bwMode="auto">
          <a:xfrm>
            <a:off x="1534060" y="3309938"/>
            <a:ext cx="397986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(1) p-&gt;next = head-&gt;next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75" name="Freeform 30"/>
          <p:cNvSpPr/>
          <p:nvPr/>
        </p:nvSpPr>
        <p:spPr bwMode="auto">
          <a:xfrm>
            <a:off x="3213405" y="5125862"/>
            <a:ext cx="835025" cy="741362"/>
          </a:xfrm>
          <a:custGeom>
            <a:avLst/>
            <a:gdLst>
              <a:gd name="T0" fmla="*/ 2147483646 w 945"/>
              <a:gd name="T1" fmla="*/ 2147483646 h 676"/>
              <a:gd name="T2" fmla="*/ 2147483646 w 945"/>
              <a:gd name="T3" fmla="*/ 2147483646 h 676"/>
              <a:gd name="T4" fmla="*/ 2147483646 w 945"/>
              <a:gd name="T5" fmla="*/ 2147483646 h 676"/>
              <a:gd name="T6" fmla="*/ 2147483646 w 945"/>
              <a:gd name="T7" fmla="*/ 2147483646 h 676"/>
              <a:gd name="T8" fmla="*/ 2147483646 w 945"/>
              <a:gd name="T9" fmla="*/ 0 h 6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45"/>
              <a:gd name="T16" fmla="*/ 0 h 676"/>
              <a:gd name="T17" fmla="*/ 945 w 945"/>
              <a:gd name="T18" fmla="*/ 676 h 6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45" h="676">
                <a:moveTo>
                  <a:pt x="613" y="624"/>
                </a:moveTo>
                <a:cubicBezTo>
                  <a:pt x="700" y="650"/>
                  <a:pt x="788" y="676"/>
                  <a:pt x="823" y="624"/>
                </a:cubicBezTo>
                <a:cubicBezTo>
                  <a:pt x="858" y="572"/>
                  <a:pt x="945" y="390"/>
                  <a:pt x="823" y="312"/>
                </a:cubicBezTo>
                <a:cubicBezTo>
                  <a:pt x="701" y="234"/>
                  <a:pt x="176" y="208"/>
                  <a:pt x="88" y="156"/>
                </a:cubicBezTo>
                <a:cubicBezTo>
                  <a:pt x="0" y="104"/>
                  <a:pt x="149" y="52"/>
                  <a:pt x="298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 lIns="0" tIns="0" rIns="0" bIns="0"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76" name="Freeform 32"/>
          <p:cNvSpPr/>
          <p:nvPr/>
        </p:nvSpPr>
        <p:spPr bwMode="auto">
          <a:xfrm rot="2323505">
            <a:off x="1916418" y="4211462"/>
            <a:ext cx="612775" cy="1489075"/>
          </a:xfrm>
          <a:custGeom>
            <a:avLst/>
            <a:gdLst>
              <a:gd name="T0" fmla="*/ 2147483646 w 665"/>
              <a:gd name="T1" fmla="*/ 0 h 806"/>
              <a:gd name="T2" fmla="*/ 2147483646 w 665"/>
              <a:gd name="T3" fmla="*/ 2147483646 h 806"/>
              <a:gd name="T4" fmla="*/ 2147483646 w 665"/>
              <a:gd name="T5" fmla="*/ 2147483646 h 806"/>
              <a:gd name="T6" fmla="*/ 2147483646 w 665"/>
              <a:gd name="T7" fmla="*/ 2147483646 h 806"/>
              <a:gd name="T8" fmla="*/ 2147483646 w 665"/>
              <a:gd name="T9" fmla="*/ 2147483646 h 8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5"/>
              <a:gd name="T16" fmla="*/ 0 h 806"/>
              <a:gd name="T17" fmla="*/ 665 w 665"/>
              <a:gd name="T18" fmla="*/ 806 h 8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5" h="806">
                <a:moveTo>
                  <a:pt x="560" y="0"/>
                </a:moveTo>
                <a:cubicBezTo>
                  <a:pt x="551" y="104"/>
                  <a:pt x="542" y="208"/>
                  <a:pt x="455" y="312"/>
                </a:cubicBezTo>
                <a:cubicBezTo>
                  <a:pt x="368" y="416"/>
                  <a:pt x="70" y="546"/>
                  <a:pt x="35" y="624"/>
                </a:cubicBezTo>
                <a:cubicBezTo>
                  <a:pt x="0" y="702"/>
                  <a:pt x="140" y="754"/>
                  <a:pt x="245" y="780"/>
                </a:cubicBezTo>
                <a:cubicBezTo>
                  <a:pt x="350" y="806"/>
                  <a:pt x="507" y="793"/>
                  <a:pt x="665" y="78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 lIns="0" tIns="0" rIns="0" bIns="0"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77" name="Freeform 26"/>
          <p:cNvSpPr/>
          <p:nvPr/>
        </p:nvSpPr>
        <p:spPr bwMode="auto">
          <a:xfrm>
            <a:off x="2995918" y="4498799"/>
            <a:ext cx="468312" cy="503238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78" name="矩形 1"/>
          <p:cNvSpPr/>
          <p:nvPr/>
        </p:nvSpPr>
        <p:spPr>
          <a:xfrm>
            <a:off x="7455783" y="5912592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O(1)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1379" name="图片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383576" y="4282904"/>
            <a:ext cx="388721" cy="431800"/>
          </a:xfrm>
          <a:prstGeom prst="rect">
            <a:avLst/>
          </a:prstGeom>
        </p:spPr>
      </p:pic>
      <p:graphicFrame>
        <p:nvGraphicFramePr>
          <p:cNvPr id="1380" name="table 706"/>
          <p:cNvGraphicFramePr/>
          <p:nvPr/>
        </p:nvGraphicFramePr>
        <p:xfrm>
          <a:off x="7824470" y="3359150"/>
          <a:ext cx="3567430" cy="1434465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6743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434465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381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00" fill="hold"/>
                                        <p:tgtEl>
                                          <p:spTgt spid="1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00"/>
                                        <p:tgtEl>
                                          <p:spTgt spid="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1" dur="500"/>
                                        <p:tgtEl>
                                          <p:spTgt spid="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4" dur="500" fill="hold"/>
                                        <p:tgtEl>
                                          <p:spTgt spid="1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5" dur="500" fill="hold"/>
                                        <p:tgtEl>
                                          <p:spTgt spid="1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6" dur="500"/>
                                        <p:tgtEl>
                                          <p:spTgt spid="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9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99" dur="500"/>
                                        <p:tgtEl>
                                          <p:spTgt spid="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700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01" dur="1000"/>
                                        <p:tgtEl>
                                          <p:spTgt spid="1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Rectangle 2"/>
          <p:cNvSpPr>
            <a:spLocks noGrp="true"/>
          </p:cNvSpPr>
          <p:nvPr>
            <p:ph type="title"/>
          </p:nvPr>
        </p:nvSpPr>
        <p:spPr>
          <a:xfrm>
            <a:off x="2859405" y="582930"/>
            <a:ext cx="646811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7.4.2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带头链表的插入操作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384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8265160" cy="100520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若在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链表中间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插入新节点，则将新节点的指针域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指向下一节点，让前一节点的指针域指向新节点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385" name="Group 31"/>
          <p:cNvGrpSpPr/>
          <p:nvPr/>
        </p:nvGrpSpPr>
        <p:grpSpPr>
          <a:xfrm>
            <a:off x="1614790" y="3606279"/>
            <a:ext cx="1793875" cy="431800"/>
            <a:chOff x="3334" y="3213"/>
            <a:chExt cx="1043" cy="272"/>
          </a:xfrm>
        </p:grpSpPr>
        <p:sp>
          <p:nvSpPr>
            <p:cNvPr id="1386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387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1388" name="Group 7"/>
          <p:cNvGrpSpPr/>
          <p:nvPr/>
        </p:nvGrpSpPr>
        <p:grpSpPr>
          <a:xfrm>
            <a:off x="1516365" y="4681017"/>
            <a:ext cx="3001962" cy="1111250"/>
            <a:chOff x="152" y="2659"/>
            <a:chExt cx="1746" cy="700"/>
          </a:xfrm>
        </p:grpSpPr>
        <p:sp>
          <p:nvSpPr>
            <p:cNvPr id="1389" name="Rectangle 8"/>
            <p:cNvSpPr>
              <a:spLocks noChangeArrowheads="true"/>
            </p:cNvSpPr>
            <p:nvPr/>
          </p:nvSpPr>
          <p:spPr bwMode="auto">
            <a:xfrm>
              <a:off x="537" y="2659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待插入节点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390" name="Rectangle 4"/>
            <p:cNvSpPr>
              <a:spLocks noChangeArrowheads="true"/>
            </p:cNvSpPr>
            <p:nvPr/>
          </p:nvSpPr>
          <p:spPr bwMode="auto">
            <a:xfrm>
              <a:off x="620" y="2901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391" name="Rectangle 5"/>
            <p:cNvSpPr>
              <a:spLocks noChangeArrowheads="true"/>
            </p:cNvSpPr>
            <p:nvPr/>
          </p:nvSpPr>
          <p:spPr bwMode="auto">
            <a:xfrm>
              <a:off x="1254" y="2901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1392" name="Group 11"/>
            <p:cNvGrpSpPr/>
            <p:nvPr/>
          </p:nvGrpSpPr>
          <p:grpSpPr>
            <a:xfrm>
              <a:off x="152" y="2948"/>
              <a:ext cx="467" cy="182"/>
              <a:chOff x="1324" y="3021"/>
              <a:chExt cx="467" cy="182"/>
            </a:xfrm>
          </p:grpSpPr>
          <p:sp>
            <p:nvSpPr>
              <p:cNvPr id="1393" name="Rectangle 8"/>
              <p:cNvSpPr>
                <a:spLocks noChangeArrowheads="true"/>
              </p:cNvSpPr>
              <p:nvPr/>
            </p:nvSpPr>
            <p:spPr bwMode="auto">
              <a:xfrm>
                <a:off x="1324" y="3021"/>
                <a:ext cx="355" cy="18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/>
              <a:lstStyle/>
              <a:p>
                <a:pPr algn="just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  p</a:t>
                </a:r>
                <a:endParaRPr lang="en-US" altLang="zh-CN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394" name="Line 13"/>
              <p:cNvSpPr>
                <a:spLocks noChangeShapeType="true"/>
              </p:cNvSpPr>
              <p:nvPr/>
            </p:nvSpPr>
            <p:spPr bwMode="auto">
              <a:xfrm>
                <a:off x="1565" y="3119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1395" name="Rectangle 14"/>
            <p:cNvSpPr>
              <a:spLocks noChangeArrowheads="true"/>
            </p:cNvSpPr>
            <p:nvPr/>
          </p:nvSpPr>
          <p:spPr bwMode="auto">
            <a:xfrm>
              <a:off x="483" y="3144"/>
              <a:ext cx="1367" cy="21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lang="zh-CN" altLang="en-US" b="true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396" name="Rectangle 15"/>
          <p:cNvSpPr>
            <a:spLocks noChangeArrowheads="true"/>
          </p:cNvSpPr>
          <p:nvPr/>
        </p:nvSpPr>
        <p:spPr bwMode="auto">
          <a:xfrm>
            <a:off x="1673833" y="2798187"/>
            <a:ext cx="397827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(2) pr-&gt;next = p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397" name="Group 16"/>
          <p:cNvGrpSpPr/>
          <p:nvPr/>
        </p:nvGrpSpPr>
        <p:grpSpPr>
          <a:xfrm>
            <a:off x="3811890" y="4247629"/>
            <a:ext cx="1793875" cy="431800"/>
            <a:chOff x="3334" y="3213"/>
            <a:chExt cx="1043" cy="272"/>
          </a:xfrm>
        </p:grpSpPr>
        <p:sp>
          <p:nvSpPr>
            <p:cNvPr id="1398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399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400" name="Freeform 24"/>
          <p:cNvSpPr/>
          <p:nvPr/>
        </p:nvSpPr>
        <p:spPr bwMode="auto">
          <a:xfrm>
            <a:off x="5529565" y="4609579"/>
            <a:ext cx="466725" cy="503238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401" name="Group 20"/>
          <p:cNvGrpSpPr/>
          <p:nvPr/>
        </p:nvGrpSpPr>
        <p:grpSpPr>
          <a:xfrm>
            <a:off x="5996290" y="4895329"/>
            <a:ext cx="1793875" cy="431800"/>
            <a:chOff x="3334" y="3213"/>
            <a:chExt cx="1043" cy="272"/>
          </a:xfrm>
        </p:grpSpPr>
        <p:sp>
          <p:nvSpPr>
            <p:cNvPr id="1402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403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404" name="Freeform 25"/>
          <p:cNvSpPr/>
          <p:nvPr/>
        </p:nvSpPr>
        <p:spPr bwMode="auto">
          <a:xfrm>
            <a:off x="7713965" y="5262042"/>
            <a:ext cx="468312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405" name="Group 24"/>
          <p:cNvGrpSpPr/>
          <p:nvPr/>
        </p:nvGrpSpPr>
        <p:grpSpPr>
          <a:xfrm>
            <a:off x="8185452" y="5544617"/>
            <a:ext cx="1793875" cy="431800"/>
            <a:chOff x="3334" y="3213"/>
            <a:chExt cx="1043" cy="272"/>
          </a:xfrm>
        </p:grpSpPr>
        <p:sp>
          <p:nvSpPr>
            <p:cNvPr id="1406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407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zh-CN" sz="1800" b="true">
                  <a:latin typeface="华文中宋" panose="02010600040101010101" charset="-122"/>
                  <a:ea typeface="华文中宋" panose="02010600040101010101" charset="-122"/>
                </a:rPr>
                <a:t>∧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408" name="Rectangle 27"/>
          <p:cNvSpPr>
            <a:spLocks noChangeArrowheads="true"/>
          </p:cNvSpPr>
          <p:nvPr/>
        </p:nvSpPr>
        <p:spPr bwMode="auto">
          <a:xfrm>
            <a:off x="1673833" y="2372774"/>
            <a:ext cx="397986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(1) p-&gt;next = pr-&gt;next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09" name="Freeform 28"/>
          <p:cNvSpPr/>
          <p:nvPr/>
        </p:nvSpPr>
        <p:spPr bwMode="auto">
          <a:xfrm>
            <a:off x="3553127" y="4587354"/>
            <a:ext cx="835025" cy="741363"/>
          </a:xfrm>
          <a:custGeom>
            <a:avLst/>
            <a:gdLst>
              <a:gd name="T0" fmla="*/ 2147483646 w 945"/>
              <a:gd name="T1" fmla="*/ 2147483646 h 676"/>
              <a:gd name="T2" fmla="*/ 2147483646 w 945"/>
              <a:gd name="T3" fmla="*/ 2147483646 h 676"/>
              <a:gd name="T4" fmla="*/ 2147483646 w 945"/>
              <a:gd name="T5" fmla="*/ 2147483646 h 676"/>
              <a:gd name="T6" fmla="*/ 2147483646 w 945"/>
              <a:gd name="T7" fmla="*/ 2147483646 h 676"/>
              <a:gd name="T8" fmla="*/ 2147483646 w 945"/>
              <a:gd name="T9" fmla="*/ 0 h 6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45"/>
              <a:gd name="T16" fmla="*/ 0 h 676"/>
              <a:gd name="T17" fmla="*/ 945 w 945"/>
              <a:gd name="T18" fmla="*/ 676 h 6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45" h="676">
                <a:moveTo>
                  <a:pt x="613" y="624"/>
                </a:moveTo>
                <a:cubicBezTo>
                  <a:pt x="700" y="650"/>
                  <a:pt x="788" y="676"/>
                  <a:pt x="823" y="624"/>
                </a:cubicBezTo>
                <a:cubicBezTo>
                  <a:pt x="858" y="572"/>
                  <a:pt x="945" y="390"/>
                  <a:pt x="823" y="312"/>
                </a:cubicBezTo>
                <a:cubicBezTo>
                  <a:pt x="701" y="234"/>
                  <a:pt x="176" y="208"/>
                  <a:pt x="88" y="156"/>
                </a:cubicBezTo>
                <a:cubicBezTo>
                  <a:pt x="0" y="104"/>
                  <a:pt x="149" y="52"/>
                  <a:pt x="298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 lIns="0" tIns="0" rIns="0" bIns="0"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10" name="Freeform 29"/>
          <p:cNvSpPr/>
          <p:nvPr/>
        </p:nvSpPr>
        <p:spPr bwMode="auto">
          <a:xfrm rot="2323505">
            <a:off x="2256140" y="3672954"/>
            <a:ext cx="612775" cy="1489075"/>
          </a:xfrm>
          <a:custGeom>
            <a:avLst/>
            <a:gdLst>
              <a:gd name="T0" fmla="*/ 2147483646 w 665"/>
              <a:gd name="T1" fmla="*/ 0 h 806"/>
              <a:gd name="T2" fmla="*/ 2147483646 w 665"/>
              <a:gd name="T3" fmla="*/ 2147483646 h 806"/>
              <a:gd name="T4" fmla="*/ 2147483646 w 665"/>
              <a:gd name="T5" fmla="*/ 2147483646 h 806"/>
              <a:gd name="T6" fmla="*/ 2147483646 w 665"/>
              <a:gd name="T7" fmla="*/ 2147483646 h 806"/>
              <a:gd name="T8" fmla="*/ 2147483646 w 665"/>
              <a:gd name="T9" fmla="*/ 2147483646 h 8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5"/>
              <a:gd name="T16" fmla="*/ 0 h 806"/>
              <a:gd name="T17" fmla="*/ 665 w 665"/>
              <a:gd name="T18" fmla="*/ 806 h 8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5" h="806">
                <a:moveTo>
                  <a:pt x="560" y="0"/>
                </a:moveTo>
                <a:cubicBezTo>
                  <a:pt x="551" y="104"/>
                  <a:pt x="542" y="208"/>
                  <a:pt x="455" y="312"/>
                </a:cubicBezTo>
                <a:cubicBezTo>
                  <a:pt x="368" y="416"/>
                  <a:pt x="70" y="546"/>
                  <a:pt x="35" y="624"/>
                </a:cubicBezTo>
                <a:cubicBezTo>
                  <a:pt x="0" y="702"/>
                  <a:pt x="140" y="754"/>
                  <a:pt x="245" y="780"/>
                </a:cubicBezTo>
                <a:cubicBezTo>
                  <a:pt x="350" y="806"/>
                  <a:pt x="507" y="793"/>
                  <a:pt x="665" y="78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 lIns="0" tIns="0" rIns="0" bIns="0"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11" name="Freeform 26"/>
          <p:cNvSpPr/>
          <p:nvPr/>
        </p:nvSpPr>
        <p:spPr bwMode="auto">
          <a:xfrm>
            <a:off x="3335640" y="3960292"/>
            <a:ext cx="468312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12" name="Freeform 24"/>
          <p:cNvSpPr/>
          <p:nvPr/>
        </p:nvSpPr>
        <p:spPr bwMode="auto">
          <a:xfrm>
            <a:off x="1163940" y="3312592"/>
            <a:ext cx="468312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413" name="Group 36"/>
          <p:cNvGrpSpPr/>
          <p:nvPr/>
        </p:nvGrpSpPr>
        <p:grpSpPr>
          <a:xfrm>
            <a:off x="830565" y="3793604"/>
            <a:ext cx="803275" cy="288925"/>
            <a:chOff x="1324" y="3021"/>
            <a:chExt cx="467" cy="182"/>
          </a:xfrm>
        </p:grpSpPr>
        <p:sp>
          <p:nvSpPr>
            <p:cNvPr id="1414" name="Rectangle 8"/>
            <p:cNvSpPr>
              <a:spLocks noChangeArrowheads="true"/>
            </p:cNvSpPr>
            <p:nvPr/>
          </p:nvSpPr>
          <p:spPr bwMode="auto">
            <a:xfrm>
              <a:off x="1324" y="3021"/>
              <a:ext cx="355" cy="1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just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pr</a:t>
              </a:r>
              <a:endParaRPr lang="en-US" altLang="zh-CN" sz="1800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415" name="Line 38"/>
            <p:cNvSpPr>
              <a:spLocks noChangeShapeType="true"/>
            </p:cNvSpPr>
            <p:nvPr/>
          </p:nvSpPr>
          <p:spPr bwMode="auto">
            <a:xfrm>
              <a:off x="1565" y="3119"/>
              <a:ext cx="2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416" name="矩形 1"/>
          <p:cNvSpPr/>
          <p:nvPr/>
        </p:nvSpPr>
        <p:spPr>
          <a:xfrm>
            <a:off x="8014502" y="4530601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O(1)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417" name="table 706"/>
          <p:cNvGraphicFramePr/>
          <p:nvPr/>
        </p:nvGraphicFramePr>
        <p:xfrm>
          <a:off x="7805420" y="2942590"/>
          <a:ext cx="3581400" cy="1428115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81400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428115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418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0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0" fill="hold"/>
                                        <p:tgtEl>
                                          <p:spTgt spid="1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0" fill="hold"/>
                                        <p:tgtEl>
                                          <p:spTgt spid="1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0"/>
                                        <p:tgtEl>
                                          <p:spTgt spid="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2" dur="500"/>
                                        <p:tgtEl>
                                          <p:spTgt spid="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5" dur="500" fill="hold"/>
                                        <p:tgtEl>
                                          <p:spTgt spid="1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6" dur="500" fill="hold"/>
                                        <p:tgtEl>
                                          <p:spTgt spid="1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7" dur="500"/>
                                        <p:tgtEl>
                                          <p:spTgt spid="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1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0" dur="500"/>
                                        <p:tgtEl>
                                          <p:spTgt spid="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721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22" dur="1000"/>
                                        <p:tgtEl>
                                          <p:spTgt spid="1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4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Rectangle 2"/>
          <p:cNvSpPr>
            <a:spLocks noGrp="true"/>
          </p:cNvSpPr>
          <p:nvPr>
            <p:ph type="title"/>
          </p:nvPr>
        </p:nvSpPr>
        <p:spPr>
          <a:xfrm>
            <a:off x="2859405" y="582930"/>
            <a:ext cx="646811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7.4.2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带头链表的插入操作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433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11030585" cy="65849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若在表尾插入新节点，则将末节点指针域指向新节点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434" name="Group 2"/>
          <p:cNvGrpSpPr/>
          <p:nvPr/>
        </p:nvGrpSpPr>
        <p:grpSpPr>
          <a:xfrm>
            <a:off x="1742966" y="3931611"/>
            <a:ext cx="1793875" cy="431800"/>
            <a:chOff x="3334" y="3213"/>
            <a:chExt cx="1043" cy="272"/>
          </a:xfrm>
        </p:grpSpPr>
        <p:sp>
          <p:nvSpPr>
            <p:cNvPr id="1435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436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1437" name="Group 7"/>
          <p:cNvGrpSpPr/>
          <p:nvPr/>
        </p:nvGrpSpPr>
        <p:grpSpPr>
          <a:xfrm>
            <a:off x="5308491" y="4917448"/>
            <a:ext cx="3054350" cy="1111250"/>
            <a:chOff x="152" y="2659"/>
            <a:chExt cx="1776" cy="700"/>
          </a:xfrm>
        </p:grpSpPr>
        <p:sp>
          <p:nvSpPr>
            <p:cNvPr id="1438" name="Rectangle 8"/>
            <p:cNvSpPr>
              <a:spLocks noChangeArrowheads="true"/>
            </p:cNvSpPr>
            <p:nvPr/>
          </p:nvSpPr>
          <p:spPr bwMode="auto">
            <a:xfrm>
              <a:off x="567" y="2659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rPr>
                <a:t>待插入节点</a:t>
              </a:r>
              <a:endParaRPr lang="zh-CN" altLang="en-US" sz="2000" b="true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439" name="Rectangle 4"/>
            <p:cNvSpPr>
              <a:spLocks noChangeArrowheads="true"/>
            </p:cNvSpPr>
            <p:nvPr/>
          </p:nvSpPr>
          <p:spPr bwMode="auto">
            <a:xfrm>
              <a:off x="620" y="2901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440" name="Rectangle 5"/>
            <p:cNvSpPr>
              <a:spLocks noChangeArrowheads="true"/>
            </p:cNvSpPr>
            <p:nvPr/>
          </p:nvSpPr>
          <p:spPr bwMode="auto">
            <a:xfrm>
              <a:off x="1254" y="2901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1441" name="Group 11"/>
            <p:cNvGrpSpPr/>
            <p:nvPr/>
          </p:nvGrpSpPr>
          <p:grpSpPr>
            <a:xfrm>
              <a:off x="152" y="2948"/>
              <a:ext cx="467" cy="182"/>
              <a:chOff x="1324" y="3021"/>
              <a:chExt cx="467" cy="182"/>
            </a:xfrm>
          </p:grpSpPr>
          <p:sp>
            <p:nvSpPr>
              <p:cNvPr id="1442" name="Rectangle 8"/>
              <p:cNvSpPr>
                <a:spLocks noChangeArrowheads="true"/>
              </p:cNvSpPr>
              <p:nvPr/>
            </p:nvSpPr>
            <p:spPr bwMode="auto">
              <a:xfrm>
                <a:off x="1324" y="3021"/>
                <a:ext cx="355" cy="18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/>
              <a:lstStyle/>
              <a:p>
                <a:pPr algn="just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  p</a:t>
                </a:r>
                <a:endParaRPr lang="en-US" altLang="zh-CN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443" name="Line 13"/>
              <p:cNvSpPr>
                <a:spLocks noChangeShapeType="true"/>
              </p:cNvSpPr>
              <p:nvPr/>
            </p:nvSpPr>
            <p:spPr bwMode="auto">
              <a:xfrm>
                <a:off x="1565" y="3119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1444" name="Rectangle 14"/>
            <p:cNvSpPr>
              <a:spLocks noChangeArrowheads="true"/>
            </p:cNvSpPr>
            <p:nvPr/>
          </p:nvSpPr>
          <p:spPr bwMode="auto">
            <a:xfrm>
              <a:off x="483" y="3144"/>
              <a:ext cx="1361" cy="21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lang="zh-CN" altLang="en-US" b="true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445" name="Freeform 25"/>
          <p:cNvSpPr/>
          <p:nvPr/>
        </p:nvSpPr>
        <p:spPr bwMode="auto">
          <a:xfrm>
            <a:off x="3462229" y="4285623"/>
            <a:ext cx="468312" cy="503238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46" name="Rectangle 27"/>
          <p:cNvSpPr>
            <a:spLocks noChangeArrowheads="true"/>
          </p:cNvSpPr>
          <p:nvPr/>
        </p:nvSpPr>
        <p:spPr bwMode="auto">
          <a:xfrm>
            <a:off x="1551298" y="2310519"/>
            <a:ext cx="397986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(1) pr-&gt;next = p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47" name="Freeform 24"/>
          <p:cNvSpPr/>
          <p:nvPr/>
        </p:nvSpPr>
        <p:spPr bwMode="auto">
          <a:xfrm>
            <a:off x="1292116" y="3637923"/>
            <a:ext cx="468313" cy="503238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448" name="Group 32"/>
          <p:cNvGrpSpPr/>
          <p:nvPr/>
        </p:nvGrpSpPr>
        <p:grpSpPr>
          <a:xfrm>
            <a:off x="3141554" y="4726948"/>
            <a:ext cx="803275" cy="288925"/>
            <a:chOff x="1324" y="3021"/>
            <a:chExt cx="467" cy="182"/>
          </a:xfrm>
        </p:grpSpPr>
        <p:sp>
          <p:nvSpPr>
            <p:cNvPr id="1449" name="Rectangle 8"/>
            <p:cNvSpPr>
              <a:spLocks noChangeArrowheads="true"/>
            </p:cNvSpPr>
            <p:nvPr/>
          </p:nvSpPr>
          <p:spPr bwMode="auto">
            <a:xfrm>
              <a:off x="1324" y="3021"/>
              <a:ext cx="355" cy="1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just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pr</a:t>
              </a:r>
              <a:endParaRPr lang="en-US" altLang="zh-CN" sz="1800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450" name="Line 34"/>
            <p:cNvSpPr>
              <a:spLocks noChangeShapeType="true"/>
            </p:cNvSpPr>
            <p:nvPr/>
          </p:nvSpPr>
          <p:spPr bwMode="auto">
            <a:xfrm>
              <a:off x="1565" y="3119"/>
              <a:ext cx="2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1451" name="Group 44"/>
          <p:cNvGrpSpPr/>
          <p:nvPr/>
        </p:nvGrpSpPr>
        <p:grpSpPr>
          <a:xfrm>
            <a:off x="3789254" y="4176086"/>
            <a:ext cx="2341562" cy="823912"/>
            <a:chOff x="1837" y="2318"/>
            <a:chExt cx="1361" cy="519"/>
          </a:xfrm>
        </p:grpSpPr>
        <p:grpSp>
          <p:nvGrpSpPr>
            <p:cNvPr id="1452" name="Group 24"/>
            <p:cNvGrpSpPr/>
            <p:nvPr/>
          </p:nvGrpSpPr>
          <p:grpSpPr>
            <a:xfrm>
              <a:off x="1921" y="2565"/>
              <a:ext cx="1043" cy="272"/>
              <a:chOff x="3334" y="3213"/>
              <a:chExt cx="1043" cy="272"/>
            </a:xfrm>
          </p:grpSpPr>
          <p:sp>
            <p:nvSpPr>
              <p:cNvPr id="1453" name="Rectangle 4"/>
              <p:cNvSpPr>
                <a:spLocks noChangeArrowheads="true"/>
              </p:cNvSpPr>
              <p:nvPr/>
            </p:nvSpPr>
            <p:spPr bwMode="auto">
              <a:xfrm>
                <a:off x="3334" y="3213"/>
                <a:ext cx="634" cy="27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algn="ctr"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data</a:t>
                </a:r>
                <a:endParaRPr lang="en-US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454" name="Rectangle 5"/>
              <p:cNvSpPr>
                <a:spLocks noChangeArrowheads="true"/>
              </p:cNvSpPr>
              <p:nvPr/>
            </p:nvSpPr>
            <p:spPr bwMode="auto">
              <a:xfrm>
                <a:off x="3968" y="3213"/>
                <a:ext cx="409" cy="27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∧</a:t>
                </a:r>
                <a:endParaRPr lang="zh-CN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1455" name="Rectangle 37"/>
            <p:cNvSpPr>
              <a:spLocks noChangeArrowheads="true"/>
            </p:cNvSpPr>
            <p:nvPr/>
          </p:nvSpPr>
          <p:spPr bwMode="auto">
            <a:xfrm>
              <a:off x="1837" y="2318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rPr>
                <a:t>原末节点</a:t>
              </a:r>
              <a:endParaRPr lang="zh-CN" altLang="en-US" sz="2000" b="true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456" name="Rectangle 5"/>
          <p:cNvSpPr>
            <a:spLocks noChangeArrowheads="true"/>
          </p:cNvSpPr>
          <p:nvPr/>
        </p:nvSpPr>
        <p:spPr bwMode="auto">
          <a:xfrm>
            <a:off x="5060841" y="4593598"/>
            <a:ext cx="568325" cy="3492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zh-CN" altLang="en-US" sz="18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n</a:t>
            </a:r>
            <a:r>
              <a:rPr lang="en-US" altLang="zh-CN" sz="18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ext</a:t>
            </a:r>
            <a:endParaRPr lang="zh-CN" altLang="zh-CN" sz="1800" b="true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57" name="Freeform 25"/>
          <p:cNvSpPr/>
          <p:nvPr/>
        </p:nvSpPr>
        <p:spPr bwMode="auto">
          <a:xfrm>
            <a:off x="5649804" y="4922211"/>
            <a:ext cx="468312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58" name="Rectangle 8"/>
          <p:cNvSpPr>
            <a:spLocks noChangeArrowheads="true"/>
          </p:cNvSpPr>
          <p:nvPr/>
        </p:nvSpPr>
        <p:spPr bwMode="auto">
          <a:xfrm>
            <a:off x="7297629" y="5366711"/>
            <a:ext cx="547687" cy="287337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b="true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  <a:ea typeface="华文中宋" panose="02010600040101010101" charset="-122"/>
              </a:rPr>
              <a:t>∧</a:t>
            </a:r>
            <a:endParaRPr lang="en-US" altLang="zh-CN" b="true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59" name="Text Box 50"/>
          <p:cNvSpPr txBox="true">
            <a:spLocks noChangeArrowheads="true"/>
          </p:cNvSpPr>
          <p:nvPr/>
        </p:nvSpPr>
        <p:spPr bwMode="auto">
          <a:xfrm>
            <a:off x="1496487" y="2782097"/>
            <a:ext cx="3354388" cy="503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/>
          <a:lstStyle/>
          <a:p>
            <a:pPr algn="just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  (2) 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p-&gt;next = NULL</a:t>
            </a:r>
            <a:endParaRPr lang="en-US" altLang="zh-CN" sz="2000">
              <a:effectLst>
                <a:outerShdw blurRad="38100" dist="38100" dir="2700000" algn="tl">
                  <a:srgbClr val="C0C0C0"/>
                </a:outerShdw>
              </a:effectLst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60" name="矩形 1"/>
          <p:cNvSpPr/>
          <p:nvPr/>
        </p:nvSpPr>
        <p:spPr>
          <a:xfrm>
            <a:off x="7555398" y="4455783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O(1)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461" name="table 706"/>
          <p:cNvGraphicFramePr/>
          <p:nvPr/>
        </p:nvGraphicFramePr>
        <p:xfrm>
          <a:off x="7602220" y="2767965"/>
          <a:ext cx="3612515" cy="145288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61251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45288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462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3" dur="500" fill="hold"/>
                                        <p:tgtEl>
                                          <p:spTgt spid="1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4" dur="500" fill="hold"/>
                                        <p:tgtEl>
                                          <p:spTgt spid="1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5" dur="500"/>
                                        <p:tgtEl>
                                          <p:spTgt spid="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8" dur="500"/>
                                        <p:tgtEl>
                                          <p:spTgt spid="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1" dur="500"/>
                                        <p:tgtEl>
                                          <p:spTgt spid="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4" dur="500" fill="hold"/>
                                        <p:tgtEl>
                                          <p:spTgt spid="1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5" dur="500" fill="hold"/>
                                        <p:tgtEl>
                                          <p:spTgt spid="1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6" dur="500"/>
                                        <p:tgtEl>
                                          <p:spTgt spid="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4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Rectangle 2"/>
          <p:cNvSpPr>
            <a:spLocks noGrp="true"/>
          </p:cNvSpPr>
          <p:nvPr>
            <p:ph type="title"/>
          </p:nvPr>
        </p:nvSpPr>
        <p:spPr>
          <a:xfrm>
            <a:off x="2859405" y="582930"/>
            <a:ext cx="646811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7.4.3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带头链表的删除操作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465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11030585" cy="2033270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若原链表为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空表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，则退出程序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若待删除节点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p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头节点后一节点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，则将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head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的后继指向当前节点的下一个节点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</a:t>
            </a:r>
            <a:endParaRPr lang="en-US" altLang="zh-CN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即可删除当前节点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endParaRPr lang="en-US" altLang="zh-CN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en-US" altLang="zh-CN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466" name="Group 57"/>
          <p:cNvGrpSpPr/>
          <p:nvPr/>
        </p:nvGrpSpPr>
        <p:grpSpPr>
          <a:xfrm>
            <a:off x="5035002" y="5084600"/>
            <a:ext cx="1793875" cy="431800"/>
            <a:chOff x="3334" y="3213"/>
            <a:chExt cx="1043" cy="272"/>
          </a:xfrm>
        </p:grpSpPr>
        <p:sp>
          <p:nvSpPr>
            <p:cNvPr id="1467" name="Rectangle 4"/>
            <p:cNvSpPr>
              <a:spLocks noChangeArrowheads="true"/>
            </p:cNvSpPr>
            <p:nvPr/>
          </p:nvSpPr>
          <p:spPr bwMode="auto">
            <a:xfrm>
              <a:off x="3334" y="3213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468" name="Rectangle 5"/>
            <p:cNvSpPr>
              <a:spLocks noChangeArrowheads="true"/>
            </p:cNvSpPr>
            <p:nvPr/>
          </p:nvSpPr>
          <p:spPr bwMode="auto">
            <a:xfrm>
              <a:off x="3968" y="3213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469" name="Rectangle 28"/>
          <p:cNvSpPr>
            <a:spLocks noChangeArrowheads="true"/>
          </p:cNvSpPr>
          <p:nvPr/>
        </p:nvSpPr>
        <p:spPr bwMode="auto">
          <a:xfrm>
            <a:off x="1122671" y="3363115"/>
            <a:ext cx="397986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(1) head-&gt;next = p-&gt;next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70" name="Freeform 26"/>
          <p:cNvSpPr/>
          <p:nvPr/>
        </p:nvSpPr>
        <p:spPr bwMode="auto">
          <a:xfrm>
            <a:off x="2148927" y="4635338"/>
            <a:ext cx="468313" cy="503237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71" name="Rectangle 27"/>
          <p:cNvSpPr>
            <a:spLocks noChangeArrowheads="true"/>
          </p:cNvSpPr>
          <p:nvPr/>
        </p:nvSpPr>
        <p:spPr bwMode="auto">
          <a:xfrm>
            <a:off x="1915565" y="4419438"/>
            <a:ext cx="388937" cy="431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endParaRPr lang="zh-CN" altLang="en-US" sz="1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72" name="Rectangle 32"/>
          <p:cNvSpPr>
            <a:spLocks noChangeArrowheads="true"/>
          </p:cNvSpPr>
          <p:nvPr/>
        </p:nvSpPr>
        <p:spPr bwMode="auto">
          <a:xfrm>
            <a:off x="838719" y="4407420"/>
            <a:ext cx="5461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9pPr>
          </a:lstStyle>
          <a:p>
            <a:pPr eaLnBrk="true" hangingPunct="true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SzPct val="80000"/>
              <a:buFont typeface="Wingdings" panose="05000000000000000000" pitchFamily="2" charset="2"/>
              <a:buNone/>
            </a:pPr>
            <a:r>
              <a:rPr lang="en-US" altLang="zh-CN" sz="1800" b="true">
                <a:latin typeface="华文中宋" panose="02010600040101010101" charset="-122"/>
                <a:ea typeface="华文中宋" panose="02010600040101010101" charset="-122"/>
              </a:rPr>
              <a:t>head</a:t>
            </a:r>
            <a:endParaRPr lang="en-US" altLang="zh-CN" sz="18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473" name="Group 56"/>
          <p:cNvGrpSpPr/>
          <p:nvPr/>
        </p:nvGrpSpPr>
        <p:grpSpPr>
          <a:xfrm>
            <a:off x="1182985" y="4667091"/>
            <a:ext cx="3919083" cy="904876"/>
            <a:chOff x="1094" y="2950"/>
            <a:chExt cx="2279" cy="570"/>
          </a:xfrm>
        </p:grpSpPr>
        <p:sp>
          <p:nvSpPr>
            <p:cNvPr id="1474" name="Rectangle 25"/>
            <p:cNvSpPr>
              <a:spLocks noChangeArrowheads="true"/>
            </p:cNvSpPr>
            <p:nvPr/>
          </p:nvSpPr>
          <p:spPr bwMode="auto">
            <a:xfrm>
              <a:off x="2010" y="2950"/>
              <a:ext cx="1363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待删除节点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1475" name="Group 52"/>
            <p:cNvGrpSpPr/>
            <p:nvPr/>
          </p:nvGrpSpPr>
          <p:grpSpPr>
            <a:xfrm>
              <a:off x="1094" y="3106"/>
              <a:ext cx="2240" cy="414"/>
              <a:chOff x="1094" y="2925"/>
              <a:chExt cx="2240" cy="414"/>
            </a:xfrm>
          </p:grpSpPr>
          <p:sp>
            <p:nvSpPr>
              <p:cNvPr id="1476" name="Rectangle 4"/>
              <p:cNvSpPr>
                <a:spLocks noChangeArrowheads="true"/>
              </p:cNvSpPr>
              <p:nvPr/>
            </p:nvSpPr>
            <p:spPr bwMode="auto">
              <a:xfrm>
                <a:off x="1928" y="3028"/>
                <a:ext cx="634" cy="272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algn="ctr"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data</a:t>
                </a:r>
                <a:endParaRPr lang="en-US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477" name="Rectangle 5"/>
              <p:cNvSpPr>
                <a:spLocks noChangeArrowheads="true"/>
              </p:cNvSpPr>
              <p:nvPr/>
            </p:nvSpPr>
            <p:spPr bwMode="auto">
              <a:xfrm>
                <a:off x="2562" y="3028"/>
                <a:ext cx="409" cy="27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 eaLnBrk="true" hangingPunct="true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</a:pPr>
                <a:r>
                  <a:rPr lang="zh-CN" altLang="en-US" sz="1800" b="true">
                    <a:latin typeface="华文中宋" panose="02010600040101010101" charset="-122"/>
                    <a:ea typeface="华文中宋" panose="02010600040101010101" charset="-122"/>
                  </a:rPr>
                  <a:t>n</a:t>
                </a: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ext</a:t>
                </a:r>
                <a:endParaRPr lang="zh-CN" altLang="zh-CN" sz="18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grpSp>
            <p:nvGrpSpPr>
              <p:cNvPr id="1478" name="Group 37"/>
              <p:cNvGrpSpPr/>
              <p:nvPr/>
            </p:nvGrpSpPr>
            <p:grpSpPr>
              <a:xfrm>
                <a:off x="1460" y="3157"/>
                <a:ext cx="467" cy="182"/>
                <a:chOff x="1324" y="3021"/>
                <a:chExt cx="467" cy="182"/>
              </a:xfrm>
            </p:grpSpPr>
            <p:sp>
              <p:nvSpPr>
                <p:cNvPr id="1479" name="Rectangle 8"/>
                <p:cNvSpPr>
                  <a:spLocks noChangeArrowheads="true"/>
                </p:cNvSpPr>
                <p:nvPr/>
              </p:nvSpPr>
              <p:spPr bwMode="auto">
                <a:xfrm>
                  <a:off x="1324" y="3021"/>
                  <a:ext cx="355" cy="182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anchor="ctr"/>
                <a:lstStyle/>
                <a:p>
                  <a:pPr algn="just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1800" b="true">
                      <a:latin typeface="华文中宋" panose="02010600040101010101" charset="-122"/>
                      <a:ea typeface="华文中宋" panose="02010600040101010101" charset="-122"/>
                    </a:rPr>
                    <a:t>  p</a:t>
                  </a:r>
                  <a:endParaRPr lang="en-US" altLang="zh-CN" sz="18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中宋" panose="02010600040101010101" charset="-122"/>
                    <a:ea typeface="华文中宋" panose="02010600040101010101" charset="-122"/>
                  </a:endParaRPr>
                </a:p>
              </p:txBody>
            </p:sp>
            <p:sp>
              <p:nvSpPr>
                <p:cNvPr id="1480" name="Line 39"/>
                <p:cNvSpPr>
                  <a:spLocks noChangeShapeType="true"/>
                </p:cNvSpPr>
                <p:nvPr/>
              </p:nvSpPr>
              <p:spPr bwMode="auto">
                <a:xfrm>
                  <a:off x="1565" y="3119"/>
                  <a:ext cx="22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/>
                </a:extLst>
              </p:spPr>
              <p:txBody>
                <a:bodyPr/>
                <a:lstStyle/>
                <a:p>
                  <a:pPr/>
                  <a:endParaRPr lang="zh-CN" altLang="en-US">
                    <a:latin typeface="华文中宋" panose="02010600040101010101" charset="-122"/>
                    <a:ea typeface="华文中宋" panose="02010600040101010101" charset="-122"/>
                  </a:endParaRPr>
                </a:p>
              </p:txBody>
            </p:sp>
          </p:grpSp>
          <p:sp>
            <p:nvSpPr>
              <p:cNvPr id="1481" name="Freeform 26"/>
              <p:cNvSpPr/>
              <p:nvPr/>
            </p:nvSpPr>
            <p:spPr bwMode="auto">
              <a:xfrm>
                <a:off x="2920" y="3113"/>
                <a:ext cx="414" cy="100"/>
              </a:xfrm>
              <a:custGeom>
                <a:avLst/>
                <a:gdLst>
                  <a:gd name="T0" fmla="*/ 0 w 318"/>
                  <a:gd name="T1" fmla="*/ 0 h 317"/>
                  <a:gd name="T2" fmla="*/ 2147483646 w 318"/>
                  <a:gd name="T3" fmla="*/ 0 h 317"/>
                  <a:gd name="T4" fmla="*/ 2147483646 w 318"/>
                  <a:gd name="T5" fmla="*/ 0 h 317"/>
                  <a:gd name="T6" fmla="*/ 0 60000 65536"/>
                  <a:gd name="T7" fmla="*/ 0 60000 65536"/>
                  <a:gd name="T8" fmla="*/ 0 60000 65536"/>
                  <a:gd name="T9" fmla="*/ 0 w 318"/>
                  <a:gd name="T10" fmla="*/ 0 h 317"/>
                  <a:gd name="T11" fmla="*/ 318 w 318"/>
                  <a:gd name="T12" fmla="*/ 317 h 3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8" h="317">
                    <a:moveTo>
                      <a:pt x="0" y="0"/>
                    </a:moveTo>
                    <a:cubicBezTo>
                      <a:pt x="19" y="87"/>
                      <a:pt x="38" y="174"/>
                      <a:pt x="91" y="227"/>
                    </a:cubicBezTo>
                    <a:cubicBezTo>
                      <a:pt x="144" y="280"/>
                      <a:pt x="231" y="298"/>
                      <a:pt x="318" y="317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482" name="Rectangle 50"/>
              <p:cNvSpPr>
                <a:spLocks noChangeArrowheads="true"/>
              </p:cNvSpPr>
              <p:nvPr/>
            </p:nvSpPr>
            <p:spPr bwMode="auto">
              <a:xfrm>
                <a:off x="1094" y="2925"/>
                <a:ext cx="1363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000" b="true">
                    <a:latin typeface="华文中宋" panose="02010600040101010101" charset="-122"/>
                    <a:ea typeface="华文中宋" panose="02010600040101010101" charset="-122"/>
                  </a:rPr>
                  <a:t>头节点</a:t>
                </a:r>
                <a:endParaRPr lang="zh-CN" altLang="en-US" sz="2000" b="true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</p:grpSp>
      <p:sp>
        <p:nvSpPr>
          <p:cNvPr id="1483" name="Freeform 51"/>
          <p:cNvSpPr/>
          <p:nvPr/>
        </p:nvSpPr>
        <p:spPr bwMode="auto">
          <a:xfrm>
            <a:off x="2302915" y="4492463"/>
            <a:ext cx="2732087" cy="720725"/>
          </a:xfrm>
          <a:custGeom>
            <a:avLst/>
            <a:gdLst>
              <a:gd name="T0" fmla="*/ 0 w 1995"/>
              <a:gd name="T1" fmla="*/ 2147483646 h 832"/>
              <a:gd name="T2" fmla="*/ 2147483646 w 1995"/>
              <a:gd name="T3" fmla="*/ 2147483646 h 832"/>
              <a:gd name="T4" fmla="*/ 2147483646 w 1995"/>
              <a:gd name="T5" fmla="*/ 2147483646 h 832"/>
              <a:gd name="T6" fmla="*/ 2147483646 w 1995"/>
              <a:gd name="T7" fmla="*/ 2147483646 h 832"/>
              <a:gd name="T8" fmla="*/ 2147483646 w 1995"/>
              <a:gd name="T9" fmla="*/ 2147483646 h 832"/>
              <a:gd name="T10" fmla="*/ 2147483646 w 1995"/>
              <a:gd name="T11" fmla="*/ 2147483646 h 832"/>
              <a:gd name="T12" fmla="*/ 2147483646 w 1995"/>
              <a:gd name="T13" fmla="*/ 2147483646 h 8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95"/>
              <a:gd name="T22" fmla="*/ 0 h 832"/>
              <a:gd name="T23" fmla="*/ 1995 w 1995"/>
              <a:gd name="T24" fmla="*/ 832 h 8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95" h="832">
                <a:moveTo>
                  <a:pt x="0" y="208"/>
                </a:moveTo>
                <a:cubicBezTo>
                  <a:pt x="44" y="143"/>
                  <a:pt x="88" y="78"/>
                  <a:pt x="210" y="52"/>
                </a:cubicBezTo>
                <a:cubicBezTo>
                  <a:pt x="332" y="26"/>
                  <a:pt x="525" y="52"/>
                  <a:pt x="735" y="52"/>
                </a:cubicBezTo>
                <a:cubicBezTo>
                  <a:pt x="945" y="52"/>
                  <a:pt x="1312" y="0"/>
                  <a:pt x="1470" y="52"/>
                </a:cubicBezTo>
                <a:cubicBezTo>
                  <a:pt x="1628" y="104"/>
                  <a:pt x="1628" y="260"/>
                  <a:pt x="1680" y="364"/>
                </a:cubicBezTo>
                <a:cubicBezTo>
                  <a:pt x="1732" y="468"/>
                  <a:pt x="1733" y="598"/>
                  <a:pt x="1785" y="676"/>
                </a:cubicBezTo>
                <a:cubicBezTo>
                  <a:pt x="1837" y="754"/>
                  <a:pt x="1960" y="806"/>
                  <a:pt x="1995" y="8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oval" w="sm" len="sm"/>
            <a:tailEnd type="triangle" w="med" len="med"/>
          </a:ln>
          <a:extLst>
            <a:ext uri="{909E8E84-426E-40DD-AFC4-6F175D3DCCD1}"/>
          </a:extLst>
        </p:spPr>
        <p:txBody>
          <a:bodyPr lIns="0" tIns="0" rIns="0" bIns="0"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84" name="Rectangle 55"/>
          <p:cNvSpPr>
            <a:spLocks noChangeArrowheads="true"/>
          </p:cNvSpPr>
          <p:nvPr/>
        </p:nvSpPr>
        <p:spPr bwMode="auto">
          <a:xfrm>
            <a:off x="1122670" y="3801583"/>
            <a:ext cx="397986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) 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free(p)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85" name="Rectangle 64"/>
          <p:cNvSpPr>
            <a:spLocks noChangeArrowheads="true"/>
          </p:cNvSpPr>
          <p:nvPr/>
        </p:nvSpPr>
        <p:spPr bwMode="auto">
          <a:xfrm>
            <a:off x="7453001" y="4188999"/>
            <a:ext cx="4407313" cy="1354217"/>
          </a:xfrm>
          <a:prstGeom prst="rect">
            <a:avLst/>
          </a:prstGeom>
          <a:solidFill>
            <a:srgbClr val="FFFFCC"/>
          </a:solidFill>
          <a:ln w="12700">
            <a:solidFill>
              <a:srgbClr val="2DAB24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 sz="2000" b="true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free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(p);</a:t>
            </a:r>
            <a:endParaRPr lang="en-US" altLang="zh-CN" sz="2000" b="true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</a:rPr>
              <a:t>//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</a:rPr>
              <a:t>释放指针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</a:rPr>
              <a:t>p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</a:rPr>
              <a:t>指向的内存块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90000"/>
              </a:lnSpc>
              <a:spcBef>
                <a:spcPts val="590"/>
              </a:spcBef>
              <a:buClr>
                <a:schemeClr val="tx2"/>
              </a:buClr>
              <a:buSzPct val="80000"/>
              <a:defRPr/>
            </a:pP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</a:rPr>
              <a:t>//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</a:rPr>
              <a:t>及时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</a:rPr>
              <a:t>free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</a:rPr>
              <a:t>不用的内存块，避免产生内存碎片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86" name="矩形 1"/>
          <p:cNvSpPr/>
          <p:nvPr/>
        </p:nvSpPr>
        <p:spPr>
          <a:xfrm>
            <a:off x="7777496" y="5817207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O(1)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1487" name="图片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55" y="4407420"/>
            <a:ext cx="388673" cy="443818"/>
          </a:xfrm>
          <a:prstGeom prst="rect">
            <a:avLst/>
          </a:prstGeom>
        </p:spPr>
      </p:pic>
      <p:graphicFrame>
        <p:nvGraphicFramePr>
          <p:cNvPr id="1488" name="table 706"/>
          <p:cNvGraphicFramePr/>
          <p:nvPr/>
        </p:nvGraphicFramePr>
        <p:xfrm>
          <a:off x="7906385" y="2464435"/>
          <a:ext cx="3562985" cy="149987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6298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49987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489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9" dur="500" fill="hold"/>
                                        <p:tgtEl>
                                          <p:spTgt spid="1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500" fill="hold"/>
                                        <p:tgtEl>
                                          <p:spTgt spid="1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1" dur="500"/>
                                        <p:tgtEl>
                                          <p:spTgt spid="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62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63" dur="500"/>
                                        <p:tgtEl>
                                          <p:spTgt spid="1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76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7" dur="500"/>
                                        <p:tgtEl>
                                          <p:spTgt spid="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500" fill="hold"/>
                                        <p:tgtEl>
                                          <p:spTgt spid="1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500"/>
                                        <p:tgtEl>
                                          <p:spTgt spid="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5" dur="500" fill="hold"/>
                                        <p:tgtEl>
                                          <p:spTgt spid="1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6" dur="500" fill="hold"/>
                                        <p:tgtEl>
                                          <p:spTgt spid="1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7" dur="500"/>
                                        <p:tgtEl>
                                          <p:spTgt spid="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78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79" dur="500"/>
                                        <p:tgtEl>
                                          <p:spTgt spid="1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4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Rectangle 2"/>
          <p:cNvSpPr>
            <a:spLocks noGrp="true"/>
          </p:cNvSpPr>
          <p:nvPr>
            <p:ph type="title"/>
          </p:nvPr>
        </p:nvSpPr>
        <p:spPr>
          <a:xfrm>
            <a:off x="2859405" y="582930"/>
            <a:ext cx="646811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7.4.3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带头链表的删除操作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492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7141210" cy="1005205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若待删除节点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是中间或尾节点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，则将前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一节点的指针域指向当前节点的下一节点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493" name="Rectangle 8"/>
          <p:cNvSpPr>
            <a:spLocks noChangeArrowheads="true"/>
          </p:cNvSpPr>
          <p:nvPr/>
        </p:nvSpPr>
        <p:spPr bwMode="auto">
          <a:xfrm>
            <a:off x="1623459" y="2478448"/>
            <a:ext cx="397986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(1) pr-&gt;next = p-&gt;next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494" name="Group 37"/>
          <p:cNvGrpSpPr/>
          <p:nvPr/>
        </p:nvGrpSpPr>
        <p:grpSpPr>
          <a:xfrm>
            <a:off x="2416175" y="3680124"/>
            <a:ext cx="2116138" cy="431800"/>
            <a:chOff x="567" y="2704"/>
            <a:chExt cx="1230" cy="272"/>
          </a:xfrm>
        </p:grpSpPr>
        <p:sp>
          <p:nvSpPr>
            <p:cNvPr id="1495" name="Rectangle 4"/>
            <p:cNvSpPr>
              <a:spLocks noChangeArrowheads="true"/>
            </p:cNvSpPr>
            <p:nvPr/>
          </p:nvSpPr>
          <p:spPr bwMode="auto">
            <a:xfrm>
              <a:off x="754" y="2704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496" name="Rectangle 5"/>
            <p:cNvSpPr>
              <a:spLocks noChangeArrowheads="true"/>
            </p:cNvSpPr>
            <p:nvPr/>
          </p:nvSpPr>
          <p:spPr bwMode="auto">
            <a:xfrm>
              <a:off x="1388" y="2704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497" name="Freeform 26"/>
            <p:cNvSpPr/>
            <p:nvPr/>
          </p:nvSpPr>
          <p:spPr bwMode="auto">
            <a:xfrm>
              <a:off x="567" y="2750"/>
              <a:ext cx="187" cy="135"/>
            </a:xfrm>
            <a:custGeom>
              <a:avLst/>
              <a:gdLst>
                <a:gd name="T0" fmla="*/ 0 w 318"/>
                <a:gd name="T1" fmla="*/ 0 h 317"/>
                <a:gd name="T2" fmla="*/ 53 w 318"/>
                <a:gd name="T3" fmla="*/ 0 h 317"/>
                <a:gd name="T4" fmla="*/ 53 w 318"/>
                <a:gd name="T5" fmla="*/ 0 h 317"/>
                <a:gd name="T6" fmla="*/ 0 60000 65536"/>
                <a:gd name="T7" fmla="*/ 0 60000 65536"/>
                <a:gd name="T8" fmla="*/ 0 60000 65536"/>
                <a:gd name="T9" fmla="*/ 0 w 318"/>
                <a:gd name="T10" fmla="*/ 0 h 317"/>
                <a:gd name="T11" fmla="*/ 318 w 318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8" h="317">
                  <a:moveTo>
                    <a:pt x="0" y="0"/>
                  </a:moveTo>
                  <a:cubicBezTo>
                    <a:pt x="19" y="87"/>
                    <a:pt x="38" y="174"/>
                    <a:pt x="91" y="227"/>
                  </a:cubicBezTo>
                  <a:cubicBezTo>
                    <a:pt x="144" y="280"/>
                    <a:pt x="231" y="298"/>
                    <a:pt x="318" y="3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1498" name="Group 38"/>
          <p:cNvGrpSpPr/>
          <p:nvPr/>
        </p:nvGrpSpPr>
        <p:grpSpPr>
          <a:xfrm>
            <a:off x="4513263" y="3907136"/>
            <a:ext cx="2114550" cy="431800"/>
            <a:chOff x="567" y="2704"/>
            <a:chExt cx="1230" cy="272"/>
          </a:xfrm>
        </p:grpSpPr>
        <p:sp>
          <p:nvSpPr>
            <p:cNvPr id="1499" name="Rectangle 4"/>
            <p:cNvSpPr>
              <a:spLocks noChangeArrowheads="true"/>
            </p:cNvSpPr>
            <p:nvPr/>
          </p:nvSpPr>
          <p:spPr bwMode="auto">
            <a:xfrm>
              <a:off x="754" y="2704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00" name="Rectangle 5"/>
            <p:cNvSpPr>
              <a:spLocks noChangeArrowheads="true"/>
            </p:cNvSpPr>
            <p:nvPr/>
          </p:nvSpPr>
          <p:spPr bwMode="auto">
            <a:xfrm>
              <a:off x="1388" y="2704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01" name="Freeform 26"/>
            <p:cNvSpPr/>
            <p:nvPr/>
          </p:nvSpPr>
          <p:spPr bwMode="auto">
            <a:xfrm>
              <a:off x="567" y="2750"/>
              <a:ext cx="187" cy="135"/>
            </a:xfrm>
            <a:custGeom>
              <a:avLst/>
              <a:gdLst>
                <a:gd name="T0" fmla="*/ 0 w 318"/>
                <a:gd name="T1" fmla="*/ 0 h 317"/>
                <a:gd name="T2" fmla="*/ 53 w 318"/>
                <a:gd name="T3" fmla="*/ 0 h 317"/>
                <a:gd name="T4" fmla="*/ 53 w 318"/>
                <a:gd name="T5" fmla="*/ 0 h 317"/>
                <a:gd name="T6" fmla="*/ 0 60000 65536"/>
                <a:gd name="T7" fmla="*/ 0 60000 65536"/>
                <a:gd name="T8" fmla="*/ 0 60000 65536"/>
                <a:gd name="T9" fmla="*/ 0 w 318"/>
                <a:gd name="T10" fmla="*/ 0 h 317"/>
                <a:gd name="T11" fmla="*/ 318 w 318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8" h="317">
                  <a:moveTo>
                    <a:pt x="0" y="0"/>
                  </a:moveTo>
                  <a:cubicBezTo>
                    <a:pt x="19" y="87"/>
                    <a:pt x="38" y="174"/>
                    <a:pt x="91" y="227"/>
                  </a:cubicBezTo>
                  <a:cubicBezTo>
                    <a:pt x="144" y="280"/>
                    <a:pt x="231" y="298"/>
                    <a:pt x="318" y="3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1502" name="Group 50"/>
          <p:cNvGrpSpPr/>
          <p:nvPr/>
        </p:nvGrpSpPr>
        <p:grpSpPr>
          <a:xfrm>
            <a:off x="6096000" y="3881736"/>
            <a:ext cx="3065463" cy="1166813"/>
            <a:chOff x="2479" y="2580"/>
            <a:chExt cx="1782" cy="735"/>
          </a:xfrm>
        </p:grpSpPr>
        <p:sp>
          <p:nvSpPr>
            <p:cNvPr id="1503" name="Rectangle 6"/>
            <p:cNvSpPr>
              <a:spLocks noChangeArrowheads="true"/>
            </p:cNvSpPr>
            <p:nvPr/>
          </p:nvSpPr>
          <p:spPr bwMode="auto">
            <a:xfrm>
              <a:off x="2900" y="2580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待删除节点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04" name="Rectangle 4"/>
            <p:cNvSpPr>
              <a:spLocks noChangeArrowheads="true"/>
            </p:cNvSpPr>
            <p:nvPr/>
          </p:nvSpPr>
          <p:spPr bwMode="auto">
            <a:xfrm>
              <a:off x="2947" y="2822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05" name="Rectangle 5"/>
            <p:cNvSpPr>
              <a:spLocks noChangeArrowheads="true"/>
            </p:cNvSpPr>
            <p:nvPr/>
          </p:nvSpPr>
          <p:spPr bwMode="auto">
            <a:xfrm>
              <a:off x="3581" y="2822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1506" name="Group 16"/>
            <p:cNvGrpSpPr/>
            <p:nvPr/>
          </p:nvGrpSpPr>
          <p:grpSpPr>
            <a:xfrm>
              <a:off x="2479" y="2951"/>
              <a:ext cx="467" cy="182"/>
              <a:chOff x="1324" y="3021"/>
              <a:chExt cx="467" cy="182"/>
            </a:xfrm>
          </p:grpSpPr>
          <p:sp>
            <p:nvSpPr>
              <p:cNvPr id="1507" name="Rectangle 8"/>
              <p:cNvSpPr>
                <a:spLocks noChangeArrowheads="true"/>
              </p:cNvSpPr>
              <p:nvPr/>
            </p:nvSpPr>
            <p:spPr bwMode="auto">
              <a:xfrm>
                <a:off x="1324" y="3021"/>
                <a:ext cx="355" cy="18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/>
              <a:lstStyle/>
              <a:p>
                <a:pPr algn="just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1800" b="true">
                    <a:latin typeface="华文中宋" panose="02010600040101010101" charset="-122"/>
                    <a:ea typeface="华文中宋" panose="02010600040101010101" charset="-122"/>
                  </a:rPr>
                  <a:t>  p</a:t>
                </a:r>
                <a:endParaRPr lang="en-US" altLang="zh-CN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508" name="Line 18"/>
              <p:cNvSpPr>
                <a:spLocks noChangeShapeType="true"/>
              </p:cNvSpPr>
              <p:nvPr/>
            </p:nvSpPr>
            <p:spPr bwMode="auto">
              <a:xfrm>
                <a:off x="1565" y="3119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/>
              </a:extLst>
            </p:spPr>
            <p:txBody>
              <a:bodyPr/>
              <a:lstStyle/>
              <a:p>
                <a:pPr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sp>
          <p:nvSpPr>
            <p:cNvPr id="1509" name="Rectangle 20"/>
            <p:cNvSpPr>
              <a:spLocks noChangeArrowheads="true"/>
            </p:cNvSpPr>
            <p:nvPr/>
          </p:nvSpPr>
          <p:spPr bwMode="auto">
            <a:xfrm>
              <a:off x="2900" y="3084"/>
              <a:ext cx="1361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  <a:defRPr/>
              </a:pPr>
              <a:r>
                <a:rPr lang="zh-CN" altLang="en-US" sz="2000" b="true">
                  <a:latin typeface="华文中宋" panose="02010600040101010101" charset="-122"/>
                  <a:ea typeface="华文中宋" panose="02010600040101010101" charset="-122"/>
                </a:rPr>
                <a:t>中间节点</a:t>
              </a:r>
              <a:endParaRPr lang="zh-CN" altLang="en-US" sz="20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10" name="Freeform 26"/>
            <p:cNvSpPr/>
            <p:nvPr/>
          </p:nvSpPr>
          <p:spPr bwMode="auto">
            <a:xfrm>
              <a:off x="3970" y="2998"/>
              <a:ext cx="187" cy="135"/>
            </a:xfrm>
            <a:custGeom>
              <a:avLst/>
              <a:gdLst>
                <a:gd name="T0" fmla="*/ 0 w 318"/>
                <a:gd name="T1" fmla="*/ 0 h 317"/>
                <a:gd name="T2" fmla="*/ 53 w 318"/>
                <a:gd name="T3" fmla="*/ 0 h 317"/>
                <a:gd name="T4" fmla="*/ 53 w 318"/>
                <a:gd name="T5" fmla="*/ 0 h 317"/>
                <a:gd name="T6" fmla="*/ 0 60000 65536"/>
                <a:gd name="T7" fmla="*/ 0 60000 65536"/>
                <a:gd name="T8" fmla="*/ 0 60000 65536"/>
                <a:gd name="T9" fmla="*/ 0 w 318"/>
                <a:gd name="T10" fmla="*/ 0 h 317"/>
                <a:gd name="T11" fmla="*/ 318 w 318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8" h="317">
                  <a:moveTo>
                    <a:pt x="0" y="0"/>
                  </a:moveTo>
                  <a:cubicBezTo>
                    <a:pt x="19" y="87"/>
                    <a:pt x="38" y="174"/>
                    <a:pt x="91" y="227"/>
                  </a:cubicBezTo>
                  <a:cubicBezTo>
                    <a:pt x="144" y="280"/>
                    <a:pt x="231" y="298"/>
                    <a:pt x="318" y="3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511" name="Freeform 26"/>
          <p:cNvSpPr/>
          <p:nvPr/>
        </p:nvSpPr>
        <p:spPr bwMode="auto">
          <a:xfrm>
            <a:off x="6599238" y="4184949"/>
            <a:ext cx="322262" cy="214312"/>
          </a:xfrm>
          <a:custGeom>
            <a:avLst/>
            <a:gdLst>
              <a:gd name="T0" fmla="*/ 0 w 318"/>
              <a:gd name="T1" fmla="*/ 0 h 317"/>
              <a:gd name="T2" fmla="*/ 2147483646 w 318"/>
              <a:gd name="T3" fmla="*/ 2147483646 h 317"/>
              <a:gd name="T4" fmla="*/ 2147483646 w 318"/>
              <a:gd name="T5" fmla="*/ 2147483646 h 317"/>
              <a:gd name="T6" fmla="*/ 0 60000 65536"/>
              <a:gd name="T7" fmla="*/ 0 60000 65536"/>
              <a:gd name="T8" fmla="*/ 0 60000 65536"/>
              <a:gd name="T9" fmla="*/ 0 w 318"/>
              <a:gd name="T10" fmla="*/ 0 h 317"/>
              <a:gd name="T11" fmla="*/ 318 w 318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" h="317">
                <a:moveTo>
                  <a:pt x="0" y="0"/>
                </a:moveTo>
                <a:cubicBezTo>
                  <a:pt x="19" y="87"/>
                  <a:pt x="38" y="174"/>
                  <a:pt x="91" y="227"/>
                </a:cubicBezTo>
                <a:cubicBezTo>
                  <a:pt x="144" y="280"/>
                  <a:pt x="231" y="298"/>
                  <a:pt x="318" y="31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512" name="Freeform 21"/>
          <p:cNvSpPr/>
          <p:nvPr/>
        </p:nvSpPr>
        <p:spPr bwMode="auto">
          <a:xfrm>
            <a:off x="6611938" y="3753149"/>
            <a:ext cx="2393950" cy="863600"/>
          </a:xfrm>
          <a:custGeom>
            <a:avLst/>
            <a:gdLst>
              <a:gd name="T0" fmla="*/ 0 w 1995"/>
              <a:gd name="T1" fmla="*/ 2147483646 h 832"/>
              <a:gd name="T2" fmla="*/ 2147483646 w 1995"/>
              <a:gd name="T3" fmla="*/ 2147483646 h 832"/>
              <a:gd name="T4" fmla="*/ 2147483646 w 1995"/>
              <a:gd name="T5" fmla="*/ 2147483646 h 832"/>
              <a:gd name="T6" fmla="*/ 2147483646 w 1995"/>
              <a:gd name="T7" fmla="*/ 2147483646 h 832"/>
              <a:gd name="T8" fmla="*/ 2147483646 w 1995"/>
              <a:gd name="T9" fmla="*/ 2147483646 h 832"/>
              <a:gd name="T10" fmla="*/ 2147483646 w 1995"/>
              <a:gd name="T11" fmla="*/ 2147483646 h 832"/>
              <a:gd name="T12" fmla="*/ 2147483646 w 1995"/>
              <a:gd name="T13" fmla="*/ 2147483646 h 8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95"/>
              <a:gd name="T22" fmla="*/ 0 h 832"/>
              <a:gd name="T23" fmla="*/ 1995 w 1995"/>
              <a:gd name="T24" fmla="*/ 832 h 8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95" h="832">
                <a:moveTo>
                  <a:pt x="0" y="208"/>
                </a:moveTo>
                <a:cubicBezTo>
                  <a:pt x="44" y="143"/>
                  <a:pt x="88" y="78"/>
                  <a:pt x="210" y="52"/>
                </a:cubicBezTo>
                <a:cubicBezTo>
                  <a:pt x="332" y="26"/>
                  <a:pt x="525" y="52"/>
                  <a:pt x="735" y="52"/>
                </a:cubicBezTo>
                <a:cubicBezTo>
                  <a:pt x="945" y="52"/>
                  <a:pt x="1312" y="0"/>
                  <a:pt x="1470" y="52"/>
                </a:cubicBezTo>
                <a:cubicBezTo>
                  <a:pt x="1628" y="104"/>
                  <a:pt x="1628" y="260"/>
                  <a:pt x="1680" y="364"/>
                </a:cubicBezTo>
                <a:cubicBezTo>
                  <a:pt x="1732" y="468"/>
                  <a:pt x="1733" y="598"/>
                  <a:pt x="1785" y="676"/>
                </a:cubicBezTo>
                <a:cubicBezTo>
                  <a:pt x="1837" y="754"/>
                  <a:pt x="1960" y="806"/>
                  <a:pt x="1995" y="8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oval" w="sm" len="sm"/>
            <a:tailEnd type="triangle" w="med" len="med"/>
          </a:ln>
          <a:extLst>
            <a:ext uri="{909E8E84-426E-40DD-AFC4-6F175D3DCCD1}"/>
          </a:extLst>
        </p:spPr>
        <p:txBody>
          <a:bodyPr lIns="0" tIns="0" rIns="0" bIns="0"/>
          <a:lstStyle/>
          <a:p>
            <a:pPr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513" name="Group 49"/>
          <p:cNvGrpSpPr/>
          <p:nvPr/>
        </p:nvGrpSpPr>
        <p:grpSpPr>
          <a:xfrm>
            <a:off x="8980488" y="4472286"/>
            <a:ext cx="2095500" cy="503238"/>
            <a:chOff x="4157" y="2952"/>
            <a:chExt cx="1218" cy="317"/>
          </a:xfrm>
        </p:grpSpPr>
        <p:sp>
          <p:nvSpPr>
            <p:cNvPr id="1514" name="Rectangle 4"/>
            <p:cNvSpPr>
              <a:spLocks noChangeArrowheads="true"/>
            </p:cNvSpPr>
            <p:nvPr/>
          </p:nvSpPr>
          <p:spPr bwMode="auto">
            <a:xfrm>
              <a:off x="4157" y="2952"/>
              <a:ext cx="634" cy="27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algn="ctr"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data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15" name="Rectangle 5"/>
            <p:cNvSpPr>
              <a:spLocks noChangeArrowheads="true"/>
            </p:cNvSpPr>
            <p:nvPr/>
          </p:nvSpPr>
          <p:spPr bwMode="auto">
            <a:xfrm>
              <a:off x="4791" y="2952"/>
              <a:ext cx="409" cy="2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zh-CN" altLang="en-US" sz="1800" b="true">
                  <a:latin typeface="华文中宋" panose="02010600040101010101" charset="-122"/>
                  <a:ea typeface="华文中宋" panose="02010600040101010101" charset="-122"/>
                </a:rPr>
                <a:t>n</a:t>
              </a: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ext</a:t>
              </a:r>
              <a:endParaRPr lang="zh-CN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16" name="Freeform 26"/>
            <p:cNvSpPr/>
            <p:nvPr/>
          </p:nvSpPr>
          <p:spPr bwMode="auto">
            <a:xfrm>
              <a:off x="5188" y="3134"/>
              <a:ext cx="187" cy="135"/>
            </a:xfrm>
            <a:custGeom>
              <a:avLst/>
              <a:gdLst>
                <a:gd name="T0" fmla="*/ 0 w 318"/>
                <a:gd name="T1" fmla="*/ 0 h 317"/>
                <a:gd name="T2" fmla="*/ 53 w 318"/>
                <a:gd name="T3" fmla="*/ 0 h 317"/>
                <a:gd name="T4" fmla="*/ 53 w 318"/>
                <a:gd name="T5" fmla="*/ 0 h 317"/>
                <a:gd name="T6" fmla="*/ 0 60000 65536"/>
                <a:gd name="T7" fmla="*/ 0 60000 65536"/>
                <a:gd name="T8" fmla="*/ 0 60000 65536"/>
                <a:gd name="T9" fmla="*/ 0 w 318"/>
                <a:gd name="T10" fmla="*/ 0 h 317"/>
                <a:gd name="T11" fmla="*/ 318 w 318"/>
                <a:gd name="T12" fmla="*/ 317 h 3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8" h="317">
                  <a:moveTo>
                    <a:pt x="0" y="0"/>
                  </a:moveTo>
                  <a:cubicBezTo>
                    <a:pt x="19" y="87"/>
                    <a:pt x="38" y="174"/>
                    <a:pt x="91" y="227"/>
                  </a:cubicBezTo>
                  <a:cubicBezTo>
                    <a:pt x="144" y="280"/>
                    <a:pt x="231" y="298"/>
                    <a:pt x="318" y="3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517" name="Rectangle 48"/>
          <p:cNvSpPr>
            <a:spLocks noChangeArrowheads="true"/>
          </p:cNvSpPr>
          <p:nvPr/>
        </p:nvSpPr>
        <p:spPr bwMode="auto">
          <a:xfrm>
            <a:off x="1623459" y="2983273"/>
            <a:ext cx="397986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(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2</a:t>
            </a:r>
            <a:r>
              <a:rPr lang="en-US" altLang="en-US" sz="2000" b="true">
                <a:latin typeface="华文中宋" panose="02010600040101010101" charset="-122"/>
                <a:ea typeface="华文中宋" panose="02010600040101010101" charset="-122"/>
              </a:rPr>
              <a:t>) </a:t>
            </a:r>
            <a:r>
              <a:rPr lang="en-US" altLang="zh-CN" sz="2000" b="true">
                <a:latin typeface="华文中宋" panose="02010600040101010101" charset="-122"/>
                <a:ea typeface="华文中宋" panose="02010600040101010101" charset="-122"/>
              </a:rPr>
              <a:t>free(p)</a:t>
            </a:r>
            <a:endParaRPr lang="zh-CN" altLang="en-US" sz="2000" b="true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518" name="Group 44"/>
          <p:cNvGrpSpPr/>
          <p:nvPr/>
        </p:nvGrpSpPr>
        <p:grpSpPr>
          <a:xfrm>
            <a:off x="4011613" y="4151611"/>
            <a:ext cx="803275" cy="288925"/>
            <a:chOff x="1324" y="3021"/>
            <a:chExt cx="467" cy="182"/>
          </a:xfrm>
        </p:grpSpPr>
        <p:sp>
          <p:nvSpPr>
            <p:cNvPr id="1519" name="Rectangle 8"/>
            <p:cNvSpPr>
              <a:spLocks noChangeArrowheads="true"/>
            </p:cNvSpPr>
            <p:nvPr/>
          </p:nvSpPr>
          <p:spPr bwMode="auto">
            <a:xfrm>
              <a:off x="1324" y="3021"/>
              <a:ext cx="355" cy="1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just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pr</a:t>
              </a:r>
              <a:endParaRPr lang="en-US" altLang="zh-CN" sz="1800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20" name="Line 21"/>
            <p:cNvSpPr>
              <a:spLocks noChangeShapeType="true"/>
            </p:cNvSpPr>
            <p:nvPr/>
          </p:nvSpPr>
          <p:spPr bwMode="auto">
            <a:xfrm>
              <a:off x="1565" y="3119"/>
              <a:ext cx="2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/>
            </a:extLst>
          </p:spPr>
          <p:txBody>
            <a:bodyPr/>
            <a:lstStyle/>
            <a:p>
              <a:pPr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1521" name="矩形 3"/>
          <p:cNvSpPr/>
          <p:nvPr/>
        </p:nvSpPr>
        <p:spPr>
          <a:xfrm>
            <a:off x="8250616" y="5248893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O(1)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522" name="组合 4"/>
          <p:cNvGrpSpPr/>
          <p:nvPr/>
        </p:nvGrpSpPr>
        <p:grpSpPr>
          <a:xfrm>
            <a:off x="1073152" y="3449936"/>
            <a:ext cx="1472006" cy="447096"/>
            <a:chOff x="1073152" y="4023976"/>
            <a:chExt cx="1472006" cy="447096"/>
          </a:xfrm>
        </p:grpSpPr>
        <p:sp>
          <p:nvSpPr>
            <p:cNvPr id="1523" name="Rectangle 27"/>
            <p:cNvSpPr>
              <a:spLocks noChangeArrowheads="true"/>
            </p:cNvSpPr>
            <p:nvPr/>
          </p:nvSpPr>
          <p:spPr bwMode="auto">
            <a:xfrm>
              <a:off x="2156221" y="4030394"/>
              <a:ext cx="388937" cy="4318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endParaRPr lang="zh-CN" altLang="en-US" sz="18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524" name="Rectangle 32"/>
            <p:cNvSpPr>
              <a:spLocks noChangeArrowheads="true"/>
            </p:cNvSpPr>
            <p:nvPr/>
          </p:nvSpPr>
          <p:spPr bwMode="auto">
            <a:xfrm>
              <a:off x="1073152" y="4023976"/>
              <a:ext cx="5461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defRPr>
              </a:lvl9pPr>
            </a:lstStyle>
            <a:p>
              <a:pPr eaLnBrk="true" hangingPunct="true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SzPct val="80000"/>
                <a:buFont typeface="Wingdings" panose="05000000000000000000" pitchFamily="2" charset="2"/>
                <a:buNone/>
              </a:pPr>
              <a:r>
                <a:rPr lang="en-US" altLang="zh-CN" sz="1800" b="true">
                  <a:latin typeface="华文中宋" panose="02010600040101010101" charset="-122"/>
                  <a:ea typeface="华文中宋" panose="02010600040101010101" charset="-122"/>
                </a:rPr>
                <a:t>head</a:t>
              </a:r>
              <a:endParaRPr lang="en-US" altLang="zh-CN" sz="1800" b="true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pic>
          <p:nvPicPr>
            <p:cNvPr id="1525" name="图片 25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76811" y="4027254"/>
              <a:ext cx="388673" cy="443818"/>
            </a:xfrm>
            <a:prstGeom prst="rect">
              <a:avLst/>
            </a:prstGeom>
          </p:spPr>
        </p:pic>
      </p:grpSp>
      <p:graphicFrame>
        <p:nvGraphicFramePr>
          <p:cNvPr id="1526" name="table 706"/>
          <p:cNvGraphicFramePr/>
          <p:nvPr/>
        </p:nvGraphicFramePr>
        <p:xfrm>
          <a:off x="7945755" y="2061210"/>
          <a:ext cx="3549015" cy="1474470"/>
        </p:xfrm>
        <a:graphic>
          <a:graphicData uri="http://schemas.openxmlformats.org/drawingml/2006/table">
            <a:tbl>
              <a:tblPr>
                <a:solidFill>
                  <a:srgbClr val="FFFFCC"/>
                </a:solidFill>
              </a:tblPr>
              <a:tblGrid>
                <a:gridCol w="3549015">
                  <a:extLst>
                    <a:ext uri="{9D8B030D-6E8A-4147-A177-3AD203B41FA5}">
                      <a16:colId val="1"/>
                    </a:ext>
                  </a:extLst>
                </a:gridCol>
              </a:tblGrid>
              <a:tr h="1474470">
                <a:tc>
                  <a:txBody>
                    <a:bodyPr/>
                    <a:lstStyle/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struct link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{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chemeClr val="tx1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int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data;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  <a:p>
                      <a:pPr marL="0" lvl="1" eaLnBrk="true">
                        <a:lnSpc>
                          <a:spcPct val="90000"/>
                        </a:lnSpc>
                        <a:spcBef>
                          <a:spcPct val="1"/>
                        </a:spcBef>
                        <a:buFontTx/>
                        <a:buNone/>
                      </a:pP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    </a:t>
                      </a:r>
                      <a:r>
                        <a:rPr lang="en-US" altLang="zh-CN" sz="2000" b="true">
                          <a:solidFill>
                            <a:srgbClr val="C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struct link *</a:t>
                      </a: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next;</a:t>
                      </a:r>
                      <a:b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</a:br>
                      <a:r>
                        <a:rPr lang="en-US" altLang="zh-CN" sz="2000" b="true">
                          <a:solidFill>
                            <a:srgbClr val="000000"/>
                          </a:solidFill>
                          <a:latin typeface="Courier New" panose="02070409020205090404" pitchFamily="49" charset="0"/>
                          <a:ea typeface="华文中宋" panose="02010600040101010101" charset="-122"/>
                          <a:cs typeface="Courier New" panose="02070409020205090404" pitchFamily="49" charset="0"/>
                        </a:rPr>
                        <a:t> };</a:t>
                      </a:r>
                      <a:endParaRPr lang="en-US" altLang="zh-CN" sz="2000" b="true">
                        <a:solidFill>
                          <a:srgbClr val="000000"/>
                        </a:solidFill>
                        <a:latin typeface="Courier New" panose="02070409020205090404" pitchFamily="49" charset="0"/>
                        <a:ea typeface="华文中宋" panose="02010600040101010101" charset="-122"/>
                        <a:cs typeface="Courier New" panose="020704090202050904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sp>
        <p:nvSpPr>
          <p:cNvPr id="1527" name="Rectangle 3"/>
          <p:cNvSpPr>
            <a:spLocks noGrp="true"/>
          </p:cNvSpPr>
          <p:nvPr/>
        </p:nvSpPr>
        <p:spPr>
          <a:xfrm>
            <a:off x="262890" y="5229225"/>
            <a:ext cx="7141210" cy="1005205"/>
          </a:xfrm>
          <a:prstGeom prst="rect">
            <a:avLst/>
          </a:prstGeom>
        </p:spPr>
        <p:txBody>
          <a:bodyPr vert="horz" wrap="square" lIns="91440" tIns="45720" rIns="91440" bIns="45720" rtlCol="false" anchor="t" anchorCtr="false">
            <a:noAutofit/>
          </a:bodyPr>
          <a:lstStyle>
            <a:lvl1pPr marL="228600" indent="-22860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若已搜索到表尾（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p-&gt;next == NULL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仍未找到待删除节点，则显示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“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未找到</a:t>
            </a:r>
            <a:r>
              <a:rPr lang="en-US" altLang="zh-CN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”</a:t>
            </a:r>
            <a:endParaRPr lang="en-US" altLang="zh-CN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528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5" dur="500" fill="hold"/>
                                        <p:tgtEl>
                                          <p:spTgt spid="1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6" dur="500" fill="hold"/>
                                        <p:tgtEl>
                                          <p:spTgt spid="1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7" dur="5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89" dur="500"/>
                                        <p:tgtEl>
                                          <p:spTgt spid="1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79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3" dur="500"/>
                                        <p:tgtEl>
                                          <p:spTgt spid="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6" dur="500" fill="hold"/>
                                        <p:tgtEl>
                                          <p:spTgt spid="1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7" dur="500" fill="hold"/>
                                        <p:tgtEl>
                                          <p:spTgt spid="1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8" dur="5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9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00" dur="500"/>
                                        <p:tgtEl>
                                          <p:spTgt spid="1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4" dur="500" fill="hold"/>
                                        <p:tgtEl>
                                          <p:spTgt spid="1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5" dur="500" fill="hold"/>
                                        <p:tgtEl>
                                          <p:spTgt spid="1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6" dur="5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5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Rectangle 2"/>
          <p:cNvSpPr>
            <a:spLocks noGrp="true"/>
          </p:cNvSpPr>
          <p:nvPr>
            <p:ph type="title"/>
          </p:nvPr>
        </p:nvSpPr>
        <p:spPr>
          <a:xfrm>
            <a:off x="2859405" y="582930"/>
            <a:ext cx="646811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7.4.4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带头链表的查找操作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31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11030585" cy="659130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在单向链表中查找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尾节点</a:t>
            </a:r>
            <a:endParaRPr lang="zh-CN" altLang="en-US" dirty="false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1532" name="picture 31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39332" y="4114824"/>
            <a:ext cx="810006" cy="540004"/>
          </a:xfrm>
          <a:prstGeom prst="rect">
            <a:avLst/>
          </a:prstGeom>
        </p:spPr>
      </p:pic>
      <p:pic>
        <p:nvPicPr>
          <p:cNvPr id="1533" name="picture 3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52970" y="4549926"/>
            <a:ext cx="809993" cy="540004"/>
          </a:xfrm>
          <a:prstGeom prst="rect">
            <a:avLst/>
          </a:prstGeom>
        </p:spPr>
      </p:pic>
      <p:pic>
        <p:nvPicPr>
          <p:cNvPr id="1534" name="picture 3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734001" y="3635831"/>
            <a:ext cx="810005" cy="536397"/>
          </a:xfrm>
          <a:prstGeom prst="rect">
            <a:avLst/>
          </a:prstGeom>
        </p:spPr>
      </p:pic>
      <p:pic>
        <p:nvPicPr>
          <p:cNvPr id="1535" name="table"/>
          <p:cNvPicPr>
            <a:picLocks noGrp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181" y="4274210"/>
            <a:ext cx="984884" cy="336550"/>
          </a:xfrm>
          <a:prstGeom prst="rect">
            <a:avLst/>
          </a:prstGeom>
        </p:spPr>
      </p:pic>
      <p:pic>
        <p:nvPicPr>
          <p:cNvPr id="1536" name="table"/>
          <p:cNvPicPr>
            <a:picLocks noGrp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8981650" y="4706391"/>
            <a:ext cx="984884" cy="336550"/>
          </a:xfrm>
          <a:prstGeom prst="rect">
            <a:avLst/>
          </a:prstGeom>
        </p:spPr>
      </p:pic>
      <p:pic>
        <p:nvPicPr>
          <p:cNvPr id="1537" name="table"/>
          <p:cNvPicPr>
            <a:picLocks noGrp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1388" y="5138572"/>
            <a:ext cx="984884" cy="336550"/>
          </a:xfrm>
          <a:prstGeom prst="rect">
            <a:avLst/>
          </a:prstGeom>
        </p:spPr>
      </p:pic>
      <p:pic>
        <p:nvPicPr>
          <p:cNvPr id="1538" name="table"/>
          <p:cNvPicPr>
            <a:picLocks noGrp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787" y="4867109"/>
            <a:ext cx="812800" cy="382269"/>
          </a:xfrm>
          <a:prstGeom prst="rect">
            <a:avLst/>
          </a:prstGeom>
        </p:spPr>
      </p:pic>
      <p:pic>
        <p:nvPicPr>
          <p:cNvPr id="1539" name="table"/>
          <p:cNvPicPr>
            <a:picLocks noGrp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9421735" y="5308447"/>
            <a:ext cx="810894" cy="369569"/>
          </a:xfrm>
          <a:prstGeom prst="rect">
            <a:avLst/>
          </a:prstGeom>
        </p:spPr>
      </p:pic>
      <p:pic>
        <p:nvPicPr>
          <p:cNvPr id="1540" name="table"/>
          <p:cNvPicPr>
            <a:picLocks noGrp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8495875" y="4274210"/>
            <a:ext cx="281304" cy="336550"/>
          </a:xfrm>
          <a:prstGeom prst="rect">
            <a:avLst/>
          </a:prstGeom>
        </p:spPr>
      </p:pic>
      <p:pic>
        <p:nvPicPr>
          <p:cNvPr id="1541" name="picture 33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600904" y="4380382"/>
            <a:ext cx="385952" cy="462914"/>
          </a:xfrm>
          <a:prstGeom prst="rect">
            <a:avLst/>
          </a:prstGeom>
        </p:spPr>
      </p:pic>
      <p:pic>
        <p:nvPicPr>
          <p:cNvPr id="1542" name="table"/>
          <p:cNvPicPr>
            <a:picLocks noGrp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9954343" y="4706391"/>
            <a:ext cx="280034" cy="336550"/>
          </a:xfrm>
          <a:prstGeom prst="rect">
            <a:avLst/>
          </a:prstGeom>
        </p:spPr>
      </p:pic>
      <p:pic>
        <p:nvPicPr>
          <p:cNvPr id="1543" name="picture 33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058229" y="4812562"/>
            <a:ext cx="385952" cy="462864"/>
          </a:xfrm>
          <a:prstGeom prst="rect">
            <a:avLst/>
          </a:prstGeom>
        </p:spPr>
      </p:pic>
      <p:pic>
        <p:nvPicPr>
          <p:cNvPr id="1544" name="table"/>
          <p:cNvPicPr>
            <a:picLocks noGrp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5679" y="3842029"/>
            <a:ext cx="382904" cy="336550"/>
          </a:xfrm>
          <a:prstGeom prst="rect">
            <a:avLst/>
          </a:prstGeom>
        </p:spPr>
      </p:pic>
      <p:pic>
        <p:nvPicPr>
          <p:cNvPr id="1545" name="picture 33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143578" y="3948201"/>
            <a:ext cx="385952" cy="462788"/>
          </a:xfrm>
          <a:prstGeom prst="rect">
            <a:avLst/>
          </a:prstGeom>
        </p:spPr>
      </p:pic>
      <p:sp>
        <p:nvSpPr>
          <p:cNvPr id="1546" name="textbox 340"/>
          <p:cNvSpPr/>
          <p:nvPr/>
        </p:nvSpPr>
        <p:spPr>
          <a:xfrm>
            <a:off x="10633920" y="4268622"/>
            <a:ext cx="8445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false" eaLnBrk="false">
              <a:lnSpc>
                <a:spcPct val="86000"/>
              </a:lnSpc>
            </a:pPr>
            <a:endParaRPr sz="10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false" eaLnBrk="false">
              <a:lnSpc>
                <a:spcPct val="97000"/>
              </a:lnSpc>
            </a:pPr>
            <a:r>
              <a:rPr sz="1500" b="true" kern="0" spc="-30">
                <a:solidFill>
                  <a:srgbClr val="FF33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last</a:t>
            </a:r>
            <a:r>
              <a:rPr sz="1500" b="true" kern="0" spc="80">
                <a:solidFill>
                  <a:srgbClr val="FF33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b="true" kern="0" spc="-30">
                <a:solidFill>
                  <a:srgbClr val="FF33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node</a:t>
            </a:r>
            <a:endParaRPr sz="15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547" name="table"/>
          <p:cNvPicPr>
            <a:picLocks noGrp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14081" y="5138572"/>
            <a:ext cx="315594" cy="336550"/>
          </a:xfrm>
          <a:prstGeom prst="rect">
            <a:avLst/>
          </a:prstGeom>
        </p:spPr>
      </p:pic>
      <p:sp>
        <p:nvSpPr>
          <p:cNvPr id="1548" name="path 346"/>
          <p:cNvSpPr/>
          <p:nvPr/>
        </p:nvSpPr>
        <p:spPr>
          <a:xfrm>
            <a:off x="9628588" y="5295747"/>
            <a:ext cx="785812" cy="25400"/>
          </a:xfrm>
          <a:custGeom>
            <a:avLst/>
            <a:gdLst/>
            <a:ahLst/>
            <a:cxnLst/>
            <a:rect l="0" t="0" r="0" b="0"/>
            <a:pathLst>
              <a:path w="1237" h="40">
                <a:moveTo>
                  <a:pt x="1237" y="20"/>
                </a:moveTo>
                <a:lnTo>
                  <a:pt x="0" y="20"/>
                </a:lnTo>
              </a:path>
            </a:pathLst>
          </a:custGeom>
          <a:noFill/>
          <a:ln w="25400" cap="flat">
            <a:solidFill>
              <a:srgbClr val="FFFFF4"/>
            </a:solidFill>
            <a:prstDash val="solid"/>
            <a:round/>
          </a:ln>
        </p:spPr>
        <p:txBody>
          <a:bodyPr rtlCol="false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549" name="path 348"/>
          <p:cNvSpPr/>
          <p:nvPr/>
        </p:nvSpPr>
        <p:spPr>
          <a:xfrm>
            <a:off x="8958599" y="4879809"/>
            <a:ext cx="39751" cy="357187"/>
          </a:xfrm>
          <a:custGeom>
            <a:avLst/>
            <a:gdLst/>
            <a:ahLst/>
            <a:cxnLst/>
            <a:rect l="0" t="0" r="0" b="0"/>
            <a:pathLst>
              <a:path w="62" h="562">
                <a:moveTo>
                  <a:pt x="42" y="562"/>
                </a:moveTo>
                <a:lnTo>
                  <a:pt x="42" y="0"/>
                </a:lnTo>
                <a:moveTo>
                  <a:pt x="20" y="562"/>
                </a:moveTo>
                <a:lnTo>
                  <a:pt x="20" y="0"/>
                </a:lnTo>
              </a:path>
            </a:pathLst>
          </a:custGeom>
          <a:noFill/>
          <a:ln w="25400" cap="flat">
            <a:solidFill>
              <a:srgbClr val="FFFFF4"/>
            </a:solidFill>
            <a:prstDash val="solid"/>
            <a:round/>
          </a:ln>
        </p:spPr>
        <p:txBody>
          <a:bodyPr rtlCol="false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550" name="path 350"/>
          <p:cNvSpPr/>
          <p:nvPr/>
        </p:nvSpPr>
        <p:spPr>
          <a:xfrm>
            <a:off x="7501274" y="4451184"/>
            <a:ext cx="25400" cy="357187"/>
          </a:xfrm>
          <a:custGeom>
            <a:avLst/>
            <a:gdLst/>
            <a:ahLst/>
            <a:cxnLst/>
            <a:rect l="0" t="0" r="0" b="0"/>
            <a:pathLst>
              <a:path w="40" h="562">
                <a:moveTo>
                  <a:pt x="20" y="562"/>
                </a:moveTo>
                <a:lnTo>
                  <a:pt x="20" y="0"/>
                </a:lnTo>
              </a:path>
            </a:pathLst>
          </a:custGeom>
          <a:noFill/>
          <a:ln w="25400" cap="flat">
            <a:solidFill>
              <a:srgbClr val="FFFFF4"/>
            </a:solidFill>
            <a:prstDash val="solid"/>
            <a:round/>
          </a:ln>
        </p:spPr>
        <p:txBody>
          <a:bodyPr rtlCol="false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551" name="文本框 39"/>
          <p:cNvSpPr txBox="true"/>
          <p:nvPr/>
        </p:nvSpPr>
        <p:spPr>
          <a:xfrm>
            <a:off x="6573504" y="3470438"/>
            <a:ext cx="745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1800" b="true" kern="0" spc="-3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head</a:t>
            </a:r>
            <a:endParaRPr lang="zh-CN" altLang="en-US"/>
          </a:p>
        </p:txBody>
      </p:sp>
      <p:pic>
        <p:nvPicPr>
          <p:cNvPr id="1552" name="图片 4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799804" y="5279613"/>
            <a:ext cx="588371" cy="203968"/>
          </a:xfrm>
          <a:prstGeom prst="rect">
            <a:avLst/>
          </a:prstGeom>
        </p:spPr>
      </p:pic>
      <p:sp>
        <p:nvSpPr>
          <p:cNvPr id="1553" name="文本框 41"/>
          <p:cNvSpPr txBox="true"/>
          <p:nvPr/>
        </p:nvSpPr>
        <p:spPr>
          <a:xfrm>
            <a:off x="951137" y="2185085"/>
            <a:ext cx="5368710" cy="3046095"/>
          </a:xfrm>
          <a:prstGeom prst="rect">
            <a:avLst/>
          </a:prstGeom>
          <a:solidFill>
            <a:srgbClr val="FFFFCC"/>
          </a:solidFill>
          <a:ln w="28575">
            <a:solidFill>
              <a:schemeClr val="accent6"/>
            </a:solidFill>
          </a:ln>
        </p:spPr>
        <p:txBody>
          <a:bodyPr wrap="square" rtlCol="false">
            <a:spAutoFit/>
          </a:bodyPr>
          <a:lstStyle/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struct</a:t>
            </a:r>
            <a:r>
              <a:rPr lang="zh-CN" altLang="en-US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link </a:t>
            </a:r>
            <a:r>
              <a:rPr lang="zh-CN" altLang="en-US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*</a:t>
            </a:r>
            <a:r>
              <a:rPr lang="en-US" altLang="zh-CN" sz="2400" b="true" dirty="false" err="true">
                <a:latin typeface="Courier New" panose="02070409020205090404" pitchFamily="49" charset="0"/>
                <a:cs typeface="Courier New" panose="02070409020205090404" pitchFamily="49" charset="0"/>
              </a:rPr>
              <a:t>FindLast</a:t>
            </a:r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(struct</a:t>
            </a:r>
            <a:r>
              <a:rPr lang="zh-CN" altLang="en-US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link *head)</a:t>
            </a:r>
            <a:endParaRPr lang="en-US" altLang="zh-CN" sz="2400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altLang="zh-CN" sz="2400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struct</a:t>
            </a:r>
            <a:r>
              <a:rPr lang="zh-CN" altLang="en-US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link *</a:t>
            </a:r>
            <a:r>
              <a:rPr lang="en-US" altLang="zh-CN" sz="2400" b="true" dirty="false" err="tru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=head;</a:t>
            </a:r>
            <a:endParaRPr lang="en-US" altLang="zh-CN" sz="2400" b="true" dirty="false">
              <a:solidFill>
                <a:srgbClr val="0070C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while(</a:t>
            </a:r>
            <a:r>
              <a:rPr lang="en-US" altLang="zh-CN" sz="2400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-&gt;next!=NULL)</a:t>
            </a:r>
            <a:endParaRPr lang="en-US" altLang="zh-CN" sz="2400" b="true" dirty="false">
              <a:solidFill>
                <a:srgbClr val="FF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   </a:t>
            </a:r>
            <a:r>
              <a:rPr lang="en-US" altLang="zh-CN" sz="2400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=</a:t>
            </a:r>
            <a:r>
              <a:rPr lang="en-US" altLang="zh-CN" sz="2400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-&gt;next;</a:t>
            </a:r>
            <a:endParaRPr lang="en-US" altLang="zh-CN" sz="2400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return </a:t>
            </a:r>
            <a:r>
              <a:rPr lang="en-US" altLang="zh-CN" sz="2400" b="true" dirty="false" err="tru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sz="2400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altLang="zh-CN" sz="2400" b="true" dirty="false">
              <a:solidFill>
                <a:srgbClr val="0070C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sz="2400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zh-CN" altLang="en-US" sz="2400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1554" name="矩形 42"/>
          <p:cNvSpPr/>
          <p:nvPr/>
        </p:nvSpPr>
        <p:spPr>
          <a:xfrm>
            <a:off x="7670743" y="5796455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O(n)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1555" name="图片 4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6547148" y="3842029"/>
            <a:ext cx="388721" cy="336550"/>
          </a:xfrm>
          <a:prstGeom prst="rect">
            <a:avLst/>
          </a:prstGeom>
        </p:spPr>
      </p:pic>
      <p:sp>
        <p:nvSpPr>
          <p:cNvPr id="1556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5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Rectangle 2"/>
          <p:cNvSpPr>
            <a:spLocks noGrp="true"/>
          </p:cNvSpPr>
          <p:nvPr>
            <p:ph type="title"/>
          </p:nvPr>
        </p:nvSpPr>
        <p:spPr>
          <a:xfrm>
            <a:off x="2859405" y="582930"/>
            <a:ext cx="6468110" cy="948055"/>
          </a:xfrm>
        </p:spPr>
        <p:txBody>
          <a:bodyPr vert="horz" wrap="square" lIns="91440" tIns="45720" rIns="91440" bIns="45720" anchor="ctr" anchorCtr="false">
            <a:normAutofit fontScale="90000"/>
          </a:bodyPr>
          <a:lstStyle/>
          <a:p>
            <a:pPr/>
            <a:r>
              <a:rPr 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7.4.4 </a:t>
            </a:r>
            <a: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  <a:t>带头链表的查找操作</a:t>
            </a:r>
            <a:br>
              <a:rPr lang="zh-CN" altLang="en-US" kern="1200" dirty="false"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rPr>
            </a:br>
            <a:endParaRPr lang="zh-CN" altLang="en-US" kern="1200" dirty="false">
              <a:latin typeface="Arial" panose="020B0604020202090204" pitchFamily="34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1559" name="Rectangle 3"/>
          <p:cNvSpPr>
            <a:spLocks noGrp="true"/>
          </p:cNvSpPr>
          <p:nvPr>
            <p:ph idx="1"/>
          </p:nvPr>
        </p:nvSpPr>
        <p:spPr>
          <a:xfrm>
            <a:off x="262890" y="1265555"/>
            <a:ext cx="11030585" cy="659130"/>
          </a:xfrm>
        </p:spPr>
        <p:txBody>
          <a:bodyPr vert="horz" wrap="square" lIns="91440" tIns="45720" rIns="91440" bIns="45720" anchor="t" anchorCtr="false">
            <a:noAutofit/>
          </a:bodyPr>
          <a:lstStyle/>
          <a:p>
            <a:pPr>
              <a:buSzPct val="50000"/>
              <a:buFont typeface="Wingdings" panose="05000000000000000000" pitchFamily="2" charset="2"/>
              <a:buChar char="n"/>
            </a:pP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在单向带头链表中查找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第</a:t>
            </a:r>
            <a:r>
              <a:rPr lang="en-US" altLang="zh-CN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k</a:t>
            </a:r>
            <a:r>
              <a:rPr lang="zh-CN" altLang="en-US" dirty="fals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个</a:t>
            </a:r>
            <a:r>
              <a:rPr lang="zh-CN" altLang="en-US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节点，如果不存在则输出最后一个节点</a:t>
            </a: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SzPct val="50000"/>
              <a:buFont typeface="Wingdings" panose="05000000000000000000" pitchFamily="2" charset="2"/>
              <a:buChar char="n"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SzPct val="50000"/>
              <a:buNone/>
            </a:pPr>
            <a:endParaRPr lang="zh-CN" altLang="en-US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1560" name="picture 31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417304" y="4190797"/>
            <a:ext cx="810006" cy="540004"/>
          </a:xfrm>
          <a:prstGeom prst="rect">
            <a:avLst/>
          </a:prstGeom>
        </p:spPr>
      </p:pic>
      <p:pic>
        <p:nvPicPr>
          <p:cNvPr id="1561" name="picture 3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830942" y="4625899"/>
            <a:ext cx="809993" cy="540004"/>
          </a:xfrm>
          <a:prstGeom prst="rect">
            <a:avLst/>
          </a:prstGeom>
        </p:spPr>
      </p:pic>
      <p:pic>
        <p:nvPicPr>
          <p:cNvPr id="1562" name="picture 3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11973" y="3711804"/>
            <a:ext cx="810005" cy="536397"/>
          </a:xfrm>
          <a:prstGeom prst="rect">
            <a:avLst/>
          </a:prstGeom>
        </p:spPr>
      </p:pic>
      <p:pic>
        <p:nvPicPr>
          <p:cNvPr id="1563" name="table"/>
          <p:cNvPicPr>
            <a:picLocks noGrp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153" y="4350183"/>
            <a:ext cx="984884" cy="336550"/>
          </a:xfrm>
          <a:prstGeom prst="rect">
            <a:avLst/>
          </a:prstGeom>
        </p:spPr>
      </p:pic>
      <p:pic>
        <p:nvPicPr>
          <p:cNvPr id="1564" name="table"/>
          <p:cNvPicPr>
            <a:picLocks noGrp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9159622" y="4782364"/>
            <a:ext cx="984884" cy="336550"/>
          </a:xfrm>
          <a:prstGeom prst="rect">
            <a:avLst/>
          </a:prstGeom>
        </p:spPr>
      </p:pic>
      <p:pic>
        <p:nvPicPr>
          <p:cNvPr id="1565" name="table"/>
          <p:cNvPicPr>
            <a:picLocks noGrp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9360" y="5214545"/>
            <a:ext cx="984884" cy="336550"/>
          </a:xfrm>
          <a:prstGeom prst="rect">
            <a:avLst/>
          </a:prstGeom>
        </p:spPr>
      </p:pic>
      <p:pic>
        <p:nvPicPr>
          <p:cNvPr id="1566" name="table"/>
          <p:cNvPicPr>
            <a:picLocks noGrp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8350759" y="4943082"/>
            <a:ext cx="812800" cy="382269"/>
          </a:xfrm>
          <a:prstGeom prst="rect">
            <a:avLst/>
          </a:prstGeom>
        </p:spPr>
      </p:pic>
      <p:pic>
        <p:nvPicPr>
          <p:cNvPr id="1567" name="table"/>
          <p:cNvPicPr>
            <a:picLocks noGrp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9793860" y="5384420"/>
            <a:ext cx="810894" cy="369569"/>
          </a:xfrm>
          <a:prstGeom prst="rect">
            <a:avLst/>
          </a:prstGeom>
        </p:spPr>
      </p:pic>
      <p:pic>
        <p:nvPicPr>
          <p:cNvPr id="1568" name="table"/>
          <p:cNvPicPr>
            <a:picLocks noGrp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8673847" y="4350183"/>
            <a:ext cx="281304" cy="336550"/>
          </a:xfrm>
          <a:prstGeom prst="rect">
            <a:avLst/>
          </a:prstGeom>
        </p:spPr>
      </p:pic>
      <p:pic>
        <p:nvPicPr>
          <p:cNvPr id="1569" name="picture 33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778876" y="4456355"/>
            <a:ext cx="385952" cy="462914"/>
          </a:xfrm>
          <a:prstGeom prst="rect">
            <a:avLst/>
          </a:prstGeom>
        </p:spPr>
      </p:pic>
      <p:pic>
        <p:nvPicPr>
          <p:cNvPr id="1570" name="table"/>
          <p:cNvPicPr>
            <a:picLocks noGrp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2315" y="4782364"/>
            <a:ext cx="280034" cy="336550"/>
          </a:xfrm>
          <a:prstGeom prst="rect">
            <a:avLst/>
          </a:prstGeom>
        </p:spPr>
      </p:pic>
      <p:pic>
        <p:nvPicPr>
          <p:cNvPr id="1571" name="picture 33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236201" y="4888535"/>
            <a:ext cx="385952" cy="462864"/>
          </a:xfrm>
          <a:prstGeom prst="rect">
            <a:avLst/>
          </a:prstGeom>
        </p:spPr>
      </p:pic>
      <p:pic>
        <p:nvPicPr>
          <p:cNvPr id="1572" name="table"/>
          <p:cNvPicPr>
            <a:picLocks noGrp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3651" y="3918002"/>
            <a:ext cx="382904" cy="336550"/>
          </a:xfrm>
          <a:prstGeom prst="rect">
            <a:avLst/>
          </a:prstGeom>
        </p:spPr>
      </p:pic>
      <p:pic>
        <p:nvPicPr>
          <p:cNvPr id="1573" name="picture 33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321550" y="4024174"/>
            <a:ext cx="385952" cy="462788"/>
          </a:xfrm>
          <a:prstGeom prst="rect">
            <a:avLst/>
          </a:prstGeom>
        </p:spPr>
      </p:pic>
      <p:sp>
        <p:nvSpPr>
          <p:cNvPr id="1574" name="textbox 340"/>
          <p:cNvSpPr/>
          <p:nvPr/>
        </p:nvSpPr>
        <p:spPr>
          <a:xfrm>
            <a:off x="10811892" y="4344595"/>
            <a:ext cx="8445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false" eaLnBrk="false">
              <a:lnSpc>
                <a:spcPct val="86000"/>
              </a:lnSpc>
            </a:pPr>
            <a:endParaRPr sz="10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false" eaLnBrk="false">
              <a:lnSpc>
                <a:spcPct val="97000"/>
              </a:lnSpc>
            </a:pPr>
            <a:r>
              <a:rPr sz="1500" b="true" kern="0" spc="-30">
                <a:solidFill>
                  <a:srgbClr val="FF33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last</a:t>
            </a:r>
            <a:r>
              <a:rPr sz="1500" b="true" kern="0" spc="80">
                <a:solidFill>
                  <a:srgbClr val="FF33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b="true" kern="0" spc="-30">
                <a:solidFill>
                  <a:srgbClr val="FF33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node</a:t>
            </a:r>
            <a:endParaRPr sz="15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575" name="table"/>
          <p:cNvPicPr>
            <a:picLocks noGrp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92053" y="5214545"/>
            <a:ext cx="315594" cy="336550"/>
          </a:xfrm>
          <a:prstGeom prst="rect">
            <a:avLst/>
          </a:prstGeom>
        </p:spPr>
      </p:pic>
      <p:sp>
        <p:nvSpPr>
          <p:cNvPr id="1576" name="path 346"/>
          <p:cNvSpPr/>
          <p:nvPr/>
        </p:nvSpPr>
        <p:spPr>
          <a:xfrm>
            <a:off x="9806560" y="5371720"/>
            <a:ext cx="785812" cy="25400"/>
          </a:xfrm>
          <a:custGeom>
            <a:avLst/>
            <a:gdLst/>
            <a:ahLst/>
            <a:cxnLst/>
            <a:rect l="0" t="0" r="0" b="0"/>
            <a:pathLst>
              <a:path w="1237" h="40">
                <a:moveTo>
                  <a:pt x="1237" y="20"/>
                </a:moveTo>
                <a:lnTo>
                  <a:pt x="0" y="20"/>
                </a:lnTo>
              </a:path>
            </a:pathLst>
          </a:custGeom>
          <a:noFill/>
          <a:ln w="25400" cap="flat">
            <a:solidFill>
              <a:srgbClr val="FFFFF4"/>
            </a:solidFill>
            <a:prstDash val="solid"/>
            <a:round/>
          </a:ln>
        </p:spPr>
        <p:txBody>
          <a:bodyPr rtlCol="false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577" name="path 348"/>
          <p:cNvSpPr/>
          <p:nvPr/>
        </p:nvSpPr>
        <p:spPr>
          <a:xfrm>
            <a:off x="9136571" y="4955782"/>
            <a:ext cx="39751" cy="357187"/>
          </a:xfrm>
          <a:custGeom>
            <a:avLst/>
            <a:gdLst/>
            <a:ahLst/>
            <a:cxnLst/>
            <a:rect l="0" t="0" r="0" b="0"/>
            <a:pathLst>
              <a:path w="62" h="562">
                <a:moveTo>
                  <a:pt x="42" y="562"/>
                </a:moveTo>
                <a:lnTo>
                  <a:pt x="42" y="0"/>
                </a:lnTo>
                <a:moveTo>
                  <a:pt x="20" y="562"/>
                </a:moveTo>
                <a:lnTo>
                  <a:pt x="20" y="0"/>
                </a:lnTo>
              </a:path>
            </a:pathLst>
          </a:custGeom>
          <a:noFill/>
          <a:ln w="25400" cap="flat">
            <a:solidFill>
              <a:srgbClr val="FFFFF4"/>
            </a:solidFill>
            <a:prstDash val="solid"/>
            <a:round/>
          </a:ln>
        </p:spPr>
        <p:txBody>
          <a:bodyPr rtlCol="false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578" name="path 350"/>
          <p:cNvSpPr/>
          <p:nvPr/>
        </p:nvSpPr>
        <p:spPr>
          <a:xfrm>
            <a:off x="7679246" y="4527157"/>
            <a:ext cx="25400" cy="357187"/>
          </a:xfrm>
          <a:custGeom>
            <a:avLst/>
            <a:gdLst/>
            <a:ahLst/>
            <a:cxnLst/>
            <a:rect l="0" t="0" r="0" b="0"/>
            <a:pathLst>
              <a:path w="40" h="562">
                <a:moveTo>
                  <a:pt x="20" y="562"/>
                </a:moveTo>
                <a:lnTo>
                  <a:pt x="20" y="0"/>
                </a:lnTo>
              </a:path>
            </a:pathLst>
          </a:custGeom>
          <a:noFill/>
          <a:ln w="25400" cap="flat">
            <a:solidFill>
              <a:srgbClr val="FFFFF4"/>
            </a:solidFill>
            <a:prstDash val="solid"/>
            <a:round/>
          </a:ln>
        </p:spPr>
        <p:txBody>
          <a:bodyPr rtlCol="false"/>
          <a:lstStyle>
            <a:defPPr>
              <a:defRPr lang="zh-CN"/>
            </a:defPPr>
            <a:lvl1pPr marL="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579" name="文本框 44"/>
          <p:cNvSpPr txBox="true"/>
          <p:nvPr/>
        </p:nvSpPr>
        <p:spPr>
          <a:xfrm>
            <a:off x="6734708" y="3508475"/>
            <a:ext cx="745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zh-CN" sz="1800" b="true" kern="0" spc="-3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head</a:t>
            </a:r>
            <a:endParaRPr lang="zh-CN" altLang="en-US"/>
          </a:p>
        </p:txBody>
      </p:sp>
      <p:pic>
        <p:nvPicPr>
          <p:cNvPr id="1580" name="图片 4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977776" y="5355586"/>
            <a:ext cx="588371" cy="203968"/>
          </a:xfrm>
          <a:prstGeom prst="rect">
            <a:avLst/>
          </a:prstGeom>
        </p:spPr>
      </p:pic>
      <p:sp>
        <p:nvSpPr>
          <p:cNvPr id="1581" name="文本框 46"/>
          <p:cNvSpPr txBox="true"/>
          <p:nvPr/>
        </p:nvSpPr>
        <p:spPr>
          <a:xfrm>
            <a:off x="453869" y="2332990"/>
            <a:ext cx="6002171" cy="3785652"/>
          </a:xfrm>
          <a:prstGeom prst="rect">
            <a:avLst/>
          </a:prstGeom>
          <a:solidFill>
            <a:srgbClr val="FFFFCC"/>
          </a:solidFill>
          <a:ln w="28575">
            <a:solidFill>
              <a:schemeClr val="accent6"/>
            </a:solidFill>
          </a:ln>
        </p:spPr>
        <p:txBody>
          <a:bodyPr wrap="square" rtlCol="false">
            <a:spAutoFit/>
          </a:bodyPr>
          <a:lstStyle/>
          <a:p>
            <a:pPr/>
            <a:r>
              <a:rPr lang="en-US" altLang="zh-CN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struct</a:t>
            </a:r>
            <a:r>
              <a:rPr lang="zh-CN" altLang="en-US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link *FindK(struct</a:t>
            </a:r>
            <a:r>
              <a:rPr lang="zh-CN" altLang="en-US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link *head, </a:t>
            </a:r>
            <a:endParaRPr lang="en-US" altLang="zh-CN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int k)</a:t>
            </a:r>
            <a:endParaRPr lang="en-US" altLang="zh-CN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altLang="zh-CN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struct</a:t>
            </a:r>
            <a:r>
              <a:rPr lang="zh-CN" altLang="en-US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altLang="zh-CN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link *</a:t>
            </a:r>
            <a:r>
              <a:rPr lang="en-US" altLang="zh-CN" b="true" dirty="false" err="tru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=head;</a:t>
            </a:r>
            <a:endParaRPr lang="en-US" altLang="zh-CN" b="true" dirty="false">
              <a:solidFill>
                <a:srgbClr val="0070C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int </a:t>
            </a:r>
            <a:r>
              <a:rPr lang="en-US" altLang="zh-CN" b="true" dirty="false" err="tru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</a:t>
            </a:r>
            <a:r>
              <a:rPr lang="en-US" altLang="zh-CN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=0;</a:t>
            </a:r>
            <a:endParaRPr lang="en-US" altLang="zh-CN" b="true" dirty="false">
              <a:solidFill>
                <a:srgbClr val="0070C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while(</a:t>
            </a:r>
            <a:r>
              <a:rPr lang="en-US" altLang="zh-CN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</a:t>
            </a:r>
            <a:r>
              <a:rPr lang="en-US" altLang="zh-CN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&lt;k &amp;&amp; </a:t>
            </a:r>
            <a:r>
              <a:rPr lang="en-US" altLang="zh-CN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-&gt;next!=NULL)</a:t>
            </a:r>
            <a:endParaRPr lang="en-US" altLang="zh-CN" b="true" dirty="false">
              <a:solidFill>
                <a:srgbClr val="FF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{</a:t>
            </a:r>
            <a:endParaRPr lang="en-US" altLang="zh-CN" b="true" dirty="false">
              <a:solidFill>
                <a:srgbClr val="FF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   </a:t>
            </a:r>
            <a:r>
              <a:rPr lang="en-US" altLang="zh-CN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=</a:t>
            </a:r>
            <a:r>
              <a:rPr lang="en-US" altLang="zh-CN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-&gt;next;</a:t>
            </a:r>
            <a:endParaRPr lang="en-US" altLang="zh-CN" b="true" dirty="false">
              <a:solidFill>
                <a:srgbClr val="FF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   </a:t>
            </a:r>
            <a:r>
              <a:rPr lang="en-US" altLang="zh-CN" b="true" dirty="false" err="tru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</a:t>
            </a:r>
            <a:r>
              <a:rPr lang="en-US" altLang="zh-CN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++;</a:t>
            </a:r>
            <a:endParaRPr lang="en-US" altLang="zh-CN" b="true" dirty="false">
              <a:solidFill>
                <a:srgbClr val="FF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altLang="zh-CN" b="true" dirty="false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}</a:t>
            </a:r>
            <a:endParaRPr lang="en-US" altLang="zh-CN" b="true" dirty="false">
              <a:solidFill>
                <a:srgbClr val="FF000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    </a:t>
            </a:r>
            <a:r>
              <a:rPr lang="en-US" altLang="zh-CN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return </a:t>
            </a:r>
            <a:r>
              <a:rPr lang="en-US" altLang="zh-CN" b="true" dirty="false" err="tru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</a:t>
            </a:r>
            <a:r>
              <a:rPr lang="en-US" altLang="zh-CN" b="true" dirty="false">
                <a:solidFill>
                  <a:srgbClr val="0070C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altLang="zh-CN" b="true" dirty="false">
              <a:solidFill>
                <a:srgbClr val="0070C0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/>
            <a:r>
              <a:rPr lang="en-US" altLang="zh-CN" b="true" dirty="false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zh-CN" altLang="en-US" b="true" dirty="false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1582" name="矩形 47"/>
          <p:cNvSpPr/>
          <p:nvPr/>
        </p:nvSpPr>
        <p:spPr>
          <a:xfrm>
            <a:off x="7939896" y="5703466"/>
            <a:ext cx="3397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lvl="1" indent="-381000"/>
            <a:r>
              <a:rPr lang="zh-CN" altLang="en-US" sz="2400" b="true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400" b="true" i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O(k)</a:t>
            </a:r>
            <a:r>
              <a:rPr lang="zh-CN" altLang="en-US" sz="2400" b="tru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b="tru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1583" name="图片 4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6728358" y="3922174"/>
            <a:ext cx="388721" cy="336550"/>
          </a:xfrm>
          <a:prstGeom prst="rect">
            <a:avLst/>
          </a:prstGeom>
        </p:spPr>
      </p:pic>
      <p:sp>
        <p:nvSpPr>
          <p:cNvPr id="1584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p="http://schemas.openxmlformats.org/presentationml/2006/main" xmlns:a="http://schemas.openxmlformats.org/drawingml/2006/main">
  <p:cSld>
    <p:spTree>
      <p:nvGrpSpPr>
        <p:cNvPr id="15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灯片编号占位符 8"/>
          <p:cNvSpPr>
            <a:spLocks noGrp="true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fld id="{9A0DB2DC-4C9A-4742-B13C-FB6460FD3503}" type="slidenum">
              <a:rPr/>
              <a:t/>
            </a:fld>
            <a:r>
              <a:rPr lang="en-US" altLang="zh-CN" noProof="true"/>
              <a:t>/64</a:t>
            </a:r>
            <a:endParaRPr lang="zh-CN" altLang="en-US" noProof="true"/>
          </a:p>
        </p:txBody>
      </p:sp>
      <p:sp>
        <p:nvSpPr>
          <p:cNvPr id="1587" name="Rectangle 3"/>
          <p:cNvSpPr>
            <a:spLocks noGrp="true"/>
          </p:cNvSpPr>
          <p:nvPr>
            <p:ph idx="1"/>
          </p:nvPr>
        </p:nvSpPr>
        <p:spPr/>
        <p:txBody>
          <a:bodyPr vert="horz" wrap="square" lIns="91440" tIns="45720" rIns="91440" bIns="45720" anchor="t" anchorCtr="false"/>
          <a:p>
            <a:pPr marL="533400" indent="-533400" algn="l" eaLnBrk="true" hangingPunct="true"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32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链表及其基本操作</a:t>
            </a: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r>
              <a:rPr lang="zh-CN" altLang="en-US" sz="32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链式队列</a:t>
            </a: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533400" indent="-533400" eaLnBrk="true" hangingPunct="true">
              <a:buFont typeface="Wingdings" panose="05000000000000000000" pitchFamily="2" charset="2"/>
              <a:buChar char="n"/>
            </a:pPr>
            <a:r>
              <a:rPr lang="zh-CN" altLang="en-US" sz="3200" dirty="false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双向链表</a:t>
            </a:r>
            <a:endParaRPr lang="zh-CN" altLang="en-US" sz="3200" dirty="false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橙色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2026-01-04T19:55:03Z</dcterms:created>
  <dcterms:modified xsi:type="dcterms:W3CDTF">2026-01-04T19:55:03Z</dcterms:modified>
</cp:coreProperties>
</file>