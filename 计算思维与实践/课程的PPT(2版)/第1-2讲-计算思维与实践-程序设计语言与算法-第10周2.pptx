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sldx" ContentType="application/vnd.openxmlformats-officedocument.presentationml.slide"/>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0"/>
  </p:notesMasterIdLst>
  <p:handoutMasterIdLst>
    <p:handoutMasterId r:id="rId51"/>
  </p:handoutMasterIdLst>
  <p:sldIdLst>
    <p:sldId id="259" r:id="rId2"/>
    <p:sldId id="1400" r:id="rId3"/>
    <p:sldId id="1229" r:id="rId4"/>
    <p:sldId id="1230" r:id="rId5"/>
    <p:sldId id="968" r:id="rId6"/>
    <p:sldId id="969" r:id="rId7"/>
    <p:sldId id="970" r:id="rId8"/>
    <p:sldId id="971" r:id="rId9"/>
    <p:sldId id="1082" r:id="rId10"/>
    <p:sldId id="974" r:id="rId11"/>
    <p:sldId id="1221" r:id="rId12"/>
    <p:sldId id="1223" r:id="rId13"/>
    <p:sldId id="1222" r:id="rId14"/>
    <p:sldId id="1225" r:id="rId15"/>
    <p:sldId id="1227" r:id="rId16"/>
    <p:sldId id="1217" r:id="rId17"/>
    <p:sldId id="1133" r:id="rId18"/>
    <p:sldId id="1136" r:id="rId19"/>
    <p:sldId id="1140" r:id="rId20"/>
    <p:sldId id="1143" r:id="rId21"/>
    <p:sldId id="1153" r:id="rId22"/>
    <p:sldId id="1149" r:id="rId23"/>
    <p:sldId id="1144" r:id="rId24"/>
    <p:sldId id="1359" r:id="rId25"/>
    <p:sldId id="1360" r:id="rId26"/>
    <p:sldId id="1361" r:id="rId27"/>
    <p:sldId id="1362" r:id="rId28"/>
    <p:sldId id="1363" r:id="rId29"/>
    <p:sldId id="1364" r:id="rId30"/>
    <p:sldId id="1146" r:id="rId31"/>
    <p:sldId id="1150" r:id="rId32"/>
    <p:sldId id="1151" r:id="rId33"/>
    <p:sldId id="1395" r:id="rId34"/>
    <p:sldId id="1152" r:id="rId35"/>
    <p:sldId id="1396" r:id="rId36"/>
    <p:sldId id="1154" r:id="rId37"/>
    <p:sldId id="1369" r:id="rId38"/>
    <p:sldId id="1161" r:id="rId39"/>
    <p:sldId id="1397" r:id="rId40"/>
    <p:sldId id="1398" r:id="rId41"/>
    <p:sldId id="1329" r:id="rId42"/>
    <p:sldId id="1171" r:id="rId43"/>
    <p:sldId id="1381" r:id="rId44"/>
    <p:sldId id="1387" r:id="rId45"/>
    <p:sldId id="1166" r:id="rId46"/>
    <p:sldId id="1384" r:id="rId47"/>
    <p:sldId id="1379" r:id="rId48"/>
    <p:sldId id="1399" r:id="rId49"/>
  </p:sldIdLst>
  <p:sldSz cx="12192000" cy="6858000"/>
  <p:notesSz cx="10234613" cy="7099300"/>
  <p:defaultTextStyle>
    <a:defPPr>
      <a:defRPr lang="zh-CN"/>
    </a:defPPr>
    <a:lvl1pPr algn="l" rtl="0" fontAlgn="base">
      <a:spcBef>
        <a:spcPct val="0"/>
      </a:spcBef>
      <a:spcAft>
        <a:spcPct val="0"/>
      </a:spcAft>
      <a:defRPr kumimoji="1" sz="2000" b="1"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kumimoji="1" sz="2000" b="1"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kumimoji="1" sz="2000" b="1"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kumimoji="1" sz="2000" b="1"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kumimoji="1" sz="2000" b="1"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umimoji="1" sz="2000" b="1"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umimoji="1" sz="2000" b="1"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umimoji="1" sz="2000" b="1"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umimoji="1" sz="2000" b="1"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1" userDrawn="1">
          <p15:clr>
            <a:srgbClr val="A4A3A4"/>
          </p15:clr>
        </p15:guide>
        <p15:guide id="2" pos="3807" userDrawn="1">
          <p15:clr>
            <a:srgbClr val="A4A3A4"/>
          </p15:clr>
        </p15:guide>
      </p15:sldGuideLst>
    </p:ext>
    <p:ext uri="{2D200454-40CA-4A62-9FC3-DE9A4176ACB9}">
      <p15:notesGuideLst xmlns:p15="http://schemas.microsoft.com/office/powerpoint/2012/main">
        <p15:guide id="1" orient="horz" pos="2237">
          <p15:clr>
            <a:srgbClr val="A4A3A4"/>
          </p15:clr>
        </p15:guide>
        <p15:guide id="2" pos="319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DDDFF"/>
    <a:srgbClr val="FFFFEF"/>
    <a:srgbClr val="0099FF"/>
    <a:srgbClr val="FF0000"/>
    <a:srgbClr val="660066"/>
    <a:srgbClr val="CC0000"/>
    <a:srgbClr val="008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4" autoAdjust="0"/>
    <p:restoredTop sz="86621" autoAdjust="0"/>
  </p:normalViewPr>
  <p:slideViewPr>
    <p:cSldViewPr snapToGrid="0" showGuides="1">
      <p:cViewPr varScale="1">
        <p:scale>
          <a:sx n="108" d="100"/>
          <a:sy n="108" d="100"/>
        </p:scale>
        <p:origin x="936" y="200"/>
      </p:cViewPr>
      <p:guideLst>
        <p:guide orient="horz" pos="2161"/>
        <p:guide pos="3807"/>
      </p:guideLst>
    </p:cSldViewPr>
  </p:slideViewPr>
  <p:notesTextViewPr>
    <p:cViewPr>
      <p:scale>
        <a:sx n="100" d="100"/>
        <a:sy n="100" d="100"/>
      </p:scale>
      <p:origin x="0" y="0"/>
    </p:cViewPr>
  </p:notesTextViewPr>
  <p:sorterViewPr>
    <p:cViewPr varScale="1">
      <p:scale>
        <a:sx n="100" d="100"/>
        <a:sy n="100" d="100"/>
      </p:scale>
      <p:origin x="0" y="-6984"/>
    </p:cViewPr>
  </p:sorterViewPr>
  <p:notesViewPr>
    <p:cSldViewPr snapToGrid="0">
      <p:cViewPr varScale="1">
        <p:scale>
          <a:sx n="76" d="100"/>
          <a:sy n="76" d="100"/>
        </p:scale>
        <p:origin x="-1338" y="-102"/>
      </p:cViewPr>
      <p:guideLst>
        <p:guide orient="horz" pos="2237"/>
        <p:guide pos="319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defTabSz="990600">
              <a:defRPr sz="1300" b="0">
                <a:ea typeface="隶书" panose="02010509060101010101" pitchFamily="49" charset="-122"/>
              </a:defRPr>
            </a:lvl1pPr>
          </a:lstStyle>
          <a:p>
            <a:endParaRPr lang="en-US" altLang="zh-CN"/>
          </a:p>
        </p:txBody>
      </p:sp>
      <p:sp>
        <p:nvSpPr>
          <p:cNvPr id="22531" name="Rectangle 3"/>
          <p:cNvSpPr>
            <a:spLocks noGrp="1" noChangeArrowheads="1"/>
          </p:cNvSpPr>
          <p:nvPr>
            <p:ph type="dt" sz="quarter" idx="1"/>
          </p:nvPr>
        </p:nvSpPr>
        <p:spPr bwMode="auto">
          <a:xfrm>
            <a:off x="5799138" y="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algn="r" defTabSz="990600">
              <a:defRPr sz="1300" b="0">
                <a:ea typeface="隶书" panose="02010509060101010101" pitchFamily="49" charset="-122"/>
              </a:defRPr>
            </a:lvl1pPr>
          </a:lstStyle>
          <a:p>
            <a:endParaRPr lang="en-US" altLang="zh-CN"/>
          </a:p>
        </p:txBody>
      </p:sp>
      <p:sp>
        <p:nvSpPr>
          <p:cNvPr id="22532" name="Rectangle 4"/>
          <p:cNvSpPr>
            <a:spLocks noGrp="1" noChangeArrowheads="1"/>
          </p:cNvSpPr>
          <p:nvPr>
            <p:ph type="ftr" sz="quarter" idx="2"/>
          </p:nvPr>
        </p:nvSpPr>
        <p:spPr bwMode="auto">
          <a:xfrm>
            <a:off x="0" y="674370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defTabSz="990600">
              <a:defRPr sz="1300" b="0">
                <a:ea typeface="隶书" panose="02010509060101010101" pitchFamily="49" charset="-122"/>
              </a:defRPr>
            </a:lvl1pPr>
          </a:lstStyle>
          <a:p>
            <a:endParaRPr lang="en-US" altLang="zh-CN"/>
          </a:p>
        </p:txBody>
      </p:sp>
      <p:sp>
        <p:nvSpPr>
          <p:cNvPr id="22533" name="Rectangle 5"/>
          <p:cNvSpPr>
            <a:spLocks noGrp="1" noChangeArrowheads="1"/>
          </p:cNvSpPr>
          <p:nvPr>
            <p:ph type="sldNum" sz="quarter" idx="3"/>
          </p:nvPr>
        </p:nvSpPr>
        <p:spPr bwMode="auto">
          <a:xfrm>
            <a:off x="5799138" y="674370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algn="r" defTabSz="990600">
              <a:defRPr sz="1300" b="0">
                <a:ea typeface="隶书" panose="02010509060101010101" pitchFamily="49" charset="-122"/>
              </a:defRPr>
            </a:lvl1pPr>
          </a:lstStyle>
          <a:p>
            <a:fld id="{E7B3415D-3E16-445D-84A0-A45D5A4E0BD1}"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defTabSz="990600">
              <a:defRPr sz="1300" b="0">
                <a:latin typeface="Times New Roman" panose="02020503050405090304" pitchFamily="18" charset="0"/>
              </a:defRPr>
            </a:lvl1pPr>
          </a:lstStyle>
          <a:p>
            <a:endParaRPr lang="en-US" altLang="zh-CN"/>
          </a:p>
        </p:txBody>
      </p:sp>
      <p:sp>
        <p:nvSpPr>
          <p:cNvPr id="43011" name="Rectangle 3"/>
          <p:cNvSpPr>
            <a:spLocks noGrp="1" noChangeArrowheads="1"/>
          </p:cNvSpPr>
          <p:nvPr>
            <p:ph type="dt" idx="1"/>
          </p:nvPr>
        </p:nvSpPr>
        <p:spPr bwMode="auto">
          <a:xfrm>
            <a:off x="5797550" y="0"/>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lvl1pPr algn="r" defTabSz="990600">
              <a:defRPr sz="1300" b="0">
                <a:latin typeface="Times New Roman" panose="02020503050405090304" pitchFamily="18" charset="0"/>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2751138" y="531813"/>
            <a:ext cx="4730750" cy="26622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1023938" y="3371850"/>
            <a:ext cx="8186737"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014" name="Rectangle 6"/>
          <p:cNvSpPr>
            <a:spLocks noGrp="1" noChangeArrowheads="1"/>
          </p:cNvSpPr>
          <p:nvPr>
            <p:ph type="ftr" sz="quarter" idx="4"/>
          </p:nvPr>
        </p:nvSpPr>
        <p:spPr bwMode="auto">
          <a:xfrm>
            <a:off x="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defTabSz="990600">
              <a:defRPr sz="1300" b="0">
                <a:latin typeface="Times New Roman" panose="02020503050405090304" pitchFamily="18" charset="0"/>
              </a:defRPr>
            </a:lvl1pPr>
          </a:lstStyle>
          <a:p>
            <a:endParaRPr lang="en-US" altLang="zh-CN"/>
          </a:p>
        </p:txBody>
      </p:sp>
      <p:sp>
        <p:nvSpPr>
          <p:cNvPr id="43015" name="Rectangle 7"/>
          <p:cNvSpPr>
            <a:spLocks noGrp="1" noChangeArrowheads="1"/>
          </p:cNvSpPr>
          <p:nvPr>
            <p:ph type="sldNum" sz="quarter" idx="5"/>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lstStyle>
            <a:lvl1pPr algn="r" defTabSz="990600">
              <a:defRPr sz="1300" b="0">
                <a:latin typeface="Times New Roman" panose="02020503050405090304" pitchFamily="18" charset="0"/>
              </a:defRPr>
            </a:lvl1pPr>
          </a:lstStyle>
          <a:p>
            <a:fld id="{ECF08116-0ACC-41A3-B336-42E90E9DB1C9}"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defRPr/>
            </a:pPr>
            <a:fld id="{E7FC01B2-C5D2-184B-87A0-BE030471D74E}" type="slidenum">
              <a:rPr kumimoji="1" lang="en-US" altLang="zh-CN" sz="1300" b="0" i="0" u="none" strike="noStrike" kern="1200" cap="none" spc="0" normalizeH="0" baseline="0" noProof="0" smtClean="0">
                <a:ln>
                  <a:noFill/>
                </a:ln>
                <a:solidFill>
                  <a:srgbClr val="000000"/>
                </a:solidFill>
                <a:effectLst/>
                <a:uLnTx/>
                <a:uFillTx/>
                <a:latin typeface="Times New Roman" panose="02020503050405090304" pitchFamily="18" charset="0"/>
                <a:ea typeface="宋体" pitchFamily="2" charset="-122"/>
                <a:cs typeface="+mn-cs"/>
              </a:rPr>
              <a:t>1</a:t>
            </a:fld>
            <a:endParaRPr kumimoji="1" lang="en-US" altLang="zh-CN" sz="1300" b="0" i="0" u="none" strike="noStrike" kern="1200" cap="none" spc="0" normalizeH="0" baseline="0" noProof="0">
              <a:ln>
                <a:noFill/>
              </a:ln>
              <a:solidFill>
                <a:srgbClr val="000000"/>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101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24988A45-7164-4A7B-8498-198494CF50F8}" type="slidenum">
              <a:rPr lang="en-US" altLang="zh-CN" sz="1300" b="0">
                <a:latin typeface="Times New Roman" panose="02020503050405090304" pitchFamily="18" charset="0"/>
                <a:ea typeface="宋体" pitchFamily="2" charset="-122"/>
              </a:rPr>
              <a:t>17</a:t>
            </a:fld>
            <a:endParaRPr lang="en-US" altLang="zh-CN" sz="1300" b="0">
              <a:latin typeface="Times New Roman" panose="02020503050405090304" pitchFamily="18" charset="0"/>
              <a:ea typeface="宋体" pitchFamily="2" charset="-122"/>
            </a:endParaRPr>
          </a:p>
        </p:txBody>
      </p:sp>
      <p:sp>
        <p:nvSpPr>
          <p:cNvPr id="2091011" name="Rectangle 2"/>
          <p:cNvSpPr>
            <a:spLocks noGrp="1" noRot="1" noChangeAspect="1" noChangeArrowheads="1" noTextEdit="1"/>
          </p:cNvSpPr>
          <p:nvPr>
            <p:ph type="sldImg"/>
          </p:nvPr>
        </p:nvSpPr>
        <p:spPr>
          <a:xfrm>
            <a:off x="2751138" y="531813"/>
            <a:ext cx="4730750" cy="2662237"/>
          </a:xfrm>
        </p:spPr>
      </p:sp>
      <p:sp>
        <p:nvSpPr>
          <p:cNvPr id="2091012"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5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4C5823CC-1CFD-42B2-B9BC-54F757BC6E85}" type="slidenum">
              <a:rPr lang="en-US" altLang="zh-CN" sz="1300" b="0">
                <a:latin typeface="Times New Roman" panose="02020503050405090304" pitchFamily="18" charset="0"/>
                <a:ea typeface="宋体" pitchFamily="2" charset="-122"/>
              </a:rPr>
              <a:t>18</a:t>
            </a:fld>
            <a:endParaRPr lang="en-US" altLang="zh-CN" sz="1300" b="0">
              <a:latin typeface="Times New Roman" panose="02020503050405090304" pitchFamily="18" charset="0"/>
              <a:ea typeface="宋体" pitchFamily="2" charset="-122"/>
            </a:endParaRPr>
          </a:p>
        </p:txBody>
      </p:sp>
      <p:sp>
        <p:nvSpPr>
          <p:cNvPr id="2097155" name="Rectangle 2"/>
          <p:cNvSpPr>
            <a:spLocks noGrp="1" noRot="1" noChangeAspect="1" noChangeArrowheads="1" noTextEdit="1"/>
          </p:cNvSpPr>
          <p:nvPr>
            <p:ph type="sldImg"/>
          </p:nvPr>
        </p:nvSpPr>
        <p:spPr>
          <a:xfrm>
            <a:off x="2751138" y="531813"/>
            <a:ext cx="4730750" cy="2662237"/>
          </a:xfrm>
        </p:spPr>
      </p:sp>
      <p:sp>
        <p:nvSpPr>
          <p:cNvPr id="2097156"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5346"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2109D51C-B1ED-429E-AFF6-7EBBC157230E}" type="slidenum">
              <a:rPr lang="en-US" altLang="zh-CN" sz="1300" b="0">
                <a:latin typeface="Times New Roman" panose="02020503050405090304" pitchFamily="18" charset="0"/>
                <a:ea typeface="宋体" pitchFamily="2" charset="-122"/>
              </a:rPr>
              <a:t>19</a:t>
            </a:fld>
            <a:endParaRPr lang="en-US" altLang="zh-CN" sz="1300" b="0">
              <a:latin typeface="Times New Roman" panose="02020503050405090304" pitchFamily="18" charset="0"/>
              <a:ea typeface="宋体" pitchFamily="2" charset="-122"/>
            </a:endParaRPr>
          </a:p>
        </p:txBody>
      </p:sp>
      <p:sp>
        <p:nvSpPr>
          <p:cNvPr id="2105347" name="Rectangle 2"/>
          <p:cNvSpPr>
            <a:spLocks noGrp="1" noRot="1" noChangeAspect="1" noChangeArrowheads="1" noTextEdit="1"/>
          </p:cNvSpPr>
          <p:nvPr>
            <p:ph type="sldImg"/>
          </p:nvPr>
        </p:nvSpPr>
        <p:spPr>
          <a:xfrm>
            <a:off x="2751138" y="531813"/>
            <a:ext cx="4730750" cy="2662237"/>
          </a:xfrm>
        </p:spPr>
      </p:sp>
      <p:sp>
        <p:nvSpPr>
          <p:cNvPr id="2105348"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197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2234EA26-7B61-44A0-9993-B3980A98A0FC}" type="slidenum">
              <a:rPr lang="en-US" altLang="zh-CN" sz="1300" b="0">
                <a:latin typeface="Times New Roman" panose="02020503050405090304" pitchFamily="18" charset="0"/>
                <a:ea typeface="宋体" pitchFamily="2" charset="-122"/>
              </a:rPr>
              <a:t>20</a:t>
            </a:fld>
            <a:endParaRPr lang="en-US" altLang="zh-CN" sz="1300" b="0">
              <a:latin typeface="Times New Roman" panose="02020503050405090304" pitchFamily="18" charset="0"/>
              <a:ea typeface="宋体" pitchFamily="2" charset="-122"/>
            </a:endParaRPr>
          </a:p>
        </p:txBody>
      </p:sp>
      <p:sp>
        <p:nvSpPr>
          <p:cNvPr id="2131971" name="Rectangle 2"/>
          <p:cNvSpPr>
            <a:spLocks noGrp="1" noRot="1" noChangeAspect="1" noChangeArrowheads="1" noTextEdit="1"/>
          </p:cNvSpPr>
          <p:nvPr>
            <p:ph type="sldImg"/>
          </p:nvPr>
        </p:nvSpPr>
        <p:spPr>
          <a:xfrm>
            <a:off x="2751138" y="531813"/>
            <a:ext cx="4730750" cy="2662237"/>
          </a:xfrm>
        </p:spPr>
      </p:sp>
      <p:sp>
        <p:nvSpPr>
          <p:cNvPr id="2131972"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4498"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805180" indent="-309880" defTabSz="990600" eaLnBrk="0" hangingPunct="0">
              <a:defRPr kumimoji="1" sz="2400">
                <a:solidFill>
                  <a:schemeClr val="tx1"/>
                </a:solidFill>
                <a:latin typeface="Arial" panose="020B0604020202090204" pitchFamily="34" charset="0"/>
                <a:ea typeface="隶书" panose="02010509060101010101" pitchFamily="49" charset="-122"/>
              </a:defRPr>
            </a:lvl2pPr>
            <a:lvl3pPr marL="1238250" indent="-247650" defTabSz="990600" eaLnBrk="0" hangingPunct="0">
              <a:defRPr kumimoji="1" sz="2400">
                <a:solidFill>
                  <a:schemeClr val="tx1"/>
                </a:solidFill>
                <a:latin typeface="Arial" panose="020B0604020202090204" pitchFamily="34" charset="0"/>
                <a:ea typeface="隶书" panose="02010509060101010101" pitchFamily="49" charset="-122"/>
              </a:defRPr>
            </a:lvl3pPr>
            <a:lvl4pPr marL="1733550" indent="-247650" defTabSz="990600" eaLnBrk="0" hangingPunct="0">
              <a:defRPr kumimoji="1" sz="2400">
                <a:solidFill>
                  <a:schemeClr val="tx1"/>
                </a:solidFill>
                <a:latin typeface="Arial" panose="020B0604020202090204" pitchFamily="34" charset="0"/>
                <a:ea typeface="隶书" panose="02010509060101010101" pitchFamily="49" charset="-122"/>
              </a:defRPr>
            </a:lvl4pPr>
            <a:lvl5pPr marL="2228850" indent="-247650" defTabSz="990600" eaLnBrk="0" hangingPunct="0">
              <a:defRPr kumimoji="1" sz="2400">
                <a:solidFill>
                  <a:schemeClr val="tx1"/>
                </a:solidFill>
                <a:latin typeface="Arial" panose="020B0604020202090204" pitchFamily="34" charset="0"/>
                <a:ea typeface="隶书" panose="02010509060101010101" pitchFamily="49" charset="-122"/>
              </a:defRPr>
            </a:lvl5pPr>
            <a:lvl6pPr marL="2686050" indent="-24765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3143250" indent="-24765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600450" indent="-24765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4057650" indent="-24765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A0512843-456A-4A4E-8C14-A910CB3FE607}" type="slidenum">
              <a:rPr lang="en-US" altLang="zh-CN" sz="1300" b="0">
                <a:latin typeface="Times New Roman" panose="02020503050405090304" pitchFamily="18" charset="0"/>
                <a:ea typeface="宋体" pitchFamily="2" charset="-122"/>
              </a:rPr>
              <a:t>21</a:t>
            </a:fld>
            <a:endParaRPr lang="en-US" altLang="zh-CN" sz="1300" b="0">
              <a:latin typeface="Times New Roman" panose="02020503050405090304" pitchFamily="18" charset="0"/>
              <a:ea typeface="宋体" pitchFamily="2" charset="-122"/>
            </a:endParaRPr>
          </a:p>
        </p:txBody>
      </p:sp>
      <p:sp>
        <p:nvSpPr>
          <p:cNvPr id="2154499" name="Rectangle 2"/>
          <p:cNvSpPr>
            <a:spLocks noGrp="1" noRot="1" noChangeAspect="1" noChangeArrowheads="1" noTextEdit="1"/>
          </p:cNvSpPr>
          <p:nvPr>
            <p:ph type="sldImg"/>
          </p:nvPr>
        </p:nvSpPr>
        <p:spPr>
          <a:xfrm>
            <a:off x="2751138" y="531813"/>
            <a:ext cx="4730750" cy="2662237"/>
          </a:xfrm>
        </p:spPr>
      </p:sp>
      <p:sp>
        <p:nvSpPr>
          <p:cNvPr id="2154500"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4258"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39646F44-F6D4-4F2E-85AC-17609A8DD6AC}" type="slidenum">
              <a:rPr lang="en-US" altLang="zh-CN" sz="1300" b="0">
                <a:latin typeface="Times New Roman" panose="02020503050405090304" pitchFamily="18" charset="0"/>
                <a:ea typeface="宋体" pitchFamily="2" charset="-122"/>
              </a:rPr>
              <a:t>22</a:t>
            </a:fld>
            <a:endParaRPr lang="en-US" altLang="zh-CN" sz="1300" b="0">
              <a:latin typeface="Times New Roman" panose="02020503050405090304" pitchFamily="18" charset="0"/>
              <a:ea typeface="宋体" pitchFamily="2" charset="-122"/>
            </a:endParaRPr>
          </a:p>
        </p:txBody>
      </p:sp>
      <p:sp>
        <p:nvSpPr>
          <p:cNvPr id="2144259" name="Rectangle 2"/>
          <p:cNvSpPr>
            <a:spLocks noGrp="1" noRot="1" noChangeAspect="1" noChangeArrowheads="1" noTextEdit="1"/>
          </p:cNvSpPr>
          <p:nvPr>
            <p:ph type="sldImg"/>
          </p:nvPr>
        </p:nvSpPr>
        <p:spPr>
          <a:xfrm>
            <a:off x="2751138" y="531813"/>
            <a:ext cx="4730750" cy="2662237"/>
          </a:xfrm>
        </p:spPr>
      </p:sp>
      <p:sp>
        <p:nvSpPr>
          <p:cNvPr id="2144260"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018"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3043B9F7-0054-4CCF-8885-4BA7AA004529}" type="slidenum">
              <a:rPr lang="en-US" altLang="zh-CN" sz="1300" b="0">
                <a:latin typeface="Times New Roman" panose="02020503050405090304" pitchFamily="18" charset="0"/>
                <a:ea typeface="宋体" pitchFamily="2" charset="-122"/>
              </a:rPr>
              <a:t>23</a:t>
            </a:fld>
            <a:endParaRPr lang="en-US" altLang="zh-CN" sz="1300" b="0">
              <a:latin typeface="Times New Roman" panose="02020503050405090304" pitchFamily="18" charset="0"/>
              <a:ea typeface="宋体" pitchFamily="2" charset="-122"/>
            </a:endParaRPr>
          </a:p>
        </p:txBody>
      </p:sp>
      <p:sp>
        <p:nvSpPr>
          <p:cNvPr id="2134019" name="Rectangle 2"/>
          <p:cNvSpPr>
            <a:spLocks noGrp="1" noRot="1" noChangeAspect="1" noChangeArrowheads="1" noTextEdit="1"/>
          </p:cNvSpPr>
          <p:nvPr>
            <p:ph type="sldImg"/>
          </p:nvPr>
        </p:nvSpPr>
        <p:spPr>
          <a:xfrm>
            <a:off x="2751138" y="531813"/>
            <a:ext cx="4730750" cy="2662237"/>
          </a:xfrm>
        </p:spPr>
      </p:sp>
      <p:sp>
        <p:nvSpPr>
          <p:cNvPr id="2134020"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D6B94BB8-AE0C-4DF6-9F85-DDB20019CDA6}" type="slidenum">
              <a:rPr lang="en-US" altLang="zh-CN" sz="1300" b="0">
                <a:latin typeface="Times New Roman" panose="02020503050405090304" pitchFamily="18" charset="0"/>
              </a:rPr>
              <a:t>26</a:t>
            </a:fld>
            <a:endParaRPr lang="en-US" altLang="zh-CN" sz="1300" b="0">
              <a:latin typeface="Times New Roman" panose="02020503050405090304" pitchFamily="18" charset="0"/>
            </a:endParaRPr>
          </a:p>
        </p:txBody>
      </p:sp>
      <p:sp>
        <p:nvSpPr>
          <p:cNvPr id="20483" name="Rectangle 2"/>
          <p:cNvSpPr>
            <a:spLocks noGrp="1" noRot="1" noChangeAspect="1" noChangeArrowheads="1" noTextEdit="1"/>
          </p:cNvSpPr>
          <p:nvPr>
            <p:ph type="sldImg"/>
          </p:nvPr>
        </p:nvSpPr>
        <p:spPr>
          <a:xfrm>
            <a:off x="2751138" y="531813"/>
            <a:ext cx="4730750" cy="2662237"/>
          </a:xfrm>
        </p:spPr>
      </p:sp>
      <p:sp>
        <p:nvSpPr>
          <p:cNvPr id="20484" name="Rectangle 3"/>
          <p:cNvSpPr>
            <a:spLocks noGrp="1" noChangeArrowheads="1"/>
          </p:cNvSpPr>
          <p:nvPr>
            <p:ph type="body" idx="1"/>
          </p:nvPr>
        </p:nvSpPr>
        <p:spPr>
          <a:noFill/>
        </p:spPr>
        <p:txBody>
          <a:bodyPr/>
          <a:lstStyle/>
          <a:p>
            <a:pPr eaLnBrk="1" hangingPunct="1"/>
            <a:r>
              <a:rPr lang="zh-CN" altLang="en-US" sz="1000" b="1">
                <a:solidFill>
                  <a:schemeClr val="bg1"/>
                </a:solidFill>
              </a:rPr>
              <a:t>过路的人！</a:t>
            </a:r>
          </a:p>
          <a:p>
            <a:pPr eaLnBrk="1" hangingPunct="1"/>
            <a:r>
              <a:rPr lang="zh-CN" altLang="en-US" sz="1000" b="1">
                <a:solidFill>
                  <a:schemeClr val="bg1"/>
                </a:solidFill>
              </a:rPr>
              <a:t>这儿埋葬着丢番图．</a:t>
            </a:r>
          </a:p>
          <a:p>
            <a:pPr eaLnBrk="1" hangingPunct="1"/>
            <a:r>
              <a:rPr lang="zh-CN" altLang="en-US" sz="1000" b="1">
                <a:solidFill>
                  <a:schemeClr val="bg1"/>
                </a:solidFill>
              </a:rPr>
              <a:t>请计算下列数目，</a:t>
            </a:r>
          </a:p>
          <a:p>
            <a:pPr eaLnBrk="1" hangingPunct="1"/>
            <a:r>
              <a:rPr lang="zh-CN" altLang="en-US" sz="1000" b="1">
                <a:solidFill>
                  <a:schemeClr val="bg1"/>
                </a:solidFill>
              </a:rPr>
              <a:t>便可知道他一生经过了多少个寒暑．</a:t>
            </a:r>
          </a:p>
          <a:p>
            <a:pPr eaLnBrk="1" hangingPunct="1"/>
            <a:r>
              <a:rPr lang="zh-CN" altLang="en-US" sz="1000" b="1">
                <a:solidFill>
                  <a:schemeClr val="bg1"/>
                </a:solidFill>
              </a:rPr>
              <a:t>他一生的六分之一是幸福的童年，</a:t>
            </a:r>
          </a:p>
          <a:p>
            <a:pPr eaLnBrk="1" hangingPunct="1"/>
            <a:r>
              <a:rPr lang="zh-CN" altLang="en-US" sz="1000" b="1">
                <a:solidFill>
                  <a:schemeClr val="bg1"/>
                </a:solidFill>
              </a:rPr>
              <a:t>十二分之一是无忧无虑的少年． </a:t>
            </a:r>
          </a:p>
          <a:p>
            <a:pPr eaLnBrk="1" hangingPunct="1"/>
            <a:r>
              <a:rPr lang="zh-CN" altLang="en-US" sz="1000" b="1">
                <a:solidFill>
                  <a:schemeClr val="bg1"/>
                </a:solidFill>
              </a:rPr>
              <a:t>再过去七分之一的生命旅程，</a:t>
            </a:r>
          </a:p>
          <a:p>
            <a:pPr eaLnBrk="1" hangingPunct="1"/>
            <a:r>
              <a:rPr lang="zh-CN" altLang="en-US" sz="1000" b="1">
                <a:solidFill>
                  <a:schemeClr val="bg1"/>
                </a:solidFill>
              </a:rPr>
              <a:t>他建立了幸福的家庭．</a:t>
            </a:r>
          </a:p>
          <a:p>
            <a:pPr eaLnBrk="1" hangingPunct="1"/>
            <a:r>
              <a:rPr lang="zh-CN" altLang="en-US" sz="1000" b="1">
                <a:solidFill>
                  <a:schemeClr val="bg1"/>
                </a:solidFill>
              </a:rPr>
              <a:t>五年后儿子出生，</a:t>
            </a:r>
          </a:p>
          <a:p>
            <a:pPr eaLnBrk="1" hangingPunct="1"/>
            <a:r>
              <a:rPr lang="zh-CN" altLang="en-US" sz="1000" b="1">
                <a:solidFill>
                  <a:schemeClr val="bg1"/>
                </a:solidFill>
              </a:rPr>
              <a:t>不料儿子竟先于父亲四年而终，</a:t>
            </a:r>
          </a:p>
          <a:p>
            <a:pPr eaLnBrk="1" hangingPunct="1"/>
            <a:r>
              <a:rPr lang="zh-CN" altLang="en-US" sz="1000" b="1">
                <a:solidFill>
                  <a:schemeClr val="bg1"/>
                </a:solidFill>
              </a:rPr>
              <a:t>年龄不过父亲享年的一半，</a:t>
            </a:r>
          </a:p>
          <a:p>
            <a:pPr eaLnBrk="1" hangingPunct="1"/>
            <a:r>
              <a:rPr lang="zh-CN" altLang="en-US" sz="1000" b="1">
                <a:solidFill>
                  <a:schemeClr val="bg1"/>
                </a:solidFill>
              </a:rPr>
              <a:t>晚年丧子老人真可怜，</a:t>
            </a:r>
          </a:p>
          <a:p>
            <a:pPr eaLnBrk="1" hangingPunct="1"/>
            <a:r>
              <a:rPr lang="zh-CN" altLang="en-US" sz="1000" b="1">
                <a:solidFill>
                  <a:schemeClr val="bg1"/>
                </a:solidFill>
              </a:rPr>
              <a:t>悲痛之中度过了风烛残年．</a:t>
            </a:r>
          </a:p>
          <a:p>
            <a:pPr eaLnBrk="1" hangingPunct="1"/>
            <a:r>
              <a:rPr lang="zh-CN" altLang="en-US" sz="1000" b="1">
                <a:solidFill>
                  <a:schemeClr val="bg1"/>
                </a:solidFill>
              </a:rPr>
              <a:t>请你算一算，丢番图活到多少岁，</a:t>
            </a:r>
          </a:p>
          <a:p>
            <a:pPr eaLnBrk="1" hangingPunct="1"/>
            <a:r>
              <a:rPr lang="zh-CN" altLang="en-US" sz="1000" b="1">
                <a:solidFill>
                  <a:schemeClr val="bg1"/>
                </a:solidFill>
              </a:rPr>
              <a:t>才和死神见面？</a:t>
            </a:r>
            <a:endParaRPr lang="zh-CN" altLang="zh-CN" sz="1000" b="1">
              <a:solidFill>
                <a:schemeClr val="bg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83792856-26C9-44C1-B466-1BEB5315CC25}" type="slidenum">
              <a:rPr lang="en-US" altLang="zh-CN" sz="1300" b="0">
                <a:latin typeface="Times New Roman" panose="02020503050405090304" pitchFamily="18" charset="0"/>
              </a:rPr>
              <a:t>27</a:t>
            </a:fld>
            <a:endParaRPr lang="en-US" altLang="zh-CN" sz="1300" b="0">
              <a:latin typeface="Times New Roman" panose="02020503050405090304" pitchFamily="18" charset="0"/>
            </a:endParaRPr>
          </a:p>
        </p:txBody>
      </p:sp>
      <p:sp>
        <p:nvSpPr>
          <p:cNvPr id="22531" name="Rectangle 2"/>
          <p:cNvSpPr>
            <a:spLocks noGrp="1" noRot="1" noChangeAspect="1" noChangeArrowheads="1" noTextEdit="1"/>
          </p:cNvSpPr>
          <p:nvPr>
            <p:ph type="sldImg"/>
          </p:nvPr>
        </p:nvSpPr>
        <p:spPr>
          <a:xfrm>
            <a:off x="2751138" y="531813"/>
            <a:ext cx="4730750" cy="2662237"/>
          </a:xfrm>
        </p:spPr>
      </p:sp>
      <p:sp>
        <p:nvSpPr>
          <p:cNvPr id="22532"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83792856-26C9-44C1-B466-1BEB5315CC25}" type="slidenum">
              <a:rPr lang="en-US" altLang="zh-CN" sz="1300" b="0">
                <a:latin typeface="Times New Roman" panose="02020503050405090304" pitchFamily="18" charset="0"/>
              </a:rPr>
              <a:t>28</a:t>
            </a:fld>
            <a:endParaRPr lang="en-US" altLang="zh-CN" sz="1300" b="0">
              <a:latin typeface="Times New Roman" panose="02020503050405090304" pitchFamily="18" charset="0"/>
            </a:endParaRPr>
          </a:p>
        </p:txBody>
      </p:sp>
      <p:sp>
        <p:nvSpPr>
          <p:cNvPr id="22531" name="Rectangle 2"/>
          <p:cNvSpPr>
            <a:spLocks noGrp="1" noRot="1" noChangeAspect="1" noChangeArrowheads="1" noTextEdit="1"/>
          </p:cNvSpPr>
          <p:nvPr>
            <p:ph type="sldImg"/>
          </p:nvPr>
        </p:nvSpPr>
        <p:spPr>
          <a:xfrm>
            <a:off x="2751138" y="531813"/>
            <a:ext cx="4730750" cy="2662237"/>
          </a:xfrm>
        </p:spPr>
      </p:sp>
      <p:sp>
        <p:nvSpPr>
          <p:cNvPr id="22532"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88249CF3-2A02-4515-BBD8-476D07C28F67}" type="slidenum">
              <a:rPr lang="en-US" altLang="zh-CN" sz="1300" b="0">
                <a:latin typeface="Times New Roman" panose="02020503050405090304" pitchFamily="18" charset="0"/>
              </a:rPr>
              <a:t>30</a:t>
            </a:fld>
            <a:endParaRPr lang="en-US" altLang="zh-CN" sz="1300" b="0">
              <a:latin typeface="Times New Roman" panose="02020503050405090304" pitchFamily="18" charset="0"/>
            </a:endParaRPr>
          </a:p>
        </p:txBody>
      </p:sp>
      <p:sp>
        <p:nvSpPr>
          <p:cNvPr id="28675" name="Rectangle 2"/>
          <p:cNvSpPr>
            <a:spLocks noGrp="1" noRot="1" noChangeAspect="1" noChangeArrowheads="1" noTextEdit="1"/>
          </p:cNvSpPr>
          <p:nvPr>
            <p:ph type="sldImg"/>
          </p:nvPr>
        </p:nvSpPr>
        <p:spPr>
          <a:xfrm>
            <a:off x="2751138" y="531813"/>
            <a:ext cx="4730750" cy="2662237"/>
          </a:xfrm>
        </p:spPr>
      </p:sp>
      <p:sp>
        <p:nvSpPr>
          <p:cNvPr id="28676"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98EAAF1C-0737-4433-B842-2AC4BC35EE4D}" type="slidenum">
              <a:rPr lang="en-US" altLang="zh-CN" sz="1300" b="0">
                <a:latin typeface="Times New Roman" panose="02020503050405090304" pitchFamily="18" charset="0"/>
              </a:rPr>
              <a:t>31</a:t>
            </a:fld>
            <a:endParaRPr lang="en-US" altLang="zh-CN" sz="1300" b="0">
              <a:latin typeface="Times New Roman" panose="02020503050405090304" pitchFamily="18" charset="0"/>
            </a:endParaRPr>
          </a:p>
        </p:txBody>
      </p:sp>
      <p:sp>
        <p:nvSpPr>
          <p:cNvPr id="55299" name="Rectangle 2"/>
          <p:cNvSpPr>
            <a:spLocks noGrp="1" noRot="1" noChangeAspect="1" noChangeArrowheads="1" noTextEdit="1"/>
          </p:cNvSpPr>
          <p:nvPr>
            <p:ph type="sldImg"/>
          </p:nvPr>
        </p:nvSpPr>
        <p:spPr>
          <a:xfrm>
            <a:off x="2751138" y="531813"/>
            <a:ext cx="4730750" cy="2662237"/>
          </a:xfrm>
        </p:spPr>
      </p:sp>
      <p:sp>
        <p:nvSpPr>
          <p:cNvPr id="55300"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06459B2F-079A-454B-981D-923A844ED050}" type="slidenum">
              <a:rPr lang="en-US" altLang="zh-CN" sz="1300" b="0">
                <a:latin typeface="Times New Roman" panose="02020503050405090304" pitchFamily="18" charset="0"/>
              </a:rPr>
              <a:t>32</a:t>
            </a:fld>
            <a:endParaRPr lang="en-US" altLang="zh-CN" sz="1300" b="0">
              <a:latin typeface="Times New Roman" panose="02020503050405090304" pitchFamily="18" charset="0"/>
            </a:endParaRPr>
          </a:p>
        </p:txBody>
      </p:sp>
      <p:sp>
        <p:nvSpPr>
          <p:cNvPr id="57347" name="Rectangle 2"/>
          <p:cNvSpPr>
            <a:spLocks noGrp="1" noRot="1" noChangeAspect="1" noChangeArrowheads="1" noTextEdit="1"/>
          </p:cNvSpPr>
          <p:nvPr>
            <p:ph type="sldImg"/>
          </p:nvPr>
        </p:nvSpPr>
        <p:spPr>
          <a:xfrm>
            <a:off x="2751138" y="531813"/>
            <a:ext cx="4730750" cy="2662237"/>
          </a:xfrm>
        </p:spPr>
      </p:sp>
      <p:sp>
        <p:nvSpPr>
          <p:cNvPr id="57348"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06459B2F-079A-454B-981D-923A844ED050}" type="slidenum">
              <a:rPr lang="en-US" altLang="zh-CN" sz="1300" b="0">
                <a:latin typeface="Times New Roman" panose="02020503050405090304" pitchFamily="18" charset="0"/>
              </a:rPr>
              <a:t>33</a:t>
            </a:fld>
            <a:endParaRPr lang="en-US" altLang="zh-CN" sz="1300" b="0">
              <a:latin typeface="Times New Roman" panose="02020503050405090304" pitchFamily="18" charset="0"/>
            </a:endParaRPr>
          </a:p>
        </p:txBody>
      </p:sp>
      <p:sp>
        <p:nvSpPr>
          <p:cNvPr id="57347" name="Rectangle 2"/>
          <p:cNvSpPr>
            <a:spLocks noGrp="1" noRot="1" noChangeAspect="1" noChangeArrowheads="1" noTextEdit="1"/>
          </p:cNvSpPr>
          <p:nvPr>
            <p:ph type="sldImg"/>
          </p:nvPr>
        </p:nvSpPr>
        <p:spPr>
          <a:xfrm>
            <a:off x="2751138" y="531813"/>
            <a:ext cx="4730750" cy="2662237"/>
          </a:xfrm>
        </p:spPr>
      </p:sp>
      <p:sp>
        <p:nvSpPr>
          <p:cNvPr id="57348"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508FDCE6-B2DB-4CFF-AFEF-83D0A99D3625}" type="slidenum">
              <a:rPr lang="en-US" altLang="zh-CN" sz="1300" b="0">
                <a:latin typeface="Times New Roman" panose="02020503050405090304" pitchFamily="18" charset="0"/>
              </a:rPr>
              <a:t>34</a:t>
            </a:fld>
            <a:endParaRPr lang="en-US" altLang="zh-CN" sz="1300" b="0">
              <a:latin typeface="Times New Roman" panose="02020503050405090304" pitchFamily="18" charset="0"/>
            </a:endParaRPr>
          </a:p>
        </p:txBody>
      </p:sp>
      <p:sp>
        <p:nvSpPr>
          <p:cNvPr id="59395" name="Rectangle 2"/>
          <p:cNvSpPr>
            <a:spLocks noGrp="1" noRot="1" noChangeAspect="1" noChangeArrowheads="1" noTextEdit="1"/>
          </p:cNvSpPr>
          <p:nvPr>
            <p:ph type="sldImg"/>
          </p:nvPr>
        </p:nvSpPr>
        <p:spPr>
          <a:xfrm>
            <a:off x="2751138" y="531813"/>
            <a:ext cx="4730750" cy="2662237"/>
          </a:xfrm>
        </p:spPr>
      </p:sp>
      <p:sp>
        <p:nvSpPr>
          <p:cNvPr id="59396"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A701C417-3D51-4BAB-A120-1197A4DA3D1E}" type="slidenum">
              <a:rPr lang="en-US" altLang="zh-CN" sz="1300" b="0">
                <a:latin typeface="Times New Roman" panose="02020503050405090304" pitchFamily="18" charset="0"/>
              </a:rPr>
              <a:t>35</a:t>
            </a:fld>
            <a:endParaRPr lang="en-US" altLang="zh-CN" sz="1300" b="0">
              <a:latin typeface="Times New Roman" panose="02020503050405090304" pitchFamily="18" charset="0"/>
            </a:endParaRPr>
          </a:p>
        </p:txBody>
      </p:sp>
      <p:sp>
        <p:nvSpPr>
          <p:cNvPr id="61443" name="Rectangle 2"/>
          <p:cNvSpPr>
            <a:spLocks noGrp="1" noRot="1" noChangeAspect="1" noChangeArrowheads="1" noTextEdit="1"/>
          </p:cNvSpPr>
          <p:nvPr>
            <p:ph type="sldImg"/>
          </p:nvPr>
        </p:nvSpPr>
        <p:spPr>
          <a:xfrm>
            <a:off x="2751138" y="531813"/>
            <a:ext cx="4730750" cy="2662237"/>
          </a:xfrm>
        </p:spPr>
      </p:sp>
      <p:sp>
        <p:nvSpPr>
          <p:cNvPr id="61444"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34B5FCF5-5F6C-4F8C-A76E-D464A9CE78B5}" type="slidenum">
              <a:rPr lang="en-US" altLang="zh-CN" sz="1300" b="0">
                <a:latin typeface="Times New Roman" panose="02020503050405090304" pitchFamily="18" charset="0"/>
              </a:rPr>
              <a:t>36</a:t>
            </a:fld>
            <a:endParaRPr lang="en-US" altLang="zh-CN" sz="1300" b="0">
              <a:latin typeface="Times New Roman" panose="02020503050405090304" pitchFamily="18" charset="0"/>
            </a:endParaRPr>
          </a:p>
        </p:txBody>
      </p:sp>
      <p:sp>
        <p:nvSpPr>
          <p:cNvPr id="63491" name="Rectangle 2"/>
          <p:cNvSpPr>
            <a:spLocks noGrp="1" noRot="1" noChangeAspect="1" noChangeArrowheads="1" noTextEdit="1"/>
          </p:cNvSpPr>
          <p:nvPr>
            <p:ph type="sldImg"/>
          </p:nvPr>
        </p:nvSpPr>
        <p:spPr>
          <a:xfrm>
            <a:off x="2751138" y="531813"/>
            <a:ext cx="4730750" cy="2662237"/>
          </a:xfrm>
        </p:spPr>
      </p:sp>
      <p:sp>
        <p:nvSpPr>
          <p:cNvPr id="63492" name="Rectangle 3"/>
          <p:cNvSpPr>
            <a:spLocks noGrp="1" noChangeArrowheads="1"/>
          </p:cNvSpPr>
          <p:nvPr>
            <p:ph type="body" idx="1"/>
          </p:nvPr>
        </p:nvSpPr>
        <p:spPr>
          <a:noFill/>
        </p:spPr>
        <p:txBody>
          <a:bodyPr/>
          <a:lstStyle/>
          <a:p>
            <a:pPr eaLnBrk="1" hangingPunct="1"/>
            <a:r>
              <a:rPr lang="zh-CN" altLang="en-US" b="1" dirty="0">
                <a:solidFill>
                  <a:schemeClr val="bg1"/>
                </a:solidFill>
              </a:rPr>
              <a:t>贪心算法，是在每一次选择中，总是做出当前看来最好的选择，而不从整体的最优考虑，选择只是某种意义上局部的最优解。生活中很多问题需要对资源优化分配，达到资源利用率最大化。贪心算法虽然不能对所有的问题都求得整体最优解，但是对大部分的问题都能求得最优近似解，对部分问题也能得到最优解，例如单源最短路径、最小生成树等。</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323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82815DF2-5D0D-466D-8F1D-013067BB9270}" type="slidenum">
              <a:rPr lang="en-US" altLang="zh-CN" sz="1300" b="0">
                <a:latin typeface="Times New Roman" panose="02020503050405090304" pitchFamily="18" charset="0"/>
                <a:ea typeface="宋体" pitchFamily="2" charset="-122"/>
              </a:rPr>
              <a:t>37</a:t>
            </a:fld>
            <a:endParaRPr lang="en-US" altLang="zh-CN" sz="1300" b="0">
              <a:latin typeface="Times New Roman" panose="02020503050405090304" pitchFamily="18" charset="0"/>
              <a:ea typeface="宋体" pitchFamily="2" charset="-122"/>
            </a:endParaRPr>
          </a:p>
        </p:txBody>
      </p:sp>
      <p:sp>
        <p:nvSpPr>
          <p:cNvPr id="2143235" name="Rectangle 2"/>
          <p:cNvSpPr>
            <a:spLocks noGrp="1" noRot="1" noChangeAspect="1" noChangeArrowheads="1" noTextEdit="1"/>
          </p:cNvSpPr>
          <p:nvPr>
            <p:ph type="sldImg"/>
          </p:nvPr>
        </p:nvSpPr>
        <p:spPr/>
      </p:sp>
      <p:sp>
        <p:nvSpPr>
          <p:cNvPr id="2143236"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547F3F6A-B924-4B6D-BE20-EBE927AC2B7D}" type="slidenum">
              <a:rPr lang="en-US" altLang="zh-CN" sz="1300" b="0">
                <a:latin typeface="Times New Roman" panose="02020503050405090304" pitchFamily="18" charset="0"/>
              </a:rPr>
              <a:t>38</a:t>
            </a:fld>
            <a:endParaRPr lang="en-US" altLang="zh-CN" sz="1300" b="0">
              <a:latin typeface="Times New Roman" panose="02020503050405090304" pitchFamily="18" charset="0"/>
            </a:endParaRPr>
          </a:p>
        </p:txBody>
      </p:sp>
      <p:sp>
        <p:nvSpPr>
          <p:cNvPr id="90115" name="Rectangle 2"/>
          <p:cNvSpPr>
            <a:spLocks noGrp="1" noRot="1" noChangeAspect="1" noChangeArrowheads="1" noTextEdit="1"/>
          </p:cNvSpPr>
          <p:nvPr>
            <p:ph type="sldImg"/>
          </p:nvPr>
        </p:nvSpPr>
        <p:spPr>
          <a:xfrm>
            <a:off x="2751138" y="531813"/>
            <a:ext cx="4730750" cy="2662237"/>
          </a:xfrm>
        </p:spPr>
      </p:sp>
      <p:sp>
        <p:nvSpPr>
          <p:cNvPr id="90116"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82"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B2AA120D-6B07-4209-B9A5-9B778A9B7D18}" type="slidenum">
              <a:rPr lang="en-US" altLang="zh-CN" sz="1300" b="0">
                <a:latin typeface="Times New Roman" panose="02020503050405090304" pitchFamily="18" charset="0"/>
                <a:ea typeface="宋体" pitchFamily="2" charset="-122"/>
              </a:rPr>
              <a:t>39</a:t>
            </a:fld>
            <a:endParaRPr lang="en-US" altLang="zh-CN" sz="1300" b="0">
              <a:latin typeface="Times New Roman" panose="02020503050405090304" pitchFamily="18" charset="0"/>
              <a:ea typeface="宋体" pitchFamily="2" charset="-122"/>
            </a:endParaRPr>
          </a:p>
        </p:txBody>
      </p:sp>
      <p:sp>
        <p:nvSpPr>
          <p:cNvPr id="2017283" name="Rectangle 2"/>
          <p:cNvSpPr>
            <a:spLocks noGrp="1" noRot="1" noChangeAspect="1" noChangeArrowheads="1" noTextEdit="1"/>
          </p:cNvSpPr>
          <p:nvPr>
            <p:ph type="sldImg"/>
          </p:nvPr>
        </p:nvSpPr>
        <p:spPr/>
      </p:sp>
      <p:sp>
        <p:nvSpPr>
          <p:cNvPr id="2017284"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523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8A0F45E5-7F82-405F-9986-FFE91EAB6E66}" type="slidenum">
              <a:rPr lang="en-US" altLang="zh-CN" sz="1300" b="0">
                <a:latin typeface="Times New Roman" panose="02020503050405090304" pitchFamily="18" charset="0"/>
                <a:ea typeface="宋体" pitchFamily="2" charset="-122"/>
              </a:rPr>
              <a:t>40</a:t>
            </a:fld>
            <a:endParaRPr lang="en-US" altLang="zh-CN" sz="1300" b="0">
              <a:latin typeface="Times New Roman" panose="02020503050405090304" pitchFamily="18" charset="0"/>
              <a:ea typeface="宋体" pitchFamily="2" charset="-122"/>
            </a:endParaRPr>
          </a:p>
        </p:txBody>
      </p:sp>
      <p:sp>
        <p:nvSpPr>
          <p:cNvPr id="2015235" name="Rectangle 2"/>
          <p:cNvSpPr>
            <a:spLocks noGrp="1" noRot="1" noChangeAspect="1" noChangeArrowheads="1" noTextEdit="1"/>
          </p:cNvSpPr>
          <p:nvPr>
            <p:ph type="sldImg"/>
          </p:nvPr>
        </p:nvSpPr>
        <p:spPr/>
      </p:sp>
      <p:sp>
        <p:nvSpPr>
          <p:cNvPr id="2015236"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1506"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94D41501-5C63-4900-BD1E-CB3B5F8C46AD}" type="slidenum">
              <a:rPr lang="en-US" altLang="zh-CN" sz="1300" b="0">
                <a:latin typeface="Times New Roman" panose="02020503050405090304" pitchFamily="18" charset="0"/>
                <a:ea typeface="宋体" pitchFamily="2" charset="-122"/>
              </a:rPr>
              <a:t>41</a:t>
            </a:fld>
            <a:endParaRPr lang="en-US" altLang="zh-CN" sz="1300" b="0">
              <a:latin typeface="Times New Roman" panose="02020503050405090304" pitchFamily="18" charset="0"/>
              <a:ea typeface="宋体" pitchFamily="2" charset="-122"/>
            </a:endParaRPr>
          </a:p>
        </p:txBody>
      </p:sp>
      <p:sp>
        <p:nvSpPr>
          <p:cNvPr id="2581507" name="Rectangle 2"/>
          <p:cNvSpPr>
            <a:spLocks noGrp="1" noRot="1" noChangeAspect="1" noChangeArrowheads="1" noTextEdit="1"/>
          </p:cNvSpPr>
          <p:nvPr>
            <p:ph type="sldImg"/>
          </p:nvPr>
        </p:nvSpPr>
        <p:spPr/>
      </p:sp>
      <p:sp>
        <p:nvSpPr>
          <p:cNvPr id="2581508"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EB774797-8D72-474A-ABAD-41C4D2823868}" type="slidenum">
              <a:rPr lang="en-US" altLang="zh-CN" sz="1300" b="0">
                <a:latin typeface="Times New Roman" panose="02020503050405090304" pitchFamily="18" charset="0"/>
              </a:rPr>
              <a:t>42</a:t>
            </a:fld>
            <a:endParaRPr lang="en-US" altLang="zh-CN" sz="1300" b="0">
              <a:latin typeface="Times New Roman" panose="02020503050405090304" pitchFamily="18" charset="0"/>
            </a:endParaRPr>
          </a:p>
        </p:txBody>
      </p:sp>
      <p:sp>
        <p:nvSpPr>
          <p:cNvPr id="137219" name="Rectangle 2"/>
          <p:cNvSpPr>
            <a:spLocks noGrp="1" noRot="1" noChangeAspect="1" noChangeArrowheads="1" noTextEdit="1"/>
          </p:cNvSpPr>
          <p:nvPr>
            <p:ph type="sldImg"/>
          </p:nvPr>
        </p:nvSpPr>
        <p:spPr>
          <a:xfrm>
            <a:off x="2751138" y="531813"/>
            <a:ext cx="4730750" cy="2662237"/>
          </a:xfrm>
        </p:spPr>
      </p:sp>
      <p:sp>
        <p:nvSpPr>
          <p:cNvPr id="137220" name="Rectangle 3"/>
          <p:cNvSpPr>
            <a:spLocks noGrp="1" noChangeArrowheads="1"/>
          </p:cNvSpPr>
          <p:nvPr>
            <p:ph type="body" idx="1"/>
          </p:nvPr>
        </p:nvSpPr>
        <p:spPr>
          <a:noFill/>
        </p:spPr>
        <p:txBody>
          <a:bodyPr/>
          <a:lstStyle/>
          <a:p>
            <a:pPr eaLnBrk="1" hangingPunct="1"/>
            <a:r>
              <a:rPr lang="zh-CN" altLang="en-US" b="1" dirty="0">
                <a:solidFill>
                  <a:schemeClr val="bg1"/>
                </a:solidFill>
              </a:rPr>
              <a:t>这是贪心算法，即</a:t>
            </a:r>
            <a:r>
              <a:rPr lang="zh-CN" altLang="en-US" sz="1200" dirty="0">
                <a:latin typeface="微软雅黑" panose="020B0503020204020204" pitchFamily="34" charset="-122"/>
                <a:ea typeface="微软雅黑" panose="020B0503020204020204" pitchFamily="34" charset="-122"/>
              </a:rPr>
              <a:t>寻找下一个未访问过的城市</a:t>
            </a:r>
            <a:r>
              <a:rPr lang="en-US" altLang="zh-CN" sz="1200" dirty="0">
                <a:latin typeface="微软雅黑" panose="020B0503020204020204" pitchFamily="34" charset="-122"/>
                <a:ea typeface="微软雅黑" panose="020B0503020204020204" pitchFamily="34" charset="-122"/>
              </a:rPr>
              <a:t>j,</a:t>
            </a:r>
            <a:r>
              <a:rPr lang="zh-CN" altLang="en-US" sz="1200" dirty="0">
                <a:latin typeface="微软雅黑" panose="020B0503020204020204" pitchFamily="34" charset="-122"/>
                <a:ea typeface="微软雅黑" panose="020B0503020204020204" pitchFamily="34" charset="-122"/>
              </a:rPr>
              <a:t>且其距当前访问城市</a:t>
            </a:r>
            <a:r>
              <a:rPr lang="en-US" altLang="zh-CN" sz="1200" dirty="0">
                <a:latin typeface="微软雅黑" panose="020B0503020204020204" pitchFamily="34" charset="-122"/>
                <a:ea typeface="微软雅黑" panose="020B0503020204020204" pitchFamily="34" charset="-122"/>
              </a:rPr>
              <a:t>S[I-1]</a:t>
            </a:r>
            <a:r>
              <a:rPr lang="zh-CN" altLang="en-US" sz="1200" dirty="0">
                <a:latin typeface="微软雅黑" panose="020B0503020204020204" pitchFamily="34" charset="-122"/>
                <a:ea typeface="微软雅黑" panose="020B0503020204020204" pitchFamily="34" charset="-122"/>
              </a:rPr>
              <a:t>距离最短。</a:t>
            </a:r>
            <a:endParaRPr lang="en-US" altLang="zh-CN" sz="1200" dirty="0">
              <a:latin typeface="微软雅黑" panose="020B0503020204020204" pitchFamily="34" charset="-122"/>
              <a:ea typeface="微软雅黑" panose="020B0503020204020204" pitchFamily="34" charset="-122"/>
            </a:endParaRPr>
          </a:p>
          <a:p>
            <a:pPr eaLnBrk="1" hangingPunct="1"/>
            <a:endParaRPr lang="en-US" altLang="zh-CN" sz="1200" b="1" dirty="0">
              <a:solidFill>
                <a:schemeClr val="bg1"/>
              </a:solidFill>
              <a:latin typeface="微软雅黑" panose="020B0503020204020204" pitchFamily="34" charset="-122"/>
              <a:ea typeface="微软雅黑" panose="020B0503020204020204" pitchFamily="34" charset="-122"/>
            </a:endParaRPr>
          </a:p>
          <a:p>
            <a:r>
              <a:rPr lang="pl-PL" altLang="zh-CN" dirty="0">
                <a:solidFill>
                  <a:schemeClr val="accent2"/>
                </a:solidFill>
                <a:latin typeface="Times New Roman" panose="02020503050405090304" pitchFamily="18" charset="0"/>
                <a:cs typeface="Times New Roman" panose="02020503050405090304" pitchFamily="18" charset="0"/>
              </a:rPr>
              <a:t>L=0;</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Found=0;</a:t>
            </a:r>
          </a:p>
          <a:p>
            <a:r>
              <a:rPr lang="pl-PL" altLang="zh-CN" dirty="0">
                <a:solidFill>
                  <a:schemeClr val="accent2"/>
                </a:solidFill>
                <a:latin typeface="Times New Roman" panose="02020503050405090304" pitchFamily="18" charset="0"/>
                <a:cs typeface="Times New Roman" panose="02020503050405090304" pitchFamily="18" charset="0"/>
              </a:rPr>
              <a:t>do{ </a:t>
            </a:r>
            <a:endParaRPr lang="zh-CN" altLang="pl-PL" dirty="0">
              <a:solidFill>
                <a:schemeClr val="accent2"/>
              </a:solidFill>
              <a:latin typeface="Times New Roman" panose="02020503050405090304" pitchFamily="18" charset="0"/>
              <a:cs typeface="Times New Roman" panose="02020503050405090304" pitchFamily="18" charset="0"/>
            </a:endParaRPr>
          </a:p>
          <a:p>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if(S[L]==K)</a:t>
            </a:r>
          </a:p>
          <a:p>
            <a:r>
              <a:rPr lang="pl-PL" altLang="zh-CN" dirty="0">
                <a:solidFill>
                  <a:schemeClr val="accent2"/>
                </a:solidFill>
                <a:latin typeface="Times New Roman" panose="02020503050405090304" pitchFamily="18" charset="0"/>
                <a:cs typeface="Times New Roman" panose="02020503050405090304" pitchFamily="18" charset="0"/>
              </a:rPr>
              <a:t>       {</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Found=</a:t>
            </a:r>
            <a:r>
              <a:rPr lang="pl-PL" altLang="zh-CN" dirty="0">
                <a:solidFill>
                  <a:schemeClr val="accent2"/>
                </a:solidFill>
                <a:cs typeface="Times New Roman" panose="02020503050405090304" pitchFamily="18" charset="0"/>
              </a:rPr>
              <a:t>1</a:t>
            </a:r>
            <a:r>
              <a:rPr lang="pl-PL" altLang="zh-CN" dirty="0">
                <a:solidFill>
                  <a:schemeClr val="accent2"/>
                </a:solidFill>
                <a:latin typeface="Times New Roman" panose="02020503050405090304" pitchFamily="18" charset="0"/>
                <a:cs typeface="Times New Roman" panose="02020503050405090304" pitchFamily="18" charset="0"/>
              </a:rPr>
              <a:t>;</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break;</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a:t>
            </a:r>
          </a:p>
          <a:p>
            <a:r>
              <a:rPr lang="pl-PL" altLang="zh-CN" dirty="0">
                <a:solidFill>
                  <a:schemeClr val="accent2"/>
                </a:solidFill>
                <a:latin typeface="Times New Roman" panose="02020503050405090304" pitchFamily="18" charset="0"/>
                <a:cs typeface="Times New Roman" panose="02020503050405090304" pitchFamily="18" charset="0"/>
              </a:rPr>
              <a:t>      else L=L+</a:t>
            </a:r>
            <a:r>
              <a:rPr lang="pl-PL" altLang="zh-CN" dirty="0">
                <a:solidFill>
                  <a:schemeClr val="accent2"/>
                </a:solidFill>
                <a:cs typeface="Times New Roman" panose="02020503050405090304" pitchFamily="18" charset="0"/>
              </a:rPr>
              <a:t>1</a:t>
            </a:r>
            <a:r>
              <a:rPr lang="pl-PL" altLang="zh-CN" dirty="0">
                <a:solidFill>
                  <a:schemeClr val="accent2"/>
                </a:solidFill>
                <a:latin typeface="Times New Roman" panose="02020503050405090304" pitchFamily="18" charset="0"/>
                <a:cs typeface="Times New Roman" panose="02020503050405090304" pitchFamily="18" charset="0"/>
              </a:rPr>
              <a:t>;</a:t>
            </a:r>
          </a:p>
          <a:p>
            <a:r>
              <a:rPr lang="pl-PL" altLang="zh-CN" dirty="0">
                <a:solidFill>
                  <a:schemeClr val="accent2"/>
                </a:solidFill>
                <a:latin typeface="Times New Roman" panose="02020503050405090304" pitchFamily="18" charset="0"/>
                <a:cs typeface="Times New Roman" panose="02020503050405090304" pitchFamily="18" charset="0"/>
              </a:rPr>
              <a:t>} while(L&lt;I);  	//L</a:t>
            </a:r>
            <a:r>
              <a:rPr lang="zh-CN" altLang="pt-BR" dirty="0">
                <a:solidFill>
                  <a:schemeClr val="accent2"/>
                </a:solidFill>
                <a:latin typeface="Times New Roman" panose="02020503050405090304" pitchFamily="18" charset="0"/>
                <a:cs typeface="Times New Roman" panose="02020503050405090304" pitchFamily="18" charset="0"/>
              </a:rPr>
              <a:t>从</a:t>
            </a:r>
            <a:r>
              <a:rPr lang="pl-PL" altLang="zh-CN" dirty="0">
                <a:solidFill>
                  <a:schemeClr val="accent2"/>
                </a:solidFill>
                <a:latin typeface="Times New Roman" panose="02020503050405090304" pitchFamily="18" charset="0"/>
                <a:cs typeface="Times New Roman" panose="02020503050405090304" pitchFamily="18" charset="0"/>
              </a:rPr>
              <a:t>1</a:t>
            </a:r>
            <a:r>
              <a:rPr lang="zh-CN" altLang="pt-BR" dirty="0">
                <a:solidFill>
                  <a:schemeClr val="accent2"/>
                </a:solidFill>
                <a:latin typeface="Times New Roman" panose="02020503050405090304" pitchFamily="18" charset="0"/>
                <a:cs typeface="Times New Roman" panose="02020503050405090304" pitchFamily="18" charset="0"/>
              </a:rPr>
              <a:t>到</a:t>
            </a:r>
            <a:r>
              <a:rPr lang="pl-PL" altLang="zh-CN" dirty="0">
                <a:solidFill>
                  <a:schemeClr val="accent2"/>
                </a:solidFill>
                <a:latin typeface="Times New Roman" panose="02020503050405090304" pitchFamily="18" charset="0"/>
                <a:cs typeface="Times New Roman" panose="02020503050405090304" pitchFamily="18" charset="0"/>
              </a:rPr>
              <a:t>I</a:t>
            </a:r>
            <a:r>
              <a:rPr lang="zh-CN" altLang="pt-BR" dirty="0">
                <a:solidFill>
                  <a:schemeClr val="accent2"/>
                </a:solidFill>
                <a:latin typeface="Times New Roman" panose="02020503050405090304" pitchFamily="18" charset="0"/>
                <a:cs typeface="Times New Roman" panose="02020503050405090304" pitchFamily="18" charset="0"/>
              </a:rPr>
              <a:t>循环</a:t>
            </a:r>
            <a:endParaRPr lang="zh-CN" altLang="pl-PL" dirty="0">
              <a:solidFill>
                <a:schemeClr val="accent2"/>
              </a:solidFill>
              <a:latin typeface="Times New Roman" panose="02020503050405090304" pitchFamily="18" charset="0"/>
              <a:cs typeface="Times New Roman" panose="02020503050405090304" pitchFamily="18" charset="0"/>
            </a:endParaRPr>
          </a:p>
          <a:p>
            <a:pPr eaLnBrk="1" hangingPunct="1"/>
            <a:r>
              <a:rPr lang="en-US" altLang="zh-CN" b="1" dirty="0">
                <a:solidFill>
                  <a:schemeClr val="bg1"/>
                </a:solidFill>
              </a:rPr>
              <a:t>% </a:t>
            </a:r>
            <a:r>
              <a:rPr lang="zh-CN" altLang="en-US" b="1" dirty="0">
                <a:solidFill>
                  <a:schemeClr val="bg1"/>
                </a:solidFill>
              </a:rPr>
              <a:t>寻找第</a:t>
            </a:r>
            <a:r>
              <a:rPr lang="en-US" altLang="zh-CN" b="1" dirty="0">
                <a:solidFill>
                  <a:schemeClr val="bg1"/>
                </a:solidFill>
              </a:rPr>
              <a:t>K</a:t>
            </a:r>
            <a:r>
              <a:rPr lang="zh-CN" altLang="en-US" b="1" dirty="0">
                <a:solidFill>
                  <a:schemeClr val="bg1"/>
                </a:solidFill>
              </a:rPr>
              <a:t>个城市，这个城市没有出现在已访问的城市列表中，即找到一个没有访问的新城市。如果</a:t>
            </a:r>
            <a:r>
              <a:rPr lang="en-US" altLang="zh-CN" b="1" dirty="0">
                <a:solidFill>
                  <a:schemeClr val="bg1"/>
                </a:solidFill>
              </a:rPr>
              <a:t>K</a:t>
            </a:r>
            <a:r>
              <a:rPr lang="zh-CN" altLang="en-US" b="1" dirty="0">
                <a:solidFill>
                  <a:schemeClr val="bg1"/>
                </a:solidFill>
              </a:rPr>
              <a:t>是已访问的城市，那么</a:t>
            </a:r>
            <a:r>
              <a:rPr lang="en-US" altLang="zh-CN" b="1" dirty="0">
                <a:solidFill>
                  <a:schemeClr val="bg1"/>
                </a:solidFill>
              </a:rPr>
              <a:t>Found=1</a:t>
            </a:r>
            <a:r>
              <a:rPr lang="zh-CN" altLang="en-US" b="1" dirty="0">
                <a:solidFill>
                  <a:schemeClr val="bg1"/>
                </a:solidFill>
              </a:rPr>
              <a:t>同时跳出</a:t>
            </a:r>
            <a:r>
              <a:rPr lang="en-US" altLang="zh-CN" b="1" dirty="0">
                <a:solidFill>
                  <a:schemeClr val="bg1"/>
                </a:solidFill>
              </a:rPr>
              <a:t>do</a:t>
            </a:r>
            <a:r>
              <a:rPr lang="zh-CN" altLang="en-US" b="1" dirty="0">
                <a:solidFill>
                  <a:schemeClr val="bg1"/>
                </a:solidFill>
              </a:rPr>
              <a:t>循环，并且</a:t>
            </a:r>
            <a:r>
              <a:rPr lang="en-US" altLang="zh-CN" b="1" dirty="0">
                <a:solidFill>
                  <a:schemeClr val="bg1"/>
                </a:solidFill>
              </a:rPr>
              <a:t>K=</a:t>
            </a:r>
            <a:r>
              <a:rPr lang="en-US" altLang="zh-CN" b="1" dirty="0" err="1">
                <a:solidFill>
                  <a:schemeClr val="bg1"/>
                </a:solidFill>
              </a:rPr>
              <a:t>K+1</a:t>
            </a:r>
            <a:r>
              <a:rPr lang="zh-CN" altLang="en-US" b="1" dirty="0">
                <a:solidFill>
                  <a:schemeClr val="bg1"/>
                </a:solidFill>
              </a:rPr>
              <a:t>来寻找下一个城市是否是已访问的城市。如果第</a:t>
            </a:r>
            <a:r>
              <a:rPr lang="en-US" altLang="zh-CN" b="1" dirty="0">
                <a:solidFill>
                  <a:schemeClr val="bg1"/>
                </a:solidFill>
              </a:rPr>
              <a:t>K</a:t>
            </a:r>
            <a:r>
              <a:rPr lang="zh-CN" altLang="en-US" b="1" dirty="0">
                <a:solidFill>
                  <a:schemeClr val="bg1"/>
                </a:solidFill>
              </a:rPr>
              <a:t>个不是已访问的城市，那么</a:t>
            </a:r>
            <a:r>
              <a:rPr lang="en-US" altLang="zh-CN" b="1" dirty="0">
                <a:solidFill>
                  <a:schemeClr val="bg1"/>
                </a:solidFill>
              </a:rPr>
              <a:t>Found=0</a:t>
            </a:r>
            <a:r>
              <a:rPr lang="zh-CN" altLang="en-US" b="1" dirty="0">
                <a:solidFill>
                  <a:schemeClr val="bg1"/>
                </a:solidFill>
              </a:rPr>
              <a:t>，同时比较最后一个访问的城市</a:t>
            </a:r>
            <a:r>
              <a:rPr lang="en-US" altLang="zh-CN" b="1" dirty="0">
                <a:solidFill>
                  <a:schemeClr val="bg1"/>
                </a:solidFill>
              </a:rPr>
              <a:t>S[I-1]</a:t>
            </a:r>
            <a:r>
              <a:rPr lang="zh-CN" altLang="en-US" b="1" dirty="0">
                <a:solidFill>
                  <a:schemeClr val="bg1"/>
                </a:solidFill>
              </a:rPr>
              <a:t>与这个新城市的距离是否小于记录的最小距离。这是一个贪心策略。</a:t>
            </a:r>
            <a:endParaRPr lang="en-US" altLang="zh-CN" b="1" dirty="0">
              <a:solidFill>
                <a:schemeClr val="bg1"/>
              </a:solidFill>
            </a:endParaRPr>
          </a:p>
          <a:p>
            <a:pPr eaLnBrk="1" hangingPunct="1"/>
            <a:endParaRPr lang="en-US" altLang="zh-CN" b="1" dirty="0">
              <a:solidFill>
                <a:schemeClr val="bg1"/>
              </a:solidFill>
            </a:endParaRPr>
          </a:p>
          <a:p>
            <a:r>
              <a:rPr lang="pl-PL" altLang="zh-CN" dirty="0">
                <a:solidFill>
                  <a:schemeClr val="accent2"/>
                </a:solidFill>
                <a:latin typeface="Times New Roman" panose="02020503050405090304" pitchFamily="18" charset="0"/>
                <a:cs typeface="Times New Roman" panose="02020503050405090304" pitchFamily="18" charset="0"/>
              </a:rPr>
              <a:t>if </a:t>
            </a:r>
            <a:r>
              <a:rPr lang="en-US" altLang="zh-CN" dirty="0">
                <a:solidFill>
                  <a:schemeClr val="accent2"/>
                </a:solidFill>
                <a:latin typeface="Times New Roman" panose="02020503050405090304" pitchFamily="18" charset="0"/>
                <a:cs typeface="Times New Roman" panose="02020503050405090304" pitchFamily="18" charset="0"/>
              </a:rPr>
              <a:t>(Found==0</a:t>
            </a:r>
            <a:r>
              <a:rPr lang="en-US" altLang="zh-CN" dirty="0">
                <a:solidFill>
                  <a:srgbClr val="00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&amp;&amp; D[</a:t>
            </a:r>
            <a:r>
              <a:rPr lang="en-US" altLang="zh-CN" dirty="0">
                <a:solidFill>
                  <a:schemeClr val="tx2"/>
                </a:solidFill>
                <a:latin typeface="Times New Roman" panose="02020503050405090304" pitchFamily="18" charset="0"/>
                <a:cs typeface="Times New Roman" panose="02020503050405090304" pitchFamily="18" charset="0"/>
              </a:rPr>
              <a:t>K</a:t>
            </a:r>
            <a:r>
              <a:rPr lang="en-US" altLang="zh-CN" dirty="0">
                <a:solidFill>
                  <a:srgbClr val="FF0000"/>
                </a:solidFill>
                <a:latin typeface="Times New Roman" panose="02020503050405090304" pitchFamily="18" charset="0"/>
                <a:cs typeface="Times New Roman" panose="02020503050405090304" pitchFamily="18" charset="0"/>
              </a:rPr>
              <a:t>][</a:t>
            </a:r>
            <a:r>
              <a:rPr lang="en-US" altLang="zh-CN" dirty="0">
                <a:solidFill>
                  <a:schemeClr val="tx2"/>
                </a:solidFill>
                <a:latin typeface="Times New Roman" panose="02020503050405090304" pitchFamily="18" charset="0"/>
                <a:cs typeface="Times New Roman" panose="02020503050405090304" pitchFamily="18" charset="0"/>
              </a:rPr>
              <a:t>S[I-</a:t>
            </a:r>
            <a:r>
              <a:rPr lang="en-US" altLang="zh-CN" dirty="0">
                <a:solidFill>
                  <a:schemeClr val="tx2"/>
                </a:solidFill>
                <a:cs typeface="Times New Roman" panose="02020503050405090304" pitchFamily="18" charset="0"/>
              </a:rPr>
              <a:t>1</a:t>
            </a:r>
            <a:r>
              <a:rPr lang="en-US" altLang="zh-CN" dirty="0">
                <a:solidFill>
                  <a:schemeClr val="tx2"/>
                </a:solidFill>
                <a:latin typeface="Times New Roman" panose="02020503050405090304" pitchFamily="18" charset="0"/>
                <a:cs typeface="Times New Roman" panose="02020503050405090304" pitchFamily="18" charset="0"/>
              </a:rPr>
              <a:t>]</a:t>
            </a:r>
            <a:r>
              <a:rPr lang="en-US" altLang="zh-CN" dirty="0">
                <a:solidFill>
                  <a:srgbClr val="FF0000"/>
                </a:solidFill>
                <a:latin typeface="Times New Roman" panose="02020503050405090304" pitchFamily="18" charset="0"/>
                <a:cs typeface="Times New Roman" panose="02020503050405090304" pitchFamily="18" charset="0"/>
              </a:rPr>
              <a:t>]&lt;</a:t>
            </a:r>
            <a:r>
              <a:rPr lang="en-US" altLang="zh-CN" dirty="0" err="1">
                <a:solidFill>
                  <a:srgbClr val="FF0000"/>
                </a:solidFill>
                <a:latin typeface="Times New Roman" panose="02020503050405090304" pitchFamily="18" charset="0"/>
                <a:cs typeface="Times New Roman" panose="02020503050405090304" pitchFamily="18" charset="0"/>
              </a:rPr>
              <a:t>Dtemp</a:t>
            </a:r>
            <a:r>
              <a:rPr lang="en-US" altLang="zh-CN" dirty="0">
                <a:solidFill>
                  <a:srgbClr val="FF0000"/>
                </a:solidFill>
                <a:latin typeface="Times New Roman" panose="02020503050405090304" pitchFamily="18" charset="0"/>
                <a:cs typeface="Times New Roman" panose="02020503050405090304" pitchFamily="18" charset="0"/>
              </a:rPr>
              <a:t>)</a:t>
            </a:r>
          </a:p>
          <a:p>
            <a:r>
              <a:rPr lang="en-US" altLang="zh-CN" dirty="0">
                <a:solidFill>
                  <a:srgbClr val="FF0000"/>
                </a:solidFill>
                <a:latin typeface="Times New Roman" panose="02020503050405090304" pitchFamily="18" charset="0"/>
                <a:cs typeface="Times New Roman" panose="02020503050405090304" pitchFamily="18" charset="0"/>
              </a:rPr>
              <a:t>{</a:t>
            </a:r>
            <a:r>
              <a:rPr lang="zh-CN" altLang="en-US"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j=K;</a:t>
            </a:r>
            <a:r>
              <a:rPr lang="zh-CN" altLang="pl-PL" dirty="0">
                <a:solidFill>
                  <a:srgbClr val="FF0000"/>
                </a:solidFill>
                <a:latin typeface="Times New Roman" panose="02020503050405090304" pitchFamily="18" charset="0"/>
                <a:cs typeface="Times New Roman" panose="02020503050405090304" pitchFamily="18" charset="0"/>
              </a:rPr>
              <a:t>　</a:t>
            </a:r>
            <a:r>
              <a:rPr lang="en-US" altLang="zh-CN" dirty="0" err="1">
                <a:solidFill>
                  <a:srgbClr val="FF0000"/>
                </a:solidFill>
                <a:latin typeface="Times New Roman" panose="02020503050405090304" pitchFamily="18" charset="0"/>
                <a:cs typeface="Times New Roman" panose="02020503050405090304" pitchFamily="18" charset="0"/>
              </a:rPr>
              <a:t>Dtemp</a:t>
            </a:r>
            <a:r>
              <a:rPr lang="en-US" altLang="zh-CN" dirty="0">
                <a:solidFill>
                  <a:srgbClr val="FF0000"/>
                </a:solidFill>
                <a:latin typeface="Times New Roman" panose="02020503050405090304" pitchFamily="18" charset="0"/>
                <a:cs typeface="Times New Roman" panose="02020503050405090304" pitchFamily="18" charset="0"/>
              </a:rPr>
              <a:t>=D[</a:t>
            </a:r>
            <a:r>
              <a:rPr lang="en-US" altLang="zh-CN" dirty="0">
                <a:solidFill>
                  <a:schemeClr val="tx2"/>
                </a:solidFill>
                <a:latin typeface="Times New Roman" panose="02020503050405090304" pitchFamily="18" charset="0"/>
                <a:cs typeface="Times New Roman" panose="02020503050405090304" pitchFamily="18" charset="0"/>
              </a:rPr>
              <a:t>K</a:t>
            </a:r>
            <a:r>
              <a:rPr lang="en-US" altLang="zh-CN" dirty="0">
                <a:solidFill>
                  <a:srgbClr val="FF0000"/>
                </a:solidFill>
                <a:latin typeface="Times New Roman" panose="02020503050405090304" pitchFamily="18" charset="0"/>
                <a:cs typeface="Times New Roman" panose="02020503050405090304" pitchFamily="18" charset="0"/>
              </a:rPr>
              <a:t>][</a:t>
            </a:r>
            <a:r>
              <a:rPr lang="en-US" altLang="zh-CN" dirty="0">
                <a:solidFill>
                  <a:schemeClr val="tx2"/>
                </a:solidFill>
                <a:latin typeface="Times New Roman" panose="02020503050405090304" pitchFamily="18" charset="0"/>
                <a:cs typeface="Times New Roman" panose="02020503050405090304" pitchFamily="18" charset="0"/>
              </a:rPr>
              <a:t>S[I-1]</a:t>
            </a:r>
            <a:r>
              <a:rPr lang="en-US" altLang="zh-CN" dirty="0">
                <a:solidFill>
                  <a:srgbClr val="FF0000"/>
                </a:solidFill>
                <a:latin typeface="Times New Roman" panose="02020503050405090304" pitchFamily="18" charset="0"/>
                <a:cs typeface="Times New Roman" panose="02020503050405090304" pitchFamily="18" charset="0"/>
              </a:rPr>
              <a:t>];</a:t>
            </a:r>
            <a:r>
              <a:rPr lang="zh-CN" altLang="pl-PL"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a:t>
            </a:r>
          </a:p>
          <a:p>
            <a:pPr eaLnBrk="1" hangingPunct="1"/>
            <a:endParaRPr lang="en-US" altLang="zh-CN" b="1" dirty="0">
              <a:solidFill>
                <a:schemeClr val="bg1"/>
              </a:solidFill>
            </a:endParaRPr>
          </a:p>
          <a:p>
            <a:pPr eaLnBrk="1" hangingPunct="1"/>
            <a:endParaRPr lang="en-US" altLang="zh-CN" b="1" dirty="0">
              <a:solidFill>
                <a:schemeClr val="bg1"/>
              </a:solidFill>
            </a:endParaRPr>
          </a:p>
          <a:p>
            <a:pPr eaLnBrk="1" hangingPunct="1"/>
            <a:endParaRPr lang="en-US" altLang="zh-CN" b="1" dirty="0">
              <a:solidFill>
                <a:schemeClr val="bg1"/>
              </a:solidFill>
            </a:endParaRPr>
          </a:p>
          <a:p>
            <a:pPr eaLnBrk="1" hangingPunct="1"/>
            <a:endParaRPr lang="zh-CN" altLang="zh-CN" b="1" dirty="0">
              <a:solidFill>
                <a:schemeClr val="bg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2CCF159C-C49A-4A57-A9E8-20A6E3992E5A}" type="slidenum">
              <a:rPr lang="en-US" altLang="zh-CN" sz="1300" b="0">
                <a:latin typeface="Times New Roman" panose="02020503050405090304" pitchFamily="18" charset="0"/>
              </a:rPr>
              <a:t>43</a:t>
            </a:fld>
            <a:endParaRPr lang="en-US" altLang="zh-CN" sz="1300" b="0">
              <a:latin typeface="Times New Roman" panose="02020503050405090304" pitchFamily="18" charset="0"/>
            </a:endParaRPr>
          </a:p>
        </p:txBody>
      </p:sp>
      <p:sp>
        <p:nvSpPr>
          <p:cNvPr id="145411" name="Rectangle 2"/>
          <p:cNvSpPr>
            <a:spLocks noGrp="1" noRot="1" noChangeAspect="1" noChangeArrowheads="1" noTextEdit="1"/>
          </p:cNvSpPr>
          <p:nvPr>
            <p:ph type="sldImg"/>
          </p:nvPr>
        </p:nvSpPr>
        <p:spPr>
          <a:xfrm>
            <a:off x="2751138" y="531813"/>
            <a:ext cx="4730750" cy="2662237"/>
          </a:xfrm>
        </p:spPr>
      </p:sp>
      <p:sp>
        <p:nvSpPr>
          <p:cNvPr id="145412"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2226"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99D66F91-7463-4E29-AC5C-ECC943FD6E81}" type="slidenum">
              <a:rPr lang="en-US" altLang="zh-CN" sz="1300" b="0">
                <a:latin typeface="Times New Roman" panose="02020503050405090304" pitchFamily="18" charset="0"/>
                <a:ea typeface="宋体" pitchFamily="2" charset="-122"/>
              </a:rPr>
              <a:t>44</a:t>
            </a:fld>
            <a:endParaRPr lang="en-US" altLang="zh-CN" sz="1300" b="0">
              <a:latin typeface="Times New Roman" panose="02020503050405090304" pitchFamily="18" charset="0"/>
              <a:ea typeface="宋体" pitchFamily="2" charset="-122"/>
            </a:endParaRPr>
          </a:p>
        </p:txBody>
      </p:sp>
      <p:sp>
        <p:nvSpPr>
          <p:cNvPr id="2612227" name="Rectangle 2"/>
          <p:cNvSpPr>
            <a:spLocks noGrp="1" noRot="1" noChangeAspect="1" noChangeArrowheads="1" noTextEdit="1"/>
          </p:cNvSpPr>
          <p:nvPr>
            <p:ph type="sldImg"/>
          </p:nvPr>
        </p:nvSpPr>
        <p:spPr/>
      </p:sp>
      <p:sp>
        <p:nvSpPr>
          <p:cNvPr id="2612228"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7E39860B-8E31-4630-BA09-F7F1CB3355DA}" type="slidenum">
              <a:rPr lang="en-US" altLang="zh-CN" sz="1300" b="0">
                <a:latin typeface="Times New Roman" panose="02020503050405090304" pitchFamily="18" charset="0"/>
              </a:rPr>
              <a:t>45</a:t>
            </a:fld>
            <a:endParaRPr lang="en-US" altLang="zh-CN" sz="1300" b="0">
              <a:latin typeface="Times New Roman" panose="02020503050405090304" pitchFamily="18" charset="0"/>
            </a:endParaRPr>
          </a:p>
        </p:txBody>
      </p:sp>
      <p:sp>
        <p:nvSpPr>
          <p:cNvPr id="161795" name="Rectangle 2"/>
          <p:cNvSpPr>
            <a:spLocks noGrp="1" noRot="1" noChangeAspect="1" noChangeArrowheads="1" noTextEdit="1"/>
          </p:cNvSpPr>
          <p:nvPr>
            <p:ph type="sldImg"/>
          </p:nvPr>
        </p:nvSpPr>
        <p:spPr>
          <a:xfrm>
            <a:off x="2751138" y="531813"/>
            <a:ext cx="4730750" cy="2662237"/>
          </a:xfrm>
        </p:spPr>
      </p:sp>
      <p:sp>
        <p:nvSpPr>
          <p:cNvPr id="161796"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kumimoji="1" sz="2000" b="1">
                <a:solidFill>
                  <a:schemeClr val="tx1"/>
                </a:solidFill>
                <a:latin typeface="Arial" panose="020B0604020202090204" pitchFamily="34" charset="0"/>
                <a:ea typeface="宋体" pitchFamily="2" charset="-122"/>
              </a:defRPr>
            </a:lvl1pPr>
            <a:lvl2pPr marL="742950" indent="-285750" defTabSz="990600">
              <a:defRPr kumimoji="1" sz="2000" b="1">
                <a:solidFill>
                  <a:schemeClr val="tx1"/>
                </a:solidFill>
                <a:latin typeface="Arial" panose="020B0604020202090204" pitchFamily="34" charset="0"/>
                <a:ea typeface="宋体" pitchFamily="2" charset="-122"/>
              </a:defRPr>
            </a:lvl2pPr>
            <a:lvl3pPr marL="1143000" indent="-228600" defTabSz="990600">
              <a:defRPr kumimoji="1" sz="2000" b="1">
                <a:solidFill>
                  <a:schemeClr val="tx1"/>
                </a:solidFill>
                <a:latin typeface="Arial" panose="020B0604020202090204" pitchFamily="34" charset="0"/>
                <a:ea typeface="宋体" pitchFamily="2" charset="-122"/>
              </a:defRPr>
            </a:lvl3pPr>
            <a:lvl4pPr marL="1600200" indent="-228600" defTabSz="990600">
              <a:defRPr kumimoji="1" sz="2000" b="1">
                <a:solidFill>
                  <a:schemeClr val="tx1"/>
                </a:solidFill>
                <a:latin typeface="Arial" panose="020B0604020202090204" pitchFamily="34" charset="0"/>
                <a:ea typeface="宋体" pitchFamily="2" charset="-122"/>
              </a:defRPr>
            </a:lvl4pPr>
            <a:lvl5pPr marL="2057400" indent="-228600" defTabSz="990600">
              <a:defRPr kumimoji="1" sz="2000" b="1">
                <a:solidFill>
                  <a:schemeClr val="tx1"/>
                </a:solidFill>
                <a:latin typeface="Arial" panose="020B0604020202090204" pitchFamily="34" charset="0"/>
                <a:ea typeface="宋体" pitchFamily="2" charset="-122"/>
              </a:defRPr>
            </a:lvl5pPr>
            <a:lvl6pPr marL="25146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defTabSz="990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fld id="{DC0C9FF9-6FD7-44DF-87C4-B1A72CF9A38E}" type="slidenum">
              <a:rPr lang="en-US" altLang="zh-CN" sz="1300" b="0">
                <a:latin typeface="Times New Roman" panose="02020503050405090304" pitchFamily="18" charset="0"/>
              </a:rPr>
              <a:t>46</a:t>
            </a:fld>
            <a:endParaRPr lang="en-US" altLang="zh-CN" sz="1300" b="0">
              <a:latin typeface="Times New Roman" panose="02020503050405090304" pitchFamily="18" charset="0"/>
            </a:endParaRPr>
          </a:p>
        </p:txBody>
      </p:sp>
      <p:sp>
        <p:nvSpPr>
          <p:cNvPr id="151555" name="Rectangle 2"/>
          <p:cNvSpPr>
            <a:spLocks noGrp="1" noRot="1" noChangeAspect="1" noChangeArrowheads="1" noTextEdit="1"/>
          </p:cNvSpPr>
          <p:nvPr>
            <p:ph type="sldImg"/>
          </p:nvPr>
        </p:nvSpPr>
        <p:spPr>
          <a:xfrm>
            <a:off x="2751138" y="531813"/>
            <a:ext cx="4730750" cy="2662237"/>
          </a:xfrm>
        </p:spPr>
      </p:sp>
      <p:sp>
        <p:nvSpPr>
          <p:cNvPr id="151556" name="Rectangle 3"/>
          <p:cNvSpPr>
            <a:spLocks noGrp="1" noChangeArrowheads="1"/>
          </p:cNvSpPr>
          <p:nvPr>
            <p:ph type="body" idx="1"/>
          </p:nvPr>
        </p:nvSpPr>
        <p:spPr>
          <a:noFill/>
        </p:spPr>
        <p:txBody>
          <a:bodyPr/>
          <a:lstStyle/>
          <a:p>
            <a:pPr eaLnBrk="1" hangingPunct="1"/>
            <a:endParaRPr lang="zh-CN" altLang="zh-CN" b="1">
              <a:solidFill>
                <a:schemeClr val="bg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8370" name="Rectangle 7"/>
          <p:cNvSpPr txBox="1">
            <a:spLocks noGrp="1" noChangeArrowheads="1"/>
          </p:cNvSpPr>
          <p:nvPr/>
        </p:nvSpPr>
        <p:spPr bwMode="auto">
          <a:xfrm>
            <a:off x="5797550" y="6742113"/>
            <a:ext cx="44354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defTabSz="99060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defTabSz="990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defTabSz="990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defTabSz="990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r" eaLnBrk="1" hangingPunct="1"/>
            <a:fld id="{005D8E2E-7674-4D43-947B-AC43596EE2B8}" type="slidenum">
              <a:rPr lang="en-US" altLang="zh-CN" sz="1300" b="0">
                <a:latin typeface="Times New Roman" panose="02020503050405090304" pitchFamily="18" charset="0"/>
                <a:ea typeface="宋体" pitchFamily="2" charset="-122"/>
              </a:rPr>
              <a:t>47</a:t>
            </a:fld>
            <a:endParaRPr lang="en-US" altLang="zh-CN" sz="1300" b="0">
              <a:latin typeface="Times New Roman" panose="02020503050405090304" pitchFamily="18" charset="0"/>
              <a:ea typeface="宋体" pitchFamily="2" charset="-122"/>
            </a:endParaRPr>
          </a:p>
        </p:txBody>
      </p:sp>
      <p:sp>
        <p:nvSpPr>
          <p:cNvPr id="2618371" name="Rectangle 2"/>
          <p:cNvSpPr>
            <a:spLocks noGrp="1" noRot="1" noChangeAspect="1" noChangeArrowheads="1" noTextEdit="1"/>
          </p:cNvSpPr>
          <p:nvPr>
            <p:ph type="sldImg"/>
          </p:nvPr>
        </p:nvSpPr>
        <p:spPr/>
      </p:sp>
      <p:sp>
        <p:nvSpPr>
          <p:cNvPr id="2618372" name="Rectangle 3"/>
          <p:cNvSpPr>
            <a:spLocks noGrp="1" noChangeArrowheads="1"/>
          </p:cNvSpPr>
          <p:nvPr>
            <p:ph type="body" idx="1"/>
          </p:nvPr>
        </p:nvSpPr>
        <p:spPr/>
        <p:txBody>
          <a:bodyPr/>
          <a:lstStyle/>
          <a:p>
            <a:endParaRPr lang="zh-CN" altLang="zh-CN" b="1">
              <a:solidFill>
                <a:schemeClr val="bg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976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40318" y="2505075"/>
            <a:ext cx="5158316"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71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1" y="365125"/>
            <a:ext cx="76835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9"/>
          <p:cNvSpPr>
            <a:spLocks noChangeArrowheads="1"/>
          </p:cNvSpPr>
          <p:nvPr userDrawn="1"/>
        </p:nvSpPr>
        <p:spPr bwMode="auto">
          <a:xfrm>
            <a:off x="0" y="1000125"/>
            <a:ext cx="645584" cy="166832"/>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sz="2400"/>
          </a:p>
        </p:txBody>
      </p:sp>
      <p:sp>
        <p:nvSpPr>
          <p:cNvPr id="3" name="Rectangle 10"/>
          <p:cNvSpPr>
            <a:spLocks noChangeArrowheads="1"/>
          </p:cNvSpPr>
          <p:nvPr userDrawn="1"/>
        </p:nvSpPr>
        <p:spPr bwMode="auto">
          <a:xfrm>
            <a:off x="702733" y="996950"/>
            <a:ext cx="11489267" cy="166832"/>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1" hangingPunct="1"/>
            <a:endParaRPr lang="zh-CN" altLang="en-US" sz="2400"/>
          </a:p>
        </p:txBody>
      </p:sp>
      <p:sp>
        <p:nvSpPr>
          <p:cNvPr id="4" name="Text Box 11"/>
          <p:cNvSpPr txBox="1">
            <a:spLocks noChangeArrowheads="1"/>
          </p:cNvSpPr>
          <p:nvPr userDrawn="1"/>
        </p:nvSpPr>
        <p:spPr bwMode="auto">
          <a:xfrm>
            <a:off x="322873" y="935906"/>
            <a:ext cx="3417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algn="r" eaLnBrk="1" hangingPunct="1">
              <a:defRPr/>
            </a:pPr>
            <a:fld id="{CC6AFE6F-DA54-4337-ADC7-9B4643189B01}" type="slidenum">
              <a:rPr lang="en-US" altLang="zh-CN" sz="1000" b="1" smtClean="0">
                <a:solidFill>
                  <a:schemeClr val="bg1"/>
                </a:solidFill>
                <a:ea typeface="宋体" pitchFamily="2" charset="-122"/>
              </a:rPr>
              <a:t>‹#›</a:t>
            </a:fld>
            <a:endParaRPr lang="en-US" altLang="zh-CN" sz="1000" b="1" dirty="0">
              <a:solidFill>
                <a:schemeClr val="bg1"/>
              </a:solidFill>
              <a:ea typeface="宋体"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90204" pitchFamily="34" charset="0"/>
          <a:ea typeface="宋体" pitchFamily="2" charset="-122"/>
        </a:defRPr>
      </a:lvl2pPr>
      <a:lvl3pPr algn="ctr" rtl="0" fontAlgn="base">
        <a:spcBef>
          <a:spcPct val="0"/>
        </a:spcBef>
        <a:spcAft>
          <a:spcPct val="0"/>
        </a:spcAft>
        <a:defRPr sz="4400">
          <a:solidFill>
            <a:schemeClr val="tx2"/>
          </a:solidFill>
          <a:latin typeface="Arial" panose="020B0604020202090204" pitchFamily="34" charset="0"/>
          <a:ea typeface="宋体" pitchFamily="2" charset="-122"/>
        </a:defRPr>
      </a:lvl3pPr>
      <a:lvl4pPr algn="ctr" rtl="0" fontAlgn="base">
        <a:spcBef>
          <a:spcPct val="0"/>
        </a:spcBef>
        <a:spcAft>
          <a:spcPct val="0"/>
        </a:spcAft>
        <a:defRPr sz="4400">
          <a:solidFill>
            <a:schemeClr val="tx2"/>
          </a:solidFill>
          <a:latin typeface="Arial" panose="020B0604020202090204" pitchFamily="34" charset="0"/>
          <a:ea typeface="宋体" pitchFamily="2" charset="-122"/>
        </a:defRPr>
      </a:lvl4pPr>
      <a:lvl5pPr algn="ctr" rtl="0" fontAlgn="base">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emf"/><Relationship Id="rId10" Type="http://schemas.openxmlformats.org/officeDocument/2006/relationships/image" Target="../media/image42.png"/><Relationship Id="rId4" Type="http://schemas.openxmlformats.org/officeDocument/2006/relationships/package" Target="../embeddings/Microsoft_PowerPoint_____.pptx"/><Relationship Id="rId9"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package" Target="../embeddings/Slide2.sldx"/><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6.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709930" y="2769235"/>
            <a:ext cx="10029825" cy="262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0" fontAlgn="base" hangingPunct="0">
              <a:spcBef>
                <a:spcPct val="20000"/>
              </a:spcBef>
              <a:spcAft>
                <a:spcPct val="0"/>
              </a:spcAft>
              <a:buFontTx/>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Arial" panose="020B0604020202090204" pitchFamily="34" charset="0"/>
                <a:ea typeface="+mn-ea"/>
              </a:defRPr>
            </a:lvl2pPr>
            <a:lvl3pPr marL="1143000" indent="-228600" algn="l" rtl="0" eaLnBrk="0" fontAlgn="base" hangingPunct="0">
              <a:spcBef>
                <a:spcPct val="20000"/>
              </a:spcBef>
              <a:spcAft>
                <a:spcPct val="0"/>
              </a:spcAft>
              <a:buChar char="•"/>
              <a:defRPr sz="1400">
                <a:solidFill>
                  <a:schemeClr val="tx1"/>
                </a:solidFill>
                <a:latin typeface="Times New Roman" panose="02020503050405090304" pitchFamily="18" charset="0"/>
                <a:ea typeface="+mn-ea"/>
              </a:defRPr>
            </a:lvl3pPr>
            <a:lvl4pPr marL="1600200" indent="-228600" algn="l" rtl="0" eaLnBrk="0" fontAlgn="base" hangingPunct="0">
              <a:spcBef>
                <a:spcPct val="20000"/>
              </a:spcBef>
              <a:spcAft>
                <a:spcPct val="0"/>
              </a:spcAft>
              <a:buChar char="–"/>
              <a:defRPr sz="1200">
                <a:solidFill>
                  <a:schemeClr val="tx1"/>
                </a:solidFill>
                <a:latin typeface="Arial" panose="020B0604020202090204" pitchFamily="34" charset="0"/>
                <a:ea typeface="+mn-ea"/>
              </a:defRPr>
            </a:lvl4pPr>
            <a:lvl5pPr marL="2057400" indent="-228600" algn="l" rtl="0" eaLnBrk="0" fontAlgn="base" hangingPunct="0">
              <a:spcBef>
                <a:spcPct val="20000"/>
              </a:spcBef>
              <a:spcAft>
                <a:spcPct val="0"/>
              </a:spcAft>
              <a:buChar char="»"/>
              <a:defRPr sz="1200">
                <a:solidFill>
                  <a:schemeClr val="tx1"/>
                </a:solidFill>
                <a:latin typeface="Arial" panose="020B0604020202090204" pitchFamily="34" charset="0"/>
                <a:ea typeface="+mn-ea"/>
              </a:defRPr>
            </a:lvl5pPr>
            <a:lvl6pPr marL="2514600" indent="-228600" algn="l" rtl="0" fontAlgn="base">
              <a:spcBef>
                <a:spcPct val="20000"/>
              </a:spcBef>
              <a:spcAft>
                <a:spcPct val="0"/>
              </a:spcAft>
              <a:buChar char="»"/>
              <a:defRPr sz="1200">
                <a:solidFill>
                  <a:schemeClr val="tx1"/>
                </a:solidFill>
                <a:latin typeface="Arial" panose="020B0604020202090204" pitchFamily="34" charset="0"/>
                <a:ea typeface="+mn-ea"/>
              </a:defRPr>
            </a:lvl6pPr>
            <a:lvl7pPr marL="2971800" indent="-228600" algn="l" rtl="0" fontAlgn="base">
              <a:spcBef>
                <a:spcPct val="20000"/>
              </a:spcBef>
              <a:spcAft>
                <a:spcPct val="0"/>
              </a:spcAft>
              <a:buChar char="»"/>
              <a:defRPr sz="1200">
                <a:solidFill>
                  <a:schemeClr val="tx1"/>
                </a:solidFill>
                <a:latin typeface="Arial" panose="020B0604020202090204" pitchFamily="34" charset="0"/>
                <a:ea typeface="+mn-ea"/>
              </a:defRPr>
            </a:lvl7pPr>
            <a:lvl8pPr marL="3429000" indent="-228600" algn="l" rtl="0" fontAlgn="base">
              <a:spcBef>
                <a:spcPct val="20000"/>
              </a:spcBef>
              <a:spcAft>
                <a:spcPct val="0"/>
              </a:spcAft>
              <a:buChar char="»"/>
              <a:defRPr sz="1200">
                <a:solidFill>
                  <a:schemeClr val="tx1"/>
                </a:solidFill>
                <a:latin typeface="Arial" panose="020B0604020202090204" pitchFamily="34" charset="0"/>
                <a:ea typeface="+mn-ea"/>
              </a:defRPr>
            </a:lvl8pPr>
            <a:lvl9pPr marL="3886200" indent="-228600" algn="l" rtl="0" fontAlgn="base">
              <a:spcBef>
                <a:spcPct val="20000"/>
              </a:spcBef>
              <a:spcAft>
                <a:spcPct val="0"/>
              </a:spcAft>
              <a:buChar char="»"/>
              <a:defRPr sz="1200">
                <a:solidFill>
                  <a:schemeClr val="tx1"/>
                </a:solidFill>
                <a:latin typeface="Arial" panose="020B0604020202090204" pitchFamily="34" charset="0"/>
                <a:ea typeface="+mn-ea"/>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8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8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endParaRPr kumimoji="1" lang="en-US" altLang="zh-CN" sz="18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邓翔</a:t>
            </a:r>
            <a:endParaRPr kumimoji="1" lang="en-US" altLang="zh-CN"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Email: dengxiang@hit.edu.cn</a:t>
            </a:r>
          </a:p>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哈尔滨工业大学</a:t>
            </a:r>
            <a:r>
              <a:rPr kumimoji="1" lang="en-US" altLang="zh-CN"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r>
              <a:rPr kumimoji="1" lang="zh-CN" altLang="en-US"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深圳</a:t>
            </a:r>
            <a:r>
              <a:rPr kumimoji="1" lang="en-US" altLang="zh-CN" sz="2000" b="1" i="0" u="none" strike="noStrike" kern="0" cap="none" spc="0" normalizeH="0" baseline="0" noProof="0" dirty="0">
                <a:ln>
                  <a:noFill/>
                </a:ln>
                <a:solidFill>
                  <a:srgbClr val="000000"/>
                </a:solidFill>
                <a:effectLst/>
                <a:uLnTx/>
                <a:uFillTx/>
                <a:latin typeface="Microsoft YaHei Light" panose="020B0503020204020204" pitchFamily="34" charset="-122"/>
                <a:ea typeface="Microsoft YaHei Light" panose="020B0503020204020204" pitchFamily="34" charset="-122"/>
                <a:cs typeface="+mn-cs"/>
              </a:rPr>
              <a:t>）</a:t>
            </a:r>
          </a:p>
        </p:txBody>
      </p:sp>
      <p:sp>
        <p:nvSpPr>
          <p:cNvPr id="7" name="Rectangle 2"/>
          <p:cNvSpPr>
            <a:spLocks noGrp="1"/>
          </p:cNvSpPr>
          <p:nvPr>
            <p:ph type="ctrTitle"/>
          </p:nvPr>
        </p:nvSpPr>
        <p:spPr>
          <a:xfrm>
            <a:off x="1960739" y="1615130"/>
            <a:ext cx="7773987" cy="1154112"/>
          </a:xfrm>
        </p:spPr>
        <p:txBody>
          <a:bodyPr vert="horz" wrap="square" lIns="91440" tIns="45720" rIns="91440" bIns="45720" rtlCol="0" anchor="ctr">
            <a:normAutofit/>
          </a:bodyPr>
          <a:lstStyle/>
          <a:p>
            <a:pPr eaLnBrk="1" hangingPunct="1">
              <a:buClrTx/>
              <a:buSzTx/>
              <a:buFontTx/>
            </a:pPr>
            <a:r>
              <a:rPr lang="en-US" altLang="zh-CN" sz="4000" b="1" dirty="0">
                <a:solidFill>
                  <a:schemeClr val="tx2">
                    <a:lumMod val="95000"/>
                    <a:lumOff val="5000"/>
                  </a:schemeClr>
                </a:solidFill>
                <a:latin typeface="Microsoft YaHei Light" panose="020B0503020204020204" pitchFamily="34" charset="-122"/>
                <a:ea typeface="Microsoft YaHei Light" panose="020B0503020204020204" pitchFamily="34" charset="-122"/>
              </a:rPr>
              <a:t>《</a:t>
            </a:r>
            <a:r>
              <a:rPr lang="zh-CN" altLang="en-US" sz="4000" b="1" dirty="0">
                <a:solidFill>
                  <a:schemeClr val="tx2">
                    <a:lumMod val="95000"/>
                    <a:lumOff val="5000"/>
                  </a:schemeClr>
                </a:solidFill>
                <a:latin typeface="Microsoft YaHei Light" panose="020B0503020204020204" pitchFamily="34" charset="-122"/>
                <a:ea typeface="Microsoft YaHei Light" panose="020B0503020204020204" pitchFamily="34" charset="-122"/>
              </a:rPr>
              <a:t>计算思维与实践</a:t>
            </a:r>
            <a:r>
              <a:rPr lang="en-US" altLang="zh-CN" sz="4000" b="1" dirty="0">
                <a:solidFill>
                  <a:schemeClr val="tx2">
                    <a:lumMod val="95000"/>
                    <a:lumOff val="5000"/>
                  </a:schemeClr>
                </a:solidFill>
                <a:latin typeface="Microsoft YaHei Light" panose="020B0503020204020204" pitchFamily="34" charset="-122"/>
                <a:ea typeface="Microsoft YaHei Light" panose="020B0503020204020204" pitchFamily="34" charset="-122"/>
              </a:rPr>
              <a:t>》</a:t>
            </a:r>
          </a:p>
        </p:txBody>
      </p:sp>
      <p:sp>
        <p:nvSpPr>
          <p:cNvPr id="9" name="矩形 8"/>
          <p:cNvSpPr/>
          <p:nvPr/>
        </p:nvSpPr>
        <p:spPr>
          <a:xfrm>
            <a:off x="0" y="-1254"/>
            <a:ext cx="12209816" cy="1154111"/>
          </a:xfrm>
          <a:prstGeom prst="rect">
            <a:avLst/>
          </a:prstGeom>
          <a:solidFill>
            <a:srgbClr val="993333"/>
          </a:solidFill>
          <a:ln>
            <a:noFill/>
          </a:ln>
        </p:spPr>
        <p:style>
          <a:lnRef idx="2">
            <a:schemeClr val="accent1">
              <a:shade val="50000"/>
            </a:schemeClr>
          </a:lnRef>
          <a:fillRef idx="1">
            <a:schemeClr val="accent1"/>
          </a:fillRef>
          <a:effectRef idx="0">
            <a:schemeClr val="accent1"/>
          </a:effectRef>
          <a:fontRef idx="minor">
            <a:schemeClr val="lt1"/>
          </a:fontRef>
        </p:style>
        <p:txBody>
          <a:bodyPr lIns="96431" tIns="48216" rIns="96431" bIns="4821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1" i="0" u="none" strike="noStrike" kern="1200" cap="none" spc="0" normalizeH="0" baseline="0" noProof="0">
              <a:ln>
                <a:noFill/>
              </a:ln>
              <a:solidFill>
                <a:srgbClr val="FFFFFF"/>
              </a:solidFill>
              <a:effectLst/>
              <a:uLnTx/>
              <a:uFillTx/>
              <a:latin typeface="Arial" panose="020B0604020202090204"/>
              <a:ea typeface="宋体"/>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165" y="181881"/>
            <a:ext cx="4635500" cy="85090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base" latinLnBrk="0" hangingPunct="1">
              <a:lnSpc>
                <a:spcPct val="100000"/>
              </a:lnSpc>
              <a:spcBef>
                <a:spcPct val="0"/>
              </a:spcBef>
              <a:spcAft>
                <a:spcPct val="0"/>
              </a:spcAft>
              <a:buClrTx/>
              <a:buSzTx/>
              <a:buFontTx/>
              <a:buNone/>
              <a:defRPr/>
            </a:pPr>
            <a:fld id="{48F63A3B-78C7-47BE-AE5E-E10140E04643}" type="slidenum">
              <a:rPr kumimoji="1" lang="en-US" sz="1200" b="1" i="0" u="none" strike="noStrike" kern="1200" cap="none" spc="0" normalizeH="0" baseline="0" noProof="0" smtClean="0">
                <a:ln>
                  <a:noFill/>
                </a:ln>
                <a:solidFill>
                  <a:srgbClr val="000000">
                    <a:tint val="75000"/>
                  </a:srgbClr>
                </a:solidFill>
                <a:effectLst/>
                <a:uLnTx/>
                <a:uFillTx/>
                <a:latin typeface="Arial" panose="020B0604020202090204"/>
                <a:ea typeface="宋体"/>
                <a:cs typeface="+mn-cs"/>
              </a:rPr>
              <a:t>1</a:t>
            </a:fld>
            <a:endParaRPr kumimoji="1" lang="en-US" sz="1200" b="1" i="0" u="none" strike="noStrike" kern="1200" cap="none" spc="0" normalizeH="0" baseline="0" noProof="0" dirty="0">
              <a:ln>
                <a:noFill/>
              </a:ln>
              <a:solidFill>
                <a:srgbClr val="000000">
                  <a:tint val="75000"/>
                </a:srgbClr>
              </a:solidFill>
              <a:effectLst/>
              <a:uLnTx/>
              <a:uFillTx/>
              <a:latin typeface="Arial" panose="020B0604020202090204"/>
              <a:ea typeface="宋体"/>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4130" name="Text Box 16"/>
          <p:cNvSpPr txBox="1">
            <a:spLocks noChangeArrowheads="1"/>
          </p:cNvSpPr>
          <p:nvPr/>
        </p:nvSpPr>
        <p:spPr bwMode="auto">
          <a:xfrm>
            <a:off x="1687514" y="1"/>
            <a:ext cx="3289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由机器语言到高级语言</a:t>
            </a:r>
          </a:p>
          <a:p>
            <a:pPr eaLnBrk="1" hangingPunct="1">
              <a:lnSpc>
                <a:spcPct val="120000"/>
              </a:lnSpc>
            </a:pPr>
            <a:r>
              <a:rPr lang="en-US" altLang="zh-CN" sz="2000">
                <a:solidFill>
                  <a:schemeClr val="bg1"/>
                </a:solidFill>
                <a:ea typeface="华文中宋" panose="02010600040101010101" pitchFamily="2" charset="-122"/>
              </a:rPr>
              <a:t>(1)</a:t>
            </a:r>
            <a:r>
              <a:rPr lang="zh-CN" altLang="en-US" sz="2000">
                <a:solidFill>
                  <a:schemeClr val="bg1"/>
                </a:solidFill>
                <a:ea typeface="华文中宋" panose="02010600040101010101" pitchFamily="2" charset="-122"/>
              </a:rPr>
              <a:t>为什么需要计算机语言</a:t>
            </a:r>
            <a:r>
              <a:rPr lang="en-US" altLang="zh-CN" sz="2000">
                <a:solidFill>
                  <a:schemeClr val="bg1"/>
                </a:solidFill>
                <a:ea typeface="华文中宋" panose="02010600040101010101" pitchFamily="2" charset="-122"/>
              </a:rPr>
              <a:t>? </a:t>
            </a:r>
          </a:p>
        </p:txBody>
      </p:sp>
      <p:sp>
        <p:nvSpPr>
          <p:cNvPr id="1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上节回顾</a:t>
            </a:r>
          </a:p>
        </p:txBody>
      </p:sp>
      <p:sp>
        <p:nvSpPr>
          <p:cNvPr id="5123" name="Text Box 3"/>
          <p:cNvSpPr txBox="1">
            <a:spLocks noChangeArrowheads="1"/>
          </p:cNvSpPr>
          <p:nvPr/>
        </p:nvSpPr>
        <p:spPr bwMode="auto">
          <a:xfrm>
            <a:off x="492125" y="1626870"/>
            <a:ext cx="7533640" cy="3448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defTabSz="457200" fontAlgn="auto">
              <a:lnSpc>
                <a:spcPct val="130000"/>
              </a:lnSpc>
              <a:spcBef>
                <a:spcPts val="0"/>
              </a:spcBef>
              <a:spcAft>
                <a:spcPts val="0"/>
              </a:spcAft>
              <a:defRPr/>
            </a:pPr>
            <a:r>
              <a:rPr kumimoji="0" lang="zh-CN" altLang="en-US" dirty="0">
                <a:solidFill>
                  <a:prstClr val="black"/>
                </a:solidFill>
              </a:rPr>
              <a:t>一、</a:t>
            </a:r>
            <a:r>
              <a:rPr kumimoji="0" lang="zh-CN" altLang="en-US" dirty="0">
                <a:solidFill>
                  <a:srgbClr val="FF0000"/>
                </a:solidFill>
              </a:rPr>
              <a:t>冯</a:t>
            </a:r>
            <a:r>
              <a:rPr kumimoji="0" lang="en-US" altLang="zh-CN" dirty="0">
                <a:solidFill>
                  <a:srgbClr val="FF0000"/>
                </a:solidFill>
              </a:rPr>
              <a:t>.</a:t>
            </a:r>
            <a:r>
              <a:rPr kumimoji="0" lang="zh-CN" altLang="en-US" dirty="0">
                <a:solidFill>
                  <a:srgbClr val="FF0000"/>
                </a:solidFill>
              </a:rPr>
              <a:t>诺伊曼计算机的功能与构成</a:t>
            </a:r>
          </a:p>
          <a:p>
            <a:pPr lvl="0" defTabSz="457200" fontAlgn="auto">
              <a:lnSpc>
                <a:spcPct val="130000"/>
              </a:lnSpc>
              <a:spcBef>
                <a:spcPts val="0"/>
              </a:spcBef>
              <a:spcAft>
                <a:spcPts val="0"/>
              </a:spcAft>
              <a:defRPr/>
            </a:pPr>
            <a:r>
              <a:rPr kumimoji="0" lang="zh-CN" altLang="en-US" dirty="0"/>
              <a:t>二、</a:t>
            </a:r>
            <a:r>
              <a:rPr kumimoji="0" lang="zh-CN" altLang="en-US" dirty="0">
                <a:solidFill>
                  <a:srgbClr val="FF0000"/>
                </a:solidFill>
              </a:rPr>
              <a:t>存储器的构成及基本原理</a:t>
            </a:r>
            <a:endParaRPr kumimoji="0" lang="en-US" altLang="zh-CN" dirty="0">
              <a:solidFill>
                <a:srgbClr val="FF0000"/>
              </a:solidFill>
            </a:endParaRPr>
          </a:p>
          <a:p>
            <a:pPr lvl="0" defTabSz="457200" fontAlgn="auto">
              <a:lnSpc>
                <a:spcPct val="130000"/>
              </a:lnSpc>
              <a:spcBef>
                <a:spcPts val="0"/>
              </a:spcBef>
              <a:spcAft>
                <a:spcPts val="0"/>
              </a:spcAft>
              <a:defRPr/>
            </a:pPr>
            <a:r>
              <a:rPr lang="zh-CN" altLang="en-US" dirty="0"/>
              <a:t>三、</a:t>
            </a:r>
            <a:r>
              <a:rPr lang="en-US" altLang="zh-CN" dirty="0">
                <a:solidFill>
                  <a:srgbClr val="FF0000"/>
                </a:solidFill>
              </a:rPr>
              <a:t>CPU</a:t>
            </a:r>
            <a:r>
              <a:rPr lang="zh-CN" altLang="en-US" dirty="0">
                <a:solidFill>
                  <a:srgbClr val="FF0000"/>
                </a:solidFill>
              </a:rPr>
              <a:t>的基本结构</a:t>
            </a:r>
            <a:endParaRPr lang="en-US" altLang="zh-CN" dirty="0">
              <a:solidFill>
                <a:srgbClr val="FF0000"/>
              </a:solidFill>
            </a:endParaRPr>
          </a:p>
          <a:p>
            <a:pPr lvl="0" defTabSz="457200" fontAlgn="auto">
              <a:lnSpc>
                <a:spcPct val="130000"/>
              </a:lnSpc>
              <a:spcBef>
                <a:spcPts val="0"/>
              </a:spcBef>
              <a:spcAft>
                <a:spcPts val="0"/>
              </a:spcAft>
              <a:defRPr/>
            </a:pPr>
            <a:r>
              <a:rPr kumimoji="0" lang="zh-CN" altLang="en-US" dirty="0"/>
              <a:t>四、</a:t>
            </a:r>
            <a:r>
              <a:rPr kumimoji="0" lang="zh-CN" altLang="en-US" dirty="0">
                <a:solidFill>
                  <a:srgbClr val="FF0000"/>
                </a:solidFill>
              </a:rPr>
              <a:t>二进制、十进制、八进制、十六进制转换</a:t>
            </a:r>
            <a:endParaRPr kumimoji="0" lang="en-US" altLang="zh-CN" dirty="0">
              <a:solidFill>
                <a:srgbClr val="FF0000"/>
              </a:solidFill>
            </a:endParaRPr>
          </a:p>
          <a:p>
            <a:pPr lvl="0" defTabSz="457200" fontAlgn="auto">
              <a:lnSpc>
                <a:spcPct val="130000"/>
              </a:lnSpc>
              <a:spcBef>
                <a:spcPts val="0"/>
              </a:spcBef>
              <a:spcAft>
                <a:spcPts val="0"/>
              </a:spcAft>
              <a:defRPr/>
            </a:pPr>
            <a:r>
              <a:rPr lang="zh-CN" altLang="en-US" dirty="0"/>
              <a:t>五、</a:t>
            </a:r>
            <a:r>
              <a:rPr lang="zh-CN" altLang="en-US" dirty="0">
                <a:solidFill>
                  <a:srgbClr val="FF0000"/>
                </a:solidFill>
              </a:rPr>
              <a:t>机器数的原码、反码补码表示</a:t>
            </a:r>
            <a:endParaRPr lang="en-US" altLang="zh-CN" dirty="0">
              <a:solidFill>
                <a:srgbClr val="FF0000"/>
              </a:solidFill>
            </a:endParaRPr>
          </a:p>
          <a:p>
            <a:pPr lvl="0" defTabSz="457200" fontAlgn="auto">
              <a:lnSpc>
                <a:spcPct val="130000"/>
              </a:lnSpc>
              <a:spcBef>
                <a:spcPts val="0"/>
              </a:spcBef>
              <a:spcAft>
                <a:spcPts val="0"/>
              </a:spcAft>
              <a:defRPr/>
            </a:pPr>
            <a:r>
              <a:rPr kumimoji="0" lang="zh-CN" altLang="en-US" i="0" u="none" strike="noStrike" kern="1200" cap="none" spc="0" normalizeH="0" baseline="0" noProof="0" dirty="0">
                <a:ln>
                  <a:noFill/>
                </a:ln>
                <a:effectLst/>
                <a:uLnTx/>
                <a:uFillTx/>
                <a:latin typeface="Arial" panose="020B0604020202090204" pitchFamily="34" charset="0"/>
                <a:ea typeface="微软雅黑" panose="020B0503020204020204" pitchFamily="34" charset="-122"/>
                <a:cs typeface="+mn-cs"/>
              </a:rPr>
              <a:t>六、</a:t>
            </a:r>
            <a:r>
              <a:rPr kumimoji="0" lang="zh-CN" altLang="en-US" i="0" u="none" strike="noStrike" kern="1200" cap="none" spc="0" normalizeH="0" baseline="0" noProof="0" dirty="0">
                <a:ln>
                  <a:noFill/>
                </a:ln>
                <a:solidFill>
                  <a:srgbClr val="FF0000"/>
                </a:solidFill>
                <a:effectLst/>
                <a:uLnTx/>
                <a:uFillTx/>
                <a:latin typeface="Arial" panose="020B0604020202090204" pitchFamily="34" charset="0"/>
                <a:ea typeface="微软雅黑" panose="020B0503020204020204" pitchFamily="34" charset="-122"/>
                <a:cs typeface="+mn-cs"/>
              </a:rPr>
              <a:t>机器数的补码运算</a:t>
            </a:r>
            <a:endParaRPr kumimoji="0" lang="en-US" altLang="zh-CN" i="0" u="none" strike="noStrike" kern="1200" cap="none" spc="0" normalizeH="0" baseline="0" noProof="0" dirty="0">
              <a:ln>
                <a:noFill/>
              </a:ln>
              <a:solidFill>
                <a:srgbClr val="FF0000"/>
              </a:solidFill>
              <a:effectLst/>
              <a:uLnTx/>
              <a:uFillTx/>
              <a:latin typeface="Arial" panose="020B0604020202090204" pitchFamily="34" charset="0"/>
              <a:ea typeface="微软雅黑" panose="020B0503020204020204" pitchFamily="34" charset="-122"/>
              <a:cs typeface="+mn-cs"/>
            </a:endParaRPr>
          </a:p>
          <a:p>
            <a:pPr lvl="0" defTabSz="457200" fontAlgn="auto">
              <a:lnSpc>
                <a:spcPct val="130000"/>
              </a:lnSpc>
              <a:spcBef>
                <a:spcPts val="0"/>
              </a:spcBef>
              <a:spcAft>
                <a:spcPts val="0"/>
              </a:spcAft>
              <a:defRPr/>
            </a:pPr>
            <a:r>
              <a:rPr lang="zh-CN" altLang="en-US" dirty="0"/>
              <a:t>七、</a:t>
            </a:r>
            <a:r>
              <a:rPr lang="zh-CN" altLang="en-US" dirty="0">
                <a:solidFill>
                  <a:srgbClr val="FF0000"/>
                </a:solidFill>
              </a:rPr>
              <a:t>机器指令的基本结构</a:t>
            </a:r>
            <a:endParaRPr kumimoji="0" lang="zh-CN" altLang="en-US" i="0" u="none" strike="noStrike" kern="1200" cap="none" spc="0" normalizeH="0" baseline="0" noProof="0" dirty="0">
              <a:ln>
                <a:noFill/>
              </a:ln>
              <a:solidFill>
                <a:srgbClr val="FF0000"/>
              </a:solidFill>
              <a:effectLst/>
              <a:uLnTx/>
              <a:uFillTx/>
              <a:latin typeface="Arial" panose="020B0604020202090204" pitchFamily="34" charset="0"/>
              <a:ea typeface="微软雅黑" panose="020B0503020204020204" pitchFamily="34" charset="-122"/>
              <a:cs typeface="+mn-cs"/>
            </a:endParaRPr>
          </a:p>
        </p:txBody>
      </p:sp>
      <p:pic>
        <p:nvPicPr>
          <p:cNvPr id="6" name="图片 5"/>
          <p:cNvPicPr>
            <a:picLocks noChangeAspect="1"/>
          </p:cNvPicPr>
          <p:nvPr/>
        </p:nvPicPr>
        <p:blipFill>
          <a:blip r:embed="rId2"/>
          <a:stretch>
            <a:fillRect/>
          </a:stretch>
        </p:blipFill>
        <p:spPr>
          <a:xfrm>
            <a:off x="7785735" y="1315085"/>
            <a:ext cx="4292600" cy="2310765"/>
          </a:xfrm>
          <a:prstGeom prst="rect">
            <a:avLst/>
          </a:prstGeom>
        </p:spPr>
      </p:pic>
      <p:pic>
        <p:nvPicPr>
          <p:cNvPr id="8" name="图片 7"/>
          <p:cNvPicPr>
            <a:picLocks noChangeAspect="1"/>
          </p:cNvPicPr>
          <p:nvPr/>
        </p:nvPicPr>
        <p:blipFill>
          <a:blip r:embed="rId3"/>
          <a:stretch>
            <a:fillRect/>
          </a:stretch>
        </p:blipFill>
        <p:spPr>
          <a:xfrm>
            <a:off x="7665720" y="4084955"/>
            <a:ext cx="4526280" cy="2266950"/>
          </a:xfrm>
          <a:prstGeom prst="rect">
            <a:avLst/>
          </a:prstGeom>
        </p:spPr>
      </p:pic>
      <p:pic>
        <p:nvPicPr>
          <p:cNvPr id="5" name="图片 4"/>
          <p:cNvPicPr>
            <a:picLocks noChangeAspect="1"/>
          </p:cNvPicPr>
          <p:nvPr/>
        </p:nvPicPr>
        <p:blipFill>
          <a:blip r:embed="rId4"/>
          <a:stretch>
            <a:fillRect/>
          </a:stretch>
        </p:blipFill>
        <p:spPr>
          <a:xfrm>
            <a:off x="4977765" y="4046220"/>
            <a:ext cx="2571115" cy="2773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flipH="1">
            <a:off x="-4" y="0"/>
            <a:ext cx="12192001" cy="686139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6600" b="1">
                <a:solidFill>
                  <a:schemeClr val="bg1">
                    <a:lumMod val="95000"/>
                  </a:schemeClr>
                </a:solidFill>
                <a:latin typeface="黑体" panose="02010609060101010101" pitchFamily="49" charset="-122"/>
                <a:ea typeface="黑体" panose="02010609060101010101" pitchFamily="49" charset="-122"/>
              </a:rPr>
              <a:t>程序设计语言与算法</a:t>
            </a:r>
            <a:endParaRPr kumimoji="0" lang="zh-CN" altLang="en-US" sz="60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3074" name="Rectangle 2"/>
          <p:cNvSpPr>
            <a:spLocks noGrp="1" noChangeArrowheads="1"/>
          </p:cNvSpPr>
          <p:nvPr>
            <p:ph type="ctrTitle"/>
          </p:nvPr>
        </p:nvSpPr>
        <p:spPr>
          <a:xfrm>
            <a:off x="2100260" y="930849"/>
            <a:ext cx="7991475" cy="1470025"/>
          </a:xfrm>
        </p:spPr>
        <p:txBody>
          <a:bodyPr anchor="ctr">
            <a:normAutofit/>
          </a:bodyPr>
          <a:lstStyle/>
          <a:p>
            <a:pPr eaLnBrk="1" hangingPunct="1"/>
            <a:r>
              <a:rPr lang="zh-CN" altLang="en-US" sz="4000" b="1" dirty="0">
                <a:solidFill>
                  <a:schemeClr val="bg1">
                    <a:lumMod val="95000"/>
                  </a:schemeClr>
                </a:solidFill>
                <a:latin typeface="黑体" panose="02010609060101010101" pitchFamily="49" charset="-122"/>
                <a:ea typeface="黑体" panose="02010609060101010101" pitchFamily="49" charset="-122"/>
              </a:rPr>
              <a:t>程序设计基础</a:t>
            </a:r>
            <a:r>
              <a:rPr lang="en-US" altLang="zh-CN" sz="4000" b="1" dirty="0">
                <a:solidFill>
                  <a:schemeClr val="bg1">
                    <a:lumMod val="95000"/>
                  </a:schemeClr>
                </a:solidFill>
                <a:latin typeface="黑体" panose="02010609060101010101" pitchFamily="49" charset="-122"/>
                <a:ea typeface="黑体" panose="02010609060101010101" pitchFamily="49" charset="-122"/>
              </a:rPr>
              <a:t>Ⅰ</a:t>
            </a:r>
            <a:endParaRPr lang="zh-CN" altLang="en-US" sz="4000" b="1" dirty="0">
              <a:solidFill>
                <a:schemeClr val="bg1">
                  <a:lumMod val="95000"/>
                </a:schemeClr>
              </a:solidFill>
              <a:latin typeface="黑体" panose="02010609060101010101" pitchFamily="49" charset="-122"/>
              <a:ea typeface="黑体" panose="02010609060101010101" pitchFamily="49" charset="-122"/>
            </a:endParaRPr>
          </a:p>
        </p:txBody>
      </p:sp>
      <p:sp>
        <p:nvSpPr>
          <p:cNvPr id="4100" name="Line 7"/>
          <p:cNvSpPr>
            <a:spLocks noChangeShapeType="1"/>
          </p:cNvSpPr>
          <p:nvPr/>
        </p:nvSpPr>
        <p:spPr bwMode="auto">
          <a:xfrm flipV="1">
            <a:off x="2070633" y="2085141"/>
            <a:ext cx="8196198" cy="12940"/>
          </a:xfrm>
          <a:prstGeom prst="line">
            <a:avLst/>
          </a:prstGeom>
          <a:noFill/>
          <a:ln w="952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34543" y="193179"/>
            <a:ext cx="11073674" cy="658591"/>
          </a:xfrm>
        </p:spPr>
        <p:txBody>
          <a:bodyPr>
            <a:normAutofit/>
          </a:bodyPr>
          <a:lstStyle/>
          <a:p>
            <a:pPr algn="l"/>
            <a:r>
              <a:rPr lang="en-US" altLang="zh-CN" sz="3600" b="1" dirty="0">
                <a:latin typeface="微软雅黑" panose="020B0503020204020204" pitchFamily="34" charset="-122"/>
                <a:ea typeface="微软雅黑" panose="020B0503020204020204" pitchFamily="34" charset="-122"/>
              </a:rPr>
              <a:t>1.1</a:t>
            </a:r>
            <a:r>
              <a:rPr lang="zh-CN" altLang="en-US" sz="3600" b="1" dirty="0">
                <a:latin typeface="微软雅黑" panose="020B0503020204020204" pitchFamily="34" charset="-122"/>
                <a:ea typeface="微软雅黑" panose="020B0503020204020204" pitchFamily="34" charset="-122"/>
              </a:rPr>
              <a:t> 程序设计语言</a:t>
            </a:r>
          </a:p>
        </p:txBody>
      </p:sp>
      <p:sp>
        <p:nvSpPr>
          <p:cNvPr id="5123" name="Text Box 3"/>
          <p:cNvSpPr txBox="1">
            <a:spLocks noChangeArrowheads="1"/>
          </p:cNvSpPr>
          <p:nvPr/>
        </p:nvSpPr>
        <p:spPr bwMode="auto">
          <a:xfrm>
            <a:off x="726396" y="1470479"/>
            <a:ext cx="5570756" cy="395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800" noProof="0" dirty="0">
                <a:solidFill>
                  <a:srgbClr val="FF0000"/>
                </a:solidFill>
                <a:latin typeface="微软雅黑" panose="020B0503020204020204" pitchFamily="34" charset="-122"/>
              </a:rPr>
              <a:t>由机器语言到高级语言</a:t>
            </a:r>
            <a:endPar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ndParaRPr>
          </a:p>
          <a:p>
            <a:pPr lvl="0">
              <a:lnSpc>
                <a:spcPct val="130000"/>
              </a:lnSpc>
              <a:defRPr/>
            </a:pPr>
            <a:r>
              <a:rPr lang="zh-CN" altLang="en-US" sz="2800" b="1" dirty="0">
                <a:solidFill>
                  <a:srgbClr val="FF0000"/>
                </a:solidFill>
                <a:latin typeface="微软雅黑" panose="020B0503020204020204" pitchFamily="34" charset="-122"/>
              </a:rPr>
              <a:t>二、计算机语言的发展</a:t>
            </a:r>
            <a:endParaRPr lang="en-US" altLang="zh-CN" sz="2800" b="1" dirty="0">
              <a:solidFill>
                <a:srgbClr val="FF0000"/>
              </a:solidFill>
              <a:latin typeface="微软雅黑" panose="020B0503020204020204" pitchFamily="34" charset="-122"/>
            </a:endParaRPr>
          </a:p>
          <a:p>
            <a:pPr lvl="0">
              <a:lnSpc>
                <a:spcPct val="130000"/>
              </a:lnSpc>
              <a:defRPr/>
            </a:pPr>
            <a:r>
              <a:rPr lang="zh-CN" altLang="en-US" sz="2800" b="1" dirty="0">
                <a:solidFill>
                  <a:srgbClr val="FF0000"/>
                </a:solidFill>
                <a:latin typeface="微软雅黑" panose="020B0503020204020204" pitchFamily="34" charset="-122"/>
              </a:rPr>
              <a:t>三、编写一个程序 </a:t>
            </a:r>
          </a:p>
          <a:p>
            <a:pPr marL="0" marR="0" lvl="0" indent="0" algn="l" defTabSz="457200" rtl="0" eaLnBrk="1" fontAlgn="auto" latinLnBrk="0" hangingPunct="1">
              <a:lnSpc>
                <a:spcPct val="130000"/>
              </a:lnSpc>
              <a:spcBef>
                <a:spcPts val="0"/>
              </a:spcBef>
              <a:spcAft>
                <a:spcPts val="0"/>
              </a:spcAft>
              <a:buClrTx/>
              <a:buSzTx/>
              <a:buFontTx/>
              <a:buNone/>
              <a:defRPr/>
            </a:pPr>
            <a:r>
              <a:rPr lang="zh-CN" altLang="en-US" sz="2800" b="1" dirty="0">
                <a:solidFill>
                  <a:srgbClr val="FF0000"/>
                </a:solidFill>
              </a:rPr>
              <a:t>四、高级语言程序的基本语法要素</a:t>
            </a:r>
            <a:endParaRPr lang="en-US" altLang="zh-CN" sz="2800" b="1" dirty="0">
              <a:solidFill>
                <a:srgbClr val="FF0000"/>
              </a:solidFill>
            </a:endParaRPr>
          </a:p>
          <a:p>
            <a:pPr marL="0" marR="0" lvl="0" indent="0" algn="l" defTabSz="457200" rtl="0" eaLnBrk="1" fontAlgn="auto" latinLnBrk="0" hangingPunct="1">
              <a:lnSpc>
                <a:spcPct val="130000"/>
              </a:lnSpc>
              <a:spcBef>
                <a:spcPts val="0"/>
              </a:spcBef>
              <a:spcAft>
                <a:spcPts val="0"/>
              </a:spcAft>
              <a:buClrTx/>
              <a:buSzTx/>
              <a:buFontTx/>
              <a:buNone/>
              <a:defRPr/>
            </a:pPr>
            <a:r>
              <a:rPr lang="zh-CN" altLang="en-US" sz="2800" b="1" dirty="0">
                <a:solidFill>
                  <a:srgbClr val="FF0000"/>
                </a:solidFill>
              </a:rPr>
              <a:t>五、用高级语言构造程序</a:t>
            </a:r>
            <a:endParaRPr lang="en-US" altLang="zh-CN" sz="2800" b="1" dirty="0">
              <a:solidFill>
                <a:srgbClr val="FF0000"/>
              </a:solidFill>
            </a:endParaRPr>
          </a:p>
          <a:p>
            <a:pPr marL="0" marR="0" lvl="0" indent="0" algn="l" defTabSz="457200" rtl="0" eaLnBrk="1" fontAlgn="auto" latinLnBrk="0" hangingPunct="1">
              <a:lnSpc>
                <a:spcPct val="130000"/>
              </a:lnSpc>
              <a:spcBef>
                <a:spcPts val="0"/>
              </a:spcBef>
              <a:spcAft>
                <a:spcPts val="0"/>
              </a:spcAft>
              <a:buClrTx/>
              <a:buSzTx/>
              <a:buFontTx/>
              <a:buNone/>
              <a:defRPr/>
            </a:pPr>
            <a:r>
              <a:rPr lang="zh-CN" altLang="en-US" sz="2800" dirty="0">
                <a:solidFill>
                  <a:srgbClr val="FF0000"/>
                </a:solidFill>
              </a:rPr>
              <a:t>六</a:t>
            </a:r>
            <a:r>
              <a:rPr lang="zh-CN" altLang="en-US" sz="2800" b="1" dirty="0">
                <a:solidFill>
                  <a:srgbClr val="FF0000"/>
                </a:solidFill>
              </a:rPr>
              <a:t>、程序设计过程与程序设计环境</a:t>
            </a:r>
            <a:endParaRPr lang="en-US" altLang="zh-CN" sz="2800" b="1" dirty="0">
              <a:solidFill>
                <a:srgbClr val="FF0000"/>
              </a:solidFill>
            </a:endParaRPr>
          </a:p>
          <a:p>
            <a:pPr marL="0" marR="0" lvl="0" indent="0" algn="l" defTabSz="457200" rtl="0" eaLnBrk="1" fontAlgn="auto" latinLnBrk="0" hangingPunct="1">
              <a:lnSpc>
                <a:spcPct val="130000"/>
              </a:lnSpc>
              <a:spcBef>
                <a:spcPts val="0"/>
              </a:spcBef>
              <a:spcAft>
                <a:spcPts val="0"/>
              </a:spcAft>
              <a:buClrTx/>
              <a:buSzTx/>
              <a:buFontTx/>
              <a:buNone/>
              <a:defRPr/>
            </a:pPr>
            <a:endParaRPr lang="en-US" altLang="zh-CN" sz="2800" b="1" dirty="0">
              <a:solidFill>
                <a:srgbClr val="A5002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4115" name="Oval 3"/>
          <p:cNvSpPr>
            <a:spLocks noChangeArrowheads="1"/>
          </p:cNvSpPr>
          <p:nvPr/>
        </p:nvSpPr>
        <p:spPr bwMode="auto">
          <a:xfrm>
            <a:off x="2139704" y="4213051"/>
            <a:ext cx="3155951" cy="82232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a:latin typeface="Times New Roman" panose="02020503050405090304" pitchFamily="18" charset="0"/>
                <a:ea typeface="隶书" panose="02010509060101010101" pitchFamily="49" charset="-122"/>
              </a:rPr>
              <a:t>计算机语言</a:t>
            </a:r>
          </a:p>
        </p:txBody>
      </p:sp>
      <p:grpSp>
        <p:nvGrpSpPr>
          <p:cNvPr id="1754118" name="Group 6"/>
          <p:cNvGrpSpPr/>
          <p:nvPr/>
        </p:nvGrpSpPr>
        <p:grpSpPr bwMode="auto">
          <a:xfrm>
            <a:off x="6816830" y="4206701"/>
            <a:ext cx="3262313" cy="2214562"/>
            <a:chOff x="2989" y="2288"/>
            <a:chExt cx="2055" cy="1395"/>
          </a:xfrm>
        </p:grpSpPr>
        <p:sp>
          <p:nvSpPr>
            <p:cNvPr id="1754119" name="Oval 7"/>
            <p:cNvSpPr>
              <a:spLocks noChangeArrowheads="1"/>
            </p:cNvSpPr>
            <p:nvPr/>
          </p:nvSpPr>
          <p:spPr bwMode="auto">
            <a:xfrm>
              <a:off x="3604" y="2288"/>
              <a:ext cx="893" cy="51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a:latin typeface="Times New Roman" panose="02020503050405090304" pitchFamily="18" charset="0"/>
                  <a:ea typeface="隶书" panose="02010509060101010101" pitchFamily="49" charset="-122"/>
                </a:rPr>
                <a:t>程序</a:t>
              </a:r>
            </a:p>
          </p:txBody>
        </p:sp>
        <p:sp>
          <p:nvSpPr>
            <p:cNvPr id="1754120" name="Text Box 8"/>
            <p:cNvSpPr txBox="1">
              <a:spLocks noChangeArrowheads="1"/>
            </p:cNvSpPr>
            <p:nvPr/>
          </p:nvSpPr>
          <p:spPr bwMode="auto">
            <a:xfrm>
              <a:off x="2989" y="3160"/>
              <a:ext cx="2055"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400" b="0">
                  <a:latin typeface="Times New Roman" panose="02020503050405090304" pitchFamily="18" charset="0"/>
                  <a:ea typeface="楷体_GB2312" pitchFamily="49" charset="-122"/>
                </a:rPr>
                <a:t>计算机能够理解与</a:t>
              </a:r>
            </a:p>
            <a:p>
              <a:pPr algn="ctr"/>
              <a:r>
                <a:rPr lang="zh-CN" altLang="en-US" sz="2400" b="0">
                  <a:latin typeface="Times New Roman" panose="02020503050405090304" pitchFamily="18" charset="0"/>
                  <a:ea typeface="楷体_GB2312" pitchFamily="49" charset="-122"/>
                </a:rPr>
                <a:t>执行的解决问题的步骤</a:t>
              </a:r>
            </a:p>
          </p:txBody>
        </p:sp>
        <p:sp>
          <p:nvSpPr>
            <p:cNvPr id="1754121" name="Line 9"/>
            <p:cNvSpPr>
              <a:spLocks noChangeShapeType="1"/>
            </p:cNvSpPr>
            <p:nvPr/>
          </p:nvSpPr>
          <p:spPr bwMode="auto">
            <a:xfrm>
              <a:off x="4031" y="27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754122" name="Line 10"/>
          <p:cNvSpPr>
            <a:spLocks noChangeShapeType="1"/>
          </p:cNvSpPr>
          <p:nvPr/>
        </p:nvSpPr>
        <p:spPr bwMode="auto">
          <a:xfrm>
            <a:off x="5295655" y="4613101"/>
            <a:ext cx="2514600" cy="0"/>
          </a:xfrm>
          <a:prstGeom prst="line">
            <a:avLst/>
          </a:prstGeom>
          <a:noFill/>
          <a:ln w="76200" cmpd="tri">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1754124" name="Group 12"/>
          <p:cNvGrpSpPr/>
          <p:nvPr/>
        </p:nvGrpSpPr>
        <p:grpSpPr bwMode="auto">
          <a:xfrm>
            <a:off x="828432" y="2574830"/>
            <a:ext cx="5724527" cy="1589088"/>
            <a:chOff x="960" y="1200"/>
            <a:chExt cx="3606" cy="1001"/>
          </a:xfrm>
        </p:grpSpPr>
        <p:sp>
          <p:nvSpPr>
            <p:cNvPr id="1754125" name="Text Box 13"/>
            <p:cNvSpPr txBox="1">
              <a:spLocks noChangeArrowheads="1"/>
            </p:cNvSpPr>
            <p:nvPr/>
          </p:nvSpPr>
          <p:spPr bwMode="auto">
            <a:xfrm>
              <a:off x="960" y="1200"/>
              <a:ext cx="3606" cy="4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2400" b="0" dirty="0">
                  <a:latin typeface="Times New Roman" panose="02020503050405090304" pitchFamily="18" charset="0"/>
                  <a:ea typeface="楷体_GB2312" pitchFamily="49" charset="-122"/>
                </a:rPr>
                <a:t>程序书写的规范、语法规则、标准的集合</a:t>
              </a:r>
              <a:endParaRPr lang="en-US" altLang="zh-CN" sz="2400" b="0" dirty="0">
                <a:latin typeface="Times New Roman" panose="02020503050405090304" pitchFamily="18" charset="0"/>
                <a:ea typeface="楷体_GB2312" pitchFamily="49" charset="-122"/>
              </a:endParaRPr>
            </a:p>
            <a:p>
              <a:pPr algn="ctr">
                <a:lnSpc>
                  <a:spcPct val="90000"/>
                </a:lnSpc>
              </a:pPr>
              <a:r>
                <a:rPr lang="zh-CN" altLang="en-US" sz="2400" b="0" dirty="0">
                  <a:latin typeface="Times New Roman" panose="02020503050405090304" pitchFamily="18" charset="0"/>
                  <a:ea typeface="楷体_GB2312" pitchFamily="49" charset="-122"/>
                </a:rPr>
                <a:t>是人和计算机都能理解的语言</a:t>
              </a:r>
              <a:endParaRPr lang="en-US" altLang="zh-CN" sz="2400" b="0" dirty="0">
                <a:latin typeface="Times New Roman" panose="02020503050405090304" pitchFamily="18" charset="0"/>
                <a:ea typeface="楷体_GB2312" pitchFamily="49" charset="-122"/>
              </a:endParaRPr>
            </a:p>
          </p:txBody>
        </p:sp>
        <p:sp>
          <p:nvSpPr>
            <p:cNvPr id="1754126" name="Line 14"/>
            <p:cNvSpPr>
              <a:spLocks noChangeShapeType="1"/>
            </p:cNvSpPr>
            <p:nvPr/>
          </p:nvSpPr>
          <p:spPr bwMode="auto">
            <a:xfrm>
              <a:off x="2759" y="1673"/>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754130" name="Text Box 16"/>
          <p:cNvSpPr txBox="1">
            <a:spLocks noChangeArrowheads="1"/>
          </p:cNvSpPr>
          <p:nvPr/>
        </p:nvSpPr>
        <p:spPr bwMode="auto">
          <a:xfrm>
            <a:off x="1687514" y="1"/>
            <a:ext cx="3289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由机器语言到高级语言</a:t>
            </a:r>
          </a:p>
          <a:p>
            <a:pPr eaLnBrk="1" hangingPunct="1">
              <a:lnSpc>
                <a:spcPct val="120000"/>
              </a:lnSpc>
            </a:pPr>
            <a:r>
              <a:rPr lang="en-US" altLang="zh-CN" sz="2000">
                <a:solidFill>
                  <a:schemeClr val="bg1"/>
                </a:solidFill>
                <a:ea typeface="华文中宋" panose="02010600040101010101" pitchFamily="2" charset="-122"/>
              </a:rPr>
              <a:t>(1)</a:t>
            </a:r>
            <a:r>
              <a:rPr lang="zh-CN" altLang="en-US" sz="2000">
                <a:solidFill>
                  <a:schemeClr val="bg1"/>
                </a:solidFill>
                <a:ea typeface="华文中宋" panose="02010600040101010101" pitchFamily="2" charset="-122"/>
              </a:rPr>
              <a:t>为什么需要计算机语言</a:t>
            </a:r>
            <a:r>
              <a:rPr lang="en-US" altLang="zh-CN" sz="2000">
                <a:solidFill>
                  <a:schemeClr val="bg1"/>
                </a:solidFill>
                <a:ea typeface="华文中宋" panose="02010600040101010101" pitchFamily="2" charset="-122"/>
              </a:rPr>
              <a:t>? </a:t>
            </a:r>
          </a:p>
        </p:txBody>
      </p:sp>
      <p:sp>
        <p:nvSpPr>
          <p:cNvPr id="17" name="圆角矩形 1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计算机语言与计算机程序</a:t>
            </a:r>
          </a:p>
        </p:txBody>
      </p:sp>
      <p:sp>
        <p:nvSpPr>
          <p:cNvPr id="1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541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7541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754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5139" name="Text Box 3"/>
          <p:cNvSpPr txBox="1">
            <a:spLocks noChangeArrowheads="1"/>
          </p:cNvSpPr>
          <p:nvPr/>
        </p:nvSpPr>
        <p:spPr bwMode="auto">
          <a:xfrm>
            <a:off x="9048084" y="2412039"/>
            <a:ext cx="267480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1600" dirty="0">
                <a:latin typeface="宋体" pitchFamily="2" charset="-122"/>
              </a:rPr>
              <a:t>计算</a:t>
            </a:r>
            <a:r>
              <a:rPr lang="en-US" altLang="zh-CN" sz="1600" dirty="0">
                <a:latin typeface="宋体" pitchFamily="2" charset="-122"/>
              </a:rPr>
              <a:t>7+10</a:t>
            </a:r>
            <a:r>
              <a:rPr lang="zh-CN" altLang="en-US" sz="1600" dirty="0">
                <a:latin typeface="宋体" pitchFamily="2" charset="-122"/>
              </a:rPr>
              <a:t>并存储的机器程序</a:t>
            </a:r>
          </a:p>
        </p:txBody>
      </p:sp>
      <p:sp>
        <p:nvSpPr>
          <p:cNvPr id="1755140" name="Text Box 4"/>
          <p:cNvSpPr txBox="1">
            <a:spLocks noChangeArrowheads="1"/>
          </p:cNvSpPr>
          <p:nvPr/>
        </p:nvSpPr>
        <p:spPr bwMode="auto">
          <a:xfrm>
            <a:off x="2127647" y="4483972"/>
            <a:ext cx="661842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20000"/>
              </a:lnSpc>
              <a:buFont typeface="Wingdings" panose="05000000000000000000" pitchFamily="2" charset="2"/>
              <a:buNone/>
            </a:pPr>
            <a:r>
              <a:rPr lang="zh-CN" altLang="en-US" b="0" dirty="0">
                <a:latin typeface="Times New Roman" panose="02020503050405090304" pitchFamily="18" charset="0"/>
              </a:rPr>
              <a:t>用二进制和编码方式提供的指令系统所编写程序的语言</a:t>
            </a:r>
            <a:endParaRPr lang="en-US" altLang="zh-CN" b="0" dirty="0">
              <a:latin typeface="Times New Roman" panose="02020503050405090304" pitchFamily="18" charset="0"/>
            </a:endParaRPr>
          </a:p>
        </p:txBody>
      </p:sp>
      <p:sp>
        <p:nvSpPr>
          <p:cNvPr id="1755141" name="Text Box 5"/>
          <p:cNvSpPr txBox="1">
            <a:spLocks noChangeArrowheads="1"/>
          </p:cNvSpPr>
          <p:nvPr/>
        </p:nvSpPr>
        <p:spPr bwMode="auto">
          <a:xfrm>
            <a:off x="9500176" y="2979430"/>
            <a:ext cx="1881187" cy="3233737"/>
          </a:xfrm>
          <a:prstGeom prst="rect">
            <a:avLst/>
          </a:prstGeom>
          <a:solidFill>
            <a:schemeClr val="bg1"/>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2400" dirty="0"/>
              <a:t>100001 </a:t>
            </a:r>
            <a:r>
              <a:rPr lang="en-US" altLang="zh-CN" sz="2400" b="0" dirty="0"/>
              <a:t>10</a:t>
            </a:r>
          </a:p>
          <a:p>
            <a:pPr algn="ctr"/>
            <a:r>
              <a:rPr lang="en-US" altLang="zh-CN" sz="2400" b="0" dirty="0"/>
              <a:t>00000111</a:t>
            </a:r>
          </a:p>
          <a:p>
            <a:pPr algn="ctr">
              <a:spcBef>
                <a:spcPct val="50000"/>
              </a:spcBef>
            </a:pPr>
            <a:r>
              <a:rPr lang="en-US" altLang="zh-CN" sz="2400" dirty="0"/>
              <a:t>100010 </a:t>
            </a:r>
            <a:r>
              <a:rPr lang="en-US" altLang="zh-CN" sz="2400" b="0" dirty="0"/>
              <a:t>10</a:t>
            </a:r>
          </a:p>
          <a:p>
            <a:pPr algn="ctr"/>
            <a:r>
              <a:rPr lang="en-US" altLang="zh-CN" sz="2400" b="0" dirty="0"/>
              <a:t>00001010</a:t>
            </a:r>
          </a:p>
          <a:p>
            <a:pPr algn="ctr">
              <a:spcBef>
                <a:spcPct val="50000"/>
              </a:spcBef>
            </a:pPr>
            <a:r>
              <a:rPr lang="en-US" altLang="zh-CN" sz="2400" dirty="0"/>
              <a:t>100101 </a:t>
            </a:r>
            <a:r>
              <a:rPr lang="en-US" altLang="zh-CN" sz="2400" b="0" dirty="0"/>
              <a:t>11</a:t>
            </a:r>
          </a:p>
          <a:p>
            <a:pPr algn="ctr"/>
            <a:r>
              <a:rPr lang="en-US" altLang="zh-CN" sz="2400" b="0" dirty="0"/>
              <a:t>00000110</a:t>
            </a:r>
          </a:p>
          <a:p>
            <a:pPr algn="ctr">
              <a:spcBef>
                <a:spcPct val="50000"/>
              </a:spcBef>
            </a:pPr>
            <a:r>
              <a:rPr lang="en-US" altLang="zh-CN" sz="2400" dirty="0"/>
              <a:t>111101 </a:t>
            </a:r>
            <a:r>
              <a:rPr lang="en-US" altLang="zh-CN" sz="2400" b="0" dirty="0"/>
              <a:t>00</a:t>
            </a:r>
            <a:endParaRPr lang="en-US" altLang="zh-CN" sz="2400" b="0" dirty="0">
              <a:ea typeface="隶书" panose="02010509060101010101" pitchFamily="49" charset="-122"/>
            </a:endParaRPr>
          </a:p>
        </p:txBody>
      </p:sp>
      <p:sp>
        <p:nvSpPr>
          <p:cNvPr id="1755142" name="AutoShape 6"/>
          <p:cNvSpPr>
            <a:spLocks noChangeArrowheads="1"/>
          </p:cNvSpPr>
          <p:nvPr/>
        </p:nvSpPr>
        <p:spPr bwMode="auto">
          <a:xfrm>
            <a:off x="1005287" y="5735161"/>
            <a:ext cx="6798733" cy="551640"/>
          </a:xfrm>
          <a:prstGeom prst="roundRect">
            <a:avLst>
              <a:gd name="adj" fmla="val 16667"/>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10000"/>
              </a:lnSpc>
              <a:buFont typeface="Wingdings" panose="05000000000000000000" pitchFamily="2" charset="2"/>
              <a:buNone/>
            </a:pPr>
            <a:r>
              <a:rPr lang="zh-CN" altLang="en-US" sz="2400" dirty="0">
                <a:solidFill>
                  <a:schemeClr val="bg1"/>
                </a:solidFill>
                <a:latin typeface="微软雅黑" panose="020B0503020204020204" pitchFamily="34" charset="-122"/>
                <a:ea typeface="微软雅黑" panose="020B0503020204020204" pitchFamily="34" charset="-122"/>
              </a:rPr>
              <a:t>所有程序都需转换成机器程序，计算机才能执行</a:t>
            </a:r>
          </a:p>
        </p:txBody>
      </p:sp>
      <p:sp>
        <p:nvSpPr>
          <p:cNvPr id="1755143" name="Rectangle 7"/>
          <p:cNvSpPr>
            <a:spLocks noChangeArrowheads="1"/>
          </p:cNvSpPr>
          <p:nvPr/>
        </p:nvSpPr>
        <p:spPr bwMode="auto">
          <a:xfrm>
            <a:off x="2127647" y="2294489"/>
            <a:ext cx="661842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20000"/>
              </a:lnSpc>
              <a:buClr>
                <a:schemeClr val="tx1"/>
              </a:buClr>
              <a:buFont typeface="Wingdings" panose="05000000000000000000" pitchFamily="2" charset="2"/>
              <a:buNone/>
            </a:pPr>
            <a:r>
              <a:rPr lang="en-US" altLang="zh-CN" b="0" dirty="0"/>
              <a:t>CPU</a:t>
            </a:r>
            <a:r>
              <a:rPr lang="zh-CN" altLang="en-US" b="0" dirty="0"/>
              <a:t>用二进制和编码提供的可以解释并执行的命令的集合</a:t>
            </a:r>
          </a:p>
        </p:txBody>
      </p:sp>
      <p:sp>
        <p:nvSpPr>
          <p:cNvPr id="1755145" name="Rectangle 9"/>
          <p:cNvSpPr>
            <a:spLocks noChangeArrowheads="1"/>
          </p:cNvSpPr>
          <p:nvPr/>
        </p:nvSpPr>
        <p:spPr bwMode="auto">
          <a:xfrm>
            <a:off x="2495966" y="3076184"/>
            <a:ext cx="593258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0" dirty="0"/>
              <a:t>100001   10 00000111 </a:t>
            </a:r>
            <a:r>
              <a:rPr lang="en-US" altLang="zh-CN" sz="1400" b="0" dirty="0"/>
              <a:t>(</a:t>
            </a:r>
            <a:r>
              <a:rPr lang="zh-CN" altLang="en-US" sz="1400" b="0" dirty="0"/>
              <a:t>取数指令，将数</a:t>
            </a:r>
            <a:r>
              <a:rPr lang="en-US" altLang="zh-CN" sz="1400" b="0" dirty="0"/>
              <a:t>7</a:t>
            </a:r>
            <a:r>
              <a:rPr lang="zh-CN" altLang="en-US" sz="1400" b="0" dirty="0"/>
              <a:t>输入运算器</a:t>
            </a:r>
            <a:r>
              <a:rPr lang="en-US" altLang="zh-CN" sz="1400" b="0" dirty="0"/>
              <a:t>)</a:t>
            </a:r>
          </a:p>
          <a:p>
            <a:r>
              <a:rPr lang="en-US" altLang="zh-CN" b="0" dirty="0"/>
              <a:t>100010   10 00001010</a:t>
            </a:r>
            <a:r>
              <a:rPr lang="en-US" altLang="zh-CN" sz="1400" b="0" dirty="0"/>
              <a:t>(</a:t>
            </a:r>
            <a:r>
              <a:rPr lang="zh-CN" altLang="en-US" sz="1400" b="0" dirty="0"/>
              <a:t>加法指令，将运算器中的数与数</a:t>
            </a:r>
            <a:r>
              <a:rPr lang="en-US" altLang="zh-CN" sz="1400" b="0" dirty="0"/>
              <a:t>10</a:t>
            </a:r>
            <a:r>
              <a:rPr lang="zh-CN" altLang="en-US" sz="1400" b="0" dirty="0"/>
              <a:t>相加</a:t>
            </a:r>
            <a:r>
              <a:rPr lang="en-US" altLang="zh-CN" sz="1400" b="0" dirty="0"/>
              <a:t>)</a:t>
            </a:r>
          </a:p>
          <a:p>
            <a:r>
              <a:rPr lang="en-US" altLang="zh-CN" b="0" dirty="0"/>
              <a:t>100101   11 00000110</a:t>
            </a:r>
            <a:r>
              <a:rPr lang="en-US" altLang="zh-CN" sz="1600" b="0" dirty="0"/>
              <a:t>(</a:t>
            </a:r>
            <a:r>
              <a:rPr lang="zh-CN" altLang="en-US" sz="1600" b="0" dirty="0"/>
              <a:t>存数指令，将运算器中的结果存入第六号存储单元</a:t>
            </a:r>
            <a:r>
              <a:rPr lang="en-US" altLang="zh-CN" sz="1600" b="0" dirty="0"/>
              <a:t>)</a:t>
            </a:r>
          </a:p>
          <a:p>
            <a:r>
              <a:rPr lang="en-US" altLang="zh-CN" b="0" dirty="0"/>
              <a:t>111101    00     </a:t>
            </a:r>
            <a:r>
              <a:rPr lang="en-US" altLang="zh-CN" sz="1400" b="0" dirty="0"/>
              <a:t>(</a:t>
            </a:r>
            <a:r>
              <a:rPr lang="zh-CN" altLang="en-US" sz="1400" b="0" dirty="0"/>
              <a:t>停机指令</a:t>
            </a:r>
            <a:r>
              <a:rPr lang="en-US" altLang="zh-CN" sz="1400" b="0" dirty="0"/>
              <a:t>)</a:t>
            </a:r>
          </a:p>
        </p:txBody>
      </p:sp>
      <p:sp>
        <p:nvSpPr>
          <p:cNvPr id="1755146" name="Line 10"/>
          <p:cNvSpPr>
            <a:spLocks noChangeShapeType="1"/>
          </p:cNvSpPr>
          <p:nvPr/>
        </p:nvSpPr>
        <p:spPr bwMode="auto">
          <a:xfrm>
            <a:off x="2615671" y="3025219"/>
            <a:ext cx="2692400" cy="0"/>
          </a:xfrm>
          <a:prstGeom prst="line">
            <a:avLst/>
          </a:prstGeom>
          <a:noFill/>
          <a:ln w="9525">
            <a:solidFill>
              <a:srgbClr val="CC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55147" name="Text Box 11"/>
          <p:cNvSpPr txBox="1">
            <a:spLocks noChangeArrowheads="1"/>
          </p:cNvSpPr>
          <p:nvPr/>
        </p:nvSpPr>
        <p:spPr bwMode="auto">
          <a:xfrm>
            <a:off x="2722077" y="2688669"/>
            <a:ext cx="2212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schemeClr val="accent2"/>
                </a:solidFill>
              </a:rPr>
              <a:t>操作码              地址码</a:t>
            </a:r>
          </a:p>
        </p:txBody>
      </p:sp>
      <p:grpSp>
        <p:nvGrpSpPr>
          <p:cNvPr id="1755153" name="Group 17"/>
          <p:cNvGrpSpPr/>
          <p:nvPr/>
        </p:nvGrpSpPr>
        <p:grpSpPr bwMode="auto">
          <a:xfrm>
            <a:off x="852884" y="1998271"/>
            <a:ext cx="1279525" cy="1173163"/>
            <a:chOff x="4298" y="601"/>
            <a:chExt cx="806" cy="739"/>
          </a:xfrm>
        </p:grpSpPr>
        <p:sp>
          <p:nvSpPr>
            <p:cNvPr id="2"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3"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4" name="Text Box 84"/>
            <p:cNvSpPr txBox="1">
              <a:spLocks noChangeArrowheads="1"/>
            </p:cNvSpPr>
            <p:nvPr/>
          </p:nvSpPr>
          <p:spPr bwMode="auto">
            <a:xfrm>
              <a:off x="4367" y="712"/>
              <a:ext cx="66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指令系统</a:t>
              </a:r>
            </a:p>
          </p:txBody>
        </p:sp>
      </p:grpSp>
      <p:grpSp>
        <p:nvGrpSpPr>
          <p:cNvPr id="1755157" name="Group 21"/>
          <p:cNvGrpSpPr/>
          <p:nvPr/>
        </p:nvGrpSpPr>
        <p:grpSpPr bwMode="auto">
          <a:xfrm>
            <a:off x="898924" y="4085342"/>
            <a:ext cx="1279525" cy="1173162"/>
            <a:chOff x="4298" y="601"/>
            <a:chExt cx="806" cy="739"/>
          </a:xfrm>
        </p:grpSpPr>
        <p:sp>
          <p:nvSpPr>
            <p:cNvPr id="20"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1"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16" name="Text Box 84"/>
            <p:cNvSpPr txBox="1">
              <a:spLocks noChangeArrowheads="1"/>
            </p:cNvSpPr>
            <p:nvPr/>
          </p:nvSpPr>
          <p:spPr bwMode="auto">
            <a:xfrm>
              <a:off x="4367" y="712"/>
              <a:ext cx="66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机器语言</a:t>
              </a:r>
            </a:p>
          </p:txBody>
        </p:sp>
      </p:grpSp>
      <p:sp>
        <p:nvSpPr>
          <p:cNvPr id="22"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
        <p:nvSpPr>
          <p:cNvPr id="23" name="圆角矩形 22"/>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机器语言与机器程序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755153"/>
                                        </p:tgtEl>
                                        <p:attrNameLst>
                                          <p:attrName>style.visibility</p:attrName>
                                        </p:attrNameLst>
                                      </p:cBhvr>
                                      <p:to>
                                        <p:strVal val="visible"/>
                                      </p:to>
                                    </p:set>
                                    <p:anim calcmode="lin" valueType="num">
                                      <p:cBhvr additive="base">
                                        <p:cTn id="7" dur="500" fill="hold"/>
                                        <p:tgtEl>
                                          <p:spTgt spid="1755153"/>
                                        </p:tgtEl>
                                        <p:attrNameLst>
                                          <p:attrName>ppt_x</p:attrName>
                                        </p:attrNameLst>
                                      </p:cBhvr>
                                      <p:tavLst>
                                        <p:tav tm="0">
                                          <p:val>
                                            <p:strVal val="1+#ppt_w/2"/>
                                          </p:val>
                                        </p:tav>
                                        <p:tav tm="100000">
                                          <p:val>
                                            <p:strVal val="#ppt_x"/>
                                          </p:val>
                                        </p:tav>
                                      </p:tavLst>
                                    </p:anim>
                                    <p:anim calcmode="lin" valueType="num">
                                      <p:cBhvr additive="base">
                                        <p:cTn id="8" dur="500" fill="hold"/>
                                        <p:tgtEl>
                                          <p:spTgt spid="175515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55143"/>
                                        </p:tgtEl>
                                        <p:attrNameLst>
                                          <p:attrName>style.visibility</p:attrName>
                                        </p:attrNameLst>
                                      </p:cBhvr>
                                      <p:to>
                                        <p:strVal val="visible"/>
                                      </p:to>
                                    </p:set>
                                    <p:anim calcmode="lin" valueType="num">
                                      <p:cBhvr additive="base">
                                        <p:cTn id="11" dur="500" fill="hold"/>
                                        <p:tgtEl>
                                          <p:spTgt spid="1755143"/>
                                        </p:tgtEl>
                                        <p:attrNameLst>
                                          <p:attrName>ppt_x</p:attrName>
                                        </p:attrNameLst>
                                      </p:cBhvr>
                                      <p:tavLst>
                                        <p:tav tm="0">
                                          <p:val>
                                            <p:strVal val="1+#ppt_w/2"/>
                                          </p:val>
                                        </p:tav>
                                        <p:tav tm="100000">
                                          <p:val>
                                            <p:strVal val="#ppt_x"/>
                                          </p:val>
                                        </p:tav>
                                      </p:tavLst>
                                    </p:anim>
                                    <p:anim calcmode="lin" valueType="num">
                                      <p:cBhvr additive="base">
                                        <p:cTn id="12" dur="500" fill="hold"/>
                                        <p:tgtEl>
                                          <p:spTgt spid="175514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55145"/>
                                        </p:tgtEl>
                                        <p:attrNameLst>
                                          <p:attrName>style.visibility</p:attrName>
                                        </p:attrNameLst>
                                      </p:cBhvr>
                                      <p:to>
                                        <p:strVal val="visible"/>
                                      </p:to>
                                    </p:set>
                                    <p:anim calcmode="lin" valueType="num">
                                      <p:cBhvr additive="base">
                                        <p:cTn id="17" dur="500" fill="hold"/>
                                        <p:tgtEl>
                                          <p:spTgt spid="1755145"/>
                                        </p:tgtEl>
                                        <p:attrNameLst>
                                          <p:attrName>ppt_x</p:attrName>
                                        </p:attrNameLst>
                                      </p:cBhvr>
                                      <p:tavLst>
                                        <p:tav tm="0">
                                          <p:val>
                                            <p:strVal val="#ppt_x"/>
                                          </p:val>
                                        </p:tav>
                                        <p:tav tm="100000">
                                          <p:val>
                                            <p:strVal val="#ppt_x"/>
                                          </p:val>
                                        </p:tav>
                                      </p:tavLst>
                                    </p:anim>
                                    <p:anim calcmode="lin" valueType="num">
                                      <p:cBhvr additive="base">
                                        <p:cTn id="18" dur="500" fill="hold"/>
                                        <p:tgtEl>
                                          <p:spTgt spid="175514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55146"/>
                                        </p:tgtEl>
                                        <p:attrNameLst>
                                          <p:attrName>style.visibility</p:attrName>
                                        </p:attrNameLst>
                                      </p:cBhvr>
                                      <p:to>
                                        <p:strVal val="visible"/>
                                      </p:to>
                                    </p:set>
                                    <p:anim calcmode="lin" valueType="num">
                                      <p:cBhvr additive="base">
                                        <p:cTn id="21" dur="500" fill="hold"/>
                                        <p:tgtEl>
                                          <p:spTgt spid="1755146"/>
                                        </p:tgtEl>
                                        <p:attrNameLst>
                                          <p:attrName>ppt_x</p:attrName>
                                        </p:attrNameLst>
                                      </p:cBhvr>
                                      <p:tavLst>
                                        <p:tav tm="0">
                                          <p:val>
                                            <p:strVal val="#ppt_x"/>
                                          </p:val>
                                        </p:tav>
                                        <p:tav tm="100000">
                                          <p:val>
                                            <p:strVal val="#ppt_x"/>
                                          </p:val>
                                        </p:tav>
                                      </p:tavLst>
                                    </p:anim>
                                    <p:anim calcmode="lin" valueType="num">
                                      <p:cBhvr additive="base">
                                        <p:cTn id="22" dur="500" fill="hold"/>
                                        <p:tgtEl>
                                          <p:spTgt spid="175514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55147"/>
                                        </p:tgtEl>
                                        <p:attrNameLst>
                                          <p:attrName>style.visibility</p:attrName>
                                        </p:attrNameLst>
                                      </p:cBhvr>
                                      <p:to>
                                        <p:strVal val="visible"/>
                                      </p:to>
                                    </p:set>
                                    <p:anim calcmode="lin" valueType="num">
                                      <p:cBhvr additive="base">
                                        <p:cTn id="25" dur="500" fill="hold"/>
                                        <p:tgtEl>
                                          <p:spTgt spid="1755147"/>
                                        </p:tgtEl>
                                        <p:attrNameLst>
                                          <p:attrName>ppt_x</p:attrName>
                                        </p:attrNameLst>
                                      </p:cBhvr>
                                      <p:tavLst>
                                        <p:tav tm="0">
                                          <p:val>
                                            <p:strVal val="#ppt_x"/>
                                          </p:val>
                                        </p:tav>
                                        <p:tav tm="100000">
                                          <p:val>
                                            <p:strVal val="#ppt_x"/>
                                          </p:val>
                                        </p:tav>
                                      </p:tavLst>
                                    </p:anim>
                                    <p:anim calcmode="lin" valueType="num">
                                      <p:cBhvr additive="base">
                                        <p:cTn id="26" dur="500" fill="hold"/>
                                        <p:tgtEl>
                                          <p:spTgt spid="175514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55139"/>
                                        </p:tgtEl>
                                        <p:attrNameLst>
                                          <p:attrName>style.visibility</p:attrName>
                                        </p:attrNameLst>
                                      </p:cBhvr>
                                      <p:to>
                                        <p:strVal val="visible"/>
                                      </p:to>
                                    </p:set>
                                    <p:anim calcmode="lin" valueType="num">
                                      <p:cBhvr additive="base">
                                        <p:cTn id="31" dur="500" fill="hold"/>
                                        <p:tgtEl>
                                          <p:spTgt spid="1755139"/>
                                        </p:tgtEl>
                                        <p:attrNameLst>
                                          <p:attrName>ppt_x</p:attrName>
                                        </p:attrNameLst>
                                      </p:cBhvr>
                                      <p:tavLst>
                                        <p:tav tm="0">
                                          <p:val>
                                            <p:strVal val="1+#ppt_w/2"/>
                                          </p:val>
                                        </p:tav>
                                        <p:tav tm="100000">
                                          <p:val>
                                            <p:strVal val="#ppt_x"/>
                                          </p:val>
                                        </p:tav>
                                      </p:tavLst>
                                    </p:anim>
                                    <p:anim calcmode="lin" valueType="num">
                                      <p:cBhvr additive="base">
                                        <p:cTn id="32" dur="500" fill="hold"/>
                                        <p:tgtEl>
                                          <p:spTgt spid="175513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55141"/>
                                        </p:tgtEl>
                                        <p:attrNameLst>
                                          <p:attrName>style.visibility</p:attrName>
                                        </p:attrNameLst>
                                      </p:cBhvr>
                                      <p:to>
                                        <p:strVal val="visible"/>
                                      </p:to>
                                    </p:set>
                                    <p:anim calcmode="lin" valueType="num">
                                      <p:cBhvr additive="base">
                                        <p:cTn id="37" dur="500" fill="hold"/>
                                        <p:tgtEl>
                                          <p:spTgt spid="1755141"/>
                                        </p:tgtEl>
                                        <p:attrNameLst>
                                          <p:attrName>ppt_x</p:attrName>
                                        </p:attrNameLst>
                                      </p:cBhvr>
                                      <p:tavLst>
                                        <p:tav tm="0">
                                          <p:val>
                                            <p:strVal val="1+#ppt_w/2"/>
                                          </p:val>
                                        </p:tav>
                                        <p:tav tm="100000">
                                          <p:val>
                                            <p:strVal val="#ppt_x"/>
                                          </p:val>
                                        </p:tav>
                                      </p:tavLst>
                                    </p:anim>
                                    <p:anim calcmode="lin" valueType="num">
                                      <p:cBhvr additive="base">
                                        <p:cTn id="38" dur="500" fill="hold"/>
                                        <p:tgtEl>
                                          <p:spTgt spid="175514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1755157"/>
                                        </p:tgtEl>
                                        <p:attrNameLst>
                                          <p:attrName>style.visibility</p:attrName>
                                        </p:attrNameLst>
                                      </p:cBhvr>
                                      <p:to>
                                        <p:strVal val="visible"/>
                                      </p:to>
                                    </p:set>
                                    <p:anim calcmode="lin" valueType="num">
                                      <p:cBhvr additive="base">
                                        <p:cTn id="43" dur="500" fill="hold"/>
                                        <p:tgtEl>
                                          <p:spTgt spid="1755157"/>
                                        </p:tgtEl>
                                        <p:attrNameLst>
                                          <p:attrName>ppt_x</p:attrName>
                                        </p:attrNameLst>
                                      </p:cBhvr>
                                      <p:tavLst>
                                        <p:tav tm="0">
                                          <p:val>
                                            <p:strVal val="1+#ppt_w/2"/>
                                          </p:val>
                                        </p:tav>
                                        <p:tav tm="100000">
                                          <p:val>
                                            <p:strVal val="#ppt_x"/>
                                          </p:val>
                                        </p:tav>
                                      </p:tavLst>
                                    </p:anim>
                                    <p:anim calcmode="lin" valueType="num">
                                      <p:cBhvr additive="base">
                                        <p:cTn id="44" dur="500" fill="hold"/>
                                        <p:tgtEl>
                                          <p:spTgt spid="1755157"/>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755140"/>
                                        </p:tgtEl>
                                        <p:attrNameLst>
                                          <p:attrName>style.visibility</p:attrName>
                                        </p:attrNameLst>
                                      </p:cBhvr>
                                      <p:to>
                                        <p:strVal val="visible"/>
                                      </p:to>
                                    </p:set>
                                    <p:anim calcmode="lin" valueType="num">
                                      <p:cBhvr additive="base">
                                        <p:cTn id="47" dur="500" fill="hold"/>
                                        <p:tgtEl>
                                          <p:spTgt spid="1755140"/>
                                        </p:tgtEl>
                                        <p:attrNameLst>
                                          <p:attrName>ppt_x</p:attrName>
                                        </p:attrNameLst>
                                      </p:cBhvr>
                                      <p:tavLst>
                                        <p:tav tm="0">
                                          <p:val>
                                            <p:strVal val="1+#ppt_w/2"/>
                                          </p:val>
                                        </p:tav>
                                        <p:tav tm="100000">
                                          <p:val>
                                            <p:strVal val="#ppt_x"/>
                                          </p:val>
                                        </p:tav>
                                      </p:tavLst>
                                    </p:anim>
                                    <p:anim calcmode="lin" valueType="num">
                                      <p:cBhvr additive="base">
                                        <p:cTn id="48" dur="500" fill="hold"/>
                                        <p:tgtEl>
                                          <p:spTgt spid="1755140"/>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755142"/>
                                        </p:tgtEl>
                                        <p:attrNameLst>
                                          <p:attrName>style.visibility</p:attrName>
                                        </p:attrNameLst>
                                      </p:cBhvr>
                                      <p:to>
                                        <p:strVal val="visible"/>
                                      </p:to>
                                    </p:set>
                                    <p:anim calcmode="lin" valueType="num">
                                      <p:cBhvr additive="base">
                                        <p:cTn id="53" dur="500" fill="hold"/>
                                        <p:tgtEl>
                                          <p:spTgt spid="1755142"/>
                                        </p:tgtEl>
                                        <p:attrNameLst>
                                          <p:attrName>ppt_x</p:attrName>
                                        </p:attrNameLst>
                                      </p:cBhvr>
                                      <p:tavLst>
                                        <p:tav tm="0">
                                          <p:val>
                                            <p:strVal val="1+#ppt_w/2"/>
                                          </p:val>
                                        </p:tav>
                                        <p:tav tm="100000">
                                          <p:val>
                                            <p:strVal val="#ppt_x"/>
                                          </p:val>
                                        </p:tav>
                                      </p:tavLst>
                                    </p:anim>
                                    <p:anim calcmode="lin" valueType="num">
                                      <p:cBhvr additive="base">
                                        <p:cTn id="54" dur="500" fill="hold"/>
                                        <p:tgtEl>
                                          <p:spTgt spid="17551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5139" grpId="0" autoUpdateAnimBg="0"/>
      <p:bldP spid="1755140" grpId="0" autoUpdateAnimBg="0"/>
      <p:bldP spid="1755141" grpId="0" animBg="1" autoUpdateAnimBg="0"/>
      <p:bldP spid="1755142" grpId="0" animBg="1" autoUpdateAnimBg="0"/>
      <p:bldP spid="1755143" grpId="0" autoUpdateAnimBg="0"/>
      <p:bldP spid="1755145" grpId="0"/>
      <p:bldP spid="17551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6162" name="Text Box 2"/>
          <p:cNvSpPr txBox="1">
            <a:spLocks noChangeArrowheads="1"/>
          </p:cNvSpPr>
          <p:nvPr/>
        </p:nvSpPr>
        <p:spPr bwMode="auto">
          <a:xfrm>
            <a:off x="9138225" y="3351358"/>
            <a:ext cx="2243138"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1600" dirty="0">
                <a:latin typeface="宋体" pitchFamily="2" charset="-122"/>
              </a:rPr>
              <a:t>计算</a:t>
            </a:r>
            <a:r>
              <a:rPr lang="en-US" altLang="zh-CN" sz="1600" dirty="0">
                <a:latin typeface="宋体" pitchFamily="2" charset="-122"/>
              </a:rPr>
              <a:t>7+10</a:t>
            </a:r>
            <a:r>
              <a:rPr lang="zh-CN" altLang="en-US" sz="1600" dirty="0">
                <a:latin typeface="宋体" pitchFamily="2" charset="-122"/>
              </a:rPr>
              <a:t>并存储的汇编语言源程序</a:t>
            </a:r>
          </a:p>
        </p:txBody>
      </p:sp>
      <p:sp>
        <p:nvSpPr>
          <p:cNvPr id="1756164" name="Text Box 4"/>
          <p:cNvSpPr txBox="1">
            <a:spLocks noChangeArrowheads="1"/>
          </p:cNvSpPr>
          <p:nvPr/>
        </p:nvSpPr>
        <p:spPr bwMode="auto">
          <a:xfrm>
            <a:off x="781640" y="2024063"/>
            <a:ext cx="60134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buFont typeface="Wingdings" panose="05000000000000000000" pitchFamily="2" charset="2"/>
              <a:buChar char="u"/>
            </a:pPr>
            <a:r>
              <a:rPr lang="zh-CN" altLang="en-US" dirty="0">
                <a:solidFill>
                  <a:schemeClr val="accent2"/>
                </a:solidFill>
                <a:latin typeface="宋体" pitchFamily="2" charset="-122"/>
              </a:rPr>
              <a:t>用符号编写程序 </a:t>
            </a:r>
            <a:r>
              <a:rPr lang="en-US" altLang="zh-CN" sz="1600" b="0" dirty="0">
                <a:latin typeface="宋体" pitchFamily="2" charset="-122"/>
              </a:rPr>
              <a:t>==</a:t>
            </a:r>
            <a:r>
              <a:rPr lang="en-US" altLang="zh-CN" sz="1600" b="0" dirty="0">
                <a:latin typeface="宋体" pitchFamily="2" charset="-122"/>
                <a:sym typeface="Wingdings" panose="05000000000000000000" pitchFamily="2" charset="2"/>
              </a:rPr>
              <a:t> </a:t>
            </a:r>
            <a:r>
              <a:rPr lang="zh-CN" altLang="en-US" dirty="0">
                <a:solidFill>
                  <a:schemeClr val="accent2"/>
                </a:solidFill>
                <a:latin typeface="宋体" pitchFamily="2" charset="-122"/>
              </a:rPr>
              <a:t>翻译 </a:t>
            </a:r>
            <a:r>
              <a:rPr lang="en-US" altLang="zh-CN" sz="1600" b="0" dirty="0">
                <a:latin typeface="宋体" pitchFamily="2" charset="-122"/>
              </a:rPr>
              <a:t>==</a:t>
            </a:r>
            <a:r>
              <a:rPr lang="en-US" altLang="zh-CN" sz="1600" b="0" dirty="0">
                <a:latin typeface="宋体" pitchFamily="2" charset="-122"/>
                <a:sym typeface="Wingdings" panose="05000000000000000000" pitchFamily="2" charset="2"/>
              </a:rPr>
              <a:t> </a:t>
            </a:r>
            <a:r>
              <a:rPr lang="zh-CN" altLang="en-US" b="0" dirty="0">
                <a:latin typeface="宋体" pitchFamily="2" charset="-122"/>
              </a:rPr>
              <a:t>机器语言程序</a:t>
            </a:r>
            <a:endParaRPr lang="zh-CN" altLang="en-US" sz="1600" b="0" dirty="0">
              <a:latin typeface="宋体" pitchFamily="2" charset="-122"/>
            </a:endParaRPr>
          </a:p>
        </p:txBody>
      </p:sp>
      <p:sp>
        <p:nvSpPr>
          <p:cNvPr id="1756165" name="Text Box 5"/>
          <p:cNvSpPr txBox="1">
            <a:spLocks noChangeArrowheads="1"/>
          </p:cNvSpPr>
          <p:nvPr/>
        </p:nvSpPr>
        <p:spPr bwMode="auto">
          <a:xfrm>
            <a:off x="9210221" y="3979332"/>
            <a:ext cx="2241550" cy="1590675"/>
          </a:xfrm>
          <a:prstGeom prst="rect">
            <a:avLst/>
          </a:prstGeom>
          <a:solidFill>
            <a:schemeClr val="bg1"/>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0" dirty="0"/>
              <a:t>MOV  R0,  7</a:t>
            </a:r>
          </a:p>
          <a:p>
            <a:r>
              <a:rPr lang="en-US" altLang="zh-CN" sz="2400" b="0" dirty="0"/>
              <a:t>ADD  R0,  10</a:t>
            </a:r>
          </a:p>
          <a:p>
            <a:r>
              <a:rPr lang="en-US" altLang="zh-CN" sz="2400" b="0" dirty="0"/>
              <a:t>MOV  (6),  R0</a:t>
            </a:r>
          </a:p>
          <a:p>
            <a:r>
              <a:rPr lang="en-US" altLang="zh-CN" sz="2400" b="0" dirty="0"/>
              <a:t>HLT</a:t>
            </a:r>
          </a:p>
        </p:txBody>
      </p:sp>
      <p:sp>
        <p:nvSpPr>
          <p:cNvPr id="1756166" name="Rectangle 6"/>
          <p:cNvSpPr>
            <a:spLocks noChangeArrowheads="1"/>
          </p:cNvSpPr>
          <p:nvPr/>
        </p:nvSpPr>
        <p:spPr bwMode="auto">
          <a:xfrm>
            <a:off x="781640" y="2439872"/>
            <a:ext cx="10670131" cy="892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lnSpc>
                <a:spcPct val="130000"/>
              </a:lnSpc>
              <a:buFont typeface="Wingdings" panose="05000000000000000000" pitchFamily="2" charset="2"/>
              <a:buChar char="u"/>
            </a:pPr>
            <a:r>
              <a:rPr lang="zh-CN" altLang="en-US" b="0" dirty="0">
                <a:latin typeface="宋体" pitchFamily="2" charset="-122"/>
              </a:rPr>
              <a:t>人们提供了用</a:t>
            </a:r>
            <a:r>
              <a:rPr lang="zh-CN" altLang="en-US" dirty="0">
                <a:solidFill>
                  <a:srgbClr val="333399"/>
                </a:solidFill>
                <a:latin typeface="宋体" pitchFamily="2" charset="-122"/>
              </a:rPr>
              <a:t>助记符</a:t>
            </a:r>
            <a:r>
              <a:rPr lang="zh-CN" altLang="en-US" b="0" dirty="0">
                <a:latin typeface="宋体" pitchFamily="2" charset="-122"/>
              </a:rPr>
              <a:t>编写程序的规范</a:t>
            </a:r>
            <a:r>
              <a:rPr lang="en-US" altLang="zh-CN" b="0" dirty="0">
                <a:latin typeface="宋体" pitchFamily="2" charset="-122"/>
              </a:rPr>
              <a:t>/</a:t>
            </a:r>
            <a:r>
              <a:rPr lang="zh-CN" altLang="en-US" b="0" dirty="0">
                <a:latin typeface="宋体" pitchFamily="2" charset="-122"/>
              </a:rPr>
              <a:t>标准。同时开发了一个</a:t>
            </a:r>
            <a:r>
              <a:rPr lang="zh-CN" altLang="en-US" dirty="0">
                <a:solidFill>
                  <a:srgbClr val="FF0000"/>
                </a:solidFill>
                <a:latin typeface="宋体" pitchFamily="2" charset="-122"/>
              </a:rPr>
              <a:t>翻译程序（被称为汇编程序）</a:t>
            </a:r>
            <a:r>
              <a:rPr lang="zh-CN" altLang="en-US" b="0" dirty="0">
                <a:latin typeface="宋体" pitchFamily="2" charset="-122"/>
              </a:rPr>
              <a:t>，实现了将符号程序</a:t>
            </a:r>
            <a:r>
              <a:rPr lang="zh-CN" altLang="en-US" dirty="0">
                <a:solidFill>
                  <a:srgbClr val="FF0000"/>
                </a:solidFill>
                <a:latin typeface="宋体" pitchFamily="2" charset="-122"/>
              </a:rPr>
              <a:t>自动</a:t>
            </a:r>
            <a:r>
              <a:rPr lang="zh-CN" altLang="en-US" b="0" dirty="0">
                <a:latin typeface="宋体" pitchFamily="2" charset="-122"/>
              </a:rPr>
              <a:t>转换成机器语言程序的功能</a:t>
            </a:r>
          </a:p>
        </p:txBody>
      </p:sp>
      <p:sp>
        <p:nvSpPr>
          <p:cNvPr id="1756167" name="Rectangle 7"/>
          <p:cNvSpPr>
            <a:spLocks noChangeArrowheads="1"/>
          </p:cNvSpPr>
          <p:nvPr/>
        </p:nvSpPr>
        <p:spPr bwMode="auto">
          <a:xfrm>
            <a:off x="2952079" y="3866619"/>
            <a:ext cx="2654300"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spcBef>
                <a:spcPct val="150000"/>
              </a:spcBef>
            </a:pPr>
            <a:r>
              <a:rPr lang="en-US" altLang="zh-CN" b="0" dirty="0"/>
              <a:t>100001   1000000111</a:t>
            </a:r>
          </a:p>
          <a:p>
            <a:pPr algn="ctr">
              <a:lnSpc>
                <a:spcPct val="130000"/>
              </a:lnSpc>
              <a:spcBef>
                <a:spcPct val="150000"/>
              </a:spcBef>
            </a:pPr>
            <a:r>
              <a:rPr lang="en-US" altLang="zh-CN" b="0" dirty="0"/>
              <a:t>MOV  R0, 7</a:t>
            </a:r>
          </a:p>
        </p:txBody>
      </p:sp>
      <p:sp>
        <p:nvSpPr>
          <p:cNvPr id="1756168" name="Line 8"/>
          <p:cNvSpPr>
            <a:spLocks noChangeShapeType="1"/>
          </p:cNvSpPr>
          <p:nvPr/>
        </p:nvSpPr>
        <p:spPr bwMode="auto">
          <a:xfrm>
            <a:off x="3102892" y="3898368"/>
            <a:ext cx="2692400" cy="0"/>
          </a:xfrm>
          <a:prstGeom prst="line">
            <a:avLst/>
          </a:prstGeom>
          <a:noFill/>
          <a:ln w="9525">
            <a:solidFill>
              <a:srgbClr val="CC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56169" name="Text Box 9"/>
          <p:cNvSpPr txBox="1">
            <a:spLocks noChangeArrowheads="1"/>
          </p:cNvSpPr>
          <p:nvPr/>
        </p:nvSpPr>
        <p:spPr bwMode="auto">
          <a:xfrm>
            <a:off x="3107654" y="3530068"/>
            <a:ext cx="2203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0">
                <a:solidFill>
                  <a:schemeClr val="accent2"/>
                </a:solidFill>
              </a:rPr>
              <a:t>操作码              地址码</a:t>
            </a:r>
          </a:p>
        </p:txBody>
      </p:sp>
      <p:sp>
        <p:nvSpPr>
          <p:cNvPr id="1756170" name="AutoShape 10"/>
          <p:cNvSpPr>
            <a:spLocks noChangeArrowheads="1"/>
          </p:cNvSpPr>
          <p:nvPr/>
        </p:nvSpPr>
        <p:spPr bwMode="auto">
          <a:xfrm>
            <a:off x="4136355" y="4333343"/>
            <a:ext cx="334963" cy="463550"/>
          </a:xfrm>
          <a:prstGeom prst="downArrow">
            <a:avLst>
              <a:gd name="adj1" fmla="val 50000"/>
              <a:gd name="adj2" fmla="val 34597"/>
            </a:avLst>
          </a:prstGeom>
          <a:solidFill>
            <a:schemeClr val="bg2"/>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7"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
        <p:nvSpPr>
          <p:cNvPr id="18" name="圆角矩形 17"/>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怎样解决机器语言编写程序所存在的困难</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符号化语言</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汇编语言</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9" name="Group 21"/>
          <p:cNvGrpSpPr/>
          <p:nvPr/>
        </p:nvGrpSpPr>
        <p:grpSpPr bwMode="auto">
          <a:xfrm>
            <a:off x="856590" y="4796893"/>
            <a:ext cx="1279525" cy="1173162"/>
            <a:chOff x="4298" y="601"/>
            <a:chExt cx="806" cy="739"/>
          </a:xfrm>
        </p:grpSpPr>
        <p:sp>
          <p:nvSpPr>
            <p:cNvPr id="22"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3"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4" name="Text Box 84"/>
            <p:cNvSpPr txBox="1">
              <a:spLocks noChangeArrowheads="1"/>
            </p:cNvSpPr>
            <p:nvPr/>
          </p:nvSpPr>
          <p:spPr bwMode="auto">
            <a:xfrm>
              <a:off x="4367" y="712"/>
              <a:ext cx="66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dirty="0">
                  <a:solidFill>
                    <a:srgbClr val="FFFFFF"/>
                  </a:solidFill>
                  <a:latin typeface="宋体" pitchFamily="2" charset="-122"/>
                  <a:ea typeface="华文中宋" panose="02010600040101010101" pitchFamily="2" charset="-122"/>
                </a:rPr>
                <a:t>汇编语言</a:t>
              </a:r>
            </a:p>
          </p:txBody>
        </p:sp>
      </p:grpSp>
      <p:sp>
        <p:nvSpPr>
          <p:cNvPr id="2" name="矩形 1"/>
          <p:cNvSpPr/>
          <p:nvPr/>
        </p:nvSpPr>
        <p:spPr>
          <a:xfrm>
            <a:off x="2157149" y="5244508"/>
            <a:ext cx="6083717" cy="400110"/>
          </a:xfrm>
          <a:prstGeom prst="rect">
            <a:avLst/>
          </a:prstGeom>
        </p:spPr>
        <p:txBody>
          <a:bodyPr wrap="none">
            <a:spAutoFit/>
          </a:bodyPr>
          <a:lstStyle/>
          <a:p>
            <a:r>
              <a:rPr lang="zh-CN" altLang="en-US" b="0" dirty="0">
                <a:solidFill>
                  <a:schemeClr val="accent2"/>
                </a:solidFill>
                <a:latin typeface="宋体" pitchFamily="2" charset="-122"/>
              </a:rPr>
              <a:t>用助记符号编写程序的语言，可与机器语言一一对应</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6164"/>
                                        </p:tgtEl>
                                        <p:attrNameLst>
                                          <p:attrName>style.visibility</p:attrName>
                                        </p:attrNameLst>
                                      </p:cBhvr>
                                      <p:to>
                                        <p:strVal val="visible"/>
                                      </p:to>
                                    </p:set>
                                    <p:anim calcmode="lin" valueType="num">
                                      <p:cBhvr additive="base">
                                        <p:cTn id="7" dur="500" fill="hold"/>
                                        <p:tgtEl>
                                          <p:spTgt spid="1756164"/>
                                        </p:tgtEl>
                                        <p:attrNameLst>
                                          <p:attrName>ppt_x</p:attrName>
                                        </p:attrNameLst>
                                      </p:cBhvr>
                                      <p:tavLst>
                                        <p:tav tm="0">
                                          <p:val>
                                            <p:strVal val="1+#ppt_w/2"/>
                                          </p:val>
                                        </p:tav>
                                        <p:tav tm="100000">
                                          <p:val>
                                            <p:strVal val="#ppt_x"/>
                                          </p:val>
                                        </p:tav>
                                      </p:tavLst>
                                    </p:anim>
                                    <p:anim calcmode="lin" valueType="num">
                                      <p:cBhvr additive="base">
                                        <p:cTn id="8" dur="500" fill="hold"/>
                                        <p:tgtEl>
                                          <p:spTgt spid="175616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56166"/>
                                        </p:tgtEl>
                                        <p:attrNameLst>
                                          <p:attrName>style.visibility</p:attrName>
                                        </p:attrNameLst>
                                      </p:cBhvr>
                                      <p:to>
                                        <p:strVal val="visible"/>
                                      </p:to>
                                    </p:set>
                                    <p:anim calcmode="lin" valueType="num">
                                      <p:cBhvr additive="base">
                                        <p:cTn id="11" dur="500" fill="hold"/>
                                        <p:tgtEl>
                                          <p:spTgt spid="1756166"/>
                                        </p:tgtEl>
                                        <p:attrNameLst>
                                          <p:attrName>ppt_x</p:attrName>
                                        </p:attrNameLst>
                                      </p:cBhvr>
                                      <p:tavLst>
                                        <p:tav tm="0">
                                          <p:val>
                                            <p:strVal val="1+#ppt_w/2"/>
                                          </p:val>
                                        </p:tav>
                                        <p:tav tm="100000">
                                          <p:val>
                                            <p:strVal val="#ppt_x"/>
                                          </p:val>
                                        </p:tav>
                                      </p:tavLst>
                                    </p:anim>
                                    <p:anim calcmode="lin" valueType="num">
                                      <p:cBhvr additive="base">
                                        <p:cTn id="12" dur="500" fill="hold"/>
                                        <p:tgtEl>
                                          <p:spTgt spid="175616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56169"/>
                                        </p:tgtEl>
                                        <p:attrNameLst>
                                          <p:attrName>style.visibility</p:attrName>
                                        </p:attrNameLst>
                                      </p:cBhvr>
                                      <p:to>
                                        <p:strVal val="visible"/>
                                      </p:to>
                                    </p:set>
                                    <p:anim calcmode="lin" valueType="num">
                                      <p:cBhvr additive="base">
                                        <p:cTn id="17" dur="500" fill="hold"/>
                                        <p:tgtEl>
                                          <p:spTgt spid="1756169"/>
                                        </p:tgtEl>
                                        <p:attrNameLst>
                                          <p:attrName>ppt_x</p:attrName>
                                        </p:attrNameLst>
                                      </p:cBhvr>
                                      <p:tavLst>
                                        <p:tav tm="0">
                                          <p:val>
                                            <p:strVal val="#ppt_x"/>
                                          </p:val>
                                        </p:tav>
                                        <p:tav tm="100000">
                                          <p:val>
                                            <p:strVal val="#ppt_x"/>
                                          </p:val>
                                        </p:tav>
                                      </p:tavLst>
                                    </p:anim>
                                    <p:anim calcmode="lin" valueType="num">
                                      <p:cBhvr additive="base">
                                        <p:cTn id="18" dur="500" fill="hold"/>
                                        <p:tgtEl>
                                          <p:spTgt spid="175616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56168"/>
                                        </p:tgtEl>
                                        <p:attrNameLst>
                                          <p:attrName>style.visibility</p:attrName>
                                        </p:attrNameLst>
                                      </p:cBhvr>
                                      <p:to>
                                        <p:strVal val="visible"/>
                                      </p:to>
                                    </p:set>
                                    <p:anim calcmode="lin" valueType="num">
                                      <p:cBhvr additive="base">
                                        <p:cTn id="21" dur="500" fill="hold"/>
                                        <p:tgtEl>
                                          <p:spTgt spid="1756168"/>
                                        </p:tgtEl>
                                        <p:attrNameLst>
                                          <p:attrName>ppt_x</p:attrName>
                                        </p:attrNameLst>
                                      </p:cBhvr>
                                      <p:tavLst>
                                        <p:tav tm="0">
                                          <p:val>
                                            <p:strVal val="#ppt_x"/>
                                          </p:val>
                                        </p:tav>
                                        <p:tav tm="100000">
                                          <p:val>
                                            <p:strVal val="#ppt_x"/>
                                          </p:val>
                                        </p:tav>
                                      </p:tavLst>
                                    </p:anim>
                                    <p:anim calcmode="lin" valueType="num">
                                      <p:cBhvr additive="base">
                                        <p:cTn id="22" dur="500" fill="hold"/>
                                        <p:tgtEl>
                                          <p:spTgt spid="175616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56167">
                                            <p:txEl>
                                              <p:pRg st="0" end="0"/>
                                            </p:txEl>
                                          </p:spTgt>
                                        </p:tgtEl>
                                        <p:attrNameLst>
                                          <p:attrName>style.visibility</p:attrName>
                                        </p:attrNameLst>
                                      </p:cBhvr>
                                      <p:to>
                                        <p:strVal val="visible"/>
                                      </p:to>
                                    </p:set>
                                    <p:anim calcmode="lin" valueType="num">
                                      <p:cBhvr additive="base">
                                        <p:cTn id="27" dur="500" fill="hold"/>
                                        <p:tgtEl>
                                          <p:spTgt spid="1756167">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61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56170"/>
                                        </p:tgtEl>
                                        <p:attrNameLst>
                                          <p:attrName>style.visibility</p:attrName>
                                        </p:attrNameLst>
                                      </p:cBhvr>
                                      <p:to>
                                        <p:strVal val="visible"/>
                                      </p:to>
                                    </p:set>
                                    <p:anim calcmode="lin" valueType="num">
                                      <p:cBhvr additive="base">
                                        <p:cTn id="33" dur="500" fill="hold"/>
                                        <p:tgtEl>
                                          <p:spTgt spid="1756170"/>
                                        </p:tgtEl>
                                        <p:attrNameLst>
                                          <p:attrName>ppt_x</p:attrName>
                                        </p:attrNameLst>
                                      </p:cBhvr>
                                      <p:tavLst>
                                        <p:tav tm="0">
                                          <p:val>
                                            <p:strVal val="#ppt_x"/>
                                          </p:val>
                                        </p:tav>
                                        <p:tav tm="100000">
                                          <p:val>
                                            <p:strVal val="#ppt_x"/>
                                          </p:val>
                                        </p:tav>
                                      </p:tavLst>
                                    </p:anim>
                                    <p:anim calcmode="lin" valueType="num">
                                      <p:cBhvr additive="base">
                                        <p:cTn id="34" dur="500" fill="hold"/>
                                        <p:tgtEl>
                                          <p:spTgt spid="175617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56167">
                                            <p:txEl>
                                              <p:pRg st="1" end="1"/>
                                            </p:txEl>
                                          </p:spTgt>
                                        </p:tgtEl>
                                        <p:attrNameLst>
                                          <p:attrName>style.visibility</p:attrName>
                                        </p:attrNameLst>
                                      </p:cBhvr>
                                      <p:to>
                                        <p:strVal val="visible"/>
                                      </p:to>
                                    </p:set>
                                    <p:anim calcmode="lin" valueType="num">
                                      <p:cBhvr additive="base">
                                        <p:cTn id="37" dur="500" fill="hold"/>
                                        <p:tgtEl>
                                          <p:spTgt spid="1756167">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561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75616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7561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6162" grpId="0" autoUpdateAnimBg="0"/>
      <p:bldP spid="1756164" grpId="0" autoUpdateAnimBg="0"/>
      <p:bldP spid="1756165" grpId="0" animBg="1" autoUpdateAnimBg="0"/>
      <p:bldP spid="1756166" grpId="0" autoUpdateAnimBg="0"/>
      <p:bldP spid="1756169"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7259" name="Picture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0232" y="4501357"/>
            <a:ext cx="1081088" cy="1295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57260" name="Picture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257" y="4693445"/>
            <a:ext cx="1054100" cy="1292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57261" name="Text Box 77"/>
          <p:cNvSpPr txBox="1">
            <a:spLocks noChangeArrowheads="1"/>
          </p:cNvSpPr>
          <p:nvPr/>
        </p:nvSpPr>
        <p:spPr bwMode="auto">
          <a:xfrm>
            <a:off x="4358482" y="4654542"/>
            <a:ext cx="1228157"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dirty="0">
                <a:solidFill>
                  <a:srgbClr val="000000"/>
                </a:solidFill>
                <a:latin typeface="Times New Roman" panose="02020503050405090304" pitchFamily="18" charset="0"/>
              </a:rPr>
              <a:t>MOV  R0,  7</a:t>
            </a:r>
          </a:p>
          <a:p>
            <a:r>
              <a:rPr lang="en-US" altLang="zh-CN" sz="1400" dirty="0">
                <a:solidFill>
                  <a:srgbClr val="000000"/>
                </a:solidFill>
                <a:latin typeface="Times New Roman" panose="02020503050405090304" pitchFamily="18" charset="0"/>
              </a:rPr>
              <a:t>ADD R0,  10</a:t>
            </a:r>
          </a:p>
          <a:p>
            <a:r>
              <a:rPr lang="en-US" altLang="zh-CN" sz="1400" dirty="0">
                <a:solidFill>
                  <a:srgbClr val="000000"/>
                </a:solidFill>
                <a:latin typeface="Times New Roman" panose="02020503050405090304" pitchFamily="18" charset="0"/>
              </a:rPr>
              <a:t>MOV  (6), R0</a:t>
            </a:r>
          </a:p>
          <a:p>
            <a:r>
              <a:rPr lang="en-US" altLang="zh-CN" sz="1400" dirty="0">
                <a:solidFill>
                  <a:srgbClr val="000000"/>
                </a:solidFill>
                <a:latin typeface="Times New Roman" panose="02020503050405090304" pitchFamily="18" charset="0"/>
              </a:rPr>
              <a:t>HLT</a:t>
            </a:r>
          </a:p>
        </p:txBody>
      </p:sp>
      <p:sp>
        <p:nvSpPr>
          <p:cNvPr id="1757262" name="Freeform 78"/>
          <p:cNvSpPr/>
          <p:nvPr/>
        </p:nvSpPr>
        <p:spPr bwMode="auto">
          <a:xfrm rot="1380000">
            <a:off x="5390358" y="2410590"/>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57263" name="Oval 79"/>
          <p:cNvSpPr>
            <a:spLocks noChangeArrowheads="1"/>
          </p:cNvSpPr>
          <p:nvPr/>
        </p:nvSpPr>
        <p:spPr bwMode="auto">
          <a:xfrm>
            <a:off x="6112837" y="3336519"/>
            <a:ext cx="985505" cy="908864"/>
          </a:xfrm>
          <a:prstGeom prst="ellipse">
            <a:avLst/>
          </a:prstGeom>
          <a:solidFill>
            <a:schemeClr val="tx1"/>
          </a:solidFill>
          <a:ln w="9525">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dirty="0">
                <a:solidFill>
                  <a:schemeClr val="bg1"/>
                </a:solidFill>
                <a:latin typeface="Times New Roman" panose="02020503050405090304" pitchFamily="18" charset="0"/>
                <a:ea typeface="楷体_GB2312" pitchFamily="49" charset="-122"/>
              </a:rPr>
              <a:t>汇编</a:t>
            </a:r>
          </a:p>
          <a:p>
            <a:pPr algn="ctr">
              <a:lnSpc>
                <a:spcPct val="90000"/>
              </a:lnSpc>
            </a:pPr>
            <a:r>
              <a:rPr lang="zh-CN" altLang="en-US" dirty="0">
                <a:solidFill>
                  <a:schemeClr val="bg1"/>
                </a:solidFill>
                <a:latin typeface="Times New Roman" panose="02020503050405090304" pitchFamily="18" charset="0"/>
                <a:ea typeface="楷体_GB2312" pitchFamily="49" charset="-122"/>
              </a:rPr>
              <a:t>程序</a:t>
            </a:r>
          </a:p>
        </p:txBody>
      </p:sp>
      <p:sp>
        <p:nvSpPr>
          <p:cNvPr id="1757264" name="AutoShape 80"/>
          <p:cNvSpPr>
            <a:spLocks noChangeArrowheads="1"/>
          </p:cNvSpPr>
          <p:nvPr/>
        </p:nvSpPr>
        <p:spPr bwMode="auto">
          <a:xfrm>
            <a:off x="4407696" y="2342043"/>
            <a:ext cx="923925" cy="545140"/>
          </a:xfrm>
          <a:prstGeom prst="foldedCorner">
            <a:avLst>
              <a:gd name="adj" fmla="val 125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pPr>
            <a:r>
              <a:rPr lang="zh-CN" altLang="en-US" sz="1400" b="0">
                <a:solidFill>
                  <a:srgbClr val="000000"/>
                </a:solidFill>
                <a:latin typeface="Times New Roman" panose="02020503050405090304" pitchFamily="18" charset="0"/>
                <a:ea typeface="楷体_GB2312" pitchFamily="49" charset="-122"/>
              </a:rPr>
              <a:t>汇编语言源程序</a:t>
            </a:r>
          </a:p>
        </p:txBody>
      </p:sp>
      <p:sp>
        <p:nvSpPr>
          <p:cNvPr id="1757265" name="Text Box 81"/>
          <p:cNvSpPr txBox="1">
            <a:spLocks noChangeArrowheads="1"/>
          </p:cNvSpPr>
          <p:nvPr/>
        </p:nvSpPr>
        <p:spPr bwMode="auto">
          <a:xfrm>
            <a:off x="4472782" y="2863058"/>
            <a:ext cx="79375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200" b="0">
                <a:solidFill>
                  <a:srgbClr val="000000"/>
                </a:solidFill>
                <a:latin typeface="Times New Roman" panose="02020503050405090304" pitchFamily="18" charset="0"/>
                <a:ea typeface="楷体_GB2312" pitchFamily="49" charset="-122"/>
              </a:rPr>
              <a:t>助记符号</a:t>
            </a:r>
          </a:p>
        </p:txBody>
      </p:sp>
      <p:sp>
        <p:nvSpPr>
          <p:cNvPr id="1757266" name="AutoShape 82"/>
          <p:cNvSpPr>
            <a:spLocks noChangeArrowheads="1"/>
          </p:cNvSpPr>
          <p:nvPr/>
        </p:nvSpPr>
        <p:spPr bwMode="auto">
          <a:xfrm>
            <a:off x="7814783" y="2326168"/>
            <a:ext cx="723275" cy="545140"/>
          </a:xfrm>
          <a:prstGeom prst="foldedCorner">
            <a:avLst>
              <a:gd name="adj" fmla="val 125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a:solidFill>
                  <a:srgbClr val="FF0000"/>
                </a:solidFill>
                <a:latin typeface="Times New Roman" panose="02020503050405090304" pitchFamily="18" charset="0"/>
                <a:ea typeface="楷体_GB2312" pitchFamily="49" charset="-122"/>
              </a:rPr>
              <a:t>机器语</a:t>
            </a:r>
          </a:p>
          <a:p>
            <a:pPr algn="ctr">
              <a:lnSpc>
                <a:spcPct val="90000"/>
              </a:lnSpc>
            </a:pPr>
            <a:r>
              <a:rPr lang="zh-CN" altLang="en-US" sz="1400">
                <a:solidFill>
                  <a:srgbClr val="FF0000"/>
                </a:solidFill>
                <a:latin typeface="Times New Roman" panose="02020503050405090304" pitchFamily="18" charset="0"/>
                <a:ea typeface="楷体_GB2312" pitchFamily="49" charset="-122"/>
              </a:rPr>
              <a:t>言程序</a:t>
            </a:r>
          </a:p>
        </p:txBody>
      </p:sp>
      <p:sp>
        <p:nvSpPr>
          <p:cNvPr id="1757267" name="Text Box 83"/>
          <p:cNvSpPr txBox="1">
            <a:spLocks noChangeArrowheads="1"/>
          </p:cNvSpPr>
          <p:nvPr/>
        </p:nvSpPr>
        <p:spPr bwMode="auto">
          <a:xfrm>
            <a:off x="7635082" y="2872583"/>
            <a:ext cx="109855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200" b="0" dirty="0">
                <a:solidFill>
                  <a:srgbClr val="000000"/>
                </a:solidFill>
                <a:latin typeface="Times New Roman" panose="02020503050405090304" pitchFamily="18" charset="0"/>
                <a:ea typeface="楷体_GB2312" pitchFamily="49" charset="-122"/>
              </a:rPr>
              <a:t>二进制和编码</a:t>
            </a:r>
          </a:p>
        </p:txBody>
      </p:sp>
      <p:sp>
        <p:nvSpPr>
          <p:cNvPr id="1757268" name="Text Box 84"/>
          <p:cNvSpPr txBox="1">
            <a:spLocks noChangeArrowheads="1"/>
          </p:cNvSpPr>
          <p:nvPr/>
        </p:nvSpPr>
        <p:spPr bwMode="auto">
          <a:xfrm>
            <a:off x="7742478" y="4586963"/>
            <a:ext cx="902811" cy="160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1400">
                <a:solidFill>
                  <a:srgbClr val="FF0000"/>
                </a:solidFill>
                <a:latin typeface="Times New Roman" panose="02020503050405090304" pitchFamily="18" charset="0"/>
              </a:rPr>
              <a:t>10000110</a:t>
            </a:r>
          </a:p>
          <a:p>
            <a:pPr algn="ctr"/>
            <a:r>
              <a:rPr lang="en-US" altLang="zh-CN" sz="1400">
                <a:solidFill>
                  <a:srgbClr val="FF0000"/>
                </a:solidFill>
                <a:latin typeface="Times New Roman" panose="02020503050405090304" pitchFamily="18" charset="0"/>
              </a:rPr>
              <a:t>00000111</a:t>
            </a:r>
          </a:p>
          <a:p>
            <a:pPr algn="ctr"/>
            <a:r>
              <a:rPr lang="en-US" altLang="zh-CN" sz="1400">
                <a:solidFill>
                  <a:srgbClr val="FF0000"/>
                </a:solidFill>
                <a:latin typeface="Times New Roman" panose="02020503050405090304" pitchFamily="18" charset="0"/>
              </a:rPr>
              <a:t>10001011</a:t>
            </a:r>
          </a:p>
          <a:p>
            <a:pPr algn="ctr"/>
            <a:r>
              <a:rPr lang="en-US" altLang="zh-CN" sz="1400">
                <a:solidFill>
                  <a:srgbClr val="FF0000"/>
                </a:solidFill>
                <a:latin typeface="Times New Roman" panose="02020503050405090304" pitchFamily="18" charset="0"/>
              </a:rPr>
              <a:t>00001010</a:t>
            </a:r>
          </a:p>
          <a:p>
            <a:pPr algn="ctr"/>
            <a:r>
              <a:rPr lang="en-US" altLang="zh-CN" sz="1400">
                <a:solidFill>
                  <a:srgbClr val="FF0000"/>
                </a:solidFill>
                <a:latin typeface="Times New Roman" panose="02020503050405090304" pitchFamily="18" charset="0"/>
              </a:rPr>
              <a:t>10010111</a:t>
            </a:r>
          </a:p>
          <a:p>
            <a:pPr algn="ctr"/>
            <a:r>
              <a:rPr lang="en-US" altLang="zh-CN" sz="1400">
                <a:solidFill>
                  <a:srgbClr val="FF0000"/>
                </a:solidFill>
                <a:latin typeface="Times New Roman" panose="02020503050405090304" pitchFamily="18" charset="0"/>
              </a:rPr>
              <a:t>00000110</a:t>
            </a:r>
          </a:p>
          <a:p>
            <a:pPr algn="ctr"/>
            <a:r>
              <a:rPr lang="en-US" altLang="zh-CN" sz="1400">
                <a:solidFill>
                  <a:srgbClr val="FF0000"/>
                </a:solidFill>
                <a:latin typeface="Times New Roman" panose="02020503050405090304" pitchFamily="18" charset="0"/>
              </a:rPr>
              <a:t>11110100</a:t>
            </a:r>
            <a:endParaRPr lang="en-US" altLang="zh-CN" sz="1400">
              <a:solidFill>
                <a:srgbClr val="FF0000"/>
              </a:solidFill>
              <a:latin typeface="Times New Roman" panose="02020503050405090304" pitchFamily="18" charset="0"/>
              <a:ea typeface="隶书" panose="02010509060101010101" pitchFamily="49" charset="-122"/>
            </a:endParaRPr>
          </a:p>
        </p:txBody>
      </p:sp>
      <p:sp>
        <p:nvSpPr>
          <p:cNvPr id="1757269" name="Line 85"/>
          <p:cNvSpPr>
            <a:spLocks noChangeShapeType="1"/>
          </p:cNvSpPr>
          <p:nvPr/>
        </p:nvSpPr>
        <p:spPr bwMode="auto">
          <a:xfrm>
            <a:off x="5790407" y="5072857"/>
            <a:ext cx="1771650" cy="0"/>
          </a:xfrm>
          <a:prstGeom prst="line">
            <a:avLst/>
          </a:prstGeom>
          <a:noFill/>
          <a:ln w="76200" cmpd="tri">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57270" name="Text Box 86"/>
          <p:cNvSpPr txBox="1">
            <a:spLocks noChangeArrowheads="1"/>
          </p:cNvSpPr>
          <p:nvPr/>
        </p:nvSpPr>
        <p:spPr bwMode="auto">
          <a:xfrm>
            <a:off x="6087270" y="5061744"/>
            <a:ext cx="1082348" cy="52322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rgbClr val="000000"/>
                </a:solidFill>
              </a:rPr>
              <a:t>由汇编程序</a:t>
            </a:r>
          </a:p>
          <a:p>
            <a:r>
              <a:rPr lang="zh-CN" altLang="en-US" sz="1400" b="0">
                <a:solidFill>
                  <a:srgbClr val="000000"/>
                </a:solidFill>
              </a:rPr>
              <a:t>自动转换</a:t>
            </a:r>
          </a:p>
        </p:txBody>
      </p:sp>
      <p:sp>
        <p:nvSpPr>
          <p:cNvPr id="1757271" name="Text Box 87"/>
          <p:cNvSpPr txBox="1">
            <a:spLocks noChangeArrowheads="1"/>
          </p:cNvSpPr>
          <p:nvPr/>
        </p:nvSpPr>
        <p:spPr bwMode="auto">
          <a:xfrm>
            <a:off x="6326983" y="2466183"/>
            <a:ext cx="549275" cy="314325"/>
          </a:xfrm>
          <a:prstGeom prst="rect">
            <a:avLst/>
          </a:prstGeom>
          <a:solidFill>
            <a:srgbClr val="C0C0C0"/>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dirty="0">
                <a:solidFill>
                  <a:srgbClr val="000000"/>
                </a:solidFill>
              </a:rPr>
              <a:t>转换</a:t>
            </a:r>
          </a:p>
        </p:txBody>
      </p:sp>
      <p:sp>
        <p:nvSpPr>
          <p:cNvPr id="1757272" name="Freeform 88"/>
          <p:cNvSpPr/>
          <p:nvPr/>
        </p:nvSpPr>
        <p:spPr bwMode="auto">
          <a:xfrm rot="1380000">
            <a:off x="6939758" y="2407415"/>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757273" name="Line 89"/>
          <p:cNvSpPr>
            <a:spLocks noChangeShapeType="1"/>
          </p:cNvSpPr>
          <p:nvPr/>
        </p:nvSpPr>
        <p:spPr bwMode="auto">
          <a:xfrm flipV="1">
            <a:off x="6611145" y="2790032"/>
            <a:ext cx="0" cy="685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74" name="Text Box 90"/>
          <p:cNvSpPr txBox="1">
            <a:spLocks noChangeArrowheads="1"/>
          </p:cNvSpPr>
          <p:nvPr/>
        </p:nvSpPr>
        <p:spPr bwMode="auto">
          <a:xfrm>
            <a:off x="6547646" y="2817019"/>
            <a:ext cx="327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0" lang="zh-CN" altLang="en-US" sz="1200">
                <a:solidFill>
                  <a:srgbClr val="000000"/>
                </a:solidFill>
              </a:rPr>
              <a:t>执行</a:t>
            </a:r>
          </a:p>
        </p:txBody>
      </p:sp>
      <p:sp>
        <p:nvSpPr>
          <p:cNvPr id="1757275" name="Line 91"/>
          <p:cNvSpPr>
            <a:spLocks noChangeShapeType="1"/>
          </p:cNvSpPr>
          <p:nvPr/>
        </p:nvSpPr>
        <p:spPr bwMode="auto">
          <a:xfrm>
            <a:off x="5696746" y="3804444"/>
            <a:ext cx="581025"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76" name="Rectangle 92"/>
          <p:cNvSpPr>
            <a:spLocks noChangeArrowheads="1"/>
          </p:cNvSpPr>
          <p:nvPr/>
        </p:nvSpPr>
        <p:spPr bwMode="auto">
          <a:xfrm>
            <a:off x="2640807" y="2362994"/>
            <a:ext cx="5397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a:solidFill>
                  <a:srgbClr val="3333CC"/>
                </a:solidFill>
                <a:latin typeface="Times New Roman" panose="02020503050405090304" pitchFamily="18" charset="0"/>
                <a:ea typeface="楷体_GB2312" pitchFamily="49" charset="-122"/>
              </a:rPr>
              <a:t>汇编</a:t>
            </a:r>
          </a:p>
          <a:p>
            <a:pPr algn="ctr">
              <a:lnSpc>
                <a:spcPct val="90000"/>
              </a:lnSpc>
            </a:pPr>
            <a:r>
              <a:rPr lang="zh-CN" altLang="en-US" sz="1400">
                <a:solidFill>
                  <a:srgbClr val="3333CC"/>
                </a:solidFill>
                <a:latin typeface="Times New Roman" panose="02020503050405090304" pitchFamily="18" charset="0"/>
                <a:ea typeface="楷体_GB2312" pitchFamily="49" charset="-122"/>
              </a:rPr>
              <a:t>语言</a:t>
            </a:r>
          </a:p>
        </p:txBody>
      </p:sp>
      <p:sp>
        <p:nvSpPr>
          <p:cNvPr id="1757277" name="AutoShape 93"/>
          <p:cNvSpPr>
            <a:spLocks noChangeArrowheads="1"/>
          </p:cNvSpPr>
          <p:nvPr/>
        </p:nvSpPr>
        <p:spPr bwMode="auto">
          <a:xfrm>
            <a:off x="3993325" y="3361533"/>
            <a:ext cx="1873284" cy="885825"/>
          </a:xfrm>
          <a:prstGeom prst="can">
            <a:avLst>
              <a:gd name="adj" fmla="val 13264"/>
            </a:avLst>
          </a:prstGeom>
          <a:solidFill>
            <a:schemeClr val="tx1"/>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78" name="Text Box 94"/>
          <p:cNvSpPr txBox="1">
            <a:spLocks noChangeArrowheads="1"/>
          </p:cNvSpPr>
          <p:nvPr/>
        </p:nvSpPr>
        <p:spPr bwMode="auto">
          <a:xfrm>
            <a:off x="3907633" y="3488532"/>
            <a:ext cx="20161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a:solidFill>
                  <a:schemeClr val="bg1"/>
                </a:solidFill>
              </a:rPr>
              <a:t>转换规则</a:t>
            </a:r>
          </a:p>
          <a:p>
            <a:pPr algn="ctr"/>
            <a:r>
              <a:rPr kumimoji="0" lang="en-US" altLang="zh-CN" sz="1400">
                <a:solidFill>
                  <a:schemeClr val="bg1"/>
                </a:solidFill>
              </a:rPr>
              <a:t>{</a:t>
            </a:r>
            <a:r>
              <a:rPr kumimoji="0" lang="en-US" altLang="zh-CN" sz="1000" b="0">
                <a:solidFill>
                  <a:schemeClr val="bg1"/>
                </a:solidFill>
              </a:rPr>
              <a:t> </a:t>
            </a:r>
            <a:r>
              <a:rPr kumimoji="0" lang="zh-CN" altLang="en-US" sz="1600">
                <a:solidFill>
                  <a:schemeClr val="bg1"/>
                </a:solidFill>
              </a:rPr>
              <a:t>助记符号</a:t>
            </a:r>
            <a:r>
              <a:rPr kumimoji="0" lang="zh-CN" altLang="en-US" sz="1000" b="0">
                <a:solidFill>
                  <a:schemeClr val="bg1"/>
                </a:solidFill>
              </a:rPr>
              <a:t>，</a:t>
            </a:r>
            <a:r>
              <a:rPr kumimoji="0" lang="zh-CN" altLang="en-US" sz="1400">
                <a:solidFill>
                  <a:srgbClr val="FFFF00"/>
                </a:solidFill>
              </a:rPr>
              <a:t>机器指令</a:t>
            </a:r>
            <a:r>
              <a:rPr kumimoji="0" lang="en-US" altLang="zh-CN" sz="1400">
                <a:solidFill>
                  <a:schemeClr val="bg1"/>
                </a:solidFill>
              </a:rPr>
              <a:t>}</a:t>
            </a:r>
          </a:p>
        </p:txBody>
      </p:sp>
      <p:sp>
        <p:nvSpPr>
          <p:cNvPr id="1757279" name="Rectangle 95"/>
          <p:cNvSpPr>
            <a:spLocks noChangeArrowheads="1"/>
          </p:cNvSpPr>
          <p:nvPr/>
        </p:nvSpPr>
        <p:spPr bwMode="auto">
          <a:xfrm>
            <a:off x="2188371" y="2847182"/>
            <a:ext cx="1514475" cy="1107996"/>
          </a:xfrm>
          <a:prstGeom prst="rect">
            <a:avLst/>
          </a:prstGeom>
          <a:solidFill>
            <a:srgbClr val="EAEA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200" b="0">
                <a:solidFill>
                  <a:srgbClr val="000000"/>
                </a:solidFill>
              </a:rPr>
              <a:t>用助记符号书写程序的规范、语法规则、标准的集合</a:t>
            </a:r>
          </a:p>
          <a:p>
            <a:pPr>
              <a:spcBef>
                <a:spcPct val="50000"/>
              </a:spcBef>
            </a:pPr>
            <a:r>
              <a:rPr kumimoji="0" lang="zh-CN" altLang="en-US" sz="1200" b="0">
                <a:solidFill>
                  <a:srgbClr val="000000"/>
                </a:solidFill>
              </a:rPr>
              <a:t>是人和计算机都能理解的语言</a:t>
            </a:r>
          </a:p>
        </p:txBody>
      </p:sp>
      <p:sp>
        <p:nvSpPr>
          <p:cNvPr id="1757280" name="Rectangle 96"/>
          <p:cNvSpPr>
            <a:spLocks noChangeArrowheads="1"/>
          </p:cNvSpPr>
          <p:nvPr/>
        </p:nvSpPr>
        <p:spPr bwMode="auto">
          <a:xfrm>
            <a:off x="8920957" y="2890044"/>
            <a:ext cx="1316038" cy="914400"/>
          </a:xfrm>
          <a:prstGeom prst="rect">
            <a:avLst/>
          </a:prstGeom>
          <a:solidFill>
            <a:srgbClr val="EAEA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200" b="0">
                <a:solidFill>
                  <a:srgbClr val="000000"/>
                </a:solidFill>
              </a:rPr>
              <a:t>机器指令的集合</a:t>
            </a:r>
          </a:p>
          <a:p>
            <a:pPr>
              <a:spcBef>
                <a:spcPct val="50000"/>
              </a:spcBef>
            </a:pPr>
            <a:r>
              <a:rPr kumimoji="0" lang="zh-CN" altLang="en-US" sz="1200" b="0">
                <a:solidFill>
                  <a:srgbClr val="000000"/>
                </a:solidFill>
              </a:rPr>
              <a:t>是计算机能够理解并执行，但人理解困难的语言</a:t>
            </a:r>
          </a:p>
        </p:txBody>
      </p:sp>
      <p:sp>
        <p:nvSpPr>
          <p:cNvPr id="1757281" name="Rectangle 97"/>
          <p:cNvSpPr>
            <a:spLocks noChangeArrowheads="1"/>
          </p:cNvSpPr>
          <p:nvPr/>
        </p:nvSpPr>
        <p:spPr bwMode="auto">
          <a:xfrm>
            <a:off x="9249570" y="2405857"/>
            <a:ext cx="5397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a:solidFill>
                  <a:srgbClr val="3333CC"/>
                </a:solidFill>
                <a:latin typeface="Times New Roman" panose="02020503050405090304" pitchFamily="18" charset="0"/>
                <a:ea typeface="楷体_GB2312" pitchFamily="49" charset="-122"/>
              </a:rPr>
              <a:t>机器</a:t>
            </a:r>
          </a:p>
          <a:p>
            <a:pPr algn="ctr">
              <a:lnSpc>
                <a:spcPct val="90000"/>
              </a:lnSpc>
            </a:pPr>
            <a:r>
              <a:rPr lang="zh-CN" altLang="en-US" sz="1400">
                <a:solidFill>
                  <a:srgbClr val="3333CC"/>
                </a:solidFill>
                <a:latin typeface="Times New Roman" panose="02020503050405090304" pitchFamily="18" charset="0"/>
                <a:ea typeface="楷体_GB2312" pitchFamily="49" charset="-122"/>
              </a:rPr>
              <a:t>语言</a:t>
            </a:r>
          </a:p>
        </p:txBody>
      </p:sp>
      <p:sp>
        <p:nvSpPr>
          <p:cNvPr id="1757282" name="Text Box 98"/>
          <p:cNvSpPr txBox="1">
            <a:spLocks noChangeArrowheads="1"/>
          </p:cNvSpPr>
          <p:nvPr/>
        </p:nvSpPr>
        <p:spPr bwMode="auto">
          <a:xfrm>
            <a:off x="2982121" y="4926808"/>
            <a:ext cx="549275" cy="314325"/>
          </a:xfrm>
          <a:prstGeom prst="rect">
            <a:avLst/>
          </a:prstGeom>
          <a:solidFill>
            <a:srgbClr val="EAEAEA"/>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solidFill>
                  <a:srgbClr val="000000"/>
                </a:solidFill>
              </a:rPr>
              <a:t>编制</a:t>
            </a:r>
          </a:p>
        </p:txBody>
      </p:sp>
      <p:sp>
        <p:nvSpPr>
          <p:cNvPr id="1757283" name="Line 99"/>
          <p:cNvSpPr>
            <a:spLocks noChangeShapeType="1"/>
          </p:cNvSpPr>
          <p:nvPr/>
        </p:nvSpPr>
        <p:spPr bwMode="auto">
          <a:xfrm>
            <a:off x="3518695" y="5098257"/>
            <a:ext cx="85725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84" name="Rectangle 100"/>
          <p:cNvSpPr>
            <a:spLocks noChangeArrowheads="1"/>
          </p:cNvSpPr>
          <p:nvPr/>
        </p:nvSpPr>
        <p:spPr bwMode="auto">
          <a:xfrm>
            <a:off x="3890171" y="3272632"/>
            <a:ext cx="3268661" cy="1047750"/>
          </a:xfrm>
          <a:prstGeom prst="rect">
            <a:avLst/>
          </a:prstGeom>
          <a:noFill/>
          <a:ln w="28575" algn="ctr">
            <a:solidFill>
              <a:srgbClr val="FF0000"/>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85" name="Rectangle 101"/>
          <p:cNvSpPr>
            <a:spLocks noChangeArrowheads="1"/>
          </p:cNvSpPr>
          <p:nvPr/>
        </p:nvSpPr>
        <p:spPr bwMode="auto">
          <a:xfrm>
            <a:off x="4299746" y="5655470"/>
            <a:ext cx="1184275" cy="646331"/>
          </a:xfrm>
          <a:prstGeom prst="rect">
            <a:avLst/>
          </a:prstGeom>
          <a:solidFill>
            <a:srgbClr val="EAEA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200" b="0">
                <a:solidFill>
                  <a:srgbClr val="000000"/>
                </a:solidFill>
              </a:rPr>
              <a:t>完成</a:t>
            </a:r>
            <a:r>
              <a:rPr kumimoji="0" lang="en-US" altLang="zh-CN" sz="1200" b="0">
                <a:solidFill>
                  <a:srgbClr val="000000"/>
                </a:solidFill>
              </a:rPr>
              <a:t>7+10</a:t>
            </a:r>
            <a:r>
              <a:rPr kumimoji="0" lang="zh-CN" altLang="en-US" sz="1200" b="0">
                <a:solidFill>
                  <a:srgbClr val="000000"/>
                </a:solidFill>
              </a:rPr>
              <a:t>并存储的汇编语言程序</a:t>
            </a:r>
          </a:p>
        </p:txBody>
      </p:sp>
      <p:sp>
        <p:nvSpPr>
          <p:cNvPr id="1757286" name="Rectangle 102"/>
          <p:cNvSpPr>
            <a:spLocks noChangeArrowheads="1"/>
          </p:cNvSpPr>
          <p:nvPr/>
        </p:nvSpPr>
        <p:spPr bwMode="auto">
          <a:xfrm>
            <a:off x="8624096" y="5655470"/>
            <a:ext cx="1184275" cy="646331"/>
          </a:xfrm>
          <a:prstGeom prst="rect">
            <a:avLst/>
          </a:prstGeom>
          <a:solidFill>
            <a:srgbClr val="EAEA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200" b="0">
                <a:solidFill>
                  <a:srgbClr val="000000"/>
                </a:solidFill>
              </a:rPr>
              <a:t>完成</a:t>
            </a:r>
            <a:r>
              <a:rPr kumimoji="0" lang="en-US" altLang="zh-CN" sz="1200" b="0">
                <a:solidFill>
                  <a:srgbClr val="000000"/>
                </a:solidFill>
              </a:rPr>
              <a:t>7+10</a:t>
            </a:r>
            <a:r>
              <a:rPr kumimoji="0" lang="zh-CN" altLang="en-US" sz="1200" b="0">
                <a:solidFill>
                  <a:srgbClr val="000000"/>
                </a:solidFill>
              </a:rPr>
              <a:t>并存储的机器语言程序</a:t>
            </a:r>
          </a:p>
        </p:txBody>
      </p:sp>
      <p:sp>
        <p:nvSpPr>
          <p:cNvPr id="1757287" name="Line 103"/>
          <p:cNvSpPr>
            <a:spLocks noChangeShapeType="1"/>
          </p:cNvSpPr>
          <p:nvPr/>
        </p:nvSpPr>
        <p:spPr bwMode="auto">
          <a:xfrm>
            <a:off x="8662196" y="5055394"/>
            <a:ext cx="663575"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7288" name="Text Box 104"/>
          <p:cNvSpPr txBox="1">
            <a:spLocks noChangeArrowheads="1"/>
          </p:cNvSpPr>
          <p:nvPr/>
        </p:nvSpPr>
        <p:spPr bwMode="auto">
          <a:xfrm>
            <a:off x="9336883" y="4906170"/>
            <a:ext cx="549275" cy="314325"/>
          </a:xfrm>
          <a:prstGeom prst="rect">
            <a:avLst/>
          </a:prstGeom>
          <a:solidFill>
            <a:srgbClr val="EAEAEA"/>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solidFill>
                  <a:srgbClr val="000000"/>
                </a:solidFill>
              </a:rPr>
              <a:t>执行</a:t>
            </a:r>
          </a:p>
        </p:txBody>
      </p:sp>
      <p:sp>
        <p:nvSpPr>
          <p:cNvPr id="3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
        <p:nvSpPr>
          <p:cNvPr id="36" name="圆角矩形 3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机器不能直接执行符号化程序</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怎么办</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汇编</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翻译</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57260"/>
                                        </p:tgtEl>
                                        <p:attrNameLst>
                                          <p:attrName>style.visibility</p:attrName>
                                        </p:attrNameLst>
                                      </p:cBhvr>
                                      <p:to>
                                        <p:strVal val="visible"/>
                                      </p:to>
                                    </p:set>
                                    <p:anim calcmode="lin" valueType="num">
                                      <p:cBhvr additive="base">
                                        <p:cTn id="7" dur="500" fill="hold"/>
                                        <p:tgtEl>
                                          <p:spTgt spid="1757260"/>
                                        </p:tgtEl>
                                        <p:attrNameLst>
                                          <p:attrName>ppt_x</p:attrName>
                                        </p:attrNameLst>
                                      </p:cBhvr>
                                      <p:tavLst>
                                        <p:tav tm="0">
                                          <p:val>
                                            <p:strVal val="#ppt_x"/>
                                          </p:val>
                                        </p:tav>
                                        <p:tav tm="100000">
                                          <p:val>
                                            <p:strVal val="#ppt_x"/>
                                          </p:val>
                                        </p:tav>
                                      </p:tavLst>
                                    </p:anim>
                                    <p:anim calcmode="lin" valueType="num">
                                      <p:cBhvr additive="base">
                                        <p:cTn id="8" dur="500" fill="hold"/>
                                        <p:tgtEl>
                                          <p:spTgt spid="175726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57261"/>
                                        </p:tgtEl>
                                        <p:attrNameLst>
                                          <p:attrName>style.visibility</p:attrName>
                                        </p:attrNameLst>
                                      </p:cBhvr>
                                      <p:to>
                                        <p:strVal val="visible"/>
                                      </p:to>
                                    </p:set>
                                    <p:anim calcmode="lin" valueType="num">
                                      <p:cBhvr additive="base">
                                        <p:cTn id="11" dur="500" fill="hold"/>
                                        <p:tgtEl>
                                          <p:spTgt spid="1757261"/>
                                        </p:tgtEl>
                                        <p:attrNameLst>
                                          <p:attrName>ppt_x</p:attrName>
                                        </p:attrNameLst>
                                      </p:cBhvr>
                                      <p:tavLst>
                                        <p:tav tm="0">
                                          <p:val>
                                            <p:strVal val="#ppt_x"/>
                                          </p:val>
                                        </p:tav>
                                        <p:tav tm="100000">
                                          <p:val>
                                            <p:strVal val="#ppt_x"/>
                                          </p:val>
                                        </p:tav>
                                      </p:tavLst>
                                    </p:anim>
                                    <p:anim calcmode="lin" valueType="num">
                                      <p:cBhvr additive="base">
                                        <p:cTn id="12" dur="500" fill="hold"/>
                                        <p:tgtEl>
                                          <p:spTgt spid="175726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57282"/>
                                        </p:tgtEl>
                                        <p:attrNameLst>
                                          <p:attrName>style.visibility</p:attrName>
                                        </p:attrNameLst>
                                      </p:cBhvr>
                                      <p:to>
                                        <p:strVal val="visible"/>
                                      </p:to>
                                    </p:set>
                                    <p:anim calcmode="lin" valueType="num">
                                      <p:cBhvr additive="base">
                                        <p:cTn id="15" dur="500" fill="hold"/>
                                        <p:tgtEl>
                                          <p:spTgt spid="1757282"/>
                                        </p:tgtEl>
                                        <p:attrNameLst>
                                          <p:attrName>ppt_x</p:attrName>
                                        </p:attrNameLst>
                                      </p:cBhvr>
                                      <p:tavLst>
                                        <p:tav tm="0">
                                          <p:val>
                                            <p:strVal val="#ppt_x"/>
                                          </p:val>
                                        </p:tav>
                                        <p:tav tm="100000">
                                          <p:val>
                                            <p:strVal val="#ppt_x"/>
                                          </p:val>
                                        </p:tav>
                                      </p:tavLst>
                                    </p:anim>
                                    <p:anim calcmode="lin" valueType="num">
                                      <p:cBhvr additive="base">
                                        <p:cTn id="16" dur="500" fill="hold"/>
                                        <p:tgtEl>
                                          <p:spTgt spid="175728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57283"/>
                                        </p:tgtEl>
                                        <p:attrNameLst>
                                          <p:attrName>style.visibility</p:attrName>
                                        </p:attrNameLst>
                                      </p:cBhvr>
                                      <p:to>
                                        <p:strVal val="visible"/>
                                      </p:to>
                                    </p:set>
                                    <p:anim calcmode="lin" valueType="num">
                                      <p:cBhvr additive="base">
                                        <p:cTn id="19" dur="500" fill="hold"/>
                                        <p:tgtEl>
                                          <p:spTgt spid="1757283"/>
                                        </p:tgtEl>
                                        <p:attrNameLst>
                                          <p:attrName>ppt_x</p:attrName>
                                        </p:attrNameLst>
                                      </p:cBhvr>
                                      <p:tavLst>
                                        <p:tav tm="0">
                                          <p:val>
                                            <p:strVal val="#ppt_x"/>
                                          </p:val>
                                        </p:tav>
                                        <p:tav tm="100000">
                                          <p:val>
                                            <p:strVal val="#ppt_x"/>
                                          </p:val>
                                        </p:tav>
                                      </p:tavLst>
                                    </p:anim>
                                    <p:anim calcmode="lin" valueType="num">
                                      <p:cBhvr additive="base">
                                        <p:cTn id="20" dur="500" fill="hold"/>
                                        <p:tgtEl>
                                          <p:spTgt spid="175728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57285"/>
                                        </p:tgtEl>
                                        <p:attrNameLst>
                                          <p:attrName>style.visibility</p:attrName>
                                        </p:attrNameLst>
                                      </p:cBhvr>
                                      <p:to>
                                        <p:strVal val="visible"/>
                                      </p:to>
                                    </p:set>
                                    <p:anim calcmode="lin" valueType="num">
                                      <p:cBhvr additive="base">
                                        <p:cTn id="23" dur="500" fill="hold"/>
                                        <p:tgtEl>
                                          <p:spTgt spid="1757285"/>
                                        </p:tgtEl>
                                        <p:attrNameLst>
                                          <p:attrName>ppt_x</p:attrName>
                                        </p:attrNameLst>
                                      </p:cBhvr>
                                      <p:tavLst>
                                        <p:tav tm="0">
                                          <p:val>
                                            <p:strVal val="#ppt_x"/>
                                          </p:val>
                                        </p:tav>
                                        <p:tav tm="100000">
                                          <p:val>
                                            <p:strVal val="#ppt_x"/>
                                          </p:val>
                                        </p:tav>
                                      </p:tavLst>
                                    </p:anim>
                                    <p:anim calcmode="lin" valueType="num">
                                      <p:cBhvr additive="base">
                                        <p:cTn id="24" dur="500" fill="hold"/>
                                        <p:tgtEl>
                                          <p:spTgt spid="175728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757259"/>
                                        </p:tgtEl>
                                        <p:attrNameLst>
                                          <p:attrName>style.visibility</p:attrName>
                                        </p:attrNameLst>
                                      </p:cBhvr>
                                      <p:to>
                                        <p:strVal val="visible"/>
                                      </p:to>
                                    </p:set>
                                    <p:anim calcmode="lin" valueType="num">
                                      <p:cBhvr additive="base">
                                        <p:cTn id="29" dur="500" fill="hold"/>
                                        <p:tgtEl>
                                          <p:spTgt spid="1757259"/>
                                        </p:tgtEl>
                                        <p:attrNameLst>
                                          <p:attrName>ppt_x</p:attrName>
                                        </p:attrNameLst>
                                      </p:cBhvr>
                                      <p:tavLst>
                                        <p:tav tm="0">
                                          <p:val>
                                            <p:strVal val="#ppt_x"/>
                                          </p:val>
                                        </p:tav>
                                        <p:tav tm="100000">
                                          <p:val>
                                            <p:strVal val="#ppt_x"/>
                                          </p:val>
                                        </p:tav>
                                      </p:tavLst>
                                    </p:anim>
                                    <p:anim calcmode="lin" valueType="num">
                                      <p:cBhvr additive="base">
                                        <p:cTn id="30" dur="500" fill="hold"/>
                                        <p:tgtEl>
                                          <p:spTgt spid="175725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57268"/>
                                        </p:tgtEl>
                                        <p:attrNameLst>
                                          <p:attrName>style.visibility</p:attrName>
                                        </p:attrNameLst>
                                      </p:cBhvr>
                                      <p:to>
                                        <p:strVal val="visible"/>
                                      </p:to>
                                    </p:set>
                                    <p:anim calcmode="lin" valueType="num">
                                      <p:cBhvr additive="base">
                                        <p:cTn id="33" dur="500" fill="hold"/>
                                        <p:tgtEl>
                                          <p:spTgt spid="1757268"/>
                                        </p:tgtEl>
                                        <p:attrNameLst>
                                          <p:attrName>ppt_x</p:attrName>
                                        </p:attrNameLst>
                                      </p:cBhvr>
                                      <p:tavLst>
                                        <p:tav tm="0">
                                          <p:val>
                                            <p:strVal val="#ppt_x"/>
                                          </p:val>
                                        </p:tav>
                                        <p:tav tm="100000">
                                          <p:val>
                                            <p:strVal val="#ppt_x"/>
                                          </p:val>
                                        </p:tav>
                                      </p:tavLst>
                                    </p:anim>
                                    <p:anim calcmode="lin" valueType="num">
                                      <p:cBhvr additive="base">
                                        <p:cTn id="34" dur="500" fill="hold"/>
                                        <p:tgtEl>
                                          <p:spTgt spid="175726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57286"/>
                                        </p:tgtEl>
                                        <p:attrNameLst>
                                          <p:attrName>style.visibility</p:attrName>
                                        </p:attrNameLst>
                                      </p:cBhvr>
                                      <p:to>
                                        <p:strVal val="visible"/>
                                      </p:to>
                                    </p:set>
                                    <p:anim calcmode="lin" valueType="num">
                                      <p:cBhvr additive="base">
                                        <p:cTn id="37" dur="500" fill="hold"/>
                                        <p:tgtEl>
                                          <p:spTgt spid="1757286"/>
                                        </p:tgtEl>
                                        <p:attrNameLst>
                                          <p:attrName>ppt_x</p:attrName>
                                        </p:attrNameLst>
                                      </p:cBhvr>
                                      <p:tavLst>
                                        <p:tav tm="0">
                                          <p:val>
                                            <p:strVal val="#ppt_x"/>
                                          </p:val>
                                        </p:tav>
                                        <p:tav tm="100000">
                                          <p:val>
                                            <p:strVal val="#ppt_x"/>
                                          </p:val>
                                        </p:tav>
                                      </p:tavLst>
                                    </p:anim>
                                    <p:anim calcmode="lin" valueType="num">
                                      <p:cBhvr additive="base">
                                        <p:cTn id="38" dur="500" fill="hold"/>
                                        <p:tgtEl>
                                          <p:spTgt spid="175728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57287"/>
                                        </p:tgtEl>
                                        <p:attrNameLst>
                                          <p:attrName>style.visibility</p:attrName>
                                        </p:attrNameLst>
                                      </p:cBhvr>
                                      <p:to>
                                        <p:strVal val="visible"/>
                                      </p:to>
                                    </p:set>
                                    <p:anim calcmode="lin" valueType="num">
                                      <p:cBhvr additive="base">
                                        <p:cTn id="41" dur="500" fill="hold"/>
                                        <p:tgtEl>
                                          <p:spTgt spid="1757287"/>
                                        </p:tgtEl>
                                        <p:attrNameLst>
                                          <p:attrName>ppt_x</p:attrName>
                                        </p:attrNameLst>
                                      </p:cBhvr>
                                      <p:tavLst>
                                        <p:tav tm="0">
                                          <p:val>
                                            <p:strVal val="#ppt_x"/>
                                          </p:val>
                                        </p:tav>
                                        <p:tav tm="100000">
                                          <p:val>
                                            <p:strVal val="#ppt_x"/>
                                          </p:val>
                                        </p:tav>
                                      </p:tavLst>
                                    </p:anim>
                                    <p:anim calcmode="lin" valueType="num">
                                      <p:cBhvr additive="base">
                                        <p:cTn id="42" dur="500" fill="hold"/>
                                        <p:tgtEl>
                                          <p:spTgt spid="175728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757288"/>
                                        </p:tgtEl>
                                        <p:attrNameLst>
                                          <p:attrName>style.visibility</p:attrName>
                                        </p:attrNameLst>
                                      </p:cBhvr>
                                      <p:to>
                                        <p:strVal val="visible"/>
                                      </p:to>
                                    </p:set>
                                    <p:anim calcmode="lin" valueType="num">
                                      <p:cBhvr additive="base">
                                        <p:cTn id="45" dur="500" fill="hold"/>
                                        <p:tgtEl>
                                          <p:spTgt spid="1757288"/>
                                        </p:tgtEl>
                                        <p:attrNameLst>
                                          <p:attrName>ppt_x</p:attrName>
                                        </p:attrNameLst>
                                      </p:cBhvr>
                                      <p:tavLst>
                                        <p:tav tm="0">
                                          <p:val>
                                            <p:strVal val="#ppt_x"/>
                                          </p:val>
                                        </p:tav>
                                        <p:tav tm="100000">
                                          <p:val>
                                            <p:strVal val="#ppt_x"/>
                                          </p:val>
                                        </p:tav>
                                      </p:tavLst>
                                    </p:anim>
                                    <p:anim calcmode="lin" valueType="num">
                                      <p:cBhvr additive="base">
                                        <p:cTn id="46" dur="500" fill="hold"/>
                                        <p:tgtEl>
                                          <p:spTgt spid="175728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57264"/>
                                        </p:tgtEl>
                                        <p:attrNameLst>
                                          <p:attrName>style.visibility</p:attrName>
                                        </p:attrNameLst>
                                      </p:cBhvr>
                                      <p:to>
                                        <p:strVal val="visible"/>
                                      </p:to>
                                    </p:set>
                                    <p:anim calcmode="lin" valueType="num">
                                      <p:cBhvr additive="base">
                                        <p:cTn id="51" dur="500" fill="hold"/>
                                        <p:tgtEl>
                                          <p:spTgt spid="1757264"/>
                                        </p:tgtEl>
                                        <p:attrNameLst>
                                          <p:attrName>ppt_x</p:attrName>
                                        </p:attrNameLst>
                                      </p:cBhvr>
                                      <p:tavLst>
                                        <p:tav tm="0">
                                          <p:val>
                                            <p:strVal val="#ppt_x"/>
                                          </p:val>
                                        </p:tav>
                                        <p:tav tm="100000">
                                          <p:val>
                                            <p:strVal val="#ppt_x"/>
                                          </p:val>
                                        </p:tav>
                                      </p:tavLst>
                                    </p:anim>
                                    <p:anim calcmode="lin" valueType="num">
                                      <p:cBhvr additive="base">
                                        <p:cTn id="52" dur="500" fill="hold"/>
                                        <p:tgtEl>
                                          <p:spTgt spid="175726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57265"/>
                                        </p:tgtEl>
                                        <p:attrNameLst>
                                          <p:attrName>style.visibility</p:attrName>
                                        </p:attrNameLst>
                                      </p:cBhvr>
                                      <p:to>
                                        <p:strVal val="visible"/>
                                      </p:to>
                                    </p:set>
                                    <p:anim calcmode="lin" valueType="num">
                                      <p:cBhvr additive="base">
                                        <p:cTn id="55" dur="500" fill="hold"/>
                                        <p:tgtEl>
                                          <p:spTgt spid="1757265"/>
                                        </p:tgtEl>
                                        <p:attrNameLst>
                                          <p:attrName>ppt_x</p:attrName>
                                        </p:attrNameLst>
                                      </p:cBhvr>
                                      <p:tavLst>
                                        <p:tav tm="0">
                                          <p:val>
                                            <p:strVal val="#ppt_x"/>
                                          </p:val>
                                        </p:tav>
                                        <p:tav tm="100000">
                                          <p:val>
                                            <p:strVal val="#ppt_x"/>
                                          </p:val>
                                        </p:tav>
                                      </p:tavLst>
                                    </p:anim>
                                    <p:anim calcmode="lin" valueType="num">
                                      <p:cBhvr additive="base">
                                        <p:cTn id="56" dur="500" fill="hold"/>
                                        <p:tgtEl>
                                          <p:spTgt spid="175726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57276"/>
                                        </p:tgtEl>
                                        <p:attrNameLst>
                                          <p:attrName>style.visibility</p:attrName>
                                        </p:attrNameLst>
                                      </p:cBhvr>
                                      <p:to>
                                        <p:strVal val="visible"/>
                                      </p:to>
                                    </p:set>
                                    <p:anim calcmode="lin" valueType="num">
                                      <p:cBhvr additive="base">
                                        <p:cTn id="59" dur="500" fill="hold"/>
                                        <p:tgtEl>
                                          <p:spTgt spid="1757276"/>
                                        </p:tgtEl>
                                        <p:attrNameLst>
                                          <p:attrName>ppt_x</p:attrName>
                                        </p:attrNameLst>
                                      </p:cBhvr>
                                      <p:tavLst>
                                        <p:tav tm="0">
                                          <p:val>
                                            <p:strVal val="#ppt_x"/>
                                          </p:val>
                                        </p:tav>
                                        <p:tav tm="100000">
                                          <p:val>
                                            <p:strVal val="#ppt_x"/>
                                          </p:val>
                                        </p:tav>
                                      </p:tavLst>
                                    </p:anim>
                                    <p:anim calcmode="lin" valueType="num">
                                      <p:cBhvr additive="base">
                                        <p:cTn id="60" dur="500" fill="hold"/>
                                        <p:tgtEl>
                                          <p:spTgt spid="175727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757279"/>
                                        </p:tgtEl>
                                        <p:attrNameLst>
                                          <p:attrName>style.visibility</p:attrName>
                                        </p:attrNameLst>
                                      </p:cBhvr>
                                      <p:to>
                                        <p:strVal val="visible"/>
                                      </p:to>
                                    </p:set>
                                    <p:anim calcmode="lin" valueType="num">
                                      <p:cBhvr additive="base">
                                        <p:cTn id="63" dur="500" fill="hold"/>
                                        <p:tgtEl>
                                          <p:spTgt spid="1757279"/>
                                        </p:tgtEl>
                                        <p:attrNameLst>
                                          <p:attrName>ppt_x</p:attrName>
                                        </p:attrNameLst>
                                      </p:cBhvr>
                                      <p:tavLst>
                                        <p:tav tm="0">
                                          <p:val>
                                            <p:strVal val="#ppt_x"/>
                                          </p:val>
                                        </p:tav>
                                        <p:tav tm="100000">
                                          <p:val>
                                            <p:strVal val="#ppt_x"/>
                                          </p:val>
                                        </p:tav>
                                      </p:tavLst>
                                    </p:anim>
                                    <p:anim calcmode="lin" valueType="num">
                                      <p:cBhvr additive="base">
                                        <p:cTn id="64" dur="500" fill="hold"/>
                                        <p:tgtEl>
                                          <p:spTgt spid="1757279"/>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757266"/>
                                        </p:tgtEl>
                                        <p:attrNameLst>
                                          <p:attrName>style.visibility</p:attrName>
                                        </p:attrNameLst>
                                      </p:cBhvr>
                                      <p:to>
                                        <p:strVal val="visible"/>
                                      </p:to>
                                    </p:set>
                                    <p:anim calcmode="lin" valueType="num">
                                      <p:cBhvr additive="base">
                                        <p:cTn id="69" dur="500" fill="hold"/>
                                        <p:tgtEl>
                                          <p:spTgt spid="1757266"/>
                                        </p:tgtEl>
                                        <p:attrNameLst>
                                          <p:attrName>ppt_x</p:attrName>
                                        </p:attrNameLst>
                                      </p:cBhvr>
                                      <p:tavLst>
                                        <p:tav tm="0">
                                          <p:val>
                                            <p:strVal val="#ppt_x"/>
                                          </p:val>
                                        </p:tav>
                                        <p:tav tm="100000">
                                          <p:val>
                                            <p:strVal val="#ppt_x"/>
                                          </p:val>
                                        </p:tav>
                                      </p:tavLst>
                                    </p:anim>
                                    <p:anim calcmode="lin" valueType="num">
                                      <p:cBhvr additive="base">
                                        <p:cTn id="70" dur="500" fill="hold"/>
                                        <p:tgtEl>
                                          <p:spTgt spid="175726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757267"/>
                                        </p:tgtEl>
                                        <p:attrNameLst>
                                          <p:attrName>style.visibility</p:attrName>
                                        </p:attrNameLst>
                                      </p:cBhvr>
                                      <p:to>
                                        <p:strVal val="visible"/>
                                      </p:to>
                                    </p:set>
                                    <p:anim calcmode="lin" valueType="num">
                                      <p:cBhvr additive="base">
                                        <p:cTn id="73" dur="500" fill="hold"/>
                                        <p:tgtEl>
                                          <p:spTgt spid="1757267"/>
                                        </p:tgtEl>
                                        <p:attrNameLst>
                                          <p:attrName>ppt_x</p:attrName>
                                        </p:attrNameLst>
                                      </p:cBhvr>
                                      <p:tavLst>
                                        <p:tav tm="0">
                                          <p:val>
                                            <p:strVal val="#ppt_x"/>
                                          </p:val>
                                        </p:tav>
                                        <p:tav tm="100000">
                                          <p:val>
                                            <p:strVal val="#ppt_x"/>
                                          </p:val>
                                        </p:tav>
                                      </p:tavLst>
                                    </p:anim>
                                    <p:anim calcmode="lin" valueType="num">
                                      <p:cBhvr additive="base">
                                        <p:cTn id="74" dur="500" fill="hold"/>
                                        <p:tgtEl>
                                          <p:spTgt spid="175726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757280"/>
                                        </p:tgtEl>
                                        <p:attrNameLst>
                                          <p:attrName>style.visibility</p:attrName>
                                        </p:attrNameLst>
                                      </p:cBhvr>
                                      <p:to>
                                        <p:strVal val="visible"/>
                                      </p:to>
                                    </p:set>
                                    <p:anim calcmode="lin" valueType="num">
                                      <p:cBhvr additive="base">
                                        <p:cTn id="77" dur="500" fill="hold"/>
                                        <p:tgtEl>
                                          <p:spTgt spid="1757280"/>
                                        </p:tgtEl>
                                        <p:attrNameLst>
                                          <p:attrName>ppt_x</p:attrName>
                                        </p:attrNameLst>
                                      </p:cBhvr>
                                      <p:tavLst>
                                        <p:tav tm="0">
                                          <p:val>
                                            <p:strVal val="#ppt_x"/>
                                          </p:val>
                                        </p:tav>
                                        <p:tav tm="100000">
                                          <p:val>
                                            <p:strVal val="#ppt_x"/>
                                          </p:val>
                                        </p:tav>
                                      </p:tavLst>
                                    </p:anim>
                                    <p:anim calcmode="lin" valueType="num">
                                      <p:cBhvr additive="base">
                                        <p:cTn id="78" dur="500" fill="hold"/>
                                        <p:tgtEl>
                                          <p:spTgt spid="175728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757281"/>
                                        </p:tgtEl>
                                        <p:attrNameLst>
                                          <p:attrName>style.visibility</p:attrName>
                                        </p:attrNameLst>
                                      </p:cBhvr>
                                      <p:to>
                                        <p:strVal val="visible"/>
                                      </p:to>
                                    </p:set>
                                    <p:anim calcmode="lin" valueType="num">
                                      <p:cBhvr additive="base">
                                        <p:cTn id="81" dur="500" fill="hold"/>
                                        <p:tgtEl>
                                          <p:spTgt spid="1757281"/>
                                        </p:tgtEl>
                                        <p:attrNameLst>
                                          <p:attrName>ppt_x</p:attrName>
                                        </p:attrNameLst>
                                      </p:cBhvr>
                                      <p:tavLst>
                                        <p:tav tm="0">
                                          <p:val>
                                            <p:strVal val="#ppt_x"/>
                                          </p:val>
                                        </p:tav>
                                        <p:tav tm="100000">
                                          <p:val>
                                            <p:strVal val="#ppt_x"/>
                                          </p:val>
                                        </p:tav>
                                      </p:tavLst>
                                    </p:anim>
                                    <p:anim calcmode="lin" valueType="num">
                                      <p:cBhvr additive="base">
                                        <p:cTn id="82" dur="500" fill="hold"/>
                                        <p:tgtEl>
                                          <p:spTgt spid="1757281"/>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1757263"/>
                                        </p:tgtEl>
                                        <p:attrNameLst>
                                          <p:attrName>style.visibility</p:attrName>
                                        </p:attrNameLst>
                                      </p:cBhvr>
                                      <p:to>
                                        <p:strVal val="visible"/>
                                      </p:to>
                                    </p:set>
                                    <p:anim calcmode="lin" valueType="num">
                                      <p:cBhvr additive="base">
                                        <p:cTn id="87" dur="500" fill="hold"/>
                                        <p:tgtEl>
                                          <p:spTgt spid="1757263"/>
                                        </p:tgtEl>
                                        <p:attrNameLst>
                                          <p:attrName>ppt_x</p:attrName>
                                        </p:attrNameLst>
                                      </p:cBhvr>
                                      <p:tavLst>
                                        <p:tav tm="0">
                                          <p:val>
                                            <p:strVal val="#ppt_x"/>
                                          </p:val>
                                        </p:tav>
                                        <p:tav tm="100000">
                                          <p:val>
                                            <p:strVal val="#ppt_x"/>
                                          </p:val>
                                        </p:tav>
                                      </p:tavLst>
                                    </p:anim>
                                    <p:anim calcmode="lin" valueType="num">
                                      <p:cBhvr additive="base">
                                        <p:cTn id="88" dur="500" fill="hold"/>
                                        <p:tgtEl>
                                          <p:spTgt spid="1757263"/>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757275"/>
                                        </p:tgtEl>
                                        <p:attrNameLst>
                                          <p:attrName>style.visibility</p:attrName>
                                        </p:attrNameLst>
                                      </p:cBhvr>
                                      <p:to>
                                        <p:strVal val="visible"/>
                                      </p:to>
                                    </p:set>
                                    <p:anim calcmode="lin" valueType="num">
                                      <p:cBhvr additive="base">
                                        <p:cTn id="91" dur="500" fill="hold"/>
                                        <p:tgtEl>
                                          <p:spTgt spid="1757275"/>
                                        </p:tgtEl>
                                        <p:attrNameLst>
                                          <p:attrName>ppt_x</p:attrName>
                                        </p:attrNameLst>
                                      </p:cBhvr>
                                      <p:tavLst>
                                        <p:tav tm="0">
                                          <p:val>
                                            <p:strVal val="#ppt_x"/>
                                          </p:val>
                                        </p:tav>
                                        <p:tav tm="100000">
                                          <p:val>
                                            <p:strVal val="#ppt_x"/>
                                          </p:val>
                                        </p:tav>
                                      </p:tavLst>
                                    </p:anim>
                                    <p:anim calcmode="lin" valueType="num">
                                      <p:cBhvr additive="base">
                                        <p:cTn id="92" dur="500" fill="hold"/>
                                        <p:tgtEl>
                                          <p:spTgt spid="1757275"/>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757277"/>
                                        </p:tgtEl>
                                        <p:attrNameLst>
                                          <p:attrName>style.visibility</p:attrName>
                                        </p:attrNameLst>
                                      </p:cBhvr>
                                      <p:to>
                                        <p:strVal val="visible"/>
                                      </p:to>
                                    </p:set>
                                    <p:anim calcmode="lin" valueType="num">
                                      <p:cBhvr additive="base">
                                        <p:cTn id="95" dur="500" fill="hold"/>
                                        <p:tgtEl>
                                          <p:spTgt spid="1757277"/>
                                        </p:tgtEl>
                                        <p:attrNameLst>
                                          <p:attrName>ppt_x</p:attrName>
                                        </p:attrNameLst>
                                      </p:cBhvr>
                                      <p:tavLst>
                                        <p:tav tm="0">
                                          <p:val>
                                            <p:strVal val="#ppt_x"/>
                                          </p:val>
                                        </p:tav>
                                        <p:tav tm="100000">
                                          <p:val>
                                            <p:strVal val="#ppt_x"/>
                                          </p:val>
                                        </p:tav>
                                      </p:tavLst>
                                    </p:anim>
                                    <p:anim calcmode="lin" valueType="num">
                                      <p:cBhvr additive="base">
                                        <p:cTn id="96" dur="500" fill="hold"/>
                                        <p:tgtEl>
                                          <p:spTgt spid="1757277"/>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757278"/>
                                        </p:tgtEl>
                                        <p:attrNameLst>
                                          <p:attrName>style.visibility</p:attrName>
                                        </p:attrNameLst>
                                      </p:cBhvr>
                                      <p:to>
                                        <p:strVal val="visible"/>
                                      </p:to>
                                    </p:set>
                                    <p:anim calcmode="lin" valueType="num">
                                      <p:cBhvr additive="base">
                                        <p:cTn id="99" dur="500" fill="hold"/>
                                        <p:tgtEl>
                                          <p:spTgt spid="1757278"/>
                                        </p:tgtEl>
                                        <p:attrNameLst>
                                          <p:attrName>ppt_x</p:attrName>
                                        </p:attrNameLst>
                                      </p:cBhvr>
                                      <p:tavLst>
                                        <p:tav tm="0">
                                          <p:val>
                                            <p:strVal val="#ppt_x"/>
                                          </p:val>
                                        </p:tav>
                                        <p:tav tm="100000">
                                          <p:val>
                                            <p:strVal val="#ppt_x"/>
                                          </p:val>
                                        </p:tav>
                                      </p:tavLst>
                                    </p:anim>
                                    <p:anim calcmode="lin" valueType="num">
                                      <p:cBhvr additive="base">
                                        <p:cTn id="100" dur="500" fill="hold"/>
                                        <p:tgtEl>
                                          <p:spTgt spid="1757278"/>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1757284"/>
                                        </p:tgtEl>
                                        <p:attrNameLst>
                                          <p:attrName>style.visibility</p:attrName>
                                        </p:attrNameLst>
                                      </p:cBhvr>
                                      <p:to>
                                        <p:strVal val="visible"/>
                                      </p:to>
                                    </p:set>
                                    <p:anim calcmode="lin" valueType="num">
                                      <p:cBhvr additive="base">
                                        <p:cTn id="103" dur="500" fill="hold"/>
                                        <p:tgtEl>
                                          <p:spTgt spid="1757284"/>
                                        </p:tgtEl>
                                        <p:attrNameLst>
                                          <p:attrName>ppt_x</p:attrName>
                                        </p:attrNameLst>
                                      </p:cBhvr>
                                      <p:tavLst>
                                        <p:tav tm="0">
                                          <p:val>
                                            <p:strVal val="#ppt_x"/>
                                          </p:val>
                                        </p:tav>
                                        <p:tav tm="100000">
                                          <p:val>
                                            <p:strVal val="#ppt_x"/>
                                          </p:val>
                                        </p:tav>
                                      </p:tavLst>
                                    </p:anim>
                                    <p:anim calcmode="lin" valueType="num">
                                      <p:cBhvr additive="base">
                                        <p:cTn id="104" dur="500" fill="hold"/>
                                        <p:tgtEl>
                                          <p:spTgt spid="175728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1757262"/>
                                        </p:tgtEl>
                                        <p:attrNameLst>
                                          <p:attrName>style.visibility</p:attrName>
                                        </p:attrNameLst>
                                      </p:cBhvr>
                                      <p:to>
                                        <p:strVal val="visible"/>
                                      </p:to>
                                    </p:set>
                                    <p:anim calcmode="lin" valueType="num">
                                      <p:cBhvr additive="base">
                                        <p:cTn id="109" dur="500" fill="hold"/>
                                        <p:tgtEl>
                                          <p:spTgt spid="1757262"/>
                                        </p:tgtEl>
                                        <p:attrNameLst>
                                          <p:attrName>ppt_x</p:attrName>
                                        </p:attrNameLst>
                                      </p:cBhvr>
                                      <p:tavLst>
                                        <p:tav tm="0">
                                          <p:val>
                                            <p:strVal val="#ppt_x"/>
                                          </p:val>
                                        </p:tav>
                                        <p:tav tm="100000">
                                          <p:val>
                                            <p:strVal val="#ppt_x"/>
                                          </p:val>
                                        </p:tav>
                                      </p:tavLst>
                                    </p:anim>
                                    <p:anim calcmode="lin" valueType="num">
                                      <p:cBhvr additive="base">
                                        <p:cTn id="110" dur="500" fill="hold"/>
                                        <p:tgtEl>
                                          <p:spTgt spid="1757262"/>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1757271"/>
                                        </p:tgtEl>
                                        <p:attrNameLst>
                                          <p:attrName>style.visibility</p:attrName>
                                        </p:attrNameLst>
                                      </p:cBhvr>
                                      <p:to>
                                        <p:strVal val="visible"/>
                                      </p:to>
                                    </p:set>
                                    <p:anim calcmode="lin" valueType="num">
                                      <p:cBhvr additive="base">
                                        <p:cTn id="113" dur="500" fill="hold"/>
                                        <p:tgtEl>
                                          <p:spTgt spid="1757271"/>
                                        </p:tgtEl>
                                        <p:attrNameLst>
                                          <p:attrName>ppt_x</p:attrName>
                                        </p:attrNameLst>
                                      </p:cBhvr>
                                      <p:tavLst>
                                        <p:tav tm="0">
                                          <p:val>
                                            <p:strVal val="#ppt_x"/>
                                          </p:val>
                                        </p:tav>
                                        <p:tav tm="100000">
                                          <p:val>
                                            <p:strVal val="#ppt_x"/>
                                          </p:val>
                                        </p:tav>
                                      </p:tavLst>
                                    </p:anim>
                                    <p:anim calcmode="lin" valueType="num">
                                      <p:cBhvr additive="base">
                                        <p:cTn id="114" dur="500" fill="hold"/>
                                        <p:tgtEl>
                                          <p:spTgt spid="1757271"/>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757272"/>
                                        </p:tgtEl>
                                        <p:attrNameLst>
                                          <p:attrName>style.visibility</p:attrName>
                                        </p:attrNameLst>
                                      </p:cBhvr>
                                      <p:to>
                                        <p:strVal val="visible"/>
                                      </p:to>
                                    </p:set>
                                    <p:anim calcmode="lin" valueType="num">
                                      <p:cBhvr additive="base">
                                        <p:cTn id="117" dur="500" fill="hold"/>
                                        <p:tgtEl>
                                          <p:spTgt spid="1757272"/>
                                        </p:tgtEl>
                                        <p:attrNameLst>
                                          <p:attrName>ppt_x</p:attrName>
                                        </p:attrNameLst>
                                      </p:cBhvr>
                                      <p:tavLst>
                                        <p:tav tm="0">
                                          <p:val>
                                            <p:strVal val="#ppt_x"/>
                                          </p:val>
                                        </p:tav>
                                        <p:tav tm="100000">
                                          <p:val>
                                            <p:strVal val="#ppt_x"/>
                                          </p:val>
                                        </p:tav>
                                      </p:tavLst>
                                    </p:anim>
                                    <p:anim calcmode="lin" valueType="num">
                                      <p:cBhvr additive="base">
                                        <p:cTn id="118" dur="500" fill="hold"/>
                                        <p:tgtEl>
                                          <p:spTgt spid="1757272"/>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757273"/>
                                        </p:tgtEl>
                                        <p:attrNameLst>
                                          <p:attrName>style.visibility</p:attrName>
                                        </p:attrNameLst>
                                      </p:cBhvr>
                                      <p:to>
                                        <p:strVal val="visible"/>
                                      </p:to>
                                    </p:set>
                                    <p:anim calcmode="lin" valueType="num">
                                      <p:cBhvr additive="base">
                                        <p:cTn id="121" dur="500" fill="hold"/>
                                        <p:tgtEl>
                                          <p:spTgt spid="1757273"/>
                                        </p:tgtEl>
                                        <p:attrNameLst>
                                          <p:attrName>ppt_x</p:attrName>
                                        </p:attrNameLst>
                                      </p:cBhvr>
                                      <p:tavLst>
                                        <p:tav tm="0">
                                          <p:val>
                                            <p:strVal val="#ppt_x"/>
                                          </p:val>
                                        </p:tav>
                                        <p:tav tm="100000">
                                          <p:val>
                                            <p:strVal val="#ppt_x"/>
                                          </p:val>
                                        </p:tav>
                                      </p:tavLst>
                                    </p:anim>
                                    <p:anim calcmode="lin" valueType="num">
                                      <p:cBhvr additive="base">
                                        <p:cTn id="122" dur="500" fill="hold"/>
                                        <p:tgtEl>
                                          <p:spTgt spid="1757273"/>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1757274"/>
                                        </p:tgtEl>
                                        <p:attrNameLst>
                                          <p:attrName>style.visibility</p:attrName>
                                        </p:attrNameLst>
                                      </p:cBhvr>
                                      <p:to>
                                        <p:strVal val="visible"/>
                                      </p:to>
                                    </p:set>
                                    <p:anim calcmode="lin" valueType="num">
                                      <p:cBhvr additive="base">
                                        <p:cTn id="125" dur="500" fill="hold"/>
                                        <p:tgtEl>
                                          <p:spTgt spid="1757274"/>
                                        </p:tgtEl>
                                        <p:attrNameLst>
                                          <p:attrName>ppt_x</p:attrName>
                                        </p:attrNameLst>
                                      </p:cBhvr>
                                      <p:tavLst>
                                        <p:tav tm="0">
                                          <p:val>
                                            <p:strVal val="#ppt_x"/>
                                          </p:val>
                                        </p:tav>
                                        <p:tav tm="100000">
                                          <p:val>
                                            <p:strVal val="#ppt_x"/>
                                          </p:val>
                                        </p:tav>
                                      </p:tavLst>
                                    </p:anim>
                                    <p:anim calcmode="lin" valueType="num">
                                      <p:cBhvr additive="base">
                                        <p:cTn id="126" dur="500" fill="hold"/>
                                        <p:tgtEl>
                                          <p:spTgt spid="1757274"/>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nodeType="clickEffect">
                                  <p:stCondLst>
                                    <p:cond delay="0"/>
                                  </p:stCondLst>
                                  <p:childTnLst>
                                    <p:set>
                                      <p:cBhvr>
                                        <p:cTn id="130" dur="1" fill="hold">
                                          <p:stCondLst>
                                            <p:cond delay="0"/>
                                          </p:stCondLst>
                                        </p:cTn>
                                        <p:tgtEl>
                                          <p:spTgt spid="1757269"/>
                                        </p:tgtEl>
                                        <p:attrNameLst>
                                          <p:attrName>style.visibility</p:attrName>
                                        </p:attrNameLst>
                                      </p:cBhvr>
                                      <p:to>
                                        <p:strVal val="visible"/>
                                      </p:to>
                                    </p:set>
                                    <p:anim calcmode="lin" valueType="num">
                                      <p:cBhvr additive="base">
                                        <p:cTn id="131" dur="500" fill="hold"/>
                                        <p:tgtEl>
                                          <p:spTgt spid="1757269"/>
                                        </p:tgtEl>
                                        <p:attrNameLst>
                                          <p:attrName>ppt_x</p:attrName>
                                        </p:attrNameLst>
                                      </p:cBhvr>
                                      <p:tavLst>
                                        <p:tav tm="0">
                                          <p:val>
                                            <p:strVal val="#ppt_x"/>
                                          </p:val>
                                        </p:tav>
                                        <p:tav tm="100000">
                                          <p:val>
                                            <p:strVal val="#ppt_x"/>
                                          </p:val>
                                        </p:tav>
                                      </p:tavLst>
                                    </p:anim>
                                    <p:anim calcmode="lin" valueType="num">
                                      <p:cBhvr additive="base">
                                        <p:cTn id="132" dur="500" fill="hold"/>
                                        <p:tgtEl>
                                          <p:spTgt spid="1757269"/>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1757270"/>
                                        </p:tgtEl>
                                        <p:attrNameLst>
                                          <p:attrName>style.visibility</p:attrName>
                                        </p:attrNameLst>
                                      </p:cBhvr>
                                      <p:to>
                                        <p:strVal val="visible"/>
                                      </p:to>
                                    </p:set>
                                    <p:anim calcmode="lin" valueType="num">
                                      <p:cBhvr additive="base">
                                        <p:cTn id="135" dur="500" fill="hold"/>
                                        <p:tgtEl>
                                          <p:spTgt spid="1757270"/>
                                        </p:tgtEl>
                                        <p:attrNameLst>
                                          <p:attrName>ppt_x</p:attrName>
                                        </p:attrNameLst>
                                      </p:cBhvr>
                                      <p:tavLst>
                                        <p:tav tm="0">
                                          <p:val>
                                            <p:strVal val="#ppt_x"/>
                                          </p:val>
                                        </p:tav>
                                        <p:tav tm="100000">
                                          <p:val>
                                            <p:strVal val="#ppt_x"/>
                                          </p:val>
                                        </p:tav>
                                      </p:tavLst>
                                    </p:anim>
                                    <p:anim calcmode="lin" valueType="num">
                                      <p:cBhvr additive="base">
                                        <p:cTn id="136" dur="500" fill="hold"/>
                                        <p:tgtEl>
                                          <p:spTgt spid="1757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7261" grpId="0"/>
      <p:bldP spid="1757263" grpId="0" animBg="1"/>
      <p:bldP spid="1757264" grpId="0" animBg="1"/>
      <p:bldP spid="1757265" grpId="0"/>
      <p:bldP spid="1757266" grpId="0" animBg="1"/>
      <p:bldP spid="1757267" grpId="0"/>
      <p:bldP spid="1757268" grpId="0"/>
      <p:bldP spid="1757270" grpId="0"/>
      <p:bldP spid="1757271" grpId="0" animBg="1"/>
      <p:bldP spid="1757274" grpId="0"/>
      <p:bldP spid="1757276" grpId="0"/>
      <p:bldP spid="1757278" grpId="0"/>
      <p:bldP spid="1757279" grpId="0" animBg="1"/>
      <p:bldP spid="1757280" grpId="0" animBg="1"/>
      <p:bldP spid="1757281" grpId="0"/>
      <p:bldP spid="1757282" grpId="0" animBg="1"/>
      <p:bldP spid="1757285" grpId="0" animBg="1"/>
      <p:bldP spid="1757286" grpId="0" animBg="1"/>
      <p:bldP spid="175728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83" name="Text Box 3"/>
          <p:cNvSpPr txBox="1">
            <a:spLocks noChangeArrowheads="1"/>
          </p:cNvSpPr>
          <p:nvPr/>
        </p:nvSpPr>
        <p:spPr bwMode="auto">
          <a:xfrm>
            <a:off x="8007640" y="3470043"/>
            <a:ext cx="3482397"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1600" dirty="0">
                <a:latin typeface="宋体" pitchFamily="2" charset="-122"/>
              </a:rPr>
              <a:t>计算</a:t>
            </a:r>
            <a:r>
              <a:rPr lang="en-US" altLang="zh-CN" sz="1600" dirty="0">
                <a:latin typeface="宋体" pitchFamily="2" charset="-122"/>
              </a:rPr>
              <a:t>7+10</a:t>
            </a:r>
            <a:r>
              <a:rPr lang="zh-CN" altLang="en-US" sz="1600" dirty="0">
                <a:latin typeface="宋体" pitchFamily="2" charset="-122"/>
              </a:rPr>
              <a:t>并存储的高级语言</a:t>
            </a:r>
            <a:r>
              <a:rPr lang="en-US" altLang="zh-CN" sz="1600" dirty="0">
                <a:latin typeface="宋体" pitchFamily="2" charset="-122"/>
              </a:rPr>
              <a:t>(</a:t>
            </a:r>
            <a:r>
              <a:rPr lang="zh-CN" altLang="en-US" sz="1600" dirty="0">
                <a:latin typeface="宋体" pitchFamily="2" charset="-122"/>
              </a:rPr>
              <a:t>源</a:t>
            </a:r>
            <a:r>
              <a:rPr lang="en-US" altLang="zh-CN" sz="1600" dirty="0">
                <a:latin typeface="宋体" pitchFamily="2" charset="-122"/>
              </a:rPr>
              <a:t>)</a:t>
            </a:r>
            <a:r>
              <a:rPr lang="zh-CN" altLang="en-US" sz="1600" dirty="0">
                <a:latin typeface="宋体" pitchFamily="2" charset="-122"/>
              </a:rPr>
              <a:t>程序</a:t>
            </a:r>
          </a:p>
        </p:txBody>
      </p:sp>
      <p:sp>
        <p:nvSpPr>
          <p:cNvPr id="1966085" name="Text Box 5"/>
          <p:cNvSpPr txBox="1">
            <a:spLocks noChangeArrowheads="1"/>
          </p:cNvSpPr>
          <p:nvPr/>
        </p:nvSpPr>
        <p:spPr bwMode="auto">
          <a:xfrm>
            <a:off x="8646321" y="3887095"/>
            <a:ext cx="2205037" cy="2028825"/>
          </a:xfrm>
          <a:prstGeom prst="rect">
            <a:avLst/>
          </a:prstGeom>
          <a:solidFill>
            <a:schemeClr val="bg1"/>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30000"/>
              </a:lnSpc>
            </a:pPr>
            <a:endParaRPr lang="en-US" altLang="zh-CN" sz="2400" b="0"/>
          </a:p>
          <a:p>
            <a:pPr>
              <a:lnSpc>
                <a:spcPct val="130000"/>
              </a:lnSpc>
            </a:pPr>
            <a:r>
              <a:rPr lang="en-US" altLang="zh-CN" sz="2400" b="0"/>
              <a:t>Result = 7+10;</a:t>
            </a:r>
          </a:p>
          <a:p>
            <a:pPr>
              <a:lnSpc>
                <a:spcPct val="130000"/>
              </a:lnSpc>
            </a:pPr>
            <a:r>
              <a:rPr lang="en-US" altLang="zh-CN" sz="2400" b="0"/>
              <a:t>Return</a:t>
            </a:r>
          </a:p>
          <a:p>
            <a:pPr>
              <a:lnSpc>
                <a:spcPct val="130000"/>
              </a:lnSpc>
            </a:pPr>
            <a:endParaRPr lang="en-US" altLang="zh-CN" sz="2400" b="0">
              <a:ea typeface="隶书" panose="02010509060101010101" pitchFamily="49" charset="-122"/>
            </a:endParaRPr>
          </a:p>
        </p:txBody>
      </p:sp>
      <p:sp>
        <p:nvSpPr>
          <p:cNvPr id="1966086" name="Rectangle 6"/>
          <p:cNvSpPr>
            <a:spLocks noChangeArrowheads="1"/>
          </p:cNvSpPr>
          <p:nvPr/>
        </p:nvSpPr>
        <p:spPr bwMode="auto">
          <a:xfrm>
            <a:off x="856590" y="2155637"/>
            <a:ext cx="9258298" cy="892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30000"/>
              </a:lnSpc>
              <a:buFont typeface="Wingdings" panose="05000000000000000000" pitchFamily="2" charset="2"/>
              <a:buChar char="u"/>
            </a:pPr>
            <a:r>
              <a:rPr lang="zh-CN" altLang="en-US" b="0" dirty="0">
                <a:latin typeface="宋体" pitchFamily="2" charset="-122"/>
              </a:rPr>
              <a:t>人们提供了</a:t>
            </a:r>
            <a:r>
              <a:rPr lang="zh-CN" altLang="en-US" sz="1600" b="0" dirty="0">
                <a:latin typeface="宋体" pitchFamily="2" charset="-122"/>
              </a:rPr>
              <a:t>类似于</a:t>
            </a:r>
            <a:r>
              <a:rPr lang="zh-CN" altLang="en-US" dirty="0">
                <a:solidFill>
                  <a:schemeClr val="accent2"/>
                </a:solidFill>
                <a:latin typeface="宋体" pitchFamily="2" charset="-122"/>
              </a:rPr>
              <a:t>自然语言方式、</a:t>
            </a:r>
            <a:r>
              <a:rPr lang="zh-CN" altLang="en-US" dirty="0">
                <a:latin typeface="宋体" pitchFamily="2" charset="-122"/>
              </a:rPr>
              <a:t>以</a:t>
            </a:r>
            <a:r>
              <a:rPr lang="zh-CN" altLang="en-US" dirty="0">
                <a:solidFill>
                  <a:schemeClr val="accent2"/>
                </a:solidFill>
                <a:latin typeface="宋体" pitchFamily="2" charset="-122"/>
              </a:rPr>
              <a:t>语句为单位书写程序的规范</a:t>
            </a:r>
            <a:r>
              <a:rPr lang="en-US" altLang="zh-CN" dirty="0">
                <a:solidFill>
                  <a:schemeClr val="accent2"/>
                </a:solidFill>
                <a:latin typeface="宋体" pitchFamily="2" charset="-122"/>
              </a:rPr>
              <a:t>/</a:t>
            </a:r>
            <a:r>
              <a:rPr lang="zh-CN" altLang="en-US" dirty="0">
                <a:solidFill>
                  <a:schemeClr val="accent2"/>
                </a:solidFill>
                <a:latin typeface="宋体" pitchFamily="2" charset="-122"/>
              </a:rPr>
              <a:t>标准</a:t>
            </a:r>
            <a:r>
              <a:rPr lang="zh-CN" altLang="en-US" b="0" dirty="0">
                <a:solidFill>
                  <a:schemeClr val="accent2"/>
                </a:solidFill>
                <a:latin typeface="宋体" pitchFamily="2" charset="-122"/>
              </a:rPr>
              <a:t>。</a:t>
            </a:r>
            <a:r>
              <a:rPr lang="zh-CN" altLang="en-US" b="0" dirty="0">
                <a:latin typeface="宋体" pitchFamily="2" charset="-122"/>
              </a:rPr>
              <a:t>并开发了一个</a:t>
            </a:r>
            <a:r>
              <a:rPr lang="zh-CN" altLang="en-US" dirty="0">
                <a:solidFill>
                  <a:srgbClr val="FF0000"/>
                </a:solidFill>
                <a:latin typeface="宋体" pitchFamily="2" charset="-122"/>
              </a:rPr>
              <a:t>翻译程序</a:t>
            </a:r>
            <a:r>
              <a:rPr lang="zh-CN" altLang="en-US" b="0" dirty="0">
                <a:latin typeface="宋体" pitchFamily="2" charset="-122"/>
              </a:rPr>
              <a:t>，实现了将语句程序</a:t>
            </a:r>
            <a:r>
              <a:rPr lang="zh-CN" altLang="en-US" dirty="0">
                <a:solidFill>
                  <a:srgbClr val="FF0000"/>
                </a:solidFill>
                <a:latin typeface="宋体" pitchFamily="2" charset="-122"/>
              </a:rPr>
              <a:t>自动</a:t>
            </a:r>
            <a:r>
              <a:rPr lang="zh-CN" altLang="en-US" b="0" dirty="0">
                <a:latin typeface="宋体" pitchFamily="2" charset="-122"/>
              </a:rPr>
              <a:t>翻译成机器语言程序的功能。</a:t>
            </a:r>
          </a:p>
        </p:txBody>
      </p:sp>
      <p:sp>
        <p:nvSpPr>
          <p:cNvPr id="1966087" name="Text Box 7"/>
          <p:cNvSpPr txBox="1">
            <a:spLocks noChangeArrowheads="1"/>
          </p:cNvSpPr>
          <p:nvPr/>
        </p:nvSpPr>
        <p:spPr bwMode="auto">
          <a:xfrm>
            <a:off x="851829" y="4901507"/>
            <a:ext cx="6532562" cy="892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30000"/>
              </a:lnSpc>
            </a:pPr>
            <a:r>
              <a:rPr lang="zh-CN" altLang="en-US" dirty="0">
                <a:solidFill>
                  <a:srgbClr val="FF0000"/>
                </a:solidFill>
                <a:latin typeface="黑体" panose="02010609060101010101" pitchFamily="49" charset="-122"/>
                <a:ea typeface="黑体" panose="02010609060101010101" pitchFamily="49" charset="-122"/>
              </a:rPr>
              <a:t>高级语言源程序</a:t>
            </a:r>
            <a:r>
              <a:rPr lang="zh-CN" altLang="en-US" dirty="0">
                <a:solidFill>
                  <a:srgbClr val="FF0000"/>
                </a:solidFill>
              </a:rPr>
              <a:t>：</a:t>
            </a:r>
            <a:r>
              <a:rPr lang="zh-CN" altLang="en-US" sz="1600" b="0" dirty="0">
                <a:solidFill>
                  <a:schemeClr val="accent2"/>
                </a:solidFill>
                <a:latin typeface="宋体" pitchFamily="2" charset="-122"/>
              </a:rPr>
              <a:t>是用高级语言编出的程序。</a:t>
            </a:r>
          </a:p>
          <a:p>
            <a:pPr>
              <a:lnSpc>
                <a:spcPct val="130000"/>
              </a:lnSpc>
            </a:pPr>
            <a:r>
              <a:rPr lang="zh-CN" altLang="en-US" dirty="0">
                <a:solidFill>
                  <a:srgbClr val="FF0000"/>
                </a:solidFill>
                <a:latin typeface="黑体" panose="02010609060101010101" pitchFamily="49" charset="-122"/>
                <a:ea typeface="黑体" panose="02010609060101010101" pitchFamily="49" charset="-122"/>
              </a:rPr>
              <a:t>编译程序</a:t>
            </a:r>
            <a:r>
              <a:rPr lang="zh-CN" altLang="en-US" dirty="0">
                <a:solidFill>
                  <a:srgbClr val="FF0000"/>
                </a:solidFill>
              </a:rPr>
              <a:t>：</a:t>
            </a:r>
            <a:r>
              <a:rPr lang="zh-CN" altLang="en-US" sz="1600" b="0" dirty="0">
                <a:solidFill>
                  <a:schemeClr val="accent2"/>
                </a:solidFill>
                <a:latin typeface="宋体" pitchFamily="2" charset="-122"/>
              </a:rPr>
              <a:t>是将高级语言源程序翻译成机器语言程序的程序。</a:t>
            </a:r>
            <a:endParaRPr lang="en-US" altLang="zh-CN" sz="1600" b="0" dirty="0">
              <a:solidFill>
                <a:schemeClr val="accent2"/>
              </a:solidFill>
              <a:latin typeface="宋体" pitchFamily="2" charset="-122"/>
            </a:endParaRPr>
          </a:p>
        </p:txBody>
      </p:sp>
      <p:sp>
        <p:nvSpPr>
          <p:cNvPr id="1966090" name="Text Box 16"/>
          <p:cNvSpPr txBox="1">
            <a:spLocks noChangeArrowheads="1"/>
          </p:cNvSpPr>
          <p:nvPr/>
        </p:nvSpPr>
        <p:spPr bwMode="auto">
          <a:xfrm>
            <a:off x="1687513" y="1"/>
            <a:ext cx="35461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由机器语言到高级语言</a:t>
            </a:r>
          </a:p>
          <a:p>
            <a:pPr eaLnBrk="1" hangingPunct="1">
              <a:lnSpc>
                <a:spcPct val="120000"/>
              </a:lnSpc>
            </a:pPr>
            <a:r>
              <a:rPr lang="en-US" altLang="zh-CN" sz="2000">
                <a:solidFill>
                  <a:schemeClr val="bg1"/>
                </a:solidFill>
                <a:ea typeface="华文中宋" panose="02010600040101010101" pitchFamily="2" charset="-122"/>
              </a:rPr>
              <a:t>(5)</a:t>
            </a:r>
            <a:r>
              <a:rPr lang="zh-CN" altLang="en-US" sz="2000">
                <a:solidFill>
                  <a:schemeClr val="bg1"/>
                </a:solidFill>
                <a:ea typeface="华文中宋" panose="02010600040101010101" pitchFamily="2" charset="-122"/>
              </a:rPr>
              <a:t>为什么还要提出高级语言</a:t>
            </a:r>
            <a:r>
              <a:rPr lang="en-US" altLang="zh-CN" sz="2000">
                <a:solidFill>
                  <a:schemeClr val="bg1"/>
                </a:solidFill>
                <a:ea typeface="华文中宋" panose="02010600040101010101" pitchFamily="2" charset="-122"/>
              </a:rPr>
              <a:t>? </a:t>
            </a:r>
          </a:p>
        </p:txBody>
      </p:sp>
      <p:grpSp>
        <p:nvGrpSpPr>
          <p:cNvPr id="1966093" name="Group 13"/>
          <p:cNvGrpSpPr/>
          <p:nvPr/>
        </p:nvGrpSpPr>
        <p:grpSpPr bwMode="auto">
          <a:xfrm>
            <a:off x="745466" y="3575311"/>
            <a:ext cx="1279525" cy="1173163"/>
            <a:chOff x="4298" y="601"/>
            <a:chExt cx="806" cy="739"/>
          </a:xfrm>
        </p:grpSpPr>
        <p:sp>
          <p:nvSpPr>
            <p:cNvPr id="20"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1"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16" name="Text Box 84"/>
            <p:cNvSpPr txBox="1">
              <a:spLocks noChangeArrowheads="1"/>
            </p:cNvSpPr>
            <p:nvPr/>
          </p:nvSpPr>
          <p:spPr bwMode="auto">
            <a:xfrm>
              <a:off x="4367" y="712"/>
              <a:ext cx="66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高级语言</a:t>
              </a:r>
            </a:p>
          </p:txBody>
        </p:sp>
      </p:grpSp>
      <p:sp>
        <p:nvSpPr>
          <p:cNvPr id="17"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
        <p:nvSpPr>
          <p:cNvPr id="18" name="圆角矩形 17"/>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高级语言</a:t>
            </a:r>
          </a:p>
        </p:txBody>
      </p:sp>
      <p:sp>
        <p:nvSpPr>
          <p:cNvPr id="2" name="矩形 1"/>
          <p:cNvSpPr/>
          <p:nvPr/>
        </p:nvSpPr>
        <p:spPr>
          <a:xfrm>
            <a:off x="2131354" y="3887095"/>
            <a:ext cx="4801314" cy="492443"/>
          </a:xfrm>
          <a:prstGeom prst="rect">
            <a:avLst/>
          </a:prstGeom>
        </p:spPr>
        <p:txBody>
          <a:bodyPr wrap="none">
            <a:spAutoFit/>
          </a:bodyPr>
          <a:lstStyle/>
          <a:p>
            <a:pPr>
              <a:lnSpc>
                <a:spcPct val="130000"/>
              </a:lnSpc>
            </a:pPr>
            <a:r>
              <a:rPr lang="zh-CN" altLang="en-US" b="0" dirty="0">
                <a:solidFill>
                  <a:schemeClr val="accent2"/>
                </a:solidFill>
                <a:latin typeface="宋体" pitchFamily="2" charset="-122"/>
              </a:rPr>
              <a:t>用类似自然语言的语句编写程序的语言。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66086"/>
                                        </p:tgtEl>
                                        <p:attrNameLst>
                                          <p:attrName>style.visibility</p:attrName>
                                        </p:attrNameLst>
                                      </p:cBhvr>
                                      <p:to>
                                        <p:strVal val="visible"/>
                                      </p:to>
                                    </p:set>
                                    <p:anim calcmode="lin" valueType="num">
                                      <p:cBhvr additive="base">
                                        <p:cTn id="7" dur="500" fill="hold"/>
                                        <p:tgtEl>
                                          <p:spTgt spid="1966086"/>
                                        </p:tgtEl>
                                        <p:attrNameLst>
                                          <p:attrName>ppt_x</p:attrName>
                                        </p:attrNameLst>
                                      </p:cBhvr>
                                      <p:tavLst>
                                        <p:tav tm="0">
                                          <p:val>
                                            <p:strVal val="1+#ppt_w/2"/>
                                          </p:val>
                                        </p:tav>
                                        <p:tav tm="100000">
                                          <p:val>
                                            <p:strVal val="#ppt_x"/>
                                          </p:val>
                                        </p:tav>
                                      </p:tavLst>
                                    </p:anim>
                                    <p:anim calcmode="lin" valueType="num">
                                      <p:cBhvr additive="base">
                                        <p:cTn id="8" dur="500" fill="hold"/>
                                        <p:tgtEl>
                                          <p:spTgt spid="19660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9660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966085"/>
                                        </p:tgtEl>
                                        <p:attrNameLst>
                                          <p:attrName>style.visibility</p:attrName>
                                        </p:attrNameLst>
                                      </p:cBhvr>
                                      <p:to>
                                        <p:strVal val="visible"/>
                                      </p:to>
                                    </p:set>
                                  </p:childTnLst>
                                </p:cTn>
                              </p:par>
                              <p:par>
                                <p:cTn id="17" presetID="2" presetClass="entr" presetSubtype="4" fill="hold" nodeType="withEffect">
                                  <p:stCondLst>
                                    <p:cond delay="0"/>
                                  </p:stCondLst>
                                  <p:childTnLst>
                                    <p:set>
                                      <p:cBhvr>
                                        <p:cTn id="18" dur="1" fill="hold">
                                          <p:stCondLst>
                                            <p:cond delay="0"/>
                                          </p:stCondLst>
                                        </p:cTn>
                                        <p:tgtEl>
                                          <p:spTgt spid="1966093"/>
                                        </p:tgtEl>
                                        <p:attrNameLst>
                                          <p:attrName>style.visibility</p:attrName>
                                        </p:attrNameLst>
                                      </p:cBhvr>
                                      <p:to>
                                        <p:strVal val="visible"/>
                                      </p:to>
                                    </p:set>
                                    <p:anim calcmode="lin" valueType="num">
                                      <p:cBhvr additive="base">
                                        <p:cTn id="19" dur="500" fill="hold"/>
                                        <p:tgtEl>
                                          <p:spTgt spid="1966093"/>
                                        </p:tgtEl>
                                        <p:attrNameLst>
                                          <p:attrName>ppt_x</p:attrName>
                                        </p:attrNameLst>
                                      </p:cBhvr>
                                      <p:tavLst>
                                        <p:tav tm="0">
                                          <p:val>
                                            <p:strVal val="#ppt_x"/>
                                          </p:val>
                                        </p:tav>
                                        <p:tav tm="100000">
                                          <p:val>
                                            <p:strVal val="#ppt_x"/>
                                          </p:val>
                                        </p:tav>
                                      </p:tavLst>
                                    </p:anim>
                                    <p:anim calcmode="lin" valueType="num">
                                      <p:cBhvr additive="base">
                                        <p:cTn id="20" dur="500" fill="hold"/>
                                        <p:tgtEl>
                                          <p:spTgt spid="196609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966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083" grpId="0" autoUpdateAnimBg="0"/>
      <p:bldP spid="1966085" grpId="0" animBg="1" autoUpdateAnimBg="0"/>
      <p:bldP spid="1966086" grpId="0" autoUpdateAnimBg="0"/>
      <p:bldP spid="1966087" grpId="0" autoUpdateAnimBg="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0281" name="Text Box 25"/>
          <p:cNvSpPr txBox="1">
            <a:spLocks noChangeArrowheads="1"/>
          </p:cNvSpPr>
          <p:nvPr/>
        </p:nvSpPr>
        <p:spPr bwMode="auto">
          <a:xfrm>
            <a:off x="623476" y="1763248"/>
            <a:ext cx="9547637"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zh-CN" dirty="0">
                <a:latin typeface="Times New Roman" panose="02020503050405090304" pitchFamily="18" charset="0"/>
              </a:rPr>
              <a:t>高级语言：</a:t>
            </a:r>
            <a:r>
              <a:rPr lang="zh-CN" altLang="zh-CN" sz="1600" dirty="0">
                <a:latin typeface="Times New Roman" panose="02020503050405090304" pitchFamily="18" charset="0"/>
              </a:rPr>
              <a:t>机器无关性；一条高级语言语句往往可由若干条机器语言语句实现且不具有对应性</a:t>
            </a:r>
            <a:endParaRPr lang="en-US" altLang="zh-CN" sz="1600" dirty="0">
              <a:latin typeface="Times New Roman" panose="02020503050405090304" pitchFamily="18" charset="0"/>
            </a:endParaRPr>
          </a:p>
          <a:p>
            <a:pPr>
              <a:lnSpc>
                <a:spcPct val="130000"/>
              </a:lnSpc>
            </a:pPr>
            <a:r>
              <a:rPr lang="zh-CN" altLang="zh-CN" dirty="0">
                <a:latin typeface="Times New Roman" panose="02020503050405090304" pitchFamily="18" charset="0"/>
              </a:rPr>
              <a:t>汇编语言：</a:t>
            </a:r>
            <a:r>
              <a:rPr lang="zh-CN" altLang="zh-CN" sz="1600" dirty="0">
                <a:latin typeface="Times New Roman" panose="02020503050405090304" pitchFamily="18" charset="0"/>
              </a:rPr>
              <a:t>机器相关性；汇编语言语句和机器语言语句有对应性</a:t>
            </a:r>
          </a:p>
        </p:txBody>
      </p:sp>
      <p:sp>
        <p:nvSpPr>
          <p:cNvPr id="22"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由机器语言到高级语言</a:t>
            </a:r>
          </a:p>
        </p:txBody>
      </p:sp>
      <p:sp>
        <p:nvSpPr>
          <p:cNvPr id="23" name="圆角矩形 22"/>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高级语言 </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vs. </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汇编语言</a:t>
            </a:r>
          </a:p>
        </p:txBody>
      </p:sp>
      <p:pic>
        <p:nvPicPr>
          <p:cNvPr id="2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955" y="5288317"/>
            <a:ext cx="1054100" cy="1292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Freeform 13"/>
          <p:cNvSpPr/>
          <p:nvPr/>
        </p:nvSpPr>
        <p:spPr bwMode="auto">
          <a:xfrm rot="1440000">
            <a:off x="6625432" y="3098729"/>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 name="Oval 14"/>
          <p:cNvSpPr>
            <a:spLocks noChangeArrowheads="1"/>
          </p:cNvSpPr>
          <p:nvPr/>
        </p:nvSpPr>
        <p:spPr bwMode="auto">
          <a:xfrm>
            <a:off x="7458363" y="4153419"/>
            <a:ext cx="764600" cy="675156"/>
          </a:xfrm>
          <a:prstGeom prst="ellipse">
            <a:avLst/>
          </a:prstGeom>
          <a:solidFill>
            <a:schemeClr val="tx1"/>
          </a:solidFill>
          <a:ln w="9525">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a:solidFill>
                  <a:schemeClr val="bg1"/>
                </a:solidFill>
                <a:latin typeface="Times New Roman" panose="02020503050405090304" pitchFamily="18" charset="0"/>
                <a:ea typeface="楷体_GB2312" pitchFamily="49" charset="-122"/>
              </a:rPr>
              <a:t>汇编</a:t>
            </a:r>
          </a:p>
          <a:p>
            <a:pPr algn="ctr">
              <a:lnSpc>
                <a:spcPct val="90000"/>
              </a:lnSpc>
            </a:pPr>
            <a:r>
              <a:rPr lang="zh-CN" altLang="en-US" sz="1400">
                <a:solidFill>
                  <a:schemeClr val="bg1"/>
                </a:solidFill>
                <a:latin typeface="Times New Roman" panose="02020503050405090304" pitchFamily="18" charset="0"/>
                <a:ea typeface="楷体_GB2312" pitchFamily="49" charset="-122"/>
              </a:rPr>
              <a:t>程序</a:t>
            </a:r>
          </a:p>
        </p:txBody>
      </p:sp>
      <p:sp>
        <p:nvSpPr>
          <p:cNvPr id="31" name="AutoShape 15"/>
          <p:cNvSpPr>
            <a:spLocks noChangeArrowheads="1"/>
          </p:cNvSpPr>
          <p:nvPr/>
        </p:nvSpPr>
        <p:spPr bwMode="auto">
          <a:xfrm>
            <a:off x="5661820" y="3027008"/>
            <a:ext cx="904875" cy="545140"/>
          </a:xfrm>
          <a:prstGeom prst="foldedCorner">
            <a:avLst>
              <a:gd name="adj" fmla="val 125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pPr>
            <a:r>
              <a:rPr lang="zh-CN" altLang="en-US" sz="1400" b="0">
                <a:solidFill>
                  <a:srgbClr val="000000"/>
                </a:solidFill>
                <a:latin typeface="Times New Roman" panose="02020503050405090304" pitchFamily="18" charset="0"/>
                <a:ea typeface="楷体_GB2312" pitchFamily="49" charset="-122"/>
              </a:rPr>
              <a:t>汇编语言源程序</a:t>
            </a:r>
          </a:p>
        </p:txBody>
      </p:sp>
      <p:sp>
        <p:nvSpPr>
          <p:cNvPr id="32" name="Text Box 16"/>
          <p:cNvSpPr txBox="1">
            <a:spLocks noChangeArrowheads="1"/>
          </p:cNvSpPr>
          <p:nvPr/>
        </p:nvSpPr>
        <p:spPr bwMode="auto">
          <a:xfrm>
            <a:off x="5717381" y="2787610"/>
            <a:ext cx="79375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200" b="0">
                <a:solidFill>
                  <a:srgbClr val="000000"/>
                </a:solidFill>
                <a:latin typeface="Times New Roman" panose="02020503050405090304" pitchFamily="18" charset="0"/>
                <a:ea typeface="楷体_GB2312" pitchFamily="49" charset="-122"/>
              </a:rPr>
              <a:t>助记符号</a:t>
            </a:r>
          </a:p>
        </p:txBody>
      </p:sp>
      <p:sp>
        <p:nvSpPr>
          <p:cNvPr id="33" name="Text Box 17"/>
          <p:cNvSpPr txBox="1">
            <a:spLocks noChangeArrowheads="1"/>
          </p:cNvSpPr>
          <p:nvPr/>
        </p:nvSpPr>
        <p:spPr bwMode="auto">
          <a:xfrm>
            <a:off x="7562057" y="3143210"/>
            <a:ext cx="549275" cy="314325"/>
          </a:xfrm>
          <a:prstGeom prst="rect">
            <a:avLst/>
          </a:prstGeom>
          <a:solidFill>
            <a:srgbClr val="C0C0C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t>转换</a:t>
            </a:r>
          </a:p>
        </p:txBody>
      </p:sp>
      <p:sp>
        <p:nvSpPr>
          <p:cNvPr id="34" name="Line 18"/>
          <p:cNvSpPr>
            <a:spLocks noChangeShapeType="1"/>
          </p:cNvSpPr>
          <p:nvPr/>
        </p:nvSpPr>
        <p:spPr bwMode="auto">
          <a:xfrm flipV="1">
            <a:off x="7846219" y="3476584"/>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19"/>
          <p:cNvSpPr txBox="1">
            <a:spLocks noChangeArrowheads="1"/>
          </p:cNvSpPr>
          <p:nvPr/>
        </p:nvSpPr>
        <p:spPr bwMode="auto">
          <a:xfrm>
            <a:off x="7782720" y="3503571"/>
            <a:ext cx="5175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0" lang="zh-CN" altLang="en-US" sz="1200"/>
              <a:t>执行</a:t>
            </a:r>
          </a:p>
        </p:txBody>
      </p:sp>
      <p:sp>
        <p:nvSpPr>
          <p:cNvPr id="36" name="Line 20"/>
          <p:cNvSpPr>
            <a:spLocks noChangeShapeType="1"/>
          </p:cNvSpPr>
          <p:nvPr/>
        </p:nvSpPr>
        <p:spPr bwMode="auto">
          <a:xfrm>
            <a:off x="6931820" y="4490996"/>
            <a:ext cx="58102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AutoShape 21"/>
          <p:cNvSpPr>
            <a:spLocks noChangeArrowheads="1"/>
          </p:cNvSpPr>
          <p:nvPr/>
        </p:nvSpPr>
        <p:spPr bwMode="auto">
          <a:xfrm>
            <a:off x="5569744" y="4048085"/>
            <a:ext cx="1352550" cy="885825"/>
          </a:xfrm>
          <a:prstGeom prst="can">
            <a:avLst>
              <a:gd name="adj" fmla="val 13264"/>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Text Box 22"/>
          <p:cNvSpPr txBox="1">
            <a:spLocks noChangeArrowheads="1"/>
          </p:cNvSpPr>
          <p:nvPr/>
        </p:nvSpPr>
        <p:spPr bwMode="auto">
          <a:xfrm>
            <a:off x="5526881" y="4305260"/>
            <a:ext cx="14605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000">
                <a:solidFill>
                  <a:schemeClr val="bg1"/>
                </a:solidFill>
              </a:rPr>
              <a:t>转换规则</a:t>
            </a:r>
          </a:p>
          <a:p>
            <a:pPr algn="ctr"/>
            <a:r>
              <a:rPr kumimoji="0" lang="en-US" altLang="zh-CN" sz="1000">
                <a:solidFill>
                  <a:schemeClr val="bg1"/>
                </a:solidFill>
              </a:rPr>
              <a:t>{ </a:t>
            </a:r>
            <a:r>
              <a:rPr kumimoji="0" lang="zh-CN" altLang="en-US" sz="1000">
                <a:solidFill>
                  <a:schemeClr val="bg1"/>
                </a:solidFill>
              </a:rPr>
              <a:t>助记符号，机器指令</a:t>
            </a:r>
            <a:r>
              <a:rPr kumimoji="0" lang="en-US" altLang="zh-CN" sz="1000">
                <a:solidFill>
                  <a:schemeClr val="bg1"/>
                </a:solidFill>
              </a:rPr>
              <a:t>}</a:t>
            </a:r>
          </a:p>
        </p:txBody>
      </p:sp>
      <p:sp>
        <p:nvSpPr>
          <p:cNvPr id="39" name="Rectangle 23"/>
          <p:cNvSpPr>
            <a:spLocks noChangeArrowheads="1"/>
          </p:cNvSpPr>
          <p:nvPr/>
        </p:nvSpPr>
        <p:spPr bwMode="auto">
          <a:xfrm>
            <a:off x="5484020" y="3971884"/>
            <a:ext cx="2790825" cy="1047750"/>
          </a:xfrm>
          <a:prstGeom prst="rect">
            <a:avLst/>
          </a:prstGeom>
          <a:noFill/>
          <a:ln w="28575" algn="ctr">
            <a:solidFill>
              <a:srgbClr val="C0C0C0"/>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24"/>
          <p:cNvSpPr/>
          <p:nvPr/>
        </p:nvSpPr>
        <p:spPr bwMode="auto">
          <a:xfrm rot="1440000">
            <a:off x="3272632" y="3098729"/>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1" name="Oval 25"/>
          <p:cNvSpPr>
            <a:spLocks noChangeArrowheads="1"/>
          </p:cNvSpPr>
          <p:nvPr/>
        </p:nvSpPr>
        <p:spPr bwMode="auto">
          <a:xfrm>
            <a:off x="4106356" y="4155006"/>
            <a:ext cx="764600" cy="675156"/>
          </a:xfrm>
          <a:prstGeom prst="ellipse">
            <a:avLst/>
          </a:prstGeom>
          <a:solidFill>
            <a:schemeClr val="tx2"/>
          </a:solidFill>
          <a:ln w="9525">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a:solidFill>
                  <a:schemeClr val="bg1"/>
                </a:solidFill>
                <a:latin typeface="Times New Roman" panose="02020503050405090304" pitchFamily="18" charset="0"/>
                <a:ea typeface="楷体_GB2312" pitchFamily="49" charset="-122"/>
              </a:rPr>
              <a:t>编译</a:t>
            </a:r>
          </a:p>
          <a:p>
            <a:pPr algn="ctr">
              <a:lnSpc>
                <a:spcPct val="90000"/>
              </a:lnSpc>
            </a:pPr>
            <a:r>
              <a:rPr lang="zh-CN" altLang="en-US" sz="1400">
                <a:solidFill>
                  <a:schemeClr val="bg1"/>
                </a:solidFill>
                <a:latin typeface="Times New Roman" panose="02020503050405090304" pitchFamily="18" charset="0"/>
                <a:ea typeface="楷体_GB2312" pitchFamily="49" charset="-122"/>
              </a:rPr>
              <a:t>程序</a:t>
            </a:r>
          </a:p>
        </p:txBody>
      </p:sp>
      <p:sp>
        <p:nvSpPr>
          <p:cNvPr id="42" name="AutoShape 26"/>
          <p:cNvSpPr>
            <a:spLocks noChangeArrowheads="1"/>
          </p:cNvSpPr>
          <p:nvPr/>
        </p:nvSpPr>
        <p:spPr bwMode="auto">
          <a:xfrm>
            <a:off x="2337595" y="3014308"/>
            <a:ext cx="923925" cy="545140"/>
          </a:xfrm>
          <a:prstGeom prst="foldedCorner">
            <a:avLst>
              <a:gd name="adj" fmla="val 125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pPr>
            <a:r>
              <a:rPr lang="zh-CN" altLang="en-US" sz="1400" b="0">
                <a:solidFill>
                  <a:srgbClr val="000000"/>
                </a:solidFill>
                <a:latin typeface="Times New Roman" panose="02020503050405090304" pitchFamily="18" charset="0"/>
                <a:ea typeface="楷体_GB2312" pitchFamily="49" charset="-122"/>
              </a:rPr>
              <a:t>高级语言源程序</a:t>
            </a:r>
          </a:p>
        </p:txBody>
      </p:sp>
      <p:sp>
        <p:nvSpPr>
          <p:cNvPr id="43" name="Text Box 27"/>
          <p:cNvSpPr txBox="1">
            <a:spLocks noChangeArrowheads="1"/>
          </p:cNvSpPr>
          <p:nvPr/>
        </p:nvSpPr>
        <p:spPr bwMode="auto">
          <a:xfrm>
            <a:off x="2140745" y="3579772"/>
            <a:ext cx="1336675"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200" b="0">
                <a:solidFill>
                  <a:srgbClr val="000000"/>
                </a:solidFill>
                <a:latin typeface="Times New Roman" panose="02020503050405090304" pitchFamily="18" charset="0"/>
                <a:ea typeface="楷体_GB2312" pitchFamily="49" charset="-122"/>
              </a:rPr>
              <a:t>变量</a:t>
            </a:r>
            <a:r>
              <a:rPr lang="en-US" altLang="zh-CN" sz="1200" b="0">
                <a:solidFill>
                  <a:srgbClr val="000000"/>
                </a:solidFill>
                <a:latin typeface="Times New Roman" panose="02020503050405090304" pitchFamily="18" charset="0"/>
                <a:ea typeface="楷体_GB2312" pitchFamily="49" charset="-122"/>
              </a:rPr>
              <a:t>/</a:t>
            </a:r>
            <a:r>
              <a:rPr lang="zh-CN" altLang="en-US" sz="1200" b="0">
                <a:solidFill>
                  <a:srgbClr val="000000"/>
                </a:solidFill>
                <a:latin typeface="Times New Roman" panose="02020503050405090304" pitchFamily="18" charset="0"/>
                <a:ea typeface="楷体_GB2312" pitchFamily="49" charset="-122"/>
              </a:rPr>
              <a:t>表达式</a:t>
            </a:r>
            <a:r>
              <a:rPr lang="en-US" altLang="zh-CN" sz="1200" b="0">
                <a:solidFill>
                  <a:srgbClr val="000000"/>
                </a:solidFill>
                <a:latin typeface="Times New Roman" panose="02020503050405090304" pitchFamily="18" charset="0"/>
                <a:ea typeface="楷体_GB2312" pitchFamily="49" charset="-122"/>
              </a:rPr>
              <a:t>/</a:t>
            </a:r>
            <a:r>
              <a:rPr lang="zh-CN" altLang="en-US" sz="1200" b="0">
                <a:solidFill>
                  <a:srgbClr val="000000"/>
                </a:solidFill>
                <a:latin typeface="Times New Roman" panose="02020503050405090304" pitchFamily="18" charset="0"/>
                <a:ea typeface="楷体_GB2312" pitchFamily="49" charset="-122"/>
              </a:rPr>
              <a:t>语句</a:t>
            </a:r>
          </a:p>
        </p:txBody>
      </p:sp>
      <p:sp>
        <p:nvSpPr>
          <p:cNvPr id="44" name="AutoShape 28"/>
          <p:cNvSpPr>
            <a:spLocks noChangeArrowheads="1"/>
          </p:cNvSpPr>
          <p:nvPr/>
        </p:nvSpPr>
        <p:spPr bwMode="auto">
          <a:xfrm>
            <a:off x="9016520" y="3027008"/>
            <a:ext cx="723275" cy="545140"/>
          </a:xfrm>
          <a:prstGeom prst="foldedCorner">
            <a:avLst>
              <a:gd name="adj" fmla="val 125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400" b="0">
                <a:solidFill>
                  <a:srgbClr val="000000"/>
                </a:solidFill>
                <a:latin typeface="Times New Roman" panose="02020503050405090304" pitchFamily="18" charset="0"/>
                <a:ea typeface="楷体_GB2312" pitchFamily="49" charset="-122"/>
              </a:rPr>
              <a:t>机器语</a:t>
            </a:r>
          </a:p>
          <a:p>
            <a:pPr algn="ctr">
              <a:lnSpc>
                <a:spcPct val="90000"/>
              </a:lnSpc>
            </a:pPr>
            <a:r>
              <a:rPr lang="zh-CN" altLang="en-US" sz="1400" b="0">
                <a:solidFill>
                  <a:srgbClr val="000000"/>
                </a:solidFill>
                <a:latin typeface="Times New Roman" panose="02020503050405090304" pitchFamily="18" charset="0"/>
                <a:ea typeface="楷体_GB2312" pitchFamily="49" charset="-122"/>
              </a:rPr>
              <a:t>言程序</a:t>
            </a:r>
          </a:p>
        </p:txBody>
      </p:sp>
      <p:sp>
        <p:nvSpPr>
          <p:cNvPr id="45" name="Text Box 29"/>
          <p:cNvSpPr txBox="1">
            <a:spLocks noChangeArrowheads="1"/>
          </p:cNvSpPr>
          <p:nvPr/>
        </p:nvSpPr>
        <p:spPr bwMode="auto">
          <a:xfrm>
            <a:off x="8822531" y="3579772"/>
            <a:ext cx="109855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1200" b="0">
                <a:solidFill>
                  <a:srgbClr val="000000"/>
                </a:solidFill>
                <a:latin typeface="Times New Roman" panose="02020503050405090304" pitchFamily="18" charset="0"/>
                <a:ea typeface="楷体_GB2312" pitchFamily="49" charset="-122"/>
              </a:rPr>
              <a:t>二进制和编码</a:t>
            </a:r>
          </a:p>
        </p:txBody>
      </p:sp>
      <p:sp>
        <p:nvSpPr>
          <p:cNvPr id="46" name="Text Box 30"/>
          <p:cNvSpPr txBox="1">
            <a:spLocks noChangeArrowheads="1"/>
          </p:cNvSpPr>
          <p:nvPr/>
        </p:nvSpPr>
        <p:spPr bwMode="auto">
          <a:xfrm>
            <a:off x="8279051" y="5200093"/>
            <a:ext cx="902811" cy="160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1400">
                <a:solidFill>
                  <a:srgbClr val="000000"/>
                </a:solidFill>
                <a:latin typeface="Times New Roman" panose="02020503050405090304" pitchFamily="18" charset="0"/>
              </a:rPr>
              <a:t>10000110</a:t>
            </a:r>
          </a:p>
          <a:p>
            <a:pPr algn="ctr"/>
            <a:r>
              <a:rPr lang="en-US" altLang="zh-CN" sz="1400">
                <a:solidFill>
                  <a:srgbClr val="000000"/>
                </a:solidFill>
                <a:latin typeface="Times New Roman" panose="02020503050405090304" pitchFamily="18" charset="0"/>
              </a:rPr>
              <a:t>00000111</a:t>
            </a:r>
          </a:p>
          <a:p>
            <a:pPr algn="ctr"/>
            <a:r>
              <a:rPr lang="en-US" altLang="zh-CN" sz="1400">
                <a:solidFill>
                  <a:srgbClr val="000000"/>
                </a:solidFill>
                <a:latin typeface="Times New Roman" panose="02020503050405090304" pitchFamily="18" charset="0"/>
              </a:rPr>
              <a:t>10001011</a:t>
            </a:r>
          </a:p>
          <a:p>
            <a:pPr algn="ctr"/>
            <a:r>
              <a:rPr lang="en-US" altLang="zh-CN" sz="1400">
                <a:solidFill>
                  <a:srgbClr val="000000"/>
                </a:solidFill>
                <a:latin typeface="Times New Roman" panose="02020503050405090304" pitchFamily="18" charset="0"/>
              </a:rPr>
              <a:t>00001010</a:t>
            </a:r>
          </a:p>
          <a:p>
            <a:pPr algn="ctr"/>
            <a:r>
              <a:rPr lang="en-US" altLang="zh-CN" sz="1400">
                <a:solidFill>
                  <a:srgbClr val="000000"/>
                </a:solidFill>
                <a:latin typeface="Times New Roman" panose="02020503050405090304" pitchFamily="18" charset="0"/>
              </a:rPr>
              <a:t>10010111</a:t>
            </a:r>
          </a:p>
          <a:p>
            <a:pPr algn="ctr"/>
            <a:r>
              <a:rPr lang="en-US" altLang="zh-CN" sz="1400">
                <a:solidFill>
                  <a:srgbClr val="000000"/>
                </a:solidFill>
                <a:latin typeface="Times New Roman" panose="02020503050405090304" pitchFamily="18" charset="0"/>
              </a:rPr>
              <a:t>00000110</a:t>
            </a:r>
          </a:p>
          <a:p>
            <a:pPr algn="ctr"/>
            <a:r>
              <a:rPr lang="en-US" altLang="zh-CN" sz="1400">
                <a:solidFill>
                  <a:srgbClr val="000000"/>
                </a:solidFill>
                <a:latin typeface="Times New Roman" panose="02020503050405090304" pitchFamily="18" charset="0"/>
              </a:rPr>
              <a:t>11110100</a:t>
            </a:r>
            <a:endParaRPr lang="en-US" altLang="zh-CN" sz="1400">
              <a:solidFill>
                <a:srgbClr val="000000"/>
              </a:solidFill>
              <a:latin typeface="Times New Roman" panose="02020503050405090304" pitchFamily="18" charset="0"/>
              <a:ea typeface="隶书" panose="02010509060101010101" pitchFamily="49" charset="-122"/>
            </a:endParaRPr>
          </a:p>
        </p:txBody>
      </p:sp>
      <p:sp>
        <p:nvSpPr>
          <p:cNvPr id="47" name="Text Box 31"/>
          <p:cNvSpPr txBox="1">
            <a:spLocks noChangeArrowheads="1"/>
          </p:cNvSpPr>
          <p:nvPr/>
        </p:nvSpPr>
        <p:spPr bwMode="auto">
          <a:xfrm>
            <a:off x="4209257" y="3143210"/>
            <a:ext cx="549275" cy="314325"/>
          </a:xfrm>
          <a:prstGeom prst="rect">
            <a:avLst/>
          </a:prstGeom>
          <a:solidFill>
            <a:srgbClr val="C0C0C0"/>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t>转换</a:t>
            </a:r>
          </a:p>
        </p:txBody>
      </p:sp>
      <p:sp>
        <p:nvSpPr>
          <p:cNvPr id="48" name="Freeform 32"/>
          <p:cNvSpPr/>
          <p:nvPr/>
        </p:nvSpPr>
        <p:spPr bwMode="auto">
          <a:xfrm rot="1440000">
            <a:off x="8127207" y="3100317"/>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9" name="Line 33"/>
          <p:cNvSpPr>
            <a:spLocks noChangeShapeType="1"/>
          </p:cNvSpPr>
          <p:nvPr/>
        </p:nvSpPr>
        <p:spPr bwMode="auto">
          <a:xfrm flipV="1">
            <a:off x="4493419" y="3468646"/>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Text Box 34"/>
          <p:cNvSpPr txBox="1">
            <a:spLocks noChangeArrowheads="1"/>
          </p:cNvSpPr>
          <p:nvPr/>
        </p:nvSpPr>
        <p:spPr bwMode="auto">
          <a:xfrm>
            <a:off x="4429920" y="3495635"/>
            <a:ext cx="517525"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0" lang="zh-CN" altLang="en-US" sz="1200"/>
              <a:t>执行</a:t>
            </a:r>
          </a:p>
        </p:txBody>
      </p:sp>
      <p:sp>
        <p:nvSpPr>
          <p:cNvPr id="51" name="Line 35"/>
          <p:cNvSpPr>
            <a:spLocks noChangeShapeType="1"/>
          </p:cNvSpPr>
          <p:nvPr/>
        </p:nvSpPr>
        <p:spPr bwMode="auto">
          <a:xfrm>
            <a:off x="3579020" y="4492584"/>
            <a:ext cx="58102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Rectangle 36"/>
          <p:cNvSpPr>
            <a:spLocks noChangeArrowheads="1"/>
          </p:cNvSpPr>
          <p:nvPr/>
        </p:nvSpPr>
        <p:spPr bwMode="auto">
          <a:xfrm>
            <a:off x="1849435" y="6590861"/>
            <a:ext cx="898525"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pPr>
            <a:r>
              <a:rPr lang="zh-CN" altLang="en-US" sz="1400" dirty="0">
                <a:solidFill>
                  <a:srgbClr val="3333CC"/>
                </a:solidFill>
                <a:latin typeface="Times New Roman" panose="02020503050405090304" pitchFamily="18" charset="0"/>
                <a:ea typeface="楷体_GB2312" pitchFamily="49" charset="-122"/>
              </a:rPr>
              <a:t>高级语言</a:t>
            </a:r>
          </a:p>
        </p:txBody>
      </p:sp>
      <p:sp>
        <p:nvSpPr>
          <p:cNvPr id="53" name="AutoShape 37"/>
          <p:cNvSpPr>
            <a:spLocks noChangeArrowheads="1"/>
          </p:cNvSpPr>
          <p:nvPr/>
        </p:nvSpPr>
        <p:spPr bwMode="auto">
          <a:xfrm>
            <a:off x="2226469" y="4049672"/>
            <a:ext cx="1352550" cy="885825"/>
          </a:xfrm>
          <a:prstGeom prst="can">
            <a:avLst>
              <a:gd name="adj" fmla="val 13264"/>
            </a:avLst>
          </a:prstGeom>
          <a:solidFill>
            <a:schemeClr val="tx2"/>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38"/>
          <p:cNvSpPr txBox="1">
            <a:spLocks noChangeArrowheads="1"/>
          </p:cNvSpPr>
          <p:nvPr/>
        </p:nvSpPr>
        <p:spPr bwMode="auto">
          <a:xfrm>
            <a:off x="2279956" y="4243346"/>
            <a:ext cx="121700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a:solidFill>
                  <a:schemeClr val="bg1"/>
                </a:solidFill>
              </a:rPr>
              <a:t>编译规则</a:t>
            </a:r>
          </a:p>
        </p:txBody>
      </p:sp>
      <p:sp>
        <p:nvSpPr>
          <p:cNvPr id="55" name="Rectangle 41"/>
          <p:cNvSpPr>
            <a:spLocks noChangeArrowheads="1"/>
          </p:cNvSpPr>
          <p:nvPr/>
        </p:nvSpPr>
        <p:spPr bwMode="auto">
          <a:xfrm>
            <a:off x="9678983" y="6570223"/>
            <a:ext cx="1014412"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4D4D4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90000"/>
              </a:lnSpc>
            </a:pPr>
            <a:r>
              <a:rPr lang="zh-CN" altLang="en-US" sz="1400" dirty="0">
                <a:solidFill>
                  <a:srgbClr val="3333CC"/>
                </a:solidFill>
                <a:latin typeface="Times New Roman" panose="02020503050405090304" pitchFamily="18" charset="0"/>
                <a:ea typeface="楷体_GB2312" pitchFamily="49" charset="-122"/>
              </a:rPr>
              <a:t>机器语言</a:t>
            </a:r>
          </a:p>
        </p:txBody>
      </p:sp>
      <p:sp>
        <p:nvSpPr>
          <p:cNvPr id="56" name="Text Box 42"/>
          <p:cNvSpPr txBox="1">
            <a:spLocks noChangeArrowheads="1"/>
          </p:cNvSpPr>
          <p:nvPr/>
        </p:nvSpPr>
        <p:spPr bwMode="auto">
          <a:xfrm>
            <a:off x="2375694" y="5822513"/>
            <a:ext cx="549275" cy="314325"/>
          </a:xfrm>
          <a:prstGeom prst="rect">
            <a:avLst/>
          </a:prstGeom>
          <a:solidFill>
            <a:srgbClr val="EAEAEA"/>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t>编制</a:t>
            </a:r>
          </a:p>
        </p:txBody>
      </p:sp>
      <p:sp>
        <p:nvSpPr>
          <p:cNvPr id="57" name="Line 43"/>
          <p:cNvSpPr>
            <a:spLocks noChangeShapeType="1"/>
          </p:cNvSpPr>
          <p:nvPr/>
        </p:nvSpPr>
        <p:spPr bwMode="auto">
          <a:xfrm flipV="1">
            <a:off x="2929730" y="5970151"/>
            <a:ext cx="306388" cy="158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44"/>
          <p:cNvSpPr>
            <a:spLocks noChangeArrowheads="1"/>
          </p:cNvSpPr>
          <p:nvPr/>
        </p:nvSpPr>
        <p:spPr bwMode="auto">
          <a:xfrm>
            <a:off x="2112170" y="3973471"/>
            <a:ext cx="2809875" cy="1047750"/>
          </a:xfrm>
          <a:prstGeom prst="rect">
            <a:avLst/>
          </a:prstGeom>
          <a:noFill/>
          <a:ln w="28575" algn="ctr">
            <a:solidFill>
              <a:srgbClr val="C0C0C0"/>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 Box 45"/>
          <p:cNvSpPr txBox="1">
            <a:spLocks noChangeArrowheads="1"/>
          </p:cNvSpPr>
          <p:nvPr/>
        </p:nvSpPr>
        <p:spPr bwMode="auto">
          <a:xfrm>
            <a:off x="3204369" y="5700603"/>
            <a:ext cx="123783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a:latin typeface="Times New Roman" panose="02020503050405090304" pitchFamily="18" charset="0"/>
              </a:rPr>
              <a:t>Result = 7+10</a:t>
            </a:r>
          </a:p>
          <a:p>
            <a:r>
              <a:rPr lang="en-US" altLang="zh-CN" sz="1400">
                <a:latin typeface="Times New Roman" panose="02020503050405090304" pitchFamily="18" charset="0"/>
              </a:rPr>
              <a:t>Return</a:t>
            </a:r>
            <a:endParaRPr lang="en-US" altLang="zh-CN" sz="1400">
              <a:latin typeface="Times New Roman" panose="02020503050405090304" pitchFamily="18" charset="0"/>
              <a:ea typeface="隶书" panose="02010509060101010101" pitchFamily="49" charset="-122"/>
            </a:endParaRPr>
          </a:p>
        </p:txBody>
      </p:sp>
      <p:sp>
        <p:nvSpPr>
          <p:cNvPr id="60" name="Text Box 46"/>
          <p:cNvSpPr txBox="1">
            <a:spLocks noChangeArrowheads="1"/>
          </p:cNvSpPr>
          <p:nvPr/>
        </p:nvSpPr>
        <p:spPr bwMode="auto">
          <a:xfrm>
            <a:off x="5603080" y="5561360"/>
            <a:ext cx="1173398"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400">
                <a:latin typeface="Times New Roman" panose="02020503050405090304" pitchFamily="18" charset="0"/>
              </a:rPr>
              <a:t>MOV  A,  7</a:t>
            </a:r>
          </a:p>
          <a:p>
            <a:r>
              <a:rPr lang="en-US" altLang="zh-CN" sz="1400">
                <a:latin typeface="Times New Roman" panose="02020503050405090304" pitchFamily="18" charset="0"/>
              </a:rPr>
              <a:t>ADD  A,  10</a:t>
            </a:r>
          </a:p>
          <a:p>
            <a:r>
              <a:rPr lang="en-US" altLang="zh-CN" sz="1400">
                <a:latin typeface="Times New Roman" panose="02020503050405090304" pitchFamily="18" charset="0"/>
              </a:rPr>
              <a:t>MOV  (6),  A</a:t>
            </a:r>
          </a:p>
          <a:p>
            <a:r>
              <a:rPr lang="en-US" altLang="zh-CN" sz="1400">
                <a:latin typeface="Times New Roman" panose="02020503050405090304" pitchFamily="18" charset="0"/>
              </a:rPr>
              <a:t>HLT</a:t>
            </a:r>
          </a:p>
        </p:txBody>
      </p:sp>
      <p:sp>
        <p:nvSpPr>
          <p:cNvPr id="61" name="Freeform 48"/>
          <p:cNvSpPr/>
          <p:nvPr/>
        </p:nvSpPr>
        <p:spPr bwMode="auto">
          <a:xfrm rot="1440000">
            <a:off x="4755357" y="3098729"/>
            <a:ext cx="887413" cy="400110"/>
          </a:xfrm>
          <a:custGeom>
            <a:avLst/>
            <a:gdLst>
              <a:gd name="T0" fmla="*/ 0 w 559"/>
              <a:gd name="T1" fmla="*/ 2 h 2"/>
              <a:gd name="T2" fmla="*/ 559 w 559"/>
              <a:gd name="T3" fmla="*/ 0 h 2"/>
            </a:gdLst>
            <a:ahLst/>
            <a:cxnLst>
              <a:cxn ang="0">
                <a:pos x="T0" y="T1"/>
              </a:cxn>
              <a:cxn ang="0">
                <a:pos x="T2" y="T3"/>
              </a:cxn>
            </a:cxnLst>
            <a:rect l="0" t="0" r="r" b="b"/>
            <a:pathLst>
              <a:path w="559" h="2">
                <a:moveTo>
                  <a:pt x="0" y="2"/>
                </a:moveTo>
                <a:lnTo>
                  <a:pt x="559" y="0"/>
                </a:lnTo>
              </a:path>
            </a:pathLst>
          </a:custGeom>
          <a:noFill/>
          <a:ln w="76200" cap="flat" cmpd="tri">
            <a:solidFill>
              <a:srgbClr val="4D4D4D"/>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 name="Text Box 50"/>
          <p:cNvSpPr txBox="1">
            <a:spLocks noChangeArrowheads="1"/>
          </p:cNvSpPr>
          <p:nvPr/>
        </p:nvSpPr>
        <p:spPr bwMode="auto">
          <a:xfrm>
            <a:off x="7014368" y="6006662"/>
            <a:ext cx="895350" cy="3048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rgbClr val="000000"/>
                </a:solidFill>
              </a:rPr>
              <a:t>自动转换</a:t>
            </a:r>
          </a:p>
        </p:txBody>
      </p:sp>
      <p:sp>
        <p:nvSpPr>
          <p:cNvPr id="63" name="Text Box 51"/>
          <p:cNvSpPr txBox="1">
            <a:spLocks noChangeArrowheads="1"/>
          </p:cNvSpPr>
          <p:nvPr/>
        </p:nvSpPr>
        <p:spPr bwMode="auto">
          <a:xfrm>
            <a:off x="4420393" y="6006662"/>
            <a:ext cx="895350" cy="30480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rgbClr val="000000"/>
                </a:solidFill>
              </a:rPr>
              <a:t>自动转换</a:t>
            </a:r>
          </a:p>
        </p:txBody>
      </p:sp>
      <p:pic>
        <p:nvPicPr>
          <p:cNvPr id="64"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0569" y="5333562"/>
            <a:ext cx="1081087" cy="1295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56"/>
          <p:cNvSpPr>
            <a:spLocks noChangeShapeType="1"/>
          </p:cNvSpPr>
          <p:nvPr/>
        </p:nvSpPr>
        <p:spPr bwMode="auto">
          <a:xfrm>
            <a:off x="9133681" y="5979675"/>
            <a:ext cx="37147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Text Box 57"/>
          <p:cNvSpPr txBox="1">
            <a:spLocks noChangeArrowheads="1"/>
          </p:cNvSpPr>
          <p:nvPr/>
        </p:nvSpPr>
        <p:spPr bwMode="auto">
          <a:xfrm>
            <a:off x="9478169" y="5830451"/>
            <a:ext cx="549275" cy="314325"/>
          </a:xfrm>
          <a:prstGeom prst="rect">
            <a:avLst/>
          </a:prstGeom>
          <a:solidFill>
            <a:srgbClr val="EAEAEA"/>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0" lang="zh-CN" altLang="en-US" sz="1400" b="0"/>
              <a:t>执行</a:t>
            </a:r>
          </a:p>
        </p:txBody>
      </p:sp>
      <p:sp>
        <p:nvSpPr>
          <p:cNvPr id="67" name="Line 58"/>
          <p:cNvSpPr>
            <a:spLocks noChangeShapeType="1"/>
          </p:cNvSpPr>
          <p:nvPr/>
        </p:nvSpPr>
        <p:spPr bwMode="auto">
          <a:xfrm>
            <a:off x="4347369" y="5966975"/>
            <a:ext cx="1258887" cy="0"/>
          </a:xfrm>
          <a:prstGeom prst="line">
            <a:avLst/>
          </a:prstGeom>
          <a:noFill/>
          <a:ln w="76200" cmpd="tri">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59"/>
          <p:cNvSpPr>
            <a:spLocks noChangeShapeType="1"/>
          </p:cNvSpPr>
          <p:nvPr/>
        </p:nvSpPr>
        <p:spPr bwMode="auto">
          <a:xfrm>
            <a:off x="6908005" y="5917762"/>
            <a:ext cx="1258888" cy="0"/>
          </a:xfrm>
          <a:prstGeom prst="line">
            <a:avLst/>
          </a:prstGeom>
          <a:noFill/>
          <a:ln w="76200" cmpd="tri">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9" name="Group 61"/>
          <p:cNvGrpSpPr/>
          <p:nvPr/>
        </p:nvGrpSpPr>
        <p:grpSpPr bwMode="auto">
          <a:xfrm>
            <a:off x="3715397" y="2674897"/>
            <a:ext cx="4783138" cy="1082675"/>
            <a:chOff x="5387" y="1012"/>
            <a:chExt cx="3013" cy="682"/>
          </a:xfrm>
        </p:grpSpPr>
        <p:sp>
          <p:nvSpPr>
            <p:cNvPr id="70" name="Rectangle 6"/>
            <p:cNvSpPr>
              <a:spLocks noChangeArrowheads="1"/>
            </p:cNvSpPr>
            <p:nvPr/>
          </p:nvSpPr>
          <p:spPr bwMode="auto">
            <a:xfrm>
              <a:off x="5387" y="1012"/>
              <a:ext cx="3013" cy="682"/>
            </a:xfrm>
            <a:prstGeom prst="rect">
              <a:avLst/>
            </a:prstGeom>
            <a:solidFill>
              <a:srgbClr val="DDDDDD">
                <a:alpha val="70000"/>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Text Box 60"/>
            <p:cNvSpPr txBox="1">
              <a:spLocks noChangeArrowheads="1"/>
            </p:cNvSpPr>
            <p:nvPr/>
          </p:nvSpPr>
          <p:spPr bwMode="auto">
            <a:xfrm>
              <a:off x="7948" y="1028"/>
              <a:ext cx="438" cy="2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chemeClr val="bg1"/>
                  </a:solidFill>
                </a:rPr>
                <a:t>转换</a:t>
              </a:r>
            </a:p>
          </p:txBody>
        </p:sp>
      </p:grpSp>
      <p:grpSp>
        <p:nvGrpSpPr>
          <p:cNvPr id="72" name="Group 63"/>
          <p:cNvGrpSpPr/>
          <p:nvPr/>
        </p:nvGrpSpPr>
        <p:grpSpPr bwMode="auto">
          <a:xfrm>
            <a:off x="5401470" y="3932197"/>
            <a:ext cx="3463925" cy="1114425"/>
            <a:chOff x="5228" y="1758"/>
            <a:chExt cx="2182" cy="794"/>
          </a:xfrm>
        </p:grpSpPr>
        <p:sp>
          <p:nvSpPr>
            <p:cNvPr id="73" name="Rectangle 8"/>
            <p:cNvSpPr>
              <a:spLocks noChangeArrowheads="1"/>
            </p:cNvSpPr>
            <p:nvPr/>
          </p:nvSpPr>
          <p:spPr bwMode="auto">
            <a:xfrm>
              <a:off x="5228" y="1758"/>
              <a:ext cx="2182" cy="794"/>
            </a:xfrm>
            <a:prstGeom prst="rect">
              <a:avLst/>
            </a:prstGeom>
            <a:solidFill>
              <a:srgbClr val="DDDDDD">
                <a:alpha val="70000"/>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62"/>
            <p:cNvSpPr txBox="1">
              <a:spLocks noChangeArrowheads="1"/>
            </p:cNvSpPr>
            <p:nvPr/>
          </p:nvSpPr>
          <p:spPr bwMode="auto">
            <a:xfrm>
              <a:off x="6796" y="1768"/>
              <a:ext cx="599" cy="283"/>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bg1"/>
                  </a:solidFill>
                </a:rPr>
                <a:t>汇编器</a:t>
              </a:r>
            </a:p>
          </p:txBody>
        </p:sp>
      </p:grpSp>
      <p:grpSp>
        <p:nvGrpSpPr>
          <p:cNvPr id="75" name="Group 65"/>
          <p:cNvGrpSpPr/>
          <p:nvPr/>
        </p:nvGrpSpPr>
        <p:grpSpPr bwMode="auto">
          <a:xfrm>
            <a:off x="2066131" y="3862347"/>
            <a:ext cx="6834188" cy="1279525"/>
            <a:chOff x="5402" y="1873"/>
            <a:chExt cx="4305" cy="806"/>
          </a:xfrm>
        </p:grpSpPr>
        <p:sp>
          <p:nvSpPr>
            <p:cNvPr id="76" name="Rectangle 5"/>
            <p:cNvSpPr>
              <a:spLocks noChangeArrowheads="1"/>
            </p:cNvSpPr>
            <p:nvPr/>
          </p:nvSpPr>
          <p:spPr bwMode="auto">
            <a:xfrm>
              <a:off x="5402" y="1873"/>
              <a:ext cx="4305" cy="806"/>
            </a:xfrm>
            <a:prstGeom prst="rect">
              <a:avLst/>
            </a:prstGeom>
            <a:solidFill>
              <a:srgbClr val="DDDDDD">
                <a:alpha val="70000"/>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Text Box 64"/>
            <p:cNvSpPr txBox="1">
              <a:spLocks noChangeArrowheads="1"/>
            </p:cNvSpPr>
            <p:nvPr/>
          </p:nvSpPr>
          <p:spPr bwMode="auto">
            <a:xfrm>
              <a:off x="5414" y="1884"/>
              <a:ext cx="599" cy="2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bg1"/>
                  </a:solidFill>
                </a:rPr>
                <a:t>编译器</a:t>
              </a:r>
            </a:p>
          </p:txBody>
        </p:sp>
      </p:grpSp>
      <p:grpSp>
        <p:nvGrpSpPr>
          <p:cNvPr id="78" name="Group 67"/>
          <p:cNvGrpSpPr/>
          <p:nvPr/>
        </p:nvGrpSpPr>
        <p:grpSpPr bwMode="auto">
          <a:xfrm>
            <a:off x="4855369" y="5255381"/>
            <a:ext cx="4516437" cy="1545150"/>
            <a:chOff x="2022" y="2988"/>
            <a:chExt cx="2854" cy="1165"/>
          </a:xfrm>
        </p:grpSpPr>
        <p:sp>
          <p:nvSpPr>
            <p:cNvPr id="79" name="Rectangle 7"/>
            <p:cNvSpPr>
              <a:spLocks noChangeArrowheads="1"/>
            </p:cNvSpPr>
            <p:nvPr/>
          </p:nvSpPr>
          <p:spPr bwMode="auto">
            <a:xfrm>
              <a:off x="2022" y="2988"/>
              <a:ext cx="2854" cy="1165"/>
            </a:xfrm>
            <a:prstGeom prst="rect">
              <a:avLst/>
            </a:prstGeom>
            <a:solidFill>
              <a:srgbClr val="DDDDDD">
                <a:alpha val="70000"/>
              </a:srgb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Text Box 66"/>
            <p:cNvSpPr txBox="1">
              <a:spLocks noChangeArrowheads="1"/>
            </p:cNvSpPr>
            <p:nvPr/>
          </p:nvSpPr>
          <p:spPr bwMode="auto">
            <a:xfrm>
              <a:off x="2029" y="2995"/>
              <a:ext cx="439" cy="2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chemeClr val="bg1"/>
                  </a:solidFill>
                </a:rPr>
                <a:t>转换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ppt_x"/>
                                          </p:val>
                                        </p:tav>
                                        <p:tav tm="100000">
                                          <p:val>
                                            <p:strVal val="#ppt_x"/>
                                          </p:val>
                                        </p:tav>
                                      </p:tavLst>
                                    </p:anim>
                                    <p:anim calcmode="lin" valueType="num">
                                      <p:cBhvr additive="base">
                                        <p:cTn id="20" dur="500" fill="hold"/>
                                        <p:tgtEl>
                                          <p:spTgt spid="5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fill="hold"/>
                                        <p:tgtEl>
                                          <p:spTgt spid="56"/>
                                        </p:tgtEl>
                                        <p:attrNameLst>
                                          <p:attrName>ppt_x</p:attrName>
                                        </p:attrNameLst>
                                      </p:cBhvr>
                                      <p:tavLst>
                                        <p:tav tm="0">
                                          <p:val>
                                            <p:strVal val="#ppt_x"/>
                                          </p:val>
                                        </p:tav>
                                        <p:tav tm="100000">
                                          <p:val>
                                            <p:strVal val="#ppt_x"/>
                                          </p:val>
                                        </p:tav>
                                      </p:tavLst>
                                    </p:anim>
                                    <p:anim calcmode="lin" valueType="num">
                                      <p:cBhvr additive="base">
                                        <p:cTn id="24" dur="500" fill="hold"/>
                                        <p:tgtEl>
                                          <p:spTgt spid="5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ppt_x"/>
                                          </p:val>
                                        </p:tav>
                                        <p:tav tm="100000">
                                          <p:val>
                                            <p:strVal val="#ppt_x"/>
                                          </p:val>
                                        </p:tav>
                                      </p:tavLst>
                                    </p:anim>
                                    <p:anim calcmode="lin" valueType="num">
                                      <p:cBhvr additive="base">
                                        <p:cTn id="3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ppt_x"/>
                                          </p:val>
                                        </p:tav>
                                        <p:tav tm="100000">
                                          <p:val>
                                            <p:strVal val="#ppt_x"/>
                                          </p:val>
                                        </p:tav>
                                      </p:tavLst>
                                    </p:anim>
                                    <p:anim calcmode="lin" valueType="num">
                                      <p:cBhvr additive="base">
                                        <p:cTn id="38" dur="500" fill="hold"/>
                                        <p:tgtEl>
                                          <p:spTgt spid="4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ppt_x"/>
                                          </p:val>
                                        </p:tav>
                                        <p:tav tm="100000">
                                          <p:val>
                                            <p:strVal val="#ppt_x"/>
                                          </p:val>
                                        </p:tav>
                                      </p:tavLst>
                                    </p:anim>
                                    <p:anim calcmode="lin" valueType="num">
                                      <p:cBhvr additive="base">
                                        <p:cTn id="42" dur="500" fill="hold"/>
                                        <p:tgtEl>
                                          <p:spTgt spid="4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 calcmode="lin" valueType="num">
                                      <p:cBhvr additive="base">
                                        <p:cTn id="45" dur="500" fill="hold"/>
                                        <p:tgtEl>
                                          <p:spTgt spid="46"/>
                                        </p:tgtEl>
                                        <p:attrNameLst>
                                          <p:attrName>ppt_x</p:attrName>
                                        </p:attrNameLst>
                                      </p:cBhvr>
                                      <p:tavLst>
                                        <p:tav tm="0">
                                          <p:val>
                                            <p:strVal val="#ppt_x"/>
                                          </p:val>
                                        </p:tav>
                                        <p:tav tm="100000">
                                          <p:val>
                                            <p:strVal val="#ppt_x"/>
                                          </p:val>
                                        </p:tav>
                                      </p:tavLst>
                                    </p:anim>
                                    <p:anim calcmode="lin" valueType="num">
                                      <p:cBhvr additive="base">
                                        <p:cTn id="46" dur="500" fill="hold"/>
                                        <p:tgtEl>
                                          <p:spTgt spid="4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 calcmode="lin" valueType="num">
                                      <p:cBhvr additive="base">
                                        <p:cTn id="49" dur="500" fill="hold"/>
                                        <p:tgtEl>
                                          <p:spTgt spid="55"/>
                                        </p:tgtEl>
                                        <p:attrNameLst>
                                          <p:attrName>ppt_x</p:attrName>
                                        </p:attrNameLst>
                                      </p:cBhvr>
                                      <p:tavLst>
                                        <p:tav tm="0">
                                          <p:val>
                                            <p:strVal val="#ppt_x"/>
                                          </p:val>
                                        </p:tav>
                                        <p:tav tm="100000">
                                          <p:val>
                                            <p:strVal val="#ppt_x"/>
                                          </p:val>
                                        </p:tav>
                                      </p:tavLst>
                                    </p:anim>
                                    <p:anim calcmode="lin" valueType="num">
                                      <p:cBhvr additive="base">
                                        <p:cTn id="50" dur="500" fill="hold"/>
                                        <p:tgtEl>
                                          <p:spTgt spid="55"/>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4"/>
                                        </p:tgtEl>
                                        <p:attrNameLst>
                                          <p:attrName>style.visibility</p:attrName>
                                        </p:attrNameLst>
                                      </p:cBhvr>
                                      <p:to>
                                        <p:strVal val="visible"/>
                                      </p:to>
                                    </p:set>
                                    <p:anim calcmode="lin" valueType="num">
                                      <p:cBhvr additive="base">
                                        <p:cTn id="53" dur="500" fill="hold"/>
                                        <p:tgtEl>
                                          <p:spTgt spid="64"/>
                                        </p:tgtEl>
                                        <p:attrNameLst>
                                          <p:attrName>ppt_x</p:attrName>
                                        </p:attrNameLst>
                                      </p:cBhvr>
                                      <p:tavLst>
                                        <p:tav tm="0">
                                          <p:val>
                                            <p:strVal val="#ppt_x"/>
                                          </p:val>
                                        </p:tav>
                                        <p:tav tm="100000">
                                          <p:val>
                                            <p:strVal val="#ppt_x"/>
                                          </p:val>
                                        </p:tav>
                                      </p:tavLst>
                                    </p:anim>
                                    <p:anim calcmode="lin" valueType="num">
                                      <p:cBhvr additive="base">
                                        <p:cTn id="54" dur="500" fill="hold"/>
                                        <p:tgtEl>
                                          <p:spTgt spid="64"/>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65"/>
                                        </p:tgtEl>
                                        <p:attrNameLst>
                                          <p:attrName>style.visibility</p:attrName>
                                        </p:attrNameLst>
                                      </p:cBhvr>
                                      <p:to>
                                        <p:strVal val="visible"/>
                                      </p:to>
                                    </p:set>
                                    <p:anim calcmode="lin" valueType="num">
                                      <p:cBhvr additive="base">
                                        <p:cTn id="57" dur="500" fill="hold"/>
                                        <p:tgtEl>
                                          <p:spTgt spid="65"/>
                                        </p:tgtEl>
                                        <p:attrNameLst>
                                          <p:attrName>ppt_x</p:attrName>
                                        </p:attrNameLst>
                                      </p:cBhvr>
                                      <p:tavLst>
                                        <p:tav tm="0">
                                          <p:val>
                                            <p:strVal val="#ppt_x"/>
                                          </p:val>
                                        </p:tav>
                                        <p:tav tm="100000">
                                          <p:val>
                                            <p:strVal val="#ppt_x"/>
                                          </p:val>
                                        </p:tav>
                                      </p:tavLst>
                                    </p:anim>
                                    <p:anim calcmode="lin" valueType="num">
                                      <p:cBhvr additive="base">
                                        <p:cTn id="58" dur="500" fill="hold"/>
                                        <p:tgtEl>
                                          <p:spTgt spid="6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anim calcmode="lin" valueType="num">
                                      <p:cBhvr additive="base">
                                        <p:cTn id="61" dur="500" fill="hold"/>
                                        <p:tgtEl>
                                          <p:spTgt spid="66"/>
                                        </p:tgtEl>
                                        <p:attrNameLst>
                                          <p:attrName>ppt_x</p:attrName>
                                        </p:attrNameLst>
                                      </p:cBhvr>
                                      <p:tavLst>
                                        <p:tav tm="0">
                                          <p:val>
                                            <p:strVal val="#ppt_x"/>
                                          </p:val>
                                        </p:tav>
                                        <p:tav tm="100000">
                                          <p:val>
                                            <p:strVal val="#ppt_x"/>
                                          </p:val>
                                        </p:tav>
                                      </p:tavLst>
                                    </p:anim>
                                    <p:anim calcmode="lin" valueType="num">
                                      <p:cBhvr additive="base">
                                        <p:cTn id="62"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additive="base">
                                        <p:cTn id="67" dur="500" fill="hold"/>
                                        <p:tgtEl>
                                          <p:spTgt spid="29"/>
                                        </p:tgtEl>
                                        <p:attrNameLst>
                                          <p:attrName>ppt_x</p:attrName>
                                        </p:attrNameLst>
                                      </p:cBhvr>
                                      <p:tavLst>
                                        <p:tav tm="0">
                                          <p:val>
                                            <p:strVal val="#ppt_x"/>
                                          </p:val>
                                        </p:tav>
                                        <p:tav tm="100000">
                                          <p:val>
                                            <p:strVal val="#ppt_x"/>
                                          </p:val>
                                        </p:tav>
                                      </p:tavLst>
                                    </p:anim>
                                    <p:anim calcmode="lin" valueType="num">
                                      <p:cBhvr additive="base">
                                        <p:cTn id="68" dur="500" fill="hold"/>
                                        <p:tgtEl>
                                          <p:spTgt spid="2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additive="base">
                                        <p:cTn id="71" dur="500" fill="hold"/>
                                        <p:tgtEl>
                                          <p:spTgt spid="30"/>
                                        </p:tgtEl>
                                        <p:attrNameLst>
                                          <p:attrName>ppt_x</p:attrName>
                                        </p:attrNameLst>
                                      </p:cBhvr>
                                      <p:tavLst>
                                        <p:tav tm="0">
                                          <p:val>
                                            <p:strVal val="#ppt_x"/>
                                          </p:val>
                                        </p:tav>
                                        <p:tav tm="100000">
                                          <p:val>
                                            <p:strVal val="#ppt_x"/>
                                          </p:val>
                                        </p:tav>
                                      </p:tavLst>
                                    </p:anim>
                                    <p:anim calcmode="lin" valueType="num">
                                      <p:cBhvr additive="base">
                                        <p:cTn id="72" dur="500" fill="hold"/>
                                        <p:tgtEl>
                                          <p:spTgt spid="3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 calcmode="lin" valueType="num">
                                      <p:cBhvr additive="base">
                                        <p:cTn id="75" dur="500" fill="hold"/>
                                        <p:tgtEl>
                                          <p:spTgt spid="31"/>
                                        </p:tgtEl>
                                        <p:attrNameLst>
                                          <p:attrName>ppt_x</p:attrName>
                                        </p:attrNameLst>
                                      </p:cBhvr>
                                      <p:tavLst>
                                        <p:tav tm="0">
                                          <p:val>
                                            <p:strVal val="#ppt_x"/>
                                          </p:val>
                                        </p:tav>
                                        <p:tav tm="100000">
                                          <p:val>
                                            <p:strVal val="#ppt_x"/>
                                          </p:val>
                                        </p:tav>
                                      </p:tavLst>
                                    </p:anim>
                                    <p:anim calcmode="lin" valueType="num">
                                      <p:cBhvr additive="base">
                                        <p:cTn id="76" dur="500" fill="hold"/>
                                        <p:tgtEl>
                                          <p:spTgt spid="3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 calcmode="lin" valueType="num">
                                      <p:cBhvr additive="base">
                                        <p:cTn id="83" dur="500" fill="hold"/>
                                        <p:tgtEl>
                                          <p:spTgt spid="33"/>
                                        </p:tgtEl>
                                        <p:attrNameLst>
                                          <p:attrName>ppt_x</p:attrName>
                                        </p:attrNameLst>
                                      </p:cBhvr>
                                      <p:tavLst>
                                        <p:tav tm="0">
                                          <p:val>
                                            <p:strVal val="#ppt_x"/>
                                          </p:val>
                                        </p:tav>
                                        <p:tav tm="100000">
                                          <p:val>
                                            <p:strVal val="#ppt_x"/>
                                          </p:val>
                                        </p:tav>
                                      </p:tavLst>
                                    </p:anim>
                                    <p:anim calcmode="lin" valueType="num">
                                      <p:cBhvr additive="base">
                                        <p:cTn id="84" dur="500" fill="hold"/>
                                        <p:tgtEl>
                                          <p:spTgt spid="33"/>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 calcmode="lin" valueType="num">
                                      <p:cBhvr additive="base">
                                        <p:cTn id="87" dur="500" fill="hold"/>
                                        <p:tgtEl>
                                          <p:spTgt spid="34"/>
                                        </p:tgtEl>
                                        <p:attrNameLst>
                                          <p:attrName>ppt_x</p:attrName>
                                        </p:attrNameLst>
                                      </p:cBhvr>
                                      <p:tavLst>
                                        <p:tav tm="0">
                                          <p:val>
                                            <p:strVal val="#ppt_x"/>
                                          </p:val>
                                        </p:tav>
                                        <p:tav tm="100000">
                                          <p:val>
                                            <p:strVal val="#ppt_x"/>
                                          </p:val>
                                        </p:tav>
                                      </p:tavLst>
                                    </p:anim>
                                    <p:anim calcmode="lin" valueType="num">
                                      <p:cBhvr additive="base">
                                        <p:cTn id="88" dur="500" fill="hold"/>
                                        <p:tgtEl>
                                          <p:spTgt spid="3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 calcmode="lin" valueType="num">
                                      <p:cBhvr additive="base">
                                        <p:cTn id="91" dur="500" fill="hold"/>
                                        <p:tgtEl>
                                          <p:spTgt spid="35"/>
                                        </p:tgtEl>
                                        <p:attrNameLst>
                                          <p:attrName>ppt_x</p:attrName>
                                        </p:attrNameLst>
                                      </p:cBhvr>
                                      <p:tavLst>
                                        <p:tav tm="0">
                                          <p:val>
                                            <p:strVal val="#ppt_x"/>
                                          </p:val>
                                        </p:tav>
                                        <p:tav tm="100000">
                                          <p:val>
                                            <p:strVal val="#ppt_x"/>
                                          </p:val>
                                        </p:tav>
                                      </p:tavLst>
                                    </p:anim>
                                    <p:anim calcmode="lin" valueType="num">
                                      <p:cBhvr additive="base">
                                        <p:cTn id="92" dur="500" fill="hold"/>
                                        <p:tgtEl>
                                          <p:spTgt spid="35"/>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 calcmode="lin" valueType="num">
                                      <p:cBhvr additive="base">
                                        <p:cTn id="95" dur="500" fill="hold"/>
                                        <p:tgtEl>
                                          <p:spTgt spid="36"/>
                                        </p:tgtEl>
                                        <p:attrNameLst>
                                          <p:attrName>ppt_x</p:attrName>
                                        </p:attrNameLst>
                                      </p:cBhvr>
                                      <p:tavLst>
                                        <p:tav tm="0">
                                          <p:val>
                                            <p:strVal val="#ppt_x"/>
                                          </p:val>
                                        </p:tav>
                                        <p:tav tm="100000">
                                          <p:val>
                                            <p:strVal val="#ppt_x"/>
                                          </p:val>
                                        </p:tav>
                                      </p:tavLst>
                                    </p:anim>
                                    <p:anim calcmode="lin" valueType="num">
                                      <p:cBhvr additive="base">
                                        <p:cTn id="96" dur="500" fill="hold"/>
                                        <p:tgtEl>
                                          <p:spTgt spid="36"/>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 calcmode="lin" valueType="num">
                                      <p:cBhvr additive="base">
                                        <p:cTn id="99" dur="500" fill="hold"/>
                                        <p:tgtEl>
                                          <p:spTgt spid="37"/>
                                        </p:tgtEl>
                                        <p:attrNameLst>
                                          <p:attrName>ppt_x</p:attrName>
                                        </p:attrNameLst>
                                      </p:cBhvr>
                                      <p:tavLst>
                                        <p:tav tm="0">
                                          <p:val>
                                            <p:strVal val="#ppt_x"/>
                                          </p:val>
                                        </p:tav>
                                        <p:tav tm="100000">
                                          <p:val>
                                            <p:strVal val="#ppt_x"/>
                                          </p:val>
                                        </p:tav>
                                      </p:tavLst>
                                    </p:anim>
                                    <p:anim calcmode="lin" valueType="num">
                                      <p:cBhvr additive="base">
                                        <p:cTn id="100" dur="500" fill="hold"/>
                                        <p:tgtEl>
                                          <p:spTgt spid="37"/>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 calcmode="lin" valueType="num">
                                      <p:cBhvr additive="base">
                                        <p:cTn id="103" dur="500" fill="hold"/>
                                        <p:tgtEl>
                                          <p:spTgt spid="38"/>
                                        </p:tgtEl>
                                        <p:attrNameLst>
                                          <p:attrName>ppt_x</p:attrName>
                                        </p:attrNameLst>
                                      </p:cBhvr>
                                      <p:tavLst>
                                        <p:tav tm="0">
                                          <p:val>
                                            <p:strVal val="#ppt_x"/>
                                          </p:val>
                                        </p:tav>
                                        <p:tav tm="100000">
                                          <p:val>
                                            <p:strVal val="#ppt_x"/>
                                          </p:val>
                                        </p:tav>
                                      </p:tavLst>
                                    </p:anim>
                                    <p:anim calcmode="lin" valueType="num">
                                      <p:cBhvr additive="base">
                                        <p:cTn id="104" dur="500" fill="hold"/>
                                        <p:tgtEl>
                                          <p:spTgt spid="38"/>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39"/>
                                        </p:tgtEl>
                                        <p:attrNameLst>
                                          <p:attrName>style.visibility</p:attrName>
                                        </p:attrNameLst>
                                      </p:cBhvr>
                                      <p:to>
                                        <p:strVal val="visible"/>
                                      </p:to>
                                    </p:set>
                                    <p:anim calcmode="lin" valueType="num">
                                      <p:cBhvr additive="base">
                                        <p:cTn id="107" dur="500" fill="hold"/>
                                        <p:tgtEl>
                                          <p:spTgt spid="39"/>
                                        </p:tgtEl>
                                        <p:attrNameLst>
                                          <p:attrName>ppt_x</p:attrName>
                                        </p:attrNameLst>
                                      </p:cBhvr>
                                      <p:tavLst>
                                        <p:tav tm="0">
                                          <p:val>
                                            <p:strVal val="#ppt_x"/>
                                          </p:val>
                                        </p:tav>
                                        <p:tav tm="100000">
                                          <p:val>
                                            <p:strVal val="#ppt_x"/>
                                          </p:val>
                                        </p:tav>
                                      </p:tavLst>
                                    </p:anim>
                                    <p:anim calcmode="lin" valueType="num">
                                      <p:cBhvr additive="base">
                                        <p:cTn id="108" dur="500" fill="hold"/>
                                        <p:tgtEl>
                                          <p:spTgt spid="39"/>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8"/>
                                        </p:tgtEl>
                                        <p:attrNameLst>
                                          <p:attrName>style.visibility</p:attrName>
                                        </p:attrNameLst>
                                      </p:cBhvr>
                                      <p:to>
                                        <p:strVal val="visible"/>
                                      </p:to>
                                    </p:set>
                                    <p:anim calcmode="lin" valueType="num">
                                      <p:cBhvr additive="base">
                                        <p:cTn id="111" dur="500" fill="hold"/>
                                        <p:tgtEl>
                                          <p:spTgt spid="48"/>
                                        </p:tgtEl>
                                        <p:attrNameLst>
                                          <p:attrName>ppt_x</p:attrName>
                                        </p:attrNameLst>
                                      </p:cBhvr>
                                      <p:tavLst>
                                        <p:tav tm="0">
                                          <p:val>
                                            <p:strVal val="#ppt_x"/>
                                          </p:val>
                                        </p:tav>
                                        <p:tav tm="100000">
                                          <p:val>
                                            <p:strVal val="#ppt_x"/>
                                          </p:val>
                                        </p:tav>
                                      </p:tavLst>
                                    </p:anim>
                                    <p:anim calcmode="lin" valueType="num">
                                      <p:cBhvr additive="base">
                                        <p:cTn id="11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60"/>
                                        </p:tgtEl>
                                        <p:attrNameLst>
                                          <p:attrName>style.visibility</p:attrName>
                                        </p:attrNameLst>
                                      </p:cBhvr>
                                      <p:to>
                                        <p:strVal val="visible"/>
                                      </p:to>
                                    </p:set>
                                    <p:anim calcmode="lin" valueType="num">
                                      <p:cBhvr additive="base">
                                        <p:cTn id="117" dur="500" fill="hold"/>
                                        <p:tgtEl>
                                          <p:spTgt spid="60"/>
                                        </p:tgtEl>
                                        <p:attrNameLst>
                                          <p:attrName>ppt_x</p:attrName>
                                        </p:attrNameLst>
                                      </p:cBhvr>
                                      <p:tavLst>
                                        <p:tav tm="0">
                                          <p:val>
                                            <p:strVal val="#ppt_x"/>
                                          </p:val>
                                        </p:tav>
                                        <p:tav tm="100000">
                                          <p:val>
                                            <p:strVal val="#ppt_x"/>
                                          </p:val>
                                        </p:tav>
                                      </p:tavLst>
                                    </p:anim>
                                    <p:anim calcmode="lin" valueType="num">
                                      <p:cBhvr additive="base">
                                        <p:cTn id="118" dur="500" fill="hold"/>
                                        <p:tgtEl>
                                          <p:spTgt spid="60"/>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62"/>
                                        </p:tgtEl>
                                        <p:attrNameLst>
                                          <p:attrName>style.visibility</p:attrName>
                                        </p:attrNameLst>
                                      </p:cBhvr>
                                      <p:to>
                                        <p:strVal val="visible"/>
                                      </p:to>
                                    </p:set>
                                    <p:anim calcmode="lin" valueType="num">
                                      <p:cBhvr additive="base">
                                        <p:cTn id="121" dur="500" fill="hold"/>
                                        <p:tgtEl>
                                          <p:spTgt spid="62"/>
                                        </p:tgtEl>
                                        <p:attrNameLst>
                                          <p:attrName>ppt_x</p:attrName>
                                        </p:attrNameLst>
                                      </p:cBhvr>
                                      <p:tavLst>
                                        <p:tav tm="0">
                                          <p:val>
                                            <p:strVal val="#ppt_x"/>
                                          </p:val>
                                        </p:tav>
                                        <p:tav tm="100000">
                                          <p:val>
                                            <p:strVal val="#ppt_x"/>
                                          </p:val>
                                        </p:tav>
                                      </p:tavLst>
                                    </p:anim>
                                    <p:anim calcmode="lin" valueType="num">
                                      <p:cBhvr additive="base">
                                        <p:cTn id="122" dur="500" fill="hold"/>
                                        <p:tgtEl>
                                          <p:spTgt spid="62"/>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68"/>
                                        </p:tgtEl>
                                        <p:attrNameLst>
                                          <p:attrName>style.visibility</p:attrName>
                                        </p:attrNameLst>
                                      </p:cBhvr>
                                      <p:to>
                                        <p:strVal val="visible"/>
                                      </p:to>
                                    </p:set>
                                    <p:anim calcmode="lin" valueType="num">
                                      <p:cBhvr additive="base">
                                        <p:cTn id="125" dur="500" fill="hold"/>
                                        <p:tgtEl>
                                          <p:spTgt spid="68"/>
                                        </p:tgtEl>
                                        <p:attrNameLst>
                                          <p:attrName>ppt_x</p:attrName>
                                        </p:attrNameLst>
                                      </p:cBhvr>
                                      <p:tavLst>
                                        <p:tav tm="0">
                                          <p:val>
                                            <p:strVal val="#ppt_x"/>
                                          </p:val>
                                        </p:tav>
                                        <p:tav tm="100000">
                                          <p:val>
                                            <p:strVal val="#ppt_x"/>
                                          </p:val>
                                        </p:tav>
                                      </p:tavLst>
                                    </p:anim>
                                    <p:anim calcmode="lin" valueType="num">
                                      <p:cBhvr additive="base">
                                        <p:cTn id="126"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41"/>
                                        </p:tgtEl>
                                        <p:attrNameLst>
                                          <p:attrName>style.visibility</p:attrName>
                                        </p:attrNameLst>
                                      </p:cBhvr>
                                      <p:to>
                                        <p:strVal val="visible"/>
                                      </p:to>
                                    </p:set>
                                    <p:anim calcmode="lin" valueType="num">
                                      <p:cBhvr additive="base">
                                        <p:cTn id="131" dur="500" fill="hold"/>
                                        <p:tgtEl>
                                          <p:spTgt spid="41"/>
                                        </p:tgtEl>
                                        <p:attrNameLst>
                                          <p:attrName>ppt_x</p:attrName>
                                        </p:attrNameLst>
                                      </p:cBhvr>
                                      <p:tavLst>
                                        <p:tav tm="0">
                                          <p:val>
                                            <p:strVal val="#ppt_x"/>
                                          </p:val>
                                        </p:tav>
                                        <p:tav tm="100000">
                                          <p:val>
                                            <p:strVal val="#ppt_x"/>
                                          </p:val>
                                        </p:tav>
                                      </p:tavLst>
                                    </p:anim>
                                    <p:anim calcmode="lin" valueType="num">
                                      <p:cBhvr additive="base">
                                        <p:cTn id="132" dur="500" fill="hold"/>
                                        <p:tgtEl>
                                          <p:spTgt spid="41"/>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51"/>
                                        </p:tgtEl>
                                        <p:attrNameLst>
                                          <p:attrName>style.visibility</p:attrName>
                                        </p:attrNameLst>
                                      </p:cBhvr>
                                      <p:to>
                                        <p:strVal val="visible"/>
                                      </p:to>
                                    </p:set>
                                    <p:anim calcmode="lin" valueType="num">
                                      <p:cBhvr additive="base">
                                        <p:cTn id="135" dur="500" fill="hold"/>
                                        <p:tgtEl>
                                          <p:spTgt spid="51"/>
                                        </p:tgtEl>
                                        <p:attrNameLst>
                                          <p:attrName>ppt_x</p:attrName>
                                        </p:attrNameLst>
                                      </p:cBhvr>
                                      <p:tavLst>
                                        <p:tav tm="0">
                                          <p:val>
                                            <p:strVal val="#ppt_x"/>
                                          </p:val>
                                        </p:tav>
                                        <p:tav tm="100000">
                                          <p:val>
                                            <p:strVal val="#ppt_x"/>
                                          </p:val>
                                        </p:tav>
                                      </p:tavLst>
                                    </p:anim>
                                    <p:anim calcmode="lin" valueType="num">
                                      <p:cBhvr additive="base">
                                        <p:cTn id="136" dur="500" fill="hold"/>
                                        <p:tgtEl>
                                          <p:spTgt spid="51"/>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53"/>
                                        </p:tgtEl>
                                        <p:attrNameLst>
                                          <p:attrName>style.visibility</p:attrName>
                                        </p:attrNameLst>
                                      </p:cBhvr>
                                      <p:to>
                                        <p:strVal val="visible"/>
                                      </p:to>
                                    </p:set>
                                    <p:anim calcmode="lin" valueType="num">
                                      <p:cBhvr additive="base">
                                        <p:cTn id="139" dur="500" fill="hold"/>
                                        <p:tgtEl>
                                          <p:spTgt spid="53"/>
                                        </p:tgtEl>
                                        <p:attrNameLst>
                                          <p:attrName>ppt_x</p:attrName>
                                        </p:attrNameLst>
                                      </p:cBhvr>
                                      <p:tavLst>
                                        <p:tav tm="0">
                                          <p:val>
                                            <p:strVal val="#ppt_x"/>
                                          </p:val>
                                        </p:tav>
                                        <p:tav tm="100000">
                                          <p:val>
                                            <p:strVal val="#ppt_x"/>
                                          </p:val>
                                        </p:tav>
                                      </p:tavLst>
                                    </p:anim>
                                    <p:anim calcmode="lin" valueType="num">
                                      <p:cBhvr additive="base">
                                        <p:cTn id="140" dur="500" fill="hold"/>
                                        <p:tgtEl>
                                          <p:spTgt spid="53"/>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 calcmode="lin" valueType="num">
                                      <p:cBhvr additive="base">
                                        <p:cTn id="143" dur="500" fill="hold"/>
                                        <p:tgtEl>
                                          <p:spTgt spid="54"/>
                                        </p:tgtEl>
                                        <p:attrNameLst>
                                          <p:attrName>ppt_x</p:attrName>
                                        </p:attrNameLst>
                                      </p:cBhvr>
                                      <p:tavLst>
                                        <p:tav tm="0">
                                          <p:val>
                                            <p:strVal val="#ppt_x"/>
                                          </p:val>
                                        </p:tav>
                                        <p:tav tm="100000">
                                          <p:val>
                                            <p:strVal val="#ppt_x"/>
                                          </p:val>
                                        </p:tav>
                                      </p:tavLst>
                                    </p:anim>
                                    <p:anim calcmode="lin" valueType="num">
                                      <p:cBhvr additive="base">
                                        <p:cTn id="144" dur="500" fill="hold"/>
                                        <p:tgtEl>
                                          <p:spTgt spid="54"/>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58"/>
                                        </p:tgtEl>
                                        <p:attrNameLst>
                                          <p:attrName>style.visibility</p:attrName>
                                        </p:attrNameLst>
                                      </p:cBhvr>
                                      <p:to>
                                        <p:strVal val="visible"/>
                                      </p:to>
                                    </p:set>
                                    <p:anim calcmode="lin" valueType="num">
                                      <p:cBhvr additive="base">
                                        <p:cTn id="147" dur="500" fill="hold"/>
                                        <p:tgtEl>
                                          <p:spTgt spid="58"/>
                                        </p:tgtEl>
                                        <p:attrNameLst>
                                          <p:attrName>ppt_x</p:attrName>
                                        </p:attrNameLst>
                                      </p:cBhvr>
                                      <p:tavLst>
                                        <p:tav tm="0">
                                          <p:val>
                                            <p:strVal val="#ppt_x"/>
                                          </p:val>
                                        </p:tav>
                                        <p:tav tm="100000">
                                          <p:val>
                                            <p:strVal val="#ppt_x"/>
                                          </p:val>
                                        </p:tav>
                                      </p:tavLst>
                                    </p:anim>
                                    <p:anim calcmode="lin" valueType="num">
                                      <p:cBhvr additive="base">
                                        <p:cTn id="148" dur="500" fill="hold"/>
                                        <p:tgtEl>
                                          <p:spTgt spid="58"/>
                                        </p:tgtEl>
                                        <p:attrNameLst>
                                          <p:attrName>ppt_y</p:attrName>
                                        </p:attrNameLst>
                                      </p:cBhvr>
                                      <p:tavLst>
                                        <p:tav tm="0">
                                          <p:val>
                                            <p:strVal val="1+#ppt_h/2"/>
                                          </p:val>
                                        </p:tav>
                                        <p:tav tm="100000">
                                          <p:val>
                                            <p:strVal val="#ppt_y"/>
                                          </p:val>
                                        </p:tav>
                                      </p:tavLst>
                                    </p:anim>
                                  </p:childTnLst>
                                </p:cTn>
                              </p:par>
                              <p:par>
                                <p:cTn id="149" presetID="2" presetClass="entr" presetSubtype="4" fill="hold" nodeType="withEffect">
                                  <p:stCondLst>
                                    <p:cond delay="0"/>
                                  </p:stCondLst>
                                  <p:childTnLst>
                                    <p:set>
                                      <p:cBhvr>
                                        <p:cTn id="150" dur="1" fill="hold">
                                          <p:stCondLst>
                                            <p:cond delay="0"/>
                                          </p:stCondLst>
                                        </p:cTn>
                                        <p:tgtEl>
                                          <p:spTgt spid="40"/>
                                        </p:tgtEl>
                                        <p:attrNameLst>
                                          <p:attrName>style.visibility</p:attrName>
                                        </p:attrNameLst>
                                      </p:cBhvr>
                                      <p:to>
                                        <p:strVal val="visible"/>
                                      </p:to>
                                    </p:set>
                                    <p:anim calcmode="lin" valueType="num">
                                      <p:cBhvr additive="base">
                                        <p:cTn id="151" dur="500" fill="hold"/>
                                        <p:tgtEl>
                                          <p:spTgt spid="40"/>
                                        </p:tgtEl>
                                        <p:attrNameLst>
                                          <p:attrName>ppt_x</p:attrName>
                                        </p:attrNameLst>
                                      </p:cBhvr>
                                      <p:tavLst>
                                        <p:tav tm="0">
                                          <p:val>
                                            <p:strVal val="#ppt_x"/>
                                          </p:val>
                                        </p:tav>
                                        <p:tav tm="100000">
                                          <p:val>
                                            <p:strVal val="#ppt_x"/>
                                          </p:val>
                                        </p:tav>
                                      </p:tavLst>
                                    </p:anim>
                                    <p:anim calcmode="lin" valueType="num">
                                      <p:cBhvr additive="base">
                                        <p:cTn id="152" dur="500" fill="hold"/>
                                        <p:tgtEl>
                                          <p:spTgt spid="40"/>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7"/>
                                        </p:tgtEl>
                                        <p:attrNameLst>
                                          <p:attrName>style.visibility</p:attrName>
                                        </p:attrNameLst>
                                      </p:cBhvr>
                                      <p:to>
                                        <p:strVal val="visible"/>
                                      </p:to>
                                    </p:set>
                                    <p:anim calcmode="lin" valueType="num">
                                      <p:cBhvr additive="base">
                                        <p:cTn id="155" dur="500" fill="hold"/>
                                        <p:tgtEl>
                                          <p:spTgt spid="47"/>
                                        </p:tgtEl>
                                        <p:attrNameLst>
                                          <p:attrName>ppt_x</p:attrName>
                                        </p:attrNameLst>
                                      </p:cBhvr>
                                      <p:tavLst>
                                        <p:tav tm="0">
                                          <p:val>
                                            <p:strVal val="#ppt_x"/>
                                          </p:val>
                                        </p:tav>
                                        <p:tav tm="100000">
                                          <p:val>
                                            <p:strVal val="#ppt_x"/>
                                          </p:val>
                                        </p:tav>
                                      </p:tavLst>
                                    </p:anim>
                                    <p:anim calcmode="lin" valueType="num">
                                      <p:cBhvr additive="base">
                                        <p:cTn id="156" dur="500" fill="hold"/>
                                        <p:tgtEl>
                                          <p:spTgt spid="47"/>
                                        </p:tgtEl>
                                        <p:attrNameLst>
                                          <p:attrName>ppt_y</p:attrName>
                                        </p:attrNameLst>
                                      </p:cBhvr>
                                      <p:tavLst>
                                        <p:tav tm="0">
                                          <p:val>
                                            <p:strVal val="1+#ppt_h/2"/>
                                          </p:val>
                                        </p:tav>
                                        <p:tav tm="100000">
                                          <p:val>
                                            <p:strVal val="#ppt_y"/>
                                          </p:val>
                                        </p:tav>
                                      </p:tavLst>
                                    </p:anim>
                                  </p:childTnLst>
                                </p:cTn>
                              </p:par>
                              <p:par>
                                <p:cTn id="157" presetID="2" presetClass="entr" presetSubtype="4" fill="hold" nodeType="withEffect">
                                  <p:stCondLst>
                                    <p:cond delay="0"/>
                                  </p:stCondLst>
                                  <p:childTnLst>
                                    <p:set>
                                      <p:cBhvr>
                                        <p:cTn id="158" dur="1" fill="hold">
                                          <p:stCondLst>
                                            <p:cond delay="0"/>
                                          </p:stCondLst>
                                        </p:cTn>
                                        <p:tgtEl>
                                          <p:spTgt spid="49"/>
                                        </p:tgtEl>
                                        <p:attrNameLst>
                                          <p:attrName>style.visibility</p:attrName>
                                        </p:attrNameLst>
                                      </p:cBhvr>
                                      <p:to>
                                        <p:strVal val="visible"/>
                                      </p:to>
                                    </p:set>
                                    <p:anim calcmode="lin" valueType="num">
                                      <p:cBhvr additive="base">
                                        <p:cTn id="159" dur="500" fill="hold"/>
                                        <p:tgtEl>
                                          <p:spTgt spid="49"/>
                                        </p:tgtEl>
                                        <p:attrNameLst>
                                          <p:attrName>ppt_x</p:attrName>
                                        </p:attrNameLst>
                                      </p:cBhvr>
                                      <p:tavLst>
                                        <p:tav tm="0">
                                          <p:val>
                                            <p:strVal val="#ppt_x"/>
                                          </p:val>
                                        </p:tav>
                                        <p:tav tm="100000">
                                          <p:val>
                                            <p:strVal val="#ppt_x"/>
                                          </p:val>
                                        </p:tav>
                                      </p:tavLst>
                                    </p:anim>
                                    <p:anim calcmode="lin" valueType="num">
                                      <p:cBhvr additive="base">
                                        <p:cTn id="160" dur="500" fill="hold"/>
                                        <p:tgtEl>
                                          <p:spTgt spid="49"/>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50"/>
                                        </p:tgtEl>
                                        <p:attrNameLst>
                                          <p:attrName>style.visibility</p:attrName>
                                        </p:attrNameLst>
                                      </p:cBhvr>
                                      <p:to>
                                        <p:strVal val="visible"/>
                                      </p:to>
                                    </p:set>
                                    <p:anim calcmode="lin" valueType="num">
                                      <p:cBhvr additive="base">
                                        <p:cTn id="163" dur="500" fill="hold"/>
                                        <p:tgtEl>
                                          <p:spTgt spid="50"/>
                                        </p:tgtEl>
                                        <p:attrNameLst>
                                          <p:attrName>ppt_x</p:attrName>
                                        </p:attrNameLst>
                                      </p:cBhvr>
                                      <p:tavLst>
                                        <p:tav tm="0">
                                          <p:val>
                                            <p:strVal val="#ppt_x"/>
                                          </p:val>
                                        </p:tav>
                                        <p:tav tm="100000">
                                          <p:val>
                                            <p:strVal val="#ppt_x"/>
                                          </p:val>
                                        </p:tav>
                                      </p:tavLst>
                                    </p:anim>
                                    <p:anim calcmode="lin" valueType="num">
                                      <p:cBhvr additive="base">
                                        <p:cTn id="164" dur="500" fill="hold"/>
                                        <p:tgtEl>
                                          <p:spTgt spid="50"/>
                                        </p:tgtEl>
                                        <p:attrNameLst>
                                          <p:attrName>ppt_y</p:attrName>
                                        </p:attrNameLst>
                                      </p:cBhvr>
                                      <p:tavLst>
                                        <p:tav tm="0">
                                          <p:val>
                                            <p:strVal val="1+#ppt_h/2"/>
                                          </p:val>
                                        </p:tav>
                                        <p:tav tm="100000">
                                          <p:val>
                                            <p:strVal val="#ppt_y"/>
                                          </p:val>
                                        </p:tav>
                                      </p:tavLst>
                                    </p:anim>
                                  </p:childTnLst>
                                </p:cTn>
                              </p:par>
                              <p:par>
                                <p:cTn id="165" presetID="2" presetClass="entr" presetSubtype="4" fill="hold" nodeType="withEffect">
                                  <p:stCondLst>
                                    <p:cond delay="0"/>
                                  </p:stCondLst>
                                  <p:childTnLst>
                                    <p:set>
                                      <p:cBhvr>
                                        <p:cTn id="166" dur="1" fill="hold">
                                          <p:stCondLst>
                                            <p:cond delay="0"/>
                                          </p:stCondLst>
                                        </p:cTn>
                                        <p:tgtEl>
                                          <p:spTgt spid="61"/>
                                        </p:tgtEl>
                                        <p:attrNameLst>
                                          <p:attrName>style.visibility</p:attrName>
                                        </p:attrNameLst>
                                      </p:cBhvr>
                                      <p:to>
                                        <p:strVal val="visible"/>
                                      </p:to>
                                    </p:set>
                                    <p:anim calcmode="lin" valueType="num">
                                      <p:cBhvr additive="base">
                                        <p:cTn id="167" dur="500" fill="hold"/>
                                        <p:tgtEl>
                                          <p:spTgt spid="61"/>
                                        </p:tgtEl>
                                        <p:attrNameLst>
                                          <p:attrName>ppt_x</p:attrName>
                                        </p:attrNameLst>
                                      </p:cBhvr>
                                      <p:tavLst>
                                        <p:tav tm="0">
                                          <p:val>
                                            <p:strVal val="#ppt_x"/>
                                          </p:val>
                                        </p:tav>
                                        <p:tav tm="100000">
                                          <p:val>
                                            <p:strVal val="#ppt_x"/>
                                          </p:val>
                                        </p:tav>
                                      </p:tavLst>
                                    </p:anim>
                                    <p:anim calcmode="lin" valueType="num">
                                      <p:cBhvr additive="base">
                                        <p:cTn id="16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4" fill="hold" grpId="0" nodeType="clickEffect">
                                  <p:stCondLst>
                                    <p:cond delay="0"/>
                                  </p:stCondLst>
                                  <p:childTnLst>
                                    <p:set>
                                      <p:cBhvr>
                                        <p:cTn id="172" dur="1" fill="hold">
                                          <p:stCondLst>
                                            <p:cond delay="0"/>
                                          </p:stCondLst>
                                        </p:cTn>
                                        <p:tgtEl>
                                          <p:spTgt spid="63"/>
                                        </p:tgtEl>
                                        <p:attrNameLst>
                                          <p:attrName>style.visibility</p:attrName>
                                        </p:attrNameLst>
                                      </p:cBhvr>
                                      <p:to>
                                        <p:strVal val="visible"/>
                                      </p:to>
                                    </p:set>
                                    <p:anim calcmode="lin" valueType="num">
                                      <p:cBhvr additive="base">
                                        <p:cTn id="173" dur="500" fill="hold"/>
                                        <p:tgtEl>
                                          <p:spTgt spid="63"/>
                                        </p:tgtEl>
                                        <p:attrNameLst>
                                          <p:attrName>ppt_x</p:attrName>
                                        </p:attrNameLst>
                                      </p:cBhvr>
                                      <p:tavLst>
                                        <p:tav tm="0">
                                          <p:val>
                                            <p:strVal val="#ppt_x"/>
                                          </p:val>
                                        </p:tav>
                                        <p:tav tm="100000">
                                          <p:val>
                                            <p:strVal val="#ppt_x"/>
                                          </p:val>
                                        </p:tav>
                                      </p:tavLst>
                                    </p:anim>
                                    <p:anim calcmode="lin" valueType="num">
                                      <p:cBhvr additive="base">
                                        <p:cTn id="174" dur="500" fill="hold"/>
                                        <p:tgtEl>
                                          <p:spTgt spid="63"/>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67"/>
                                        </p:tgtEl>
                                        <p:attrNameLst>
                                          <p:attrName>style.visibility</p:attrName>
                                        </p:attrNameLst>
                                      </p:cBhvr>
                                      <p:to>
                                        <p:strVal val="visible"/>
                                      </p:to>
                                    </p:set>
                                    <p:anim calcmode="lin" valueType="num">
                                      <p:cBhvr additive="base">
                                        <p:cTn id="177" dur="500" fill="hold"/>
                                        <p:tgtEl>
                                          <p:spTgt spid="67"/>
                                        </p:tgtEl>
                                        <p:attrNameLst>
                                          <p:attrName>ppt_x</p:attrName>
                                        </p:attrNameLst>
                                      </p:cBhvr>
                                      <p:tavLst>
                                        <p:tav tm="0">
                                          <p:val>
                                            <p:strVal val="#ppt_x"/>
                                          </p:val>
                                        </p:tav>
                                        <p:tav tm="100000">
                                          <p:val>
                                            <p:strVal val="#ppt_x"/>
                                          </p:val>
                                        </p:tav>
                                      </p:tavLst>
                                    </p:anim>
                                    <p:anim calcmode="lin" valueType="num">
                                      <p:cBhvr additive="base">
                                        <p:cTn id="17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72"/>
                                        </p:tgtEl>
                                        <p:attrNameLst>
                                          <p:attrName>style.visibility</p:attrName>
                                        </p:attrNameLst>
                                      </p:cBhvr>
                                      <p:to>
                                        <p:strVal val="visible"/>
                                      </p:to>
                                    </p:set>
                                    <p:anim calcmode="lin" valueType="num">
                                      <p:cBhvr additive="base">
                                        <p:cTn id="183" dur="500" fill="hold"/>
                                        <p:tgtEl>
                                          <p:spTgt spid="72"/>
                                        </p:tgtEl>
                                        <p:attrNameLst>
                                          <p:attrName>ppt_x</p:attrName>
                                        </p:attrNameLst>
                                      </p:cBhvr>
                                      <p:tavLst>
                                        <p:tav tm="0">
                                          <p:val>
                                            <p:strVal val="#ppt_x"/>
                                          </p:val>
                                        </p:tav>
                                        <p:tav tm="100000">
                                          <p:val>
                                            <p:strVal val="#ppt_x"/>
                                          </p:val>
                                        </p:tav>
                                      </p:tavLst>
                                    </p:anim>
                                    <p:anim calcmode="lin" valueType="num">
                                      <p:cBhvr additive="base">
                                        <p:cTn id="18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 presetClass="entr" presetSubtype="4" fill="hold" nodeType="clickEffect">
                                  <p:stCondLst>
                                    <p:cond delay="0"/>
                                  </p:stCondLst>
                                  <p:childTnLst>
                                    <p:set>
                                      <p:cBhvr>
                                        <p:cTn id="188" dur="1" fill="hold">
                                          <p:stCondLst>
                                            <p:cond delay="0"/>
                                          </p:stCondLst>
                                        </p:cTn>
                                        <p:tgtEl>
                                          <p:spTgt spid="75"/>
                                        </p:tgtEl>
                                        <p:attrNameLst>
                                          <p:attrName>style.visibility</p:attrName>
                                        </p:attrNameLst>
                                      </p:cBhvr>
                                      <p:to>
                                        <p:strVal val="visible"/>
                                      </p:to>
                                    </p:set>
                                    <p:anim calcmode="lin" valueType="num">
                                      <p:cBhvr additive="base">
                                        <p:cTn id="189" dur="500" fill="hold"/>
                                        <p:tgtEl>
                                          <p:spTgt spid="75"/>
                                        </p:tgtEl>
                                        <p:attrNameLst>
                                          <p:attrName>ppt_x</p:attrName>
                                        </p:attrNameLst>
                                      </p:cBhvr>
                                      <p:tavLst>
                                        <p:tav tm="0">
                                          <p:val>
                                            <p:strVal val="#ppt_x"/>
                                          </p:val>
                                        </p:tav>
                                        <p:tav tm="100000">
                                          <p:val>
                                            <p:strVal val="#ppt_x"/>
                                          </p:val>
                                        </p:tav>
                                      </p:tavLst>
                                    </p:anim>
                                    <p:anim calcmode="lin" valueType="num">
                                      <p:cBhvr additive="base">
                                        <p:cTn id="190"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nodeType="clickEffect">
                                  <p:stCondLst>
                                    <p:cond delay="0"/>
                                  </p:stCondLst>
                                  <p:childTnLst>
                                    <p:set>
                                      <p:cBhvr>
                                        <p:cTn id="194" dur="1" fill="hold">
                                          <p:stCondLst>
                                            <p:cond delay="0"/>
                                          </p:stCondLst>
                                        </p:cTn>
                                        <p:tgtEl>
                                          <p:spTgt spid="69"/>
                                        </p:tgtEl>
                                        <p:attrNameLst>
                                          <p:attrName>style.visibility</p:attrName>
                                        </p:attrNameLst>
                                      </p:cBhvr>
                                      <p:to>
                                        <p:strVal val="visible"/>
                                      </p:to>
                                    </p:set>
                                    <p:anim calcmode="lin" valueType="num">
                                      <p:cBhvr additive="base">
                                        <p:cTn id="195" dur="500" fill="hold"/>
                                        <p:tgtEl>
                                          <p:spTgt spid="69"/>
                                        </p:tgtEl>
                                        <p:attrNameLst>
                                          <p:attrName>ppt_x</p:attrName>
                                        </p:attrNameLst>
                                      </p:cBhvr>
                                      <p:tavLst>
                                        <p:tav tm="0">
                                          <p:val>
                                            <p:strVal val="#ppt_x"/>
                                          </p:val>
                                        </p:tav>
                                        <p:tav tm="100000">
                                          <p:val>
                                            <p:strVal val="#ppt_x"/>
                                          </p:val>
                                        </p:tav>
                                      </p:tavLst>
                                    </p:anim>
                                    <p:anim calcmode="lin" valueType="num">
                                      <p:cBhvr additive="base">
                                        <p:cTn id="196"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nodeType="clickEffect">
                                  <p:stCondLst>
                                    <p:cond delay="0"/>
                                  </p:stCondLst>
                                  <p:childTnLst>
                                    <p:set>
                                      <p:cBhvr>
                                        <p:cTn id="200" dur="1" fill="hold">
                                          <p:stCondLst>
                                            <p:cond delay="0"/>
                                          </p:stCondLst>
                                        </p:cTn>
                                        <p:tgtEl>
                                          <p:spTgt spid="78"/>
                                        </p:tgtEl>
                                        <p:attrNameLst>
                                          <p:attrName>style.visibility</p:attrName>
                                        </p:attrNameLst>
                                      </p:cBhvr>
                                      <p:to>
                                        <p:strVal val="visible"/>
                                      </p:to>
                                    </p:set>
                                    <p:anim calcmode="lin" valueType="num">
                                      <p:cBhvr additive="base">
                                        <p:cTn id="201" dur="500" fill="hold"/>
                                        <p:tgtEl>
                                          <p:spTgt spid="78"/>
                                        </p:tgtEl>
                                        <p:attrNameLst>
                                          <p:attrName>ppt_x</p:attrName>
                                        </p:attrNameLst>
                                      </p:cBhvr>
                                      <p:tavLst>
                                        <p:tav tm="0">
                                          <p:val>
                                            <p:strVal val="#ppt_x"/>
                                          </p:val>
                                        </p:tav>
                                        <p:tav tm="100000">
                                          <p:val>
                                            <p:strVal val="#ppt_x"/>
                                          </p:val>
                                        </p:tav>
                                      </p:tavLst>
                                    </p:anim>
                                    <p:anim calcmode="lin" valueType="num">
                                      <p:cBhvr additive="base">
                                        <p:cTn id="20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p:bldP spid="33" grpId="0" animBg="1"/>
      <p:bldP spid="35" grpId="0"/>
      <p:bldP spid="38" grpId="0"/>
      <p:bldP spid="41" grpId="0" animBg="1"/>
      <p:bldP spid="42" grpId="0" animBg="1"/>
      <p:bldP spid="43" grpId="0"/>
      <p:bldP spid="44" grpId="0" animBg="1"/>
      <p:bldP spid="45" grpId="0"/>
      <p:bldP spid="46" grpId="0"/>
      <p:bldP spid="47" grpId="0" animBg="1"/>
      <p:bldP spid="50" grpId="0"/>
      <p:bldP spid="52" grpId="0"/>
      <p:bldP spid="54" grpId="0"/>
      <p:bldP spid="55" grpId="0"/>
      <p:bldP spid="56" grpId="0" animBg="1"/>
      <p:bldP spid="59" grpId="0"/>
      <p:bldP spid="60" grpId="0"/>
      <p:bldP spid="62" grpId="0"/>
      <p:bldP spid="63" grpId="0"/>
      <p:bldP spid="6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0658" name="Text Box 2"/>
          <p:cNvSpPr txBox="1">
            <a:spLocks noChangeArrowheads="1"/>
          </p:cNvSpPr>
          <p:nvPr/>
        </p:nvSpPr>
        <p:spPr bwMode="auto">
          <a:xfrm>
            <a:off x="3217985" y="2775438"/>
            <a:ext cx="4040753" cy="3308350"/>
          </a:xfrm>
          <a:prstGeom prst="rect">
            <a:avLst/>
          </a:prstGeom>
          <a:solidFill>
            <a:schemeClr val="bg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en-US" altLang="zh-CN" sz="2800">
                <a:solidFill>
                  <a:schemeClr val="accent2"/>
                </a:solidFill>
              </a:rPr>
              <a:t>K </a:t>
            </a:r>
            <a:r>
              <a:rPr lang="en-US" altLang="zh-CN" sz="2800"/>
              <a:t>= </a:t>
            </a:r>
            <a:r>
              <a:rPr lang="en-US" altLang="zh-CN" sz="2800">
                <a:solidFill>
                  <a:srgbClr val="FF0000"/>
                </a:solidFill>
              </a:rPr>
              <a:t>0</a:t>
            </a:r>
            <a:r>
              <a:rPr lang="en-US" altLang="zh-CN" sz="2800"/>
              <a:t>;</a:t>
            </a:r>
          </a:p>
          <a:p>
            <a:pPr>
              <a:lnSpc>
                <a:spcPct val="150000"/>
              </a:lnSpc>
            </a:pPr>
            <a:r>
              <a:rPr lang="en-US" altLang="zh-CN" sz="2800"/>
              <a:t>For  </a:t>
            </a:r>
            <a:r>
              <a:rPr lang="en-US" altLang="zh-CN" sz="2800">
                <a:solidFill>
                  <a:schemeClr val="accent2"/>
                </a:solidFill>
              </a:rPr>
              <a:t>I</a:t>
            </a:r>
            <a:r>
              <a:rPr lang="en-US" altLang="zh-CN" sz="2800"/>
              <a:t> =</a:t>
            </a:r>
            <a:r>
              <a:rPr lang="en-US" altLang="zh-CN" sz="2800">
                <a:solidFill>
                  <a:srgbClr val="FF0000"/>
                </a:solidFill>
              </a:rPr>
              <a:t>1</a:t>
            </a:r>
            <a:r>
              <a:rPr lang="en-US" altLang="zh-CN" sz="2800"/>
              <a:t> to </a:t>
            </a:r>
            <a:r>
              <a:rPr lang="en-US" altLang="zh-CN" sz="2800">
                <a:solidFill>
                  <a:srgbClr val="FF0000"/>
                </a:solidFill>
              </a:rPr>
              <a:t>100</a:t>
            </a:r>
            <a:r>
              <a:rPr lang="en-US" altLang="zh-CN" sz="2800"/>
              <a:t> Step </a:t>
            </a:r>
            <a:r>
              <a:rPr lang="en-US" altLang="zh-CN" sz="2800">
                <a:solidFill>
                  <a:srgbClr val="FF0066"/>
                </a:solidFill>
              </a:rPr>
              <a:t>1</a:t>
            </a:r>
            <a:endParaRPr lang="en-US" altLang="zh-CN" sz="2800"/>
          </a:p>
          <a:p>
            <a:pPr>
              <a:lnSpc>
                <a:spcPct val="150000"/>
              </a:lnSpc>
            </a:pPr>
            <a:r>
              <a:rPr kumimoji="0" lang="en-US" altLang="zh-CN" sz="2800"/>
              <a:t>{ </a:t>
            </a:r>
            <a:r>
              <a:rPr lang="en-US" altLang="zh-CN" sz="2800"/>
              <a:t>   If</a:t>
            </a:r>
            <a:r>
              <a:rPr lang="en-US" altLang="zh-CN" sz="2800">
                <a:solidFill>
                  <a:schemeClr val="accent2"/>
                </a:solidFill>
              </a:rPr>
              <a:t> </a:t>
            </a:r>
            <a:r>
              <a:rPr lang="zh-CN" altLang="en-US" sz="2800">
                <a:solidFill>
                  <a:schemeClr val="accent2"/>
                </a:solidFill>
              </a:rPr>
              <a:t> </a:t>
            </a:r>
            <a:r>
              <a:rPr lang="en-US" altLang="zh-CN" sz="2800">
                <a:solidFill>
                  <a:schemeClr val="accent2"/>
                </a:solidFill>
              </a:rPr>
              <a:t>I</a:t>
            </a:r>
            <a:r>
              <a:rPr lang="en-US" altLang="zh-CN" sz="2800"/>
              <a:t>&lt;=</a:t>
            </a:r>
            <a:r>
              <a:rPr lang="en-US" altLang="zh-CN" sz="2800">
                <a:solidFill>
                  <a:srgbClr val="FF0000"/>
                </a:solidFill>
              </a:rPr>
              <a:t>50</a:t>
            </a:r>
            <a:r>
              <a:rPr lang="en-US" altLang="zh-CN" sz="2800">
                <a:solidFill>
                  <a:schemeClr val="accent2"/>
                </a:solidFill>
              </a:rPr>
              <a:t> </a:t>
            </a:r>
            <a:r>
              <a:rPr lang="en-US" altLang="zh-CN" sz="2800"/>
              <a:t>&amp;&amp;</a:t>
            </a:r>
            <a:r>
              <a:rPr lang="en-US" altLang="zh-CN" sz="2800">
                <a:solidFill>
                  <a:schemeClr val="accent2"/>
                </a:solidFill>
              </a:rPr>
              <a:t> I </a:t>
            </a:r>
            <a:r>
              <a:rPr lang="en-US" altLang="zh-CN" sz="2800"/>
              <a:t>&gt; </a:t>
            </a:r>
            <a:r>
              <a:rPr lang="en-US" altLang="zh-CN" sz="2800">
                <a:solidFill>
                  <a:srgbClr val="FF0000"/>
                </a:solidFill>
              </a:rPr>
              <a:t>30</a:t>
            </a:r>
          </a:p>
          <a:p>
            <a:pPr>
              <a:lnSpc>
                <a:spcPct val="150000"/>
              </a:lnSpc>
            </a:pPr>
            <a:r>
              <a:rPr lang="en-US" altLang="zh-CN" sz="2800"/>
              <a:t>     {</a:t>
            </a:r>
            <a:r>
              <a:rPr lang="en-US" altLang="zh-CN" sz="2800">
                <a:solidFill>
                  <a:schemeClr val="accent2"/>
                </a:solidFill>
              </a:rPr>
              <a:t>  K </a:t>
            </a:r>
            <a:r>
              <a:rPr lang="en-US" altLang="zh-CN" sz="2800"/>
              <a:t>=  </a:t>
            </a:r>
            <a:r>
              <a:rPr lang="en-US" altLang="zh-CN" sz="2800">
                <a:solidFill>
                  <a:schemeClr val="accent2"/>
                </a:solidFill>
              </a:rPr>
              <a:t>K</a:t>
            </a:r>
            <a:r>
              <a:rPr lang="en-US" altLang="zh-CN" sz="2800"/>
              <a:t>+</a:t>
            </a:r>
            <a:r>
              <a:rPr lang="en-US" altLang="zh-CN" sz="2800">
                <a:solidFill>
                  <a:schemeClr val="accent2"/>
                </a:solidFill>
              </a:rPr>
              <a:t>I</a:t>
            </a:r>
            <a:r>
              <a:rPr lang="en-US" altLang="zh-CN" sz="2800"/>
              <a:t>;</a:t>
            </a:r>
            <a:r>
              <a:rPr lang="en-US" altLang="zh-CN" sz="2800">
                <a:solidFill>
                  <a:schemeClr val="accent2"/>
                </a:solidFill>
              </a:rPr>
              <a:t> </a:t>
            </a:r>
            <a:r>
              <a:rPr lang="en-US" altLang="zh-CN" sz="2800"/>
              <a:t>}</a:t>
            </a:r>
          </a:p>
          <a:p>
            <a:pPr>
              <a:lnSpc>
                <a:spcPct val="150000"/>
              </a:lnSpc>
            </a:pPr>
            <a:r>
              <a:rPr lang="en-US" altLang="zh-CN" sz="2800"/>
              <a:t>}</a:t>
            </a:r>
          </a:p>
        </p:txBody>
      </p:sp>
      <p:sp>
        <p:nvSpPr>
          <p:cNvPr id="1990679" name="Text Box 16"/>
          <p:cNvSpPr txBox="1">
            <a:spLocks noChangeArrowheads="1"/>
          </p:cNvSpPr>
          <p:nvPr/>
        </p:nvSpPr>
        <p:spPr bwMode="auto">
          <a:xfrm>
            <a:off x="1687514" y="1"/>
            <a:ext cx="3289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计算机语言的发展</a:t>
            </a:r>
          </a:p>
          <a:p>
            <a:pPr eaLnBrk="1" hangingPunct="1">
              <a:lnSpc>
                <a:spcPct val="120000"/>
              </a:lnSpc>
            </a:pPr>
            <a:r>
              <a:rPr lang="en-US" altLang="zh-CN" sz="2000">
                <a:solidFill>
                  <a:schemeClr val="bg1"/>
                </a:solidFill>
                <a:ea typeface="华文中宋" panose="02010600040101010101" pitchFamily="2" charset="-122"/>
              </a:rPr>
              <a:t>(1)</a:t>
            </a:r>
            <a:r>
              <a:rPr lang="zh-CN" altLang="en-US" sz="2000">
                <a:solidFill>
                  <a:schemeClr val="bg1"/>
                </a:solidFill>
                <a:ea typeface="华文中宋" panose="02010600040101010101" pitchFamily="2" charset="-122"/>
              </a:rPr>
              <a:t>如何更方便地编写程序</a:t>
            </a:r>
            <a:r>
              <a:rPr lang="en-US" altLang="zh-CN" sz="2000">
                <a:solidFill>
                  <a:schemeClr val="bg1"/>
                </a:solidFill>
                <a:ea typeface="华文中宋" panose="02010600040101010101" pitchFamily="2" charset="-122"/>
              </a:rPr>
              <a:t>? </a:t>
            </a:r>
          </a:p>
        </p:txBody>
      </p:sp>
      <p:grpSp>
        <p:nvGrpSpPr>
          <p:cNvPr id="1990684" name="Group 28"/>
          <p:cNvGrpSpPr/>
          <p:nvPr/>
        </p:nvGrpSpPr>
        <p:grpSpPr bwMode="auto">
          <a:xfrm>
            <a:off x="1254445" y="2775438"/>
            <a:ext cx="1327150" cy="855663"/>
            <a:chOff x="-1194" y="2315"/>
            <a:chExt cx="575" cy="539"/>
          </a:xfrm>
        </p:grpSpPr>
        <p:sp>
          <p:nvSpPr>
            <p:cNvPr id="2" name="AutoShape 39"/>
            <p:cNvSpPr>
              <a:spLocks noChangeArrowheads="1"/>
            </p:cNvSpPr>
            <p:nvPr/>
          </p:nvSpPr>
          <p:spPr bwMode="gray">
            <a:xfrm>
              <a:off x="-1194" y="2315"/>
              <a:ext cx="575" cy="5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3" name="Oval 40"/>
            <p:cNvSpPr>
              <a:spLocks noChangeArrowheads="1"/>
            </p:cNvSpPr>
            <p:nvPr/>
          </p:nvSpPr>
          <p:spPr bwMode="gray">
            <a:xfrm>
              <a:off x="-1146" y="2360"/>
              <a:ext cx="479" cy="450"/>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4" name="Text Box 84"/>
            <p:cNvSpPr txBox="1">
              <a:spLocks noChangeArrowheads="1"/>
            </p:cNvSpPr>
            <p:nvPr/>
          </p:nvSpPr>
          <p:spPr bwMode="auto">
            <a:xfrm>
              <a:off x="-1169" y="2414"/>
              <a:ext cx="536" cy="288"/>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符号化</a:t>
              </a:r>
            </a:p>
          </p:txBody>
        </p:sp>
      </p:grpSp>
      <p:grpSp>
        <p:nvGrpSpPr>
          <p:cNvPr id="1990688" name="Group 32"/>
          <p:cNvGrpSpPr/>
          <p:nvPr/>
        </p:nvGrpSpPr>
        <p:grpSpPr bwMode="auto">
          <a:xfrm>
            <a:off x="1254445" y="4901058"/>
            <a:ext cx="1327150" cy="855662"/>
            <a:chOff x="-1194" y="2315"/>
            <a:chExt cx="575" cy="539"/>
          </a:xfrm>
        </p:grpSpPr>
        <p:sp>
          <p:nvSpPr>
            <p:cNvPr id="5" name="AutoShape 39"/>
            <p:cNvSpPr>
              <a:spLocks noChangeArrowheads="1"/>
            </p:cNvSpPr>
            <p:nvPr/>
          </p:nvSpPr>
          <p:spPr bwMode="gray">
            <a:xfrm>
              <a:off x="-1194" y="2315"/>
              <a:ext cx="575" cy="5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6" name="Oval 40"/>
            <p:cNvSpPr>
              <a:spLocks noChangeArrowheads="1"/>
            </p:cNvSpPr>
            <p:nvPr/>
          </p:nvSpPr>
          <p:spPr bwMode="gray">
            <a:xfrm>
              <a:off x="-1146" y="2360"/>
              <a:ext cx="479" cy="450"/>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7" name="Text Box 84"/>
            <p:cNvSpPr txBox="1">
              <a:spLocks noChangeArrowheads="1"/>
            </p:cNvSpPr>
            <p:nvPr/>
          </p:nvSpPr>
          <p:spPr bwMode="auto">
            <a:xfrm>
              <a:off x="-1169" y="2414"/>
              <a:ext cx="536" cy="288"/>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结构化</a:t>
              </a:r>
            </a:p>
          </p:txBody>
        </p:sp>
      </p:grpSp>
      <p:grpSp>
        <p:nvGrpSpPr>
          <p:cNvPr id="1990706" name="Group 50"/>
          <p:cNvGrpSpPr/>
          <p:nvPr/>
        </p:nvGrpSpPr>
        <p:grpSpPr bwMode="auto">
          <a:xfrm>
            <a:off x="1254445" y="3799376"/>
            <a:ext cx="1327150" cy="855662"/>
            <a:chOff x="-1194" y="2315"/>
            <a:chExt cx="575" cy="539"/>
          </a:xfrm>
        </p:grpSpPr>
        <p:sp>
          <p:nvSpPr>
            <p:cNvPr id="8" name="AutoShape 39"/>
            <p:cNvSpPr>
              <a:spLocks noChangeArrowheads="1"/>
            </p:cNvSpPr>
            <p:nvPr/>
          </p:nvSpPr>
          <p:spPr bwMode="gray">
            <a:xfrm>
              <a:off x="-1194" y="2315"/>
              <a:ext cx="575" cy="5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9" name="Oval 40"/>
            <p:cNvSpPr>
              <a:spLocks noChangeArrowheads="1"/>
            </p:cNvSpPr>
            <p:nvPr/>
          </p:nvSpPr>
          <p:spPr bwMode="gray">
            <a:xfrm>
              <a:off x="-1146" y="2360"/>
              <a:ext cx="479" cy="450"/>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10" name="Text Box 84"/>
            <p:cNvSpPr txBox="1">
              <a:spLocks noChangeArrowheads="1"/>
            </p:cNvSpPr>
            <p:nvPr/>
          </p:nvSpPr>
          <p:spPr bwMode="auto">
            <a:xfrm>
              <a:off x="-1169" y="2414"/>
              <a:ext cx="536" cy="288"/>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语句化</a:t>
              </a:r>
            </a:p>
          </p:txBody>
        </p:sp>
      </p:grpSp>
      <p:grpSp>
        <p:nvGrpSpPr>
          <p:cNvPr id="1990710" name="Group 54"/>
          <p:cNvGrpSpPr/>
          <p:nvPr/>
        </p:nvGrpSpPr>
        <p:grpSpPr bwMode="auto">
          <a:xfrm>
            <a:off x="7573063" y="3691426"/>
            <a:ext cx="1327150" cy="855663"/>
            <a:chOff x="-1194" y="2315"/>
            <a:chExt cx="575" cy="539"/>
          </a:xfrm>
        </p:grpSpPr>
        <p:sp>
          <p:nvSpPr>
            <p:cNvPr id="11" name="AutoShape 39"/>
            <p:cNvSpPr>
              <a:spLocks noChangeArrowheads="1"/>
            </p:cNvSpPr>
            <p:nvPr/>
          </p:nvSpPr>
          <p:spPr bwMode="gray">
            <a:xfrm>
              <a:off x="-1194" y="2315"/>
              <a:ext cx="575" cy="5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12" name="Oval 40"/>
            <p:cNvSpPr>
              <a:spLocks noChangeArrowheads="1"/>
            </p:cNvSpPr>
            <p:nvPr/>
          </p:nvSpPr>
          <p:spPr bwMode="gray">
            <a:xfrm>
              <a:off x="-1146" y="2360"/>
              <a:ext cx="479" cy="450"/>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13" name="Text Box 84"/>
            <p:cNvSpPr txBox="1">
              <a:spLocks noChangeArrowheads="1"/>
            </p:cNvSpPr>
            <p:nvPr/>
          </p:nvSpPr>
          <p:spPr bwMode="auto">
            <a:xfrm>
              <a:off x="-1169" y="2414"/>
              <a:ext cx="536" cy="288"/>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编译化</a:t>
              </a:r>
            </a:p>
          </p:txBody>
        </p:sp>
      </p:grpSp>
      <p:sp>
        <p:nvSpPr>
          <p:cNvPr id="1990714" name="AutoShape 58"/>
          <p:cNvSpPr>
            <a:spLocks noChangeArrowheads="1"/>
          </p:cNvSpPr>
          <p:nvPr/>
        </p:nvSpPr>
        <p:spPr bwMode="auto">
          <a:xfrm>
            <a:off x="7231751" y="3967651"/>
            <a:ext cx="365125" cy="320675"/>
          </a:xfrm>
          <a:prstGeom prst="rightArrow">
            <a:avLst>
              <a:gd name="adj1" fmla="val 50000"/>
              <a:gd name="adj2" fmla="val 28465"/>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0715" name="AutoShape 59"/>
          <p:cNvSpPr>
            <a:spLocks noChangeArrowheads="1"/>
          </p:cNvSpPr>
          <p:nvPr/>
        </p:nvSpPr>
        <p:spPr bwMode="auto">
          <a:xfrm>
            <a:off x="8893864" y="3986701"/>
            <a:ext cx="365125" cy="320675"/>
          </a:xfrm>
          <a:prstGeom prst="rightArrow">
            <a:avLst>
              <a:gd name="adj1" fmla="val 50000"/>
              <a:gd name="adj2" fmla="val 28465"/>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0716" name="Text Box 60"/>
          <p:cNvSpPr txBox="1">
            <a:spLocks noChangeArrowheads="1"/>
          </p:cNvSpPr>
          <p:nvPr/>
        </p:nvSpPr>
        <p:spPr bwMode="auto">
          <a:xfrm>
            <a:off x="9319314" y="3799376"/>
            <a:ext cx="9858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机器语言程序</a:t>
            </a:r>
          </a:p>
        </p:txBody>
      </p:sp>
      <p:sp>
        <p:nvSpPr>
          <p:cNvPr id="2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计算机语言的发展</a:t>
            </a:r>
          </a:p>
        </p:txBody>
      </p:sp>
      <p:sp>
        <p:nvSpPr>
          <p:cNvPr id="29" name="圆角矩形 28"/>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高级语言（源）程序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90684"/>
                                        </p:tgtEl>
                                        <p:attrNameLst>
                                          <p:attrName>style.visibility</p:attrName>
                                        </p:attrNameLst>
                                      </p:cBhvr>
                                      <p:to>
                                        <p:strVal val="visible"/>
                                      </p:to>
                                    </p:set>
                                    <p:anim calcmode="lin" valueType="num">
                                      <p:cBhvr additive="base">
                                        <p:cTn id="7" dur="500" fill="hold"/>
                                        <p:tgtEl>
                                          <p:spTgt spid="1990684"/>
                                        </p:tgtEl>
                                        <p:attrNameLst>
                                          <p:attrName>ppt_x</p:attrName>
                                        </p:attrNameLst>
                                      </p:cBhvr>
                                      <p:tavLst>
                                        <p:tav tm="0">
                                          <p:val>
                                            <p:strVal val="#ppt_x"/>
                                          </p:val>
                                        </p:tav>
                                        <p:tav tm="100000">
                                          <p:val>
                                            <p:strVal val="#ppt_x"/>
                                          </p:val>
                                        </p:tav>
                                      </p:tavLst>
                                    </p:anim>
                                    <p:anim calcmode="lin" valueType="num">
                                      <p:cBhvr additive="base">
                                        <p:cTn id="8" dur="500" fill="hold"/>
                                        <p:tgtEl>
                                          <p:spTgt spid="19906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90706"/>
                                        </p:tgtEl>
                                        <p:attrNameLst>
                                          <p:attrName>style.visibility</p:attrName>
                                        </p:attrNameLst>
                                      </p:cBhvr>
                                      <p:to>
                                        <p:strVal val="visible"/>
                                      </p:to>
                                    </p:set>
                                    <p:anim calcmode="lin" valueType="num">
                                      <p:cBhvr additive="base">
                                        <p:cTn id="13" dur="500" fill="hold"/>
                                        <p:tgtEl>
                                          <p:spTgt spid="1990706"/>
                                        </p:tgtEl>
                                        <p:attrNameLst>
                                          <p:attrName>ppt_x</p:attrName>
                                        </p:attrNameLst>
                                      </p:cBhvr>
                                      <p:tavLst>
                                        <p:tav tm="0">
                                          <p:val>
                                            <p:strVal val="#ppt_x"/>
                                          </p:val>
                                        </p:tav>
                                        <p:tav tm="100000">
                                          <p:val>
                                            <p:strVal val="#ppt_x"/>
                                          </p:val>
                                        </p:tav>
                                      </p:tavLst>
                                    </p:anim>
                                    <p:anim calcmode="lin" valueType="num">
                                      <p:cBhvr additive="base">
                                        <p:cTn id="14" dur="500" fill="hold"/>
                                        <p:tgtEl>
                                          <p:spTgt spid="19907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90688"/>
                                        </p:tgtEl>
                                        <p:attrNameLst>
                                          <p:attrName>style.visibility</p:attrName>
                                        </p:attrNameLst>
                                      </p:cBhvr>
                                      <p:to>
                                        <p:strVal val="visible"/>
                                      </p:to>
                                    </p:set>
                                    <p:anim calcmode="lin" valueType="num">
                                      <p:cBhvr additive="base">
                                        <p:cTn id="19" dur="500" fill="hold"/>
                                        <p:tgtEl>
                                          <p:spTgt spid="1990688"/>
                                        </p:tgtEl>
                                        <p:attrNameLst>
                                          <p:attrName>ppt_x</p:attrName>
                                        </p:attrNameLst>
                                      </p:cBhvr>
                                      <p:tavLst>
                                        <p:tav tm="0">
                                          <p:val>
                                            <p:strVal val="#ppt_x"/>
                                          </p:val>
                                        </p:tav>
                                        <p:tav tm="100000">
                                          <p:val>
                                            <p:strVal val="#ppt_x"/>
                                          </p:val>
                                        </p:tav>
                                      </p:tavLst>
                                    </p:anim>
                                    <p:anim calcmode="lin" valueType="num">
                                      <p:cBhvr additive="base">
                                        <p:cTn id="20" dur="500" fill="hold"/>
                                        <p:tgtEl>
                                          <p:spTgt spid="19906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90710"/>
                                        </p:tgtEl>
                                        <p:attrNameLst>
                                          <p:attrName>style.visibility</p:attrName>
                                        </p:attrNameLst>
                                      </p:cBhvr>
                                      <p:to>
                                        <p:strVal val="visible"/>
                                      </p:to>
                                    </p:set>
                                    <p:anim calcmode="lin" valueType="num">
                                      <p:cBhvr additive="base">
                                        <p:cTn id="25" dur="500" fill="hold"/>
                                        <p:tgtEl>
                                          <p:spTgt spid="1990710"/>
                                        </p:tgtEl>
                                        <p:attrNameLst>
                                          <p:attrName>ppt_x</p:attrName>
                                        </p:attrNameLst>
                                      </p:cBhvr>
                                      <p:tavLst>
                                        <p:tav tm="0">
                                          <p:val>
                                            <p:strVal val="#ppt_x"/>
                                          </p:val>
                                        </p:tav>
                                        <p:tav tm="100000">
                                          <p:val>
                                            <p:strVal val="#ppt_x"/>
                                          </p:val>
                                        </p:tav>
                                      </p:tavLst>
                                    </p:anim>
                                    <p:anim calcmode="lin" valueType="num">
                                      <p:cBhvr additive="base">
                                        <p:cTn id="26" dur="500" fill="hold"/>
                                        <p:tgtEl>
                                          <p:spTgt spid="199071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990714"/>
                                        </p:tgtEl>
                                        <p:attrNameLst>
                                          <p:attrName>style.visibility</p:attrName>
                                        </p:attrNameLst>
                                      </p:cBhvr>
                                      <p:to>
                                        <p:strVal val="visible"/>
                                      </p:to>
                                    </p:set>
                                    <p:anim calcmode="lin" valueType="num">
                                      <p:cBhvr additive="base">
                                        <p:cTn id="29" dur="500" fill="hold"/>
                                        <p:tgtEl>
                                          <p:spTgt spid="1990714"/>
                                        </p:tgtEl>
                                        <p:attrNameLst>
                                          <p:attrName>ppt_x</p:attrName>
                                        </p:attrNameLst>
                                      </p:cBhvr>
                                      <p:tavLst>
                                        <p:tav tm="0">
                                          <p:val>
                                            <p:strVal val="#ppt_x"/>
                                          </p:val>
                                        </p:tav>
                                        <p:tav tm="100000">
                                          <p:val>
                                            <p:strVal val="#ppt_x"/>
                                          </p:val>
                                        </p:tav>
                                      </p:tavLst>
                                    </p:anim>
                                    <p:anim calcmode="lin" valueType="num">
                                      <p:cBhvr additive="base">
                                        <p:cTn id="30" dur="500" fill="hold"/>
                                        <p:tgtEl>
                                          <p:spTgt spid="199071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990715"/>
                                        </p:tgtEl>
                                        <p:attrNameLst>
                                          <p:attrName>style.visibility</p:attrName>
                                        </p:attrNameLst>
                                      </p:cBhvr>
                                      <p:to>
                                        <p:strVal val="visible"/>
                                      </p:to>
                                    </p:set>
                                    <p:anim calcmode="lin" valueType="num">
                                      <p:cBhvr additive="base">
                                        <p:cTn id="33" dur="500" fill="hold"/>
                                        <p:tgtEl>
                                          <p:spTgt spid="1990715"/>
                                        </p:tgtEl>
                                        <p:attrNameLst>
                                          <p:attrName>ppt_x</p:attrName>
                                        </p:attrNameLst>
                                      </p:cBhvr>
                                      <p:tavLst>
                                        <p:tav tm="0">
                                          <p:val>
                                            <p:strVal val="#ppt_x"/>
                                          </p:val>
                                        </p:tav>
                                        <p:tav tm="100000">
                                          <p:val>
                                            <p:strVal val="#ppt_x"/>
                                          </p:val>
                                        </p:tav>
                                      </p:tavLst>
                                    </p:anim>
                                    <p:anim calcmode="lin" valueType="num">
                                      <p:cBhvr additive="base">
                                        <p:cTn id="34" dur="500" fill="hold"/>
                                        <p:tgtEl>
                                          <p:spTgt spid="199071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990716"/>
                                        </p:tgtEl>
                                        <p:attrNameLst>
                                          <p:attrName>style.visibility</p:attrName>
                                        </p:attrNameLst>
                                      </p:cBhvr>
                                      <p:to>
                                        <p:strVal val="visible"/>
                                      </p:to>
                                    </p:set>
                                    <p:anim calcmode="lin" valueType="num">
                                      <p:cBhvr additive="base">
                                        <p:cTn id="37" dur="500" fill="hold"/>
                                        <p:tgtEl>
                                          <p:spTgt spid="1990716"/>
                                        </p:tgtEl>
                                        <p:attrNameLst>
                                          <p:attrName>ppt_x</p:attrName>
                                        </p:attrNameLst>
                                      </p:cBhvr>
                                      <p:tavLst>
                                        <p:tav tm="0">
                                          <p:val>
                                            <p:strVal val="#ppt_x"/>
                                          </p:val>
                                        </p:tav>
                                        <p:tav tm="100000">
                                          <p:val>
                                            <p:strVal val="#ppt_x"/>
                                          </p:val>
                                        </p:tav>
                                      </p:tavLst>
                                    </p:anim>
                                    <p:anim calcmode="lin" valueType="num">
                                      <p:cBhvr additive="base">
                                        <p:cTn id="38" dur="500" fill="hold"/>
                                        <p:tgtEl>
                                          <p:spTgt spid="19907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07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4354" name="Group 2"/>
          <p:cNvGrpSpPr/>
          <p:nvPr/>
        </p:nvGrpSpPr>
        <p:grpSpPr bwMode="auto">
          <a:xfrm>
            <a:off x="3247335" y="5873631"/>
            <a:ext cx="5245100" cy="701675"/>
            <a:chOff x="967" y="3634"/>
            <a:chExt cx="3304" cy="442"/>
          </a:xfrm>
        </p:grpSpPr>
        <p:sp>
          <p:nvSpPr>
            <p:cNvPr id="1764355" name="Text Box 3"/>
            <p:cNvSpPr txBox="1">
              <a:spLocks noChangeArrowheads="1"/>
            </p:cNvSpPr>
            <p:nvPr/>
          </p:nvSpPr>
          <p:spPr bwMode="auto">
            <a:xfrm>
              <a:off x="967" y="3634"/>
              <a:ext cx="1236"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b="0">
                  <a:latin typeface="宋体" pitchFamily="2" charset="-122"/>
                </a:rPr>
                <a:t>计算机</a:t>
              </a:r>
              <a:r>
                <a:rPr lang="en-US" altLang="zh-CN" b="0">
                  <a:latin typeface="宋体" pitchFamily="2" charset="-122"/>
                </a:rPr>
                <a:t>/CPU</a:t>
              </a:r>
            </a:p>
            <a:p>
              <a:pPr algn="ctr"/>
              <a:r>
                <a:rPr lang="zh-CN" altLang="en-US" b="0">
                  <a:latin typeface="宋体" pitchFamily="2" charset="-122"/>
                </a:rPr>
                <a:t>能识别与执行的</a:t>
              </a:r>
              <a:endParaRPr lang="zh-CN" altLang="en-US">
                <a:latin typeface="宋体" pitchFamily="2" charset="-122"/>
              </a:endParaRPr>
            </a:p>
          </p:txBody>
        </p:sp>
        <p:sp>
          <p:nvSpPr>
            <p:cNvPr id="1764356" name="AutoShape 4"/>
            <p:cNvSpPr>
              <a:spLocks noChangeArrowheads="1"/>
            </p:cNvSpPr>
            <p:nvPr/>
          </p:nvSpPr>
          <p:spPr bwMode="auto">
            <a:xfrm>
              <a:off x="3162" y="3722"/>
              <a:ext cx="1109" cy="277"/>
            </a:xfrm>
            <a:prstGeom prst="roundRect">
              <a:avLst>
                <a:gd name="adj" fmla="val 16667"/>
              </a:avLst>
            </a:prstGeom>
            <a:solidFill>
              <a:srgbClr val="FFCC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a:latin typeface="宋体" pitchFamily="2" charset="-122"/>
                </a:rPr>
                <a:t>机器语言程序</a:t>
              </a:r>
            </a:p>
          </p:txBody>
        </p:sp>
        <p:sp>
          <p:nvSpPr>
            <p:cNvPr id="1764357" name="Line 5"/>
            <p:cNvSpPr>
              <a:spLocks noChangeShapeType="1"/>
            </p:cNvSpPr>
            <p:nvPr/>
          </p:nvSpPr>
          <p:spPr bwMode="auto">
            <a:xfrm>
              <a:off x="2186" y="3868"/>
              <a:ext cx="81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764358" name="Group 6"/>
          <p:cNvGrpSpPr/>
          <p:nvPr/>
        </p:nvGrpSpPr>
        <p:grpSpPr bwMode="auto">
          <a:xfrm>
            <a:off x="7978086" y="5537081"/>
            <a:ext cx="1470025" cy="650875"/>
            <a:chOff x="3947" y="3422"/>
            <a:chExt cx="926" cy="410"/>
          </a:xfrm>
        </p:grpSpPr>
        <p:sp>
          <p:nvSpPr>
            <p:cNvPr id="1764359" name="Text Box 7"/>
            <p:cNvSpPr txBox="1">
              <a:spLocks noChangeArrowheads="1"/>
            </p:cNvSpPr>
            <p:nvPr/>
          </p:nvSpPr>
          <p:spPr bwMode="auto">
            <a:xfrm>
              <a:off x="3947" y="3422"/>
              <a:ext cx="62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1600" b="0">
                  <a:solidFill>
                    <a:schemeClr val="accent2"/>
                  </a:solidFill>
                  <a:latin typeface="Times New Roman" panose="02020503050405090304" pitchFamily="18" charset="0"/>
                </a:rPr>
                <a:t>汇编程序</a:t>
              </a:r>
            </a:p>
          </p:txBody>
        </p:sp>
        <p:sp>
          <p:nvSpPr>
            <p:cNvPr id="1764360" name="Freeform 8"/>
            <p:cNvSpPr/>
            <p:nvPr/>
          </p:nvSpPr>
          <p:spPr bwMode="auto">
            <a:xfrm>
              <a:off x="4296" y="3580"/>
              <a:ext cx="577" cy="252"/>
            </a:xfrm>
            <a:custGeom>
              <a:avLst/>
              <a:gdLst>
                <a:gd name="T0" fmla="*/ 0 w 528"/>
                <a:gd name="T1" fmla="*/ 432 h 432"/>
                <a:gd name="T2" fmla="*/ 528 w 528"/>
                <a:gd name="T3" fmla="*/ 432 h 432"/>
                <a:gd name="T4" fmla="*/ 528 w 528"/>
                <a:gd name="T5" fmla="*/ 0 h 432"/>
                <a:gd name="T6" fmla="*/ 192 w 528"/>
                <a:gd name="T7" fmla="*/ 0 h 432"/>
              </a:gdLst>
              <a:ahLst/>
              <a:cxnLst>
                <a:cxn ang="0">
                  <a:pos x="T0" y="T1"/>
                </a:cxn>
                <a:cxn ang="0">
                  <a:pos x="T2" y="T3"/>
                </a:cxn>
                <a:cxn ang="0">
                  <a:pos x="T4" y="T5"/>
                </a:cxn>
                <a:cxn ang="0">
                  <a:pos x="T6" y="T7"/>
                </a:cxn>
              </a:cxnLst>
              <a:rect l="0" t="0" r="r" b="b"/>
              <a:pathLst>
                <a:path w="528" h="432">
                  <a:moveTo>
                    <a:pt x="0" y="432"/>
                  </a:moveTo>
                  <a:lnTo>
                    <a:pt x="528" y="432"/>
                  </a:lnTo>
                  <a:lnTo>
                    <a:pt x="528" y="0"/>
                  </a:lnTo>
                  <a:lnTo>
                    <a:pt x="192"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764361" name="Group 9"/>
          <p:cNvGrpSpPr/>
          <p:nvPr/>
        </p:nvGrpSpPr>
        <p:grpSpPr bwMode="auto">
          <a:xfrm>
            <a:off x="7978086" y="4605222"/>
            <a:ext cx="1470025" cy="627063"/>
            <a:chOff x="3947" y="2835"/>
            <a:chExt cx="926" cy="395"/>
          </a:xfrm>
        </p:grpSpPr>
        <p:sp>
          <p:nvSpPr>
            <p:cNvPr id="1764362" name="Text Box 10"/>
            <p:cNvSpPr txBox="1">
              <a:spLocks noChangeArrowheads="1"/>
            </p:cNvSpPr>
            <p:nvPr/>
          </p:nvSpPr>
          <p:spPr bwMode="auto">
            <a:xfrm>
              <a:off x="3947" y="2835"/>
              <a:ext cx="62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1600" b="0">
                  <a:solidFill>
                    <a:schemeClr val="accent2"/>
                  </a:solidFill>
                  <a:latin typeface="Times New Roman" panose="02020503050405090304" pitchFamily="18" charset="0"/>
                </a:rPr>
                <a:t>编译程序</a:t>
              </a:r>
            </a:p>
          </p:txBody>
        </p:sp>
        <p:sp>
          <p:nvSpPr>
            <p:cNvPr id="1764363" name="Freeform 11"/>
            <p:cNvSpPr/>
            <p:nvPr/>
          </p:nvSpPr>
          <p:spPr bwMode="auto">
            <a:xfrm>
              <a:off x="4382" y="2978"/>
              <a:ext cx="491" cy="252"/>
            </a:xfrm>
            <a:custGeom>
              <a:avLst/>
              <a:gdLst>
                <a:gd name="T0" fmla="*/ 0 w 480"/>
                <a:gd name="T1" fmla="*/ 432 h 432"/>
                <a:gd name="T2" fmla="*/ 480 w 480"/>
                <a:gd name="T3" fmla="*/ 432 h 432"/>
                <a:gd name="T4" fmla="*/ 480 w 480"/>
                <a:gd name="T5" fmla="*/ 0 h 432"/>
                <a:gd name="T6" fmla="*/ 144 w 480"/>
                <a:gd name="T7" fmla="*/ 0 h 432"/>
              </a:gdLst>
              <a:ahLst/>
              <a:cxnLst>
                <a:cxn ang="0">
                  <a:pos x="T0" y="T1"/>
                </a:cxn>
                <a:cxn ang="0">
                  <a:pos x="T2" y="T3"/>
                </a:cxn>
                <a:cxn ang="0">
                  <a:pos x="T4" y="T5"/>
                </a:cxn>
                <a:cxn ang="0">
                  <a:pos x="T6" y="T7"/>
                </a:cxn>
              </a:cxnLst>
              <a:rect l="0" t="0" r="r" b="b"/>
              <a:pathLst>
                <a:path w="480" h="432">
                  <a:moveTo>
                    <a:pt x="0" y="432"/>
                  </a:moveTo>
                  <a:lnTo>
                    <a:pt x="480" y="432"/>
                  </a:lnTo>
                  <a:lnTo>
                    <a:pt x="480" y="0"/>
                  </a:lnTo>
                  <a:lnTo>
                    <a:pt x="144"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764364" name="Group 12"/>
          <p:cNvGrpSpPr/>
          <p:nvPr/>
        </p:nvGrpSpPr>
        <p:grpSpPr bwMode="auto">
          <a:xfrm>
            <a:off x="7978086" y="3593983"/>
            <a:ext cx="1470025" cy="636588"/>
            <a:chOff x="3947" y="2198"/>
            <a:chExt cx="926" cy="401"/>
          </a:xfrm>
        </p:grpSpPr>
        <p:sp>
          <p:nvSpPr>
            <p:cNvPr id="1764365" name="Text Box 13"/>
            <p:cNvSpPr txBox="1">
              <a:spLocks noChangeArrowheads="1"/>
            </p:cNvSpPr>
            <p:nvPr/>
          </p:nvSpPr>
          <p:spPr bwMode="auto">
            <a:xfrm>
              <a:off x="3947" y="2198"/>
              <a:ext cx="62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1600" b="0">
                  <a:solidFill>
                    <a:schemeClr val="accent2"/>
                  </a:solidFill>
                  <a:latin typeface="Times New Roman" panose="02020503050405090304" pitchFamily="18" charset="0"/>
                </a:rPr>
                <a:t>编译程序</a:t>
              </a:r>
            </a:p>
          </p:txBody>
        </p:sp>
        <p:sp>
          <p:nvSpPr>
            <p:cNvPr id="1764366" name="Freeform 14"/>
            <p:cNvSpPr/>
            <p:nvPr/>
          </p:nvSpPr>
          <p:spPr bwMode="auto">
            <a:xfrm>
              <a:off x="4385" y="2347"/>
              <a:ext cx="488" cy="252"/>
            </a:xfrm>
            <a:custGeom>
              <a:avLst/>
              <a:gdLst>
                <a:gd name="T0" fmla="*/ 0 w 480"/>
                <a:gd name="T1" fmla="*/ 432 h 432"/>
                <a:gd name="T2" fmla="*/ 480 w 480"/>
                <a:gd name="T3" fmla="*/ 432 h 432"/>
                <a:gd name="T4" fmla="*/ 480 w 480"/>
                <a:gd name="T5" fmla="*/ 0 h 432"/>
                <a:gd name="T6" fmla="*/ 144 w 480"/>
                <a:gd name="T7" fmla="*/ 0 h 432"/>
              </a:gdLst>
              <a:ahLst/>
              <a:cxnLst>
                <a:cxn ang="0">
                  <a:pos x="T0" y="T1"/>
                </a:cxn>
                <a:cxn ang="0">
                  <a:pos x="T2" y="T3"/>
                </a:cxn>
                <a:cxn ang="0">
                  <a:pos x="T4" y="T5"/>
                </a:cxn>
                <a:cxn ang="0">
                  <a:pos x="T6" y="T7"/>
                </a:cxn>
              </a:cxnLst>
              <a:rect l="0" t="0" r="r" b="b"/>
              <a:pathLst>
                <a:path w="480" h="432">
                  <a:moveTo>
                    <a:pt x="0" y="432"/>
                  </a:moveTo>
                  <a:lnTo>
                    <a:pt x="480" y="432"/>
                  </a:lnTo>
                  <a:lnTo>
                    <a:pt x="480" y="0"/>
                  </a:lnTo>
                  <a:lnTo>
                    <a:pt x="144"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764367" name="Group 15"/>
          <p:cNvGrpSpPr/>
          <p:nvPr/>
        </p:nvGrpSpPr>
        <p:grpSpPr bwMode="auto">
          <a:xfrm>
            <a:off x="2277372" y="2778005"/>
            <a:ext cx="969963" cy="2273300"/>
            <a:chOff x="554" y="1794"/>
            <a:chExt cx="611" cy="1432"/>
          </a:xfrm>
        </p:grpSpPr>
        <p:sp>
          <p:nvSpPr>
            <p:cNvPr id="1764368" name="Line 16"/>
            <p:cNvSpPr>
              <a:spLocks noChangeShapeType="1"/>
            </p:cNvSpPr>
            <p:nvPr/>
          </p:nvSpPr>
          <p:spPr bwMode="auto">
            <a:xfrm flipV="1">
              <a:off x="1165" y="1902"/>
              <a:ext cx="0" cy="1324"/>
            </a:xfrm>
            <a:prstGeom prst="line">
              <a:avLst/>
            </a:prstGeom>
            <a:noFill/>
            <a:ln w="76200" cmpd="tri">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64369" name="Text Box 17"/>
            <p:cNvSpPr txBox="1">
              <a:spLocks noChangeArrowheads="1"/>
            </p:cNvSpPr>
            <p:nvPr/>
          </p:nvSpPr>
          <p:spPr bwMode="auto">
            <a:xfrm>
              <a:off x="554" y="1794"/>
              <a:ext cx="596"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b="0">
                  <a:latin typeface="Times New Roman" panose="02020503050405090304" pitchFamily="18" charset="0"/>
                </a:rPr>
                <a:t>编程</a:t>
              </a:r>
            </a:p>
            <a:p>
              <a:r>
                <a:rPr lang="zh-CN" altLang="en-US" b="0">
                  <a:latin typeface="Times New Roman" panose="02020503050405090304" pitchFamily="18" charset="0"/>
                </a:rPr>
                <a:t>效率高</a:t>
              </a:r>
              <a:endParaRPr lang="zh-CN" altLang="en-US">
                <a:latin typeface="Times New Roman" panose="02020503050405090304" pitchFamily="18" charset="0"/>
              </a:endParaRPr>
            </a:p>
          </p:txBody>
        </p:sp>
      </p:grpSp>
      <p:grpSp>
        <p:nvGrpSpPr>
          <p:cNvPr id="1764370" name="Group 18"/>
          <p:cNvGrpSpPr/>
          <p:nvPr/>
        </p:nvGrpSpPr>
        <p:grpSpPr bwMode="auto">
          <a:xfrm>
            <a:off x="3628334" y="3087567"/>
            <a:ext cx="1003300" cy="2236788"/>
            <a:chOff x="1405" y="1989"/>
            <a:chExt cx="632" cy="1409"/>
          </a:xfrm>
        </p:grpSpPr>
        <p:sp>
          <p:nvSpPr>
            <p:cNvPr id="1764371" name="Line 19"/>
            <p:cNvSpPr>
              <a:spLocks noChangeShapeType="1"/>
            </p:cNvSpPr>
            <p:nvPr/>
          </p:nvSpPr>
          <p:spPr bwMode="auto">
            <a:xfrm flipV="1">
              <a:off x="1405" y="1989"/>
              <a:ext cx="0" cy="1323"/>
            </a:xfrm>
            <a:prstGeom prst="line">
              <a:avLst/>
            </a:prstGeom>
            <a:noFill/>
            <a:ln w="76200" cmpd="tri">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64372" name="Text Box 20"/>
            <p:cNvSpPr txBox="1">
              <a:spLocks noChangeArrowheads="1"/>
            </p:cNvSpPr>
            <p:nvPr/>
          </p:nvSpPr>
          <p:spPr bwMode="auto">
            <a:xfrm>
              <a:off x="1441" y="2956"/>
              <a:ext cx="596"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b="0">
                  <a:latin typeface="Times New Roman" panose="02020503050405090304" pitchFamily="18" charset="0"/>
                </a:rPr>
                <a:t>执行</a:t>
              </a:r>
            </a:p>
            <a:p>
              <a:r>
                <a:rPr lang="zh-CN" altLang="en-US" b="0">
                  <a:latin typeface="Times New Roman" panose="02020503050405090304" pitchFamily="18" charset="0"/>
                </a:rPr>
                <a:t>效率高</a:t>
              </a:r>
              <a:endParaRPr lang="zh-CN" altLang="en-US">
                <a:latin typeface="Times New Roman" panose="02020503050405090304" pitchFamily="18" charset="0"/>
              </a:endParaRPr>
            </a:p>
          </p:txBody>
        </p:sp>
      </p:grpSp>
      <p:grpSp>
        <p:nvGrpSpPr>
          <p:cNvPr id="1764373" name="Group 21"/>
          <p:cNvGrpSpPr/>
          <p:nvPr/>
        </p:nvGrpSpPr>
        <p:grpSpPr bwMode="auto">
          <a:xfrm>
            <a:off x="6596961" y="5051305"/>
            <a:ext cx="2016125" cy="958850"/>
            <a:chOff x="3077" y="3116"/>
            <a:chExt cx="1270" cy="604"/>
          </a:xfrm>
        </p:grpSpPr>
        <p:sp>
          <p:nvSpPr>
            <p:cNvPr id="1764374" name="AutoShape 22"/>
            <p:cNvSpPr>
              <a:spLocks noChangeArrowheads="1"/>
            </p:cNvSpPr>
            <p:nvPr/>
          </p:nvSpPr>
          <p:spPr bwMode="auto">
            <a:xfrm>
              <a:off x="3077" y="3116"/>
              <a:ext cx="1270" cy="277"/>
            </a:xfrm>
            <a:prstGeom prst="roundRect">
              <a:avLst>
                <a:gd name="adj" fmla="val 16667"/>
              </a:avLst>
            </a:prstGeom>
            <a:solidFill>
              <a:srgbClr val="FFCC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a:latin typeface="Times New Roman" panose="02020503050405090304" pitchFamily="18" charset="0"/>
                </a:rPr>
                <a:t>汇编语言源程序</a:t>
              </a:r>
            </a:p>
          </p:txBody>
        </p:sp>
        <p:sp>
          <p:nvSpPr>
            <p:cNvPr id="1764375" name="AutoShape 23"/>
            <p:cNvSpPr>
              <a:spLocks noChangeArrowheads="1"/>
            </p:cNvSpPr>
            <p:nvPr/>
          </p:nvSpPr>
          <p:spPr bwMode="auto">
            <a:xfrm>
              <a:off x="3487" y="3388"/>
              <a:ext cx="489" cy="332"/>
            </a:xfrm>
            <a:prstGeom prst="downArrow">
              <a:avLst>
                <a:gd name="adj1" fmla="val 66056"/>
                <a:gd name="adj2" fmla="val 27426"/>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0"/>
                <a:t>自动</a:t>
              </a:r>
            </a:p>
            <a:p>
              <a:pPr algn="ctr"/>
              <a:r>
                <a:rPr lang="zh-CN" altLang="en-US" sz="1200" b="0"/>
                <a:t>转换</a:t>
              </a:r>
              <a:endParaRPr lang="en-US" altLang="zh-CN" sz="1200" b="0"/>
            </a:p>
          </p:txBody>
        </p:sp>
      </p:grpSp>
      <p:grpSp>
        <p:nvGrpSpPr>
          <p:cNvPr id="1764376" name="Group 24"/>
          <p:cNvGrpSpPr/>
          <p:nvPr/>
        </p:nvGrpSpPr>
        <p:grpSpPr bwMode="auto">
          <a:xfrm>
            <a:off x="6598548" y="4089281"/>
            <a:ext cx="2016125" cy="962025"/>
            <a:chOff x="3078" y="2510"/>
            <a:chExt cx="1270" cy="606"/>
          </a:xfrm>
        </p:grpSpPr>
        <p:sp>
          <p:nvSpPr>
            <p:cNvPr id="1764377" name="AutoShape 25"/>
            <p:cNvSpPr>
              <a:spLocks noChangeArrowheads="1"/>
            </p:cNvSpPr>
            <p:nvPr/>
          </p:nvSpPr>
          <p:spPr bwMode="auto">
            <a:xfrm>
              <a:off x="3078" y="2510"/>
              <a:ext cx="1270" cy="277"/>
            </a:xfrm>
            <a:prstGeom prst="roundRect">
              <a:avLst>
                <a:gd name="adj" fmla="val 16667"/>
              </a:avLst>
            </a:prstGeom>
            <a:solidFill>
              <a:srgbClr val="FFCC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dirty="0">
                  <a:latin typeface="Times New Roman" panose="02020503050405090304" pitchFamily="18" charset="0"/>
                </a:rPr>
                <a:t>高级语言源程序</a:t>
              </a:r>
            </a:p>
          </p:txBody>
        </p:sp>
        <p:sp>
          <p:nvSpPr>
            <p:cNvPr id="1764378" name="AutoShape 26"/>
            <p:cNvSpPr>
              <a:spLocks noChangeArrowheads="1"/>
            </p:cNvSpPr>
            <p:nvPr/>
          </p:nvSpPr>
          <p:spPr bwMode="auto">
            <a:xfrm>
              <a:off x="3473" y="2784"/>
              <a:ext cx="489" cy="332"/>
            </a:xfrm>
            <a:prstGeom prst="downArrow">
              <a:avLst>
                <a:gd name="adj1" fmla="val 66056"/>
                <a:gd name="adj2" fmla="val 27426"/>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0"/>
                <a:t>自动</a:t>
              </a:r>
            </a:p>
            <a:p>
              <a:pPr algn="ctr"/>
              <a:r>
                <a:rPr lang="zh-CN" altLang="en-US" sz="1200" b="0"/>
                <a:t>转换</a:t>
              </a:r>
              <a:endParaRPr lang="en-US" altLang="zh-CN" sz="1200" b="0"/>
            </a:p>
          </p:txBody>
        </p:sp>
      </p:grpSp>
      <p:grpSp>
        <p:nvGrpSpPr>
          <p:cNvPr id="1764379" name="Group 27"/>
          <p:cNvGrpSpPr/>
          <p:nvPr/>
        </p:nvGrpSpPr>
        <p:grpSpPr bwMode="auto">
          <a:xfrm>
            <a:off x="6804922" y="3127255"/>
            <a:ext cx="1504950" cy="965200"/>
            <a:chOff x="3208" y="1904"/>
            <a:chExt cx="948" cy="608"/>
          </a:xfrm>
        </p:grpSpPr>
        <p:sp>
          <p:nvSpPr>
            <p:cNvPr id="1764380" name="AutoShape 28"/>
            <p:cNvSpPr>
              <a:spLocks noChangeArrowheads="1"/>
            </p:cNvSpPr>
            <p:nvPr/>
          </p:nvSpPr>
          <p:spPr bwMode="auto">
            <a:xfrm>
              <a:off x="3208" y="1904"/>
              <a:ext cx="948" cy="277"/>
            </a:xfrm>
            <a:prstGeom prst="roundRect">
              <a:avLst>
                <a:gd name="adj" fmla="val 16667"/>
              </a:avLst>
            </a:prstGeom>
            <a:solidFill>
              <a:srgbClr val="FFCC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dirty="0">
                  <a:latin typeface="Times New Roman" panose="02020503050405090304" pitchFamily="18" charset="0"/>
                </a:rPr>
                <a:t>语言积木块</a:t>
              </a:r>
            </a:p>
          </p:txBody>
        </p:sp>
        <p:sp>
          <p:nvSpPr>
            <p:cNvPr id="1764381" name="AutoShape 29"/>
            <p:cNvSpPr>
              <a:spLocks noChangeArrowheads="1"/>
            </p:cNvSpPr>
            <p:nvPr/>
          </p:nvSpPr>
          <p:spPr bwMode="auto">
            <a:xfrm>
              <a:off x="3459" y="2180"/>
              <a:ext cx="489" cy="332"/>
            </a:xfrm>
            <a:prstGeom prst="downArrow">
              <a:avLst>
                <a:gd name="adj1" fmla="val 66056"/>
                <a:gd name="adj2" fmla="val 27426"/>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0"/>
                <a:t>自动</a:t>
              </a:r>
            </a:p>
            <a:p>
              <a:pPr algn="ctr"/>
              <a:r>
                <a:rPr lang="zh-CN" altLang="en-US" sz="1200" b="0"/>
                <a:t>转换</a:t>
              </a:r>
              <a:endParaRPr lang="en-US" altLang="zh-CN" sz="1200" b="0"/>
            </a:p>
          </p:txBody>
        </p:sp>
      </p:grpSp>
      <p:grpSp>
        <p:nvGrpSpPr>
          <p:cNvPr id="1764382" name="Group 30"/>
          <p:cNvGrpSpPr/>
          <p:nvPr/>
        </p:nvGrpSpPr>
        <p:grpSpPr bwMode="auto">
          <a:xfrm>
            <a:off x="6387410" y="2166817"/>
            <a:ext cx="2271712" cy="966788"/>
            <a:chOff x="2945" y="1299"/>
            <a:chExt cx="1431" cy="609"/>
          </a:xfrm>
        </p:grpSpPr>
        <p:sp>
          <p:nvSpPr>
            <p:cNvPr id="1764383" name="AutoShape 31"/>
            <p:cNvSpPr>
              <a:spLocks noChangeArrowheads="1"/>
            </p:cNvSpPr>
            <p:nvPr/>
          </p:nvSpPr>
          <p:spPr bwMode="auto">
            <a:xfrm>
              <a:off x="2945" y="1299"/>
              <a:ext cx="1431" cy="277"/>
            </a:xfrm>
            <a:prstGeom prst="roundRect">
              <a:avLst>
                <a:gd name="adj" fmla="val 16667"/>
              </a:avLst>
            </a:prstGeom>
            <a:solidFill>
              <a:srgbClr val="FFCC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a:latin typeface="Times New Roman" panose="02020503050405090304" pitchFamily="18" charset="0"/>
                </a:rPr>
                <a:t>更大的语言积木块</a:t>
              </a:r>
            </a:p>
          </p:txBody>
        </p:sp>
        <p:sp>
          <p:nvSpPr>
            <p:cNvPr id="1764384" name="AutoShape 32"/>
            <p:cNvSpPr>
              <a:spLocks noChangeArrowheads="1"/>
            </p:cNvSpPr>
            <p:nvPr/>
          </p:nvSpPr>
          <p:spPr bwMode="auto">
            <a:xfrm>
              <a:off x="3455" y="1576"/>
              <a:ext cx="489" cy="332"/>
            </a:xfrm>
            <a:prstGeom prst="downArrow">
              <a:avLst>
                <a:gd name="adj1" fmla="val 66056"/>
                <a:gd name="adj2" fmla="val 27426"/>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200" b="0"/>
                <a:t>自动</a:t>
              </a:r>
            </a:p>
            <a:p>
              <a:pPr algn="ctr"/>
              <a:r>
                <a:rPr lang="zh-CN" altLang="en-US" sz="1200" b="0"/>
                <a:t>转换</a:t>
              </a:r>
              <a:endParaRPr lang="en-US" altLang="zh-CN" sz="1200" b="0"/>
            </a:p>
          </p:txBody>
        </p:sp>
      </p:grpSp>
      <p:grpSp>
        <p:nvGrpSpPr>
          <p:cNvPr id="1764385" name="Group 33"/>
          <p:cNvGrpSpPr/>
          <p:nvPr/>
        </p:nvGrpSpPr>
        <p:grpSpPr bwMode="auto">
          <a:xfrm>
            <a:off x="7978086" y="2666880"/>
            <a:ext cx="1470025" cy="652462"/>
            <a:chOff x="3947" y="1614"/>
            <a:chExt cx="926" cy="411"/>
          </a:xfrm>
        </p:grpSpPr>
        <p:sp>
          <p:nvSpPr>
            <p:cNvPr id="1764386" name="Text Box 34"/>
            <p:cNvSpPr txBox="1">
              <a:spLocks noChangeArrowheads="1"/>
            </p:cNvSpPr>
            <p:nvPr/>
          </p:nvSpPr>
          <p:spPr bwMode="auto">
            <a:xfrm>
              <a:off x="3947" y="1614"/>
              <a:ext cx="62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1600" b="0">
                  <a:solidFill>
                    <a:schemeClr val="accent2"/>
                  </a:solidFill>
                  <a:latin typeface="Times New Roman" panose="02020503050405090304" pitchFamily="18" charset="0"/>
                </a:rPr>
                <a:t>编译程序</a:t>
              </a:r>
            </a:p>
          </p:txBody>
        </p:sp>
        <p:sp>
          <p:nvSpPr>
            <p:cNvPr id="1764387" name="Freeform 35"/>
            <p:cNvSpPr/>
            <p:nvPr/>
          </p:nvSpPr>
          <p:spPr bwMode="auto">
            <a:xfrm>
              <a:off x="4296" y="1773"/>
              <a:ext cx="577" cy="252"/>
            </a:xfrm>
            <a:custGeom>
              <a:avLst/>
              <a:gdLst>
                <a:gd name="T0" fmla="*/ 0 w 528"/>
                <a:gd name="T1" fmla="*/ 432 h 432"/>
                <a:gd name="T2" fmla="*/ 528 w 528"/>
                <a:gd name="T3" fmla="*/ 432 h 432"/>
                <a:gd name="T4" fmla="*/ 528 w 528"/>
                <a:gd name="T5" fmla="*/ 0 h 432"/>
                <a:gd name="T6" fmla="*/ 192 w 528"/>
                <a:gd name="T7" fmla="*/ 0 h 432"/>
              </a:gdLst>
              <a:ahLst/>
              <a:cxnLst>
                <a:cxn ang="0">
                  <a:pos x="T0" y="T1"/>
                </a:cxn>
                <a:cxn ang="0">
                  <a:pos x="T2" y="T3"/>
                </a:cxn>
                <a:cxn ang="0">
                  <a:pos x="T4" y="T5"/>
                </a:cxn>
                <a:cxn ang="0">
                  <a:pos x="T6" y="T7"/>
                </a:cxn>
              </a:cxnLst>
              <a:rect l="0" t="0" r="r" b="b"/>
              <a:pathLst>
                <a:path w="528" h="432">
                  <a:moveTo>
                    <a:pt x="0" y="432"/>
                  </a:moveTo>
                  <a:lnTo>
                    <a:pt x="528" y="432"/>
                  </a:lnTo>
                  <a:lnTo>
                    <a:pt x="528" y="0"/>
                  </a:lnTo>
                  <a:lnTo>
                    <a:pt x="192"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3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计算机语言的发展</a:t>
            </a:r>
          </a:p>
        </p:txBody>
      </p:sp>
      <p:sp>
        <p:nvSpPr>
          <p:cNvPr id="39" name="圆角矩形 38"/>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计算机语言发展的基本思维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4354"/>
                                        </p:tgtEl>
                                        <p:attrNameLst>
                                          <p:attrName>style.visibility</p:attrName>
                                        </p:attrNameLst>
                                      </p:cBhvr>
                                      <p:to>
                                        <p:strVal val="visible"/>
                                      </p:to>
                                    </p:set>
                                    <p:anim calcmode="lin" valueType="num">
                                      <p:cBhvr additive="base">
                                        <p:cTn id="7" dur="500" fill="hold"/>
                                        <p:tgtEl>
                                          <p:spTgt spid="1764354"/>
                                        </p:tgtEl>
                                        <p:attrNameLst>
                                          <p:attrName>ppt_x</p:attrName>
                                        </p:attrNameLst>
                                      </p:cBhvr>
                                      <p:tavLst>
                                        <p:tav tm="0">
                                          <p:val>
                                            <p:strVal val="#ppt_x"/>
                                          </p:val>
                                        </p:tav>
                                        <p:tav tm="100000">
                                          <p:val>
                                            <p:strVal val="#ppt_x"/>
                                          </p:val>
                                        </p:tav>
                                      </p:tavLst>
                                    </p:anim>
                                    <p:anim calcmode="lin" valueType="num">
                                      <p:cBhvr additive="base">
                                        <p:cTn id="8" dur="500" fill="hold"/>
                                        <p:tgtEl>
                                          <p:spTgt spid="17643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764358"/>
                                        </p:tgtEl>
                                        <p:attrNameLst>
                                          <p:attrName>style.visibility</p:attrName>
                                        </p:attrNameLst>
                                      </p:cBhvr>
                                      <p:to>
                                        <p:strVal val="visible"/>
                                      </p:to>
                                    </p:set>
                                    <p:anim calcmode="lin" valueType="num">
                                      <p:cBhvr additive="base">
                                        <p:cTn id="13" dur="500" fill="hold"/>
                                        <p:tgtEl>
                                          <p:spTgt spid="1764358"/>
                                        </p:tgtEl>
                                        <p:attrNameLst>
                                          <p:attrName>ppt_x</p:attrName>
                                        </p:attrNameLst>
                                      </p:cBhvr>
                                      <p:tavLst>
                                        <p:tav tm="0">
                                          <p:val>
                                            <p:strVal val="#ppt_x"/>
                                          </p:val>
                                        </p:tav>
                                        <p:tav tm="100000">
                                          <p:val>
                                            <p:strVal val="#ppt_x"/>
                                          </p:val>
                                        </p:tav>
                                      </p:tavLst>
                                    </p:anim>
                                    <p:anim calcmode="lin" valueType="num">
                                      <p:cBhvr additive="base">
                                        <p:cTn id="14" dur="500" fill="hold"/>
                                        <p:tgtEl>
                                          <p:spTgt spid="176435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764373"/>
                                        </p:tgtEl>
                                        <p:attrNameLst>
                                          <p:attrName>style.visibility</p:attrName>
                                        </p:attrNameLst>
                                      </p:cBhvr>
                                      <p:to>
                                        <p:strVal val="visible"/>
                                      </p:to>
                                    </p:set>
                                    <p:anim calcmode="lin" valueType="num">
                                      <p:cBhvr additive="base">
                                        <p:cTn id="19" dur="500" fill="hold"/>
                                        <p:tgtEl>
                                          <p:spTgt spid="1764373"/>
                                        </p:tgtEl>
                                        <p:attrNameLst>
                                          <p:attrName>ppt_x</p:attrName>
                                        </p:attrNameLst>
                                      </p:cBhvr>
                                      <p:tavLst>
                                        <p:tav tm="0">
                                          <p:val>
                                            <p:strVal val="#ppt_x"/>
                                          </p:val>
                                        </p:tav>
                                        <p:tav tm="100000">
                                          <p:val>
                                            <p:strVal val="#ppt_x"/>
                                          </p:val>
                                        </p:tav>
                                      </p:tavLst>
                                    </p:anim>
                                    <p:anim calcmode="lin" valueType="num">
                                      <p:cBhvr additive="base">
                                        <p:cTn id="20" dur="500" fill="hold"/>
                                        <p:tgtEl>
                                          <p:spTgt spid="1764373"/>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764361"/>
                                        </p:tgtEl>
                                        <p:attrNameLst>
                                          <p:attrName>style.visibility</p:attrName>
                                        </p:attrNameLst>
                                      </p:cBhvr>
                                      <p:to>
                                        <p:strVal val="visible"/>
                                      </p:to>
                                    </p:set>
                                    <p:anim calcmode="lin" valueType="num">
                                      <p:cBhvr additive="base">
                                        <p:cTn id="25" dur="500" fill="hold"/>
                                        <p:tgtEl>
                                          <p:spTgt spid="1764361"/>
                                        </p:tgtEl>
                                        <p:attrNameLst>
                                          <p:attrName>ppt_x</p:attrName>
                                        </p:attrNameLst>
                                      </p:cBhvr>
                                      <p:tavLst>
                                        <p:tav tm="0">
                                          <p:val>
                                            <p:strVal val="#ppt_x"/>
                                          </p:val>
                                        </p:tav>
                                        <p:tav tm="100000">
                                          <p:val>
                                            <p:strVal val="#ppt_x"/>
                                          </p:val>
                                        </p:tav>
                                      </p:tavLst>
                                    </p:anim>
                                    <p:anim calcmode="lin" valueType="num">
                                      <p:cBhvr additive="base">
                                        <p:cTn id="26" dur="500" fill="hold"/>
                                        <p:tgtEl>
                                          <p:spTgt spid="1764361"/>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1764376"/>
                                        </p:tgtEl>
                                        <p:attrNameLst>
                                          <p:attrName>style.visibility</p:attrName>
                                        </p:attrNameLst>
                                      </p:cBhvr>
                                      <p:to>
                                        <p:strVal val="visible"/>
                                      </p:to>
                                    </p:set>
                                    <p:anim calcmode="lin" valueType="num">
                                      <p:cBhvr additive="base">
                                        <p:cTn id="31" dur="500" fill="hold"/>
                                        <p:tgtEl>
                                          <p:spTgt spid="1764376"/>
                                        </p:tgtEl>
                                        <p:attrNameLst>
                                          <p:attrName>ppt_x</p:attrName>
                                        </p:attrNameLst>
                                      </p:cBhvr>
                                      <p:tavLst>
                                        <p:tav tm="0">
                                          <p:val>
                                            <p:strVal val="#ppt_x"/>
                                          </p:val>
                                        </p:tav>
                                        <p:tav tm="100000">
                                          <p:val>
                                            <p:strVal val="#ppt_x"/>
                                          </p:val>
                                        </p:tav>
                                      </p:tavLst>
                                    </p:anim>
                                    <p:anim calcmode="lin" valueType="num">
                                      <p:cBhvr additive="base">
                                        <p:cTn id="32" dur="500" fill="hold"/>
                                        <p:tgtEl>
                                          <p:spTgt spid="1764376"/>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1764364"/>
                                        </p:tgtEl>
                                        <p:attrNameLst>
                                          <p:attrName>style.visibility</p:attrName>
                                        </p:attrNameLst>
                                      </p:cBhvr>
                                      <p:to>
                                        <p:strVal val="visible"/>
                                      </p:to>
                                    </p:set>
                                    <p:anim calcmode="lin" valueType="num">
                                      <p:cBhvr additive="base">
                                        <p:cTn id="37" dur="500" fill="hold"/>
                                        <p:tgtEl>
                                          <p:spTgt spid="1764364"/>
                                        </p:tgtEl>
                                        <p:attrNameLst>
                                          <p:attrName>ppt_x</p:attrName>
                                        </p:attrNameLst>
                                      </p:cBhvr>
                                      <p:tavLst>
                                        <p:tav tm="0">
                                          <p:val>
                                            <p:strVal val="#ppt_x"/>
                                          </p:val>
                                        </p:tav>
                                        <p:tav tm="100000">
                                          <p:val>
                                            <p:strVal val="#ppt_x"/>
                                          </p:val>
                                        </p:tav>
                                      </p:tavLst>
                                    </p:anim>
                                    <p:anim calcmode="lin" valueType="num">
                                      <p:cBhvr additive="base">
                                        <p:cTn id="38" dur="500" fill="hold"/>
                                        <p:tgtEl>
                                          <p:spTgt spid="1764364"/>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764379"/>
                                        </p:tgtEl>
                                        <p:attrNameLst>
                                          <p:attrName>style.visibility</p:attrName>
                                        </p:attrNameLst>
                                      </p:cBhvr>
                                      <p:to>
                                        <p:strVal val="visible"/>
                                      </p:to>
                                    </p:set>
                                    <p:anim calcmode="lin" valueType="num">
                                      <p:cBhvr additive="base">
                                        <p:cTn id="43" dur="500" fill="hold"/>
                                        <p:tgtEl>
                                          <p:spTgt spid="1764379"/>
                                        </p:tgtEl>
                                        <p:attrNameLst>
                                          <p:attrName>ppt_x</p:attrName>
                                        </p:attrNameLst>
                                      </p:cBhvr>
                                      <p:tavLst>
                                        <p:tav tm="0">
                                          <p:val>
                                            <p:strVal val="#ppt_x"/>
                                          </p:val>
                                        </p:tav>
                                        <p:tav tm="100000">
                                          <p:val>
                                            <p:strVal val="#ppt_x"/>
                                          </p:val>
                                        </p:tav>
                                      </p:tavLst>
                                    </p:anim>
                                    <p:anim calcmode="lin" valueType="num">
                                      <p:cBhvr additive="base">
                                        <p:cTn id="44" dur="500" fill="hold"/>
                                        <p:tgtEl>
                                          <p:spTgt spid="1764379"/>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nodeType="clickEffect">
                                  <p:stCondLst>
                                    <p:cond delay="0"/>
                                  </p:stCondLst>
                                  <p:childTnLst>
                                    <p:set>
                                      <p:cBhvr>
                                        <p:cTn id="48" dur="1" fill="hold">
                                          <p:stCondLst>
                                            <p:cond delay="0"/>
                                          </p:stCondLst>
                                        </p:cTn>
                                        <p:tgtEl>
                                          <p:spTgt spid="1764385"/>
                                        </p:tgtEl>
                                        <p:attrNameLst>
                                          <p:attrName>style.visibility</p:attrName>
                                        </p:attrNameLst>
                                      </p:cBhvr>
                                      <p:to>
                                        <p:strVal val="visible"/>
                                      </p:to>
                                    </p:set>
                                    <p:anim calcmode="lin" valueType="num">
                                      <p:cBhvr additive="base">
                                        <p:cTn id="49" dur="500" fill="hold"/>
                                        <p:tgtEl>
                                          <p:spTgt spid="1764385"/>
                                        </p:tgtEl>
                                        <p:attrNameLst>
                                          <p:attrName>ppt_x</p:attrName>
                                        </p:attrNameLst>
                                      </p:cBhvr>
                                      <p:tavLst>
                                        <p:tav tm="0">
                                          <p:val>
                                            <p:strVal val="#ppt_x"/>
                                          </p:val>
                                        </p:tav>
                                        <p:tav tm="100000">
                                          <p:val>
                                            <p:strVal val="#ppt_x"/>
                                          </p:val>
                                        </p:tav>
                                      </p:tavLst>
                                    </p:anim>
                                    <p:anim calcmode="lin" valueType="num">
                                      <p:cBhvr additive="base">
                                        <p:cTn id="50" dur="500" fill="hold"/>
                                        <p:tgtEl>
                                          <p:spTgt spid="1764385"/>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1" fill="hold" nodeType="clickEffect">
                                  <p:stCondLst>
                                    <p:cond delay="0"/>
                                  </p:stCondLst>
                                  <p:childTnLst>
                                    <p:set>
                                      <p:cBhvr>
                                        <p:cTn id="54" dur="1" fill="hold">
                                          <p:stCondLst>
                                            <p:cond delay="0"/>
                                          </p:stCondLst>
                                        </p:cTn>
                                        <p:tgtEl>
                                          <p:spTgt spid="1764382"/>
                                        </p:tgtEl>
                                        <p:attrNameLst>
                                          <p:attrName>style.visibility</p:attrName>
                                        </p:attrNameLst>
                                      </p:cBhvr>
                                      <p:to>
                                        <p:strVal val="visible"/>
                                      </p:to>
                                    </p:set>
                                    <p:anim calcmode="lin" valueType="num">
                                      <p:cBhvr additive="base">
                                        <p:cTn id="55" dur="500" fill="hold"/>
                                        <p:tgtEl>
                                          <p:spTgt spid="1764382"/>
                                        </p:tgtEl>
                                        <p:attrNameLst>
                                          <p:attrName>ppt_x</p:attrName>
                                        </p:attrNameLst>
                                      </p:cBhvr>
                                      <p:tavLst>
                                        <p:tav tm="0">
                                          <p:val>
                                            <p:strVal val="#ppt_x"/>
                                          </p:val>
                                        </p:tav>
                                        <p:tav tm="100000">
                                          <p:val>
                                            <p:strVal val="#ppt_x"/>
                                          </p:val>
                                        </p:tav>
                                      </p:tavLst>
                                    </p:anim>
                                    <p:anim calcmode="lin" valueType="num">
                                      <p:cBhvr additive="base">
                                        <p:cTn id="56" dur="500" fill="hold"/>
                                        <p:tgtEl>
                                          <p:spTgt spid="1764382"/>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764367"/>
                                        </p:tgtEl>
                                        <p:attrNameLst>
                                          <p:attrName>style.visibility</p:attrName>
                                        </p:attrNameLst>
                                      </p:cBhvr>
                                      <p:to>
                                        <p:strVal val="visible"/>
                                      </p:to>
                                    </p:set>
                                    <p:anim calcmode="lin" valueType="num">
                                      <p:cBhvr additive="base">
                                        <p:cTn id="61" dur="500" fill="hold"/>
                                        <p:tgtEl>
                                          <p:spTgt spid="1764367"/>
                                        </p:tgtEl>
                                        <p:attrNameLst>
                                          <p:attrName>ppt_x</p:attrName>
                                        </p:attrNameLst>
                                      </p:cBhvr>
                                      <p:tavLst>
                                        <p:tav tm="0">
                                          <p:val>
                                            <p:strVal val="#ppt_x"/>
                                          </p:val>
                                        </p:tav>
                                        <p:tav tm="100000">
                                          <p:val>
                                            <p:strVal val="#ppt_x"/>
                                          </p:val>
                                        </p:tav>
                                      </p:tavLst>
                                    </p:anim>
                                    <p:anim calcmode="lin" valueType="num">
                                      <p:cBhvr additive="base">
                                        <p:cTn id="62" dur="500" fill="hold"/>
                                        <p:tgtEl>
                                          <p:spTgt spid="176436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764370"/>
                                        </p:tgtEl>
                                        <p:attrNameLst>
                                          <p:attrName>style.visibility</p:attrName>
                                        </p:attrNameLst>
                                      </p:cBhvr>
                                      <p:to>
                                        <p:strVal val="visible"/>
                                      </p:to>
                                    </p:set>
                                    <p:anim calcmode="lin" valueType="num">
                                      <p:cBhvr additive="base">
                                        <p:cTn id="67" dur="500" fill="hold"/>
                                        <p:tgtEl>
                                          <p:spTgt spid="1764370"/>
                                        </p:tgtEl>
                                        <p:attrNameLst>
                                          <p:attrName>ppt_x</p:attrName>
                                        </p:attrNameLst>
                                      </p:cBhvr>
                                      <p:tavLst>
                                        <p:tav tm="0">
                                          <p:val>
                                            <p:strVal val="#ppt_x"/>
                                          </p:val>
                                        </p:tav>
                                        <p:tav tm="100000">
                                          <p:val>
                                            <p:strVal val="#ppt_x"/>
                                          </p:val>
                                        </p:tav>
                                      </p:tavLst>
                                    </p:anim>
                                    <p:anim calcmode="lin" valueType="num">
                                      <p:cBhvr additive="base">
                                        <p:cTn id="68" dur="500" fill="hold"/>
                                        <p:tgtEl>
                                          <p:spTgt spid="17643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3331" name="Picture 3" descr="SNAG-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2" y="3659210"/>
            <a:ext cx="3810000" cy="2867025"/>
          </a:xfrm>
          <a:prstGeom prst="rect">
            <a:avLst/>
          </a:prstGeom>
          <a:noFill/>
          <a:extLst>
            <a:ext uri="{909E8E84-426E-40DD-AFC4-6F175D3DCCD1}">
              <a14:hiddenFill xmlns:a14="http://schemas.microsoft.com/office/drawing/2010/main">
                <a:solidFill>
                  <a:srgbClr val="FFFFFF"/>
                </a:solidFill>
              </a14:hiddenFill>
            </a:ext>
          </a:extLst>
        </p:spPr>
      </p:pic>
      <p:pic>
        <p:nvPicPr>
          <p:cNvPr id="1763332" name="Picture 4" descr="SNAG-0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215" y="3689372"/>
            <a:ext cx="1268412"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763333" name="Picture 5" descr="SNAG-0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1065" y="4464072"/>
            <a:ext cx="906462" cy="290512"/>
          </a:xfrm>
          <a:prstGeom prst="rect">
            <a:avLst/>
          </a:prstGeom>
          <a:noFill/>
          <a:extLst>
            <a:ext uri="{909E8E84-426E-40DD-AFC4-6F175D3DCCD1}">
              <a14:hiddenFill xmlns:a14="http://schemas.microsoft.com/office/drawing/2010/main">
                <a:solidFill>
                  <a:srgbClr val="FFFFFF"/>
                </a:solidFill>
              </a14:hiddenFill>
            </a:ext>
          </a:extLst>
        </p:spPr>
      </p:pic>
      <p:pic>
        <p:nvPicPr>
          <p:cNvPr id="1763334" name="Picture 6" descr="SNAG-0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0527" y="4468834"/>
            <a:ext cx="520700" cy="279400"/>
          </a:xfrm>
          <a:prstGeom prst="rect">
            <a:avLst/>
          </a:prstGeom>
          <a:noFill/>
          <a:extLst>
            <a:ext uri="{909E8E84-426E-40DD-AFC4-6F175D3DCCD1}">
              <a14:hiddenFill xmlns:a14="http://schemas.microsoft.com/office/drawing/2010/main">
                <a:solidFill>
                  <a:srgbClr val="FFFFFF"/>
                </a:solidFill>
              </a14:hiddenFill>
            </a:ext>
          </a:extLst>
        </p:spPr>
      </p:pic>
      <p:pic>
        <p:nvPicPr>
          <p:cNvPr id="1763335" name="Picture 7" descr="SNAG-0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6927" y="4451373"/>
            <a:ext cx="520700" cy="314325"/>
          </a:xfrm>
          <a:prstGeom prst="rect">
            <a:avLst/>
          </a:prstGeom>
          <a:noFill/>
          <a:extLst>
            <a:ext uri="{909E8E84-426E-40DD-AFC4-6F175D3DCCD1}">
              <a14:hiddenFill xmlns:a14="http://schemas.microsoft.com/office/drawing/2010/main">
                <a:solidFill>
                  <a:srgbClr val="FFFFFF"/>
                </a:solidFill>
              </a14:hiddenFill>
            </a:ext>
          </a:extLst>
        </p:spPr>
      </p:pic>
      <p:pic>
        <p:nvPicPr>
          <p:cNvPr id="1763336" name="Picture 8" descr="SNAG-0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5752" y="5935684"/>
            <a:ext cx="1017588" cy="395288"/>
          </a:xfrm>
          <a:prstGeom prst="rect">
            <a:avLst/>
          </a:prstGeom>
          <a:noFill/>
          <a:extLst>
            <a:ext uri="{909E8E84-426E-40DD-AFC4-6F175D3DCCD1}">
              <a14:hiddenFill xmlns:a14="http://schemas.microsoft.com/office/drawing/2010/main">
                <a:solidFill>
                  <a:srgbClr val="FFFFFF"/>
                </a:solidFill>
              </a14:hiddenFill>
            </a:ext>
          </a:extLst>
        </p:spPr>
      </p:pic>
      <p:pic>
        <p:nvPicPr>
          <p:cNvPr id="1763337" name="Picture 9" descr="SNAG-0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7628" y="4446609"/>
            <a:ext cx="911225" cy="293688"/>
          </a:xfrm>
          <a:prstGeom prst="rect">
            <a:avLst/>
          </a:prstGeom>
          <a:noFill/>
          <a:extLst>
            <a:ext uri="{909E8E84-426E-40DD-AFC4-6F175D3DCCD1}">
              <a14:hiddenFill xmlns:a14="http://schemas.microsoft.com/office/drawing/2010/main">
                <a:solidFill>
                  <a:srgbClr val="FFFFFF"/>
                </a:solidFill>
              </a14:hiddenFill>
            </a:ext>
          </a:extLst>
        </p:spPr>
      </p:pic>
      <p:sp>
        <p:nvSpPr>
          <p:cNvPr id="1763338" name="Text Box 10"/>
          <p:cNvSpPr txBox="1">
            <a:spLocks noChangeArrowheads="1"/>
          </p:cNvSpPr>
          <p:nvPr/>
        </p:nvSpPr>
        <p:spPr bwMode="auto">
          <a:xfrm>
            <a:off x="728909" y="2038365"/>
            <a:ext cx="469423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Font typeface="Wingdings" panose="05000000000000000000" pitchFamily="2" charset="2"/>
              <a:buNone/>
            </a:pPr>
            <a:r>
              <a:rPr lang="zh-CN" altLang="zh-CN" sz="2400" dirty="0">
                <a:solidFill>
                  <a:schemeClr val="accent2"/>
                </a:solidFill>
                <a:latin typeface="Times New Roman" panose="02020503050405090304" pitchFamily="18" charset="0"/>
              </a:rPr>
              <a:t>----像堆积木一样构造程序</a:t>
            </a:r>
          </a:p>
        </p:txBody>
      </p:sp>
      <p:sp>
        <p:nvSpPr>
          <p:cNvPr id="1763345" name="Text Box 16"/>
          <p:cNvSpPr txBox="1">
            <a:spLocks noChangeArrowheads="1"/>
          </p:cNvSpPr>
          <p:nvPr/>
        </p:nvSpPr>
        <p:spPr bwMode="auto">
          <a:xfrm>
            <a:off x="1687514" y="1"/>
            <a:ext cx="3289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计算机语言的发展</a:t>
            </a:r>
          </a:p>
          <a:p>
            <a:pPr eaLnBrk="1" hangingPunct="1">
              <a:lnSpc>
                <a:spcPct val="120000"/>
              </a:lnSpc>
            </a:pPr>
            <a:r>
              <a:rPr lang="en-US" altLang="zh-CN" sz="2000">
                <a:solidFill>
                  <a:schemeClr val="bg1"/>
                </a:solidFill>
                <a:ea typeface="华文中宋" panose="02010600040101010101" pitchFamily="2" charset="-122"/>
              </a:rPr>
              <a:t>(1)</a:t>
            </a:r>
            <a:r>
              <a:rPr lang="zh-CN" altLang="en-US" sz="2000">
                <a:solidFill>
                  <a:schemeClr val="bg1"/>
                </a:solidFill>
                <a:ea typeface="华文中宋" panose="02010600040101010101" pitchFamily="2" charset="-122"/>
              </a:rPr>
              <a:t>如何更方便地编写程序</a:t>
            </a:r>
            <a:r>
              <a:rPr lang="en-US" altLang="zh-CN" sz="2000">
                <a:solidFill>
                  <a:schemeClr val="bg1"/>
                </a:solidFill>
                <a:ea typeface="华文中宋" panose="02010600040101010101" pitchFamily="2" charset="-122"/>
              </a:rPr>
              <a:t>? </a:t>
            </a:r>
          </a:p>
        </p:txBody>
      </p:sp>
      <p:grpSp>
        <p:nvGrpSpPr>
          <p:cNvPr id="1763390" name="Group 62"/>
          <p:cNvGrpSpPr/>
          <p:nvPr/>
        </p:nvGrpSpPr>
        <p:grpSpPr bwMode="auto">
          <a:xfrm>
            <a:off x="6671448" y="1685867"/>
            <a:ext cx="3605213" cy="2119313"/>
            <a:chOff x="3274" y="732"/>
            <a:chExt cx="2271" cy="1335"/>
          </a:xfrm>
        </p:grpSpPr>
        <p:pic>
          <p:nvPicPr>
            <p:cNvPr id="1763349"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4" y="732"/>
              <a:ext cx="2271" cy="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63383" name="Group 55"/>
            <p:cNvGrpSpPr/>
            <p:nvPr/>
          </p:nvGrpSpPr>
          <p:grpSpPr bwMode="auto">
            <a:xfrm>
              <a:off x="3646" y="830"/>
              <a:ext cx="1407" cy="154"/>
              <a:chOff x="3646" y="830"/>
              <a:chExt cx="1407" cy="154"/>
            </a:xfrm>
          </p:grpSpPr>
          <p:sp>
            <p:nvSpPr>
              <p:cNvPr id="1763350" name="Text Box 22"/>
              <p:cNvSpPr txBox="1">
                <a:spLocks noChangeArrowheads="1"/>
              </p:cNvSpPr>
              <p:nvPr/>
            </p:nvSpPr>
            <p:spPr bwMode="auto">
              <a:xfrm>
                <a:off x="3646" y="830"/>
                <a:ext cx="55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Command1</a:t>
                </a:r>
              </a:p>
            </p:txBody>
          </p:sp>
          <p:sp>
            <p:nvSpPr>
              <p:cNvPr id="1763351" name="Text Box 23"/>
              <p:cNvSpPr txBox="1">
                <a:spLocks noChangeArrowheads="1"/>
              </p:cNvSpPr>
              <p:nvPr/>
            </p:nvSpPr>
            <p:spPr bwMode="auto">
              <a:xfrm>
                <a:off x="4747" y="830"/>
                <a:ext cx="30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Click</a:t>
                </a:r>
              </a:p>
            </p:txBody>
          </p:sp>
        </p:grpSp>
        <p:sp>
          <p:nvSpPr>
            <p:cNvPr id="1763352" name="Text Box 24"/>
            <p:cNvSpPr txBox="1">
              <a:spLocks noChangeArrowheads="1"/>
            </p:cNvSpPr>
            <p:nvPr/>
          </p:nvSpPr>
          <p:spPr bwMode="auto">
            <a:xfrm>
              <a:off x="3306" y="996"/>
              <a:ext cx="2064"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Private Sub Command1_Click()</a:t>
              </a:r>
            </a:p>
            <a:p>
              <a:r>
                <a:rPr lang="en-US" altLang="zh-CN" sz="1000"/>
                <a:t>{</a:t>
              </a:r>
            </a:p>
            <a:p>
              <a:r>
                <a:rPr lang="en-US" altLang="zh-CN" sz="1000">
                  <a:solidFill>
                    <a:srgbClr val="FF0000"/>
                  </a:solidFill>
                </a:rPr>
                <a:t>    //</a:t>
              </a:r>
              <a:r>
                <a:rPr lang="zh-CN" altLang="en-US" sz="1000">
                  <a:solidFill>
                    <a:srgbClr val="FF0000"/>
                  </a:solidFill>
                </a:rPr>
                <a:t>此处放置单击按钮</a:t>
              </a:r>
              <a:r>
                <a:rPr lang="en-US" altLang="zh-CN" sz="1000">
                  <a:solidFill>
                    <a:srgbClr val="FF0000"/>
                  </a:solidFill>
                </a:rPr>
                <a:t>Command1</a:t>
              </a:r>
              <a:r>
                <a:rPr lang="zh-CN" altLang="en-US" sz="1000">
                  <a:solidFill>
                    <a:srgbClr val="FF0000"/>
                  </a:solidFill>
                </a:rPr>
                <a:t>时要执行的程序语句</a:t>
              </a:r>
              <a:r>
                <a:rPr lang="en-US" altLang="zh-CN" sz="1000">
                  <a:solidFill>
                    <a:srgbClr val="FF0000"/>
                  </a:solidFill>
                </a:rPr>
                <a:t>;</a:t>
              </a:r>
            </a:p>
            <a:p>
              <a:endParaRPr lang="en-US" altLang="zh-CN" sz="1000">
                <a:solidFill>
                  <a:srgbClr val="FF0000"/>
                </a:solidFill>
              </a:endParaRPr>
            </a:p>
            <a:p>
              <a:r>
                <a:rPr lang="en-US" altLang="zh-CN" sz="1000"/>
                <a:t>}</a:t>
              </a:r>
            </a:p>
          </p:txBody>
        </p:sp>
      </p:grpSp>
      <p:grpSp>
        <p:nvGrpSpPr>
          <p:cNvPr id="1763389" name="Group 61"/>
          <p:cNvGrpSpPr/>
          <p:nvPr/>
        </p:nvGrpSpPr>
        <p:grpSpPr bwMode="auto">
          <a:xfrm>
            <a:off x="7722395" y="2751874"/>
            <a:ext cx="3605212" cy="2119313"/>
            <a:chOff x="3331" y="1756"/>
            <a:chExt cx="2271" cy="1335"/>
          </a:xfrm>
        </p:grpSpPr>
        <p:pic>
          <p:nvPicPr>
            <p:cNvPr id="1763355"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31" y="1756"/>
              <a:ext cx="2271" cy="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63356" name="Text Box 28"/>
            <p:cNvSpPr txBox="1">
              <a:spLocks noChangeArrowheads="1"/>
            </p:cNvSpPr>
            <p:nvPr/>
          </p:nvSpPr>
          <p:spPr bwMode="auto">
            <a:xfrm>
              <a:off x="3703" y="1846"/>
              <a:ext cx="32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Text2</a:t>
              </a:r>
            </a:p>
          </p:txBody>
        </p:sp>
        <p:sp>
          <p:nvSpPr>
            <p:cNvPr id="1763357" name="Text Box 29"/>
            <p:cNvSpPr txBox="1">
              <a:spLocks noChangeArrowheads="1"/>
            </p:cNvSpPr>
            <p:nvPr/>
          </p:nvSpPr>
          <p:spPr bwMode="auto">
            <a:xfrm>
              <a:off x="4803" y="1846"/>
              <a:ext cx="62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dirty="0" err="1"/>
                <a:t>TextChanged</a:t>
              </a:r>
              <a:endParaRPr lang="zh-CN" altLang="en-US" sz="1000" dirty="0"/>
            </a:p>
          </p:txBody>
        </p:sp>
        <p:sp>
          <p:nvSpPr>
            <p:cNvPr id="1763358" name="Text Box 30"/>
            <p:cNvSpPr txBox="1">
              <a:spLocks noChangeArrowheads="1"/>
            </p:cNvSpPr>
            <p:nvPr/>
          </p:nvSpPr>
          <p:spPr bwMode="auto">
            <a:xfrm>
              <a:off x="3363" y="2020"/>
              <a:ext cx="2064"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Private Sub Text2_TextChanged()</a:t>
              </a:r>
            </a:p>
            <a:p>
              <a:r>
                <a:rPr lang="en-US" altLang="zh-CN" sz="1000"/>
                <a:t>{</a:t>
              </a:r>
            </a:p>
            <a:p>
              <a:r>
                <a:rPr lang="en-US" altLang="zh-CN" sz="1000">
                  <a:solidFill>
                    <a:srgbClr val="FF0000"/>
                  </a:solidFill>
                </a:rPr>
                <a:t>    //</a:t>
              </a:r>
              <a:r>
                <a:rPr lang="zh-CN" altLang="en-US" sz="1000">
                  <a:solidFill>
                    <a:srgbClr val="FF0000"/>
                  </a:solidFill>
                </a:rPr>
                <a:t>此处放置文本框</a:t>
              </a:r>
              <a:r>
                <a:rPr lang="en-US" altLang="zh-CN" sz="1000">
                  <a:solidFill>
                    <a:srgbClr val="FF0000"/>
                  </a:solidFill>
                </a:rPr>
                <a:t>Text2</a:t>
              </a:r>
              <a:r>
                <a:rPr lang="zh-CN" altLang="en-US" sz="1000">
                  <a:solidFill>
                    <a:srgbClr val="FF0000"/>
                  </a:solidFill>
                </a:rPr>
                <a:t>中内容发生变化时将要执行的程序语句</a:t>
              </a:r>
              <a:r>
                <a:rPr lang="en-US" altLang="zh-CN" sz="1000">
                  <a:solidFill>
                    <a:srgbClr val="FF0000"/>
                  </a:solidFill>
                </a:rPr>
                <a:t>;</a:t>
              </a:r>
            </a:p>
            <a:p>
              <a:r>
                <a:rPr lang="en-US" altLang="zh-CN" sz="1000"/>
                <a:t>}</a:t>
              </a:r>
            </a:p>
          </p:txBody>
        </p:sp>
      </p:grpSp>
      <p:grpSp>
        <p:nvGrpSpPr>
          <p:cNvPr id="1763361" name="Group 33"/>
          <p:cNvGrpSpPr/>
          <p:nvPr/>
        </p:nvGrpSpPr>
        <p:grpSpPr bwMode="auto">
          <a:xfrm>
            <a:off x="4240215" y="5072085"/>
            <a:ext cx="906462" cy="290513"/>
            <a:chOff x="2251" y="3130"/>
            <a:chExt cx="571" cy="183"/>
          </a:xfrm>
        </p:grpSpPr>
        <p:pic>
          <p:nvPicPr>
            <p:cNvPr id="1763341" name="Picture 13" descr="SNAG-0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1" y="3130"/>
              <a:ext cx="571" cy="183"/>
            </a:xfrm>
            <a:prstGeom prst="rect">
              <a:avLst/>
            </a:prstGeom>
            <a:noFill/>
            <a:extLst>
              <a:ext uri="{909E8E84-426E-40DD-AFC4-6F175D3DCCD1}">
                <a14:hiddenFill xmlns:a14="http://schemas.microsoft.com/office/drawing/2010/main">
                  <a:solidFill>
                    <a:srgbClr val="FFFFFF"/>
                  </a:solidFill>
                </a14:hiddenFill>
              </a:ext>
            </a:extLst>
          </p:spPr>
        </p:pic>
        <p:pic>
          <p:nvPicPr>
            <p:cNvPr id="1763360" name="Picture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5" y="3156"/>
              <a:ext cx="246"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763362" name="Picture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2" y="5089548"/>
            <a:ext cx="5334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63388" name="Group 60"/>
          <p:cNvGrpSpPr/>
          <p:nvPr/>
        </p:nvGrpSpPr>
        <p:grpSpPr bwMode="auto">
          <a:xfrm>
            <a:off x="7798595" y="3378936"/>
            <a:ext cx="3605212" cy="2119312"/>
            <a:chOff x="3379" y="2151"/>
            <a:chExt cx="2271" cy="1335"/>
          </a:xfrm>
        </p:grpSpPr>
        <p:pic>
          <p:nvPicPr>
            <p:cNvPr id="1763364" name="Picture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79" y="2151"/>
              <a:ext cx="2271" cy="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63365" name="Text Box 37"/>
            <p:cNvSpPr txBox="1">
              <a:spLocks noChangeArrowheads="1"/>
            </p:cNvSpPr>
            <p:nvPr/>
          </p:nvSpPr>
          <p:spPr bwMode="auto">
            <a:xfrm>
              <a:off x="3751" y="2249"/>
              <a:ext cx="28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a:t>
              </a:r>
            </a:p>
          </p:txBody>
        </p:sp>
        <p:sp>
          <p:nvSpPr>
            <p:cNvPr id="1763366" name="Text Box 38"/>
            <p:cNvSpPr txBox="1">
              <a:spLocks noChangeArrowheads="1"/>
            </p:cNvSpPr>
            <p:nvPr/>
          </p:nvSpPr>
          <p:spPr bwMode="auto">
            <a:xfrm>
              <a:off x="4851" y="2249"/>
              <a:ext cx="62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TextChanged</a:t>
              </a:r>
              <a:endParaRPr lang="zh-CN" altLang="en-US" sz="1000"/>
            </a:p>
          </p:txBody>
        </p:sp>
        <p:sp>
          <p:nvSpPr>
            <p:cNvPr id="1763367" name="Text Box 39"/>
            <p:cNvSpPr txBox="1">
              <a:spLocks noChangeArrowheads="1"/>
            </p:cNvSpPr>
            <p:nvPr/>
          </p:nvSpPr>
          <p:spPr bwMode="auto">
            <a:xfrm>
              <a:off x="3411" y="2415"/>
              <a:ext cx="2064"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Private Sub Text_TextChanged()</a:t>
              </a:r>
            </a:p>
            <a:p>
              <a:r>
                <a:rPr lang="en-US" altLang="zh-CN" sz="1000"/>
                <a:t>{</a:t>
              </a:r>
            </a:p>
            <a:p>
              <a:r>
                <a:rPr lang="en-US" altLang="zh-CN" sz="1000">
                  <a:solidFill>
                    <a:srgbClr val="FF0000"/>
                  </a:solidFill>
                </a:rPr>
                <a:t>    //</a:t>
              </a:r>
              <a:r>
                <a:rPr lang="zh-CN" altLang="en-US" sz="1000">
                  <a:solidFill>
                    <a:srgbClr val="FF0000"/>
                  </a:solidFill>
                </a:rPr>
                <a:t>此处放置文本框</a:t>
              </a:r>
              <a:r>
                <a:rPr lang="en-US" altLang="zh-CN" sz="1000">
                  <a:solidFill>
                    <a:srgbClr val="FF0000"/>
                  </a:solidFill>
                </a:rPr>
                <a:t>Text</a:t>
              </a:r>
              <a:r>
                <a:rPr lang="zh-CN" altLang="en-US" sz="1000">
                  <a:solidFill>
                    <a:srgbClr val="FF0000"/>
                  </a:solidFill>
                </a:rPr>
                <a:t>中内容发生变化时将要执行的程序语句</a:t>
              </a:r>
              <a:r>
                <a:rPr lang="en-US" altLang="zh-CN" sz="1000">
                  <a:solidFill>
                    <a:srgbClr val="FF0000"/>
                  </a:solidFill>
                </a:rPr>
                <a:t>;</a:t>
              </a:r>
            </a:p>
            <a:p>
              <a:r>
                <a:rPr lang="en-US" altLang="zh-CN" sz="1000"/>
                <a:t>}</a:t>
              </a:r>
            </a:p>
          </p:txBody>
        </p:sp>
      </p:grpSp>
      <p:grpSp>
        <p:nvGrpSpPr>
          <p:cNvPr id="1763387" name="Group 59"/>
          <p:cNvGrpSpPr/>
          <p:nvPr/>
        </p:nvGrpSpPr>
        <p:grpSpPr bwMode="auto">
          <a:xfrm>
            <a:off x="7873208" y="4004411"/>
            <a:ext cx="3605213" cy="2119312"/>
            <a:chOff x="3426" y="2545"/>
            <a:chExt cx="2271" cy="1335"/>
          </a:xfrm>
        </p:grpSpPr>
        <p:pic>
          <p:nvPicPr>
            <p:cNvPr id="1763369" name="Picture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6" y="2545"/>
              <a:ext cx="2271" cy="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63370" name="Text Box 42"/>
            <p:cNvSpPr txBox="1">
              <a:spLocks noChangeArrowheads="1"/>
            </p:cNvSpPr>
            <p:nvPr/>
          </p:nvSpPr>
          <p:spPr bwMode="auto">
            <a:xfrm>
              <a:off x="3798" y="2635"/>
              <a:ext cx="32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Text1</a:t>
              </a:r>
            </a:p>
          </p:txBody>
        </p:sp>
        <p:sp>
          <p:nvSpPr>
            <p:cNvPr id="1763371" name="Text Box 43"/>
            <p:cNvSpPr txBox="1">
              <a:spLocks noChangeArrowheads="1"/>
            </p:cNvSpPr>
            <p:nvPr/>
          </p:nvSpPr>
          <p:spPr bwMode="auto">
            <a:xfrm>
              <a:off x="4898" y="2635"/>
              <a:ext cx="62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TextChanged</a:t>
              </a:r>
              <a:endParaRPr lang="zh-CN" altLang="en-US" sz="1000"/>
            </a:p>
          </p:txBody>
        </p:sp>
        <p:sp>
          <p:nvSpPr>
            <p:cNvPr id="1763372" name="Text Box 44"/>
            <p:cNvSpPr txBox="1">
              <a:spLocks noChangeArrowheads="1"/>
            </p:cNvSpPr>
            <p:nvPr/>
          </p:nvSpPr>
          <p:spPr bwMode="auto">
            <a:xfrm>
              <a:off x="3458" y="2809"/>
              <a:ext cx="2064"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Private Sub Text1_TextChanged()</a:t>
              </a:r>
            </a:p>
            <a:p>
              <a:r>
                <a:rPr lang="en-US" altLang="zh-CN" sz="1000"/>
                <a:t>{</a:t>
              </a:r>
            </a:p>
            <a:p>
              <a:r>
                <a:rPr lang="en-US" altLang="zh-CN" sz="1000">
                  <a:solidFill>
                    <a:srgbClr val="FF0000"/>
                  </a:solidFill>
                </a:rPr>
                <a:t>    //</a:t>
              </a:r>
              <a:r>
                <a:rPr lang="zh-CN" altLang="en-US" sz="1000">
                  <a:solidFill>
                    <a:srgbClr val="FF0000"/>
                  </a:solidFill>
                </a:rPr>
                <a:t>此处放置文本框</a:t>
              </a:r>
              <a:r>
                <a:rPr lang="en-US" altLang="zh-CN" sz="1000">
                  <a:solidFill>
                    <a:srgbClr val="FF0000"/>
                  </a:solidFill>
                </a:rPr>
                <a:t>Text1</a:t>
              </a:r>
              <a:r>
                <a:rPr lang="zh-CN" altLang="en-US" sz="1000">
                  <a:solidFill>
                    <a:srgbClr val="FF0000"/>
                  </a:solidFill>
                </a:rPr>
                <a:t>中内容发生变化时将要执行的程序语句</a:t>
              </a:r>
              <a:r>
                <a:rPr lang="en-US" altLang="zh-CN" sz="1000">
                  <a:solidFill>
                    <a:srgbClr val="FF0000"/>
                  </a:solidFill>
                </a:rPr>
                <a:t>;</a:t>
              </a:r>
            </a:p>
            <a:p>
              <a:r>
                <a:rPr lang="en-US" altLang="zh-CN" sz="1000"/>
                <a:t>}</a:t>
              </a:r>
            </a:p>
          </p:txBody>
        </p:sp>
      </p:grpSp>
      <p:grpSp>
        <p:nvGrpSpPr>
          <p:cNvPr id="1763385" name="Group 57"/>
          <p:cNvGrpSpPr/>
          <p:nvPr/>
        </p:nvGrpSpPr>
        <p:grpSpPr bwMode="auto">
          <a:xfrm>
            <a:off x="7947820" y="4606075"/>
            <a:ext cx="3605212" cy="2119312"/>
            <a:chOff x="3473" y="2939"/>
            <a:chExt cx="2271" cy="1335"/>
          </a:xfrm>
        </p:grpSpPr>
        <p:pic>
          <p:nvPicPr>
            <p:cNvPr id="1763379" name="Picture 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73" y="2939"/>
              <a:ext cx="2271" cy="1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63380" name="Text Box 52"/>
            <p:cNvSpPr txBox="1">
              <a:spLocks noChangeArrowheads="1"/>
            </p:cNvSpPr>
            <p:nvPr/>
          </p:nvSpPr>
          <p:spPr bwMode="auto">
            <a:xfrm>
              <a:off x="3845" y="3029"/>
              <a:ext cx="32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Text1</a:t>
              </a:r>
            </a:p>
          </p:txBody>
        </p:sp>
        <p:sp>
          <p:nvSpPr>
            <p:cNvPr id="1763381" name="Text Box 53"/>
            <p:cNvSpPr txBox="1">
              <a:spLocks noChangeArrowheads="1"/>
            </p:cNvSpPr>
            <p:nvPr/>
          </p:nvSpPr>
          <p:spPr bwMode="auto">
            <a:xfrm>
              <a:off x="4946" y="3029"/>
              <a:ext cx="4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000"/>
                <a:t>GetFocus</a:t>
              </a:r>
              <a:endParaRPr lang="zh-CN" altLang="en-US" sz="1000"/>
            </a:p>
          </p:txBody>
        </p:sp>
        <p:sp>
          <p:nvSpPr>
            <p:cNvPr id="1763382" name="Text Box 54"/>
            <p:cNvSpPr txBox="1">
              <a:spLocks noChangeArrowheads="1"/>
            </p:cNvSpPr>
            <p:nvPr/>
          </p:nvSpPr>
          <p:spPr bwMode="auto">
            <a:xfrm>
              <a:off x="3505" y="3203"/>
              <a:ext cx="2064"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Private Sub Text1_GetFocus()</a:t>
              </a:r>
            </a:p>
            <a:p>
              <a:r>
                <a:rPr lang="en-US" altLang="zh-CN" sz="1000"/>
                <a:t>{</a:t>
              </a:r>
            </a:p>
            <a:p>
              <a:r>
                <a:rPr lang="en-US" altLang="zh-CN" sz="1000">
                  <a:solidFill>
                    <a:srgbClr val="FF0000"/>
                  </a:solidFill>
                </a:rPr>
                <a:t>    //</a:t>
              </a:r>
              <a:r>
                <a:rPr lang="zh-CN" altLang="en-US" sz="1000">
                  <a:solidFill>
                    <a:srgbClr val="FF0000"/>
                  </a:solidFill>
                </a:rPr>
                <a:t>此处放置文本框</a:t>
              </a:r>
              <a:r>
                <a:rPr lang="en-US" altLang="zh-CN" sz="1000">
                  <a:solidFill>
                    <a:srgbClr val="FF0000"/>
                  </a:solidFill>
                </a:rPr>
                <a:t>Text1</a:t>
              </a:r>
              <a:r>
                <a:rPr lang="zh-CN" altLang="en-US" sz="1000">
                  <a:solidFill>
                    <a:srgbClr val="FF0000"/>
                  </a:solidFill>
                </a:rPr>
                <a:t>中内容发生变化时将要执行的程序语句</a:t>
              </a:r>
              <a:r>
                <a:rPr lang="en-US" altLang="zh-CN" sz="1000">
                  <a:solidFill>
                    <a:srgbClr val="FF0000"/>
                  </a:solidFill>
                </a:rPr>
                <a:t>;</a:t>
              </a:r>
            </a:p>
            <a:p>
              <a:r>
                <a:rPr lang="en-US" altLang="zh-CN" sz="1000"/>
                <a:t>}</a:t>
              </a:r>
            </a:p>
          </p:txBody>
        </p:sp>
      </p:grpSp>
      <p:sp>
        <p:nvSpPr>
          <p:cNvPr id="42"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计算机语言的发展</a:t>
            </a:r>
          </a:p>
        </p:txBody>
      </p:sp>
      <p:sp>
        <p:nvSpPr>
          <p:cNvPr id="43" name="圆角矩形 42"/>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面向对象的程序设计语言与可视化构造语言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763332"/>
                                        </p:tgtEl>
                                        <p:attrNameLst>
                                          <p:attrName>style.visibility</p:attrName>
                                        </p:attrNameLst>
                                      </p:cBhvr>
                                      <p:to>
                                        <p:strVal val="visible"/>
                                      </p:to>
                                    </p:set>
                                    <p:anim calcmode="lin" valueType="num">
                                      <p:cBhvr additive="base">
                                        <p:cTn id="7" dur="500" fill="hold"/>
                                        <p:tgtEl>
                                          <p:spTgt spid="1763332"/>
                                        </p:tgtEl>
                                        <p:attrNameLst>
                                          <p:attrName>ppt_x</p:attrName>
                                        </p:attrNameLst>
                                      </p:cBhvr>
                                      <p:tavLst>
                                        <p:tav tm="0">
                                          <p:val>
                                            <p:strVal val="1+#ppt_w/2"/>
                                          </p:val>
                                        </p:tav>
                                        <p:tav tm="100000">
                                          <p:val>
                                            <p:strVal val="#ppt_x"/>
                                          </p:val>
                                        </p:tav>
                                      </p:tavLst>
                                    </p:anim>
                                    <p:anim calcmode="lin" valueType="num">
                                      <p:cBhvr additive="base">
                                        <p:cTn id="8" dur="500" fill="hold"/>
                                        <p:tgtEl>
                                          <p:spTgt spid="17633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763331"/>
                                        </p:tgtEl>
                                        <p:attrNameLst>
                                          <p:attrName>style.visibility</p:attrName>
                                        </p:attrNameLst>
                                      </p:cBhvr>
                                      <p:to>
                                        <p:strVal val="visible"/>
                                      </p:to>
                                    </p:set>
                                    <p:anim calcmode="lin" valueType="num">
                                      <p:cBhvr additive="base">
                                        <p:cTn id="13" dur="500" fill="hold"/>
                                        <p:tgtEl>
                                          <p:spTgt spid="1763331"/>
                                        </p:tgtEl>
                                        <p:attrNameLst>
                                          <p:attrName>ppt_x</p:attrName>
                                        </p:attrNameLst>
                                      </p:cBhvr>
                                      <p:tavLst>
                                        <p:tav tm="0">
                                          <p:val>
                                            <p:strVal val="1+#ppt_w/2"/>
                                          </p:val>
                                        </p:tav>
                                        <p:tav tm="100000">
                                          <p:val>
                                            <p:strVal val="#ppt_x"/>
                                          </p:val>
                                        </p:tav>
                                      </p:tavLst>
                                    </p:anim>
                                    <p:anim calcmode="lin" valueType="num">
                                      <p:cBhvr additive="base">
                                        <p:cTn id="14" dur="500" fill="hold"/>
                                        <p:tgtEl>
                                          <p:spTgt spid="176333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763334"/>
                                        </p:tgtEl>
                                        <p:attrNameLst>
                                          <p:attrName>style.visibility</p:attrName>
                                        </p:attrNameLst>
                                      </p:cBhvr>
                                      <p:to>
                                        <p:strVal val="visible"/>
                                      </p:to>
                                    </p:set>
                                    <p:anim calcmode="lin" valueType="num">
                                      <p:cBhvr additive="base">
                                        <p:cTn id="19" dur="500" fill="hold"/>
                                        <p:tgtEl>
                                          <p:spTgt spid="1763334"/>
                                        </p:tgtEl>
                                        <p:attrNameLst>
                                          <p:attrName>ppt_x</p:attrName>
                                        </p:attrNameLst>
                                      </p:cBhvr>
                                      <p:tavLst>
                                        <p:tav tm="0">
                                          <p:val>
                                            <p:strVal val="0-#ppt_w/2"/>
                                          </p:val>
                                        </p:tav>
                                        <p:tav tm="100000">
                                          <p:val>
                                            <p:strVal val="#ppt_x"/>
                                          </p:val>
                                        </p:tav>
                                      </p:tavLst>
                                    </p:anim>
                                    <p:anim calcmode="lin" valueType="num">
                                      <p:cBhvr additive="base">
                                        <p:cTn id="20" dur="500" fill="hold"/>
                                        <p:tgtEl>
                                          <p:spTgt spid="176333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763333"/>
                                        </p:tgtEl>
                                        <p:attrNameLst>
                                          <p:attrName>style.visibility</p:attrName>
                                        </p:attrNameLst>
                                      </p:cBhvr>
                                      <p:to>
                                        <p:strVal val="visible"/>
                                      </p:to>
                                    </p:set>
                                    <p:anim calcmode="lin" valueType="num">
                                      <p:cBhvr additive="base">
                                        <p:cTn id="25" dur="500" fill="hold"/>
                                        <p:tgtEl>
                                          <p:spTgt spid="1763333"/>
                                        </p:tgtEl>
                                        <p:attrNameLst>
                                          <p:attrName>ppt_x</p:attrName>
                                        </p:attrNameLst>
                                      </p:cBhvr>
                                      <p:tavLst>
                                        <p:tav tm="0">
                                          <p:val>
                                            <p:strVal val="0-#ppt_w/2"/>
                                          </p:val>
                                        </p:tav>
                                        <p:tav tm="100000">
                                          <p:val>
                                            <p:strVal val="#ppt_x"/>
                                          </p:val>
                                        </p:tav>
                                      </p:tavLst>
                                    </p:anim>
                                    <p:anim calcmode="lin" valueType="num">
                                      <p:cBhvr additive="base">
                                        <p:cTn id="26" dur="500" fill="hold"/>
                                        <p:tgtEl>
                                          <p:spTgt spid="176333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763335"/>
                                        </p:tgtEl>
                                        <p:attrNameLst>
                                          <p:attrName>style.visibility</p:attrName>
                                        </p:attrNameLst>
                                      </p:cBhvr>
                                      <p:to>
                                        <p:strVal val="visible"/>
                                      </p:to>
                                    </p:set>
                                    <p:anim calcmode="lin" valueType="num">
                                      <p:cBhvr additive="base">
                                        <p:cTn id="31" dur="500" fill="hold"/>
                                        <p:tgtEl>
                                          <p:spTgt spid="1763335"/>
                                        </p:tgtEl>
                                        <p:attrNameLst>
                                          <p:attrName>ppt_x</p:attrName>
                                        </p:attrNameLst>
                                      </p:cBhvr>
                                      <p:tavLst>
                                        <p:tav tm="0">
                                          <p:val>
                                            <p:strVal val="0-#ppt_w/2"/>
                                          </p:val>
                                        </p:tav>
                                        <p:tav tm="100000">
                                          <p:val>
                                            <p:strVal val="#ppt_x"/>
                                          </p:val>
                                        </p:tav>
                                      </p:tavLst>
                                    </p:anim>
                                    <p:anim calcmode="lin" valueType="num">
                                      <p:cBhvr additive="base">
                                        <p:cTn id="32" dur="500" fill="hold"/>
                                        <p:tgtEl>
                                          <p:spTgt spid="176333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763337"/>
                                        </p:tgtEl>
                                        <p:attrNameLst>
                                          <p:attrName>style.visibility</p:attrName>
                                        </p:attrNameLst>
                                      </p:cBhvr>
                                      <p:to>
                                        <p:strVal val="visible"/>
                                      </p:to>
                                    </p:set>
                                    <p:anim calcmode="lin" valueType="num">
                                      <p:cBhvr additive="base">
                                        <p:cTn id="37" dur="500" fill="hold"/>
                                        <p:tgtEl>
                                          <p:spTgt spid="1763337"/>
                                        </p:tgtEl>
                                        <p:attrNameLst>
                                          <p:attrName>ppt_x</p:attrName>
                                        </p:attrNameLst>
                                      </p:cBhvr>
                                      <p:tavLst>
                                        <p:tav tm="0">
                                          <p:val>
                                            <p:strVal val="0-#ppt_w/2"/>
                                          </p:val>
                                        </p:tav>
                                        <p:tav tm="100000">
                                          <p:val>
                                            <p:strVal val="#ppt_x"/>
                                          </p:val>
                                        </p:tav>
                                      </p:tavLst>
                                    </p:anim>
                                    <p:anim calcmode="lin" valueType="num">
                                      <p:cBhvr additive="base">
                                        <p:cTn id="38" dur="500" fill="hold"/>
                                        <p:tgtEl>
                                          <p:spTgt spid="176333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763362"/>
                                        </p:tgtEl>
                                        <p:attrNameLst>
                                          <p:attrName>style.visibility</p:attrName>
                                        </p:attrNameLst>
                                      </p:cBhvr>
                                      <p:to>
                                        <p:strVal val="visible"/>
                                      </p:to>
                                    </p:set>
                                    <p:anim calcmode="lin" valueType="num">
                                      <p:cBhvr additive="base">
                                        <p:cTn id="43" dur="500" fill="hold"/>
                                        <p:tgtEl>
                                          <p:spTgt spid="1763362"/>
                                        </p:tgtEl>
                                        <p:attrNameLst>
                                          <p:attrName>ppt_x</p:attrName>
                                        </p:attrNameLst>
                                      </p:cBhvr>
                                      <p:tavLst>
                                        <p:tav tm="0">
                                          <p:val>
                                            <p:strVal val="0-#ppt_w/2"/>
                                          </p:val>
                                        </p:tav>
                                        <p:tav tm="100000">
                                          <p:val>
                                            <p:strVal val="#ppt_x"/>
                                          </p:val>
                                        </p:tav>
                                      </p:tavLst>
                                    </p:anim>
                                    <p:anim calcmode="lin" valueType="num">
                                      <p:cBhvr additive="base">
                                        <p:cTn id="44" dur="500" fill="hold"/>
                                        <p:tgtEl>
                                          <p:spTgt spid="176336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763361"/>
                                        </p:tgtEl>
                                        <p:attrNameLst>
                                          <p:attrName>style.visibility</p:attrName>
                                        </p:attrNameLst>
                                      </p:cBhvr>
                                      <p:to>
                                        <p:strVal val="visible"/>
                                      </p:to>
                                    </p:set>
                                    <p:anim calcmode="lin" valueType="num">
                                      <p:cBhvr additive="base">
                                        <p:cTn id="49" dur="500" fill="hold"/>
                                        <p:tgtEl>
                                          <p:spTgt spid="1763361"/>
                                        </p:tgtEl>
                                        <p:attrNameLst>
                                          <p:attrName>ppt_x</p:attrName>
                                        </p:attrNameLst>
                                      </p:cBhvr>
                                      <p:tavLst>
                                        <p:tav tm="0">
                                          <p:val>
                                            <p:strVal val="0-#ppt_w/2"/>
                                          </p:val>
                                        </p:tav>
                                        <p:tav tm="100000">
                                          <p:val>
                                            <p:strVal val="#ppt_x"/>
                                          </p:val>
                                        </p:tav>
                                      </p:tavLst>
                                    </p:anim>
                                    <p:anim calcmode="lin" valueType="num">
                                      <p:cBhvr additive="base">
                                        <p:cTn id="50" dur="500" fill="hold"/>
                                        <p:tgtEl>
                                          <p:spTgt spid="176336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763336"/>
                                        </p:tgtEl>
                                        <p:attrNameLst>
                                          <p:attrName>style.visibility</p:attrName>
                                        </p:attrNameLst>
                                      </p:cBhvr>
                                      <p:to>
                                        <p:strVal val="visible"/>
                                      </p:to>
                                    </p:set>
                                    <p:anim calcmode="lin" valueType="num">
                                      <p:cBhvr additive="base">
                                        <p:cTn id="55" dur="500" fill="hold"/>
                                        <p:tgtEl>
                                          <p:spTgt spid="1763336"/>
                                        </p:tgtEl>
                                        <p:attrNameLst>
                                          <p:attrName>ppt_x</p:attrName>
                                        </p:attrNameLst>
                                      </p:cBhvr>
                                      <p:tavLst>
                                        <p:tav tm="0">
                                          <p:val>
                                            <p:strVal val="0-#ppt_w/2"/>
                                          </p:val>
                                        </p:tav>
                                        <p:tav tm="100000">
                                          <p:val>
                                            <p:strVal val="#ppt_x"/>
                                          </p:val>
                                        </p:tav>
                                      </p:tavLst>
                                    </p:anim>
                                    <p:anim calcmode="lin" valueType="num">
                                      <p:cBhvr additive="base">
                                        <p:cTn id="56" dur="500" fill="hold"/>
                                        <p:tgtEl>
                                          <p:spTgt spid="176333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763390"/>
                                        </p:tgtEl>
                                        <p:attrNameLst>
                                          <p:attrName>style.visibility</p:attrName>
                                        </p:attrNameLst>
                                      </p:cBhvr>
                                      <p:to>
                                        <p:strVal val="visible"/>
                                      </p:to>
                                    </p:set>
                                    <p:anim calcmode="lin" valueType="num">
                                      <p:cBhvr additive="base">
                                        <p:cTn id="61" dur="500" fill="hold"/>
                                        <p:tgtEl>
                                          <p:spTgt spid="1763390"/>
                                        </p:tgtEl>
                                        <p:attrNameLst>
                                          <p:attrName>ppt_x</p:attrName>
                                        </p:attrNameLst>
                                      </p:cBhvr>
                                      <p:tavLst>
                                        <p:tav tm="0">
                                          <p:val>
                                            <p:strVal val="#ppt_x"/>
                                          </p:val>
                                        </p:tav>
                                        <p:tav tm="100000">
                                          <p:val>
                                            <p:strVal val="#ppt_x"/>
                                          </p:val>
                                        </p:tav>
                                      </p:tavLst>
                                    </p:anim>
                                    <p:anim calcmode="lin" valueType="num">
                                      <p:cBhvr additive="base">
                                        <p:cTn id="62" dur="500" fill="hold"/>
                                        <p:tgtEl>
                                          <p:spTgt spid="176339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763389"/>
                                        </p:tgtEl>
                                        <p:attrNameLst>
                                          <p:attrName>style.visibility</p:attrName>
                                        </p:attrNameLst>
                                      </p:cBhvr>
                                      <p:to>
                                        <p:strVal val="visible"/>
                                      </p:to>
                                    </p:set>
                                    <p:anim calcmode="lin" valueType="num">
                                      <p:cBhvr additive="base">
                                        <p:cTn id="67" dur="500" fill="hold"/>
                                        <p:tgtEl>
                                          <p:spTgt spid="1763389"/>
                                        </p:tgtEl>
                                        <p:attrNameLst>
                                          <p:attrName>ppt_x</p:attrName>
                                        </p:attrNameLst>
                                      </p:cBhvr>
                                      <p:tavLst>
                                        <p:tav tm="0">
                                          <p:val>
                                            <p:strVal val="#ppt_x"/>
                                          </p:val>
                                        </p:tav>
                                        <p:tav tm="100000">
                                          <p:val>
                                            <p:strVal val="#ppt_x"/>
                                          </p:val>
                                        </p:tav>
                                      </p:tavLst>
                                    </p:anim>
                                    <p:anim calcmode="lin" valueType="num">
                                      <p:cBhvr additive="base">
                                        <p:cTn id="68" dur="500" fill="hold"/>
                                        <p:tgtEl>
                                          <p:spTgt spid="176338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763388"/>
                                        </p:tgtEl>
                                        <p:attrNameLst>
                                          <p:attrName>style.visibility</p:attrName>
                                        </p:attrNameLst>
                                      </p:cBhvr>
                                      <p:to>
                                        <p:strVal val="visible"/>
                                      </p:to>
                                    </p:set>
                                    <p:anim calcmode="lin" valueType="num">
                                      <p:cBhvr additive="base">
                                        <p:cTn id="73" dur="500" fill="hold"/>
                                        <p:tgtEl>
                                          <p:spTgt spid="1763388"/>
                                        </p:tgtEl>
                                        <p:attrNameLst>
                                          <p:attrName>ppt_x</p:attrName>
                                        </p:attrNameLst>
                                      </p:cBhvr>
                                      <p:tavLst>
                                        <p:tav tm="0">
                                          <p:val>
                                            <p:strVal val="#ppt_x"/>
                                          </p:val>
                                        </p:tav>
                                        <p:tav tm="100000">
                                          <p:val>
                                            <p:strVal val="#ppt_x"/>
                                          </p:val>
                                        </p:tav>
                                      </p:tavLst>
                                    </p:anim>
                                    <p:anim calcmode="lin" valueType="num">
                                      <p:cBhvr additive="base">
                                        <p:cTn id="74" dur="500" fill="hold"/>
                                        <p:tgtEl>
                                          <p:spTgt spid="176338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763387"/>
                                        </p:tgtEl>
                                        <p:attrNameLst>
                                          <p:attrName>style.visibility</p:attrName>
                                        </p:attrNameLst>
                                      </p:cBhvr>
                                      <p:to>
                                        <p:strVal val="visible"/>
                                      </p:to>
                                    </p:set>
                                    <p:anim calcmode="lin" valueType="num">
                                      <p:cBhvr additive="base">
                                        <p:cTn id="79" dur="500" fill="hold"/>
                                        <p:tgtEl>
                                          <p:spTgt spid="1763387"/>
                                        </p:tgtEl>
                                        <p:attrNameLst>
                                          <p:attrName>ppt_x</p:attrName>
                                        </p:attrNameLst>
                                      </p:cBhvr>
                                      <p:tavLst>
                                        <p:tav tm="0">
                                          <p:val>
                                            <p:strVal val="#ppt_x"/>
                                          </p:val>
                                        </p:tav>
                                        <p:tav tm="100000">
                                          <p:val>
                                            <p:strVal val="#ppt_x"/>
                                          </p:val>
                                        </p:tav>
                                      </p:tavLst>
                                    </p:anim>
                                    <p:anim calcmode="lin" valueType="num">
                                      <p:cBhvr additive="base">
                                        <p:cTn id="80" dur="500" fill="hold"/>
                                        <p:tgtEl>
                                          <p:spTgt spid="176338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763385"/>
                                        </p:tgtEl>
                                        <p:attrNameLst>
                                          <p:attrName>style.visibility</p:attrName>
                                        </p:attrNameLst>
                                      </p:cBhvr>
                                      <p:to>
                                        <p:strVal val="visible"/>
                                      </p:to>
                                    </p:set>
                                    <p:anim calcmode="lin" valueType="num">
                                      <p:cBhvr additive="base">
                                        <p:cTn id="85" dur="500" fill="hold"/>
                                        <p:tgtEl>
                                          <p:spTgt spid="1763385"/>
                                        </p:tgtEl>
                                        <p:attrNameLst>
                                          <p:attrName>ppt_x</p:attrName>
                                        </p:attrNameLst>
                                      </p:cBhvr>
                                      <p:tavLst>
                                        <p:tav tm="0">
                                          <p:val>
                                            <p:strVal val="#ppt_x"/>
                                          </p:val>
                                        </p:tav>
                                        <p:tav tm="100000">
                                          <p:val>
                                            <p:strVal val="#ppt_x"/>
                                          </p:val>
                                        </p:tav>
                                      </p:tavLst>
                                    </p:anim>
                                    <p:anim calcmode="lin" valueType="num">
                                      <p:cBhvr additive="base">
                                        <p:cTn id="86" dur="500" fill="hold"/>
                                        <p:tgtEl>
                                          <p:spTgt spid="17633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6412" name="Rectangle 12"/>
          <p:cNvSpPr>
            <a:spLocks noChangeArrowheads="1"/>
          </p:cNvSpPr>
          <p:nvPr/>
        </p:nvSpPr>
        <p:spPr bwMode="auto">
          <a:xfrm>
            <a:off x="5009939" y="2053719"/>
            <a:ext cx="5379558" cy="4662815"/>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buFont typeface="Wingdings" panose="05000000000000000000" pitchFamily="2" charset="2"/>
              <a:buChar char="l"/>
            </a:pPr>
            <a:r>
              <a:rPr lang="en-US" altLang="zh-CN" sz="1800" dirty="0"/>
              <a:t>1966 </a:t>
            </a:r>
            <a:r>
              <a:rPr lang="en-US" altLang="zh-CN" sz="1800" dirty="0" err="1"/>
              <a:t>A.J</a:t>
            </a:r>
            <a:r>
              <a:rPr lang="en-US" altLang="zh-CN" sz="1800" dirty="0"/>
              <a:t>. Perlis: </a:t>
            </a:r>
            <a:r>
              <a:rPr lang="zh-CN" altLang="en-US" sz="1800" dirty="0"/>
              <a:t>编程技术和编译架构</a:t>
            </a:r>
            <a:endParaRPr lang="en-US" altLang="zh-CN" sz="1800" dirty="0"/>
          </a:p>
          <a:p>
            <a:pPr>
              <a:lnSpc>
                <a:spcPct val="110000"/>
              </a:lnSpc>
              <a:buFont typeface="Wingdings" panose="05000000000000000000" pitchFamily="2" charset="2"/>
              <a:buChar char="l"/>
            </a:pPr>
            <a:r>
              <a:rPr lang="en-US" altLang="zh-CN" sz="1800" dirty="0">
                <a:solidFill>
                  <a:srgbClr val="FF0000"/>
                </a:solidFill>
              </a:rPr>
              <a:t>1972 E.W. </a:t>
            </a:r>
            <a:r>
              <a:rPr lang="en-US" altLang="zh-CN" sz="1800" dirty="0" err="1">
                <a:solidFill>
                  <a:srgbClr val="FF0000"/>
                </a:solidFill>
              </a:rPr>
              <a:t>Dijkstra</a:t>
            </a:r>
            <a:r>
              <a:rPr lang="en-US" altLang="zh-CN" sz="1800" dirty="0">
                <a:solidFill>
                  <a:srgbClr val="FF0000"/>
                </a:solidFill>
              </a:rPr>
              <a:t>: ALGOL</a:t>
            </a:r>
            <a:r>
              <a:rPr lang="zh-CN" altLang="en-US" sz="1800" dirty="0">
                <a:solidFill>
                  <a:srgbClr val="FF0000"/>
                </a:solidFill>
              </a:rPr>
              <a:t>语言</a:t>
            </a:r>
          </a:p>
          <a:p>
            <a:pPr>
              <a:lnSpc>
                <a:spcPct val="110000"/>
              </a:lnSpc>
              <a:buFont typeface="Wingdings" panose="05000000000000000000" pitchFamily="2" charset="2"/>
              <a:buChar char="l"/>
            </a:pPr>
            <a:r>
              <a:rPr lang="en-US" altLang="zh-CN" sz="1800" dirty="0"/>
              <a:t>1974 Donald E. Knuth: </a:t>
            </a:r>
            <a:r>
              <a:rPr lang="zh-CN" altLang="en-US" sz="1800" dirty="0"/>
              <a:t>程序语言</a:t>
            </a:r>
          </a:p>
          <a:p>
            <a:pPr>
              <a:lnSpc>
                <a:spcPct val="110000"/>
              </a:lnSpc>
              <a:buFont typeface="Wingdings" panose="05000000000000000000" pitchFamily="2" charset="2"/>
              <a:buChar char="l"/>
            </a:pPr>
            <a:r>
              <a:rPr lang="en-US" altLang="zh-CN" sz="1800" dirty="0"/>
              <a:t>1977 John Backus : </a:t>
            </a:r>
            <a:r>
              <a:rPr lang="zh-CN" altLang="en-US" sz="1800" dirty="0"/>
              <a:t>高级语言</a:t>
            </a:r>
            <a:r>
              <a:rPr lang="en-US" altLang="zh-CN" sz="1800" dirty="0"/>
              <a:t>, </a:t>
            </a:r>
            <a:r>
              <a:rPr lang="en-US" altLang="zh-CN" sz="1800" dirty="0">
                <a:solidFill>
                  <a:srgbClr val="FF0000"/>
                </a:solidFill>
              </a:rPr>
              <a:t>Fortran</a:t>
            </a:r>
            <a:endParaRPr lang="zh-CN" altLang="en-US" sz="1800" dirty="0">
              <a:solidFill>
                <a:srgbClr val="FF0000"/>
              </a:solidFill>
            </a:endParaRPr>
          </a:p>
          <a:p>
            <a:pPr>
              <a:lnSpc>
                <a:spcPct val="110000"/>
              </a:lnSpc>
              <a:buFont typeface="Wingdings" panose="05000000000000000000" pitchFamily="2" charset="2"/>
              <a:buChar char="l"/>
            </a:pPr>
            <a:r>
              <a:rPr lang="en-US" altLang="zh-CN" sz="1800" dirty="0"/>
              <a:t>1979 Kenneth E. Iverson: </a:t>
            </a:r>
            <a:r>
              <a:rPr lang="zh-CN" altLang="en-US" sz="1800" dirty="0"/>
              <a:t>编程语言</a:t>
            </a:r>
            <a:r>
              <a:rPr lang="en-US" altLang="zh-CN" sz="1800" dirty="0"/>
              <a:t>, APL</a:t>
            </a:r>
          </a:p>
          <a:p>
            <a:pPr>
              <a:lnSpc>
                <a:spcPct val="110000"/>
              </a:lnSpc>
              <a:buFont typeface="Wingdings" panose="05000000000000000000" pitchFamily="2" charset="2"/>
              <a:buChar char="l"/>
            </a:pPr>
            <a:r>
              <a:rPr lang="en-US" altLang="zh-CN" sz="1800" dirty="0"/>
              <a:t>1980 C. Antony R. Hoare: </a:t>
            </a:r>
            <a:r>
              <a:rPr lang="zh-CN" altLang="en-US" sz="1800" dirty="0"/>
              <a:t>编程语言</a:t>
            </a:r>
          </a:p>
          <a:p>
            <a:pPr>
              <a:lnSpc>
                <a:spcPct val="110000"/>
              </a:lnSpc>
              <a:buFont typeface="Wingdings" panose="05000000000000000000" pitchFamily="2" charset="2"/>
              <a:buChar char="l"/>
            </a:pPr>
            <a:r>
              <a:rPr lang="en-US" altLang="zh-CN" sz="1800" dirty="0"/>
              <a:t>1981 Edgar F. </a:t>
            </a:r>
            <a:r>
              <a:rPr lang="en-US" altLang="zh-CN" sz="1800" dirty="0" err="1"/>
              <a:t>Codd</a:t>
            </a:r>
            <a:r>
              <a:rPr lang="en-US" altLang="zh-CN" sz="1800" dirty="0"/>
              <a:t>: </a:t>
            </a:r>
            <a:r>
              <a:rPr lang="zh-CN" altLang="en-US" sz="1800" dirty="0"/>
              <a:t>关系数据库语言</a:t>
            </a:r>
            <a:endParaRPr lang="en-US" altLang="zh-CN" sz="1800" dirty="0"/>
          </a:p>
          <a:p>
            <a:pPr>
              <a:lnSpc>
                <a:spcPct val="110000"/>
              </a:lnSpc>
              <a:buFont typeface="Wingdings" panose="05000000000000000000" pitchFamily="2" charset="2"/>
              <a:buChar char="l"/>
            </a:pPr>
            <a:r>
              <a:rPr lang="en-US" altLang="zh-CN" sz="1800" dirty="0"/>
              <a:t>1984 </a:t>
            </a:r>
            <a:r>
              <a:rPr lang="en-US" altLang="zh-CN" sz="1800" dirty="0" err="1"/>
              <a:t>Niklaus</a:t>
            </a:r>
            <a:r>
              <a:rPr lang="en-US" altLang="zh-CN" sz="1800" dirty="0"/>
              <a:t> Wirth</a:t>
            </a:r>
            <a:r>
              <a:rPr lang="zh-CN" altLang="en-US" sz="1800" dirty="0"/>
              <a:t>：开发了</a:t>
            </a:r>
            <a:r>
              <a:rPr lang="en-US" altLang="zh-CN" sz="1800" dirty="0"/>
              <a:t>EULER</a:t>
            </a:r>
            <a:r>
              <a:rPr lang="zh-CN" altLang="en-US" sz="1800" dirty="0"/>
              <a:t>、 </a:t>
            </a:r>
            <a:r>
              <a:rPr lang="en-US" altLang="zh-CN" sz="1800" dirty="0"/>
              <a:t>ALGOL-W</a:t>
            </a:r>
            <a:r>
              <a:rPr lang="zh-CN" altLang="en-US" sz="1800" dirty="0"/>
              <a:t>、 </a:t>
            </a:r>
            <a:r>
              <a:rPr lang="en-US" altLang="zh-CN" sz="1800" dirty="0"/>
              <a:t>MODULA</a:t>
            </a:r>
            <a:r>
              <a:rPr lang="zh-CN" altLang="en-US" sz="1800" dirty="0"/>
              <a:t>和</a:t>
            </a:r>
            <a:r>
              <a:rPr lang="en-US" altLang="zh-CN" sz="1800" dirty="0"/>
              <a:t>PASCAL</a:t>
            </a:r>
            <a:r>
              <a:rPr lang="zh-CN" altLang="en-US" sz="1800" dirty="0"/>
              <a:t>一系列崭新的计算语言。</a:t>
            </a:r>
          </a:p>
          <a:p>
            <a:pPr>
              <a:lnSpc>
                <a:spcPct val="110000"/>
              </a:lnSpc>
              <a:buFont typeface="Wingdings" panose="05000000000000000000" pitchFamily="2" charset="2"/>
              <a:buChar char="l"/>
            </a:pPr>
            <a:r>
              <a:rPr lang="en-US" altLang="zh-CN" sz="1800" dirty="0"/>
              <a:t>1987 John </a:t>
            </a:r>
            <a:r>
              <a:rPr lang="en-US" altLang="zh-CN" sz="1800" dirty="0" err="1"/>
              <a:t>Cocke</a:t>
            </a:r>
            <a:r>
              <a:rPr lang="zh-CN" altLang="en-US" sz="1800" dirty="0"/>
              <a:t>：编译器</a:t>
            </a:r>
            <a:endParaRPr lang="en-US" altLang="zh-CN" sz="1800" dirty="0"/>
          </a:p>
          <a:p>
            <a:pPr>
              <a:lnSpc>
                <a:spcPct val="110000"/>
              </a:lnSpc>
              <a:buFont typeface="Wingdings" panose="05000000000000000000" pitchFamily="2" charset="2"/>
              <a:buChar char="l"/>
            </a:pPr>
            <a:r>
              <a:rPr lang="en-US" altLang="zh-CN" sz="1800" dirty="0"/>
              <a:t>2001 Ole-Johan Dahl</a:t>
            </a:r>
            <a:r>
              <a:rPr lang="zh-CN" altLang="en-US" sz="1800" dirty="0"/>
              <a:t>、</a:t>
            </a:r>
            <a:r>
              <a:rPr lang="en-US" altLang="zh-CN" sz="1800" dirty="0"/>
              <a:t>Kristen </a:t>
            </a:r>
            <a:r>
              <a:rPr lang="en-US" altLang="zh-CN" sz="1800" dirty="0" err="1"/>
              <a:t>Nygaard</a:t>
            </a:r>
            <a:r>
              <a:rPr lang="en-US" altLang="zh-CN" sz="1800" dirty="0"/>
              <a:t>: </a:t>
            </a:r>
            <a:r>
              <a:rPr lang="zh-CN" altLang="en-US" sz="1800" dirty="0"/>
              <a:t>面向对象编程</a:t>
            </a:r>
            <a:r>
              <a:rPr lang="en-US" altLang="zh-CN" sz="1800" dirty="0"/>
              <a:t>,</a:t>
            </a:r>
            <a:r>
              <a:rPr lang="en-US" altLang="zh-CN" sz="1800" dirty="0" err="1">
                <a:solidFill>
                  <a:srgbClr val="FF0000"/>
                </a:solidFill>
              </a:rPr>
              <a:t>SIMULA</a:t>
            </a:r>
            <a:r>
              <a:rPr lang="en-US" altLang="zh-CN" sz="1800" dirty="0"/>
              <a:t> I </a:t>
            </a:r>
            <a:r>
              <a:rPr lang="zh-CN" altLang="en-US" sz="1800" dirty="0"/>
              <a:t>和</a:t>
            </a:r>
            <a:r>
              <a:rPr lang="en-US" altLang="zh-CN" sz="1800" dirty="0" err="1"/>
              <a:t>SIMULA</a:t>
            </a:r>
            <a:r>
              <a:rPr lang="en-US" altLang="zh-CN" sz="1800" dirty="0"/>
              <a:t> 67</a:t>
            </a:r>
            <a:r>
              <a:rPr lang="zh-CN" altLang="en-US" sz="1800" dirty="0"/>
              <a:t>中。</a:t>
            </a:r>
          </a:p>
          <a:p>
            <a:pPr>
              <a:lnSpc>
                <a:spcPct val="110000"/>
              </a:lnSpc>
              <a:buFont typeface="Wingdings" panose="05000000000000000000" pitchFamily="2" charset="2"/>
              <a:buChar char="l"/>
            </a:pPr>
            <a:r>
              <a:rPr lang="en-US" altLang="zh-CN" sz="1800" dirty="0"/>
              <a:t>2003 Alan Kay :</a:t>
            </a:r>
            <a:r>
              <a:rPr lang="zh-CN" altLang="en-US" sz="1800" dirty="0"/>
              <a:t>面向对象语言，</a:t>
            </a:r>
            <a:r>
              <a:rPr lang="en-US" altLang="zh-CN" sz="1800" dirty="0">
                <a:solidFill>
                  <a:srgbClr val="FF0000"/>
                </a:solidFill>
              </a:rPr>
              <a:t>Smalltalk</a:t>
            </a:r>
          </a:p>
          <a:p>
            <a:pPr>
              <a:lnSpc>
                <a:spcPct val="110000"/>
              </a:lnSpc>
              <a:buFont typeface="Wingdings" panose="05000000000000000000" pitchFamily="2" charset="2"/>
              <a:buChar char="l"/>
            </a:pPr>
            <a:r>
              <a:rPr lang="en-US" altLang="zh-CN" sz="1800" dirty="0"/>
              <a:t>2005 Peter </a:t>
            </a:r>
            <a:r>
              <a:rPr lang="en-US" altLang="zh-CN" sz="1800" dirty="0" err="1"/>
              <a:t>Naur:</a:t>
            </a:r>
            <a:r>
              <a:rPr lang="en-US" altLang="zh-CN" sz="1800" dirty="0" err="1">
                <a:solidFill>
                  <a:srgbClr val="FF0000"/>
                </a:solidFill>
              </a:rPr>
              <a:t>Algol60</a:t>
            </a:r>
            <a:r>
              <a:rPr lang="zh-CN" altLang="en-US" sz="1800" dirty="0"/>
              <a:t>程序语言。</a:t>
            </a:r>
          </a:p>
          <a:p>
            <a:pPr>
              <a:lnSpc>
                <a:spcPct val="110000"/>
              </a:lnSpc>
              <a:buFont typeface="Wingdings" panose="05000000000000000000" pitchFamily="2" charset="2"/>
              <a:buChar char="l"/>
            </a:pPr>
            <a:r>
              <a:rPr lang="en-US" altLang="zh-CN" sz="1800" dirty="0"/>
              <a:t>2006 Fran Allen: </a:t>
            </a:r>
            <a:r>
              <a:rPr lang="zh-CN" altLang="en-US" sz="1800" dirty="0"/>
              <a:t>编译器</a:t>
            </a:r>
            <a:endParaRPr kumimoji="0" lang="en-US" altLang="zh-CN" sz="1800" dirty="0"/>
          </a:p>
        </p:txBody>
      </p:sp>
      <p:sp>
        <p:nvSpPr>
          <p:cNvPr id="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计算机语言的发展</a:t>
            </a:r>
          </a:p>
        </p:txBody>
      </p:sp>
      <p:sp>
        <p:nvSpPr>
          <p:cNvPr id="6" name="圆角矩形 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计算机技术是伴随着计算机语言的不断发展而发展起来的</a:t>
            </a:r>
          </a:p>
        </p:txBody>
      </p:sp>
      <p:sp>
        <p:nvSpPr>
          <p:cNvPr id="2" name="矩形 1"/>
          <p:cNvSpPr/>
          <p:nvPr/>
        </p:nvSpPr>
        <p:spPr>
          <a:xfrm>
            <a:off x="2290186" y="3612625"/>
            <a:ext cx="1719107" cy="892552"/>
          </a:xfrm>
          <a:prstGeom prst="rect">
            <a:avLst/>
          </a:prstGeom>
        </p:spPr>
        <p:txBody>
          <a:bodyPr wrap="square">
            <a:spAutoFit/>
          </a:bodyPr>
          <a:lstStyle/>
          <a:p>
            <a:pPr algn="just">
              <a:lnSpc>
                <a:spcPct val="130000"/>
              </a:lnSpc>
              <a:buClr>
                <a:schemeClr val="accent2"/>
              </a:buClr>
            </a:pPr>
            <a:r>
              <a:rPr kumimoji="0" lang="zh-CN" altLang="en-US" dirty="0">
                <a:latin typeface="微软雅黑" panose="020B0503020204020204" pitchFamily="34" charset="-122"/>
                <a:ea typeface="微软雅黑" panose="020B0503020204020204" pitchFamily="34" charset="-122"/>
              </a:rPr>
              <a:t>因计算机语言获得图灵奖的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6412">
                                            <p:txEl>
                                              <p:pRg st="0" end="0"/>
                                            </p:txEl>
                                          </p:spTgt>
                                        </p:tgtEl>
                                        <p:attrNameLst>
                                          <p:attrName>style.visibility</p:attrName>
                                        </p:attrNameLst>
                                      </p:cBhvr>
                                      <p:to>
                                        <p:strVal val="visible"/>
                                      </p:to>
                                    </p:set>
                                    <p:anim calcmode="lin" valueType="num">
                                      <p:cBhvr additive="base">
                                        <p:cTn id="7" dur="500" fill="hold"/>
                                        <p:tgtEl>
                                          <p:spTgt spid="17664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664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66412">
                                            <p:txEl>
                                              <p:pRg st="1" end="1"/>
                                            </p:txEl>
                                          </p:spTgt>
                                        </p:tgtEl>
                                        <p:attrNameLst>
                                          <p:attrName>style.visibility</p:attrName>
                                        </p:attrNameLst>
                                      </p:cBhvr>
                                      <p:to>
                                        <p:strVal val="visible"/>
                                      </p:to>
                                    </p:set>
                                    <p:anim calcmode="lin" valueType="num">
                                      <p:cBhvr additive="base">
                                        <p:cTn id="13" dur="500" fill="hold"/>
                                        <p:tgtEl>
                                          <p:spTgt spid="17664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664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66412">
                                            <p:txEl>
                                              <p:pRg st="2" end="2"/>
                                            </p:txEl>
                                          </p:spTgt>
                                        </p:tgtEl>
                                        <p:attrNameLst>
                                          <p:attrName>style.visibility</p:attrName>
                                        </p:attrNameLst>
                                      </p:cBhvr>
                                      <p:to>
                                        <p:strVal val="visible"/>
                                      </p:to>
                                    </p:set>
                                    <p:anim calcmode="lin" valueType="num">
                                      <p:cBhvr additive="base">
                                        <p:cTn id="19" dur="500" fill="hold"/>
                                        <p:tgtEl>
                                          <p:spTgt spid="17664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664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66412">
                                            <p:txEl>
                                              <p:pRg st="3" end="3"/>
                                            </p:txEl>
                                          </p:spTgt>
                                        </p:tgtEl>
                                        <p:attrNameLst>
                                          <p:attrName>style.visibility</p:attrName>
                                        </p:attrNameLst>
                                      </p:cBhvr>
                                      <p:to>
                                        <p:strVal val="visible"/>
                                      </p:to>
                                    </p:set>
                                    <p:anim calcmode="lin" valueType="num">
                                      <p:cBhvr additive="base">
                                        <p:cTn id="25" dur="500" fill="hold"/>
                                        <p:tgtEl>
                                          <p:spTgt spid="17664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664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66412">
                                            <p:txEl>
                                              <p:pRg st="4" end="4"/>
                                            </p:txEl>
                                          </p:spTgt>
                                        </p:tgtEl>
                                        <p:attrNameLst>
                                          <p:attrName>style.visibility</p:attrName>
                                        </p:attrNameLst>
                                      </p:cBhvr>
                                      <p:to>
                                        <p:strVal val="visible"/>
                                      </p:to>
                                    </p:set>
                                    <p:anim calcmode="lin" valueType="num">
                                      <p:cBhvr additive="base">
                                        <p:cTn id="31" dur="500" fill="hold"/>
                                        <p:tgtEl>
                                          <p:spTgt spid="176641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664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66412">
                                            <p:txEl>
                                              <p:pRg st="5" end="5"/>
                                            </p:txEl>
                                          </p:spTgt>
                                        </p:tgtEl>
                                        <p:attrNameLst>
                                          <p:attrName>style.visibility</p:attrName>
                                        </p:attrNameLst>
                                      </p:cBhvr>
                                      <p:to>
                                        <p:strVal val="visible"/>
                                      </p:to>
                                    </p:set>
                                    <p:anim calcmode="lin" valueType="num">
                                      <p:cBhvr additive="base">
                                        <p:cTn id="37" dur="500" fill="hold"/>
                                        <p:tgtEl>
                                          <p:spTgt spid="176641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664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66412">
                                            <p:txEl>
                                              <p:pRg st="6" end="6"/>
                                            </p:txEl>
                                          </p:spTgt>
                                        </p:tgtEl>
                                        <p:attrNameLst>
                                          <p:attrName>style.visibility</p:attrName>
                                        </p:attrNameLst>
                                      </p:cBhvr>
                                      <p:to>
                                        <p:strVal val="visible"/>
                                      </p:to>
                                    </p:set>
                                    <p:anim calcmode="lin" valueType="num">
                                      <p:cBhvr additive="base">
                                        <p:cTn id="43" dur="500" fill="hold"/>
                                        <p:tgtEl>
                                          <p:spTgt spid="176641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664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66412">
                                            <p:txEl>
                                              <p:pRg st="7" end="7"/>
                                            </p:txEl>
                                          </p:spTgt>
                                        </p:tgtEl>
                                        <p:attrNameLst>
                                          <p:attrName>style.visibility</p:attrName>
                                        </p:attrNameLst>
                                      </p:cBhvr>
                                      <p:to>
                                        <p:strVal val="visible"/>
                                      </p:to>
                                    </p:set>
                                    <p:anim calcmode="lin" valueType="num">
                                      <p:cBhvr additive="base">
                                        <p:cTn id="49" dur="500" fill="hold"/>
                                        <p:tgtEl>
                                          <p:spTgt spid="176641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7664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766412">
                                            <p:txEl>
                                              <p:pRg st="8" end="8"/>
                                            </p:txEl>
                                          </p:spTgt>
                                        </p:tgtEl>
                                        <p:attrNameLst>
                                          <p:attrName>style.visibility</p:attrName>
                                        </p:attrNameLst>
                                      </p:cBhvr>
                                      <p:to>
                                        <p:strVal val="visible"/>
                                      </p:to>
                                    </p:set>
                                    <p:anim calcmode="lin" valueType="num">
                                      <p:cBhvr additive="base">
                                        <p:cTn id="55" dur="500" fill="hold"/>
                                        <p:tgtEl>
                                          <p:spTgt spid="176641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664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766412">
                                            <p:txEl>
                                              <p:pRg st="9" end="9"/>
                                            </p:txEl>
                                          </p:spTgt>
                                        </p:tgtEl>
                                        <p:attrNameLst>
                                          <p:attrName>style.visibility</p:attrName>
                                        </p:attrNameLst>
                                      </p:cBhvr>
                                      <p:to>
                                        <p:strVal val="visible"/>
                                      </p:to>
                                    </p:set>
                                    <p:anim calcmode="lin" valueType="num">
                                      <p:cBhvr additive="base">
                                        <p:cTn id="61" dur="500" fill="hold"/>
                                        <p:tgtEl>
                                          <p:spTgt spid="176641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76641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766412">
                                            <p:txEl>
                                              <p:pRg st="10" end="10"/>
                                            </p:txEl>
                                          </p:spTgt>
                                        </p:tgtEl>
                                        <p:attrNameLst>
                                          <p:attrName>style.visibility</p:attrName>
                                        </p:attrNameLst>
                                      </p:cBhvr>
                                      <p:to>
                                        <p:strVal val="visible"/>
                                      </p:to>
                                    </p:set>
                                    <p:anim calcmode="lin" valueType="num">
                                      <p:cBhvr additive="base">
                                        <p:cTn id="67" dur="500" fill="hold"/>
                                        <p:tgtEl>
                                          <p:spTgt spid="1766412">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76641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766412">
                                            <p:txEl>
                                              <p:pRg st="11" end="11"/>
                                            </p:txEl>
                                          </p:spTgt>
                                        </p:tgtEl>
                                        <p:attrNameLst>
                                          <p:attrName>style.visibility</p:attrName>
                                        </p:attrNameLst>
                                      </p:cBhvr>
                                      <p:to>
                                        <p:strVal val="visible"/>
                                      </p:to>
                                    </p:set>
                                    <p:anim calcmode="lin" valueType="num">
                                      <p:cBhvr additive="base">
                                        <p:cTn id="73" dur="500" fill="hold"/>
                                        <p:tgtEl>
                                          <p:spTgt spid="1766412">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76641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766412">
                                            <p:txEl>
                                              <p:pRg st="12" end="12"/>
                                            </p:txEl>
                                          </p:spTgt>
                                        </p:tgtEl>
                                        <p:attrNameLst>
                                          <p:attrName>style.visibility</p:attrName>
                                        </p:attrNameLst>
                                      </p:cBhvr>
                                      <p:to>
                                        <p:strVal val="visible"/>
                                      </p:to>
                                    </p:set>
                                    <p:anim calcmode="lin" valueType="num">
                                      <p:cBhvr additive="base">
                                        <p:cTn id="79" dur="500" fill="hold"/>
                                        <p:tgtEl>
                                          <p:spTgt spid="1766412">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76641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11" descr="计算机语言发展路线图"/>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907932"/>
            <a:ext cx="9144000" cy="486331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992741" name="Rectangle 37"/>
          <p:cNvSpPr>
            <a:spLocks noChangeArrowheads="1"/>
          </p:cNvSpPr>
          <p:nvPr/>
        </p:nvSpPr>
        <p:spPr bwMode="auto">
          <a:xfrm>
            <a:off x="1268995" y="1796944"/>
            <a:ext cx="9738974" cy="5016138"/>
          </a:xfrm>
          <a:prstGeom prst="rect">
            <a:avLst/>
          </a:prstGeom>
          <a:solidFill>
            <a:schemeClr val="bg1">
              <a:alpha val="70000"/>
            </a:schemeClr>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2708" name="Text Box 4"/>
          <p:cNvSpPr txBox="1">
            <a:spLocks noChangeArrowheads="1"/>
          </p:cNvSpPr>
          <p:nvPr/>
        </p:nvSpPr>
        <p:spPr bwMode="auto">
          <a:xfrm>
            <a:off x="2123070" y="2465983"/>
            <a:ext cx="1924050" cy="43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chemeClr val="accent2"/>
                </a:solidFill>
              </a:rPr>
              <a:t>FORTRAN</a:t>
            </a:r>
          </a:p>
        </p:txBody>
      </p:sp>
      <p:sp>
        <p:nvSpPr>
          <p:cNvPr id="1992709" name="Text Box 5"/>
          <p:cNvSpPr txBox="1">
            <a:spLocks noChangeArrowheads="1"/>
          </p:cNvSpPr>
          <p:nvPr/>
        </p:nvSpPr>
        <p:spPr bwMode="auto">
          <a:xfrm>
            <a:off x="2597607" y="3400883"/>
            <a:ext cx="1428750" cy="43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chemeClr val="accent2"/>
                </a:solidFill>
              </a:rPr>
              <a:t>ALGOL</a:t>
            </a:r>
          </a:p>
        </p:txBody>
      </p:sp>
      <p:sp>
        <p:nvSpPr>
          <p:cNvPr id="1992710" name="Text Box 6"/>
          <p:cNvSpPr txBox="1">
            <a:spLocks noChangeArrowheads="1"/>
          </p:cNvSpPr>
          <p:nvPr/>
        </p:nvSpPr>
        <p:spPr bwMode="auto">
          <a:xfrm>
            <a:off x="4510671" y="4490963"/>
            <a:ext cx="441325" cy="43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chemeClr val="accent2"/>
                </a:solidFill>
              </a:rPr>
              <a:t>B</a:t>
            </a:r>
          </a:p>
        </p:txBody>
      </p:sp>
      <p:sp>
        <p:nvSpPr>
          <p:cNvPr id="1992711" name="Text Box 7"/>
          <p:cNvSpPr txBox="1">
            <a:spLocks noChangeArrowheads="1"/>
          </p:cNvSpPr>
          <p:nvPr/>
        </p:nvSpPr>
        <p:spPr bwMode="auto">
          <a:xfrm>
            <a:off x="5028196" y="4498881"/>
            <a:ext cx="441325" cy="43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accent2"/>
                </a:solidFill>
              </a:rPr>
              <a:t>C</a:t>
            </a:r>
          </a:p>
        </p:txBody>
      </p:sp>
      <p:sp>
        <p:nvSpPr>
          <p:cNvPr id="1992712" name="Text Box 8"/>
          <p:cNvSpPr txBox="1">
            <a:spLocks noChangeArrowheads="1"/>
          </p:cNvSpPr>
          <p:nvPr/>
        </p:nvSpPr>
        <p:spPr bwMode="auto">
          <a:xfrm>
            <a:off x="4778958" y="5494766"/>
            <a:ext cx="1231900" cy="32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accent2"/>
                </a:solidFill>
              </a:rPr>
              <a:t>PASCAL</a:t>
            </a:r>
          </a:p>
        </p:txBody>
      </p:sp>
      <p:sp>
        <p:nvSpPr>
          <p:cNvPr id="1992713" name="Text Box 9"/>
          <p:cNvSpPr txBox="1">
            <a:spLocks noChangeArrowheads="1"/>
          </p:cNvSpPr>
          <p:nvPr/>
        </p:nvSpPr>
        <p:spPr bwMode="auto">
          <a:xfrm>
            <a:off x="3940759" y="6339366"/>
            <a:ext cx="1290637" cy="43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accent2"/>
                </a:solidFill>
              </a:rPr>
              <a:t>BASIC</a:t>
            </a:r>
          </a:p>
        </p:txBody>
      </p:sp>
      <p:sp>
        <p:nvSpPr>
          <p:cNvPr id="1992714" name="AutoShape 10"/>
          <p:cNvSpPr>
            <a:spLocks noChangeArrowheads="1"/>
          </p:cNvSpPr>
          <p:nvPr/>
        </p:nvSpPr>
        <p:spPr bwMode="auto">
          <a:xfrm>
            <a:off x="1908759" y="2799961"/>
            <a:ext cx="274637" cy="138567"/>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15" name="AutoShape 11"/>
          <p:cNvSpPr>
            <a:spLocks noChangeArrowheads="1"/>
          </p:cNvSpPr>
          <p:nvPr/>
        </p:nvSpPr>
        <p:spPr bwMode="auto">
          <a:xfrm>
            <a:off x="2648534" y="3816122"/>
            <a:ext cx="274637" cy="138567"/>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16" name="AutoShape 12"/>
          <p:cNvSpPr>
            <a:spLocks noChangeArrowheads="1"/>
          </p:cNvSpPr>
          <p:nvPr/>
        </p:nvSpPr>
        <p:spPr bwMode="auto">
          <a:xfrm>
            <a:off x="4658309" y="4912782"/>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17" name="AutoShape 13"/>
          <p:cNvSpPr>
            <a:spLocks noChangeArrowheads="1"/>
          </p:cNvSpPr>
          <p:nvPr/>
        </p:nvSpPr>
        <p:spPr bwMode="auto">
          <a:xfrm>
            <a:off x="5096459" y="4920700"/>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18" name="AutoShape 14"/>
          <p:cNvSpPr>
            <a:spLocks noChangeArrowheads="1"/>
          </p:cNvSpPr>
          <p:nvPr/>
        </p:nvSpPr>
        <p:spPr bwMode="auto">
          <a:xfrm>
            <a:off x="3756609" y="6393473"/>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19" name="Text Box 15"/>
          <p:cNvSpPr txBox="1">
            <a:spLocks noChangeArrowheads="1"/>
          </p:cNvSpPr>
          <p:nvPr/>
        </p:nvSpPr>
        <p:spPr bwMode="auto">
          <a:xfrm>
            <a:off x="8020634" y="6421187"/>
            <a:ext cx="2198687"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accent2"/>
                </a:solidFill>
              </a:rPr>
              <a:t>Visual  BASIC</a:t>
            </a:r>
          </a:p>
        </p:txBody>
      </p:sp>
      <p:sp>
        <p:nvSpPr>
          <p:cNvPr id="1992720" name="AutoShape 16"/>
          <p:cNvSpPr>
            <a:spLocks noChangeArrowheads="1"/>
          </p:cNvSpPr>
          <p:nvPr/>
        </p:nvSpPr>
        <p:spPr bwMode="auto">
          <a:xfrm>
            <a:off x="8757234" y="6393473"/>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21" name="AutoShape 17"/>
          <p:cNvSpPr>
            <a:spLocks noChangeArrowheads="1"/>
          </p:cNvSpPr>
          <p:nvPr/>
        </p:nvSpPr>
        <p:spPr bwMode="auto">
          <a:xfrm>
            <a:off x="4899609" y="5443297"/>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22" name="Text Box 18"/>
          <p:cNvSpPr txBox="1">
            <a:spLocks noChangeArrowheads="1"/>
          </p:cNvSpPr>
          <p:nvPr/>
        </p:nvSpPr>
        <p:spPr bwMode="auto">
          <a:xfrm>
            <a:off x="9639884" y="5265139"/>
            <a:ext cx="1114425"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accent2"/>
                </a:solidFill>
              </a:rPr>
              <a:t>Delphi</a:t>
            </a:r>
          </a:p>
        </p:txBody>
      </p:sp>
      <p:sp>
        <p:nvSpPr>
          <p:cNvPr id="1992723" name="AutoShape 19"/>
          <p:cNvSpPr>
            <a:spLocks noChangeArrowheads="1"/>
          </p:cNvSpPr>
          <p:nvPr/>
        </p:nvSpPr>
        <p:spPr bwMode="auto">
          <a:xfrm>
            <a:off x="9449384" y="5344321"/>
            <a:ext cx="274637" cy="138567"/>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24" name="Text Box 20"/>
          <p:cNvSpPr txBox="1">
            <a:spLocks noChangeArrowheads="1"/>
          </p:cNvSpPr>
          <p:nvPr/>
        </p:nvSpPr>
        <p:spPr bwMode="auto">
          <a:xfrm>
            <a:off x="6968120" y="4281115"/>
            <a:ext cx="857250" cy="43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chemeClr val="accent2"/>
                </a:solidFill>
              </a:rPr>
              <a:t>C++</a:t>
            </a:r>
          </a:p>
        </p:txBody>
      </p:sp>
      <p:sp>
        <p:nvSpPr>
          <p:cNvPr id="1992725" name="AutoShape 21"/>
          <p:cNvSpPr>
            <a:spLocks noChangeArrowheads="1"/>
          </p:cNvSpPr>
          <p:nvPr/>
        </p:nvSpPr>
        <p:spPr bwMode="auto">
          <a:xfrm>
            <a:off x="7222120" y="4672599"/>
            <a:ext cx="274638"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26" name="Text Box 22"/>
          <p:cNvSpPr txBox="1">
            <a:spLocks noChangeArrowheads="1"/>
          </p:cNvSpPr>
          <p:nvPr/>
        </p:nvSpPr>
        <p:spPr bwMode="auto">
          <a:xfrm>
            <a:off x="2408820" y="4230503"/>
            <a:ext cx="1182688"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accent2"/>
                </a:solidFill>
              </a:rPr>
              <a:t>Simula</a:t>
            </a:r>
          </a:p>
        </p:txBody>
      </p:sp>
      <p:sp>
        <p:nvSpPr>
          <p:cNvPr id="1992727" name="AutoShape 23"/>
          <p:cNvSpPr>
            <a:spLocks noChangeArrowheads="1"/>
          </p:cNvSpPr>
          <p:nvPr/>
        </p:nvSpPr>
        <p:spPr bwMode="auto">
          <a:xfrm>
            <a:off x="3747084" y="3941491"/>
            <a:ext cx="274637"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28" name="Text Box 24"/>
          <p:cNvSpPr txBox="1">
            <a:spLocks noChangeArrowheads="1"/>
          </p:cNvSpPr>
          <p:nvPr/>
        </p:nvSpPr>
        <p:spPr bwMode="auto">
          <a:xfrm>
            <a:off x="8879471" y="4060745"/>
            <a:ext cx="1216025"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rPr>
              <a:t>Python</a:t>
            </a:r>
          </a:p>
        </p:txBody>
      </p:sp>
      <p:sp>
        <p:nvSpPr>
          <p:cNvPr id="1992729" name="AutoShape 25"/>
          <p:cNvSpPr>
            <a:spLocks noChangeArrowheads="1"/>
          </p:cNvSpPr>
          <p:nvPr/>
        </p:nvSpPr>
        <p:spPr bwMode="auto">
          <a:xfrm>
            <a:off x="8704845" y="4293849"/>
            <a:ext cx="274638" cy="138567"/>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30" name="Text Box 26"/>
          <p:cNvSpPr txBox="1">
            <a:spLocks noChangeArrowheads="1"/>
          </p:cNvSpPr>
          <p:nvPr/>
        </p:nvSpPr>
        <p:spPr bwMode="auto">
          <a:xfrm>
            <a:off x="8885820" y="3616027"/>
            <a:ext cx="863600"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rPr>
              <a:t>Java</a:t>
            </a:r>
          </a:p>
        </p:txBody>
      </p:sp>
      <p:sp>
        <p:nvSpPr>
          <p:cNvPr id="1992731" name="AutoShape 27"/>
          <p:cNvSpPr>
            <a:spLocks noChangeArrowheads="1"/>
          </p:cNvSpPr>
          <p:nvPr/>
        </p:nvSpPr>
        <p:spPr bwMode="auto">
          <a:xfrm>
            <a:off x="8730245" y="3930933"/>
            <a:ext cx="274638"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32" name="AutoShape 28"/>
          <p:cNvSpPr>
            <a:spLocks noChangeArrowheads="1"/>
          </p:cNvSpPr>
          <p:nvPr/>
        </p:nvSpPr>
        <p:spPr bwMode="auto">
          <a:xfrm>
            <a:off x="9463670" y="4429776"/>
            <a:ext cx="274638"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33" name="Text Box 29"/>
          <p:cNvSpPr txBox="1">
            <a:spLocks noChangeArrowheads="1"/>
          </p:cNvSpPr>
          <p:nvPr/>
        </p:nvSpPr>
        <p:spPr bwMode="auto">
          <a:xfrm>
            <a:off x="8809743" y="4440780"/>
            <a:ext cx="1468437" cy="32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chemeClr val="accent2"/>
                </a:solidFill>
              </a:rPr>
              <a:t>JavaScript</a:t>
            </a:r>
          </a:p>
        </p:txBody>
      </p:sp>
      <p:sp>
        <p:nvSpPr>
          <p:cNvPr id="1992734" name="AutoShape 30"/>
          <p:cNvSpPr>
            <a:spLocks noChangeArrowheads="1"/>
          </p:cNvSpPr>
          <p:nvPr/>
        </p:nvSpPr>
        <p:spPr bwMode="auto">
          <a:xfrm>
            <a:off x="10393945" y="4498400"/>
            <a:ext cx="274638"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35" name="Text Box 31"/>
          <p:cNvSpPr txBox="1">
            <a:spLocks noChangeArrowheads="1"/>
          </p:cNvSpPr>
          <p:nvPr/>
        </p:nvSpPr>
        <p:spPr bwMode="auto">
          <a:xfrm>
            <a:off x="10369031" y="4187899"/>
            <a:ext cx="509588" cy="32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accent2"/>
                </a:solidFill>
              </a:rPr>
              <a:t>C#</a:t>
            </a:r>
          </a:p>
        </p:txBody>
      </p:sp>
      <p:sp>
        <p:nvSpPr>
          <p:cNvPr id="1992736" name="Text Box 32"/>
          <p:cNvSpPr txBox="1">
            <a:spLocks noChangeArrowheads="1"/>
          </p:cNvSpPr>
          <p:nvPr/>
        </p:nvSpPr>
        <p:spPr bwMode="auto">
          <a:xfrm>
            <a:off x="8960433" y="5464412"/>
            <a:ext cx="760412" cy="38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accent2"/>
                </a:solidFill>
              </a:rPr>
              <a:t>Perl</a:t>
            </a:r>
          </a:p>
        </p:txBody>
      </p:sp>
      <p:sp>
        <p:nvSpPr>
          <p:cNvPr id="1992737" name="AutoShape 33"/>
          <p:cNvSpPr>
            <a:spLocks noChangeArrowheads="1"/>
          </p:cNvSpPr>
          <p:nvPr/>
        </p:nvSpPr>
        <p:spPr bwMode="auto">
          <a:xfrm>
            <a:off x="8727070" y="5591102"/>
            <a:ext cx="274638" cy="138568"/>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38" name="Line 34"/>
          <p:cNvSpPr>
            <a:spLocks noChangeShapeType="1"/>
          </p:cNvSpPr>
          <p:nvPr/>
        </p:nvSpPr>
        <p:spPr bwMode="auto">
          <a:xfrm flipV="1">
            <a:off x="3310520" y="4023312"/>
            <a:ext cx="488950" cy="36555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39" name="AutoShape 35"/>
          <p:cNvSpPr>
            <a:spLocks noChangeArrowheads="1"/>
          </p:cNvSpPr>
          <p:nvPr/>
        </p:nvSpPr>
        <p:spPr bwMode="auto">
          <a:xfrm>
            <a:off x="4702759" y="3694710"/>
            <a:ext cx="274637" cy="138567"/>
          </a:xfrm>
          <a:prstGeom prst="wave">
            <a:avLst>
              <a:gd name="adj1" fmla="val 13005"/>
              <a:gd name="adj2" fmla="val 0"/>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FF0000"/>
              </a:solidFill>
            </a:endParaRPr>
          </a:p>
        </p:txBody>
      </p:sp>
      <p:sp>
        <p:nvSpPr>
          <p:cNvPr id="1992740" name="Text Box 36"/>
          <p:cNvSpPr txBox="1">
            <a:spLocks noChangeArrowheads="1"/>
          </p:cNvSpPr>
          <p:nvPr/>
        </p:nvSpPr>
        <p:spPr bwMode="auto">
          <a:xfrm>
            <a:off x="4517020" y="3380249"/>
            <a:ext cx="1296988" cy="329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chemeClr val="accent2"/>
                </a:solidFill>
              </a:rPr>
              <a:t>Smalltalk</a:t>
            </a:r>
          </a:p>
        </p:txBody>
      </p:sp>
      <p:sp>
        <p:nvSpPr>
          <p:cNvPr id="1992742" name="Freeform 38"/>
          <p:cNvSpPr/>
          <p:nvPr/>
        </p:nvSpPr>
        <p:spPr bwMode="auto">
          <a:xfrm>
            <a:off x="2123070" y="2844831"/>
            <a:ext cx="609600" cy="988446"/>
          </a:xfrm>
          <a:custGeom>
            <a:avLst/>
            <a:gdLst>
              <a:gd name="T0" fmla="*/ 0 w 384"/>
              <a:gd name="T1" fmla="*/ 0 h 749"/>
              <a:gd name="T2" fmla="*/ 124 w 384"/>
              <a:gd name="T3" fmla="*/ 0 h 749"/>
              <a:gd name="T4" fmla="*/ 384 w 384"/>
              <a:gd name="T5" fmla="*/ 749 h 749"/>
            </a:gdLst>
            <a:ahLst/>
            <a:cxnLst>
              <a:cxn ang="0">
                <a:pos x="T0" y="T1"/>
              </a:cxn>
              <a:cxn ang="0">
                <a:pos x="T2" y="T3"/>
              </a:cxn>
              <a:cxn ang="0">
                <a:pos x="T4" y="T5"/>
              </a:cxn>
            </a:cxnLst>
            <a:rect l="0" t="0" r="r" b="b"/>
            <a:pathLst>
              <a:path w="384" h="749">
                <a:moveTo>
                  <a:pt x="0" y="0"/>
                </a:moveTo>
                <a:lnTo>
                  <a:pt x="124" y="0"/>
                </a:lnTo>
                <a:lnTo>
                  <a:pt x="384" y="749"/>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3" name="Freeform 39"/>
          <p:cNvSpPr/>
          <p:nvPr/>
        </p:nvSpPr>
        <p:spPr bwMode="auto">
          <a:xfrm>
            <a:off x="2915233" y="3883425"/>
            <a:ext cx="2209800" cy="1076866"/>
          </a:xfrm>
          <a:custGeom>
            <a:avLst/>
            <a:gdLst>
              <a:gd name="T0" fmla="*/ 0 w 1392"/>
              <a:gd name="T1" fmla="*/ 0 h 816"/>
              <a:gd name="T2" fmla="*/ 691 w 1392"/>
              <a:gd name="T3" fmla="*/ 0 h 816"/>
              <a:gd name="T4" fmla="*/ 960 w 1392"/>
              <a:gd name="T5" fmla="*/ 806 h 816"/>
              <a:gd name="T6" fmla="*/ 1392 w 1392"/>
              <a:gd name="T7" fmla="*/ 816 h 816"/>
            </a:gdLst>
            <a:ahLst/>
            <a:cxnLst>
              <a:cxn ang="0">
                <a:pos x="T0" y="T1"/>
              </a:cxn>
              <a:cxn ang="0">
                <a:pos x="T2" y="T3"/>
              </a:cxn>
              <a:cxn ang="0">
                <a:pos x="T4" y="T5"/>
              </a:cxn>
              <a:cxn ang="0">
                <a:pos x="T6" y="T7"/>
              </a:cxn>
            </a:cxnLst>
            <a:rect l="0" t="0" r="r" b="b"/>
            <a:pathLst>
              <a:path w="1392" h="816">
                <a:moveTo>
                  <a:pt x="0" y="0"/>
                </a:moveTo>
                <a:lnTo>
                  <a:pt x="691" y="0"/>
                </a:lnTo>
                <a:lnTo>
                  <a:pt x="960" y="806"/>
                </a:lnTo>
                <a:lnTo>
                  <a:pt x="1392" y="816"/>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4" name="Freeform 40"/>
          <p:cNvSpPr/>
          <p:nvPr/>
        </p:nvSpPr>
        <p:spPr bwMode="auto">
          <a:xfrm>
            <a:off x="4028071" y="4011436"/>
            <a:ext cx="3184525" cy="720550"/>
          </a:xfrm>
          <a:custGeom>
            <a:avLst/>
            <a:gdLst>
              <a:gd name="T0" fmla="*/ 0 w 2006"/>
              <a:gd name="T1" fmla="*/ 0 h 566"/>
              <a:gd name="T2" fmla="*/ 1584 w 2006"/>
              <a:gd name="T3" fmla="*/ 0 h 566"/>
              <a:gd name="T4" fmla="*/ 1776 w 2006"/>
              <a:gd name="T5" fmla="*/ 566 h 566"/>
              <a:gd name="T6" fmla="*/ 2006 w 2006"/>
              <a:gd name="T7" fmla="*/ 566 h 566"/>
            </a:gdLst>
            <a:ahLst/>
            <a:cxnLst>
              <a:cxn ang="0">
                <a:pos x="T0" y="T1"/>
              </a:cxn>
              <a:cxn ang="0">
                <a:pos x="T2" y="T3"/>
              </a:cxn>
              <a:cxn ang="0">
                <a:pos x="T4" y="T5"/>
              </a:cxn>
              <a:cxn ang="0">
                <a:pos x="T6" y="T7"/>
              </a:cxn>
            </a:cxnLst>
            <a:rect l="0" t="0" r="r" b="b"/>
            <a:pathLst>
              <a:path w="2006" h="566">
                <a:moveTo>
                  <a:pt x="0" y="0"/>
                </a:moveTo>
                <a:lnTo>
                  <a:pt x="1584" y="0"/>
                </a:lnTo>
                <a:lnTo>
                  <a:pt x="1776" y="566"/>
                </a:lnTo>
                <a:lnTo>
                  <a:pt x="2006" y="566"/>
                </a:lnTo>
              </a:path>
            </a:pathLst>
          </a:custGeom>
          <a:noFill/>
          <a:ln w="38100" cmpd="sng">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5" name="Freeform 41"/>
          <p:cNvSpPr/>
          <p:nvPr/>
        </p:nvSpPr>
        <p:spPr bwMode="auto">
          <a:xfrm>
            <a:off x="5383795" y="4745183"/>
            <a:ext cx="1447800" cy="228306"/>
          </a:xfrm>
          <a:custGeom>
            <a:avLst/>
            <a:gdLst>
              <a:gd name="T0" fmla="*/ 0 w 912"/>
              <a:gd name="T1" fmla="*/ 173 h 173"/>
              <a:gd name="T2" fmla="*/ 826 w 912"/>
              <a:gd name="T3" fmla="*/ 163 h 173"/>
              <a:gd name="T4" fmla="*/ 912 w 912"/>
              <a:gd name="T5" fmla="*/ 0 h 173"/>
            </a:gdLst>
            <a:ahLst/>
            <a:cxnLst>
              <a:cxn ang="0">
                <a:pos x="T0" y="T1"/>
              </a:cxn>
              <a:cxn ang="0">
                <a:pos x="T2" y="T3"/>
              </a:cxn>
              <a:cxn ang="0">
                <a:pos x="T4" y="T5"/>
              </a:cxn>
            </a:cxnLst>
            <a:rect l="0" t="0" r="r" b="b"/>
            <a:pathLst>
              <a:path w="912" h="173">
                <a:moveTo>
                  <a:pt x="0" y="173"/>
                </a:moveTo>
                <a:lnTo>
                  <a:pt x="826" y="163"/>
                </a:lnTo>
                <a:lnTo>
                  <a:pt x="912"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6" name="Freeform 42"/>
          <p:cNvSpPr/>
          <p:nvPr/>
        </p:nvSpPr>
        <p:spPr bwMode="auto">
          <a:xfrm>
            <a:off x="4972634" y="3756735"/>
            <a:ext cx="3794125" cy="215110"/>
          </a:xfrm>
          <a:custGeom>
            <a:avLst/>
            <a:gdLst>
              <a:gd name="T0" fmla="*/ 0 w 2390"/>
              <a:gd name="T1" fmla="*/ 0 h 163"/>
              <a:gd name="T2" fmla="*/ 2160 w 2390"/>
              <a:gd name="T3" fmla="*/ 10 h 163"/>
              <a:gd name="T4" fmla="*/ 2390 w 2390"/>
              <a:gd name="T5" fmla="*/ 163 h 163"/>
            </a:gdLst>
            <a:ahLst/>
            <a:cxnLst>
              <a:cxn ang="0">
                <a:pos x="T0" y="T1"/>
              </a:cxn>
              <a:cxn ang="0">
                <a:pos x="T2" y="T3"/>
              </a:cxn>
              <a:cxn ang="0">
                <a:pos x="T4" y="T5"/>
              </a:cxn>
            </a:cxnLst>
            <a:rect l="0" t="0" r="r" b="b"/>
            <a:pathLst>
              <a:path w="2390" h="163">
                <a:moveTo>
                  <a:pt x="0" y="0"/>
                </a:moveTo>
                <a:lnTo>
                  <a:pt x="2160" y="10"/>
                </a:lnTo>
                <a:lnTo>
                  <a:pt x="2390" y="163"/>
                </a:lnTo>
              </a:path>
            </a:pathLst>
          </a:custGeom>
          <a:noFill/>
          <a:ln w="38100" cmpd="sng">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7" name="Freeform 43"/>
          <p:cNvSpPr/>
          <p:nvPr/>
        </p:nvSpPr>
        <p:spPr bwMode="auto">
          <a:xfrm>
            <a:off x="7517396" y="4035189"/>
            <a:ext cx="1235075" cy="696796"/>
          </a:xfrm>
          <a:custGeom>
            <a:avLst/>
            <a:gdLst>
              <a:gd name="T0" fmla="*/ 0 w 778"/>
              <a:gd name="T1" fmla="*/ 528 h 528"/>
              <a:gd name="T2" fmla="*/ 374 w 778"/>
              <a:gd name="T3" fmla="*/ 528 h 528"/>
              <a:gd name="T4" fmla="*/ 778 w 778"/>
              <a:gd name="T5" fmla="*/ 0 h 528"/>
            </a:gdLst>
            <a:ahLst/>
            <a:cxnLst>
              <a:cxn ang="0">
                <a:pos x="T0" y="T1"/>
              </a:cxn>
              <a:cxn ang="0">
                <a:pos x="T2" y="T3"/>
              </a:cxn>
              <a:cxn ang="0">
                <a:pos x="T4" y="T5"/>
              </a:cxn>
            </a:cxnLst>
            <a:rect l="0" t="0" r="r" b="b"/>
            <a:pathLst>
              <a:path w="778" h="528">
                <a:moveTo>
                  <a:pt x="0" y="528"/>
                </a:moveTo>
                <a:lnTo>
                  <a:pt x="374" y="528"/>
                </a:lnTo>
                <a:lnTo>
                  <a:pt x="778" y="0"/>
                </a:lnTo>
              </a:path>
            </a:pathLst>
          </a:custGeom>
          <a:noFill/>
          <a:ln w="28575" cmpd="sng">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8" name="Freeform 44"/>
          <p:cNvSpPr/>
          <p:nvPr/>
        </p:nvSpPr>
        <p:spPr bwMode="auto">
          <a:xfrm>
            <a:off x="6725234" y="4403383"/>
            <a:ext cx="2073275" cy="568786"/>
          </a:xfrm>
          <a:custGeom>
            <a:avLst/>
            <a:gdLst>
              <a:gd name="T0" fmla="*/ 0 w 1325"/>
              <a:gd name="T1" fmla="*/ 441 h 441"/>
              <a:gd name="T2" fmla="*/ 1200 w 1325"/>
              <a:gd name="T3" fmla="*/ 441 h 441"/>
              <a:gd name="T4" fmla="*/ 1325 w 1325"/>
              <a:gd name="T5" fmla="*/ 0 h 441"/>
            </a:gdLst>
            <a:ahLst/>
            <a:cxnLst>
              <a:cxn ang="0">
                <a:pos x="T0" y="T1"/>
              </a:cxn>
              <a:cxn ang="0">
                <a:pos x="T2" y="T3"/>
              </a:cxn>
              <a:cxn ang="0">
                <a:pos x="T4" y="T5"/>
              </a:cxn>
            </a:cxnLst>
            <a:rect l="0" t="0" r="r" b="b"/>
            <a:pathLst>
              <a:path w="1325" h="441">
                <a:moveTo>
                  <a:pt x="0" y="441"/>
                </a:moveTo>
                <a:lnTo>
                  <a:pt x="1200" y="441"/>
                </a:lnTo>
                <a:lnTo>
                  <a:pt x="1325"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49" name="Freeform 45"/>
          <p:cNvSpPr/>
          <p:nvPr/>
        </p:nvSpPr>
        <p:spPr bwMode="auto">
          <a:xfrm>
            <a:off x="8965195" y="3985042"/>
            <a:ext cx="1447800" cy="481686"/>
          </a:xfrm>
          <a:custGeom>
            <a:avLst/>
            <a:gdLst>
              <a:gd name="T0" fmla="*/ 0 w 912"/>
              <a:gd name="T1" fmla="*/ 0 h 365"/>
              <a:gd name="T2" fmla="*/ 787 w 912"/>
              <a:gd name="T3" fmla="*/ 0 h 365"/>
              <a:gd name="T4" fmla="*/ 912 w 912"/>
              <a:gd name="T5" fmla="*/ 365 h 365"/>
            </a:gdLst>
            <a:ahLst/>
            <a:cxnLst>
              <a:cxn ang="0">
                <a:pos x="T0" y="T1"/>
              </a:cxn>
              <a:cxn ang="0">
                <a:pos x="T2" y="T3"/>
              </a:cxn>
              <a:cxn ang="0">
                <a:pos x="T4" y="T5"/>
              </a:cxn>
            </a:cxnLst>
            <a:rect l="0" t="0" r="r" b="b"/>
            <a:pathLst>
              <a:path w="912" h="365">
                <a:moveTo>
                  <a:pt x="0" y="0"/>
                </a:moveTo>
                <a:lnTo>
                  <a:pt x="787" y="0"/>
                </a:lnTo>
                <a:lnTo>
                  <a:pt x="912" y="365"/>
                </a:lnTo>
              </a:path>
            </a:pathLst>
          </a:custGeom>
          <a:noFill/>
          <a:ln w="38100" cmpd="sng">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92750" name="Freeform 46"/>
          <p:cNvSpPr/>
          <p:nvPr/>
        </p:nvSpPr>
        <p:spPr bwMode="auto">
          <a:xfrm>
            <a:off x="8126996" y="4594737"/>
            <a:ext cx="2346325" cy="137248"/>
          </a:xfrm>
          <a:custGeom>
            <a:avLst/>
            <a:gdLst>
              <a:gd name="T0" fmla="*/ 0 w 1478"/>
              <a:gd name="T1" fmla="*/ 125 h 125"/>
              <a:gd name="T2" fmla="*/ 1363 w 1478"/>
              <a:gd name="T3" fmla="*/ 125 h 125"/>
              <a:gd name="T4" fmla="*/ 1478 w 1478"/>
              <a:gd name="T5" fmla="*/ 0 h 125"/>
            </a:gdLst>
            <a:ahLst/>
            <a:cxnLst>
              <a:cxn ang="0">
                <a:pos x="T0" y="T1"/>
              </a:cxn>
              <a:cxn ang="0">
                <a:pos x="T2" y="T3"/>
              </a:cxn>
              <a:cxn ang="0">
                <a:pos x="T4" y="T5"/>
              </a:cxn>
            </a:cxnLst>
            <a:rect l="0" t="0" r="r" b="b"/>
            <a:pathLst>
              <a:path w="1478" h="125">
                <a:moveTo>
                  <a:pt x="0" y="125"/>
                </a:moveTo>
                <a:lnTo>
                  <a:pt x="1363" y="125"/>
                </a:lnTo>
                <a:lnTo>
                  <a:pt x="1478" y="0"/>
                </a:lnTo>
              </a:path>
            </a:pathLst>
          </a:custGeom>
          <a:noFill/>
          <a:ln w="38100" cmpd="sng">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计算机语言的发展</a:t>
            </a:r>
          </a:p>
        </p:txBody>
      </p:sp>
      <p:sp>
        <p:nvSpPr>
          <p:cNvPr id="49" name="圆角矩形 48"/>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多种多样的高级语言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编写一个程序</a:t>
            </a:r>
          </a:p>
        </p:txBody>
      </p:sp>
      <p:sp>
        <p:nvSpPr>
          <p:cNvPr id="4" name="圆角矩形 3"/>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程序编写示例：不同计算机语言的程序表达</a:t>
            </a:r>
          </a:p>
        </p:txBody>
      </p:sp>
      <p:pic>
        <p:nvPicPr>
          <p:cNvPr id="5" name="图片 4"/>
          <p:cNvPicPr>
            <a:picLocks noChangeAspect="1"/>
          </p:cNvPicPr>
          <p:nvPr/>
        </p:nvPicPr>
        <p:blipFill>
          <a:blip r:embed="rId2"/>
          <a:stretch>
            <a:fillRect/>
          </a:stretch>
        </p:blipFill>
        <p:spPr>
          <a:xfrm>
            <a:off x="707570" y="2378896"/>
            <a:ext cx="3756986" cy="3962743"/>
          </a:xfrm>
          <a:prstGeom prst="rect">
            <a:avLst/>
          </a:prstGeom>
        </p:spPr>
      </p:pic>
      <p:pic>
        <p:nvPicPr>
          <p:cNvPr id="6" name="图片 5"/>
          <p:cNvPicPr>
            <a:picLocks noChangeAspect="1"/>
          </p:cNvPicPr>
          <p:nvPr/>
        </p:nvPicPr>
        <p:blipFill>
          <a:blip r:embed="rId3"/>
          <a:stretch>
            <a:fillRect/>
          </a:stretch>
        </p:blipFill>
        <p:spPr>
          <a:xfrm>
            <a:off x="4384364" y="2378896"/>
            <a:ext cx="6706181" cy="4198984"/>
          </a:xfrm>
          <a:prstGeom prst="rect">
            <a:avLst/>
          </a:prstGeom>
        </p:spPr>
      </p:pic>
      <p:pic>
        <p:nvPicPr>
          <p:cNvPr id="7" name="图片 6"/>
          <p:cNvPicPr>
            <a:picLocks noChangeAspect="1"/>
          </p:cNvPicPr>
          <p:nvPr/>
        </p:nvPicPr>
        <p:blipFill>
          <a:blip r:embed="rId4"/>
          <a:stretch>
            <a:fillRect/>
          </a:stretch>
        </p:blipFill>
        <p:spPr>
          <a:xfrm>
            <a:off x="8755564" y="3878536"/>
            <a:ext cx="2994920" cy="2911092"/>
          </a:xfrm>
          <a:prstGeom prst="rect">
            <a:avLst/>
          </a:prstGeom>
        </p:spPr>
      </p:pic>
      <p:sp>
        <p:nvSpPr>
          <p:cNvPr id="8" name="矩形 7"/>
          <p:cNvSpPr/>
          <p:nvPr/>
        </p:nvSpPr>
        <p:spPr>
          <a:xfrm>
            <a:off x="686986" y="2033494"/>
            <a:ext cx="10694377" cy="40011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比较一下有什么差异？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986" name="Text Box 2"/>
          <p:cNvSpPr txBox="1">
            <a:spLocks noChangeArrowheads="1"/>
          </p:cNvSpPr>
          <p:nvPr/>
        </p:nvSpPr>
        <p:spPr bwMode="auto">
          <a:xfrm>
            <a:off x="800917" y="3520340"/>
            <a:ext cx="17731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zh-CN" sz="2400" dirty="0">
                <a:latin typeface="微软雅黑" panose="020B0503020204020204" pitchFamily="34" charset="-122"/>
                <a:ea typeface="微软雅黑" panose="020B0503020204020204" pitchFamily="34" charset="-122"/>
              </a:rPr>
              <a:t>常量、变量与表达式</a:t>
            </a:r>
            <a:endParaRPr lang="en-US" altLang="zh-CN" sz="1600" dirty="0">
              <a:latin typeface="微软雅黑" panose="020B0503020204020204" pitchFamily="34" charset="-122"/>
              <a:ea typeface="微软雅黑" panose="020B0503020204020204" pitchFamily="34" charset="-122"/>
            </a:endParaRPr>
          </a:p>
        </p:txBody>
      </p:sp>
      <p:sp>
        <p:nvSpPr>
          <p:cNvPr id="2089987" name="Text Box 5"/>
          <p:cNvSpPr txBox="1">
            <a:spLocks noChangeArrowheads="1"/>
          </p:cNvSpPr>
          <p:nvPr/>
        </p:nvSpPr>
        <p:spPr bwMode="auto">
          <a:xfrm>
            <a:off x="3753457" y="1844675"/>
            <a:ext cx="7869237"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30000"/>
              </a:lnSpc>
              <a:buClr>
                <a:schemeClr val="tx1"/>
              </a:buClr>
              <a:buFont typeface="Wingdings" panose="05000000000000000000" pitchFamily="2" charset="2"/>
              <a:buChar char="u"/>
            </a:pPr>
            <a:r>
              <a:rPr kumimoji="0" lang="zh-CN" altLang="en-US" sz="1600" dirty="0">
                <a:ea typeface="宋体" pitchFamily="2" charset="-122"/>
              </a:rPr>
              <a:t>算术表达式示例。算术表达式的结果是一数值；</a:t>
            </a:r>
            <a:endParaRPr kumimoji="0" lang="en-US" altLang="zh-CN" sz="1600" dirty="0">
              <a:ea typeface="宋体" pitchFamily="2" charset="-122"/>
            </a:endParaRP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 A1 + (</a:t>
            </a:r>
            <a:r>
              <a:rPr lang="en-US" altLang="zh-CN" sz="2000" dirty="0" err="1">
                <a:ea typeface="宋体" pitchFamily="2" charset="-122"/>
              </a:rPr>
              <a:t>B2</a:t>
            </a:r>
            <a:r>
              <a:rPr lang="en-US" altLang="zh-CN" sz="2000" dirty="0">
                <a:ea typeface="宋体" pitchFamily="2" charset="-122"/>
              </a:rPr>
              <a:t> </a:t>
            </a:r>
            <a:r>
              <a:rPr lang="en-US" altLang="zh-CN" sz="2000" dirty="0">
                <a:latin typeface="宋体" pitchFamily="2" charset="-122"/>
                <a:ea typeface="宋体" pitchFamily="2" charset="-122"/>
              </a:rPr>
              <a:t>–</a:t>
            </a:r>
            <a:r>
              <a:rPr lang="en-US" altLang="zh-CN" sz="2000" dirty="0">
                <a:ea typeface="宋体" pitchFamily="2" charset="-122"/>
              </a:rPr>
              <a:t> </a:t>
            </a:r>
            <a:r>
              <a:rPr lang="en-US" altLang="zh-CN" sz="2000" dirty="0" err="1">
                <a:ea typeface="宋体" pitchFamily="2" charset="-122"/>
              </a:rPr>
              <a:t>x1</a:t>
            </a:r>
            <a:r>
              <a:rPr lang="en-US" altLang="zh-CN" sz="2000" dirty="0">
                <a:ea typeface="宋体" pitchFamily="2" charset="-122"/>
              </a:rPr>
              <a:t> + 76) * 3</a:t>
            </a: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a:t>
            </a:r>
            <a:r>
              <a:rPr lang="en-US" altLang="zh-CN" sz="2000" dirty="0" err="1">
                <a:ea typeface="宋体" pitchFamily="2" charset="-122"/>
              </a:rPr>
              <a:t>B2</a:t>
            </a:r>
            <a:r>
              <a:rPr lang="en-US" altLang="zh-CN" sz="2000" dirty="0">
                <a:ea typeface="宋体" pitchFamily="2" charset="-122"/>
              </a:rPr>
              <a:t> + </a:t>
            </a:r>
            <a:r>
              <a:rPr lang="en-US" altLang="zh-CN" sz="2000" dirty="0" err="1">
                <a:ea typeface="宋体" pitchFamily="2" charset="-122"/>
              </a:rPr>
              <a:t>yy4</a:t>
            </a:r>
            <a:r>
              <a:rPr lang="en-US" altLang="zh-CN" sz="2000" dirty="0">
                <a:ea typeface="宋体" pitchFamily="2" charset="-122"/>
              </a:rPr>
              <a:t>) / </a:t>
            </a:r>
            <a:r>
              <a:rPr lang="en-US" altLang="zh-CN" sz="2000" dirty="0" err="1">
                <a:ea typeface="宋体" pitchFamily="2" charset="-122"/>
              </a:rPr>
              <a:t>L3</a:t>
            </a:r>
            <a:r>
              <a:rPr lang="en-US" altLang="zh-CN" sz="2000" dirty="0">
                <a:ea typeface="宋体" pitchFamily="2" charset="-122"/>
              </a:rPr>
              <a:t> </a:t>
            </a:r>
            <a:r>
              <a:rPr lang="en-US" altLang="zh-CN" sz="2000" dirty="0">
                <a:latin typeface="宋体" pitchFamily="2" charset="-122"/>
                <a:ea typeface="宋体" pitchFamily="2" charset="-122"/>
              </a:rPr>
              <a:t>–</a:t>
            </a:r>
            <a:r>
              <a:rPr lang="en-US" altLang="zh-CN" sz="2000" dirty="0">
                <a:ea typeface="宋体" pitchFamily="2" charset="-122"/>
              </a:rPr>
              <a:t> </a:t>
            </a:r>
            <a:r>
              <a:rPr lang="en-US" altLang="zh-CN" sz="2000" dirty="0" err="1">
                <a:ea typeface="宋体" pitchFamily="2" charset="-122"/>
              </a:rPr>
              <a:t>xx3</a:t>
            </a:r>
            <a:endParaRPr lang="en-US" altLang="zh-CN" sz="2000" dirty="0">
              <a:ea typeface="宋体" pitchFamily="2" charset="-122"/>
            </a:endParaRPr>
          </a:p>
          <a:p>
            <a:pPr algn="just" eaLnBrk="1" hangingPunct="1">
              <a:lnSpc>
                <a:spcPct val="130000"/>
              </a:lnSpc>
              <a:buClr>
                <a:schemeClr val="tx1"/>
              </a:buClr>
              <a:buFont typeface="Wingdings" panose="05000000000000000000" pitchFamily="2" charset="2"/>
              <a:buChar char="u"/>
            </a:pPr>
            <a:r>
              <a:rPr lang="zh-CN" altLang="en-US" sz="1600" dirty="0">
                <a:ea typeface="宋体" pitchFamily="2" charset="-122"/>
              </a:rPr>
              <a:t>比较表达式示例。比较表达式的计算结果是逻辑</a:t>
            </a:r>
            <a:r>
              <a:rPr lang="zh-CN" altLang="en-US" sz="1600" dirty="0">
                <a:latin typeface="宋体" pitchFamily="2" charset="-122"/>
                <a:ea typeface="宋体" pitchFamily="2" charset="-122"/>
              </a:rPr>
              <a:t>“</a:t>
            </a:r>
            <a:r>
              <a:rPr lang="zh-CN" altLang="en-US" sz="1600" dirty="0">
                <a:ea typeface="宋体" pitchFamily="2" charset="-122"/>
              </a:rPr>
              <a:t>真</a:t>
            </a:r>
            <a:r>
              <a:rPr lang="zh-CN" altLang="en-US" sz="1600" dirty="0">
                <a:latin typeface="宋体" pitchFamily="2" charset="-122"/>
                <a:ea typeface="宋体" pitchFamily="2" charset="-122"/>
              </a:rPr>
              <a:t>”</a:t>
            </a:r>
            <a:r>
              <a:rPr lang="zh-CN" altLang="en-US" sz="1600" dirty="0">
                <a:ea typeface="宋体" pitchFamily="2" charset="-122"/>
              </a:rPr>
              <a:t>或</a:t>
            </a:r>
            <a:r>
              <a:rPr lang="zh-CN" altLang="en-US" sz="1600" dirty="0">
                <a:latin typeface="宋体" pitchFamily="2" charset="-122"/>
                <a:ea typeface="宋体" pitchFamily="2" charset="-122"/>
              </a:rPr>
              <a:t>“</a:t>
            </a:r>
            <a:r>
              <a:rPr lang="zh-CN" altLang="en-US" sz="1600" dirty="0">
                <a:ea typeface="宋体" pitchFamily="2" charset="-122"/>
              </a:rPr>
              <a:t>假</a:t>
            </a:r>
            <a:r>
              <a:rPr lang="zh-CN" altLang="en-US" sz="1600" dirty="0">
                <a:latin typeface="宋体" pitchFamily="2" charset="-122"/>
                <a:ea typeface="宋体" pitchFamily="2" charset="-122"/>
              </a:rPr>
              <a:t>”</a:t>
            </a:r>
            <a:r>
              <a:rPr lang="zh-CN" altLang="en-US" sz="1600" dirty="0">
                <a:ea typeface="宋体" pitchFamily="2" charset="-122"/>
              </a:rPr>
              <a:t>；</a:t>
            </a:r>
            <a:endParaRPr lang="en-US" altLang="zh-CN" sz="1600" dirty="0">
              <a:ea typeface="宋体" pitchFamily="2" charset="-122"/>
            </a:endParaRP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Grade &lt; 90</a:t>
            </a: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Grade &gt;= 70</a:t>
            </a:r>
          </a:p>
          <a:p>
            <a:pPr lvl="2" algn="just" eaLnBrk="1" hangingPunct="1">
              <a:lnSpc>
                <a:spcPct val="130000"/>
              </a:lnSpc>
              <a:buClr>
                <a:schemeClr val="tx1"/>
              </a:buClr>
              <a:buFont typeface="Wingdings" panose="05000000000000000000" pitchFamily="2" charset="2"/>
              <a:buNone/>
            </a:pPr>
            <a:r>
              <a:rPr lang="en-US" altLang="zh-CN" sz="2000" dirty="0" err="1">
                <a:ea typeface="宋体" pitchFamily="2" charset="-122"/>
              </a:rPr>
              <a:t>N4</a:t>
            </a:r>
            <a:r>
              <a:rPr lang="en-US" altLang="zh-CN" sz="2000" dirty="0">
                <a:ea typeface="宋体" pitchFamily="2" charset="-122"/>
              </a:rPr>
              <a:t> &lt; A1 + </a:t>
            </a:r>
            <a:r>
              <a:rPr lang="en-US" altLang="zh-CN" sz="2000" dirty="0" err="1">
                <a:ea typeface="宋体" pitchFamily="2" charset="-122"/>
              </a:rPr>
              <a:t>B2</a:t>
            </a:r>
            <a:r>
              <a:rPr lang="en-US" altLang="zh-CN" sz="2000" dirty="0">
                <a:ea typeface="宋体" pitchFamily="2" charset="-122"/>
              </a:rPr>
              <a:t> + 20 </a:t>
            </a:r>
            <a:r>
              <a:rPr lang="en-US" altLang="zh-CN" sz="1600" dirty="0">
                <a:ea typeface="宋体" pitchFamily="2" charset="-122"/>
              </a:rPr>
              <a:t>   </a:t>
            </a:r>
            <a:r>
              <a:rPr lang="en-US" altLang="zh-CN" sz="1200" dirty="0">
                <a:ea typeface="宋体" pitchFamily="2" charset="-122"/>
              </a:rPr>
              <a:t>//</a:t>
            </a:r>
            <a:r>
              <a:rPr lang="zh-CN" altLang="en-US" sz="1200" dirty="0">
                <a:ea typeface="宋体" pitchFamily="2" charset="-122"/>
              </a:rPr>
              <a:t>注：</a:t>
            </a:r>
            <a:r>
              <a:rPr lang="en-US" altLang="zh-CN" sz="1200" dirty="0" err="1">
                <a:ea typeface="宋体" pitchFamily="2" charset="-122"/>
              </a:rPr>
              <a:t>A1+B2+20</a:t>
            </a:r>
            <a:r>
              <a:rPr lang="zh-CN" altLang="en-US" sz="1200" dirty="0">
                <a:ea typeface="宋体" pitchFamily="2" charset="-122"/>
              </a:rPr>
              <a:t>为算术表达式，计算完后再与</a:t>
            </a:r>
            <a:r>
              <a:rPr lang="en-US" altLang="zh-CN" sz="1200" dirty="0" err="1">
                <a:ea typeface="宋体" pitchFamily="2" charset="-122"/>
              </a:rPr>
              <a:t>N4</a:t>
            </a:r>
            <a:r>
              <a:rPr lang="zh-CN" altLang="en-US" sz="1200" dirty="0">
                <a:ea typeface="宋体" pitchFamily="2" charset="-122"/>
              </a:rPr>
              <a:t>的值进行比较</a:t>
            </a:r>
            <a:r>
              <a:rPr lang="en-US" altLang="zh-CN" sz="1200" dirty="0">
                <a:ea typeface="宋体" pitchFamily="2" charset="-122"/>
              </a:rPr>
              <a:t> </a:t>
            </a:r>
          </a:p>
          <a:p>
            <a:pPr algn="just" eaLnBrk="1" hangingPunct="1">
              <a:lnSpc>
                <a:spcPct val="130000"/>
              </a:lnSpc>
              <a:buClr>
                <a:schemeClr val="tx1"/>
              </a:buClr>
              <a:buFont typeface="Wingdings" panose="05000000000000000000" pitchFamily="2" charset="2"/>
              <a:buChar char="u"/>
            </a:pPr>
            <a:r>
              <a:rPr lang="zh-CN" altLang="en-US" sz="1600" dirty="0">
                <a:ea typeface="宋体" pitchFamily="2" charset="-122"/>
              </a:rPr>
              <a:t>逻辑表达式示例。逻辑表达式的计算结果是逻辑</a:t>
            </a:r>
            <a:r>
              <a:rPr lang="zh-CN" altLang="en-US" sz="1600" dirty="0">
                <a:latin typeface="宋体" pitchFamily="2" charset="-122"/>
                <a:ea typeface="宋体" pitchFamily="2" charset="-122"/>
              </a:rPr>
              <a:t>“</a:t>
            </a:r>
            <a:r>
              <a:rPr lang="zh-CN" altLang="en-US" sz="1600" dirty="0">
                <a:ea typeface="宋体" pitchFamily="2" charset="-122"/>
              </a:rPr>
              <a:t>真</a:t>
            </a:r>
            <a:r>
              <a:rPr lang="zh-CN" altLang="en-US" sz="1600" dirty="0">
                <a:latin typeface="宋体" pitchFamily="2" charset="-122"/>
                <a:ea typeface="宋体" pitchFamily="2" charset="-122"/>
              </a:rPr>
              <a:t>”</a:t>
            </a:r>
            <a:r>
              <a:rPr lang="zh-CN" altLang="en-US" sz="1600" dirty="0">
                <a:ea typeface="宋体" pitchFamily="2" charset="-122"/>
              </a:rPr>
              <a:t>或</a:t>
            </a:r>
            <a:r>
              <a:rPr lang="zh-CN" altLang="en-US" sz="1600" dirty="0">
                <a:latin typeface="宋体" pitchFamily="2" charset="-122"/>
                <a:ea typeface="宋体" pitchFamily="2" charset="-122"/>
              </a:rPr>
              <a:t>“</a:t>
            </a:r>
            <a:r>
              <a:rPr lang="zh-CN" altLang="en-US" sz="1600" dirty="0">
                <a:ea typeface="宋体" pitchFamily="2" charset="-122"/>
              </a:rPr>
              <a:t>假</a:t>
            </a:r>
            <a:r>
              <a:rPr lang="zh-CN" altLang="en-US" sz="1600" dirty="0">
                <a:latin typeface="宋体" pitchFamily="2" charset="-122"/>
                <a:ea typeface="宋体" pitchFamily="2" charset="-122"/>
              </a:rPr>
              <a:t>”</a:t>
            </a:r>
            <a:r>
              <a:rPr lang="zh-CN" altLang="en-US" sz="1600" dirty="0">
                <a:ea typeface="宋体" pitchFamily="2" charset="-122"/>
              </a:rPr>
              <a:t>；</a:t>
            </a:r>
            <a:endParaRPr lang="en-US" altLang="zh-CN" sz="1600" dirty="0">
              <a:ea typeface="宋体" pitchFamily="2" charset="-122"/>
            </a:endParaRPr>
          </a:p>
          <a:p>
            <a:pPr lvl="2" eaLnBrk="1" hangingPunct="1">
              <a:lnSpc>
                <a:spcPct val="130000"/>
              </a:lnSpc>
            </a:pPr>
            <a:r>
              <a:rPr lang="en-US" altLang="zh-CN" sz="2000" dirty="0">
                <a:ea typeface="宋体" pitchFamily="2" charset="-122"/>
              </a:rPr>
              <a:t>(</a:t>
            </a:r>
            <a:r>
              <a:rPr lang="en-US" altLang="zh-CN" sz="2000" dirty="0" err="1">
                <a:ea typeface="宋体" pitchFamily="2" charset="-122"/>
              </a:rPr>
              <a:t>x1</a:t>
            </a:r>
            <a:r>
              <a:rPr lang="en-US" altLang="zh-CN" sz="2000" dirty="0">
                <a:ea typeface="宋体" pitchFamily="2" charset="-122"/>
              </a:rPr>
              <a:t> &gt;= A1) &amp;&amp; (</a:t>
            </a:r>
            <a:r>
              <a:rPr lang="en-US" altLang="zh-CN" sz="2000" dirty="0" err="1">
                <a:ea typeface="宋体" pitchFamily="2" charset="-122"/>
              </a:rPr>
              <a:t>B2</a:t>
            </a:r>
            <a:r>
              <a:rPr lang="en-US" altLang="zh-CN" sz="2000" dirty="0">
                <a:ea typeface="宋体" pitchFamily="2" charset="-122"/>
              </a:rPr>
              <a:t> &lt;&gt; </a:t>
            </a:r>
            <a:r>
              <a:rPr lang="en-US" altLang="zh-CN" sz="2000" dirty="0" err="1">
                <a:ea typeface="宋体" pitchFamily="2" charset="-122"/>
              </a:rPr>
              <a:t>y2</a:t>
            </a:r>
            <a:r>
              <a:rPr lang="en-US" altLang="zh-CN" sz="2000" dirty="0">
                <a:ea typeface="宋体" pitchFamily="2" charset="-122"/>
              </a:rPr>
              <a:t>)</a:t>
            </a:r>
          </a:p>
          <a:p>
            <a:pPr algn="just" eaLnBrk="1" hangingPunct="1">
              <a:lnSpc>
                <a:spcPct val="130000"/>
              </a:lnSpc>
              <a:buClr>
                <a:schemeClr val="tx1"/>
              </a:buClr>
              <a:buFont typeface="Wingdings" panose="05000000000000000000" pitchFamily="2" charset="2"/>
              <a:buChar char="u"/>
            </a:pPr>
            <a:r>
              <a:rPr kumimoji="0" lang="zh-CN" altLang="en-US" sz="2000" dirty="0">
                <a:solidFill>
                  <a:srgbClr val="FF0066"/>
                </a:solidFill>
                <a:ea typeface="宋体" pitchFamily="2" charset="-122"/>
              </a:rPr>
              <a:t>将表达式的计算结果赋值给一变量：赋值语句</a:t>
            </a:r>
            <a:endParaRPr kumimoji="0" lang="en-US" altLang="zh-CN" sz="2000" dirty="0">
              <a:solidFill>
                <a:srgbClr val="FF0066"/>
              </a:solidFill>
              <a:ea typeface="宋体" pitchFamily="2" charset="-122"/>
            </a:endParaRPr>
          </a:p>
          <a:p>
            <a:pPr lvl="2" algn="just" eaLnBrk="1" hangingPunct="1">
              <a:lnSpc>
                <a:spcPct val="130000"/>
              </a:lnSpc>
              <a:buClr>
                <a:schemeClr val="tx1"/>
              </a:buClr>
              <a:buFont typeface="Wingdings" panose="05000000000000000000" pitchFamily="2" charset="2"/>
              <a:buNone/>
            </a:pPr>
            <a:r>
              <a:rPr kumimoji="0" lang="en-US" altLang="zh-CN" sz="2000" dirty="0">
                <a:ea typeface="宋体" pitchFamily="2" charset="-122"/>
              </a:rPr>
              <a:t>M  =  X&gt;</a:t>
            </a:r>
            <a:r>
              <a:rPr kumimoji="0" lang="en-US" altLang="zh-CN" sz="2000" dirty="0" err="1">
                <a:ea typeface="宋体" pitchFamily="2" charset="-122"/>
              </a:rPr>
              <a:t>Y+50</a:t>
            </a:r>
            <a:r>
              <a:rPr kumimoji="0" lang="zh-CN" altLang="en-US" sz="2000" dirty="0">
                <a:ea typeface="宋体" pitchFamily="2" charset="-122"/>
              </a:rPr>
              <a:t>； </a:t>
            </a: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M  =  (X&gt;Y) AND (X&lt;Y)</a:t>
            </a:r>
            <a:r>
              <a:rPr lang="zh-CN" altLang="en-US" sz="2000" dirty="0">
                <a:ea typeface="宋体" pitchFamily="2" charset="-122"/>
              </a:rPr>
              <a:t>；</a:t>
            </a:r>
          </a:p>
          <a:p>
            <a:pPr lvl="2" algn="just" eaLnBrk="1" hangingPunct="1">
              <a:lnSpc>
                <a:spcPct val="130000"/>
              </a:lnSpc>
              <a:buClr>
                <a:schemeClr val="tx1"/>
              </a:buClr>
              <a:buFont typeface="Wingdings" panose="05000000000000000000" pitchFamily="2" charset="2"/>
              <a:buNone/>
            </a:pPr>
            <a:r>
              <a:rPr lang="en-US" altLang="zh-CN" sz="2000" dirty="0">
                <a:ea typeface="宋体" pitchFamily="2" charset="-122"/>
              </a:rPr>
              <a:t>K  = K + ( 5 * K)</a:t>
            </a:r>
            <a:r>
              <a:rPr lang="zh-CN" altLang="en-US" sz="2000" dirty="0">
                <a:ea typeface="宋体" pitchFamily="2" charset="-122"/>
              </a:rPr>
              <a:t>；</a:t>
            </a:r>
          </a:p>
        </p:txBody>
      </p:sp>
      <p:sp>
        <p:nvSpPr>
          <p:cNvPr id="2089988" name="Text Box 16"/>
          <p:cNvSpPr txBox="1">
            <a:spLocks noChangeArrowheads="1"/>
          </p:cNvSpPr>
          <p:nvPr/>
        </p:nvSpPr>
        <p:spPr bwMode="auto">
          <a:xfrm>
            <a:off x="1687514" y="1"/>
            <a:ext cx="43156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高级语言</a:t>
            </a:r>
            <a:r>
              <a:rPr lang="en-US" altLang="zh-CN" sz="2000">
                <a:solidFill>
                  <a:schemeClr val="bg1"/>
                </a:solidFill>
                <a:ea typeface="华文中宋" panose="02010600040101010101" pitchFamily="2" charset="-122"/>
              </a:rPr>
              <a:t>(</a:t>
            </a:r>
            <a:r>
              <a:rPr lang="zh-CN" altLang="en-US" sz="2000">
                <a:solidFill>
                  <a:schemeClr val="bg1"/>
                </a:solidFill>
                <a:ea typeface="华文中宋" panose="02010600040101010101" pitchFamily="2" charset="-122"/>
              </a:rPr>
              <a:t>程序</a:t>
            </a:r>
            <a:r>
              <a:rPr lang="en-US" altLang="zh-CN" sz="2000">
                <a:solidFill>
                  <a:schemeClr val="bg1"/>
                </a:solidFill>
                <a:ea typeface="华文中宋" panose="02010600040101010101" pitchFamily="2" charset="-122"/>
              </a:rPr>
              <a:t>)</a:t>
            </a:r>
            <a:r>
              <a:rPr lang="zh-CN" altLang="en-US" sz="2000">
                <a:solidFill>
                  <a:schemeClr val="bg1"/>
                </a:solidFill>
                <a:ea typeface="华文中宋" panose="02010600040101010101" pitchFamily="2" charset="-122"/>
              </a:rPr>
              <a:t>的基本构成要素</a:t>
            </a:r>
          </a:p>
          <a:p>
            <a:pPr eaLnBrk="1" hangingPunct="1">
              <a:lnSpc>
                <a:spcPct val="120000"/>
              </a:lnSpc>
            </a:pPr>
            <a:r>
              <a:rPr lang="en-US" altLang="zh-CN" sz="2000">
                <a:solidFill>
                  <a:schemeClr val="bg1"/>
                </a:solidFill>
                <a:ea typeface="华文中宋" panose="02010600040101010101" pitchFamily="2" charset="-122"/>
              </a:rPr>
              <a:t>(2)</a:t>
            </a:r>
            <a:r>
              <a:rPr lang="zh-CN" altLang="en-US" sz="2000">
                <a:solidFill>
                  <a:schemeClr val="bg1"/>
                </a:solidFill>
                <a:ea typeface="华文中宋" panose="02010600040101010101" pitchFamily="2" charset="-122"/>
              </a:rPr>
              <a:t>你能够书写三种形式的表达式吗</a:t>
            </a:r>
            <a:r>
              <a:rPr lang="en-US" altLang="zh-CN" sz="2000">
                <a:solidFill>
                  <a:schemeClr val="bg1"/>
                </a:solidFill>
                <a:ea typeface="华文中宋" panose="02010600040101010101" pitchFamily="2" charset="-122"/>
              </a:rPr>
              <a:t>? </a:t>
            </a:r>
          </a:p>
        </p:txBody>
      </p:sp>
      <p:sp>
        <p:nvSpPr>
          <p:cNvPr id="9"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高级语言程序的基本语法要素</a:t>
            </a:r>
          </a:p>
        </p:txBody>
      </p:sp>
      <p:sp>
        <p:nvSpPr>
          <p:cNvPr id="10" name="圆角矩形 9"/>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基本要素：（</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）常量、变量与（</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89987">
                                            <p:txEl>
                                              <p:pRg st="0" end="0"/>
                                            </p:txEl>
                                          </p:spTgt>
                                        </p:tgtEl>
                                        <p:attrNameLst>
                                          <p:attrName>style.visibility</p:attrName>
                                        </p:attrNameLst>
                                      </p:cBhvr>
                                      <p:to>
                                        <p:strVal val="visible"/>
                                      </p:to>
                                    </p:set>
                                    <p:anim calcmode="lin" valueType="num">
                                      <p:cBhvr additive="base">
                                        <p:cTn id="7" dur="500" fill="hold"/>
                                        <p:tgtEl>
                                          <p:spTgt spid="2089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89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89987">
                                            <p:txEl>
                                              <p:pRg st="1" end="1"/>
                                            </p:txEl>
                                          </p:spTgt>
                                        </p:tgtEl>
                                        <p:attrNameLst>
                                          <p:attrName>style.visibility</p:attrName>
                                        </p:attrNameLst>
                                      </p:cBhvr>
                                      <p:to>
                                        <p:strVal val="visible"/>
                                      </p:to>
                                    </p:set>
                                    <p:anim calcmode="lin" valueType="num">
                                      <p:cBhvr additive="base">
                                        <p:cTn id="13" dur="500" fill="hold"/>
                                        <p:tgtEl>
                                          <p:spTgt spid="2089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89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89987">
                                            <p:txEl>
                                              <p:pRg st="2" end="2"/>
                                            </p:txEl>
                                          </p:spTgt>
                                        </p:tgtEl>
                                        <p:attrNameLst>
                                          <p:attrName>style.visibility</p:attrName>
                                        </p:attrNameLst>
                                      </p:cBhvr>
                                      <p:to>
                                        <p:strVal val="visible"/>
                                      </p:to>
                                    </p:set>
                                    <p:anim calcmode="lin" valueType="num">
                                      <p:cBhvr additive="base">
                                        <p:cTn id="19" dur="500" fill="hold"/>
                                        <p:tgtEl>
                                          <p:spTgt spid="20899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89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89987">
                                            <p:txEl>
                                              <p:pRg st="3" end="3"/>
                                            </p:txEl>
                                          </p:spTgt>
                                        </p:tgtEl>
                                        <p:attrNameLst>
                                          <p:attrName>style.visibility</p:attrName>
                                        </p:attrNameLst>
                                      </p:cBhvr>
                                      <p:to>
                                        <p:strVal val="visible"/>
                                      </p:to>
                                    </p:set>
                                    <p:anim calcmode="lin" valueType="num">
                                      <p:cBhvr additive="base">
                                        <p:cTn id="25" dur="500" fill="hold"/>
                                        <p:tgtEl>
                                          <p:spTgt spid="20899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89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89987">
                                            <p:txEl>
                                              <p:pRg st="4" end="4"/>
                                            </p:txEl>
                                          </p:spTgt>
                                        </p:tgtEl>
                                        <p:attrNameLst>
                                          <p:attrName>style.visibility</p:attrName>
                                        </p:attrNameLst>
                                      </p:cBhvr>
                                      <p:to>
                                        <p:strVal val="visible"/>
                                      </p:to>
                                    </p:set>
                                    <p:anim calcmode="lin" valueType="num">
                                      <p:cBhvr additive="base">
                                        <p:cTn id="31" dur="500" fill="hold"/>
                                        <p:tgtEl>
                                          <p:spTgt spid="20899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899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89987">
                                            <p:txEl>
                                              <p:pRg st="5" end="5"/>
                                            </p:txEl>
                                          </p:spTgt>
                                        </p:tgtEl>
                                        <p:attrNameLst>
                                          <p:attrName>style.visibility</p:attrName>
                                        </p:attrNameLst>
                                      </p:cBhvr>
                                      <p:to>
                                        <p:strVal val="visible"/>
                                      </p:to>
                                    </p:set>
                                    <p:anim calcmode="lin" valueType="num">
                                      <p:cBhvr additive="base">
                                        <p:cTn id="37" dur="500" fill="hold"/>
                                        <p:tgtEl>
                                          <p:spTgt spid="20899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899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089987">
                                            <p:txEl>
                                              <p:pRg st="6" end="6"/>
                                            </p:txEl>
                                          </p:spTgt>
                                        </p:tgtEl>
                                        <p:attrNameLst>
                                          <p:attrName>style.visibility</p:attrName>
                                        </p:attrNameLst>
                                      </p:cBhvr>
                                      <p:to>
                                        <p:strVal val="visible"/>
                                      </p:to>
                                    </p:set>
                                    <p:anim calcmode="lin" valueType="num">
                                      <p:cBhvr additive="base">
                                        <p:cTn id="43" dur="500" fill="hold"/>
                                        <p:tgtEl>
                                          <p:spTgt spid="208998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899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89987">
                                            <p:txEl>
                                              <p:pRg st="7" end="7"/>
                                            </p:txEl>
                                          </p:spTgt>
                                        </p:tgtEl>
                                        <p:attrNameLst>
                                          <p:attrName>style.visibility</p:attrName>
                                        </p:attrNameLst>
                                      </p:cBhvr>
                                      <p:to>
                                        <p:strVal val="visible"/>
                                      </p:to>
                                    </p:set>
                                    <p:anim calcmode="lin" valueType="num">
                                      <p:cBhvr additive="base">
                                        <p:cTn id="49" dur="500" fill="hold"/>
                                        <p:tgtEl>
                                          <p:spTgt spid="208998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8998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089987">
                                            <p:txEl>
                                              <p:pRg st="8" end="8"/>
                                            </p:txEl>
                                          </p:spTgt>
                                        </p:tgtEl>
                                        <p:attrNameLst>
                                          <p:attrName>style.visibility</p:attrName>
                                        </p:attrNameLst>
                                      </p:cBhvr>
                                      <p:to>
                                        <p:strVal val="visible"/>
                                      </p:to>
                                    </p:set>
                                    <p:anim calcmode="lin" valueType="num">
                                      <p:cBhvr additive="base">
                                        <p:cTn id="55" dur="500" fill="hold"/>
                                        <p:tgtEl>
                                          <p:spTgt spid="208998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08998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089987">
                                            <p:txEl>
                                              <p:pRg st="9" end="9"/>
                                            </p:txEl>
                                          </p:spTgt>
                                        </p:tgtEl>
                                        <p:attrNameLst>
                                          <p:attrName>style.visibility</p:attrName>
                                        </p:attrNameLst>
                                      </p:cBhvr>
                                      <p:to>
                                        <p:strVal val="visible"/>
                                      </p:to>
                                    </p:set>
                                    <p:anim calcmode="lin" valueType="num">
                                      <p:cBhvr additive="base">
                                        <p:cTn id="61" dur="500" fill="hold"/>
                                        <p:tgtEl>
                                          <p:spTgt spid="208998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08998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089987">
                                            <p:txEl>
                                              <p:pRg st="10" end="10"/>
                                            </p:txEl>
                                          </p:spTgt>
                                        </p:tgtEl>
                                        <p:attrNameLst>
                                          <p:attrName>style.visibility</p:attrName>
                                        </p:attrNameLst>
                                      </p:cBhvr>
                                      <p:to>
                                        <p:strVal val="visible"/>
                                      </p:to>
                                    </p:set>
                                    <p:anim calcmode="lin" valueType="num">
                                      <p:cBhvr additive="base">
                                        <p:cTn id="67" dur="500" fill="hold"/>
                                        <p:tgtEl>
                                          <p:spTgt spid="2089987">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08998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089987">
                                            <p:txEl>
                                              <p:pRg st="11" end="11"/>
                                            </p:txEl>
                                          </p:spTgt>
                                        </p:tgtEl>
                                        <p:attrNameLst>
                                          <p:attrName>style.visibility</p:attrName>
                                        </p:attrNameLst>
                                      </p:cBhvr>
                                      <p:to>
                                        <p:strVal val="visible"/>
                                      </p:to>
                                    </p:set>
                                    <p:anim calcmode="lin" valueType="num">
                                      <p:cBhvr additive="base">
                                        <p:cTn id="73" dur="500" fill="hold"/>
                                        <p:tgtEl>
                                          <p:spTgt spid="2089987">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08998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089987">
                                            <p:txEl>
                                              <p:pRg st="12" end="12"/>
                                            </p:txEl>
                                          </p:spTgt>
                                        </p:tgtEl>
                                        <p:attrNameLst>
                                          <p:attrName>style.visibility</p:attrName>
                                        </p:attrNameLst>
                                      </p:cBhvr>
                                      <p:to>
                                        <p:strVal val="visible"/>
                                      </p:to>
                                    </p:set>
                                    <p:anim calcmode="lin" valueType="num">
                                      <p:cBhvr additive="base">
                                        <p:cTn id="79" dur="500" fill="hold"/>
                                        <p:tgtEl>
                                          <p:spTgt spid="2089987">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08998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6130" name="Rectangle 2"/>
          <p:cNvSpPr>
            <a:spLocks noChangeArrowheads="1"/>
          </p:cNvSpPr>
          <p:nvPr/>
        </p:nvSpPr>
        <p:spPr bwMode="auto">
          <a:xfrm>
            <a:off x="7868097" y="1954982"/>
            <a:ext cx="3082925" cy="476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lnSpc>
                <a:spcPts val="2800"/>
              </a:lnSpc>
            </a:pPr>
            <a:r>
              <a:rPr lang="en-US" altLang="zh-CN" sz="2400" dirty="0">
                <a:cs typeface="Times New Roman" panose="02020503050405090304" pitchFamily="18" charset="0"/>
              </a:rPr>
              <a:t>Y = 50;</a:t>
            </a:r>
          </a:p>
          <a:p>
            <a:pPr eaLnBrk="0" hangingPunct="0">
              <a:lnSpc>
                <a:spcPts val="2800"/>
              </a:lnSpc>
            </a:pPr>
            <a:r>
              <a:rPr lang="en-US" altLang="zh-CN" sz="2400" dirty="0">
                <a:cs typeface="Times New Roman" panose="02020503050405090304" pitchFamily="18" charset="0"/>
              </a:rPr>
              <a:t>Z = 80; </a:t>
            </a:r>
          </a:p>
          <a:p>
            <a:pPr eaLnBrk="0" hangingPunct="0">
              <a:lnSpc>
                <a:spcPts val="2800"/>
              </a:lnSpc>
            </a:pPr>
            <a:r>
              <a:rPr lang="en-US" altLang="zh-CN" sz="2400" dirty="0">
                <a:cs typeface="Times New Roman" panose="02020503050405090304" pitchFamily="18" charset="0"/>
              </a:rPr>
              <a:t>X = 30;</a:t>
            </a:r>
          </a:p>
          <a:p>
            <a:pPr eaLnBrk="0" hangingPunct="0">
              <a:lnSpc>
                <a:spcPts val="2800"/>
              </a:lnSpc>
            </a:pPr>
            <a:r>
              <a:rPr lang="en-US" altLang="zh-CN" sz="2400" dirty="0">
                <a:cs typeface="Times New Roman" panose="02020503050405090304" pitchFamily="18" charset="0"/>
              </a:rPr>
              <a:t>X = Z + Y;	</a:t>
            </a:r>
          </a:p>
          <a:p>
            <a:pPr eaLnBrk="0" hangingPunct="0">
              <a:lnSpc>
                <a:spcPts val="2800"/>
              </a:lnSpc>
            </a:pPr>
            <a:r>
              <a:rPr lang="en-US" altLang="zh-CN" sz="2400" dirty="0">
                <a:solidFill>
                  <a:schemeClr val="accent2"/>
                </a:solidFill>
                <a:cs typeface="Times New Roman" panose="02020503050405090304" pitchFamily="18" charset="0"/>
              </a:rPr>
              <a:t>If  Y &gt; Z</a:t>
            </a:r>
            <a:r>
              <a:rPr lang="zh-CN" altLang="en-US" sz="2400" dirty="0">
                <a:solidFill>
                  <a:schemeClr val="accent2"/>
                </a:solidFill>
                <a:cs typeface="Times New Roman" panose="02020503050405090304" pitchFamily="18" charset="0"/>
              </a:rPr>
              <a:t>　</a:t>
            </a:r>
            <a:r>
              <a:rPr lang="en-US" altLang="zh-CN" sz="2400" dirty="0">
                <a:solidFill>
                  <a:schemeClr val="accent2"/>
                </a:solidFill>
                <a:cs typeface="Times New Roman" panose="02020503050405090304" pitchFamily="18" charset="0"/>
              </a:rPr>
              <a:t>{ </a:t>
            </a:r>
          </a:p>
          <a:p>
            <a:pPr eaLnBrk="0" hangingPunct="0">
              <a:lnSpc>
                <a:spcPts val="2800"/>
              </a:lnSpc>
            </a:pPr>
            <a:r>
              <a:rPr lang="en-US" altLang="zh-CN" sz="2400" dirty="0">
                <a:solidFill>
                  <a:schemeClr val="accent2"/>
                </a:solidFill>
                <a:cs typeface="Times New Roman" panose="02020503050405090304" pitchFamily="18" charset="0"/>
              </a:rPr>
              <a:t>      X = X - Y;  }</a:t>
            </a:r>
            <a:endParaRPr lang="en-US" altLang="zh-CN" sz="2400" b="0" dirty="0">
              <a:solidFill>
                <a:schemeClr val="accent2"/>
              </a:solidFill>
              <a:cs typeface="Times New Roman" panose="02020503050405090304" pitchFamily="18" charset="0"/>
            </a:endParaRPr>
          </a:p>
          <a:p>
            <a:pPr eaLnBrk="0" hangingPunct="0">
              <a:lnSpc>
                <a:spcPts val="2800"/>
              </a:lnSpc>
            </a:pPr>
            <a:r>
              <a:rPr lang="en-US" altLang="zh-CN" sz="2400" dirty="0">
                <a:solidFill>
                  <a:schemeClr val="accent2"/>
                </a:solidFill>
                <a:cs typeface="Times New Roman" panose="02020503050405090304" pitchFamily="18" charset="0"/>
              </a:rPr>
              <a:t>Else { </a:t>
            </a:r>
          </a:p>
          <a:p>
            <a:pPr eaLnBrk="0" hangingPunct="0">
              <a:lnSpc>
                <a:spcPts val="2800"/>
              </a:lnSpc>
            </a:pPr>
            <a:r>
              <a:rPr lang="en-US" altLang="zh-CN" sz="2400" dirty="0">
                <a:solidFill>
                  <a:schemeClr val="accent2"/>
                </a:solidFill>
                <a:cs typeface="Times New Roman" panose="02020503050405090304" pitchFamily="18" charset="0"/>
              </a:rPr>
              <a:t>      X= X - Z;   }</a:t>
            </a:r>
            <a:endParaRPr lang="en-US" altLang="zh-CN" sz="2400" b="0" dirty="0">
              <a:solidFill>
                <a:schemeClr val="accent2"/>
              </a:solidFill>
              <a:cs typeface="Times New Roman" panose="02020503050405090304" pitchFamily="18" charset="0"/>
            </a:endParaRPr>
          </a:p>
          <a:p>
            <a:pPr eaLnBrk="0" hangingPunct="0">
              <a:lnSpc>
                <a:spcPts val="2800"/>
              </a:lnSpc>
            </a:pPr>
            <a:r>
              <a:rPr lang="en-US" altLang="zh-CN" sz="2400" dirty="0">
                <a:cs typeface="Times New Roman" panose="02020503050405090304" pitchFamily="18" charset="0"/>
              </a:rPr>
              <a:t>X = X + Y;	</a:t>
            </a:r>
          </a:p>
          <a:p>
            <a:pPr eaLnBrk="0" hangingPunct="0">
              <a:lnSpc>
                <a:spcPts val="2800"/>
              </a:lnSpc>
            </a:pPr>
            <a:r>
              <a:rPr lang="en-US" altLang="zh-CN" sz="2400" dirty="0">
                <a:solidFill>
                  <a:schemeClr val="accent2"/>
                </a:solidFill>
                <a:cs typeface="Times New Roman" panose="02020503050405090304" pitchFamily="18" charset="0"/>
              </a:rPr>
              <a:t>If  X &gt; Z  {  X = Y; } </a:t>
            </a:r>
          </a:p>
          <a:p>
            <a:pPr eaLnBrk="0" hangingPunct="0">
              <a:lnSpc>
                <a:spcPts val="2800"/>
              </a:lnSpc>
            </a:pPr>
            <a:r>
              <a:rPr lang="en-US" altLang="zh-CN" sz="2400" dirty="0">
                <a:cs typeface="Times New Roman" panose="02020503050405090304" pitchFamily="18" charset="0"/>
              </a:rPr>
              <a:t>X = X - Z; </a:t>
            </a:r>
          </a:p>
          <a:p>
            <a:pPr eaLnBrk="0" hangingPunct="0">
              <a:lnSpc>
                <a:spcPts val="2800"/>
              </a:lnSpc>
            </a:pPr>
            <a:r>
              <a:rPr lang="en-US" altLang="zh-CN" sz="2400" dirty="0">
                <a:solidFill>
                  <a:schemeClr val="accent2"/>
                </a:solidFill>
                <a:cs typeface="Times New Roman" panose="02020503050405090304" pitchFamily="18" charset="0"/>
              </a:rPr>
              <a:t>If  X&gt;Y</a:t>
            </a:r>
            <a:endParaRPr lang="en-US" altLang="zh-CN" sz="2400" b="0" dirty="0">
              <a:solidFill>
                <a:schemeClr val="accent2"/>
              </a:solidFill>
              <a:cs typeface="Times New Roman" panose="02020503050405090304" pitchFamily="18" charset="0"/>
            </a:endParaRPr>
          </a:p>
          <a:p>
            <a:pPr eaLnBrk="0" hangingPunct="0">
              <a:lnSpc>
                <a:spcPts val="2800"/>
              </a:lnSpc>
            </a:pPr>
            <a:r>
              <a:rPr lang="en-US" altLang="zh-CN" sz="2400" dirty="0">
                <a:solidFill>
                  <a:schemeClr val="accent2"/>
                </a:solidFill>
                <a:cs typeface="Times New Roman" panose="02020503050405090304" pitchFamily="18" charset="0"/>
              </a:rPr>
              <a:t>{ X = X - Y;   }</a:t>
            </a:r>
          </a:p>
        </p:txBody>
      </p:sp>
      <p:grpSp>
        <p:nvGrpSpPr>
          <p:cNvPr id="2096133" name="Group 5"/>
          <p:cNvGrpSpPr/>
          <p:nvPr/>
        </p:nvGrpSpPr>
        <p:grpSpPr bwMode="auto">
          <a:xfrm>
            <a:off x="4741721" y="5046343"/>
            <a:ext cx="1887538" cy="396875"/>
            <a:chOff x="4204" y="1510"/>
            <a:chExt cx="1189" cy="250"/>
          </a:xfrm>
        </p:grpSpPr>
        <p:sp>
          <p:nvSpPr>
            <p:cNvPr id="2096134" name="Rectangle 6"/>
            <p:cNvSpPr>
              <a:spLocks noChangeArrowheads="1"/>
            </p:cNvSpPr>
            <p:nvPr/>
          </p:nvSpPr>
          <p:spPr bwMode="auto">
            <a:xfrm>
              <a:off x="4533" y="1528"/>
              <a:ext cx="860" cy="225"/>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135" name="Text Box 7"/>
            <p:cNvSpPr txBox="1">
              <a:spLocks noChangeArrowheads="1"/>
            </p:cNvSpPr>
            <p:nvPr/>
          </p:nvSpPr>
          <p:spPr bwMode="auto">
            <a:xfrm>
              <a:off x="4204" y="151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X</a:t>
              </a:r>
            </a:p>
          </p:txBody>
        </p:sp>
      </p:grpSp>
      <p:grpSp>
        <p:nvGrpSpPr>
          <p:cNvPr id="2096136" name="Group 8"/>
          <p:cNvGrpSpPr/>
          <p:nvPr/>
        </p:nvGrpSpPr>
        <p:grpSpPr bwMode="auto">
          <a:xfrm>
            <a:off x="4741721" y="5513068"/>
            <a:ext cx="1887538" cy="396875"/>
            <a:chOff x="4204" y="1510"/>
            <a:chExt cx="1189" cy="250"/>
          </a:xfrm>
        </p:grpSpPr>
        <p:sp>
          <p:nvSpPr>
            <p:cNvPr id="2096137" name="Rectangle 9"/>
            <p:cNvSpPr>
              <a:spLocks noChangeArrowheads="1"/>
            </p:cNvSpPr>
            <p:nvPr/>
          </p:nvSpPr>
          <p:spPr bwMode="auto">
            <a:xfrm>
              <a:off x="4533" y="1528"/>
              <a:ext cx="860" cy="225"/>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138" name="Text Box 10"/>
            <p:cNvSpPr txBox="1">
              <a:spLocks noChangeArrowheads="1"/>
            </p:cNvSpPr>
            <p:nvPr/>
          </p:nvSpPr>
          <p:spPr bwMode="auto">
            <a:xfrm>
              <a:off x="4204" y="151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t>Y</a:t>
              </a:r>
            </a:p>
          </p:txBody>
        </p:sp>
      </p:grpSp>
      <p:grpSp>
        <p:nvGrpSpPr>
          <p:cNvPr id="2096139" name="Group 11"/>
          <p:cNvGrpSpPr/>
          <p:nvPr/>
        </p:nvGrpSpPr>
        <p:grpSpPr bwMode="auto">
          <a:xfrm>
            <a:off x="4741721" y="5979793"/>
            <a:ext cx="1887538" cy="396875"/>
            <a:chOff x="4204" y="1510"/>
            <a:chExt cx="1189" cy="250"/>
          </a:xfrm>
        </p:grpSpPr>
        <p:sp>
          <p:nvSpPr>
            <p:cNvPr id="2096140" name="Rectangle 12"/>
            <p:cNvSpPr>
              <a:spLocks noChangeArrowheads="1"/>
            </p:cNvSpPr>
            <p:nvPr/>
          </p:nvSpPr>
          <p:spPr bwMode="auto">
            <a:xfrm>
              <a:off x="4533" y="1528"/>
              <a:ext cx="860" cy="225"/>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141" name="Text Box 13"/>
            <p:cNvSpPr txBox="1">
              <a:spLocks noChangeArrowheads="1"/>
            </p:cNvSpPr>
            <p:nvPr/>
          </p:nvSpPr>
          <p:spPr bwMode="auto">
            <a:xfrm>
              <a:off x="4204" y="1510"/>
              <a:ext cx="21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Z</a:t>
              </a:r>
            </a:p>
          </p:txBody>
        </p:sp>
      </p:grpSp>
      <p:sp>
        <p:nvSpPr>
          <p:cNvPr id="2096142" name="Text Box 14"/>
          <p:cNvSpPr txBox="1">
            <a:spLocks noChangeArrowheads="1"/>
          </p:cNvSpPr>
          <p:nvPr/>
        </p:nvSpPr>
        <p:spPr bwMode="auto">
          <a:xfrm>
            <a:off x="5737085" y="503205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30</a:t>
            </a:r>
          </a:p>
        </p:txBody>
      </p:sp>
      <p:sp>
        <p:nvSpPr>
          <p:cNvPr id="2096143" name="Text Box 15"/>
          <p:cNvSpPr txBox="1">
            <a:spLocks noChangeArrowheads="1"/>
          </p:cNvSpPr>
          <p:nvPr/>
        </p:nvSpPr>
        <p:spPr bwMode="auto">
          <a:xfrm>
            <a:off x="5737085" y="550195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50</a:t>
            </a:r>
          </a:p>
        </p:txBody>
      </p:sp>
      <p:sp>
        <p:nvSpPr>
          <p:cNvPr id="2096144" name="Text Box 16"/>
          <p:cNvSpPr txBox="1">
            <a:spLocks noChangeArrowheads="1"/>
          </p:cNvSpPr>
          <p:nvPr/>
        </p:nvSpPr>
        <p:spPr bwMode="auto">
          <a:xfrm>
            <a:off x="5737085" y="598455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80</a:t>
            </a:r>
          </a:p>
        </p:txBody>
      </p:sp>
      <p:sp>
        <p:nvSpPr>
          <p:cNvPr id="2096145" name="Text Box 17"/>
          <p:cNvSpPr txBox="1">
            <a:spLocks noChangeArrowheads="1"/>
          </p:cNvSpPr>
          <p:nvPr/>
        </p:nvSpPr>
        <p:spPr bwMode="auto">
          <a:xfrm>
            <a:off x="5737084" y="5032055"/>
            <a:ext cx="608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130</a:t>
            </a:r>
          </a:p>
        </p:txBody>
      </p:sp>
      <p:sp>
        <p:nvSpPr>
          <p:cNvPr id="2096146" name="Text Box 18"/>
          <p:cNvSpPr txBox="1">
            <a:spLocks noChangeArrowheads="1"/>
          </p:cNvSpPr>
          <p:nvPr/>
        </p:nvSpPr>
        <p:spPr bwMode="auto">
          <a:xfrm>
            <a:off x="5737085" y="503205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50</a:t>
            </a:r>
          </a:p>
        </p:txBody>
      </p:sp>
      <p:sp>
        <p:nvSpPr>
          <p:cNvPr id="2096147" name="Text Box 19"/>
          <p:cNvSpPr txBox="1">
            <a:spLocks noChangeArrowheads="1"/>
          </p:cNvSpPr>
          <p:nvPr/>
        </p:nvSpPr>
        <p:spPr bwMode="auto">
          <a:xfrm>
            <a:off x="5749784" y="5032055"/>
            <a:ext cx="608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100</a:t>
            </a:r>
          </a:p>
        </p:txBody>
      </p:sp>
      <p:sp>
        <p:nvSpPr>
          <p:cNvPr id="2096148" name="Text Box 20"/>
          <p:cNvSpPr txBox="1">
            <a:spLocks noChangeArrowheads="1"/>
          </p:cNvSpPr>
          <p:nvPr/>
        </p:nvSpPr>
        <p:spPr bwMode="auto">
          <a:xfrm>
            <a:off x="5737085" y="503205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50</a:t>
            </a:r>
          </a:p>
        </p:txBody>
      </p:sp>
      <p:sp>
        <p:nvSpPr>
          <p:cNvPr id="2096149" name="Text Box 21"/>
          <p:cNvSpPr txBox="1">
            <a:spLocks noChangeArrowheads="1"/>
          </p:cNvSpPr>
          <p:nvPr/>
        </p:nvSpPr>
        <p:spPr bwMode="auto">
          <a:xfrm>
            <a:off x="5749784" y="5032055"/>
            <a:ext cx="550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-30</a:t>
            </a:r>
          </a:p>
        </p:txBody>
      </p:sp>
      <p:sp>
        <p:nvSpPr>
          <p:cNvPr id="26"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高级语言程序的基本语法要素</a:t>
            </a:r>
          </a:p>
        </p:txBody>
      </p:sp>
      <p:sp>
        <p:nvSpPr>
          <p:cNvPr id="27" name="圆角矩形 2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基本要素：（</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）赋值语句、分支语句与循环语句</a:t>
            </a:r>
          </a:p>
        </p:txBody>
      </p:sp>
      <p:sp>
        <p:nvSpPr>
          <p:cNvPr id="28" name="矩形 27"/>
          <p:cNvSpPr/>
          <p:nvPr/>
        </p:nvSpPr>
        <p:spPr>
          <a:xfrm>
            <a:off x="707570" y="1954982"/>
            <a:ext cx="1210588" cy="499624"/>
          </a:xfrm>
          <a:prstGeom prst="rect">
            <a:avLst/>
          </a:prstGeom>
        </p:spPr>
        <p:txBody>
          <a:bodyPr wrap="none">
            <a:spAutoFit/>
          </a:bodyPr>
          <a:lstStyle/>
          <a:p>
            <a:pPr algn="just" eaLnBrk="1" hangingPunct="1">
              <a:lnSpc>
                <a:spcPct val="150000"/>
              </a:lnSpc>
              <a:buClr>
                <a:schemeClr val="tx1"/>
              </a:buClr>
            </a:pPr>
            <a:r>
              <a:rPr kumimoji="0" lang="zh-CN" altLang="en-US" dirty="0">
                <a:solidFill>
                  <a:srgbClr val="FF0066"/>
                </a:solidFill>
                <a:latin typeface="微软雅黑" panose="020B0503020204020204" pitchFamily="34" charset="-122"/>
                <a:ea typeface="微软雅黑" panose="020B0503020204020204" pitchFamily="34" charset="-122"/>
              </a:rPr>
              <a:t>分支语句</a:t>
            </a:r>
            <a:endParaRPr lang="en-US" altLang="zh-CN" dirty="0">
              <a:latin typeface="微软雅黑" panose="020B0503020204020204" pitchFamily="34" charset="-122"/>
              <a:ea typeface="微软雅黑" panose="020B0503020204020204" pitchFamily="34" charset="-122"/>
            </a:endParaRPr>
          </a:p>
        </p:txBody>
      </p:sp>
      <p:sp>
        <p:nvSpPr>
          <p:cNvPr id="29" name="Text Box 5"/>
          <p:cNvSpPr txBox="1">
            <a:spLocks noChangeArrowheads="1"/>
          </p:cNvSpPr>
          <p:nvPr/>
        </p:nvSpPr>
        <p:spPr bwMode="auto">
          <a:xfrm>
            <a:off x="781711" y="2497591"/>
            <a:ext cx="490377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50000"/>
              </a:lnSpc>
              <a:buClr>
                <a:schemeClr val="tx1"/>
              </a:buClr>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rPr>
              <a:t>If </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条件表达式</a:t>
            </a:r>
            <a:r>
              <a:rPr lang="en-US" altLang="zh-CN" sz="2000" dirty="0">
                <a:solidFill>
                  <a:schemeClr val="accent2"/>
                </a:solidFill>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	</a:t>
            </a:r>
          </a:p>
          <a:p>
            <a:pPr algn="just" eaLnBrk="1" hangingPunct="1">
              <a:lnSpc>
                <a:spcPct val="150000"/>
              </a:lnSpc>
              <a:buClr>
                <a:schemeClr val="tx1"/>
              </a:buClr>
              <a:buFont typeface="Wingdings" panose="05000000000000000000" pitchFamily="2" charset="2"/>
              <a:buNone/>
            </a:pPr>
            <a:r>
              <a:rPr lang="en-US" altLang="zh-CN" sz="2000" dirty="0">
                <a:solidFill>
                  <a:schemeClr val="accent2"/>
                </a:solidFill>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条件表达式为真时执行的语句序列 </a:t>
            </a:r>
            <a:r>
              <a:rPr lang="en-US" altLang="zh-CN" sz="2000" dirty="0">
                <a:latin typeface="微软雅黑" panose="020B0503020204020204" pitchFamily="34" charset="-122"/>
                <a:ea typeface="微软雅黑" panose="020B0503020204020204" pitchFamily="34" charset="-122"/>
              </a:rPr>
              <a:t>}</a:t>
            </a:r>
          </a:p>
          <a:p>
            <a:pPr algn="just" eaLnBrk="1" hangingPunct="1">
              <a:lnSpc>
                <a:spcPct val="150000"/>
              </a:lnSpc>
              <a:buClr>
                <a:schemeClr val="tx1"/>
              </a:buClr>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rPr>
              <a:t>Else </a:t>
            </a:r>
          </a:p>
          <a:p>
            <a:pPr lvl="0" algn="just" eaLnBrk="1" hangingPunct="1">
              <a:lnSpc>
                <a:spcPct val="150000"/>
              </a:lnSpc>
              <a:buClr>
                <a:srgbClr val="000000"/>
              </a:buClr>
            </a:pPr>
            <a:r>
              <a:rPr lang="en-US" altLang="zh-CN" sz="2000" dirty="0">
                <a:solidFill>
                  <a:srgbClr val="333399"/>
                </a:solidFill>
                <a:latin typeface="微软雅黑" panose="020B0503020204020204" pitchFamily="34" charset="-122"/>
                <a:ea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333399"/>
                </a:solidFill>
                <a:latin typeface="微软雅黑" panose="020B0503020204020204" pitchFamily="34" charset="-122"/>
                <a:ea typeface="微软雅黑" panose="020B0503020204020204" pitchFamily="34" charset="-122"/>
              </a:rPr>
              <a:t>条件表达式为假时执行的语句序列 </a:t>
            </a:r>
            <a:r>
              <a:rPr lang="en-US" altLang="zh-CN" sz="2000" dirty="0">
                <a:solidFill>
                  <a:srgbClr val="000000"/>
                </a:solidFill>
                <a:latin typeface="微软雅黑" panose="020B0503020204020204" pitchFamily="34" charset="-122"/>
                <a:ea typeface="微软雅黑" panose="020B0503020204020204" pitchFamily="34" charset="-122"/>
              </a:rPr>
              <a:t>}</a:t>
            </a:r>
          </a:p>
          <a:p>
            <a:pPr algn="just" eaLnBrk="1" hangingPunct="1">
              <a:lnSpc>
                <a:spcPct val="150000"/>
              </a:lnSpc>
              <a:buClr>
                <a:schemeClr val="tx1"/>
              </a:buClr>
              <a:buFont typeface="Wingdings" panose="05000000000000000000" pitchFamily="2" charset="2"/>
              <a:buNone/>
            </a:pPr>
            <a:endParaRPr lang="en-US" altLang="zh-CN" sz="1600"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96130">
                                            <p:txEl>
                                              <p:pRg st="0" end="0"/>
                                            </p:txEl>
                                          </p:spTgt>
                                        </p:tgtEl>
                                        <p:attrNameLst>
                                          <p:attrName>style.visibility</p:attrName>
                                        </p:attrNameLst>
                                      </p:cBhvr>
                                      <p:to>
                                        <p:strVal val="visible"/>
                                      </p:to>
                                    </p:set>
                                    <p:anim calcmode="lin" valueType="num">
                                      <p:cBhvr additive="base">
                                        <p:cTn id="7" dur="500" fill="hold"/>
                                        <p:tgtEl>
                                          <p:spTgt spid="20961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613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96130">
                                            <p:txEl>
                                              <p:pRg st="1" end="1"/>
                                            </p:txEl>
                                          </p:spTgt>
                                        </p:tgtEl>
                                        <p:attrNameLst>
                                          <p:attrName>style.visibility</p:attrName>
                                        </p:attrNameLst>
                                      </p:cBhvr>
                                      <p:to>
                                        <p:strVal val="visible"/>
                                      </p:to>
                                    </p:set>
                                    <p:anim calcmode="lin" valueType="num">
                                      <p:cBhvr additive="base">
                                        <p:cTn id="11" dur="500" fill="hold"/>
                                        <p:tgtEl>
                                          <p:spTgt spid="209613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9613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96130">
                                            <p:txEl>
                                              <p:pRg st="2" end="2"/>
                                            </p:txEl>
                                          </p:spTgt>
                                        </p:tgtEl>
                                        <p:attrNameLst>
                                          <p:attrName>style.visibility</p:attrName>
                                        </p:attrNameLst>
                                      </p:cBhvr>
                                      <p:to>
                                        <p:strVal val="visible"/>
                                      </p:to>
                                    </p:set>
                                    <p:anim calcmode="lin" valueType="num">
                                      <p:cBhvr additive="base">
                                        <p:cTn id="15" dur="500" fill="hold"/>
                                        <p:tgtEl>
                                          <p:spTgt spid="209613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96130">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96130">
                                            <p:txEl>
                                              <p:pRg st="3" end="3"/>
                                            </p:txEl>
                                          </p:spTgt>
                                        </p:tgtEl>
                                        <p:attrNameLst>
                                          <p:attrName>style.visibility</p:attrName>
                                        </p:attrNameLst>
                                      </p:cBhvr>
                                      <p:to>
                                        <p:strVal val="visible"/>
                                      </p:to>
                                    </p:set>
                                    <p:anim calcmode="lin" valueType="num">
                                      <p:cBhvr additive="base">
                                        <p:cTn id="19" dur="500" fill="hold"/>
                                        <p:tgtEl>
                                          <p:spTgt spid="20961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6130">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96130">
                                            <p:txEl>
                                              <p:pRg st="4" end="4"/>
                                            </p:txEl>
                                          </p:spTgt>
                                        </p:tgtEl>
                                        <p:attrNameLst>
                                          <p:attrName>style.visibility</p:attrName>
                                        </p:attrNameLst>
                                      </p:cBhvr>
                                      <p:to>
                                        <p:strVal val="visible"/>
                                      </p:to>
                                    </p:set>
                                    <p:anim calcmode="lin" valueType="num">
                                      <p:cBhvr additive="base">
                                        <p:cTn id="23" dur="500" fill="hold"/>
                                        <p:tgtEl>
                                          <p:spTgt spid="2096130">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96130">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96130">
                                            <p:txEl>
                                              <p:pRg st="5" end="5"/>
                                            </p:txEl>
                                          </p:spTgt>
                                        </p:tgtEl>
                                        <p:attrNameLst>
                                          <p:attrName>style.visibility</p:attrName>
                                        </p:attrNameLst>
                                      </p:cBhvr>
                                      <p:to>
                                        <p:strVal val="visible"/>
                                      </p:to>
                                    </p:set>
                                    <p:anim calcmode="lin" valueType="num">
                                      <p:cBhvr additive="base">
                                        <p:cTn id="27" dur="500" fill="hold"/>
                                        <p:tgtEl>
                                          <p:spTgt spid="2096130">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96130">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96130">
                                            <p:txEl>
                                              <p:pRg st="6" end="6"/>
                                            </p:txEl>
                                          </p:spTgt>
                                        </p:tgtEl>
                                        <p:attrNameLst>
                                          <p:attrName>style.visibility</p:attrName>
                                        </p:attrNameLst>
                                      </p:cBhvr>
                                      <p:to>
                                        <p:strVal val="visible"/>
                                      </p:to>
                                    </p:set>
                                    <p:anim calcmode="lin" valueType="num">
                                      <p:cBhvr additive="base">
                                        <p:cTn id="31" dur="500" fill="hold"/>
                                        <p:tgtEl>
                                          <p:spTgt spid="209613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96130">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96130">
                                            <p:txEl>
                                              <p:pRg st="7" end="7"/>
                                            </p:txEl>
                                          </p:spTgt>
                                        </p:tgtEl>
                                        <p:attrNameLst>
                                          <p:attrName>style.visibility</p:attrName>
                                        </p:attrNameLst>
                                      </p:cBhvr>
                                      <p:to>
                                        <p:strVal val="visible"/>
                                      </p:to>
                                    </p:set>
                                    <p:anim calcmode="lin" valueType="num">
                                      <p:cBhvr additive="base">
                                        <p:cTn id="35" dur="500" fill="hold"/>
                                        <p:tgtEl>
                                          <p:spTgt spid="2096130">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96130">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96130">
                                            <p:txEl>
                                              <p:pRg st="8" end="8"/>
                                            </p:txEl>
                                          </p:spTgt>
                                        </p:tgtEl>
                                        <p:attrNameLst>
                                          <p:attrName>style.visibility</p:attrName>
                                        </p:attrNameLst>
                                      </p:cBhvr>
                                      <p:to>
                                        <p:strVal val="visible"/>
                                      </p:to>
                                    </p:set>
                                    <p:anim calcmode="lin" valueType="num">
                                      <p:cBhvr additive="base">
                                        <p:cTn id="39" dur="500" fill="hold"/>
                                        <p:tgtEl>
                                          <p:spTgt spid="2096130">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96130">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96130">
                                            <p:txEl>
                                              <p:pRg st="9" end="9"/>
                                            </p:txEl>
                                          </p:spTgt>
                                        </p:tgtEl>
                                        <p:attrNameLst>
                                          <p:attrName>style.visibility</p:attrName>
                                        </p:attrNameLst>
                                      </p:cBhvr>
                                      <p:to>
                                        <p:strVal val="visible"/>
                                      </p:to>
                                    </p:set>
                                    <p:anim calcmode="lin" valueType="num">
                                      <p:cBhvr additive="base">
                                        <p:cTn id="43" dur="500" fill="hold"/>
                                        <p:tgtEl>
                                          <p:spTgt spid="2096130">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96130">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096130">
                                            <p:txEl>
                                              <p:pRg st="10" end="10"/>
                                            </p:txEl>
                                          </p:spTgt>
                                        </p:tgtEl>
                                        <p:attrNameLst>
                                          <p:attrName>style.visibility</p:attrName>
                                        </p:attrNameLst>
                                      </p:cBhvr>
                                      <p:to>
                                        <p:strVal val="visible"/>
                                      </p:to>
                                    </p:set>
                                    <p:anim calcmode="lin" valueType="num">
                                      <p:cBhvr additive="base">
                                        <p:cTn id="47" dur="500" fill="hold"/>
                                        <p:tgtEl>
                                          <p:spTgt spid="2096130">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096130">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096130">
                                            <p:txEl>
                                              <p:pRg st="11" end="11"/>
                                            </p:txEl>
                                          </p:spTgt>
                                        </p:tgtEl>
                                        <p:attrNameLst>
                                          <p:attrName>style.visibility</p:attrName>
                                        </p:attrNameLst>
                                      </p:cBhvr>
                                      <p:to>
                                        <p:strVal val="visible"/>
                                      </p:to>
                                    </p:set>
                                    <p:anim calcmode="lin" valueType="num">
                                      <p:cBhvr additive="base">
                                        <p:cTn id="51" dur="500" fill="hold"/>
                                        <p:tgtEl>
                                          <p:spTgt spid="2096130">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96130">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96130">
                                            <p:txEl>
                                              <p:pRg st="12" end="12"/>
                                            </p:txEl>
                                          </p:spTgt>
                                        </p:tgtEl>
                                        <p:attrNameLst>
                                          <p:attrName>style.visibility</p:attrName>
                                        </p:attrNameLst>
                                      </p:cBhvr>
                                      <p:to>
                                        <p:strVal val="visible"/>
                                      </p:to>
                                    </p:set>
                                    <p:anim calcmode="lin" valueType="num">
                                      <p:cBhvr additive="base">
                                        <p:cTn id="55" dur="500" fill="hold"/>
                                        <p:tgtEl>
                                          <p:spTgt spid="2096130">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096130">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096133"/>
                                        </p:tgtEl>
                                        <p:attrNameLst>
                                          <p:attrName>style.visibility</p:attrName>
                                        </p:attrNameLst>
                                      </p:cBhvr>
                                      <p:to>
                                        <p:strVal val="visible"/>
                                      </p:to>
                                    </p:set>
                                    <p:anim calcmode="lin" valueType="num">
                                      <p:cBhvr additive="base">
                                        <p:cTn id="61" dur="500" fill="hold"/>
                                        <p:tgtEl>
                                          <p:spTgt spid="2096133"/>
                                        </p:tgtEl>
                                        <p:attrNameLst>
                                          <p:attrName>ppt_x</p:attrName>
                                        </p:attrNameLst>
                                      </p:cBhvr>
                                      <p:tavLst>
                                        <p:tav tm="0">
                                          <p:val>
                                            <p:strVal val="#ppt_x"/>
                                          </p:val>
                                        </p:tav>
                                        <p:tav tm="100000">
                                          <p:val>
                                            <p:strVal val="#ppt_x"/>
                                          </p:val>
                                        </p:tav>
                                      </p:tavLst>
                                    </p:anim>
                                    <p:anim calcmode="lin" valueType="num">
                                      <p:cBhvr additive="base">
                                        <p:cTn id="62" dur="500" fill="hold"/>
                                        <p:tgtEl>
                                          <p:spTgt spid="2096133"/>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096136"/>
                                        </p:tgtEl>
                                        <p:attrNameLst>
                                          <p:attrName>style.visibility</p:attrName>
                                        </p:attrNameLst>
                                      </p:cBhvr>
                                      <p:to>
                                        <p:strVal val="visible"/>
                                      </p:to>
                                    </p:set>
                                    <p:anim calcmode="lin" valueType="num">
                                      <p:cBhvr additive="base">
                                        <p:cTn id="65" dur="500" fill="hold"/>
                                        <p:tgtEl>
                                          <p:spTgt spid="2096136"/>
                                        </p:tgtEl>
                                        <p:attrNameLst>
                                          <p:attrName>ppt_x</p:attrName>
                                        </p:attrNameLst>
                                      </p:cBhvr>
                                      <p:tavLst>
                                        <p:tav tm="0">
                                          <p:val>
                                            <p:strVal val="#ppt_x"/>
                                          </p:val>
                                        </p:tav>
                                        <p:tav tm="100000">
                                          <p:val>
                                            <p:strVal val="#ppt_x"/>
                                          </p:val>
                                        </p:tav>
                                      </p:tavLst>
                                    </p:anim>
                                    <p:anim calcmode="lin" valueType="num">
                                      <p:cBhvr additive="base">
                                        <p:cTn id="66" dur="500" fill="hold"/>
                                        <p:tgtEl>
                                          <p:spTgt spid="2096136"/>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2096139"/>
                                        </p:tgtEl>
                                        <p:attrNameLst>
                                          <p:attrName>style.visibility</p:attrName>
                                        </p:attrNameLst>
                                      </p:cBhvr>
                                      <p:to>
                                        <p:strVal val="visible"/>
                                      </p:to>
                                    </p:set>
                                    <p:anim calcmode="lin" valueType="num">
                                      <p:cBhvr additive="base">
                                        <p:cTn id="69" dur="500" fill="hold"/>
                                        <p:tgtEl>
                                          <p:spTgt spid="2096139"/>
                                        </p:tgtEl>
                                        <p:attrNameLst>
                                          <p:attrName>ppt_x</p:attrName>
                                        </p:attrNameLst>
                                      </p:cBhvr>
                                      <p:tavLst>
                                        <p:tav tm="0">
                                          <p:val>
                                            <p:strVal val="#ppt_x"/>
                                          </p:val>
                                        </p:tav>
                                        <p:tav tm="100000">
                                          <p:val>
                                            <p:strVal val="#ppt_x"/>
                                          </p:val>
                                        </p:tav>
                                      </p:tavLst>
                                    </p:anim>
                                    <p:anim calcmode="lin" valueType="num">
                                      <p:cBhvr additive="base">
                                        <p:cTn id="70" dur="500" fill="hold"/>
                                        <p:tgtEl>
                                          <p:spTgt spid="2096139"/>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9613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0" end="0"/>
                                            </p:txEl>
                                          </p:spTgt>
                                        </p:tgtEl>
                                        <p:attrNameLst>
                                          <p:attrName>ppt_c</p:attrName>
                                        </p:attrNameLst>
                                      </p:cBhvr>
                                      <p:to>
                                        <a:srgbClr val="FF0000"/>
                                      </p:to>
                                    </p:animClr>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9613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1" end="1"/>
                                            </p:txEl>
                                          </p:spTgt>
                                        </p:tgtEl>
                                        <p:attrNameLst>
                                          <p:attrName>ppt_c</p:attrName>
                                        </p:attrNameLst>
                                      </p:cBhvr>
                                      <p:to>
                                        <a:srgbClr val="FF0000"/>
                                      </p:to>
                                    </p:animClr>
                                  </p:subTnLst>
                                </p:cTn>
                              </p:par>
                              <p:par>
                                <p:cTn id="79" presetID="1" presetClass="entr" presetSubtype="0" fill="hold" grpId="0" nodeType="withEffect">
                                  <p:stCondLst>
                                    <p:cond delay="0"/>
                                  </p:stCondLst>
                                  <p:childTnLst>
                                    <p:set>
                                      <p:cBhvr>
                                        <p:cTn id="80" dur="1" fill="hold">
                                          <p:stCondLst>
                                            <p:cond delay="0"/>
                                          </p:stCondLst>
                                        </p:cTn>
                                        <p:tgtEl>
                                          <p:spTgt spid="209614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09613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2" end="2"/>
                                            </p:txEl>
                                          </p:spTgt>
                                        </p:tgtEl>
                                        <p:attrNameLst>
                                          <p:attrName>ppt_c</p:attrName>
                                        </p:attrNameLst>
                                      </p:cBhvr>
                                      <p:to>
                                        <a:srgbClr val="FF0000"/>
                                      </p:to>
                                    </p:animClr>
                                  </p:subTnLst>
                                </p:cTn>
                              </p:par>
                              <p:par>
                                <p:cTn id="85" presetID="1" presetClass="entr" presetSubtype="0" fill="hold" grpId="0" nodeType="withEffect">
                                  <p:stCondLst>
                                    <p:cond delay="0"/>
                                  </p:stCondLst>
                                  <p:childTnLst>
                                    <p:set>
                                      <p:cBhvr>
                                        <p:cTn id="86" dur="1" fill="hold">
                                          <p:stCondLst>
                                            <p:cond delay="0"/>
                                          </p:stCondLst>
                                        </p:cTn>
                                        <p:tgtEl>
                                          <p:spTgt spid="209614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09613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3" end="3"/>
                                            </p:txEl>
                                          </p:spTgt>
                                        </p:tgtEl>
                                        <p:attrNameLst>
                                          <p:attrName>ppt_c</p:attrName>
                                        </p:attrNameLst>
                                      </p:cBhvr>
                                      <p:to>
                                        <a:srgbClr val="FF0000"/>
                                      </p:to>
                                    </p:animClr>
                                  </p:subTnLst>
                                </p:cTn>
                              </p:par>
                              <p:par>
                                <p:cTn id="91" presetID="1" presetClass="entr" presetSubtype="0" fill="hold" grpId="0" nodeType="withEffect">
                                  <p:stCondLst>
                                    <p:cond delay="0"/>
                                  </p:stCondLst>
                                  <p:childTnLst>
                                    <p:set>
                                      <p:cBhvr>
                                        <p:cTn id="92" dur="1" fill="hold">
                                          <p:stCondLst>
                                            <p:cond delay="0"/>
                                          </p:stCondLst>
                                        </p:cTn>
                                        <p:tgtEl>
                                          <p:spTgt spid="2096142"/>
                                        </p:tgtEl>
                                        <p:attrNameLst>
                                          <p:attrName>style.visibility</p:attrName>
                                        </p:attrNameLst>
                                      </p:cBhvr>
                                      <p:to>
                                        <p:strVal val="visible"/>
                                      </p:to>
                                    </p:set>
                                  </p:childTnLst>
                                  <p:subTnLst>
                                    <p:set>
                                      <p:cBhvr override="childStyle">
                                        <p:cTn dur="1" fill="hold" display="0" masterRel="nextClick" afterEffect="1"/>
                                        <p:tgtEl>
                                          <p:spTgt spid="2096142"/>
                                        </p:tgtEl>
                                        <p:attrNameLst>
                                          <p:attrName>style.visibility</p:attrName>
                                        </p:attrNameLst>
                                      </p:cBhvr>
                                      <p:to>
                                        <p:strVal val="hidden"/>
                                      </p:to>
                                    </p:set>
                                  </p:sub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09613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4" end="4"/>
                                            </p:txEl>
                                          </p:spTgt>
                                        </p:tgtEl>
                                        <p:attrNameLst>
                                          <p:attrName>ppt_c</p:attrName>
                                        </p:attrNameLst>
                                      </p:cBhvr>
                                      <p:to>
                                        <a:srgbClr val="FF0000"/>
                                      </p:to>
                                    </p:animClr>
                                  </p:subTnLst>
                                </p:cTn>
                              </p:par>
                              <p:par>
                                <p:cTn id="97" presetID="1" presetClass="entr" presetSubtype="0" fill="hold" nodeType="withEffect">
                                  <p:stCondLst>
                                    <p:cond delay="0"/>
                                  </p:stCondLst>
                                  <p:childTnLst>
                                    <p:set>
                                      <p:cBhvr>
                                        <p:cTn id="98" dur="1" fill="hold">
                                          <p:stCondLst>
                                            <p:cond delay="0"/>
                                          </p:stCondLst>
                                        </p:cTn>
                                        <p:tgtEl>
                                          <p:spTgt spid="209613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5" end="5"/>
                                            </p:txEl>
                                          </p:spTgt>
                                        </p:tgtEl>
                                        <p:attrNameLst>
                                          <p:attrName>ppt_c</p:attrName>
                                        </p:attrNameLst>
                                      </p:cBhvr>
                                      <p:to>
                                        <a:srgbClr val="FF0000"/>
                                      </p:to>
                                    </p:animClr>
                                  </p:subTnLst>
                                </p:cTn>
                              </p:par>
                              <p:par>
                                <p:cTn id="99" presetID="1" presetClass="entr" presetSubtype="0" fill="hold" nodeType="withEffect">
                                  <p:stCondLst>
                                    <p:cond delay="0"/>
                                  </p:stCondLst>
                                  <p:childTnLst>
                                    <p:set>
                                      <p:cBhvr>
                                        <p:cTn id="100" dur="1" fill="hold">
                                          <p:stCondLst>
                                            <p:cond delay="0"/>
                                          </p:stCondLst>
                                        </p:cTn>
                                        <p:tgtEl>
                                          <p:spTgt spid="209613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6" end="6"/>
                                            </p:txEl>
                                          </p:spTgt>
                                        </p:tgtEl>
                                        <p:attrNameLst>
                                          <p:attrName>ppt_c</p:attrName>
                                        </p:attrNameLst>
                                      </p:cBhvr>
                                      <p:to>
                                        <a:srgbClr val="FF0000"/>
                                      </p:to>
                                    </p:animClr>
                                  </p:subTnLst>
                                </p:cTn>
                              </p:par>
                              <p:par>
                                <p:cTn id="101" presetID="1" presetClass="entr" presetSubtype="0" fill="hold" nodeType="withEffect">
                                  <p:stCondLst>
                                    <p:cond delay="0"/>
                                  </p:stCondLst>
                                  <p:childTnLst>
                                    <p:set>
                                      <p:cBhvr>
                                        <p:cTn id="102" dur="1" fill="hold">
                                          <p:stCondLst>
                                            <p:cond delay="0"/>
                                          </p:stCondLst>
                                        </p:cTn>
                                        <p:tgtEl>
                                          <p:spTgt spid="2096130">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7" end="7"/>
                                            </p:txEl>
                                          </p:spTgt>
                                        </p:tgtEl>
                                        <p:attrNameLst>
                                          <p:attrName>ppt_c</p:attrName>
                                        </p:attrNameLst>
                                      </p:cBhvr>
                                      <p:to>
                                        <a:srgbClr val="FF0000"/>
                                      </p:to>
                                    </p:animClr>
                                  </p:subTnLst>
                                </p:cTn>
                              </p:par>
                              <p:par>
                                <p:cTn id="103" presetID="2" presetClass="entr" presetSubtype="4" fill="hold" grpId="0" nodeType="withEffect">
                                  <p:stCondLst>
                                    <p:cond delay="0"/>
                                  </p:stCondLst>
                                  <p:childTnLst>
                                    <p:set>
                                      <p:cBhvr>
                                        <p:cTn id="104" dur="1" fill="hold">
                                          <p:stCondLst>
                                            <p:cond delay="0"/>
                                          </p:stCondLst>
                                        </p:cTn>
                                        <p:tgtEl>
                                          <p:spTgt spid="2096145"/>
                                        </p:tgtEl>
                                        <p:attrNameLst>
                                          <p:attrName>style.visibility</p:attrName>
                                        </p:attrNameLst>
                                      </p:cBhvr>
                                      <p:to>
                                        <p:strVal val="visible"/>
                                      </p:to>
                                    </p:set>
                                    <p:anim calcmode="lin" valueType="num">
                                      <p:cBhvr additive="base">
                                        <p:cTn id="105" dur="500" fill="hold"/>
                                        <p:tgtEl>
                                          <p:spTgt spid="2096145"/>
                                        </p:tgtEl>
                                        <p:attrNameLst>
                                          <p:attrName>ppt_x</p:attrName>
                                        </p:attrNameLst>
                                      </p:cBhvr>
                                      <p:tavLst>
                                        <p:tav tm="0">
                                          <p:val>
                                            <p:strVal val="#ppt_x"/>
                                          </p:val>
                                        </p:tav>
                                        <p:tav tm="100000">
                                          <p:val>
                                            <p:strVal val="#ppt_x"/>
                                          </p:val>
                                        </p:tav>
                                      </p:tavLst>
                                    </p:anim>
                                    <p:anim calcmode="lin" valueType="num">
                                      <p:cBhvr additive="base">
                                        <p:cTn id="106" dur="500" fill="hold"/>
                                        <p:tgtEl>
                                          <p:spTgt spid="209614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096145"/>
                                        </p:tgtEl>
                                        <p:attrNameLst>
                                          <p:attrName>style.visibility</p:attrName>
                                        </p:attrNameLst>
                                      </p:cBhvr>
                                      <p:to>
                                        <p:strVal val="hidden"/>
                                      </p:to>
                                    </p:set>
                                  </p:sub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096130">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8" end="8"/>
                                            </p:txEl>
                                          </p:spTgt>
                                        </p:tgtEl>
                                        <p:attrNameLst>
                                          <p:attrName>ppt_c</p:attrName>
                                        </p:attrNameLst>
                                      </p:cBhvr>
                                      <p:to>
                                        <a:srgbClr val="FF0000"/>
                                      </p:to>
                                    </p:animClr>
                                  </p:subTnLst>
                                </p:cTn>
                              </p:par>
                              <p:par>
                                <p:cTn id="111" presetID="2" presetClass="entr" presetSubtype="4" fill="hold" grpId="0" nodeType="withEffect">
                                  <p:stCondLst>
                                    <p:cond delay="0"/>
                                  </p:stCondLst>
                                  <p:childTnLst>
                                    <p:set>
                                      <p:cBhvr>
                                        <p:cTn id="112" dur="1" fill="hold">
                                          <p:stCondLst>
                                            <p:cond delay="0"/>
                                          </p:stCondLst>
                                        </p:cTn>
                                        <p:tgtEl>
                                          <p:spTgt spid="2096146"/>
                                        </p:tgtEl>
                                        <p:attrNameLst>
                                          <p:attrName>style.visibility</p:attrName>
                                        </p:attrNameLst>
                                      </p:cBhvr>
                                      <p:to>
                                        <p:strVal val="visible"/>
                                      </p:to>
                                    </p:set>
                                    <p:anim calcmode="lin" valueType="num">
                                      <p:cBhvr additive="base">
                                        <p:cTn id="113" dur="500" fill="hold"/>
                                        <p:tgtEl>
                                          <p:spTgt spid="2096146"/>
                                        </p:tgtEl>
                                        <p:attrNameLst>
                                          <p:attrName>ppt_x</p:attrName>
                                        </p:attrNameLst>
                                      </p:cBhvr>
                                      <p:tavLst>
                                        <p:tav tm="0">
                                          <p:val>
                                            <p:strVal val="#ppt_x"/>
                                          </p:val>
                                        </p:tav>
                                        <p:tav tm="100000">
                                          <p:val>
                                            <p:strVal val="#ppt_x"/>
                                          </p:val>
                                        </p:tav>
                                      </p:tavLst>
                                    </p:anim>
                                    <p:anim calcmode="lin" valueType="num">
                                      <p:cBhvr additive="base">
                                        <p:cTn id="114" dur="500" fill="hold"/>
                                        <p:tgtEl>
                                          <p:spTgt spid="209614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096146"/>
                                        </p:tgtEl>
                                        <p:attrNameLst>
                                          <p:attrName>style.visibility</p:attrName>
                                        </p:attrNameLst>
                                      </p:cBhvr>
                                      <p:to>
                                        <p:strVal val="hidden"/>
                                      </p:to>
                                    </p:set>
                                  </p:sub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096130">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9" end="9"/>
                                            </p:txEl>
                                          </p:spTgt>
                                        </p:tgtEl>
                                        <p:attrNameLst>
                                          <p:attrName>ppt_c</p:attrName>
                                        </p:attrNameLst>
                                      </p:cBhvr>
                                      <p:to>
                                        <a:srgbClr val="FF0000"/>
                                      </p:to>
                                    </p:animClr>
                                  </p:subTnLst>
                                </p:cTn>
                              </p:par>
                              <p:par>
                                <p:cTn id="119" presetID="2" presetClass="entr" presetSubtype="4" fill="hold" grpId="0" nodeType="withEffect">
                                  <p:stCondLst>
                                    <p:cond delay="0"/>
                                  </p:stCondLst>
                                  <p:childTnLst>
                                    <p:set>
                                      <p:cBhvr>
                                        <p:cTn id="120" dur="1" fill="hold">
                                          <p:stCondLst>
                                            <p:cond delay="0"/>
                                          </p:stCondLst>
                                        </p:cTn>
                                        <p:tgtEl>
                                          <p:spTgt spid="2096147"/>
                                        </p:tgtEl>
                                        <p:attrNameLst>
                                          <p:attrName>style.visibility</p:attrName>
                                        </p:attrNameLst>
                                      </p:cBhvr>
                                      <p:to>
                                        <p:strVal val="visible"/>
                                      </p:to>
                                    </p:set>
                                    <p:anim calcmode="lin" valueType="num">
                                      <p:cBhvr additive="base">
                                        <p:cTn id="121" dur="500" fill="hold"/>
                                        <p:tgtEl>
                                          <p:spTgt spid="2096147"/>
                                        </p:tgtEl>
                                        <p:attrNameLst>
                                          <p:attrName>ppt_x</p:attrName>
                                        </p:attrNameLst>
                                      </p:cBhvr>
                                      <p:tavLst>
                                        <p:tav tm="0">
                                          <p:val>
                                            <p:strVal val="#ppt_x"/>
                                          </p:val>
                                        </p:tav>
                                        <p:tav tm="100000">
                                          <p:val>
                                            <p:strVal val="#ppt_x"/>
                                          </p:val>
                                        </p:tav>
                                      </p:tavLst>
                                    </p:anim>
                                    <p:anim calcmode="lin" valueType="num">
                                      <p:cBhvr additive="base">
                                        <p:cTn id="122" dur="500" fill="hold"/>
                                        <p:tgtEl>
                                          <p:spTgt spid="209614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096147"/>
                                        </p:tgtEl>
                                        <p:attrNameLst>
                                          <p:attrName>style.visibility</p:attrName>
                                        </p:attrNameLst>
                                      </p:cBhvr>
                                      <p:to>
                                        <p:strVal val="hidden"/>
                                      </p:to>
                                    </p:set>
                                  </p:sub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096130">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10" end="10"/>
                                            </p:txEl>
                                          </p:spTgt>
                                        </p:tgtEl>
                                        <p:attrNameLst>
                                          <p:attrName>ppt_c</p:attrName>
                                        </p:attrNameLst>
                                      </p:cBhvr>
                                      <p:to>
                                        <a:srgbClr val="FF0000"/>
                                      </p:to>
                                    </p:animClr>
                                  </p:subTnLst>
                                </p:cTn>
                              </p:par>
                              <p:par>
                                <p:cTn id="127" presetID="2" presetClass="entr" presetSubtype="4" fill="hold" grpId="0" nodeType="withEffect">
                                  <p:stCondLst>
                                    <p:cond delay="0"/>
                                  </p:stCondLst>
                                  <p:childTnLst>
                                    <p:set>
                                      <p:cBhvr>
                                        <p:cTn id="128" dur="1" fill="hold">
                                          <p:stCondLst>
                                            <p:cond delay="0"/>
                                          </p:stCondLst>
                                        </p:cTn>
                                        <p:tgtEl>
                                          <p:spTgt spid="2096148"/>
                                        </p:tgtEl>
                                        <p:attrNameLst>
                                          <p:attrName>style.visibility</p:attrName>
                                        </p:attrNameLst>
                                      </p:cBhvr>
                                      <p:to>
                                        <p:strVal val="visible"/>
                                      </p:to>
                                    </p:set>
                                    <p:anim calcmode="lin" valueType="num">
                                      <p:cBhvr additive="base">
                                        <p:cTn id="129" dur="500" fill="hold"/>
                                        <p:tgtEl>
                                          <p:spTgt spid="2096148"/>
                                        </p:tgtEl>
                                        <p:attrNameLst>
                                          <p:attrName>ppt_x</p:attrName>
                                        </p:attrNameLst>
                                      </p:cBhvr>
                                      <p:tavLst>
                                        <p:tav tm="0">
                                          <p:val>
                                            <p:strVal val="#ppt_x"/>
                                          </p:val>
                                        </p:tav>
                                        <p:tav tm="100000">
                                          <p:val>
                                            <p:strVal val="#ppt_x"/>
                                          </p:val>
                                        </p:tav>
                                      </p:tavLst>
                                    </p:anim>
                                    <p:anim calcmode="lin" valueType="num">
                                      <p:cBhvr additive="base">
                                        <p:cTn id="130" dur="500" fill="hold"/>
                                        <p:tgtEl>
                                          <p:spTgt spid="209614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096148"/>
                                        </p:tgtEl>
                                        <p:attrNameLst>
                                          <p:attrName>style.visibility</p:attrName>
                                        </p:attrNameLst>
                                      </p:cBhvr>
                                      <p:to>
                                        <p:strVal val="hidden"/>
                                      </p:to>
                                    </p:set>
                                  </p:sub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096130">
                                            <p:txEl>
                                              <p:pRg st="11" end="11"/>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11" end="11"/>
                                            </p:txEl>
                                          </p:spTgt>
                                        </p:tgtEl>
                                        <p:attrNameLst>
                                          <p:attrName>ppt_c</p:attrName>
                                        </p:attrNameLst>
                                      </p:cBhvr>
                                      <p:to>
                                        <a:srgbClr val="FF0000"/>
                                      </p:to>
                                    </p:animClr>
                                  </p:subTnLst>
                                </p:cTn>
                              </p:par>
                              <p:par>
                                <p:cTn id="135" presetID="1" presetClass="entr" presetSubtype="0" fill="hold" nodeType="withEffect">
                                  <p:stCondLst>
                                    <p:cond delay="0"/>
                                  </p:stCondLst>
                                  <p:childTnLst>
                                    <p:set>
                                      <p:cBhvr>
                                        <p:cTn id="136" dur="1" fill="hold">
                                          <p:stCondLst>
                                            <p:cond delay="0"/>
                                          </p:stCondLst>
                                        </p:cTn>
                                        <p:tgtEl>
                                          <p:spTgt spid="2096130">
                                            <p:txEl>
                                              <p:pRg st="12" end="12"/>
                                            </p:txEl>
                                          </p:spTgt>
                                        </p:tgtEl>
                                        <p:attrNameLst>
                                          <p:attrName>style.visibility</p:attrName>
                                        </p:attrNameLst>
                                      </p:cBhvr>
                                      <p:to>
                                        <p:strVal val="visible"/>
                                      </p:to>
                                    </p:set>
                                  </p:childTnLst>
                                  <p:subTnLst>
                                    <p:animClr clrSpc="rgb" dir="cw">
                                      <p:cBhvr override="childStyle">
                                        <p:cTn dur="1" fill="hold" display="0" masterRel="nextClick" afterEffect="1"/>
                                        <p:tgtEl>
                                          <p:spTgt spid="2096130">
                                            <p:txEl>
                                              <p:pRg st="12" end="12"/>
                                            </p:txEl>
                                          </p:spTgt>
                                        </p:tgtEl>
                                        <p:attrNameLst>
                                          <p:attrName>ppt_c</p:attrName>
                                        </p:attrNameLst>
                                      </p:cBhvr>
                                      <p:to>
                                        <a:srgbClr val="FF0000"/>
                                      </p:to>
                                    </p:animClr>
                                  </p:subTnLst>
                                </p:cTn>
                              </p:par>
                              <p:par>
                                <p:cTn id="137" presetID="2" presetClass="entr" presetSubtype="4" fill="hold" grpId="0" nodeType="withEffect">
                                  <p:stCondLst>
                                    <p:cond delay="0"/>
                                  </p:stCondLst>
                                  <p:childTnLst>
                                    <p:set>
                                      <p:cBhvr>
                                        <p:cTn id="138" dur="1" fill="hold">
                                          <p:stCondLst>
                                            <p:cond delay="0"/>
                                          </p:stCondLst>
                                        </p:cTn>
                                        <p:tgtEl>
                                          <p:spTgt spid="2096149"/>
                                        </p:tgtEl>
                                        <p:attrNameLst>
                                          <p:attrName>style.visibility</p:attrName>
                                        </p:attrNameLst>
                                      </p:cBhvr>
                                      <p:to>
                                        <p:strVal val="visible"/>
                                      </p:to>
                                    </p:set>
                                    <p:anim calcmode="lin" valueType="num">
                                      <p:cBhvr additive="base">
                                        <p:cTn id="139" dur="500" fill="hold"/>
                                        <p:tgtEl>
                                          <p:spTgt spid="2096149"/>
                                        </p:tgtEl>
                                        <p:attrNameLst>
                                          <p:attrName>ppt_x</p:attrName>
                                        </p:attrNameLst>
                                      </p:cBhvr>
                                      <p:tavLst>
                                        <p:tav tm="0">
                                          <p:val>
                                            <p:strVal val="#ppt_x"/>
                                          </p:val>
                                        </p:tav>
                                        <p:tav tm="100000">
                                          <p:val>
                                            <p:strVal val="#ppt_x"/>
                                          </p:val>
                                        </p:tav>
                                      </p:tavLst>
                                    </p:anim>
                                    <p:anim calcmode="lin" valueType="num">
                                      <p:cBhvr additive="base">
                                        <p:cTn id="140" dur="500" fill="hold"/>
                                        <p:tgtEl>
                                          <p:spTgt spid="2096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6130" grpId="0" build="allAtOnce"/>
      <p:bldP spid="2096142" grpId="0"/>
      <p:bldP spid="2096143" grpId="0"/>
      <p:bldP spid="2096144" grpId="0"/>
      <p:bldP spid="2096145" grpId="0"/>
      <p:bldP spid="2096146" grpId="0"/>
      <p:bldP spid="2096147" grpId="0"/>
      <p:bldP spid="2096148" grpId="0"/>
      <p:bldP spid="20961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4322" name="Text Box 5"/>
          <p:cNvSpPr txBox="1">
            <a:spLocks noChangeArrowheads="1"/>
          </p:cNvSpPr>
          <p:nvPr/>
        </p:nvSpPr>
        <p:spPr bwMode="auto">
          <a:xfrm>
            <a:off x="781711" y="2497591"/>
            <a:ext cx="429279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50000"/>
              </a:lnSpc>
              <a:buClr>
                <a:schemeClr val="tx1"/>
              </a:buClr>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rPr>
              <a:t>While </a:t>
            </a:r>
            <a:r>
              <a:rPr lang="en-US" altLang="zh-CN" sz="2000" dirty="0">
                <a:solidFill>
                  <a:schemeClr val="accent2"/>
                </a:solidFill>
                <a:latin typeface="微软雅黑" panose="020B0503020204020204" pitchFamily="34" charset="-122"/>
                <a:ea typeface="微软雅黑" panose="020B0503020204020204" pitchFamily="34" charset="-122"/>
              </a:rPr>
              <a:t>(</a:t>
            </a:r>
            <a:r>
              <a:rPr lang="zh-CN" altLang="en-US" sz="2000" dirty="0">
                <a:solidFill>
                  <a:schemeClr val="accent2"/>
                </a:solidFill>
                <a:latin typeface="微软雅黑" panose="020B0503020204020204" pitchFamily="34" charset="-122"/>
                <a:ea typeface="微软雅黑" panose="020B0503020204020204" pitchFamily="34" charset="-122"/>
              </a:rPr>
              <a:t>条件表达式</a:t>
            </a:r>
            <a:r>
              <a:rPr lang="en-US" altLang="zh-CN" sz="2000" dirty="0">
                <a:solidFill>
                  <a:schemeClr val="accent2"/>
                </a:solidFill>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r>
              <a:rPr lang="en-US" altLang="zh-CN" sz="2000" dirty="0">
                <a:solidFill>
                  <a:schemeClr val="accent2"/>
                </a:solidFill>
                <a:latin typeface="微软雅黑" panose="020B0503020204020204" pitchFamily="34" charset="-122"/>
                <a:ea typeface="微软雅黑" panose="020B0503020204020204" pitchFamily="34" charset="-122"/>
              </a:rPr>
              <a:t>	</a:t>
            </a:r>
          </a:p>
          <a:p>
            <a:pPr algn="just" eaLnBrk="1" hangingPunct="1">
              <a:lnSpc>
                <a:spcPct val="150000"/>
              </a:lnSpc>
              <a:buClr>
                <a:schemeClr val="tx1"/>
              </a:buClr>
              <a:buFont typeface="Wingdings" panose="05000000000000000000" pitchFamily="2" charset="2"/>
              <a:buNone/>
            </a:pPr>
            <a:r>
              <a:rPr lang="en-US" altLang="zh-CN" sz="2000" dirty="0">
                <a:solidFill>
                  <a:schemeClr val="accent2"/>
                </a:solidFill>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Do</a:t>
            </a:r>
            <a:r>
              <a:rPr lang="en-US" altLang="zh-CN" sz="2000" dirty="0">
                <a:solidFill>
                  <a:schemeClr val="accent2"/>
                </a:solidFill>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循环体的程序语句序列 </a:t>
            </a:r>
            <a:r>
              <a:rPr lang="en-US" altLang="zh-CN" sz="200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p:txBody>
      </p:sp>
      <p:sp>
        <p:nvSpPr>
          <p:cNvPr id="2104323" name="Rectangle 3"/>
          <p:cNvSpPr>
            <a:spLocks noChangeArrowheads="1"/>
          </p:cNvSpPr>
          <p:nvPr/>
        </p:nvSpPr>
        <p:spPr bwMode="auto">
          <a:xfrm>
            <a:off x="6413500" y="1964353"/>
            <a:ext cx="39497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eaLnBrk="0" hangingPunct="0">
              <a:defRPr kumimoji="1" sz="2400">
                <a:solidFill>
                  <a:schemeClr val="tx1"/>
                </a:solidFill>
                <a:latin typeface="Arial" panose="020B0604020202090204" pitchFamily="34" charset="0"/>
                <a:ea typeface="隶书" panose="02010509060101010101" pitchFamily="49" charset="-122"/>
              </a:defRPr>
            </a:lvl1pPr>
            <a:lvl2pPr eaLnBrk="0" hangingPunct="0">
              <a:defRPr kumimoji="1" sz="2400">
                <a:solidFill>
                  <a:schemeClr val="tx1"/>
                </a:solidFill>
                <a:latin typeface="Arial" panose="020B0604020202090204" pitchFamily="34" charset="0"/>
                <a:ea typeface="隶书" panose="02010509060101010101" pitchFamily="49" charset="-122"/>
              </a:defRPr>
            </a:lvl2pPr>
            <a:lvl3pPr eaLnBrk="0" hangingPunct="0">
              <a:defRPr kumimoji="1" sz="2400">
                <a:solidFill>
                  <a:schemeClr val="tx1"/>
                </a:solidFill>
                <a:latin typeface="Arial" panose="020B0604020202090204" pitchFamily="34" charset="0"/>
                <a:ea typeface="隶书" panose="02010509060101010101" pitchFamily="49" charset="-122"/>
              </a:defRPr>
            </a:lvl3pPr>
            <a:lvl4pPr eaLnBrk="0" hangingPunct="0">
              <a:defRPr kumimoji="1" sz="2400">
                <a:solidFill>
                  <a:schemeClr val="tx1"/>
                </a:solidFill>
                <a:latin typeface="Arial" panose="020B0604020202090204" pitchFamily="34" charset="0"/>
                <a:ea typeface="隶书" panose="02010509060101010101" pitchFamily="49" charset="-122"/>
              </a:defRPr>
            </a:lvl4pPr>
            <a:lvl5pPr eaLnBrk="0" hangingPunct="0">
              <a:defRPr kumimoji="1" sz="2400">
                <a:solidFill>
                  <a:schemeClr val="tx1"/>
                </a:solidFill>
                <a:latin typeface="Arial" panose="020B0604020202090204" pitchFamily="34" charset="0"/>
                <a:ea typeface="隶书" panose="02010509060101010101" pitchFamily="49" charset="-122"/>
              </a:defRPr>
            </a:lvl5pPr>
            <a:lvl6pPr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nSpc>
                <a:spcPct val="130000"/>
              </a:lnSpc>
            </a:pPr>
            <a:r>
              <a:rPr lang="en-US" altLang="zh-CN" dirty="0">
                <a:ea typeface="宋体" pitchFamily="2" charset="-122"/>
                <a:cs typeface="Times New Roman" panose="02020503050405090304" pitchFamily="18" charset="0"/>
              </a:rPr>
              <a:t>X=1;</a:t>
            </a:r>
            <a:endParaRPr lang="en-US" altLang="zh-CN" b="0" dirty="0">
              <a:ea typeface="宋体" pitchFamily="2" charset="-122"/>
              <a:cs typeface="Times New Roman" panose="02020503050405090304" pitchFamily="18" charset="0"/>
            </a:endParaRPr>
          </a:p>
          <a:p>
            <a:pPr>
              <a:lnSpc>
                <a:spcPct val="130000"/>
              </a:lnSpc>
            </a:pPr>
            <a:r>
              <a:rPr lang="es-ES" altLang="zh-CN" dirty="0">
                <a:ea typeface="宋体" pitchFamily="2" charset="-122"/>
                <a:cs typeface="Times New Roman" panose="02020503050405090304" pitchFamily="18" charset="0"/>
              </a:rPr>
              <a:t>Y=2; </a:t>
            </a:r>
            <a:endParaRPr lang="es-ES" altLang="zh-CN" b="0" dirty="0">
              <a:ea typeface="宋体" pitchFamily="2" charset="-122"/>
              <a:cs typeface="Times New Roman" panose="02020503050405090304" pitchFamily="18" charset="0"/>
            </a:endParaRPr>
          </a:p>
          <a:p>
            <a:pPr>
              <a:lnSpc>
                <a:spcPct val="130000"/>
              </a:lnSpc>
            </a:pPr>
            <a:r>
              <a:rPr lang="es-ES" altLang="zh-CN" dirty="0">
                <a:ea typeface="宋体" pitchFamily="2" charset="-122"/>
                <a:cs typeface="Times New Roman" panose="02020503050405090304" pitchFamily="18" charset="0"/>
              </a:rPr>
              <a:t>Sum=0;</a:t>
            </a:r>
            <a:endParaRPr lang="es-ES" altLang="zh-CN" b="0" dirty="0">
              <a:ea typeface="宋体" pitchFamily="2" charset="-122"/>
              <a:cs typeface="Times New Roman" panose="02020503050405090304" pitchFamily="18" charset="0"/>
            </a:endParaRPr>
          </a:p>
          <a:p>
            <a:pPr>
              <a:lnSpc>
                <a:spcPct val="130000"/>
              </a:lnSpc>
            </a:pPr>
            <a:r>
              <a:rPr lang="en-US" altLang="zh-CN" dirty="0">
                <a:ea typeface="宋体" pitchFamily="2" charset="-122"/>
                <a:cs typeface="Times New Roman" panose="02020503050405090304" pitchFamily="18" charset="0"/>
              </a:rPr>
              <a:t>While (</a:t>
            </a:r>
            <a:r>
              <a:rPr lang="en-US" altLang="zh-CN" dirty="0">
                <a:solidFill>
                  <a:srgbClr val="FF00FF"/>
                </a:solidFill>
                <a:ea typeface="宋体" pitchFamily="2" charset="-122"/>
                <a:cs typeface="Times New Roman" panose="02020503050405090304" pitchFamily="18" charset="0"/>
              </a:rPr>
              <a:t>Sum&lt;0</a:t>
            </a:r>
            <a:r>
              <a:rPr lang="en-US" altLang="zh-CN" dirty="0">
                <a:ea typeface="宋体" pitchFamily="2" charset="-122"/>
                <a:cs typeface="Times New Roman" panose="02020503050405090304" pitchFamily="18" charset="0"/>
              </a:rPr>
              <a:t>)</a:t>
            </a:r>
            <a:r>
              <a:rPr lang="es-ES" altLang="zh-CN" dirty="0">
                <a:ea typeface="宋体" pitchFamily="2" charset="-122"/>
                <a:cs typeface="Times New Roman" panose="02020503050405090304" pitchFamily="18" charset="0"/>
              </a:rPr>
              <a:t> </a:t>
            </a:r>
          </a:p>
          <a:p>
            <a:pPr>
              <a:lnSpc>
                <a:spcPct val="130000"/>
              </a:lnSpc>
            </a:pPr>
            <a:r>
              <a:rPr lang="es-ES" altLang="zh-CN" dirty="0">
                <a:ea typeface="宋体" pitchFamily="2" charset="-122"/>
                <a:cs typeface="Times New Roman" panose="02020503050405090304" pitchFamily="18" charset="0"/>
              </a:rPr>
              <a:t>    Do {	 </a:t>
            </a:r>
          </a:p>
          <a:p>
            <a:pPr>
              <a:lnSpc>
                <a:spcPct val="130000"/>
              </a:lnSpc>
            </a:pPr>
            <a:r>
              <a:rPr lang="es-ES" altLang="zh-CN" dirty="0">
                <a:ea typeface="宋体" pitchFamily="2" charset="-122"/>
                <a:cs typeface="Times New Roman" panose="02020503050405090304" pitchFamily="18" charset="0"/>
              </a:rPr>
              <a:t>       Sum = X+Y;</a:t>
            </a:r>
            <a:endParaRPr lang="es-ES" altLang="zh-CN" b="0" dirty="0">
              <a:ea typeface="宋体" pitchFamily="2" charset="-122"/>
              <a:cs typeface="Times New Roman" panose="02020503050405090304" pitchFamily="18" charset="0"/>
            </a:endParaRPr>
          </a:p>
          <a:p>
            <a:pPr>
              <a:lnSpc>
                <a:spcPct val="130000"/>
              </a:lnSpc>
            </a:pPr>
            <a:r>
              <a:rPr lang="es-ES" altLang="zh-CN" dirty="0">
                <a:ea typeface="宋体" pitchFamily="2" charset="-122"/>
                <a:cs typeface="Times New Roman" panose="02020503050405090304" pitchFamily="18" charset="0"/>
              </a:rPr>
              <a:t>       X=X+1; </a:t>
            </a:r>
            <a:endParaRPr lang="es-ES" altLang="zh-CN" b="0" dirty="0">
              <a:ea typeface="宋体" pitchFamily="2" charset="-122"/>
              <a:cs typeface="Times New Roman" panose="02020503050405090304" pitchFamily="18" charset="0"/>
            </a:endParaRPr>
          </a:p>
          <a:p>
            <a:pPr>
              <a:lnSpc>
                <a:spcPct val="130000"/>
              </a:lnSpc>
            </a:pPr>
            <a:r>
              <a:rPr lang="es-ES" altLang="zh-CN" dirty="0">
                <a:ea typeface="宋体" pitchFamily="2" charset="-122"/>
                <a:cs typeface="Times New Roman" panose="02020503050405090304" pitchFamily="18" charset="0"/>
              </a:rPr>
              <a:t>       </a:t>
            </a:r>
            <a:r>
              <a:rPr lang="en-US" altLang="zh-CN" dirty="0">
                <a:ea typeface="宋体" pitchFamily="2" charset="-122"/>
                <a:cs typeface="Times New Roman" panose="02020503050405090304" pitchFamily="18" charset="0"/>
              </a:rPr>
              <a:t>Y=</a:t>
            </a:r>
            <a:r>
              <a:rPr lang="en-US" altLang="zh-CN" dirty="0" err="1">
                <a:ea typeface="宋体" pitchFamily="2" charset="-122"/>
                <a:cs typeface="Times New Roman" panose="02020503050405090304" pitchFamily="18" charset="0"/>
              </a:rPr>
              <a:t>Y+1</a:t>
            </a:r>
            <a:r>
              <a:rPr lang="en-US" altLang="zh-CN" dirty="0">
                <a:ea typeface="宋体" pitchFamily="2" charset="-122"/>
                <a:cs typeface="Times New Roman" panose="02020503050405090304" pitchFamily="18" charset="0"/>
              </a:rPr>
              <a:t>;</a:t>
            </a:r>
            <a:endParaRPr lang="en-US" altLang="zh-CN" b="0" dirty="0">
              <a:ea typeface="宋体" pitchFamily="2" charset="-122"/>
              <a:cs typeface="Times New Roman" panose="02020503050405090304" pitchFamily="18" charset="0"/>
            </a:endParaRPr>
          </a:p>
          <a:p>
            <a:pPr>
              <a:lnSpc>
                <a:spcPct val="130000"/>
              </a:lnSpc>
            </a:pPr>
            <a:r>
              <a:rPr lang="en-US" altLang="zh-CN" dirty="0">
                <a:ea typeface="宋体" pitchFamily="2" charset="-122"/>
                <a:cs typeface="Times New Roman" panose="02020503050405090304" pitchFamily="18" charset="0"/>
              </a:rPr>
              <a:t>          } </a:t>
            </a:r>
          </a:p>
          <a:p>
            <a:pPr>
              <a:lnSpc>
                <a:spcPct val="130000"/>
              </a:lnSpc>
            </a:pPr>
            <a:r>
              <a:rPr lang="en-US" altLang="zh-CN" dirty="0">
                <a:ea typeface="宋体" pitchFamily="2" charset="-122"/>
                <a:cs typeface="Times New Roman" panose="02020503050405090304" pitchFamily="18" charset="0"/>
              </a:rPr>
              <a:t>&lt;</a:t>
            </a:r>
            <a:r>
              <a:rPr lang="zh-CN" altLang="en-US" dirty="0">
                <a:ea typeface="宋体" pitchFamily="2" charset="-122"/>
                <a:cs typeface="Times New Roman" panose="02020503050405090304" pitchFamily="18" charset="0"/>
              </a:rPr>
              <a:t>其他语句</a:t>
            </a:r>
            <a:r>
              <a:rPr lang="en-US" altLang="zh-CN" dirty="0">
                <a:ea typeface="宋体" pitchFamily="2" charset="-122"/>
                <a:cs typeface="Times New Roman" panose="02020503050405090304" pitchFamily="18" charset="0"/>
              </a:rPr>
              <a:t>&gt;	</a:t>
            </a:r>
          </a:p>
        </p:txBody>
      </p:sp>
      <p:grpSp>
        <p:nvGrpSpPr>
          <p:cNvPr id="2104326" name="Group 6"/>
          <p:cNvGrpSpPr/>
          <p:nvPr/>
        </p:nvGrpSpPr>
        <p:grpSpPr bwMode="auto">
          <a:xfrm>
            <a:off x="2589211" y="4434428"/>
            <a:ext cx="1887538" cy="396875"/>
            <a:chOff x="4204" y="1510"/>
            <a:chExt cx="1189" cy="250"/>
          </a:xfrm>
        </p:grpSpPr>
        <p:sp>
          <p:nvSpPr>
            <p:cNvPr id="2104327" name="Rectangle 7"/>
            <p:cNvSpPr>
              <a:spLocks noChangeArrowheads="1"/>
            </p:cNvSpPr>
            <p:nvPr/>
          </p:nvSpPr>
          <p:spPr bwMode="auto">
            <a:xfrm>
              <a:off x="4533" y="1528"/>
              <a:ext cx="860" cy="225"/>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328" name="Text Box 8"/>
            <p:cNvSpPr txBox="1">
              <a:spLocks noChangeArrowheads="1"/>
            </p:cNvSpPr>
            <p:nvPr/>
          </p:nvSpPr>
          <p:spPr bwMode="auto">
            <a:xfrm>
              <a:off x="4204" y="151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a:t>X</a:t>
              </a:r>
            </a:p>
          </p:txBody>
        </p:sp>
      </p:grpSp>
      <p:grpSp>
        <p:nvGrpSpPr>
          <p:cNvPr id="2104329" name="Group 9"/>
          <p:cNvGrpSpPr/>
          <p:nvPr/>
        </p:nvGrpSpPr>
        <p:grpSpPr bwMode="auto">
          <a:xfrm>
            <a:off x="2589211" y="4901153"/>
            <a:ext cx="1887538" cy="396875"/>
            <a:chOff x="4204" y="1510"/>
            <a:chExt cx="1189" cy="250"/>
          </a:xfrm>
        </p:grpSpPr>
        <p:sp>
          <p:nvSpPr>
            <p:cNvPr id="2104330" name="Rectangle 10"/>
            <p:cNvSpPr>
              <a:spLocks noChangeArrowheads="1"/>
            </p:cNvSpPr>
            <p:nvPr/>
          </p:nvSpPr>
          <p:spPr bwMode="auto">
            <a:xfrm>
              <a:off x="4533" y="1528"/>
              <a:ext cx="860" cy="225"/>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331" name="Text Box 11"/>
            <p:cNvSpPr txBox="1">
              <a:spLocks noChangeArrowheads="1"/>
            </p:cNvSpPr>
            <p:nvPr/>
          </p:nvSpPr>
          <p:spPr bwMode="auto">
            <a:xfrm>
              <a:off x="4204" y="151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Y</a:t>
              </a:r>
            </a:p>
          </p:txBody>
        </p:sp>
      </p:grpSp>
      <p:grpSp>
        <p:nvGrpSpPr>
          <p:cNvPr id="2104332" name="Group 12"/>
          <p:cNvGrpSpPr/>
          <p:nvPr/>
        </p:nvGrpSpPr>
        <p:grpSpPr bwMode="auto">
          <a:xfrm>
            <a:off x="2347911" y="5371052"/>
            <a:ext cx="2128838" cy="400050"/>
            <a:chOff x="914" y="3862"/>
            <a:chExt cx="1341" cy="252"/>
          </a:xfrm>
        </p:grpSpPr>
        <p:sp>
          <p:nvSpPr>
            <p:cNvPr id="2104333" name="Rectangle 13"/>
            <p:cNvSpPr>
              <a:spLocks noChangeArrowheads="1"/>
            </p:cNvSpPr>
            <p:nvPr/>
          </p:nvSpPr>
          <p:spPr bwMode="auto">
            <a:xfrm>
              <a:off x="1395" y="3881"/>
              <a:ext cx="860" cy="233"/>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334" name="Text Box 14"/>
            <p:cNvSpPr txBox="1">
              <a:spLocks noChangeArrowheads="1"/>
            </p:cNvSpPr>
            <p:nvPr/>
          </p:nvSpPr>
          <p:spPr bwMode="auto">
            <a:xfrm>
              <a:off x="914" y="3862"/>
              <a:ext cx="4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Sum</a:t>
              </a:r>
            </a:p>
          </p:txBody>
        </p:sp>
      </p:grpSp>
      <p:sp>
        <p:nvSpPr>
          <p:cNvPr id="2104335" name="Text Box 15"/>
          <p:cNvSpPr txBox="1">
            <a:spLocks noChangeArrowheads="1"/>
          </p:cNvSpPr>
          <p:nvPr/>
        </p:nvSpPr>
        <p:spPr bwMode="auto">
          <a:xfrm>
            <a:off x="3551236" y="4432841"/>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1</a:t>
            </a:r>
          </a:p>
        </p:txBody>
      </p:sp>
      <p:sp>
        <p:nvSpPr>
          <p:cNvPr id="2104336" name="Text Box 16"/>
          <p:cNvSpPr txBox="1">
            <a:spLocks noChangeArrowheads="1"/>
          </p:cNvSpPr>
          <p:nvPr/>
        </p:nvSpPr>
        <p:spPr bwMode="auto">
          <a:xfrm>
            <a:off x="3551236" y="4902741"/>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2</a:t>
            </a:r>
          </a:p>
        </p:txBody>
      </p:sp>
      <p:sp>
        <p:nvSpPr>
          <p:cNvPr id="2104337" name="Text Box 17"/>
          <p:cNvSpPr txBox="1">
            <a:spLocks noChangeArrowheads="1"/>
          </p:cNvSpPr>
          <p:nvPr/>
        </p:nvSpPr>
        <p:spPr bwMode="auto">
          <a:xfrm>
            <a:off x="3551236" y="5372641"/>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bg1"/>
                </a:solidFill>
              </a:rPr>
              <a:t>0</a:t>
            </a:r>
          </a:p>
        </p:txBody>
      </p:sp>
      <p:sp>
        <p:nvSpPr>
          <p:cNvPr id="22"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高级语言程序的基本语法要素</a:t>
            </a:r>
          </a:p>
        </p:txBody>
      </p:sp>
      <p:sp>
        <p:nvSpPr>
          <p:cNvPr id="23" name="圆角矩形 22"/>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基本要素：（</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）赋值语句、分支语句与循环语句</a:t>
            </a:r>
          </a:p>
        </p:txBody>
      </p:sp>
      <p:sp>
        <p:nvSpPr>
          <p:cNvPr id="2" name="矩形 1"/>
          <p:cNvSpPr/>
          <p:nvPr/>
        </p:nvSpPr>
        <p:spPr>
          <a:xfrm>
            <a:off x="768937" y="1960300"/>
            <a:ext cx="3025187" cy="553998"/>
          </a:xfrm>
          <a:prstGeom prst="rect">
            <a:avLst/>
          </a:prstGeom>
        </p:spPr>
        <p:txBody>
          <a:bodyPr wrap="none">
            <a:spAutoFit/>
          </a:bodyPr>
          <a:lstStyle/>
          <a:p>
            <a:pPr algn="just" eaLnBrk="1" hangingPunct="1">
              <a:lnSpc>
                <a:spcPct val="150000"/>
              </a:lnSpc>
              <a:buClr>
                <a:schemeClr val="tx1"/>
              </a:buClr>
            </a:pPr>
            <a:r>
              <a:rPr kumimoji="0" lang="zh-CN" altLang="en-US" dirty="0">
                <a:solidFill>
                  <a:srgbClr val="FF0066"/>
                </a:solidFill>
                <a:latin typeface="微软雅黑" panose="020B0503020204020204" pitchFamily="34" charset="-122"/>
                <a:ea typeface="微软雅黑" panose="020B0503020204020204" pitchFamily="34" charset="-122"/>
              </a:rPr>
              <a:t>循环语句</a:t>
            </a:r>
            <a:r>
              <a:rPr kumimoji="0" lang="en-US" altLang="zh-CN" dirty="0">
                <a:solidFill>
                  <a:srgbClr val="FF0066"/>
                </a:solidFill>
                <a:latin typeface="微软雅黑" panose="020B0503020204020204" pitchFamily="34" charset="-122"/>
                <a:ea typeface="微软雅黑" panose="020B0503020204020204" pitchFamily="34" charset="-122"/>
              </a:rPr>
              <a:t>(</a:t>
            </a:r>
            <a:r>
              <a:rPr kumimoji="0" lang="zh-CN" altLang="en-US" dirty="0">
                <a:solidFill>
                  <a:srgbClr val="FF0066"/>
                </a:solidFill>
                <a:latin typeface="微软雅黑" panose="020B0503020204020204" pitchFamily="34" charset="-122"/>
                <a:ea typeface="微软雅黑" panose="020B0503020204020204" pitchFamily="34" charset="-122"/>
              </a:rPr>
              <a:t>条件循环语句</a:t>
            </a:r>
            <a:r>
              <a:rPr kumimoji="0" lang="en-US" altLang="zh-CN" dirty="0">
                <a:solidFill>
                  <a:srgbClr val="FF0066"/>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04323">
                                            <p:txEl>
                                              <p:pRg st="0" end="0"/>
                                            </p:txEl>
                                          </p:spTgt>
                                        </p:tgtEl>
                                        <p:attrNameLst>
                                          <p:attrName>style.visibility</p:attrName>
                                        </p:attrNameLst>
                                      </p:cBhvr>
                                      <p:to>
                                        <p:strVal val="visible"/>
                                      </p:to>
                                    </p:set>
                                    <p:anim calcmode="lin" valueType="num">
                                      <p:cBhvr additive="base">
                                        <p:cTn id="7" dur="500" fill="hold"/>
                                        <p:tgtEl>
                                          <p:spTgt spid="2104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043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04323">
                                            <p:txEl>
                                              <p:pRg st="1" end="1"/>
                                            </p:txEl>
                                          </p:spTgt>
                                        </p:tgtEl>
                                        <p:attrNameLst>
                                          <p:attrName>style.visibility</p:attrName>
                                        </p:attrNameLst>
                                      </p:cBhvr>
                                      <p:to>
                                        <p:strVal val="visible"/>
                                      </p:to>
                                    </p:set>
                                    <p:anim calcmode="lin" valueType="num">
                                      <p:cBhvr additive="base">
                                        <p:cTn id="11" dur="500" fill="hold"/>
                                        <p:tgtEl>
                                          <p:spTgt spid="21043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043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04323">
                                            <p:txEl>
                                              <p:pRg st="2" end="2"/>
                                            </p:txEl>
                                          </p:spTgt>
                                        </p:tgtEl>
                                        <p:attrNameLst>
                                          <p:attrName>style.visibility</p:attrName>
                                        </p:attrNameLst>
                                      </p:cBhvr>
                                      <p:to>
                                        <p:strVal val="visible"/>
                                      </p:to>
                                    </p:set>
                                    <p:anim calcmode="lin" valueType="num">
                                      <p:cBhvr additive="base">
                                        <p:cTn id="15" dur="500" fill="hold"/>
                                        <p:tgtEl>
                                          <p:spTgt spid="21043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0432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04323">
                                            <p:txEl>
                                              <p:pRg st="3" end="3"/>
                                            </p:txEl>
                                          </p:spTgt>
                                        </p:tgtEl>
                                        <p:attrNameLst>
                                          <p:attrName>style.visibility</p:attrName>
                                        </p:attrNameLst>
                                      </p:cBhvr>
                                      <p:to>
                                        <p:strVal val="visible"/>
                                      </p:to>
                                    </p:set>
                                    <p:anim calcmode="lin" valueType="num">
                                      <p:cBhvr additive="base">
                                        <p:cTn id="19" dur="500" fill="hold"/>
                                        <p:tgtEl>
                                          <p:spTgt spid="21043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0432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04323">
                                            <p:txEl>
                                              <p:pRg st="4" end="4"/>
                                            </p:txEl>
                                          </p:spTgt>
                                        </p:tgtEl>
                                        <p:attrNameLst>
                                          <p:attrName>style.visibility</p:attrName>
                                        </p:attrNameLst>
                                      </p:cBhvr>
                                      <p:to>
                                        <p:strVal val="visible"/>
                                      </p:to>
                                    </p:set>
                                    <p:anim calcmode="lin" valueType="num">
                                      <p:cBhvr additive="base">
                                        <p:cTn id="23" dur="500" fill="hold"/>
                                        <p:tgtEl>
                                          <p:spTgt spid="210432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0432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04323">
                                            <p:txEl>
                                              <p:pRg st="5" end="5"/>
                                            </p:txEl>
                                          </p:spTgt>
                                        </p:tgtEl>
                                        <p:attrNameLst>
                                          <p:attrName>style.visibility</p:attrName>
                                        </p:attrNameLst>
                                      </p:cBhvr>
                                      <p:to>
                                        <p:strVal val="visible"/>
                                      </p:to>
                                    </p:set>
                                    <p:anim calcmode="lin" valueType="num">
                                      <p:cBhvr additive="base">
                                        <p:cTn id="27" dur="500" fill="hold"/>
                                        <p:tgtEl>
                                          <p:spTgt spid="210432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0432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04323">
                                            <p:txEl>
                                              <p:pRg st="6" end="6"/>
                                            </p:txEl>
                                          </p:spTgt>
                                        </p:tgtEl>
                                        <p:attrNameLst>
                                          <p:attrName>style.visibility</p:attrName>
                                        </p:attrNameLst>
                                      </p:cBhvr>
                                      <p:to>
                                        <p:strVal val="visible"/>
                                      </p:to>
                                    </p:set>
                                    <p:anim calcmode="lin" valueType="num">
                                      <p:cBhvr additive="base">
                                        <p:cTn id="31" dur="500" fill="hold"/>
                                        <p:tgtEl>
                                          <p:spTgt spid="210432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0432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04323">
                                            <p:txEl>
                                              <p:pRg st="7" end="7"/>
                                            </p:txEl>
                                          </p:spTgt>
                                        </p:tgtEl>
                                        <p:attrNameLst>
                                          <p:attrName>style.visibility</p:attrName>
                                        </p:attrNameLst>
                                      </p:cBhvr>
                                      <p:to>
                                        <p:strVal val="visible"/>
                                      </p:to>
                                    </p:set>
                                    <p:anim calcmode="lin" valueType="num">
                                      <p:cBhvr additive="base">
                                        <p:cTn id="35" dur="500" fill="hold"/>
                                        <p:tgtEl>
                                          <p:spTgt spid="210432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0432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04323">
                                            <p:txEl>
                                              <p:pRg st="8" end="8"/>
                                            </p:txEl>
                                          </p:spTgt>
                                        </p:tgtEl>
                                        <p:attrNameLst>
                                          <p:attrName>style.visibility</p:attrName>
                                        </p:attrNameLst>
                                      </p:cBhvr>
                                      <p:to>
                                        <p:strVal val="visible"/>
                                      </p:to>
                                    </p:set>
                                    <p:anim calcmode="lin" valueType="num">
                                      <p:cBhvr additive="base">
                                        <p:cTn id="39" dur="500" fill="hold"/>
                                        <p:tgtEl>
                                          <p:spTgt spid="210432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10432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104323">
                                            <p:txEl>
                                              <p:pRg st="9" end="9"/>
                                            </p:txEl>
                                          </p:spTgt>
                                        </p:tgtEl>
                                        <p:attrNameLst>
                                          <p:attrName>style.visibility</p:attrName>
                                        </p:attrNameLst>
                                      </p:cBhvr>
                                      <p:to>
                                        <p:strVal val="visible"/>
                                      </p:to>
                                    </p:set>
                                    <p:anim calcmode="lin" valueType="num">
                                      <p:cBhvr additive="base">
                                        <p:cTn id="43" dur="500" fill="hold"/>
                                        <p:tgtEl>
                                          <p:spTgt spid="210432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10432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104326"/>
                                        </p:tgtEl>
                                        <p:attrNameLst>
                                          <p:attrName>style.visibility</p:attrName>
                                        </p:attrNameLst>
                                      </p:cBhvr>
                                      <p:to>
                                        <p:strVal val="visible"/>
                                      </p:to>
                                    </p:set>
                                    <p:anim calcmode="lin" valueType="num">
                                      <p:cBhvr additive="base">
                                        <p:cTn id="47" dur="500" fill="hold"/>
                                        <p:tgtEl>
                                          <p:spTgt spid="2104326"/>
                                        </p:tgtEl>
                                        <p:attrNameLst>
                                          <p:attrName>ppt_x</p:attrName>
                                        </p:attrNameLst>
                                      </p:cBhvr>
                                      <p:tavLst>
                                        <p:tav tm="0">
                                          <p:val>
                                            <p:strVal val="#ppt_x"/>
                                          </p:val>
                                        </p:tav>
                                        <p:tav tm="100000">
                                          <p:val>
                                            <p:strVal val="#ppt_x"/>
                                          </p:val>
                                        </p:tav>
                                      </p:tavLst>
                                    </p:anim>
                                    <p:anim calcmode="lin" valueType="num">
                                      <p:cBhvr additive="base">
                                        <p:cTn id="48" dur="500" fill="hold"/>
                                        <p:tgtEl>
                                          <p:spTgt spid="210432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104329"/>
                                        </p:tgtEl>
                                        <p:attrNameLst>
                                          <p:attrName>style.visibility</p:attrName>
                                        </p:attrNameLst>
                                      </p:cBhvr>
                                      <p:to>
                                        <p:strVal val="visible"/>
                                      </p:to>
                                    </p:set>
                                    <p:anim calcmode="lin" valueType="num">
                                      <p:cBhvr additive="base">
                                        <p:cTn id="51" dur="500" fill="hold"/>
                                        <p:tgtEl>
                                          <p:spTgt spid="2104329"/>
                                        </p:tgtEl>
                                        <p:attrNameLst>
                                          <p:attrName>ppt_x</p:attrName>
                                        </p:attrNameLst>
                                      </p:cBhvr>
                                      <p:tavLst>
                                        <p:tav tm="0">
                                          <p:val>
                                            <p:strVal val="#ppt_x"/>
                                          </p:val>
                                        </p:tav>
                                        <p:tav tm="100000">
                                          <p:val>
                                            <p:strVal val="#ppt_x"/>
                                          </p:val>
                                        </p:tav>
                                      </p:tavLst>
                                    </p:anim>
                                    <p:anim calcmode="lin" valueType="num">
                                      <p:cBhvr additive="base">
                                        <p:cTn id="52" dur="500" fill="hold"/>
                                        <p:tgtEl>
                                          <p:spTgt spid="210432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104332"/>
                                        </p:tgtEl>
                                        <p:attrNameLst>
                                          <p:attrName>style.visibility</p:attrName>
                                        </p:attrNameLst>
                                      </p:cBhvr>
                                      <p:to>
                                        <p:strVal val="visible"/>
                                      </p:to>
                                    </p:set>
                                    <p:anim calcmode="lin" valueType="num">
                                      <p:cBhvr additive="base">
                                        <p:cTn id="55" dur="500" fill="hold"/>
                                        <p:tgtEl>
                                          <p:spTgt spid="2104332"/>
                                        </p:tgtEl>
                                        <p:attrNameLst>
                                          <p:attrName>ppt_x</p:attrName>
                                        </p:attrNameLst>
                                      </p:cBhvr>
                                      <p:tavLst>
                                        <p:tav tm="0">
                                          <p:val>
                                            <p:strVal val="#ppt_x"/>
                                          </p:val>
                                        </p:tav>
                                        <p:tav tm="100000">
                                          <p:val>
                                            <p:strVal val="#ppt_x"/>
                                          </p:val>
                                        </p:tav>
                                      </p:tavLst>
                                    </p:anim>
                                    <p:anim calcmode="lin" valueType="num">
                                      <p:cBhvr additive="base">
                                        <p:cTn id="56" dur="500" fill="hold"/>
                                        <p:tgtEl>
                                          <p:spTgt spid="210433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10432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2104323">
                                            <p:txEl>
                                              <p:pRg st="0" end="0"/>
                                            </p:txEl>
                                          </p:spTgt>
                                        </p:tgtEl>
                                        <p:attrNameLst>
                                          <p:attrName>ppt_c</p:attrName>
                                        </p:attrNameLst>
                                      </p:cBhvr>
                                      <p:to>
                                        <a:srgbClr val="FF3300"/>
                                      </p:to>
                                    </p:animClr>
                                  </p:subTnLst>
                                </p:cTn>
                              </p:par>
                              <p:par>
                                <p:cTn id="61" presetID="1" presetClass="entr" presetSubtype="0" fill="hold" nodeType="withEffect">
                                  <p:stCondLst>
                                    <p:cond delay="0"/>
                                  </p:stCondLst>
                                  <p:childTnLst>
                                    <p:set>
                                      <p:cBhvr>
                                        <p:cTn id="62" dur="1" fill="hold">
                                          <p:stCondLst>
                                            <p:cond delay="0"/>
                                          </p:stCondLst>
                                        </p:cTn>
                                        <p:tgtEl>
                                          <p:spTgt spid="210432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2104323">
                                            <p:txEl>
                                              <p:pRg st="1" end="1"/>
                                            </p:txEl>
                                          </p:spTgt>
                                        </p:tgtEl>
                                        <p:attrNameLst>
                                          <p:attrName>ppt_c</p:attrName>
                                        </p:attrNameLst>
                                      </p:cBhvr>
                                      <p:to>
                                        <a:srgbClr val="FF3300"/>
                                      </p:to>
                                    </p:animClr>
                                  </p:subTnLst>
                                </p:cTn>
                              </p:par>
                              <p:par>
                                <p:cTn id="63" presetID="1" presetClass="entr" presetSubtype="0" fill="hold" nodeType="withEffect">
                                  <p:stCondLst>
                                    <p:cond delay="0"/>
                                  </p:stCondLst>
                                  <p:childTnLst>
                                    <p:set>
                                      <p:cBhvr>
                                        <p:cTn id="64" dur="1" fill="hold">
                                          <p:stCondLst>
                                            <p:cond delay="0"/>
                                          </p:stCondLst>
                                        </p:cTn>
                                        <p:tgtEl>
                                          <p:spTgt spid="210432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2104323">
                                            <p:txEl>
                                              <p:pRg st="2" end="2"/>
                                            </p:txEl>
                                          </p:spTgt>
                                        </p:tgtEl>
                                        <p:attrNameLst>
                                          <p:attrName>ppt_c</p:attrName>
                                        </p:attrNameLst>
                                      </p:cBhvr>
                                      <p:to>
                                        <a:srgbClr val="FF3300"/>
                                      </p:to>
                                    </p:animClr>
                                  </p:sub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10432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2104323">
                                            <p:txEl>
                                              <p:pRg st="3" end="3"/>
                                            </p:txEl>
                                          </p:spTgt>
                                        </p:tgtEl>
                                        <p:attrNameLst>
                                          <p:attrName>ppt_c</p:attrName>
                                        </p:attrNameLst>
                                      </p:cBhvr>
                                      <p:to>
                                        <a:srgbClr val="FF3300"/>
                                      </p:to>
                                    </p:animClr>
                                  </p:subTnLst>
                                </p:cTn>
                              </p:par>
                              <p:par>
                                <p:cTn id="69" presetID="2" presetClass="entr" presetSubtype="4" fill="hold" grpId="0" nodeType="withEffect">
                                  <p:stCondLst>
                                    <p:cond delay="0"/>
                                  </p:stCondLst>
                                  <p:childTnLst>
                                    <p:set>
                                      <p:cBhvr>
                                        <p:cTn id="70" dur="1" fill="hold">
                                          <p:stCondLst>
                                            <p:cond delay="0"/>
                                          </p:stCondLst>
                                        </p:cTn>
                                        <p:tgtEl>
                                          <p:spTgt spid="2104335"/>
                                        </p:tgtEl>
                                        <p:attrNameLst>
                                          <p:attrName>style.visibility</p:attrName>
                                        </p:attrNameLst>
                                      </p:cBhvr>
                                      <p:to>
                                        <p:strVal val="visible"/>
                                      </p:to>
                                    </p:set>
                                    <p:anim calcmode="lin" valueType="num">
                                      <p:cBhvr additive="base">
                                        <p:cTn id="71" dur="500" fill="hold"/>
                                        <p:tgtEl>
                                          <p:spTgt spid="2104335"/>
                                        </p:tgtEl>
                                        <p:attrNameLst>
                                          <p:attrName>ppt_x</p:attrName>
                                        </p:attrNameLst>
                                      </p:cBhvr>
                                      <p:tavLst>
                                        <p:tav tm="0">
                                          <p:val>
                                            <p:strVal val="#ppt_x"/>
                                          </p:val>
                                        </p:tav>
                                        <p:tav tm="100000">
                                          <p:val>
                                            <p:strVal val="#ppt_x"/>
                                          </p:val>
                                        </p:tav>
                                      </p:tavLst>
                                    </p:anim>
                                    <p:anim calcmode="lin" valueType="num">
                                      <p:cBhvr additive="base">
                                        <p:cTn id="72" dur="500" fill="hold"/>
                                        <p:tgtEl>
                                          <p:spTgt spid="2104335"/>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104336"/>
                                        </p:tgtEl>
                                        <p:attrNameLst>
                                          <p:attrName>style.visibility</p:attrName>
                                        </p:attrNameLst>
                                      </p:cBhvr>
                                      <p:to>
                                        <p:strVal val="visible"/>
                                      </p:to>
                                    </p:set>
                                    <p:anim calcmode="lin" valueType="num">
                                      <p:cBhvr additive="base">
                                        <p:cTn id="75" dur="500" fill="hold"/>
                                        <p:tgtEl>
                                          <p:spTgt spid="2104336"/>
                                        </p:tgtEl>
                                        <p:attrNameLst>
                                          <p:attrName>ppt_x</p:attrName>
                                        </p:attrNameLst>
                                      </p:cBhvr>
                                      <p:tavLst>
                                        <p:tav tm="0">
                                          <p:val>
                                            <p:strVal val="#ppt_x"/>
                                          </p:val>
                                        </p:tav>
                                        <p:tav tm="100000">
                                          <p:val>
                                            <p:strVal val="#ppt_x"/>
                                          </p:val>
                                        </p:tav>
                                      </p:tavLst>
                                    </p:anim>
                                    <p:anim calcmode="lin" valueType="num">
                                      <p:cBhvr additive="base">
                                        <p:cTn id="76" dur="500" fill="hold"/>
                                        <p:tgtEl>
                                          <p:spTgt spid="2104336"/>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104337"/>
                                        </p:tgtEl>
                                        <p:attrNameLst>
                                          <p:attrName>style.visibility</p:attrName>
                                        </p:attrNameLst>
                                      </p:cBhvr>
                                      <p:to>
                                        <p:strVal val="visible"/>
                                      </p:to>
                                    </p:set>
                                    <p:anim calcmode="lin" valueType="num">
                                      <p:cBhvr additive="base">
                                        <p:cTn id="79" dur="500" fill="hold"/>
                                        <p:tgtEl>
                                          <p:spTgt spid="2104337"/>
                                        </p:tgtEl>
                                        <p:attrNameLst>
                                          <p:attrName>ppt_x</p:attrName>
                                        </p:attrNameLst>
                                      </p:cBhvr>
                                      <p:tavLst>
                                        <p:tav tm="0">
                                          <p:val>
                                            <p:strVal val="#ppt_x"/>
                                          </p:val>
                                        </p:tav>
                                        <p:tav tm="100000">
                                          <p:val>
                                            <p:strVal val="#ppt_x"/>
                                          </p:val>
                                        </p:tav>
                                      </p:tavLst>
                                    </p:anim>
                                    <p:anim calcmode="lin" valueType="num">
                                      <p:cBhvr additive="base">
                                        <p:cTn id="80" dur="500" fill="hold"/>
                                        <p:tgtEl>
                                          <p:spTgt spid="210433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104323">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2104323">
                                            <p:txEl>
                                              <p:pRg st="9" end="9"/>
                                            </p:txEl>
                                          </p:spTgt>
                                        </p:tgtEl>
                                        <p:attrNameLst>
                                          <p:attrName>ppt_c</p:attrName>
                                        </p:attrNameLst>
                                      </p:cBhvr>
                                      <p:to>
                                        <a:srgbClr val="FF33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4323" grpId="0" build="allAtOnce"/>
      <p:bldP spid="2104335" grpId="0"/>
      <p:bldP spid="2104336" grpId="0"/>
      <p:bldP spid="21043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170776" y="2790514"/>
            <a:ext cx="8612987" cy="2646515"/>
          </a:xfrm>
          <a:prstGeom prst="rect">
            <a:avLst/>
          </a:prstGeom>
        </p:spPr>
      </p:pic>
      <p:sp>
        <p:nvSpPr>
          <p:cNvPr id="2130948" name="Text Box 4"/>
          <p:cNvSpPr txBox="1">
            <a:spLocks noChangeArrowheads="1"/>
          </p:cNvSpPr>
          <p:nvPr/>
        </p:nvSpPr>
        <p:spPr bwMode="auto">
          <a:xfrm>
            <a:off x="7424053" y="2125201"/>
            <a:ext cx="1462087" cy="3968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FFFFEF"/>
                </a:solidFill>
              </a:rPr>
              <a:t>函数的定义</a:t>
            </a:r>
          </a:p>
        </p:txBody>
      </p:sp>
      <p:sp>
        <p:nvSpPr>
          <p:cNvPr id="2130949" name="Line 5"/>
          <p:cNvSpPr>
            <a:spLocks noChangeShapeType="1"/>
          </p:cNvSpPr>
          <p:nvPr/>
        </p:nvSpPr>
        <p:spPr bwMode="auto">
          <a:xfrm flipV="1">
            <a:off x="8186052" y="2496375"/>
            <a:ext cx="0" cy="995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30950" name="Line 6"/>
          <p:cNvSpPr>
            <a:spLocks noChangeShapeType="1"/>
          </p:cNvSpPr>
          <p:nvPr/>
        </p:nvSpPr>
        <p:spPr bwMode="auto">
          <a:xfrm flipV="1">
            <a:off x="8775014" y="2920797"/>
            <a:ext cx="1588" cy="5572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30951" name="Text Box 7"/>
          <p:cNvSpPr txBox="1">
            <a:spLocks noChangeArrowheads="1"/>
          </p:cNvSpPr>
          <p:nvPr/>
        </p:nvSpPr>
        <p:spPr bwMode="auto">
          <a:xfrm>
            <a:off x="8325752" y="2785732"/>
            <a:ext cx="1206500" cy="3968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solidFill>
                  <a:srgbClr val="FFFFEF"/>
                </a:solidFill>
              </a:rPr>
              <a:t>形式参数</a:t>
            </a:r>
          </a:p>
        </p:txBody>
      </p:sp>
      <p:sp>
        <p:nvSpPr>
          <p:cNvPr id="2130952" name="Text Box 8"/>
          <p:cNvSpPr txBox="1">
            <a:spLocks noChangeArrowheads="1"/>
          </p:cNvSpPr>
          <p:nvPr/>
        </p:nvSpPr>
        <p:spPr bwMode="auto">
          <a:xfrm>
            <a:off x="6167438" y="5517724"/>
            <a:ext cx="5727355" cy="887254"/>
          </a:xfrm>
          <a:prstGeom prst="roundRect">
            <a:avLst>
              <a:gd name="adj" fmla="val 11829"/>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600" dirty="0">
                <a:solidFill>
                  <a:srgbClr val="FFFFEF"/>
                </a:solidFill>
                <a:latin typeface="微软雅黑" panose="020B0503020204020204" pitchFamily="34" charset="-122"/>
                <a:ea typeface="微软雅黑" panose="020B0503020204020204" pitchFamily="34" charset="-122"/>
              </a:rPr>
              <a:t>函数体，实现函数功能的程序语句序列，以形式参数作为需要处理的对象。</a:t>
            </a:r>
          </a:p>
          <a:p>
            <a:r>
              <a:rPr lang="zh-CN" altLang="en-US" sz="1600" dirty="0">
                <a:solidFill>
                  <a:srgbClr val="FFFFEF"/>
                </a:solidFill>
                <a:latin typeface="微软雅黑" panose="020B0503020204020204" pitchFamily="34" charset="-122"/>
                <a:ea typeface="微软雅黑" panose="020B0503020204020204" pitchFamily="34" charset="-122"/>
              </a:rPr>
              <a:t>当被调用时，用实际参数替换相应的形式参数进行程序执行。</a:t>
            </a:r>
          </a:p>
        </p:txBody>
      </p:sp>
      <p:sp>
        <p:nvSpPr>
          <p:cNvPr id="2130953" name="Line 9"/>
          <p:cNvSpPr>
            <a:spLocks noChangeShapeType="1"/>
          </p:cNvSpPr>
          <p:nvPr/>
        </p:nvSpPr>
        <p:spPr bwMode="auto">
          <a:xfrm flipH="1">
            <a:off x="6357552" y="4775568"/>
            <a:ext cx="15875" cy="8556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30954" name="Text Box 10"/>
          <p:cNvSpPr txBox="1">
            <a:spLocks noChangeArrowheads="1"/>
          </p:cNvSpPr>
          <p:nvPr/>
        </p:nvSpPr>
        <p:spPr bwMode="auto">
          <a:xfrm>
            <a:off x="2245926" y="5753469"/>
            <a:ext cx="1462088" cy="3968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FFFFEF"/>
                </a:solidFill>
              </a:rPr>
              <a:t>函数的使用</a:t>
            </a:r>
          </a:p>
        </p:txBody>
      </p:sp>
      <p:sp>
        <p:nvSpPr>
          <p:cNvPr id="2130955" name="Line 11"/>
          <p:cNvSpPr>
            <a:spLocks noChangeShapeType="1"/>
          </p:cNvSpPr>
          <p:nvPr/>
        </p:nvSpPr>
        <p:spPr bwMode="auto">
          <a:xfrm>
            <a:off x="3420676" y="4715244"/>
            <a:ext cx="0" cy="1049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30956" name="Line 12"/>
          <p:cNvSpPr>
            <a:spLocks noChangeShapeType="1"/>
          </p:cNvSpPr>
          <p:nvPr/>
        </p:nvSpPr>
        <p:spPr bwMode="auto">
          <a:xfrm>
            <a:off x="3765164" y="4715243"/>
            <a:ext cx="0" cy="16049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30957" name="Text Box 13"/>
          <p:cNvSpPr txBox="1">
            <a:spLocks noChangeArrowheads="1"/>
          </p:cNvSpPr>
          <p:nvPr/>
        </p:nvSpPr>
        <p:spPr bwMode="auto">
          <a:xfrm>
            <a:off x="3093651" y="6309094"/>
            <a:ext cx="1206500" cy="39687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FFFFEF"/>
                </a:solidFill>
              </a:rPr>
              <a:t>实际参数</a:t>
            </a:r>
          </a:p>
        </p:txBody>
      </p:sp>
      <p:sp>
        <p:nvSpPr>
          <p:cNvPr id="2130962" name="Text Box 16"/>
          <p:cNvSpPr txBox="1">
            <a:spLocks noChangeArrowheads="1"/>
          </p:cNvSpPr>
          <p:nvPr/>
        </p:nvSpPr>
        <p:spPr bwMode="auto">
          <a:xfrm>
            <a:off x="1687513" y="1"/>
            <a:ext cx="35461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用高级语言构造程序</a:t>
            </a:r>
          </a:p>
          <a:p>
            <a:pPr eaLnBrk="1" hangingPunct="1">
              <a:lnSpc>
                <a:spcPct val="120000"/>
              </a:lnSpc>
            </a:pPr>
            <a:r>
              <a:rPr lang="en-US" altLang="zh-CN" sz="2000">
                <a:solidFill>
                  <a:schemeClr val="bg1"/>
                </a:solidFill>
                <a:ea typeface="华文中宋" panose="02010600040101010101" pitchFamily="2" charset="-122"/>
              </a:rPr>
              <a:t>(2)</a:t>
            </a:r>
            <a:r>
              <a:rPr lang="zh-CN" altLang="en-US" sz="2000">
                <a:solidFill>
                  <a:schemeClr val="bg1"/>
                </a:solidFill>
                <a:ea typeface="华文中宋" panose="02010600040101010101" pitchFamily="2" charset="-122"/>
              </a:rPr>
              <a:t>你知道函数是一种抽象吗</a:t>
            </a:r>
            <a:r>
              <a:rPr lang="en-US" altLang="zh-CN" sz="2000">
                <a:solidFill>
                  <a:schemeClr val="bg1"/>
                </a:solidFill>
                <a:ea typeface="华文中宋" panose="02010600040101010101" pitchFamily="2" charset="-122"/>
              </a:rPr>
              <a:t>? </a:t>
            </a:r>
          </a:p>
        </p:txBody>
      </p:sp>
      <p:sp>
        <p:nvSpPr>
          <p:cNvPr id="2130963" name="Rectangle 19"/>
          <p:cNvSpPr>
            <a:spLocks noChangeArrowheads="1"/>
          </p:cNvSpPr>
          <p:nvPr/>
        </p:nvSpPr>
        <p:spPr bwMode="auto">
          <a:xfrm>
            <a:off x="707211" y="1958386"/>
            <a:ext cx="43261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latin typeface="微软雅黑" panose="020B0503020204020204" pitchFamily="34" charset="-122"/>
                <a:ea typeface="微软雅黑" panose="020B0503020204020204" pitchFamily="34" charset="-122"/>
              </a:rPr>
              <a:t>函数是一种抽象，用一个名字代表一个程序段落</a:t>
            </a:r>
          </a:p>
        </p:txBody>
      </p:sp>
      <p:sp>
        <p:nvSpPr>
          <p:cNvPr id="2130964" name="Rectangle 20"/>
          <p:cNvSpPr>
            <a:spLocks noChangeArrowheads="1"/>
          </p:cNvSpPr>
          <p:nvPr/>
        </p:nvSpPr>
        <p:spPr bwMode="auto">
          <a:xfrm>
            <a:off x="7202100" y="3347083"/>
            <a:ext cx="2559437" cy="2014445"/>
          </a:xfrm>
          <a:prstGeom prst="rect">
            <a:avLst/>
          </a:prstGeom>
          <a:noFill/>
          <a:ln w="762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高级语言程序的基本语法要素</a:t>
            </a:r>
          </a:p>
        </p:txBody>
      </p:sp>
      <p:sp>
        <p:nvSpPr>
          <p:cNvPr id="23" name="圆角矩形 22"/>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基本要素：（</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）函数</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3474" name="Group 2"/>
          <p:cNvGrpSpPr/>
          <p:nvPr/>
        </p:nvGrpSpPr>
        <p:grpSpPr bwMode="auto">
          <a:xfrm>
            <a:off x="4695604" y="1959016"/>
            <a:ext cx="1425575" cy="1187450"/>
            <a:chOff x="486" y="2211"/>
            <a:chExt cx="898" cy="748"/>
          </a:xfrm>
        </p:grpSpPr>
        <p:sp>
          <p:nvSpPr>
            <p:cNvPr id="2" name="AutoShape 39"/>
            <p:cNvSpPr>
              <a:spLocks noChangeArrowheads="1"/>
            </p:cNvSpPr>
            <p:nvPr/>
          </p:nvSpPr>
          <p:spPr bwMode="gray">
            <a:xfrm>
              <a:off x="486" y="2211"/>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3" name="Oval 40"/>
            <p:cNvSpPr>
              <a:spLocks noChangeArrowheads="1"/>
            </p:cNvSpPr>
            <p:nvPr/>
          </p:nvSpPr>
          <p:spPr bwMode="gray">
            <a:xfrm>
              <a:off x="560" y="2273"/>
              <a:ext cx="750" cy="625"/>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4" name="Text Box 84"/>
            <p:cNvSpPr txBox="1">
              <a:spLocks noChangeArrowheads="1"/>
            </p:cNvSpPr>
            <p:nvPr/>
          </p:nvSpPr>
          <p:spPr bwMode="auto">
            <a:xfrm>
              <a:off x="563" y="2422"/>
              <a:ext cx="743" cy="327"/>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常量</a:t>
              </a:r>
            </a:p>
          </p:txBody>
        </p:sp>
      </p:grpSp>
      <p:grpSp>
        <p:nvGrpSpPr>
          <p:cNvPr id="2153478" name="Group 6"/>
          <p:cNvGrpSpPr/>
          <p:nvPr/>
        </p:nvGrpSpPr>
        <p:grpSpPr bwMode="auto">
          <a:xfrm>
            <a:off x="4703542" y="3176629"/>
            <a:ext cx="1425575" cy="1187450"/>
            <a:chOff x="1580" y="2211"/>
            <a:chExt cx="898" cy="748"/>
          </a:xfrm>
        </p:grpSpPr>
        <p:sp>
          <p:nvSpPr>
            <p:cNvPr id="5" name="AutoShape 39"/>
            <p:cNvSpPr>
              <a:spLocks noChangeArrowheads="1"/>
            </p:cNvSpPr>
            <p:nvPr/>
          </p:nvSpPr>
          <p:spPr bwMode="gray">
            <a:xfrm>
              <a:off x="1580" y="2211"/>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6" name="Oval 40"/>
            <p:cNvSpPr>
              <a:spLocks noChangeArrowheads="1"/>
            </p:cNvSpPr>
            <p:nvPr/>
          </p:nvSpPr>
          <p:spPr bwMode="gray">
            <a:xfrm>
              <a:off x="1654" y="2273"/>
              <a:ext cx="750" cy="625"/>
            </a:xfrm>
            <a:prstGeom prst="ellipse">
              <a:avLst/>
            </a:prstGeom>
            <a:solidFill>
              <a:schemeClr val="accent2"/>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7" name="Text Box 84"/>
            <p:cNvSpPr txBox="1">
              <a:spLocks noChangeArrowheads="1"/>
            </p:cNvSpPr>
            <p:nvPr/>
          </p:nvSpPr>
          <p:spPr bwMode="auto">
            <a:xfrm>
              <a:off x="1657" y="2422"/>
              <a:ext cx="743" cy="327"/>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变量</a:t>
              </a:r>
            </a:p>
          </p:txBody>
        </p:sp>
      </p:grpSp>
      <p:sp>
        <p:nvSpPr>
          <p:cNvPr id="2153482" name="AutoShape 10"/>
          <p:cNvSpPr>
            <a:spLocks noChangeArrowheads="1"/>
          </p:cNvSpPr>
          <p:nvPr/>
        </p:nvSpPr>
        <p:spPr bwMode="auto">
          <a:xfrm>
            <a:off x="6108479" y="2976604"/>
            <a:ext cx="817563" cy="277812"/>
          </a:xfrm>
          <a:prstGeom prst="rightArrow">
            <a:avLst>
              <a:gd name="adj1" fmla="val 50000"/>
              <a:gd name="adj2" fmla="val 73572"/>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3521" name="Group 49"/>
          <p:cNvGrpSpPr/>
          <p:nvPr/>
        </p:nvGrpSpPr>
        <p:grpSpPr bwMode="auto">
          <a:xfrm>
            <a:off x="7011767" y="3752891"/>
            <a:ext cx="1425575" cy="1187450"/>
            <a:chOff x="2126" y="2509"/>
            <a:chExt cx="898" cy="748"/>
          </a:xfrm>
        </p:grpSpPr>
        <p:sp>
          <p:nvSpPr>
            <p:cNvPr id="8" name="AutoShape 39"/>
            <p:cNvSpPr>
              <a:spLocks noChangeArrowheads="1"/>
            </p:cNvSpPr>
            <p:nvPr/>
          </p:nvSpPr>
          <p:spPr bwMode="gray">
            <a:xfrm>
              <a:off x="2126" y="2509"/>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9" name="Oval 40"/>
            <p:cNvSpPr>
              <a:spLocks noChangeArrowheads="1"/>
            </p:cNvSpPr>
            <p:nvPr/>
          </p:nvSpPr>
          <p:spPr bwMode="gray">
            <a:xfrm>
              <a:off x="2200" y="2571"/>
              <a:ext cx="750" cy="625"/>
            </a:xfrm>
            <a:prstGeom prst="ellipse">
              <a:avLst/>
            </a:prstGeom>
            <a:solidFill>
              <a:srgbClr val="0099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0" name="Text Box 84"/>
            <p:cNvSpPr txBox="1">
              <a:spLocks noChangeArrowheads="1"/>
            </p:cNvSpPr>
            <p:nvPr/>
          </p:nvSpPr>
          <p:spPr bwMode="auto">
            <a:xfrm>
              <a:off x="2203" y="2586"/>
              <a:ext cx="743"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赋值语句 </a:t>
              </a:r>
            </a:p>
          </p:txBody>
        </p:sp>
      </p:grpSp>
      <p:sp>
        <p:nvSpPr>
          <p:cNvPr id="2153495" name="AutoShape 23"/>
          <p:cNvSpPr/>
          <p:nvPr/>
        </p:nvSpPr>
        <p:spPr bwMode="auto">
          <a:xfrm>
            <a:off x="8480203" y="2030454"/>
            <a:ext cx="211138" cy="1935162"/>
          </a:xfrm>
          <a:prstGeom prst="leftBrace">
            <a:avLst>
              <a:gd name="adj1" fmla="val 76378"/>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3496" name="Group 24"/>
          <p:cNvGrpSpPr/>
          <p:nvPr/>
        </p:nvGrpSpPr>
        <p:grpSpPr bwMode="auto">
          <a:xfrm>
            <a:off x="8761192" y="1351005"/>
            <a:ext cx="1425575" cy="1095375"/>
            <a:chOff x="253" y="1903"/>
            <a:chExt cx="898" cy="748"/>
          </a:xfrm>
        </p:grpSpPr>
        <p:sp>
          <p:nvSpPr>
            <p:cNvPr id="11" name="AutoShape 39"/>
            <p:cNvSpPr>
              <a:spLocks noChangeArrowheads="1"/>
            </p:cNvSpPr>
            <p:nvPr/>
          </p:nvSpPr>
          <p:spPr bwMode="gray">
            <a:xfrm>
              <a:off x="253" y="1903"/>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2" name="Oval 40"/>
            <p:cNvSpPr>
              <a:spLocks noChangeArrowheads="1"/>
            </p:cNvSpPr>
            <p:nvPr/>
          </p:nvSpPr>
          <p:spPr bwMode="gray">
            <a:xfrm>
              <a:off x="327" y="1965"/>
              <a:ext cx="750" cy="625"/>
            </a:xfrm>
            <a:prstGeom prst="ellipse">
              <a:avLst/>
            </a:prstGeom>
            <a:solidFill>
              <a:srgbClr val="80008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3" name="Text Box 84"/>
            <p:cNvSpPr txBox="1">
              <a:spLocks noChangeArrowheads="1"/>
            </p:cNvSpPr>
            <p:nvPr/>
          </p:nvSpPr>
          <p:spPr bwMode="auto">
            <a:xfrm>
              <a:off x="330" y="2050"/>
              <a:ext cx="743" cy="479"/>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000">
                  <a:solidFill>
                    <a:srgbClr val="FFFFFF"/>
                  </a:solidFill>
                  <a:latin typeface="宋体" pitchFamily="2" charset="-122"/>
                  <a:ea typeface="华文中宋" panose="02010600040101010101" pitchFamily="2" charset="-122"/>
                </a:rPr>
                <a:t>算术表达式</a:t>
              </a:r>
            </a:p>
          </p:txBody>
        </p:sp>
      </p:grpSp>
      <p:grpSp>
        <p:nvGrpSpPr>
          <p:cNvPr id="2153500" name="Group 28"/>
          <p:cNvGrpSpPr/>
          <p:nvPr/>
        </p:nvGrpSpPr>
        <p:grpSpPr bwMode="auto">
          <a:xfrm>
            <a:off x="8773892" y="2443205"/>
            <a:ext cx="1425575" cy="1095375"/>
            <a:chOff x="253" y="1903"/>
            <a:chExt cx="898" cy="748"/>
          </a:xfrm>
        </p:grpSpPr>
        <p:sp>
          <p:nvSpPr>
            <p:cNvPr id="14" name="AutoShape 39"/>
            <p:cNvSpPr>
              <a:spLocks noChangeArrowheads="1"/>
            </p:cNvSpPr>
            <p:nvPr/>
          </p:nvSpPr>
          <p:spPr bwMode="gray">
            <a:xfrm>
              <a:off x="253" y="1903"/>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5" name="Oval 40"/>
            <p:cNvSpPr>
              <a:spLocks noChangeArrowheads="1"/>
            </p:cNvSpPr>
            <p:nvPr/>
          </p:nvSpPr>
          <p:spPr bwMode="gray">
            <a:xfrm>
              <a:off x="327" y="1965"/>
              <a:ext cx="750" cy="625"/>
            </a:xfrm>
            <a:prstGeom prst="ellipse">
              <a:avLst/>
            </a:prstGeom>
            <a:solidFill>
              <a:srgbClr val="80008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7" name="Text Box 84"/>
            <p:cNvSpPr txBox="1">
              <a:spLocks noChangeArrowheads="1"/>
            </p:cNvSpPr>
            <p:nvPr/>
          </p:nvSpPr>
          <p:spPr bwMode="auto">
            <a:xfrm>
              <a:off x="330" y="2050"/>
              <a:ext cx="743" cy="479"/>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000">
                  <a:solidFill>
                    <a:srgbClr val="FFFFFF"/>
                  </a:solidFill>
                  <a:latin typeface="宋体" pitchFamily="2" charset="-122"/>
                  <a:ea typeface="华文中宋" panose="02010600040101010101" pitchFamily="2" charset="-122"/>
                </a:rPr>
                <a:t>比较表达式</a:t>
              </a:r>
            </a:p>
          </p:txBody>
        </p:sp>
      </p:grpSp>
      <p:grpSp>
        <p:nvGrpSpPr>
          <p:cNvPr id="2153504" name="Group 32"/>
          <p:cNvGrpSpPr/>
          <p:nvPr/>
        </p:nvGrpSpPr>
        <p:grpSpPr bwMode="auto">
          <a:xfrm>
            <a:off x="8786592" y="3510005"/>
            <a:ext cx="1425575" cy="1095375"/>
            <a:chOff x="253" y="1903"/>
            <a:chExt cx="898" cy="748"/>
          </a:xfrm>
        </p:grpSpPr>
        <p:sp>
          <p:nvSpPr>
            <p:cNvPr id="18" name="AutoShape 39"/>
            <p:cNvSpPr>
              <a:spLocks noChangeArrowheads="1"/>
            </p:cNvSpPr>
            <p:nvPr/>
          </p:nvSpPr>
          <p:spPr bwMode="gray">
            <a:xfrm>
              <a:off x="253" y="1903"/>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19" name="Oval 40"/>
            <p:cNvSpPr>
              <a:spLocks noChangeArrowheads="1"/>
            </p:cNvSpPr>
            <p:nvPr/>
          </p:nvSpPr>
          <p:spPr bwMode="gray">
            <a:xfrm>
              <a:off x="327" y="1965"/>
              <a:ext cx="750" cy="625"/>
            </a:xfrm>
            <a:prstGeom prst="ellipse">
              <a:avLst/>
            </a:prstGeom>
            <a:solidFill>
              <a:srgbClr val="80008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22" name="Text Box 84"/>
            <p:cNvSpPr txBox="1">
              <a:spLocks noChangeArrowheads="1"/>
            </p:cNvSpPr>
            <p:nvPr/>
          </p:nvSpPr>
          <p:spPr bwMode="auto">
            <a:xfrm>
              <a:off x="330" y="2050"/>
              <a:ext cx="743" cy="479"/>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000">
                  <a:solidFill>
                    <a:srgbClr val="FFFFFF"/>
                  </a:solidFill>
                  <a:latin typeface="宋体" pitchFamily="2" charset="-122"/>
                  <a:ea typeface="华文中宋" panose="02010600040101010101" pitchFamily="2" charset="-122"/>
                </a:rPr>
                <a:t>逻辑表达式</a:t>
              </a:r>
            </a:p>
          </p:txBody>
        </p:sp>
      </p:grpSp>
      <p:grpSp>
        <p:nvGrpSpPr>
          <p:cNvPr id="2153520" name="Group 48"/>
          <p:cNvGrpSpPr/>
          <p:nvPr/>
        </p:nvGrpSpPr>
        <p:grpSpPr bwMode="auto">
          <a:xfrm>
            <a:off x="6989542" y="2509879"/>
            <a:ext cx="1425575" cy="1187450"/>
            <a:chOff x="760" y="1407"/>
            <a:chExt cx="898" cy="748"/>
          </a:xfrm>
        </p:grpSpPr>
        <p:sp>
          <p:nvSpPr>
            <p:cNvPr id="23" name="AutoShape 39"/>
            <p:cNvSpPr>
              <a:spLocks noChangeArrowheads="1"/>
            </p:cNvSpPr>
            <p:nvPr/>
          </p:nvSpPr>
          <p:spPr bwMode="gray">
            <a:xfrm>
              <a:off x="760" y="1407"/>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24" name="Oval 40"/>
            <p:cNvSpPr>
              <a:spLocks noChangeArrowheads="1"/>
            </p:cNvSpPr>
            <p:nvPr/>
          </p:nvSpPr>
          <p:spPr bwMode="gray">
            <a:xfrm>
              <a:off x="834" y="1468"/>
              <a:ext cx="750" cy="625"/>
            </a:xfrm>
            <a:prstGeom prst="ellipse">
              <a:avLst/>
            </a:prstGeom>
            <a:solidFill>
              <a:srgbClr val="80008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25" name="Text Box 84"/>
            <p:cNvSpPr txBox="1">
              <a:spLocks noChangeArrowheads="1"/>
            </p:cNvSpPr>
            <p:nvPr/>
          </p:nvSpPr>
          <p:spPr bwMode="auto">
            <a:xfrm>
              <a:off x="837" y="1483"/>
              <a:ext cx="743"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表达式</a:t>
              </a:r>
            </a:p>
          </p:txBody>
        </p:sp>
      </p:grpSp>
      <p:sp>
        <p:nvSpPr>
          <p:cNvPr id="2153519" name="Text Box 16"/>
          <p:cNvSpPr txBox="1">
            <a:spLocks noChangeArrowheads="1"/>
          </p:cNvSpPr>
          <p:nvPr/>
        </p:nvSpPr>
        <p:spPr bwMode="auto">
          <a:xfrm>
            <a:off x="1687513" y="1"/>
            <a:ext cx="36888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高级语言</a:t>
            </a:r>
            <a:r>
              <a:rPr lang="en-US" altLang="zh-CN" sz="2000">
                <a:solidFill>
                  <a:schemeClr val="bg1"/>
                </a:solidFill>
                <a:ea typeface="华文中宋" panose="02010600040101010101" pitchFamily="2" charset="-122"/>
              </a:rPr>
              <a:t>(</a:t>
            </a:r>
            <a:r>
              <a:rPr lang="zh-CN" altLang="en-US" sz="2000">
                <a:solidFill>
                  <a:schemeClr val="bg1"/>
                </a:solidFill>
                <a:ea typeface="华文中宋" panose="02010600040101010101" pitchFamily="2" charset="-122"/>
              </a:rPr>
              <a:t>程序</a:t>
            </a:r>
            <a:r>
              <a:rPr lang="en-US" altLang="zh-CN" sz="2000">
                <a:solidFill>
                  <a:schemeClr val="bg1"/>
                </a:solidFill>
                <a:ea typeface="华文中宋" panose="02010600040101010101" pitchFamily="2" charset="-122"/>
              </a:rPr>
              <a:t>)</a:t>
            </a:r>
            <a:r>
              <a:rPr lang="zh-CN" altLang="en-US" sz="2000">
                <a:solidFill>
                  <a:schemeClr val="bg1"/>
                </a:solidFill>
                <a:ea typeface="华文中宋" panose="02010600040101010101" pitchFamily="2" charset="-122"/>
              </a:rPr>
              <a:t>的基本构成要素</a:t>
            </a:r>
          </a:p>
          <a:p>
            <a:pPr eaLnBrk="1" hangingPunct="1">
              <a:lnSpc>
                <a:spcPct val="120000"/>
              </a:lnSpc>
            </a:pPr>
            <a:r>
              <a:rPr lang="en-US" altLang="zh-CN" sz="2000">
                <a:solidFill>
                  <a:schemeClr val="bg1"/>
                </a:solidFill>
                <a:ea typeface="华文中宋" panose="02010600040101010101" pitchFamily="2" charset="-122"/>
              </a:rPr>
              <a:t>(6)</a:t>
            </a:r>
            <a:r>
              <a:rPr lang="zh-CN" altLang="en-US" sz="2000">
                <a:solidFill>
                  <a:schemeClr val="bg1"/>
                </a:solidFill>
                <a:ea typeface="华文中宋" panose="02010600040101010101" pitchFamily="2" charset="-122"/>
              </a:rPr>
              <a:t>小结</a:t>
            </a:r>
            <a:r>
              <a:rPr lang="en-US" altLang="zh-CN" sz="2000">
                <a:solidFill>
                  <a:schemeClr val="bg1"/>
                </a:solidFill>
                <a:ea typeface="华文中宋" panose="02010600040101010101" pitchFamily="2" charset="-122"/>
              </a:rPr>
              <a:t>? </a:t>
            </a:r>
          </a:p>
        </p:txBody>
      </p:sp>
      <p:grpSp>
        <p:nvGrpSpPr>
          <p:cNvPr id="2153524" name="Group 52"/>
          <p:cNvGrpSpPr/>
          <p:nvPr/>
        </p:nvGrpSpPr>
        <p:grpSpPr bwMode="auto">
          <a:xfrm>
            <a:off x="7045104" y="5181641"/>
            <a:ext cx="1425575" cy="1187450"/>
            <a:chOff x="2126" y="2509"/>
            <a:chExt cx="898" cy="748"/>
          </a:xfrm>
        </p:grpSpPr>
        <p:sp>
          <p:nvSpPr>
            <p:cNvPr id="26" name="AutoShape 39"/>
            <p:cNvSpPr>
              <a:spLocks noChangeArrowheads="1"/>
            </p:cNvSpPr>
            <p:nvPr/>
          </p:nvSpPr>
          <p:spPr bwMode="gray">
            <a:xfrm>
              <a:off x="2126" y="2509"/>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27" name="Oval 40"/>
            <p:cNvSpPr>
              <a:spLocks noChangeArrowheads="1"/>
            </p:cNvSpPr>
            <p:nvPr/>
          </p:nvSpPr>
          <p:spPr bwMode="gray">
            <a:xfrm>
              <a:off x="2200" y="2571"/>
              <a:ext cx="750" cy="625"/>
            </a:xfrm>
            <a:prstGeom prst="ellipse">
              <a:avLst/>
            </a:prstGeom>
            <a:solidFill>
              <a:srgbClr val="0099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28" name="Text Box 84"/>
            <p:cNvSpPr txBox="1">
              <a:spLocks noChangeArrowheads="1"/>
            </p:cNvSpPr>
            <p:nvPr/>
          </p:nvSpPr>
          <p:spPr bwMode="auto">
            <a:xfrm>
              <a:off x="2203" y="2586"/>
              <a:ext cx="743"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分支结构 </a:t>
              </a:r>
            </a:p>
          </p:txBody>
        </p:sp>
      </p:grpSp>
      <p:grpSp>
        <p:nvGrpSpPr>
          <p:cNvPr id="2153528" name="Group 56"/>
          <p:cNvGrpSpPr/>
          <p:nvPr/>
        </p:nvGrpSpPr>
        <p:grpSpPr bwMode="auto">
          <a:xfrm>
            <a:off x="8486554" y="5181641"/>
            <a:ext cx="1425575" cy="1187450"/>
            <a:chOff x="2126" y="2509"/>
            <a:chExt cx="898" cy="748"/>
          </a:xfrm>
        </p:grpSpPr>
        <p:sp>
          <p:nvSpPr>
            <p:cNvPr id="29" name="AutoShape 39"/>
            <p:cNvSpPr>
              <a:spLocks noChangeArrowheads="1"/>
            </p:cNvSpPr>
            <p:nvPr/>
          </p:nvSpPr>
          <p:spPr bwMode="gray">
            <a:xfrm>
              <a:off x="2126" y="2509"/>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30" name="Oval 40"/>
            <p:cNvSpPr>
              <a:spLocks noChangeArrowheads="1"/>
            </p:cNvSpPr>
            <p:nvPr/>
          </p:nvSpPr>
          <p:spPr bwMode="gray">
            <a:xfrm>
              <a:off x="2200" y="2571"/>
              <a:ext cx="750" cy="625"/>
            </a:xfrm>
            <a:prstGeom prst="ellipse">
              <a:avLst/>
            </a:prstGeom>
            <a:solidFill>
              <a:srgbClr val="0099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31" name="Text Box 84"/>
            <p:cNvSpPr txBox="1">
              <a:spLocks noChangeArrowheads="1"/>
            </p:cNvSpPr>
            <p:nvPr/>
          </p:nvSpPr>
          <p:spPr bwMode="auto">
            <a:xfrm>
              <a:off x="2203" y="2586"/>
              <a:ext cx="743"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循环结构 </a:t>
              </a:r>
            </a:p>
          </p:txBody>
        </p:sp>
      </p:grpSp>
      <p:grpSp>
        <p:nvGrpSpPr>
          <p:cNvPr id="2153532" name="Group 60"/>
          <p:cNvGrpSpPr/>
          <p:nvPr/>
        </p:nvGrpSpPr>
        <p:grpSpPr bwMode="auto">
          <a:xfrm>
            <a:off x="5605242" y="5181641"/>
            <a:ext cx="1425575" cy="1187450"/>
            <a:chOff x="2126" y="2509"/>
            <a:chExt cx="898" cy="748"/>
          </a:xfrm>
        </p:grpSpPr>
        <p:sp>
          <p:nvSpPr>
            <p:cNvPr id="32" name="AutoShape 39"/>
            <p:cNvSpPr>
              <a:spLocks noChangeArrowheads="1"/>
            </p:cNvSpPr>
            <p:nvPr/>
          </p:nvSpPr>
          <p:spPr bwMode="gray">
            <a:xfrm>
              <a:off x="2126" y="2509"/>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33" name="Oval 40"/>
            <p:cNvSpPr>
              <a:spLocks noChangeArrowheads="1"/>
            </p:cNvSpPr>
            <p:nvPr/>
          </p:nvSpPr>
          <p:spPr bwMode="gray">
            <a:xfrm>
              <a:off x="2200" y="2571"/>
              <a:ext cx="750" cy="625"/>
            </a:xfrm>
            <a:prstGeom prst="ellipse">
              <a:avLst/>
            </a:prstGeom>
            <a:solidFill>
              <a:srgbClr val="0099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34" name="Text Box 84"/>
            <p:cNvSpPr txBox="1">
              <a:spLocks noChangeArrowheads="1"/>
            </p:cNvSpPr>
            <p:nvPr/>
          </p:nvSpPr>
          <p:spPr bwMode="auto">
            <a:xfrm>
              <a:off x="2203" y="2586"/>
              <a:ext cx="743"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顺序结构 </a:t>
              </a:r>
            </a:p>
          </p:txBody>
        </p:sp>
      </p:grpSp>
      <p:pic>
        <p:nvPicPr>
          <p:cNvPr id="49" name="图片 48"/>
          <p:cNvPicPr>
            <a:picLocks noChangeAspect="1"/>
          </p:cNvPicPr>
          <p:nvPr/>
        </p:nvPicPr>
        <p:blipFill>
          <a:blip r:embed="rId3"/>
          <a:stretch>
            <a:fillRect/>
          </a:stretch>
        </p:blipFill>
        <p:spPr>
          <a:xfrm>
            <a:off x="573897" y="1351005"/>
            <a:ext cx="3017796" cy="5436974"/>
          </a:xfrm>
          <a:prstGeom prst="rect">
            <a:avLst/>
          </a:prstGeom>
        </p:spPr>
      </p:pic>
      <p:grpSp>
        <p:nvGrpSpPr>
          <p:cNvPr id="50" name="Group 56"/>
          <p:cNvGrpSpPr/>
          <p:nvPr/>
        </p:nvGrpSpPr>
        <p:grpSpPr bwMode="auto">
          <a:xfrm>
            <a:off x="10344186" y="5188376"/>
            <a:ext cx="1425575" cy="1187450"/>
            <a:chOff x="2126" y="2509"/>
            <a:chExt cx="898" cy="748"/>
          </a:xfrm>
        </p:grpSpPr>
        <p:sp>
          <p:nvSpPr>
            <p:cNvPr id="51" name="AutoShape 39"/>
            <p:cNvSpPr>
              <a:spLocks noChangeArrowheads="1"/>
            </p:cNvSpPr>
            <p:nvPr/>
          </p:nvSpPr>
          <p:spPr bwMode="gray">
            <a:xfrm>
              <a:off x="2126" y="2509"/>
              <a:ext cx="898" cy="748"/>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52" name="Oval 40"/>
            <p:cNvSpPr>
              <a:spLocks noChangeArrowheads="1"/>
            </p:cNvSpPr>
            <p:nvPr/>
          </p:nvSpPr>
          <p:spPr bwMode="gray">
            <a:xfrm>
              <a:off x="2200" y="2571"/>
              <a:ext cx="750" cy="625"/>
            </a:xfrm>
            <a:prstGeom prst="ellipse">
              <a:avLst/>
            </a:prstGeom>
            <a:solidFill>
              <a:srgbClr val="C00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latin typeface="宋体" pitchFamily="2" charset="-122"/>
                <a:ea typeface="宋体" pitchFamily="2" charset="-122"/>
              </a:endParaRPr>
            </a:p>
          </p:txBody>
        </p:sp>
        <p:sp>
          <p:nvSpPr>
            <p:cNvPr id="53" name="Text Box 84"/>
            <p:cNvSpPr txBox="1">
              <a:spLocks noChangeArrowheads="1"/>
            </p:cNvSpPr>
            <p:nvPr/>
          </p:nvSpPr>
          <p:spPr bwMode="auto">
            <a:xfrm>
              <a:off x="2196" y="2705"/>
              <a:ext cx="743" cy="330"/>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2800" dirty="0">
                  <a:solidFill>
                    <a:srgbClr val="FFFFFF"/>
                  </a:solidFill>
                  <a:latin typeface="宋体" pitchFamily="2" charset="-122"/>
                  <a:ea typeface="华文中宋" panose="02010600040101010101" pitchFamily="2" charset="-122"/>
                </a:rPr>
                <a:t>函数</a:t>
              </a:r>
            </a:p>
          </p:txBody>
        </p:sp>
      </p:grpSp>
      <p:sp>
        <p:nvSpPr>
          <p:cNvPr id="54"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高级语言程序的基本语法要素</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3259" name="AutoShape 27"/>
          <p:cNvSpPr>
            <a:spLocks noChangeArrowheads="1"/>
          </p:cNvSpPr>
          <p:nvPr/>
        </p:nvSpPr>
        <p:spPr bwMode="auto">
          <a:xfrm>
            <a:off x="3635375" y="3162867"/>
            <a:ext cx="1754188" cy="803731"/>
          </a:xfrm>
          <a:prstGeom prst="foldedCorner">
            <a:avLst>
              <a:gd name="adj" fmla="val 12500"/>
            </a:avLst>
          </a:prstGeom>
          <a:noFill/>
          <a:ln w="1905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zh-CN" altLang="en-US">
                <a:latin typeface="Times New Roman" panose="02020503050405090304" pitchFamily="18" charset="0"/>
                <a:ea typeface="楷体_GB2312" pitchFamily="49" charset="-122"/>
              </a:rPr>
              <a:t>一套书写程序的语法规则</a:t>
            </a:r>
          </a:p>
        </p:txBody>
      </p:sp>
      <p:sp>
        <p:nvSpPr>
          <p:cNvPr id="2143260" name="Line 28"/>
          <p:cNvSpPr>
            <a:spLocks noChangeShapeType="1"/>
          </p:cNvSpPr>
          <p:nvPr/>
        </p:nvSpPr>
        <p:spPr bwMode="auto">
          <a:xfrm>
            <a:off x="6567489" y="3249613"/>
            <a:ext cx="1487487" cy="0"/>
          </a:xfrm>
          <a:prstGeom prst="line">
            <a:avLst/>
          </a:prstGeom>
          <a:noFill/>
          <a:ln w="38100">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143261" name="AutoShape 29"/>
          <p:cNvSpPr>
            <a:spLocks noChangeArrowheads="1"/>
          </p:cNvSpPr>
          <p:nvPr/>
        </p:nvSpPr>
        <p:spPr bwMode="auto">
          <a:xfrm>
            <a:off x="3516313" y="4443532"/>
            <a:ext cx="3378200" cy="442674"/>
          </a:xfrm>
          <a:prstGeom prst="roundRect">
            <a:avLst>
              <a:gd name="adj" fmla="val 16667"/>
            </a:avLst>
          </a:prstGeom>
          <a:noFill/>
          <a:ln w="38100">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143262" name="Text Box 30"/>
          <p:cNvSpPr txBox="1">
            <a:spLocks noChangeArrowheads="1"/>
          </p:cNvSpPr>
          <p:nvPr/>
        </p:nvSpPr>
        <p:spPr bwMode="auto">
          <a:xfrm>
            <a:off x="1939246" y="3251201"/>
            <a:ext cx="1423987" cy="253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dirty="0">
                <a:solidFill>
                  <a:schemeClr val="accent2"/>
                </a:solidFill>
                <a:latin typeface="Times New Roman" panose="02020503050405090304" pitchFamily="18" charset="0"/>
                <a:ea typeface="楷体_GB2312" pitchFamily="49" charset="-122"/>
              </a:rPr>
              <a:t>计算机语言程序设计环境</a:t>
            </a:r>
            <a:r>
              <a:rPr lang="zh-CN" altLang="en-US" dirty="0">
                <a:latin typeface="Times New Roman" panose="02020503050405090304" pitchFamily="18" charset="0"/>
                <a:ea typeface="楷体_GB2312" pitchFamily="49" charset="-122"/>
              </a:rPr>
              <a:t>：编辑、编译、连接、调试、运行一体化平台</a:t>
            </a:r>
          </a:p>
        </p:txBody>
      </p:sp>
      <p:grpSp>
        <p:nvGrpSpPr>
          <p:cNvPr id="2143263" name="Group 31"/>
          <p:cNvGrpSpPr/>
          <p:nvPr/>
        </p:nvGrpSpPr>
        <p:grpSpPr bwMode="auto">
          <a:xfrm>
            <a:off x="8064501" y="2722564"/>
            <a:ext cx="1490663" cy="1006475"/>
            <a:chOff x="4482" y="1703"/>
            <a:chExt cx="939" cy="634"/>
          </a:xfrm>
        </p:grpSpPr>
        <p:sp>
          <p:nvSpPr>
            <p:cNvPr id="2" name="AutoShape 39"/>
            <p:cNvSpPr>
              <a:spLocks noChangeArrowheads="1"/>
            </p:cNvSpPr>
            <p:nvPr/>
          </p:nvSpPr>
          <p:spPr bwMode="gray">
            <a:xfrm>
              <a:off x="4482" y="1703"/>
              <a:ext cx="939" cy="634"/>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3" name="Oval 40"/>
            <p:cNvSpPr>
              <a:spLocks noChangeArrowheads="1"/>
            </p:cNvSpPr>
            <p:nvPr/>
          </p:nvSpPr>
          <p:spPr bwMode="gray">
            <a:xfrm>
              <a:off x="4560" y="1755"/>
              <a:ext cx="783" cy="529"/>
            </a:xfrm>
            <a:prstGeom prst="ellipse">
              <a:avLst/>
            </a:prstGeom>
            <a:solidFill>
              <a:srgbClr val="0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4" name="Text Box 84"/>
            <p:cNvSpPr txBox="1">
              <a:spLocks noChangeArrowheads="1"/>
            </p:cNvSpPr>
            <p:nvPr/>
          </p:nvSpPr>
          <p:spPr bwMode="auto">
            <a:xfrm>
              <a:off x="4538" y="1761"/>
              <a:ext cx="77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高级语言程序</a:t>
              </a:r>
            </a:p>
          </p:txBody>
        </p:sp>
      </p:grpSp>
      <p:grpSp>
        <p:nvGrpSpPr>
          <p:cNvPr id="2143267" name="Group 35"/>
          <p:cNvGrpSpPr/>
          <p:nvPr/>
        </p:nvGrpSpPr>
        <p:grpSpPr bwMode="auto">
          <a:xfrm>
            <a:off x="8024813" y="4164014"/>
            <a:ext cx="1490662" cy="1006475"/>
            <a:chOff x="4457" y="2611"/>
            <a:chExt cx="939" cy="634"/>
          </a:xfrm>
        </p:grpSpPr>
        <p:sp>
          <p:nvSpPr>
            <p:cNvPr id="5" name="AutoShape 39"/>
            <p:cNvSpPr>
              <a:spLocks noChangeArrowheads="1"/>
            </p:cNvSpPr>
            <p:nvPr/>
          </p:nvSpPr>
          <p:spPr bwMode="gray">
            <a:xfrm>
              <a:off x="4457" y="2611"/>
              <a:ext cx="939" cy="634"/>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6" name="Oval 40"/>
            <p:cNvSpPr>
              <a:spLocks noChangeArrowheads="1"/>
            </p:cNvSpPr>
            <p:nvPr/>
          </p:nvSpPr>
          <p:spPr bwMode="gray">
            <a:xfrm>
              <a:off x="4535" y="2663"/>
              <a:ext cx="783" cy="529"/>
            </a:xfrm>
            <a:prstGeom prst="ellipse">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7" name="Text Box 84"/>
            <p:cNvSpPr txBox="1">
              <a:spLocks noChangeArrowheads="1"/>
            </p:cNvSpPr>
            <p:nvPr/>
          </p:nvSpPr>
          <p:spPr bwMode="auto">
            <a:xfrm>
              <a:off x="4538" y="2669"/>
              <a:ext cx="77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a:solidFill>
                    <a:srgbClr val="FFFFFF"/>
                  </a:solidFill>
                  <a:latin typeface="宋体" pitchFamily="2" charset="-122"/>
                  <a:ea typeface="华文中宋" panose="02010600040101010101" pitchFamily="2" charset="-122"/>
                </a:rPr>
                <a:t>目标</a:t>
              </a:r>
            </a:p>
            <a:p>
              <a:pPr algn="ctr" eaLnBrk="1" hangingPunct="1"/>
              <a:r>
                <a:rPr kumimoji="0" lang="zh-CN" altLang="en-US">
                  <a:solidFill>
                    <a:srgbClr val="FFFFFF"/>
                  </a:solidFill>
                  <a:latin typeface="宋体" pitchFamily="2" charset="-122"/>
                  <a:ea typeface="华文中宋" panose="02010600040101010101" pitchFamily="2" charset="-122"/>
                </a:rPr>
                <a:t>程序</a:t>
              </a:r>
            </a:p>
          </p:txBody>
        </p:sp>
      </p:grpSp>
      <p:grpSp>
        <p:nvGrpSpPr>
          <p:cNvPr id="2143271" name="Group 39"/>
          <p:cNvGrpSpPr/>
          <p:nvPr/>
        </p:nvGrpSpPr>
        <p:grpSpPr bwMode="auto">
          <a:xfrm>
            <a:off x="8064501" y="5607051"/>
            <a:ext cx="1490663" cy="1006475"/>
            <a:chOff x="4422" y="1503"/>
            <a:chExt cx="939" cy="634"/>
          </a:xfrm>
        </p:grpSpPr>
        <p:sp>
          <p:nvSpPr>
            <p:cNvPr id="8" name="AutoShape 39"/>
            <p:cNvSpPr>
              <a:spLocks noChangeArrowheads="1"/>
            </p:cNvSpPr>
            <p:nvPr/>
          </p:nvSpPr>
          <p:spPr bwMode="gray">
            <a:xfrm>
              <a:off x="4422" y="1503"/>
              <a:ext cx="939" cy="634"/>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9" name="Oval 40"/>
            <p:cNvSpPr>
              <a:spLocks noChangeArrowheads="1"/>
            </p:cNvSpPr>
            <p:nvPr/>
          </p:nvSpPr>
          <p:spPr bwMode="gray">
            <a:xfrm>
              <a:off x="4500" y="1555"/>
              <a:ext cx="783" cy="529"/>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10" name="Text Box 84"/>
            <p:cNvSpPr txBox="1">
              <a:spLocks noChangeArrowheads="1"/>
            </p:cNvSpPr>
            <p:nvPr/>
          </p:nvSpPr>
          <p:spPr bwMode="auto">
            <a:xfrm>
              <a:off x="4502" y="1561"/>
              <a:ext cx="777"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a:solidFill>
                    <a:srgbClr val="FFFFFF"/>
                  </a:solidFill>
                  <a:latin typeface="宋体" pitchFamily="2" charset="-122"/>
                  <a:ea typeface="华文中宋" panose="02010600040101010101" pitchFamily="2" charset="-122"/>
                </a:rPr>
                <a:t>可执行</a:t>
              </a:r>
            </a:p>
            <a:p>
              <a:pPr algn="ctr" eaLnBrk="1" hangingPunct="1"/>
              <a:r>
                <a:rPr kumimoji="0" lang="zh-CN" altLang="en-US">
                  <a:solidFill>
                    <a:srgbClr val="FFFFFF"/>
                  </a:solidFill>
                  <a:latin typeface="宋体" pitchFamily="2" charset="-122"/>
                  <a:ea typeface="华文中宋" panose="02010600040101010101" pitchFamily="2" charset="-122"/>
                </a:rPr>
                <a:t>程序</a:t>
              </a:r>
            </a:p>
          </p:txBody>
        </p:sp>
      </p:grpSp>
      <p:sp>
        <p:nvSpPr>
          <p:cNvPr id="2143275" name="AutoShape 43"/>
          <p:cNvSpPr>
            <a:spLocks noChangeArrowheads="1"/>
          </p:cNvSpPr>
          <p:nvPr/>
        </p:nvSpPr>
        <p:spPr bwMode="auto">
          <a:xfrm>
            <a:off x="8678863" y="3729039"/>
            <a:ext cx="252412" cy="490537"/>
          </a:xfrm>
          <a:prstGeom prst="downArrow">
            <a:avLst>
              <a:gd name="adj1" fmla="val 50000"/>
              <a:gd name="adj2" fmla="val 48585"/>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143276" name="AutoShape 44"/>
          <p:cNvSpPr>
            <a:spLocks noChangeArrowheads="1"/>
          </p:cNvSpPr>
          <p:nvPr/>
        </p:nvSpPr>
        <p:spPr bwMode="auto">
          <a:xfrm>
            <a:off x="8678863" y="5151439"/>
            <a:ext cx="252412" cy="490537"/>
          </a:xfrm>
          <a:prstGeom prst="downArrow">
            <a:avLst>
              <a:gd name="adj1" fmla="val 50000"/>
              <a:gd name="adj2" fmla="val 48585"/>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nvGrpSpPr>
          <p:cNvPr id="2143277" name="Group 45"/>
          <p:cNvGrpSpPr/>
          <p:nvPr/>
        </p:nvGrpSpPr>
        <p:grpSpPr bwMode="auto">
          <a:xfrm>
            <a:off x="5494338" y="2873375"/>
            <a:ext cx="1092200" cy="814388"/>
            <a:chOff x="2863" y="1766"/>
            <a:chExt cx="688" cy="513"/>
          </a:xfrm>
        </p:grpSpPr>
        <p:sp>
          <p:nvSpPr>
            <p:cNvPr id="11" name="AutoShape 39"/>
            <p:cNvSpPr>
              <a:spLocks noChangeArrowheads="1"/>
            </p:cNvSpPr>
            <p:nvPr/>
          </p:nvSpPr>
          <p:spPr bwMode="gray">
            <a:xfrm>
              <a:off x="2863" y="1766"/>
              <a:ext cx="688" cy="513"/>
            </a:xfrm>
            <a:prstGeom prst="roundRect">
              <a:avLst>
                <a:gd name="adj" fmla="val 16667"/>
              </a:avLst>
            </a:prstGeom>
            <a:solidFill>
              <a:srgbClr val="6600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2" name="Oval 40"/>
            <p:cNvSpPr>
              <a:spLocks noChangeArrowheads="1"/>
            </p:cNvSpPr>
            <p:nvPr/>
          </p:nvSpPr>
          <p:spPr bwMode="gray">
            <a:xfrm>
              <a:off x="2920" y="1808"/>
              <a:ext cx="574" cy="428"/>
            </a:xfrm>
            <a:prstGeom prst="roundRect">
              <a:avLst>
                <a:gd name="adj" fmla="val 16667"/>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3" name="Text Box 84"/>
            <p:cNvSpPr>
              <a:spLocks noChangeArrowheads="1"/>
            </p:cNvSpPr>
            <p:nvPr/>
          </p:nvSpPr>
          <p:spPr bwMode="auto">
            <a:xfrm>
              <a:off x="2903" y="1781"/>
              <a:ext cx="608" cy="49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sz="2000">
                  <a:solidFill>
                    <a:srgbClr val="FFFFFF"/>
                  </a:solidFill>
                  <a:latin typeface="宋体" pitchFamily="2" charset="-122"/>
                  <a:ea typeface="华文中宋" panose="02010600040101010101" pitchFamily="2" charset="-122"/>
                </a:rPr>
                <a:t>编辑</a:t>
              </a:r>
            </a:p>
            <a:p>
              <a:pPr algn="ctr" eaLnBrk="1" hangingPunct="1"/>
              <a:r>
                <a:rPr kumimoji="0" lang="zh-CN" altLang="en-US" sz="2000">
                  <a:solidFill>
                    <a:srgbClr val="FFFFFF"/>
                  </a:solidFill>
                  <a:latin typeface="宋体" pitchFamily="2" charset="-122"/>
                  <a:ea typeface="华文中宋" panose="02010600040101010101" pitchFamily="2" charset="-122"/>
                </a:rPr>
                <a:t>程序</a:t>
              </a:r>
            </a:p>
          </p:txBody>
        </p:sp>
      </p:grpSp>
      <p:grpSp>
        <p:nvGrpSpPr>
          <p:cNvPr id="2143281" name="Group 49"/>
          <p:cNvGrpSpPr/>
          <p:nvPr/>
        </p:nvGrpSpPr>
        <p:grpSpPr bwMode="auto">
          <a:xfrm>
            <a:off x="5494338" y="3770314"/>
            <a:ext cx="1092200" cy="814387"/>
            <a:chOff x="2863" y="2363"/>
            <a:chExt cx="688" cy="513"/>
          </a:xfrm>
        </p:grpSpPr>
        <p:sp>
          <p:nvSpPr>
            <p:cNvPr id="14" name="AutoShape 39"/>
            <p:cNvSpPr>
              <a:spLocks noChangeArrowheads="1"/>
            </p:cNvSpPr>
            <p:nvPr/>
          </p:nvSpPr>
          <p:spPr bwMode="gray">
            <a:xfrm>
              <a:off x="2863" y="2363"/>
              <a:ext cx="688" cy="513"/>
            </a:xfrm>
            <a:prstGeom prst="roundRect">
              <a:avLst>
                <a:gd name="adj" fmla="val 16667"/>
              </a:avLst>
            </a:prstGeom>
            <a:solidFill>
              <a:srgbClr val="6600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5" name="Oval 40"/>
            <p:cNvSpPr>
              <a:spLocks noChangeArrowheads="1"/>
            </p:cNvSpPr>
            <p:nvPr/>
          </p:nvSpPr>
          <p:spPr bwMode="gray">
            <a:xfrm>
              <a:off x="2920" y="2405"/>
              <a:ext cx="574" cy="428"/>
            </a:xfrm>
            <a:prstGeom prst="roundRect">
              <a:avLst>
                <a:gd name="adj" fmla="val 16667"/>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7" name="Text Box 84"/>
            <p:cNvSpPr>
              <a:spLocks noChangeArrowheads="1"/>
            </p:cNvSpPr>
            <p:nvPr/>
          </p:nvSpPr>
          <p:spPr bwMode="auto">
            <a:xfrm>
              <a:off x="2903" y="2378"/>
              <a:ext cx="608" cy="49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sz="2000">
                  <a:solidFill>
                    <a:srgbClr val="FFFFFF"/>
                  </a:solidFill>
                  <a:latin typeface="宋体" pitchFamily="2" charset="-122"/>
                  <a:ea typeface="华文中宋" panose="02010600040101010101" pitchFamily="2" charset="-122"/>
                </a:rPr>
                <a:t>编译</a:t>
              </a:r>
            </a:p>
            <a:p>
              <a:pPr algn="ctr" eaLnBrk="1" hangingPunct="1"/>
              <a:r>
                <a:rPr kumimoji="0" lang="zh-CN" altLang="en-US" sz="2000">
                  <a:solidFill>
                    <a:srgbClr val="FFFFFF"/>
                  </a:solidFill>
                  <a:latin typeface="宋体" pitchFamily="2" charset="-122"/>
                  <a:ea typeface="华文中宋" panose="02010600040101010101" pitchFamily="2" charset="-122"/>
                </a:rPr>
                <a:t>程序</a:t>
              </a:r>
            </a:p>
          </p:txBody>
        </p:sp>
      </p:grpSp>
      <p:grpSp>
        <p:nvGrpSpPr>
          <p:cNvPr id="2143285" name="Group 53"/>
          <p:cNvGrpSpPr/>
          <p:nvPr/>
        </p:nvGrpSpPr>
        <p:grpSpPr bwMode="auto">
          <a:xfrm>
            <a:off x="5494338" y="4924425"/>
            <a:ext cx="1092200" cy="814388"/>
            <a:chOff x="2863" y="3090"/>
            <a:chExt cx="688" cy="513"/>
          </a:xfrm>
        </p:grpSpPr>
        <p:sp>
          <p:nvSpPr>
            <p:cNvPr id="18" name="AutoShape 39"/>
            <p:cNvSpPr>
              <a:spLocks noChangeArrowheads="1"/>
            </p:cNvSpPr>
            <p:nvPr/>
          </p:nvSpPr>
          <p:spPr bwMode="gray">
            <a:xfrm>
              <a:off x="2863" y="3090"/>
              <a:ext cx="688" cy="513"/>
            </a:xfrm>
            <a:prstGeom prst="roundRect">
              <a:avLst>
                <a:gd name="adj" fmla="val 16667"/>
              </a:avLst>
            </a:prstGeom>
            <a:solidFill>
              <a:srgbClr val="6600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9" name="Oval 40"/>
            <p:cNvSpPr>
              <a:spLocks noChangeArrowheads="1"/>
            </p:cNvSpPr>
            <p:nvPr/>
          </p:nvSpPr>
          <p:spPr bwMode="gray">
            <a:xfrm>
              <a:off x="2920" y="3132"/>
              <a:ext cx="574" cy="428"/>
            </a:xfrm>
            <a:prstGeom prst="roundRect">
              <a:avLst>
                <a:gd name="adj" fmla="val 16667"/>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22" name="Text Box 84"/>
            <p:cNvSpPr>
              <a:spLocks noChangeArrowheads="1"/>
            </p:cNvSpPr>
            <p:nvPr/>
          </p:nvSpPr>
          <p:spPr bwMode="auto">
            <a:xfrm>
              <a:off x="2903" y="3105"/>
              <a:ext cx="608" cy="49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sz="2000">
                  <a:solidFill>
                    <a:srgbClr val="FFFFFF"/>
                  </a:solidFill>
                  <a:latin typeface="宋体" pitchFamily="2" charset="-122"/>
                  <a:ea typeface="华文中宋" panose="02010600040101010101" pitchFamily="2" charset="-122"/>
                </a:rPr>
                <a:t>连接</a:t>
              </a:r>
            </a:p>
            <a:p>
              <a:pPr algn="ctr" eaLnBrk="1" hangingPunct="1"/>
              <a:r>
                <a:rPr kumimoji="0" lang="zh-CN" altLang="en-US" sz="2000">
                  <a:solidFill>
                    <a:srgbClr val="FFFFFF"/>
                  </a:solidFill>
                  <a:latin typeface="宋体" pitchFamily="2" charset="-122"/>
                  <a:ea typeface="华文中宋" panose="02010600040101010101" pitchFamily="2" charset="-122"/>
                </a:rPr>
                <a:t>程序</a:t>
              </a:r>
            </a:p>
          </p:txBody>
        </p:sp>
      </p:grpSp>
      <p:sp>
        <p:nvSpPr>
          <p:cNvPr id="2143289" name="Line 57"/>
          <p:cNvSpPr>
            <a:spLocks noChangeShapeType="1"/>
          </p:cNvSpPr>
          <p:nvPr/>
        </p:nvSpPr>
        <p:spPr bwMode="auto">
          <a:xfrm>
            <a:off x="6529388" y="3932238"/>
            <a:ext cx="2292350" cy="0"/>
          </a:xfrm>
          <a:prstGeom prst="line">
            <a:avLst/>
          </a:prstGeom>
          <a:noFill/>
          <a:ln w="38100">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43290" name="Group 58"/>
          <p:cNvGrpSpPr/>
          <p:nvPr/>
        </p:nvGrpSpPr>
        <p:grpSpPr bwMode="auto">
          <a:xfrm>
            <a:off x="3878264" y="5289551"/>
            <a:ext cx="1265237" cy="1204913"/>
            <a:chOff x="0" y="2980"/>
            <a:chExt cx="822" cy="634"/>
          </a:xfrm>
        </p:grpSpPr>
        <p:sp>
          <p:nvSpPr>
            <p:cNvPr id="23" name="AutoShape 39"/>
            <p:cNvSpPr>
              <a:spLocks noChangeArrowheads="1"/>
            </p:cNvSpPr>
            <p:nvPr/>
          </p:nvSpPr>
          <p:spPr bwMode="gray">
            <a:xfrm>
              <a:off x="0" y="2980"/>
              <a:ext cx="822" cy="634"/>
            </a:xfrm>
            <a:prstGeom prst="can">
              <a:avLst>
                <a:gd name="adj" fmla="val 23657"/>
              </a:avLst>
            </a:prstGeom>
            <a:solidFill>
              <a:srgbClr val="6600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4" name="Oval 40"/>
            <p:cNvSpPr>
              <a:spLocks noChangeArrowheads="1"/>
            </p:cNvSpPr>
            <p:nvPr/>
          </p:nvSpPr>
          <p:spPr bwMode="gray">
            <a:xfrm>
              <a:off x="68" y="3032"/>
              <a:ext cx="686" cy="529"/>
            </a:xfrm>
            <a:prstGeom prst="can">
              <a:avLst>
                <a:gd name="adj" fmla="val 17014"/>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5" name="Text Box 84"/>
            <p:cNvSpPr>
              <a:spLocks noChangeArrowheads="1"/>
            </p:cNvSpPr>
            <p:nvPr/>
          </p:nvSpPr>
          <p:spPr bwMode="auto">
            <a:xfrm>
              <a:off x="47" y="3096"/>
              <a:ext cx="707" cy="412"/>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sz="2000">
                  <a:solidFill>
                    <a:srgbClr val="FFFFFF"/>
                  </a:solidFill>
                  <a:latin typeface="宋体" pitchFamily="2" charset="-122"/>
                  <a:ea typeface="华文中宋" panose="02010600040101010101" pitchFamily="2" charset="-122"/>
                </a:rPr>
                <a:t>公用函数库</a:t>
              </a:r>
            </a:p>
          </p:txBody>
        </p:sp>
      </p:grpSp>
      <p:sp>
        <p:nvSpPr>
          <p:cNvPr id="2143294" name="Line 62"/>
          <p:cNvSpPr>
            <a:spLocks noChangeShapeType="1"/>
          </p:cNvSpPr>
          <p:nvPr/>
        </p:nvSpPr>
        <p:spPr bwMode="auto">
          <a:xfrm>
            <a:off x="6594475" y="5332413"/>
            <a:ext cx="2160588" cy="0"/>
          </a:xfrm>
          <a:prstGeom prst="line">
            <a:avLst/>
          </a:prstGeom>
          <a:noFill/>
          <a:ln w="38100">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3295" name="Line 63"/>
          <p:cNvSpPr>
            <a:spLocks noChangeShapeType="1"/>
          </p:cNvSpPr>
          <p:nvPr/>
        </p:nvSpPr>
        <p:spPr bwMode="auto">
          <a:xfrm>
            <a:off x="5137151" y="6102350"/>
            <a:ext cx="2968625" cy="0"/>
          </a:xfrm>
          <a:prstGeom prst="line">
            <a:avLst/>
          </a:prstGeom>
          <a:noFill/>
          <a:ln w="762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3296" name="Line 64"/>
          <p:cNvSpPr>
            <a:spLocks noChangeShapeType="1"/>
          </p:cNvSpPr>
          <p:nvPr/>
        </p:nvSpPr>
        <p:spPr bwMode="auto">
          <a:xfrm>
            <a:off x="7323138" y="5332413"/>
            <a:ext cx="0" cy="755650"/>
          </a:xfrm>
          <a:prstGeom prst="line">
            <a:avLst/>
          </a:prstGeom>
          <a:noFill/>
          <a:ln w="38100">
            <a:solidFill>
              <a:srgbClr val="66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43297" name="Group 65"/>
          <p:cNvGrpSpPr/>
          <p:nvPr/>
        </p:nvGrpSpPr>
        <p:grpSpPr bwMode="auto">
          <a:xfrm>
            <a:off x="3995738" y="4265614"/>
            <a:ext cx="1092200" cy="814387"/>
            <a:chOff x="1919" y="2675"/>
            <a:chExt cx="688" cy="513"/>
          </a:xfrm>
        </p:grpSpPr>
        <p:sp>
          <p:nvSpPr>
            <p:cNvPr id="20" name="AutoShape 39"/>
            <p:cNvSpPr>
              <a:spLocks noChangeArrowheads="1"/>
            </p:cNvSpPr>
            <p:nvPr/>
          </p:nvSpPr>
          <p:spPr bwMode="gray">
            <a:xfrm>
              <a:off x="1919" y="2675"/>
              <a:ext cx="688" cy="513"/>
            </a:xfrm>
            <a:prstGeom prst="roundRect">
              <a:avLst>
                <a:gd name="adj" fmla="val 16667"/>
              </a:avLst>
            </a:prstGeom>
            <a:solidFill>
              <a:srgbClr val="660066"/>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21" name="Oval 40"/>
            <p:cNvSpPr>
              <a:spLocks noChangeArrowheads="1"/>
            </p:cNvSpPr>
            <p:nvPr/>
          </p:nvSpPr>
          <p:spPr bwMode="gray">
            <a:xfrm>
              <a:off x="1976" y="2717"/>
              <a:ext cx="574" cy="428"/>
            </a:xfrm>
            <a:prstGeom prst="roundRect">
              <a:avLst>
                <a:gd name="adj" fmla="val 16667"/>
              </a:avLst>
            </a:prstGeom>
            <a:solidFill>
              <a:srgbClr val="8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6" name="Text Box 84"/>
            <p:cNvSpPr>
              <a:spLocks noChangeArrowheads="1"/>
            </p:cNvSpPr>
            <p:nvPr/>
          </p:nvSpPr>
          <p:spPr bwMode="auto">
            <a:xfrm>
              <a:off x="1959" y="2690"/>
              <a:ext cx="608" cy="49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sz="2000">
                  <a:solidFill>
                    <a:srgbClr val="FFFFFF"/>
                  </a:solidFill>
                  <a:latin typeface="宋体" pitchFamily="2" charset="-122"/>
                  <a:ea typeface="华文中宋" panose="02010600040101010101" pitchFamily="2" charset="-122"/>
                </a:rPr>
                <a:t>调试</a:t>
              </a:r>
            </a:p>
            <a:p>
              <a:pPr algn="ctr" eaLnBrk="1" hangingPunct="1"/>
              <a:r>
                <a:rPr kumimoji="0" lang="zh-CN" altLang="en-US" sz="2000">
                  <a:solidFill>
                    <a:srgbClr val="FFFFFF"/>
                  </a:solidFill>
                  <a:latin typeface="宋体" pitchFamily="2" charset="-122"/>
                  <a:ea typeface="华文中宋" panose="02010600040101010101" pitchFamily="2" charset="-122"/>
                </a:rPr>
                <a:t>程序</a:t>
              </a:r>
            </a:p>
          </p:txBody>
        </p:sp>
      </p:grpSp>
      <p:sp>
        <p:nvSpPr>
          <p:cNvPr id="2143302" name="Text Box 5"/>
          <p:cNvSpPr txBox="1">
            <a:spLocks noChangeArrowheads="1"/>
          </p:cNvSpPr>
          <p:nvPr/>
        </p:nvSpPr>
        <p:spPr bwMode="auto">
          <a:xfrm>
            <a:off x="680243" y="1971438"/>
            <a:ext cx="80899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30000"/>
              </a:lnSpc>
              <a:buClr>
                <a:schemeClr val="tx1"/>
              </a:buClr>
            </a:pPr>
            <a:r>
              <a:rPr kumimoji="0" lang="zh-CN" altLang="en-US" sz="2000" dirty="0">
                <a:solidFill>
                  <a:schemeClr val="accent2"/>
                </a:solidFill>
                <a:latin typeface="微软雅黑" panose="020B0503020204020204" pitchFamily="34" charset="-122"/>
                <a:ea typeface="微软雅黑" panose="020B0503020204020204" pitchFamily="34" charset="-122"/>
              </a:rPr>
              <a:t>程序设计过程</a:t>
            </a:r>
            <a:r>
              <a:rPr kumimoji="0" lang="zh-CN" altLang="en-US" sz="1600" b="0" dirty="0">
                <a:ea typeface="宋体" pitchFamily="2" charset="-122"/>
              </a:rPr>
              <a:t>：</a:t>
            </a:r>
            <a:r>
              <a:rPr kumimoji="0" lang="zh-CN" altLang="en-US" sz="2000" dirty="0">
                <a:ea typeface="宋体" pitchFamily="2" charset="-122"/>
              </a:rPr>
              <a:t>编辑源程序</a:t>
            </a:r>
            <a:r>
              <a:rPr kumimoji="0" lang="en-US" altLang="zh-CN" sz="2000" dirty="0">
                <a:ea typeface="宋体" pitchFamily="2" charset="-122"/>
                <a:sym typeface="Wingdings" panose="05000000000000000000" pitchFamily="2" charset="2"/>
              </a:rPr>
              <a:t></a:t>
            </a:r>
            <a:r>
              <a:rPr kumimoji="0" lang="zh-CN" altLang="en-US" sz="2000" dirty="0">
                <a:ea typeface="宋体" pitchFamily="2" charset="-122"/>
                <a:sym typeface="Wingdings" panose="05000000000000000000" pitchFamily="2" charset="2"/>
              </a:rPr>
              <a:t>编译</a:t>
            </a:r>
            <a:r>
              <a:rPr kumimoji="0" lang="en-US" altLang="zh-CN" sz="2000" dirty="0">
                <a:ea typeface="宋体" pitchFamily="2" charset="-122"/>
                <a:sym typeface="Wingdings" panose="05000000000000000000" pitchFamily="2" charset="2"/>
              </a:rPr>
              <a:t></a:t>
            </a:r>
            <a:r>
              <a:rPr kumimoji="0" lang="zh-CN" altLang="en-US" sz="2000" dirty="0">
                <a:ea typeface="宋体" pitchFamily="2" charset="-122"/>
                <a:sym typeface="Wingdings" panose="05000000000000000000" pitchFamily="2" charset="2"/>
              </a:rPr>
              <a:t>链接</a:t>
            </a:r>
            <a:r>
              <a:rPr kumimoji="0" lang="en-US" altLang="zh-CN" sz="2000" dirty="0">
                <a:ea typeface="宋体" pitchFamily="2" charset="-122"/>
                <a:sym typeface="Wingdings" panose="05000000000000000000" pitchFamily="2" charset="2"/>
              </a:rPr>
              <a:t></a:t>
            </a:r>
            <a:r>
              <a:rPr kumimoji="0" lang="zh-CN" altLang="en-US" sz="2000" dirty="0">
                <a:ea typeface="宋体" pitchFamily="2" charset="-122"/>
                <a:sym typeface="Wingdings" panose="05000000000000000000" pitchFamily="2" charset="2"/>
              </a:rPr>
              <a:t>执行</a:t>
            </a:r>
            <a:r>
              <a:rPr kumimoji="0" lang="zh-CN" altLang="en-US" sz="2000" dirty="0">
                <a:ea typeface="宋体" pitchFamily="2" charset="-122"/>
              </a:rPr>
              <a:t>。</a:t>
            </a:r>
          </a:p>
        </p:txBody>
      </p:sp>
      <p:sp>
        <p:nvSpPr>
          <p:cNvPr id="4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程序设计过程与程序设计环境</a:t>
            </a:r>
          </a:p>
        </p:txBody>
      </p:sp>
      <p:sp>
        <p:nvSpPr>
          <p:cNvPr id="49" name="圆角矩形 48"/>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程序设计过程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2994" name="Rectangle 2"/>
          <p:cNvSpPr>
            <a:spLocks noChangeArrowheads="1"/>
          </p:cNvSpPr>
          <p:nvPr/>
        </p:nvSpPr>
        <p:spPr bwMode="auto">
          <a:xfrm>
            <a:off x="707570" y="2825207"/>
            <a:ext cx="8520112"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0" dirty="0">
                <a:latin typeface="宋体" pitchFamily="2" charset="-122"/>
              </a:rPr>
              <a:t>•</a:t>
            </a:r>
            <a:r>
              <a:rPr lang="zh-CN" altLang="en-US" dirty="0"/>
              <a:t>数学运算函数</a:t>
            </a:r>
            <a:r>
              <a:rPr lang="zh-CN" altLang="en-US" sz="1600" b="0" dirty="0"/>
              <a:t>，如三角函数、指数与对数函数、开方函数等；例如</a:t>
            </a:r>
            <a:r>
              <a:rPr lang="en-US" altLang="zh-CN" sz="1600" b="0" dirty="0"/>
              <a:t>sin(α)</a:t>
            </a:r>
            <a:r>
              <a:rPr lang="zh-CN" altLang="en-US" sz="1600" b="0" dirty="0"/>
              <a:t>，</a:t>
            </a:r>
            <a:r>
              <a:rPr lang="en-US" altLang="zh-CN" sz="1600" b="0" dirty="0"/>
              <a:t>Log(x)</a:t>
            </a:r>
            <a:r>
              <a:rPr lang="zh-CN" altLang="en-US" sz="1600" b="0" dirty="0"/>
              <a:t>等；</a:t>
            </a:r>
          </a:p>
          <a:p>
            <a:pPr>
              <a:spcBef>
                <a:spcPct val="50000"/>
              </a:spcBef>
            </a:pPr>
            <a:r>
              <a:rPr lang="en-US" altLang="zh-CN" dirty="0">
                <a:latin typeface="宋体" pitchFamily="2" charset="-122"/>
              </a:rPr>
              <a:t>•</a:t>
            </a:r>
            <a:r>
              <a:rPr lang="zh-CN" altLang="en-US" dirty="0"/>
              <a:t>数据转换函数</a:t>
            </a:r>
            <a:r>
              <a:rPr lang="zh-CN" altLang="en-US" sz="1600" b="0" dirty="0"/>
              <a:t>，如字母大小写变换、数值型数字和字符型数字相互转换等；</a:t>
            </a:r>
          </a:p>
          <a:p>
            <a:pPr>
              <a:spcBef>
                <a:spcPct val="50000"/>
              </a:spcBef>
            </a:pPr>
            <a:r>
              <a:rPr lang="en-US" altLang="zh-CN" sz="1600" b="0" dirty="0">
                <a:latin typeface="宋体" pitchFamily="2" charset="-122"/>
              </a:rPr>
              <a:t>•</a:t>
            </a:r>
            <a:r>
              <a:rPr lang="zh-CN" altLang="en-US" dirty="0"/>
              <a:t>字符串操作函数</a:t>
            </a:r>
            <a:r>
              <a:rPr lang="zh-CN" altLang="en-US" sz="1600" b="0" dirty="0"/>
              <a:t>，如取子串、计算字符串长度等；例如，</a:t>
            </a:r>
            <a:r>
              <a:rPr lang="en-US" altLang="zh-CN" sz="1600" b="0" dirty="0"/>
              <a:t>Len("</a:t>
            </a:r>
            <a:r>
              <a:rPr lang="en-US" altLang="zh-CN" sz="1600" b="0" dirty="0" err="1"/>
              <a:t>abcd</a:t>
            </a:r>
            <a:r>
              <a:rPr lang="en-US" altLang="zh-CN" sz="1600" b="0" dirty="0"/>
              <a:t>")</a:t>
            </a:r>
            <a:r>
              <a:rPr lang="zh-CN" altLang="en-US" sz="1600" b="0" dirty="0"/>
              <a:t>；</a:t>
            </a:r>
          </a:p>
          <a:p>
            <a:pPr>
              <a:spcBef>
                <a:spcPct val="50000"/>
              </a:spcBef>
            </a:pPr>
            <a:r>
              <a:rPr lang="en-US" altLang="zh-CN" sz="1600" b="0" dirty="0">
                <a:latin typeface="宋体" pitchFamily="2" charset="-122"/>
              </a:rPr>
              <a:t>•</a:t>
            </a:r>
            <a:r>
              <a:rPr lang="zh-CN" altLang="en-US" dirty="0"/>
              <a:t>输入输出函数</a:t>
            </a:r>
            <a:r>
              <a:rPr lang="zh-CN" altLang="en-US" sz="1600" b="0" dirty="0"/>
              <a:t>，如输入输出数值、字符、字符串等；例如，</a:t>
            </a:r>
            <a:r>
              <a:rPr lang="en-US" altLang="zh-CN" sz="1600" b="0" dirty="0" err="1"/>
              <a:t>Printf</a:t>
            </a:r>
            <a:r>
              <a:rPr lang="en-US" altLang="zh-CN" sz="1600" b="0" dirty="0"/>
              <a:t>(</a:t>
            </a:r>
            <a:r>
              <a:rPr lang="en-US" altLang="zh-CN" sz="1600" b="0" dirty="0">
                <a:latin typeface="宋体" pitchFamily="2" charset="-122"/>
              </a:rPr>
              <a:t>…</a:t>
            </a:r>
            <a:r>
              <a:rPr lang="en-US" altLang="zh-CN" sz="1600" b="0" dirty="0"/>
              <a:t>),</a:t>
            </a:r>
            <a:r>
              <a:rPr lang="en-US" altLang="zh-CN" sz="1600" b="0" dirty="0" err="1"/>
              <a:t>Scanf</a:t>
            </a:r>
            <a:r>
              <a:rPr lang="en-US" altLang="zh-CN" sz="1600" b="0" dirty="0"/>
              <a:t>(</a:t>
            </a:r>
            <a:r>
              <a:rPr lang="en-US" altLang="zh-CN" sz="1600" b="0" dirty="0">
                <a:latin typeface="宋体" pitchFamily="2" charset="-122"/>
              </a:rPr>
              <a:t>…</a:t>
            </a:r>
            <a:r>
              <a:rPr lang="en-US" altLang="zh-CN" sz="1600" b="0" dirty="0"/>
              <a:t>)</a:t>
            </a:r>
            <a:r>
              <a:rPr lang="zh-CN" altLang="en-US" sz="1600" b="0" dirty="0"/>
              <a:t>等；</a:t>
            </a:r>
          </a:p>
          <a:p>
            <a:pPr>
              <a:spcBef>
                <a:spcPct val="50000"/>
              </a:spcBef>
            </a:pPr>
            <a:r>
              <a:rPr lang="en-US" altLang="zh-CN" sz="1600" b="0" dirty="0">
                <a:latin typeface="宋体" pitchFamily="2" charset="-122"/>
              </a:rPr>
              <a:t>•</a:t>
            </a:r>
            <a:r>
              <a:rPr lang="zh-CN" altLang="en-US" dirty="0"/>
              <a:t>文件操作函数</a:t>
            </a:r>
            <a:r>
              <a:rPr lang="zh-CN" altLang="en-US" sz="1600" b="0" dirty="0"/>
              <a:t>，如文件的打开、读取、写入、关闭等； </a:t>
            </a:r>
          </a:p>
          <a:p>
            <a:pPr>
              <a:spcBef>
                <a:spcPct val="50000"/>
              </a:spcBef>
            </a:pPr>
            <a:r>
              <a:rPr lang="en-US" altLang="zh-CN" sz="1600" b="0" dirty="0">
                <a:latin typeface="宋体" pitchFamily="2" charset="-122"/>
              </a:rPr>
              <a:t>•</a:t>
            </a:r>
            <a:r>
              <a:rPr lang="zh-CN" altLang="en-US" dirty="0"/>
              <a:t>其它函数</a:t>
            </a:r>
            <a:r>
              <a:rPr lang="zh-CN" altLang="en-US" sz="1600" b="0" dirty="0"/>
              <a:t>，如取系统日期、绘制图形等。</a:t>
            </a:r>
          </a:p>
        </p:txBody>
      </p:sp>
      <p:sp>
        <p:nvSpPr>
          <p:cNvPr id="2132995" name="Text Box 3"/>
          <p:cNvSpPr txBox="1">
            <a:spLocks noChangeArrowheads="1"/>
          </p:cNvSpPr>
          <p:nvPr/>
        </p:nvSpPr>
        <p:spPr bwMode="auto">
          <a:xfrm>
            <a:off x="693508" y="2237831"/>
            <a:ext cx="51347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t>系统提供的可以使用的公用函数类别</a:t>
            </a:r>
          </a:p>
        </p:txBody>
      </p:sp>
      <p:sp>
        <p:nvSpPr>
          <p:cNvPr id="2132996" name="Text Box 16"/>
          <p:cNvSpPr txBox="1">
            <a:spLocks noChangeArrowheads="1"/>
          </p:cNvSpPr>
          <p:nvPr/>
        </p:nvSpPr>
        <p:spPr bwMode="auto">
          <a:xfrm>
            <a:off x="1687513" y="1"/>
            <a:ext cx="585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用高级语言构造程序</a:t>
            </a:r>
          </a:p>
          <a:p>
            <a:pPr eaLnBrk="1" hangingPunct="1">
              <a:lnSpc>
                <a:spcPct val="120000"/>
              </a:lnSpc>
            </a:pPr>
            <a:r>
              <a:rPr lang="en-US" altLang="zh-CN" sz="2000">
                <a:solidFill>
                  <a:schemeClr val="bg1"/>
                </a:solidFill>
                <a:ea typeface="华文中宋" panose="02010600040101010101" pitchFamily="2" charset="-122"/>
              </a:rPr>
              <a:t>(3)</a:t>
            </a:r>
            <a:r>
              <a:rPr lang="zh-CN" altLang="en-US" sz="2000">
                <a:solidFill>
                  <a:schemeClr val="bg1"/>
                </a:solidFill>
                <a:ea typeface="华文中宋" panose="02010600040101010101" pitchFamily="2" charset="-122"/>
              </a:rPr>
              <a:t>你知道计算机语言或操作系统提供哪些函数吗</a:t>
            </a:r>
            <a:r>
              <a:rPr lang="en-US" altLang="zh-CN" sz="2000">
                <a:solidFill>
                  <a:schemeClr val="bg1"/>
                </a:solidFill>
                <a:ea typeface="华文中宋" panose="02010600040101010101" pitchFamily="2" charset="-122"/>
              </a:rPr>
              <a:t>? </a:t>
            </a:r>
          </a:p>
        </p:txBody>
      </p:sp>
      <p:sp>
        <p:nvSpPr>
          <p:cNvPr id="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程序设计过程与程序设计环境</a:t>
            </a:r>
          </a:p>
        </p:txBody>
      </p:sp>
      <p:sp>
        <p:nvSpPr>
          <p:cNvPr id="6" name="圆角矩形 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熟悉和运用公用函数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32994">
                                            <p:txEl>
                                              <p:pRg st="0" end="0"/>
                                            </p:txEl>
                                          </p:spTgt>
                                        </p:tgtEl>
                                        <p:attrNameLst>
                                          <p:attrName>style.visibility</p:attrName>
                                        </p:attrNameLst>
                                      </p:cBhvr>
                                      <p:to>
                                        <p:strVal val="visible"/>
                                      </p:to>
                                    </p:set>
                                    <p:anim calcmode="lin" valueType="num">
                                      <p:cBhvr additive="base">
                                        <p:cTn id="7" dur="500" fill="hold"/>
                                        <p:tgtEl>
                                          <p:spTgt spid="21329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329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32994">
                                            <p:txEl>
                                              <p:pRg st="1" end="1"/>
                                            </p:txEl>
                                          </p:spTgt>
                                        </p:tgtEl>
                                        <p:attrNameLst>
                                          <p:attrName>style.visibility</p:attrName>
                                        </p:attrNameLst>
                                      </p:cBhvr>
                                      <p:to>
                                        <p:strVal val="visible"/>
                                      </p:to>
                                    </p:set>
                                    <p:anim calcmode="lin" valueType="num">
                                      <p:cBhvr additive="base">
                                        <p:cTn id="13" dur="500" fill="hold"/>
                                        <p:tgtEl>
                                          <p:spTgt spid="21329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329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32994">
                                            <p:txEl>
                                              <p:pRg st="2" end="2"/>
                                            </p:txEl>
                                          </p:spTgt>
                                        </p:tgtEl>
                                        <p:attrNameLst>
                                          <p:attrName>style.visibility</p:attrName>
                                        </p:attrNameLst>
                                      </p:cBhvr>
                                      <p:to>
                                        <p:strVal val="visible"/>
                                      </p:to>
                                    </p:set>
                                    <p:anim calcmode="lin" valueType="num">
                                      <p:cBhvr additive="base">
                                        <p:cTn id="19" dur="500" fill="hold"/>
                                        <p:tgtEl>
                                          <p:spTgt spid="21329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329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32994">
                                            <p:txEl>
                                              <p:pRg st="3" end="3"/>
                                            </p:txEl>
                                          </p:spTgt>
                                        </p:tgtEl>
                                        <p:attrNameLst>
                                          <p:attrName>style.visibility</p:attrName>
                                        </p:attrNameLst>
                                      </p:cBhvr>
                                      <p:to>
                                        <p:strVal val="visible"/>
                                      </p:to>
                                    </p:set>
                                    <p:anim calcmode="lin" valueType="num">
                                      <p:cBhvr additive="base">
                                        <p:cTn id="25" dur="500" fill="hold"/>
                                        <p:tgtEl>
                                          <p:spTgt spid="21329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329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32994">
                                            <p:txEl>
                                              <p:pRg st="4" end="4"/>
                                            </p:txEl>
                                          </p:spTgt>
                                        </p:tgtEl>
                                        <p:attrNameLst>
                                          <p:attrName>style.visibility</p:attrName>
                                        </p:attrNameLst>
                                      </p:cBhvr>
                                      <p:to>
                                        <p:strVal val="visible"/>
                                      </p:to>
                                    </p:set>
                                    <p:anim calcmode="lin" valueType="num">
                                      <p:cBhvr additive="base">
                                        <p:cTn id="31" dur="500" fill="hold"/>
                                        <p:tgtEl>
                                          <p:spTgt spid="213299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329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32994">
                                            <p:txEl>
                                              <p:pRg st="5" end="5"/>
                                            </p:txEl>
                                          </p:spTgt>
                                        </p:tgtEl>
                                        <p:attrNameLst>
                                          <p:attrName>style.visibility</p:attrName>
                                        </p:attrNameLst>
                                      </p:cBhvr>
                                      <p:to>
                                        <p:strVal val="visible"/>
                                      </p:to>
                                    </p:set>
                                    <p:anim calcmode="lin" valueType="num">
                                      <p:cBhvr additive="base">
                                        <p:cTn id="37" dur="500" fill="hold"/>
                                        <p:tgtEl>
                                          <p:spTgt spid="213299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3299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34543" y="193179"/>
            <a:ext cx="11073674" cy="658591"/>
          </a:xfrm>
        </p:spPr>
        <p:txBody>
          <a:bodyPr>
            <a:normAutofit/>
          </a:bodyPr>
          <a:lstStyle/>
          <a:p>
            <a:pPr algn="l"/>
            <a:r>
              <a:rPr lang="zh-CN" altLang="en-US" sz="3600" b="1" dirty="0">
                <a:solidFill>
                  <a:srgbClr val="C00000"/>
                </a:solidFill>
                <a:latin typeface="微软雅黑" panose="020B0503020204020204" pitchFamily="34" charset="-122"/>
                <a:ea typeface="微软雅黑" panose="020B0503020204020204" pitchFamily="34" charset="-122"/>
              </a:rPr>
              <a:t>算法</a:t>
            </a:r>
          </a:p>
        </p:txBody>
      </p:sp>
      <p:sp>
        <p:nvSpPr>
          <p:cNvPr id="5123" name="Text Box 3"/>
          <p:cNvSpPr txBox="1">
            <a:spLocks noChangeArrowheads="1"/>
          </p:cNvSpPr>
          <p:nvPr/>
        </p:nvSpPr>
        <p:spPr bwMode="auto">
          <a:xfrm>
            <a:off x="758201" y="2287949"/>
            <a:ext cx="4801314" cy="196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b="1" i="0" u="none" strike="noStrike" kern="1200" cap="none" spc="0" normalizeH="0" baseline="0" noProof="0" dirty="0">
                <a:ln>
                  <a:noFill/>
                </a:ln>
                <a:effectLst/>
                <a:uLnTx/>
                <a:uFillTx/>
                <a:latin typeface="微软雅黑" panose="020B0503020204020204" pitchFamily="34" charset="-122"/>
              </a:rPr>
              <a:t>一、</a:t>
            </a:r>
            <a:r>
              <a:rPr kumimoji="0" lang="zh-CN" altLang="en-US" dirty="0">
                <a:latin typeface="微软雅黑" panose="020B0503020204020204" pitchFamily="34" charset="-122"/>
              </a:rPr>
              <a:t>问题、算法、程序之间的关系</a:t>
            </a:r>
            <a:endParaRPr kumimoji="0" lang="en-US" altLang="zh-CN" dirty="0">
              <a:latin typeface="微软雅黑" panose="020B0503020204020204" pitchFamily="34" charset="-122"/>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noProof="0" dirty="0">
                <a:latin typeface="微软雅黑" panose="020B0503020204020204" pitchFamily="34" charset="-122"/>
              </a:rPr>
              <a:t>二、</a:t>
            </a:r>
            <a:r>
              <a:rPr lang="zh-CN" altLang="en-US" b="1" dirty="0">
                <a:latin typeface="微软雅黑" panose="020B0503020204020204" pitchFamily="34" charset="-122"/>
              </a:rPr>
              <a:t>算法的概念与特征</a:t>
            </a:r>
            <a:endParaRPr lang="en-US" altLang="zh-CN" b="1" dirty="0">
              <a:latin typeface="微软雅黑" panose="020B0503020204020204" pitchFamily="34" charset="-122"/>
            </a:endParaRPr>
          </a:p>
          <a:p>
            <a:pPr lvl="0">
              <a:lnSpc>
                <a:spcPct val="130000"/>
              </a:lnSpc>
              <a:defRPr/>
            </a:pPr>
            <a:r>
              <a:rPr lang="zh-CN" altLang="en-US" b="1" dirty="0">
                <a:latin typeface="微软雅黑" panose="020B0503020204020204" pitchFamily="34" charset="-122"/>
              </a:rPr>
              <a:t>三、算法设计概述</a:t>
            </a:r>
          </a:p>
          <a:p>
            <a:pPr lvl="0" defTabSz="457200" eaLnBrk="1" fontAlgn="auto" hangingPunct="1">
              <a:lnSpc>
                <a:spcPct val="130000"/>
              </a:lnSpc>
              <a:spcBef>
                <a:spcPts val="0"/>
              </a:spcBef>
              <a:spcAft>
                <a:spcPts val="0"/>
              </a:spcAft>
              <a:defRPr/>
            </a:pPr>
            <a:r>
              <a:rPr lang="zh-CN" altLang="en-US" b="1" dirty="0"/>
              <a:t>四、</a:t>
            </a:r>
            <a:r>
              <a:rPr lang="en-US" altLang="zh-CN" dirty="0"/>
              <a:t>TSP</a:t>
            </a:r>
            <a:r>
              <a:rPr lang="zh-CN" altLang="en-US" dirty="0"/>
              <a:t>问题的算法设计</a:t>
            </a:r>
            <a:endParaRPr lang="en-US" altLang="zh-CN" b="1" dirty="0"/>
          </a:p>
        </p:txBody>
      </p:sp>
      <p:sp>
        <p:nvSpPr>
          <p:cNvPr id="5" name="Text Box 3"/>
          <p:cNvSpPr txBox="1">
            <a:spLocks noChangeArrowheads="1"/>
          </p:cNvSpPr>
          <p:nvPr/>
        </p:nvSpPr>
        <p:spPr bwMode="auto">
          <a:xfrm>
            <a:off x="6018839" y="1498225"/>
            <a:ext cx="5689378" cy="4846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800080"/>
                </a:solidFill>
                <a:effectLst/>
                <a:uLnTx/>
                <a:uFillTx/>
                <a:latin typeface="微软雅黑" panose="020B0503020204020204" pitchFamily="34" charset="-122"/>
              </a:rPr>
              <a:t>案例：</a:t>
            </a:r>
            <a:endParaRPr kumimoji="0" lang="en-US" altLang="zh-CN" b="1" i="0" u="none" strike="noStrike" kern="1200" cap="none" spc="0" normalizeH="0" baseline="0" noProof="0" dirty="0">
              <a:ln>
                <a:noFill/>
              </a:ln>
              <a:solidFill>
                <a:srgbClr val="800080"/>
              </a:solidFill>
              <a:effectLst/>
              <a:uLnTx/>
              <a:uFillTx/>
              <a:latin typeface="微软雅黑" panose="020B0503020204020204" pitchFamily="34" charset="-122"/>
            </a:endParaRPr>
          </a:p>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800080"/>
                </a:solidFill>
                <a:effectLst/>
                <a:uLnTx/>
                <a:uFillTx/>
                <a:latin typeface="微软雅黑" panose="020B0503020204020204" pitchFamily="34" charset="-122"/>
              </a:rPr>
              <a:t>一、</a:t>
            </a:r>
            <a:r>
              <a:rPr lang="en-US" altLang="zh-CN" noProof="0" dirty="0">
                <a:solidFill>
                  <a:srgbClr val="800080"/>
                </a:solidFill>
                <a:latin typeface="微软雅黑" panose="020B0503020204020204" pitchFamily="34" charset="-122"/>
              </a:rPr>
              <a:t>TSP</a:t>
            </a:r>
            <a:r>
              <a:rPr lang="zh-CN" altLang="en-US" noProof="0" dirty="0">
                <a:solidFill>
                  <a:srgbClr val="800080"/>
                </a:solidFill>
                <a:latin typeface="微软雅黑" panose="020B0503020204020204" pitchFamily="34" charset="-122"/>
              </a:rPr>
              <a:t>问题</a:t>
            </a:r>
            <a:endParaRPr kumimoji="0" lang="en-US" altLang="zh-CN" b="1" i="0" u="none" strike="noStrike" kern="1200" cap="none" spc="0" normalizeH="0" baseline="0" noProof="0" dirty="0">
              <a:ln>
                <a:noFill/>
              </a:ln>
              <a:solidFill>
                <a:srgbClr val="800080"/>
              </a:solidFill>
              <a:effectLst/>
              <a:uLnTx/>
              <a:uFillTx/>
              <a:latin typeface="微软雅黑" panose="020B0503020204020204" pitchFamily="34" charset="-122"/>
            </a:endParaRPr>
          </a:p>
          <a:p>
            <a:pPr lvl="0">
              <a:lnSpc>
                <a:spcPct val="130000"/>
              </a:lnSpc>
              <a:defRPr/>
            </a:pPr>
            <a:r>
              <a:rPr lang="zh-CN" altLang="en-US" b="1" dirty="0">
                <a:solidFill>
                  <a:srgbClr val="800080"/>
                </a:solidFill>
                <a:latin typeface="微软雅黑" panose="020B0503020204020204" pitchFamily="34" charset="-122"/>
              </a:rPr>
              <a:t>二、</a:t>
            </a:r>
            <a:r>
              <a:rPr lang="en-US" altLang="zh-CN" dirty="0">
                <a:solidFill>
                  <a:srgbClr val="800080"/>
                </a:solidFill>
                <a:latin typeface="微软雅黑" panose="020B0503020204020204" pitchFamily="34" charset="-122"/>
              </a:rPr>
              <a:t>TSP</a:t>
            </a:r>
            <a:r>
              <a:rPr lang="zh-CN" altLang="en-US" dirty="0">
                <a:solidFill>
                  <a:srgbClr val="800080"/>
                </a:solidFill>
                <a:latin typeface="微软雅黑" panose="020B0503020204020204" pitchFamily="34" charset="-122"/>
              </a:rPr>
              <a:t>问题：数学建模</a:t>
            </a:r>
            <a:endParaRPr lang="en-US" altLang="zh-CN" b="1" dirty="0">
              <a:solidFill>
                <a:srgbClr val="800080"/>
              </a:solidFill>
              <a:latin typeface="微软雅黑" panose="020B0503020204020204" pitchFamily="34" charset="-122"/>
            </a:endParaRPr>
          </a:p>
          <a:p>
            <a:pPr lvl="0">
              <a:lnSpc>
                <a:spcPct val="130000"/>
              </a:lnSpc>
              <a:defRPr/>
            </a:pPr>
            <a:r>
              <a:rPr lang="zh-CN" altLang="en-US" b="1" dirty="0">
                <a:solidFill>
                  <a:srgbClr val="800080"/>
                </a:solidFill>
                <a:latin typeface="微软雅黑" panose="020B0503020204020204" pitchFamily="34" charset="-122"/>
              </a:rPr>
              <a:t>三、</a:t>
            </a:r>
            <a:r>
              <a:rPr lang="en-US" altLang="zh-CN" b="1" dirty="0">
                <a:solidFill>
                  <a:srgbClr val="800080"/>
                </a:solidFill>
                <a:latin typeface="微软雅黑" panose="020B0503020204020204" pitchFamily="34" charset="-122"/>
              </a:rPr>
              <a:t>TSP</a:t>
            </a:r>
            <a:r>
              <a:rPr lang="zh-CN" altLang="en-US" b="1" dirty="0">
                <a:solidFill>
                  <a:srgbClr val="800080"/>
                </a:solidFill>
                <a:latin typeface="微软雅黑" panose="020B0503020204020204" pitchFamily="34" charset="-122"/>
              </a:rPr>
              <a:t>问题：算法策略 </a:t>
            </a:r>
          </a:p>
          <a:p>
            <a:pPr lvl="0" defTabSz="457200" eaLnBrk="1" fontAlgn="auto" hangingPunct="1">
              <a:lnSpc>
                <a:spcPct val="130000"/>
              </a:lnSpc>
              <a:spcBef>
                <a:spcPts val="0"/>
              </a:spcBef>
              <a:spcAft>
                <a:spcPts val="0"/>
              </a:spcAft>
              <a:defRPr/>
            </a:pPr>
            <a:r>
              <a:rPr lang="zh-CN" altLang="en-US" b="1" dirty="0">
                <a:solidFill>
                  <a:srgbClr val="800080"/>
                </a:solidFill>
              </a:rPr>
              <a:t>四、</a:t>
            </a:r>
            <a:r>
              <a:rPr lang="en-US" altLang="zh-CN" dirty="0">
                <a:solidFill>
                  <a:srgbClr val="800080"/>
                </a:solidFill>
                <a:latin typeface="微软雅黑" panose="020B0503020204020204" pitchFamily="34" charset="-122"/>
              </a:rPr>
              <a:t>TSP</a:t>
            </a:r>
            <a:r>
              <a:rPr lang="zh-CN" altLang="en-US" dirty="0">
                <a:solidFill>
                  <a:srgbClr val="800080"/>
                </a:solidFill>
                <a:latin typeface="微软雅黑" panose="020B0503020204020204" pitchFamily="34" charset="-122"/>
              </a:rPr>
              <a:t>问题：算法的数据结构设计</a:t>
            </a:r>
            <a:endParaRPr lang="en-US" altLang="zh-CN" b="1" dirty="0">
              <a:solidFill>
                <a:srgbClr val="800080"/>
              </a:solidFill>
            </a:endParaRPr>
          </a:p>
          <a:p>
            <a:pPr lvl="0" defTabSz="457200" eaLnBrk="1" fontAlgn="auto" hangingPunct="1">
              <a:lnSpc>
                <a:spcPct val="130000"/>
              </a:lnSpc>
              <a:spcBef>
                <a:spcPts val="0"/>
              </a:spcBef>
              <a:spcAft>
                <a:spcPts val="0"/>
              </a:spcAft>
              <a:defRPr/>
            </a:pPr>
            <a:r>
              <a:rPr lang="zh-CN" altLang="en-US" b="1" dirty="0">
                <a:solidFill>
                  <a:srgbClr val="800080"/>
                </a:solidFill>
              </a:rPr>
              <a:t>五、</a:t>
            </a:r>
            <a:r>
              <a:rPr lang="en-US" altLang="zh-CN" dirty="0">
                <a:solidFill>
                  <a:srgbClr val="800080"/>
                </a:solidFill>
                <a:latin typeface="微软雅黑" panose="020B0503020204020204" pitchFamily="34" charset="-122"/>
              </a:rPr>
              <a:t>TSP</a:t>
            </a:r>
            <a:r>
              <a:rPr lang="zh-CN" altLang="en-US" dirty="0">
                <a:solidFill>
                  <a:srgbClr val="800080"/>
                </a:solidFill>
                <a:latin typeface="微软雅黑" panose="020B0503020204020204" pitchFamily="34" charset="-122"/>
              </a:rPr>
              <a:t>问题：算法的控制结构设计</a:t>
            </a:r>
            <a:endParaRPr lang="en-US" altLang="zh-CN" b="1" dirty="0">
              <a:solidFill>
                <a:srgbClr val="800080"/>
              </a:solidFill>
            </a:endParaRPr>
          </a:p>
          <a:p>
            <a:pPr lvl="0" defTabSz="457200" eaLnBrk="1" fontAlgn="auto" hangingPunct="1">
              <a:lnSpc>
                <a:spcPct val="130000"/>
              </a:lnSpc>
              <a:spcBef>
                <a:spcPts val="0"/>
              </a:spcBef>
              <a:spcAft>
                <a:spcPts val="0"/>
              </a:spcAft>
              <a:defRPr/>
            </a:pPr>
            <a:r>
              <a:rPr lang="zh-CN" altLang="en-US" b="1" dirty="0">
                <a:solidFill>
                  <a:srgbClr val="800080"/>
                </a:solidFill>
              </a:rPr>
              <a:t>六、</a:t>
            </a:r>
            <a:r>
              <a:rPr lang="en-US" altLang="zh-CN" dirty="0">
                <a:solidFill>
                  <a:srgbClr val="800080"/>
                </a:solidFill>
                <a:latin typeface="微软雅黑" panose="020B0503020204020204" pitchFamily="34" charset="-122"/>
              </a:rPr>
              <a:t>TSP</a:t>
            </a:r>
            <a:r>
              <a:rPr lang="zh-CN" altLang="en-US" dirty="0">
                <a:solidFill>
                  <a:srgbClr val="800080"/>
                </a:solidFill>
                <a:latin typeface="微软雅黑" panose="020B0503020204020204" pitchFamily="34" charset="-122"/>
              </a:rPr>
              <a:t>问题：程序设计</a:t>
            </a:r>
            <a:endParaRPr lang="en-US" altLang="zh-CN" b="1" dirty="0">
              <a:solidFill>
                <a:srgbClr val="800080"/>
              </a:solidFill>
            </a:endParaRPr>
          </a:p>
          <a:p>
            <a:pPr lvl="0" defTabSz="457200" eaLnBrk="1" fontAlgn="auto" hangingPunct="1">
              <a:lnSpc>
                <a:spcPct val="130000"/>
              </a:lnSpc>
              <a:spcBef>
                <a:spcPts val="0"/>
              </a:spcBef>
              <a:spcAft>
                <a:spcPts val="0"/>
              </a:spcAft>
              <a:defRPr/>
            </a:pPr>
            <a:r>
              <a:rPr lang="zh-CN" altLang="en-US" b="1" dirty="0">
                <a:solidFill>
                  <a:schemeClr val="bg1">
                    <a:lumMod val="65000"/>
                  </a:schemeClr>
                </a:solidFill>
              </a:rPr>
              <a:t>七、</a:t>
            </a:r>
            <a:r>
              <a:rPr lang="en-US" altLang="zh-CN" dirty="0">
                <a:solidFill>
                  <a:schemeClr val="bg1">
                    <a:lumMod val="65000"/>
                  </a:schemeClr>
                </a:solidFill>
                <a:latin typeface="微软雅黑" panose="020B0503020204020204" pitchFamily="34" charset="-122"/>
              </a:rPr>
              <a:t>TSP</a:t>
            </a:r>
            <a:r>
              <a:rPr lang="zh-CN" altLang="en-US" dirty="0">
                <a:solidFill>
                  <a:schemeClr val="bg1">
                    <a:lumMod val="65000"/>
                  </a:schemeClr>
                </a:solidFill>
                <a:latin typeface="微软雅黑" panose="020B0503020204020204" pitchFamily="34" charset="-122"/>
              </a:rPr>
              <a:t>问题：算法的正确性分析</a:t>
            </a:r>
            <a:endParaRPr lang="en-US" altLang="zh-CN" b="1" dirty="0">
              <a:solidFill>
                <a:schemeClr val="bg1">
                  <a:lumMod val="65000"/>
                </a:schemeClr>
              </a:solidFill>
            </a:endParaRPr>
          </a:p>
          <a:p>
            <a:pPr>
              <a:lnSpc>
                <a:spcPct val="130000"/>
              </a:lnSpc>
              <a:defRPr/>
            </a:pPr>
            <a:r>
              <a:rPr lang="zh-CN" altLang="en-US" b="1" dirty="0">
                <a:solidFill>
                  <a:schemeClr val="bg1">
                    <a:lumMod val="65000"/>
                  </a:schemeClr>
                </a:solidFill>
              </a:rPr>
              <a:t>八、</a:t>
            </a:r>
            <a:r>
              <a:rPr lang="en-US" altLang="zh-CN" dirty="0">
                <a:solidFill>
                  <a:schemeClr val="bg1">
                    <a:lumMod val="65000"/>
                  </a:schemeClr>
                </a:solidFill>
                <a:latin typeface="微软雅黑" panose="020B0503020204020204" pitchFamily="34" charset="-122"/>
              </a:rPr>
              <a:t>TSP</a:t>
            </a:r>
            <a:r>
              <a:rPr lang="zh-CN" altLang="en-US" dirty="0">
                <a:solidFill>
                  <a:schemeClr val="bg1">
                    <a:lumMod val="65000"/>
                  </a:schemeClr>
                </a:solidFill>
                <a:latin typeface="微软雅黑" panose="020B0503020204020204" pitchFamily="34" charset="-122"/>
              </a:rPr>
              <a:t>问题：算法的复杂性分析</a:t>
            </a:r>
            <a:endParaRPr lang="en-US" altLang="zh-CN" dirty="0">
              <a:solidFill>
                <a:schemeClr val="bg1">
                  <a:lumMod val="65000"/>
                </a:schemeClr>
              </a:solidFill>
              <a:latin typeface="微软雅黑" panose="020B0503020204020204" pitchFamily="34" charset="-122"/>
            </a:endParaRPr>
          </a:p>
          <a:p>
            <a:pPr>
              <a:lnSpc>
                <a:spcPct val="130000"/>
              </a:lnSpc>
              <a:defRPr/>
            </a:pPr>
            <a:r>
              <a:rPr lang="zh-CN" altLang="en-US" dirty="0">
                <a:solidFill>
                  <a:schemeClr val="bg1">
                    <a:lumMod val="65000"/>
                  </a:schemeClr>
                </a:solidFill>
              </a:rPr>
              <a:t>九、</a:t>
            </a:r>
            <a:r>
              <a:rPr lang="en-US" altLang="zh-CN" dirty="0">
                <a:solidFill>
                  <a:schemeClr val="bg1">
                    <a:lumMod val="65000"/>
                  </a:schemeClr>
                </a:solidFill>
                <a:latin typeface="微软雅黑" panose="020B0503020204020204" pitchFamily="34" charset="-122"/>
              </a:rPr>
              <a:t>TSP</a:t>
            </a:r>
            <a:r>
              <a:rPr lang="zh-CN" altLang="en-US" dirty="0">
                <a:solidFill>
                  <a:schemeClr val="bg1">
                    <a:lumMod val="65000"/>
                  </a:schemeClr>
                </a:solidFill>
                <a:latin typeface="微软雅黑" panose="020B0503020204020204" pitchFamily="34" charset="-122"/>
              </a:rPr>
              <a:t>问题：算法复杂性与计算复杂性</a:t>
            </a:r>
            <a:endParaRPr lang="en-US" altLang="zh-CN" dirty="0">
              <a:solidFill>
                <a:schemeClr val="bg1">
                  <a:lumMod val="6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54114" name="Group 2"/>
          <p:cNvGrpSpPr/>
          <p:nvPr/>
        </p:nvGrpSpPr>
        <p:grpSpPr bwMode="auto">
          <a:xfrm>
            <a:off x="3900591" y="4206701"/>
            <a:ext cx="1433513" cy="2208212"/>
            <a:chOff x="1152" y="2288"/>
            <a:chExt cx="903" cy="1391"/>
          </a:xfrm>
        </p:grpSpPr>
        <p:sp>
          <p:nvSpPr>
            <p:cNvPr id="1754115" name="Oval 3"/>
            <p:cNvSpPr>
              <a:spLocks noChangeArrowheads="1"/>
            </p:cNvSpPr>
            <p:nvPr/>
          </p:nvSpPr>
          <p:spPr bwMode="auto">
            <a:xfrm>
              <a:off x="1152" y="2288"/>
              <a:ext cx="893" cy="51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a:latin typeface="Times New Roman" panose="02020503050405090304" pitchFamily="18" charset="0"/>
                  <a:ea typeface="隶书" panose="02010509060101010101" pitchFamily="49" charset="-122"/>
                </a:rPr>
                <a:t>算法</a:t>
              </a:r>
            </a:p>
          </p:txBody>
        </p:sp>
        <p:sp>
          <p:nvSpPr>
            <p:cNvPr id="1754116" name="Line 4"/>
            <p:cNvSpPr>
              <a:spLocks noChangeShapeType="1"/>
            </p:cNvSpPr>
            <p:nvPr/>
          </p:nvSpPr>
          <p:spPr bwMode="auto">
            <a:xfrm>
              <a:off x="1595" y="2796"/>
              <a:ext cx="0" cy="3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54117" name="Text Box 5"/>
            <p:cNvSpPr txBox="1">
              <a:spLocks noChangeArrowheads="1"/>
            </p:cNvSpPr>
            <p:nvPr/>
          </p:nvSpPr>
          <p:spPr bwMode="auto">
            <a:xfrm>
              <a:off x="1163" y="3156"/>
              <a:ext cx="892"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400" b="0" dirty="0">
                  <a:latin typeface="Times New Roman" panose="02020503050405090304" pitchFamily="18" charset="0"/>
                  <a:ea typeface="楷体_GB2312" pitchFamily="49" charset="-122"/>
                </a:rPr>
                <a:t>解决问题</a:t>
              </a:r>
            </a:p>
            <a:p>
              <a:pPr algn="ctr"/>
              <a:r>
                <a:rPr lang="zh-CN" altLang="en-US" sz="2400" b="0" dirty="0">
                  <a:latin typeface="Times New Roman" panose="02020503050405090304" pitchFamily="18" charset="0"/>
                  <a:ea typeface="楷体_GB2312" pitchFamily="49" charset="-122"/>
                </a:rPr>
                <a:t>的步骤</a:t>
              </a:r>
              <a:endParaRPr lang="zh-CN" altLang="en-US" sz="2400" dirty="0">
                <a:latin typeface="Times New Roman" panose="02020503050405090304" pitchFamily="18" charset="0"/>
                <a:ea typeface="隶书" panose="02010509060101010101" pitchFamily="49" charset="-122"/>
              </a:endParaRPr>
            </a:p>
          </p:txBody>
        </p:sp>
      </p:grpSp>
      <p:grpSp>
        <p:nvGrpSpPr>
          <p:cNvPr id="1754118" name="Group 6"/>
          <p:cNvGrpSpPr/>
          <p:nvPr/>
        </p:nvGrpSpPr>
        <p:grpSpPr bwMode="auto">
          <a:xfrm>
            <a:off x="6816830" y="4206701"/>
            <a:ext cx="3262313" cy="2214562"/>
            <a:chOff x="2989" y="2288"/>
            <a:chExt cx="2055" cy="1395"/>
          </a:xfrm>
        </p:grpSpPr>
        <p:sp>
          <p:nvSpPr>
            <p:cNvPr id="1754119" name="Oval 7"/>
            <p:cNvSpPr>
              <a:spLocks noChangeArrowheads="1"/>
            </p:cNvSpPr>
            <p:nvPr/>
          </p:nvSpPr>
          <p:spPr bwMode="auto">
            <a:xfrm>
              <a:off x="3604" y="2288"/>
              <a:ext cx="893" cy="51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a:latin typeface="Times New Roman" panose="02020503050405090304" pitchFamily="18" charset="0"/>
                  <a:ea typeface="隶书" panose="02010509060101010101" pitchFamily="49" charset="-122"/>
                </a:rPr>
                <a:t>程序</a:t>
              </a:r>
            </a:p>
          </p:txBody>
        </p:sp>
        <p:sp>
          <p:nvSpPr>
            <p:cNvPr id="1754120" name="Text Box 8"/>
            <p:cNvSpPr txBox="1">
              <a:spLocks noChangeArrowheads="1"/>
            </p:cNvSpPr>
            <p:nvPr/>
          </p:nvSpPr>
          <p:spPr bwMode="auto">
            <a:xfrm>
              <a:off x="2989" y="3160"/>
              <a:ext cx="2055"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400" b="0">
                  <a:latin typeface="Times New Roman" panose="02020503050405090304" pitchFamily="18" charset="0"/>
                  <a:ea typeface="楷体_GB2312" pitchFamily="49" charset="-122"/>
                </a:rPr>
                <a:t>计算机能够理解与</a:t>
              </a:r>
            </a:p>
            <a:p>
              <a:pPr algn="ctr"/>
              <a:r>
                <a:rPr lang="zh-CN" altLang="en-US" sz="2400" b="0">
                  <a:latin typeface="Times New Roman" panose="02020503050405090304" pitchFamily="18" charset="0"/>
                  <a:ea typeface="楷体_GB2312" pitchFamily="49" charset="-122"/>
                </a:rPr>
                <a:t>执行的解决问题的步骤</a:t>
              </a:r>
            </a:p>
          </p:txBody>
        </p:sp>
        <p:sp>
          <p:nvSpPr>
            <p:cNvPr id="1754121" name="Line 9"/>
            <p:cNvSpPr>
              <a:spLocks noChangeShapeType="1"/>
            </p:cNvSpPr>
            <p:nvPr/>
          </p:nvSpPr>
          <p:spPr bwMode="auto">
            <a:xfrm>
              <a:off x="4031" y="2796"/>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754122" name="Line 10"/>
          <p:cNvSpPr>
            <a:spLocks noChangeShapeType="1"/>
          </p:cNvSpPr>
          <p:nvPr/>
        </p:nvSpPr>
        <p:spPr bwMode="auto">
          <a:xfrm>
            <a:off x="5295655" y="4613101"/>
            <a:ext cx="2514600" cy="0"/>
          </a:xfrm>
          <a:prstGeom prst="line">
            <a:avLst/>
          </a:prstGeom>
          <a:noFill/>
          <a:ln w="76200" cmpd="tri">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54123" name="Text Box 11"/>
          <p:cNvSpPr txBox="1">
            <a:spLocks noChangeArrowheads="1"/>
          </p:cNvSpPr>
          <p:nvPr/>
        </p:nvSpPr>
        <p:spPr bwMode="auto">
          <a:xfrm>
            <a:off x="5580273" y="4032123"/>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panose="020B0503020204020204" pitchFamily="34" charset="-122"/>
                <a:ea typeface="微软雅黑" panose="020B0503020204020204" pitchFamily="34" charset="-122"/>
              </a:rPr>
              <a:t>计算机语言</a:t>
            </a:r>
          </a:p>
        </p:txBody>
      </p:sp>
      <p:grpSp>
        <p:nvGrpSpPr>
          <p:cNvPr id="1754124" name="Group 12"/>
          <p:cNvGrpSpPr/>
          <p:nvPr/>
        </p:nvGrpSpPr>
        <p:grpSpPr bwMode="auto">
          <a:xfrm>
            <a:off x="3599759" y="2410988"/>
            <a:ext cx="5724525" cy="1676400"/>
            <a:chOff x="960" y="1200"/>
            <a:chExt cx="3606" cy="1056"/>
          </a:xfrm>
        </p:grpSpPr>
        <p:sp>
          <p:nvSpPr>
            <p:cNvPr id="1754125" name="Text Box 13"/>
            <p:cNvSpPr txBox="1">
              <a:spLocks noChangeArrowheads="1"/>
            </p:cNvSpPr>
            <p:nvPr/>
          </p:nvSpPr>
          <p:spPr bwMode="auto">
            <a:xfrm>
              <a:off x="960" y="1200"/>
              <a:ext cx="3606" cy="4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90000"/>
                </a:lnSpc>
              </a:pPr>
              <a:r>
                <a:rPr lang="zh-CN" altLang="en-US" sz="2400" b="0" dirty="0">
                  <a:latin typeface="Times New Roman" panose="02020503050405090304" pitchFamily="18" charset="0"/>
                  <a:ea typeface="楷体_GB2312" pitchFamily="49" charset="-122"/>
                </a:rPr>
                <a:t>步骤书写的规范、语法规则、标准的集合</a:t>
              </a:r>
              <a:endParaRPr lang="en-US" altLang="zh-CN" sz="2400" b="0" dirty="0">
                <a:latin typeface="Times New Roman" panose="02020503050405090304" pitchFamily="18" charset="0"/>
                <a:ea typeface="楷体_GB2312" pitchFamily="49" charset="-122"/>
              </a:endParaRPr>
            </a:p>
            <a:p>
              <a:pPr algn="ctr">
                <a:lnSpc>
                  <a:spcPct val="90000"/>
                </a:lnSpc>
              </a:pPr>
              <a:r>
                <a:rPr lang="zh-CN" altLang="en-US" sz="2400" b="0" dirty="0">
                  <a:latin typeface="Times New Roman" panose="02020503050405090304" pitchFamily="18" charset="0"/>
                  <a:ea typeface="楷体_GB2312" pitchFamily="49" charset="-122"/>
                </a:rPr>
                <a:t>是人和计算机都能理解的语言</a:t>
              </a:r>
              <a:endParaRPr lang="en-US" altLang="zh-CN" sz="2400" b="0" dirty="0">
                <a:latin typeface="Times New Roman" panose="02020503050405090304" pitchFamily="18" charset="0"/>
                <a:ea typeface="楷体_GB2312" pitchFamily="49" charset="-122"/>
              </a:endParaRPr>
            </a:p>
          </p:txBody>
        </p:sp>
        <p:sp>
          <p:nvSpPr>
            <p:cNvPr id="1754126" name="Line 14"/>
            <p:cNvSpPr>
              <a:spLocks noChangeShapeType="1"/>
            </p:cNvSpPr>
            <p:nvPr/>
          </p:nvSpPr>
          <p:spPr bwMode="auto">
            <a:xfrm>
              <a:off x="2727" y="1728"/>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754130" name="Text Box 16"/>
          <p:cNvSpPr txBox="1">
            <a:spLocks noChangeArrowheads="1"/>
          </p:cNvSpPr>
          <p:nvPr/>
        </p:nvSpPr>
        <p:spPr bwMode="auto">
          <a:xfrm>
            <a:off x="1687514" y="1"/>
            <a:ext cx="32896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eaLnBrk="1" hangingPunct="1">
              <a:lnSpc>
                <a:spcPct val="120000"/>
              </a:lnSpc>
            </a:pPr>
            <a:r>
              <a:rPr lang="zh-CN" altLang="en-US" sz="2000">
                <a:solidFill>
                  <a:schemeClr val="bg1"/>
                </a:solidFill>
                <a:ea typeface="华文中宋" panose="02010600040101010101" pitchFamily="2" charset="-122"/>
              </a:rPr>
              <a:t>由机器语言到高级语言</a:t>
            </a:r>
          </a:p>
          <a:p>
            <a:pPr eaLnBrk="1" hangingPunct="1">
              <a:lnSpc>
                <a:spcPct val="120000"/>
              </a:lnSpc>
            </a:pPr>
            <a:r>
              <a:rPr lang="en-US" altLang="zh-CN" sz="2000">
                <a:solidFill>
                  <a:schemeClr val="bg1"/>
                </a:solidFill>
                <a:ea typeface="华文中宋" panose="02010600040101010101" pitchFamily="2" charset="-122"/>
              </a:rPr>
              <a:t>(1)</a:t>
            </a:r>
            <a:r>
              <a:rPr lang="zh-CN" altLang="en-US" sz="2000">
                <a:solidFill>
                  <a:schemeClr val="bg1"/>
                </a:solidFill>
                <a:ea typeface="华文中宋" panose="02010600040101010101" pitchFamily="2" charset="-122"/>
              </a:rPr>
              <a:t>为什么需要计算机语言</a:t>
            </a:r>
            <a:r>
              <a:rPr lang="en-US" altLang="zh-CN" sz="2000">
                <a:solidFill>
                  <a:schemeClr val="bg1"/>
                </a:solidFill>
                <a:ea typeface="华文中宋" panose="02010600040101010101" pitchFamily="2" charset="-122"/>
              </a:rPr>
              <a:t>? </a:t>
            </a:r>
          </a:p>
        </p:txBody>
      </p:sp>
      <p:sp>
        <p:nvSpPr>
          <p:cNvPr id="17" name="圆角矩形 1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问题、算法、计算机语言与计算机程序</a:t>
            </a:r>
          </a:p>
        </p:txBody>
      </p:sp>
      <p:sp>
        <p:nvSpPr>
          <p:cNvPr id="1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一、问题、算法、程序之间的关系</a:t>
            </a:r>
          </a:p>
        </p:txBody>
      </p:sp>
      <p:grpSp>
        <p:nvGrpSpPr>
          <p:cNvPr id="19" name="Group 17"/>
          <p:cNvGrpSpPr/>
          <p:nvPr/>
        </p:nvGrpSpPr>
        <p:grpSpPr bwMode="auto">
          <a:xfrm>
            <a:off x="9573130" y="1980718"/>
            <a:ext cx="1273045" cy="724824"/>
            <a:chOff x="4298" y="601"/>
            <a:chExt cx="806" cy="739"/>
          </a:xfrm>
        </p:grpSpPr>
        <p:sp>
          <p:nvSpPr>
            <p:cNvPr id="20"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21"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22" name="Text Box 84"/>
            <p:cNvSpPr txBox="1">
              <a:spLocks noChangeArrowheads="1"/>
            </p:cNvSpPr>
            <p:nvPr/>
          </p:nvSpPr>
          <p:spPr bwMode="auto">
            <a:xfrm>
              <a:off x="4367" y="67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高级语言语法要素 </a:t>
              </a:r>
            </a:p>
          </p:txBody>
        </p:sp>
      </p:grpSp>
      <p:grpSp>
        <p:nvGrpSpPr>
          <p:cNvPr id="23" name="Group 17"/>
          <p:cNvGrpSpPr/>
          <p:nvPr/>
        </p:nvGrpSpPr>
        <p:grpSpPr bwMode="auto">
          <a:xfrm>
            <a:off x="9573130" y="2646033"/>
            <a:ext cx="1273045" cy="724824"/>
            <a:chOff x="4298" y="601"/>
            <a:chExt cx="806" cy="739"/>
          </a:xfrm>
        </p:grpSpPr>
        <p:sp>
          <p:nvSpPr>
            <p:cNvPr id="24"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25"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26" name="Text Box 84"/>
            <p:cNvSpPr txBox="1">
              <a:spLocks noChangeArrowheads="1"/>
            </p:cNvSpPr>
            <p:nvPr/>
          </p:nvSpPr>
          <p:spPr bwMode="auto">
            <a:xfrm>
              <a:off x="4367" y="69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程序设计技巧 </a:t>
              </a:r>
            </a:p>
          </p:txBody>
        </p:sp>
      </p:grpSp>
      <p:grpSp>
        <p:nvGrpSpPr>
          <p:cNvPr id="27" name="Group 17"/>
          <p:cNvGrpSpPr/>
          <p:nvPr/>
        </p:nvGrpSpPr>
        <p:grpSpPr bwMode="auto">
          <a:xfrm>
            <a:off x="9573130" y="3321816"/>
            <a:ext cx="1273045" cy="724824"/>
            <a:chOff x="4298" y="601"/>
            <a:chExt cx="806" cy="739"/>
          </a:xfrm>
        </p:grpSpPr>
        <p:sp>
          <p:nvSpPr>
            <p:cNvPr id="28"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29"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30" name="Text Box 84"/>
            <p:cNvSpPr txBox="1">
              <a:spLocks noChangeArrowheads="1"/>
            </p:cNvSpPr>
            <p:nvPr/>
          </p:nvSpPr>
          <p:spPr bwMode="auto">
            <a:xfrm>
              <a:off x="4367" y="69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程序设计环境 </a:t>
              </a:r>
            </a:p>
          </p:txBody>
        </p:sp>
      </p:grpSp>
      <p:grpSp>
        <p:nvGrpSpPr>
          <p:cNvPr id="35" name="Group 17"/>
          <p:cNvGrpSpPr/>
          <p:nvPr/>
        </p:nvGrpSpPr>
        <p:grpSpPr bwMode="auto">
          <a:xfrm>
            <a:off x="707570" y="5263226"/>
            <a:ext cx="1273045" cy="724824"/>
            <a:chOff x="4298" y="601"/>
            <a:chExt cx="806" cy="739"/>
          </a:xfrm>
        </p:grpSpPr>
        <p:sp>
          <p:nvSpPr>
            <p:cNvPr id="36"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37"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38" name="Text Box 84"/>
            <p:cNvSpPr txBox="1">
              <a:spLocks noChangeArrowheads="1"/>
            </p:cNvSpPr>
            <p:nvPr/>
          </p:nvSpPr>
          <p:spPr bwMode="auto">
            <a:xfrm>
              <a:off x="4367" y="69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算法设计策略 </a:t>
              </a:r>
            </a:p>
          </p:txBody>
        </p:sp>
      </p:grpSp>
      <p:grpSp>
        <p:nvGrpSpPr>
          <p:cNvPr id="39" name="Group 17"/>
          <p:cNvGrpSpPr/>
          <p:nvPr/>
        </p:nvGrpSpPr>
        <p:grpSpPr bwMode="auto">
          <a:xfrm>
            <a:off x="707570" y="5948173"/>
            <a:ext cx="1273045" cy="724824"/>
            <a:chOff x="4298" y="601"/>
            <a:chExt cx="806" cy="739"/>
          </a:xfrm>
        </p:grpSpPr>
        <p:sp>
          <p:nvSpPr>
            <p:cNvPr id="40"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41"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42" name="Text Box 84"/>
            <p:cNvSpPr txBox="1">
              <a:spLocks noChangeArrowheads="1"/>
            </p:cNvSpPr>
            <p:nvPr/>
          </p:nvSpPr>
          <p:spPr bwMode="auto">
            <a:xfrm>
              <a:off x="4367" y="69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算法分析方法 </a:t>
              </a:r>
            </a:p>
          </p:txBody>
        </p:sp>
      </p:grpSp>
      <p:grpSp>
        <p:nvGrpSpPr>
          <p:cNvPr id="43" name="Group 17"/>
          <p:cNvGrpSpPr/>
          <p:nvPr/>
        </p:nvGrpSpPr>
        <p:grpSpPr bwMode="auto">
          <a:xfrm>
            <a:off x="2300314" y="5263226"/>
            <a:ext cx="1273045" cy="724824"/>
            <a:chOff x="4298" y="601"/>
            <a:chExt cx="806" cy="739"/>
          </a:xfrm>
        </p:grpSpPr>
        <p:sp>
          <p:nvSpPr>
            <p:cNvPr id="44"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45"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46" name="Text Box 84"/>
            <p:cNvSpPr txBox="1">
              <a:spLocks noChangeArrowheads="1"/>
            </p:cNvSpPr>
            <p:nvPr/>
          </p:nvSpPr>
          <p:spPr bwMode="auto">
            <a:xfrm>
              <a:off x="4367" y="694"/>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数据结构设计</a:t>
              </a:r>
            </a:p>
          </p:txBody>
        </p:sp>
      </p:grpSp>
      <p:grpSp>
        <p:nvGrpSpPr>
          <p:cNvPr id="47" name="Group 17"/>
          <p:cNvGrpSpPr/>
          <p:nvPr/>
        </p:nvGrpSpPr>
        <p:grpSpPr bwMode="auto">
          <a:xfrm>
            <a:off x="2275508" y="5968815"/>
            <a:ext cx="1273045" cy="724823"/>
            <a:chOff x="4298" y="601"/>
            <a:chExt cx="806" cy="739"/>
          </a:xfrm>
        </p:grpSpPr>
        <p:sp>
          <p:nvSpPr>
            <p:cNvPr id="48" name="AutoShape 39"/>
            <p:cNvSpPr>
              <a:spLocks noChangeArrowheads="1"/>
            </p:cNvSpPr>
            <p:nvPr/>
          </p:nvSpPr>
          <p:spPr bwMode="gray">
            <a:xfrm>
              <a:off x="4298" y="601"/>
              <a:ext cx="806" cy="739"/>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49" name="Oval 40"/>
            <p:cNvSpPr>
              <a:spLocks noChangeArrowheads="1"/>
            </p:cNvSpPr>
            <p:nvPr/>
          </p:nvSpPr>
          <p:spPr bwMode="gray">
            <a:xfrm>
              <a:off x="4365" y="662"/>
              <a:ext cx="672" cy="618"/>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600">
                <a:solidFill>
                  <a:srgbClr val="000000"/>
                </a:solidFill>
                <a:latin typeface="宋体" pitchFamily="2" charset="-122"/>
                <a:ea typeface="宋体" pitchFamily="2" charset="-122"/>
              </a:endParaRPr>
            </a:p>
          </p:txBody>
        </p:sp>
        <p:sp>
          <p:nvSpPr>
            <p:cNvPr id="50" name="Text Box 84"/>
            <p:cNvSpPr txBox="1">
              <a:spLocks noChangeArrowheads="1"/>
            </p:cNvSpPr>
            <p:nvPr/>
          </p:nvSpPr>
          <p:spPr bwMode="auto">
            <a:xfrm>
              <a:off x="4367" y="676"/>
              <a:ext cx="667" cy="596"/>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sz="1600" dirty="0">
                  <a:solidFill>
                    <a:srgbClr val="FFFFFF"/>
                  </a:solidFill>
                  <a:latin typeface="宋体" pitchFamily="2" charset="-122"/>
                  <a:ea typeface="华文中宋" panose="02010600040101010101" pitchFamily="2" charset="-122"/>
                </a:rPr>
                <a:t>算法表达方法</a:t>
              </a:r>
            </a:p>
          </p:txBody>
        </p:sp>
      </p:grpSp>
      <p:sp>
        <p:nvSpPr>
          <p:cNvPr id="51" name="Oval 3"/>
          <p:cNvSpPr>
            <a:spLocks noChangeArrowheads="1"/>
          </p:cNvSpPr>
          <p:nvPr/>
        </p:nvSpPr>
        <p:spPr bwMode="auto">
          <a:xfrm>
            <a:off x="1076602" y="4262955"/>
            <a:ext cx="1418296" cy="82230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a:latin typeface="Times New Roman" panose="02020503050405090304" pitchFamily="18" charset="0"/>
                <a:ea typeface="隶书" panose="02010509060101010101" pitchFamily="49" charset="-122"/>
              </a:rPr>
              <a:t>问题</a:t>
            </a:r>
          </a:p>
        </p:txBody>
      </p:sp>
      <p:pic>
        <p:nvPicPr>
          <p:cNvPr id="4" name="图片 3"/>
          <p:cNvPicPr>
            <a:picLocks noChangeAspect="1"/>
          </p:cNvPicPr>
          <p:nvPr/>
        </p:nvPicPr>
        <p:blipFill>
          <a:blip r:embed="rId2"/>
          <a:stretch>
            <a:fillRect/>
          </a:stretch>
        </p:blipFill>
        <p:spPr>
          <a:xfrm>
            <a:off x="2616917" y="4451804"/>
            <a:ext cx="1273045" cy="481626"/>
          </a:xfrm>
          <a:prstGeom prst="rect">
            <a:avLst/>
          </a:prstGeom>
        </p:spPr>
      </p:pic>
      <p:sp>
        <p:nvSpPr>
          <p:cNvPr id="53" name="Text Box 11"/>
          <p:cNvSpPr txBox="1">
            <a:spLocks noChangeArrowheads="1"/>
          </p:cNvSpPr>
          <p:nvPr/>
        </p:nvSpPr>
        <p:spPr bwMode="auto">
          <a:xfrm>
            <a:off x="2505527" y="4087388"/>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panose="020B0503020204020204" pitchFamily="34" charset="-122"/>
                <a:ea typeface="微软雅黑" panose="020B0503020204020204" pitchFamily="34" charset="-122"/>
              </a:rPr>
              <a:t>算法设计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54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7541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541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7541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1754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1+#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1+#ppt_w/2"/>
                                          </p:val>
                                        </p:tav>
                                        <p:tav tm="100000">
                                          <p:val>
                                            <p:strVal val="#ppt_x"/>
                                          </p:val>
                                        </p:tav>
                                      </p:tavLst>
                                    </p:anim>
                                    <p:anim calcmode="lin" valueType="num">
                                      <p:cBhvr additive="base">
                                        <p:cTn id="28" dur="500" fill="hold"/>
                                        <p:tgtEl>
                                          <p:spTgt spid="23"/>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1+#ppt_w/2"/>
                                          </p:val>
                                        </p:tav>
                                        <p:tav tm="100000">
                                          <p:val>
                                            <p:strVal val="#ppt_x"/>
                                          </p:val>
                                        </p:tav>
                                      </p:tavLst>
                                    </p:anim>
                                    <p:anim calcmode="lin" valueType="num">
                                      <p:cBhvr additive="base">
                                        <p:cTn id="32"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additive="base">
                                        <p:cTn id="37" dur="500" fill="hold"/>
                                        <p:tgtEl>
                                          <p:spTgt spid="43"/>
                                        </p:tgtEl>
                                        <p:attrNameLst>
                                          <p:attrName>ppt_x</p:attrName>
                                        </p:attrNameLst>
                                      </p:cBhvr>
                                      <p:tavLst>
                                        <p:tav tm="0">
                                          <p:val>
                                            <p:strVal val="0-#ppt_w/2"/>
                                          </p:val>
                                        </p:tav>
                                        <p:tav tm="100000">
                                          <p:val>
                                            <p:strVal val="#ppt_x"/>
                                          </p:val>
                                        </p:tav>
                                      </p:tavLst>
                                    </p:anim>
                                    <p:anim calcmode="lin" valueType="num">
                                      <p:cBhvr additive="base">
                                        <p:cTn id="38" dur="500" fill="hold"/>
                                        <p:tgtEl>
                                          <p:spTgt spid="43"/>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additive="base">
                                        <p:cTn id="41" dur="500" fill="hold"/>
                                        <p:tgtEl>
                                          <p:spTgt spid="47"/>
                                        </p:tgtEl>
                                        <p:attrNameLst>
                                          <p:attrName>ppt_x</p:attrName>
                                        </p:attrNameLst>
                                      </p:cBhvr>
                                      <p:tavLst>
                                        <p:tav tm="0">
                                          <p:val>
                                            <p:strVal val="0-#ppt_w/2"/>
                                          </p:val>
                                        </p:tav>
                                        <p:tav tm="100000">
                                          <p:val>
                                            <p:strVal val="#ppt_x"/>
                                          </p:val>
                                        </p:tav>
                                      </p:tavLst>
                                    </p:anim>
                                    <p:anim calcmode="lin" valueType="num">
                                      <p:cBhvr additive="base">
                                        <p:cTn id="42" dur="500" fill="hold"/>
                                        <p:tgtEl>
                                          <p:spTgt spid="47"/>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0-#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fill="hold"/>
                                        <p:tgtEl>
                                          <p:spTgt spid="39"/>
                                        </p:tgtEl>
                                        <p:attrNameLst>
                                          <p:attrName>ppt_x</p:attrName>
                                        </p:attrNameLst>
                                      </p:cBhvr>
                                      <p:tavLst>
                                        <p:tav tm="0">
                                          <p:val>
                                            <p:strVal val="0-#ppt_w/2"/>
                                          </p:val>
                                        </p:tav>
                                        <p:tav tm="100000">
                                          <p:val>
                                            <p:strVal val="#ppt_x"/>
                                          </p:val>
                                        </p:tav>
                                      </p:tavLst>
                                    </p:anim>
                                    <p:anim calcmode="lin" valueType="num">
                                      <p:cBhvr additive="base">
                                        <p:cTn id="50" dur="500" fill="hold"/>
                                        <p:tgtEl>
                                          <p:spTgt spid="39"/>
                                        </p:tgtEl>
                                        <p:attrNameLst>
                                          <p:attrName>ppt_y</p:attrName>
                                        </p:attrNameLst>
                                      </p:cBhvr>
                                      <p:tavLst>
                                        <p:tav tm="0">
                                          <p:val>
                                            <p:strVal val="#ppt_y"/>
                                          </p:val>
                                        </p:tav>
                                        <p:tav tm="100000">
                                          <p:val>
                                            <p:strVal val="#ppt_y"/>
                                          </p:val>
                                        </p:tav>
                                      </p:tavLst>
                                    </p:anim>
                                  </p:childTnLst>
                                </p:cTn>
                              </p:par>
                              <p:par>
                                <p:cTn id="51" presetID="1" presetClass="entr" presetSubtype="0" fill="hold" grpId="0" nodeType="withEffect">
                                  <p:stCondLst>
                                    <p:cond delay="0"/>
                                  </p:stCondLst>
                                  <p:childTnLst>
                                    <p:set>
                                      <p:cBhvr>
                                        <p:cTn id="52" dur="1" fill="hold">
                                          <p:stCondLst>
                                            <p:cond delay="499"/>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4123" grpId="0" autoUpdateAnimBg="0"/>
      <p:bldP spid="5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3058" name="Text Box 2"/>
          <p:cNvSpPr txBox="1">
            <a:spLocks noChangeArrowheads="1"/>
          </p:cNvSpPr>
          <p:nvPr/>
        </p:nvSpPr>
        <p:spPr bwMode="auto">
          <a:xfrm>
            <a:off x="779463" y="1945088"/>
            <a:ext cx="10661073" cy="1612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rgbClr val="0066FF"/>
              </a:buClr>
              <a:buFont typeface="Wingdings" panose="05000000000000000000" pitchFamily="2" charset="2"/>
              <a:buNone/>
            </a:pPr>
            <a:r>
              <a:rPr lang="zh-CN" altLang="en-US" sz="1600" dirty="0"/>
              <a:t>算法</a:t>
            </a:r>
            <a:r>
              <a:rPr lang="en-US" altLang="zh-CN" sz="1600" b="0" dirty="0"/>
              <a:t>---</a:t>
            </a:r>
            <a:r>
              <a:rPr lang="zh-CN" altLang="en-US" sz="1600" b="0" dirty="0"/>
              <a:t>计算机与软件的灵魂。</a:t>
            </a:r>
            <a:r>
              <a:rPr lang="zh-CN" altLang="en-US" sz="1600" dirty="0"/>
              <a:t>“算法”</a:t>
            </a:r>
            <a:r>
              <a:rPr lang="en-US" altLang="zh-CN" sz="1600" dirty="0"/>
              <a:t>(Algorithm)</a:t>
            </a:r>
            <a:r>
              <a:rPr lang="zh-CN" altLang="en-US" sz="1600" dirty="0"/>
              <a:t>一词源于阿拉伯数学家阿科瓦里茨米</a:t>
            </a:r>
            <a:r>
              <a:rPr lang="en-US" altLang="zh-CN" sz="1600" dirty="0"/>
              <a:t>(</a:t>
            </a:r>
            <a:r>
              <a:rPr lang="en-US" altLang="zh-CN" sz="1600" dirty="0" err="1"/>
              <a:t>AlKhowarizmi</a:t>
            </a:r>
            <a:r>
              <a:rPr lang="en-US" altLang="zh-CN" sz="1600" dirty="0"/>
              <a:t>)</a:t>
            </a:r>
            <a:r>
              <a:rPr lang="zh-CN" altLang="en-US" sz="1600" dirty="0"/>
              <a:t>，其在公元</a:t>
            </a:r>
            <a:r>
              <a:rPr lang="en-US" altLang="zh-CN" sz="1600" dirty="0"/>
              <a:t>825</a:t>
            </a:r>
            <a:r>
              <a:rPr lang="zh-CN" altLang="en-US" sz="1600" dirty="0"/>
              <a:t>年写了著名的</a:t>
            </a:r>
            <a:r>
              <a:rPr lang="en-US" altLang="zh-CN" sz="1600" dirty="0"/>
              <a:t>《</a:t>
            </a:r>
            <a:r>
              <a:rPr lang="zh-CN" altLang="en-US" sz="1600" dirty="0"/>
              <a:t>波斯教科书</a:t>
            </a:r>
            <a:r>
              <a:rPr lang="en-US" altLang="zh-CN" sz="1600" dirty="0"/>
              <a:t>》(Persian Textbook)</a:t>
            </a:r>
            <a:r>
              <a:rPr lang="zh-CN" altLang="en-US" sz="1600" dirty="0"/>
              <a:t>，书中概括了进行四则算术运算的计算规则</a:t>
            </a:r>
            <a:r>
              <a:rPr lang="zh-CN" altLang="en-US" sz="1600" b="0" dirty="0"/>
              <a:t>。</a:t>
            </a:r>
          </a:p>
          <a:p>
            <a:pPr algn="just" eaLnBrk="1" hangingPunct="1">
              <a:lnSpc>
                <a:spcPct val="130000"/>
              </a:lnSpc>
              <a:buClr>
                <a:srgbClr val="0066FF"/>
              </a:buClr>
            </a:pPr>
            <a:r>
              <a:rPr lang="zh-CN" altLang="en-US" sz="2400" dirty="0">
                <a:solidFill>
                  <a:srgbClr val="FF0066"/>
                </a:solidFill>
                <a:latin typeface="微软雅黑" panose="020B0503020204020204" pitchFamily="34" charset="-122"/>
                <a:ea typeface="微软雅黑" panose="020B0503020204020204" pitchFamily="34" charset="-122"/>
              </a:rPr>
              <a:t>算法</a:t>
            </a:r>
            <a:r>
              <a:rPr lang="zh-CN" altLang="en-US" dirty="0"/>
              <a:t>是一个</a:t>
            </a:r>
            <a:r>
              <a:rPr lang="zh-CN" altLang="en-US" dirty="0">
                <a:solidFill>
                  <a:srgbClr val="FF0066"/>
                </a:solidFill>
              </a:rPr>
              <a:t>有穷规则</a:t>
            </a:r>
            <a:r>
              <a:rPr lang="zh-CN" altLang="en-US" dirty="0"/>
              <a:t>的集合，它用规则规定了解决某一特定类型问题的运算序列，或者规定了任务执行或问题求解的一系列步骤。</a:t>
            </a:r>
          </a:p>
        </p:txBody>
      </p:sp>
      <p:pic>
        <p:nvPicPr>
          <p:cNvPr id="20930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239" y="3557837"/>
            <a:ext cx="3492808" cy="2456441"/>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pic>
        <p:nvPicPr>
          <p:cNvPr id="209306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0077" y="3555837"/>
            <a:ext cx="2522783" cy="246002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93062" name="Rectangle 6"/>
          <p:cNvSpPr>
            <a:spLocks noChangeArrowheads="1"/>
          </p:cNvSpPr>
          <p:nvPr/>
        </p:nvSpPr>
        <p:spPr bwMode="auto">
          <a:xfrm>
            <a:off x="3482832" y="6080991"/>
            <a:ext cx="5398041" cy="544830"/>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lnSpc>
                <a:spcPct val="130000"/>
              </a:lnSpc>
              <a:buClr>
                <a:srgbClr val="0066FF"/>
              </a:buClr>
              <a:buFont typeface="Wingdings" panose="05000000000000000000" pitchFamily="2" charset="2"/>
              <a:buNone/>
            </a:pPr>
            <a:r>
              <a:rPr lang="zh-CN" altLang="en-US" dirty="0">
                <a:solidFill>
                  <a:schemeClr val="bg1"/>
                </a:solidFill>
              </a:rPr>
              <a:t>如音乐乐谱、太极拳谱等都可看作广义的算法</a:t>
            </a:r>
          </a:p>
        </p:txBody>
      </p:sp>
      <p:sp>
        <p:nvSpPr>
          <p:cNvPr id="7" name="圆角矩形 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什么是算法？</a:t>
            </a:r>
          </a:p>
        </p:txBody>
      </p:sp>
      <p:sp>
        <p:nvSpPr>
          <p:cNvPr id="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二、算法的概念与特征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3058">
                                            <p:txEl>
                                              <p:pRg st="1" end="1"/>
                                            </p:txEl>
                                          </p:spTgt>
                                        </p:tgtEl>
                                        <p:attrNameLst>
                                          <p:attrName>style.visibility</p:attrName>
                                        </p:attrNameLst>
                                      </p:cBhvr>
                                      <p:to>
                                        <p:strVal val="visible"/>
                                      </p:to>
                                    </p:set>
                                    <p:anim calcmode="lin" valueType="num">
                                      <p:cBhvr additive="base">
                                        <p:cTn id="7" dur="500" fill="hold"/>
                                        <p:tgtEl>
                                          <p:spTgt spid="209305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3058">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093060"/>
                                        </p:tgtEl>
                                        <p:attrNameLst>
                                          <p:attrName>style.visibility</p:attrName>
                                        </p:attrNameLst>
                                      </p:cBhvr>
                                      <p:to>
                                        <p:strVal val="visible"/>
                                      </p:to>
                                    </p:set>
                                    <p:anim calcmode="lin" valueType="num">
                                      <p:cBhvr additive="base">
                                        <p:cTn id="12" dur="500" fill="hold"/>
                                        <p:tgtEl>
                                          <p:spTgt spid="2093060"/>
                                        </p:tgtEl>
                                        <p:attrNameLst>
                                          <p:attrName>ppt_x</p:attrName>
                                        </p:attrNameLst>
                                      </p:cBhvr>
                                      <p:tavLst>
                                        <p:tav tm="0">
                                          <p:val>
                                            <p:strVal val="#ppt_x"/>
                                          </p:val>
                                        </p:tav>
                                        <p:tav tm="100000">
                                          <p:val>
                                            <p:strVal val="#ppt_x"/>
                                          </p:val>
                                        </p:tav>
                                      </p:tavLst>
                                    </p:anim>
                                    <p:anim calcmode="lin" valueType="num">
                                      <p:cBhvr additive="base">
                                        <p:cTn id="13" dur="500" fill="hold"/>
                                        <p:tgtEl>
                                          <p:spTgt spid="209306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093059"/>
                                        </p:tgtEl>
                                        <p:attrNameLst>
                                          <p:attrName>style.visibility</p:attrName>
                                        </p:attrNameLst>
                                      </p:cBhvr>
                                      <p:to>
                                        <p:strVal val="visible"/>
                                      </p:to>
                                    </p:set>
                                    <p:anim calcmode="lin" valueType="num">
                                      <p:cBhvr additive="base">
                                        <p:cTn id="17" dur="500" fill="hold"/>
                                        <p:tgtEl>
                                          <p:spTgt spid="2093059"/>
                                        </p:tgtEl>
                                        <p:attrNameLst>
                                          <p:attrName>ppt_x</p:attrName>
                                        </p:attrNameLst>
                                      </p:cBhvr>
                                      <p:tavLst>
                                        <p:tav tm="0">
                                          <p:val>
                                            <p:strVal val="#ppt_x"/>
                                          </p:val>
                                        </p:tav>
                                        <p:tav tm="100000">
                                          <p:val>
                                            <p:strVal val="#ppt_x"/>
                                          </p:val>
                                        </p:tav>
                                      </p:tavLst>
                                    </p:anim>
                                    <p:anim calcmode="lin" valueType="num">
                                      <p:cBhvr additive="base">
                                        <p:cTn id="18" dur="500" fill="hold"/>
                                        <p:tgtEl>
                                          <p:spTgt spid="209305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93062"/>
                                        </p:tgtEl>
                                        <p:attrNameLst>
                                          <p:attrName>style.visibility</p:attrName>
                                        </p:attrNameLst>
                                      </p:cBhvr>
                                      <p:to>
                                        <p:strVal val="visible"/>
                                      </p:to>
                                    </p:set>
                                    <p:anim calcmode="lin" valueType="num">
                                      <p:cBhvr additive="base">
                                        <p:cTn id="21" dur="500" fill="hold"/>
                                        <p:tgtEl>
                                          <p:spTgt spid="2093062"/>
                                        </p:tgtEl>
                                        <p:attrNameLst>
                                          <p:attrName>ppt_x</p:attrName>
                                        </p:attrNameLst>
                                      </p:cBhvr>
                                      <p:tavLst>
                                        <p:tav tm="0">
                                          <p:val>
                                            <p:strVal val="#ppt_x"/>
                                          </p:val>
                                        </p:tav>
                                        <p:tav tm="100000">
                                          <p:val>
                                            <p:strVal val="#ppt_x"/>
                                          </p:val>
                                        </p:tav>
                                      </p:tavLst>
                                    </p:anim>
                                    <p:anim calcmode="lin" valueType="num">
                                      <p:cBhvr additive="base">
                                        <p:cTn id="22" dur="500" fill="hold"/>
                                        <p:tgtEl>
                                          <p:spTgt spid="20930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306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Rectangle 2"/>
          <p:cNvSpPr>
            <a:spLocks noChangeArrowheads="1"/>
          </p:cNvSpPr>
          <p:nvPr/>
        </p:nvSpPr>
        <p:spPr bwMode="auto">
          <a:xfrm>
            <a:off x="864272" y="2676265"/>
            <a:ext cx="3587750" cy="3403600"/>
          </a:xfrm>
          <a:prstGeom prst="rect">
            <a:avLst/>
          </a:prstGeom>
          <a:solidFill>
            <a:srgbClr val="FFFF99"/>
          </a:solidFill>
          <a:ln w="28575">
            <a:solidFill>
              <a:srgbClr val="996633"/>
            </a:solidFill>
            <a:miter lim="800000"/>
          </a:ln>
          <a:effectLst>
            <a:outerShdw dist="107763" dir="18900000" algn="ctr" rotWithShape="0">
              <a:schemeClr val="bg2">
                <a:alpha val="50000"/>
              </a:schemeClr>
            </a:outerShdw>
          </a:effectLst>
        </p:spPr>
        <p:txBody>
          <a:bodyPr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lnSpc>
                <a:spcPct val="120000"/>
              </a:lnSpc>
            </a:pPr>
            <a:r>
              <a:rPr lang="zh-CN" altLang="en-US" sz="1600" dirty="0"/>
              <a:t>寻找两个正整数的最大</a:t>
            </a:r>
          </a:p>
          <a:p>
            <a:pPr algn="ctr" eaLnBrk="1" hangingPunct="1">
              <a:lnSpc>
                <a:spcPct val="120000"/>
              </a:lnSpc>
            </a:pPr>
            <a:r>
              <a:rPr lang="zh-CN" altLang="en-US" sz="1600" dirty="0"/>
              <a:t>公约数的欧几里德算法</a:t>
            </a:r>
          </a:p>
          <a:p>
            <a:pPr algn="ctr" eaLnBrk="1" hangingPunct="1">
              <a:lnSpc>
                <a:spcPct val="120000"/>
              </a:lnSpc>
            </a:pPr>
            <a:endParaRPr lang="zh-CN" altLang="en-US" sz="1600" dirty="0"/>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输入</a:t>
            </a:r>
            <a:r>
              <a:rPr lang="zh-CN" altLang="en-US" sz="1600" dirty="0"/>
              <a:t>：正整数</a:t>
            </a:r>
            <a:r>
              <a:rPr lang="en-US" altLang="zh-CN" sz="1600" i="1" dirty="0">
                <a:solidFill>
                  <a:srgbClr val="FF0066"/>
                </a:solidFill>
              </a:rPr>
              <a:t>M</a:t>
            </a:r>
            <a:r>
              <a:rPr lang="zh-CN" altLang="en-US" sz="1600" dirty="0"/>
              <a:t>和正整数</a:t>
            </a:r>
            <a:r>
              <a:rPr lang="en-US" altLang="zh-CN" sz="1600" i="1" dirty="0">
                <a:solidFill>
                  <a:srgbClr val="FF0066"/>
                </a:solidFill>
              </a:rPr>
              <a:t>N</a:t>
            </a:r>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输出</a:t>
            </a:r>
            <a:r>
              <a:rPr lang="zh-CN" altLang="en-US" sz="1600" dirty="0"/>
              <a:t>：</a:t>
            </a:r>
            <a:r>
              <a:rPr lang="en-US" altLang="zh-CN" sz="1600" i="1" dirty="0">
                <a:solidFill>
                  <a:srgbClr val="FF0066"/>
                </a:solidFill>
              </a:rPr>
              <a:t>M</a:t>
            </a:r>
            <a:r>
              <a:rPr lang="zh-CN" altLang="en-US" sz="1600" dirty="0"/>
              <a:t>和</a:t>
            </a:r>
            <a:r>
              <a:rPr lang="en-US" altLang="zh-CN" sz="1600" i="1" dirty="0">
                <a:solidFill>
                  <a:srgbClr val="FF0066"/>
                </a:solidFill>
              </a:rPr>
              <a:t>N</a:t>
            </a:r>
            <a:r>
              <a:rPr lang="zh-CN" altLang="en-US" sz="1600" dirty="0"/>
              <a:t>的最大公约数</a:t>
            </a:r>
            <a:r>
              <a:rPr lang="en-US" altLang="zh-CN" sz="1600" dirty="0"/>
              <a:t>(</a:t>
            </a:r>
            <a:r>
              <a:rPr lang="zh-CN" altLang="en-US" sz="1600" dirty="0"/>
              <a:t>设</a:t>
            </a:r>
            <a:r>
              <a:rPr lang="en-US" altLang="zh-CN" sz="1600" dirty="0"/>
              <a:t>M&gt;N)</a:t>
            </a:r>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算法步骤</a:t>
            </a:r>
            <a:r>
              <a:rPr lang="zh-CN" altLang="en-US" sz="1600" dirty="0"/>
              <a:t>：</a:t>
            </a:r>
          </a:p>
          <a:p>
            <a:pPr eaLnBrk="1" hangingPunct="1">
              <a:lnSpc>
                <a:spcPct val="120000"/>
              </a:lnSpc>
            </a:pPr>
            <a:r>
              <a:rPr lang="en-US" altLang="zh-CN" sz="1600" dirty="0"/>
              <a:t>Step 1.</a:t>
            </a:r>
            <a:r>
              <a:rPr lang="en-US" altLang="zh-CN" sz="1600" dirty="0">
                <a:solidFill>
                  <a:schemeClr val="bg1"/>
                </a:solidFill>
              </a:rPr>
              <a:t> </a:t>
            </a:r>
            <a:r>
              <a:rPr lang="en-US" altLang="zh-CN" sz="1600" i="1" dirty="0">
                <a:solidFill>
                  <a:srgbClr val="FF0066"/>
                </a:solidFill>
              </a:rPr>
              <a:t>M</a:t>
            </a:r>
            <a:r>
              <a:rPr lang="zh-CN" altLang="en-US" sz="1600" dirty="0"/>
              <a:t>除以</a:t>
            </a:r>
            <a:r>
              <a:rPr lang="en-US" altLang="zh-CN" sz="1600" i="1" dirty="0">
                <a:solidFill>
                  <a:srgbClr val="FF0066"/>
                </a:solidFill>
              </a:rPr>
              <a:t>N</a:t>
            </a:r>
            <a:r>
              <a:rPr lang="en-US" altLang="zh-CN" sz="1600" dirty="0"/>
              <a:t>,</a:t>
            </a:r>
            <a:r>
              <a:rPr lang="zh-CN" altLang="en-US" sz="1600" dirty="0"/>
              <a:t>记余数为</a:t>
            </a:r>
            <a:r>
              <a:rPr lang="en-US" altLang="zh-CN" sz="1600" i="1" dirty="0">
                <a:solidFill>
                  <a:srgbClr val="FF0066"/>
                </a:solidFill>
              </a:rPr>
              <a:t>R</a:t>
            </a:r>
          </a:p>
          <a:p>
            <a:pPr eaLnBrk="1" hangingPunct="1">
              <a:lnSpc>
                <a:spcPct val="120000"/>
              </a:lnSpc>
            </a:pPr>
            <a:r>
              <a:rPr lang="en-US" altLang="zh-CN" sz="1600" dirty="0"/>
              <a:t>Step 2. </a:t>
            </a:r>
            <a:r>
              <a:rPr lang="zh-CN" altLang="en-US" sz="1600" dirty="0"/>
              <a:t>如果</a:t>
            </a:r>
            <a:r>
              <a:rPr lang="en-US" altLang="zh-CN" sz="1600" i="1" dirty="0">
                <a:solidFill>
                  <a:srgbClr val="FF0066"/>
                </a:solidFill>
              </a:rPr>
              <a:t>R</a:t>
            </a:r>
            <a:r>
              <a:rPr lang="zh-CN" altLang="en-US" sz="1600" dirty="0"/>
              <a:t>不是</a:t>
            </a:r>
            <a:r>
              <a:rPr lang="en-US" altLang="zh-CN" sz="1600" i="1" dirty="0">
                <a:solidFill>
                  <a:srgbClr val="FF0066"/>
                </a:solidFill>
              </a:rPr>
              <a:t>0</a:t>
            </a:r>
            <a:r>
              <a:rPr lang="zh-CN" altLang="en-US" sz="1600" dirty="0">
                <a:solidFill>
                  <a:schemeClr val="tx2"/>
                </a:solidFill>
              </a:rPr>
              <a:t>，</a:t>
            </a:r>
            <a:r>
              <a:rPr lang="zh-CN" altLang="en-US" sz="1600" dirty="0"/>
              <a:t>将</a:t>
            </a:r>
            <a:r>
              <a:rPr lang="en-US" altLang="zh-CN" sz="1600" i="1" dirty="0">
                <a:solidFill>
                  <a:srgbClr val="FF0066"/>
                </a:solidFill>
              </a:rPr>
              <a:t>N</a:t>
            </a:r>
            <a:r>
              <a:rPr lang="zh-CN" altLang="en-US" sz="1600" dirty="0"/>
              <a:t>的值赋给</a:t>
            </a:r>
            <a:r>
              <a:rPr lang="en-US" altLang="zh-CN" sz="1600" i="1" dirty="0">
                <a:solidFill>
                  <a:srgbClr val="FF0066"/>
                </a:solidFill>
              </a:rPr>
              <a:t>M</a:t>
            </a:r>
            <a:r>
              <a:rPr lang="en-US" altLang="zh-CN" sz="1600" dirty="0"/>
              <a:t>, </a:t>
            </a:r>
            <a:r>
              <a:rPr lang="en-US" altLang="zh-CN" sz="1600" i="1" dirty="0">
                <a:solidFill>
                  <a:srgbClr val="FF0066"/>
                </a:solidFill>
              </a:rPr>
              <a:t>R</a:t>
            </a:r>
            <a:r>
              <a:rPr lang="zh-CN" altLang="en-US" sz="1600" dirty="0"/>
              <a:t>的值赋给</a:t>
            </a:r>
            <a:r>
              <a:rPr lang="en-US" altLang="zh-CN" sz="1600" i="1" dirty="0">
                <a:solidFill>
                  <a:srgbClr val="FF0066"/>
                </a:solidFill>
              </a:rPr>
              <a:t>N</a:t>
            </a:r>
            <a:r>
              <a:rPr lang="en-US" altLang="zh-CN" sz="1600" dirty="0"/>
              <a:t>, </a:t>
            </a:r>
            <a:r>
              <a:rPr lang="zh-CN" altLang="en-US" sz="1600" dirty="0"/>
              <a:t>返回</a:t>
            </a:r>
            <a:r>
              <a:rPr lang="en-US" altLang="zh-CN" sz="1600" dirty="0"/>
              <a:t>Step 1; </a:t>
            </a:r>
            <a:r>
              <a:rPr lang="zh-CN" altLang="en-US" sz="1600" dirty="0"/>
              <a:t>否则</a:t>
            </a:r>
            <a:r>
              <a:rPr lang="en-US" altLang="zh-CN" sz="1600" dirty="0"/>
              <a:t>, </a:t>
            </a:r>
            <a:r>
              <a:rPr lang="zh-CN" altLang="en-US" sz="1600" dirty="0"/>
              <a:t>最大公约数是</a:t>
            </a:r>
            <a:r>
              <a:rPr lang="en-US" altLang="zh-CN" sz="1600" i="1" dirty="0">
                <a:solidFill>
                  <a:srgbClr val="FF0066"/>
                </a:solidFill>
              </a:rPr>
              <a:t>N</a:t>
            </a:r>
            <a:r>
              <a:rPr lang="en-US" altLang="zh-CN" sz="1600" dirty="0"/>
              <a:t>, </a:t>
            </a:r>
            <a:r>
              <a:rPr lang="zh-CN" altLang="en-US" sz="1600" dirty="0"/>
              <a:t>输出</a:t>
            </a:r>
            <a:r>
              <a:rPr lang="en-US" altLang="zh-CN" sz="1600" i="1" dirty="0">
                <a:solidFill>
                  <a:srgbClr val="FF0066"/>
                </a:solidFill>
              </a:rPr>
              <a:t>N</a:t>
            </a:r>
            <a:r>
              <a:rPr lang="en-US" altLang="zh-CN" sz="1600" dirty="0"/>
              <a:t>, </a:t>
            </a:r>
            <a:r>
              <a:rPr lang="zh-CN" altLang="en-US" sz="1600" dirty="0"/>
              <a:t>算法结束。</a:t>
            </a:r>
          </a:p>
        </p:txBody>
      </p:sp>
      <p:sp>
        <p:nvSpPr>
          <p:cNvPr id="21512" name="Line 8"/>
          <p:cNvSpPr>
            <a:spLocks noChangeShapeType="1"/>
          </p:cNvSpPr>
          <p:nvPr/>
        </p:nvSpPr>
        <p:spPr bwMode="auto">
          <a:xfrm>
            <a:off x="1237240" y="3632379"/>
            <a:ext cx="28559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513" name="Group 9"/>
          <p:cNvGrpSpPr/>
          <p:nvPr/>
        </p:nvGrpSpPr>
        <p:grpSpPr bwMode="auto">
          <a:xfrm>
            <a:off x="4608599" y="2571683"/>
            <a:ext cx="1293291" cy="3979098"/>
            <a:chOff x="340" y="2388"/>
            <a:chExt cx="619" cy="1832"/>
          </a:xfrm>
        </p:grpSpPr>
        <p:pic>
          <p:nvPicPr>
            <p:cNvPr id="21518" name="Picture 12" descr="3bc6f7503998f84f1138c2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 y="3323"/>
              <a:ext cx="594"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10" descr="eucli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 y="2388"/>
              <a:ext cx="587" cy="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二、算法的概念与特征</a:t>
            </a:r>
          </a:p>
        </p:txBody>
      </p:sp>
      <p:sp>
        <p:nvSpPr>
          <p:cNvPr id="17" name="圆角矩形 1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算法示例</a:t>
            </a:r>
          </a:p>
        </p:txBody>
      </p:sp>
      <p:pic>
        <p:nvPicPr>
          <p:cNvPr id="13" name="Picture 17"/>
          <p:cNvPicPr>
            <a:picLocks noChangeAspect="1" noChangeArrowheads="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318518" y="2848773"/>
            <a:ext cx="4988342" cy="303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5106" name="Text Box 5"/>
          <p:cNvSpPr txBox="1">
            <a:spLocks noChangeArrowheads="1"/>
          </p:cNvSpPr>
          <p:nvPr/>
        </p:nvSpPr>
        <p:spPr bwMode="auto">
          <a:xfrm>
            <a:off x="984661" y="2265356"/>
            <a:ext cx="5638673"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marL="342900" indent="-342900" algn="just" eaLnBrk="1" hangingPunct="1">
              <a:lnSpc>
                <a:spcPct val="130000"/>
              </a:lnSpc>
              <a:buClr>
                <a:schemeClr val="tx1"/>
              </a:buClr>
              <a:buFont typeface="Wingdings" panose="05000000000000000000" pitchFamily="2" charset="2"/>
              <a:buChar char="n"/>
            </a:pPr>
            <a:r>
              <a:rPr lang="zh-CN" altLang="en-US" sz="2400"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有穷性</a:t>
            </a:r>
            <a:r>
              <a:rPr lang="zh-CN" altLang="en-US" sz="1600" b="0" dirty="0">
                <a:solidFill>
                  <a:srgbClr val="000000"/>
                </a:solidFill>
                <a:cs typeface="Times New Roman" panose="02020503050405090304" pitchFamily="18" charset="0"/>
              </a:rPr>
              <a:t>：一个算法在执行有穷步规则之后必须结束。</a:t>
            </a:r>
          </a:p>
          <a:p>
            <a:pPr marL="342900" indent="-342900" algn="just" eaLnBrk="1" hangingPunct="1">
              <a:lnSpc>
                <a:spcPct val="130000"/>
              </a:lnSpc>
              <a:buClr>
                <a:schemeClr val="tx1"/>
              </a:buClr>
              <a:buFont typeface="Wingdings" panose="05000000000000000000" pitchFamily="2" charset="2"/>
              <a:buChar char="n"/>
            </a:pPr>
            <a:r>
              <a:rPr lang="zh-CN" altLang="en-US" sz="2400"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确定性</a:t>
            </a:r>
            <a:r>
              <a:rPr lang="zh-CN" altLang="en-US" sz="1600" b="0" dirty="0">
                <a:solidFill>
                  <a:srgbClr val="000000"/>
                </a:solidFill>
                <a:cs typeface="Times New Roman" panose="02020503050405090304" pitchFamily="18" charset="0"/>
              </a:rPr>
              <a:t>：算法的每一个步骤必须要确切地定义，不得有歧义性。</a:t>
            </a:r>
          </a:p>
          <a:p>
            <a:pPr marL="342900" indent="-342900" algn="just" eaLnBrk="1" hangingPunct="1">
              <a:lnSpc>
                <a:spcPct val="130000"/>
              </a:lnSpc>
              <a:buClr>
                <a:schemeClr val="tx1"/>
              </a:buClr>
              <a:buFont typeface="Wingdings" panose="05000000000000000000" pitchFamily="2" charset="2"/>
              <a:buChar char="n"/>
            </a:pPr>
            <a:r>
              <a:rPr lang="zh-CN" altLang="en-US" sz="2400"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输入</a:t>
            </a:r>
            <a:r>
              <a:rPr lang="zh-CN" altLang="en-US" sz="1600" b="0" dirty="0">
                <a:solidFill>
                  <a:srgbClr val="000000"/>
                </a:solidFill>
                <a:cs typeface="Times New Roman" panose="02020503050405090304" pitchFamily="18" charset="0"/>
              </a:rPr>
              <a:t>：算法有零个或多个的输入。</a:t>
            </a:r>
          </a:p>
          <a:p>
            <a:pPr marL="342900" indent="-342900" algn="just" eaLnBrk="1" hangingPunct="1">
              <a:lnSpc>
                <a:spcPct val="130000"/>
              </a:lnSpc>
              <a:buClr>
                <a:schemeClr val="tx1"/>
              </a:buClr>
              <a:buFont typeface="Wingdings" panose="05000000000000000000" pitchFamily="2" charset="2"/>
              <a:buChar char="n"/>
            </a:pPr>
            <a:r>
              <a:rPr lang="zh-CN" altLang="en-US" sz="2400"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输出</a:t>
            </a:r>
            <a:r>
              <a:rPr lang="zh-CN" altLang="en-US" sz="1600" b="0" dirty="0">
                <a:solidFill>
                  <a:srgbClr val="000000"/>
                </a:solidFill>
                <a:cs typeface="Times New Roman" panose="02020503050405090304" pitchFamily="18" charset="0"/>
              </a:rPr>
              <a:t>：算法有一个或多个的输出</a:t>
            </a:r>
            <a:r>
              <a:rPr lang="en-US" altLang="zh-CN" sz="1600" b="0" dirty="0">
                <a:solidFill>
                  <a:srgbClr val="000000"/>
                </a:solidFill>
                <a:cs typeface="Times New Roman" panose="02020503050405090304" pitchFamily="18" charset="0"/>
              </a:rPr>
              <a:t>/</a:t>
            </a:r>
            <a:r>
              <a:rPr lang="zh-CN" altLang="en-US" sz="1600" b="0" dirty="0">
                <a:solidFill>
                  <a:srgbClr val="000000"/>
                </a:solidFill>
                <a:cs typeface="Times New Roman" panose="02020503050405090304" pitchFamily="18" charset="0"/>
              </a:rPr>
              <a:t>结果，即与输入有某个特定关系的量。</a:t>
            </a:r>
          </a:p>
          <a:p>
            <a:pPr marL="342900" indent="-342900" algn="just" eaLnBrk="1" hangingPunct="1">
              <a:lnSpc>
                <a:spcPct val="130000"/>
              </a:lnSpc>
              <a:buClr>
                <a:schemeClr val="tx1"/>
              </a:buClr>
              <a:buFont typeface="Wingdings" panose="05000000000000000000" pitchFamily="2" charset="2"/>
              <a:buChar char="n"/>
            </a:pPr>
            <a:r>
              <a:rPr lang="zh-CN" altLang="en-US" sz="2400"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能行性</a:t>
            </a:r>
            <a:r>
              <a:rPr lang="zh-CN" altLang="en-US" sz="1600" b="0" dirty="0">
                <a:solidFill>
                  <a:srgbClr val="000000"/>
                </a:solidFill>
                <a:cs typeface="Times New Roman" panose="02020503050405090304" pitchFamily="18" charset="0"/>
              </a:rPr>
              <a:t>：算法中有待执行的运算和操作必须是相当基本的</a:t>
            </a:r>
            <a:r>
              <a:rPr lang="en-US" altLang="zh-CN" sz="1600" dirty="0">
                <a:solidFill>
                  <a:srgbClr val="000000"/>
                </a:solidFill>
                <a:cs typeface="Times New Roman" panose="02020503050405090304" pitchFamily="18" charset="0"/>
              </a:rPr>
              <a:t>(</a:t>
            </a:r>
            <a:r>
              <a:rPr lang="zh-CN" altLang="en-US" sz="1600" dirty="0">
                <a:solidFill>
                  <a:srgbClr val="000000"/>
                </a:solidFill>
                <a:cs typeface="Times New Roman" panose="02020503050405090304" pitchFamily="18" charset="0"/>
              </a:rPr>
              <a:t>可以由机器自动完成</a:t>
            </a:r>
            <a:r>
              <a:rPr lang="en-US" altLang="zh-CN" sz="1600" dirty="0">
                <a:solidFill>
                  <a:srgbClr val="000000"/>
                </a:solidFill>
                <a:cs typeface="Times New Roman" panose="02020503050405090304" pitchFamily="18" charset="0"/>
              </a:rPr>
              <a:t>)</a:t>
            </a:r>
            <a:r>
              <a:rPr lang="zh-CN" altLang="en-US" sz="1600" b="0" dirty="0">
                <a:solidFill>
                  <a:srgbClr val="000000"/>
                </a:solidFill>
                <a:cs typeface="Times New Roman" panose="02020503050405090304" pitchFamily="18" charset="0"/>
              </a:rPr>
              <a:t>，并能在有限时间内完成。</a:t>
            </a:r>
          </a:p>
        </p:txBody>
      </p:sp>
      <p:sp>
        <p:nvSpPr>
          <p:cNvPr id="2095109" name="Text Box 5"/>
          <p:cNvSpPr txBox="1">
            <a:spLocks noChangeArrowheads="1"/>
          </p:cNvSpPr>
          <p:nvPr/>
        </p:nvSpPr>
        <p:spPr bwMode="auto">
          <a:xfrm>
            <a:off x="7148392" y="5718609"/>
            <a:ext cx="3675063" cy="374571"/>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zh-CN" altLang="en-US" sz="1600">
                <a:solidFill>
                  <a:srgbClr val="FFFFEF"/>
                </a:solidFill>
              </a:rPr>
              <a:t>基本运算：除法、赋值、逻辑判断</a:t>
            </a:r>
          </a:p>
        </p:txBody>
      </p:sp>
      <p:sp>
        <p:nvSpPr>
          <p:cNvPr id="2095110" name="Text Box 6"/>
          <p:cNvSpPr txBox="1">
            <a:spLocks noChangeArrowheads="1"/>
          </p:cNvSpPr>
          <p:nvPr/>
        </p:nvSpPr>
        <p:spPr bwMode="auto">
          <a:xfrm>
            <a:off x="7143630" y="6123275"/>
            <a:ext cx="3678237" cy="374571"/>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zh-CN" altLang="en-US" sz="1600">
                <a:solidFill>
                  <a:srgbClr val="FFFFEF"/>
                </a:solidFill>
              </a:rPr>
              <a:t>典型的</a:t>
            </a:r>
            <a:r>
              <a:rPr lang="zh-CN" altLang="en-US" sz="1600">
                <a:solidFill>
                  <a:srgbClr val="FFFFEF"/>
                </a:solidFill>
                <a:latin typeface="宋体" pitchFamily="2" charset="-122"/>
              </a:rPr>
              <a:t>“</a:t>
            </a:r>
            <a:r>
              <a:rPr lang="zh-CN" altLang="en-US" sz="1600">
                <a:solidFill>
                  <a:srgbClr val="FFFFEF"/>
                </a:solidFill>
              </a:rPr>
              <a:t>重复</a:t>
            </a:r>
            <a:r>
              <a:rPr lang="en-US" altLang="zh-CN" sz="1600">
                <a:solidFill>
                  <a:srgbClr val="FFFFEF"/>
                </a:solidFill>
              </a:rPr>
              <a:t>/</a:t>
            </a:r>
            <a:r>
              <a:rPr lang="zh-CN" altLang="en-US" sz="1600">
                <a:solidFill>
                  <a:srgbClr val="FFFFEF"/>
                </a:solidFill>
              </a:rPr>
              <a:t>循环</a:t>
            </a:r>
            <a:r>
              <a:rPr lang="zh-CN" altLang="en-US" sz="1600">
                <a:solidFill>
                  <a:srgbClr val="FFFFEF"/>
                </a:solidFill>
                <a:latin typeface="宋体" pitchFamily="2" charset="-122"/>
              </a:rPr>
              <a:t>”</a:t>
            </a:r>
            <a:r>
              <a:rPr lang="zh-CN" altLang="en-US" sz="1600">
                <a:solidFill>
                  <a:srgbClr val="FFFFEF"/>
                </a:solidFill>
              </a:rPr>
              <a:t>与</a:t>
            </a:r>
            <a:r>
              <a:rPr lang="zh-CN" altLang="en-US" sz="1600">
                <a:solidFill>
                  <a:srgbClr val="FFFFEF"/>
                </a:solidFill>
                <a:latin typeface="宋体" pitchFamily="2" charset="-122"/>
              </a:rPr>
              <a:t>“</a:t>
            </a:r>
            <a:r>
              <a:rPr lang="zh-CN" altLang="en-US" sz="1600">
                <a:solidFill>
                  <a:srgbClr val="FFFFEF"/>
                </a:solidFill>
              </a:rPr>
              <a:t>迭代</a:t>
            </a:r>
            <a:r>
              <a:rPr lang="zh-CN" altLang="en-US" sz="1600">
                <a:solidFill>
                  <a:srgbClr val="FFFFEF"/>
                </a:solidFill>
                <a:latin typeface="宋体" pitchFamily="2" charset="-122"/>
              </a:rPr>
              <a:t>”</a:t>
            </a:r>
            <a:endParaRPr lang="zh-CN" altLang="en-US" sz="1600">
              <a:solidFill>
                <a:srgbClr val="FFFFEF"/>
              </a:solidFill>
            </a:endParaRPr>
          </a:p>
        </p:txBody>
      </p:sp>
      <p:sp>
        <p:nvSpPr>
          <p:cNvPr id="21511" name="Rectangle 2"/>
          <p:cNvSpPr>
            <a:spLocks noChangeArrowheads="1"/>
          </p:cNvSpPr>
          <p:nvPr/>
        </p:nvSpPr>
        <p:spPr bwMode="auto">
          <a:xfrm>
            <a:off x="7188873" y="2263573"/>
            <a:ext cx="3587750" cy="3403600"/>
          </a:xfrm>
          <a:prstGeom prst="rect">
            <a:avLst/>
          </a:prstGeom>
          <a:solidFill>
            <a:srgbClr val="FFFF99"/>
          </a:solidFill>
          <a:ln w="28575">
            <a:solidFill>
              <a:srgbClr val="996633"/>
            </a:solidFill>
            <a:miter lim="800000"/>
          </a:ln>
          <a:effectLst>
            <a:outerShdw dist="107763" dir="18900000" algn="ctr" rotWithShape="0">
              <a:schemeClr val="bg2">
                <a:alpha val="50000"/>
              </a:schemeClr>
            </a:outerShdw>
          </a:effectLst>
        </p:spPr>
        <p:txBody>
          <a:bodyPr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lnSpc>
                <a:spcPct val="120000"/>
              </a:lnSpc>
            </a:pPr>
            <a:r>
              <a:rPr lang="zh-CN" altLang="en-US" sz="1600" dirty="0"/>
              <a:t>寻找两个正整数的最大</a:t>
            </a:r>
          </a:p>
          <a:p>
            <a:pPr algn="ctr" eaLnBrk="1" hangingPunct="1">
              <a:lnSpc>
                <a:spcPct val="120000"/>
              </a:lnSpc>
            </a:pPr>
            <a:r>
              <a:rPr lang="zh-CN" altLang="en-US" sz="1600" dirty="0"/>
              <a:t>公约数的欧几里德算法</a:t>
            </a:r>
          </a:p>
          <a:p>
            <a:pPr algn="ctr" eaLnBrk="1" hangingPunct="1">
              <a:lnSpc>
                <a:spcPct val="120000"/>
              </a:lnSpc>
            </a:pPr>
            <a:endParaRPr lang="zh-CN" altLang="en-US" sz="1600" dirty="0"/>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输入</a:t>
            </a:r>
            <a:r>
              <a:rPr lang="zh-CN" altLang="en-US" sz="1600" dirty="0"/>
              <a:t>：正整数</a:t>
            </a:r>
            <a:r>
              <a:rPr lang="en-US" altLang="zh-CN" sz="1600" i="1" dirty="0">
                <a:solidFill>
                  <a:srgbClr val="FF0066"/>
                </a:solidFill>
              </a:rPr>
              <a:t>M</a:t>
            </a:r>
            <a:r>
              <a:rPr lang="zh-CN" altLang="en-US" sz="1600" dirty="0"/>
              <a:t>和正整数</a:t>
            </a:r>
            <a:r>
              <a:rPr lang="en-US" altLang="zh-CN" sz="1600" i="1" dirty="0">
                <a:solidFill>
                  <a:srgbClr val="FF0066"/>
                </a:solidFill>
              </a:rPr>
              <a:t>N</a:t>
            </a:r>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输出</a:t>
            </a:r>
            <a:r>
              <a:rPr lang="zh-CN" altLang="en-US" sz="1600" dirty="0"/>
              <a:t>：</a:t>
            </a:r>
            <a:r>
              <a:rPr lang="en-US" altLang="zh-CN" sz="1600" i="1" dirty="0">
                <a:solidFill>
                  <a:srgbClr val="FF0066"/>
                </a:solidFill>
              </a:rPr>
              <a:t>M</a:t>
            </a:r>
            <a:r>
              <a:rPr lang="zh-CN" altLang="en-US" sz="1600" dirty="0"/>
              <a:t>和</a:t>
            </a:r>
            <a:r>
              <a:rPr lang="en-US" altLang="zh-CN" sz="1600" i="1" dirty="0">
                <a:solidFill>
                  <a:srgbClr val="FF0066"/>
                </a:solidFill>
              </a:rPr>
              <a:t>N</a:t>
            </a:r>
            <a:r>
              <a:rPr lang="zh-CN" altLang="en-US" sz="1600" dirty="0"/>
              <a:t>的最大公约数</a:t>
            </a:r>
            <a:r>
              <a:rPr lang="en-US" altLang="zh-CN" sz="1600" dirty="0"/>
              <a:t>(</a:t>
            </a:r>
            <a:r>
              <a:rPr lang="zh-CN" altLang="en-US" sz="1600" dirty="0"/>
              <a:t>设</a:t>
            </a:r>
            <a:r>
              <a:rPr lang="en-US" altLang="zh-CN" sz="1600" dirty="0"/>
              <a:t>M&gt;N)</a:t>
            </a:r>
          </a:p>
          <a:p>
            <a:pPr eaLnBrk="1" hangingPunct="1">
              <a:lnSpc>
                <a:spcPct val="120000"/>
              </a:lnSpc>
            </a:pPr>
            <a:r>
              <a:rPr lang="zh-CN" altLang="en-US" sz="1600" dirty="0">
                <a:solidFill>
                  <a:srgbClr val="FF0066"/>
                </a:solidFill>
                <a:latin typeface="微软雅黑" panose="020B0503020204020204" pitchFamily="34" charset="-122"/>
                <a:ea typeface="微软雅黑" panose="020B0503020204020204" pitchFamily="34" charset="-122"/>
              </a:rPr>
              <a:t>算法步骤</a:t>
            </a:r>
            <a:r>
              <a:rPr lang="zh-CN" altLang="en-US" sz="1600" dirty="0"/>
              <a:t>：</a:t>
            </a:r>
          </a:p>
          <a:p>
            <a:pPr eaLnBrk="1" hangingPunct="1">
              <a:lnSpc>
                <a:spcPct val="120000"/>
              </a:lnSpc>
            </a:pPr>
            <a:r>
              <a:rPr lang="en-US" altLang="zh-CN" sz="1600" dirty="0"/>
              <a:t>Step 1.</a:t>
            </a:r>
            <a:r>
              <a:rPr lang="en-US" altLang="zh-CN" sz="1600" dirty="0">
                <a:solidFill>
                  <a:schemeClr val="bg1"/>
                </a:solidFill>
              </a:rPr>
              <a:t> </a:t>
            </a:r>
            <a:r>
              <a:rPr lang="en-US" altLang="zh-CN" sz="1600" i="1" dirty="0">
                <a:solidFill>
                  <a:srgbClr val="FF0066"/>
                </a:solidFill>
              </a:rPr>
              <a:t>M</a:t>
            </a:r>
            <a:r>
              <a:rPr lang="zh-CN" altLang="en-US" sz="1600" dirty="0"/>
              <a:t>除以</a:t>
            </a:r>
            <a:r>
              <a:rPr lang="en-US" altLang="zh-CN" sz="1600" i="1" dirty="0">
                <a:solidFill>
                  <a:srgbClr val="FF0066"/>
                </a:solidFill>
              </a:rPr>
              <a:t>N</a:t>
            </a:r>
            <a:r>
              <a:rPr lang="en-US" altLang="zh-CN" sz="1600" dirty="0"/>
              <a:t>,</a:t>
            </a:r>
            <a:r>
              <a:rPr lang="zh-CN" altLang="en-US" sz="1600" dirty="0"/>
              <a:t>记余数为</a:t>
            </a:r>
            <a:r>
              <a:rPr lang="en-US" altLang="zh-CN" sz="1600" i="1" dirty="0">
                <a:solidFill>
                  <a:srgbClr val="FF0066"/>
                </a:solidFill>
              </a:rPr>
              <a:t>R</a:t>
            </a:r>
          </a:p>
          <a:p>
            <a:pPr eaLnBrk="1" hangingPunct="1">
              <a:lnSpc>
                <a:spcPct val="120000"/>
              </a:lnSpc>
            </a:pPr>
            <a:r>
              <a:rPr lang="en-US" altLang="zh-CN" sz="1600" dirty="0"/>
              <a:t>Step 2. </a:t>
            </a:r>
            <a:r>
              <a:rPr lang="zh-CN" altLang="en-US" sz="1600" dirty="0"/>
              <a:t>如果</a:t>
            </a:r>
            <a:r>
              <a:rPr lang="en-US" altLang="zh-CN" sz="1600" i="1" dirty="0">
                <a:solidFill>
                  <a:srgbClr val="FF0066"/>
                </a:solidFill>
              </a:rPr>
              <a:t>R</a:t>
            </a:r>
            <a:r>
              <a:rPr lang="zh-CN" altLang="en-US" sz="1600" dirty="0"/>
              <a:t>不是</a:t>
            </a:r>
            <a:r>
              <a:rPr lang="en-US" altLang="zh-CN" sz="1600" i="1" dirty="0">
                <a:solidFill>
                  <a:srgbClr val="FF0066"/>
                </a:solidFill>
              </a:rPr>
              <a:t>0</a:t>
            </a:r>
            <a:r>
              <a:rPr lang="zh-CN" altLang="en-US" sz="1600" dirty="0">
                <a:solidFill>
                  <a:schemeClr val="tx2"/>
                </a:solidFill>
              </a:rPr>
              <a:t>，</a:t>
            </a:r>
            <a:r>
              <a:rPr lang="zh-CN" altLang="en-US" sz="1600" dirty="0"/>
              <a:t>将</a:t>
            </a:r>
            <a:r>
              <a:rPr lang="en-US" altLang="zh-CN" sz="1600" i="1" dirty="0">
                <a:solidFill>
                  <a:srgbClr val="FF0066"/>
                </a:solidFill>
              </a:rPr>
              <a:t>N</a:t>
            </a:r>
            <a:r>
              <a:rPr lang="zh-CN" altLang="en-US" sz="1600" dirty="0"/>
              <a:t>的值赋给</a:t>
            </a:r>
            <a:r>
              <a:rPr lang="en-US" altLang="zh-CN" sz="1600" i="1" dirty="0">
                <a:solidFill>
                  <a:srgbClr val="FF0066"/>
                </a:solidFill>
              </a:rPr>
              <a:t>M</a:t>
            </a:r>
            <a:r>
              <a:rPr lang="en-US" altLang="zh-CN" sz="1600" dirty="0"/>
              <a:t>, </a:t>
            </a:r>
            <a:r>
              <a:rPr lang="en-US" altLang="zh-CN" sz="1600" i="1" dirty="0">
                <a:solidFill>
                  <a:srgbClr val="FF0066"/>
                </a:solidFill>
              </a:rPr>
              <a:t>R</a:t>
            </a:r>
            <a:r>
              <a:rPr lang="zh-CN" altLang="en-US" sz="1600" dirty="0"/>
              <a:t>的值赋给</a:t>
            </a:r>
            <a:r>
              <a:rPr lang="en-US" altLang="zh-CN" sz="1600" i="1" dirty="0">
                <a:solidFill>
                  <a:srgbClr val="FF0066"/>
                </a:solidFill>
              </a:rPr>
              <a:t>N</a:t>
            </a:r>
            <a:r>
              <a:rPr lang="en-US" altLang="zh-CN" sz="1600" dirty="0"/>
              <a:t>, </a:t>
            </a:r>
            <a:r>
              <a:rPr lang="zh-CN" altLang="en-US" sz="1600" dirty="0"/>
              <a:t>返回</a:t>
            </a:r>
            <a:r>
              <a:rPr lang="en-US" altLang="zh-CN" sz="1600" dirty="0"/>
              <a:t>Step 1; </a:t>
            </a:r>
            <a:r>
              <a:rPr lang="zh-CN" altLang="en-US" sz="1600" dirty="0"/>
              <a:t>否则</a:t>
            </a:r>
            <a:r>
              <a:rPr lang="en-US" altLang="zh-CN" sz="1600" dirty="0"/>
              <a:t>, </a:t>
            </a:r>
            <a:r>
              <a:rPr lang="zh-CN" altLang="en-US" sz="1600" dirty="0"/>
              <a:t>最大公约数是</a:t>
            </a:r>
            <a:r>
              <a:rPr lang="en-US" altLang="zh-CN" sz="1600" i="1" dirty="0">
                <a:solidFill>
                  <a:srgbClr val="FF0066"/>
                </a:solidFill>
              </a:rPr>
              <a:t>N</a:t>
            </a:r>
            <a:r>
              <a:rPr lang="en-US" altLang="zh-CN" sz="1600" dirty="0"/>
              <a:t>, </a:t>
            </a:r>
            <a:r>
              <a:rPr lang="zh-CN" altLang="en-US" sz="1600" dirty="0"/>
              <a:t>输出</a:t>
            </a:r>
            <a:r>
              <a:rPr lang="en-US" altLang="zh-CN" sz="1600" i="1" dirty="0">
                <a:solidFill>
                  <a:srgbClr val="FF0066"/>
                </a:solidFill>
              </a:rPr>
              <a:t>N</a:t>
            </a:r>
            <a:r>
              <a:rPr lang="en-US" altLang="zh-CN" sz="1600" dirty="0"/>
              <a:t>, </a:t>
            </a:r>
            <a:r>
              <a:rPr lang="zh-CN" altLang="en-US" sz="1600" dirty="0"/>
              <a:t>算法结束。</a:t>
            </a:r>
          </a:p>
        </p:txBody>
      </p:sp>
      <p:sp>
        <p:nvSpPr>
          <p:cNvPr id="21512" name="Line 8"/>
          <p:cNvSpPr>
            <a:spLocks noChangeShapeType="1"/>
          </p:cNvSpPr>
          <p:nvPr/>
        </p:nvSpPr>
        <p:spPr bwMode="auto">
          <a:xfrm>
            <a:off x="7554792" y="3195062"/>
            <a:ext cx="28559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二、算法的概念与特征</a:t>
            </a:r>
          </a:p>
        </p:txBody>
      </p:sp>
      <p:sp>
        <p:nvSpPr>
          <p:cNvPr id="17" name="圆角矩形 1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算法的五个特征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5106">
                                            <p:txEl>
                                              <p:pRg st="0" end="0"/>
                                            </p:txEl>
                                          </p:spTgt>
                                        </p:tgtEl>
                                        <p:attrNameLst>
                                          <p:attrName>style.visibility</p:attrName>
                                        </p:attrNameLst>
                                      </p:cBhvr>
                                      <p:to>
                                        <p:strVal val="visible"/>
                                      </p:to>
                                    </p:set>
                                    <p:anim calcmode="lin" valueType="num">
                                      <p:cBhvr additive="base">
                                        <p:cTn id="7" dur="500" fill="hold"/>
                                        <p:tgtEl>
                                          <p:spTgt spid="20951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51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95106">
                                            <p:txEl>
                                              <p:pRg st="1" end="1"/>
                                            </p:txEl>
                                          </p:spTgt>
                                        </p:tgtEl>
                                        <p:attrNameLst>
                                          <p:attrName>style.visibility</p:attrName>
                                        </p:attrNameLst>
                                      </p:cBhvr>
                                      <p:to>
                                        <p:strVal val="visible"/>
                                      </p:to>
                                    </p:set>
                                    <p:anim calcmode="lin" valueType="num">
                                      <p:cBhvr additive="base">
                                        <p:cTn id="13" dur="500" fill="hold"/>
                                        <p:tgtEl>
                                          <p:spTgt spid="209510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951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95106">
                                            <p:txEl>
                                              <p:pRg st="2" end="2"/>
                                            </p:txEl>
                                          </p:spTgt>
                                        </p:tgtEl>
                                        <p:attrNameLst>
                                          <p:attrName>style.visibility</p:attrName>
                                        </p:attrNameLst>
                                      </p:cBhvr>
                                      <p:to>
                                        <p:strVal val="visible"/>
                                      </p:to>
                                    </p:set>
                                    <p:anim calcmode="lin" valueType="num">
                                      <p:cBhvr additive="base">
                                        <p:cTn id="19" dur="500" fill="hold"/>
                                        <p:tgtEl>
                                          <p:spTgt spid="209510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51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95106">
                                            <p:txEl>
                                              <p:pRg st="3" end="3"/>
                                            </p:txEl>
                                          </p:spTgt>
                                        </p:tgtEl>
                                        <p:attrNameLst>
                                          <p:attrName>style.visibility</p:attrName>
                                        </p:attrNameLst>
                                      </p:cBhvr>
                                      <p:to>
                                        <p:strVal val="visible"/>
                                      </p:to>
                                    </p:set>
                                    <p:anim calcmode="lin" valueType="num">
                                      <p:cBhvr additive="base">
                                        <p:cTn id="25" dur="500" fill="hold"/>
                                        <p:tgtEl>
                                          <p:spTgt spid="209510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951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95106">
                                            <p:txEl>
                                              <p:pRg st="4" end="4"/>
                                            </p:txEl>
                                          </p:spTgt>
                                        </p:tgtEl>
                                        <p:attrNameLst>
                                          <p:attrName>style.visibility</p:attrName>
                                        </p:attrNameLst>
                                      </p:cBhvr>
                                      <p:to>
                                        <p:strVal val="visible"/>
                                      </p:to>
                                    </p:set>
                                    <p:anim calcmode="lin" valueType="num">
                                      <p:cBhvr additive="base">
                                        <p:cTn id="31" dur="500" fill="hold"/>
                                        <p:tgtEl>
                                          <p:spTgt spid="209510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95106">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95109"/>
                                        </p:tgtEl>
                                        <p:attrNameLst>
                                          <p:attrName>style.visibility</p:attrName>
                                        </p:attrNameLst>
                                      </p:cBhvr>
                                      <p:to>
                                        <p:strVal val="visible"/>
                                      </p:to>
                                    </p:set>
                                    <p:anim calcmode="lin" valueType="num">
                                      <p:cBhvr additive="base">
                                        <p:cTn id="35" dur="500" fill="hold"/>
                                        <p:tgtEl>
                                          <p:spTgt spid="2095109"/>
                                        </p:tgtEl>
                                        <p:attrNameLst>
                                          <p:attrName>ppt_x</p:attrName>
                                        </p:attrNameLst>
                                      </p:cBhvr>
                                      <p:tavLst>
                                        <p:tav tm="0">
                                          <p:val>
                                            <p:strVal val="#ppt_x"/>
                                          </p:val>
                                        </p:tav>
                                        <p:tav tm="100000">
                                          <p:val>
                                            <p:strVal val="#ppt_x"/>
                                          </p:val>
                                        </p:tav>
                                      </p:tavLst>
                                    </p:anim>
                                    <p:anim calcmode="lin" valueType="num">
                                      <p:cBhvr additive="base">
                                        <p:cTn id="36" dur="500" fill="hold"/>
                                        <p:tgtEl>
                                          <p:spTgt spid="209510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95110"/>
                                        </p:tgtEl>
                                        <p:attrNameLst>
                                          <p:attrName>style.visibility</p:attrName>
                                        </p:attrNameLst>
                                      </p:cBhvr>
                                      <p:to>
                                        <p:strVal val="visible"/>
                                      </p:to>
                                    </p:set>
                                    <p:anim calcmode="lin" valueType="num">
                                      <p:cBhvr additive="base">
                                        <p:cTn id="39" dur="500" fill="hold"/>
                                        <p:tgtEl>
                                          <p:spTgt spid="2095110"/>
                                        </p:tgtEl>
                                        <p:attrNameLst>
                                          <p:attrName>ppt_x</p:attrName>
                                        </p:attrNameLst>
                                      </p:cBhvr>
                                      <p:tavLst>
                                        <p:tav tm="0">
                                          <p:val>
                                            <p:strVal val="#ppt_x"/>
                                          </p:val>
                                        </p:tav>
                                        <p:tav tm="100000">
                                          <p:val>
                                            <p:strVal val="#ppt_x"/>
                                          </p:val>
                                        </p:tav>
                                      </p:tavLst>
                                    </p:anim>
                                    <p:anim calcmode="lin" valueType="num">
                                      <p:cBhvr additive="base">
                                        <p:cTn id="40" dur="500" fill="hold"/>
                                        <p:tgtEl>
                                          <p:spTgt spid="2095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5109" grpId="0" animBg="1"/>
      <p:bldP spid="20951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理解算法类问题求解框架</a:t>
            </a:r>
          </a:p>
        </p:txBody>
      </p:sp>
      <p:sp>
        <p:nvSpPr>
          <p:cNvPr id="1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三、算法设计概述</a:t>
            </a:r>
          </a:p>
        </p:txBody>
      </p:sp>
      <p:graphicFrame>
        <p:nvGraphicFramePr>
          <p:cNvPr id="51" name="Object 3"/>
          <p:cNvGraphicFramePr>
            <a:graphicFrameLocks noChangeAspect="1"/>
          </p:cNvGraphicFramePr>
          <p:nvPr/>
        </p:nvGraphicFramePr>
        <p:xfrm>
          <a:off x="3136101" y="1944022"/>
          <a:ext cx="5585336" cy="4822248"/>
        </p:xfrm>
        <a:graphic>
          <a:graphicData uri="http://schemas.openxmlformats.org/presentationml/2006/ole">
            <mc:AlternateContent xmlns:mc="http://schemas.openxmlformats.org/markup-compatibility/2006">
              <mc:Choice xmlns:v="urn:schemas-microsoft-com:vml" Requires="v">
                <p:oleObj name="幻灯片" r:id="rId2" imgW="4575810" imgH="3432175" progId="PowerPoint.Slide.8">
                  <p:embed/>
                </p:oleObj>
              </mc:Choice>
              <mc:Fallback>
                <p:oleObj name="幻灯片" r:id="rId2" imgW="4575810" imgH="3432175" progId="PowerPoint.Slide.8">
                  <p:embed/>
                  <p:pic>
                    <p:nvPicPr>
                      <p:cNvPr id="0" name="Object 3"/>
                      <p:cNvPicPr>
                        <a:picLocks noChangeAspect="1"/>
                      </p:cNvPicPr>
                      <p:nvPr/>
                    </p:nvPicPr>
                    <p:blipFill>
                      <a:blip r:embed="rId3"/>
                      <a:srcRect l="7875" r="19685"/>
                      <a:stretch>
                        <a:fillRect/>
                      </a:stretch>
                    </p:blipFill>
                    <p:spPr>
                      <a:xfrm>
                        <a:off x="3136101" y="1944022"/>
                        <a:ext cx="5585336" cy="4822248"/>
                      </a:xfrm>
                      <a:prstGeom prst="rect">
                        <a:avLst/>
                      </a:prstGeom>
                      <a:noFill/>
                      <a:ln w="28575" cap="flat" cmpd="sng">
                        <a:solidFill>
                          <a:srgbClr val="3333CC"/>
                        </a:solidFill>
                        <a:prstDash val="solid"/>
                        <a:miter/>
                        <a:headEnd type="none" w="med" len="med"/>
                        <a:tailEnd type="none" w="med" len="med"/>
                      </a:ln>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02" name="Text Box 5"/>
          <p:cNvSpPr txBox="1">
            <a:spLocks noChangeArrowheads="1"/>
          </p:cNvSpPr>
          <p:nvPr/>
        </p:nvSpPr>
        <p:spPr bwMode="auto">
          <a:xfrm>
            <a:off x="623493" y="1924906"/>
            <a:ext cx="10912353"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rgbClr val="0066FF"/>
              </a:buClr>
              <a:buFont typeface="Wingdings" panose="05000000000000000000" pitchFamily="2" charset="2"/>
              <a:buChar char="u"/>
            </a:pPr>
            <a:r>
              <a:rPr lang="en-US" altLang="zh-CN" sz="1600" b="0" dirty="0">
                <a:solidFill>
                  <a:srgbClr val="000000"/>
                </a:solidFill>
                <a:cs typeface="Times New Roman" panose="02020503050405090304" pitchFamily="18" charset="0"/>
              </a:rPr>
              <a:t>TSP</a:t>
            </a:r>
            <a:r>
              <a:rPr lang="zh-CN" altLang="en-US" sz="1600" b="0" dirty="0">
                <a:solidFill>
                  <a:srgbClr val="000000"/>
                </a:solidFill>
                <a:cs typeface="Times New Roman" panose="02020503050405090304" pitchFamily="18" charset="0"/>
              </a:rPr>
              <a:t>问题</a:t>
            </a:r>
            <a:r>
              <a:rPr lang="en-US" altLang="zh-CN" sz="1600" b="0" dirty="0">
                <a:solidFill>
                  <a:srgbClr val="000000"/>
                </a:solidFill>
                <a:cs typeface="Times New Roman" panose="02020503050405090304" pitchFamily="18" charset="0"/>
              </a:rPr>
              <a:t>(</a:t>
            </a:r>
            <a:r>
              <a:rPr lang="zh-CN" altLang="zh-CN" sz="2400" dirty="0">
                <a:cs typeface="Times New Roman" panose="02020503050405090304" pitchFamily="18" charset="0"/>
              </a:rPr>
              <a:t>Traveling Salesman Problem</a:t>
            </a:r>
            <a:r>
              <a:rPr lang="zh-CN" altLang="zh-CN" sz="1600" b="0" dirty="0">
                <a:cs typeface="Times New Roman" panose="02020503050405090304" pitchFamily="18" charset="0"/>
              </a:rPr>
              <a:t>，</a:t>
            </a:r>
            <a:r>
              <a:rPr lang="zh-CN" altLang="en-US" sz="2400" dirty="0">
                <a:cs typeface="Times New Roman" panose="02020503050405090304" pitchFamily="18" charset="0"/>
              </a:rPr>
              <a:t>旅行商问题</a:t>
            </a:r>
            <a:r>
              <a:rPr lang="en-US" altLang="zh-CN" sz="1600" b="0" dirty="0">
                <a:solidFill>
                  <a:srgbClr val="000000"/>
                </a:solidFill>
                <a:cs typeface="Times New Roman" panose="02020503050405090304" pitchFamily="18" charset="0"/>
              </a:rPr>
              <a:t>)</a:t>
            </a:r>
            <a:r>
              <a:rPr lang="zh-CN" altLang="en-US" sz="1600" b="0" dirty="0">
                <a:solidFill>
                  <a:srgbClr val="000000"/>
                </a:solidFill>
                <a:cs typeface="Times New Roman" panose="02020503050405090304" pitchFamily="18" charset="0"/>
              </a:rPr>
              <a:t>，威廉哈密尔顿爵士和英国数学家克克曼</a:t>
            </a:r>
            <a:r>
              <a:rPr lang="en-US" altLang="zh-CN" sz="1600" b="0" dirty="0" err="1">
                <a:solidFill>
                  <a:srgbClr val="000000"/>
                </a:solidFill>
                <a:cs typeface="Times New Roman" panose="02020503050405090304" pitchFamily="18" charset="0"/>
              </a:rPr>
              <a:t>T.P.Kirkman</a:t>
            </a:r>
            <a:r>
              <a:rPr lang="zh-CN" altLang="en-US" sz="1600" b="0" dirty="0">
                <a:solidFill>
                  <a:srgbClr val="000000"/>
                </a:solidFill>
                <a:cs typeface="Times New Roman" panose="02020503050405090304" pitchFamily="18" charset="0"/>
              </a:rPr>
              <a:t>于</a:t>
            </a:r>
            <a:r>
              <a:rPr lang="en-US" altLang="zh-CN" sz="1600" b="0" dirty="0">
                <a:solidFill>
                  <a:srgbClr val="000000"/>
                </a:solidFill>
                <a:cs typeface="Times New Roman" panose="02020503050405090304" pitchFamily="18" charset="0"/>
              </a:rPr>
              <a:t>19</a:t>
            </a:r>
            <a:r>
              <a:rPr lang="zh-CN" altLang="en-US" sz="1600" b="0" dirty="0">
                <a:solidFill>
                  <a:srgbClr val="000000"/>
                </a:solidFill>
                <a:cs typeface="Times New Roman" panose="02020503050405090304" pitchFamily="18" charset="0"/>
              </a:rPr>
              <a:t>世纪初提出</a:t>
            </a:r>
            <a:r>
              <a:rPr lang="en-US" altLang="zh-CN" sz="1600" b="0" dirty="0">
                <a:solidFill>
                  <a:srgbClr val="000000"/>
                </a:solidFill>
                <a:cs typeface="Times New Roman" panose="02020503050405090304" pitchFamily="18" charset="0"/>
              </a:rPr>
              <a:t>TSP</a:t>
            </a:r>
            <a:r>
              <a:rPr lang="zh-CN" altLang="en-US" sz="1600" b="0" dirty="0">
                <a:solidFill>
                  <a:srgbClr val="000000"/>
                </a:solidFill>
                <a:cs typeface="Times New Roman" panose="02020503050405090304" pitchFamily="18" charset="0"/>
              </a:rPr>
              <a:t>问题．</a:t>
            </a:r>
            <a:endParaRPr lang="en-US" altLang="zh-CN" sz="1600" b="0" dirty="0">
              <a:solidFill>
                <a:srgbClr val="000000"/>
              </a:solidFill>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r>
              <a:rPr lang="en-US" altLang="zh-CN"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TSP</a:t>
            </a:r>
            <a:r>
              <a:rPr lang="zh-CN" altLang="en-US" dirty="0">
                <a:solidFill>
                  <a:srgbClr val="FF0066"/>
                </a:solidFill>
                <a:latin typeface="微软雅黑" panose="020B0503020204020204" pitchFamily="34" charset="-122"/>
                <a:ea typeface="微软雅黑" panose="020B0503020204020204" pitchFamily="34" charset="-122"/>
                <a:cs typeface="Times New Roman" panose="02020503050405090304" pitchFamily="18" charset="0"/>
              </a:rPr>
              <a:t>问题</a:t>
            </a:r>
            <a:r>
              <a:rPr lang="zh-CN" altLang="en-US" dirty="0">
                <a:solidFill>
                  <a:schemeClr val="accent2"/>
                </a:solidFill>
                <a:cs typeface="Times New Roman" panose="02020503050405090304" pitchFamily="18" charset="0"/>
              </a:rPr>
              <a:t>：有若干个城市，任何两个城市之间的距离都是确定的，现要求一旅行商从某城市出发必须经过每一个城市且只能在每个城市逗留一次，最后回到原出发城市，问如何事先确定好一条最短的路线使其旅行的费用最少。</a:t>
            </a:r>
          </a:p>
        </p:txBody>
      </p:sp>
      <p:grpSp>
        <p:nvGrpSpPr>
          <p:cNvPr id="27651" name="Group 3"/>
          <p:cNvGrpSpPr/>
          <p:nvPr/>
        </p:nvGrpSpPr>
        <p:grpSpPr bwMode="auto">
          <a:xfrm>
            <a:off x="2497839" y="3998388"/>
            <a:ext cx="4225925" cy="2433637"/>
            <a:chOff x="3245" y="2623"/>
            <a:chExt cx="2203" cy="1258"/>
          </a:xfrm>
        </p:grpSpPr>
        <p:pic>
          <p:nvPicPr>
            <p:cNvPr id="27654" name="Picture 14"/>
            <p:cNvPicPr>
              <a:picLocks noChangeAspect="1" noChangeArrowheads="1"/>
            </p:cNvPicPr>
            <p:nvPr/>
          </p:nvPicPr>
          <p:blipFill>
            <a:blip r:embed="rId3">
              <a:clrChange>
                <a:clrFrom>
                  <a:srgbClr val="CCE8CF"/>
                </a:clrFrom>
                <a:clrTo>
                  <a:srgbClr val="CCE8CF">
                    <a:alpha val="0"/>
                  </a:srgbClr>
                </a:clrTo>
              </a:clrChange>
              <a:extLst>
                <a:ext uri="{28A0092B-C50C-407E-A947-70E740481C1C}">
                  <a14:useLocalDpi xmlns:a14="http://schemas.microsoft.com/office/drawing/2010/main" val="0"/>
                </a:ext>
              </a:extLst>
            </a:blip>
            <a:srcRect/>
            <a:stretch>
              <a:fillRect/>
            </a:stretch>
          </p:blipFill>
          <p:spPr bwMode="auto">
            <a:xfrm>
              <a:off x="3245" y="2623"/>
              <a:ext cx="2169" cy="1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Text Box 15"/>
            <p:cNvSpPr txBox="1">
              <a:spLocks noChangeArrowheads="1"/>
            </p:cNvSpPr>
            <p:nvPr/>
          </p:nvSpPr>
          <p:spPr bwMode="auto">
            <a:xfrm>
              <a:off x="4400" y="2641"/>
              <a:ext cx="104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600">
                  <a:solidFill>
                    <a:srgbClr val="FF5050"/>
                  </a:solidFill>
                  <a:ea typeface="华文宋体" panose="02010600040101010101" pitchFamily="2" charset="-122"/>
                </a:rPr>
                <a:t>城市之间的距离</a:t>
              </a:r>
            </a:p>
          </p:txBody>
        </p:sp>
      </p:grpSp>
      <p:sp>
        <p:nvSpPr>
          <p:cNvPr id="8" name="圆角矩形 7"/>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什么是</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TSP</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a:t>
            </a:r>
          </a:p>
        </p:txBody>
      </p:sp>
      <p:sp>
        <p:nvSpPr>
          <p:cNvPr id="9"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5" name="Picture 9"/>
          <p:cNvPicPr>
            <a:picLocks noChangeAspect="1" noChangeArrowheads="1"/>
          </p:cNvPicPr>
          <p:nvPr/>
        </p:nvPicPr>
        <p:blipFill>
          <a:blip r:embed="rId3">
            <a:clrChange>
              <a:clrFrom>
                <a:srgbClr val="CCE8CF"/>
              </a:clrFrom>
              <a:clrTo>
                <a:srgbClr val="CCE8CF">
                  <a:alpha val="0"/>
                </a:srgbClr>
              </a:clrTo>
            </a:clrChange>
            <a:extLst>
              <a:ext uri="{28A0092B-C50C-407E-A947-70E740481C1C}">
                <a14:useLocalDpi xmlns:a14="http://schemas.microsoft.com/office/drawing/2010/main" val="0"/>
              </a:ext>
            </a:extLst>
          </a:blip>
          <a:srcRect/>
          <a:stretch>
            <a:fillRect/>
          </a:stretch>
        </p:blipFill>
        <p:spPr bwMode="auto">
          <a:xfrm>
            <a:off x="7550372" y="4134959"/>
            <a:ext cx="3403286"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问题：数学建模</a:t>
            </a:r>
          </a:p>
        </p:txBody>
      </p:sp>
      <mc:AlternateContent xmlns:mc="http://schemas.openxmlformats.org/markup-compatibility/2006" xmlns:a14="http://schemas.microsoft.com/office/drawing/2010/main">
        <mc:Choice Requires="a14">
          <p:sp>
            <p:nvSpPr>
              <p:cNvPr id="2" name="文本框 1"/>
              <p:cNvSpPr txBox="1"/>
              <p:nvPr/>
            </p:nvSpPr>
            <p:spPr>
              <a:xfrm>
                <a:off x="744616" y="1791006"/>
                <a:ext cx="11242220" cy="1151341"/>
              </a:xfrm>
              <a:prstGeom prst="rect">
                <a:avLst/>
              </a:prstGeom>
              <a:noFill/>
            </p:spPr>
            <p:txBody>
              <a:bodyPr wrap="square" rtlCol="0">
                <a:spAutoFit/>
              </a:bodyPr>
              <a:lstStyle/>
              <a:p>
                <a:pPr algn="just">
                  <a:lnSpc>
                    <a:spcPct val="150000"/>
                  </a:lnSpc>
                  <a:spcAft>
                    <a:spcPts val="0"/>
                  </a:spcAft>
                </a:pPr>
                <a:r>
                  <a:rPr lang="zh-CN" altLang="en-US" dirty="0">
                    <a:latin typeface="+mn-lt"/>
                    <a:ea typeface="微软雅黑" panose="020B0503020204020204" pitchFamily="34" charset="-122"/>
                  </a:rPr>
                  <a:t>输入：</a:t>
                </a:r>
                <a:r>
                  <a:rPr lang="en-US" altLang="zh-CN" b="0" dirty="0">
                    <a:latin typeface="Times New Roman" panose="02020503050405090304" pitchFamily="18" charset="0"/>
                    <a:ea typeface="+mn-ea"/>
                    <a:cs typeface="Times New Roman" panose="02020503050405090304" pitchFamily="18" charset="0"/>
                  </a:rPr>
                  <a:t>n</a:t>
                </a:r>
                <a:r>
                  <a:rPr lang="zh-CN" altLang="zh-CN" b="0" dirty="0">
                    <a:latin typeface="Times New Roman" panose="02020503050405090304" pitchFamily="18" charset="0"/>
                    <a:ea typeface="+mn-ea"/>
                    <a:cs typeface="Times New Roman" panose="02020503050405090304" pitchFamily="18" charset="0"/>
                  </a:rPr>
                  <a:t>个城市，记为</a:t>
                </a:r>
                <a:r>
                  <a:rPr lang="en-US" altLang="zh-CN" b="0" dirty="0">
                    <a:latin typeface="Times New Roman" panose="02020503050405090304" pitchFamily="18" charset="0"/>
                    <a:ea typeface="+mn-ea"/>
                    <a:cs typeface="Times New Roman" panose="02020503050405090304" pitchFamily="18" charset="0"/>
                  </a:rPr>
                  <a:t>V={</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1</m:t>
                        </m:r>
                      </m:sub>
                    </m:sSub>
                  </m:oMath>
                </a14:m>
                <a:r>
                  <a:rPr lang="en-US" altLang="zh-CN" b="0" dirty="0">
                    <a:latin typeface="Times New Roman" panose="02020503050405090304" pitchFamily="18" charset="0"/>
                    <a:ea typeface="+mn-ea"/>
                    <a:cs typeface="Times New Roman" panose="02020503050405090304" pitchFamily="18" charset="0"/>
                  </a:rPr>
                  <a:t>,</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2</m:t>
                        </m:r>
                      </m:sub>
                    </m:sSub>
                    <m:r>
                      <a:rPr lang="en-US" altLang="zh-CN" b="0">
                        <a:solidFill>
                          <a:srgbClr val="0070C0"/>
                        </a:solidFill>
                        <a:latin typeface="Cambria Math" panose="02040503050406030204" pitchFamily="18" charset="0"/>
                        <a:ea typeface="+mn-ea"/>
                      </a:rPr>
                      <m:t>,…,</m:t>
                    </m:r>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𝑛</m:t>
                        </m:r>
                      </m:sub>
                    </m:sSub>
                  </m:oMath>
                </a14:m>
                <a:r>
                  <a:rPr lang="en-US" altLang="zh-CN" b="0" dirty="0">
                    <a:latin typeface="Times New Roman" panose="02020503050405090304" pitchFamily="18" charset="0"/>
                    <a:ea typeface="+mn-ea"/>
                    <a:cs typeface="Times New Roman" panose="02020503050405090304" pitchFamily="18" charset="0"/>
                  </a:rPr>
                  <a:t>}</a:t>
                </a:r>
                <a:r>
                  <a:rPr lang="zh-CN" altLang="zh-CN" b="0" dirty="0">
                    <a:latin typeface="Times New Roman" panose="02020503050405090304" pitchFamily="18" charset="0"/>
                    <a:ea typeface="+mn-ea"/>
                    <a:cs typeface="Times New Roman" panose="02020503050405090304" pitchFamily="18" charset="0"/>
                  </a:rPr>
                  <a:t>，任意两个城市</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𝑖</m:t>
                        </m:r>
                      </m:sub>
                    </m:sSub>
                    <m:r>
                      <a:rPr lang="en-US" altLang="zh-CN" b="0">
                        <a:solidFill>
                          <a:srgbClr val="0070C0"/>
                        </a:solidFill>
                        <a:latin typeface="Cambria Math" panose="02040503050406030204" pitchFamily="18" charset="0"/>
                        <a:ea typeface="+mn-ea"/>
                      </a:rPr>
                      <m:t>,</m:t>
                    </m:r>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𝑗</m:t>
                        </m:r>
                      </m:sub>
                    </m:sSub>
                    <m:r>
                      <a:rPr lang="en-US" altLang="zh-CN" b="0">
                        <a:solidFill>
                          <a:srgbClr val="0070C0"/>
                        </a:solidFill>
                        <a:latin typeface="Cambria Math" panose="02040503050406030204" pitchFamily="18" charset="0"/>
                        <a:ea typeface="+mn-ea"/>
                      </a:rPr>
                      <m:t>∈</m:t>
                    </m:r>
                    <m:r>
                      <a:rPr lang="en-US" altLang="zh-CN" b="0" i="1">
                        <a:solidFill>
                          <a:srgbClr val="0070C0"/>
                        </a:solidFill>
                        <a:latin typeface="Cambria Math" panose="02040503050406030204" pitchFamily="18" charset="0"/>
                        <a:ea typeface="+mn-ea"/>
                      </a:rPr>
                      <m:t>𝑉</m:t>
                    </m:r>
                  </m:oMath>
                </a14:m>
                <a:r>
                  <a:rPr lang="zh-CN" altLang="zh-CN" b="0" dirty="0">
                    <a:latin typeface="Times New Roman" panose="02020503050405090304" pitchFamily="18" charset="0"/>
                    <a:ea typeface="+mn-ea"/>
                    <a:cs typeface="Times New Roman" panose="02020503050405090304" pitchFamily="18" charset="0"/>
                  </a:rPr>
                  <a:t>之间有距离</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𝑑</m:t>
                        </m:r>
                      </m:e>
                      <m:sub>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𝑖</m:t>
                            </m:r>
                          </m:sub>
                        </m:sSub>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𝑣</m:t>
                            </m:r>
                          </m:e>
                          <m:sub>
                            <m:r>
                              <a:rPr lang="en-US" altLang="zh-CN" b="0" i="1">
                                <a:solidFill>
                                  <a:srgbClr val="0070C0"/>
                                </a:solidFill>
                                <a:latin typeface="Cambria Math" panose="02040503050406030204" pitchFamily="18" charset="0"/>
                                <a:ea typeface="+mn-ea"/>
                              </a:rPr>
                              <m:t>𝑗</m:t>
                            </m:r>
                          </m:sub>
                        </m:sSub>
                      </m:sub>
                    </m:sSub>
                  </m:oMath>
                </a14:m>
                <a:endParaRPr lang="en-US" altLang="zh-CN" b="0" dirty="0">
                  <a:latin typeface="Times New Roman" panose="02020503050405090304" pitchFamily="18" charset="0"/>
                  <a:ea typeface="+mn-ea"/>
                  <a:cs typeface="Times New Roman" panose="02020503050405090304" pitchFamily="18" charset="0"/>
                </a:endParaRPr>
              </a:p>
              <a:p>
                <a:pPr algn="just">
                  <a:lnSpc>
                    <a:spcPct val="150000"/>
                  </a:lnSpc>
                  <a:spcAft>
                    <a:spcPts val="0"/>
                  </a:spcAft>
                </a:pPr>
                <a:r>
                  <a:rPr lang="zh-CN" altLang="en-US" dirty="0">
                    <a:latin typeface="+mn-lt"/>
                    <a:ea typeface="微软雅黑" panose="020B0503020204020204" pitchFamily="34" charset="-122"/>
                  </a:rPr>
                  <a:t>输出：</a:t>
                </a:r>
                <a:r>
                  <a:rPr lang="zh-CN" altLang="en-US" b="0" dirty="0">
                    <a:latin typeface="Times New Roman" panose="02020503050405090304" pitchFamily="18" charset="0"/>
                    <a:ea typeface="+mn-ea"/>
                    <a:cs typeface="Times New Roman" panose="02020503050405090304" pitchFamily="18" charset="0"/>
                  </a:rPr>
                  <a:t>所有</a:t>
                </a:r>
                <a:r>
                  <a:rPr lang="zh-CN" altLang="zh-CN" b="0" dirty="0">
                    <a:latin typeface="Times New Roman" panose="02020503050405090304" pitchFamily="18" charset="0"/>
                    <a:ea typeface="+mn-ea"/>
                    <a:cs typeface="Times New Roman" panose="02020503050405090304" pitchFamily="18" charset="0"/>
                  </a:rPr>
                  <a:t>城市的一个访问顺序</a:t>
                </a:r>
                <a:r>
                  <a:rPr lang="en-US" altLang="zh-CN" b="0" dirty="0">
                    <a:latin typeface="Times New Roman" panose="02020503050405090304" pitchFamily="18" charset="0"/>
                    <a:ea typeface="+mn-ea"/>
                    <a:cs typeface="Times New Roman" panose="02020503050405090304" pitchFamily="18" charset="0"/>
                  </a:rPr>
                  <a:t>T={</a:t>
                </a:r>
                <a14:m>
                  <m:oMath xmlns:m="http://schemas.openxmlformats.org/officeDocument/2006/math">
                    <m:sSub>
                      <m:sSubPr>
                        <m:ctrlPr>
                          <a:rPr lang="zh-CN" altLang="zh-CN" b="0" i="1" smtClean="0">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1</m:t>
                        </m:r>
                      </m:sub>
                    </m:sSub>
                  </m:oMath>
                </a14:m>
                <a:r>
                  <a:rPr lang="en-US" altLang="zh-CN" b="0" dirty="0">
                    <a:latin typeface="Times New Roman" panose="02020503050405090304" pitchFamily="18" charset="0"/>
                    <a:ea typeface="+mn-ea"/>
                    <a:cs typeface="Times New Roman" panose="02020503050405090304" pitchFamily="18" charset="0"/>
                  </a:rPr>
                  <a:t>,</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0">
                            <a:solidFill>
                              <a:srgbClr val="0070C0"/>
                            </a:solidFill>
                            <a:latin typeface="Cambria Math" panose="02040503050406030204" pitchFamily="18" charset="0"/>
                            <a:ea typeface="+mn-ea"/>
                          </a:rPr>
                          <m:t>2</m:t>
                        </m:r>
                      </m:sub>
                    </m:sSub>
                    <m:r>
                      <a:rPr lang="en-US" altLang="zh-CN" b="0">
                        <a:solidFill>
                          <a:srgbClr val="0070C0"/>
                        </a:solidFill>
                        <a:latin typeface="Cambria Math" panose="02040503050406030204" pitchFamily="18" charset="0"/>
                        <a:ea typeface="+mn-ea"/>
                      </a:rPr>
                      <m:t>,…,</m:t>
                    </m:r>
                    <m:sSub>
                      <m:sSubPr>
                        <m:ctrlPr>
                          <a:rPr lang="zh-CN" altLang="zh-CN" b="0" i="1">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𝑛</m:t>
                        </m:r>
                      </m:sub>
                    </m:sSub>
                  </m:oMath>
                </a14:m>
                <a:r>
                  <a:rPr lang="en-US" altLang="zh-CN" b="0" dirty="0">
                    <a:latin typeface="Times New Roman" panose="02020503050405090304" pitchFamily="18" charset="0"/>
                    <a:ea typeface="+mn-ea"/>
                    <a:cs typeface="Times New Roman" panose="02020503050405090304" pitchFamily="18" charset="0"/>
                  </a:rPr>
                  <a:t>}</a:t>
                </a:r>
                <a:r>
                  <a:rPr lang="zh-CN" altLang="zh-CN" b="0" dirty="0">
                    <a:latin typeface="Times New Roman" panose="02020503050405090304" pitchFamily="18" charset="0"/>
                    <a:ea typeface="+mn-ea"/>
                    <a:cs typeface="Times New Roman" panose="02020503050405090304" pitchFamily="18" charset="0"/>
                  </a:rPr>
                  <a:t>，其中</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𝑖</m:t>
                        </m:r>
                      </m:sub>
                    </m:sSub>
                    <m:r>
                      <a:rPr lang="en-US" altLang="zh-CN" b="0">
                        <a:solidFill>
                          <a:srgbClr val="0070C0"/>
                        </a:solidFill>
                        <a:latin typeface="Cambria Math" panose="02040503050406030204" pitchFamily="18" charset="0"/>
                        <a:ea typeface="+mn-ea"/>
                      </a:rPr>
                      <m:t>∈</m:t>
                    </m:r>
                    <m:r>
                      <a:rPr lang="en-US" altLang="zh-CN" b="0" i="1">
                        <a:solidFill>
                          <a:srgbClr val="0070C0"/>
                        </a:solidFill>
                        <a:latin typeface="Cambria Math" panose="02040503050406030204" pitchFamily="18" charset="0"/>
                        <a:ea typeface="+mn-ea"/>
                      </a:rPr>
                      <m:t>𝑉</m:t>
                    </m:r>
                  </m:oMath>
                </a14:m>
                <a:r>
                  <a:rPr lang="zh-CN" altLang="zh-CN" b="0" dirty="0">
                    <a:latin typeface="Times New Roman" panose="02020503050405090304" pitchFamily="18" charset="0"/>
                    <a:ea typeface="+mn-ea"/>
                    <a:cs typeface="Times New Roman" panose="02020503050405090304" pitchFamily="18" charset="0"/>
                  </a:rPr>
                  <a:t>，</a:t>
                </a:r>
                <a14:m>
                  <m:oMath xmlns:m="http://schemas.openxmlformats.org/officeDocument/2006/math">
                    <m:sSub>
                      <m:sSubPr>
                        <m:ctrlPr>
                          <a:rPr lang="zh-CN" altLang="zh-CN" b="0" i="1">
                            <a:solidFill>
                              <a:srgbClr val="0070C0"/>
                            </a:solidFill>
                            <a:latin typeface="Cambria Math" panose="02040503050406030204" pitchFamily="18" charset="0"/>
                            <a:ea typeface="+mn-ea"/>
                          </a:rPr>
                        </m:ctrlPr>
                      </m:sSubPr>
                      <m:e>
                        <m:r>
                          <m:rPr>
                            <m:sty m:val="p"/>
                          </m:rPr>
                          <a:rPr lang="en-US" altLang="zh-CN" b="0" i="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𝑛</m:t>
                        </m:r>
                        <m:r>
                          <a:rPr lang="en-US" altLang="zh-CN" b="0">
                            <a:solidFill>
                              <a:srgbClr val="0070C0"/>
                            </a:solidFill>
                            <a:latin typeface="Cambria Math" panose="02040503050406030204" pitchFamily="18" charset="0"/>
                            <a:ea typeface="+mn-ea"/>
                          </a:rPr>
                          <m:t>+</m:t>
                        </m:r>
                        <m:r>
                          <a:rPr lang="en-US" altLang="zh-CN" b="0" i="1">
                            <a:solidFill>
                              <a:srgbClr val="0070C0"/>
                            </a:solidFill>
                            <a:latin typeface="Cambria Math" panose="02040503050406030204" pitchFamily="18" charset="0"/>
                            <a:ea typeface="+mn-ea"/>
                          </a:rPr>
                          <m:t>1</m:t>
                        </m:r>
                      </m:sub>
                    </m:sSub>
                    <m:r>
                      <a:rPr lang="en-US" altLang="zh-CN" b="0">
                        <a:solidFill>
                          <a:srgbClr val="0070C0"/>
                        </a:solidFill>
                        <a:latin typeface="Cambria Math" panose="02040503050406030204" pitchFamily="18" charset="0"/>
                        <a:ea typeface="+mn-ea"/>
                      </a:rPr>
                      <m:t>=</m:t>
                    </m:r>
                    <m:sSub>
                      <m:sSubPr>
                        <m:ctrlPr>
                          <a:rPr lang="zh-CN" altLang="zh-CN" b="0" i="1">
                            <a:solidFill>
                              <a:srgbClr val="0070C0"/>
                            </a:solidFill>
                            <a:latin typeface="Cambria Math" panose="02040503050406030204" pitchFamily="18" charset="0"/>
                            <a:ea typeface="+mn-ea"/>
                          </a:rPr>
                        </m:ctrlPr>
                      </m:sSubPr>
                      <m:e>
                        <m:r>
                          <m:rPr>
                            <m:sty m:val="p"/>
                          </m:rPr>
                          <a:rPr lang="en-US" altLang="zh-CN" b="0" i="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1</m:t>
                        </m:r>
                      </m:sub>
                    </m:sSub>
                    <m:r>
                      <a:rPr lang="en-US" altLang="zh-CN" b="0" i="0" smtClean="0">
                        <a:solidFill>
                          <a:srgbClr val="0070C0"/>
                        </a:solidFill>
                        <a:latin typeface="Cambria Math" panose="02040503050406030204" pitchFamily="18" charset="0"/>
                        <a:ea typeface="+mn-ea"/>
                      </a:rPr>
                      <m:t>,</m:t>
                    </m:r>
                  </m:oMath>
                </a14:m>
                <a:r>
                  <a:rPr lang="zh-CN" altLang="zh-CN" b="0" dirty="0">
                    <a:latin typeface="Times New Roman" panose="02020503050405090304" pitchFamily="18" charset="0"/>
                    <a:ea typeface="+mn-ea"/>
                    <a:cs typeface="Times New Roman" panose="02020503050405090304" pitchFamily="18" charset="0"/>
                  </a:rPr>
                  <a:t>使得</a:t>
                </a:r>
                <a14:m>
                  <m:oMath xmlns:m="http://schemas.openxmlformats.org/officeDocument/2006/math">
                    <m:r>
                      <a:rPr lang="en-US" altLang="zh-CN" b="0" i="1">
                        <a:solidFill>
                          <a:srgbClr val="0070C0"/>
                        </a:solidFill>
                        <a:latin typeface="Cambria Math" panose="02040503050406030204" pitchFamily="18" charset="0"/>
                        <a:ea typeface="+mn-ea"/>
                      </a:rPr>
                      <m:t>𝑚𝑖𝑛</m:t>
                    </m:r>
                    <m:nary>
                      <m:naryPr>
                        <m:chr m:val="∑"/>
                        <m:limLoc m:val="undOvr"/>
                        <m:ctrlPr>
                          <a:rPr lang="zh-CN" altLang="zh-CN" b="0" i="1">
                            <a:solidFill>
                              <a:srgbClr val="0070C0"/>
                            </a:solidFill>
                            <a:latin typeface="Cambria Math" panose="02040503050406030204" pitchFamily="18" charset="0"/>
                            <a:ea typeface="+mn-ea"/>
                          </a:rPr>
                        </m:ctrlPr>
                      </m:naryPr>
                      <m:sub>
                        <m:r>
                          <a:rPr lang="en-US" altLang="zh-CN" b="0" i="1">
                            <a:solidFill>
                              <a:srgbClr val="0070C0"/>
                            </a:solidFill>
                            <a:latin typeface="Cambria Math" panose="02040503050406030204" pitchFamily="18" charset="0"/>
                            <a:ea typeface="+mn-ea"/>
                          </a:rPr>
                          <m:t>𝑖</m:t>
                        </m:r>
                        <m:r>
                          <a:rPr lang="en-US" altLang="zh-CN" b="0">
                            <a:solidFill>
                              <a:srgbClr val="0070C0"/>
                            </a:solidFill>
                            <a:latin typeface="Cambria Math" panose="02040503050406030204" pitchFamily="18" charset="0"/>
                            <a:ea typeface="+mn-ea"/>
                          </a:rPr>
                          <m:t>=</m:t>
                        </m:r>
                        <m:r>
                          <a:rPr lang="en-US" altLang="zh-CN" b="0" i="1">
                            <a:solidFill>
                              <a:srgbClr val="0070C0"/>
                            </a:solidFill>
                            <a:latin typeface="Cambria Math" panose="02040503050406030204" pitchFamily="18" charset="0"/>
                            <a:ea typeface="+mn-ea"/>
                          </a:rPr>
                          <m:t>1</m:t>
                        </m:r>
                      </m:sub>
                      <m:sup>
                        <m:r>
                          <a:rPr lang="en-US" altLang="zh-CN" b="0" i="1">
                            <a:solidFill>
                              <a:srgbClr val="0070C0"/>
                            </a:solidFill>
                            <a:latin typeface="Cambria Math" panose="02040503050406030204" pitchFamily="18" charset="0"/>
                            <a:ea typeface="+mn-ea"/>
                          </a:rPr>
                          <m:t>𝑛</m:t>
                        </m:r>
                      </m:sup>
                      <m:e>
                        <m:sSub>
                          <m:sSubPr>
                            <m:ctrlPr>
                              <a:rPr lang="zh-CN" altLang="zh-CN" b="0" i="1">
                                <a:solidFill>
                                  <a:srgbClr val="0070C0"/>
                                </a:solidFill>
                                <a:latin typeface="Cambria Math" panose="02040503050406030204" pitchFamily="18" charset="0"/>
                                <a:ea typeface="+mn-ea"/>
                              </a:rPr>
                            </m:ctrlPr>
                          </m:sSubPr>
                          <m:e>
                            <m:r>
                              <a:rPr lang="en-US" altLang="zh-CN" b="0" i="1">
                                <a:solidFill>
                                  <a:srgbClr val="0070C0"/>
                                </a:solidFill>
                                <a:latin typeface="Cambria Math" panose="02040503050406030204" pitchFamily="18" charset="0"/>
                                <a:ea typeface="+mn-ea"/>
                              </a:rPr>
                              <m:t>𝑑</m:t>
                            </m:r>
                          </m:e>
                          <m:sub>
                            <m:sSub>
                              <m:sSubPr>
                                <m:ctrlPr>
                                  <a:rPr lang="zh-CN" altLang="zh-CN" b="0" i="1">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𝑖</m:t>
                                </m:r>
                              </m:sub>
                            </m:sSub>
                            <m:sSub>
                              <m:sSubPr>
                                <m:ctrlPr>
                                  <a:rPr lang="zh-CN" altLang="zh-CN" b="0" i="1">
                                    <a:solidFill>
                                      <a:srgbClr val="0070C0"/>
                                    </a:solidFill>
                                    <a:latin typeface="Cambria Math" panose="02040503050406030204" pitchFamily="18" charset="0"/>
                                    <a:ea typeface="+mn-ea"/>
                                  </a:rPr>
                                </m:ctrlPr>
                              </m:sSubPr>
                              <m:e>
                                <m:r>
                                  <m:rPr>
                                    <m:sty m:val="p"/>
                                  </m:rPr>
                                  <a:rPr lang="en-US" altLang="zh-CN" b="0" i="0" smtClean="0">
                                    <a:solidFill>
                                      <a:srgbClr val="0070C0"/>
                                    </a:solidFill>
                                    <a:latin typeface="Cambria Math" panose="02040503050406030204" pitchFamily="18" charset="0"/>
                                    <a:ea typeface="+mn-ea"/>
                                  </a:rPr>
                                  <m:t>t</m:t>
                                </m:r>
                              </m:e>
                              <m:sub>
                                <m:r>
                                  <a:rPr lang="en-US" altLang="zh-CN" b="0" i="1">
                                    <a:solidFill>
                                      <a:srgbClr val="0070C0"/>
                                    </a:solidFill>
                                    <a:latin typeface="Cambria Math" panose="02040503050406030204" pitchFamily="18" charset="0"/>
                                    <a:ea typeface="+mn-ea"/>
                                  </a:rPr>
                                  <m:t>𝑖</m:t>
                                </m:r>
                                <m:r>
                                  <a:rPr lang="en-US" altLang="zh-CN" b="0">
                                    <a:solidFill>
                                      <a:srgbClr val="0070C0"/>
                                    </a:solidFill>
                                    <a:latin typeface="Cambria Math" panose="02040503050406030204" pitchFamily="18" charset="0"/>
                                    <a:ea typeface="+mn-ea"/>
                                  </a:rPr>
                                  <m:t>+</m:t>
                                </m:r>
                                <m:r>
                                  <a:rPr lang="en-US" altLang="zh-CN" b="0" i="1">
                                    <a:solidFill>
                                      <a:srgbClr val="0070C0"/>
                                    </a:solidFill>
                                    <a:latin typeface="Cambria Math" panose="02040503050406030204" pitchFamily="18" charset="0"/>
                                    <a:ea typeface="+mn-ea"/>
                                  </a:rPr>
                                  <m:t>1</m:t>
                                </m:r>
                              </m:sub>
                            </m:sSub>
                          </m:sub>
                        </m:sSub>
                      </m:e>
                    </m:nary>
                  </m:oMath>
                </a14:m>
                <a:r>
                  <a:rPr lang="en-US" altLang="zh-CN" b="0" dirty="0">
                    <a:latin typeface="Times New Roman" panose="02020503050405090304" pitchFamily="18" charset="0"/>
                    <a:ea typeface="+mn-ea"/>
                    <a:cs typeface="Times New Roman" panose="02020503050405090304" pitchFamily="18" charset="0"/>
                  </a:rPr>
                  <a:t>.</a:t>
                </a:r>
                <a:endParaRPr lang="zh-CN" altLang="en-US" b="0" dirty="0">
                  <a:latin typeface="Times New Roman" panose="02020503050405090304" pitchFamily="18" charset="0"/>
                  <a:ea typeface="+mn-ea"/>
                  <a:cs typeface="Times New Roman" panose="0202050305040509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44616" y="1791006"/>
                <a:ext cx="11242220" cy="1151341"/>
              </a:xfrm>
              <a:prstGeom prst="rect">
                <a:avLst/>
              </a:prstGeom>
              <a:blipFill rotWithShape="1">
                <a:blip r:embed="rId4"/>
                <a:stretch>
                  <a:fillRect l="-4" t="-27" r="5" b="-8846"/>
                </a:stretch>
              </a:blipFill>
            </p:spPr>
            <p:txBody>
              <a:bodyPr/>
              <a:lstStyle/>
              <a:p>
                <a:r>
                  <a:rPr lang="zh-CN" altLang="en-US">
                    <a:noFill/>
                  </a:rPr>
                  <a:t> </a:t>
                </a:r>
              </a:p>
            </p:txBody>
          </p:sp>
        </mc:Fallback>
      </mc:AlternateContent>
      <p:sp>
        <p:nvSpPr>
          <p:cNvPr id="26" name="圆角矩形 2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TSP</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问题抽象为数学问题</a:t>
            </a:r>
          </a:p>
        </p:txBody>
      </p:sp>
      <mc:AlternateContent xmlns:mc="http://schemas.openxmlformats.org/markup-compatibility/2006" xmlns:a14="http://schemas.microsoft.com/office/drawing/2010/main">
        <mc:Choice Requires="a14">
          <p:sp>
            <p:nvSpPr>
              <p:cNvPr id="3" name="文本框 2"/>
              <p:cNvSpPr txBox="1"/>
              <p:nvPr/>
            </p:nvSpPr>
            <p:spPr>
              <a:xfrm>
                <a:off x="744616" y="3269402"/>
                <a:ext cx="10783355" cy="1017330"/>
              </a:xfrm>
              <a:prstGeom prst="rect">
                <a:avLst/>
              </a:prstGeom>
              <a:noFill/>
            </p:spPr>
            <p:txBody>
              <a:bodyPr wrap="square" rtlCol="0">
                <a:spAutoFit/>
              </a:bodyPr>
              <a:lstStyle/>
              <a:p>
                <a:pPr>
                  <a:lnSpc>
                    <a:spcPct val="150000"/>
                  </a:lnSpc>
                </a:pPr>
                <a:r>
                  <a:rPr lang="zh-CN" altLang="en-US" dirty="0">
                    <a:latin typeface="+mn-lt"/>
                    <a:ea typeface="微软雅黑" panose="020B0503020204020204" pitchFamily="34" charset="-122"/>
                  </a:rPr>
                  <a:t>输入：</a:t>
                </a:r>
                <a:r>
                  <a:rPr lang="zh-CN" altLang="en-US">
                    <a:latin typeface="宋体" pitchFamily="2" charset="-122"/>
                  </a:rPr>
                  <a:t>图中有</a:t>
                </a:r>
                <a:r>
                  <a:rPr lang="en-US" altLang="zh-CN" b="0">
                    <a:solidFill>
                      <a:srgbClr val="C00000"/>
                    </a:solidFill>
                    <a:latin typeface="Times New Roman" panose="02020503050405090304" pitchFamily="18" charset="0"/>
                    <a:ea typeface="+mn-ea"/>
                    <a:cs typeface="Times New Roman" panose="02020503050405090304" pitchFamily="18" charset="0"/>
                  </a:rPr>
                  <a:t>n</a:t>
                </a:r>
                <a:r>
                  <a:rPr lang="zh-CN" altLang="zh-CN" b="0" dirty="0">
                    <a:latin typeface="Times New Roman" panose="02020503050405090304" pitchFamily="18" charset="0"/>
                    <a:ea typeface="+mn-ea"/>
                    <a:cs typeface="Times New Roman" panose="02020503050405090304" pitchFamily="18" charset="0"/>
                  </a:rPr>
                  <a:t>个</a:t>
                </a:r>
                <a:r>
                  <a:rPr lang="zh-CN" altLang="en-US" b="0" dirty="0">
                    <a:latin typeface="Times New Roman" panose="02020503050405090304" pitchFamily="18" charset="0"/>
                    <a:ea typeface="+mn-ea"/>
                    <a:cs typeface="Times New Roman" panose="02020503050405090304" pitchFamily="18" charset="0"/>
                  </a:rPr>
                  <a:t>节点</a:t>
                </a:r>
                <a:r>
                  <a:rPr lang="zh-CN" altLang="zh-CN" b="0" dirty="0">
                    <a:latin typeface="Times New Roman" panose="02020503050405090304" pitchFamily="18" charset="0"/>
                    <a:ea typeface="+mn-ea"/>
                    <a:cs typeface="Times New Roman" panose="02020503050405090304" pitchFamily="18" charset="0"/>
                  </a:rPr>
                  <a:t>，</a:t>
                </a:r>
                <a:r>
                  <a:rPr lang="zh-CN" altLang="en-US" b="0" dirty="0">
                    <a:latin typeface="Times New Roman" panose="02020503050405090304" pitchFamily="18" charset="0"/>
                    <a:ea typeface="+mn-ea"/>
                    <a:cs typeface="Times New Roman" panose="02020503050405090304" pitchFamily="18" charset="0"/>
                  </a:rPr>
                  <a:t>记</a:t>
                </a:r>
                <a:r>
                  <a:rPr lang="zh-CN" altLang="zh-CN" b="0" dirty="0">
                    <a:latin typeface="Times New Roman" panose="02020503050405090304" pitchFamily="18" charset="0"/>
                    <a:ea typeface="+mn-ea"/>
                    <a:cs typeface="Times New Roman" panose="02020503050405090304" pitchFamily="18" charset="0"/>
                  </a:rPr>
                  <a:t>为</a:t>
                </a:r>
                <a:r>
                  <a:rPr lang="en-US" altLang="zh-CN" b="0" dirty="0">
                    <a:latin typeface="Times New Roman" panose="02020503050405090304" pitchFamily="18" charset="0"/>
                    <a:ea typeface="+mn-ea"/>
                    <a:cs typeface="Times New Roman" panose="02020503050405090304" pitchFamily="18" charset="0"/>
                  </a:rPr>
                  <a:t>V={</a:t>
                </a:r>
                <a:r>
                  <a:rPr lang="en-US" altLang="zh-CN" b="0" dirty="0">
                    <a:solidFill>
                      <a:srgbClr val="C00000"/>
                    </a:solidFill>
                    <a:latin typeface="Times New Roman" panose="02020503050405090304" pitchFamily="18" charset="0"/>
                    <a:ea typeface="+mn-ea"/>
                    <a:cs typeface="Times New Roman" panose="02020503050405090304" pitchFamily="18" charset="0"/>
                  </a:rPr>
                  <a:t>1, 2, …, n</a:t>
                </a:r>
                <a:r>
                  <a:rPr lang="en-US" altLang="zh-CN" b="0" dirty="0">
                    <a:latin typeface="Times New Roman" panose="02020503050405090304" pitchFamily="18" charset="0"/>
                    <a:ea typeface="+mn-ea"/>
                    <a:cs typeface="Times New Roman" panose="02020503050405090304" pitchFamily="18" charset="0"/>
                  </a:rPr>
                  <a:t>}</a:t>
                </a:r>
                <a:r>
                  <a:rPr lang="zh-CN" altLang="zh-CN" b="0" dirty="0">
                    <a:latin typeface="Times New Roman" panose="02020503050405090304" pitchFamily="18" charset="0"/>
                    <a:ea typeface="+mn-ea"/>
                    <a:cs typeface="Times New Roman" panose="02020503050405090304" pitchFamily="18" charset="0"/>
                  </a:rPr>
                  <a:t> ，任意两个</a:t>
                </a:r>
                <a:r>
                  <a:rPr lang="zh-CN" altLang="en-US" b="0" dirty="0">
                    <a:latin typeface="Times New Roman" panose="02020503050405090304" pitchFamily="18" charset="0"/>
                    <a:ea typeface="+mn-ea"/>
                    <a:cs typeface="Times New Roman" panose="02020503050405090304" pitchFamily="18" charset="0"/>
                  </a:rPr>
                  <a:t>节点</a:t>
                </a:r>
                <a:r>
                  <a:rPr lang="en-US" altLang="zh-CN" b="0" dirty="0" err="1">
                    <a:latin typeface="Times New Roman" panose="02020503050405090304" pitchFamily="18" charset="0"/>
                    <a:ea typeface="+mn-ea"/>
                    <a:cs typeface="Times New Roman" panose="02020503050405090304" pitchFamily="18" charset="0"/>
                  </a:rPr>
                  <a:t>i</a:t>
                </a:r>
                <a:r>
                  <a:rPr lang="zh-CN" altLang="zh-CN" b="0" dirty="0">
                    <a:latin typeface="Times New Roman" panose="02020503050405090304" pitchFamily="18" charset="0"/>
                    <a:ea typeface="+mn-ea"/>
                    <a:cs typeface="Times New Roman" panose="02020503050405090304" pitchFamily="18" charset="0"/>
                  </a:rPr>
                  <a:t>，</a:t>
                </a:r>
                <a:r>
                  <a:rPr lang="en-US" altLang="zh-CN" b="0" dirty="0">
                    <a:latin typeface="Times New Roman" panose="02020503050405090304" pitchFamily="18" charset="0"/>
                    <a:ea typeface="+mn-ea"/>
                    <a:cs typeface="Times New Roman" panose="02020503050405090304" pitchFamily="18" charset="0"/>
                  </a:rPr>
                  <a:t>j</a:t>
                </a:r>
                <a:r>
                  <a:rPr lang="zh-CN" altLang="zh-CN" b="0" dirty="0">
                    <a:latin typeface="Times New Roman" panose="02020503050405090304" pitchFamily="18" charset="0"/>
                    <a:ea typeface="+mn-ea"/>
                    <a:cs typeface="Times New Roman" panose="02020503050405090304" pitchFamily="18" charset="0"/>
                  </a:rPr>
                  <a:t>之间的距离</a:t>
                </a:r>
                <a:r>
                  <a:rPr lang="zh-CN" altLang="en-US" b="0" dirty="0">
                    <a:latin typeface="Times New Roman" panose="02020503050405090304" pitchFamily="18" charset="0"/>
                    <a:ea typeface="+mn-ea"/>
                    <a:cs typeface="Times New Roman" panose="02020503050405090304" pitchFamily="18" charset="0"/>
                  </a:rPr>
                  <a:t>有</a:t>
                </a:r>
                <a:r>
                  <a:rPr lang="en-US" altLang="zh-CN" b="0" dirty="0" err="1">
                    <a:latin typeface="Times New Roman" panose="02020503050405090304" pitchFamily="18" charset="0"/>
                    <a:ea typeface="+mn-ea"/>
                    <a:cs typeface="Times New Roman" panose="02020503050405090304" pitchFamily="18" charset="0"/>
                  </a:rPr>
                  <a:t>d</a:t>
                </a:r>
                <a:r>
                  <a:rPr lang="en-US" altLang="zh-CN" b="0" baseline="-25000" dirty="0" err="1">
                    <a:latin typeface="Times New Roman" panose="02020503050405090304" pitchFamily="18" charset="0"/>
                    <a:ea typeface="+mn-ea"/>
                    <a:cs typeface="Times New Roman" panose="02020503050405090304" pitchFamily="18" charset="0"/>
                  </a:rPr>
                  <a:t>i,j</a:t>
                </a:r>
                <a:endParaRPr lang="en-US" altLang="zh-CN" b="0" dirty="0">
                  <a:latin typeface="Times New Roman" panose="02020503050405090304" pitchFamily="18" charset="0"/>
                  <a:ea typeface="+mn-ea"/>
                  <a:cs typeface="Times New Roman" panose="02020503050405090304" pitchFamily="18" charset="0"/>
                </a:endParaRPr>
              </a:p>
              <a:p>
                <a:pPr>
                  <a:lnSpc>
                    <a:spcPct val="150000"/>
                  </a:lnSpc>
                </a:pPr>
                <a:r>
                  <a:rPr lang="zh-CN" altLang="en-US" dirty="0">
                    <a:latin typeface="+mn-lt"/>
                    <a:ea typeface="微软雅黑" panose="020B0503020204020204" pitchFamily="34" charset="-122"/>
                  </a:rPr>
                  <a:t>输出：</a:t>
                </a:r>
                <a:r>
                  <a:rPr lang="zh-CN" altLang="en-US" dirty="0">
                    <a:latin typeface="Times New Roman" panose="02020503050405090304" pitchFamily="18" charset="0"/>
                    <a:ea typeface="+mn-ea"/>
                    <a:cs typeface="Times New Roman" panose="02020503050405090304" pitchFamily="18" charset="0"/>
                  </a:rPr>
                  <a:t>所有节点</a:t>
                </a:r>
                <a:r>
                  <a:rPr lang="zh-CN" altLang="zh-CN" dirty="0">
                    <a:latin typeface="Times New Roman" panose="02020503050405090304" pitchFamily="18" charset="0"/>
                    <a:ea typeface="+mn-ea"/>
                    <a:cs typeface="Times New Roman" panose="02020503050405090304" pitchFamily="18" charset="0"/>
                  </a:rPr>
                  <a:t>的一个访问顺序</a:t>
                </a:r>
                <a:r>
                  <a:rPr lang="en-US" altLang="zh-CN" dirty="0">
                    <a:latin typeface="Times New Roman" panose="02020503050405090304" pitchFamily="18" charset="0"/>
                    <a:ea typeface="+mn-ea"/>
                    <a:cs typeface="Times New Roman" panose="02020503050405090304" pitchFamily="18" charset="0"/>
                  </a:rPr>
                  <a:t> T={</a:t>
                </a:r>
                <a14:m>
                  <m:oMath xmlns:m="http://schemas.openxmlformats.org/officeDocument/2006/math">
                    <m:sSub>
                      <m:sSubPr>
                        <m:ctrlPr>
                          <a:rPr lang="zh-CN" altLang="zh-CN" i="1" smtClean="0">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𝟏</m:t>
                        </m:r>
                      </m:sub>
                    </m:sSub>
                  </m:oMath>
                </a14:m>
                <a:r>
                  <a:rPr lang="en-US" altLang="zh-CN" dirty="0">
                    <a:solidFill>
                      <a:srgbClr val="C00000"/>
                    </a:solidFill>
                    <a:latin typeface="Times New Roman" panose="02020503050405090304" pitchFamily="18" charset="0"/>
                    <a:ea typeface="+mn-ea"/>
                    <a:cs typeface="Times New Roman" panose="02020503050405090304" pitchFamily="18" charset="0"/>
                  </a:rPr>
                  <a:t>,</a:t>
                </a:r>
                <a14:m>
                  <m:oMath xmlns:m="http://schemas.openxmlformats.org/officeDocument/2006/math">
                    <m:sSub>
                      <m:sSubPr>
                        <m:ctrlPr>
                          <a:rPr lang="zh-CN" altLang="zh-CN" i="1">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𝟐</m:t>
                        </m:r>
                      </m:sub>
                    </m:sSub>
                    <m:r>
                      <a:rPr lang="en-US" altLang="zh-CN" b="1">
                        <a:solidFill>
                          <a:srgbClr val="C00000"/>
                        </a:solidFill>
                        <a:latin typeface="Cambria Math" panose="02040503050406030204" pitchFamily="18" charset="0"/>
                        <a:ea typeface="+mn-ea"/>
                      </a:rPr>
                      <m:t>,…,</m:t>
                    </m:r>
                    <m:sSub>
                      <m:sSubPr>
                        <m:ctrlPr>
                          <a:rPr lang="zh-CN" altLang="zh-CN" i="1">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𝐧</m:t>
                        </m:r>
                      </m:sub>
                    </m:sSub>
                  </m:oMath>
                </a14:m>
                <a:r>
                  <a:rPr lang="en-US" altLang="zh-CN" dirty="0">
                    <a:latin typeface="Times New Roman" panose="02020503050405090304" pitchFamily="18" charset="0"/>
                    <a:ea typeface="+mn-ea"/>
                    <a:cs typeface="Times New Roman" panose="02020503050405090304" pitchFamily="18" charset="0"/>
                  </a:rPr>
                  <a:t>}</a:t>
                </a:r>
                <a:r>
                  <a:rPr lang="zh-CN" altLang="zh-CN" dirty="0">
                    <a:latin typeface="Times New Roman" panose="02020503050405090304" pitchFamily="18" charset="0"/>
                    <a:ea typeface="+mn-ea"/>
                    <a:cs typeface="Times New Roman" panose="02020503050405090304" pitchFamily="18" charset="0"/>
                  </a:rPr>
                  <a:t>，其中</a:t>
                </a:r>
                <a14:m>
                  <m:oMath xmlns:m="http://schemas.openxmlformats.org/officeDocument/2006/math">
                    <m:sSub>
                      <m:sSubPr>
                        <m:ctrlPr>
                          <a:rPr lang="zh-CN" altLang="zh-CN" i="1" smtClean="0">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𝐢</m:t>
                        </m:r>
                      </m:sub>
                    </m:sSub>
                    <m:r>
                      <a:rPr lang="en-US" altLang="zh-CN" b="1">
                        <a:solidFill>
                          <a:srgbClr val="C00000"/>
                        </a:solidFill>
                        <a:latin typeface="Cambria Math" panose="02040503050406030204" pitchFamily="18" charset="0"/>
                        <a:ea typeface="+mn-ea"/>
                      </a:rPr>
                      <m:t>∈</m:t>
                    </m:r>
                    <m:r>
                      <a:rPr lang="en-US" altLang="zh-CN" b="1" i="1">
                        <a:solidFill>
                          <a:srgbClr val="C00000"/>
                        </a:solidFill>
                        <a:latin typeface="Cambria Math" panose="02040503050406030204" pitchFamily="18" charset="0"/>
                        <a:ea typeface="+mn-ea"/>
                      </a:rPr>
                      <m:t>𝐕</m:t>
                    </m:r>
                  </m:oMath>
                </a14:m>
                <a:r>
                  <a:rPr lang="zh-CN" altLang="zh-CN" dirty="0">
                    <a:latin typeface="Times New Roman" panose="02020503050405090304" pitchFamily="18" charset="0"/>
                    <a:ea typeface="+mn-ea"/>
                    <a:cs typeface="Times New Roman" panose="02020503050405090304" pitchFamily="18" charset="0"/>
                  </a:rPr>
                  <a:t>，</a:t>
                </a:r>
                <a14:m>
                  <m:oMath xmlns:m="http://schemas.openxmlformats.org/officeDocument/2006/math">
                    <m:sSub>
                      <m:sSubPr>
                        <m:ctrlPr>
                          <a:rPr lang="zh-CN" altLang="zh-CN" i="1">
                            <a:solidFill>
                              <a:srgbClr val="C00000"/>
                            </a:solidFill>
                            <a:latin typeface="Cambria Math" panose="02040503050406030204" pitchFamily="18" charset="0"/>
                            <a:ea typeface="+mn-ea"/>
                          </a:rPr>
                        </m:ctrlPr>
                      </m:sSubPr>
                      <m:e>
                        <m:r>
                          <a:rPr lang="en-US" altLang="zh-CN" b="1" i="1">
                            <a:solidFill>
                              <a:srgbClr val="C00000"/>
                            </a:solidFill>
                            <a:latin typeface="Cambria Math" panose="02040503050406030204" pitchFamily="18" charset="0"/>
                            <a:ea typeface="+mn-ea"/>
                          </a:rPr>
                          <m:t>𝒕</m:t>
                        </m:r>
                      </m:e>
                      <m:sub>
                        <m:r>
                          <a:rPr lang="en-US" altLang="zh-CN" b="1" i="1">
                            <a:solidFill>
                              <a:srgbClr val="C00000"/>
                            </a:solidFill>
                            <a:latin typeface="Cambria Math" panose="02040503050406030204" pitchFamily="18" charset="0"/>
                            <a:ea typeface="+mn-ea"/>
                          </a:rPr>
                          <m:t>𝐧</m:t>
                        </m:r>
                        <m:r>
                          <a:rPr lang="en-US" altLang="zh-CN" b="1">
                            <a:solidFill>
                              <a:srgbClr val="C00000"/>
                            </a:solidFill>
                            <a:latin typeface="Cambria Math" panose="02040503050406030204" pitchFamily="18" charset="0"/>
                            <a:ea typeface="+mn-ea"/>
                          </a:rPr>
                          <m:t>+</m:t>
                        </m:r>
                        <m:r>
                          <a:rPr lang="en-US" altLang="zh-CN" b="1" i="1">
                            <a:solidFill>
                              <a:srgbClr val="C00000"/>
                            </a:solidFill>
                            <a:latin typeface="Cambria Math" panose="02040503050406030204" pitchFamily="18" charset="0"/>
                            <a:ea typeface="+mn-ea"/>
                          </a:rPr>
                          <m:t>𝟏</m:t>
                        </m:r>
                      </m:sub>
                    </m:sSub>
                    <m:r>
                      <a:rPr lang="en-US" altLang="zh-CN" b="1">
                        <a:solidFill>
                          <a:srgbClr val="C00000"/>
                        </a:solidFill>
                        <a:latin typeface="Cambria Math" panose="02040503050406030204" pitchFamily="18" charset="0"/>
                        <a:ea typeface="+mn-ea"/>
                      </a:rPr>
                      <m:t>=</m:t>
                    </m:r>
                    <m:sSub>
                      <m:sSubPr>
                        <m:ctrlPr>
                          <a:rPr lang="zh-CN" altLang="zh-CN" i="1">
                            <a:solidFill>
                              <a:srgbClr val="C00000"/>
                            </a:solidFill>
                            <a:latin typeface="Cambria Math" panose="02040503050406030204" pitchFamily="18" charset="0"/>
                            <a:ea typeface="+mn-ea"/>
                          </a:rPr>
                        </m:ctrlPr>
                      </m:sSubPr>
                      <m:e>
                        <m:r>
                          <a:rPr lang="en-US" altLang="zh-CN" b="1" i="1">
                            <a:solidFill>
                              <a:srgbClr val="C00000"/>
                            </a:solidFill>
                            <a:latin typeface="Cambria Math" panose="02040503050406030204" pitchFamily="18" charset="0"/>
                            <a:ea typeface="+mn-ea"/>
                          </a:rPr>
                          <m:t>𝒕</m:t>
                        </m:r>
                      </m:e>
                      <m:sub>
                        <m:r>
                          <a:rPr lang="en-US" altLang="zh-CN" b="1" i="1">
                            <a:solidFill>
                              <a:srgbClr val="C00000"/>
                            </a:solidFill>
                            <a:latin typeface="Cambria Math" panose="02040503050406030204" pitchFamily="18" charset="0"/>
                            <a:ea typeface="+mn-ea"/>
                          </a:rPr>
                          <m:t>𝟏</m:t>
                        </m:r>
                      </m:sub>
                    </m:sSub>
                  </m:oMath>
                </a14:m>
                <a:r>
                  <a:rPr lang="en-US" altLang="zh-CN" dirty="0">
                    <a:latin typeface="Times New Roman" panose="02020503050405090304" pitchFamily="18" charset="0"/>
                    <a:ea typeface="+mn-ea"/>
                    <a:cs typeface="Times New Roman" panose="02020503050405090304" pitchFamily="18" charset="0"/>
                  </a:rPr>
                  <a:t>,</a:t>
                </a:r>
                <a:r>
                  <a:rPr lang="zh-CN" altLang="zh-CN" dirty="0">
                    <a:latin typeface="Times New Roman" panose="02020503050405090304" pitchFamily="18" charset="0"/>
                    <a:ea typeface="+mn-ea"/>
                    <a:cs typeface="Times New Roman" panose="02020503050405090304" pitchFamily="18" charset="0"/>
                  </a:rPr>
                  <a:t>使得</a:t>
                </a:r>
                <a14:m>
                  <m:oMath xmlns:m="http://schemas.openxmlformats.org/officeDocument/2006/math">
                    <m:r>
                      <a:rPr lang="en-US" altLang="zh-CN" b="1" i="1" smtClean="0">
                        <a:solidFill>
                          <a:srgbClr val="C00000"/>
                        </a:solidFill>
                        <a:latin typeface="Cambria Math" panose="02040503050406030204" pitchFamily="18" charset="0"/>
                        <a:ea typeface="+mn-ea"/>
                      </a:rPr>
                      <m:t>𝐦𝐢𝐧</m:t>
                    </m:r>
                    <m:nary>
                      <m:naryPr>
                        <m:chr m:val="∑"/>
                        <m:limLoc m:val="undOvr"/>
                        <m:ctrlPr>
                          <a:rPr lang="zh-CN" altLang="zh-CN" i="1">
                            <a:solidFill>
                              <a:srgbClr val="C00000"/>
                            </a:solidFill>
                            <a:latin typeface="Cambria Math" panose="02040503050406030204" pitchFamily="18" charset="0"/>
                            <a:ea typeface="+mn-ea"/>
                          </a:rPr>
                        </m:ctrlPr>
                      </m:naryPr>
                      <m:sub>
                        <m:r>
                          <a:rPr lang="en-US" altLang="zh-CN" b="1" i="1">
                            <a:solidFill>
                              <a:srgbClr val="C00000"/>
                            </a:solidFill>
                            <a:latin typeface="Cambria Math" panose="02040503050406030204" pitchFamily="18" charset="0"/>
                            <a:ea typeface="+mn-ea"/>
                          </a:rPr>
                          <m:t>𝐢</m:t>
                        </m:r>
                        <m:r>
                          <a:rPr lang="en-US" altLang="zh-CN" b="1">
                            <a:solidFill>
                              <a:srgbClr val="C00000"/>
                            </a:solidFill>
                            <a:latin typeface="Cambria Math" panose="02040503050406030204" pitchFamily="18" charset="0"/>
                            <a:ea typeface="+mn-ea"/>
                          </a:rPr>
                          <m:t>=</m:t>
                        </m:r>
                        <m:r>
                          <a:rPr lang="en-US" altLang="zh-CN" b="1" i="1">
                            <a:solidFill>
                              <a:srgbClr val="C00000"/>
                            </a:solidFill>
                            <a:latin typeface="Cambria Math" panose="02040503050406030204" pitchFamily="18" charset="0"/>
                            <a:ea typeface="+mn-ea"/>
                          </a:rPr>
                          <m:t>𝟏</m:t>
                        </m:r>
                      </m:sub>
                      <m:sup>
                        <m:r>
                          <a:rPr lang="en-US" altLang="zh-CN" b="1" i="1">
                            <a:solidFill>
                              <a:srgbClr val="C00000"/>
                            </a:solidFill>
                            <a:latin typeface="Cambria Math" panose="02040503050406030204" pitchFamily="18" charset="0"/>
                            <a:ea typeface="+mn-ea"/>
                          </a:rPr>
                          <m:t>𝐧</m:t>
                        </m:r>
                      </m:sup>
                      <m:e>
                        <m:sSub>
                          <m:sSubPr>
                            <m:ctrlPr>
                              <a:rPr lang="zh-CN" altLang="zh-CN" i="1">
                                <a:solidFill>
                                  <a:srgbClr val="C00000"/>
                                </a:solidFill>
                                <a:latin typeface="Cambria Math" panose="02040503050406030204" pitchFamily="18" charset="0"/>
                                <a:ea typeface="+mn-ea"/>
                              </a:rPr>
                            </m:ctrlPr>
                          </m:sSubPr>
                          <m:e>
                            <m:r>
                              <a:rPr lang="en-US" altLang="zh-CN" b="1" i="1">
                                <a:solidFill>
                                  <a:srgbClr val="C00000"/>
                                </a:solidFill>
                                <a:latin typeface="Cambria Math" panose="02040503050406030204" pitchFamily="18" charset="0"/>
                                <a:ea typeface="+mn-ea"/>
                              </a:rPr>
                              <m:t>𝐝</m:t>
                            </m:r>
                          </m:e>
                          <m:sub>
                            <m:sSub>
                              <m:sSubPr>
                                <m:ctrlPr>
                                  <a:rPr lang="zh-CN" altLang="zh-CN" i="1">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𝐢</m:t>
                                </m:r>
                              </m:sub>
                            </m:sSub>
                            <m:sSub>
                              <m:sSubPr>
                                <m:ctrlPr>
                                  <a:rPr lang="zh-CN" altLang="zh-CN" i="1">
                                    <a:solidFill>
                                      <a:srgbClr val="C00000"/>
                                    </a:solidFill>
                                    <a:latin typeface="Cambria Math" panose="02040503050406030204" pitchFamily="18" charset="0"/>
                                    <a:ea typeface="+mn-ea"/>
                                  </a:rPr>
                                </m:ctrlPr>
                              </m:sSubPr>
                              <m:e>
                                <m:r>
                                  <a:rPr lang="en-US" altLang="zh-CN" b="1" i="0" smtClean="0">
                                    <a:solidFill>
                                      <a:srgbClr val="C00000"/>
                                    </a:solidFill>
                                    <a:latin typeface="Cambria Math" panose="02040503050406030204" pitchFamily="18" charset="0"/>
                                    <a:ea typeface="+mn-ea"/>
                                  </a:rPr>
                                  <m:t>𝐭</m:t>
                                </m:r>
                              </m:e>
                              <m:sub>
                                <m:r>
                                  <a:rPr lang="en-US" altLang="zh-CN" b="1" i="1">
                                    <a:solidFill>
                                      <a:srgbClr val="C00000"/>
                                    </a:solidFill>
                                    <a:latin typeface="Cambria Math" panose="02040503050406030204" pitchFamily="18" charset="0"/>
                                    <a:ea typeface="+mn-ea"/>
                                  </a:rPr>
                                  <m:t>𝐢</m:t>
                                </m:r>
                                <m:r>
                                  <a:rPr lang="en-US" altLang="zh-CN" b="1">
                                    <a:solidFill>
                                      <a:srgbClr val="C00000"/>
                                    </a:solidFill>
                                    <a:latin typeface="Cambria Math" panose="02040503050406030204" pitchFamily="18" charset="0"/>
                                    <a:ea typeface="+mn-ea"/>
                                  </a:rPr>
                                  <m:t>+</m:t>
                                </m:r>
                                <m:r>
                                  <a:rPr lang="en-US" altLang="zh-CN" b="1" i="1">
                                    <a:solidFill>
                                      <a:srgbClr val="C00000"/>
                                    </a:solidFill>
                                    <a:latin typeface="Cambria Math" panose="02040503050406030204" pitchFamily="18" charset="0"/>
                                    <a:ea typeface="+mn-ea"/>
                                  </a:rPr>
                                  <m:t>𝟏</m:t>
                                </m:r>
                              </m:sub>
                            </m:sSub>
                          </m:sub>
                        </m:sSub>
                        <m:r>
                          <a:rPr lang="en-US" altLang="zh-CN" b="1" i="1" smtClean="0">
                            <a:solidFill>
                              <a:srgbClr val="C00000"/>
                            </a:solidFill>
                            <a:latin typeface="Cambria Math" panose="02040503050406030204" pitchFamily="18" charset="0"/>
                            <a:ea typeface="+mn-ea"/>
                          </a:rPr>
                          <m:t>.</m:t>
                        </m:r>
                      </m:e>
                    </m:nary>
                  </m:oMath>
                </a14:m>
                <a:endParaRPr lang="zh-CN" altLang="en-US" dirty="0">
                  <a:latin typeface="Times New Roman" panose="02020503050405090304" pitchFamily="18" charset="0"/>
                  <a:ea typeface="+mn-ea"/>
                  <a:cs typeface="Times New Roman" panose="0202050305040509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744616" y="3269402"/>
                <a:ext cx="10783355" cy="1017330"/>
              </a:xfrm>
              <a:prstGeom prst="rect">
                <a:avLst/>
              </a:prstGeom>
              <a:blipFill rotWithShape="1">
                <a:blip r:embed="rId5"/>
                <a:stretch>
                  <a:fillRect l="-4" t="-41" r="2" b="-95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44616" y="4789261"/>
                <a:ext cx="6571464" cy="1062214"/>
              </a:xfrm>
              <a:prstGeom prst="rect">
                <a:avLst/>
              </a:prstGeom>
              <a:noFill/>
            </p:spPr>
            <p:txBody>
              <a:bodyPr wrap="square" rtlCol="0">
                <a:spAutoFit/>
              </a:bodyPr>
              <a:lstStyle/>
              <a:p>
                <a:pPr>
                  <a:lnSpc>
                    <a:spcPct val="150000"/>
                  </a:lnSpc>
                </a:pPr>
                <a:r>
                  <a:rPr lang="zh-CN" altLang="en-US" dirty="0">
                    <a:solidFill>
                      <a:srgbClr val="C00000"/>
                    </a:solidFill>
                    <a:latin typeface="+mn-lt"/>
                    <a:ea typeface="微软雅黑" panose="020B0503020204020204" pitchFamily="34" charset="-122"/>
                  </a:rPr>
                  <a:t>问题求解的基本思想</a:t>
                </a:r>
                <a:r>
                  <a:rPr lang="zh-CN" altLang="en-US" dirty="0">
                    <a:latin typeface="+mn-lt"/>
                    <a:ea typeface="微软雅黑" panose="020B0503020204020204" pitchFamily="34" charset="-122"/>
                  </a:rPr>
                  <a:t>：</a:t>
                </a:r>
                <a:r>
                  <a:rPr lang="zh-CN" altLang="zh-CN" dirty="0">
                    <a:latin typeface="Times New Roman" panose="02020503050405090304" pitchFamily="18" charset="0"/>
                    <a:ea typeface="+mn-ea"/>
                    <a:cs typeface="Times New Roman" panose="02020503050405090304" pitchFamily="18" charset="0"/>
                  </a:rPr>
                  <a:t>在所有可能的访问顺序</a:t>
                </a:r>
                <a:r>
                  <a:rPr lang="en-US" altLang="zh-CN" dirty="0">
                    <a:latin typeface="Times New Roman" panose="02020503050405090304" pitchFamily="18" charset="0"/>
                    <a:ea typeface="+mn-ea"/>
                    <a:cs typeface="Times New Roman" panose="02020503050405090304" pitchFamily="18" charset="0"/>
                  </a:rPr>
                  <a:t>T</a:t>
                </a:r>
                <a:r>
                  <a:rPr lang="zh-CN" altLang="zh-CN" dirty="0">
                    <a:latin typeface="Times New Roman" panose="02020503050405090304" pitchFamily="18" charset="0"/>
                    <a:ea typeface="+mn-ea"/>
                    <a:cs typeface="Times New Roman" panose="02020503050405090304" pitchFamily="18" charset="0"/>
                  </a:rPr>
                  <a:t>构成的状态空间</a:t>
                </a:r>
                <a14:m>
                  <m:oMath xmlns:m="http://schemas.openxmlformats.org/officeDocument/2006/math">
                    <m:r>
                      <m:rPr>
                        <m:sty m:val="p"/>
                      </m:rPr>
                      <a:rPr lang="en-US" altLang="zh-CN">
                        <a:latin typeface="Cambria Math" panose="02040503050406030204" pitchFamily="18" charset="0"/>
                        <a:ea typeface="+mn-ea"/>
                      </a:rPr>
                      <m:t>Ω</m:t>
                    </m:r>
                  </m:oMath>
                </a14:m>
                <a:r>
                  <a:rPr lang="zh-CN" altLang="zh-CN" dirty="0">
                    <a:latin typeface="Times New Roman" panose="02020503050405090304" pitchFamily="18" charset="0"/>
                    <a:ea typeface="+mn-ea"/>
                    <a:cs typeface="Times New Roman" panose="02020503050405090304" pitchFamily="18" charset="0"/>
                  </a:rPr>
                  <a:t>上搜索使得</a:t>
                </a:r>
                <a14:m>
                  <m:oMath xmlns:m="http://schemas.openxmlformats.org/officeDocument/2006/math">
                    <m:nary>
                      <m:naryPr>
                        <m:chr m:val="∑"/>
                        <m:limLoc m:val="undOvr"/>
                        <m:ctrlPr>
                          <a:rPr lang="zh-CN" altLang="zh-CN" i="1">
                            <a:latin typeface="Cambria Math" panose="02040503050406030204" pitchFamily="18" charset="0"/>
                            <a:ea typeface="+mn-ea"/>
                          </a:rPr>
                        </m:ctrlPr>
                      </m:naryPr>
                      <m:sub>
                        <m:r>
                          <m:rPr>
                            <m:sty m:val="p"/>
                          </m:rPr>
                          <a:rPr lang="en-US" altLang="zh-CN">
                            <a:latin typeface="Cambria Math" panose="02040503050406030204" pitchFamily="18" charset="0"/>
                            <a:ea typeface="+mn-ea"/>
                          </a:rPr>
                          <m:t>i</m:t>
                        </m:r>
                        <m:r>
                          <a:rPr lang="en-US" altLang="zh-CN">
                            <a:latin typeface="Cambria Math" panose="02040503050406030204" pitchFamily="18" charset="0"/>
                            <a:ea typeface="+mn-ea"/>
                          </a:rPr>
                          <m:t>=1</m:t>
                        </m:r>
                      </m:sub>
                      <m:sup>
                        <m:r>
                          <m:rPr>
                            <m:sty m:val="p"/>
                          </m:rPr>
                          <a:rPr lang="en-US" altLang="zh-CN">
                            <a:latin typeface="Cambria Math" panose="02040503050406030204" pitchFamily="18" charset="0"/>
                            <a:ea typeface="+mn-ea"/>
                          </a:rPr>
                          <m:t>n</m:t>
                        </m:r>
                      </m:sup>
                      <m:e>
                        <m:sSub>
                          <m:sSubPr>
                            <m:ctrlPr>
                              <a:rPr lang="zh-CN" altLang="zh-CN" i="1">
                                <a:latin typeface="Cambria Math" panose="02040503050406030204" pitchFamily="18" charset="0"/>
                                <a:ea typeface="+mn-ea"/>
                              </a:rPr>
                            </m:ctrlPr>
                          </m:sSubPr>
                          <m:e>
                            <m:r>
                              <m:rPr>
                                <m:sty m:val="p"/>
                              </m:rPr>
                              <a:rPr lang="en-US" altLang="zh-CN">
                                <a:latin typeface="Cambria Math" panose="02040503050406030204" pitchFamily="18" charset="0"/>
                                <a:ea typeface="+mn-ea"/>
                              </a:rPr>
                              <m:t>d</m:t>
                            </m:r>
                          </m:e>
                          <m:sub>
                            <m:sSub>
                              <m:sSubPr>
                                <m:ctrlPr>
                                  <a:rPr lang="zh-CN" altLang="zh-CN" i="1">
                                    <a:latin typeface="Cambria Math" panose="02040503050406030204" pitchFamily="18" charset="0"/>
                                    <a:ea typeface="+mn-ea"/>
                                  </a:rPr>
                                </m:ctrlPr>
                              </m:sSubPr>
                              <m:e>
                                <m:r>
                                  <a:rPr lang="en-US" altLang="zh-CN" b="1" i="0" smtClean="0">
                                    <a:latin typeface="Cambria Math" panose="02040503050406030204" pitchFamily="18" charset="0"/>
                                    <a:ea typeface="+mn-ea"/>
                                  </a:rPr>
                                  <m:t>𝐭</m:t>
                                </m:r>
                              </m:e>
                              <m:sub>
                                <m:r>
                                  <m:rPr>
                                    <m:sty m:val="p"/>
                                  </m:rPr>
                                  <a:rPr lang="en-US" altLang="zh-CN">
                                    <a:latin typeface="Cambria Math" panose="02040503050406030204" pitchFamily="18" charset="0"/>
                                    <a:ea typeface="+mn-ea"/>
                                  </a:rPr>
                                  <m:t>i</m:t>
                                </m:r>
                              </m:sub>
                            </m:sSub>
                            <m:sSub>
                              <m:sSubPr>
                                <m:ctrlPr>
                                  <a:rPr lang="zh-CN" altLang="zh-CN" i="1">
                                    <a:latin typeface="Cambria Math" panose="02040503050406030204" pitchFamily="18" charset="0"/>
                                    <a:ea typeface="+mn-ea"/>
                                  </a:rPr>
                                </m:ctrlPr>
                              </m:sSubPr>
                              <m:e>
                                <m:r>
                                  <a:rPr lang="en-US" altLang="zh-CN" b="1" i="0" smtClean="0">
                                    <a:latin typeface="Cambria Math" panose="02040503050406030204" pitchFamily="18" charset="0"/>
                                    <a:ea typeface="+mn-ea"/>
                                  </a:rPr>
                                  <m:t>𝐭</m:t>
                                </m:r>
                              </m:e>
                              <m:sub>
                                <m:r>
                                  <m:rPr>
                                    <m:sty m:val="p"/>
                                  </m:rPr>
                                  <a:rPr lang="en-US" altLang="zh-CN">
                                    <a:latin typeface="Cambria Math" panose="02040503050406030204" pitchFamily="18" charset="0"/>
                                    <a:ea typeface="+mn-ea"/>
                                  </a:rPr>
                                  <m:t>i</m:t>
                                </m:r>
                                <m:r>
                                  <a:rPr lang="en-US" altLang="zh-CN">
                                    <a:latin typeface="Cambria Math" panose="02040503050406030204" pitchFamily="18" charset="0"/>
                                    <a:ea typeface="+mn-ea"/>
                                  </a:rPr>
                                  <m:t>+1</m:t>
                                </m:r>
                              </m:sub>
                            </m:sSub>
                          </m:sub>
                        </m:sSub>
                      </m:e>
                    </m:nary>
                  </m:oMath>
                </a14:m>
                <a:r>
                  <a:rPr lang="zh-CN" altLang="zh-CN" dirty="0">
                    <a:latin typeface="Times New Roman" panose="02020503050405090304" pitchFamily="18" charset="0"/>
                    <a:ea typeface="+mn-ea"/>
                    <a:cs typeface="Times New Roman" panose="02020503050405090304" pitchFamily="18" charset="0"/>
                  </a:rPr>
                  <a:t>最小的访问顺序</a:t>
                </a:r>
                <a14:m>
                  <m:oMath xmlns:m="http://schemas.openxmlformats.org/officeDocument/2006/math">
                    <m:sSub>
                      <m:sSubPr>
                        <m:ctrlPr>
                          <a:rPr lang="zh-CN" altLang="zh-CN" i="1">
                            <a:latin typeface="Cambria Math" panose="02040503050406030204" pitchFamily="18" charset="0"/>
                            <a:ea typeface="+mn-ea"/>
                          </a:rPr>
                        </m:ctrlPr>
                      </m:sSubPr>
                      <m:e>
                        <m:r>
                          <m:rPr>
                            <m:sty m:val="p"/>
                          </m:rPr>
                          <a:rPr lang="en-US" altLang="zh-CN" i="1">
                            <a:latin typeface="Cambria Math" panose="02040503050406030204" pitchFamily="18" charset="0"/>
                            <a:ea typeface="+mn-ea"/>
                          </a:rPr>
                          <m:t>T</m:t>
                        </m:r>
                      </m:e>
                      <m:sub>
                        <m:r>
                          <m:rPr>
                            <m:sty m:val="p"/>
                          </m:rPr>
                          <a:rPr lang="en-US" altLang="zh-CN">
                            <a:latin typeface="Cambria Math" panose="02040503050406030204" pitchFamily="18" charset="0"/>
                            <a:ea typeface="+mn-ea"/>
                          </a:rPr>
                          <m:t>opt</m:t>
                        </m:r>
                      </m:sub>
                    </m:sSub>
                  </m:oMath>
                </a14:m>
                <a:r>
                  <a:rPr lang="zh-CN" altLang="zh-CN" dirty="0">
                    <a:latin typeface="Times New Roman" panose="02020503050405090304" pitchFamily="18" charset="0"/>
                    <a:ea typeface="+mn-ea"/>
                    <a:cs typeface="Times New Roman" panose="02020503050405090304" pitchFamily="18" charset="0"/>
                  </a:rPr>
                  <a:t>。</a:t>
                </a:r>
                <a:endParaRPr lang="zh-CN" altLang="en-US" dirty="0">
                  <a:latin typeface="Times New Roman" panose="02020503050405090304" pitchFamily="18" charset="0"/>
                  <a:ea typeface="+mn-ea"/>
                  <a:cs typeface="Times New Roman" panose="0202050305040509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744616" y="4789261"/>
                <a:ext cx="6571464" cy="1062214"/>
              </a:xfrm>
              <a:prstGeom prst="rect">
                <a:avLst/>
              </a:prstGeom>
              <a:blipFill rotWithShape="1">
                <a:blip r:embed="rId6"/>
                <a:stretch>
                  <a:fillRect l="-6" t="-9" r="4" b="-4369"/>
                </a:stretch>
              </a:blipFill>
            </p:spPr>
            <p:txBody>
              <a:bodyPr/>
              <a:lstStyle/>
              <a:p>
                <a:r>
                  <a:rPr lang="zh-CN" altLang="en-US">
                    <a:noFill/>
                  </a:rPr>
                  <a:t> </a:t>
                </a:r>
              </a:p>
            </p:txBody>
          </p:sp>
        </mc:Fallback>
      </mc:AlternateContent>
      <p:sp>
        <p:nvSpPr>
          <p:cNvPr id="5" name="下箭头 4"/>
          <p:cNvSpPr/>
          <p:nvPr/>
        </p:nvSpPr>
        <p:spPr bwMode="auto">
          <a:xfrm>
            <a:off x="4530436" y="2971800"/>
            <a:ext cx="526473" cy="464127"/>
          </a:xfrm>
          <a:prstGeom prst="downArrow">
            <a:avLst/>
          </a:prstGeom>
          <a:solidFill>
            <a:schemeClr val="accent2"/>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p:txBody>
      </p:sp>
      <p:sp>
        <p:nvSpPr>
          <p:cNvPr id="29" name="下箭头 28"/>
          <p:cNvSpPr/>
          <p:nvPr/>
        </p:nvSpPr>
        <p:spPr bwMode="auto">
          <a:xfrm>
            <a:off x="4530435" y="4379937"/>
            <a:ext cx="526473" cy="464127"/>
          </a:xfrm>
          <a:prstGeom prst="downArrow">
            <a:avLst/>
          </a:prstGeom>
          <a:solidFill>
            <a:schemeClr val="accent2"/>
          </a:solid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p:txBody>
      </p:sp>
      <p:grpSp>
        <p:nvGrpSpPr>
          <p:cNvPr id="30" name="Group 35"/>
          <p:cNvGrpSpPr/>
          <p:nvPr/>
        </p:nvGrpSpPr>
        <p:grpSpPr bwMode="auto">
          <a:xfrm>
            <a:off x="5112327" y="2902804"/>
            <a:ext cx="1530928" cy="533123"/>
            <a:chOff x="4695" y="2178"/>
            <a:chExt cx="649" cy="497"/>
          </a:xfrm>
        </p:grpSpPr>
        <p:sp>
          <p:nvSpPr>
            <p:cNvPr id="31" name="AutoShape 39"/>
            <p:cNvSpPr>
              <a:spLocks noChangeArrowheads="1"/>
            </p:cNvSpPr>
            <p:nvPr/>
          </p:nvSpPr>
          <p:spPr bwMode="gray">
            <a:xfrm>
              <a:off x="4695" y="2178"/>
              <a:ext cx="649" cy="497"/>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defRPr/>
              </a:pPr>
              <a:endParaRPr kumimoji="0" lang="zh-CN" altLang="en-US" sz="1600">
                <a:solidFill>
                  <a:srgbClr val="000000"/>
                </a:solidFill>
                <a:latin typeface="微软雅黑" panose="020B0503020204020204" pitchFamily="34" charset="-122"/>
                <a:ea typeface="微软雅黑" panose="020B0503020204020204" pitchFamily="34" charset="-122"/>
              </a:endParaRPr>
            </a:p>
          </p:txBody>
        </p:sp>
        <p:sp>
          <p:nvSpPr>
            <p:cNvPr id="32" name="Oval 40"/>
            <p:cNvSpPr>
              <a:spLocks noChangeArrowheads="1"/>
            </p:cNvSpPr>
            <p:nvPr/>
          </p:nvSpPr>
          <p:spPr bwMode="gray">
            <a:xfrm>
              <a:off x="4749" y="2219"/>
              <a:ext cx="541" cy="414"/>
            </a:xfrm>
            <a:prstGeom prst="ellipse">
              <a:avLst/>
            </a:prstGeom>
            <a:solidFill>
              <a:srgbClr val="333300"/>
            </a:solidFill>
            <a:ln w="28575" algn="ctr">
              <a:solidFill>
                <a:srgbClr val="FFFFFF"/>
              </a:solidFill>
              <a:round/>
            </a:ln>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endParaRPr kumimoji="0" lang="zh-CN" altLang="en-US" sz="1600">
                <a:solidFill>
                  <a:srgbClr val="000000"/>
                </a:solidFill>
                <a:latin typeface="微软雅黑" panose="020B0503020204020204" pitchFamily="34" charset="-122"/>
                <a:ea typeface="微软雅黑" panose="020B0503020204020204" pitchFamily="34" charset="-122"/>
              </a:endParaRPr>
            </a:p>
          </p:txBody>
        </p:sp>
        <p:sp>
          <p:nvSpPr>
            <p:cNvPr id="33" name="Text Box 84"/>
            <p:cNvSpPr txBox="1">
              <a:spLocks noChangeArrowheads="1"/>
            </p:cNvSpPr>
            <p:nvPr/>
          </p:nvSpPr>
          <p:spPr bwMode="auto">
            <a:xfrm>
              <a:off x="4752" y="2244"/>
              <a:ext cx="535"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spcBef>
                  <a:spcPct val="35000"/>
                </a:spcBef>
              </a:pPr>
              <a:r>
                <a:rPr kumimoji="0" lang="zh-CN" altLang="en-US" sz="1600" dirty="0">
                  <a:solidFill>
                    <a:srgbClr val="FFFFFF"/>
                  </a:solidFill>
                  <a:latin typeface="微软雅黑" panose="020B0503020204020204" pitchFamily="34" charset="-122"/>
                  <a:ea typeface="微软雅黑" panose="020B0503020204020204" pitchFamily="34" charset="-122"/>
                </a:rPr>
                <a:t>进一步简化</a:t>
              </a:r>
            </a:p>
          </p:txBody>
        </p:sp>
      </p:grpSp>
      <p:grpSp>
        <p:nvGrpSpPr>
          <p:cNvPr id="34" name="Group 35"/>
          <p:cNvGrpSpPr/>
          <p:nvPr/>
        </p:nvGrpSpPr>
        <p:grpSpPr bwMode="auto">
          <a:xfrm>
            <a:off x="3063729" y="5843566"/>
            <a:ext cx="1044144" cy="845119"/>
            <a:chOff x="4695" y="2178"/>
            <a:chExt cx="649" cy="497"/>
          </a:xfrm>
        </p:grpSpPr>
        <p:sp>
          <p:nvSpPr>
            <p:cNvPr id="35" name="AutoShape 39"/>
            <p:cNvSpPr>
              <a:spLocks noChangeArrowheads="1"/>
            </p:cNvSpPr>
            <p:nvPr/>
          </p:nvSpPr>
          <p:spPr bwMode="gray">
            <a:xfrm>
              <a:off x="4695" y="2178"/>
              <a:ext cx="649" cy="497"/>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defRPr/>
              </a:pPr>
              <a:endParaRPr kumimoji="0" lang="zh-CN" altLang="en-US" sz="1600">
                <a:solidFill>
                  <a:srgbClr val="000000"/>
                </a:solidFill>
                <a:latin typeface="微软雅黑" panose="020B0503020204020204" pitchFamily="34" charset="-122"/>
                <a:ea typeface="微软雅黑" panose="020B0503020204020204" pitchFamily="34" charset="-122"/>
              </a:endParaRPr>
            </a:p>
          </p:txBody>
        </p:sp>
        <p:sp>
          <p:nvSpPr>
            <p:cNvPr id="36" name="Oval 40"/>
            <p:cNvSpPr>
              <a:spLocks noChangeArrowheads="1"/>
            </p:cNvSpPr>
            <p:nvPr/>
          </p:nvSpPr>
          <p:spPr bwMode="gray">
            <a:xfrm>
              <a:off x="4749" y="2219"/>
              <a:ext cx="541" cy="414"/>
            </a:xfrm>
            <a:prstGeom prst="ellipse">
              <a:avLst/>
            </a:prstGeom>
            <a:solidFill>
              <a:srgbClr val="333300"/>
            </a:solidFill>
            <a:ln w="28575" algn="ctr">
              <a:solidFill>
                <a:srgbClr val="FFFFFF"/>
              </a:solidFill>
              <a:round/>
            </a:ln>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endParaRPr kumimoji="0" lang="zh-CN" altLang="en-US" sz="1600">
                <a:solidFill>
                  <a:srgbClr val="000000"/>
                </a:solidFill>
                <a:latin typeface="微软雅黑" panose="020B0503020204020204" pitchFamily="34" charset="-122"/>
                <a:ea typeface="微软雅黑" panose="020B0503020204020204" pitchFamily="34" charset="-122"/>
              </a:endParaRPr>
            </a:p>
          </p:txBody>
        </p:sp>
        <p:sp>
          <p:nvSpPr>
            <p:cNvPr id="37" name="Text Box 84"/>
            <p:cNvSpPr txBox="1">
              <a:spLocks noChangeArrowheads="1"/>
            </p:cNvSpPr>
            <p:nvPr/>
          </p:nvSpPr>
          <p:spPr bwMode="auto">
            <a:xfrm>
              <a:off x="4752" y="2268"/>
              <a:ext cx="53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spcBef>
                  <a:spcPct val="35000"/>
                </a:spcBef>
              </a:pPr>
              <a:r>
                <a:rPr kumimoji="0" lang="zh-CN" altLang="en-US" sz="1600" dirty="0">
                  <a:solidFill>
                    <a:srgbClr val="FFFFFF"/>
                  </a:solidFill>
                  <a:latin typeface="微软雅黑" panose="020B0503020204020204" pitchFamily="34" charset="-122"/>
                  <a:ea typeface="微软雅黑" panose="020B0503020204020204" pitchFamily="34" charset="-122"/>
                </a:rPr>
                <a:t>蛮干</a:t>
              </a:r>
              <a:r>
                <a:rPr kumimoji="0" lang="en-US" altLang="zh-CN" sz="1600" dirty="0">
                  <a:solidFill>
                    <a:srgbClr val="FFFFFF"/>
                  </a:solidFill>
                  <a:latin typeface="微软雅黑" panose="020B0503020204020204" pitchFamily="34" charset="-122"/>
                  <a:ea typeface="微软雅黑" panose="020B0503020204020204" pitchFamily="34" charset="-122"/>
                </a:rPr>
                <a:t>/</a:t>
              </a:r>
              <a:r>
                <a:rPr kumimoji="0" lang="zh-CN" altLang="en-US" sz="1600" dirty="0">
                  <a:solidFill>
                    <a:srgbClr val="FFFFFF"/>
                  </a:solidFill>
                  <a:latin typeface="微软雅黑" panose="020B0503020204020204" pitchFamily="34" charset="-122"/>
                  <a:ea typeface="微软雅黑" panose="020B0503020204020204" pitchFamily="34" charset="-122"/>
                </a:rPr>
                <a:t>遍历</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4" name="Group 12"/>
          <p:cNvGrpSpPr/>
          <p:nvPr/>
        </p:nvGrpSpPr>
        <p:grpSpPr bwMode="auto">
          <a:xfrm>
            <a:off x="6079670" y="3041062"/>
            <a:ext cx="3500437" cy="3025775"/>
            <a:chOff x="2307" y="1460"/>
            <a:chExt cx="3275" cy="2601"/>
          </a:xfrm>
        </p:grpSpPr>
        <p:pic>
          <p:nvPicPr>
            <p:cNvPr id="5632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7" y="1460"/>
              <a:ext cx="3258" cy="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0" name="Text Box 11"/>
            <p:cNvSpPr txBox="1">
              <a:spLocks noChangeArrowheads="1"/>
            </p:cNvSpPr>
            <p:nvPr/>
          </p:nvSpPr>
          <p:spPr bwMode="auto">
            <a:xfrm>
              <a:off x="4568" y="1520"/>
              <a:ext cx="1014"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200">
                  <a:solidFill>
                    <a:srgbClr val="FF5050"/>
                  </a:solidFill>
                  <a:ea typeface="华文宋体" panose="02010600040101010101" pitchFamily="2" charset="-122"/>
                </a:rPr>
                <a:t>所有路径组合及其长度</a:t>
              </a:r>
            </a:p>
          </p:txBody>
        </p:sp>
      </p:grpSp>
      <p:grpSp>
        <p:nvGrpSpPr>
          <p:cNvPr id="56325" name="Group 13"/>
          <p:cNvGrpSpPr/>
          <p:nvPr/>
        </p:nvGrpSpPr>
        <p:grpSpPr bwMode="auto">
          <a:xfrm>
            <a:off x="2762251" y="3694415"/>
            <a:ext cx="2684463" cy="1890712"/>
            <a:chOff x="3389" y="394"/>
            <a:chExt cx="1759" cy="1048"/>
          </a:xfrm>
        </p:grpSpPr>
        <p:pic>
          <p:nvPicPr>
            <p:cNvPr id="5632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9" y="394"/>
              <a:ext cx="1732" cy="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Text Box 9"/>
            <p:cNvSpPr txBox="1">
              <a:spLocks noChangeArrowheads="1"/>
            </p:cNvSpPr>
            <p:nvPr/>
          </p:nvSpPr>
          <p:spPr bwMode="auto">
            <a:xfrm>
              <a:off x="4311" y="409"/>
              <a:ext cx="83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200">
                  <a:solidFill>
                    <a:srgbClr val="FF5050"/>
                  </a:solidFill>
                  <a:ea typeface="华文宋体" panose="02010600040101010101" pitchFamily="2" charset="-122"/>
                </a:rPr>
                <a:t>城市之间的距离</a:t>
              </a:r>
            </a:p>
          </p:txBody>
        </p:sp>
      </p:grpSp>
      <p:sp>
        <p:nvSpPr>
          <p:cNvPr id="10"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问题：算法策略</a:t>
            </a:r>
          </a:p>
        </p:txBody>
      </p:sp>
      <p:sp>
        <p:nvSpPr>
          <p:cNvPr id="11" name="圆角矩形 10"/>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蛮干</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遍历是基本的算法策略</a:t>
            </a:r>
          </a:p>
        </p:txBody>
      </p:sp>
      <p:sp>
        <p:nvSpPr>
          <p:cNvPr id="2" name="矩形 1"/>
          <p:cNvSpPr/>
          <p:nvPr/>
        </p:nvSpPr>
        <p:spPr>
          <a:xfrm>
            <a:off x="707569" y="1966241"/>
            <a:ext cx="10673793" cy="1052596"/>
          </a:xfrm>
          <a:prstGeom prst="rect">
            <a:avLst/>
          </a:prstGeom>
        </p:spPr>
        <p:txBody>
          <a:bodyPr wrap="square">
            <a:spAutoFit/>
          </a:bodyPr>
          <a:lstStyle/>
          <a:p>
            <a:pPr algn="just" eaLnBrk="1" hangingPunct="1">
              <a:lnSpc>
                <a:spcPct val="130000"/>
              </a:lnSpc>
              <a:buClr>
                <a:srgbClr val="0066FF"/>
              </a:buClr>
            </a:pPr>
            <a:r>
              <a:rPr lang="zh-CN" altLang="en-US" sz="2800" dirty="0">
                <a:solidFill>
                  <a:schemeClr val="accent2"/>
                </a:solidFill>
                <a:latin typeface="微软雅黑" panose="020B0503020204020204" pitchFamily="34" charset="-122"/>
                <a:ea typeface="微软雅黑" panose="020B0503020204020204" pitchFamily="34" charset="-122"/>
                <a:cs typeface="Times New Roman" panose="02020503050405090304" pitchFamily="18" charset="0"/>
              </a:rPr>
              <a:t>遍历算法</a:t>
            </a:r>
            <a:r>
              <a:rPr lang="zh-CN" altLang="en-US" b="0" dirty="0">
                <a:solidFill>
                  <a:srgbClr val="000000"/>
                </a:solidFill>
                <a:latin typeface="Times New Roman" panose="02020503050405090304" pitchFamily="18" charset="0"/>
                <a:cs typeface="Times New Roman" panose="02020503050405090304" pitchFamily="18" charset="0"/>
              </a:rPr>
              <a:t>求解</a:t>
            </a:r>
            <a:r>
              <a:rPr lang="en-US" altLang="zh-CN" b="0" dirty="0">
                <a:solidFill>
                  <a:srgbClr val="000000"/>
                </a:solidFill>
                <a:latin typeface="Times New Roman" panose="02020503050405090304" pitchFamily="18" charset="0"/>
                <a:cs typeface="Times New Roman" panose="02020503050405090304" pitchFamily="18" charset="0"/>
              </a:rPr>
              <a:t>TSP</a:t>
            </a:r>
            <a:r>
              <a:rPr lang="zh-CN" altLang="en-US" b="0" dirty="0">
                <a:solidFill>
                  <a:srgbClr val="000000"/>
                </a:solidFill>
                <a:latin typeface="Times New Roman" panose="02020503050405090304" pitchFamily="18" charset="0"/>
                <a:cs typeface="Times New Roman" panose="02020503050405090304" pitchFamily="18" charset="0"/>
              </a:rPr>
              <a:t>问题：列出每一条可供选择的路线，计算出每条路线的总里程，最后从中选出一条最短的路线。</a:t>
            </a:r>
            <a:endParaRPr lang="en-US" altLang="zh-CN" b="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7635" name="Text Box 5"/>
          <p:cNvSpPr txBox="1">
            <a:spLocks noChangeArrowheads="1"/>
          </p:cNvSpPr>
          <p:nvPr/>
        </p:nvSpPr>
        <p:spPr bwMode="auto">
          <a:xfrm>
            <a:off x="836041" y="1887350"/>
            <a:ext cx="10705203"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rgbClr val="0066FF"/>
              </a:buCl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组合爆炸</a:t>
            </a:r>
          </a:p>
          <a:p>
            <a:pPr algn="just" eaLnBrk="1" hangingPunct="1">
              <a:lnSpc>
                <a:spcPct val="130000"/>
              </a:lnSpc>
              <a:buClr>
                <a:srgbClr val="0066FF"/>
              </a:buClr>
              <a:buFont typeface="Wingdings" panose="05000000000000000000" pitchFamily="2" charset="2"/>
              <a:buChar char="ü"/>
            </a:pPr>
            <a:r>
              <a:rPr lang="zh-CN" altLang="en-US" b="0" dirty="0">
                <a:solidFill>
                  <a:srgbClr val="000000"/>
                </a:solidFill>
                <a:latin typeface="Times New Roman" panose="02020503050405090304" pitchFamily="18" charset="0"/>
                <a:cs typeface="Times New Roman" panose="02020503050405090304" pitchFamily="18" charset="0"/>
              </a:rPr>
              <a:t>路径组合数目：</a:t>
            </a:r>
            <a:r>
              <a:rPr lang="en-US" altLang="zh-CN" b="0" dirty="0">
                <a:solidFill>
                  <a:srgbClr val="000000"/>
                </a:solidFill>
                <a:latin typeface="Times New Roman" panose="02020503050405090304" pitchFamily="18" charset="0"/>
                <a:cs typeface="Times New Roman" panose="02020503050405090304" pitchFamily="18" charset="0"/>
              </a:rPr>
              <a:t>(n-1)!</a:t>
            </a:r>
          </a:p>
          <a:p>
            <a:pPr algn="just" eaLnBrk="1" hangingPunct="1">
              <a:lnSpc>
                <a:spcPct val="130000"/>
              </a:lnSpc>
              <a:buClr>
                <a:srgbClr val="0066FF"/>
              </a:buClr>
              <a:buFont typeface="Wingdings" panose="05000000000000000000" pitchFamily="2" charset="2"/>
              <a:buChar char="ü"/>
            </a:pPr>
            <a:r>
              <a:rPr lang="en-US" altLang="zh-CN" b="0" dirty="0">
                <a:solidFill>
                  <a:srgbClr val="000000"/>
                </a:solidFill>
                <a:latin typeface="Times New Roman" panose="02020503050405090304" pitchFamily="18" charset="0"/>
                <a:cs typeface="Times New Roman" panose="02020503050405090304" pitchFamily="18" charset="0"/>
              </a:rPr>
              <a:t>20</a:t>
            </a:r>
            <a:r>
              <a:rPr lang="zh-CN" altLang="en-US" b="0" dirty="0">
                <a:solidFill>
                  <a:srgbClr val="000000"/>
                </a:solidFill>
                <a:latin typeface="Times New Roman" panose="02020503050405090304" pitchFamily="18" charset="0"/>
                <a:cs typeface="Times New Roman" panose="02020503050405090304" pitchFamily="18" charset="0"/>
              </a:rPr>
              <a:t>个城市，遍历总数</a:t>
            </a:r>
            <a:r>
              <a:rPr lang="en-US" altLang="zh-CN" b="0" dirty="0">
                <a:solidFill>
                  <a:srgbClr val="000000"/>
                </a:solidFill>
                <a:latin typeface="Times New Roman" panose="02020503050405090304" pitchFamily="18" charset="0"/>
                <a:cs typeface="Times New Roman" panose="02020503050405090304" pitchFamily="18" charset="0"/>
              </a:rPr>
              <a:t>1.216×10</a:t>
            </a:r>
            <a:r>
              <a:rPr lang="en-US" altLang="zh-CN" b="0" baseline="30000" dirty="0">
                <a:solidFill>
                  <a:srgbClr val="000000"/>
                </a:solidFill>
                <a:latin typeface="Times New Roman" panose="02020503050405090304" pitchFamily="18" charset="0"/>
                <a:cs typeface="Times New Roman" panose="02020503050405090304" pitchFamily="18" charset="0"/>
              </a:rPr>
              <a:t>17</a:t>
            </a:r>
            <a:endParaRPr lang="en-US" altLang="zh-CN"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ü"/>
            </a:pPr>
            <a:r>
              <a:rPr lang="zh-CN" altLang="en-US" b="0" dirty="0">
                <a:solidFill>
                  <a:srgbClr val="000000"/>
                </a:solidFill>
                <a:latin typeface="Times New Roman" panose="02020503050405090304" pitchFamily="18" charset="0"/>
                <a:cs typeface="Times New Roman" panose="02020503050405090304" pitchFamily="18" charset="0"/>
              </a:rPr>
              <a:t>计算机以每秒检索</a:t>
            </a:r>
            <a:r>
              <a:rPr lang="en-US" altLang="zh-CN" b="0" dirty="0">
                <a:solidFill>
                  <a:srgbClr val="000000"/>
                </a:solidFill>
                <a:latin typeface="Times New Roman" panose="02020503050405090304" pitchFamily="18" charset="0"/>
                <a:cs typeface="Times New Roman" panose="02020503050405090304" pitchFamily="18" charset="0"/>
              </a:rPr>
              <a:t>1000</a:t>
            </a:r>
            <a:r>
              <a:rPr lang="zh-CN" altLang="en-US" b="0" dirty="0">
                <a:solidFill>
                  <a:srgbClr val="000000"/>
                </a:solidFill>
                <a:latin typeface="Times New Roman" panose="02020503050405090304" pitchFamily="18" charset="0"/>
                <a:cs typeface="Times New Roman" panose="02020503050405090304" pitchFamily="18" charset="0"/>
              </a:rPr>
              <a:t>万条路线的计算速度，需</a:t>
            </a:r>
            <a:r>
              <a:rPr lang="en-US" altLang="zh-CN" b="0" dirty="0">
                <a:solidFill>
                  <a:srgbClr val="000000"/>
                </a:solidFill>
                <a:latin typeface="Times New Roman" panose="02020503050405090304" pitchFamily="18" charset="0"/>
                <a:cs typeface="Times New Roman" panose="02020503050405090304" pitchFamily="18" charset="0"/>
              </a:rPr>
              <a:t>386</a:t>
            </a:r>
            <a:r>
              <a:rPr lang="zh-CN" altLang="en-US" b="0" dirty="0">
                <a:solidFill>
                  <a:srgbClr val="000000"/>
                </a:solidFill>
                <a:latin typeface="Times New Roman" panose="02020503050405090304" pitchFamily="18" charset="0"/>
                <a:cs typeface="Times New Roman" panose="02020503050405090304" pitchFamily="18" charset="0"/>
              </a:rPr>
              <a:t>年。</a:t>
            </a:r>
            <a:endParaRPr lang="en-US" altLang="zh-CN" b="0" dirty="0">
              <a:solidFill>
                <a:srgbClr val="000000"/>
              </a:solidFill>
              <a:latin typeface="Times New Roman" panose="02020503050405090304" pitchFamily="18" charset="0"/>
              <a:cs typeface="Times New Roman" panose="02020503050405090304" pitchFamily="18" charset="0"/>
            </a:endParaRPr>
          </a:p>
        </p:txBody>
      </p:sp>
      <p:grpSp>
        <p:nvGrpSpPr>
          <p:cNvPr id="56324" name="Group 12"/>
          <p:cNvGrpSpPr/>
          <p:nvPr/>
        </p:nvGrpSpPr>
        <p:grpSpPr bwMode="auto">
          <a:xfrm>
            <a:off x="7880926" y="3174412"/>
            <a:ext cx="3500437" cy="3025775"/>
            <a:chOff x="2307" y="1460"/>
            <a:chExt cx="3275" cy="2601"/>
          </a:xfrm>
        </p:grpSpPr>
        <p:pic>
          <p:nvPicPr>
            <p:cNvPr id="5632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7" y="1460"/>
              <a:ext cx="3258" cy="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0" name="Text Box 11"/>
            <p:cNvSpPr txBox="1">
              <a:spLocks noChangeArrowheads="1"/>
            </p:cNvSpPr>
            <p:nvPr/>
          </p:nvSpPr>
          <p:spPr bwMode="auto">
            <a:xfrm>
              <a:off x="4568" y="1520"/>
              <a:ext cx="1014"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200">
                  <a:solidFill>
                    <a:srgbClr val="FF5050"/>
                  </a:solidFill>
                  <a:ea typeface="华文宋体" panose="02010600040101010101" pitchFamily="2" charset="-122"/>
                </a:rPr>
                <a:t>所有路径组合及其长度</a:t>
              </a:r>
            </a:p>
          </p:txBody>
        </p:sp>
      </p:grpSp>
      <p:grpSp>
        <p:nvGrpSpPr>
          <p:cNvPr id="56325" name="Group 13"/>
          <p:cNvGrpSpPr/>
          <p:nvPr/>
        </p:nvGrpSpPr>
        <p:grpSpPr bwMode="auto">
          <a:xfrm>
            <a:off x="4563507" y="3827765"/>
            <a:ext cx="2684463" cy="1890712"/>
            <a:chOff x="3389" y="394"/>
            <a:chExt cx="1759" cy="1048"/>
          </a:xfrm>
        </p:grpSpPr>
        <p:pic>
          <p:nvPicPr>
            <p:cNvPr id="5632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9" y="394"/>
              <a:ext cx="1732" cy="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Text Box 9"/>
            <p:cNvSpPr txBox="1">
              <a:spLocks noChangeArrowheads="1"/>
            </p:cNvSpPr>
            <p:nvPr/>
          </p:nvSpPr>
          <p:spPr bwMode="auto">
            <a:xfrm>
              <a:off x="4311" y="409"/>
              <a:ext cx="83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200">
                  <a:solidFill>
                    <a:srgbClr val="FF5050"/>
                  </a:solidFill>
                  <a:ea typeface="华文宋体" panose="02010600040101010101" pitchFamily="2" charset="-122"/>
                </a:rPr>
                <a:t>城市之间的距离</a:t>
              </a:r>
            </a:p>
          </p:txBody>
        </p:sp>
      </p:grpSp>
      <p:sp>
        <p:nvSpPr>
          <p:cNvPr id="10"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问题：算法策略</a:t>
            </a:r>
          </a:p>
        </p:txBody>
      </p:sp>
      <p:sp>
        <p:nvSpPr>
          <p:cNvPr id="11" name="圆角矩形 10"/>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蛮干</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遍历策略会带来怎样的问题？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17635">
                                            <p:txEl>
                                              <p:pRg st="0" end="0"/>
                                            </p:txEl>
                                          </p:spTgt>
                                        </p:tgtEl>
                                        <p:attrNameLst>
                                          <p:attrName>style.visibility</p:attrName>
                                        </p:attrNameLst>
                                      </p:cBhvr>
                                      <p:to>
                                        <p:strVal val="visible"/>
                                      </p:to>
                                    </p:set>
                                    <p:anim calcmode="lin" valueType="num">
                                      <p:cBhvr additive="base">
                                        <p:cTn id="7" dur="500" fill="hold"/>
                                        <p:tgtEl>
                                          <p:spTgt spid="2117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1763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17635">
                                            <p:txEl>
                                              <p:pRg st="1" end="1"/>
                                            </p:txEl>
                                          </p:spTgt>
                                        </p:tgtEl>
                                        <p:attrNameLst>
                                          <p:attrName>style.visibility</p:attrName>
                                        </p:attrNameLst>
                                      </p:cBhvr>
                                      <p:to>
                                        <p:strVal val="visible"/>
                                      </p:to>
                                    </p:set>
                                    <p:anim calcmode="lin" valueType="num">
                                      <p:cBhvr additive="base">
                                        <p:cTn id="11" dur="500" fill="hold"/>
                                        <p:tgtEl>
                                          <p:spTgt spid="211763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1763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17635">
                                            <p:txEl>
                                              <p:pRg st="2" end="2"/>
                                            </p:txEl>
                                          </p:spTgt>
                                        </p:tgtEl>
                                        <p:attrNameLst>
                                          <p:attrName>style.visibility</p:attrName>
                                        </p:attrNameLst>
                                      </p:cBhvr>
                                      <p:to>
                                        <p:strVal val="visible"/>
                                      </p:to>
                                    </p:set>
                                    <p:anim calcmode="lin" valueType="num">
                                      <p:cBhvr additive="base">
                                        <p:cTn id="15" dur="500" fill="hold"/>
                                        <p:tgtEl>
                                          <p:spTgt spid="211763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1763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117635">
                                            <p:txEl>
                                              <p:pRg st="3" end="3"/>
                                            </p:txEl>
                                          </p:spTgt>
                                        </p:tgtEl>
                                        <p:attrNameLst>
                                          <p:attrName>style.visibility</p:attrName>
                                        </p:attrNameLst>
                                      </p:cBhvr>
                                      <p:to>
                                        <p:strVal val="visible"/>
                                      </p:to>
                                    </p:set>
                                    <p:anim calcmode="lin" valueType="num">
                                      <p:cBhvr additive="base">
                                        <p:cTn id="19" dur="500" fill="hold"/>
                                        <p:tgtEl>
                                          <p:spTgt spid="211763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176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5"/>
          <p:cNvSpPr txBox="1">
            <a:spLocks noChangeArrowheads="1"/>
          </p:cNvSpPr>
          <p:nvPr/>
        </p:nvSpPr>
        <p:spPr bwMode="auto">
          <a:xfrm>
            <a:off x="707570" y="2038206"/>
            <a:ext cx="1076397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ts val="2800"/>
              </a:lnSpc>
              <a:buClr>
                <a:srgbClr val="0066FF"/>
              </a:buClr>
              <a:buFont typeface="Wingdings" panose="05000000000000000000" pitchFamily="2" charset="2"/>
              <a:buChar char="u"/>
            </a:pPr>
            <a:r>
              <a:rPr lang="en-US" altLang="zh-CN" sz="1600" b="0" dirty="0"/>
              <a:t>TSP</a:t>
            </a:r>
            <a:r>
              <a:rPr lang="zh-CN" altLang="en-US" sz="2400" dirty="0">
                <a:latin typeface="微软雅黑" panose="020B0503020204020204" pitchFamily="34" charset="-122"/>
                <a:ea typeface="微软雅黑" panose="020B0503020204020204" pitchFamily="34" charset="-122"/>
              </a:rPr>
              <a:t>问题的难解性</a:t>
            </a:r>
            <a:r>
              <a:rPr lang="zh-CN" altLang="en-US" sz="1600" b="0" dirty="0"/>
              <a:t>：</a:t>
            </a:r>
            <a:r>
              <a:rPr lang="zh-CN" altLang="en-US" sz="1600" b="0" dirty="0">
                <a:solidFill>
                  <a:srgbClr val="000000"/>
                </a:solidFill>
              </a:rPr>
              <a:t>随着城市数量</a:t>
            </a:r>
            <a:r>
              <a:rPr lang="en-US" altLang="zh-CN" sz="2800" dirty="0">
                <a:solidFill>
                  <a:srgbClr val="C00000"/>
                </a:solidFill>
              </a:rPr>
              <a:t>n</a:t>
            </a:r>
            <a:r>
              <a:rPr lang="zh-CN" altLang="en-US" sz="1600" b="0" dirty="0">
                <a:solidFill>
                  <a:srgbClr val="000000"/>
                </a:solidFill>
              </a:rPr>
              <a:t>的上升，</a:t>
            </a:r>
            <a:r>
              <a:rPr lang="en-US" altLang="zh-CN" sz="1600" b="0" dirty="0">
                <a:solidFill>
                  <a:srgbClr val="000000"/>
                </a:solidFill>
              </a:rPr>
              <a:t>TSP</a:t>
            </a:r>
            <a:r>
              <a:rPr lang="zh-CN" altLang="en-US" sz="1600" b="0" dirty="0">
                <a:solidFill>
                  <a:srgbClr val="000000"/>
                </a:solidFill>
              </a:rPr>
              <a:t>问题的遍历计算量</a:t>
            </a:r>
            <a:r>
              <a:rPr lang="en-US" altLang="zh-CN" sz="2800" dirty="0">
                <a:solidFill>
                  <a:srgbClr val="C00000"/>
                </a:solidFill>
              </a:rPr>
              <a:t>(n-1)</a:t>
            </a:r>
            <a:r>
              <a:rPr lang="zh-CN" altLang="en-US" sz="2800" dirty="0">
                <a:solidFill>
                  <a:srgbClr val="C00000"/>
                </a:solidFill>
              </a:rPr>
              <a:t>！</a:t>
            </a:r>
            <a:r>
              <a:rPr lang="zh-CN" altLang="en-US" sz="1600" b="0" dirty="0">
                <a:solidFill>
                  <a:srgbClr val="000000"/>
                </a:solidFill>
              </a:rPr>
              <a:t>剧增，计算资源将难以承受。</a:t>
            </a:r>
            <a:endParaRPr lang="en-US" altLang="zh-CN" sz="1600" b="0" dirty="0">
              <a:solidFill>
                <a:srgbClr val="000000"/>
              </a:solidFill>
            </a:endParaRPr>
          </a:p>
          <a:p>
            <a:pPr algn="just" eaLnBrk="1" hangingPunct="1">
              <a:lnSpc>
                <a:spcPts val="2800"/>
              </a:lnSpc>
              <a:buClr>
                <a:srgbClr val="0066FF"/>
              </a:buClr>
              <a:buFont typeface="Wingdings" panose="05000000000000000000" pitchFamily="2" charset="2"/>
              <a:buChar char="u"/>
            </a:pPr>
            <a:r>
              <a:rPr lang="en-US" altLang="zh-CN" sz="1600" b="0" dirty="0">
                <a:solidFill>
                  <a:srgbClr val="000000"/>
                </a:solidFill>
              </a:rPr>
              <a:t>2001</a:t>
            </a:r>
            <a:r>
              <a:rPr lang="zh-CN" altLang="en-US" sz="1600" b="0" dirty="0">
                <a:solidFill>
                  <a:srgbClr val="000000"/>
                </a:solidFill>
              </a:rPr>
              <a:t>年</a:t>
            </a:r>
            <a:r>
              <a:rPr lang="zh-CN" altLang="en-US" sz="1600" b="0">
                <a:solidFill>
                  <a:srgbClr val="000000"/>
                </a:solidFill>
              </a:rPr>
              <a:t>解决了全球</a:t>
            </a:r>
            <a:r>
              <a:rPr lang="en-US" altLang="zh-CN" sz="2400">
                <a:solidFill>
                  <a:srgbClr val="000000"/>
                </a:solidFill>
              </a:rPr>
              <a:t>15112</a:t>
            </a:r>
            <a:r>
              <a:rPr lang="zh-CN" altLang="en-US" sz="1600" b="0" dirty="0">
                <a:solidFill>
                  <a:srgbClr val="000000"/>
                </a:solidFill>
              </a:rPr>
              <a:t>个城市的</a:t>
            </a:r>
            <a:r>
              <a:rPr lang="en-US" altLang="zh-CN" sz="1600" b="0" dirty="0">
                <a:solidFill>
                  <a:srgbClr val="000000"/>
                </a:solidFill>
              </a:rPr>
              <a:t>TSP</a:t>
            </a:r>
            <a:r>
              <a:rPr lang="zh-CN" altLang="en-US" sz="1600" b="0" dirty="0">
                <a:solidFill>
                  <a:srgbClr val="000000"/>
                </a:solidFill>
              </a:rPr>
              <a:t>问题，使用了美国</a:t>
            </a:r>
            <a:r>
              <a:rPr lang="en-US" altLang="zh-CN" sz="1600" b="0" dirty="0">
                <a:solidFill>
                  <a:srgbClr val="000000"/>
                </a:solidFill>
              </a:rPr>
              <a:t>Rice</a:t>
            </a:r>
            <a:r>
              <a:rPr lang="zh-CN" altLang="en-US" sz="1600" b="0" dirty="0">
                <a:solidFill>
                  <a:srgbClr val="000000"/>
                </a:solidFill>
              </a:rPr>
              <a:t>大学和普林斯顿大学之间</a:t>
            </a:r>
            <a:r>
              <a:rPr lang="zh-CN" altLang="en-US" sz="1600" b="0" dirty="0">
                <a:solidFill>
                  <a:srgbClr val="FF5050"/>
                </a:solidFill>
              </a:rPr>
              <a:t>互连</a:t>
            </a:r>
            <a:r>
              <a:rPr lang="zh-CN" altLang="en-US" sz="1600" b="0" dirty="0">
                <a:solidFill>
                  <a:srgbClr val="000000"/>
                </a:solidFill>
              </a:rPr>
              <a:t>的、速度为</a:t>
            </a:r>
            <a:r>
              <a:rPr lang="en-US" altLang="zh-CN" sz="1600" b="0" dirty="0" err="1">
                <a:solidFill>
                  <a:srgbClr val="FF5050"/>
                </a:solidFill>
              </a:rPr>
              <a:t>500MHz</a:t>
            </a:r>
            <a:r>
              <a:rPr lang="en-US" altLang="zh-CN" sz="1600" b="0" dirty="0">
                <a:solidFill>
                  <a:srgbClr val="000000"/>
                </a:solidFill>
              </a:rPr>
              <a:t> </a:t>
            </a:r>
            <a:r>
              <a:rPr lang="zh-CN" altLang="en-US" sz="1600" b="0" dirty="0">
                <a:solidFill>
                  <a:srgbClr val="000000"/>
                </a:solidFill>
              </a:rPr>
              <a:t>的</a:t>
            </a:r>
            <a:r>
              <a:rPr lang="en-US" altLang="zh-CN" sz="1600" b="0" dirty="0">
                <a:solidFill>
                  <a:srgbClr val="000000"/>
                </a:solidFill>
              </a:rPr>
              <a:t>Compaq </a:t>
            </a:r>
            <a:r>
              <a:rPr lang="en-US" altLang="zh-CN" sz="1600" b="0" dirty="0" err="1">
                <a:solidFill>
                  <a:srgbClr val="000000"/>
                </a:solidFill>
              </a:rPr>
              <a:t>EV6</a:t>
            </a:r>
            <a:r>
              <a:rPr lang="en-US" altLang="zh-CN" sz="1600" b="0" dirty="0">
                <a:solidFill>
                  <a:srgbClr val="000000"/>
                </a:solidFill>
              </a:rPr>
              <a:t> Alpha </a:t>
            </a:r>
            <a:r>
              <a:rPr lang="zh-CN" altLang="en-US" sz="1600" b="0" dirty="0">
                <a:solidFill>
                  <a:srgbClr val="000000"/>
                </a:solidFill>
              </a:rPr>
              <a:t>处理器组成的</a:t>
            </a:r>
            <a:r>
              <a:rPr lang="en-US" altLang="zh-CN" sz="2400" dirty="0">
                <a:solidFill>
                  <a:schemeClr val="tx2"/>
                </a:solidFill>
              </a:rPr>
              <a:t>110</a:t>
            </a:r>
            <a:r>
              <a:rPr lang="zh-CN" altLang="en-US" sz="2400" dirty="0">
                <a:solidFill>
                  <a:schemeClr val="tx2"/>
                </a:solidFill>
              </a:rPr>
              <a:t>台计算机</a:t>
            </a:r>
            <a:r>
              <a:rPr lang="zh-CN" altLang="en-US" sz="1600" b="0" dirty="0">
                <a:solidFill>
                  <a:srgbClr val="000000"/>
                </a:solidFill>
              </a:rPr>
              <a:t>，所有计算机花费的时间之和为</a:t>
            </a:r>
            <a:r>
              <a:rPr lang="en-US" altLang="zh-CN" sz="2400" dirty="0">
                <a:solidFill>
                  <a:schemeClr val="tx2"/>
                </a:solidFill>
              </a:rPr>
              <a:t>22.6</a:t>
            </a:r>
            <a:r>
              <a:rPr lang="zh-CN" altLang="en-US" sz="2400" dirty="0">
                <a:solidFill>
                  <a:schemeClr val="tx2"/>
                </a:solidFill>
              </a:rPr>
              <a:t>年</a:t>
            </a:r>
            <a:r>
              <a:rPr lang="zh-CN" altLang="en-US" sz="1600" b="0" dirty="0">
                <a:solidFill>
                  <a:srgbClr val="000000"/>
                </a:solidFill>
              </a:rPr>
              <a:t>。</a:t>
            </a:r>
            <a:endParaRPr lang="zh-CN" altLang="en-US" sz="1600" b="0" dirty="0"/>
          </a:p>
        </p:txBody>
      </p:sp>
      <p:sp>
        <p:nvSpPr>
          <p:cNvPr id="58371" name="Text Box 28"/>
          <p:cNvSpPr txBox="1">
            <a:spLocks noChangeArrowheads="1"/>
          </p:cNvSpPr>
          <p:nvPr/>
        </p:nvSpPr>
        <p:spPr bwMode="auto">
          <a:xfrm>
            <a:off x="2424967" y="4545013"/>
            <a:ext cx="36195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spcBef>
                <a:spcPct val="50000"/>
              </a:spcBef>
            </a:pPr>
            <a:r>
              <a:rPr lang="en-US" altLang="zh-CN" sz="1600" dirty="0">
                <a:solidFill>
                  <a:srgbClr val="FF0000"/>
                </a:solidFill>
                <a:latin typeface="Times New Roman" panose="02020503050405090304" pitchFamily="18" charset="0"/>
              </a:rPr>
              <a:t>An optimal TSP tour through Germany’s 15 largest cities. It is the shortest among </a:t>
            </a:r>
            <a:r>
              <a:rPr lang="en-US" altLang="zh-CN" sz="2400" dirty="0">
                <a:solidFill>
                  <a:schemeClr val="accent2"/>
                </a:solidFill>
                <a:latin typeface="Times New Roman" panose="02020503050405090304" pitchFamily="18" charset="0"/>
              </a:rPr>
              <a:t>43 589 145 600</a:t>
            </a:r>
            <a:r>
              <a:rPr lang="en-US" altLang="zh-CN" sz="1600" dirty="0">
                <a:solidFill>
                  <a:srgbClr val="FF0000"/>
                </a:solidFill>
                <a:latin typeface="Times New Roman" panose="02020503050405090304" pitchFamily="18" charset="0"/>
              </a:rPr>
              <a:t> possible tours visiting each city exactly once.</a:t>
            </a:r>
          </a:p>
        </p:txBody>
      </p:sp>
      <p:pic>
        <p:nvPicPr>
          <p:cNvPr id="58372" name="Picture 31" descr="File:TSP Deutschland 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862" y="3721100"/>
            <a:ext cx="268446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问题：算法策略</a:t>
            </a:r>
          </a:p>
        </p:txBody>
      </p:sp>
      <p:sp>
        <p:nvSpPr>
          <p:cNvPr id="7" name="圆角矩形 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问题的难解性</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1730" name="Text Box 5"/>
          <p:cNvSpPr txBox="1">
            <a:spLocks noChangeArrowheads="1"/>
          </p:cNvSpPr>
          <p:nvPr/>
        </p:nvSpPr>
        <p:spPr bwMode="auto">
          <a:xfrm>
            <a:off x="707570" y="2104320"/>
            <a:ext cx="5426075"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chemeClr val="tx1"/>
              </a:buClr>
              <a:buFont typeface="Wingdings" panose="05000000000000000000" pitchFamily="2" charset="2"/>
              <a:buNone/>
            </a:pPr>
            <a:r>
              <a:rPr lang="en-US" altLang="zh-CN" sz="2400" dirty="0"/>
              <a:t>TSP</a:t>
            </a:r>
            <a:r>
              <a:rPr lang="zh-CN" altLang="en-US" sz="2400" dirty="0"/>
              <a:t>问题，有没有其他求解算法呢？</a:t>
            </a:r>
            <a:endParaRPr lang="en-US" altLang="zh-CN" sz="2400" dirty="0"/>
          </a:p>
          <a:p>
            <a:pPr algn="just" eaLnBrk="1" hangingPunct="1">
              <a:lnSpc>
                <a:spcPct val="130000"/>
              </a:lnSpc>
              <a:buClr>
                <a:schemeClr val="tx1"/>
              </a:buClr>
              <a:buFont typeface="Wingdings" panose="05000000000000000000" pitchFamily="2" charset="2"/>
              <a:buChar char="u"/>
            </a:pPr>
            <a:r>
              <a:rPr lang="zh-CN" altLang="en-US" sz="2400" dirty="0">
                <a:solidFill>
                  <a:schemeClr val="accent2"/>
                </a:solidFill>
                <a:latin typeface="微软雅黑" panose="020B0503020204020204" pitchFamily="34" charset="-122"/>
                <a:ea typeface="微软雅黑" panose="020B0503020204020204" pitchFamily="34" charset="-122"/>
              </a:rPr>
              <a:t>最优解</a:t>
            </a:r>
            <a:r>
              <a:rPr lang="zh-CN" altLang="en-US" sz="1600" b="0" dirty="0"/>
              <a:t> </a:t>
            </a:r>
            <a:r>
              <a:rPr lang="en-US" altLang="zh-CN" sz="1600" b="0" dirty="0"/>
              <a:t>vs. </a:t>
            </a:r>
            <a:r>
              <a:rPr lang="zh-CN" altLang="en-US" sz="2400" dirty="0">
                <a:solidFill>
                  <a:schemeClr val="accent2"/>
                </a:solidFill>
                <a:latin typeface="微软雅黑" panose="020B0503020204020204" pitchFamily="34" charset="-122"/>
                <a:ea typeface="微软雅黑" panose="020B0503020204020204" pitchFamily="34" charset="-122"/>
              </a:rPr>
              <a:t>可行解</a:t>
            </a:r>
          </a:p>
          <a:p>
            <a:pPr algn="just" eaLnBrk="1" hangingPunct="1">
              <a:lnSpc>
                <a:spcPct val="130000"/>
              </a:lnSpc>
              <a:buClr>
                <a:schemeClr val="tx1"/>
              </a:buClr>
              <a:buFont typeface="Wingdings" panose="05000000000000000000" pitchFamily="2" charset="2"/>
              <a:buChar char="u"/>
            </a:pPr>
            <a:r>
              <a:rPr kumimoji="0" lang="zh-CN" altLang="en-US" dirty="0"/>
              <a:t>不同的算法设计策略：</a:t>
            </a:r>
          </a:p>
          <a:p>
            <a:pPr lvl="1" algn="just" eaLnBrk="1" hangingPunct="1">
              <a:lnSpc>
                <a:spcPct val="130000"/>
              </a:lnSpc>
              <a:buClr>
                <a:schemeClr val="tx1"/>
              </a:buClr>
              <a:buFont typeface="Wingdings" panose="05000000000000000000" pitchFamily="2" charset="2"/>
              <a:buChar char="ü"/>
            </a:pPr>
            <a:r>
              <a:rPr kumimoji="0" lang="zh-CN" altLang="en-US" dirty="0"/>
              <a:t>遍历、搜索算法</a:t>
            </a:r>
          </a:p>
          <a:p>
            <a:pPr lvl="1" algn="just" eaLnBrk="1" hangingPunct="1">
              <a:lnSpc>
                <a:spcPct val="130000"/>
              </a:lnSpc>
              <a:buClr>
                <a:schemeClr val="tx1"/>
              </a:buClr>
              <a:buFont typeface="Wingdings" panose="05000000000000000000" pitchFamily="2" charset="2"/>
              <a:buChar char="ü"/>
            </a:pPr>
            <a:r>
              <a:rPr kumimoji="0" lang="zh-CN" altLang="en-US" dirty="0"/>
              <a:t>分治算法</a:t>
            </a:r>
          </a:p>
          <a:p>
            <a:pPr lvl="1" algn="just" eaLnBrk="1" hangingPunct="1">
              <a:lnSpc>
                <a:spcPct val="130000"/>
              </a:lnSpc>
              <a:buClr>
                <a:schemeClr val="tx1"/>
              </a:buClr>
              <a:buFont typeface="Wingdings" panose="05000000000000000000" pitchFamily="2" charset="2"/>
              <a:buChar char="ü"/>
            </a:pPr>
            <a:r>
              <a:rPr kumimoji="0" lang="zh-CN" altLang="en-US" dirty="0">
                <a:solidFill>
                  <a:srgbClr val="FF0000"/>
                </a:solidFill>
              </a:rPr>
              <a:t>贪心算法</a:t>
            </a:r>
            <a:endParaRPr kumimoji="0" lang="en-US" altLang="zh-CN" dirty="0">
              <a:solidFill>
                <a:srgbClr val="FF0000"/>
              </a:solidFill>
            </a:endParaRPr>
          </a:p>
          <a:p>
            <a:pPr lvl="1" algn="just" eaLnBrk="1" hangingPunct="1">
              <a:lnSpc>
                <a:spcPct val="130000"/>
              </a:lnSpc>
              <a:buClr>
                <a:schemeClr val="tx1"/>
              </a:buClr>
              <a:buFont typeface="Wingdings" panose="05000000000000000000" pitchFamily="2" charset="2"/>
              <a:buChar char="ü"/>
            </a:pPr>
            <a:r>
              <a:rPr kumimoji="0" lang="zh-CN" altLang="en-US" dirty="0"/>
              <a:t>动态规划算法</a:t>
            </a:r>
          </a:p>
          <a:p>
            <a:pPr lvl="1" algn="just" eaLnBrk="1" hangingPunct="1">
              <a:lnSpc>
                <a:spcPct val="130000"/>
              </a:lnSpc>
              <a:buClr>
                <a:schemeClr val="tx1"/>
              </a:buClr>
              <a:buFont typeface="Wingdings" panose="05000000000000000000" pitchFamily="2" charset="2"/>
              <a:buChar char="ü"/>
            </a:pPr>
            <a:r>
              <a:rPr kumimoji="0" lang="en-US" altLang="zh-CN" dirty="0">
                <a:latin typeface="宋体" pitchFamily="2" charset="-122"/>
              </a:rPr>
              <a:t>……</a:t>
            </a:r>
            <a:endParaRPr kumimoji="0" lang="en-US" altLang="zh-CN" dirty="0"/>
          </a:p>
        </p:txBody>
      </p:sp>
      <p:grpSp>
        <p:nvGrpSpPr>
          <p:cNvPr id="60419" name="Group 3"/>
          <p:cNvGrpSpPr/>
          <p:nvPr/>
        </p:nvGrpSpPr>
        <p:grpSpPr bwMode="auto">
          <a:xfrm>
            <a:off x="5635626" y="1885950"/>
            <a:ext cx="5318125" cy="4812388"/>
            <a:chOff x="2723" y="958"/>
            <a:chExt cx="3001" cy="2562"/>
          </a:xfrm>
        </p:grpSpPr>
        <p:grpSp>
          <p:nvGrpSpPr>
            <p:cNvPr id="60425" name="Group 29"/>
            <p:cNvGrpSpPr/>
            <p:nvPr/>
          </p:nvGrpSpPr>
          <p:grpSpPr bwMode="auto">
            <a:xfrm>
              <a:off x="2723" y="958"/>
              <a:ext cx="3001" cy="2328"/>
              <a:chOff x="2150" y="1152"/>
              <a:chExt cx="3536" cy="2605"/>
            </a:xfrm>
          </p:grpSpPr>
          <p:pic>
            <p:nvPicPr>
              <p:cNvPr id="60427" name="Picture 22"/>
              <p:cNvPicPr>
                <a:picLocks noChangeAspect="1" noChangeArrowheads="1"/>
              </p:cNvPicPr>
              <p:nvPr/>
            </p:nvPicPr>
            <p:blipFill>
              <a:blip r:embed="rId3">
                <a:clrChange>
                  <a:clrFrom>
                    <a:srgbClr val="CCE8CF"/>
                  </a:clrFrom>
                  <a:clrTo>
                    <a:srgbClr val="CCE8CF">
                      <a:alpha val="0"/>
                    </a:srgbClr>
                  </a:clrTo>
                </a:clrChange>
                <a:extLst>
                  <a:ext uri="{28A0092B-C50C-407E-A947-70E740481C1C}">
                    <a14:useLocalDpi xmlns:a14="http://schemas.microsoft.com/office/drawing/2010/main" val="0"/>
                  </a:ext>
                </a:extLst>
              </a:blip>
              <a:srcRect/>
              <a:stretch>
                <a:fillRect/>
              </a:stretch>
            </p:blipFill>
            <p:spPr bwMode="auto">
              <a:xfrm>
                <a:off x="2428" y="1152"/>
                <a:ext cx="3258" cy="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8" name="Oval 24"/>
              <p:cNvSpPr>
                <a:spLocks noChangeArrowheads="1"/>
              </p:cNvSpPr>
              <p:nvPr/>
            </p:nvSpPr>
            <p:spPr bwMode="auto">
              <a:xfrm>
                <a:off x="4055" y="3182"/>
                <a:ext cx="1437" cy="239"/>
              </a:xfrm>
              <a:prstGeom prst="ellipse">
                <a:avLst/>
              </a:prstGeom>
              <a:noFill/>
              <a:ln w="19050">
                <a:solidFill>
                  <a:srgbClr val="CC0066"/>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sz="1400">
                  <a:ea typeface="隶书" panose="02010509060101010101" pitchFamily="49" charset="-122"/>
                </a:endParaRPr>
              </a:p>
            </p:txBody>
          </p:sp>
          <p:sp>
            <p:nvSpPr>
              <p:cNvPr id="60429" name="Text Box 25"/>
              <p:cNvSpPr txBox="1">
                <a:spLocks noChangeArrowheads="1"/>
              </p:cNvSpPr>
              <p:nvPr/>
            </p:nvSpPr>
            <p:spPr bwMode="auto">
              <a:xfrm>
                <a:off x="5083" y="2971"/>
                <a:ext cx="59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spcBef>
                    <a:spcPct val="50000"/>
                  </a:spcBef>
                </a:pPr>
                <a:r>
                  <a:rPr lang="zh-CN" altLang="en-US" sz="1400" b="0">
                    <a:ea typeface="华文中宋" panose="02010600040101010101" pitchFamily="2" charset="-122"/>
                  </a:rPr>
                  <a:t>可行解</a:t>
                </a:r>
              </a:p>
            </p:txBody>
          </p:sp>
          <p:sp>
            <p:nvSpPr>
              <p:cNvPr id="60430" name="Oval 26"/>
              <p:cNvSpPr>
                <a:spLocks noChangeArrowheads="1"/>
              </p:cNvSpPr>
              <p:nvPr/>
            </p:nvSpPr>
            <p:spPr bwMode="auto">
              <a:xfrm>
                <a:off x="2618" y="3199"/>
                <a:ext cx="1472" cy="211"/>
              </a:xfrm>
              <a:prstGeom prst="ellipse">
                <a:avLst/>
              </a:prstGeom>
              <a:noFill/>
              <a:ln w="19050">
                <a:solidFill>
                  <a:srgbClr val="333399"/>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sz="1400">
                  <a:ea typeface="隶书" panose="02010509060101010101" pitchFamily="49" charset="-122"/>
                </a:endParaRPr>
              </a:p>
            </p:txBody>
          </p:sp>
          <p:sp>
            <p:nvSpPr>
              <p:cNvPr id="60431" name="Oval 27"/>
              <p:cNvSpPr>
                <a:spLocks noChangeArrowheads="1"/>
              </p:cNvSpPr>
              <p:nvPr/>
            </p:nvSpPr>
            <p:spPr bwMode="auto">
              <a:xfrm>
                <a:off x="2621" y="3546"/>
                <a:ext cx="1472" cy="211"/>
              </a:xfrm>
              <a:prstGeom prst="ellipse">
                <a:avLst/>
              </a:prstGeom>
              <a:noFill/>
              <a:ln w="19050">
                <a:solidFill>
                  <a:srgbClr val="333399"/>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sz="1400">
                  <a:ea typeface="隶书" panose="02010509060101010101" pitchFamily="49" charset="-122"/>
                </a:endParaRPr>
              </a:p>
            </p:txBody>
          </p:sp>
          <p:sp>
            <p:nvSpPr>
              <p:cNvPr id="60432" name="Text Box 28"/>
              <p:cNvSpPr txBox="1">
                <a:spLocks noChangeArrowheads="1"/>
              </p:cNvSpPr>
              <p:nvPr/>
            </p:nvSpPr>
            <p:spPr bwMode="auto">
              <a:xfrm>
                <a:off x="2150" y="3336"/>
                <a:ext cx="59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spcBef>
                    <a:spcPct val="50000"/>
                  </a:spcBef>
                </a:pPr>
                <a:r>
                  <a:rPr lang="zh-CN" altLang="en-US" sz="1400" b="0">
                    <a:ea typeface="华文中宋" panose="02010600040101010101" pitchFamily="2" charset="-122"/>
                  </a:rPr>
                  <a:t>最优解</a:t>
                </a:r>
              </a:p>
            </p:txBody>
          </p:sp>
        </p:grpSp>
        <p:sp>
          <p:nvSpPr>
            <p:cNvPr id="60426" name="Text Box 4"/>
            <p:cNvSpPr txBox="1">
              <a:spLocks noChangeArrowheads="1"/>
            </p:cNvSpPr>
            <p:nvPr/>
          </p:nvSpPr>
          <p:spPr bwMode="auto">
            <a:xfrm>
              <a:off x="3598" y="3341"/>
              <a:ext cx="170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en-US" altLang="zh-CN" sz="1600" b="0" dirty="0"/>
                <a:t>TSP</a:t>
              </a:r>
              <a:r>
                <a:rPr lang="zh-CN" altLang="en-US" sz="1600" b="0" dirty="0"/>
                <a:t>问题的可行解与最优解示意</a:t>
              </a:r>
            </a:p>
          </p:txBody>
        </p:sp>
      </p:grpSp>
      <p:grpSp>
        <p:nvGrpSpPr>
          <p:cNvPr id="60421" name="Group 13"/>
          <p:cNvGrpSpPr/>
          <p:nvPr/>
        </p:nvGrpSpPr>
        <p:grpSpPr bwMode="auto">
          <a:xfrm>
            <a:off x="2479035" y="5239071"/>
            <a:ext cx="1490662" cy="1174750"/>
            <a:chOff x="1506" y="2103"/>
            <a:chExt cx="939" cy="740"/>
          </a:xfrm>
        </p:grpSpPr>
        <p:sp>
          <p:nvSpPr>
            <p:cNvPr id="20" name="AutoShape 39"/>
            <p:cNvSpPr>
              <a:spLocks noChangeArrowheads="1"/>
            </p:cNvSpPr>
            <p:nvPr/>
          </p:nvSpPr>
          <p:spPr bwMode="gray">
            <a:xfrm>
              <a:off x="1506" y="2103"/>
              <a:ext cx="939" cy="74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defRPr/>
              </a:pPr>
              <a:endParaRPr kumimoji="0" lang="zh-CN" altLang="en-US" sz="3600">
                <a:solidFill>
                  <a:srgbClr val="000000"/>
                </a:solidFill>
                <a:latin typeface="宋体" pitchFamily="2" charset="-122"/>
                <a:ea typeface="宋体" pitchFamily="2" charset="-122"/>
              </a:endParaRPr>
            </a:p>
          </p:txBody>
        </p:sp>
        <p:sp>
          <p:nvSpPr>
            <p:cNvPr id="60423" name="Oval 40"/>
            <p:cNvSpPr>
              <a:spLocks noChangeArrowheads="1"/>
            </p:cNvSpPr>
            <p:nvPr/>
          </p:nvSpPr>
          <p:spPr bwMode="gray">
            <a:xfrm>
              <a:off x="1584" y="2163"/>
              <a:ext cx="783" cy="619"/>
            </a:xfrm>
            <a:prstGeom prst="ellipse">
              <a:avLst/>
            </a:prstGeom>
            <a:solidFill>
              <a:srgbClr val="003366"/>
            </a:solidFill>
            <a:ln w="28575" algn="ctr">
              <a:solidFill>
                <a:srgbClr val="FFFFFF"/>
              </a:solidFill>
              <a:round/>
            </a:ln>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endParaRPr kumimoji="0" lang="zh-CN" altLang="en-US" sz="3600">
                <a:solidFill>
                  <a:srgbClr val="000000"/>
                </a:solidFill>
                <a:latin typeface="宋体" pitchFamily="2" charset="-122"/>
              </a:endParaRPr>
            </a:p>
          </p:txBody>
        </p:sp>
        <p:sp>
          <p:nvSpPr>
            <p:cNvPr id="60424" name="Text Box 84"/>
            <p:cNvSpPr txBox="1">
              <a:spLocks noChangeArrowheads="1"/>
            </p:cNvSpPr>
            <p:nvPr/>
          </p:nvSpPr>
          <p:spPr bwMode="auto">
            <a:xfrm>
              <a:off x="1587" y="2175"/>
              <a:ext cx="77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spcBef>
                  <a:spcPct val="35000"/>
                </a:spcBef>
              </a:pPr>
              <a:r>
                <a:rPr kumimoji="0" lang="zh-CN" altLang="en-US" sz="2800">
                  <a:solidFill>
                    <a:srgbClr val="FFFFFF"/>
                  </a:solidFill>
                  <a:latin typeface="宋体" pitchFamily="2" charset="-122"/>
                  <a:ea typeface="华文中宋" panose="02010600040101010101" pitchFamily="2" charset="-122"/>
                </a:rPr>
                <a:t>算法策略</a:t>
              </a:r>
            </a:p>
          </p:txBody>
        </p:sp>
      </p:grpSp>
      <p:sp>
        <p:nvSpPr>
          <p:cNvPr id="17"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问题：算法策略</a:t>
            </a:r>
          </a:p>
        </p:txBody>
      </p:sp>
      <p:sp>
        <p:nvSpPr>
          <p:cNvPr id="18" name="圆角矩形 17"/>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寻找其他策略降低计算量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21730">
                                            <p:txEl>
                                              <p:pRg st="1" end="1"/>
                                            </p:txEl>
                                          </p:spTgt>
                                        </p:tgtEl>
                                        <p:attrNameLst>
                                          <p:attrName>style.visibility</p:attrName>
                                        </p:attrNameLst>
                                      </p:cBhvr>
                                      <p:to>
                                        <p:strVal val="visible"/>
                                      </p:to>
                                    </p:set>
                                    <p:anim calcmode="lin" valueType="num">
                                      <p:cBhvr additive="base">
                                        <p:cTn id="7" dur="500" fill="hold"/>
                                        <p:tgtEl>
                                          <p:spTgt spid="21217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217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21730">
                                            <p:txEl>
                                              <p:pRg st="2" end="2"/>
                                            </p:txEl>
                                          </p:spTgt>
                                        </p:tgtEl>
                                        <p:attrNameLst>
                                          <p:attrName>style.visibility</p:attrName>
                                        </p:attrNameLst>
                                      </p:cBhvr>
                                      <p:to>
                                        <p:strVal val="visible"/>
                                      </p:to>
                                    </p:set>
                                    <p:anim calcmode="lin" valueType="num">
                                      <p:cBhvr additive="base">
                                        <p:cTn id="13" dur="500" fill="hold"/>
                                        <p:tgtEl>
                                          <p:spTgt spid="212173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21730">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21730">
                                            <p:txEl>
                                              <p:pRg st="3" end="3"/>
                                            </p:txEl>
                                          </p:spTgt>
                                        </p:tgtEl>
                                        <p:attrNameLst>
                                          <p:attrName>style.visibility</p:attrName>
                                        </p:attrNameLst>
                                      </p:cBhvr>
                                      <p:to>
                                        <p:strVal val="visible"/>
                                      </p:to>
                                    </p:set>
                                    <p:anim calcmode="lin" valueType="num">
                                      <p:cBhvr additive="base">
                                        <p:cTn id="17" dur="500" fill="hold"/>
                                        <p:tgtEl>
                                          <p:spTgt spid="2121730">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21730">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21730">
                                            <p:txEl>
                                              <p:pRg st="4" end="4"/>
                                            </p:txEl>
                                          </p:spTgt>
                                        </p:tgtEl>
                                        <p:attrNameLst>
                                          <p:attrName>style.visibility</p:attrName>
                                        </p:attrNameLst>
                                      </p:cBhvr>
                                      <p:to>
                                        <p:strVal val="visible"/>
                                      </p:to>
                                    </p:set>
                                    <p:anim calcmode="lin" valueType="num">
                                      <p:cBhvr additive="base">
                                        <p:cTn id="21" dur="500" fill="hold"/>
                                        <p:tgtEl>
                                          <p:spTgt spid="2121730">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21730">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21730">
                                            <p:txEl>
                                              <p:pRg st="5" end="5"/>
                                            </p:txEl>
                                          </p:spTgt>
                                        </p:tgtEl>
                                        <p:attrNameLst>
                                          <p:attrName>style.visibility</p:attrName>
                                        </p:attrNameLst>
                                      </p:cBhvr>
                                      <p:to>
                                        <p:strVal val="visible"/>
                                      </p:to>
                                    </p:set>
                                    <p:anim calcmode="lin" valueType="num">
                                      <p:cBhvr additive="base">
                                        <p:cTn id="25" dur="500" fill="hold"/>
                                        <p:tgtEl>
                                          <p:spTgt spid="212173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21730">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21730">
                                            <p:txEl>
                                              <p:pRg st="6" end="6"/>
                                            </p:txEl>
                                          </p:spTgt>
                                        </p:tgtEl>
                                        <p:attrNameLst>
                                          <p:attrName>style.visibility</p:attrName>
                                        </p:attrNameLst>
                                      </p:cBhvr>
                                      <p:to>
                                        <p:strVal val="visible"/>
                                      </p:to>
                                    </p:set>
                                    <p:anim calcmode="lin" valueType="num">
                                      <p:cBhvr additive="base">
                                        <p:cTn id="29" dur="500" fill="hold"/>
                                        <p:tgtEl>
                                          <p:spTgt spid="2121730">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21730">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121730">
                                            <p:txEl>
                                              <p:pRg st="7" end="7"/>
                                            </p:txEl>
                                          </p:spTgt>
                                        </p:tgtEl>
                                        <p:attrNameLst>
                                          <p:attrName>style.visibility</p:attrName>
                                        </p:attrNameLst>
                                      </p:cBhvr>
                                      <p:to>
                                        <p:strVal val="visible"/>
                                      </p:to>
                                    </p:set>
                                    <p:anim calcmode="lin" valueType="num">
                                      <p:cBhvr additive="base">
                                        <p:cTn id="33" dur="500" fill="hold"/>
                                        <p:tgtEl>
                                          <p:spTgt spid="2121730">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12173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3778" name="Text Box 5"/>
          <p:cNvSpPr txBox="1">
            <a:spLocks noChangeArrowheads="1"/>
          </p:cNvSpPr>
          <p:nvPr/>
        </p:nvSpPr>
        <p:spPr bwMode="auto">
          <a:xfrm>
            <a:off x="707570" y="1952324"/>
            <a:ext cx="6092823"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chemeClr val="tx1"/>
              </a:buClr>
              <a:buFont typeface="Wingdings" panose="05000000000000000000" pitchFamily="2" charset="2"/>
              <a:buNone/>
            </a:pPr>
            <a:r>
              <a:rPr kumimoji="0" lang="zh-CN" altLang="zh-CN" sz="2400" dirty="0">
                <a:solidFill>
                  <a:schemeClr val="accent2"/>
                </a:solidFill>
                <a:latin typeface="微软雅黑" panose="020B0503020204020204" pitchFamily="34" charset="-122"/>
                <a:ea typeface="微软雅黑" panose="020B0503020204020204" pitchFamily="34" charset="-122"/>
              </a:rPr>
              <a:t>贪心算法</a:t>
            </a:r>
            <a:r>
              <a:rPr kumimoji="0" lang="zh-CN" altLang="zh-CN" sz="1600" b="0" dirty="0"/>
              <a:t>是一种算法策略。基本思想</a:t>
            </a:r>
            <a:r>
              <a:rPr kumimoji="0" lang="zh-CN" altLang="zh-CN" sz="1600" b="0" dirty="0">
                <a:latin typeface="宋体" pitchFamily="2" charset="-122"/>
              </a:rPr>
              <a:t>“</a:t>
            </a:r>
            <a:r>
              <a:rPr kumimoji="0" lang="zh-CN" altLang="zh-CN" sz="1600" b="0" dirty="0"/>
              <a:t>今朝有酒今朝醉</a:t>
            </a:r>
            <a:r>
              <a:rPr kumimoji="0" lang="zh-CN" altLang="zh-CN" sz="1600" b="0" dirty="0">
                <a:latin typeface="宋体" pitchFamily="2" charset="-122"/>
              </a:rPr>
              <a:t>”</a:t>
            </a:r>
            <a:r>
              <a:rPr kumimoji="0" lang="en-US" altLang="zh-CN" sz="1600" b="0" dirty="0"/>
              <a:t>:</a:t>
            </a:r>
            <a:r>
              <a:rPr kumimoji="0" lang="zh-CN" altLang="zh-CN" dirty="0">
                <a:solidFill>
                  <a:schemeClr val="accent2"/>
                </a:solidFill>
              </a:rPr>
              <a:t>一定要做当前情况下的最好选择，否则将来可能会后悔，故名</a:t>
            </a:r>
            <a:r>
              <a:rPr kumimoji="0" lang="zh-CN" altLang="zh-CN" dirty="0">
                <a:solidFill>
                  <a:schemeClr val="accent2"/>
                </a:solidFill>
                <a:latin typeface="宋体" pitchFamily="2" charset="-122"/>
              </a:rPr>
              <a:t>“</a:t>
            </a:r>
            <a:r>
              <a:rPr kumimoji="0" lang="zh-CN" altLang="zh-CN" dirty="0">
                <a:solidFill>
                  <a:schemeClr val="accent2"/>
                </a:solidFill>
              </a:rPr>
              <a:t>贪心</a:t>
            </a:r>
            <a:r>
              <a:rPr kumimoji="0" lang="zh-CN" altLang="zh-CN" dirty="0">
                <a:solidFill>
                  <a:schemeClr val="accent2"/>
                </a:solidFill>
                <a:latin typeface="宋体" pitchFamily="2" charset="-122"/>
              </a:rPr>
              <a:t>”</a:t>
            </a:r>
            <a:r>
              <a:rPr kumimoji="0" lang="zh-CN" altLang="zh-CN" dirty="0">
                <a:solidFill>
                  <a:schemeClr val="accent2"/>
                </a:solidFill>
              </a:rPr>
              <a:t>。</a:t>
            </a:r>
          </a:p>
          <a:p>
            <a:pPr algn="just" eaLnBrk="1" hangingPunct="1">
              <a:lnSpc>
                <a:spcPct val="130000"/>
              </a:lnSpc>
              <a:buClr>
                <a:schemeClr val="tx1"/>
              </a:buClr>
              <a:buFont typeface="Wingdings" panose="05000000000000000000" pitchFamily="2" charset="2"/>
              <a:buChar char="ü"/>
            </a:pPr>
            <a:r>
              <a:rPr kumimoji="0" lang="zh-CN" altLang="en-US" sz="1600" b="0" dirty="0"/>
              <a:t>从某一个城市开始，每次选择一个城市，直到所有城市都被走完。</a:t>
            </a:r>
            <a:endParaRPr kumimoji="0" lang="en-US" altLang="zh-CN" sz="1600" b="0" dirty="0"/>
          </a:p>
          <a:p>
            <a:pPr algn="just" eaLnBrk="1" hangingPunct="1">
              <a:lnSpc>
                <a:spcPct val="130000"/>
              </a:lnSpc>
              <a:buClr>
                <a:schemeClr val="tx1"/>
              </a:buClr>
              <a:buFont typeface="Wingdings" panose="05000000000000000000" pitchFamily="2" charset="2"/>
              <a:buChar char="ü"/>
            </a:pPr>
            <a:r>
              <a:rPr kumimoji="0" lang="zh-CN" altLang="en-US" dirty="0">
                <a:solidFill>
                  <a:schemeClr val="accent2"/>
                </a:solidFill>
              </a:rPr>
              <a:t>每次在选择下一个城市的时候，只考虑当前情况，保证迄今为止经过的路径总距离最短。</a:t>
            </a:r>
          </a:p>
        </p:txBody>
      </p:sp>
      <p:grpSp>
        <p:nvGrpSpPr>
          <p:cNvPr id="62467" name="Group 19"/>
          <p:cNvGrpSpPr/>
          <p:nvPr/>
        </p:nvGrpSpPr>
        <p:grpSpPr bwMode="auto">
          <a:xfrm>
            <a:off x="1907775" y="4505325"/>
            <a:ext cx="3970736" cy="2237581"/>
            <a:chOff x="3389" y="394"/>
            <a:chExt cx="1759" cy="1048"/>
          </a:xfrm>
        </p:grpSpPr>
        <p:pic>
          <p:nvPicPr>
            <p:cNvPr id="62477"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9" y="394"/>
              <a:ext cx="1732" cy="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8" name="Text Box 21"/>
            <p:cNvSpPr txBox="1">
              <a:spLocks noChangeArrowheads="1"/>
            </p:cNvSpPr>
            <p:nvPr/>
          </p:nvSpPr>
          <p:spPr bwMode="auto">
            <a:xfrm>
              <a:off x="4311" y="409"/>
              <a:ext cx="837"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r" eaLnBrk="1" hangingPunct="1">
                <a:spcBef>
                  <a:spcPct val="50000"/>
                </a:spcBef>
              </a:pPr>
              <a:r>
                <a:rPr lang="zh-CN" altLang="en-US" sz="1600">
                  <a:solidFill>
                    <a:srgbClr val="FF5050"/>
                  </a:solidFill>
                  <a:ea typeface="华文宋体" panose="02010600040101010101" pitchFamily="2" charset="-122"/>
                </a:rPr>
                <a:t>城市之间的距离</a:t>
              </a:r>
            </a:p>
          </p:txBody>
        </p:sp>
      </p:grpSp>
      <p:grpSp>
        <p:nvGrpSpPr>
          <p:cNvPr id="62469" name="Group 8"/>
          <p:cNvGrpSpPr/>
          <p:nvPr/>
        </p:nvGrpSpPr>
        <p:grpSpPr bwMode="auto">
          <a:xfrm>
            <a:off x="7259639" y="2327276"/>
            <a:ext cx="3629025" cy="3019425"/>
            <a:chOff x="3336" y="1986"/>
            <a:chExt cx="2286" cy="1902"/>
          </a:xfrm>
        </p:grpSpPr>
        <p:graphicFrame>
          <p:nvGraphicFramePr>
            <p:cNvPr id="62475" name="Object 14"/>
            <p:cNvGraphicFramePr>
              <a:graphicFrameLocks noChangeAspect="1"/>
            </p:cNvGraphicFramePr>
            <p:nvPr/>
          </p:nvGraphicFramePr>
          <p:xfrm>
            <a:off x="3341" y="1990"/>
            <a:ext cx="2278" cy="1896"/>
          </p:xfrm>
          <a:graphic>
            <a:graphicData uri="http://schemas.openxmlformats.org/presentationml/2006/ole">
              <mc:AlternateContent xmlns:mc="http://schemas.openxmlformats.org/markup-compatibility/2006">
                <mc:Choice xmlns:v="urn:schemas-microsoft-com:vml" Requires="v">
                  <p:oleObj name="Slide" r:id="rId4" imgW="4556760" imgH="3418205" progId="PowerPoint.Show.12">
                    <p:embed/>
                  </p:oleObj>
                </mc:Choice>
                <mc:Fallback>
                  <p:oleObj name="Slide" r:id="rId4" imgW="4556760" imgH="3418205" progId="PowerPoint.Show.12">
                    <p:embed/>
                    <p:pic>
                      <p:nvPicPr>
                        <p:cNvPr id="0" name="Object 14"/>
                        <p:cNvPicPr>
                          <a:picLocks noChangeAspect="1"/>
                        </p:cNvPicPr>
                        <p:nvPr/>
                      </p:nvPicPr>
                      <p:blipFill>
                        <a:blip r:embed="rId5"/>
                        <a:srcRect l="9584" r="14975" b="16397"/>
                        <a:stretch>
                          <a:fillRect/>
                        </a:stretch>
                      </p:blipFill>
                      <p:spPr>
                        <a:xfrm>
                          <a:off x="3341" y="1990"/>
                          <a:ext cx="2278" cy="1896"/>
                        </a:xfrm>
                        <a:prstGeom prst="rect">
                          <a:avLst/>
                        </a:prstGeom>
                        <a:noFill/>
                        <a:ln w="9525" cap="flat" cmpd="sng">
                          <a:solidFill>
                            <a:srgbClr val="333399"/>
                          </a:solidFill>
                          <a:prstDash val="solid"/>
                          <a:miter/>
                          <a:headEnd type="none" w="med" len="med"/>
                          <a:tailEnd type="none" w="med" len="med"/>
                        </a:ln>
                      </p:spPr>
                    </p:pic>
                  </p:oleObj>
                </mc:Fallback>
              </mc:AlternateContent>
            </a:graphicData>
          </a:graphic>
        </p:graphicFrame>
        <p:sp>
          <p:nvSpPr>
            <p:cNvPr id="62476" name="Rectangle 10"/>
            <p:cNvSpPr>
              <a:spLocks noChangeArrowheads="1"/>
            </p:cNvSpPr>
            <p:nvPr/>
          </p:nvSpPr>
          <p:spPr bwMode="auto">
            <a:xfrm>
              <a:off x="3336" y="1986"/>
              <a:ext cx="2286" cy="1902"/>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grpSp>
      <p:pic>
        <p:nvPicPr>
          <p:cNvPr id="212378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9188" y="2417763"/>
            <a:ext cx="4000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23788"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2288" y="2389189"/>
            <a:ext cx="438150"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23789"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74125" y="2379663"/>
            <a:ext cx="4191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2379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04376" y="2360613"/>
            <a:ext cx="4476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23791"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07639" y="2370139"/>
            <a:ext cx="466725"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问题：算法策略</a:t>
            </a:r>
          </a:p>
        </p:txBody>
      </p:sp>
      <p:sp>
        <p:nvSpPr>
          <p:cNvPr id="16" name="圆角矩形 1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另一种策略：贪心算法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123778">
                                            <p:txEl>
                                              <p:pRg st="1" end="1"/>
                                            </p:txEl>
                                          </p:spTgt>
                                        </p:tgtEl>
                                        <p:attrNameLst>
                                          <p:attrName>style.visibility</p:attrName>
                                        </p:attrNameLst>
                                      </p:cBhvr>
                                      <p:to>
                                        <p:strVal val="visible"/>
                                      </p:to>
                                    </p:set>
                                    <p:anim calcmode="lin" valueType="num">
                                      <p:cBhvr additive="base">
                                        <p:cTn id="7" dur="500" fill="hold"/>
                                        <p:tgtEl>
                                          <p:spTgt spid="212377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2377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23778">
                                            <p:txEl>
                                              <p:pRg st="2" end="2"/>
                                            </p:txEl>
                                          </p:spTgt>
                                        </p:tgtEl>
                                        <p:attrNameLst>
                                          <p:attrName>style.visibility</p:attrName>
                                        </p:attrNameLst>
                                      </p:cBhvr>
                                      <p:to>
                                        <p:strVal val="visible"/>
                                      </p:to>
                                    </p:set>
                                    <p:anim calcmode="lin" valueType="num">
                                      <p:cBhvr additive="base">
                                        <p:cTn id="11" dur="500" fill="hold"/>
                                        <p:tgtEl>
                                          <p:spTgt spid="212377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237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23787"/>
                                        </p:tgtEl>
                                        <p:attrNameLst>
                                          <p:attrName>style.visibility</p:attrName>
                                        </p:attrNameLst>
                                      </p:cBhvr>
                                      <p:to>
                                        <p:strVal val="visible"/>
                                      </p:to>
                                    </p:set>
                                    <p:anim calcmode="lin" valueType="num">
                                      <p:cBhvr additive="base">
                                        <p:cTn id="17" dur="500" fill="hold"/>
                                        <p:tgtEl>
                                          <p:spTgt spid="2123787"/>
                                        </p:tgtEl>
                                        <p:attrNameLst>
                                          <p:attrName>ppt_x</p:attrName>
                                        </p:attrNameLst>
                                      </p:cBhvr>
                                      <p:tavLst>
                                        <p:tav tm="0">
                                          <p:val>
                                            <p:strVal val="#ppt_x"/>
                                          </p:val>
                                        </p:tav>
                                        <p:tav tm="100000">
                                          <p:val>
                                            <p:strVal val="#ppt_x"/>
                                          </p:val>
                                        </p:tav>
                                      </p:tavLst>
                                    </p:anim>
                                    <p:anim calcmode="lin" valueType="num">
                                      <p:cBhvr additive="base">
                                        <p:cTn id="18" dur="500" fill="hold"/>
                                        <p:tgtEl>
                                          <p:spTgt spid="212378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23788"/>
                                        </p:tgtEl>
                                        <p:attrNameLst>
                                          <p:attrName>style.visibility</p:attrName>
                                        </p:attrNameLst>
                                      </p:cBhvr>
                                      <p:to>
                                        <p:strVal val="visible"/>
                                      </p:to>
                                    </p:set>
                                    <p:anim calcmode="lin" valueType="num">
                                      <p:cBhvr additive="base">
                                        <p:cTn id="23" dur="500" fill="hold"/>
                                        <p:tgtEl>
                                          <p:spTgt spid="2123788"/>
                                        </p:tgtEl>
                                        <p:attrNameLst>
                                          <p:attrName>ppt_x</p:attrName>
                                        </p:attrNameLst>
                                      </p:cBhvr>
                                      <p:tavLst>
                                        <p:tav tm="0">
                                          <p:val>
                                            <p:strVal val="#ppt_x"/>
                                          </p:val>
                                        </p:tav>
                                        <p:tav tm="100000">
                                          <p:val>
                                            <p:strVal val="#ppt_x"/>
                                          </p:val>
                                        </p:tav>
                                      </p:tavLst>
                                    </p:anim>
                                    <p:anim calcmode="lin" valueType="num">
                                      <p:cBhvr additive="base">
                                        <p:cTn id="24" dur="500" fill="hold"/>
                                        <p:tgtEl>
                                          <p:spTgt spid="212378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23789"/>
                                        </p:tgtEl>
                                        <p:attrNameLst>
                                          <p:attrName>style.visibility</p:attrName>
                                        </p:attrNameLst>
                                      </p:cBhvr>
                                      <p:to>
                                        <p:strVal val="visible"/>
                                      </p:to>
                                    </p:set>
                                    <p:anim calcmode="lin" valueType="num">
                                      <p:cBhvr additive="base">
                                        <p:cTn id="29" dur="500" fill="hold"/>
                                        <p:tgtEl>
                                          <p:spTgt spid="2123789"/>
                                        </p:tgtEl>
                                        <p:attrNameLst>
                                          <p:attrName>ppt_x</p:attrName>
                                        </p:attrNameLst>
                                      </p:cBhvr>
                                      <p:tavLst>
                                        <p:tav tm="0">
                                          <p:val>
                                            <p:strVal val="#ppt_x"/>
                                          </p:val>
                                        </p:tav>
                                        <p:tav tm="100000">
                                          <p:val>
                                            <p:strVal val="#ppt_x"/>
                                          </p:val>
                                        </p:tav>
                                      </p:tavLst>
                                    </p:anim>
                                    <p:anim calcmode="lin" valueType="num">
                                      <p:cBhvr additive="base">
                                        <p:cTn id="30" dur="500" fill="hold"/>
                                        <p:tgtEl>
                                          <p:spTgt spid="212378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123790"/>
                                        </p:tgtEl>
                                        <p:attrNameLst>
                                          <p:attrName>style.visibility</p:attrName>
                                        </p:attrNameLst>
                                      </p:cBhvr>
                                      <p:to>
                                        <p:strVal val="visible"/>
                                      </p:to>
                                    </p:set>
                                    <p:anim calcmode="lin" valueType="num">
                                      <p:cBhvr additive="base">
                                        <p:cTn id="35" dur="500" fill="hold"/>
                                        <p:tgtEl>
                                          <p:spTgt spid="2123790"/>
                                        </p:tgtEl>
                                        <p:attrNameLst>
                                          <p:attrName>ppt_x</p:attrName>
                                        </p:attrNameLst>
                                      </p:cBhvr>
                                      <p:tavLst>
                                        <p:tav tm="0">
                                          <p:val>
                                            <p:strVal val="#ppt_x"/>
                                          </p:val>
                                        </p:tav>
                                        <p:tav tm="100000">
                                          <p:val>
                                            <p:strVal val="#ppt_x"/>
                                          </p:val>
                                        </p:tav>
                                      </p:tavLst>
                                    </p:anim>
                                    <p:anim calcmode="lin" valueType="num">
                                      <p:cBhvr additive="base">
                                        <p:cTn id="36" dur="500" fill="hold"/>
                                        <p:tgtEl>
                                          <p:spTgt spid="212379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123791"/>
                                        </p:tgtEl>
                                        <p:attrNameLst>
                                          <p:attrName>style.visibility</p:attrName>
                                        </p:attrNameLst>
                                      </p:cBhvr>
                                      <p:to>
                                        <p:strVal val="visible"/>
                                      </p:to>
                                    </p:set>
                                    <p:anim calcmode="lin" valueType="num">
                                      <p:cBhvr additive="base">
                                        <p:cTn id="41" dur="500" fill="hold"/>
                                        <p:tgtEl>
                                          <p:spTgt spid="2123791"/>
                                        </p:tgtEl>
                                        <p:attrNameLst>
                                          <p:attrName>ppt_x</p:attrName>
                                        </p:attrNameLst>
                                      </p:cBhvr>
                                      <p:tavLst>
                                        <p:tav tm="0">
                                          <p:val>
                                            <p:strVal val="#ppt_x"/>
                                          </p:val>
                                        </p:tav>
                                        <p:tav tm="100000">
                                          <p:val>
                                            <p:strVal val="#ppt_x"/>
                                          </p:val>
                                        </p:tav>
                                      </p:tavLst>
                                    </p:anim>
                                    <p:anim calcmode="lin" valueType="num">
                                      <p:cBhvr additive="base">
                                        <p:cTn id="42" dur="500" fill="hold"/>
                                        <p:tgtEl>
                                          <p:spTgt spid="21237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7489472" y="2867972"/>
            <a:ext cx="4009976" cy="3664440"/>
          </a:xfrm>
          <a:prstGeom prst="rect">
            <a:avLst/>
          </a:prstGeom>
        </p:spPr>
      </p:pic>
      <p:sp>
        <p:nvSpPr>
          <p:cNvPr id="2142210" name="Text Box 5"/>
          <p:cNvSpPr txBox="1">
            <a:spLocks noChangeArrowheads="1"/>
          </p:cNvSpPr>
          <p:nvPr/>
        </p:nvSpPr>
        <p:spPr bwMode="auto">
          <a:xfrm>
            <a:off x="811212" y="1948532"/>
            <a:ext cx="1057722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30000"/>
              </a:lnSpc>
              <a:spcBef>
                <a:spcPct val="20000"/>
              </a:spcBef>
              <a:buClr>
                <a:srgbClr val="0066FF"/>
              </a:buClr>
              <a:buFont typeface="Wingdings" panose="05000000000000000000" pitchFamily="2" charset="2"/>
              <a:buNone/>
            </a:pPr>
            <a:r>
              <a:rPr lang="zh-CN" altLang="en-US" dirty="0">
                <a:solidFill>
                  <a:srgbClr val="FF0066"/>
                </a:solidFill>
                <a:latin typeface="微软雅黑" panose="020B0503020204020204" pitchFamily="34" charset="-122"/>
                <a:ea typeface="微软雅黑" panose="020B0503020204020204" pitchFamily="34" charset="-122"/>
              </a:rPr>
              <a:t>数据结构</a:t>
            </a:r>
            <a:r>
              <a:rPr lang="zh-CN" altLang="en-US" dirty="0">
                <a:solidFill>
                  <a:schemeClr val="accent2"/>
                </a:solidFill>
                <a:ea typeface="宋体" pitchFamily="2" charset="-122"/>
              </a:rPr>
              <a:t>是数据的逻辑结构、存储结构及其操作的总称，它提供了问题求解</a:t>
            </a:r>
            <a:r>
              <a:rPr lang="en-US" altLang="zh-CN" dirty="0">
                <a:solidFill>
                  <a:schemeClr val="accent2"/>
                </a:solidFill>
                <a:ea typeface="宋体" pitchFamily="2" charset="-122"/>
              </a:rPr>
              <a:t>/</a:t>
            </a:r>
            <a:r>
              <a:rPr lang="zh-CN" altLang="en-US" dirty="0">
                <a:solidFill>
                  <a:schemeClr val="accent2"/>
                </a:solidFill>
                <a:ea typeface="宋体" pitchFamily="2" charset="-122"/>
              </a:rPr>
              <a:t>算法的数据操纵机制。</a:t>
            </a:r>
            <a:endParaRPr lang="zh-CN" altLang="en-US" b="0" dirty="0">
              <a:ea typeface="宋体" pitchFamily="2" charset="-122"/>
            </a:endParaRPr>
          </a:p>
        </p:txBody>
      </p:sp>
      <p:grpSp>
        <p:nvGrpSpPr>
          <p:cNvPr id="2142212" name="Group 4"/>
          <p:cNvGrpSpPr/>
          <p:nvPr/>
        </p:nvGrpSpPr>
        <p:grpSpPr bwMode="auto">
          <a:xfrm>
            <a:off x="952035" y="4153299"/>
            <a:ext cx="1690688" cy="1531937"/>
            <a:chOff x="1383" y="2717"/>
            <a:chExt cx="1065" cy="965"/>
          </a:xfrm>
        </p:grpSpPr>
        <p:sp>
          <p:nvSpPr>
            <p:cNvPr id="20" name="AutoShape 39"/>
            <p:cNvSpPr>
              <a:spLocks noChangeArrowheads="1"/>
            </p:cNvSpPr>
            <p:nvPr/>
          </p:nvSpPr>
          <p:spPr bwMode="gray">
            <a:xfrm>
              <a:off x="1383" y="2717"/>
              <a:ext cx="1065" cy="96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1" name="Oval 40"/>
            <p:cNvSpPr>
              <a:spLocks noChangeArrowheads="1"/>
            </p:cNvSpPr>
            <p:nvPr/>
          </p:nvSpPr>
          <p:spPr bwMode="gray">
            <a:xfrm>
              <a:off x="1471" y="2797"/>
              <a:ext cx="889" cy="806"/>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1800">
                <a:solidFill>
                  <a:srgbClr val="000000"/>
                </a:solidFill>
                <a:latin typeface="宋体" pitchFamily="2" charset="-122"/>
                <a:ea typeface="宋体" pitchFamily="2" charset="-122"/>
              </a:endParaRPr>
            </a:p>
          </p:txBody>
        </p:sp>
        <p:sp>
          <p:nvSpPr>
            <p:cNvPr id="2" name="Text Box 84"/>
            <p:cNvSpPr txBox="1">
              <a:spLocks noChangeArrowheads="1"/>
            </p:cNvSpPr>
            <p:nvPr/>
          </p:nvSpPr>
          <p:spPr bwMode="auto">
            <a:xfrm>
              <a:off x="1474" y="2941"/>
              <a:ext cx="906"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en-US" altLang="zh-CN">
                  <a:solidFill>
                    <a:srgbClr val="FFFFFF"/>
                  </a:solidFill>
                  <a:latin typeface="宋体" pitchFamily="2" charset="-122"/>
                  <a:ea typeface="华文中宋" panose="02010600040101010101" pitchFamily="2" charset="-122"/>
                </a:rPr>
                <a:t>(</a:t>
              </a:r>
              <a:r>
                <a:rPr kumimoji="0" lang="zh-CN" altLang="en-US">
                  <a:solidFill>
                    <a:srgbClr val="FFFFFF"/>
                  </a:solidFill>
                  <a:latin typeface="宋体" pitchFamily="2" charset="-122"/>
                  <a:ea typeface="华文中宋" panose="02010600040101010101" pitchFamily="2" charset="-122"/>
                </a:rPr>
                <a:t>数据的</a:t>
              </a:r>
              <a:r>
                <a:rPr kumimoji="0" lang="en-US" altLang="zh-CN">
                  <a:solidFill>
                    <a:srgbClr val="FFFFFF"/>
                  </a:solidFill>
                  <a:latin typeface="宋体" pitchFamily="2" charset="-122"/>
                  <a:ea typeface="华文中宋" panose="02010600040101010101" pitchFamily="2" charset="-122"/>
                </a:rPr>
                <a:t>)</a:t>
              </a:r>
              <a:r>
                <a:rPr kumimoji="0" lang="zh-CN" altLang="en-US">
                  <a:solidFill>
                    <a:srgbClr val="FFFFFF"/>
                  </a:solidFill>
                  <a:latin typeface="宋体" pitchFamily="2" charset="-122"/>
                  <a:ea typeface="华文中宋" panose="02010600040101010101" pitchFamily="2" charset="-122"/>
                </a:rPr>
                <a:t>逻辑结构</a:t>
              </a:r>
            </a:p>
          </p:txBody>
        </p:sp>
      </p:grpSp>
      <p:grpSp>
        <p:nvGrpSpPr>
          <p:cNvPr id="2142216" name="Group 8"/>
          <p:cNvGrpSpPr/>
          <p:nvPr/>
        </p:nvGrpSpPr>
        <p:grpSpPr bwMode="auto">
          <a:xfrm>
            <a:off x="4911260" y="3934224"/>
            <a:ext cx="1697038" cy="1531937"/>
            <a:chOff x="3986" y="2565"/>
            <a:chExt cx="1069" cy="965"/>
          </a:xfrm>
        </p:grpSpPr>
        <p:sp>
          <p:nvSpPr>
            <p:cNvPr id="3" name="AutoShape 39"/>
            <p:cNvSpPr>
              <a:spLocks noChangeArrowheads="1"/>
            </p:cNvSpPr>
            <p:nvPr/>
          </p:nvSpPr>
          <p:spPr bwMode="gray">
            <a:xfrm>
              <a:off x="3986" y="2565"/>
              <a:ext cx="1065" cy="96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4" name="Oval 40"/>
            <p:cNvSpPr>
              <a:spLocks noChangeArrowheads="1"/>
            </p:cNvSpPr>
            <p:nvPr/>
          </p:nvSpPr>
          <p:spPr bwMode="gray">
            <a:xfrm>
              <a:off x="4074" y="2645"/>
              <a:ext cx="889" cy="806"/>
            </a:xfrm>
            <a:prstGeom prst="ellipse">
              <a:avLst/>
            </a:prstGeom>
            <a:solidFill>
              <a:srgbClr val="0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5" name="Text Box 84"/>
            <p:cNvSpPr txBox="1">
              <a:spLocks noChangeArrowheads="1"/>
            </p:cNvSpPr>
            <p:nvPr/>
          </p:nvSpPr>
          <p:spPr bwMode="auto">
            <a:xfrm>
              <a:off x="4057" y="2788"/>
              <a:ext cx="998"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en-US" altLang="zh-CN">
                  <a:solidFill>
                    <a:srgbClr val="FFFFFF"/>
                  </a:solidFill>
                  <a:latin typeface="宋体" pitchFamily="2" charset="-122"/>
                  <a:ea typeface="华文中宋" panose="02010600040101010101" pitchFamily="2" charset="-122"/>
                </a:rPr>
                <a:t>(</a:t>
              </a:r>
              <a:r>
                <a:rPr kumimoji="0" lang="zh-CN" altLang="en-US">
                  <a:solidFill>
                    <a:srgbClr val="FFFFFF"/>
                  </a:solidFill>
                  <a:latin typeface="宋体" pitchFamily="2" charset="-122"/>
                  <a:ea typeface="华文中宋" panose="02010600040101010101" pitchFamily="2" charset="-122"/>
                </a:rPr>
                <a:t>数据的</a:t>
              </a:r>
              <a:r>
                <a:rPr kumimoji="0" lang="en-US" altLang="zh-CN">
                  <a:solidFill>
                    <a:srgbClr val="FFFFFF"/>
                  </a:solidFill>
                  <a:latin typeface="宋体" pitchFamily="2" charset="-122"/>
                  <a:ea typeface="华文中宋" panose="02010600040101010101" pitchFamily="2" charset="-122"/>
                </a:rPr>
                <a:t>)</a:t>
              </a:r>
              <a:r>
                <a:rPr kumimoji="0" lang="zh-CN" altLang="en-US">
                  <a:solidFill>
                    <a:srgbClr val="FFFFFF"/>
                  </a:solidFill>
                  <a:latin typeface="宋体" pitchFamily="2" charset="-122"/>
                  <a:ea typeface="华文中宋" panose="02010600040101010101" pitchFamily="2" charset="-122"/>
                </a:rPr>
                <a:t>存储结构</a:t>
              </a:r>
            </a:p>
          </p:txBody>
        </p:sp>
      </p:grpSp>
      <p:grpSp>
        <p:nvGrpSpPr>
          <p:cNvPr id="2142220" name="Group 12"/>
          <p:cNvGrpSpPr/>
          <p:nvPr/>
        </p:nvGrpSpPr>
        <p:grpSpPr bwMode="auto">
          <a:xfrm>
            <a:off x="5312899" y="5097860"/>
            <a:ext cx="909637" cy="782638"/>
            <a:chOff x="3929" y="3514"/>
            <a:chExt cx="573" cy="493"/>
          </a:xfrm>
        </p:grpSpPr>
        <p:grpSp>
          <p:nvGrpSpPr>
            <p:cNvPr id="2142221" name="Group 13"/>
            <p:cNvGrpSpPr/>
            <p:nvPr/>
          </p:nvGrpSpPr>
          <p:grpSpPr bwMode="auto">
            <a:xfrm>
              <a:off x="3929" y="3514"/>
              <a:ext cx="573" cy="493"/>
              <a:chOff x="3638" y="3355"/>
              <a:chExt cx="1065" cy="965"/>
            </a:xfrm>
          </p:grpSpPr>
          <p:sp>
            <p:nvSpPr>
              <p:cNvPr id="14" name="AutoShape 39"/>
              <p:cNvSpPr>
                <a:spLocks noChangeArrowheads="1"/>
              </p:cNvSpPr>
              <p:nvPr/>
            </p:nvSpPr>
            <p:spPr bwMode="gray">
              <a:xfrm>
                <a:off x="3638" y="3355"/>
                <a:ext cx="1065" cy="96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sp>
            <p:nvSpPr>
              <p:cNvPr id="15" name="Oval 40"/>
              <p:cNvSpPr>
                <a:spLocks noChangeArrowheads="1"/>
              </p:cNvSpPr>
              <p:nvPr/>
            </p:nvSpPr>
            <p:spPr bwMode="gray">
              <a:xfrm>
                <a:off x="3725" y="3435"/>
                <a:ext cx="890" cy="806"/>
              </a:xfrm>
              <a:prstGeom prst="ellipse">
                <a:avLst/>
              </a:prstGeom>
              <a:solidFill>
                <a:srgbClr val="008000"/>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000">
                  <a:solidFill>
                    <a:srgbClr val="000000"/>
                  </a:solidFill>
                  <a:latin typeface="宋体" pitchFamily="2" charset="-122"/>
                  <a:ea typeface="宋体" pitchFamily="2" charset="-122"/>
                </a:endParaRPr>
              </a:p>
            </p:txBody>
          </p:sp>
        </p:grpSp>
        <p:sp>
          <p:nvSpPr>
            <p:cNvPr id="16" name="Text Box 84"/>
            <p:cNvSpPr txBox="1">
              <a:spLocks noChangeArrowheads="1"/>
            </p:cNvSpPr>
            <p:nvPr/>
          </p:nvSpPr>
          <p:spPr bwMode="auto">
            <a:xfrm>
              <a:off x="3966" y="3596"/>
              <a:ext cx="522" cy="288"/>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r>
                <a:rPr kumimoji="0" lang="zh-CN" altLang="en-US">
                  <a:solidFill>
                    <a:srgbClr val="FFFFFF"/>
                  </a:solidFill>
                  <a:latin typeface="宋体" pitchFamily="2" charset="-122"/>
                  <a:ea typeface="华文中宋" panose="02010600040101010101" pitchFamily="2" charset="-122"/>
                </a:rPr>
                <a:t>操作</a:t>
              </a:r>
            </a:p>
          </p:txBody>
        </p:sp>
      </p:grpSp>
      <p:sp>
        <p:nvSpPr>
          <p:cNvPr id="2142225" name="Freeform 17"/>
          <p:cNvSpPr/>
          <p:nvPr/>
        </p:nvSpPr>
        <p:spPr bwMode="auto">
          <a:xfrm>
            <a:off x="2149011" y="3804049"/>
            <a:ext cx="2995613" cy="447675"/>
          </a:xfrm>
          <a:custGeom>
            <a:avLst/>
            <a:gdLst>
              <a:gd name="T0" fmla="*/ 0 w 1887"/>
              <a:gd name="T1" fmla="*/ 282 h 282"/>
              <a:gd name="T2" fmla="*/ 710 w 1887"/>
              <a:gd name="T3" fmla="*/ 32 h 282"/>
              <a:gd name="T4" fmla="*/ 1453 w 1887"/>
              <a:gd name="T5" fmla="*/ 90 h 282"/>
              <a:gd name="T6" fmla="*/ 1887 w 1887"/>
              <a:gd name="T7" fmla="*/ 240 h 282"/>
            </a:gdLst>
            <a:ahLst/>
            <a:cxnLst>
              <a:cxn ang="0">
                <a:pos x="T0" y="T1"/>
              </a:cxn>
              <a:cxn ang="0">
                <a:pos x="T2" y="T3"/>
              </a:cxn>
              <a:cxn ang="0">
                <a:pos x="T4" y="T5"/>
              </a:cxn>
              <a:cxn ang="0">
                <a:pos x="T6" y="T7"/>
              </a:cxn>
            </a:cxnLst>
            <a:rect l="0" t="0" r="r" b="b"/>
            <a:pathLst>
              <a:path w="1887" h="282">
                <a:moveTo>
                  <a:pt x="0" y="282"/>
                </a:moveTo>
                <a:cubicBezTo>
                  <a:pt x="234" y="173"/>
                  <a:pt x="468" y="64"/>
                  <a:pt x="710" y="32"/>
                </a:cubicBezTo>
                <a:cubicBezTo>
                  <a:pt x="952" y="0"/>
                  <a:pt x="1257" y="55"/>
                  <a:pt x="1453" y="90"/>
                </a:cubicBezTo>
                <a:cubicBezTo>
                  <a:pt x="1649" y="125"/>
                  <a:pt x="1768" y="182"/>
                  <a:pt x="1887" y="240"/>
                </a:cubicBezTo>
              </a:path>
            </a:pathLst>
          </a:custGeom>
          <a:noFill/>
          <a:ln w="38100"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2226" name="Freeform 18"/>
          <p:cNvSpPr/>
          <p:nvPr/>
        </p:nvSpPr>
        <p:spPr bwMode="auto">
          <a:xfrm>
            <a:off x="2042648" y="5629673"/>
            <a:ext cx="3459162" cy="512762"/>
          </a:xfrm>
          <a:custGeom>
            <a:avLst/>
            <a:gdLst>
              <a:gd name="T0" fmla="*/ 2179 w 2179"/>
              <a:gd name="T1" fmla="*/ 109 h 323"/>
              <a:gd name="T2" fmla="*/ 1812 w 2179"/>
              <a:gd name="T3" fmla="*/ 259 h 323"/>
              <a:gd name="T4" fmla="*/ 1152 w 2179"/>
              <a:gd name="T5" fmla="*/ 309 h 323"/>
              <a:gd name="T6" fmla="*/ 459 w 2179"/>
              <a:gd name="T7" fmla="*/ 176 h 323"/>
              <a:gd name="T8" fmla="*/ 0 w 2179"/>
              <a:gd name="T9" fmla="*/ 0 h 323"/>
            </a:gdLst>
            <a:ahLst/>
            <a:cxnLst>
              <a:cxn ang="0">
                <a:pos x="T0" y="T1"/>
              </a:cxn>
              <a:cxn ang="0">
                <a:pos x="T2" y="T3"/>
              </a:cxn>
              <a:cxn ang="0">
                <a:pos x="T4" y="T5"/>
              </a:cxn>
              <a:cxn ang="0">
                <a:pos x="T6" y="T7"/>
              </a:cxn>
              <a:cxn ang="0">
                <a:pos x="T8" y="T9"/>
              </a:cxn>
            </a:cxnLst>
            <a:rect l="0" t="0" r="r" b="b"/>
            <a:pathLst>
              <a:path w="2179" h="323">
                <a:moveTo>
                  <a:pt x="2179" y="109"/>
                </a:moveTo>
                <a:cubicBezTo>
                  <a:pt x="2118" y="134"/>
                  <a:pt x="1983" y="226"/>
                  <a:pt x="1812" y="259"/>
                </a:cubicBezTo>
                <a:cubicBezTo>
                  <a:pt x="1641" y="292"/>
                  <a:pt x="1377" y="323"/>
                  <a:pt x="1152" y="309"/>
                </a:cubicBezTo>
                <a:cubicBezTo>
                  <a:pt x="927" y="295"/>
                  <a:pt x="651" y="227"/>
                  <a:pt x="459" y="176"/>
                </a:cubicBezTo>
                <a:cubicBezTo>
                  <a:pt x="267" y="125"/>
                  <a:pt x="96" y="37"/>
                  <a:pt x="0" y="0"/>
                </a:cubicBezTo>
              </a:path>
            </a:pathLst>
          </a:custGeom>
          <a:noFill/>
          <a:ln w="38100"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2227" name="Text Box 19"/>
          <p:cNvSpPr txBox="1">
            <a:spLocks noChangeArrowheads="1"/>
          </p:cNvSpPr>
          <p:nvPr/>
        </p:nvSpPr>
        <p:spPr bwMode="auto">
          <a:xfrm>
            <a:off x="2890373" y="5588399"/>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反映逻辑语义关系</a:t>
            </a:r>
          </a:p>
        </p:txBody>
      </p:sp>
      <p:sp>
        <p:nvSpPr>
          <p:cNvPr id="2142228" name="Text Box 20"/>
          <p:cNvSpPr txBox="1">
            <a:spLocks noChangeArrowheads="1"/>
          </p:cNvSpPr>
          <p:nvPr/>
        </p:nvSpPr>
        <p:spPr bwMode="auto">
          <a:xfrm>
            <a:off x="2539535" y="3965974"/>
            <a:ext cx="248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为便于计算系统处理</a:t>
            </a:r>
          </a:p>
        </p:txBody>
      </p:sp>
      <p:pic>
        <p:nvPicPr>
          <p:cNvPr id="2142229" name="Picture 21"/>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27273" y="5172473"/>
            <a:ext cx="1066800" cy="1054100"/>
          </a:xfrm>
          <a:prstGeom prst="rect">
            <a:avLst/>
          </a:prstGeom>
          <a:noFill/>
          <a:ln>
            <a:noFill/>
          </a:ln>
          <a:effectLst/>
          <a:extLst>
            <a:ext uri="{909E8E84-426E-40DD-AFC4-6F175D3DCCD1}">
              <a14:hiddenFill xmlns:a14="http://schemas.microsoft.com/office/drawing/2010/main">
                <a:solidFill>
                  <a:srgbClr val="FFFFE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圆角矩形 2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为什么需要数据结构</a:t>
            </a:r>
          </a:p>
        </p:txBody>
      </p:sp>
      <p:sp>
        <p:nvSpPr>
          <p:cNvPr id="27"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问题：算法的数据结构及其操作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42210">
                                            <p:txEl>
                                              <p:pRg st="0" end="0"/>
                                            </p:txEl>
                                          </p:spTgt>
                                        </p:tgtEl>
                                        <p:attrNameLst>
                                          <p:attrName>style.visibility</p:attrName>
                                        </p:attrNameLst>
                                      </p:cBhvr>
                                      <p:to>
                                        <p:strVal val="visible"/>
                                      </p:to>
                                    </p:set>
                                    <p:anim calcmode="lin" valueType="num">
                                      <p:cBhvr additive="base">
                                        <p:cTn id="7" dur="500" fill="hold"/>
                                        <p:tgtEl>
                                          <p:spTgt spid="21422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422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24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2492" y="3194054"/>
            <a:ext cx="4457700" cy="1533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2452" name="Text Box 5"/>
          <p:cNvSpPr txBox="1">
            <a:spLocks noChangeArrowheads="1"/>
          </p:cNvSpPr>
          <p:nvPr/>
        </p:nvSpPr>
        <p:spPr bwMode="auto">
          <a:xfrm>
            <a:off x="1361063" y="2026782"/>
            <a:ext cx="10020300" cy="365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rgbClr val="0066FF"/>
              </a:buClr>
              <a:buFont typeface="Wingdings" panose="05000000000000000000" pitchFamily="2" charset="2"/>
              <a:buNone/>
            </a:pPr>
            <a:r>
              <a:rPr lang="zh-CN" altLang="en-US" b="0" dirty="0">
                <a:solidFill>
                  <a:srgbClr val="000000"/>
                </a:solidFill>
                <a:latin typeface="Times New Roman" panose="02020503050405090304" pitchFamily="18" charset="0"/>
                <a:cs typeface="Times New Roman" panose="02020503050405090304" pitchFamily="18" charset="0"/>
              </a:rPr>
              <a:t>城市映射为编号</a:t>
            </a:r>
            <a:r>
              <a:rPr lang="en-US" altLang="zh-CN" b="0" dirty="0">
                <a:solidFill>
                  <a:srgbClr val="000000"/>
                </a:solidFill>
                <a:latin typeface="Times New Roman" panose="02020503050405090304" pitchFamily="18" charset="0"/>
                <a:cs typeface="Times New Roman" panose="02020503050405090304" pitchFamily="18" charset="0"/>
              </a:rPr>
              <a:t>: </a:t>
            </a:r>
            <a:r>
              <a:rPr lang="en-US" altLang="zh-CN" b="0" dirty="0">
                <a:solidFill>
                  <a:schemeClr val="accent2"/>
                </a:solidFill>
                <a:latin typeface="Times New Roman" panose="02020503050405090304" pitchFamily="18" charset="0"/>
                <a:cs typeface="Times New Roman" panose="02020503050405090304" pitchFamily="18" charset="0"/>
              </a:rPr>
              <a:t>A</a:t>
            </a:r>
            <a:r>
              <a:rPr lang="en-US" altLang="zh-CN" b="0" dirty="0">
                <a:latin typeface="Times New Roman" panose="02020503050405090304" pitchFamily="18" charset="0"/>
                <a:cs typeface="Times New Roman" panose="02020503050405090304" pitchFamily="18" charset="0"/>
              </a:rPr>
              <a:t>---</a:t>
            </a:r>
            <a:r>
              <a:rPr lang="en-US" altLang="zh-CN" b="0" dirty="0">
                <a:solidFill>
                  <a:schemeClr val="accent2"/>
                </a:solidFill>
                <a:latin typeface="Times New Roman" panose="02020503050405090304" pitchFamily="18" charset="0"/>
                <a:cs typeface="Times New Roman" panose="02020503050405090304" pitchFamily="18" charset="0"/>
              </a:rPr>
              <a:t>1, B</a:t>
            </a:r>
            <a:r>
              <a:rPr lang="en-US" altLang="zh-CN" b="0" dirty="0">
                <a:latin typeface="Times New Roman" panose="02020503050405090304" pitchFamily="18" charset="0"/>
                <a:cs typeface="Times New Roman" panose="02020503050405090304" pitchFamily="18" charset="0"/>
              </a:rPr>
              <a:t>---</a:t>
            </a:r>
            <a:r>
              <a:rPr lang="en-US" altLang="zh-CN" b="0" dirty="0">
                <a:solidFill>
                  <a:schemeClr val="accent2"/>
                </a:solidFill>
                <a:latin typeface="Times New Roman" panose="02020503050405090304" pitchFamily="18" charset="0"/>
                <a:cs typeface="Times New Roman" panose="02020503050405090304" pitchFamily="18" charset="0"/>
              </a:rPr>
              <a:t>2, C</a:t>
            </a:r>
            <a:r>
              <a:rPr lang="en-US" altLang="zh-CN" b="0" dirty="0">
                <a:latin typeface="Times New Roman" panose="02020503050405090304" pitchFamily="18" charset="0"/>
                <a:cs typeface="Times New Roman" panose="02020503050405090304" pitchFamily="18" charset="0"/>
              </a:rPr>
              <a:t>---</a:t>
            </a:r>
            <a:r>
              <a:rPr lang="en-US" altLang="zh-CN" b="0" dirty="0">
                <a:solidFill>
                  <a:schemeClr val="accent2"/>
                </a:solidFill>
                <a:latin typeface="Times New Roman" panose="02020503050405090304" pitchFamily="18" charset="0"/>
                <a:cs typeface="Times New Roman" panose="02020503050405090304" pitchFamily="18" charset="0"/>
              </a:rPr>
              <a:t>3, D</a:t>
            </a:r>
            <a:r>
              <a:rPr lang="en-US" altLang="zh-CN" b="0" dirty="0">
                <a:latin typeface="Times New Roman" panose="02020503050405090304" pitchFamily="18" charset="0"/>
                <a:cs typeface="Times New Roman" panose="02020503050405090304" pitchFamily="18" charset="0"/>
              </a:rPr>
              <a:t>---</a:t>
            </a:r>
            <a:r>
              <a:rPr lang="en-US" altLang="zh-CN" b="0" dirty="0">
                <a:solidFill>
                  <a:schemeClr val="accent2"/>
                </a:solidFill>
                <a:latin typeface="Times New Roman" panose="02020503050405090304" pitchFamily="18" charset="0"/>
                <a:cs typeface="Times New Roman" panose="02020503050405090304" pitchFamily="18" charset="0"/>
              </a:rPr>
              <a:t>4</a:t>
            </a:r>
          </a:p>
          <a:p>
            <a:pPr algn="just" eaLnBrk="1" hangingPunct="1">
              <a:lnSpc>
                <a:spcPct val="130000"/>
              </a:lnSpc>
              <a:buClr>
                <a:srgbClr val="0066FF"/>
              </a:buClr>
              <a:buFont typeface="Wingdings" panose="05000000000000000000" pitchFamily="2" charset="2"/>
              <a:buNone/>
            </a:pPr>
            <a:r>
              <a:rPr lang="zh-CN" altLang="en-US" b="0" dirty="0">
                <a:solidFill>
                  <a:srgbClr val="000000"/>
                </a:solidFill>
                <a:latin typeface="Times New Roman" panose="02020503050405090304" pitchFamily="18" charset="0"/>
                <a:cs typeface="Times New Roman" panose="02020503050405090304" pitchFamily="18" charset="0"/>
              </a:rPr>
              <a:t>城市间距离关系</a:t>
            </a:r>
            <a:r>
              <a:rPr lang="en-US" altLang="zh-CN" b="0" dirty="0">
                <a:solidFill>
                  <a:srgbClr val="000000"/>
                </a:solidFill>
                <a:latin typeface="Times New Roman" panose="02020503050405090304" pitchFamily="18" charset="0"/>
                <a:cs typeface="Times New Roman" panose="02020503050405090304" pitchFamily="18" charset="0"/>
              </a:rPr>
              <a:t>: </a:t>
            </a:r>
            <a:r>
              <a:rPr lang="zh-CN" altLang="en-US" b="0" dirty="0">
                <a:solidFill>
                  <a:srgbClr val="000000"/>
                </a:solidFill>
                <a:latin typeface="Times New Roman" panose="02020503050405090304" pitchFamily="18" charset="0"/>
                <a:cs typeface="Times New Roman" panose="02020503050405090304" pitchFamily="18" charset="0"/>
              </a:rPr>
              <a:t>二维</a:t>
            </a:r>
            <a:r>
              <a:rPr lang="zh-CN" altLang="en-US" b="0" dirty="0">
                <a:solidFill>
                  <a:schemeClr val="accent2"/>
                </a:solidFill>
                <a:latin typeface="Times New Roman" panose="02020503050405090304" pitchFamily="18" charset="0"/>
                <a:cs typeface="Times New Roman" panose="02020503050405090304" pitchFamily="18" charset="0"/>
              </a:rPr>
              <a:t>表</a:t>
            </a:r>
          </a:p>
          <a:p>
            <a:pPr algn="just" eaLnBrk="1" hangingPunct="1">
              <a:lnSpc>
                <a:spcPct val="130000"/>
              </a:lnSpc>
              <a:buClr>
                <a:srgbClr val="0066FF"/>
              </a:buClr>
              <a:buFont typeface="Wingdings" panose="05000000000000000000" pitchFamily="2" charset="2"/>
              <a:buChar char="u"/>
            </a:pPr>
            <a:endParaRPr lang="zh-CN" altLang="en-US" b="0" dirty="0">
              <a:solidFill>
                <a:schemeClr val="accent2"/>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endParaRPr lang="zh-CN" altLang="en-US"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endParaRPr lang="zh-CN" altLang="en-US"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endParaRPr lang="zh-CN" altLang="en-US"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endParaRPr lang="zh-CN" altLang="en-US"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buFont typeface="Wingdings" panose="05000000000000000000" pitchFamily="2" charset="2"/>
              <a:buChar char="u"/>
            </a:pPr>
            <a:endParaRPr lang="zh-CN" altLang="en-US" b="0" dirty="0">
              <a:solidFill>
                <a:srgbClr val="000000"/>
              </a:solidFill>
              <a:latin typeface="Times New Roman" panose="02020503050405090304" pitchFamily="18" charset="0"/>
              <a:cs typeface="Times New Roman" panose="02020503050405090304" pitchFamily="18" charset="0"/>
            </a:endParaRPr>
          </a:p>
          <a:p>
            <a:pPr algn="just" eaLnBrk="1" hangingPunct="1">
              <a:lnSpc>
                <a:spcPct val="130000"/>
              </a:lnSpc>
              <a:buClr>
                <a:srgbClr val="0066FF"/>
              </a:buClr>
            </a:pPr>
            <a:r>
              <a:rPr lang="zh-CN" altLang="en-US" b="0" dirty="0">
                <a:solidFill>
                  <a:schemeClr val="accent2"/>
                </a:solidFill>
                <a:latin typeface="Times New Roman" panose="02020503050405090304" pitchFamily="18" charset="0"/>
                <a:cs typeface="Times New Roman" panose="02020503050405090304" pitchFamily="18" charset="0"/>
              </a:rPr>
              <a:t>城市的访问顺序：一维表</a:t>
            </a:r>
          </a:p>
        </p:txBody>
      </p:sp>
      <p:graphicFrame>
        <p:nvGraphicFramePr>
          <p:cNvPr id="2152453" name="Group 5"/>
          <p:cNvGraphicFramePr>
            <a:graphicFrameLocks noGrp="1"/>
          </p:cNvGraphicFramePr>
          <p:nvPr/>
        </p:nvGraphicFramePr>
        <p:xfrm>
          <a:off x="3471304" y="5871037"/>
          <a:ext cx="1936750" cy="304800"/>
        </p:xfrm>
        <a:graphic>
          <a:graphicData uri="http://schemas.openxmlformats.org/drawingml/2006/table">
            <a:tbl>
              <a:tblPr/>
              <a:tblGrid>
                <a:gridCol w="484187">
                  <a:extLst>
                    <a:ext uri="{9D8B030D-6E8A-4147-A177-3AD203B41FA5}">
                      <a16:colId xmlns:a16="http://schemas.microsoft.com/office/drawing/2014/main" val="20000"/>
                    </a:ext>
                  </a:extLst>
                </a:gridCol>
                <a:gridCol w="493713">
                  <a:extLst>
                    <a:ext uri="{9D8B030D-6E8A-4147-A177-3AD203B41FA5}">
                      <a16:colId xmlns:a16="http://schemas.microsoft.com/office/drawing/2014/main" val="20001"/>
                    </a:ext>
                  </a:extLst>
                </a:gridCol>
                <a:gridCol w="474662">
                  <a:extLst>
                    <a:ext uri="{9D8B030D-6E8A-4147-A177-3AD203B41FA5}">
                      <a16:colId xmlns:a16="http://schemas.microsoft.com/office/drawing/2014/main" val="20002"/>
                    </a:ext>
                  </a:extLst>
                </a:gridCol>
                <a:gridCol w="484188">
                  <a:extLst>
                    <a:ext uri="{9D8B030D-6E8A-4147-A177-3AD203B41FA5}">
                      <a16:colId xmlns:a16="http://schemas.microsoft.com/office/drawing/2014/main" val="20003"/>
                    </a:ext>
                  </a:extLst>
                </a:gridCol>
              </a:tblGrid>
              <a:tr h="298450">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152465" name="Text Box 76"/>
          <p:cNvSpPr txBox="1">
            <a:spLocks noChangeArrowheads="1"/>
          </p:cNvSpPr>
          <p:nvPr/>
        </p:nvSpPr>
        <p:spPr bwMode="auto">
          <a:xfrm>
            <a:off x="5993841" y="5850399"/>
            <a:ext cx="1619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spcBef>
                <a:spcPct val="50000"/>
              </a:spcBef>
            </a:pPr>
            <a:r>
              <a:rPr lang="en-US" altLang="zh-CN" sz="1400" b="0">
                <a:ea typeface="隶书" panose="02010509060101010101" pitchFamily="49" charset="-122"/>
              </a:rPr>
              <a:t>{A-&gt;D-&gt;C-&gt;B-&gt;A}</a:t>
            </a:r>
          </a:p>
        </p:txBody>
      </p:sp>
      <p:sp>
        <p:nvSpPr>
          <p:cNvPr id="2152466" name="Text Box 18"/>
          <p:cNvSpPr txBox="1">
            <a:spLocks noChangeArrowheads="1"/>
          </p:cNvSpPr>
          <p:nvPr/>
        </p:nvSpPr>
        <p:spPr bwMode="auto">
          <a:xfrm>
            <a:off x="3156979" y="5815475"/>
            <a:ext cx="3365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kumimoji="0" lang="en-US" altLang="zh-CN" sz="1800" b="0"/>
              <a:t>S</a:t>
            </a:r>
          </a:p>
        </p:txBody>
      </p:sp>
      <p:sp>
        <p:nvSpPr>
          <p:cNvPr id="2152467" name="Text Box 19"/>
          <p:cNvSpPr txBox="1">
            <a:spLocks noChangeArrowheads="1"/>
          </p:cNvSpPr>
          <p:nvPr/>
        </p:nvSpPr>
        <p:spPr bwMode="auto">
          <a:xfrm>
            <a:off x="3474479" y="6158374"/>
            <a:ext cx="18907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kumimoji="0" lang="en-US" altLang="zh-CN" sz="1400" b="0"/>
              <a:t>S[1]   S[2]   S[3]   S[4]</a:t>
            </a:r>
          </a:p>
        </p:txBody>
      </p:sp>
      <p:sp>
        <p:nvSpPr>
          <p:cNvPr id="2152468" name="Rectangle 20"/>
          <p:cNvSpPr>
            <a:spLocks noChangeArrowheads="1"/>
          </p:cNvSpPr>
          <p:nvPr/>
        </p:nvSpPr>
        <p:spPr bwMode="auto">
          <a:xfrm>
            <a:off x="7276542" y="3473453"/>
            <a:ext cx="3492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en-US" altLang="zh-CN" sz="1800" b="0">
                <a:solidFill>
                  <a:schemeClr val="accent2"/>
                </a:solidFill>
              </a:rPr>
              <a:t>D</a:t>
            </a:r>
          </a:p>
        </p:txBody>
      </p:sp>
      <p:sp>
        <p:nvSpPr>
          <p:cNvPr id="2152469" name="Rectangle 21"/>
          <p:cNvSpPr>
            <a:spLocks noChangeArrowheads="1"/>
          </p:cNvSpPr>
          <p:nvPr/>
        </p:nvSpPr>
        <p:spPr bwMode="auto">
          <a:xfrm>
            <a:off x="3831668" y="3513140"/>
            <a:ext cx="3438525" cy="1238250"/>
          </a:xfrm>
          <a:prstGeom prst="rect">
            <a:avLst/>
          </a:prstGeom>
          <a:noFill/>
          <a:ln w="38100" algn="ctr">
            <a:solidFill>
              <a:schemeClr val="accent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2152470" name="Freeform 22"/>
          <p:cNvSpPr/>
          <p:nvPr/>
        </p:nvSpPr>
        <p:spPr bwMode="auto">
          <a:xfrm>
            <a:off x="6241492" y="4037016"/>
            <a:ext cx="2038350" cy="561975"/>
          </a:xfrm>
          <a:custGeom>
            <a:avLst/>
            <a:gdLst>
              <a:gd name="T0" fmla="*/ 0 w 1284"/>
              <a:gd name="T1" fmla="*/ 0 h 96"/>
              <a:gd name="T2" fmla="*/ 2147483646 w 1284"/>
              <a:gd name="T3" fmla="*/ 2147483646 h 96"/>
              <a:gd name="T4" fmla="*/ 2147483646 w 1284"/>
              <a:gd name="T5" fmla="*/ 2147483646 h 96"/>
              <a:gd name="T6" fmla="*/ 0 60000 65536"/>
              <a:gd name="T7" fmla="*/ 0 60000 65536"/>
              <a:gd name="T8" fmla="*/ 0 60000 65536"/>
            </a:gdLst>
            <a:ahLst/>
            <a:cxnLst>
              <a:cxn ang="T6">
                <a:pos x="T0" y="T1"/>
              </a:cxn>
              <a:cxn ang="T7">
                <a:pos x="T2" y="T3"/>
              </a:cxn>
              <a:cxn ang="T8">
                <a:pos x="T4" y="T5"/>
              </a:cxn>
            </a:cxnLst>
            <a:rect l="0" t="0" r="r" b="b"/>
            <a:pathLst>
              <a:path w="1284" h="96">
                <a:moveTo>
                  <a:pt x="0" y="0"/>
                </a:moveTo>
                <a:lnTo>
                  <a:pt x="252" y="96"/>
                </a:lnTo>
                <a:lnTo>
                  <a:pt x="1284" y="96"/>
                </a:lnTo>
              </a:path>
            </a:pathLst>
          </a:custGeom>
          <a:noFill/>
          <a:ln w="9525" cap="flat" cmpd="sng">
            <a:solidFill>
              <a:schemeClr val="accent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471" name="Rectangle 23"/>
          <p:cNvSpPr>
            <a:spLocks noChangeArrowheads="1"/>
          </p:cNvSpPr>
          <p:nvPr/>
        </p:nvSpPr>
        <p:spPr bwMode="auto">
          <a:xfrm>
            <a:off x="7627379" y="4292603"/>
            <a:ext cx="706438"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en-US" altLang="zh-CN" sz="1400" b="0">
                <a:solidFill>
                  <a:schemeClr val="accent2"/>
                </a:solidFill>
              </a:rPr>
              <a:t>D[2][3]</a:t>
            </a:r>
          </a:p>
        </p:txBody>
      </p:sp>
      <p:sp>
        <p:nvSpPr>
          <p:cNvPr id="1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问题：算法的数据结构设计</a:t>
            </a:r>
          </a:p>
        </p:txBody>
      </p:sp>
      <p:sp>
        <p:nvSpPr>
          <p:cNvPr id="16" name="圆角矩形 1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TSP</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问题的数据结构？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2452">
                                            <p:txEl>
                                              <p:pRg st="1" end="1"/>
                                            </p:txEl>
                                          </p:spTgt>
                                        </p:tgtEl>
                                        <p:attrNameLst>
                                          <p:attrName>style.visibility</p:attrName>
                                        </p:attrNameLst>
                                      </p:cBhvr>
                                      <p:to>
                                        <p:strVal val="visible"/>
                                      </p:to>
                                    </p:set>
                                    <p:anim calcmode="lin" valueType="num">
                                      <p:cBhvr additive="base">
                                        <p:cTn id="7" dur="500" fill="hold"/>
                                        <p:tgtEl>
                                          <p:spTgt spid="215245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2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2452">
                                            <p:txEl>
                                              <p:pRg st="8" end="8"/>
                                            </p:txEl>
                                          </p:spTgt>
                                        </p:tgtEl>
                                        <p:attrNameLst>
                                          <p:attrName>style.visibility</p:attrName>
                                        </p:attrNameLst>
                                      </p:cBhvr>
                                      <p:to>
                                        <p:strVal val="visible"/>
                                      </p:to>
                                    </p:set>
                                    <p:anim calcmode="lin" valueType="num">
                                      <p:cBhvr additive="base">
                                        <p:cTn id="13" dur="500" fill="hold"/>
                                        <p:tgtEl>
                                          <p:spTgt spid="2152452">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2452">
                                            <p:txEl>
                                              <p:pRg st="8" end="8"/>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52451"/>
                                        </p:tgtEl>
                                        <p:attrNameLst>
                                          <p:attrName>style.visibility</p:attrName>
                                        </p:attrNameLst>
                                      </p:cBhvr>
                                      <p:to>
                                        <p:strVal val="visible"/>
                                      </p:to>
                                    </p:set>
                                    <p:anim calcmode="lin" valueType="num">
                                      <p:cBhvr additive="base">
                                        <p:cTn id="17" dur="500" fill="hold"/>
                                        <p:tgtEl>
                                          <p:spTgt spid="2152451"/>
                                        </p:tgtEl>
                                        <p:attrNameLst>
                                          <p:attrName>ppt_x</p:attrName>
                                        </p:attrNameLst>
                                      </p:cBhvr>
                                      <p:tavLst>
                                        <p:tav tm="0">
                                          <p:val>
                                            <p:strVal val="#ppt_x"/>
                                          </p:val>
                                        </p:tav>
                                        <p:tav tm="100000">
                                          <p:val>
                                            <p:strVal val="#ppt_x"/>
                                          </p:val>
                                        </p:tav>
                                      </p:tavLst>
                                    </p:anim>
                                    <p:anim calcmode="lin" valueType="num">
                                      <p:cBhvr additive="base">
                                        <p:cTn id="18" dur="500" fill="hold"/>
                                        <p:tgtEl>
                                          <p:spTgt spid="215245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152468"/>
                                        </p:tgtEl>
                                        <p:attrNameLst>
                                          <p:attrName>style.visibility</p:attrName>
                                        </p:attrNameLst>
                                      </p:cBhvr>
                                      <p:to>
                                        <p:strVal val="visible"/>
                                      </p:to>
                                    </p:set>
                                    <p:anim calcmode="lin" valueType="num">
                                      <p:cBhvr additive="base">
                                        <p:cTn id="21" dur="500" fill="hold"/>
                                        <p:tgtEl>
                                          <p:spTgt spid="2152468"/>
                                        </p:tgtEl>
                                        <p:attrNameLst>
                                          <p:attrName>ppt_x</p:attrName>
                                        </p:attrNameLst>
                                      </p:cBhvr>
                                      <p:tavLst>
                                        <p:tav tm="0">
                                          <p:val>
                                            <p:strVal val="#ppt_x"/>
                                          </p:val>
                                        </p:tav>
                                        <p:tav tm="100000">
                                          <p:val>
                                            <p:strVal val="#ppt_x"/>
                                          </p:val>
                                        </p:tav>
                                      </p:tavLst>
                                    </p:anim>
                                    <p:anim calcmode="lin" valueType="num">
                                      <p:cBhvr additive="base">
                                        <p:cTn id="22" dur="500" fill="hold"/>
                                        <p:tgtEl>
                                          <p:spTgt spid="215246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52469"/>
                                        </p:tgtEl>
                                        <p:attrNameLst>
                                          <p:attrName>style.visibility</p:attrName>
                                        </p:attrNameLst>
                                      </p:cBhvr>
                                      <p:to>
                                        <p:strVal val="visible"/>
                                      </p:to>
                                    </p:set>
                                    <p:anim calcmode="lin" valueType="num">
                                      <p:cBhvr additive="base">
                                        <p:cTn id="25" dur="500" fill="hold"/>
                                        <p:tgtEl>
                                          <p:spTgt spid="2152469"/>
                                        </p:tgtEl>
                                        <p:attrNameLst>
                                          <p:attrName>ppt_x</p:attrName>
                                        </p:attrNameLst>
                                      </p:cBhvr>
                                      <p:tavLst>
                                        <p:tav tm="0">
                                          <p:val>
                                            <p:strVal val="#ppt_x"/>
                                          </p:val>
                                        </p:tav>
                                        <p:tav tm="100000">
                                          <p:val>
                                            <p:strVal val="#ppt_x"/>
                                          </p:val>
                                        </p:tav>
                                      </p:tavLst>
                                    </p:anim>
                                    <p:anim calcmode="lin" valueType="num">
                                      <p:cBhvr additive="base">
                                        <p:cTn id="26" dur="500" fill="hold"/>
                                        <p:tgtEl>
                                          <p:spTgt spid="215246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52470"/>
                                        </p:tgtEl>
                                        <p:attrNameLst>
                                          <p:attrName>style.visibility</p:attrName>
                                        </p:attrNameLst>
                                      </p:cBhvr>
                                      <p:to>
                                        <p:strVal val="visible"/>
                                      </p:to>
                                    </p:set>
                                    <p:anim calcmode="lin" valueType="num">
                                      <p:cBhvr additive="base">
                                        <p:cTn id="29" dur="500" fill="hold"/>
                                        <p:tgtEl>
                                          <p:spTgt spid="2152470"/>
                                        </p:tgtEl>
                                        <p:attrNameLst>
                                          <p:attrName>ppt_x</p:attrName>
                                        </p:attrNameLst>
                                      </p:cBhvr>
                                      <p:tavLst>
                                        <p:tav tm="0">
                                          <p:val>
                                            <p:strVal val="#ppt_x"/>
                                          </p:val>
                                        </p:tav>
                                        <p:tav tm="100000">
                                          <p:val>
                                            <p:strVal val="#ppt_x"/>
                                          </p:val>
                                        </p:tav>
                                      </p:tavLst>
                                    </p:anim>
                                    <p:anim calcmode="lin" valueType="num">
                                      <p:cBhvr additive="base">
                                        <p:cTn id="30" dur="500" fill="hold"/>
                                        <p:tgtEl>
                                          <p:spTgt spid="215247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152471"/>
                                        </p:tgtEl>
                                        <p:attrNameLst>
                                          <p:attrName>style.visibility</p:attrName>
                                        </p:attrNameLst>
                                      </p:cBhvr>
                                      <p:to>
                                        <p:strVal val="visible"/>
                                      </p:to>
                                    </p:set>
                                    <p:anim calcmode="lin" valueType="num">
                                      <p:cBhvr additive="base">
                                        <p:cTn id="33" dur="500" fill="hold"/>
                                        <p:tgtEl>
                                          <p:spTgt spid="2152471"/>
                                        </p:tgtEl>
                                        <p:attrNameLst>
                                          <p:attrName>ppt_x</p:attrName>
                                        </p:attrNameLst>
                                      </p:cBhvr>
                                      <p:tavLst>
                                        <p:tav tm="0">
                                          <p:val>
                                            <p:strVal val="#ppt_x"/>
                                          </p:val>
                                        </p:tav>
                                        <p:tav tm="100000">
                                          <p:val>
                                            <p:strVal val="#ppt_x"/>
                                          </p:val>
                                        </p:tav>
                                      </p:tavLst>
                                    </p:anim>
                                    <p:anim calcmode="lin" valueType="num">
                                      <p:cBhvr additive="base">
                                        <p:cTn id="34" dur="500" fill="hold"/>
                                        <p:tgtEl>
                                          <p:spTgt spid="215247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152466"/>
                                        </p:tgtEl>
                                        <p:attrNameLst>
                                          <p:attrName>style.visibility</p:attrName>
                                        </p:attrNameLst>
                                      </p:cBhvr>
                                      <p:to>
                                        <p:strVal val="visible"/>
                                      </p:to>
                                    </p:set>
                                    <p:anim calcmode="lin" valueType="num">
                                      <p:cBhvr additive="base">
                                        <p:cTn id="37" dur="500" fill="hold"/>
                                        <p:tgtEl>
                                          <p:spTgt spid="2152466"/>
                                        </p:tgtEl>
                                        <p:attrNameLst>
                                          <p:attrName>ppt_x</p:attrName>
                                        </p:attrNameLst>
                                      </p:cBhvr>
                                      <p:tavLst>
                                        <p:tav tm="0">
                                          <p:val>
                                            <p:strVal val="#ppt_x"/>
                                          </p:val>
                                        </p:tav>
                                        <p:tav tm="100000">
                                          <p:val>
                                            <p:strVal val="#ppt_x"/>
                                          </p:val>
                                        </p:tav>
                                      </p:tavLst>
                                    </p:anim>
                                    <p:anim calcmode="lin" valueType="num">
                                      <p:cBhvr additive="base">
                                        <p:cTn id="38" dur="500" fill="hold"/>
                                        <p:tgtEl>
                                          <p:spTgt spid="215246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152453"/>
                                        </p:tgtEl>
                                        <p:attrNameLst>
                                          <p:attrName>style.visibility</p:attrName>
                                        </p:attrNameLst>
                                      </p:cBhvr>
                                      <p:to>
                                        <p:strVal val="visible"/>
                                      </p:to>
                                    </p:set>
                                    <p:anim calcmode="lin" valueType="num">
                                      <p:cBhvr additive="base">
                                        <p:cTn id="41" dur="500" fill="hold"/>
                                        <p:tgtEl>
                                          <p:spTgt spid="2152453"/>
                                        </p:tgtEl>
                                        <p:attrNameLst>
                                          <p:attrName>ppt_x</p:attrName>
                                        </p:attrNameLst>
                                      </p:cBhvr>
                                      <p:tavLst>
                                        <p:tav tm="0">
                                          <p:val>
                                            <p:strVal val="#ppt_x"/>
                                          </p:val>
                                        </p:tav>
                                        <p:tav tm="100000">
                                          <p:val>
                                            <p:strVal val="#ppt_x"/>
                                          </p:val>
                                        </p:tav>
                                      </p:tavLst>
                                    </p:anim>
                                    <p:anim calcmode="lin" valueType="num">
                                      <p:cBhvr additive="base">
                                        <p:cTn id="42" dur="500" fill="hold"/>
                                        <p:tgtEl>
                                          <p:spTgt spid="215245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152465"/>
                                        </p:tgtEl>
                                        <p:attrNameLst>
                                          <p:attrName>style.visibility</p:attrName>
                                        </p:attrNameLst>
                                      </p:cBhvr>
                                      <p:to>
                                        <p:strVal val="visible"/>
                                      </p:to>
                                    </p:set>
                                    <p:anim calcmode="lin" valueType="num">
                                      <p:cBhvr additive="base">
                                        <p:cTn id="45" dur="500" fill="hold"/>
                                        <p:tgtEl>
                                          <p:spTgt spid="2152465"/>
                                        </p:tgtEl>
                                        <p:attrNameLst>
                                          <p:attrName>ppt_x</p:attrName>
                                        </p:attrNameLst>
                                      </p:cBhvr>
                                      <p:tavLst>
                                        <p:tav tm="0">
                                          <p:val>
                                            <p:strVal val="#ppt_x"/>
                                          </p:val>
                                        </p:tav>
                                        <p:tav tm="100000">
                                          <p:val>
                                            <p:strVal val="#ppt_x"/>
                                          </p:val>
                                        </p:tav>
                                      </p:tavLst>
                                    </p:anim>
                                    <p:anim calcmode="lin" valueType="num">
                                      <p:cBhvr additive="base">
                                        <p:cTn id="46" dur="500" fill="hold"/>
                                        <p:tgtEl>
                                          <p:spTgt spid="215246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152467"/>
                                        </p:tgtEl>
                                        <p:attrNameLst>
                                          <p:attrName>style.visibility</p:attrName>
                                        </p:attrNameLst>
                                      </p:cBhvr>
                                      <p:to>
                                        <p:strVal val="visible"/>
                                      </p:to>
                                    </p:set>
                                    <p:anim calcmode="lin" valueType="num">
                                      <p:cBhvr additive="base">
                                        <p:cTn id="49" dur="500" fill="hold"/>
                                        <p:tgtEl>
                                          <p:spTgt spid="2152467"/>
                                        </p:tgtEl>
                                        <p:attrNameLst>
                                          <p:attrName>ppt_x</p:attrName>
                                        </p:attrNameLst>
                                      </p:cBhvr>
                                      <p:tavLst>
                                        <p:tav tm="0">
                                          <p:val>
                                            <p:strVal val="#ppt_x"/>
                                          </p:val>
                                        </p:tav>
                                        <p:tav tm="100000">
                                          <p:val>
                                            <p:strVal val="#ppt_x"/>
                                          </p:val>
                                        </p:tav>
                                      </p:tavLst>
                                    </p:anim>
                                    <p:anim calcmode="lin" valueType="num">
                                      <p:cBhvr additive="base">
                                        <p:cTn id="50" dur="500" fill="hold"/>
                                        <p:tgtEl>
                                          <p:spTgt spid="21524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465" grpId="0"/>
      <p:bldP spid="2152466" grpId="0"/>
      <p:bldP spid="2152467" grpId="0"/>
      <p:bldP spid="2152468" grpId="0"/>
      <p:bldP spid="215247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6265" name="Rectangle 9"/>
          <p:cNvSpPr>
            <a:spLocks noChangeArrowheads="1"/>
          </p:cNvSpPr>
          <p:nvPr/>
        </p:nvSpPr>
        <p:spPr bwMode="auto">
          <a:xfrm>
            <a:off x="5566785" y="5361422"/>
            <a:ext cx="3029960" cy="465138"/>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6266" name="Rectangle 10"/>
          <p:cNvSpPr>
            <a:spLocks noChangeArrowheads="1"/>
          </p:cNvSpPr>
          <p:nvPr/>
        </p:nvSpPr>
        <p:spPr bwMode="auto">
          <a:xfrm>
            <a:off x="1095666" y="5807221"/>
            <a:ext cx="2474913" cy="465137"/>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6264" name="Rectangle 8"/>
          <p:cNvSpPr>
            <a:spLocks noChangeArrowheads="1"/>
          </p:cNvSpPr>
          <p:nvPr/>
        </p:nvSpPr>
        <p:spPr bwMode="auto">
          <a:xfrm>
            <a:off x="2837008" y="4889646"/>
            <a:ext cx="1693863" cy="465137"/>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6263" name="Rectangle 7"/>
          <p:cNvSpPr>
            <a:spLocks noChangeArrowheads="1"/>
          </p:cNvSpPr>
          <p:nvPr/>
        </p:nvSpPr>
        <p:spPr bwMode="auto">
          <a:xfrm>
            <a:off x="2779279" y="2689803"/>
            <a:ext cx="2203450" cy="465137"/>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6262" name="Rectangle 6"/>
          <p:cNvSpPr>
            <a:spLocks noChangeArrowheads="1"/>
          </p:cNvSpPr>
          <p:nvPr/>
        </p:nvSpPr>
        <p:spPr bwMode="auto">
          <a:xfrm>
            <a:off x="2782890" y="3173557"/>
            <a:ext cx="4151310" cy="465138"/>
          </a:xfrm>
          <a:prstGeom prst="rect">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6258" name="Text Box 5"/>
          <p:cNvSpPr txBox="1">
            <a:spLocks noChangeArrowheads="1"/>
          </p:cNvSpPr>
          <p:nvPr/>
        </p:nvSpPr>
        <p:spPr bwMode="auto">
          <a:xfrm>
            <a:off x="749156" y="2585245"/>
            <a:ext cx="10611572"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顺序结构</a:t>
            </a:r>
            <a:r>
              <a:rPr lang="zh-CN" altLang="en-US" sz="2000" b="0" dirty="0">
                <a:ea typeface="宋体" pitchFamily="2" charset="-122"/>
              </a:rPr>
              <a:t>：</a:t>
            </a:r>
            <a:r>
              <a:rPr lang="zh-CN" altLang="en-US" sz="2000" b="0" dirty="0">
                <a:latin typeface="宋体" pitchFamily="2" charset="-122"/>
                <a:ea typeface="宋体" pitchFamily="2" charset="-122"/>
              </a:rPr>
              <a:t>“</a:t>
            </a:r>
            <a:r>
              <a:rPr lang="zh-CN" altLang="en-US" sz="2000" dirty="0">
                <a:solidFill>
                  <a:srgbClr val="FFFF00"/>
                </a:solidFill>
                <a:latin typeface="微软雅黑" panose="020B0503020204020204" pitchFamily="34" charset="-122"/>
                <a:ea typeface="微软雅黑" panose="020B0503020204020204" pitchFamily="34" charset="-122"/>
              </a:rPr>
              <a:t>执行</a:t>
            </a:r>
            <a:r>
              <a:rPr lang="en-US" altLang="zh-CN" sz="2000" dirty="0">
                <a:solidFill>
                  <a:srgbClr val="FFFF00"/>
                </a:solidFill>
                <a:latin typeface="微软雅黑" panose="020B0503020204020204" pitchFamily="34" charset="-122"/>
                <a:ea typeface="微软雅黑" panose="020B0503020204020204" pitchFamily="34" charset="-122"/>
              </a:rPr>
              <a:t>A</a:t>
            </a:r>
            <a:r>
              <a:rPr lang="zh-CN" altLang="en-US" sz="2000" dirty="0">
                <a:solidFill>
                  <a:srgbClr val="FFFF00"/>
                </a:solidFill>
                <a:latin typeface="微软雅黑" panose="020B0503020204020204" pitchFamily="34" charset="-122"/>
                <a:ea typeface="微软雅黑" panose="020B0503020204020204" pitchFamily="34" charset="-122"/>
              </a:rPr>
              <a:t>，然后执行</a:t>
            </a:r>
            <a:r>
              <a:rPr lang="en-US" altLang="zh-CN" sz="2000" dirty="0">
                <a:solidFill>
                  <a:srgbClr val="FFFF00"/>
                </a:solidFill>
                <a:latin typeface="微软雅黑" panose="020B0503020204020204" pitchFamily="34" charset="-122"/>
                <a:ea typeface="微软雅黑" panose="020B0503020204020204" pitchFamily="34" charset="-122"/>
              </a:rPr>
              <a:t>B</a:t>
            </a:r>
            <a:r>
              <a:rPr lang="en-US" altLang="zh-CN" sz="2000" b="0" dirty="0">
                <a:latin typeface="宋体" pitchFamily="2" charset="-122"/>
                <a:ea typeface="宋体" pitchFamily="2" charset="-122"/>
              </a:rPr>
              <a:t>”</a:t>
            </a:r>
            <a:r>
              <a:rPr lang="zh-CN" altLang="en-US" sz="2000" b="0" dirty="0">
                <a:ea typeface="宋体" pitchFamily="2" charset="-122"/>
              </a:rPr>
              <a:t>，是按顺序执行一条条规则的一种结构 。</a:t>
            </a: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分支结构</a:t>
            </a:r>
            <a:r>
              <a:rPr lang="zh-CN" altLang="en-US" sz="2000" b="0" dirty="0">
                <a:ea typeface="宋体" pitchFamily="2" charset="-122"/>
              </a:rPr>
              <a:t>：</a:t>
            </a:r>
            <a:r>
              <a:rPr lang="zh-CN" altLang="en-US" sz="2000" b="0" dirty="0">
                <a:latin typeface="宋体" pitchFamily="2" charset="-122"/>
                <a:ea typeface="宋体" pitchFamily="2" charset="-122"/>
              </a:rPr>
              <a:t>“</a:t>
            </a:r>
            <a:r>
              <a:rPr lang="zh-CN" altLang="en-US" sz="2000" dirty="0">
                <a:solidFill>
                  <a:srgbClr val="FFFF00"/>
                </a:solidFill>
                <a:latin typeface="微软雅黑" panose="020B0503020204020204" pitchFamily="34" charset="-122"/>
                <a:ea typeface="微软雅黑" panose="020B0503020204020204" pitchFamily="34" charset="-122"/>
              </a:rPr>
              <a:t>如果</a:t>
            </a:r>
            <a:r>
              <a:rPr lang="en-US" altLang="zh-CN" sz="2000" dirty="0">
                <a:solidFill>
                  <a:srgbClr val="FFFF00"/>
                </a:solidFill>
                <a:latin typeface="微软雅黑" panose="020B0503020204020204" pitchFamily="34" charset="-122"/>
                <a:ea typeface="微软雅黑" panose="020B0503020204020204" pitchFamily="34" charset="-122"/>
              </a:rPr>
              <a:t>Q</a:t>
            </a:r>
            <a:r>
              <a:rPr lang="zh-CN" altLang="en-US" sz="2000" dirty="0">
                <a:solidFill>
                  <a:srgbClr val="FFFF00"/>
                </a:solidFill>
                <a:latin typeface="微软雅黑" panose="020B0503020204020204" pitchFamily="34" charset="-122"/>
                <a:ea typeface="微软雅黑" panose="020B0503020204020204" pitchFamily="34" charset="-122"/>
              </a:rPr>
              <a:t>成立，那么执行</a:t>
            </a:r>
            <a:r>
              <a:rPr lang="en-US" altLang="zh-CN" sz="2000" dirty="0">
                <a:solidFill>
                  <a:srgbClr val="FFFF00"/>
                </a:solidFill>
                <a:latin typeface="微软雅黑" panose="020B0503020204020204" pitchFamily="34" charset="-122"/>
                <a:ea typeface="微软雅黑" panose="020B0503020204020204" pitchFamily="34" charset="-122"/>
              </a:rPr>
              <a:t>A</a:t>
            </a:r>
            <a:r>
              <a:rPr lang="zh-CN" altLang="en-US" sz="2000" dirty="0">
                <a:solidFill>
                  <a:srgbClr val="FFFF00"/>
                </a:solidFill>
                <a:latin typeface="微软雅黑" panose="020B0503020204020204" pitchFamily="34" charset="-122"/>
                <a:ea typeface="微软雅黑" panose="020B0503020204020204" pitchFamily="34" charset="-122"/>
              </a:rPr>
              <a:t>，否则执行</a:t>
            </a:r>
            <a:r>
              <a:rPr lang="en-US" altLang="zh-CN" sz="2000" dirty="0">
                <a:solidFill>
                  <a:srgbClr val="FFFF00"/>
                </a:solidFill>
                <a:latin typeface="微软雅黑" panose="020B0503020204020204" pitchFamily="34" charset="-122"/>
                <a:ea typeface="微软雅黑" panose="020B0503020204020204" pitchFamily="34" charset="-122"/>
              </a:rPr>
              <a:t>B</a:t>
            </a:r>
            <a:r>
              <a:rPr lang="en-US" altLang="zh-CN" sz="2000" b="0" dirty="0">
                <a:latin typeface="宋体" pitchFamily="2" charset="-122"/>
                <a:ea typeface="宋体" pitchFamily="2" charset="-122"/>
              </a:rPr>
              <a:t>”</a:t>
            </a:r>
            <a:r>
              <a:rPr lang="en-US" altLang="zh-CN" sz="2000" b="0" dirty="0">
                <a:ea typeface="宋体" pitchFamily="2" charset="-122"/>
              </a:rPr>
              <a:t> </a:t>
            </a:r>
            <a:r>
              <a:rPr lang="zh-CN" altLang="en-US" sz="2000" b="0" dirty="0">
                <a:ea typeface="宋体" pitchFamily="2" charset="-122"/>
              </a:rPr>
              <a:t>，</a:t>
            </a:r>
            <a:r>
              <a:rPr lang="en-US" altLang="zh-CN" sz="2000" b="0" dirty="0">
                <a:ea typeface="宋体" pitchFamily="2" charset="-122"/>
              </a:rPr>
              <a:t>Q</a:t>
            </a:r>
            <a:r>
              <a:rPr lang="zh-CN" altLang="en-US" sz="2000" b="0" dirty="0">
                <a:ea typeface="宋体" pitchFamily="2" charset="-122"/>
              </a:rPr>
              <a:t>是某些逻辑条件，即按条件判断结果决定执行哪些规则的一种结构 。</a:t>
            </a: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循环结构</a:t>
            </a:r>
            <a:r>
              <a:rPr lang="zh-CN" altLang="en-US" sz="2000" b="0" dirty="0">
                <a:ea typeface="宋体" pitchFamily="2" charset="-122"/>
              </a:rPr>
              <a:t>：控制指令或规则的多次执行的一种结构</a:t>
            </a:r>
            <a:r>
              <a:rPr lang="en-US" altLang="zh-CN" sz="2000" b="0" dirty="0">
                <a:ea typeface="宋体" pitchFamily="2" charset="-122"/>
              </a:rPr>
              <a:t>---</a:t>
            </a:r>
            <a:r>
              <a:rPr lang="zh-CN" altLang="en-US" sz="2000" b="0" dirty="0">
                <a:ea typeface="宋体" pitchFamily="2" charset="-122"/>
              </a:rPr>
              <a:t>迭代</a:t>
            </a:r>
            <a:r>
              <a:rPr lang="en-US" altLang="zh-CN" sz="2000" b="0" dirty="0">
                <a:ea typeface="宋体" pitchFamily="2" charset="-122"/>
              </a:rPr>
              <a:t>(iteration)</a:t>
            </a:r>
          </a:p>
          <a:p>
            <a:pPr algn="just" eaLnBrk="1" hangingPunct="1">
              <a:lnSpc>
                <a:spcPct val="130000"/>
              </a:lnSpc>
              <a:buClr>
                <a:schemeClr val="tx1"/>
              </a:buClr>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循环结构又分为有界循环结构和条件循环结构。</a:t>
            </a:r>
            <a:endParaRPr lang="en-US" altLang="zh-CN" sz="2000" dirty="0">
              <a:latin typeface="微软雅黑" panose="020B0503020204020204" pitchFamily="34" charset="-122"/>
              <a:ea typeface="微软雅黑" panose="020B0503020204020204" pitchFamily="34" charset="-122"/>
            </a:endParaRP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有界循环</a:t>
            </a:r>
            <a:r>
              <a:rPr lang="zh-CN" altLang="en-US" sz="2000" b="0" dirty="0">
                <a:ea typeface="宋体" pitchFamily="2" charset="-122"/>
              </a:rPr>
              <a:t>： </a:t>
            </a:r>
            <a:r>
              <a:rPr lang="zh-CN" altLang="en-US" sz="2000" b="0" dirty="0">
                <a:latin typeface="宋体" pitchFamily="2" charset="-122"/>
                <a:ea typeface="宋体" pitchFamily="2" charset="-122"/>
              </a:rPr>
              <a:t>“</a:t>
            </a:r>
            <a:r>
              <a:rPr lang="zh-CN" altLang="en-US" sz="2000" dirty="0">
                <a:solidFill>
                  <a:srgbClr val="FFFF00"/>
                </a:solidFill>
                <a:latin typeface="微软雅黑" panose="020B0503020204020204" pitchFamily="34" charset="-122"/>
                <a:ea typeface="微软雅黑" panose="020B0503020204020204" pitchFamily="34" charset="-122"/>
              </a:rPr>
              <a:t>执行</a:t>
            </a:r>
            <a:r>
              <a:rPr lang="en-US" altLang="zh-CN" sz="2000" dirty="0">
                <a:solidFill>
                  <a:srgbClr val="FFFF00"/>
                </a:solidFill>
                <a:latin typeface="微软雅黑" panose="020B0503020204020204" pitchFamily="34" charset="-122"/>
                <a:ea typeface="微软雅黑" panose="020B0503020204020204" pitchFamily="34" charset="-122"/>
              </a:rPr>
              <a:t>A</a:t>
            </a:r>
            <a:r>
              <a:rPr lang="zh-CN" altLang="en-US" sz="2000" dirty="0">
                <a:solidFill>
                  <a:srgbClr val="FFFF00"/>
                </a:solidFill>
                <a:latin typeface="微软雅黑" panose="020B0503020204020204" pitchFamily="34" charset="-122"/>
                <a:ea typeface="微软雅黑" panose="020B0503020204020204" pitchFamily="34" charset="-122"/>
              </a:rPr>
              <a:t>指令</a:t>
            </a:r>
            <a:r>
              <a:rPr lang="en-US" altLang="zh-CN" sz="2000" dirty="0">
                <a:solidFill>
                  <a:srgbClr val="FFFF00"/>
                </a:solidFill>
                <a:latin typeface="微软雅黑" panose="020B0503020204020204" pitchFamily="34" charset="-122"/>
                <a:ea typeface="微软雅黑" panose="020B0503020204020204" pitchFamily="34" charset="-122"/>
              </a:rPr>
              <a:t>N</a:t>
            </a:r>
            <a:r>
              <a:rPr lang="zh-CN" altLang="en-US" sz="2000" dirty="0">
                <a:solidFill>
                  <a:srgbClr val="FFFF00"/>
                </a:solidFill>
                <a:latin typeface="微软雅黑" panose="020B0503020204020204" pitchFamily="34" charset="-122"/>
                <a:ea typeface="微软雅黑" panose="020B0503020204020204" pitchFamily="34" charset="-122"/>
              </a:rPr>
              <a:t>次</a:t>
            </a:r>
            <a:r>
              <a:rPr lang="zh-CN" altLang="en-US" sz="2000" b="0" dirty="0">
                <a:latin typeface="宋体" pitchFamily="2" charset="-122"/>
                <a:ea typeface="宋体" pitchFamily="2" charset="-122"/>
              </a:rPr>
              <a:t>”</a:t>
            </a:r>
            <a:r>
              <a:rPr lang="zh-CN" altLang="en-US" sz="2000" b="0" dirty="0">
                <a:ea typeface="宋体" pitchFamily="2" charset="-122"/>
              </a:rPr>
              <a:t>，其中</a:t>
            </a:r>
            <a:r>
              <a:rPr lang="en-US" altLang="zh-CN" sz="2000" b="0" dirty="0">
                <a:ea typeface="宋体" pitchFamily="2" charset="-122"/>
              </a:rPr>
              <a:t>N</a:t>
            </a:r>
            <a:r>
              <a:rPr lang="zh-CN" altLang="en-US" sz="2000" b="0" dirty="0">
                <a:ea typeface="宋体" pitchFamily="2" charset="-122"/>
              </a:rPr>
              <a:t>是一个整数。</a:t>
            </a: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条件循环</a:t>
            </a:r>
            <a:r>
              <a:rPr lang="zh-CN" altLang="en-US" sz="2000" b="0" dirty="0">
                <a:ea typeface="宋体" pitchFamily="2" charset="-122"/>
              </a:rPr>
              <a:t>：某些时候称为无界循环，</a:t>
            </a:r>
            <a:r>
              <a:rPr lang="zh-CN" altLang="en-US" sz="2000" b="0" dirty="0">
                <a:latin typeface="宋体" pitchFamily="2" charset="-122"/>
                <a:ea typeface="宋体" pitchFamily="2" charset="-122"/>
              </a:rPr>
              <a:t>“</a:t>
            </a:r>
            <a:r>
              <a:rPr lang="zh-CN" altLang="en-US" sz="2000" dirty="0">
                <a:solidFill>
                  <a:srgbClr val="FFFF00"/>
                </a:solidFill>
                <a:latin typeface="微软雅黑" panose="020B0503020204020204" pitchFamily="34" charset="-122"/>
                <a:ea typeface="微软雅黑" panose="020B0503020204020204" pitchFamily="34" charset="-122"/>
              </a:rPr>
              <a:t>重复执行</a:t>
            </a:r>
            <a:r>
              <a:rPr lang="en-US" altLang="zh-CN" sz="2000" dirty="0">
                <a:solidFill>
                  <a:srgbClr val="FFFF00"/>
                </a:solidFill>
                <a:latin typeface="微软雅黑" panose="020B0503020204020204" pitchFamily="34" charset="-122"/>
                <a:ea typeface="微软雅黑" panose="020B0503020204020204" pitchFamily="34" charset="-122"/>
              </a:rPr>
              <a:t>A</a:t>
            </a:r>
            <a:r>
              <a:rPr lang="zh-CN" altLang="en-US" sz="2000" dirty="0">
                <a:solidFill>
                  <a:srgbClr val="FFFF00"/>
                </a:solidFill>
                <a:latin typeface="微软雅黑" panose="020B0503020204020204" pitchFamily="34" charset="-122"/>
                <a:ea typeface="微软雅黑" panose="020B0503020204020204" pitchFamily="34" charset="-122"/>
              </a:rPr>
              <a:t>直到条件</a:t>
            </a:r>
            <a:r>
              <a:rPr lang="en-US" altLang="zh-CN" sz="2000" dirty="0">
                <a:solidFill>
                  <a:srgbClr val="FFFF00"/>
                </a:solidFill>
                <a:latin typeface="微软雅黑" panose="020B0503020204020204" pitchFamily="34" charset="-122"/>
                <a:ea typeface="微软雅黑" panose="020B0503020204020204" pitchFamily="34" charset="-122"/>
              </a:rPr>
              <a:t>Q</a:t>
            </a:r>
            <a:r>
              <a:rPr lang="zh-CN" altLang="en-US" sz="2000" dirty="0">
                <a:solidFill>
                  <a:srgbClr val="FFFF00"/>
                </a:solidFill>
                <a:latin typeface="微软雅黑" panose="020B0503020204020204" pitchFamily="34" charset="-122"/>
                <a:ea typeface="微软雅黑" panose="020B0503020204020204" pitchFamily="34" charset="-122"/>
              </a:rPr>
              <a:t>成立</a:t>
            </a:r>
            <a:r>
              <a:rPr lang="zh-CN" altLang="en-US" sz="2000" b="0" dirty="0">
                <a:latin typeface="宋体" pitchFamily="2" charset="-122"/>
                <a:ea typeface="宋体" pitchFamily="2" charset="-122"/>
              </a:rPr>
              <a:t>”</a:t>
            </a:r>
            <a:r>
              <a:rPr lang="zh-CN" altLang="en-US" sz="2000" b="0" dirty="0">
                <a:ea typeface="宋体" pitchFamily="2" charset="-122"/>
              </a:rPr>
              <a:t>或</a:t>
            </a:r>
            <a:endParaRPr lang="en-US" altLang="zh-CN" sz="2000" b="0" dirty="0">
              <a:ea typeface="宋体" pitchFamily="2" charset="-122"/>
            </a:endParaRPr>
          </a:p>
          <a:p>
            <a:pPr algn="just" eaLnBrk="1" hangingPunct="1">
              <a:lnSpc>
                <a:spcPct val="130000"/>
              </a:lnSpc>
              <a:buClr>
                <a:schemeClr val="tx1"/>
              </a:buClr>
            </a:pPr>
            <a:r>
              <a:rPr lang="zh-CN" altLang="en-US" sz="2000" b="0" dirty="0">
                <a:latin typeface="宋体" pitchFamily="2" charset="-122"/>
                <a:ea typeface="宋体" pitchFamily="2" charset="-122"/>
              </a:rPr>
              <a:t>“</a:t>
            </a:r>
            <a:r>
              <a:rPr lang="zh-CN" altLang="en-US" sz="2000" dirty="0">
                <a:solidFill>
                  <a:srgbClr val="FFFF00"/>
                </a:solidFill>
                <a:latin typeface="微软雅黑" panose="020B0503020204020204" pitchFamily="34" charset="-122"/>
                <a:ea typeface="微软雅黑" panose="020B0503020204020204" pitchFamily="34" charset="-122"/>
              </a:rPr>
              <a:t>当</a:t>
            </a:r>
            <a:r>
              <a:rPr lang="en-US" altLang="zh-CN" sz="2000" dirty="0">
                <a:solidFill>
                  <a:srgbClr val="FFFF00"/>
                </a:solidFill>
                <a:latin typeface="微软雅黑" panose="020B0503020204020204" pitchFamily="34" charset="-122"/>
                <a:ea typeface="微软雅黑" panose="020B0503020204020204" pitchFamily="34" charset="-122"/>
              </a:rPr>
              <a:t>Q</a:t>
            </a:r>
            <a:r>
              <a:rPr lang="zh-CN" altLang="en-US" sz="2000" dirty="0">
                <a:solidFill>
                  <a:srgbClr val="FFFF00"/>
                </a:solidFill>
                <a:latin typeface="微软雅黑" panose="020B0503020204020204" pitchFamily="34" charset="-122"/>
                <a:ea typeface="微软雅黑" panose="020B0503020204020204" pitchFamily="34" charset="-122"/>
              </a:rPr>
              <a:t>成立时反复执行</a:t>
            </a:r>
            <a:r>
              <a:rPr lang="en-US" altLang="zh-CN" sz="2000" dirty="0">
                <a:solidFill>
                  <a:srgbClr val="FFFF00"/>
                </a:solidFill>
                <a:latin typeface="微软雅黑" panose="020B0503020204020204" pitchFamily="34" charset="-122"/>
                <a:ea typeface="微软雅黑" panose="020B0503020204020204" pitchFamily="34" charset="-122"/>
              </a:rPr>
              <a:t>A</a:t>
            </a:r>
            <a:r>
              <a:rPr lang="en-US" altLang="zh-CN" sz="2000" b="0" dirty="0">
                <a:latin typeface="宋体" pitchFamily="2" charset="-122"/>
                <a:ea typeface="宋体" pitchFamily="2" charset="-122"/>
              </a:rPr>
              <a:t>”</a:t>
            </a:r>
            <a:r>
              <a:rPr lang="zh-CN" altLang="en-US" sz="2000" b="0" dirty="0">
                <a:ea typeface="宋体" pitchFamily="2" charset="-122"/>
              </a:rPr>
              <a:t>，其中</a:t>
            </a:r>
            <a:r>
              <a:rPr lang="en-US" altLang="zh-CN" sz="2000" b="0" dirty="0">
                <a:ea typeface="宋体" pitchFamily="2" charset="-122"/>
              </a:rPr>
              <a:t>Q</a:t>
            </a:r>
            <a:r>
              <a:rPr lang="zh-CN" altLang="en-US" sz="2000" b="0" dirty="0">
                <a:ea typeface="宋体" pitchFamily="2" charset="-122"/>
              </a:rPr>
              <a:t>是条件。</a:t>
            </a:r>
            <a:endParaRPr lang="en-US" altLang="zh-CN" sz="2000" b="0" dirty="0">
              <a:ea typeface="宋体" pitchFamily="2" charset="-122"/>
            </a:endParaRPr>
          </a:p>
        </p:txBody>
      </p:sp>
      <p:sp>
        <p:nvSpPr>
          <p:cNvPr id="2016260" name="Text Box 4"/>
          <p:cNvSpPr txBox="1">
            <a:spLocks noChangeArrowheads="1"/>
          </p:cNvSpPr>
          <p:nvPr/>
        </p:nvSpPr>
        <p:spPr bwMode="auto">
          <a:xfrm>
            <a:off x="858404" y="2021176"/>
            <a:ext cx="384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panose="020B0503020204020204" pitchFamily="34" charset="-122"/>
                <a:ea typeface="微软雅黑" panose="020B0503020204020204" pitchFamily="34" charset="-122"/>
              </a:rPr>
              <a:t>算法与程序的基本控制结构</a:t>
            </a:r>
            <a:endParaRPr lang="zh-CN" altLang="en-US" sz="1600" dirty="0">
              <a:latin typeface="微软雅黑" panose="020B0503020204020204" pitchFamily="34" charset="-122"/>
              <a:ea typeface="微软雅黑" panose="020B0503020204020204" pitchFamily="34" charset="-122"/>
            </a:endParaRPr>
          </a:p>
        </p:txBody>
      </p:sp>
      <p:sp>
        <p:nvSpPr>
          <p:cNvPr id="10" name="圆角矩形 9"/>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算法的控制结构：类自然语言表达方法</a:t>
            </a:r>
          </a:p>
        </p:txBody>
      </p:sp>
      <p:sp>
        <p:nvSpPr>
          <p:cNvPr id="11"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问题：算法的控制结构设计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16258">
                                            <p:txEl>
                                              <p:pRg st="0" end="0"/>
                                            </p:txEl>
                                          </p:spTgt>
                                        </p:tgtEl>
                                        <p:attrNameLst>
                                          <p:attrName>style.visibility</p:attrName>
                                        </p:attrNameLst>
                                      </p:cBhvr>
                                      <p:to>
                                        <p:strVal val="visible"/>
                                      </p:to>
                                    </p:set>
                                    <p:anim calcmode="lin" valueType="num">
                                      <p:cBhvr additive="base">
                                        <p:cTn id="7" dur="500" fill="hold"/>
                                        <p:tgtEl>
                                          <p:spTgt spid="20162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1625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16263"/>
                                        </p:tgtEl>
                                        <p:attrNameLst>
                                          <p:attrName>style.visibility</p:attrName>
                                        </p:attrNameLst>
                                      </p:cBhvr>
                                      <p:to>
                                        <p:strVal val="visible"/>
                                      </p:to>
                                    </p:set>
                                    <p:anim calcmode="lin" valueType="num">
                                      <p:cBhvr additive="base">
                                        <p:cTn id="11" dur="500" fill="hold"/>
                                        <p:tgtEl>
                                          <p:spTgt spid="2016263"/>
                                        </p:tgtEl>
                                        <p:attrNameLst>
                                          <p:attrName>ppt_x</p:attrName>
                                        </p:attrNameLst>
                                      </p:cBhvr>
                                      <p:tavLst>
                                        <p:tav tm="0">
                                          <p:val>
                                            <p:strVal val="#ppt_x"/>
                                          </p:val>
                                        </p:tav>
                                        <p:tav tm="100000">
                                          <p:val>
                                            <p:strVal val="#ppt_x"/>
                                          </p:val>
                                        </p:tav>
                                      </p:tavLst>
                                    </p:anim>
                                    <p:anim calcmode="lin" valueType="num">
                                      <p:cBhvr additive="base">
                                        <p:cTn id="12" dur="500" fill="hold"/>
                                        <p:tgtEl>
                                          <p:spTgt spid="201626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16258">
                                            <p:txEl>
                                              <p:pRg st="1" end="1"/>
                                            </p:txEl>
                                          </p:spTgt>
                                        </p:tgtEl>
                                        <p:attrNameLst>
                                          <p:attrName>style.visibility</p:attrName>
                                        </p:attrNameLst>
                                      </p:cBhvr>
                                      <p:to>
                                        <p:strVal val="visible"/>
                                      </p:to>
                                    </p:set>
                                    <p:anim calcmode="lin" valueType="num">
                                      <p:cBhvr additive="base">
                                        <p:cTn id="17" dur="500" fill="hold"/>
                                        <p:tgtEl>
                                          <p:spTgt spid="201625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1625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16262"/>
                                        </p:tgtEl>
                                        <p:attrNameLst>
                                          <p:attrName>style.visibility</p:attrName>
                                        </p:attrNameLst>
                                      </p:cBhvr>
                                      <p:to>
                                        <p:strVal val="visible"/>
                                      </p:to>
                                    </p:set>
                                    <p:anim calcmode="lin" valueType="num">
                                      <p:cBhvr additive="base">
                                        <p:cTn id="21" dur="500" fill="hold"/>
                                        <p:tgtEl>
                                          <p:spTgt spid="2016262"/>
                                        </p:tgtEl>
                                        <p:attrNameLst>
                                          <p:attrName>ppt_x</p:attrName>
                                        </p:attrNameLst>
                                      </p:cBhvr>
                                      <p:tavLst>
                                        <p:tav tm="0">
                                          <p:val>
                                            <p:strVal val="#ppt_x"/>
                                          </p:val>
                                        </p:tav>
                                        <p:tav tm="100000">
                                          <p:val>
                                            <p:strVal val="#ppt_x"/>
                                          </p:val>
                                        </p:tav>
                                      </p:tavLst>
                                    </p:anim>
                                    <p:anim calcmode="lin" valueType="num">
                                      <p:cBhvr additive="base">
                                        <p:cTn id="22" dur="500" fill="hold"/>
                                        <p:tgtEl>
                                          <p:spTgt spid="201626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16258">
                                            <p:txEl>
                                              <p:pRg st="2" end="2"/>
                                            </p:txEl>
                                          </p:spTgt>
                                        </p:tgtEl>
                                        <p:attrNameLst>
                                          <p:attrName>style.visibility</p:attrName>
                                        </p:attrNameLst>
                                      </p:cBhvr>
                                      <p:to>
                                        <p:strVal val="visible"/>
                                      </p:to>
                                    </p:set>
                                    <p:anim calcmode="lin" valueType="num">
                                      <p:cBhvr additive="base">
                                        <p:cTn id="27" dur="500" fill="hold"/>
                                        <p:tgtEl>
                                          <p:spTgt spid="2016258">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162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16258">
                                            <p:txEl>
                                              <p:pRg st="3" end="3"/>
                                            </p:txEl>
                                          </p:spTgt>
                                        </p:tgtEl>
                                        <p:attrNameLst>
                                          <p:attrName>style.visibility</p:attrName>
                                        </p:attrNameLst>
                                      </p:cBhvr>
                                      <p:to>
                                        <p:strVal val="visible"/>
                                      </p:to>
                                    </p:set>
                                    <p:anim calcmode="lin" valueType="num">
                                      <p:cBhvr additive="base">
                                        <p:cTn id="33" dur="500" fill="hold"/>
                                        <p:tgtEl>
                                          <p:spTgt spid="2016258">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1625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16258">
                                            <p:txEl>
                                              <p:pRg st="4" end="4"/>
                                            </p:txEl>
                                          </p:spTgt>
                                        </p:tgtEl>
                                        <p:attrNameLst>
                                          <p:attrName>style.visibility</p:attrName>
                                        </p:attrNameLst>
                                      </p:cBhvr>
                                      <p:to>
                                        <p:strVal val="visible"/>
                                      </p:to>
                                    </p:set>
                                    <p:anim calcmode="lin" valueType="num">
                                      <p:cBhvr additive="base">
                                        <p:cTn id="39" dur="500" fill="hold"/>
                                        <p:tgtEl>
                                          <p:spTgt spid="2016258">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16258">
                                            <p:txEl>
                                              <p:pRg st="4" end="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016264"/>
                                        </p:tgtEl>
                                        <p:attrNameLst>
                                          <p:attrName>style.visibility</p:attrName>
                                        </p:attrNameLst>
                                      </p:cBhvr>
                                      <p:to>
                                        <p:strVal val="visible"/>
                                      </p:to>
                                    </p:set>
                                    <p:anim calcmode="lin" valueType="num">
                                      <p:cBhvr additive="base">
                                        <p:cTn id="43" dur="500" fill="hold"/>
                                        <p:tgtEl>
                                          <p:spTgt spid="2016264"/>
                                        </p:tgtEl>
                                        <p:attrNameLst>
                                          <p:attrName>ppt_x</p:attrName>
                                        </p:attrNameLst>
                                      </p:cBhvr>
                                      <p:tavLst>
                                        <p:tav tm="0">
                                          <p:val>
                                            <p:strVal val="#ppt_x"/>
                                          </p:val>
                                        </p:tav>
                                        <p:tav tm="100000">
                                          <p:val>
                                            <p:strVal val="#ppt_x"/>
                                          </p:val>
                                        </p:tav>
                                      </p:tavLst>
                                    </p:anim>
                                    <p:anim calcmode="lin" valueType="num">
                                      <p:cBhvr additive="base">
                                        <p:cTn id="44" dur="500" fill="hold"/>
                                        <p:tgtEl>
                                          <p:spTgt spid="201626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16258">
                                            <p:txEl>
                                              <p:pRg st="5" end="5"/>
                                            </p:txEl>
                                          </p:spTgt>
                                        </p:tgtEl>
                                        <p:attrNameLst>
                                          <p:attrName>style.visibility</p:attrName>
                                        </p:attrNameLst>
                                      </p:cBhvr>
                                      <p:to>
                                        <p:strVal val="visible"/>
                                      </p:to>
                                    </p:set>
                                    <p:anim calcmode="lin" valueType="num">
                                      <p:cBhvr additive="base">
                                        <p:cTn id="49" dur="500" fill="hold"/>
                                        <p:tgtEl>
                                          <p:spTgt spid="2016258">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16258">
                                            <p:txEl>
                                              <p:pRg st="5" end="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016258">
                                            <p:txEl>
                                              <p:pRg st="6" end="6"/>
                                            </p:txEl>
                                          </p:spTgt>
                                        </p:tgtEl>
                                        <p:attrNameLst>
                                          <p:attrName>style.visibility</p:attrName>
                                        </p:attrNameLst>
                                      </p:cBhvr>
                                      <p:to>
                                        <p:strVal val="visible"/>
                                      </p:to>
                                    </p:set>
                                    <p:anim calcmode="lin" valueType="num">
                                      <p:cBhvr additive="base">
                                        <p:cTn id="53" dur="500" fill="hold"/>
                                        <p:tgtEl>
                                          <p:spTgt spid="2016258">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016258">
                                            <p:txEl>
                                              <p:pRg st="6" end="6"/>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016265"/>
                                        </p:tgtEl>
                                        <p:attrNameLst>
                                          <p:attrName>style.visibility</p:attrName>
                                        </p:attrNameLst>
                                      </p:cBhvr>
                                      <p:to>
                                        <p:strVal val="visible"/>
                                      </p:to>
                                    </p:set>
                                    <p:anim calcmode="lin" valueType="num">
                                      <p:cBhvr additive="base">
                                        <p:cTn id="57" dur="500" fill="hold"/>
                                        <p:tgtEl>
                                          <p:spTgt spid="2016265"/>
                                        </p:tgtEl>
                                        <p:attrNameLst>
                                          <p:attrName>ppt_x</p:attrName>
                                        </p:attrNameLst>
                                      </p:cBhvr>
                                      <p:tavLst>
                                        <p:tav tm="0">
                                          <p:val>
                                            <p:strVal val="#ppt_x"/>
                                          </p:val>
                                        </p:tav>
                                        <p:tav tm="100000">
                                          <p:val>
                                            <p:strVal val="#ppt_x"/>
                                          </p:val>
                                        </p:tav>
                                      </p:tavLst>
                                    </p:anim>
                                    <p:anim calcmode="lin" valueType="num">
                                      <p:cBhvr additive="base">
                                        <p:cTn id="58" dur="500" fill="hold"/>
                                        <p:tgtEl>
                                          <p:spTgt spid="2016265"/>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016266"/>
                                        </p:tgtEl>
                                        <p:attrNameLst>
                                          <p:attrName>style.visibility</p:attrName>
                                        </p:attrNameLst>
                                      </p:cBhvr>
                                      <p:to>
                                        <p:strVal val="visible"/>
                                      </p:to>
                                    </p:set>
                                    <p:anim calcmode="lin" valueType="num">
                                      <p:cBhvr additive="base">
                                        <p:cTn id="61" dur="500" fill="hold"/>
                                        <p:tgtEl>
                                          <p:spTgt spid="2016266"/>
                                        </p:tgtEl>
                                        <p:attrNameLst>
                                          <p:attrName>ppt_x</p:attrName>
                                        </p:attrNameLst>
                                      </p:cBhvr>
                                      <p:tavLst>
                                        <p:tav tm="0">
                                          <p:val>
                                            <p:strVal val="#ppt_x"/>
                                          </p:val>
                                        </p:tav>
                                        <p:tav tm="100000">
                                          <p:val>
                                            <p:strVal val="#ppt_x"/>
                                          </p:val>
                                        </p:tav>
                                      </p:tavLst>
                                    </p:anim>
                                    <p:anim calcmode="lin" valueType="num">
                                      <p:cBhvr additive="base">
                                        <p:cTn id="62" dur="500" fill="hold"/>
                                        <p:tgtEl>
                                          <p:spTgt spid="20162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4210" name="Text Box 5"/>
          <p:cNvSpPr txBox="1">
            <a:spLocks noChangeArrowheads="1"/>
          </p:cNvSpPr>
          <p:nvPr/>
        </p:nvSpPr>
        <p:spPr bwMode="auto">
          <a:xfrm>
            <a:off x="818406" y="2617090"/>
            <a:ext cx="5048994" cy="281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30000"/>
              </a:lnSpc>
              <a:buClr>
                <a:schemeClr val="tx1"/>
              </a:buClr>
              <a:buFont typeface="Wingdings" panose="05000000000000000000" pitchFamily="2" charset="2"/>
              <a:buNone/>
            </a:pPr>
            <a:r>
              <a:rPr lang="zh-CN" altLang="en-US" dirty="0">
                <a:solidFill>
                  <a:srgbClr val="FF0066"/>
                </a:solidFill>
                <a:latin typeface="微软雅黑" panose="020B0503020204020204" pitchFamily="34" charset="-122"/>
                <a:ea typeface="微软雅黑" panose="020B0503020204020204" pitchFamily="34" charset="-122"/>
              </a:rPr>
              <a:t>流程图</a:t>
            </a:r>
            <a:r>
              <a:rPr lang="zh-CN" altLang="en-US" dirty="0">
                <a:latin typeface="微软雅黑" panose="020B0503020204020204" pitchFamily="34" charset="-122"/>
                <a:ea typeface="微软雅黑" panose="020B0503020204020204" pitchFamily="34" charset="-122"/>
              </a:rPr>
              <a:t>的基本表示符号</a:t>
            </a:r>
            <a:r>
              <a:rPr lang="zh-CN" altLang="en-US" dirty="0">
                <a:solidFill>
                  <a:schemeClr val="accent2"/>
                </a:solidFill>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矩形框</a:t>
            </a:r>
            <a:r>
              <a:rPr lang="zh-CN" altLang="en-US" sz="1600" b="0" dirty="0">
                <a:ea typeface="宋体" pitchFamily="2" charset="-122"/>
              </a:rPr>
              <a:t>：表示一组顺序执行的规则或者程序语句。</a:t>
            </a:r>
            <a:endParaRPr lang="en-US" altLang="zh-CN" sz="1600" b="0" dirty="0">
              <a:ea typeface="宋体" pitchFamily="2" charset="-122"/>
            </a:endParaRP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菱形框</a:t>
            </a:r>
            <a:r>
              <a:rPr lang="zh-CN" altLang="en-US" sz="1600" b="0" dirty="0">
                <a:ea typeface="宋体" pitchFamily="2" charset="-122"/>
              </a:rPr>
              <a:t>：表示条件判断，并根据判断结果执行不同的分支。</a:t>
            </a:r>
            <a:endParaRPr lang="en-US" altLang="zh-CN" sz="1600" b="0" dirty="0">
              <a:ea typeface="宋体" pitchFamily="2" charset="-122"/>
            </a:endParaRP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圆形框</a:t>
            </a:r>
            <a:r>
              <a:rPr lang="zh-CN" altLang="en-US" sz="1600" b="0" dirty="0">
                <a:ea typeface="宋体" pitchFamily="2" charset="-122"/>
              </a:rPr>
              <a:t>：表示算法或程序的开始或结束。</a:t>
            </a:r>
          </a:p>
          <a:p>
            <a:pPr algn="just" eaLnBrk="1" hangingPunct="1">
              <a:lnSpc>
                <a:spcPct val="130000"/>
              </a:lnSpc>
              <a:buClr>
                <a:schemeClr val="tx1"/>
              </a:buClr>
              <a:buFont typeface="Wingdings" panose="05000000000000000000" pitchFamily="2" charset="2"/>
              <a:buChar char="ü"/>
            </a:pPr>
            <a:r>
              <a:rPr lang="zh-CN" altLang="en-US" dirty="0">
                <a:solidFill>
                  <a:srgbClr val="FF0066"/>
                </a:solidFill>
                <a:latin typeface="微软雅黑" panose="020B0503020204020204" pitchFamily="34" charset="-122"/>
                <a:ea typeface="微软雅黑" panose="020B0503020204020204" pitchFamily="34" charset="-122"/>
              </a:rPr>
              <a:t>箭头线</a:t>
            </a:r>
            <a:r>
              <a:rPr lang="zh-CN" altLang="en-US" sz="1600" b="0" dirty="0">
                <a:ea typeface="宋体" pitchFamily="2" charset="-122"/>
              </a:rPr>
              <a:t>：表示算法或程序的走向。</a:t>
            </a:r>
          </a:p>
        </p:txBody>
      </p:sp>
      <p:graphicFrame>
        <p:nvGraphicFramePr>
          <p:cNvPr id="2014211" name="Object 11"/>
          <p:cNvGraphicFramePr>
            <a:graphicFrameLocks noChangeAspect="1"/>
          </p:cNvGraphicFramePr>
          <p:nvPr/>
        </p:nvGraphicFramePr>
        <p:xfrm>
          <a:off x="6364288" y="2350366"/>
          <a:ext cx="4092575" cy="3524250"/>
        </p:xfrm>
        <a:graphic>
          <a:graphicData uri="http://schemas.openxmlformats.org/presentationml/2006/ole">
            <mc:AlternateContent xmlns:mc="http://schemas.openxmlformats.org/markup-compatibility/2006">
              <mc:Choice xmlns:v="urn:schemas-microsoft-com:vml" Requires="v">
                <p:oleObj name="幻灯片" r:id="rId3" imgW="4538345" imgH="3402965" progId="PowerPoint.Slide.12">
                  <p:embed/>
                </p:oleObj>
              </mc:Choice>
              <mc:Fallback>
                <p:oleObj name="幻灯片" r:id="rId3" imgW="4538345" imgH="3402965" progId="PowerPoint.Slide.12">
                  <p:embed/>
                  <p:pic>
                    <p:nvPicPr>
                      <p:cNvPr id="0" name="Object 11"/>
                      <p:cNvPicPr>
                        <a:picLocks noChangeAspect="1"/>
                      </p:cNvPicPr>
                      <p:nvPr/>
                    </p:nvPicPr>
                    <p:blipFill>
                      <a:blip r:embed="rId4"/>
                      <a:srcRect l="159" t="16248" r="44792" b="20361"/>
                      <a:stretch>
                        <a:fillRect/>
                      </a:stretch>
                    </p:blipFill>
                    <p:spPr>
                      <a:xfrm>
                        <a:off x="6364288" y="2350366"/>
                        <a:ext cx="4092575" cy="3524250"/>
                      </a:xfrm>
                      <a:prstGeom prst="rect">
                        <a:avLst/>
                      </a:prstGeom>
                      <a:noFill/>
                      <a:ln w="9525" cap="flat" cmpd="sng">
                        <a:solidFill>
                          <a:srgbClr val="3333CC"/>
                        </a:solidFill>
                        <a:prstDash val="solid"/>
                        <a:miter/>
                        <a:headEnd type="none" w="med" len="med"/>
                        <a:tailEnd type="none" w="med" len="med"/>
                      </a:ln>
                    </p:spPr>
                  </p:pic>
                </p:oleObj>
              </mc:Fallback>
            </mc:AlternateContent>
          </a:graphicData>
        </a:graphic>
      </p:graphicFrame>
      <p:sp>
        <p:nvSpPr>
          <p:cNvPr id="6" name="圆角矩形 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算法的控制结构：流程图表达方法</a:t>
            </a:r>
          </a:p>
        </p:txBody>
      </p:sp>
      <p:sp>
        <p:nvSpPr>
          <p:cNvPr id="7"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问题：算法的控制结构设计</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求解</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TSP</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问题的遍历算法的表达</a:t>
            </a:r>
          </a:p>
        </p:txBody>
      </p:sp>
      <p:sp>
        <p:nvSpPr>
          <p:cNvPr id="2580483" name="AutoShape 3"/>
          <p:cNvSpPr>
            <a:spLocks noChangeArrowheads="1"/>
          </p:cNvSpPr>
          <p:nvPr/>
        </p:nvSpPr>
        <p:spPr bwMode="auto">
          <a:xfrm>
            <a:off x="9364665" y="23019"/>
            <a:ext cx="879475" cy="419100"/>
          </a:xfrm>
          <a:prstGeom prst="flowChartTerminator">
            <a:avLst/>
          </a:prstGeom>
          <a:solidFill>
            <a:srgbClr val="FFFFFF"/>
          </a:solidFill>
          <a:ln w="9525">
            <a:solidFill>
              <a:srgbClr val="000000"/>
            </a:solidFill>
            <a:miter lim="800000"/>
          </a:ln>
        </p:spPr>
        <p:txBody>
          <a:bodyPr/>
          <a:lstStyle/>
          <a:p>
            <a:endParaRPr lang="zh-CN" altLang="en-US"/>
          </a:p>
        </p:txBody>
      </p:sp>
      <p:sp>
        <p:nvSpPr>
          <p:cNvPr id="2580484" name="AutoShape 4"/>
          <p:cNvSpPr>
            <a:spLocks noChangeArrowheads="1"/>
          </p:cNvSpPr>
          <p:nvPr/>
        </p:nvSpPr>
        <p:spPr bwMode="auto">
          <a:xfrm>
            <a:off x="9355140" y="6388894"/>
            <a:ext cx="879475" cy="419100"/>
          </a:xfrm>
          <a:prstGeom prst="flowChartTerminator">
            <a:avLst/>
          </a:prstGeom>
          <a:solidFill>
            <a:srgbClr val="FFFFFF"/>
          </a:solidFill>
          <a:ln w="9525">
            <a:solidFill>
              <a:srgbClr val="000000"/>
            </a:solidFill>
            <a:miter lim="800000"/>
          </a:ln>
        </p:spPr>
        <p:txBody>
          <a:bodyPr/>
          <a:lstStyle/>
          <a:p>
            <a:endParaRPr lang="zh-CN" altLang="en-US"/>
          </a:p>
        </p:txBody>
      </p:sp>
      <p:grpSp>
        <p:nvGrpSpPr>
          <p:cNvPr id="2580485" name="Group 5"/>
          <p:cNvGrpSpPr/>
          <p:nvPr/>
        </p:nvGrpSpPr>
        <p:grpSpPr bwMode="auto">
          <a:xfrm>
            <a:off x="8491539" y="745333"/>
            <a:ext cx="2782888" cy="527633"/>
            <a:chOff x="3860" y="714"/>
            <a:chExt cx="1082" cy="486"/>
          </a:xfrm>
        </p:grpSpPr>
        <p:sp>
          <p:nvSpPr>
            <p:cNvPr id="2580486" name="AutoShape 6"/>
            <p:cNvSpPr>
              <a:spLocks noChangeArrowheads="1"/>
            </p:cNvSpPr>
            <p:nvPr/>
          </p:nvSpPr>
          <p:spPr bwMode="auto">
            <a:xfrm>
              <a:off x="3860" y="714"/>
              <a:ext cx="1027" cy="484"/>
            </a:xfrm>
            <a:prstGeom prst="flowChartProcess">
              <a:avLst/>
            </a:prstGeom>
            <a:solidFill>
              <a:srgbClr val="FFFFFF"/>
            </a:solidFill>
            <a:ln w="9525">
              <a:solidFill>
                <a:srgbClr val="000000"/>
              </a:solidFill>
              <a:miter lim="800000"/>
            </a:ln>
          </p:spPr>
          <p:txBody>
            <a:bodyPr/>
            <a:lstStyle/>
            <a:p>
              <a:endParaRPr lang="zh-CN" altLang="en-US"/>
            </a:p>
          </p:txBody>
        </p:sp>
        <p:sp>
          <p:nvSpPr>
            <p:cNvPr id="2580487" name="Text Box 7"/>
            <p:cNvSpPr txBox="1">
              <a:spLocks noChangeArrowheads="1"/>
            </p:cNvSpPr>
            <p:nvPr/>
          </p:nvSpPr>
          <p:spPr bwMode="auto">
            <a:xfrm>
              <a:off x="3861" y="718"/>
              <a:ext cx="1081" cy="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0">
                  <a:solidFill>
                    <a:schemeClr val="accent2"/>
                  </a:solidFill>
                </a:rPr>
                <a:t>当前最短路径</a:t>
              </a:r>
              <a:r>
                <a:rPr lang="en-US" altLang="zh-CN" sz="1400" b="0">
                  <a:solidFill>
                    <a:schemeClr val="accent2"/>
                  </a:solidFill>
                </a:rPr>
                <a:t>MS</a:t>
              </a:r>
              <a:r>
                <a:rPr lang="zh-CN" altLang="en-US" sz="1400" b="0">
                  <a:solidFill>
                    <a:schemeClr val="accent2"/>
                  </a:solidFill>
                </a:rPr>
                <a:t>设为空， 当前最短距离</a:t>
              </a:r>
              <a:r>
                <a:rPr lang="en-US" altLang="zh-CN" sz="1400" b="0">
                  <a:solidFill>
                    <a:schemeClr val="accent2"/>
                  </a:solidFill>
                </a:rPr>
                <a:t>DTemp</a:t>
              </a:r>
              <a:r>
                <a:rPr lang="zh-CN" altLang="en-US" sz="1400" b="0">
                  <a:solidFill>
                    <a:schemeClr val="accent2"/>
                  </a:solidFill>
                </a:rPr>
                <a:t>设为最大值</a:t>
              </a:r>
              <a:endParaRPr lang="en-US" altLang="zh-CN" sz="1400" b="0">
                <a:solidFill>
                  <a:schemeClr val="accent2"/>
                </a:solidFill>
              </a:endParaRPr>
            </a:p>
          </p:txBody>
        </p:sp>
      </p:grpSp>
      <p:sp>
        <p:nvSpPr>
          <p:cNvPr id="2580488" name="Text Box 8"/>
          <p:cNvSpPr txBox="1">
            <a:spLocks noChangeArrowheads="1"/>
          </p:cNvSpPr>
          <p:nvPr/>
        </p:nvSpPr>
        <p:spPr bwMode="auto">
          <a:xfrm>
            <a:off x="9534527" y="80169"/>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开始</a:t>
            </a:r>
          </a:p>
        </p:txBody>
      </p:sp>
      <p:grpSp>
        <p:nvGrpSpPr>
          <p:cNvPr id="2580489" name="Group 9"/>
          <p:cNvGrpSpPr/>
          <p:nvPr/>
        </p:nvGrpSpPr>
        <p:grpSpPr bwMode="auto">
          <a:xfrm>
            <a:off x="9094790" y="4482308"/>
            <a:ext cx="1419225" cy="746125"/>
            <a:chOff x="3986" y="1976"/>
            <a:chExt cx="894" cy="470"/>
          </a:xfrm>
        </p:grpSpPr>
        <p:sp>
          <p:nvSpPr>
            <p:cNvPr id="2580490" name="AutoShape 10"/>
            <p:cNvSpPr>
              <a:spLocks noChangeArrowheads="1"/>
            </p:cNvSpPr>
            <p:nvPr/>
          </p:nvSpPr>
          <p:spPr bwMode="auto">
            <a:xfrm>
              <a:off x="3986" y="1976"/>
              <a:ext cx="894" cy="470"/>
            </a:xfrm>
            <a:prstGeom prst="flowChartDecision">
              <a:avLst/>
            </a:prstGeom>
            <a:solidFill>
              <a:srgbClr val="FFFFFF"/>
            </a:solidFill>
            <a:ln w="9525">
              <a:solidFill>
                <a:srgbClr val="000000"/>
              </a:solidFill>
              <a:miter lim="800000"/>
            </a:ln>
          </p:spPr>
          <p:txBody>
            <a:bodyPr/>
            <a:lstStyle/>
            <a:p>
              <a:endParaRPr lang="zh-CN" altLang="en-US"/>
            </a:p>
          </p:txBody>
        </p:sp>
        <p:sp>
          <p:nvSpPr>
            <p:cNvPr id="2580491" name="Text Box 11"/>
            <p:cNvSpPr txBox="1">
              <a:spLocks noChangeArrowheads="1"/>
            </p:cNvSpPr>
            <p:nvPr/>
          </p:nvSpPr>
          <p:spPr bwMode="auto">
            <a:xfrm>
              <a:off x="4094" y="2037"/>
              <a:ext cx="68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0">
                  <a:solidFill>
                    <a:schemeClr val="accent2"/>
                  </a:solidFill>
                </a:rPr>
                <a:t>所有路径组</a:t>
              </a:r>
            </a:p>
            <a:p>
              <a:pPr algn="ctr"/>
              <a:r>
                <a:rPr lang="zh-CN" altLang="en-US" sz="1400" b="0">
                  <a:solidFill>
                    <a:schemeClr val="accent2"/>
                  </a:solidFill>
                </a:rPr>
                <a:t>合完毕否？</a:t>
              </a:r>
            </a:p>
          </p:txBody>
        </p:sp>
      </p:grpSp>
      <p:sp>
        <p:nvSpPr>
          <p:cNvPr id="2580492" name="Text Box 12"/>
          <p:cNvSpPr txBox="1">
            <a:spLocks noChangeArrowheads="1"/>
          </p:cNvSpPr>
          <p:nvPr/>
        </p:nvSpPr>
        <p:spPr bwMode="auto">
          <a:xfrm>
            <a:off x="9525002" y="6460332"/>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结束</a:t>
            </a:r>
          </a:p>
        </p:txBody>
      </p:sp>
      <p:sp>
        <p:nvSpPr>
          <p:cNvPr id="2580493" name="Text Box 13"/>
          <p:cNvSpPr txBox="1">
            <a:spLocks noChangeArrowheads="1"/>
          </p:cNvSpPr>
          <p:nvPr/>
        </p:nvSpPr>
        <p:spPr bwMode="auto">
          <a:xfrm>
            <a:off x="10485439" y="4531519"/>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否</a:t>
            </a:r>
          </a:p>
        </p:txBody>
      </p:sp>
      <p:sp>
        <p:nvSpPr>
          <p:cNvPr id="2580494" name="Line 14"/>
          <p:cNvSpPr>
            <a:spLocks noChangeShapeType="1"/>
          </p:cNvSpPr>
          <p:nvPr/>
        </p:nvSpPr>
        <p:spPr bwMode="auto">
          <a:xfrm>
            <a:off x="9809164" y="440532"/>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80495" name="Line 15"/>
          <p:cNvSpPr>
            <a:spLocks noChangeShapeType="1"/>
          </p:cNvSpPr>
          <p:nvPr/>
        </p:nvSpPr>
        <p:spPr bwMode="auto">
          <a:xfrm>
            <a:off x="9809164" y="4193382"/>
            <a:ext cx="0" cy="315912"/>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80496" name="Text Box 16"/>
          <p:cNvSpPr txBox="1">
            <a:spLocks noChangeArrowheads="1"/>
          </p:cNvSpPr>
          <p:nvPr/>
        </p:nvSpPr>
        <p:spPr bwMode="auto">
          <a:xfrm>
            <a:off x="9856789" y="5199857"/>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是</a:t>
            </a:r>
          </a:p>
        </p:txBody>
      </p:sp>
      <p:sp>
        <p:nvSpPr>
          <p:cNvPr id="2580497" name="Line 17"/>
          <p:cNvSpPr>
            <a:spLocks noChangeShapeType="1"/>
          </p:cNvSpPr>
          <p:nvPr/>
        </p:nvSpPr>
        <p:spPr bwMode="auto">
          <a:xfrm>
            <a:off x="9809164" y="6084094"/>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580498" name="Group 18"/>
          <p:cNvGrpSpPr/>
          <p:nvPr/>
        </p:nvGrpSpPr>
        <p:grpSpPr bwMode="auto">
          <a:xfrm>
            <a:off x="8512177" y="1539082"/>
            <a:ext cx="2265362" cy="614362"/>
            <a:chOff x="3904" y="1385"/>
            <a:chExt cx="1039" cy="387"/>
          </a:xfrm>
        </p:grpSpPr>
        <p:sp>
          <p:nvSpPr>
            <p:cNvPr id="2580499" name="AutoShape 19"/>
            <p:cNvSpPr>
              <a:spLocks noChangeArrowheads="1"/>
            </p:cNvSpPr>
            <p:nvPr/>
          </p:nvSpPr>
          <p:spPr bwMode="auto">
            <a:xfrm>
              <a:off x="3904" y="1385"/>
              <a:ext cx="1028" cy="387"/>
            </a:xfrm>
            <a:prstGeom prst="flowChartProcess">
              <a:avLst/>
            </a:prstGeom>
            <a:solidFill>
              <a:srgbClr val="FFFFFF"/>
            </a:solidFill>
            <a:ln w="9525">
              <a:solidFill>
                <a:srgbClr val="000000"/>
              </a:solidFill>
              <a:miter lim="800000"/>
            </a:ln>
          </p:spPr>
          <p:txBody>
            <a:bodyPr/>
            <a:lstStyle/>
            <a:p>
              <a:endParaRPr lang="zh-CN" altLang="en-US"/>
            </a:p>
          </p:txBody>
        </p:sp>
        <p:sp>
          <p:nvSpPr>
            <p:cNvPr id="2580500" name="Text Box 20"/>
            <p:cNvSpPr txBox="1">
              <a:spLocks noChangeArrowheads="1"/>
            </p:cNvSpPr>
            <p:nvPr/>
          </p:nvSpPr>
          <p:spPr bwMode="auto">
            <a:xfrm>
              <a:off x="3911" y="1406"/>
              <a:ext cx="10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0">
                  <a:solidFill>
                    <a:schemeClr val="accent2"/>
                  </a:solidFill>
                </a:rPr>
                <a:t>组合一条新路径</a:t>
              </a:r>
              <a:r>
                <a:rPr lang="en-US" altLang="zh-CN" sz="1400" b="0">
                  <a:solidFill>
                    <a:schemeClr val="accent2"/>
                  </a:solidFill>
                </a:rPr>
                <a:t>S</a:t>
              </a:r>
              <a:r>
                <a:rPr lang="zh-CN" altLang="en-US" sz="1400" b="0">
                  <a:solidFill>
                    <a:schemeClr val="accent2"/>
                  </a:solidFill>
                </a:rPr>
                <a:t>并计算该路径的距离</a:t>
              </a:r>
              <a:r>
                <a:rPr lang="en-US" altLang="zh-CN" sz="1400" b="0">
                  <a:solidFill>
                    <a:schemeClr val="accent2"/>
                  </a:solidFill>
                </a:rPr>
                <a:t>Distance</a:t>
              </a:r>
            </a:p>
          </p:txBody>
        </p:sp>
      </p:grpSp>
      <p:grpSp>
        <p:nvGrpSpPr>
          <p:cNvPr id="2580501" name="Group 21"/>
          <p:cNvGrpSpPr/>
          <p:nvPr/>
        </p:nvGrpSpPr>
        <p:grpSpPr bwMode="auto">
          <a:xfrm>
            <a:off x="9101140" y="2404270"/>
            <a:ext cx="1419225" cy="746125"/>
            <a:chOff x="3986" y="1976"/>
            <a:chExt cx="894" cy="470"/>
          </a:xfrm>
        </p:grpSpPr>
        <p:sp>
          <p:nvSpPr>
            <p:cNvPr id="2580502" name="AutoShape 22"/>
            <p:cNvSpPr>
              <a:spLocks noChangeArrowheads="1"/>
            </p:cNvSpPr>
            <p:nvPr/>
          </p:nvSpPr>
          <p:spPr bwMode="auto">
            <a:xfrm>
              <a:off x="3986" y="1976"/>
              <a:ext cx="894" cy="470"/>
            </a:xfrm>
            <a:prstGeom prst="flowChartDecision">
              <a:avLst/>
            </a:prstGeom>
            <a:solidFill>
              <a:srgbClr val="FFFFFF"/>
            </a:solidFill>
            <a:ln w="9525">
              <a:solidFill>
                <a:srgbClr val="000000"/>
              </a:solidFill>
              <a:miter lim="800000"/>
            </a:ln>
          </p:spPr>
          <p:txBody>
            <a:bodyPr/>
            <a:lstStyle/>
            <a:p>
              <a:endParaRPr lang="zh-CN" altLang="en-US"/>
            </a:p>
          </p:txBody>
        </p:sp>
        <p:sp>
          <p:nvSpPr>
            <p:cNvPr id="2580503" name="Text Box 23"/>
            <p:cNvSpPr txBox="1">
              <a:spLocks noChangeArrowheads="1"/>
            </p:cNvSpPr>
            <p:nvPr/>
          </p:nvSpPr>
          <p:spPr bwMode="auto">
            <a:xfrm>
              <a:off x="4038" y="2037"/>
              <a:ext cx="79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0">
                  <a:solidFill>
                    <a:schemeClr val="accent2"/>
                  </a:solidFill>
                </a:rPr>
                <a:t>比当前最</a:t>
              </a:r>
            </a:p>
            <a:p>
              <a:pPr algn="ctr"/>
              <a:r>
                <a:rPr lang="zh-CN" altLang="en-US" sz="1400" b="0">
                  <a:solidFill>
                    <a:schemeClr val="accent2"/>
                  </a:solidFill>
                </a:rPr>
                <a:t>短距离小吗？</a:t>
              </a:r>
            </a:p>
          </p:txBody>
        </p:sp>
      </p:grpSp>
      <p:sp>
        <p:nvSpPr>
          <p:cNvPr id="2580504" name="AutoShape 24"/>
          <p:cNvSpPr>
            <a:spLocks noChangeArrowheads="1"/>
          </p:cNvSpPr>
          <p:nvPr/>
        </p:nvSpPr>
        <p:spPr bwMode="auto">
          <a:xfrm>
            <a:off x="8880477" y="3417095"/>
            <a:ext cx="1827212" cy="784225"/>
          </a:xfrm>
          <a:prstGeom prst="flowChartProcess">
            <a:avLst/>
          </a:prstGeom>
          <a:solidFill>
            <a:srgbClr val="FFFFFF"/>
          </a:solidFill>
          <a:ln w="9525">
            <a:solidFill>
              <a:srgbClr val="000000"/>
            </a:solidFill>
            <a:miter lim="800000"/>
          </a:ln>
        </p:spPr>
        <p:txBody>
          <a:bodyPr/>
          <a:lstStyle/>
          <a:p>
            <a:endParaRPr lang="zh-CN" altLang="en-US"/>
          </a:p>
        </p:txBody>
      </p:sp>
      <p:sp>
        <p:nvSpPr>
          <p:cNvPr id="2580505" name="Text Box 25"/>
          <p:cNvSpPr txBox="1">
            <a:spLocks noChangeArrowheads="1"/>
          </p:cNvSpPr>
          <p:nvPr/>
        </p:nvSpPr>
        <p:spPr bwMode="auto">
          <a:xfrm>
            <a:off x="8816977" y="3450432"/>
            <a:ext cx="200501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0">
                <a:solidFill>
                  <a:schemeClr val="accent2"/>
                </a:solidFill>
              </a:rPr>
              <a:t>将该路径记录为当前最短路径，并用其距离值更新当前最短距离</a:t>
            </a:r>
            <a:endParaRPr lang="en-US" altLang="zh-CN" sz="1400" b="0">
              <a:solidFill>
                <a:schemeClr val="accent2"/>
              </a:solidFill>
            </a:endParaRPr>
          </a:p>
        </p:txBody>
      </p:sp>
      <p:grpSp>
        <p:nvGrpSpPr>
          <p:cNvPr id="2580506" name="Group 26"/>
          <p:cNvGrpSpPr/>
          <p:nvPr/>
        </p:nvGrpSpPr>
        <p:grpSpPr bwMode="auto">
          <a:xfrm>
            <a:off x="9039228" y="5520533"/>
            <a:ext cx="1639887" cy="587375"/>
            <a:chOff x="2329" y="3580"/>
            <a:chExt cx="1033" cy="370"/>
          </a:xfrm>
        </p:grpSpPr>
        <p:sp>
          <p:nvSpPr>
            <p:cNvPr id="2580507" name="AutoShape 27"/>
            <p:cNvSpPr>
              <a:spLocks noChangeArrowheads="1"/>
            </p:cNvSpPr>
            <p:nvPr/>
          </p:nvSpPr>
          <p:spPr bwMode="auto">
            <a:xfrm>
              <a:off x="2342" y="3580"/>
              <a:ext cx="965" cy="370"/>
            </a:xfrm>
            <a:prstGeom prst="flowChartProcess">
              <a:avLst/>
            </a:prstGeom>
            <a:solidFill>
              <a:srgbClr val="FFFFFF"/>
            </a:solidFill>
            <a:ln w="9525">
              <a:solidFill>
                <a:srgbClr val="000000"/>
              </a:solidFill>
              <a:miter lim="800000"/>
            </a:ln>
          </p:spPr>
          <p:txBody>
            <a:bodyPr/>
            <a:lstStyle/>
            <a:p>
              <a:endParaRPr lang="zh-CN" altLang="en-US"/>
            </a:p>
          </p:txBody>
        </p:sp>
        <p:sp>
          <p:nvSpPr>
            <p:cNvPr id="2580508" name="Text Box 28"/>
            <p:cNvSpPr txBox="1">
              <a:spLocks noChangeArrowheads="1"/>
            </p:cNvSpPr>
            <p:nvPr/>
          </p:nvSpPr>
          <p:spPr bwMode="auto">
            <a:xfrm>
              <a:off x="2329" y="3601"/>
              <a:ext cx="103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0">
                  <a:solidFill>
                    <a:schemeClr val="accent2"/>
                  </a:solidFill>
                </a:rPr>
                <a:t>输出当前最短路径及当前最短距离</a:t>
              </a:r>
              <a:endParaRPr lang="en-US" altLang="zh-CN" sz="1400" b="0">
                <a:solidFill>
                  <a:schemeClr val="accent2"/>
                </a:solidFill>
              </a:endParaRPr>
            </a:p>
          </p:txBody>
        </p:sp>
      </p:grpSp>
      <p:sp>
        <p:nvSpPr>
          <p:cNvPr id="2580509" name="Line 29"/>
          <p:cNvSpPr>
            <a:spLocks noChangeShapeType="1"/>
          </p:cNvSpPr>
          <p:nvPr/>
        </p:nvSpPr>
        <p:spPr bwMode="auto">
          <a:xfrm>
            <a:off x="9810752" y="1280319"/>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80510" name="Line 30"/>
          <p:cNvSpPr>
            <a:spLocks noChangeShapeType="1"/>
          </p:cNvSpPr>
          <p:nvPr/>
        </p:nvSpPr>
        <p:spPr bwMode="auto">
          <a:xfrm>
            <a:off x="9810752" y="2129632"/>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80511" name="Line 31"/>
          <p:cNvSpPr>
            <a:spLocks noChangeShapeType="1"/>
          </p:cNvSpPr>
          <p:nvPr/>
        </p:nvSpPr>
        <p:spPr bwMode="auto">
          <a:xfrm>
            <a:off x="9809164" y="3131344"/>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80512" name="Text Box 32"/>
          <p:cNvSpPr txBox="1">
            <a:spLocks noChangeArrowheads="1"/>
          </p:cNvSpPr>
          <p:nvPr/>
        </p:nvSpPr>
        <p:spPr bwMode="auto">
          <a:xfrm>
            <a:off x="9821864" y="3085307"/>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是</a:t>
            </a:r>
          </a:p>
        </p:txBody>
      </p:sp>
      <p:sp>
        <p:nvSpPr>
          <p:cNvPr id="2580513" name="Freeform 33"/>
          <p:cNvSpPr/>
          <p:nvPr/>
        </p:nvSpPr>
        <p:spPr bwMode="auto">
          <a:xfrm>
            <a:off x="8655053" y="2767807"/>
            <a:ext cx="1125537" cy="1547812"/>
          </a:xfrm>
          <a:custGeom>
            <a:avLst/>
            <a:gdLst>
              <a:gd name="T0" fmla="*/ 284 w 709"/>
              <a:gd name="T1" fmla="*/ 0 h 984"/>
              <a:gd name="T2" fmla="*/ 0 w 709"/>
              <a:gd name="T3" fmla="*/ 0 h 984"/>
              <a:gd name="T4" fmla="*/ 0 w 709"/>
              <a:gd name="T5" fmla="*/ 984 h 984"/>
              <a:gd name="T6" fmla="*/ 709 w 709"/>
              <a:gd name="T7" fmla="*/ 984 h 984"/>
            </a:gdLst>
            <a:ahLst/>
            <a:cxnLst>
              <a:cxn ang="0">
                <a:pos x="T0" y="T1"/>
              </a:cxn>
              <a:cxn ang="0">
                <a:pos x="T2" y="T3"/>
              </a:cxn>
              <a:cxn ang="0">
                <a:pos x="T4" y="T5"/>
              </a:cxn>
              <a:cxn ang="0">
                <a:pos x="T6" y="T7"/>
              </a:cxn>
            </a:cxnLst>
            <a:rect l="0" t="0" r="r" b="b"/>
            <a:pathLst>
              <a:path w="709" h="984">
                <a:moveTo>
                  <a:pt x="284" y="0"/>
                </a:moveTo>
                <a:lnTo>
                  <a:pt x="0" y="0"/>
                </a:lnTo>
                <a:lnTo>
                  <a:pt x="0" y="984"/>
                </a:lnTo>
                <a:lnTo>
                  <a:pt x="709" y="984"/>
                </a:lnTo>
              </a:path>
            </a:pathLst>
          </a:custGeom>
          <a:noFill/>
          <a:ln w="38100" cmpd="sng">
            <a:solidFill>
              <a:srgbClr val="FF006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80514" name="Text Box 34"/>
          <p:cNvSpPr txBox="1">
            <a:spLocks noChangeArrowheads="1"/>
          </p:cNvSpPr>
          <p:nvPr/>
        </p:nvSpPr>
        <p:spPr bwMode="auto">
          <a:xfrm>
            <a:off x="8732839" y="2804319"/>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0">
                <a:solidFill>
                  <a:schemeClr val="accent2"/>
                </a:solidFill>
              </a:rPr>
              <a:t>否</a:t>
            </a:r>
          </a:p>
        </p:txBody>
      </p:sp>
      <p:sp>
        <p:nvSpPr>
          <p:cNvPr id="2580515" name="Freeform 35"/>
          <p:cNvSpPr/>
          <p:nvPr/>
        </p:nvSpPr>
        <p:spPr bwMode="auto">
          <a:xfrm>
            <a:off x="9821864" y="1366044"/>
            <a:ext cx="1041400" cy="3475038"/>
          </a:xfrm>
          <a:custGeom>
            <a:avLst/>
            <a:gdLst>
              <a:gd name="T0" fmla="*/ 426 w 656"/>
              <a:gd name="T1" fmla="*/ 2189 h 2189"/>
              <a:gd name="T2" fmla="*/ 656 w 656"/>
              <a:gd name="T3" fmla="*/ 2189 h 2189"/>
              <a:gd name="T4" fmla="*/ 656 w 656"/>
              <a:gd name="T5" fmla="*/ 0 h 2189"/>
              <a:gd name="T6" fmla="*/ 0 w 656"/>
              <a:gd name="T7" fmla="*/ 0 h 2189"/>
            </a:gdLst>
            <a:ahLst/>
            <a:cxnLst>
              <a:cxn ang="0">
                <a:pos x="T0" y="T1"/>
              </a:cxn>
              <a:cxn ang="0">
                <a:pos x="T2" y="T3"/>
              </a:cxn>
              <a:cxn ang="0">
                <a:pos x="T4" y="T5"/>
              </a:cxn>
              <a:cxn ang="0">
                <a:pos x="T6" y="T7"/>
              </a:cxn>
            </a:cxnLst>
            <a:rect l="0" t="0" r="r" b="b"/>
            <a:pathLst>
              <a:path w="656" h="2189">
                <a:moveTo>
                  <a:pt x="426" y="2189"/>
                </a:moveTo>
                <a:lnTo>
                  <a:pt x="656" y="2189"/>
                </a:lnTo>
                <a:lnTo>
                  <a:pt x="656" y="0"/>
                </a:lnTo>
                <a:lnTo>
                  <a:pt x="0" y="0"/>
                </a:lnTo>
              </a:path>
            </a:pathLst>
          </a:custGeom>
          <a:noFill/>
          <a:ln w="38100" cmpd="sng">
            <a:solidFill>
              <a:srgbClr val="FF006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80516" name="Line 36"/>
          <p:cNvSpPr>
            <a:spLocks noChangeShapeType="1"/>
          </p:cNvSpPr>
          <p:nvPr/>
        </p:nvSpPr>
        <p:spPr bwMode="auto">
          <a:xfrm>
            <a:off x="9804402" y="5218907"/>
            <a:ext cx="11112" cy="315912"/>
          </a:xfrm>
          <a:prstGeom prst="line">
            <a:avLst/>
          </a:prstGeom>
          <a:noFill/>
          <a:ln w="38100">
            <a:solidFill>
              <a:srgbClr val="FF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问题：算法的控制结构设计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80483"/>
                                        </p:tgtEl>
                                        <p:attrNameLst>
                                          <p:attrName>style.visibility</p:attrName>
                                        </p:attrNameLst>
                                      </p:cBhvr>
                                      <p:to>
                                        <p:strVal val="visible"/>
                                      </p:to>
                                    </p:set>
                                    <p:anim calcmode="lin" valueType="num">
                                      <p:cBhvr additive="base">
                                        <p:cTn id="7" dur="500" fill="hold"/>
                                        <p:tgtEl>
                                          <p:spTgt spid="2580483"/>
                                        </p:tgtEl>
                                        <p:attrNameLst>
                                          <p:attrName>ppt_x</p:attrName>
                                        </p:attrNameLst>
                                      </p:cBhvr>
                                      <p:tavLst>
                                        <p:tav tm="0">
                                          <p:val>
                                            <p:strVal val="#ppt_x"/>
                                          </p:val>
                                        </p:tav>
                                        <p:tav tm="100000">
                                          <p:val>
                                            <p:strVal val="#ppt_x"/>
                                          </p:val>
                                        </p:tav>
                                      </p:tavLst>
                                    </p:anim>
                                    <p:anim calcmode="lin" valueType="num">
                                      <p:cBhvr additive="base">
                                        <p:cTn id="8" dur="500" fill="hold"/>
                                        <p:tgtEl>
                                          <p:spTgt spid="258048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80488"/>
                                        </p:tgtEl>
                                        <p:attrNameLst>
                                          <p:attrName>style.visibility</p:attrName>
                                        </p:attrNameLst>
                                      </p:cBhvr>
                                      <p:to>
                                        <p:strVal val="visible"/>
                                      </p:to>
                                    </p:set>
                                    <p:anim calcmode="lin" valueType="num">
                                      <p:cBhvr additive="base">
                                        <p:cTn id="11" dur="500" fill="hold"/>
                                        <p:tgtEl>
                                          <p:spTgt spid="2580488"/>
                                        </p:tgtEl>
                                        <p:attrNameLst>
                                          <p:attrName>ppt_x</p:attrName>
                                        </p:attrNameLst>
                                      </p:cBhvr>
                                      <p:tavLst>
                                        <p:tav tm="0">
                                          <p:val>
                                            <p:strVal val="#ppt_x"/>
                                          </p:val>
                                        </p:tav>
                                        <p:tav tm="100000">
                                          <p:val>
                                            <p:strVal val="#ppt_x"/>
                                          </p:val>
                                        </p:tav>
                                      </p:tavLst>
                                    </p:anim>
                                    <p:anim calcmode="lin" valueType="num">
                                      <p:cBhvr additive="base">
                                        <p:cTn id="12" dur="500" fill="hold"/>
                                        <p:tgtEl>
                                          <p:spTgt spid="258048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80484"/>
                                        </p:tgtEl>
                                        <p:attrNameLst>
                                          <p:attrName>style.visibility</p:attrName>
                                        </p:attrNameLst>
                                      </p:cBhvr>
                                      <p:to>
                                        <p:strVal val="visible"/>
                                      </p:to>
                                    </p:set>
                                    <p:anim calcmode="lin" valueType="num">
                                      <p:cBhvr additive="base">
                                        <p:cTn id="17" dur="500" fill="hold"/>
                                        <p:tgtEl>
                                          <p:spTgt spid="2580484"/>
                                        </p:tgtEl>
                                        <p:attrNameLst>
                                          <p:attrName>ppt_x</p:attrName>
                                        </p:attrNameLst>
                                      </p:cBhvr>
                                      <p:tavLst>
                                        <p:tav tm="0">
                                          <p:val>
                                            <p:strVal val="#ppt_x"/>
                                          </p:val>
                                        </p:tav>
                                        <p:tav tm="100000">
                                          <p:val>
                                            <p:strVal val="#ppt_x"/>
                                          </p:val>
                                        </p:tav>
                                      </p:tavLst>
                                    </p:anim>
                                    <p:anim calcmode="lin" valueType="num">
                                      <p:cBhvr additive="base">
                                        <p:cTn id="18" dur="500" fill="hold"/>
                                        <p:tgtEl>
                                          <p:spTgt spid="258048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580492"/>
                                        </p:tgtEl>
                                        <p:attrNameLst>
                                          <p:attrName>style.visibility</p:attrName>
                                        </p:attrNameLst>
                                      </p:cBhvr>
                                      <p:to>
                                        <p:strVal val="visible"/>
                                      </p:to>
                                    </p:set>
                                    <p:anim calcmode="lin" valueType="num">
                                      <p:cBhvr additive="base">
                                        <p:cTn id="21" dur="500" fill="hold"/>
                                        <p:tgtEl>
                                          <p:spTgt spid="2580492"/>
                                        </p:tgtEl>
                                        <p:attrNameLst>
                                          <p:attrName>ppt_x</p:attrName>
                                        </p:attrNameLst>
                                      </p:cBhvr>
                                      <p:tavLst>
                                        <p:tav tm="0">
                                          <p:val>
                                            <p:strVal val="#ppt_x"/>
                                          </p:val>
                                        </p:tav>
                                        <p:tav tm="100000">
                                          <p:val>
                                            <p:strVal val="#ppt_x"/>
                                          </p:val>
                                        </p:tav>
                                      </p:tavLst>
                                    </p:anim>
                                    <p:anim calcmode="lin" valueType="num">
                                      <p:cBhvr additive="base">
                                        <p:cTn id="22" dur="500" fill="hold"/>
                                        <p:tgtEl>
                                          <p:spTgt spid="258049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80485"/>
                                        </p:tgtEl>
                                        <p:attrNameLst>
                                          <p:attrName>style.visibility</p:attrName>
                                        </p:attrNameLst>
                                      </p:cBhvr>
                                      <p:to>
                                        <p:strVal val="visible"/>
                                      </p:to>
                                    </p:set>
                                    <p:anim calcmode="lin" valueType="num">
                                      <p:cBhvr additive="base">
                                        <p:cTn id="27" dur="500" fill="hold"/>
                                        <p:tgtEl>
                                          <p:spTgt spid="2580485"/>
                                        </p:tgtEl>
                                        <p:attrNameLst>
                                          <p:attrName>ppt_x</p:attrName>
                                        </p:attrNameLst>
                                      </p:cBhvr>
                                      <p:tavLst>
                                        <p:tav tm="0">
                                          <p:val>
                                            <p:strVal val="#ppt_x"/>
                                          </p:val>
                                        </p:tav>
                                        <p:tav tm="100000">
                                          <p:val>
                                            <p:strVal val="#ppt_x"/>
                                          </p:val>
                                        </p:tav>
                                      </p:tavLst>
                                    </p:anim>
                                    <p:anim calcmode="lin" valueType="num">
                                      <p:cBhvr additive="base">
                                        <p:cTn id="28" dur="500" fill="hold"/>
                                        <p:tgtEl>
                                          <p:spTgt spid="258048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80494"/>
                                        </p:tgtEl>
                                        <p:attrNameLst>
                                          <p:attrName>style.visibility</p:attrName>
                                        </p:attrNameLst>
                                      </p:cBhvr>
                                      <p:to>
                                        <p:strVal val="visible"/>
                                      </p:to>
                                    </p:set>
                                    <p:anim calcmode="lin" valueType="num">
                                      <p:cBhvr additive="base">
                                        <p:cTn id="31" dur="500" fill="hold"/>
                                        <p:tgtEl>
                                          <p:spTgt spid="2580494"/>
                                        </p:tgtEl>
                                        <p:attrNameLst>
                                          <p:attrName>ppt_x</p:attrName>
                                        </p:attrNameLst>
                                      </p:cBhvr>
                                      <p:tavLst>
                                        <p:tav tm="0">
                                          <p:val>
                                            <p:strVal val="#ppt_x"/>
                                          </p:val>
                                        </p:tav>
                                        <p:tav tm="100000">
                                          <p:val>
                                            <p:strVal val="#ppt_x"/>
                                          </p:val>
                                        </p:tav>
                                      </p:tavLst>
                                    </p:anim>
                                    <p:anim calcmode="lin" valueType="num">
                                      <p:cBhvr additive="base">
                                        <p:cTn id="32" dur="500" fill="hold"/>
                                        <p:tgtEl>
                                          <p:spTgt spid="258049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580498"/>
                                        </p:tgtEl>
                                        <p:attrNameLst>
                                          <p:attrName>style.visibility</p:attrName>
                                        </p:attrNameLst>
                                      </p:cBhvr>
                                      <p:to>
                                        <p:strVal val="visible"/>
                                      </p:to>
                                    </p:set>
                                    <p:anim calcmode="lin" valueType="num">
                                      <p:cBhvr additive="base">
                                        <p:cTn id="37" dur="500" fill="hold"/>
                                        <p:tgtEl>
                                          <p:spTgt spid="2580498"/>
                                        </p:tgtEl>
                                        <p:attrNameLst>
                                          <p:attrName>ppt_x</p:attrName>
                                        </p:attrNameLst>
                                      </p:cBhvr>
                                      <p:tavLst>
                                        <p:tav tm="0">
                                          <p:val>
                                            <p:strVal val="#ppt_x"/>
                                          </p:val>
                                        </p:tav>
                                        <p:tav tm="100000">
                                          <p:val>
                                            <p:strVal val="#ppt_x"/>
                                          </p:val>
                                        </p:tav>
                                      </p:tavLst>
                                    </p:anim>
                                    <p:anim calcmode="lin" valueType="num">
                                      <p:cBhvr additive="base">
                                        <p:cTn id="38" dur="500" fill="hold"/>
                                        <p:tgtEl>
                                          <p:spTgt spid="258049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580509"/>
                                        </p:tgtEl>
                                        <p:attrNameLst>
                                          <p:attrName>style.visibility</p:attrName>
                                        </p:attrNameLst>
                                      </p:cBhvr>
                                      <p:to>
                                        <p:strVal val="visible"/>
                                      </p:to>
                                    </p:set>
                                    <p:anim calcmode="lin" valueType="num">
                                      <p:cBhvr additive="base">
                                        <p:cTn id="41" dur="500" fill="hold"/>
                                        <p:tgtEl>
                                          <p:spTgt spid="2580509"/>
                                        </p:tgtEl>
                                        <p:attrNameLst>
                                          <p:attrName>ppt_x</p:attrName>
                                        </p:attrNameLst>
                                      </p:cBhvr>
                                      <p:tavLst>
                                        <p:tav tm="0">
                                          <p:val>
                                            <p:strVal val="#ppt_x"/>
                                          </p:val>
                                        </p:tav>
                                        <p:tav tm="100000">
                                          <p:val>
                                            <p:strVal val="#ppt_x"/>
                                          </p:val>
                                        </p:tav>
                                      </p:tavLst>
                                    </p:anim>
                                    <p:anim calcmode="lin" valueType="num">
                                      <p:cBhvr additive="base">
                                        <p:cTn id="42" dur="500" fill="hold"/>
                                        <p:tgtEl>
                                          <p:spTgt spid="258050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580501"/>
                                        </p:tgtEl>
                                        <p:attrNameLst>
                                          <p:attrName>style.visibility</p:attrName>
                                        </p:attrNameLst>
                                      </p:cBhvr>
                                      <p:to>
                                        <p:strVal val="visible"/>
                                      </p:to>
                                    </p:set>
                                    <p:anim calcmode="lin" valueType="num">
                                      <p:cBhvr additive="base">
                                        <p:cTn id="47" dur="500" fill="hold"/>
                                        <p:tgtEl>
                                          <p:spTgt spid="2580501"/>
                                        </p:tgtEl>
                                        <p:attrNameLst>
                                          <p:attrName>ppt_x</p:attrName>
                                        </p:attrNameLst>
                                      </p:cBhvr>
                                      <p:tavLst>
                                        <p:tav tm="0">
                                          <p:val>
                                            <p:strVal val="#ppt_x"/>
                                          </p:val>
                                        </p:tav>
                                        <p:tav tm="100000">
                                          <p:val>
                                            <p:strVal val="#ppt_x"/>
                                          </p:val>
                                        </p:tav>
                                      </p:tavLst>
                                    </p:anim>
                                    <p:anim calcmode="lin" valueType="num">
                                      <p:cBhvr additive="base">
                                        <p:cTn id="48" dur="500" fill="hold"/>
                                        <p:tgtEl>
                                          <p:spTgt spid="2580501"/>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580510"/>
                                        </p:tgtEl>
                                        <p:attrNameLst>
                                          <p:attrName>style.visibility</p:attrName>
                                        </p:attrNameLst>
                                      </p:cBhvr>
                                      <p:to>
                                        <p:strVal val="visible"/>
                                      </p:to>
                                    </p:set>
                                    <p:anim calcmode="lin" valueType="num">
                                      <p:cBhvr additive="base">
                                        <p:cTn id="51" dur="500" fill="hold"/>
                                        <p:tgtEl>
                                          <p:spTgt spid="2580510"/>
                                        </p:tgtEl>
                                        <p:attrNameLst>
                                          <p:attrName>ppt_x</p:attrName>
                                        </p:attrNameLst>
                                      </p:cBhvr>
                                      <p:tavLst>
                                        <p:tav tm="0">
                                          <p:val>
                                            <p:strVal val="#ppt_x"/>
                                          </p:val>
                                        </p:tav>
                                        <p:tav tm="100000">
                                          <p:val>
                                            <p:strVal val="#ppt_x"/>
                                          </p:val>
                                        </p:tav>
                                      </p:tavLst>
                                    </p:anim>
                                    <p:anim calcmode="lin" valueType="num">
                                      <p:cBhvr additive="base">
                                        <p:cTn id="52" dur="500" fill="hold"/>
                                        <p:tgtEl>
                                          <p:spTgt spid="258051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580504"/>
                                        </p:tgtEl>
                                        <p:attrNameLst>
                                          <p:attrName>style.visibility</p:attrName>
                                        </p:attrNameLst>
                                      </p:cBhvr>
                                      <p:to>
                                        <p:strVal val="visible"/>
                                      </p:to>
                                    </p:set>
                                    <p:anim calcmode="lin" valueType="num">
                                      <p:cBhvr additive="base">
                                        <p:cTn id="57" dur="500" fill="hold"/>
                                        <p:tgtEl>
                                          <p:spTgt spid="2580504"/>
                                        </p:tgtEl>
                                        <p:attrNameLst>
                                          <p:attrName>ppt_x</p:attrName>
                                        </p:attrNameLst>
                                      </p:cBhvr>
                                      <p:tavLst>
                                        <p:tav tm="0">
                                          <p:val>
                                            <p:strVal val="#ppt_x"/>
                                          </p:val>
                                        </p:tav>
                                        <p:tav tm="100000">
                                          <p:val>
                                            <p:strVal val="#ppt_x"/>
                                          </p:val>
                                        </p:tav>
                                      </p:tavLst>
                                    </p:anim>
                                    <p:anim calcmode="lin" valueType="num">
                                      <p:cBhvr additive="base">
                                        <p:cTn id="58" dur="500" fill="hold"/>
                                        <p:tgtEl>
                                          <p:spTgt spid="258050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580505"/>
                                        </p:tgtEl>
                                        <p:attrNameLst>
                                          <p:attrName>style.visibility</p:attrName>
                                        </p:attrNameLst>
                                      </p:cBhvr>
                                      <p:to>
                                        <p:strVal val="visible"/>
                                      </p:to>
                                    </p:set>
                                    <p:anim calcmode="lin" valueType="num">
                                      <p:cBhvr additive="base">
                                        <p:cTn id="61" dur="500" fill="hold"/>
                                        <p:tgtEl>
                                          <p:spTgt spid="2580505"/>
                                        </p:tgtEl>
                                        <p:attrNameLst>
                                          <p:attrName>ppt_x</p:attrName>
                                        </p:attrNameLst>
                                      </p:cBhvr>
                                      <p:tavLst>
                                        <p:tav tm="0">
                                          <p:val>
                                            <p:strVal val="#ppt_x"/>
                                          </p:val>
                                        </p:tav>
                                        <p:tav tm="100000">
                                          <p:val>
                                            <p:strVal val="#ppt_x"/>
                                          </p:val>
                                        </p:tav>
                                      </p:tavLst>
                                    </p:anim>
                                    <p:anim calcmode="lin" valueType="num">
                                      <p:cBhvr additive="base">
                                        <p:cTn id="62" dur="500" fill="hold"/>
                                        <p:tgtEl>
                                          <p:spTgt spid="2580505"/>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580511"/>
                                        </p:tgtEl>
                                        <p:attrNameLst>
                                          <p:attrName>style.visibility</p:attrName>
                                        </p:attrNameLst>
                                      </p:cBhvr>
                                      <p:to>
                                        <p:strVal val="visible"/>
                                      </p:to>
                                    </p:set>
                                    <p:anim calcmode="lin" valueType="num">
                                      <p:cBhvr additive="base">
                                        <p:cTn id="65" dur="500" fill="hold"/>
                                        <p:tgtEl>
                                          <p:spTgt spid="2580511"/>
                                        </p:tgtEl>
                                        <p:attrNameLst>
                                          <p:attrName>ppt_x</p:attrName>
                                        </p:attrNameLst>
                                      </p:cBhvr>
                                      <p:tavLst>
                                        <p:tav tm="0">
                                          <p:val>
                                            <p:strVal val="#ppt_x"/>
                                          </p:val>
                                        </p:tav>
                                        <p:tav tm="100000">
                                          <p:val>
                                            <p:strVal val="#ppt_x"/>
                                          </p:val>
                                        </p:tav>
                                      </p:tavLst>
                                    </p:anim>
                                    <p:anim calcmode="lin" valueType="num">
                                      <p:cBhvr additive="base">
                                        <p:cTn id="66" dur="500" fill="hold"/>
                                        <p:tgtEl>
                                          <p:spTgt spid="25805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580512"/>
                                        </p:tgtEl>
                                        <p:attrNameLst>
                                          <p:attrName>style.visibility</p:attrName>
                                        </p:attrNameLst>
                                      </p:cBhvr>
                                      <p:to>
                                        <p:strVal val="visible"/>
                                      </p:to>
                                    </p:set>
                                    <p:anim calcmode="lin" valueType="num">
                                      <p:cBhvr additive="base">
                                        <p:cTn id="69" dur="500" fill="hold"/>
                                        <p:tgtEl>
                                          <p:spTgt spid="2580512"/>
                                        </p:tgtEl>
                                        <p:attrNameLst>
                                          <p:attrName>ppt_x</p:attrName>
                                        </p:attrNameLst>
                                      </p:cBhvr>
                                      <p:tavLst>
                                        <p:tav tm="0">
                                          <p:val>
                                            <p:strVal val="#ppt_x"/>
                                          </p:val>
                                        </p:tav>
                                        <p:tav tm="100000">
                                          <p:val>
                                            <p:strVal val="#ppt_x"/>
                                          </p:val>
                                        </p:tav>
                                      </p:tavLst>
                                    </p:anim>
                                    <p:anim calcmode="lin" valueType="num">
                                      <p:cBhvr additive="base">
                                        <p:cTn id="70" dur="500" fill="hold"/>
                                        <p:tgtEl>
                                          <p:spTgt spid="2580512"/>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580495"/>
                                        </p:tgtEl>
                                        <p:attrNameLst>
                                          <p:attrName>style.visibility</p:attrName>
                                        </p:attrNameLst>
                                      </p:cBhvr>
                                      <p:to>
                                        <p:strVal val="visible"/>
                                      </p:to>
                                    </p:set>
                                    <p:anim calcmode="lin" valueType="num">
                                      <p:cBhvr additive="base">
                                        <p:cTn id="73" dur="500" fill="hold"/>
                                        <p:tgtEl>
                                          <p:spTgt spid="2580495"/>
                                        </p:tgtEl>
                                        <p:attrNameLst>
                                          <p:attrName>ppt_x</p:attrName>
                                        </p:attrNameLst>
                                      </p:cBhvr>
                                      <p:tavLst>
                                        <p:tav tm="0">
                                          <p:val>
                                            <p:strVal val="#ppt_x"/>
                                          </p:val>
                                        </p:tav>
                                        <p:tav tm="100000">
                                          <p:val>
                                            <p:strVal val="#ppt_x"/>
                                          </p:val>
                                        </p:tav>
                                      </p:tavLst>
                                    </p:anim>
                                    <p:anim calcmode="lin" valueType="num">
                                      <p:cBhvr additive="base">
                                        <p:cTn id="74" dur="500" fill="hold"/>
                                        <p:tgtEl>
                                          <p:spTgt spid="258049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580514"/>
                                        </p:tgtEl>
                                        <p:attrNameLst>
                                          <p:attrName>style.visibility</p:attrName>
                                        </p:attrNameLst>
                                      </p:cBhvr>
                                      <p:to>
                                        <p:strVal val="visible"/>
                                      </p:to>
                                    </p:set>
                                    <p:anim calcmode="lin" valueType="num">
                                      <p:cBhvr additive="base">
                                        <p:cTn id="79" dur="500" fill="hold"/>
                                        <p:tgtEl>
                                          <p:spTgt spid="2580514"/>
                                        </p:tgtEl>
                                        <p:attrNameLst>
                                          <p:attrName>ppt_x</p:attrName>
                                        </p:attrNameLst>
                                      </p:cBhvr>
                                      <p:tavLst>
                                        <p:tav tm="0">
                                          <p:val>
                                            <p:strVal val="#ppt_x"/>
                                          </p:val>
                                        </p:tav>
                                        <p:tav tm="100000">
                                          <p:val>
                                            <p:strVal val="#ppt_x"/>
                                          </p:val>
                                        </p:tav>
                                      </p:tavLst>
                                    </p:anim>
                                    <p:anim calcmode="lin" valueType="num">
                                      <p:cBhvr additive="base">
                                        <p:cTn id="80" dur="500" fill="hold"/>
                                        <p:tgtEl>
                                          <p:spTgt spid="2580514"/>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580513"/>
                                        </p:tgtEl>
                                        <p:attrNameLst>
                                          <p:attrName>style.visibility</p:attrName>
                                        </p:attrNameLst>
                                      </p:cBhvr>
                                      <p:to>
                                        <p:strVal val="visible"/>
                                      </p:to>
                                    </p:set>
                                    <p:anim calcmode="lin" valueType="num">
                                      <p:cBhvr additive="base">
                                        <p:cTn id="83" dur="500" fill="hold"/>
                                        <p:tgtEl>
                                          <p:spTgt spid="2580513"/>
                                        </p:tgtEl>
                                        <p:attrNameLst>
                                          <p:attrName>ppt_x</p:attrName>
                                        </p:attrNameLst>
                                      </p:cBhvr>
                                      <p:tavLst>
                                        <p:tav tm="0">
                                          <p:val>
                                            <p:strVal val="#ppt_x"/>
                                          </p:val>
                                        </p:tav>
                                        <p:tav tm="100000">
                                          <p:val>
                                            <p:strVal val="#ppt_x"/>
                                          </p:val>
                                        </p:tav>
                                      </p:tavLst>
                                    </p:anim>
                                    <p:anim calcmode="lin" valueType="num">
                                      <p:cBhvr additive="base">
                                        <p:cTn id="84" dur="500" fill="hold"/>
                                        <p:tgtEl>
                                          <p:spTgt spid="2580513"/>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2580489"/>
                                        </p:tgtEl>
                                        <p:attrNameLst>
                                          <p:attrName>style.visibility</p:attrName>
                                        </p:attrNameLst>
                                      </p:cBhvr>
                                      <p:to>
                                        <p:strVal val="visible"/>
                                      </p:to>
                                    </p:set>
                                    <p:anim calcmode="lin" valueType="num">
                                      <p:cBhvr additive="base">
                                        <p:cTn id="89" dur="500" fill="hold"/>
                                        <p:tgtEl>
                                          <p:spTgt spid="2580489"/>
                                        </p:tgtEl>
                                        <p:attrNameLst>
                                          <p:attrName>ppt_x</p:attrName>
                                        </p:attrNameLst>
                                      </p:cBhvr>
                                      <p:tavLst>
                                        <p:tav tm="0">
                                          <p:val>
                                            <p:strVal val="#ppt_x"/>
                                          </p:val>
                                        </p:tav>
                                        <p:tav tm="100000">
                                          <p:val>
                                            <p:strVal val="#ppt_x"/>
                                          </p:val>
                                        </p:tav>
                                      </p:tavLst>
                                    </p:anim>
                                    <p:anim calcmode="lin" valueType="num">
                                      <p:cBhvr additive="base">
                                        <p:cTn id="90" dur="500" fill="hold"/>
                                        <p:tgtEl>
                                          <p:spTgt spid="2580489"/>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580493"/>
                                        </p:tgtEl>
                                        <p:attrNameLst>
                                          <p:attrName>style.visibility</p:attrName>
                                        </p:attrNameLst>
                                      </p:cBhvr>
                                      <p:to>
                                        <p:strVal val="visible"/>
                                      </p:to>
                                    </p:set>
                                    <p:anim calcmode="lin" valueType="num">
                                      <p:cBhvr additive="base">
                                        <p:cTn id="95" dur="500" fill="hold"/>
                                        <p:tgtEl>
                                          <p:spTgt spid="2580493"/>
                                        </p:tgtEl>
                                        <p:attrNameLst>
                                          <p:attrName>ppt_x</p:attrName>
                                        </p:attrNameLst>
                                      </p:cBhvr>
                                      <p:tavLst>
                                        <p:tav tm="0">
                                          <p:val>
                                            <p:strVal val="#ppt_x"/>
                                          </p:val>
                                        </p:tav>
                                        <p:tav tm="100000">
                                          <p:val>
                                            <p:strVal val="#ppt_x"/>
                                          </p:val>
                                        </p:tav>
                                      </p:tavLst>
                                    </p:anim>
                                    <p:anim calcmode="lin" valueType="num">
                                      <p:cBhvr additive="base">
                                        <p:cTn id="96" dur="500" fill="hold"/>
                                        <p:tgtEl>
                                          <p:spTgt spid="2580493"/>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580515"/>
                                        </p:tgtEl>
                                        <p:attrNameLst>
                                          <p:attrName>style.visibility</p:attrName>
                                        </p:attrNameLst>
                                      </p:cBhvr>
                                      <p:to>
                                        <p:strVal val="visible"/>
                                      </p:to>
                                    </p:set>
                                    <p:anim calcmode="lin" valueType="num">
                                      <p:cBhvr additive="base">
                                        <p:cTn id="99" dur="500" fill="hold"/>
                                        <p:tgtEl>
                                          <p:spTgt spid="2580515"/>
                                        </p:tgtEl>
                                        <p:attrNameLst>
                                          <p:attrName>ppt_x</p:attrName>
                                        </p:attrNameLst>
                                      </p:cBhvr>
                                      <p:tavLst>
                                        <p:tav tm="0">
                                          <p:val>
                                            <p:strVal val="#ppt_x"/>
                                          </p:val>
                                        </p:tav>
                                        <p:tav tm="100000">
                                          <p:val>
                                            <p:strVal val="#ppt_x"/>
                                          </p:val>
                                        </p:tav>
                                      </p:tavLst>
                                    </p:anim>
                                    <p:anim calcmode="lin" valueType="num">
                                      <p:cBhvr additive="base">
                                        <p:cTn id="100" dur="500" fill="hold"/>
                                        <p:tgtEl>
                                          <p:spTgt spid="2580515"/>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2580496"/>
                                        </p:tgtEl>
                                        <p:attrNameLst>
                                          <p:attrName>style.visibility</p:attrName>
                                        </p:attrNameLst>
                                      </p:cBhvr>
                                      <p:to>
                                        <p:strVal val="visible"/>
                                      </p:to>
                                    </p:set>
                                    <p:anim calcmode="lin" valueType="num">
                                      <p:cBhvr additive="base">
                                        <p:cTn id="105" dur="500" fill="hold"/>
                                        <p:tgtEl>
                                          <p:spTgt spid="2580496"/>
                                        </p:tgtEl>
                                        <p:attrNameLst>
                                          <p:attrName>ppt_x</p:attrName>
                                        </p:attrNameLst>
                                      </p:cBhvr>
                                      <p:tavLst>
                                        <p:tav tm="0">
                                          <p:val>
                                            <p:strVal val="#ppt_x"/>
                                          </p:val>
                                        </p:tav>
                                        <p:tav tm="100000">
                                          <p:val>
                                            <p:strVal val="#ppt_x"/>
                                          </p:val>
                                        </p:tav>
                                      </p:tavLst>
                                    </p:anim>
                                    <p:anim calcmode="lin" valueType="num">
                                      <p:cBhvr additive="base">
                                        <p:cTn id="106" dur="500" fill="hold"/>
                                        <p:tgtEl>
                                          <p:spTgt spid="2580496"/>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2580497"/>
                                        </p:tgtEl>
                                        <p:attrNameLst>
                                          <p:attrName>style.visibility</p:attrName>
                                        </p:attrNameLst>
                                      </p:cBhvr>
                                      <p:to>
                                        <p:strVal val="visible"/>
                                      </p:to>
                                    </p:set>
                                    <p:anim calcmode="lin" valueType="num">
                                      <p:cBhvr additive="base">
                                        <p:cTn id="109" dur="500" fill="hold"/>
                                        <p:tgtEl>
                                          <p:spTgt spid="2580497"/>
                                        </p:tgtEl>
                                        <p:attrNameLst>
                                          <p:attrName>ppt_x</p:attrName>
                                        </p:attrNameLst>
                                      </p:cBhvr>
                                      <p:tavLst>
                                        <p:tav tm="0">
                                          <p:val>
                                            <p:strVal val="#ppt_x"/>
                                          </p:val>
                                        </p:tav>
                                        <p:tav tm="100000">
                                          <p:val>
                                            <p:strVal val="#ppt_x"/>
                                          </p:val>
                                        </p:tav>
                                      </p:tavLst>
                                    </p:anim>
                                    <p:anim calcmode="lin" valueType="num">
                                      <p:cBhvr additive="base">
                                        <p:cTn id="110" dur="500" fill="hold"/>
                                        <p:tgtEl>
                                          <p:spTgt spid="2580497"/>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2580506"/>
                                        </p:tgtEl>
                                        <p:attrNameLst>
                                          <p:attrName>style.visibility</p:attrName>
                                        </p:attrNameLst>
                                      </p:cBhvr>
                                      <p:to>
                                        <p:strVal val="visible"/>
                                      </p:to>
                                    </p:set>
                                    <p:anim calcmode="lin" valueType="num">
                                      <p:cBhvr additive="base">
                                        <p:cTn id="113" dur="500" fill="hold"/>
                                        <p:tgtEl>
                                          <p:spTgt spid="2580506"/>
                                        </p:tgtEl>
                                        <p:attrNameLst>
                                          <p:attrName>ppt_x</p:attrName>
                                        </p:attrNameLst>
                                      </p:cBhvr>
                                      <p:tavLst>
                                        <p:tav tm="0">
                                          <p:val>
                                            <p:strVal val="#ppt_x"/>
                                          </p:val>
                                        </p:tav>
                                        <p:tav tm="100000">
                                          <p:val>
                                            <p:strVal val="#ppt_x"/>
                                          </p:val>
                                        </p:tav>
                                      </p:tavLst>
                                    </p:anim>
                                    <p:anim calcmode="lin" valueType="num">
                                      <p:cBhvr additive="base">
                                        <p:cTn id="114" dur="500" fill="hold"/>
                                        <p:tgtEl>
                                          <p:spTgt spid="2580506"/>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2580516"/>
                                        </p:tgtEl>
                                        <p:attrNameLst>
                                          <p:attrName>style.visibility</p:attrName>
                                        </p:attrNameLst>
                                      </p:cBhvr>
                                      <p:to>
                                        <p:strVal val="visible"/>
                                      </p:to>
                                    </p:set>
                                    <p:anim calcmode="lin" valueType="num">
                                      <p:cBhvr additive="base">
                                        <p:cTn id="117" dur="500" fill="hold"/>
                                        <p:tgtEl>
                                          <p:spTgt spid="2580516"/>
                                        </p:tgtEl>
                                        <p:attrNameLst>
                                          <p:attrName>ppt_x</p:attrName>
                                        </p:attrNameLst>
                                      </p:cBhvr>
                                      <p:tavLst>
                                        <p:tav tm="0">
                                          <p:val>
                                            <p:strVal val="#ppt_x"/>
                                          </p:val>
                                        </p:tav>
                                        <p:tav tm="100000">
                                          <p:val>
                                            <p:strVal val="#ppt_x"/>
                                          </p:val>
                                        </p:tav>
                                      </p:tavLst>
                                    </p:anim>
                                    <p:anim calcmode="lin" valueType="num">
                                      <p:cBhvr additive="base">
                                        <p:cTn id="118" dur="500" fill="hold"/>
                                        <p:tgtEl>
                                          <p:spTgt spid="2580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488" grpId="0"/>
      <p:bldP spid="2580492" grpId="0"/>
      <p:bldP spid="2580493" grpId="0"/>
      <p:bldP spid="2580496" grpId="0"/>
      <p:bldP spid="2580505" grpId="0"/>
      <p:bldP spid="2580512" grpId="0"/>
      <p:bldP spid="25805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7331075" y="2792413"/>
            <a:ext cx="3551238" cy="3181350"/>
          </a:xfrm>
          <a:prstGeom prst="rect">
            <a:avLst/>
          </a:prstGeom>
          <a:solidFill>
            <a:srgbClr val="FFFFE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36195" name="Text Box 3"/>
          <p:cNvSpPr txBox="1">
            <a:spLocks noChangeArrowheads="1"/>
          </p:cNvSpPr>
          <p:nvPr/>
        </p:nvSpPr>
        <p:spPr bwMode="auto">
          <a:xfrm>
            <a:off x="7758113" y="4497388"/>
            <a:ext cx="3365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kumimoji="0" lang="en-US" altLang="zh-CN" sz="1800" b="0"/>
              <a:t>S</a:t>
            </a:r>
          </a:p>
        </p:txBody>
      </p:sp>
      <p:sp>
        <p:nvSpPr>
          <p:cNvPr id="136196" name="Text Box 4"/>
          <p:cNvSpPr txBox="1">
            <a:spLocks noChangeArrowheads="1"/>
          </p:cNvSpPr>
          <p:nvPr/>
        </p:nvSpPr>
        <p:spPr bwMode="auto">
          <a:xfrm>
            <a:off x="8075613" y="4840288"/>
            <a:ext cx="18907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kumimoji="0" lang="en-US" altLang="zh-CN" sz="1400" b="0"/>
              <a:t>S[0]   S[1]   S[2]   S[3]</a:t>
            </a:r>
          </a:p>
        </p:txBody>
      </p:sp>
      <p:sp>
        <p:nvSpPr>
          <p:cNvPr id="136197" name="Text Box 5"/>
          <p:cNvSpPr txBox="1">
            <a:spLocks noChangeArrowheads="1"/>
          </p:cNvSpPr>
          <p:nvPr/>
        </p:nvSpPr>
        <p:spPr bwMode="auto">
          <a:xfrm>
            <a:off x="7407275" y="2889251"/>
            <a:ext cx="3328988"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buFontTx/>
              <a:buChar char="•"/>
            </a:pPr>
            <a:r>
              <a:rPr lang="en-US" altLang="zh-CN" dirty="0">
                <a:latin typeface="Times New Roman" panose="02020503050405090304" pitchFamily="18" charset="0"/>
              </a:rPr>
              <a:t>K</a:t>
            </a:r>
            <a:r>
              <a:rPr lang="zh-CN" altLang="en-US" dirty="0">
                <a:latin typeface="Times New Roman" panose="02020503050405090304" pitchFamily="18" charset="0"/>
              </a:rPr>
              <a:t>从</a:t>
            </a:r>
            <a:r>
              <a:rPr lang="en-US" altLang="zh-CN" dirty="0"/>
              <a:t>1</a:t>
            </a:r>
            <a:r>
              <a:rPr lang="en-US" altLang="zh-CN" dirty="0">
                <a:latin typeface="Times New Roman" panose="02020503050405090304" pitchFamily="18" charset="0"/>
              </a:rPr>
              <a:t>,…,n-</a:t>
            </a:r>
            <a:r>
              <a:rPr lang="en-US" altLang="zh-CN" dirty="0"/>
              <a:t>1</a:t>
            </a:r>
            <a:r>
              <a:rPr lang="zh-CN" altLang="en-US" dirty="0">
                <a:latin typeface="Times New Roman" panose="02020503050405090304" pitchFamily="18" charset="0"/>
              </a:rPr>
              <a:t>是城市的编号</a:t>
            </a:r>
          </a:p>
          <a:p>
            <a:pPr eaLnBrk="1" hangingPunct="1">
              <a:buFontTx/>
              <a:buChar char="•"/>
            </a:pPr>
            <a:r>
              <a:rPr lang="en-US" altLang="zh-CN" dirty="0">
                <a:latin typeface="Times New Roman" panose="02020503050405090304" pitchFamily="18" charset="0"/>
              </a:rPr>
              <a:t>I</a:t>
            </a:r>
            <a:r>
              <a:rPr lang="zh-CN" altLang="en-US" dirty="0">
                <a:latin typeface="Times New Roman" panose="02020503050405090304" pitchFamily="18" charset="0"/>
              </a:rPr>
              <a:t>是至今已访问过的城市数</a:t>
            </a:r>
          </a:p>
          <a:p>
            <a:pPr eaLnBrk="1" hangingPunct="1">
              <a:buFontTx/>
              <a:buChar char="•"/>
            </a:pPr>
            <a:r>
              <a:rPr lang="en-US" altLang="zh-CN" dirty="0">
                <a:latin typeface="Times New Roman" panose="02020503050405090304" pitchFamily="18" charset="0"/>
              </a:rPr>
              <a:t>S[I-</a:t>
            </a:r>
            <a:r>
              <a:rPr lang="en-US" altLang="zh-CN" dirty="0"/>
              <a:t>1</a:t>
            </a:r>
            <a:r>
              <a:rPr lang="en-US" altLang="zh-CN" dirty="0">
                <a:latin typeface="Times New Roman" panose="02020503050405090304" pitchFamily="18" charset="0"/>
              </a:rPr>
              <a:t>]</a:t>
            </a:r>
            <a:r>
              <a:rPr lang="zh-CN" altLang="en-US" dirty="0">
                <a:latin typeface="Times New Roman" panose="02020503050405090304" pitchFamily="18" charset="0"/>
              </a:rPr>
              <a:t>中存储的是当前访问过的城市编号，要找第</a:t>
            </a:r>
            <a:r>
              <a:rPr lang="en-US" altLang="zh-CN" dirty="0">
                <a:latin typeface="Times New Roman" panose="02020503050405090304" pitchFamily="18" charset="0"/>
              </a:rPr>
              <a:t>I</a:t>
            </a:r>
            <a:r>
              <a:rPr lang="zh-CN" altLang="en-US" dirty="0">
                <a:latin typeface="Times New Roman" panose="02020503050405090304" pitchFamily="18" charset="0"/>
              </a:rPr>
              <a:t>个城市</a:t>
            </a:r>
          </a:p>
        </p:txBody>
      </p:sp>
      <p:sp>
        <p:nvSpPr>
          <p:cNvPr id="136199" name="Rectangle 7"/>
          <p:cNvSpPr>
            <a:spLocks noChangeArrowheads="1"/>
          </p:cNvSpPr>
          <p:nvPr/>
        </p:nvSpPr>
        <p:spPr bwMode="auto">
          <a:xfrm>
            <a:off x="707570" y="1908175"/>
            <a:ext cx="590708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r>
              <a:rPr lang="en-US" altLang="zh-CN" dirty="0">
                <a:latin typeface="Times New Roman" panose="02020503050405090304" pitchFamily="18" charset="0"/>
                <a:cs typeface="Times New Roman" panose="02020503050405090304" pitchFamily="18" charset="0"/>
              </a:rPr>
              <a:t>main() {   …</a:t>
            </a:r>
          </a:p>
          <a:p>
            <a:r>
              <a:rPr lang="pl-PL" altLang="zh-CN"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     </a:t>
            </a:r>
            <a:r>
              <a:rPr lang="pl-PL" altLang="zh-CN" dirty="0">
                <a:solidFill>
                  <a:srgbClr val="FF0000"/>
                </a:solidFill>
                <a:latin typeface="Times New Roman" panose="02020503050405090304" pitchFamily="18" charset="0"/>
                <a:cs typeface="Times New Roman" panose="02020503050405090304" pitchFamily="18" charset="0"/>
              </a:rPr>
              <a:t>K=</a:t>
            </a:r>
            <a:r>
              <a:rPr lang="pl-PL" altLang="zh-CN" dirty="0">
                <a:solidFill>
                  <a:srgbClr val="FF0000"/>
                </a:solidFill>
                <a:cs typeface="Times New Roman" panose="02020503050405090304" pitchFamily="18" charset="0"/>
              </a:rPr>
              <a:t>1</a:t>
            </a:r>
            <a:r>
              <a:rPr lang="pl-PL" altLang="zh-CN" dirty="0">
                <a:solidFill>
                  <a:srgbClr val="FF0000"/>
                </a:solidFill>
                <a:latin typeface="Times New Roman" panose="02020503050405090304" pitchFamily="18" charset="0"/>
                <a:cs typeface="Times New Roman" panose="02020503050405090304" pitchFamily="18" charset="0"/>
              </a:rPr>
              <a:t>;</a:t>
            </a:r>
            <a:r>
              <a:rPr lang="zh-CN" altLang="pl-PL" dirty="0">
                <a:solidFill>
                  <a:srgbClr val="FF0000"/>
                </a:solidFill>
                <a:latin typeface="Times New Roman" panose="02020503050405090304" pitchFamily="18" charset="0"/>
                <a:cs typeface="Times New Roman" panose="02020503050405090304" pitchFamily="18" charset="0"/>
              </a:rPr>
              <a:t>　</a:t>
            </a:r>
            <a:r>
              <a:rPr lang="pl-PL" altLang="zh-CN" dirty="0">
                <a:solidFill>
                  <a:srgbClr val="FF0000"/>
                </a:solidFill>
                <a:latin typeface="Times New Roman" panose="02020503050405090304" pitchFamily="18" charset="0"/>
                <a:cs typeface="Times New Roman" panose="02020503050405090304" pitchFamily="18" charset="0"/>
              </a:rPr>
              <a:t>Dtemp=10000;</a:t>
            </a:r>
            <a:r>
              <a:rPr lang="zh-CN" altLang="pl-PL" dirty="0">
                <a:solidFill>
                  <a:srgbClr val="FF0000"/>
                </a:solidFill>
                <a:latin typeface="Times New Roman" panose="02020503050405090304" pitchFamily="18" charset="0"/>
                <a:cs typeface="Times New Roman" panose="02020503050405090304" pitchFamily="18" charset="0"/>
              </a:rPr>
              <a:t>　　　　</a:t>
            </a:r>
          </a:p>
          <a:p>
            <a:r>
              <a:rPr lang="zh-CN" altLang="pl-PL" dirty="0">
                <a:solidFill>
                  <a:srgbClr val="FF0000"/>
                </a:solidFill>
                <a:latin typeface="Times New Roman" panose="02020503050405090304" pitchFamily="18" charset="0"/>
                <a:cs typeface="Times New Roman" panose="02020503050405090304" pitchFamily="18" charset="0"/>
              </a:rPr>
              <a:t>      </a:t>
            </a:r>
            <a:r>
              <a:rPr lang="pl-PL" altLang="zh-CN" dirty="0">
                <a:solidFill>
                  <a:srgbClr val="FF0000"/>
                </a:solidFill>
                <a:latin typeface="Times New Roman" panose="02020503050405090304" pitchFamily="18" charset="0"/>
                <a:cs typeface="Times New Roman" panose="02020503050405090304" pitchFamily="18" charset="0"/>
              </a:rPr>
              <a:t>do{  // K</a:t>
            </a:r>
            <a:r>
              <a:rPr lang="zh-CN" altLang="pt-BR" dirty="0">
                <a:solidFill>
                  <a:srgbClr val="FF0000"/>
                </a:solidFill>
                <a:latin typeface="Times New Roman" panose="02020503050405090304" pitchFamily="18" charset="0"/>
                <a:cs typeface="Times New Roman" panose="02020503050405090304" pitchFamily="18" charset="0"/>
              </a:rPr>
              <a:t>从</a:t>
            </a:r>
            <a:r>
              <a:rPr lang="pl-PL" altLang="zh-CN" dirty="0">
                <a:solidFill>
                  <a:srgbClr val="FF0000"/>
                </a:solidFill>
                <a:cs typeface="Times New Roman" panose="02020503050405090304" pitchFamily="18" charset="0"/>
              </a:rPr>
              <a:t>1</a:t>
            </a:r>
            <a:r>
              <a:rPr lang="zh-CN" altLang="pt-BR" dirty="0">
                <a:solidFill>
                  <a:srgbClr val="FF0000"/>
                </a:solidFill>
                <a:latin typeface="Times New Roman" panose="02020503050405090304" pitchFamily="18" charset="0"/>
                <a:cs typeface="Times New Roman" panose="02020503050405090304" pitchFamily="18" charset="0"/>
              </a:rPr>
              <a:t>到</a:t>
            </a:r>
            <a:r>
              <a:rPr lang="pl-PL" altLang="zh-CN" dirty="0">
                <a:solidFill>
                  <a:srgbClr val="FF0000"/>
                </a:solidFill>
                <a:latin typeface="Times New Roman" panose="02020503050405090304" pitchFamily="18" charset="0"/>
                <a:cs typeface="Times New Roman" panose="02020503050405090304" pitchFamily="18" charset="0"/>
              </a:rPr>
              <a:t>n-</a:t>
            </a:r>
            <a:r>
              <a:rPr lang="pl-PL" altLang="zh-CN" dirty="0">
                <a:solidFill>
                  <a:srgbClr val="FF0000"/>
                </a:solidFill>
                <a:cs typeface="Times New Roman" panose="02020503050405090304" pitchFamily="18" charset="0"/>
              </a:rPr>
              <a:t>1</a:t>
            </a:r>
            <a:r>
              <a:rPr lang="zh-CN" altLang="pt-BR" dirty="0">
                <a:solidFill>
                  <a:srgbClr val="FF0000"/>
                </a:solidFill>
                <a:latin typeface="Times New Roman" panose="02020503050405090304" pitchFamily="18" charset="0"/>
                <a:cs typeface="Times New Roman" panose="02020503050405090304" pitchFamily="18" charset="0"/>
              </a:rPr>
              <a:t>循环</a:t>
            </a:r>
            <a:endParaRPr lang="zh-CN" altLang="pl-PL" dirty="0">
              <a:solidFill>
                <a:srgbClr val="FF0000"/>
              </a:solidFill>
              <a:latin typeface="Times New Roman" panose="02020503050405090304" pitchFamily="18" charset="0"/>
              <a:cs typeface="Times New Roman" panose="02020503050405090304" pitchFamily="18" charset="0"/>
            </a:endParaRPr>
          </a:p>
          <a:p>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L=0;</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Found=0;</a:t>
            </a:r>
          </a:p>
          <a:p>
            <a:r>
              <a:rPr lang="pl-PL" altLang="zh-CN" dirty="0">
                <a:solidFill>
                  <a:schemeClr val="accent2"/>
                </a:solidFill>
                <a:latin typeface="Times New Roman" panose="02020503050405090304" pitchFamily="18" charset="0"/>
                <a:cs typeface="Times New Roman" panose="02020503050405090304" pitchFamily="18" charset="0"/>
              </a:rPr>
              <a:t>    	do{ </a:t>
            </a:r>
            <a:endParaRPr lang="zh-CN" altLang="pl-PL" dirty="0">
              <a:solidFill>
                <a:schemeClr val="accent2"/>
              </a:solidFill>
              <a:latin typeface="Times New Roman" panose="02020503050405090304" pitchFamily="18" charset="0"/>
              <a:cs typeface="Times New Roman" panose="02020503050405090304" pitchFamily="18" charset="0"/>
            </a:endParaRPr>
          </a:p>
          <a:p>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if(S[L]==K)</a:t>
            </a:r>
          </a:p>
          <a:p>
            <a:r>
              <a:rPr lang="pl-PL" altLang="zh-CN" dirty="0">
                <a:solidFill>
                  <a:schemeClr val="accent2"/>
                </a:solidFill>
                <a:latin typeface="Times New Roman" panose="02020503050405090304" pitchFamily="18" charset="0"/>
                <a:cs typeface="Times New Roman" panose="02020503050405090304" pitchFamily="18" charset="0"/>
              </a:rPr>
              <a:t>	       {</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Found=</a:t>
            </a:r>
            <a:r>
              <a:rPr lang="pl-PL" altLang="zh-CN" dirty="0">
                <a:solidFill>
                  <a:schemeClr val="accent2"/>
                </a:solidFill>
                <a:cs typeface="Times New Roman" panose="02020503050405090304" pitchFamily="18" charset="0"/>
              </a:rPr>
              <a:t>1</a:t>
            </a:r>
            <a:r>
              <a:rPr lang="pl-PL" altLang="zh-CN" dirty="0">
                <a:solidFill>
                  <a:schemeClr val="accent2"/>
                </a:solidFill>
                <a:latin typeface="Times New Roman" panose="02020503050405090304" pitchFamily="18" charset="0"/>
                <a:cs typeface="Times New Roman" panose="02020503050405090304" pitchFamily="18" charset="0"/>
              </a:rPr>
              <a:t>;</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break;</a:t>
            </a:r>
            <a:r>
              <a:rPr lang="zh-CN" altLang="pl-PL" dirty="0">
                <a:solidFill>
                  <a:schemeClr val="accent2"/>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a:t>
            </a:r>
          </a:p>
          <a:p>
            <a:r>
              <a:rPr lang="pl-PL" altLang="zh-CN" dirty="0">
                <a:solidFill>
                  <a:schemeClr val="accent2"/>
                </a:solidFill>
                <a:latin typeface="Times New Roman" panose="02020503050405090304" pitchFamily="18" charset="0"/>
                <a:cs typeface="Times New Roman" panose="02020503050405090304" pitchFamily="18" charset="0"/>
              </a:rPr>
              <a:t>	      else L=L+</a:t>
            </a:r>
            <a:r>
              <a:rPr lang="pl-PL" altLang="zh-CN" dirty="0">
                <a:solidFill>
                  <a:schemeClr val="accent2"/>
                </a:solidFill>
                <a:cs typeface="Times New Roman" panose="02020503050405090304" pitchFamily="18" charset="0"/>
              </a:rPr>
              <a:t>1</a:t>
            </a:r>
            <a:r>
              <a:rPr lang="pl-PL" altLang="zh-CN" dirty="0">
                <a:solidFill>
                  <a:schemeClr val="accent2"/>
                </a:solidFill>
                <a:latin typeface="Times New Roman" panose="02020503050405090304" pitchFamily="18" charset="0"/>
                <a:cs typeface="Times New Roman" panose="02020503050405090304" pitchFamily="18" charset="0"/>
              </a:rPr>
              <a:t>;</a:t>
            </a:r>
          </a:p>
          <a:p>
            <a:r>
              <a:rPr lang="pl-PL" altLang="zh-CN" dirty="0">
                <a:solidFill>
                  <a:schemeClr val="accent2"/>
                </a:solidFill>
                <a:latin typeface="Times New Roman" panose="02020503050405090304" pitchFamily="18" charset="0"/>
                <a:cs typeface="Times New Roman" panose="02020503050405090304" pitchFamily="18" charset="0"/>
              </a:rPr>
              <a:t>	 } while(L&lt;I);  	//L</a:t>
            </a:r>
            <a:r>
              <a:rPr lang="zh-CN" altLang="pt-BR" dirty="0">
                <a:solidFill>
                  <a:schemeClr val="accent2"/>
                </a:solidFill>
                <a:latin typeface="Times New Roman" panose="02020503050405090304" pitchFamily="18" charset="0"/>
                <a:cs typeface="Times New Roman" panose="02020503050405090304" pitchFamily="18" charset="0"/>
              </a:rPr>
              <a:t>从</a:t>
            </a:r>
            <a:r>
              <a:rPr lang="pl-PL" altLang="zh-CN" dirty="0">
                <a:solidFill>
                  <a:schemeClr val="accent2"/>
                </a:solidFill>
                <a:latin typeface="Times New Roman" panose="02020503050405090304" pitchFamily="18" charset="0"/>
                <a:cs typeface="Times New Roman" panose="02020503050405090304" pitchFamily="18" charset="0"/>
              </a:rPr>
              <a:t>1</a:t>
            </a:r>
            <a:r>
              <a:rPr lang="zh-CN" altLang="pt-BR" dirty="0">
                <a:solidFill>
                  <a:schemeClr val="accent2"/>
                </a:solidFill>
                <a:latin typeface="Times New Roman" panose="02020503050405090304" pitchFamily="18" charset="0"/>
                <a:cs typeface="Times New Roman" panose="02020503050405090304" pitchFamily="18" charset="0"/>
              </a:rPr>
              <a:t>到</a:t>
            </a:r>
            <a:r>
              <a:rPr lang="pl-PL" altLang="zh-CN" dirty="0">
                <a:solidFill>
                  <a:schemeClr val="accent2"/>
                </a:solidFill>
                <a:latin typeface="Times New Roman" panose="02020503050405090304" pitchFamily="18" charset="0"/>
                <a:cs typeface="Times New Roman" panose="02020503050405090304" pitchFamily="18" charset="0"/>
              </a:rPr>
              <a:t>I</a:t>
            </a:r>
            <a:r>
              <a:rPr lang="zh-CN" altLang="pt-BR" dirty="0">
                <a:solidFill>
                  <a:schemeClr val="accent2"/>
                </a:solidFill>
                <a:latin typeface="Times New Roman" panose="02020503050405090304" pitchFamily="18" charset="0"/>
                <a:cs typeface="Times New Roman" panose="02020503050405090304" pitchFamily="18" charset="0"/>
              </a:rPr>
              <a:t>循环</a:t>
            </a:r>
            <a:endParaRPr lang="zh-CN" altLang="pl-PL" dirty="0">
              <a:solidFill>
                <a:schemeClr val="accent2"/>
              </a:solidFill>
              <a:latin typeface="Times New Roman" panose="02020503050405090304" pitchFamily="18" charset="0"/>
              <a:cs typeface="Times New Roman" panose="02020503050405090304" pitchFamily="18" charset="0"/>
            </a:endParaRPr>
          </a:p>
          <a:p>
            <a:r>
              <a:rPr lang="zh-CN" altLang="pl-PL" dirty="0">
                <a:solidFill>
                  <a:srgbClr val="000000"/>
                </a:solidFill>
                <a:latin typeface="Times New Roman" panose="02020503050405090304" pitchFamily="18" charset="0"/>
                <a:cs typeface="Times New Roman" panose="02020503050405090304" pitchFamily="18" charset="0"/>
              </a:rPr>
              <a:t>	</a:t>
            </a:r>
            <a:r>
              <a:rPr lang="pl-PL" altLang="zh-CN" dirty="0">
                <a:solidFill>
                  <a:schemeClr val="accent2"/>
                </a:solidFill>
                <a:latin typeface="Times New Roman" panose="02020503050405090304" pitchFamily="18" charset="0"/>
                <a:cs typeface="Times New Roman" panose="02020503050405090304" pitchFamily="18" charset="0"/>
              </a:rPr>
              <a:t>if </a:t>
            </a:r>
            <a:r>
              <a:rPr lang="en-US" altLang="zh-CN" dirty="0">
                <a:solidFill>
                  <a:schemeClr val="accent2"/>
                </a:solidFill>
                <a:latin typeface="Times New Roman" panose="02020503050405090304" pitchFamily="18" charset="0"/>
                <a:cs typeface="Times New Roman" panose="02020503050405090304" pitchFamily="18" charset="0"/>
              </a:rPr>
              <a:t>(Found==0</a:t>
            </a:r>
            <a:r>
              <a:rPr lang="en-US" altLang="zh-CN" dirty="0">
                <a:solidFill>
                  <a:srgbClr val="00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&amp;&amp; D[</a:t>
            </a:r>
            <a:r>
              <a:rPr lang="en-US" altLang="zh-CN" dirty="0">
                <a:solidFill>
                  <a:schemeClr val="tx2"/>
                </a:solidFill>
                <a:latin typeface="Times New Roman" panose="02020503050405090304" pitchFamily="18" charset="0"/>
                <a:cs typeface="Times New Roman" panose="02020503050405090304" pitchFamily="18" charset="0"/>
              </a:rPr>
              <a:t>K</a:t>
            </a:r>
            <a:r>
              <a:rPr lang="en-US" altLang="zh-CN" dirty="0">
                <a:solidFill>
                  <a:srgbClr val="FF0000"/>
                </a:solidFill>
                <a:latin typeface="Times New Roman" panose="02020503050405090304" pitchFamily="18" charset="0"/>
                <a:cs typeface="Times New Roman" panose="02020503050405090304" pitchFamily="18" charset="0"/>
              </a:rPr>
              <a:t>][</a:t>
            </a:r>
            <a:r>
              <a:rPr lang="en-US" altLang="zh-CN" dirty="0">
                <a:solidFill>
                  <a:schemeClr val="tx2"/>
                </a:solidFill>
                <a:latin typeface="Times New Roman" panose="02020503050405090304" pitchFamily="18" charset="0"/>
                <a:cs typeface="Times New Roman" panose="02020503050405090304" pitchFamily="18" charset="0"/>
              </a:rPr>
              <a:t>S[I-</a:t>
            </a:r>
            <a:r>
              <a:rPr lang="en-US" altLang="zh-CN" dirty="0">
                <a:solidFill>
                  <a:schemeClr val="tx2"/>
                </a:solidFill>
                <a:cs typeface="Times New Roman" panose="02020503050405090304" pitchFamily="18" charset="0"/>
              </a:rPr>
              <a:t>1</a:t>
            </a:r>
            <a:r>
              <a:rPr lang="en-US" altLang="zh-CN" dirty="0">
                <a:solidFill>
                  <a:schemeClr val="tx2"/>
                </a:solidFill>
                <a:latin typeface="Times New Roman" panose="02020503050405090304" pitchFamily="18" charset="0"/>
                <a:cs typeface="Times New Roman" panose="02020503050405090304" pitchFamily="18" charset="0"/>
              </a:rPr>
              <a:t>]</a:t>
            </a:r>
            <a:r>
              <a:rPr lang="en-US" altLang="zh-CN" dirty="0">
                <a:solidFill>
                  <a:srgbClr val="FF0000"/>
                </a:solidFill>
                <a:latin typeface="Times New Roman" panose="02020503050405090304" pitchFamily="18" charset="0"/>
                <a:cs typeface="Times New Roman" panose="02020503050405090304" pitchFamily="18" charset="0"/>
              </a:rPr>
              <a:t>]&lt;</a:t>
            </a:r>
            <a:r>
              <a:rPr lang="en-US" altLang="zh-CN" dirty="0" err="1">
                <a:solidFill>
                  <a:srgbClr val="FF0000"/>
                </a:solidFill>
                <a:latin typeface="Times New Roman" panose="02020503050405090304" pitchFamily="18" charset="0"/>
                <a:cs typeface="Times New Roman" panose="02020503050405090304" pitchFamily="18" charset="0"/>
              </a:rPr>
              <a:t>Dtemp</a:t>
            </a:r>
            <a:r>
              <a:rPr lang="en-US" altLang="zh-CN" dirty="0">
                <a:solidFill>
                  <a:srgbClr val="FF0000"/>
                </a:solidFill>
                <a:latin typeface="Times New Roman" panose="02020503050405090304" pitchFamily="18" charset="0"/>
                <a:cs typeface="Times New Roman" panose="02020503050405090304" pitchFamily="18" charset="0"/>
              </a:rPr>
              <a:t>)</a:t>
            </a:r>
          </a:p>
          <a:p>
            <a:r>
              <a:rPr lang="en-US" altLang="zh-CN" dirty="0">
                <a:solidFill>
                  <a:srgbClr val="FF0000"/>
                </a:solidFill>
                <a:latin typeface="Times New Roman" panose="02020503050405090304" pitchFamily="18" charset="0"/>
                <a:cs typeface="Times New Roman" panose="02020503050405090304" pitchFamily="18" charset="0"/>
              </a:rPr>
              <a:t>              {</a:t>
            </a:r>
            <a:r>
              <a:rPr lang="zh-CN" altLang="en-US"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j=K;</a:t>
            </a:r>
            <a:r>
              <a:rPr lang="zh-CN" altLang="pl-PL" dirty="0">
                <a:solidFill>
                  <a:srgbClr val="FF0000"/>
                </a:solidFill>
                <a:latin typeface="Times New Roman" panose="02020503050405090304" pitchFamily="18" charset="0"/>
                <a:cs typeface="Times New Roman" panose="02020503050405090304" pitchFamily="18" charset="0"/>
              </a:rPr>
              <a:t>　</a:t>
            </a:r>
            <a:r>
              <a:rPr lang="en-US" altLang="zh-CN" dirty="0" err="1">
                <a:solidFill>
                  <a:srgbClr val="FF0000"/>
                </a:solidFill>
                <a:latin typeface="Times New Roman" panose="02020503050405090304" pitchFamily="18" charset="0"/>
                <a:cs typeface="Times New Roman" panose="02020503050405090304" pitchFamily="18" charset="0"/>
              </a:rPr>
              <a:t>Dtemp</a:t>
            </a:r>
            <a:r>
              <a:rPr lang="en-US" altLang="zh-CN" dirty="0">
                <a:solidFill>
                  <a:srgbClr val="FF0000"/>
                </a:solidFill>
                <a:latin typeface="Times New Roman" panose="02020503050405090304" pitchFamily="18" charset="0"/>
                <a:cs typeface="Times New Roman" panose="02020503050405090304" pitchFamily="18" charset="0"/>
              </a:rPr>
              <a:t>=D[</a:t>
            </a:r>
            <a:r>
              <a:rPr lang="en-US" altLang="zh-CN" dirty="0">
                <a:solidFill>
                  <a:schemeClr val="tx2"/>
                </a:solidFill>
                <a:latin typeface="Times New Roman" panose="02020503050405090304" pitchFamily="18" charset="0"/>
                <a:cs typeface="Times New Roman" panose="02020503050405090304" pitchFamily="18" charset="0"/>
              </a:rPr>
              <a:t>K</a:t>
            </a:r>
            <a:r>
              <a:rPr lang="en-US" altLang="zh-CN" dirty="0">
                <a:solidFill>
                  <a:srgbClr val="FF0000"/>
                </a:solidFill>
                <a:latin typeface="Times New Roman" panose="02020503050405090304" pitchFamily="18" charset="0"/>
                <a:cs typeface="Times New Roman" panose="02020503050405090304" pitchFamily="18" charset="0"/>
              </a:rPr>
              <a:t>][</a:t>
            </a:r>
            <a:r>
              <a:rPr lang="en-US" altLang="zh-CN" dirty="0">
                <a:solidFill>
                  <a:schemeClr val="tx2"/>
                </a:solidFill>
                <a:latin typeface="Times New Roman" panose="02020503050405090304" pitchFamily="18" charset="0"/>
                <a:cs typeface="Times New Roman" panose="02020503050405090304" pitchFamily="18" charset="0"/>
              </a:rPr>
              <a:t>S[I-1]</a:t>
            </a:r>
            <a:r>
              <a:rPr lang="en-US" altLang="zh-CN" dirty="0">
                <a:solidFill>
                  <a:srgbClr val="FF0000"/>
                </a:solidFill>
                <a:latin typeface="Times New Roman" panose="02020503050405090304" pitchFamily="18" charset="0"/>
                <a:cs typeface="Times New Roman" panose="02020503050405090304" pitchFamily="18" charset="0"/>
              </a:rPr>
              <a:t>];</a:t>
            </a:r>
            <a:r>
              <a:rPr lang="zh-CN" altLang="pl-PL"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a:t>
            </a:r>
          </a:p>
          <a:p>
            <a:r>
              <a:rPr lang="en-US" altLang="zh-CN" dirty="0">
                <a:solidFill>
                  <a:srgbClr val="FF0000"/>
                </a:solidFill>
                <a:latin typeface="Times New Roman" panose="02020503050405090304" pitchFamily="18" charset="0"/>
                <a:cs typeface="Times New Roman" panose="02020503050405090304" pitchFamily="18" charset="0"/>
              </a:rPr>
              <a:t>	K=</a:t>
            </a:r>
            <a:r>
              <a:rPr lang="en-US" altLang="zh-CN" dirty="0" err="1">
                <a:solidFill>
                  <a:srgbClr val="FF0000"/>
                </a:solidFill>
                <a:latin typeface="Times New Roman" panose="02020503050405090304" pitchFamily="18" charset="0"/>
                <a:cs typeface="Times New Roman" panose="02020503050405090304" pitchFamily="18" charset="0"/>
              </a:rPr>
              <a:t>K+</a:t>
            </a:r>
            <a:r>
              <a:rPr lang="en-US" altLang="zh-CN" dirty="0" err="1">
                <a:solidFill>
                  <a:srgbClr val="FF0000"/>
                </a:solidFill>
                <a:cs typeface="Times New Roman" panose="02020503050405090304" pitchFamily="18" charset="0"/>
              </a:rPr>
              <a:t>1</a:t>
            </a:r>
            <a:r>
              <a:rPr lang="en-US" altLang="zh-CN" dirty="0">
                <a:solidFill>
                  <a:srgbClr val="FF0000"/>
                </a:solidFill>
                <a:latin typeface="Times New Roman" panose="02020503050405090304" pitchFamily="18" charset="0"/>
                <a:cs typeface="Times New Roman" panose="02020503050405090304" pitchFamily="18" charset="0"/>
              </a:rPr>
              <a:t>;</a:t>
            </a:r>
          </a:p>
          <a:p>
            <a:r>
              <a:rPr lang="en-US" altLang="zh-CN" dirty="0">
                <a:solidFill>
                  <a:srgbClr val="FF0000"/>
                </a:solidFill>
                <a:latin typeface="Times New Roman" panose="02020503050405090304" pitchFamily="18" charset="0"/>
                <a:cs typeface="Times New Roman" panose="02020503050405090304" pitchFamily="18" charset="0"/>
              </a:rPr>
              <a:t>      } while(K&lt;n);</a:t>
            </a:r>
            <a:r>
              <a:rPr lang="zh-CN" altLang="pt-BR" dirty="0">
                <a:solidFill>
                  <a:srgbClr val="FF0000"/>
                </a:solidFill>
                <a:latin typeface="Times New Roman" panose="02020503050405090304" pitchFamily="18" charset="0"/>
                <a:cs typeface="Times New Roman" panose="02020503050405090304" pitchFamily="18" charset="0"/>
              </a:rPr>
              <a:t>　</a:t>
            </a:r>
            <a:r>
              <a:rPr lang="zh-CN" altLang="en-US"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//K</a:t>
            </a:r>
            <a:r>
              <a:rPr lang="zh-CN" altLang="pt-BR" dirty="0">
                <a:solidFill>
                  <a:srgbClr val="FF0000"/>
                </a:solidFill>
                <a:latin typeface="Times New Roman" panose="02020503050405090304" pitchFamily="18" charset="0"/>
                <a:cs typeface="Times New Roman" panose="02020503050405090304" pitchFamily="18" charset="0"/>
              </a:rPr>
              <a:t>从</a:t>
            </a:r>
            <a:r>
              <a:rPr lang="en-US" altLang="zh-CN" dirty="0">
                <a:solidFill>
                  <a:srgbClr val="FF0000"/>
                </a:solidFill>
                <a:cs typeface="Times New Roman" panose="02020503050405090304" pitchFamily="18" charset="0"/>
              </a:rPr>
              <a:t>1</a:t>
            </a:r>
            <a:r>
              <a:rPr lang="zh-CN" altLang="pt-BR" dirty="0">
                <a:solidFill>
                  <a:srgbClr val="FF0000"/>
                </a:solidFill>
                <a:latin typeface="Times New Roman" panose="02020503050405090304" pitchFamily="18" charset="0"/>
                <a:cs typeface="Times New Roman" panose="02020503050405090304" pitchFamily="18" charset="0"/>
              </a:rPr>
              <a:t>到</a:t>
            </a:r>
            <a:r>
              <a:rPr lang="en-US" altLang="zh-CN" dirty="0">
                <a:solidFill>
                  <a:srgbClr val="FF0000"/>
                </a:solidFill>
                <a:latin typeface="Times New Roman" panose="02020503050405090304" pitchFamily="18" charset="0"/>
                <a:cs typeface="Times New Roman" panose="02020503050405090304" pitchFamily="18" charset="0"/>
              </a:rPr>
              <a:t>n-</a:t>
            </a:r>
            <a:r>
              <a:rPr lang="en-US" altLang="zh-CN" dirty="0">
                <a:solidFill>
                  <a:srgbClr val="FF0000"/>
                </a:solidFill>
                <a:cs typeface="Times New Roman" panose="02020503050405090304" pitchFamily="18" charset="0"/>
              </a:rPr>
              <a:t>1</a:t>
            </a:r>
            <a:r>
              <a:rPr lang="zh-CN" altLang="pt-BR" dirty="0">
                <a:solidFill>
                  <a:srgbClr val="FF0000"/>
                </a:solidFill>
                <a:latin typeface="Times New Roman" panose="02020503050405090304" pitchFamily="18" charset="0"/>
                <a:cs typeface="Times New Roman" panose="02020503050405090304" pitchFamily="18" charset="0"/>
              </a:rPr>
              <a:t>循环</a:t>
            </a:r>
            <a:endParaRPr lang="zh-CN" altLang="en-US" dirty="0">
              <a:solidFill>
                <a:srgbClr val="FF0000"/>
              </a:solidFill>
              <a:latin typeface="Times New Roman" panose="02020503050405090304" pitchFamily="18" charset="0"/>
              <a:cs typeface="Times New Roman" panose="02020503050405090304" pitchFamily="18" charset="0"/>
            </a:endParaRPr>
          </a:p>
          <a:p>
            <a:r>
              <a:rPr lang="zh-CN" altLang="en-US" dirty="0">
                <a:solidFill>
                  <a:srgbClr val="FF0000"/>
                </a:solidFill>
                <a:latin typeface="Times New Roman" panose="02020503050405090304" pitchFamily="18" charset="0"/>
                <a:cs typeface="Times New Roman" panose="02020503050405090304" pitchFamily="18" charset="0"/>
              </a:rPr>
              <a:t>      </a:t>
            </a:r>
            <a:r>
              <a:rPr lang="en-US" altLang="zh-CN" dirty="0">
                <a:solidFill>
                  <a:srgbClr val="FF0000"/>
                </a:solidFill>
                <a:latin typeface="Times New Roman" panose="02020503050405090304" pitchFamily="18" charset="0"/>
                <a:cs typeface="Times New Roman" panose="02020503050405090304" pitchFamily="18" charset="0"/>
              </a:rPr>
              <a:t>S[I]=j; Sum=</a:t>
            </a:r>
            <a:r>
              <a:rPr lang="en-US" altLang="zh-CN" dirty="0" err="1">
                <a:solidFill>
                  <a:srgbClr val="FF0000"/>
                </a:solidFill>
                <a:latin typeface="Times New Roman" panose="02020503050405090304" pitchFamily="18" charset="0"/>
                <a:cs typeface="Times New Roman" panose="02020503050405090304" pitchFamily="18" charset="0"/>
              </a:rPr>
              <a:t>Sum+Dtemp</a:t>
            </a:r>
            <a:r>
              <a:rPr lang="en-US" altLang="zh-CN" dirty="0">
                <a:solidFill>
                  <a:srgbClr val="FF0000"/>
                </a:solidFill>
                <a:latin typeface="Times New Roman" panose="02020503050405090304" pitchFamily="18" charset="0"/>
                <a:cs typeface="Times New Roman" panose="02020503050405090304" pitchFamily="18" charset="0"/>
              </a:rPr>
              <a:t>; </a:t>
            </a:r>
          </a:p>
          <a:p>
            <a:r>
              <a:rPr lang="en-US" altLang="zh-CN" dirty="0">
                <a:solidFill>
                  <a:schemeClr val="tx2"/>
                </a:solidFill>
                <a:latin typeface="Times New Roman" panose="02020503050405090304" pitchFamily="18" charset="0"/>
                <a:cs typeface="Times New Roman" panose="02020503050405090304" pitchFamily="18" charset="0"/>
              </a:rPr>
              <a:t>      … </a:t>
            </a:r>
            <a:r>
              <a:rPr lang="pt-BR" altLang="zh-CN" dirty="0">
                <a:solidFill>
                  <a:schemeClr val="tx2"/>
                </a:solidFill>
                <a:latin typeface="Times New Roman" panose="02020503050405090304" pitchFamily="18" charset="0"/>
                <a:cs typeface="Times New Roman" panose="02020503050405090304" pitchFamily="18" charset="0"/>
              </a:rPr>
              <a:t>}</a:t>
            </a:r>
          </a:p>
        </p:txBody>
      </p:sp>
      <p:sp>
        <p:nvSpPr>
          <p:cNvPr id="136200" name="Rectangle 8"/>
          <p:cNvSpPr>
            <a:spLocks noChangeArrowheads="1"/>
          </p:cNvSpPr>
          <p:nvPr/>
        </p:nvSpPr>
        <p:spPr bwMode="auto">
          <a:xfrm>
            <a:off x="2405857" y="1908175"/>
            <a:ext cx="8891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r>
              <a:rPr lang="zh-CN" altLang="en-US" sz="2400" dirty="0">
                <a:latin typeface="微软雅黑" panose="020B0503020204020204" pitchFamily="34" charset="-122"/>
                <a:ea typeface="微软雅黑" panose="020B0503020204020204" pitchFamily="34" charset="-122"/>
              </a:rPr>
              <a:t>寻找下一个未访问过的城市</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且其距当前访问城市</a:t>
            </a:r>
            <a:r>
              <a:rPr lang="en-US" altLang="zh-CN" sz="2400" dirty="0">
                <a:latin typeface="微软雅黑" panose="020B0503020204020204" pitchFamily="34" charset="-122"/>
                <a:ea typeface="微软雅黑" panose="020B0503020204020204" pitchFamily="34" charset="-122"/>
              </a:rPr>
              <a:t>S[I-1]</a:t>
            </a:r>
            <a:r>
              <a:rPr lang="zh-CN" altLang="en-US" sz="2400" dirty="0">
                <a:latin typeface="微软雅黑" panose="020B0503020204020204" pitchFamily="34" charset="-122"/>
                <a:ea typeface="微软雅黑" panose="020B0503020204020204" pitchFamily="34" charset="-122"/>
              </a:rPr>
              <a:t>距离最短</a:t>
            </a:r>
          </a:p>
        </p:txBody>
      </p:sp>
      <p:graphicFrame>
        <p:nvGraphicFramePr>
          <p:cNvPr id="2172937" name="Group 9"/>
          <p:cNvGraphicFramePr>
            <a:graphicFrameLocks noGrp="1"/>
          </p:cNvGraphicFramePr>
          <p:nvPr/>
        </p:nvGraphicFramePr>
        <p:xfrm>
          <a:off x="8072438" y="4552950"/>
          <a:ext cx="1936750" cy="304800"/>
        </p:xfrm>
        <a:graphic>
          <a:graphicData uri="http://schemas.openxmlformats.org/drawingml/2006/table">
            <a:tbl>
              <a:tblPr/>
              <a:tblGrid>
                <a:gridCol w="484187">
                  <a:extLst>
                    <a:ext uri="{9D8B030D-6E8A-4147-A177-3AD203B41FA5}">
                      <a16:colId xmlns:a16="http://schemas.microsoft.com/office/drawing/2014/main" val="20000"/>
                    </a:ext>
                  </a:extLst>
                </a:gridCol>
                <a:gridCol w="493713">
                  <a:extLst>
                    <a:ext uri="{9D8B030D-6E8A-4147-A177-3AD203B41FA5}">
                      <a16:colId xmlns:a16="http://schemas.microsoft.com/office/drawing/2014/main" val="20001"/>
                    </a:ext>
                  </a:extLst>
                </a:gridCol>
                <a:gridCol w="474662">
                  <a:extLst>
                    <a:ext uri="{9D8B030D-6E8A-4147-A177-3AD203B41FA5}">
                      <a16:colId xmlns:a16="http://schemas.microsoft.com/office/drawing/2014/main" val="20002"/>
                    </a:ext>
                  </a:extLst>
                </a:gridCol>
                <a:gridCol w="484188">
                  <a:extLst>
                    <a:ext uri="{9D8B030D-6E8A-4147-A177-3AD203B41FA5}">
                      <a16:colId xmlns:a16="http://schemas.microsoft.com/office/drawing/2014/main" val="20003"/>
                    </a:ext>
                  </a:extLst>
                </a:gridCol>
              </a:tblGrid>
              <a:tr h="298450">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marL="742950" indent="-285750" eaLnBrk="0" hangingPunct="0">
                        <a:spcBef>
                          <a:spcPct val="20000"/>
                        </a:spcBef>
                        <a:defRPr kumimoji="1" sz="2400">
                          <a:solidFill>
                            <a:schemeClr val="tx1"/>
                          </a:solidFill>
                          <a:latin typeface="Times New Roman" panose="02020503050405090304" pitchFamily="18" charset="0"/>
                          <a:ea typeface="宋体" pitchFamily="2" charset="-122"/>
                        </a:defRPr>
                      </a:lvl2pPr>
                      <a:lvl3pPr marL="1143000" indent="-228600" eaLnBrk="0" hangingPunct="0">
                        <a:spcBef>
                          <a:spcPct val="20000"/>
                        </a:spcBef>
                        <a:defRPr kumimoji="1" sz="2000">
                          <a:solidFill>
                            <a:schemeClr val="tx1"/>
                          </a:solidFill>
                          <a:latin typeface="Times New Roman" panose="02020503050405090304" pitchFamily="18" charset="0"/>
                          <a:ea typeface="宋体" pitchFamily="2" charset="-122"/>
                        </a:defRPr>
                      </a:lvl3pPr>
                      <a:lvl4pPr marL="1600200" indent="-228600" eaLnBrk="0" hangingPunct="0">
                        <a:spcBef>
                          <a:spcPct val="20000"/>
                        </a:spcBef>
                        <a:defRPr kumimoji="1">
                          <a:solidFill>
                            <a:schemeClr val="tx1"/>
                          </a:solidFill>
                          <a:latin typeface="Times New Roman" panose="02020503050405090304" pitchFamily="18" charset="0"/>
                          <a:ea typeface="宋体" pitchFamily="2" charset="-122"/>
                        </a:defRPr>
                      </a:lvl4pPr>
                      <a:lvl5pPr marL="2057400" indent="-228600" eaLnBrk="0" hangingPunct="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503050405090304"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6213" name="Text Box 21"/>
          <p:cNvSpPr txBox="1">
            <a:spLocks noChangeArrowheads="1"/>
          </p:cNvSpPr>
          <p:nvPr/>
        </p:nvSpPr>
        <p:spPr bwMode="auto">
          <a:xfrm>
            <a:off x="7410450" y="5160964"/>
            <a:ext cx="33289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buFontTx/>
              <a:buChar char="•"/>
            </a:pPr>
            <a:r>
              <a:rPr lang="en-US" altLang="zh-CN">
                <a:latin typeface="Times New Roman" panose="02020503050405090304" pitchFamily="18" charset="0"/>
              </a:rPr>
              <a:t>D[K][S[I-</a:t>
            </a:r>
            <a:r>
              <a:rPr lang="en-US" altLang="zh-CN"/>
              <a:t>1</a:t>
            </a:r>
            <a:r>
              <a:rPr lang="en-US" altLang="zh-CN">
                <a:latin typeface="Times New Roman" panose="02020503050405090304" pitchFamily="18" charset="0"/>
              </a:rPr>
              <a:t>]]</a:t>
            </a:r>
            <a:r>
              <a:rPr lang="zh-CN" altLang="en-US">
                <a:latin typeface="Times New Roman" panose="02020503050405090304" pitchFamily="18" charset="0"/>
              </a:rPr>
              <a:t>为城市</a:t>
            </a:r>
            <a:r>
              <a:rPr lang="en-US" altLang="zh-CN">
                <a:latin typeface="Times New Roman" panose="02020503050405090304" pitchFamily="18" charset="0"/>
              </a:rPr>
              <a:t>K</a:t>
            </a:r>
            <a:r>
              <a:rPr lang="zh-CN" altLang="en-US">
                <a:latin typeface="Times New Roman" panose="02020503050405090304" pitchFamily="18" charset="0"/>
              </a:rPr>
              <a:t>距当前访问过的城市的距离</a:t>
            </a:r>
            <a:endParaRPr kumimoji="0" lang="zh-CN" altLang="en-US">
              <a:latin typeface="Times New Roman" panose="02020503050405090304" pitchFamily="18" charset="0"/>
            </a:endParaRPr>
          </a:p>
        </p:txBody>
      </p:sp>
      <p:sp>
        <p:nvSpPr>
          <p:cNvPr id="11"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问题：程序设计</a:t>
            </a:r>
          </a:p>
        </p:txBody>
      </p:sp>
      <p:sp>
        <p:nvSpPr>
          <p:cNvPr id="12" name="圆角矩形 11"/>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实现算法的程序：阅读与理解</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4738" name="Text Box 5"/>
          <p:cNvSpPr txBox="1">
            <a:spLocks noChangeArrowheads="1"/>
          </p:cNvSpPr>
          <p:nvPr/>
        </p:nvSpPr>
        <p:spPr bwMode="auto">
          <a:xfrm>
            <a:off x="910667" y="2486994"/>
            <a:ext cx="10470696" cy="353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chemeClr val="tx1"/>
              </a:buClr>
              <a:buFont typeface="Wingdings" panose="05000000000000000000" pitchFamily="2" charset="2"/>
              <a:buChar char="u"/>
            </a:pPr>
            <a:r>
              <a:rPr lang="zh-CN" altLang="en-US" dirty="0">
                <a:solidFill>
                  <a:schemeClr val="accent2"/>
                </a:solidFill>
                <a:latin typeface="微软雅黑" panose="020B0503020204020204" pitchFamily="34" charset="-122"/>
                <a:ea typeface="微软雅黑" panose="020B0503020204020204" pitchFamily="34" charset="-122"/>
              </a:rPr>
              <a:t>算法的正确性问题</a:t>
            </a:r>
          </a:p>
          <a:p>
            <a:pPr lvl="1" algn="just" eaLnBrk="1" hangingPunct="1">
              <a:lnSpc>
                <a:spcPct val="130000"/>
              </a:lnSpc>
              <a:buClr>
                <a:schemeClr val="tx1"/>
              </a:buClr>
              <a:buFont typeface="Wingdings" panose="05000000000000000000" pitchFamily="2" charset="2"/>
              <a:buChar char="ü"/>
            </a:pPr>
            <a:r>
              <a:rPr lang="zh-CN" altLang="en-US" sz="1600" b="0" dirty="0"/>
              <a:t>问题求解的过程、方法</a:t>
            </a:r>
            <a:r>
              <a:rPr lang="en-US" altLang="zh-CN" sz="1600" b="0" dirty="0"/>
              <a:t>——</a:t>
            </a:r>
            <a:r>
              <a:rPr lang="zh-CN" altLang="en-US" sz="1600" b="0" dirty="0"/>
              <a:t>算法是正确的吗？算法的输出是问题的解吗？满足问题求解约束的解就是问题的解，但不一定是最优解。</a:t>
            </a:r>
          </a:p>
          <a:p>
            <a:pPr lvl="1" algn="just" eaLnBrk="1" hangingPunct="1">
              <a:lnSpc>
                <a:spcPct val="130000"/>
              </a:lnSpc>
              <a:buClr>
                <a:schemeClr val="tx1"/>
              </a:buClr>
              <a:buFont typeface="Wingdings" panose="05000000000000000000" pitchFamily="2" charset="2"/>
              <a:buChar char="ü"/>
            </a:pPr>
            <a:r>
              <a:rPr lang="en-US" altLang="zh-CN" sz="1600" b="0" dirty="0"/>
              <a:t>20</a:t>
            </a:r>
            <a:r>
              <a:rPr lang="zh-CN" altLang="en-US" sz="1600" b="0" dirty="0"/>
              <a:t>世纪</a:t>
            </a:r>
            <a:r>
              <a:rPr lang="en-US" altLang="zh-CN" sz="1600" b="0" dirty="0"/>
              <a:t>60</a:t>
            </a:r>
            <a:r>
              <a:rPr lang="zh-CN" altLang="en-US" sz="1600" b="0" dirty="0"/>
              <a:t>年代，美国一架发往金星的航天飞机由于控制程序出错而永久丢失在太空中。</a:t>
            </a:r>
          </a:p>
          <a:p>
            <a:pPr marL="342900" indent="-342900" algn="just" eaLnBrk="1" hangingPunct="1">
              <a:lnSpc>
                <a:spcPct val="130000"/>
              </a:lnSpc>
              <a:buClr>
                <a:schemeClr val="tx1"/>
              </a:buClr>
              <a:buFont typeface="Wingdings" panose="05000000000000000000" pitchFamily="2" charset="2"/>
              <a:buChar char="u"/>
            </a:pPr>
            <a:r>
              <a:rPr lang="zh-CN" altLang="en-US" dirty="0">
                <a:solidFill>
                  <a:schemeClr val="accent2"/>
                </a:solidFill>
                <a:latin typeface="微软雅黑" panose="020B0503020204020204" pitchFamily="34" charset="-122"/>
                <a:ea typeface="微软雅黑" panose="020B0503020204020204" pitchFamily="34" charset="-122"/>
              </a:rPr>
              <a:t>算法的效果评价</a:t>
            </a:r>
          </a:p>
          <a:p>
            <a:pPr lvl="1" algn="just" eaLnBrk="1" hangingPunct="1">
              <a:lnSpc>
                <a:spcPct val="130000"/>
              </a:lnSpc>
              <a:buClr>
                <a:schemeClr val="tx1"/>
              </a:buClr>
              <a:buFont typeface="Wingdings" panose="05000000000000000000" pitchFamily="2" charset="2"/>
              <a:buChar char="ü"/>
            </a:pPr>
            <a:r>
              <a:rPr lang="zh-CN" altLang="en-US" sz="1600" b="0" dirty="0"/>
              <a:t>算法的输出是最优解还是可行解？</a:t>
            </a:r>
            <a:r>
              <a:rPr lang="zh-CN" altLang="en-US" dirty="0"/>
              <a:t>如果是可行解，与最优解的偏差多大</a:t>
            </a:r>
            <a:r>
              <a:rPr lang="zh-CN" altLang="en-US" sz="1600" b="0" dirty="0"/>
              <a:t>？</a:t>
            </a:r>
          </a:p>
          <a:p>
            <a:pPr marL="285750" indent="-285750" algn="just" eaLnBrk="1" hangingPunct="1">
              <a:lnSpc>
                <a:spcPct val="130000"/>
              </a:lnSpc>
              <a:buClr>
                <a:schemeClr val="tx1"/>
              </a:buClr>
              <a:buFont typeface="Wingdings" panose="05000000000000000000" pitchFamily="2" charset="2"/>
              <a:buChar char="n"/>
            </a:pPr>
            <a:r>
              <a:rPr lang="zh-CN" altLang="en-US" sz="1600" b="0" dirty="0"/>
              <a:t>两种评价方法：</a:t>
            </a:r>
          </a:p>
          <a:p>
            <a:pPr lvl="1" algn="just" eaLnBrk="1" hangingPunct="1">
              <a:lnSpc>
                <a:spcPct val="130000"/>
              </a:lnSpc>
              <a:buClr>
                <a:schemeClr val="tx1"/>
              </a:buClr>
              <a:buFont typeface="Wingdings" panose="05000000000000000000" pitchFamily="2" charset="2"/>
              <a:buChar char="ü"/>
            </a:pPr>
            <a:r>
              <a:rPr lang="zh-CN" altLang="en-US" sz="1600" dirty="0">
                <a:solidFill>
                  <a:schemeClr val="accent2"/>
                </a:solidFill>
              </a:rPr>
              <a:t>证明方法</a:t>
            </a:r>
            <a:r>
              <a:rPr lang="zh-CN" altLang="en-US" sz="1600" b="0" dirty="0"/>
              <a:t>：利用数学方法证明；</a:t>
            </a:r>
          </a:p>
          <a:p>
            <a:pPr lvl="1" algn="just" eaLnBrk="1" hangingPunct="1">
              <a:lnSpc>
                <a:spcPct val="130000"/>
              </a:lnSpc>
              <a:buClr>
                <a:schemeClr val="tx1"/>
              </a:buClr>
              <a:buFont typeface="Wingdings" panose="05000000000000000000" pitchFamily="2" charset="2"/>
              <a:buChar char="ü"/>
            </a:pPr>
            <a:r>
              <a:rPr lang="zh-CN" altLang="en-US" sz="1600" dirty="0">
                <a:solidFill>
                  <a:schemeClr val="accent2"/>
                </a:solidFill>
              </a:rPr>
              <a:t>仿真分析方法</a:t>
            </a:r>
            <a:r>
              <a:rPr lang="zh-CN" altLang="en-US" sz="1600" b="0" dirty="0"/>
              <a:t>：产生或选取大量的、具有代表性的问题实例，利用该算法对这些问题实例进行求解，并对算法产生的结果进行统计分析。</a:t>
            </a:r>
            <a:endParaRPr lang="en-US" altLang="zh-CN" sz="1600" b="0" dirty="0"/>
          </a:p>
        </p:txBody>
      </p:sp>
      <p:sp>
        <p:nvSpPr>
          <p:cNvPr id="144389" name="Rectangle 5"/>
          <p:cNvSpPr>
            <a:spLocks noChangeArrowheads="1"/>
          </p:cNvSpPr>
          <p:nvPr/>
        </p:nvSpPr>
        <p:spPr bwMode="auto">
          <a:xfrm>
            <a:off x="3700969" y="5978905"/>
            <a:ext cx="4991796" cy="646986"/>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3200">
                <a:solidFill>
                  <a:srgbClr val="FFFFEF"/>
                </a:solidFill>
              </a:rPr>
              <a:t>算法获得的解是最优的吗</a:t>
            </a:r>
            <a:r>
              <a:rPr lang="en-US" altLang="zh-CN" sz="3200" b="0">
                <a:solidFill>
                  <a:srgbClr val="FFFFEF"/>
                </a:solidFill>
              </a:rPr>
              <a:t>?</a:t>
            </a:r>
          </a:p>
        </p:txBody>
      </p:sp>
      <p:sp>
        <p:nvSpPr>
          <p:cNvPr id="6"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算法的正确性分析</a:t>
            </a:r>
          </a:p>
        </p:txBody>
      </p:sp>
      <p:sp>
        <p:nvSpPr>
          <p:cNvPr id="7" name="圆角矩形 6"/>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算法的模拟与分析</a:t>
            </a:r>
          </a:p>
        </p:txBody>
      </p:sp>
      <p:sp>
        <p:nvSpPr>
          <p:cNvPr id="8" name="Rectangle 5"/>
          <p:cNvSpPr>
            <a:spLocks noChangeArrowheads="1"/>
          </p:cNvSpPr>
          <p:nvPr/>
        </p:nvSpPr>
        <p:spPr bwMode="auto">
          <a:xfrm>
            <a:off x="4380481" y="2018988"/>
            <a:ext cx="3327972" cy="646986"/>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3200" dirty="0">
                <a:solidFill>
                  <a:srgbClr val="FFFFEF"/>
                </a:solidFill>
              </a:rPr>
              <a:t>算法是正确的吗</a:t>
            </a:r>
            <a:r>
              <a:rPr lang="en-US" altLang="zh-CN" sz="3200" b="0" dirty="0">
                <a:solidFill>
                  <a:srgbClr val="FFFFEF"/>
                </a:solidFill>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164738">
                                            <p:txEl>
                                              <p:pRg st="0" end="0"/>
                                            </p:txEl>
                                          </p:spTgt>
                                        </p:tgtEl>
                                        <p:attrNameLst>
                                          <p:attrName>style.visibility</p:attrName>
                                        </p:attrNameLst>
                                      </p:cBhvr>
                                      <p:to>
                                        <p:strVal val="visible"/>
                                      </p:to>
                                    </p:set>
                                    <p:anim calcmode="lin" valueType="num">
                                      <p:cBhvr additive="base">
                                        <p:cTn id="7" dur="500" fill="hold"/>
                                        <p:tgtEl>
                                          <p:spTgt spid="21647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6473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64738">
                                            <p:txEl>
                                              <p:pRg st="1" end="1"/>
                                            </p:txEl>
                                          </p:spTgt>
                                        </p:tgtEl>
                                        <p:attrNameLst>
                                          <p:attrName>style.visibility</p:attrName>
                                        </p:attrNameLst>
                                      </p:cBhvr>
                                      <p:to>
                                        <p:strVal val="visible"/>
                                      </p:to>
                                    </p:set>
                                    <p:anim calcmode="lin" valueType="num">
                                      <p:cBhvr additive="base">
                                        <p:cTn id="11" dur="500" fill="hold"/>
                                        <p:tgtEl>
                                          <p:spTgt spid="216473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6473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64738">
                                            <p:txEl>
                                              <p:pRg st="2" end="2"/>
                                            </p:txEl>
                                          </p:spTgt>
                                        </p:tgtEl>
                                        <p:attrNameLst>
                                          <p:attrName>style.visibility</p:attrName>
                                        </p:attrNameLst>
                                      </p:cBhvr>
                                      <p:to>
                                        <p:strVal val="visible"/>
                                      </p:to>
                                    </p:set>
                                    <p:anim calcmode="lin" valueType="num">
                                      <p:cBhvr additive="base">
                                        <p:cTn id="15" dur="500" fill="hold"/>
                                        <p:tgtEl>
                                          <p:spTgt spid="216473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647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64738">
                                            <p:txEl>
                                              <p:pRg st="3" end="3"/>
                                            </p:txEl>
                                          </p:spTgt>
                                        </p:tgtEl>
                                        <p:attrNameLst>
                                          <p:attrName>style.visibility</p:attrName>
                                        </p:attrNameLst>
                                      </p:cBhvr>
                                      <p:to>
                                        <p:strVal val="visible"/>
                                      </p:to>
                                    </p:set>
                                    <p:anim calcmode="lin" valueType="num">
                                      <p:cBhvr additive="base">
                                        <p:cTn id="21" dur="500" fill="hold"/>
                                        <p:tgtEl>
                                          <p:spTgt spid="216473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6473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64738">
                                            <p:txEl>
                                              <p:pRg st="4" end="4"/>
                                            </p:txEl>
                                          </p:spTgt>
                                        </p:tgtEl>
                                        <p:attrNameLst>
                                          <p:attrName>style.visibility</p:attrName>
                                        </p:attrNameLst>
                                      </p:cBhvr>
                                      <p:to>
                                        <p:strVal val="visible"/>
                                      </p:to>
                                    </p:set>
                                    <p:anim calcmode="lin" valueType="num">
                                      <p:cBhvr additive="base">
                                        <p:cTn id="25" dur="500" fill="hold"/>
                                        <p:tgtEl>
                                          <p:spTgt spid="216473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6473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64738">
                                            <p:txEl>
                                              <p:pRg st="5" end="5"/>
                                            </p:txEl>
                                          </p:spTgt>
                                        </p:tgtEl>
                                        <p:attrNameLst>
                                          <p:attrName>style.visibility</p:attrName>
                                        </p:attrNameLst>
                                      </p:cBhvr>
                                      <p:to>
                                        <p:strVal val="visible"/>
                                      </p:to>
                                    </p:set>
                                    <p:anim calcmode="lin" valueType="num">
                                      <p:cBhvr additive="base">
                                        <p:cTn id="29" dur="500" fill="hold"/>
                                        <p:tgtEl>
                                          <p:spTgt spid="216473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6473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164738">
                                            <p:txEl>
                                              <p:pRg st="6" end="6"/>
                                            </p:txEl>
                                          </p:spTgt>
                                        </p:tgtEl>
                                        <p:attrNameLst>
                                          <p:attrName>style.visibility</p:attrName>
                                        </p:attrNameLst>
                                      </p:cBhvr>
                                      <p:to>
                                        <p:strVal val="visible"/>
                                      </p:to>
                                    </p:set>
                                    <p:anim calcmode="lin" valueType="num">
                                      <p:cBhvr additive="base">
                                        <p:cTn id="33" dur="500" fill="hold"/>
                                        <p:tgtEl>
                                          <p:spTgt spid="2164738">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164738">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164738">
                                            <p:txEl>
                                              <p:pRg st="7" end="7"/>
                                            </p:txEl>
                                          </p:spTgt>
                                        </p:tgtEl>
                                        <p:attrNameLst>
                                          <p:attrName>style.visibility</p:attrName>
                                        </p:attrNameLst>
                                      </p:cBhvr>
                                      <p:to>
                                        <p:strVal val="visible"/>
                                      </p:to>
                                    </p:set>
                                    <p:anim calcmode="lin" valueType="num">
                                      <p:cBhvr additive="base">
                                        <p:cTn id="37" dur="500" fill="hold"/>
                                        <p:tgtEl>
                                          <p:spTgt spid="216473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6473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02" name="Text Box 5"/>
          <p:cNvSpPr txBox="1">
            <a:spLocks noChangeArrowheads="1"/>
          </p:cNvSpPr>
          <p:nvPr/>
        </p:nvSpPr>
        <p:spPr bwMode="auto">
          <a:xfrm>
            <a:off x="915989" y="2789757"/>
            <a:ext cx="1063783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just" eaLnBrk="1" hangingPunct="1">
              <a:lnSpc>
                <a:spcPct val="120000"/>
              </a:lnSpc>
              <a:buClr>
                <a:schemeClr val="tx1"/>
              </a:buClr>
              <a:buFont typeface="Wingdings" panose="05000000000000000000" pitchFamily="2" charset="2"/>
              <a:buChar char="u"/>
            </a:pPr>
            <a:r>
              <a:rPr lang="en-US" altLang="zh-CN" dirty="0" err="1">
                <a:solidFill>
                  <a:schemeClr val="accent2"/>
                </a:solidFill>
                <a:latin typeface="微软雅黑" panose="020B0503020204020204" pitchFamily="34" charset="-122"/>
                <a:ea typeface="微软雅黑" panose="020B0503020204020204" pitchFamily="34" charset="-122"/>
              </a:rPr>
              <a:t>时间复杂性</a:t>
            </a:r>
            <a:r>
              <a:rPr lang="en-US" altLang="zh-CN" dirty="0">
                <a:solidFill>
                  <a:schemeClr val="accent2"/>
                </a:solidFill>
                <a:latin typeface="微软雅黑" panose="020B0503020204020204" pitchFamily="34" charset="-122"/>
                <a:ea typeface="微软雅黑" panose="020B0503020204020204" pitchFamily="34" charset="-122"/>
              </a:rPr>
              <a:t>: </a:t>
            </a:r>
            <a:r>
              <a:rPr lang="zh-CN" altLang="en-US" sz="1600" b="0" dirty="0">
                <a:ea typeface="宋体" pitchFamily="2" charset="-122"/>
              </a:rPr>
              <a:t>求</a:t>
            </a:r>
            <a:r>
              <a:rPr lang="en-US" altLang="zh-CN" sz="1600" b="0" dirty="0">
                <a:ea typeface="宋体" pitchFamily="2" charset="-122"/>
              </a:rPr>
              <a:t>解</a:t>
            </a:r>
            <a:r>
              <a:rPr lang="zh-CN" altLang="en-US" sz="1600" b="0" dirty="0">
                <a:ea typeface="宋体" pitchFamily="2" charset="-122"/>
              </a:rPr>
              <a:t>某个</a:t>
            </a:r>
            <a:r>
              <a:rPr lang="en-US" altLang="zh-CN" sz="1600" b="0" dirty="0" err="1">
                <a:ea typeface="宋体" pitchFamily="2" charset="-122"/>
              </a:rPr>
              <a:t>问题的某</a:t>
            </a:r>
            <a:r>
              <a:rPr lang="zh-CN" altLang="en-US" sz="1600" b="0" dirty="0">
                <a:ea typeface="宋体" pitchFamily="2" charset="-122"/>
              </a:rPr>
              <a:t>个</a:t>
            </a:r>
            <a:r>
              <a:rPr lang="en-US" altLang="zh-CN" sz="1600" b="0" dirty="0" err="1">
                <a:ea typeface="宋体" pitchFamily="2" charset="-122"/>
              </a:rPr>
              <a:t>算法所需要的时间为T</a:t>
            </a:r>
            <a:r>
              <a:rPr lang="en-US" altLang="zh-CN" sz="1600" b="0" dirty="0">
                <a:ea typeface="宋体" pitchFamily="2" charset="-122"/>
              </a:rPr>
              <a:t>(n)，</a:t>
            </a:r>
            <a:r>
              <a:rPr lang="en-US" altLang="zh-CN" sz="1600" b="0" dirty="0" err="1">
                <a:ea typeface="宋体" pitchFamily="2" charset="-122"/>
              </a:rPr>
              <a:t>它是n的某一函数</a:t>
            </a:r>
            <a:r>
              <a:rPr lang="en-US" altLang="zh-CN" sz="1600" b="0" dirty="0">
                <a:ea typeface="宋体" pitchFamily="2" charset="-122"/>
              </a:rPr>
              <a:t>，</a:t>
            </a:r>
            <a:r>
              <a:rPr lang="zh-CN" altLang="en-US" sz="1600" b="0" dirty="0">
                <a:ea typeface="宋体" pitchFamily="2" charset="-122"/>
              </a:rPr>
              <a:t>则</a:t>
            </a:r>
            <a:r>
              <a:rPr lang="en-US" altLang="zh-CN" sz="1600" b="0" dirty="0">
                <a:ea typeface="宋体" pitchFamily="2" charset="-122"/>
              </a:rPr>
              <a:t>T(n)</a:t>
            </a:r>
            <a:r>
              <a:rPr lang="en-US" altLang="zh-CN" sz="1600" b="0" dirty="0" err="1">
                <a:ea typeface="宋体" pitchFamily="2" charset="-122"/>
              </a:rPr>
              <a:t>称为这一算法的</a:t>
            </a:r>
            <a:r>
              <a:rPr lang="zh-CN" altLang="en-US" sz="1600" b="0" dirty="0">
                <a:ea typeface="宋体" pitchFamily="2" charset="-122"/>
              </a:rPr>
              <a:t>“</a:t>
            </a:r>
            <a:r>
              <a:rPr lang="en-US" altLang="zh-CN" sz="1600" b="0" dirty="0" err="1">
                <a:ea typeface="宋体" pitchFamily="2" charset="-122"/>
              </a:rPr>
              <a:t>时间复杂性</a:t>
            </a:r>
            <a:r>
              <a:rPr lang="zh-CN" altLang="en-US" sz="1600" b="0" dirty="0">
                <a:ea typeface="宋体" pitchFamily="2" charset="-122"/>
              </a:rPr>
              <a:t>”</a:t>
            </a:r>
            <a:r>
              <a:rPr lang="en-US" altLang="zh-CN" sz="1600" b="0" dirty="0">
                <a:ea typeface="宋体" pitchFamily="2" charset="-122"/>
              </a:rPr>
              <a:t>。</a:t>
            </a:r>
          </a:p>
          <a:p>
            <a:pPr algn="just" eaLnBrk="1" hangingPunct="1">
              <a:lnSpc>
                <a:spcPct val="120000"/>
              </a:lnSpc>
              <a:buClr>
                <a:schemeClr val="tx1"/>
              </a:buClr>
              <a:buFont typeface="Wingdings" panose="05000000000000000000" pitchFamily="2" charset="2"/>
              <a:buChar char="u"/>
            </a:pPr>
            <a:r>
              <a:rPr lang="en-US" altLang="zh-CN" dirty="0">
                <a:solidFill>
                  <a:schemeClr val="accent2"/>
                </a:solidFill>
                <a:latin typeface="微软雅黑" panose="020B0503020204020204" pitchFamily="34" charset="-122"/>
                <a:ea typeface="微软雅黑" panose="020B0503020204020204" pitchFamily="34" charset="-122"/>
              </a:rPr>
              <a:t>“</a:t>
            </a:r>
            <a:r>
              <a:rPr lang="en-US" altLang="zh-CN" dirty="0" err="1">
                <a:solidFill>
                  <a:schemeClr val="accent2"/>
                </a:solidFill>
                <a:latin typeface="微软雅黑" panose="020B0503020204020204" pitchFamily="34" charset="-122"/>
                <a:ea typeface="微软雅黑" panose="020B0503020204020204" pitchFamily="34" charset="-122"/>
              </a:rPr>
              <a:t>大O记法</a:t>
            </a:r>
            <a:r>
              <a:rPr lang="en-US" altLang="zh-CN" dirty="0">
                <a:solidFill>
                  <a:schemeClr val="accent2"/>
                </a:solidFill>
                <a:latin typeface="微软雅黑" panose="020B0503020204020204" pitchFamily="34" charset="-122"/>
                <a:ea typeface="微软雅黑" panose="020B0503020204020204" pitchFamily="34" charset="-122"/>
              </a:rPr>
              <a:t>”：</a:t>
            </a:r>
          </a:p>
          <a:p>
            <a:pPr algn="just" eaLnBrk="1" hangingPunct="1">
              <a:lnSpc>
                <a:spcPct val="120000"/>
              </a:lnSpc>
              <a:buClr>
                <a:schemeClr val="tx1"/>
              </a:buClr>
              <a:buFont typeface="Wingdings" panose="05000000000000000000" pitchFamily="2" charset="2"/>
              <a:buChar char="ü"/>
            </a:pPr>
            <a:r>
              <a:rPr lang="en-US" altLang="zh-CN" sz="1800" b="0" dirty="0" err="1">
                <a:ea typeface="宋体" pitchFamily="2" charset="-122"/>
              </a:rPr>
              <a:t>基本参数</a:t>
            </a:r>
            <a:r>
              <a:rPr lang="en-US" altLang="zh-CN" sz="1800" b="0" dirty="0">
                <a:ea typeface="宋体" pitchFamily="2" charset="-122"/>
              </a:rPr>
              <a:t> n——</a:t>
            </a:r>
            <a:r>
              <a:rPr lang="en-US" altLang="zh-CN" sz="1800" b="0" dirty="0" err="1">
                <a:ea typeface="宋体" pitchFamily="2" charset="-122"/>
              </a:rPr>
              <a:t>问题实例的规模</a:t>
            </a:r>
            <a:endParaRPr lang="en-US" altLang="zh-CN" sz="1800" b="0" dirty="0">
              <a:ea typeface="宋体" pitchFamily="2" charset="-122"/>
            </a:endParaRPr>
          </a:p>
          <a:p>
            <a:pPr algn="just" eaLnBrk="1" hangingPunct="1">
              <a:lnSpc>
                <a:spcPct val="120000"/>
              </a:lnSpc>
              <a:buClr>
                <a:schemeClr val="tx1"/>
              </a:buClr>
              <a:buFont typeface="Wingdings" panose="05000000000000000000" pitchFamily="2" charset="2"/>
              <a:buChar char="ü"/>
            </a:pPr>
            <a:r>
              <a:rPr lang="en-US" altLang="zh-CN" sz="1800" b="0" dirty="0" err="1">
                <a:ea typeface="宋体" pitchFamily="2" charset="-122"/>
              </a:rPr>
              <a:t>把复杂性或运行时间表达为n的函数</a:t>
            </a:r>
            <a:r>
              <a:rPr lang="en-US" altLang="zh-CN" sz="1800" b="0" dirty="0">
                <a:ea typeface="宋体" pitchFamily="2" charset="-122"/>
              </a:rPr>
              <a:t>。</a:t>
            </a:r>
          </a:p>
          <a:p>
            <a:pPr algn="just" eaLnBrk="1" hangingPunct="1">
              <a:lnSpc>
                <a:spcPct val="120000"/>
              </a:lnSpc>
              <a:buClr>
                <a:schemeClr val="tx1"/>
              </a:buClr>
              <a:buFont typeface="Wingdings" panose="05000000000000000000" pitchFamily="2" charset="2"/>
              <a:buChar char="ü"/>
            </a:pPr>
            <a:r>
              <a:rPr lang="en-US" altLang="zh-CN" sz="1800" b="0" dirty="0">
                <a:ea typeface="宋体" pitchFamily="2" charset="-122"/>
              </a:rPr>
              <a:t> “</a:t>
            </a:r>
            <a:r>
              <a:rPr lang="en-US" altLang="zh-CN" sz="1800" b="0" dirty="0" err="1">
                <a:ea typeface="宋体" pitchFamily="2" charset="-122"/>
              </a:rPr>
              <a:t>O”表示量级</a:t>
            </a:r>
            <a:r>
              <a:rPr lang="en-US" altLang="zh-CN" sz="1800" b="0" dirty="0">
                <a:ea typeface="宋体" pitchFamily="2" charset="-122"/>
              </a:rPr>
              <a:t> (order)，</a:t>
            </a:r>
            <a:r>
              <a:rPr lang="en-US" altLang="zh-CN" sz="1800" b="0" dirty="0" err="1">
                <a:ea typeface="宋体" pitchFamily="2" charset="-122"/>
              </a:rPr>
              <a:t>允许使用</a:t>
            </a:r>
            <a:r>
              <a:rPr lang="en-US" altLang="zh-CN" sz="1800" b="0" dirty="0">
                <a:ea typeface="宋体" pitchFamily="2" charset="-122"/>
              </a:rPr>
              <a:t>“=”</a:t>
            </a:r>
            <a:r>
              <a:rPr lang="en-US" altLang="zh-CN" sz="1800" b="0" dirty="0" err="1">
                <a:ea typeface="宋体" pitchFamily="2" charset="-122"/>
              </a:rPr>
              <a:t>代替</a:t>
            </a:r>
            <a:r>
              <a:rPr lang="en-US" altLang="zh-CN" sz="1800" b="0" dirty="0">
                <a:ea typeface="宋体" pitchFamily="2" charset="-122"/>
              </a:rPr>
              <a:t>“≈”，</a:t>
            </a:r>
            <a:r>
              <a:rPr lang="en-US" altLang="zh-CN" sz="1800" b="0" dirty="0" err="1">
                <a:ea typeface="宋体" pitchFamily="2" charset="-122"/>
              </a:rPr>
              <a:t>如n</a:t>
            </a:r>
            <a:r>
              <a:rPr lang="en-US" altLang="zh-CN" sz="1800" b="0" baseline="30000" dirty="0" err="1">
                <a:ea typeface="宋体" pitchFamily="2" charset="-122"/>
              </a:rPr>
              <a:t>2</a:t>
            </a:r>
            <a:r>
              <a:rPr lang="en-US" altLang="zh-CN" sz="1800" b="0" dirty="0" err="1">
                <a:ea typeface="宋体" pitchFamily="2" charset="-122"/>
              </a:rPr>
              <a:t>+n+1</a:t>
            </a:r>
            <a:r>
              <a:rPr lang="en-US" altLang="zh-CN" sz="1800" b="0" dirty="0">
                <a:ea typeface="宋体" pitchFamily="2" charset="-122"/>
              </a:rPr>
              <a:t> =Ο(</a:t>
            </a:r>
            <a:r>
              <a:rPr lang="en-US" altLang="zh-CN" sz="1800" b="0" dirty="0" err="1">
                <a:ea typeface="宋体" pitchFamily="2" charset="-122"/>
              </a:rPr>
              <a:t>n</a:t>
            </a:r>
            <a:r>
              <a:rPr lang="en-US" altLang="zh-CN" sz="1800" b="0" baseline="30000" dirty="0" err="1">
                <a:ea typeface="宋体" pitchFamily="2" charset="-122"/>
              </a:rPr>
              <a:t>2</a:t>
            </a:r>
            <a:r>
              <a:rPr lang="en-US" altLang="zh-CN" sz="1800" b="0" dirty="0">
                <a:ea typeface="宋体" pitchFamily="2" charset="-122"/>
              </a:rPr>
              <a:t>) 。</a:t>
            </a:r>
          </a:p>
          <a:p>
            <a:pPr algn="just" eaLnBrk="1" hangingPunct="1">
              <a:lnSpc>
                <a:spcPct val="120000"/>
              </a:lnSpc>
              <a:buClr>
                <a:schemeClr val="tx1"/>
              </a:buClr>
              <a:buFont typeface="Wingdings" panose="05000000000000000000" pitchFamily="2" charset="2"/>
              <a:buChar char="u"/>
            </a:pPr>
            <a:endParaRPr lang="en-US" altLang="zh-CN" sz="1800" b="0" dirty="0">
              <a:ea typeface="宋体" pitchFamily="2" charset="-122"/>
            </a:endParaRPr>
          </a:p>
          <a:p>
            <a:pPr algn="just" eaLnBrk="1" hangingPunct="1">
              <a:lnSpc>
                <a:spcPct val="120000"/>
              </a:lnSpc>
              <a:buClr>
                <a:schemeClr val="tx1"/>
              </a:buClr>
              <a:buFont typeface="Wingdings" panose="05000000000000000000" pitchFamily="2" charset="2"/>
              <a:buChar char="u"/>
            </a:pPr>
            <a:r>
              <a:rPr lang="en-US" altLang="zh-CN" dirty="0" err="1">
                <a:solidFill>
                  <a:schemeClr val="accent2"/>
                </a:solidFill>
                <a:latin typeface="微软雅黑" panose="020B0503020204020204" pitchFamily="34" charset="-122"/>
                <a:ea typeface="微软雅黑" panose="020B0503020204020204" pitchFamily="34" charset="-122"/>
              </a:rPr>
              <a:t>空间复杂</a:t>
            </a:r>
            <a:r>
              <a:rPr lang="zh-CN" altLang="en-US" dirty="0">
                <a:solidFill>
                  <a:schemeClr val="accent2"/>
                </a:solidFill>
                <a:latin typeface="微软雅黑" panose="020B0503020204020204" pitchFamily="34" charset="-122"/>
                <a:ea typeface="微软雅黑" panose="020B0503020204020204" pitchFamily="34" charset="-122"/>
              </a:rPr>
              <a:t>性：</a:t>
            </a:r>
            <a:r>
              <a:rPr lang="zh-CN" altLang="en-US" sz="1600" b="0" dirty="0">
                <a:ea typeface="宋体" pitchFamily="2" charset="-122"/>
              </a:rPr>
              <a:t>算法在执行过程中所占存储空间的大小。</a:t>
            </a:r>
          </a:p>
        </p:txBody>
      </p:sp>
      <p:sp>
        <p:nvSpPr>
          <p:cNvPr id="2611204" name="Rectangle 4"/>
          <p:cNvSpPr>
            <a:spLocks noChangeArrowheads="1"/>
          </p:cNvSpPr>
          <p:nvPr/>
        </p:nvSpPr>
        <p:spPr bwMode="auto">
          <a:xfrm>
            <a:off x="3340591" y="1999896"/>
            <a:ext cx="5407752" cy="646986"/>
          </a:xfrm>
          <a:prstGeom prst="round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a:solidFill>
                  <a:srgbClr val="FFFFEF"/>
                </a:solidFill>
              </a:rPr>
              <a:t>算法获得结果的时间有多长</a:t>
            </a:r>
            <a:r>
              <a:rPr lang="en-US" altLang="zh-CN" sz="3200" b="0">
                <a:solidFill>
                  <a:srgbClr val="FFFFEF"/>
                </a:solidFill>
              </a:rPr>
              <a:t>?</a:t>
            </a:r>
          </a:p>
        </p:txBody>
      </p:sp>
      <p:grpSp>
        <p:nvGrpSpPr>
          <p:cNvPr id="2611205" name="Group 5"/>
          <p:cNvGrpSpPr/>
          <p:nvPr/>
        </p:nvGrpSpPr>
        <p:grpSpPr bwMode="auto">
          <a:xfrm>
            <a:off x="7732713" y="5448589"/>
            <a:ext cx="1490662" cy="1174750"/>
            <a:chOff x="3947" y="3441"/>
            <a:chExt cx="939" cy="740"/>
          </a:xfrm>
        </p:grpSpPr>
        <p:sp>
          <p:nvSpPr>
            <p:cNvPr id="2" name="AutoShape 39"/>
            <p:cNvSpPr>
              <a:spLocks noChangeArrowheads="1"/>
            </p:cNvSpPr>
            <p:nvPr/>
          </p:nvSpPr>
          <p:spPr bwMode="gray">
            <a:xfrm>
              <a:off x="3947" y="3441"/>
              <a:ext cx="939" cy="74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3" name="Oval 40"/>
            <p:cNvSpPr>
              <a:spLocks noChangeArrowheads="1"/>
            </p:cNvSpPr>
            <p:nvPr/>
          </p:nvSpPr>
          <p:spPr bwMode="gray">
            <a:xfrm>
              <a:off x="4025" y="3501"/>
              <a:ext cx="783" cy="619"/>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a:solidFill>
                  <a:srgbClr val="000000"/>
                </a:solidFill>
                <a:latin typeface="宋体" pitchFamily="2" charset="-122"/>
                <a:ea typeface="宋体" pitchFamily="2" charset="-122"/>
              </a:endParaRPr>
            </a:p>
          </p:txBody>
        </p:sp>
        <p:sp>
          <p:nvSpPr>
            <p:cNvPr id="4" name="Text Box 84"/>
            <p:cNvSpPr txBox="1">
              <a:spLocks noChangeArrowheads="1"/>
            </p:cNvSpPr>
            <p:nvPr/>
          </p:nvSpPr>
          <p:spPr bwMode="auto">
            <a:xfrm>
              <a:off x="4028" y="3552"/>
              <a:ext cx="776" cy="523"/>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zh-CN" altLang="en-US">
                  <a:solidFill>
                    <a:srgbClr val="FFFFFF"/>
                  </a:solidFill>
                  <a:latin typeface="宋体" pitchFamily="2" charset="-122"/>
                  <a:ea typeface="华文中宋" panose="02010600040101010101" pitchFamily="2" charset="-122"/>
                </a:rPr>
                <a:t>算法复杂性</a:t>
              </a:r>
            </a:p>
          </p:txBody>
        </p:sp>
      </p:grpSp>
      <p:grpSp>
        <p:nvGrpSpPr>
          <p:cNvPr id="2611209" name="Group 9"/>
          <p:cNvGrpSpPr/>
          <p:nvPr/>
        </p:nvGrpSpPr>
        <p:grpSpPr bwMode="auto">
          <a:xfrm>
            <a:off x="9120188" y="5426364"/>
            <a:ext cx="1490662" cy="1174750"/>
            <a:chOff x="4821" y="3427"/>
            <a:chExt cx="939" cy="740"/>
          </a:xfrm>
        </p:grpSpPr>
        <p:sp>
          <p:nvSpPr>
            <p:cNvPr id="20" name="AutoShape 39"/>
            <p:cNvSpPr>
              <a:spLocks noChangeArrowheads="1"/>
            </p:cNvSpPr>
            <p:nvPr/>
          </p:nvSpPr>
          <p:spPr bwMode="gray">
            <a:xfrm>
              <a:off x="4821" y="3427"/>
              <a:ext cx="939" cy="74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ea typeface="宋体" pitchFamily="2" charset="-122"/>
              </a:endParaRPr>
            </a:p>
          </p:txBody>
        </p:sp>
        <p:sp>
          <p:nvSpPr>
            <p:cNvPr id="21" name="Oval 40"/>
            <p:cNvSpPr>
              <a:spLocks noChangeArrowheads="1"/>
            </p:cNvSpPr>
            <p:nvPr/>
          </p:nvSpPr>
          <p:spPr bwMode="gray">
            <a:xfrm>
              <a:off x="4899" y="3487"/>
              <a:ext cx="783" cy="619"/>
            </a:xfrm>
            <a:prstGeom prst="ellipse">
              <a:avLst/>
            </a:prstGeom>
            <a:solidFill>
              <a:srgbClr val="003366"/>
            </a:solidFill>
            <a:ln w="28575" algn="ctr">
              <a:solidFill>
                <a:srgbClr val="FFFFFF"/>
              </a:solidFill>
              <a:round/>
            </a:ln>
          </p:spPr>
          <p:txBody>
            <a:bodyPr wrap="none" anchor="ct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endParaRPr kumimoji="0" lang="zh-CN" altLang="en-US" sz="2800">
                <a:solidFill>
                  <a:srgbClr val="000000"/>
                </a:solidFill>
                <a:ea typeface="宋体" pitchFamily="2" charset="-122"/>
              </a:endParaRPr>
            </a:p>
          </p:txBody>
        </p:sp>
        <p:sp>
          <p:nvSpPr>
            <p:cNvPr id="16" name="Text Box 84"/>
            <p:cNvSpPr txBox="1">
              <a:spLocks noChangeArrowheads="1"/>
            </p:cNvSpPr>
            <p:nvPr/>
          </p:nvSpPr>
          <p:spPr bwMode="auto">
            <a:xfrm>
              <a:off x="4902" y="3634"/>
              <a:ext cx="776" cy="327"/>
            </a:xfrm>
            <a:prstGeom prst="rect">
              <a:avLst/>
            </a:prstGeom>
            <a:noFill/>
            <a:ln>
              <a:noFill/>
            </a:ln>
          </p:spPr>
          <p:txBody>
            <a:bodyPr>
              <a:spAutoFit/>
            </a:bodyPr>
            <a:lstStyle>
              <a:lvl1pPr eaLnBrk="0" hangingPunct="0">
                <a:defRPr kumimoji="1" sz="2400">
                  <a:solidFill>
                    <a:schemeClr val="tx1"/>
                  </a:solidFill>
                  <a:latin typeface="Arial" panose="020B0604020202090204" pitchFamily="34" charset="0"/>
                  <a:ea typeface="隶书" panose="02010509060101010101" pitchFamily="49" charset="-122"/>
                </a:defRPr>
              </a:lvl1pPr>
              <a:lvl2pPr marL="742950" indent="-285750" eaLnBrk="0" hangingPunct="0">
                <a:defRPr kumimoji="1" sz="2400">
                  <a:solidFill>
                    <a:schemeClr val="tx1"/>
                  </a:solidFill>
                  <a:latin typeface="Arial" panose="020B0604020202090204" pitchFamily="34" charset="0"/>
                  <a:ea typeface="隶书" panose="02010509060101010101" pitchFamily="49" charset="-122"/>
                </a:defRPr>
              </a:lvl2pPr>
              <a:lvl3pPr marL="1143000" indent="-228600" eaLnBrk="0" hangingPunct="0">
                <a:defRPr kumimoji="1" sz="2400">
                  <a:solidFill>
                    <a:schemeClr val="tx1"/>
                  </a:solidFill>
                  <a:latin typeface="Arial" panose="020B0604020202090204" pitchFamily="34" charset="0"/>
                  <a:ea typeface="隶书" panose="02010509060101010101" pitchFamily="49" charset="-122"/>
                </a:defRPr>
              </a:lvl3pPr>
              <a:lvl4pPr marL="1600200" indent="-228600" eaLnBrk="0" hangingPunct="0">
                <a:defRPr kumimoji="1" sz="2400">
                  <a:solidFill>
                    <a:schemeClr val="tx1"/>
                  </a:solidFill>
                  <a:latin typeface="Arial" panose="020B0604020202090204" pitchFamily="34" charset="0"/>
                  <a:ea typeface="隶书" panose="02010509060101010101" pitchFamily="49" charset="-122"/>
                </a:defRPr>
              </a:lvl4pPr>
              <a:lvl5pPr marL="2057400" indent="-228600" eaLnBrk="0" hangingPunct="0">
                <a:defRPr kumimoji="1" sz="2400">
                  <a:solidFill>
                    <a:schemeClr val="tx1"/>
                  </a:solidFill>
                  <a:latin typeface="Arial" panose="020B0604020202090204" pitchFamily="34"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Arial" panose="020B0604020202090204" pitchFamily="34" charset="0"/>
                  <a:ea typeface="隶书" panose="02010509060101010101" pitchFamily="49" charset="-122"/>
                </a:defRPr>
              </a:lvl9pPr>
            </a:lstStyle>
            <a:p>
              <a:pPr algn="ctr" eaLnBrk="1" hangingPunct="1">
                <a:spcBef>
                  <a:spcPct val="35000"/>
                </a:spcBef>
              </a:pPr>
              <a:r>
                <a:rPr kumimoji="0" lang="en-US" altLang="zh-CN" sz="2800">
                  <a:solidFill>
                    <a:srgbClr val="FFFFFF"/>
                  </a:solidFill>
                  <a:ea typeface="华文中宋" panose="02010600040101010101" pitchFamily="2" charset="-122"/>
                </a:rPr>
                <a:t>O(</a:t>
              </a:r>
              <a:r>
                <a:rPr kumimoji="0" lang="en-US" altLang="zh-CN" sz="2800">
                  <a:solidFill>
                    <a:srgbClr val="FFFF00"/>
                  </a:solidFill>
                  <a:ea typeface="华文中宋" panose="02010600040101010101" pitchFamily="2" charset="-122"/>
                </a:rPr>
                <a:t>f(n)</a:t>
              </a:r>
              <a:r>
                <a:rPr kumimoji="0" lang="en-US" altLang="zh-CN" sz="2800">
                  <a:solidFill>
                    <a:srgbClr val="FFFFFF"/>
                  </a:solidFill>
                  <a:ea typeface="华文中宋" panose="02010600040101010101" pitchFamily="2" charset="-122"/>
                </a:rPr>
                <a:t>)</a:t>
              </a:r>
            </a:p>
          </p:txBody>
        </p:sp>
      </p:grpSp>
      <p:sp>
        <p:nvSpPr>
          <p:cNvPr id="13"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问题：算法的复杂性分析</a:t>
            </a:r>
          </a:p>
        </p:txBody>
      </p:sp>
      <p:sp>
        <p:nvSpPr>
          <p:cNvPr id="14" name="圆角矩形 13"/>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算法的时间复杂度与空间复杂度</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457200" fontAlgn="auto">
              <a:spcBef>
                <a:spcPts val="0"/>
              </a:spcBef>
              <a:spcAft>
                <a:spcPts val="0"/>
              </a:spcAft>
              <a:defRPr/>
            </a:pP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TSP</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问题遍历算法的复杂性分析</a:t>
            </a:r>
          </a:p>
        </p:txBody>
      </p:sp>
      <p:sp>
        <p:nvSpPr>
          <p:cNvPr id="160770" name="Text Box 5"/>
          <p:cNvSpPr txBox="1">
            <a:spLocks noChangeArrowheads="1"/>
          </p:cNvSpPr>
          <p:nvPr/>
        </p:nvSpPr>
        <p:spPr bwMode="auto">
          <a:xfrm>
            <a:off x="933451" y="2078039"/>
            <a:ext cx="5972174"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30000"/>
              </a:lnSpc>
              <a:buClr>
                <a:schemeClr val="tx1"/>
              </a:buClr>
              <a:buFont typeface="Wingdings" panose="05000000000000000000" pitchFamily="2" charset="2"/>
              <a:buChar char="ü"/>
            </a:pPr>
            <a:r>
              <a:rPr lang="zh-CN" altLang="en-US" dirty="0">
                <a:solidFill>
                  <a:srgbClr val="FF0000"/>
                </a:solidFill>
              </a:rPr>
              <a:t>列出每一条可供选择的路线，计算出每条路线的总里程，最后从中选出一条最短的路线。</a:t>
            </a:r>
            <a:endParaRPr lang="en-US" altLang="zh-CN" dirty="0">
              <a:solidFill>
                <a:srgbClr val="FF0000"/>
              </a:solidFill>
            </a:endParaRPr>
          </a:p>
          <a:p>
            <a:pPr algn="just" eaLnBrk="1" hangingPunct="1">
              <a:lnSpc>
                <a:spcPct val="130000"/>
              </a:lnSpc>
              <a:buClr>
                <a:schemeClr val="tx1"/>
              </a:buClr>
              <a:buFont typeface="Wingdings" panose="05000000000000000000" pitchFamily="2" charset="2"/>
              <a:buChar char="ü"/>
            </a:pPr>
            <a:r>
              <a:rPr lang="zh-CN" altLang="en-US" b="0" dirty="0"/>
              <a:t>路径组合数目为</a:t>
            </a:r>
            <a:r>
              <a:rPr lang="en-US" altLang="zh-CN" b="0" dirty="0"/>
              <a:t>(n-1)!</a:t>
            </a:r>
          </a:p>
          <a:p>
            <a:pPr algn="just" eaLnBrk="1" hangingPunct="1">
              <a:lnSpc>
                <a:spcPct val="130000"/>
              </a:lnSpc>
              <a:buClr>
                <a:schemeClr val="tx1"/>
              </a:buClr>
              <a:buFont typeface="Wingdings" panose="05000000000000000000" pitchFamily="2" charset="2"/>
              <a:buChar char="ü"/>
            </a:pPr>
            <a:r>
              <a:rPr lang="zh-CN" altLang="en-US" b="0" dirty="0"/>
              <a:t>时间复杂度是</a:t>
            </a:r>
            <a:r>
              <a:rPr lang="en-US" altLang="zh-CN" sz="2800" dirty="0">
                <a:solidFill>
                  <a:schemeClr val="accent2"/>
                </a:solidFill>
              </a:rPr>
              <a:t>O(</a:t>
            </a:r>
            <a:r>
              <a:rPr lang="en-US" altLang="zh-CN" sz="2800" dirty="0">
                <a:solidFill>
                  <a:srgbClr val="FF0066"/>
                </a:solidFill>
              </a:rPr>
              <a:t>(n-1)!</a:t>
            </a:r>
            <a:r>
              <a:rPr lang="en-US" altLang="zh-CN" sz="2800" dirty="0">
                <a:solidFill>
                  <a:schemeClr val="accent2"/>
                </a:solidFill>
              </a:rPr>
              <a:t>)</a:t>
            </a:r>
          </a:p>
        </p:txBody>
      </p:sp>
      <p:sp>
        <p:nvSpPr>
          <p:cNvPr id="160772" name="AutoShape 11"/>
          <p:cNvSpPr>
            <a:spLocks noChangeArrowheads="1"/>
          </p:cNvSpPr>
          <p:nvPr/>
        </p:nvSpPr>
        <p:spPr bwMode="auto">
          <a:xfrm>
            <a:off x="9426576" y="609600"/>
            <a:ext cx="879475" cy="419100"/>
          </a:xfrm>
          <a:prstGeom prst="flowChartTerminator">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773" name="AutoShape 12"/>
          <p:cNvSpPr>
            <a:spLocks noChangeArrowheads="1"/>
          </p:cNvSpPr>
          <p:nvPr/>
        </p:nvSpPr>
        <p:spPr bwMode="auto">
          <a:xfrm>
            <a:off x="7569201" y="6327775"/>
            <a:ext cx="879475" cy="419100"/>
          </a:xfrm>
          <a:prstGeom prst="flowChartTerminator">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grpSp>
        <p:nvGrpSpPr>
          <p:cNvPr id="160774" name="Group 13"/>
          <p:cNvGrpSpPr/>
          <p:nvPr/>
        </p:nvGrpSpPr>
        <p:grpSpPr bwMode="auto">
          <a:xfrm>
            <a:off x="9021764" y="1331913"/>
            <a:ext cx="1717675" cy="768350"/>
            <a:chOff x="3860" y="714"/>
            <a:chExt cx="1082" cy="484"/>
          </a:xfrm>
        </p:grpSpPr>
        <p:sp>
          <p:nvSpPr>
            <p:cNvPr id="160804" name="AutoShape 14"/>
            <p:cNvSpPr>
              <a:spLocks noChangeArrowheads="1"/>
            </p:cNvSpPr>
            <p:nvPr/>
          </p:nvSpPr>
          <p:spPr bwMode="auto">
            <a:xfrm>
              <a:off x="3860" y="714"/>
              <a:ext cx="1027" cy="484"/>
            </a:xfrm>
            <a:prstGeom prst="flowChartProcess">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805" name="Text Box 15"/>
            <p:cNvSpPr txBox="1">
              <a:spLocks noChangeArrowheads="1"/>
            </p:cNvSpPr>
            <p:nvPr/>
          </p:nvSpPr>
          <p:spPr bwMode="auto">
            <a:xfrm>
              <a:off x="3861" y="719"/>
              <a:ext cx="1081"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当前最短路径设为空，当前最短距离设为最大值</a:t>
              </a:r>
              <a:endParaRPr lang="en-US" altLang="zh-CN" sz="1400" b="0">
                <a:solidFill>
                  <a:schemeClr val="accent2"/>
                </a:solidFill>
              </a:endParaRPr>
            </a:p>
          </p:txBody>
        </p:sp>
      </p:grpSp>
      <p:sp>
        <p:nvSpPr>
          <p:cNvPr id="160775" name="Text Box 16"/>
          <p:cNvSpPr txBox="1">
            <a:spLocks noChangeArrowheads="1"/>
          </p:cNvSpPr>
          <p:nvPr/>
        </p:nvSpPr>
        <p:spPr bwMode="auto">
          <a:xfrm>
            <a:off x="9596438" y="66675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开始</a:t>
            </a:r>
          </a:p>
        </p:txBody>
      </p:sp>
      <p:grpSp>
        <p:nvGrpSpPr>
          <p:cNvPr id="160776" name="Group 17"/>
          <p:cNvGrpSpPr/>
          <p:nvPr/>
        </p:nvGrpSpPr>
        <p:grpSpPr bwMode="auto">
          <a:xfrm>
            <a:off x="9156701" y="5354639"/>
            <a:ext cx="1419225" cy="746125"/>
            <a:chOff x="3986" y="1976"/>
            <a:chExt cx="894" cy="470"/>
          </a:xfrm>
        </p:grpSpPr>
        <p:sp>
          <p:nvSpPr>
            <p:cNvPr id="160802" name="AutoShape 18"/>
            <p:cNvSpPr>
              <a:spLocks noChangeArrowheads="1"/>
            </p:cNvSpPr>
            <p:nvPr/>
          </p:nvSpPr>
          <p:spPr bwMode="auto">
            <a:xfrm>
              <a:off x="3986" y="1976"/>
              <a:ext cx="894" cy="470"/>
            </a:xfrm>
            <a:prstGeom prst="flowChartDecision">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803" name="Text Box 19"/>
            <p:cNvSpPr txBox="1">
              <a:spLocks noChangeArrowheads="1"/>
            </p:cNvSpPr>
            <p:nvPr/>
          </p:nvSpPr>
          <p:spPr bwMode="auto">
            <a:xfrm>
              <a:off x="4094" y="2037"/>
              <a:ext cx="68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zh-CN" altLang="en-US" sz="1400" b="0">
                  <a:solidFill>
                    <a:schemeClr val="accent2"/>
                  </a:solidFill>
                </a:rPr>
                <a:t>所有路径组</a:t>
              </a:r>
            </a:p>
            <a:p>
              <a:pPr algn="ctr" eaLnBrk="1" hangingPunct="1"/>
              <a:r>
                <a:rPr lang="zh-CN" altLang="en-US" sz="1400" b="0">
                  <a:solidFill>
                    <a:schemeClr val="accent2"/>
                  </a:solidFill>
                </a:rPr>
                <a:t>合完毕否？</a:t>
              </a:r>
            </a:p>
          </p:txBody>
        </p:sp>
      </p:grpSp>
      <p:sp>
        <p:nvSpPr>
          <p:cNvPr id="160777" name="Text Box 20"/>
          <p:cNvSpPr txBox="1">
            <a:spLocks noChangeArrowheads="1"/>
          </p:cNvSpPr>
          <p:nvPr/>
        </p:nvSpPr>
        <p:spPr bwMode="auto">
          <a:xfrm>
            <a:off x="7739063" y="6399213"/>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结束</a:t>
            </a:r>
          </a:p>
        </p:txBody>
      </p:sp>
      <p:sp>
        <p:nvSpPr>
          <p:cNvPr id="160778" name="Text Box 21"/>
          <p:cNvSpPr txBox="1">
            <a:spLocks noChangeArrowheads="1"/>
          </p:cNvSpPr>
          <p:nvPr/>
        </p:nvSpPr>
        <p:spPr bwMode="auto">
          <a:xfrm>
            <a:off x="10547350" y="540385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否</a:t>
            </a:r>
          </a:p>
        </p:txBody>
      </p:sp>
      <p:sp>
        <p:nvSpPr>
          <p:cNvPr id="160779" name="Line 22"/>
          <p:cNvSpPr>
            <a:spLocks noChangeShapeType="1"/>
          </p:cNvSpPr>
          <p:nvPr/>
        </p:nvSpPr>
        <p:spPr bwMode="auto">
          <a:xfrm>
            <a:off x="9866313" y="1027113"/>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0" name="Line 23"/>
          <p:cNvSpPr>
            <a:spLocks noChangeShapeType="1"/>
          </p:cNvSpPr>
          <p:nvPr/>
        </p:nvSpPr>
        <p:spPr bwMode="auto">
          <a:xfrm>
            <a:off x="9866313" y="5065713"/>
            <a:ext cx="0" cy="315912"/>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1" name="Text Box 24"/>
          <p:cNvSpPr txBox="1">
            <a:spLocks noChangeArrowheads="1"/>
          </p:cNvSpPr>
          <p:nvPr/>
        </p:nvSpPr>
        <p:spPr bwMode="auto">
          <a:xfrm>
            <a:off x="8853488" y="5383213"/>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是</a:t>
            </a:r>
          </a:p>
        </p:txBody>
      </p:sp>
      <p:sp>
        <p:nvSpPr>
          <p:cNvPr id="160782" name="Line 25"/>
          <p:cNvSpPr>
            <a:spLocks noChangeShapeType="1"/>
          </p:cNvSpPr>
          <p:nvPr/>
        </p:nvSpPr>
        <p:spPr bwMode="auto">
          <a:xfrm>
            <a:off x="8008938" y="6007100"/>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0783" name="Group 26"/>
          <p:cNvGrpSpPr/>
          <p:nvPr/>
        </p:nvGrpSpPr>
        <p:grpSpPr bwMode="auto">
          <a:xfrm>
            <a:off x="9020176" y="2411413"/>
            <a:ext cx="1649413" cy="614362"/>
            <a:chOff x="3904" y="1385"/>
            <a:chExt cx="1039" cy="387"/>
          </a:xfrm>
        </p:grpSpPr>
        <p:sp>
          <p:nvSpPr>
            <p:cNvPr id="160800" name="AutoShape 27"/>
            <p:cNvSpPr>
              <a:spLocks noChangeArrowheads="1"/>
            </p:cNvSpPr>
            <p:nvPr/>
          </p:nvSpPr>
          <p:spPr bwMode="auto">
            <a:xfrm>
              <a:off x="3904" y="1385"/>
              <a:ext cx="1028" cy="387"/>
            </a:xfrm>
            <a:prstGeom prst="flowChartProcess">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801" name="Text Box 28"/>
            <p:cNvSpPr txBox="1">
              <a:spLocks noChangeArrowheads="1"/>
            </p:cNvSpPr>
            <p:nvPr/>
          </p:nvSpPr>
          <p:spPr bwMode="auto">
            <a:xfrm>
              <a:off x="3911" y="1406"/>
              <a:ext cx="103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组合一条新路径并计算该路径的距离</a:t>
              </a:r>
              <a:endParaRPr lang="en-US" altLang="zh-CN" sz="1400" b="0">
                <a:solidFill>
                  <a:schemeClr val="accent2"/>
                </a:solidFill>
              </a:endParaRPr>
            </a:p>
          </p:txBody>
        </p:sp>
      </p:grpSp>
      <p:grpSp>
        <p:nvGrpSpPr>
          <p:cNvPr id="160784" name="Group 29"/>
          <p:cNvGrpSpPr/>
          <p:nvPr/>
        </p:nvGrpSpPr>
        <p:grpSpPr bwMode="auto">
          <a:xfrm>
            <a:off x="9163051" y="3276601"/>
            <a:ext cx="1419225" cy="746125"/>
            <a:chOff x="3986" y="1976"/>
            <a:chExt cx="894" cy="470"/>
          </a:xfrm>
        </p:grpSpPr>
        <p:sp>
          <p:nvSpPr>
            <p:cNvPr id="160798" name="AutoShape 30"/>
            <p:cNvSpPr>
              <a:spLocks noChangeArrowheads="1"/>
            </p:cNvSpPr>
            <p:nvPr/>
          </p:nvSpPr>
          <p:spPr bwMode="auto">
            <a:xfrm>
              <a:off x="3986" y="1976"/>
              <a:ext cx="894" cy="470"/>
            </a:xfrm>
            <a:prstGeom prst="flowChartDecision">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799" name="Text Box 31"/>
            <p:cNvSpPr txBox="1">
              <a:spLocks noChangeArrowheads="1"/>
            </p:cNvSpPr>
            <p:nvPr/>
          </p:nvSpPr>
          <p:spPr bwMode="auto">
            <a:xfrm>
              <a:off x="4038" y="2037"/>
              <a:ext cx="79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ctr" eaLnBrk="1" hangingPunct="1"/>
              <a:r>
                <a:rPr lang="zh-CN" altLang="en-US" sz="1400" b="0">
                  <a:solidFill>
                    <a:schemeClr val="accent2"/>
                  </a:solidFill>
                </a:rPr>
                <a:t>比当前最</a:t>
              </a:r>
            </a:p>
            <a:p>
              <a:pPr algn="ctr" eaLnBrk="1" hangingPunct="1"/>
              <a:r>
                <a:rPr lang="zh-CN" altLang="en-US" sz="1400" b="0">
                  <a:solidFill>
                    <a:schemeClr val="accent2"/>
                  </a:solidFill>
                </a:rPr>
                <a:t>短距离小吗？</a:t>
              </a:r>
            </a:p>
          </p:txBody>
        </p:sp>
      </p:grpSp>
      <p:sp>
        <p:nvSpPr>
          <p:cNvPr id="160785" name="AutoShape 32"/>
          <p:cNvSpPr>
            <a:spLocks noChangeArrowheads="1"/>
          </p:cNvSpPr>
          <p:nvPr/>
        </p:nvSpPr>
        <p:spPr bwMode="auto">
          <a:xfrm>
            <a:off x="8942388" y="4289426"/>
            <a:ext cx="1827212" cy="784225"/>
          </a:xfrm>
          <a:prstGeom prst="flowChartProcess">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786" name="Text Box 33"/>
          <p:cNvSpPr txBox="1">
            <a:spLocks noChangeArrowheads="1"/>
          </p:cNvSpPr>
          <p:nvPr/>
        </p:nvSpPr>
        <p:spPr bwMode="auto">
          <a:xfrm>
            <a:off x="8878888" y="4322763"/>
            <a:ext cx="200501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将该路径记录为当前最短路径，并用其距离值更新当前最短距离</a:t>
            </a:r>
            <a:endParaRPr lang="en-US" altLang="zh-CN" sz="1400" b="0">
              <a:solidFill>
                <a:schemeClr val="accent2"/>
              </a:solidFill>
            </a:endParaRPr>
          </a:p>
        </p:txBody>
      </p:sp>
      <p:grpSp>
        <p:nvGrpSpPr>
          <p:cNvPr id="160787" name="Group 34"/>
          <p:cNvGrpSpPr/>
          <p:nvPr/>
        </p:nvGrpSpPr>
        <p:grpSpPr bwMode="auto">
          <a:xfrm>
            <a:off x="7253289" y="5459414"/>
            <a:ext cx="1639887" cy="587375"/>
            <a:chOff x="2329" y="3580"/>
            <a:chExt cx="1033" cy="370"/>
          </a:xfrm>
        </p:grpSpPr>
        <p:sp>
          <p:nvSpPr>
            <p:cNvPr id="160796" name="AutoShape 35"/>
            <p:cNvSpPr>
              <a:spLocks noChangeArrowheads="1"/>
            </p:cNvSpPr>
            <p:nvPr/>
          </p:nvSpPr>
          <p:spPr bwMode="auto">
            <a:xfrm>
              <a:off x="2342" y="3580"/>
              <a:ext cx="965" cy="370"/>
            </a:xfrm>
            <a:prstGeom prst="flowChartProcess">
              <a:avLst/>
            </a:prstGeom>
            <a:solidFill>
              <a:srgbClr val="FFFFFF"/>
            </a:solidFill>
            <a:ln w="9525">
              <a:solidFill>
                <a:srgbClr val="000000"/>
              </a:solidFill>
              <a:miter lim="800000"/>
            </a:ln>
          </p:spPr>
          <p:txBody>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endParaRPr lang="zh-CN" altLang="en-US"/>
            </a:p>
          </p:txBody>
        </p:sp>
        <p:sp>
          <p:nvSpPr>
            <p:cNvPr id="160797" name="Text Box 36"/>
            <p:cNvSpPr txBox="1">
              <a:spLocks noChangeArrowheads="1"/>
            </p:cNvSpPr>
            <p:nvPr/>
          </p:nvSpPr>
          <p:spPr bwMode="auto">
            <a:xfrm>
              <a:off x="2329" y="3601"/>
              <a:ext cx="103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输出当前最短路径及当前最短距离</a:t>
              </a:r>
              <a:endParaRPr lang="en-US" altLang="zh-CN" sz="1400" b="0">
                <a:solidFill>
                  <a:schemeClr val="accent2"/>
                </a:solidFill>
              </a:endParaRPr>
            </a:p>
          </p:txBody>
        </p:sp>
      </p:grpSp>
      <p:sp>
        <p:nvSpPr>
          <p:cNvPr id="160788" name="Line 37"/>
          <p:cNvSpPr>
            <a:spLocks noChangeShapeType="1"/>
          </p:cNvSpPr>
          <p:nvPr/>
        </p:nvSpPr>
        <p:spPr bwMode="auto">
          <a:xfrm>
            <a:off x="9882188" y="2114550"/>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9" name="Line 38"/>
          <p:cNvSpPr>
            <a:spLocks noChangeShapeType="1"/>
          </p:cNvSpPr>
          <p:nvPr/>
        </p:nvSpPr>
        <p:spPr bwMode="auto">
          <a:xfrm>
            <a:off x="9883775" y="3001963"/>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90" name="Line 39"/>
          <p:cNvSpPr>
            <a:spLocks noChangeShapeType="1"/>
          </p:cNvSpPr>
          <p:nvPr/>
        </p:nvSpPr>
        <p:spPr bwMode="auto">
          <a:xfrm>
            <a:off x="9871075" y="4003675"/>
            <a:ext cx="0" cy="3175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91" name="Text Box 40"/>
          <p:cNvSpPr txBox="1">
            <a:spLocks noChangeArrowheads="1"/>
          </p:cNvSpPr>
          <p:nvPr/>
        </p:nvSpPr>
        <p:spPr bwMode="auto">
          <a:xfrm>
            <a:off x="9883775" y="3957638"/>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是</a:t>
            </a:r>
          </a:p>
        </p:txBody>
      </p:sp>
      <p:sp>
        <p:nvSpPr>
          <p:cNvPr id="160792" name="Freeform 41"/>
          <p:cNvSpPr/>
          <p:nvPr/>
        </p:nvSpPr>
        <p:spPr bwMode="auto">
          <a:xfrm>
            <a:off x="8716964" y="3659188"/>
            <a:ext cx="1125537" cy="1547812"/>
          </a:xfrm>
          <a:custGeom>
            <a:avLst/>
            <a:gdLst>
              <a:gd name="T0" fmla="*/ 2147483646 w 709"/>
              <a:gd name="T1" fmla="*/ 0 h 984"/>
              <a:gd name="T2" fmla="*/ 0 w 709"/>
              <a:gd name="T3" fmla="*/ 0 h 984"/>
              <a:gd name="T4" fmla="*/ 0 w 709"/>
              <a:gd name="T5" fmla="*/ 2147483646 h 984"/>
              <a:gd name="T6" fmla="*/ 2147483646 w 709"/>
              <a:gd name="T7" fmla="*/ 2147483646 h 9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9" h="984">
                <a:moveTo>
                  <a:pt x="284" y="0"/>
                </a:moveTo>
                <a:lnTo>
                  <a:pt x="0" y="0"/>
                </a:lnTo>
                <a:lnTo>
                  <a:pt x="0" y="984"/>
                </a:lnTo>
                <a:lnTo>
                  <a:pt x="709" y="984"/>
                </a:lnTo>
              </a:path>
            </a:pathLst>
          </a:custGeom>
          <a:noFill/>
          <a:ln w="38100" cmpd="sng">
            <a:solidFill>
              <a:srgbClr val="FF006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793" name="Text Box 42"/>
          <p:cNvSpPr txBox="1">
            <a:spLocks noChangeArrowheads="1"/>
          </p:cNvSpPr>
          <p:nvPr/>
        </p:nvSpPr>
        <p:spPr bwMode="auto">
          <a:xfrm>
            <a:off x="8794750" y="367665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zh-CN" altLang="en-US" sz="1400" b="0">
                <a:solidFill>
                  <a:schemeClr val="accent2"/>
                </a:solidFill>
              </a:rPr>
              <a:t>否</a:t>
            </a:r>
          </a:p>
        </p:txBody>
      </p:sp>
      <p:sp>
        <p:nvSpPr>
          <p:cNvPr id="160794" name="Freeform 43"/>
          <p:cNvSpPr/>
          <p:nvPr/>
        </p:nvSpPr>
        <p:spPr bwMode="auto">
          <a:xfrm>
            <a:off x="9883775" y="2238375"/>
            <a:ext cx="1041400" cy="3475038"/>
          </a:xfrm>
          <a:custGeom>
            <a:avLst/>
            <a:gdLst>
              <a:gd name="T0" fmla="*/ 2147483646 w 656"/>
              <a:gd name="T1" fmla="*/ 2147483646 h 2189"/>
              <a:gd name="T2" fmla="*/ 2147483646 w 656"/>
              <a:gd name="T3" fmla="*/ 2147483646 h 2189"/>
              <a:gd name="T4" fmla="*/ 2147483646 w 656"/>
              <a:gd name="T5" fmla="*/ 0 h 2189"/>
              <a:gd name="T6" fmla="*/ 0 w 656"/>
              <a:gd name="T7" fmla="*/ 0 h 21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6" h="2189">
                <a:moveTo>
                  <a:pt x="426" y="2189"/>
                </a:moveTo>
                <a:lnTo>
                  <a:pt x="656" y="2189"/>
                </a:lnTo>
                <a:lnTo>
                  <a:pt x="656" y="0"/>
                </a:lnTo>
                <a:lnTo>
                  <a:pt x="0" y="0"/>
                </a:lnTo>
              </a:path>
            </a:pathLst>
          </a:custGeom>
          <a:noFill/>
          <a:ln w="38100" cmpd="sng">
            <a:solidFill>
              <a:srgbClr val="FF0066"/>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795" name="Line 44"/>
          <p:cNvSpPr>
            <a:spLocks noChangeShapeType="1"/>
          </p:cNvSpPr>
          <p:nvPr/>
        </p:nvSpPr>
        <p:spPr bwMode="auto">
          <a:xfrm flipH="1">
            <a:off x="8829675" y="5713413"/>
            <a:ext cx="323850" cy="0"/>
          </a:xfrm>
          <a:prstGeom prst="line">
            <a:avLst/>
          </a:prstGeom>
          <a:noFill/>
          <a:ln w="38100">
            <a:solidFill>
              <a:srgbClr val="FF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问题：算法的复杂性分析</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8619" name="Group 27"/>
          <p:cNvGraphicFramePr>
            <a:graphicFrameLocks noGrp="1"/>
          </p:cNvGraphicFramePr>
          <p:nvPr/>
        </p:nvGraphicFramePr>
        <p:xfrm>
          <a:off x="4030492" y="3009274"/>
          <a:ext cx="3938588" cy="2279650"/>
        </p:xfrm>
        <a:graphic>
          <a:graphicData uri="http://schemas.openxmlformats.org/drawingml/2006/table">
            <a:tbl>
              <a:tblPr/>
              <a:tblGrid>
                <a:gridCol w="1374775">
                  <a:extLst>
                    <a:ext uri="{9D8B030D-6E8A-4147-A177-3AD203B41FA5}">
                      <a16:colId xmlns:a16="http://schemas.microsoft.com/office/drawing/2014/main" val="20000"/>
                    </a:ext>
                  </a:extLst>
                </a:gridCol>
                <a:gridCol w="2563813">
                  <a:extLst>
                    <a:ext uri="{9D8B030D-6E8A-4147-A177-3AD203B41FA5}">
                      <a16:colId xmlns:a16="http://schemas.microsoft.com/office/drawing/2014/main" val="20001"/>
                    </a:ext>
                  </a:extLst>
                </a:gridCol>
              </a:tblGrid>
              <a:tr h="579201">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eaLnBrk="0" hangingPunct="0">
                        <a:spcBef>
                          <a:spcPct val="20000"/>
                        </a:spcBef>
                        <a:defRPr kumimoji="1" sz="2400">
                          <a:solidFill>
                            <a:schemeClr val="tx1"/>
                          </a:solidFill>
                          <a:latin typeface="Times New Roman" panose="02020503050405090304" pitchFamily="18" charset="0"/>
                          <a:ea typeface="宋体" pitchFamily="2" charset="-122"/>
                        </a:defRPr>
                      </a:lvl2pPr>
                      <a:lvl3pPr eaLnBrk="0" hangingPunct="0">
                        <a:spcBef>
                          <a:spcPct val="20000"/>
                        </a:spcBef>
                        <a:defRPr kumimoji="1" sz="2000">
                          <a:solidFill>
                            <a:schemeClr val="tx1"/>
                          </a:solidFill>
                          <a:latin typeface="Times New Roman" panose="02020503050405090304" pitchFamily="18" charset="0"/>
                          <a:ea typeface="宋体" pitchFamily="2" charset="-122"/>
                        </a:defRPr>
                      </a:lvl3pPr>
                      <a:lvl4pPr eaLnBrk="0" hangingPunct="0">
                        <a:spcBef>
                          <a:spcPct val="20000"/>
                        </a:spcBef>
                        <a:defRPr kumimoji="1">
                          <a:solidFill>
                            <a:schemeClr val="tx1"/>
                          </a:solidFill>
                          <a:latin typeface="Times New Roman" panose="02020503050405090304" pitchFamily="18" charset="0"/>
                          <a:ea typeface="宋体" pitchFamily="2" charset="-122"/>
                        </a:defRPr>
                      </a:lvl4pPr>
                      <a:lvl5pPr eaLnBrk="0" hangingPunct="0">
                        <a:spcBef>
                          <a:spcPct val="20000"/>
                        </a:spcBef>
                        <a:defRPr kumimoji="1">
                          <a:solidFill>
                            <a:schemeClr val="tx1"/>
                          </a:solidFill>
                          <a:latin typeface="Times New Roman" panose="02020503050405090304" pitchFamily="18" charset="0"/>
                          <a:ea typeface="宋体" pitchFamily="2" charset="-122"/>
                        </a:defRPr>
                      </a:lvl5pPr>
                      <a:lvl6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bg1"/>
                          </a:solidFill>
                          <a:effectLst/>
                          <a:latin typeface="Times New Roman" panose="02020503050405090304" pitchFamily="18" charset="0"/>
                          <a:ea typeface="宋体" pitchFamily="2" charset="-122"/>
                        </a:rPr>
                        <a:t>O(n</a:t>
                      </a:r>
                      <a:r>
                        <a:rPr kumimoji="1" lang="en-US" altLang="zh-CN" sz="3200" b="1" i="0" u="none" strike="noStrike" cap="none" normalizeH="0" baseline="30000">
                          <a:ln>
                            <a:noFill/>
                          </a:ln>
                          <a:solidFill>
                            <a:schemeClr val="bg1"/>
                          </a:solidFill>
                          <a:effectLst/>
                          <a:latin typeface="Times New Roman" panose="02020503050405090304" pitchFamily="18" charset="0"/>
                          <a:ea typeface="宋体" pitchFamily="2" charset="-122"/>
                        </a:rPr>
                        <a:t>3</a:t>
                      </a:r>
                      <a:r>
                        <a:rPr kumimoji="1" lang="en-US" altLang="zh-CN" sz="3200" b="1" i="0" u="none" strike="noStrike" cap="none" normalizeH="0" baseline="0">
                          <a:ln>
                            <a:noFill/>
                          </a:ln>
                          <a:solidFill>
                            <a:schemeClr val="bg1"/>
                          </a:solidFill>
                          <a:effectLst/>
                          <a:latin typeface="Times New Roman" panose="02020503050405090304" pitchFamily="18" charset="0"/>
                          <a:ea typeface="宋体" pitchFamily="2" charset="-122"/>
                        </a:rPr>
                        <a:t>)</a:t>
                      </a:r>
                    </a:p>
                  </a:txBody>
                  <a:tcPr marT="45726" marB="45726" horzOverflow="overflow">
                    <a:lnL w="28575" cap="flat" cmpd="sng" algn="ctr">
                      <a:solidFill>
                        <a:schemeClr val="tx1"/>
                      </a:solidFill>
                      <a:prstDash val="solid"/>
                      <a:round/>
                      <a:headEnd type="none" w="med" len="med"/>
                      <a:tailEnd type="none" w="med" len="med"/>
                    </a:lnL>
                    <a:lnR w="57150" cap="flat" cmpd="sng" algn="ctr">
                      <a:solidFill>
                        <a:srgbClr val="FF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eaLnBrk="0" hangingPunct="0">
                        <a:spcBef>
                          <a:spcPct val="20000"/>
                        </a:spcBef>
                        <a:defRPr kumimoji="1" sz="2400">
                          <a:solidFill>
                            <a:schemeClr val="tx1"/>
                          </a:solidFill>
                          <a:latin typeface="Times New Roman" panose="02020503050405090304" pitchFamily="18" charset="0"/>
                          <a:ea typeface="宋体" pitchFamily="2" charset="-122"/>
                        </a:defRPr>
                      </a:lvl2pPr>
                      <a:lvl3pPr eaLnBrk="0" hangingPunct="0">
                        <a:spcBef>
                          <a:spcPct val="20000"/>
                        </a:spcBef>
                        <a:defRPr kumimoji="1" sz="2000">
                          <a:solidFill>
                            <a:schemeClr val="tx1"/>
                          </a:solidFill>
                          <a:latin typeface="Times New Roman" panose="02020503050405090304" pitchFamily="18" charset="0"/>
                          <a:ea typeface="宋体" pitchFamily="2" charset="-122"/>
                        </a:defRPr>
                      </a:lvl3pPr>
                      <a:lvl4pPr eaLnBrk="0" hangingPunct="0">
                        <a:spcBef>
                          <a:spcPct val="20000"/>
                        </a:spcBef>
                        <a:defRPr kumimoji="1">
                          <a:solidFill>
                            <a:schemeClr val="tx1"/>
                          </a:solidFill>
                          <a:latin typeface="Times New Roman" panose="02020503050405090304" pitchFamily="18" charset="0"/>
                          <a:ea typeface="宋体" pitchFamily="2" charset="-122"/>
                        </a:defRPr>
                      </a:lvl4pPr>
                      <a:lvl5pPr eaLnBrk="0" hangingPunct="0">
                        <a:spcBef>
                          <a:spcPct val="20000"/>
                        </a:spcBef>
                        <a:defRPr kumimoji="1">
                          <a:solidFill>
                            <a:schemeClr val="tx1"/>
                          </a:solidFill>
                          <a:latin typeface="Times New Roman" panose="02020503050405090304" pitchFamily="18" charset="0"/>
                          <a:ea typeface="宋体" pitchFamily="2" charset="-122"/>
                        </a:defRPr>
                      </a:lvl5pPr>
                      <a:lvl6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bg1"/>
                          </a:solidFill>
                          <a:effectLst/>
                          <a:latin typeface="Times New Roman" panose="02020503050405090304" pitchFamily="18" charset="0"/>
                          <a:ea typeface="宋体" pitchFamily="2" charset="-122"/>
                        </a:rPr>
                        <a:t>O(3</a:t>
                      </a:r>
                      <a:r>
                        <a:rPr kumimoji="1" lang="en-US" altLang="zh-CN" sz="3200" b="1" i="0" u="none" strike="noStrike" cap="none" normalizeH="0" baseline="30000">
                          <a:ln>
                            <a:noFill/>
                          </a:ln>
                          <a:solidFill>
                            <a:schemeClr val="bg1"/>
                          </a:solidFill>
                          <a:effectLst/>
                          <a:latin typeface="Times New Roman" panose="02020503050405090304" pitchFamily="18" charset="0"/>
                          <a:ea typeface="宋体" pitchFamily="2" charset="-122"/>
                        </a:rPr>
                        <a:t>n</a:t>
                      </a:r>
                      <a:r>
                        <a:rPr kumimoji="1" lang="en-US" altLang="zh-CN" sz="3200" b="1" i="0" u="none" strike="noStrike" cap="none" normalizeH="0" baseline="0">
                          <a:ln>
                            <a:noFill/>
                          </a:ln>
                          <a:solidFill>
                            <a:schemeClr val="bg1"/>
                          </a:solidFill>
                          <a:effectLst/>
                          <a:latin typeface="Times New Roman" panose="02020503050405090304" pitchFamily="18" charset="0"/>
                          <a:ea typeface="宋体" pitchFamily="2" charset="-122"/>
                        </a:rPr>
                        <a:t>)</a:t>
                      </a:r>
                    </a:p>
                  </a:txBody>
                  <a:tcPr marT="45726" marB="45726" horzOverflow="overflow">
                    <a:lnL w="57150" cap="flat" cmpd="sng" algn="ctr">
                      <a:solidFill>
                        <a:srgbClr val="FF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066948">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eaLnBrk="0" hangingPunct="0">
                        <a:spcBef>
                          <a:spcPct val="20000"/>
                        </a:spcBef>
                        <a:defRPr kumimoji="1" sz="2400">
                          <a:solidFill>
                            <a:schemeClr val="tx1"/>
                          </a:solidFill>
                          <a:latin typeface="Times New Roman" panose="02020503050405090304" pitchFamily="18" charset="0"/>
                          <a:ea typeface="宋体" pitchFamily="2" charset="-122"/>
                        </a:defRPr>
                      </a:lvl2pPr>
                      <a:lvl3pPr eaLnBrk="0" hangingPunct="0">
                        <a:spcBef>
                          <a:spcPct val="20000"/>
                        </a:spcBef>
                        <a:defRPr kumimoji="1" sz="2000">
                          <a:solidFill>
                            <a:schemeClr val="tx1"/>
                          </a:solidFill>
                          <a:latin typeface="Times New Roman" panose="02020503050405090304" pitchFamily="18" charset="0"/>
                          <a:ea typeface="宋体" pitchFamily="2" charset="-122"/>
                        </a:defRPr>
                      </a:lvl3pPr>
                      <a:lvl4pPr eaLnBrk="0" hangingPunct="0">
                        <a:spcBef>
                          <a:spcPct val="20000"/>
                        </a:spcBef>
                        <a:defRPr kumimoji="1">
                          <a:solidFill>
                            <a:schemeClr val="tx1"/>
                          </a:solidFill>
                          <a:latin typeface="Times New Roman" panose="02020503050405090304" pitchFamily="18" charset="0"/>
                          <a:ea typeface="宋体" pitchFamily="2" charset="-122"/>
                        </a:defRPr>
                      </a:lvl4pPr>
                      <a:lvl5pPr eaLnBrk="0" hangingPunct="0">
                        <a:spcBef>
                          <a:spcPct val="20000"/>
                        </a:spcBef>
                        <a:defRPr kumimoji="1">
                          <a:solidFill>
                            <a:schemeClr val="tx1"/>
                          </a:solidFill>
                          <a:latin typeface="Times New Roman" panose="02020503050405090304" pitchFamily="18" charset="0"/>
                          <a:ea typeface="宋体" pitchFamily="2" charset="-122"/>
                        </a:defRPr>
                      </a:lvl5pPr>
                      <a:lvl6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Times New Roman" panose="02020503050405090304" pitchFamily="18" charset="0"/>
                          <a:ea typeface="宋体" pitchFamily="2" charset="-122"/>
                        </a:rPr>
                        <a:t>0.2</a:t>
                      </a:r>
                      <a:r>
                        <a:rPr kumimoji="1" lang="zh-CN" altLang="en-US" sz="3200" b="1" i="0" u="none" strike="noStrike" cap="none" normalizeH="0" baseline="0">
                          <a:ln>
                            <a:noFill/>
                          </a:ln>
                          <a:solidFill>
                            <a:schemeClr val="tx1"/>
                          </a:solidFill>
                          <a:effectLst/>
                          <a:latin typeface="Times New Roman" panose="02020503050405090304" pitchFamily="18" charset="0"/>
                          <a:ea typeface="宋体" pitchFamily="2" charset="-122"/>
                        </a:rPr>
                        <a:t>秒</a:t>
                      </a:r>
                    </a:p>
                  </a:txBody>
                  <a:tcPr marT="45726" marB="45726" horzOverflow="overflow">
                    <a:lnL w="28575" cap="flat" cmpd="sng" algn="ctr">
                      <a:solidFill>
                        <a:schemeClr val="tx1"/>
                      </a:solidFill>
                      <a:prstDash val="solid"/>
                      <a:round/>
                      <a:headEnd type="none" w="med" len="med"/>
                      <a:tailEnd type="none" w="med" len="med"/>
                    </a:lnL>
                    <a:lnR w="5715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eaLnBrk="0" hangingPunct="0">
                        <a:spcBef>
                          <a:spcPct val="20000"/>
                        </a:spcBef>
                        <a:defRPr kumimoji="1" sz="2400">
                          <a:solidFill>
                            <a:schemeClr val="tx1"/>
                          </a:solidFill>
                          <a:latin typeface="Times New Roman" panose="02020503050405090304" pitchFamily="18" charset="0"/>
                          <a:ea typeface="宋体" pitchFamily="2" charset="-122"/>
                        </a:defRPr>
                      </a:lvl2pPr>
                      <a:lvl3pPr eaLnBrk="0" hangingPunct="0">
                        <a:spcBef>
                          <a:spcPct val="20000"/>
                        </a:spcBef>
                        <a:defRPr kumimoji="1" sz="2000">
                          <a:solidFill>
                            <a:schemeClr val="tx1"/>
                          </a:solidFill>
                          <a:latin typeface="Times New Roman" panose="02020503050405090304" pitchFamily="18" charset="0"/>
                          <a:ea typeface="宋体" pitchFamily="2" charset="-122"/>
                        </a:defRPr>
                      </a:lvl3pPr>
                      <a:lvl4pPr eaLnBrk="0" hangingPunct="0">
                        <a:spcBef>
                          <a:spcPct val="20000"/>
                        </a:spcBef>
                        <a:defRPr kumimoji="1">
                          <a:solidFill>
                            <a:schemeClr val="tx1"/>
                          </a:solidFill>
                          <a:latin typeface="Times New Roman" panose="02020503050405090304" pitchFamily="18" charset="0"/>
                          <a:ea typeface="宋体" pitchFamily="2" charset="-122"/>
                        </a:defRPr>
                      </a:lvl4pPr>
                      <a:lvl5pPr eaLnBrk="0" hangingPunct="0">
                        <a:spcBef>
                          <a:spcPct val="20000"/>
                        </a:spcBef>
                        <a:defRPr kumimoji="1">
                          <a:solidFill>
                            <a:schemeClr val="tx1"/>
                          </a:solidFill>
                          <a:latin typeface="Times New Roman" panose="02020503050405090304" pitchFamily="18" charset="0"/>
                          <a:ea typeface="宋体" pitchFamily="2" charset="-122"/>
                        </a:defRPr>
                      </a:lvl5pPr>
                      <a:lvl6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latin typeface="Times New Roman" panose="02020503050405090304" pitchFamily="18" charset="0"/>
                          <a:ea typeface="宋体" pitchFamily="2" charset="-122"/>
                        </a:rPr>
                        <a:t>4</a:t>
                      </a:r>
                      <a:r>
                        <a:rPr kumimoji="1" lang="en-US" altLang="zh-CN" sz="3200" b="1" i="0" u="none" strike="noStrike" cap="none" normalizeH="0" baseline="0">
                          <a:ln>
                            <a:noFill/>
                          </a:ln>
                          <a:solidFill>
                            <a:schemeClr val="tx1"/>
                          </a:solidFill>
                          <a:effectLst/>
                          <a:latin typeface="Times New Roman" panose="02020503050405090304" pitchFamily="18" charset="0"/>
                          <a:ea typeface="宋体" pitchFamily="2" charset="-122"/>
                          <a:sym typeface="Symbol" panose="05050102010706020507" pitchFamily="18" charset="2"/>
                        </a:rPr>
                        <a:t></a:t>
                      </a:r>
                      <a:r>
                        <a:rPr kumimoji="1" lang="en-US" altLang="zh-CN" sz="3200" b="1" i="0" u="none" strike="noStrike" cap="none" normalizeH="0" baseline="0">
                          <a:ln>
                            <a:noFill/>
                          </a:ln>
                          <a:solidFill>
                            <a:schemeClr val="tx1"/>
                          </a:solidFill>
                          <a:effectLst/>
                          <a:latin typeface="Times New Roman" panose="02020503050405090304" pitchFamily="18" charset="0"/>
                          <a:ea typeface="宋体" pitchFamily="2" charset="-122"/>
                        </a:rPr>
                        <a:t>10</a:t>
                      </a:r>
                      <a:r>
                        <a:rPr kumimoji="1" lang="en-US" altLang="zh-CN" sz="3200" b="1" i="0" u="none" strike="noStrike" cap="none" normalizeH="0" baseline="30000">
                          <a:ln>
                            <a:noFill/>
                          </a:ln>
                          <a:solidFill>
                            <a:schemeClr val="tx1"/>
                          </a:solidFill>
                          <a:effectLst/>
                          <a:latin typeface="Times New Roman" panose="02020503050405090304" pitchFamily="18" charset="0"/>
                          <a:ea typeface="宋体" pitchFamily="2" charset="-122"/>
                        </a:rPr>
                        <a:t>28</a:t>
                      </a:r>
                      <a:r>
                        <a:rPr kumimoji="1" lang="zh-CN" altLang="en-US" sz="3200" b="1" i="0" u="none" strike="noStrike" cap="none" normalizeH="0" baseline="0">
                          <a:ln>
                            <a:noFill/>
                          </a:ln>
                          <a:solidFill>
                            <a:schemeClr val="tx1"/>
                          </a:solidFill>
                          <a:effectLst/>
                          <a:latin typeface="Times New Roman" panose="02020503050405090304" pitchFamily="18" charset="0"/>
                          <a:ea typeface="宋体" pitchFamily="2" charset="-122"/>
                        </a:rPr>
                        <a:t>秒</a:t>
                      </a:r>
                      <a:r>
                        <a:rPr kumimoji="1" lang="en-US" altLang="zh-CN" sz="3200" b="1" i="0" u="none" strike="noStrike" cap="none" normalizeH="0" baseline="0">
                          <a:ln>
                            <a:noFill/>
                          </a:ln>
                          <a:solidFill>
                            <a:schemeClr val="tx1"/>
                          </a:solidFill>
                          <a:effectLst/>
                          <a:latin typeface="Times New Roman" panose="02020503050405090304" pitchFamily="18" charset="0"/>
                          <a:ea typeface="宋体" pitchFamily="2" charset="-122"/>
                        </a:rPr>
                        <a:t>=1015</a:t>
                      </a:r>
                      <a:r>
                        <a:rPr kumimoji="1" lang="zh-CN" altLang="en-US" sz="3200" b="1" i="0" u="none" strike="noStrike" cap="none" normalizeH="0" baseline="0">
                          <a:ln>
                            <a:noFill/>
                          </a:ln>
                          <a:solidFill>
                            <a:schemeClr val="tx1"/>
                          </a:solidFill>
                          <a:effectLst/>
                          <a:latin typeface="Times New Roman" panose="02020503050405090304" pitchFamily="18" charset="0"/>
                          <a:ea typeface="宋体" pitchFamily="2" charset="-122"/>
                        </a:rPr>
                        <a:t>年</a:t>
                      </a:r>
                    </a:p>
                  </a:txBody>
                  <a:tcPr marT="45726" marB="45726" horzOverflow="overflow">
                    <a:lnL w="57150" cap="flat" cmpd="sng" algn="ctr">
                      <a:solidFill>
                        <a:srgbClr val="FF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3501">
                <a:tc gridSpan="2">
                  <a:txBody>
                    <a:bodyPr/>
                    <a:lstStyle>
                      <a:lvl1pPr eaLnBrk="0" hangingPunct="0">
                        <a:spcBef>
                          <a:spcPct val="20000"/>
                        </a:spcBef>
                        <a:defRPr kumimoji="1" sz="2800">
                          <a:solidFill>
                            <a:schemeClr val="tx1"/>
                          </a:solidFill>
                          <a:latin typeface="Times New Roman" panose="02020503050405090304" pitchFamily="18" charset="0"/>
                          <a:ea typeface="宋体" pitchFamily="2" charset="-122"/>
                        </a:defRPr>
                      </a:lvl1pPr>
                      <a:lvl2pPr eaLnBrk="0" hangingPunct="0">
                        <a:spcBef>
                          <a:spcPct val="20000"/>
                        </a:spcBef>
                        <a:defRPr kumimoji="1" sz="2400">
                          <a:solidFill>
                            <a:schemeClr val="tx1"/>
                          </a:solidFill>
                          <a:latin typeface="Times New Roman" panose="02020503050405090304" pitchFamily="18" charset="0"/>
                          <a:ea typeface="宋体" pitchFamily="2" charset="-122"/>
                        </a:defRPr>
                      </a:lvl2pPr>
                      <a:lvl3pPr eaLnBrk="0" hangingPunct="0">
                        <a:spcBef>
                          <a:spcPct val="20000"/>
                        </a:spcBef>
                        <a:defRPr kumimoji="1" sz="2000">
                          <a:solidFill>
                            <a:schemeClr val="tx1"/>
                          </a:solidFill>
                          <a:latin typeface="Times New Roman" panose="02020503050405090304" pitchFamily="18" charset="0"/>
                          <a:ea typeface="宋体" pitchFamily="2" charset="-122"/>
                        </a:defRPr>
                      </a:lvl3pPr>
                      <a:lvl4pPr eaLnBrk="0" hangingPunct="0">
                        <a:spcBef>
                          <a:spcPct val="20000"/>
                        </a:spcBef>
                        <a:defRPr kumimoji="1">
                          <a:solidFill>
                            <a:schemeClr val="tx1"/>
                          </a:solidFill>
                          <a:latin typeface="Times New Roman" panose="02020503050405090304" pitchFamily="18" charset="0"/>
                          <a:ea typeface="宋体" pitchFamily="2" charset="-122"/>
                        </a:defRPr>
                      </a:lvl4pPr>
                      <a:lvl5pPr eaLnBrk="0" hangingPunct="0">
                        <a:spcBef>
                          <a:spcPct val="20000"/>
                        </a:spcBef>
                        <a:defRPr kumimoji="1">
                          <a:solidFill>
                            <a:schemeClr val="tx1"/>
                          </a:solidFill>
                          <a:latin typeface="Times New Roman" panose="02020503050405090304" pitchFamily="18" charset="0"/>
                          <a:ea typeface="宋体" pitchFamily="2" charset="-122"/>
                        </a:defRPr>
                      </a:lvl5pPr>
                      <a:lvl6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1" lang="zh-CN" altLang="en-US" sz="1600" b="0" i="0" u="none" strike="noStrike" cap="none" normalizeH="0" baseline="0" dirty="0">
                          <a:ln>
                            <a:noFill/>
                          </a:ln>
                          <a:solidFill>
                            <a:schemeClr val="tx1"/>
                          </a:solidFill>
                          <a:effectLst/>
                          <a:latin typeface="Times New Roman" panose="02020503050405090304" pitchFamily="18" charset="0"/>
                          <a:ea typeface="宋体" pitchFamily="2" charset="-122"/>
                        </a:rPr>
                        <a:t>注：每秒百万次，</a:t>
                      </a:r>
                      <a:r>
                        <a:rPr kumimoji="1" lang="en-US" altLang="zh-CN" sz="1600" b="0" i="0" u="none" strike="noStrike" cap="none" normalizeH="0" baseline="0" dirty="0">
                          <a:ln>
                            <a:noFill/>
                          </a:ln>
                          <a:solidFill>
                            <a:schemeClr val="tx1"/>
                          </a:solidFill>
                          <a:effectLst/>
                          <a:latin typeface="Times New Roman" panose="02020503050405090304" pitchFamily="18" charset="0"/>
                          <a:ea typeface="宋体" pitchFamily="2" charset="-122"/>
                        </a:rPr>
                        <a:t>n=60</a:t>
                      </a:r>
                      <a:r>
                        <a:rPr kumimoji="1" lang="zh-CN" altLang="en-US" sz="1600" b="0" i="0" u="none" strike="noStrike" cap="none" normalizeH="0" baseline="0" dirty="0">
                          <a:ln>
                            <a:noFill/>
                          </a:ln>
                          <a:solidFill>
                            <a:schemeClr val="tx1"/>
                          </a:solidFill>
                          <a:effectLst/>
                          <a:latin typeface="Times New Roman" panose="02020503050405090304" pitchFamily="18" charset="0"/>
                          <a:ea typeface="宋体" pitchFamily="2" charset="-122"/>
                        </a:rPr>
                        <a:t>，</a:t>
                      </a:r>
                      <a:r>
                        <a:rPr kumimoji="1" lang="en-US" altLang="zh-CN" sz="1600" b="0" i="0" u="none" strike="noStrike" cap="none" normalizeH="0" baseline="0" dirty="0">
                          <a:ln>
                            <a:noFill/>
                          </a:ln>
                          <a:solidFill>
                            <a:schemeClr val="tx1"/>
                          </a:solidFill>
                          <a:effectLst/>
                          <a:latin typeface="Times New Roman" panose="02020503050405090304" pitchFamily="18" charset="0"/>
                          <a:ea typeface="宋体" pitchFamily="2" charset="-122"/>
                        </a:rPr>
                        <a:t>1015</a:t>
                      </a:r>
                      <a:r>
                        <a:rPr kumimoji="1" lang="zh-CN" altLang="en-US" sz="1600" b="0" i="0" u="none" strike="noStrike" cap="none" normalizeH="0" baseline="0" dirty="0">
                          <a:ln>
                            <a:noFill/>
                          </a:ln>
                          <a:solidFill>
                            <a:schemeClr val="tx1"/>
                          </a:solidFill>
                          <a:effectLst/>
                          <a:latin typeface="Times New Roman" panose="02020503050405090304" pitchFamily="18" charset="0"/>
                          <a:ea typeface="宋体" pitchFamily="2" charset="-122"/>
                        </a:rPr>
                        <a:t>年相当于</a:t>
                      </a:r>
                      <a:r>
                        <a:rPr kumimoji="1" lang="en-US" altLang="zh-CN" sz="1600" b="0" i="0" u="none" strike="noStrike" cap="none" normalizeH="0" baseline="0" dirty="0">
                          <a:ln>
                            <a:noFill/>
                          </a:ln>
                          <a:solidFill>
                            <a:schemeClr val="tx1"/>
                          </a:solidFill>
                          <a:effectLst/>
                          <a:latin typeface="Times New Roman" panose="02020503050405090304" pitchFamily="18" charset="0"/>
                          <a:ea typeface="宋体" pitchFamily="2" charset="-122"/>
                        </a:rPr>
                        <a:t>10</a:t>
                      </a:r>
                      <a:r>
                        <a:rPr kumimoji="1" lang="zh-CN" altLang="en-US" sz="1600" b="0" i="0" u="none" strike="noStrike" cap="none" normalizeH="0" baseline="0" dirty="0">
                          <a:ln>
                            <a:noFill/>
                          </a:ln>
                          <a:solidFill>
                            <a:schemeClr val="tx1"/>
                          </a:solidFill>
                          <a:effectLst/>
                          <a:latin typeface="Times New Roman" panose="02020503050405090304" pitchFamily="18" charset="0"/>
                          <a:ea typeface="宋体" pitchFamily="2" charset="-122"/>
                        </a:rPr>
                        <a:t>亿台计算机计算一百万年</a:t>
                      </a: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150568" name="Rectangle 40"/>
          <p:cNvSpPr>
            <a:spLocks noChangeArrowheads="1"/>
          </p:cNvSpPr>
          <p:nvPr/>
        </p:nvSpPr>
        <p:spPr bwMode="auto">
          <a:xfrm>
            <a:off x="2944643" y="2387478"/>
            <a:ext cx="611028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lnSpc>
                <a:spcPct val="130000"/>
              </a:lnSpc>
              <a:buClr>
                <a:schemeClr val="tx1"/>
              </a:buClr>
              <a:buFont typeface="Wingdings" panose="05000000000000000000" pitchFamily="2" charset="2"/>
              <a:buNone/>
            </a:pPr>
            <a:r>
              <a:rPr lang="en-US" altLang="zh-CN" sz="2400" dirty="0"/>
              <a:t>O(</a:t>
            </a:r>
            <a:r>
              <a:rPr lang="en-US" altLang="zh-CN" sz="2400" dirty="0" err="1"/>
              <a:t>n</a:t>
            </a:r>
            <a:r>
              <a:rPr lang="en-US" altLang="zh-CN" sz="2400" baseline="30000" dirty="0" err="1"/>
              <a:t>3</a:t>
            </a:r>
            <a:r>
              <a:rPr lang="en-US" altLang="zh-CN" sz="2400" dirty="0"/>
              <a:t>)</a:t>
            </a:r>
            <a:r>
              <a:rPr lang="zh-CN" altLang="en-US" sz="2400" dirty="0"/>
              <a:t>与</a:t>
            </a:r>
            <a:r>
              <a:rPr lang="en-US" altLang="zh-CN" sz="2400" dirty="0"/>
              <a:t>O(</a:t>
            </a:r>
            <a:r>
              <a:rPr lang="en-US" altLang="zh-CN" sz="2400" dirty="0" err="1"/>
              <a:t>3</a:t>
            </a:r>
            <a:r>
              <a:rPr lang="en-US" altLang="zh-CN" sz="2400" baseline="30000" dirty="0" err="1"/>
              <a:t>n</a:t>
            </a:r>
            <a:r>
              <a:rPr lang="en-US" altLang="zh-CN" sz="2400" dirty="0"/>
              <a:t>)</a:t>
            </a:r>
            <a:r>
              <a:rPr lang="zh-CN" altLang="en-US" sz="2400" dirty="0"/>
              <a:t>的差别，</a:t>
            </a:r>
            <a:r>
              <a:rPr lang="en-US" altLang="zh-CN" sz="2400" dirty="0"/>
              <a:t>O(n!)</a:t>
            </a:r>
            <a:r>
              <a:rPr lang="zh-CN" altLang="en-US" sz="2400" dirty="0"/>
              <a:t>与</a:t>
            </a:r>
            <a:r>
              <a:rPr lang="en-US" altLang="zh-CN" sz="2400" dirty="0"/>
              <a:t>O(</a:t>
            </a:r>
            <a:r>
              <a:rPr lang="en-US" altLang="zh-CN" sz="2400" dirty="0" err="1"/>
              <a:t>n</a:t>
            </a:r>
            <a:r>
              <a:rPr lang="en-US" altLang="zh-CN" sz="2400" baseline="30000" dirty="0" err="1"/>
              <a:t>3</a:t>
            </a:r>
            <a:r>
              <a:rPr lang="en-US" altLang="zh-CN" sz="2400" dirty="0"/>
              <a:t>)</a:t>
            </a:r>
            <a:r>
              <a:rPr lang="zh-CN" altLang="en-US" sz="2400" dirty="0"/>
              <a:t>的差别</a:t>
            </a:r>
          </a:p>
        </p:txBody>
      </p:sp>
      <p:sp>
        <p:nvSpPr>
          <p:cNvPr id="150569" name="Text Box 41"/>
          <p:cNvSpPr txBox="1">
            <a:spLocks noChangeArrowheads="1"/>
          </p:cNvSpPr>
          <p:nvPr/>
        </p:nvSpPr>
        <p:spPr bwMode="auto">
          <a:xfrm>
            <a:off x="7993064" y="6323013"/>
            <a:ext cx="1927225"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en-US" altLang="zh-CN" sz="2400">
                <a:solidFill>
                  <a:schemeClr val="bg1"/>
                </a:solidFill>
              </a:rPr>
              <a:t>O(b</a:t>
            </a:r>
            <a:r>
              <a:rPr lang="en-US" altLang="zh-CN" sz="2400" baseline="30000">
                <a:solidFill>
                  <a:schemeClr val="bg1"/>
                </a:solidFill>
              </a:rPr>
              <a:t>n</a:t>
            </a:r>
            <a:r>
              <a:rPr lang="en-US" altLang="zh-CN" sz="2400">
                <a:solidFill>
                  <a:schemeClr val="bg1"/>
                </a:solidFill>
              </a:rPr>
              <a:t>), O(n!)</a:t>
            </a:r>
          </a:p>
        </p:txBody>
      </p:sp>
      <p:sp>
        <p:nvSpPr>
          <p:cNvPr id="150570" name="Rectangle 42"/>
          <p:cNvSpPr>
            <a:spLocks noChangeArrowheads="1"/>
          </p:cNvSpPr>
          <p:nvPr/>
        </p:nvSpPr>
        <p:spPr bwMode="auto">
          <a:xfrm>
            <a:off x="2439988" y="6324600"/>
            <a:ext cx="5441950"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eaLnBrk="1" hangingPunct="1"/>
            <a:r>
              <a:rPr lang="en-US" altLang="zh-CN" sz="2400">
                <a:solidFill>
                  <a:schemeClr val="bg1"/>
                </a:solidFill>
              </a:rPr>
              <a:t>O(1), O(log n), O(n), O(n log n), O(n</a:t>
            </a:r>
            <a:r>
              <a:rPr lang="en-US" altLang="zh-CN" sz="2400" baseline="30000">
                <a:solidFill>
                  <a:schemeClr val="bg1"/>
                </a:solidFill>
              </a:rPr>
              <a:t>b</a:t>
            </a:r>
            <a:r>
              <a:rPr lang="en-US" altLang="zh-CN" sz="2400">
                <a:solidFill>
                  <a:schemeClr val="bg1"/>
                </a:solidFill>
              </a:rPr>
              <a:t>)</a:t>
            </a:r>
            <a:endParaRPr lang="zh-CN" altLang="en-US" sz="2400">
              <a:solidFill>
                <a:schemeClr val="bg1"/>
              </a:solidFill>
            </a:endParaRPr>
          </a:p>
        </p:txBody>
      </p:sp>
      <p:sp>
        <p:nvSpPr>
          <p:cNvPr id="9"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问题：算法复杂性与计算复杂性</a:t>
            </a:r>
          </a:p>
        </p:txBody>
      </p:sp>
      <p:sp>
        <p:nvSpPr>
          <p:cNvPr id="10" name="圆角矩形 9"/>
          <p:cNvSpPr/>
          <p:nvPr/>
        </p:nvSpPr>
        <p:spPr>
          <a:xfrm>
            <a:off x="943097" y="1256582"/>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不同的算法复杂性量级</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7359" name="Rectangle 15"/>
          <p:cNvSpPr>
            <a:spLocks noChangeArrowheads="1"/>
          </p:cNvSpPr>
          <p:nvPr/>
        </p:nvSpPr>
        <p:spPr bwMode="auto">
          <a:xfrm>
            <a:off x="2627313" y="3283290"/>
            <a:ext cx="5441950"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solidFill>
                  <a:schemeClr val="bg1"/>
                </a:solidFill>
              </a:rPr>
              <a:t>O(1), O(log n), O(n), O(n log n), O(n</a:t>
            </a:r>
            <a:r>
              <a:rPr lang="en-US" altLang="zh-CN" sz="2400" baseline="30000">
                <a:solidFill>
                  <a:schemeClr val="bg1"/>
                </a:solidFill>
              </a:rPr>
              <a:t>b</a:t>
            </a:r>
            <a:r>
              <a:rPr lang="en-US" altLang="zh-CN" sz="2400">
                <a:solidFill>
                  <a:schemeClr val="bg1"/>
                </a:solidFill>
              </a:rPr>
              <a:t>)</a:t>
            </a:r>
            <a:endParaRPr lang="zh-CN" altLang="en-US" sz="2400">
              <a:solidFill>
                <a:schemeClr val="bg1"/>
              </a:solidFill>
            </a:endParaRPr>
          </a:p>
        </p:txBody>
      </p:sp>
      <p:sp>
        <p:nvSpPr>
          <p:cNvPr id="2617360" name="Text Box 16"/>
          <p:cNvSpPr txBox="1">
            <a:spLocks noChangeArrowheads="1"/>
          </p:cNvSpPr>
          <p:nvPr/>
        </p:nvSpPr>
        <p:spPr bwMode="auto">
          <a:xfrm>
            <a:off x="4117242" y="5022850"/>
            <a:ext cx="1927225"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1"/>
                </a:solidFill>
              </a:rPr>
              <a:t>O(b</a:t>
            </a:r>
            <a:r>
              <a:rPr lang="en-US" altLang="zh-CN" sz="2400" baseline="30000">
                <a:solidFill>
                  <a:schemeClr val="bg1"/>
                </a:solidFill>
              </a:rPr>
              <a:t>n</a:t>
            </a:r>
            <a:r>
              <a:rPr lang="en-US" altLang="zh-CN" sz="2400">
                <a:solidFill>
                  <a:schemeClr val="bg1"/>
                </a:solidFill>
              </a:rPr>
              <a:t>), O(n!)</a:t>
            </a:r>
          </a:p>
        </p:txBody>
      </p:sp>
      <p:sp>
        <p:nvSpPr>
          <p:cNvPr id="7" name="Text Box 5"/>
          <p:cNvSpPr txBox="1">
            <a:spLocks noChangeArrowheads="1"/>
          </p:cNvSpPr>
          <p:nvPr/>
        </p:nvSpPr>
        <p:spPr bwMode="auto">
          <a:xfrm>
            <a:off x="936170" y="2362422"/>
            <a:ext cx="10744201"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b="1">
                <a:solidFill>
                  <a:schemeClr val="tx1"/>
                </a:solidFill>
                <a:latin typeface="Arial" panose="020B0604020202090204" pitchFamily="34" charset="0"/>
                <a:ea typeface="宋体" pitchFamily="2" charset="-122"/>
              </a:defRPr>
            </a:lvl1pPr>
            <a:lvl2pPr marL="742950" indent="-285750">
              <a:defRPr kumimoji="1" sz="2000" b="1">
                <a:solidFill>
                  <a:schemeClr val="tx1"/>
                </a:solidFill>
                <a:latin typeface="Arial" panose="020B0604020202090204" pitchFamily="34" charset="0"/>
                <a:ea typeface="宋体" pitchFamily="2" charset="-122"/>
              </a:defRPr>
            </a:lvl2pPr>
            <a:lvl3pPr marL="1143000" indent="-228600">
              <a:defRPr kumimoji="1" sz="2000" b="1">
                <a:solidFill>
                  <a:schemeClr val="tx1"/>
                </a:solidFill>
                <a:latin typeface="Arial" panose="020B0604020202090204" pitchFamily="34" charset="0"/>
                <a:ea typeface="宋体" pitchFamily="2" charset="-122"/>
              </a:defRPr>
            </a:lvl3pPr>
            <a:lvl4pPr marL="1600200" indent="-228600">
              <a:defRPr kumimoji="1" sz="2000" b="1">
                <a:solidFill>
                  <a:schemeClr val="tx1"/>
                </a:solidFill>
                <a:latin typeface="Arial" panose="020B0604020202090204" pitchFamily="34" charset="0"/>
                <a:ea typeface="宋体" pitchFamily="2" charset="-122"/>
              </a:defRPr>
            </a:lvl4pPr>
            <a:lvl5pPr marL="2057400" indent="-228600">
              <a:defRPr kumimoji="1" sz="2000" b="1">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90204" pitchFamily="34" charset="0"/>
                <a:ea typeface="宋体" pitchFamily="2" charset="-122"/>
              </a:defRPr>
            </a:lvl9pPr>
          </a:lstStyle>
          <a:p>
            <a:pPr algn="just" eaLnBrk="1" hangingPunct="1">
              <a:lnSpc>
                <a:spcPct val="120000"/>
              </a:lnSpc>
              <a:buClr>
                <a:schemeClr val="tx1"/>
              </a:buClr>
              <a:buFont typeface="Wingdings" panose="05000000000000000000" pitchFamily="2" charset="2"/>
              <a:buChar char="u"/>
            </a:pPr>
            <a:r>
              <a:rPr lang="en-US" altLang="zh-CN" b="0" dirty="0"/>
              <a:t>当</a:t>
            </a:r>
            <a:r>
              <a:rPr lang="zh-CN" altLang="en-US" b="0" dirty="0"/>
              <a:t>算法的复杂度</a:t>
            </a:r>
            <a:r>
              <a:rPr lang="en-US" altLang="zh-CN" b="0" dirty="0" err="1"/>
              <a:t>是一个多项式</a:t>
            </a:r>
            <a:r>
              <a:rPr lang="zh-CN" altLang="en-US" b="0" dirty="0"/>
              <a:t>，如</a:t>
            </a:r>
            <a:r>
              <a:rPr lang="en-US" altLang="zh-CN" b="0" dirty="0">
                <a:solidFill>
                  <a:schemeClr val="accent2"/>
                </a:solidFill>
              </a:rPr>
              <a:t>O(</a:t>
            </a:r>
            <a:r>
              <a:rPr lang="en-US" altLang="zh-CN" b="0" dirty="0" err="1">
                <a:solidFill>
                  <a:srgbClr val="FF0066"/>
                </a:solidFill>
              </a:rPr>
              <a:t>n</a:t>
            </a:r>
            <a:r>
              <a:rPr lang="en-US" altLang="zh-CN" b="0" baseline="30000" dirty="0" err="1">
                <a:solidFill>
                  <a:srgbClr val="FF0066"/>
                </a:solidFill>
              </a:rPr>
              <a:t>2</a:t>
            </a:r>
            <a:r>
              <a:rPr lang="en-US" altLang="zh-CN" b="0" dirty="0">
                <a:solidFill>
                  <a:schemeClr val="accent2"/>
                </a:solidFill>
              </a:rPr>
              <a:t>)</a:t>
            </a:r>
            <a:r>
              <a:rPr lang="en-US" altLang="zh-CN" b="0" dirty="0"/>
              <a:t>时，</a:t>
            </a:r>
            <a:r>
              <a:rPr lang="zh-CN" altLang="en-US" b="0" dirty="0"/>
              <a:t>则对于大规模问题，该算法是可以在有限时间内被计算机完成的。</a:t>
            </a:r>
            <a:r>
              <a:rPr lang="en-US" altLang="zh-CN" b="0" dirty="0" err="1"/>
              <a:t>例如，</a:t>
            </a:r>
            <a:r>
              <a:rPr lang="en-US" altLang="zh-CN" dirty="0" err="1"/>
              <a:t>TSP问题的贪心算法</a:t>
            </a:r>
            <a:r>
              <a:rPr lang="en-US" altLang="zh-CN" sz="1600" dirty="0"/>
              <a:t> </a:t>
            </a:r>
            <a:r>
              <a:rPr lang="en-US" altLang="zh-CN" dirty="0">
                <a:solidFill>
                  <a:schemeClr val="accent2"/>
                </a:solidFill>
              </a:rPr>
              <a:t>O(</a:t>
            </a:r>
            <a:r>
              <a:rPr lang="en-US" altLang="zh-CN" dirty="0" err="1">
                <a:solidFill>
                  <a:srgbClr val="FF0066"/>
                </a:solidFill>
              </a:rPr>
              <a:t>n</a:t>
            </a:r>
            <a:r>
              <a:rPr lang="en-US" altLang="zh-CN" baseline="30000" dirty="0" err="1">
                <a:solidFill>
                  <a:srgbClr val="FF0066"/>
                </a:solidFill>
              </a:rPr>
              <a:t>2</a:t>
            </a:r>
            <a:r>
              <a:rPr lang="en-US" altLang="zh-CN" dirty="0">
                <a:solidFill>
                  <a:schemeClr val="accent2"/>
                </a:solidFill>
              </a:rPr>
              <a:t>)</a:t>
            </a:r>
            <a:r>
              <a:rPr lang="en-US" altLang="zh-CN" sz="1600" dirty="0"/>
              <a:t> </a:t>
            </a:r>
            <a:r>
              <a:rPr lang="zh-CN" altLang="en-US" sz="1600" b="0" dirty="0"/>
              <a:t>。</a:t>
            </a:r>
            <a:endParaRPr lang="en-US" altLang="zh-CN" sz="1600" b="0" dirty="0"/>
          </a:p>
          <a:p>
            <a:pPr algn="just" eaLnBrk="1" hangingPunct="1">
              <a:lnSpc>
                <a:spcPct val="120000"/>
              </a:lnSpc>
              <a:buClr>
                <a:schemeClr val="tx1"/>
              </a:buClr>
              <a:buFont typeface="Wingdings" panose="05000000000000000000" pitchFamily="2" charset="2"/>
              <a:buChar char="u"/>
            </a:pPr>
            <a:endParaRPr lang="en-US" altLang="zh-CN" sz="1600" b="0" dirty="0"/>
          </a:p>
          <a:p>
            <a:pPr algn="just" eaLnBrk="1" hangingPunct="1">
              <a:lnSpc>
                <a:spcPct val="120000"/>
              </a:lnSpc>
              <a:buClr>
                <a:schemeClr val="tx1"/>
              </a:buClr>
              <a:buFont typeface="Wingdings" panose="05000000000000000000" pitchFamily="2" charset="2"/>
              <a:buChar char="u"/>
            </a:pPr>
            <a:endParaRPr lang="en-US" altLang="zh-CN" sz="1600" b="0" dirty="0"/>
          </a:p>
          <a:p>
            <a:pPr algn="just" eaLnBrk="1" hangingPunct="1">
              <a:lnSpc>
                <a:spcPct val="120000"/>
              </a:lnSpc>
              <a:buClr>
                <a:schemeClr val="tx1"/>
              </a:buClr>
            </a:pPr>
            <a:endParaRPr lang="zh-CN" altLang="en-US" sz="1600" b="0" dirty="0"/>
          </a:p>
          <a:p>
            <a:pPr algn="just" eaLnBrk="1" hangingPunct="1">
              <a:lnSpc>
                <a:spcPct val="120000"/>
              </a:lnSpc>
              <a:buClr>
                <a:schemeClr val="tx1"/>
              </a:buClr>
              <a:buFont typeface="Wingdings" panose="05000000000000000000" pitchFamily="2" charset="2"/>
              <a:buChar char="u"/>
            </a:pPr>
            <a:r>
              <a:rPr lang="zh-CN" altLang="en-US" b="0" dirty="0"/>
              <a:t>当算法的复杂度是用指数函数表示如</a:t>
            </a:r>
            <a:r>
              <a:rPr lang="en-US" altLang="zh-CN" b="0" dirty="0">
                <a:solidFill>
                  <a:schemeClr val="accent2"/>
                </a:solidFill>
              </a:rPr>
              <a:t>O(</a:t>
            </a:r>
            <a:r>
              <a:rPr lang="en-US" altLang="zh-CN" b="0" dirty="0" err="1">
                <a:solidFill>
                  <a:srgbClr val="FF0066"/>
                </a:solidFill>
              </a:rPr>
              <a:t>2</a:t>
            </a:r>
            <a:r>
              <a:rPr lang="en-US" altLang="zh-CN" b="0" baseline="30000" dirty="0" err="1">
                <a:solidFill>
                  <a:srgbClr val="FF0066"/>
                </a:solidFill>
              </a:rPr>
              <a:t>n</a:t>
            </a:r>
            <a:r>
              <a:rPr lang="en-US" altLang="zh-CN" b="0" dirty="0">
                <a:solidFill>
                  <a:schemeClr val="accent2"/>
                </a:solidFill>
              </a:rPr>
              <a:t>)</a:t>
            </a:r>
            <a:r>
              <a:rPr lang="zh-CN" altLang="en-US" b="0" dirty="0"/>
              <a:t>或</a:t>
            </a:r>
            <a:r>
              <a:rPr lang="zh-CN" altLang="en-US" dirty="0">
                <a:solidFill>
                  <a:srgbClr val="FF0000"/>
                </a:solidFill>
              </a:rPr>
              <a:t>阶乘函数</a:t>
            </a:r>
            <a:r>
              <a:rPr lang="zh-CN" altLang="en-US" b="0" dirty="0"/>
              <a:t>表示如</a:t>
            </a:r>
            <a:r>
              <a:rPr lang="en-US" altLang="zh-CN" b="0" dirty="0">
                <a:solidFill>
                  <a:schemeClr val="accent2"/>
                </a:solidFill>
              </a:rPr>
              <a:t>O(</a:t>
            </a:r>
            <a:r>
              <a:rPr lang="en-US" altLang="zh-CN" sz="2400" b="0" dirty="0">
                <a:solidFill>
                  <a:srgbClr val="FF0000"/>
                </a:solidFill>
              </a:rPr>
              <a:t>n!</a:t>
            </a:r>
            <a:r>
              <a:rPr lang="en-US" altLang="zh-CN" b="0" dirty="0">
                <a:solidFill>
                  <a:schemeClr val="accent2"/>
                </a:solidFill>
              </a:rPr>
              <a:t>)</a:t>
            </a:r>
            <a:r>
              <a:rPr lang="zh-CN" altLang="en-US" b="0" dirty="0"/>
              <a:t>，则当</a:t>
            </a:r>
            <a:r>
              <a:rPr lang="en-US" altLang="zh-CN" b="0" dirty="0" err="1"/>
              <a:t>n很大（如10000）时</a:t>
            </a:r>
            <a:r>
              <a:rPr lang="zh-CN" altLang="en-US" b="0" dirty="0"/>
              <a:t>，该算法</a:t>
            </a:r>
            <a:r>
              <a:rPr lang="en-US" altLang="zh-CN" b="0" dirty="0"/>
              <a:t>是</a:t>
            </a:r>
            <a:r>
              <a:rPr lang="zh-CN" altLang="en-US" b="0" dirty="0"/>
              <a:t>计算机在有限时间内</a:t>
            </a:r>
            <a:r>
              <a:rPr lang="en-US" altLang="zh-CN" b="0" dirty="0" err="1"/>
              <a:t>无法处理的</a:t>
            </a:r>
            <a:r>
              <a:rPr lang="zh-CN" altLang="en-US" sz="1600" b="0" dirty="0"/>
              <a:t>。</a:t>
            </a:r>
            <a:r>
              <a:rPr lang="en-US" altLang="zh-CN" b="0" dirty="0" err="1"/>
              <a:t>例如</a:t>
            </a:r>
            <a:r>
              <a:rPr lang="en-US" altLang="zh-CN" dirty="0" err="1"/>
              <a:t>TSP问题</a:t>
            </a:r>
            <a:r>
              <a:rPr lang="zh-CN" altLang="en-US" dirty="0"/>
              <a:t>的遍历算法</a:t>
            </a:r>
            <a:r>
              <a:rPr lang="en-US" altLang="zh-CN" dirty="0"/>
              <a:t>O((n-1)!)</a:t>
            </a:r>
            <a:r>
              <a:rPr lang="zh-CN" altLang="en-US" b="0" dirty="0"/>
              <a:t>。</a:t>
            </a:r>
            <a:endParaRPr lang="en-US" altLang="zh-CN" b="0" dirty="0"/>
          </a:p>
          <a:p>
            <a:pPr algn="just" eaLnBrk="1" hangingPunct="1">
              <a:lnSpc>
                <a:spcPct val="120000"/>
              </a:lnSpc>
              <a:buClr>
                <a:schemeClr val="tx1"/>
              </a:buClr>
              <a:buFont typeface="Wingdings" panose="05000000000000000000" pitchFamily="2" charset="2"/>
              <a:buChar char="u"/>
            </a:pPr>
            <a:endParaRPr lang="en-US" altLang="zh-CN" b="0" dirty="0"/>
          </a:p>
          <a:p>
            <a:pPr algn="just" eaLnBrk="1" hangingPunct="1">
              <a:lnSpc>
                <a:spcPct val="120000"/>
              </a:lnSpc>
              <a:buClr>
                <a:schemeClr val="tx1"/>
              </a:buClr>
              <a:buFont typeface="Wingdings" panose="05000000000000000000" pitchFamily="2" charset="2"/>
              <a:buChar char="u"/>
            </a:pPr>
            <a:endParaRPr lang="en-US" altLang="zh-CN" b="0" dirty="0"/>
          </a:p>
          <a:p>
            <a:pPr algn="just" eaLnBrk="1" hangingPunct="1">
              <a:lnSpc>
                <a:spcPct val="120000"/>
              </a:lnSpc>
              <a:buClr>
                <a:schemeClr val="tx1"/>
              </a:buClr>
              <a:buFont typeface="Wingdings" panose="05000000000000000000" pitchFamily="2" charset="2"/>
              <a:buChar char="u"/>
            </a:pPr>
            <a:endParaRPr lang="zh-CN" altLang="en-US" b="0" dirty="0"/>
          </a:p>
        </p:txBody>
      </p:sp>
      <p:sp>
        <p:nvSpPr>
          <p:cNvPr id="8" name="圆角矩形 7"/>
          <p:cNvSpPr/>
          <p:nvPr/>
        </p:nvSpPr>
        <p:spPr>
          <a:xfrm>
            <a:off x="707570" y="1247230"/>
            <a:ext cx="10744201" cy="613058"/>
          </a:xfrm>
          <a:prstGeom prst="round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有限时间内是否能完成算法的执行？</a:t>
            </a:r>
          </a:p>
        </p:txBody>
      </p:sp>
      <p:sp>
        <p:nvSpPr>
          <p:cNvPr id="9" name="标题 1"/>
          <p:cNvSpPr txBox="1"/>
          <p:nvPr/>
        </p:nvSpPr>
        <p:spPr>
          <a:xfrm>
            <a:off x="707571" y="178701"/>
            <a:ext cx="10673792" cy="762000"/>
          </a:xfrm>
          <a:prstGeom prst="rect">
            <a:avLst/>
          </a:prstGeom>
        </p:spPr>
        <p:txBody>
          <a:bodyPr anchor="ctr" anchorCtr="0"/>
          <a:lstStyle>
            <a:lvl1pPr algn="l" rtl="0" eaLnBrk="0" fontAlgn="base" hangingPunct="0">
              <a:spcBef>
                <a:spcPct val="0"/>
              </a:spcBef>
              <a:spcAft>
                <a:spcPct val="0"/>
              </a:spcAft>
              <a:defRPr sz="2200" b="1">
                <a:solidFill>
                  <a:schemeClr val="tx2"/>
                </a:solidFill>
                <a:latin typeface="+mj-lt"/>
                <a:ea typeface="+mj-ea"/>
                <a:cs typeface="+mj-cs"/>
              </a:defRPr>
            </a:lvl1pPr>
            <a:lvl2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2pPr>
            <a:lvl3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3pPr>
            <a:lvl4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4pPr>
            <a:lvl5pPr algn="l" rtl="0" eaLnBrk="0" fontAlgn="base" hangingPunct="0">
              <a:spcBef>
                <a:spcPct val="0"/>
              </a:spcBef>
              <a:spcAft>
                <a:spcPct val="0"/>
              </a:spcAft>
              <a:defRPr sz="2200" b="1">
                <a:solidFill>
                  <a:schemeClr val="tx2"/>
                </a:solidFill>
                <a:latin typeface="Arial" panose="020B0604020202090204" pitchFamily="34" charset="0"/>
                <a:ea typeface="黑体" panose="02010609060101010101" pitchFamily="49" charset="-122"/>
              </a:defRPr>
            </a:lvl5pPr>
            <a:lvl6pPr marL="4572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6pPr>
            <a:lvl7pPr marL="9144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7pPr>
            <a:lvl8pPr marL="13716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8pPr>
            <a:lvl9pPr marL="1828800" algn="l" rtl="0" fontAlgn="base">
              <a:spcBef>
                <a:spcPct val="0"/>
              </a:spcBef>
              <a:spcAft>
                <a:spcPct val="0"/>
              </a:spcAft>
              <a:defRPr sz="2200" b="1">
                <a:solidFill>
                  <a:schemeClr val="tx2"/>
                </a:solidFill>
                <a:latin typeface="Arial" panose="020B0604020202090204" pitchFamily="34" charset="0"/>
                <a:ea typeface="黑体" panose="02010609060101010101" pitchFamily="49" charset="-122"/>
              </a:defRPr>
            </a:lvl9pPr>
          </a:lstStyle>
          <a:p>
            <a:pPr lvl="0"/>
            <a:r>
              <a:rPr lang="en-US" altLang="zh-CN"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TSP</a:t>
            </a:r>
            <a:r>
              <a:rPr lang="zh-CN" altLang="en-US" sz="36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问题：算法复杂性与计算复杂性</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34543" y="193179"/>
            <a:ext cx="11073674" cy="658591"/>
          </a:xfrm>
        </p:spPr>
        <p:txBody>
          <a:bodyPr>
            <a:normAutofit/>
          </a:bodyPr>
          <a:lstStyle/>
          <a:p>
            <a:pPr algn="l"/>
            <a:r>
              <a:rPr lang="zh-CN" altLang="en-US" sz="3600" b="1" dirty="0">
                <a:latin typeface="微软雅黑" panose="020B0503020204020204" pitchFamily="34" charset="-122"/>
                <a:ea typeface="微软雅黑" panose="020B0503020204020204" pitchFamily="34" charset="-122"/>
              </a:rPr>
              <a:t>本章重点</a:t>
            </a:r>
          </a:p>
        </p:txBody>
      </p:sp>
      <p:sp>
        <p:nvSpPr>
          <p:cNvPr id="5123" name="Text Box 3"/>
          <p:cNvSpPr txBox="1">
            <a:spLocks noChangeArrowheads="1"/>
          </p:cNvSpPr>
          <p:nvPr/>
        </p:nvSpPr>
        <p:spPr bwMode="auto">
          <a:xfrm>
            <a:off x="726396" y="1470479"/>
            <a:ext cx="8084264" cy="3394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r>
              <a:rPr lang="zh-CN" altLang="en-US" sz="2800" noProof="0" dirty="0">
                <a:solidFill>
                  <a:srgbClr val="FF0000"/>
                </a:solidFill>
                <a:latin typeface="微软雅黑" panose="020B0503020204020204" pitchFamily="34" charset="-122"/>
              </a:rPr>
              <a:t>机器语言、汇编语言、高级语言定义</a:t>
            </a:r>
            <a:endParaRPr kumimoji="0" lang="en-US" altLang="zh-CN" sz="2800" b="1" i="0" u="none" strike="noStrike" kern="1200" cap="none" spc="0" normalizeH="0" baseline="0" noProof="0" dirty="0">
              <a:ln>
                <a:noFill/>
              </a:ln>
              <a:solidFill>
                <a:srgbClr val="FF0000"/>
              </a:solidFill>
              <a:effectLst/>
              <a:uLnTx/>
              <a:uFillTx/>
              <a:latin typeface="微软雅黑" panose="020B0503020204020204" pitchFamily="34" charset="-122"/>
            </a:endParaRPr>
          </a:p>
          <a:p>
            <a:pPr lvl="0">
              <a:lnSpc>
                <a:spcPct val="130000"/>
              </a:lnSpc>
              <a:defRPr/>
            </a:pPr>
            <a:r>
              <a:rPr lang="zh-CN" altLang="en-US" sz="2800" b="1" dirty="0">
                <a:solidFill>
                  <a:srgbClr val="FF0000"/>
                </a:solidFill>
                <a:latin typeface="微软雅黑" panose="020B0503020204020204" pitchFamily="34" charset="-122"/>
              </a:rPr>
              <a:t>二、</a:t>
            </a:r>
            <a:r>
              <a:rPr lang="zh-CN" altLang="en-US" sz="2800" dirty="0">
                <a:solidFill>
                  <a:srgbClr val="FF0000"/>
                </a:solidFill>
                <a:latin typeface="微软雅黑" panose="020B0503020204020204" pitchFamily="34" charset="-122"/>
              </a:rPr>
              <a:t>机器语言、汇编语言、高级语言程序执行过程</a:t>
            </a:r>
            <a:endParaRPr lang="en-US" altLang="zh-CN" sz="2800" b="1" dirty="0">
              <a:solidFill>
                <a:srgbClr val="FF0000"/>
              </a:solidFill>
              <a:latin typeface="微软雅黑" panose="020B0503020204020204" pitchFamily="34" charset="-122"/>
            </a:endParaRPr>
          </a:p>
          <a:p>
            <a:pPr lvl="0">
              <a:lnSpc>
                <a:spcPct val="130000"/>
              </a:lnSpc>
              <a:defRPr/>
            </a:pPr>
            <a:r>
              <a:rPr lang="zh-CN" altLang="en-US" sz="2800" b="1" dirty="0">
                <a:solidFill>
                  <a:srgbClr val="FF0000"/>
                </a:solidFill>
                <a:latin typeface="微软雅黑" panose="020B0503020204020204" pitchFamily="34" charset="-122"/>
              </a:rPr>
              <a:t>三、算法的概念与特征</a:t>
            </a:r>
          </a:p>
          <a:p>
            <a:pPr marL="0" marR="0" lvl="0" indent="0" algn="l" defTabSz="457200" rtl="0" eaLnBrk="1" fontAlgn="auto" latinLnBrk="0" hangingPunct="1">
              <a:lnSpc>
                <a:spcPct val="130000"/>
              </a:lnSpc>
              <a:spcBef>
                <a:spcPts val="0"/>
              </a:spcBef>
              <a:spcAft>
                <a:spcPts val="0"/>
              </a:spcAft>
              <a:buClrTx/>
              <a:buSzTx/>
              <a:buFontTx/>
              <a:buNone/>
              <a:defRPr/>
            </a:pPr>
            <a:r>
              <a:rPr lang="zh-CN" altLang="en-US" sz="2800" b="1" dirty="0">
                <a:solidFill>
                  <a:srgbClr val="FF0000"/>
                </a:solidFill>
              </a:rPr>
              <a:t>四、算法类问题的求解框架</a:t>
            </a:r>
            <a:endParaRPr lang="en-US" altLang="zh-CN" sz="2800" b="1" dirty="0">
              <a:solidFill>
                <a:srgbClr val="FF0000"/>
              </a:solidFill>
            </a:endParaRPr>
          </a:p>
          <a:p>
            <a:pPr marL="0" marR="0" lvl="0" indent="0" algn="l" defTabSz="457200" rtl="0" eaLnBrk="1" fontAlgn="auto" latinLnBrk="0" hangingPunct="1">
              <a:lnSpc>
                <a:spcPct val="130000"/>
              </a:lnSpc>
              <a:spcBef>
                <a:spcPts val="0"/>
              </a:spcBef>
              <a:spcAft>
                <a:spcPts val="0"/>
              </a:spcAft>
              <a:buClrTx/>
              <a:buSzTx/>
              <a:buFontTx/>
              <a:buNone/>
              <a:defRPr/>
            </a:pPr>
            <a:r>
              <a:rPr lang="zh-CN" altLang="en-US" sz="2800" b="1" dirty="0">
                <a:solidFill>
                  <a:srgbClr val="FF0000"/>
                </a:solidFill>
              </a:rPr>
              <a:t>五、算法的时间复杂性</a:t>
            </a:r>
            <a:endParaRPr lang="en-US" altLang="zh-CN" sz="2800" b="1" dirty="0">
              <a:solidFill>
                <a:srgbClr val="FF0000"/>
              </a:solidFill>
            </a:endParaRPr>
          </a:p>
          <a:p>
            <a:pPr marL="0" marR="0" lvl="0" indent="0" algn="l" defTabSz="457200" rtl="0" eaLnBrk="1" fontAlgn="auto" latinLnBrk="0" hangingPunct="1">
              <a:lnSpc>
                <a:spcPct val="130000"/>
              </a:lnSpc>
              <a:spcBef>
                <a:spcPts val="0"/>
              </a:spcBef>
              <a:spcAft>
                <a:spcPts val="0"/>
              </a:spcAft>
              <a:buClrTx/>
              <a:buSzTx/>
              <a:buFontTx/>
              <a:buNone/>
              <a:defRPr/>
            </a:pPr>
            <a:endParaRPr lang="en-US" altLang="zh-CN" sz="2800" b="1" dirty="0">
              <a:solidFill>
                <a:srgbClr val="A50021"/>
              </a:solidFill>
            </a:endParaRPr>
          </a:p>
        </p:txBody>
      </p:sp>
    </p:spTree>
  </p:cSld>
  <p:clrMapOvr>
    <a:masterClrMapping/>
  </p:clrMapOvr>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zh-CN" sz="2000" b="1"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zh-CN" sz="2000" b="1"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5505</Words>
  <Application>Microsoft Macintosh PowerPoint</Application>
  <PresentationFormat>宽屏</PresentationFormat>
  <Paragraphs>744</Paragraphs>
  <Slides>48</Slides>
  <Notes>29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60" baseType="lpstr">
      <vt:lpstr>黑体</vt:lpstr>
      <vt:lpstr>宋体</vt:lpstr>
      <vt:lpstr>微软雅黑</vt:lpstr>
      <vt:lpstr>Microsoft YaHei Light</vt:lpstr>
      <vt:lpstr>Arial</vt:lpstr>
      <vt:lpstr>Calibri</vt:lpstr>
      <vt:lpstr>Cambria Math</vt:lpstr>
      <vt:lpstr>Times New Roman</vt:lpstr>
      <vt:lpstr>Wingdings</vt:lpstr>
      <vt:lpstr>自定义设计方案</vt:lpstr>
      <vt:lpstr>幻灯片</vt:lpstr>
      <vt:lpstr>Slide</vt:lpstr>
      <vt:lpstr>《计算思维与实践》</vt:lpstr>
      <vt:lpstr>PowerPoint 演示文稿</vt:lpstr>
      <vt:lpstr>程序设计基础Ⅰ</vt:lpstr>
      <vt:lpstr>1.1 程序设计语言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本章重点</vt:lpstr>
    </vt:vector>
  </TitlesOfParts>
  <Company>哈尔滨工业大学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战德臣</dc:creator>
  <cp:lastModifiedBy>Microsoft Office User</cp:lastModifiedBy>
  <cp:revision>1723</cp:revision>
  <dcterms:created xsi:type="dcterms:W3CDTF">2025-11-06T04:57:32Z</dcterms:created>
  <dcterms:modified xsi:type="dcterms:W3CDTF">2025-11-06T11:11:14Z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2052-12.1.22522.22522</vt:lpwstr>
  </property>
  <property fmtid="{D5CDD505-2E9C-101B-9397-08002B2CF9AE}" pid="3" name="ICV">
    <vt:lpwstr>29E9D25F18516ACD5D6E05690123540E_42</vt:lpwstr>
  </property>
</Properties>
</file>