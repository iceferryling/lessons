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76"/>
  </p:handoutMasterIdLst>
  <p:sldIdLst>
    <p:sldId id="256" r:id="rId3"/>
    <p:sldId id="919" r:id="rId5"/>
    <p:sldId id="921" r:id="rId6"/>
    <p:sldId id="1104" r:id="rId7"/>
    <p:sldId id="1105" r:id="rId8"/>
    <p:sldId id="1109" r:id="rId9"/>
    <p:sldId id="1107" r:id="rId10"/>
    <p:sldId id="989" r:id="rId11"/>
    <p:sldId id="990" r:id="rId12"/>
    <p:sldId id="991" r:id="rId13"/>
    <p:sldId id="1115" r:id="rId14"/>
    <p:sldId id="992" r:id="rId15"/>
    <p:sldId id="993" r:id="rId16"/>
    <p:sldId id="995" r:id="rId17"/>
    <p:sldId id="1118" r:id="rId18"/>
    <p:sldId id="996" r:id="rId19"/>
    <p:sldId id="997" r:id="rId20"/>
    <p:sldId id="998" r:id="rId21"/>
    <p:sldId id="999" r:id="rId22"/>
    <p:sldId id="1000" r:id="rId23"/>
    <p:sldId id="1128" r:id="rId24"/>
    <p:sldId id="1405" r:id="rId25"/>
    <p:sldId id="1406" r:id="rId26"/>
    <p:sldId id="1003" r:id="rId27"/>
    <p:sldId id="1098" r:id="rId28"/>
    <p:sldId id="1167" r:id="rId29"/>
    <p:sldId id="1168" r:id="rId30"/>
    <p:sldId id="1169" r:id="rId31"/>
    <p:sldId id="1170" r:id="rId32"/>
    <p:sldId id="1171" r:id="rId33"/>
    <p:sldId id="1172" r:id="rId34"/>
    <p:sldId id="1175" r:id="rId35"/>
    <p:sldId id="1178" r:id="rId36"/>
    <p:sldId id="1179" r:id="rId37"/>
    <p:sldId id="1180" r:id="rId38"/>
    <p:sldId id="1181" r:id="rId39"/>
    <p:sldId id="1182" r:id="rId40"/>
    <p:sldId id="1183" r:id="rId41"/>
    <p:sldId id="1185" r:id="rId42"/>
    <p:sldId id="1205" r:id="rId43"/>
    <p:sldId id="1132" r:id="rId44"/>
    <p:sldId id="1134" r:id="rId45"/>
    <p:sldId id="1135" r:id="rId46"/>
    <p:sldId id="1136" r:id="rId47"/>
    <p:sldId id="1137" r:id="rId48"/>
    <p:sldId id="1147" r:id="rId49"/>
    <p:sldId id="1148" r:id="rId50"/>
    <p:sldId id="1149" r:id="rId51"/>
    <p:sldId id="1151" r:id="rId52"/>
    <p:sldId id="1152" r:id="rId53"/>
    <p:sldId id="1186" r:id="rId54"/>
    <p:sldId id="1187" r:id="rId55"/>
    <p:sldId id="1188" r:id="rId56"/>
    <p:sldId id="1189" r:id="rId57"/>
    <p:sldId id="1195" r:id="rId58"/>
    <p:sldId id="1407" r:id="rId59"/>
    <p:sldId id="1408" r:id="rId60"/>
    <p:sldId id="1409" r:id="rId61"/>
    <p:sldId id="1410" r:id="rId62"/>
    <p:sldId id="1411" r:id="rId63"/>
    <p:sldId id="1412" r:id="rId64"/>
    <p:sldId id="1413" r:id="rId65"/>
    <p:sldId id="1414" r:id="rId66"/>
    <p:sldId id="1209" r:id="rId67"/>
    <p:sldId id="1210" r:id="rId68"/>
    <p:sldId id="1214" r:id="rId69"/>
    <p:sldId id="1216" r:id="rId70"/>
    <p:sldId id="1404" r:id="rId71"/>
    <p:sldId id="1219" r:id="rId72"/>
    <p:sldId id="1218" r:id="rId73"/>
    <p:sldId id="1217" r:id="rId74"/>
    <p:sldId id="1204" r:id="rId75"/>
  </p:sldIdLst>
  <p:sldSz cx="12192000" cy="6858000"/>
  <p:notesSz cx="6757670" cy="9865995"/>
  <p:defaultTextStyle>
    <a:defPPr>
      <a:defRPr lang="en-US"/>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13"/>
    <p:restoredTop sz="86453"/>
  </p:normalViewPr>
  <p:slideViewPr>
    <p:cSldViewPr showGuides="1">
      <p:cViewPr varScale="1">
        <p:scale>
          <a:sx n="107" d="100"/>
          <a:sy n="107" d="100"/>
        </p:scale>
        <p:origin x="1400" y="160"/>
      </p:cViewPr>
      <p:guideLst>
        <p:guide orient="horz" pos="2160"/>
        <p:guide pos="3845"/>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100" d="100"/>
        <a:sy n="100" d="100"/>
      </p:scale>
      <p:origin x="0" y="1899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7" name="Rectangle 3"/>
          <p:cNvSpPr>
            <a:spLocks noGrp="1" noChangeArrowheads="1"/>
          </p:cNvSpPr>
          <p:nvPr>
            <p:ph type="dt" sz="quarter" idx="1"/>
          </p:nvPr>
        </p:nvSpPr>
        <p:spPr bwMode="auto">
          <a:xfrm>
            <a:off x="3829050" y="0"/>
            <a:ext cx="2928938" cy="493713"/>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8" name="Rectangle 4"/>
          <p:cNvSpPr>
            <a:spLocks noGrp="1" noChangeArrowheads="1"/>
          </p:cNvSpPr>
          <p:nvPr>
            <p:ph type="ftr" sz="quarter" idx="2"/>
          </p:nvPr>
        </p:nvSpPr>
        <p:spPr bwMode="auto">
          <a:xfrm>
            <a:off x="0" y="9372600"/>
            <a:ext cx="2928938" cy="493713"/>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9" name="Rectangle 5"/>
          <p:cNvSpPr>
            <a:spLocks noGrp="1" noChangeArrowheads="1"/>
          </p:cNvSpPr>
          <p:nvPr>
            <p:ph type="sldNum" sz="quarter" idx="3"/>
          </p:nvPr>
        </p:nvSpPr>
        <p:spPr bwMode="auto">
          <a:xfrm>
            <a:off x="3829050" y="9372600"/>
            <a:ext cx="2928938" cy="493713"/>
          </a:xfrm>
          <a:prstGeom prst="rect">
            <a:avLst/>
          </a:prstGeom>
          <a:noFill/>
          <a:ln w="9525">
            <a:noFill/>
            <a:miter lim="800000"/>
          </a:ln>
          <a:effectLst/>
        </p:spPr>
        <p:txBody>
          <a:bodyPr vert="horz" wrap="square" lIns="91422" tIns="45711" rIns="91422" bIns="45711" numCol="1" anchor="b" anchorCtr="0" compatLnSpc="1"/>
          <a:lstStyle/>
          <a:p>
            <a:pPr lvl="0" algn="r" eaLnBrk="1" fontAlgn="base" hangingPunct="1">
              <a:buNone/>
            </a:pPr>
            <a:fld id="{9A0DB2DC-4C9A-4742-B13C-FB6460FD3503}" type="slidenum">
              <a:rPr lang="zh-CN" altLang="en-US" sz="1200" strike="noStrike" noProof="1" dirty="0">
                <a:latin typeface="Times New Roman" panose="02020503050405090304" pitchFamily="18" charset="0"/>
                <a:ea typeface="宋体" pitchFamily="2" charset="-122"/>
                <a:cs typeface="+mn-cs"/>
              </a:rPr>
            </a:fld>
            <a:endParaRPr lang="zh-CN" altLang="en-US" sz="1200" strike="noStrike" noProof="1">
              <a:latin typeface="Times New Roman" panose="0202050305040509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p:cNvSpPr>
            <a:spLocks noGrp="1" noChangeArrowheads="1"/>
          </p:cNvSpPr>
          <p:nvPr>
            <p:ph type="hdr" sz="quarter"/>
          </p:nvPr>
        </p:nvSpPr>
        <p:spPr bwMode="auto">
          <a:xfrm>
            <a:off x="0" y="0"/>
            <a:ext cx="2895600" cy="457200"/>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5" name="Rectangle 3"/>
          <p:cNvSpPr>
            <a:spLocks noGrp="1" noChangeArrowheads="1"/>
          </p:cNvSpPr>
          <p:nvPr>
            <p:ph type="dt" idx="1"/>
          </p:nvPr>
        </p:nvSpPr>
        <p:spPr bwMode="auto">
          <a:xfrm>
            <a:off x="3808413" y="0"/>
            <a:ext cx="2971800" cy="457200"/>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172" name="Rectangle 4"/>
          <p:cNvSpPr>
            <a:spLocks noGrp="1" noRot="1" noChangeAspect="1" noTextEdit="1"/>
          </p:cNvSpPr>
          <p:nvPr>
            <p:ph type="sldImg"/>
          </p:nvPr>
        </p:nvSpPr>
        <p:spPr>
          <a:xfrm>
            <a:off x="139700" y="762000"/>
            <a:ext cx="6502400" cy="3657600"/>
          </a:xfrm>
          <a:prstGeom prst="rect">
            <a:avLst/>
          </a:prstGeom>
          <a:noFill/>
          <a:ln w="9525" cap="flat" cmpd="sng">
            <a:solidFill>
              <a:srgbClr val="000000"/>
            </a:solidFill>
            <a:prstDash val="solid"/>
            <a:miter/>
            <a:headEnd type="none" w="med" len="med"/>
            <a:tailEnd type="none" w="med" len="med"/>
          </a:ln>
        </p:spPr>
      </p:sp>
      <p:sp>
        <p:nvSpPr>
          <p:cNvPr id="7173" name="Rectangle 5"/>
          <p:cNvSpPr>
            <a:spLocks noGrp="1"/>
          </p:cNvSpPr>
          <p:nvPr>
            <p:ph type="body" sz="quarter"/>
          </p:nvPr>
        </p:nvSpPr>
        <p:spPr>
          <a:xfrm>
            <a:off x="914400" y="4724400"/>
            <a:ext cx="4951413" cy="4418013"/>
          </a:xfrm>
          <a:prstGeom prst="rect">
            <a:avLst/>
          </a:prstGeom>
          <a:noFill/>
          <a:ln w="9525">
            <a:noFill/>
          </a:ln>
        </p:spPr>
        <p:txBody>
          <a:bodyPr vert="horz" wrap="square" lIns="91422" tIns="45711" rIns="91422" bIns="45711"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71398" name="Rectangle 6"/>
          <p:cNvSpPr>
            <a:spLocks noGrp="1" noChangeArrowheads="1"/>
          </p:cNvSpPr>
          <p:nvPr>
            <p:ph type="ftr" sz="quarter" idx="4"/>
          </p:nvPr>
        </p:nvSpPr>
        <p:spPr bwMode="auto">
          <a:xfrm>
            <a:off x="0" y="9371013"/>
            <a:ext cx="2895600" cy="457200"/>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9" name="Rectangle 7"/>
          <p:cNvSpPr>
            <a:spLocks noGrp="1" noChangeArrowheads="1"/>
          </p:cNvSpPr>
          <p:nvPr>
            <p:ph type="sldNum" sz="quarter" idx="5"/>
          </p:nvPr>
        </p:nvSpPr>
        <p:spPr bwMode="auto">
          <a:xfrm>
            <a:off x="3808413" y="9371013"/>
            <a:ext cx="2971800" cy="457200"/>
          </a:xfrm>
          <a:prstGeom prst="rect">
            <a:avLst/>
          </a:prstGeom>
          <a:noFill/>
          <a:ln w="9525">
            <a:noFill/>
            <a:miter lim="800000"/>
          </a:ln>
          <a:effectLst/>
        </p:spPr>
        <p:txBody>
          <a:bodyPr vert="horz" wrap="square" lIns="91422" tIns="45711" rIns="91422" bIns="45711" numCol="1" anchor="b" anchorCtr="0" compatLnSpc="1"/>
          <a:lstStyle/>
          <a:p>
            <a:pPr lvl="0" algn="r" eaLnBrk="1" fontAlgn="base" hangingPunct="1">
              <a:buNone/>
            </a:pPr>
            <a:fld id="{9A0DB2DC-4C9A-4742-B13C-FB6460FD3503}" type="slidenum">
              <a:rPr lang="zh-CN" altLang="en-US" sz="1200" strike="noStrike" noProof="1" dirty="0">
                <a:latin typeface="Times New Roman" panose="02020503050405090304" pitchFamily="18" charset="0"/>
                <a:ea typeface="宋体" pitchFamily="2" charset="-122"/>
                <a:cs typeface="+mn-cs"/>
              </a:rPr>
            </a:fld>
            <a:endParaRPr lang="zh-CN" altLang="en-US" sz="1200" strike="noStrike" noProof="1">
              <a:latin typeface="Times New Roman" panose="0202050305040509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TextEdit="1"/>
          </p:cNvSpPr>
          <p:nvPr>
            <p:ph type="sldImg"/>
          </p:nvPr>
        </p:nvSpPr>
        <p:spPr/>
      </p:sp>
      <p:sp>
        <p:nvSpPr>
          <p:cNvPr id="9218"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9219"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en-SG" altLang="zh-CN" sz="1200" dirty="0">
                <a:latin typeface="Times New Roman" panose="02020503050405090304" pitchFamily="18" charset="0"/>
                <a:ea typeface="宋体" pitchFamily="2" charset="-122"/>
              </a:rPr>
            </a:fld>
            <a:endParaRPr lang="en-SG" altLang="zh-CN" sz="1200" dirty="0">
              <a:latin typeface="Times New Roman" panose="02020503050405090304" pitchFamily="18"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TextEdit="1"/>
          </p:cNvSpPr>
          <p:nvPr>
            <p:ph type="sldImg"/>
          </p:nvPr>
        </p:nvSpPr>
        <p:spPr>
          <a:xfrm>
            <a:off x="88900" y="739775"/>
            <a:ext cx="6580188" cy="3702050"/>
          </a:xfrm>
        </p:spPr>
      </p:sp>
      <p:sp>
        <p:nvSpPr>
          <p:cNvPr id="11266" name="Rectangle 3"/>
          <p:cNvSpPr>
            <a:spLocks noGrp="1"/>
          </p:cNvSpPr>
          <p:nvPr>
            <p:ph type="body"/>
          </p:nvPr>
        </p:nvSpPr>
        <p:spPr>
          <a:xfrm>
            <a:off x="677863" y="4686300"/>
            <a:ext cx="5405437"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TextEdit="1"/>
          </p:cNvSpPr>
          <p:nvPr>
            <p:ph type="sldImg"/>
          </p:nvPr>
        </p:nvSpPr>
        <p:spPr>
          <a:xfrm>
            <a:off x="93663" y="739775"/>
            <a:ext cx="6575425" cy="3698875"/>
          </a:xfrm>
        </p:spPr>
      </p:sp>
      <p:sp>
        <p:nvSpPr>
          <p:cNvPr id="18434"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r>
              <a:rPr lang="zh-CN" altLang="en-US" dirty="0">
                <a:ea typeface="宋体" pitchFamily="2" charset="-122"/>
              </a:rPr>
              <a:t>因为函数是</a:t>
            </a:r>
            <a:r>
              <a:rPr lang="en-US" altLang="zh-CN" dirty="0">
                <a:ea typeface="宋体" pitchFamily="2" charset="-122"/>
              </a:rPr>
              <a:t>C</a:t>
            </a:r>
            <a:r>
              <a:rPr lang="zh-CN" altLang="en-US" dirty="0">
                <a:ea typeface="宋体" pitchFamily="2" charset="-122"/>
              </a:rPr>
              <a:t>语言中唯一能独立实现、封装、复用并通过接口（参数与返回值）与其他部分协作的结构单元，所以函数是</a:t>
            </a:r>
            <a:r>
              <a:rPr lang="en-US" altLang="zh-CN" dirty="0">
                <a:ea typeface="宋体" pitchFamily="2" charset="-122"/>
              </a:rPr>
              <a:t>C</a:t>
            </a:r>
            <a:r>
              <a:rPr lang="zh-CN" altLang="en-US" dirty="0">
                <a:ea typeface="宋体" pitchFamily="2" charset="-122"/>
              </a:rPr>
              <a:t>语言模块化编程的最小单位</a:t>
            </a:r>
            <a:endParaRPr lang="zh-CN" altLang="en-US" dirty="0">
              <a:ea typeface="宋体" pitchFamily="2" charset="-122"/>
            </a:endParaRPr>
          </a:p>
          <a:p>
            <a:pPr lvl="0" eaLnBrk="1" hangingPunct="1"/>
            <a:r>
              <a:rPr lang="zh-CN" altLang="en-US" dirty="0">
                <a:ea typeface="宋体" pitchFamily="2" charset="-122"/>
              </a:rPr>
              <a:t>编译预处理命令是以</a:t>
            </a:r>
            <a:r>
              <a:rPr lang="en-US" altLang="zh-CN" dirty="0">
                <a:ea typeface="宋体" pitchFamily="2" charset="-122"/>
              </a:rPr>
              <a:t> # </a:t>
            </a:r>
            <a:r>
              <a:rPr lang="zh-CN" altLang="en-US" dirty="0">
                <a:ea typeface="宋体" pitchFamily="2" charset="-122"/>
              </a:rPr>
              <a:t>开头的指令，用于在编译前执行文件包含、宏定义、条件编译等操作，是</a:t>
            </a:r>
            <a:r>
              <a:rPr lang="en-US" altLang="zh-CN" dirty="0">
                <a:ea typeface="宋体" pitchFamily="2" charset="-122"/>
              </a:rPr>
              <a:t> C </a:t>
            </a:r>
            <a:r>
              <a:rPr lang="zh-CN" altLang="en-US" dirty="0">
                <a:ea typeface="宋体" pitchFamily="2" charset="-122"/>
              </a:rPr>
              <a:t>程序编译流程中的第一步</a:t>
            </a:r>
            <a:endParaRPr lang="zh-CN" altLang="en-US" dirty="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TextEdit="1"/>
          </p:cNvSpPr>
          <p:nvPr>
            <p:ph type="sldImg"/>
          </p:nvPr>
        </p:nvSpPr>
        <p:spPr>
          <a:xfrm>
            <a:off x="93663" y="739775"/>
            <a:ext cx="6575425" cy="3698875"/>
          </a:xfrm>
        </p:spPr>
      </p:sp>
      <p:sp>
        <p:nvSpPr>
          <p:cNvPr id="20482"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a:xfrm>
            <a:off x="93663" y="739775"/>
            <a:ext cx="6575425" cy="3698875"/>
          </a:xfrm>
        </p:spPr>
      </p:sp>
      <p:sp>
        <p:nvSpPr>
          <p:cNvPr id="22530"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Rot="1" noChangeAspect="1" noTextEdit="1"/>
          </p:cNvSpPr>
          <p:nvPr>
            <p:ph type="sldImg"/>
          </p:nvPr>
        </p:nvSpPr>
        <p:spPr>
          <a:xfrm>
            <a:off x="93663" y="739775"/>
            <a:ext cx="6575425" cy="3698875"/>
          </a:xfrm>
        </p:spPr>
      </p:sp>
      <p:sp>
        <p:nvSpPr>
          <p:cNvPr id="25602"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Rot="1" noChangeAspect="1" noTextEdit="1"/>
          </p:cNvSpPr>
          <p:nvPr>
            <p:ph type="sldImg"/>
          </p:nvPr>
        </p:nvSpPr>
        <p:spPr>
          <a:xfrm>
            <a:off x="93663" y="739775"/>
            <a:ext cx="6575425" cy="3698875"/>
          </a:xfrm>
        </p:spPr>
      </p:sp>
      <p:sp>
        <p:nvSpPr>
          <p:cNvPr id="27650"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Rot="1" noChangeAspect="1" noTextEdit="1"/>
          </p:cNvSpPr>
          <p:nvPr>
            <p:ph type="sldImg"/>
          </p:nvPr>
        </p:nvSpPr>
        <p:spPr/>
      </p:sp>
      <p:sp>
        <p:nvSpPr>
          <p:cNvPr id="33794" name="Rectangle 3"/>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p:sp>
      <p:sp>
        <p:nvSpPr>
          <p:cNvPr id="37890" name="备注占位符 2"/>
          <p:cNvSpPr>
            <a:spLocks noGrp="1"/>
          </p:cNvSpPr>
          <p:nvPr>
            <p:ph type="body"/>
          </p:nvPr>
        </p:nvSpPr>
        <p:spPr/>
        <p:txBody>
          <a:bodyPr wrap="square" lIns="91422" tIns="45711" rIns="91422" bIns="45711" anchor="t" anchorCtr="0"/>
          <a:lstStyle/>
          <a:p>
            <a:pPr lvl="0"/>
            <a:r>
              <a:rPr lang="zh-CN" altLang="en-US" dirty="0">
                <a:ea typeface="宋体" pitchFamily="2" charset="-122"/>
              </a:rPr>
              <a:t>需要让学生写这个例子来练习一下函数调用。</a:t>
            </a:r>
            <a:endParaRPr lang="zh-CN" altLang="en-US" dirty="0">
              <a:ea typeface="宋体" pitchFamily="2" charset="-122"/>
            </a:endParaRPr>
          </a:p>
        </p:txBody>
      </p:sp>
      <p:sp>
        <p:nvSpPr>
          <p:cNvPr id="37891" name="幻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TextEdit="1"/>
          </p:cNvSpPr>
          <p:nvPr>
            <p:ph type="sldImg"/>
          </p:nvPr>
        </p:nvSpPr>
        <p:spPr>
          <a:xfrm>
            <a:off x="90488" y="739775"/>
            <a:ext cx="6577012" cy="3700463"/>
          </a:xfrm>
        </p:spPr>
      </p:sp>
      <p:sp>
        <p:nvSpPr>
          <p:cNvPr id="46082"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Rot="1" noChangeAspect="1" noTextEdit="1"/>
          </p:cNvSpPr>
          <p:nvPr>
            <p:ph type="sldImg"/>
          </p:nvPr>
        </p:nvSpPr>
        <p:spPr>
          <a:xfrm>
            <a:off x="90488" y="739775"/>
            <a:ext cx="6577012" cy="3700463"/>
          </a:xfrm>
        </p:spPr>
      </p:sp>
      <p:sp>
        <p:nvSpPr>
          <p:cNvPr id="48130"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Rot="1" noChangeAspect="1" noTextEdit="1"/>
          </p:cNvSpPr>
          <p:nvPr>
            <p:ph type="sldImg"/>
          </p:nvPr>
        </p:nvSpPr>
        <p:spPr>
          <a:xfrm>
            <a:off x="90488" y="739775"/>
            <a:ext cx="6577012" cy="3700463"/>
          </a:xfrm>
        </p:spPr>
      </p:sp>
      <p:sp>
        <p:nvSpPr>
          <p:cNvPr id="50178"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TextEdit="1"/>
          </p:cNvSpPr>
          <p:nvPr>
            <p:ph type="sldImg"/>
          </p:nvPr>
        </p:nvSpPr>
        <p:spPr>
          <a:xfrm>
            <a:off x="90488" y="739775"/>
            <a:ext cx="6577012" cy="3700463"/>
          </a:xfrm>
        </p:spPr>
      </p:sp>
      <p:sp>
        <p:nvSpPr>
          <p:cNvPr id="52226"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TextEdit="1"/>
          </p:cNvSpPr>
          <p:nvPr>
            <p:ph type="sldImg"/>
          </p:nvPr>
        </p:nvSpPr>
        <p:spPr>
          <a:xfrm>
            <a:off x="90488" y="739775"/>
            <a:ext cx="6577012" cy="3700463"/>
          </a:xfrm>
        </p:spPr>
      </p:sp>
      <p:sp>
        <p:nvSpPr>
          <p:cNvPr id="54274"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TextEdit="1"/>
          </p:cNvSpPr>
          <p:nvPr>
            <p:ph type="sldImg"/>
          </p:nvPr>
        </p:nvSpPr>
        <p:spPr>
          <a:xfrm>
            <a:off x="90488" y="739775"/>
            <a:ext cx="6577012" cy="3700463"/>
          </a:xfrm>
        </p:spPr>
      </p:sp>
      <p:sp>
        <p:nvSpPr>
          <p:cNvPr id="56322"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TextEdit="1"/>
          </p:cNvSpPr>
          <p:nvPr>
            <p:ph type="sldImg"/>
          </p:nvPr>
        </p:nvSpPr>
        <p:spPr>
          <a:xfrm>
            <a:off x="90488" y="739775"/>
            <a:ext cx="6577012" cy="3700463"/>
          </a:xfrm>
        </p:spPr>
      </p:sp>
      <p:sp>
        <p:nvSpPr>
          <p:cNvPr id="61442"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b="1" i="1" dirty="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p:cNvSpPr>
            <a:spLocks noGrp="1" noRot="1" noChangeAspect="1" noTextEdit="1"/>
          </p:cNvSpPr>
          <p:nvPr>
            <p:ph type="sldImg"/>
          </p:nvPr>
        </p:nvSpPr>
        <p:spPr/>
      </p:sp>
      <p:sp>
        <p:nvSpPr>
          <p:cNvPr id="65538"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65539" name="幻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TextEdit="1"/>
          </p:cNvSpPr>
          <p:nvPr>
            <p:ph type="sldImg"/>
          </p:nvPr>
        </p:nvSpPr>
        <p:spPr>
          <a:xfrm>
            <a:off x="90488" y="739775"/>
            <a:ext cx="6577012" cy="3700463"/>
          </a:xfrm>
        </p:spPr>
      </p:sp>
      <p:sp>
        <p:nvSpPr>
          <p:cNvPr id="71682" name="Rectangle 3"/>
          <p:cNvSpPr>
            <a:spLocks noGrp="1"/>
          </p:cNvSpPr>
          <p:nvPr>
            <p:ph type="body"/>
          </p:nvPr>
        </p:nvSpPr>
        <p:spPr>
          <a:xfrm>
            <a:off x="900113" y="4686300"/>
            <a:ext cx="495776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Rot="1" noChangeAspect="1" noTextEdit="1"/>
          </p:cNvSpPr>
          <p:nvPr>
            <p:ph type="sldImg"/>
          </p:nvPr>
        </p:nvSpPr>
        <p:spPr>
          <a:xfrm>
            <a:off x="90488" y="739775"/>
            <a:ext cx="6577012" cy="3700463"/>
          </a:xfrm>
        </p:spPr>
      </p:sp>
      <p:sp>
        <p:nvSpPr>
          <p:cNvPr id="74754" name="Rectangle 3"/>
          <p:cNvSpPr>
            <a:spLocks noGrp="1"/>
          </p:cNvSpPr>
          <p:nvPr>
            <p:ph type="body"/>
          </p:nvPr>
        </p:nvSpPr>
        <p:spPr>
          <a:xfrm>
            <a:off x="674688" y="4686300"/>
            <a:ext cx="5408612"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TextEdit="1"/>
          </p:cNvSpPr>
          <p:nvPr>
            <p:ph type="sldImg"/>
          </p:nvPr>
        </p:nvSpPr>
        <p:spPr>
          <a:xfrm>
            <a:off x="93663" y="739775"/>
            <a:ext cx="6575425" cy="3698875"/>
          </a:xfrm>
        </p:spPr>
      </p:sp>
      <p:sp>
        <p:nvSpPr>
          <p:cNvPr id="81922" name="Rectangle 3"/>
          <p:cNvSpPr>
            <a:spLocks noGrp="1"/>
          </p:cNvSpPr>
          <p:nvPr>
            <p:ph type="body"/>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a:xfrm>
            <a:off x="93663" y="739775"/>
            <a:ext cx="6575425" cy="3698875"/>
          </a:xfrm>
        </p:spPr>
      </p:sp>
      <p:sp>
        <p:nvSpPr>
          <p:cNvPr id="73731"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TextEdit="1"/>
          </p:cNvSpPr>
          <p:nvPr>
            <p:ph type="sldImg"/>
          </p:nvPr>
        </p:nvSpPr>
        <p:spPr>
          <a:xfrm>
            <a:off x="93663" y="739775"/>
            <a:ext cx="6575425" cy="3698875"/>
          </a:xfrm>
        </p:spPr>
      </p:sp>
      <p:sp>
        <p:nvSpPr>
          <p:cNvPr id="75779"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TextEdit="1"/>
          </p:cNvSpPr>
          <p:nvPr>
            <p:ph type="sldImg"/>
          </p:nvPr>
        </p:nvSpPr>
        <p:spPr>
          <a:xfrm>
            <a:off x="93663" y="739775"/>
            <a:ext cx="6575425" cy="3698875"/>
          </a:xfrm>
        </p:spPr>
      </p:sp>
      <p:sp>
        <p:nvSpPr>
          <p:cNvPr id="77827"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TextEdit="1"/>
          </p:cNvSpPr>
          <p:nvPr>
            <p:ph type="sldImg"/>
          </p:nvPr>
        </p:nvSpPr>
        <p:spPr>
          <a:xfrm>
            <a:off x="93663" y="739775"/>
            <a:ext cx="6575425" cy="3698875"/>
          </a:xfrm>
        </p:spPr>
      </p:sp>
      <p:sp>
        <p:nvSpPr>
          <p:cNvPr id="79875"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xfrm>
            <a:off x="93663" y="739775"/>
            <a:ext cx="6575425" cy="3698875"/>
          </a:xfrm>
        </p:spPr>
      </p:sp>
      <p:sp>
        <p:nvSpPr>
          <p:cNvPr id="81923"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TextEdit="1"/>
          </p:cNvSpPr>
          <p:nvPr>
            <p:ph type="sldImg"/>
          </p:nvPr>
        </p:nvSpPr>
        <p:spPr>
          <a:xfrm>
            <a:off x="93663" y="739775"/>
            <a:ext cx="6575425" cy="3698875"/>
          </a:xfrm>
        </p:spPr>
      </p:sp>
      <p:sp>
        <p:nvSpPr>
          <p:cNvPr id="83971"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TextEdit="1"/>
          </p:cNvSpPr>
          <p:nvPr>
            <p:ph type="sldImg"/>
          </p:nvPr>
        </p:nvSpPr>
        <p:spPr>
          <a:xfrm>
            <a:off x="93663" y="739775"/>
            <a:ext cx="6575425" cy="3698875"/>
          </a:xfrm>
        </p:spPr>
      </p:sp>
      <p:sp>
        <p:nvSpPr>
          <p:cNvPr id="86019"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TextEdit="1"/>
          </p:cNvSpPr>
          <p:nvPr>
            <p:ph type="sldImg"/>
          </p:nvPr>
        </p:nvSpPr>
        <p:spPr>
          <a:xfrm>
            <a:off x="93663" y="739775"/>
            <a:ext cx="6575425" cy="3698875"/>
          </a:xfrm>
        </p:spPr>
      </p:sp>
      <p:sp>
        <p:nvSpPr>
          <p:cNvPr id="88067" name="Rectangle 3"/>
          <p:cNvSpPr>
            <a:spLocks noGrp="1"/>
          </p:cNvSpPr>
          <p:nvPr>
            <p:ph type="body" idx="1"/>
          </p:nvPr>
        </p:nvSpPr>
        <p:spPr>
          <a:xfrm>
            <a:off x="674688" y="4686300"/>
            <a:ext cx="5408612"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TextEdit="1"/>
          </p:cNvSpPr>
          <p:nvPr>
            <p:ph type="sldImg"/>
          </p:nvPr>
        </p:nvSpPr>
        <p:spPr/>
      </p:sp>
      <p:sp>
        <p:nvSpPr>
          <p:cNvPr id="93186"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93187"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TextEdit="1"/>
          </p:cNvSpPr>
          <p:nvPr>
            <p:ph type="sldImg"/>
          </p:nvPr>
        </p:nvSpPr>
        <p:spPr/>
      </p:sp>
      <p:sp>
        <p:nvSpPr>
          <p:cNvPr id="95234"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95235"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幻灯片图像占位符 1"/>
          <p:cNvSpPr>
            <a:spLocks noGrp="1" noRot="1" noChangeAspect="1" noTextEdit="1"/>
          </p:cNvSpPr>
          <p:nvPr>
            <p:ph type="sldImg"/>
          </p:nvPr>
        </p:nvSpPr>
        <p:spPr/>
      </p:sp>
      <p:sp>
        <p:nvSpPr>
          <p:cNvPr id="98306"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98307"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p:cNvSpPr>
            <a:spLocks noGrp="1" noRot="1" noChangeAspect="1" noTextEdit="1"/>
          </p:cNvSpPr>
          <p:nvPr>
            <p:ph type="sldImg"/>
          </p:nvPr>
        </p:nvSpPr>
        <p:spPr/>
      </p:sp>
      <p:sp>
        <p:nvSpPr>
          <p:cNvPr id="100354"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100355"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p:cNvSpPr>
            <a:spLocks noGrp="1" noRot="1" noChangeAspect="1" noTextEdit="1"/>
          </p:cNvSpPr>
          <p:nvPr>
            <p:ph type="sldImg"/>
          </p:nvPr>
        </p:nvSpPr>
        <p:spPr/>
      </p:sp>
      <p:sp>
        <p:nvSpPr>
          <p:cNvPr id="102402"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102403" name="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幻灯片图像占位符 1"/>
          <p:cNvSpPr>
            <a:spLocks noGrp="1" noRot="1" noChangeAspect="1" noTextEdit="1"/>
          </p:cNvSpPr>
          <p:nvPr>
            <p:ph type="sldImg"/>
          </p:nvPr>
        </p:nvSpPr>
        <p:spPr/>
      </p:sp>
      <p:sp>
        <p:nvSpPr>
          <p:cNvPr id="104450"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104451" name="幻灯片编号占位符 3"/>
          <p:cNvSpPr txBox="1">
            <a:spLocks noGrp="1"/>
          </p:cNvSpPr>
          <p:nvPr>
            <p:ph type="sldNum" sz="quarter"/>
          </p:nvPr>
        </p:nvSpPr>
        <p:spPr>
          <a:xfrm>
            <a:off x="3808413" y="9371013"/>
            <a:ext cx="2971800" cy="457200"/>
          </a:xfrm>
          <a:prstGeom prst="rect">
            <a:avLst/>
          </a:prstGeom>
          <a:noFill/>
          <a:ln w="9525">
            <a:noFill/>
          </a:ln>
        </p:spPr>
        <p:txBody>
          <a:bodyPr vert="horz" wrap="square"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ea typeface="宋体" pitchFamily="2" charset="-122"/>
              </a:rPr>
            </a:fld>
            <a:endParaRPr lang="zh-CN" altLang="en-US" sz="1200" dirty="0">
              <a:latin typeface="Times New Roman" panose="02020503050405090304" pitchFamily="18"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3" name="页脚占位符 6"/>
          <p:cNvSpPr>
            <a:spLocks noGrp="1"/>
          </p:cNvSpPr>
          <p:nvPr/>
        </p:nvSpPr>
        <p:spPr>
          <a:xfrm>
            <a:off x="10439400" y="115888"/>
            <a:ext cx="1949450" cy="360363"/>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zh-CN" altLang="en-US"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第</a:t>
            </a:r>
            <a:r>
              <a:rPr kumimoji="0" lang="en-US" altLang="zh-CN"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7</a:t>
            </a:r>
            <a:r>
              <a:rPr kumimoji="0" lang="zh-CN" altLang="en-US"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章  函数</a:t>
            </a:r>
            <a:endParaRPr kumimoji="0" lang="en-US" altLang="zh-CN"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14" name="矩形 13"/>
          <p:cNvSpPr/>
          <p:nvPr/>
        </p:nvSpPr>
        <p:spPr>
          <a:xfrm>
            <a:off x="914400" y="3197225"/>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nvGrpSpPr>
          <p:cNvPr id="2054" name="Group 10"/>
          <p:cNvGrpSpPr/>
          <p:nvPr/>
        </p:nvGrpSpPr>
        <p:grpSpPr>
          <a:xfrm>
            <a:off x="736600" y="2924175"/>
            <a:ext cx="10410825" cy="1463675"/>
            <a:chOff x="336" y="1824"/>
            <a:chExt cx="5328" cy="922"/>
          </a:xfrm>
        </p:grpSpPr>
        <p:pic>
          <p:nvPicPr>
            <p:cNvPr id="2055" name="Picture 8" descr="ANABNR2"/>
            <p:cNvPicPr>
              <a:picLocks noChangeAspect="1"/>
            </p:cNvPicPr>
            <p:nvPr userDrawn="1"/>
          </p:nvPicPr>
          <p:blipFill>
            <a:blip r:embed="rId3"/>
            <a:srcRect l="-900" t="-1314" r="-2" b="-36961"/>
            <a:stretch>
              <a:fillRect/>
            </a:stretch>
          </p:blipFill>
          <p:spPr>
            <a:xfrm>
              <a:off x="336" y="2016"/>
              <a:ext cx="5328" cy="730"/>
            </a:xfrm>
            <a:prstGeom prst="rect">
              <a:avLst/>
            </a:prstGeom>
            <a:noFill/>
            <a:ln w="9525">
              <a:noFill/>
            </a:ln>
          </p:spPr>
        </p:pic>
        <p:sp>
          <p:nvSpPr>
            <p:cNvPr id="17" name="Rectangle 9"/>
            <p:cNvSpPr>
              <a:spLocks noChangeArrowheads="1"/>
            </p:cNvSpPr>
            <p:nvPr/>
          </p:nvSpPr>
          <p:spPr bwMode="hidden">
            <a:xfrm>
              <a:off x="501" y="1824"/>
              <a:ext cx="192" cy="624"/>
            </a:xfrm>
            <a:prstGeom prst="rect">
              <a:avLst/>
            </a:prstGeom>
            <a:solidFill>
              <a:srgbClr val="FFCC99">
                <a:alpha val="50195"/>
              </a:srgbClr>
            </a:solidFill>
            <a:ln>
              <a:noFill/>
            </a:ln>
          </p:spPr>
          <p:txBody>
            <a:bodyPr wrap="none" anchor="ctr"/>
            <a:lstStyle>
              <a:lvl1pPr>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1pPr>
              <a:lvl2pPr marL="742950" indent="-28575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2pPr>
              <a:lvl3pPr marL="11430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3pPr>
              <a:lvl4pPr marL="16002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4pPr>
              <a:lvl5pPr marL="20574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grpSp>
      <p:pic>
        <p:nvPicPr>
          <p:cNvPr id="2057" name="图片 5"/>
          <p:cNvPicPr>
            <a:picLocks noChangeAspect="1"/>
          </p:cNvPicPr>
          <p:nvPr/>
        </p:nvPicPr>
        <p:blipFill>
          <a:blip r:embed="rId4">
            <a:lum contrast="-14000"/>
          </a:blip>
          <a:stretch>
            <a:fillRect/>
          </a:stretch>
        </p:blipFill>
        <p:spPr>
          <a:xfrm>
            <a:off x="0" y="0"/>
            <a:ext cx="12192000" cy="1722438"/>
          </a:xfrm>
          <a:prstGeom prst="rect">
            <a:avLst/>
          </a:prstGeom>
          <a:noFill/>
          <a:ln w="9525">
            <a:noFill/>
          </a:ln>
        </p:spPr>
      </p:pic>
      <p:pic>
        <p:nvPicPr>
          <p:cNvPr id="2058" name="Picture 2"/>
          <p:cNvPicPr>
            <a:picLocks noChangeAspect="1"/>
          </p:cNvPicPr>
          <p:nvPr userDrawn="1"/>
        </p:nvPicPr>
        <p:blipFill>
          <a:blip r:embed="rId5"/>
          <a:stretch>
            <a:fillRect/>
          </a:stretch>
        </p:blipFill>
        <p:spPr>
          <a:xfrm>
            <a:off x="866775" y="4149725"/>
            <a:ext cx="2216150" cy="2249488"/>
          </a:xfrm>
          <a:prstGeom prst="rect">
            <a:avLst/>
          </a:prstGeom>
          <a:noFill/>
          <a:ln w="9525">
            <a:noFill/>
          </a:ln>
        </p:spPr>
      </p:pic>
      <p:pic>
        <p:nvPicPr>
          <p:cNvPr id="2059" name="Picture 3"/>
          <p:cNvPicPr>
            <a:picLocks noChangeAspect="1"/>
          </p:cNvPicPr>
          <p:nvPr userDrawn="1"/>
        </p:nvPicPr>
        <p:blipFill>
          <a:blip r:embed="rId6"/>
          <a:stretch>
            <a:fillRect/>
          </a:stretch>
        </p:blipFill>
        <p:spPr>
          <a:xfrm>
            <a:off x="9020175" y="4149725"/>
            <a:ext cx="2178050" cy="2249488"/>
          </a:xfrm>
          <a:prstGeom prst="rect">
            <a:avLst/>
          </a:prstGeom>
          <a:noFill/>
          <a:ln w="9525">
            <a:noFill/>
          </a:ln>
        </p:spPr>
      </p:pic>
      <p:sp>
        <p:nvSpPr>
          <p:cNvPr id="21" name="页脚占位符 4"/>
          <p:cNvSpPr txBox="1"/>
          <p:nvPr/>
        </p:nvSpPr>
        <p:spPr>
          <a:xfrm>
            <a:off x="2092325" y="6384925"/>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11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mn-cs"/>
              </a:rPr>
              <a:t>版权所有，违者必究</a:t>
            </a:r>
            <a:endParaRPr kumimoji="0" lang="en-US" altLang="zh-CN" sz="11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mn-cs"/>
            </a:endParaRPr>
          </a:p>
        </p:txBody>
      </p:sp>
      <p:sp>
        <p:nvSpPr>
          <p:cNvPr id="2" name="标题 1"/>
          <p:cNvSpPr>
            <a:spLocks noGrp="1"/>
          </p:cNvSpPr>
          <p:nvPr>
            <p:ph type="ctrTitle"/>
          </p:nvPr>
        </p:nvSpPr>
        <p:spPr>
          <a:xfrm>
            <a:off x="914400" y="1676401"/>
            <a:ext cx="10363200" cy="1538286"/>
          </a:xfrm>
        </p:spPr>
        <p:txBody>
          <a:bodyPr anchor="b"/>
          <a:lstStyle/>
          <a:p>
            <a:pPr fontAlgn="base"/>
            <a:r>
              <a:rPr lang="zh-CN" altLang="en-US" strike="noStrike" noProof="1"/>
              <a:t>单击此处编辑母版标题样式</a:t>
            </a:r>
            <a:endParaRPr lang="en-US" strike="noStrike" noProof="1"/>
          </a:p>
        </p:txBody>
      </p:sp>
      <p:sp>
        <p:nvSpPr>
          <p:cNvPr id="22" name="页脚占位符 4"/>
          <p:cNvSpPr>
            <a:spLocks noGrp="1"/>
          </p:cNvSpPr>
          <p:nvPr>
            <p:ph type="ftr" sz="quarter" idx="3"/>
          </p:nvPr>
        </p:nvSpPr>
        <p:spPr>
          <a:xfrm>
            <a:off x="3171825"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23" name="灯片编号占位符 5"/>
          <p:cNvSpPr>
            <a:spLocks noGrp="1"/>
          </p:cNvSpPr>
          <p:nvPr>
            <p:ph type="sldNum" sz="quarter" idx="4"/>
          </p:nvPr>
        </p:nvSpPr>
        <p:spPr>
          <a:xfrm>
            <a:off x="10902950" y="6400800"/>
            <a:ext cx="1219200" cy="284163"/>
          </a:xfrm>
          <a:prstGeom prst="rect">
            <a:avLst/>
          </a:prstGeom>
          <a:noFill/>
        </p:spPr>
        <p:txBody>
          <a:bodyPr vert="horz" wrap="square" lIns="45720" tIns="45720" rIns="45720" bIns="45720" numCol="1" anchor="ctr" anchorCtr="0" compatLnSpc="1"/>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dirty="0">
                <a:latin typeface="Arial" panose="020B0604020202090204" pitchFamily="34" charset="0"/>
                <a:ea typeface="宋体" pitchFamily="2" charset="-122"/>
                <a:cs typeface="+mn-cs"/>
              </a:rPr>
            </a:fld>
            <a:endParaRPr lang="en-US" altLang="zh-CN"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609600" y="1411288"/>
            <a:ext cx="109728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609600" y="269776"/>
            <a:ext cx="10972800" cy="1143000"/>
          </a:xfrm>
        </p:spPr>
        <p:txBody>
          <a:bodyPr/>
          <a:lstStyle>
            <a:lvl1pPr>
              <a:defRPr>
                <a:latin typeface="Arial" panose="020B0604020202090204" pitchFamily="34" charset="0"/>
                <a:ea typeface="黑体" panose="02010609060101010101" pitchFamily="49" charset="-122"/>
                <a:cs typeface="Arial" panose="020B0604020202090204" pitchFamily="34" charset="0"/>
              </a:defRPr>
            </a:lvl1p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idx="1"/>
          </p:nvPr>
        </p:nvSpPr>
        <p:spPr/>
        <p:txBody>
          <a:bodyPr/>
          <a:lstStyle>
            <a:lvl1pPr>
              <a:lnSpc>
                <a:spcPct val="120000"/>
              </a:lnSpc>
              <a:spcBef>
                <a:spcPts val="600"/>
              </a:spcBef>
              <a:spcAft>
                <a:spcPts val="600"/>
              </a:spcAft>
              <a:defRPr sz="2800">
                <a:latin typeface="Times New Roman" panose="02020503050405090304" pitchFamily="18" charset="0"/>
                <a:cs typeface="Times New Roman" panose="02020503050405090304" pitchFamily="18" charset="0"/>
              </a:defRPr>
            </a:lvl1pPr>
            <a:lvl2pPr>
              <a:lnSpc>
                <a:spcPct val="120000"/>
              </a:lnSpc>
              <a:spcBef>
                <a:spcPts val="600"/>
              </a:spcBef>
              <a:spcAft>
                <a:spcPts val="600"/>
              </a:spcAft>
              <a:defRPr sz="2400">
                <a:solidFill>
                  <a:srgbClr val="333399"/>
                </a:solidFill>
                <a:latin typeface="Times New Roman" panose="02020503050405090304" pitchFamily="18" charset="0"/>
                <a:cs typeface="Times New Roman" panose="02020503050405090304" pitchFamily="18" charset="0"/>
              </a:defRPr>
            </a:lvl2pPr>
            <a:lvl3pPr>
              <a:lnSpc>
                <a:spcPct val="120000"/>
              </a:lnSpc>
              <a:spcBef>
                <a:spcPts val="600"/>
              </a:spcBef>
              <a:spcAft>
                <a:spcPts val="600"/>
              </a:spcAft>
              <a:defRPr sz="2000">
                <a:solidFill>
                  <a:srgbClr val="3333CC"/>
                </a:solidFill>
                <a:latin typeface="Times New Roman" panose="02020503050405090304" pitchFamily="18" charset="0"/>
                <a:cs typeface="Times New Roman" panose="02020503050405090304" pitchFamily="18" charset="0"/>
              </a:defRPr>
            </a:lvl3pPr>
            <a:lvl4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4pPr>
            <a:lvl5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2" name="页脚占位符 4"/>
          <p:cNvSpPr>
            <a:spLocks noGrp="1"/>
          </p:cNvSpPr>
          <p:nvPr>
            <p:ph type="ftr" sz="quarter" idx="3"/>
          </p:nvPr>
        </p:nvSpPr>
        <p:spPr>
          <a:xfrm>
            <a:off x="4041775"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13" name="灯片编号占位符 5"/>
          <p:cNvSpPr>
            <a:spLocks noGrp="1"/>
          </p:cNvSpPr>
          <p:nvPr>
            <p:ph type="sldNum" sz="quarter" idx="4"/>
          </p:nvPr>
        </p:nvSpPr>
        <p:spPr>
          <a:xfrm>
            <a:off x="10793413" y="6400800"/>
            <a:ext cx="1219200" cy="284163"/>
          </a:xfrm>
          <a:prstGeom prst="rect">
            <a:avLst/>
          </a:prstGeom>
          <a:noFill/>
        </p:spPr>
        <p:txBody>
          <a:bodyPr vert="horz" wrap="square" lIns="45720" tIns="45720" rIns="45720" bIns="45720" numCol="1" anchor="ctr" anchorCtr="0" compatLnSpc="1"/>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00200"/>
            <a:ext cx="10972800" cy="4686300"/>
          </a:xfrm>
        </p:spPr>
        <p:txBody>
          <a:bodyPr/>
          <a:lstStyle>
            <a:lvl1pPr>
              <a:lnSpc>
                <a:spcPct val="120000"/>
              </a:lnSpc>
              <a:spcBef>
                <a:spcPts val="600"/>
              </a:spcBef>
              <a:spcAft>
                <a:spcPts val="600"/>
              </a:spcAft>
              <a:defRPr sz="2800">
                <a:latin typeface="Times New Roman" panose="02020503050405090304" pitchFamily="18" charset="0"/>
                <a:cs typeface="Times New Roman" panose="02020503050405090304" pitchFamily="18" charset="0"/>
              </a:defRPr>
            </a:lvl1pPr>
            <a:lvl2pPr>
              <a:lnSpc>
                <a:spcPct val="120000"/>
              </a:lnSpc>
              <a:spcBef>
                <a:spcPts val="600"/>
              </a:spcBef>
              <a:spcAft>
                <a:spcPts val="600"/>
              </a:spcAft>
              <a:defRPr sz="2400">
                <a:solidFill>
                  <a:srgbClr val="333399"/>
                </a:solidFill>
                <a:latin typeface="Times New Roman" panose="02020503050405090304" pitchFamily="18" charset="0"/>
                <a:cs typeface="Times New Roman" panose="02020503050405090304" pitchFamily="18" charset="0"/>
              </a:defRPr>
            </a:lvl2pPr>
            <a:lvl3pPr>
              <a:lnSpc>
                <a:spcPct val="120000"/>
              </a:lnSpc>
              <a:spcBef>
                <a:spcPts val="600"/>
              </a:spcBef>
              <a:spcAft>
                <a:spcPts val="600"/>
              </a:spcAft>
              <a:defRPr sz="2000">
                <a:solidFill>
                  <a:srgbClr val="3333CC"/>
                </a:solidFill>
                <a:latin typeface="Times New Roman" panose="02020503050405090304" pitchFamily="18" charset="0"/>
                <a:cs typeface="Times New Roman" panose="02020503050405090304" pitchFamily="18" charset="0"/>
              </a:defRPr>
            </a:lvl3pPr>
            <a:lvl4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4pPr>
            <a:lvl5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1" name="灯片编号占位符 5"/>
          <p:cNvSpPr>
            <a:spLocks noGrp="1"/>
          </p:cNvSpPr>
          <p:nvPr>
            <p:ph type="sldNum" sz="quarter" idx="4"/>
          </p:nvPr>
        </p:nvSpPr>
        <p:spPr>
          <a:xfrm>
            <a:off x="10902950" y="6400800"/>
            <a:ext cx="1219200" cy="284163"/>
          </a:xfrm>
          <a:prstGeom prst="rect">
            <a:avLst/>
          </a:prstGeom>
          <a:noFill/>
        </p:spPr>
        <p:txBody>
          <a:bodyPr vert="horz" wrap="square" lIns="45720" tIns="45720" rIns="45720" bIns="45720" numCol="1" anchor="ctr" anchorCtr="0" compatLnSpc="1"/>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dirty="0">
                <a:latin typeface="Arial" panose="020B0604020202090204" pitchFamily="34" charset="0"/>
                <a:ea typeface="宋体" pitchFamily="2" charset="-122"/>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Sp="0">
  <p:cSld name="1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endParaRPr lang="zh-CN" altLang="en-US" strike="noStrike" noProof="1"/>
          </a:p>
        </p:txBody>
      </p:sp>
      <p:sp>
        <p:nvSpPr>
          <p:cNvPr id="11" name="日期占位符 3"/>
          <p:cNvSpPr>
            <a:spLocks noGrp="1"/>
          </p:cNvSpPr>
          <p:nvPr>
            <p:ph type="dt" sz="half" idx="2"/>
          </p:nvPr>
        </p:nvSpPr>
        <p:spPr>
          <a:xfrm>
            <a:off x="0" y="0"/>
            <a:ext cx="0" cy="0"/>
          </a:xfrm>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 name="页脚占位符 4"/>
          <p:cNvSpPr>
            <a:spLocks noGrp="1"/>
          </p:cNvSpPr>
          <p:nvPr>
            <p:ph type="ftr" sz="quarter" idx="3"/>
          </p:nvPr>
        </p:nvSpPr>
        <p:spPr>
          <a:xfrm>
            <a:off x="3171825" y="6400800"/>
            <a:ext cx="4978400" cy="284163"/>
          </a:xfrm>
          <a:prstGeom prst="rect">
            <a:avLst/>
          </a:prstGeom>
        </p:spPr>
        <p:txBody>
          <a:bodyPr vert="horz" rtlCol="0" anchor="ct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13" name="灯片编号占位符 5"/>
          <p:cNvSpPr>
            <a:spLocks noGrp="1"/>
          </p:cNvSpPr>
          <p:nvPr>
            <p:ph type="sldNum" sz="quarter" idx="4"/>
          </p:nvPr>
        </p:nvSpPr>
        <p:spPr>
          <a:xfrm>
            <a:off x="10902950" y="6400800"/>
            <a:ext cx="1219200" cy="284163"/>
          </a:xfrm>
          <a:prstGeom prst="rect">
            <a:avLst/>
          </a:prstGeom>
          <a:noFill/>
        </p:spPr>
        <p:txBody>
          <a:bodyPr vert="horz" wrap="square" lIns="45720" tIns="45720" rIns="45720" bIns="45720" numCol="1" anchor="ctr" anchorCtr="0" compatLnSpc="1"/>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zh-CN" altLang="en-US" strike="noStrike" noProof="1" dirty="0">
                <a:latin typeface="Arial" panose="020B0604020202090204" pitchFamily="34" charset="0"/>
                <a:ea typeface="宋体" pitchFamily="2"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5"/>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027" name="标题占位符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8" name="文本占位符 2"/>
          <p:cNvSpPr>
            <a:spLocks noGrp="1"/>
          </p:cNvSpPr>
          <p:nvPr>
            <p:ph type="body"/>
          </p:nvPr>
        </p:nvSpPr>
        <p:spPr>
          <a:xfrm>
            <a:off x="609600" y="1600200"/>
            <a:ext cx="10972800" cy="46863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3171825" y="6400800"/>
            <a:ext cx="4978400" cy="284163"/>
          </a:xfrm>
          <a:prstGeom prst="rect">
            <a:avLst/>
          </a:prstGeom>
        </p:spPr>
        <p:txBody>
          <a:bodyPr vert="horz" rtlCol="0" anchor="ctr"/>
          <a:lstStyle>
            <a:lvl1pPr algn="r" eaLnBrk="1" latinLnBrk="0" hangingPunct="1">
              <a:lnSpc>
                <a:spcPct val="90000"/>
              </a:lnSpc>
              <a:spcBef>
                <a:spcPts val="590"/>
              </a:spcBef>
              <a:spcAft>
                <a:spcPts val="590"/>
              </a:spcAft>
              <a:buClr>
                <a:schemeClr val="tx2"/>
              </a:buClr>
              <a:buSzPct val="80000"/>
              <a:buFont typeface="Wingdings" panose="05000000000000000000" pitchFamily="2" charset="2"/>
              <a:buNone/>
              <a:defRPr kumimoji="0" sz="1100">
                <a:solidFill>
                  <a:schemeClr val="tx2">
                    <a:lumMod val="75000"/>
                    <a:lumOff val="25000"/>
                  </a:schemeClr>
                </a:solidFill>
                <a:latin typeface="Arial" panose="020B0604020202090204" pitchFamily="34" charset="0"/>
                <a:ea typeface="宋体" pitchFamily="2" charset="-122"/>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4"/>
          </p:nvPr>
        </p:nvSpPr>
        <p:spPr>
          <a:xfrm>
            <a:off x="10902950" y="6400800"/>
            <a:ext cx="1219200" cy="284163"/>
          </a:xfrm>
          <a:prstGeom prst="rect">
            <a:avLst/>
          </a:prstGeom>
          <a:noFill/>
        </p:spPr>
        <p:txBody>
          <a:bodyPr vert="horz" wrap="square" lIns="45720" tIns="45720" rIns="45720" bIns="45720" numCol="1" anchor="ctr" anchorCtr="0" compatLnSpc="1"/>
          <a:lstStyle>
            <a:lvl1pPr algn="ctr">
              <a:buFont typeface="Wingdings" panose="05000000000000000000" pitchFamily="2" charset="2"/>
              <a:defRPr sz="1100">
                <a:solidFill>
                  <a:srgbClr val="636363"/>
                </a:solidFill>
              </a:defRPr>
            </a:lvl1pPr>
          </a:lstStyle>
          <a:p>
            <a:pPr lvl="0" eaLnBrk="1" fontAlgn="base" hangingPunct="1">
              <a:lnSpc>
                <a:spcPct val="90000"/>
              </a:lnSpc>
              <a:spcBef>
                <a:spcPts val="590"/>
              </a:spcBef>
              <a:spcAft>
                <a:spcPts val="590"/>
              </a:spcAft>
              <a:buClr>
                <a:schemeClr val="tx2"/>
              </a:buClr>
              <a:buSzPct val="80000"/>
              <a:buNone/>
            </a:pPr>
            <a:fld id="{9A0DB2DC-4C9A-4742-B13C-FB6460FD3503}" type="slidenum">
              <a:rPr lang="en-US" altLang="zh-CN" strike="noStrike" noProof="1" dirty="0">
                <a:latin typeface="Arial" panose="020B0604020202090204" pitchFamily="34" charset="0"/>
                <a:ea typeface="宋体" pitchFamily="2" charset="-122"/>
                <a:cs typeface="+mn-cs"/>
              </a:rPr>
            </a:fld>
            <a:endParaRPr lang="zh-CN" altLang="en-US" sz="1100" strike="noStrike" noProof="1">
              <a:solidFill>
                <a:srgbClr val="636363"/>
              </a:solidFill>
              <a:latin typeface="Arial" panose="020B0604020202090204" pitchFamily="34" charset="0"/>
            </a:endParaRPr>
          </a:p>
        </p:txBody>
      </p:sp>
      <p:sp>
        <p:nvSpPr>
          <p:cNvPr id="8" name="矩形 7"/>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a:spLocks noGrp="1"/>
          </p:cNvSpPr>
          <p:nvPr/>
        </p:nvSpPr>
        <p:spPr>
          <a:xfrm>
            <a:off x="87313" y="6453188"/>
            <a:ext cx="1755775" cy="288925"/>
          </a:xfrm>
          <a:prstGeom prst="rect">
            <a:avLst/>
          </a:prstGeom>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C</a:t>
            </a: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语言程序设计</a:t>
            </a:r>
            <a:endPar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p:txBody>
      </p:sp>
      <p:sp>
        <p:nvSpPr>
          <p:cNvPr id="10" name="页脚占位符 6"/>
          <p:cNvSpPr>
            <a:spLocks noGrp="1"/>
          </p:cNvSpPr>
          <p:nvPr/>
        </p:nvSpPr>
        <p:spPr>
          <a:xfrm>
            <a:off x="10439400" y="115888"/>
            <a:ext cx="1752600" cy="360363"/>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zh-CN" altLang="en-US"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第</a:t>
            </a:r>
            <a:r>
              <a:rPr kumimoji="0" lang="en-US" altLang="zh-CN"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7</a:t>
            </a:r>
            <a:r>
              <a:rPr kumimoji="0" lang="zh-CN" altLang="en-US"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章  函数</a:t>
            </a:r>
            <a:endParaRPr kumimoji="0" lang="en-US" altLang="zh-CN"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sz="4400" kern="1200">
          <a:solidFill>
            <a:schemeClr val="tx2"/>
          </a:solidFill>
          <a:latin typeface="Arial" panose="020B0604020202090204" pitchFamily="34" charset="0"/>
          <a:ea typeface="黑体" panose="02010609060101010101" pitchFamily="49" charset="-122"/>
          <a:cs typeface="Arial" panose="020B0604020202090204" pitchFamily="34" charset="0"/>
        </a:defRPr>
      </a:lvl1pPr>
      <a:lvl2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2pPr>
      <a:lvl3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3pPr>
      <a:lvl4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4pPr>
      <a:lvl5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9.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1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hyperlink" Target="L7-4.ex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35.png"/><Relationship Id="rId1" Type="http://schemas.openxmlformats.org/officeDocument/2006/relationships/image" Target="../media/image34.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36.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9.png"/><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1.png"/><Relationship Id="rId2" Type="http://schemas.openxmlformats.org/officeDocument/2006/relationships/image" Target="../media/image42.wmf"/><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5.jpeg"/><Relationship Id="rId3" Type="http://schemas.openxmlformats.org/officeDocument/2006/relationships/image" Target="../media/image12.png"/><Relationship Id="rId2" Type="http://schemas.openxmlformats.org/officeDocument/2006/relationships/image" Target="../media/image44.jpeg"/><Relationship Id="rId1" Type="http://schemas.openxmlformats.org/officeDocument/2006/relationships/image" Target="../media/image43.jpe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46.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0.jpeg"/><Relationship Id="rId1"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51.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xml"/><Relationship Id="rId2" Type="http://schemas.openxmlformats.org/officeDocument/2006/relationships/image" Target="../media/image52.png"/><Relationship Id="rId1" Type="http://schemas.openxmlformats.org/officeDocument/2006/relationships/image" Target="../media/image51.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xml"/><Relationship Id="rId2" Type="http://schemas.openxmlformats.org/officeDocument/2006/relationships/image" Target="../media/image51.png"/><Relationship Id="rId1" Type="http://schemas.openxmlformats.org/officeDocument/2006/relationships/image" Target="../media/image53.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3.xml"/><Relationship Id="rId2" Type="http://schemas.openxmlformats.org/officeDocument/2006/relationships/image" Target="../media/image51.png"/><Relationship Id="rId1" Type="http://schemas.openxmlformats.org/officeDocument/2006/relationships/image" Target="../media/image54.png"/></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3.xml"/><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image" Target="../media/image54.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xml"/><Relationship Id="rId2" Type="http://schemas.openxmlformats.org/officeDocument/2006/relationships/image" Target="../media/image56.png"/><Relationship Id="rId1" Type="http://schemas.openxmlformats.org/officeDocument/2006/relationships/image" Target="../media/image55.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3.xml"/><Relationship Id="rId2" Type="http://schemas.openxmlformats.org/officeDocument/2006/relationships/image" Target="../media/image57.png"/><Relationship Id="rId1" Type="http://schemas.openxmlformats.org/officeDocument/2006/relationships/image" Target="../media/image56.png"/></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3.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66.wmf"/><Relationship Id="rId1"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标题 1"/>
          <p:cNvSpPr>
            <a:spLocks noGrp="1"/>
          </p:cNvSpPr>
          <p:nvPr>
            <p:ph type="ctrTitle"/>
          </p:nvPr>
        </p:nvSpPr>
        <p:spPr>
          <a:xfrm>
            <a:off x="2209800" y="1773238"/>
            <a:ext cx="7772400" cy="1470025"/>
          </a:xfrm>
        </p:spPr>
        <p:txBody>
          <a:bodyPr vert="horz" wrap="square" lIns="91440" tIns="45720" rIns="91440" bIns="45720" anchor="ctr" anchorCtr="0"/>
          <a:lstStyle/>
          <a:p>
            <a:pPr>
              <a:buClrTx/>
              <a:buSzTx/>
              <a:buFontTx/>
              <a:buNone/>
            </a:pPr>
            <a:r>
              <a:rPr lang="zh-CN" altLang="en-US" sz="6000" dirty="0">
                <a:latin typeface="微软雅黑" panose="020B0503020204020204" charset="-122"/>
                <a:ea typeface="微软雅黑" panose="020B0503020204020204" charset="-122"/>
              </a:rPr>
              <a:t>计算思维与实践</a:t>
            </a:r>
            <a:endParaRPr lang="en-SG" altLang="zh-CN" sz="6000" dirty="0">
              <a:latin typeface="微软雅黑" panose="020B0503020204020204" charset="-122"/>
              <a:ea typeface="微软雅黑" panose="020B0503020204020204" charset="-122"/>
            </a:endParaRPr>
          </a:p>
        </p:txBody>
      </p:sp>
      <p:sp>
        <p:nvSpPr>
          <p:cNvPr id="3" name="副标题 2"/>
          <p:cNvSpPr>
            <a:spLocks noGrp="1"/>
          </p:cNvSpPr>
          <p:nvPr>
            <p:ph type="subTitle" idx="1"/>
          </p:nvPr>
        </p:nvSpPr>
        <p:spPr bwMode="auto">
          <a:xfrm>
            <a:off x="2999655" y="3615160"/>
            <a:ext cx="6400800" cy="1752600"/>
          </a:xfrm>
          <a:effectLst/>
          <a:scene3d>
            <a:camera prst="orthographicFront"/>
            <a:lightRig rig="balanced" dir="t"/>
          </a:scene3d>
          <a:sp3d prstMaterial="plastic"/>
        </p:spPr>
        <p:txBody>
          <a:bodyPr vert="horz" wrap="square" lIns="91440" tIns="45720" rIns="91440" bIns="45720" numCol="1" anchor="t" anchorCtr="0" compatLnSpc="1"/>
          <a:lstStyle/>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r>
              <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邓翔</a:t>
            </a:r>
            <a:endParaRPr kumimoji="0" lang="en-US" altLang="zh-CN"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endParaRPr kumimoji="0" lang="en-US" altLang="zh-CN" sz="3200" b="0" i="0" u="none" strike="noStrike" kern="1200" cap="none" spc="0" normalizeH="0" baseline="0" noProof="0" dirty="0">
              <a:ln>
                <a:noFill/>
              </a:ln>
              <a:solidFill>
                <a:schemeClr val="tx1"/>
              </a:solidFill>
              <a:effectLst/>
              <a:highlight>
                <a:srgbClr val="FFFF00"/>
              </a:highlight>
              <a:uLnTx/>
              <a:uFillTx/>
              <a:latin typeface="微软雅黑" panose="020B0503020204020204" charset="-122"/>
              <a:ea typeface="微软雅黑" panose="020B0503020204020204" charset="-122"/>
              <a:cs typeface="+mn-cs"/>
            </a:endParaRPr>
          </a:p>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r>
              <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计算机科学与技术学院</a:t>
            </a:r>
            <a:endPar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zh-CN" altLang="en-US"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1" name="TextBox 4"/>
          <p:cNvSpPr txBox="1"/>
          <p:nvPr/>
        </p:nvSpPr>
        <p:spPr>
          <a:xfrm>
            <a:off x="1416050" y="1919288"/>
            <a:ext cx="9632950" cy="4203700"/>
          </a:xfrm>
          <a:prstGeom prst="rect">
            <a:avLst/>
          </a:prstGeom>
          <a:noFill/>
          <a:ln w="9525">
            <a:noFill/>
          </a:ln>
        </p:spPr>
        <p:txBody>
          <a:bodyPr anchor="t" anchorCtr="0">
            <a:spAutoFit/>
          </a:bodyPr>
          <a:lstStyle/>
          <a:p>
            <a:pPr algn="ctr" eaLnBrk="0" hangingPunct="0">
              <a:lnSpc>
                <a:spcPct val="90000"/>
              </a:lnSpc>
              <a:spcBef>
                <a:spcPts val="600"/>
              </a:spcBef>
              <a:spcAft>
                <a:spcPts val="590"/>
              </a:spcAft>
              <a:buClr>
                <a:schemeClr val="tx2"/>
              </a:buClr>
              <a:buSzPct val="80000"/>
              <a:buFont typeface="Wingdings" panose="05000000000000000000" pitchFamily="2" charset="2"/>
            </a:pPr>
            <a:r>
              <a:rPr lang="zh-CN" altLang="en-US" sz="6600" dirty="0">
                <a:latin typeface="微软雅黑" panose="020B0503020204020204" charset="-122"/>
                <a:ea typeface="微软雅黑" panose="020B0503020204020204" charset="-122"/>
              </a:rPr>
              <a:t>第</a:t>
            </a:r>
            <a:r>
              <a:rPr lang="en-US" altLang="zh-CN" sz="6600" dirty="0">
                <a:latin typeface="微软雅黑" panose="020B0503020204020204" charset="-122"/>
                <a:ea typeface="微软雅黑" panose="020B0503020204020204" charset="-122"/>
              </a:rPr>
              <a:t>3</a:t>
            </a:r>
            <a:r>
              <a:rPr lang="zh-CN" altLang="en-US" sz="6600" dirty="0">
                <a:latin typeface="微软雅黑" panose="020B0503020204020204" charset="-122"/>
                <a:ea typeface="微软雅黑" panose="020B0503020204020204" charset="-122"/>
              </a:rPr>
              <a:t>讲 程序设计基础</a:t>
            </a:r>
            <a:r>
              <a:rPr lang="en-US" altLang="zh-CN" sz="6600" dirty="0">
                <a:latin typeface="微软雅黑" panose="020B0503020204020204" charset="-122"/>
                <a:ea typeface="微软雅黑" panose="020B0503020204020204" charset="-122"/>
              </a:rPr>
              <a:t>III</a:t>
            </a:r>
            <a:endParaRPr lang="en-US" altLang="zh-CN" sz="6600" dirty="0">
              <a:latin typeface="微软雅黑" panose="020B0503020204020204" charset="-122"/>
              <a:ea typeface="微软雅黑" panose="020B0503020204020204" charset="-122"/>
            </a:endParaRPr>
          </a:p>
          <a:p>
            <a:pPr algn="ctr" eaLnBrk="0" hangingPunct="0">
              <a:lnSpc>
                <a:spcPct val="90000"/>
              </a:lnSpc>
              <a:spcBef>
                <a:spcPts val="600"/>
              </a:spcBef>
              <a:spcAft>
                <a:spcPts val="590"/>
              </a:spcAft>
              <a:buClr>
                <a:schemeClr val="tx2"/>
              </a:buClr>
              <a:buSzPct val="80000"/>
              <a:buFont typeface="Wingdings" panose="05000000000000000000" pitchFamily="2" charset="2"/>
            </a:pPr>
            <a:endParaRPr lang="en-US" altLang="zh-CN" sz="6600" dirty="0">
              <a:latin typeface="微软雅黑" panose="020B0503020204020204" charset="-122"/>
              <a:ea typeface="微软雅黑" panose="020B0503020204020204" charset="-122"/>
            </a:endParaRPr>
          </a:p>
          <a:p>
            <a:pPr algn="ctr" eaLnBrk="0" hangingPunct="0">
              <a:lnSpc>
                <a:spcPct val="90000"/>
              </a:lnSpc>
              <a:spcBef>
                <a:spcPts val="600"/>
              </a:spcBef>
              <a:spcAft>
                <a:spcPts val="590"/>
              </a:spcAft>
              <a:buClr>
                <a:schemeClr val="tx2"/>
              </a:buClr>
              <a:buSzPct val="80000"/>
              <a:buFont typeface="Wingdings" panose="05000000000000000000" pitchFamily="2" charset="2"/>
            </a:pPr>
            <a:r>
              <a:rPr lang="zh-CN" altLang="en-US" sz="6600" dirty="0">
                <a:latin typeface="微软雅黑" panose="020B0503020204020204" charset="-122"/>
                <a:ea typeface="微软雅黑" panose="020B0503020204020204" charset="-122"/>
              </a:rPr>
              <a:t>模块化编程</a:t>
            </a:r>
            <a:endParaRPr lang="zh-CN" altLang="en-US" sz="6600" dirty="0">
              <a:latin typeface="微软雅黑" panose="020B0503020204020204" charset="-122"/>
              <a:ea typeface="微软雅黑" panose="020B0503020204020204" charset="-122"/>
            </a:endParaRPr>
          </a:p>
          <a:p>
            <a:pPr algn="ctr" eaLnBrk="0" hangingPunct="0">
              <a:lnSpc>
                <a:spcPct val="90000"/>
              </a:lnSpc>
              <a:spcBef>
                <a:spcPts val="600"/>
              </a:spcBef>
              <a:spcAft>
                <a:spcPts val="590"/>
              </a:spcAft>
              <a:buClr>
                <a:schemeClr val="tx2"/>
              </a:buClr>
              <a:buSzPct val="80000"/>
              <a:buFont typeface="Wingdings" panose="05000000000000000000" pitchFamily="2" charset="2"/>
            </a:pPr>
            <a:endParaRPr lang="zh-CN" altLang="en-US" sz="6600" dirty="0">
              <a:latin typeface="微软雅黑" panose="020B0503020204020204" charset="-122"/>
              <a:ea typeface="微软雅黑" panose="020B0503020204020204" charset="-122"/>
            </a:endParaRPr>
          </a:p>
        </p:txBody>
      </p:sp>
    </p:spTree>
  </p:cSld>
  <p:clrMapOvr>
    <a:masterClrMapping/>
  </p:clrMapOvr>
  <p:transition>
    <p:newsflash/>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p:cNvSpPr>
          <p:nvPr>
            <p:ph idx="1"/>
          </p:nvPr>
        </p:nvSpPr>
        <p:spPr>
          <a:xfrm>
            <a:off x="2495550" y="1844675"/>
            <a:ext cx="6840538" cy="4556125"/>
          </a:xfrm>
        </p:spPr>
        <p:txBody>
          <a:bodyPr vert="horz" wrap="square" lIns="91440" tIns="45720" rIns="91440" bIns="45720" anchor="t" anchorCtr="0"/>
          <a:lstStyle/>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分而治之与信息隐藏</a:t>
            </a:r>
            <a:endParaRPr lang="en-US" altLang="zh-CN" sz="3200" kern="1200" dirty="0">
              <a:latin typeface="华文仿宋" panose="02010600040101010101" pitchFamily="2" charset="-122"/>
              <a:ea typeface="黑体" panose="02010609060101010101" pitchFamily="49" charset="-122"/>
              <a:cs typeface="+mn-cs"/>
            </a:endParaRPr>
          </a:p>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函数定义、函数调用</a:t>
            </a:r>
            <a:endParaRPr lang="zh-CN" altLang="en-US" sz="3200" kern="1200" dirty="0">
              <a:latin typeface="华文仿宋" panose="02010600040101010101" pitchFamily="2" charset="-122"/>
              <a:ea typeface="黑体" panose="02010609060101010101" pitchFamily="49" charset="-122"/>
              <a:cs typeface="+mn-cs"/>
            </a:endParaRPr>
          </a:p>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变量的作用域与存储类</a:t>
            </a:r>
            <a:endParaRPr lang="en-US" altLang="zh-CN" sz="3200" kern="1200" dirty="0">
              <a:latin typeface="华文仿宋" panose="02010600040101010101" pitchFamily="2" charset="-122"/>
              <a:ea typeface="黑体" panose="02010609060101010101" pitchFamily="49" charset="-122"/>
              <a:cs typeface="+mn-cs"/>
            </a:endParaRPr>
          </a:p>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递归函数</a:t>
            </a:r>
            <a:endParaRPr lang="en-US" altLang="zh-CN" sz="3200" kern="1200" dirty="0">
              <a:latin typeface="华文仿宋" panose="02010600040101010101" pitchFamily="2" charset="-122"/>
              <a:ea typeface="黑体" panose="02010609060101010101" pitchFamily="49" charset="-122"/>
              <a:cs typeface="+mn-cs"/>
            </a:endParaRPr>
          </a:p>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预编译指令</a:t>
            </a:r>
            <a:endParaRPr lang="en-US" altLang="zh-CN" sz="3200" kern="1200" dirty="0">
              <a:latin typeface="华文仿宋" panose="02010600040101010101" pitchFamily="2" charset="-122"/>
              <a:ea typeface="黑体" panose="02010609060101010101" pitchFamily="49" charset="-122"/>
              <a:cs typeface="+mn-cs"/>
            </a:endParaRPr>
          </a:p>
          <a:p>
            <a:pPr marL="533400" indent="-533400" eaLnBrk="1" hangingPunct="1">
              <a:buSzPct val="50000"/>
            </a:pPr>
            <a:r>
              <a:rPr lang="zh-CN" altLang="en-US" sz="3200" kern="1200" dirty="0">
                <a:latin typeface="华文仿宋" panose="02010600040101010101" pitchFamily="2" charset="-122"/>
                <a:ea typeface="黑体" panose="02010609060101010101" pitchFamily="49" charset="-122"/>
                <a:cs typeface="+mn-cs"/>
              </a:rPr>
              <a:t>程序模块化设计</a:t>
            </a:r>
            <a:endParaRPr lang="zh-CN" altLang="en-US" sz="3200" kern="1200" dirty="0">
              <a:latin typeface="华文仿宋" panose="02010600040101010101" pitchFamily="2" charset="-122"/>
              <a:ea typeface="Times New Roman" panose="02020503050405090304" pitchFamily="18" charset="0"/>
              <a:cs typeface="+mn-cs"/>
            </a:endParaRPr>
          </a:p>
        </p:txBody>
      </p:sp>
      <p:pic>
        <p:nvPicPr>
          <p:cNvPr id="12291"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newsflash/>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p:cNvSpPr txBox="1"/>
          <p:nvPr/>
        </p:nvSpPr>
        <p:spPr>
          <a:xfrm>
            <a:off x="1416050" y="2665413"/>
            <a:ext cx="8420100" cy="935037"/>
          </a:xfrm>
          <a:prstGeom prst="rect">
            <a:avLst/>
          </a:prstGeom>
          <a:noFill/>
          <a:ln w="9525">
            <a:noFill/>
          </a:ln>
        </p:spPr>
        <p:txBody>
          <a:bodyPr anchor="t" anchorCtr="0"/>
          <a:lstStyle/>
          <a:p>
            <a:pPr marL="609600" indent="-609600" eaLnBrk="0" hangingPunct="0">
              <a:lnSpc>
                <a:spcPct val="95000"/>
              </a:lnSpc>
              <a:spcBef>
                <a:spcPts val="575"/>
              </a:spcBef>
              <a:buClr>
                <a:schemeClr val="tx2"/>
              </a:buClr>
              <a:buSzPct val="50000"/>
              <a:buFont typeface="Monotype Sorts"/>
            </a:pPr>
            <a:r>
              <a:rPr lang="en-US" altLang="zh-CN" sz="2800" dirty="0">
                <a:latin typeface="Franklin Gothic Book" pitchFamily="34" charset="0"/>
              </a:rPr>
              <a:t>Problem:</a:t>
            </a:r>
            <a:r>
              <a:rPr lang="en-US" altLang="zh-CN" sz="2400" dirty="0">
                <a:latin typeface="Franklin Gothic Book" pitchFamily="34" charset="0"/>
              </a:rPr>
              <a:t> </a:t>
            </a:r>
            <a:r>
              <a:rPr lang="zh-CN" altLang="en-US" sz="3200" dirty="0">
                <a:latin typeface="Franklin Gothic Book" pitchFamily="34" charset="0"/>
                <a:ea typeface="黑体" panose="02010609060101010101" pitchFamily="49" charset="-122"/>
              </a:rPr>
              <a:t>准备早餐</a:t>
            </a:r>
            <a:r>
              <a:rPr lang="zh-CN" altLang="en-US" sz="2800" dirty="0">
                <a:latin typeface="Franklin Gothic Book" pitchFamily="34" charset="0"/>
                <a:ea typeface="宋体" pitchFamily="2" charset="-122"/>
              </a:rPr>
              <a:t>（</a:t>
            </a:r>
            <a:r>
              <a:rPr lang="en-US" altLang="zh-CN" sz="2800" dirty="0">
                <a:latin typeface="Arial Narrow" panose="020B0606020202030204" pitchFamily="34" charset="0"/>
              </a:rPr>
              <a:t>Prepare a Breakfast</a:t>
            </a:r>
            <a:r>
              <a:rPr lang="zh-CN" altLang="en-US" sz="2800" dirty="0">
                <a:latin typeface="Franklin Gothic Book" pitchFamily="34" charset="0"/>
                <a:ea typeface="宋体" pitchFamily="2" charset="-122"/>
              </a:rPr>
              <a:t>）</a:t>
            </a:r>
            <a:endParaRPr lang="zh-CN" altLang="en-US" sz="2800" dirty="0">
              <a:latin typeface="Franklin Gothic Book" pitchFamily="34" charset="0"/>
              <a:ea typeface="宋体" pitchFamily="2" charset="-122"/>
            </a:endParaRPr>
          </a:p>
          <a:p>
            <a:pPr marL="609600" indent="-609600" eaLnBrk="0" hangingPunct="0">
              <a:lnSpc>
                <a:spcPct val="95000"/>
              </a:lnSpc>
              <a:spcBef>
                <a:spcPts val="575"/>
              </a:spcBef>
              <a:buClr>
                <a:schemeClr val="tx2"/>
              </a:buClr>
              <a:buSzPct val="50000"/>
              <a:buFont typeface="Monotype Sorts"/>
            </a:pPr>
            <a:r>
              <a:rPr lang="en-US" altLang="zh-CN" sz="2400" dirty="0">
                <a:latin typeface="Franklin Gothic Book" pitchFamily="34" charset="0"/>
              </a:rPr>
              <a:t>		</a:t>
            </a:r>
            <a:endParaRPr lang="en-US" altLang="zh-CN" sz="2400" dirty="0">
              <a:latin typeface="Franklin Gothic Book" pitchFamily="34" charset="0"/>
            </a:endParaRPr>
          </a:p>
        </p:txBody>
      </p:sp>
      <p:sp>
        <p:nvSpPr>
          <p:cNvPr id="4" name="Rectangle 4"/>
          <p:cNvSpPr/>
          <p:nvPr/>
        </p:nvSpPr>
        <p:spPr>
          <a:xfrm>
            <a:off x="3071813" y="3457575"/>
            <a:ext cx="2663825" cy="1790700"/>
          </a:xfrm>
          <a:prstGeom prst="rect">
            <a:avLst/>
          </a:prstGeom>
          <a:noFill/>
          <a:ln w="9525">
            <a:noFill/>
          </a:ln>
        </p:spPr>
        <p:txBody>
          <a:bodyPr anchor="t" anchorCtr="0"/>
          <a:lstStyle/>
          <a:p>
            <a:pPr marL="630555" indent="-630555" eaLnBrk="0" hangingPunct="0">
              <a:lnSpc>
                <a:spcPct val="90000"/>
              </a:lnSpc>
              <a:spcBef>
                <a:spcPct val="20000"/>
              </a:spcBef>
              <a:spcAft>
                <a:spcPts val="590"/>
              </a:spcAft>
              <a:buClr>
                <a:schemeClr val="accent1"/>
              </a:buClr>
              <a:buSzPct val="80000"/>
              <a:buFont typeface="Wingdings" panose="05000000000000000000" pitchFamily="2" charset="2"/>
            </a:pPr>
            <a:r>
              <a:rPr lang="zh-CN" altLang="en-US" sz="2800" dirty="0">
                <a:latin typeface="黑体" panose="02010609060101010101" pitchFamily="49" charset="-122"/>
                <a:ea typeface="黑体" panose="02010609060101010101" pitchFamily="49" charset="-122"/>
              </a:rPr>
              <a:t>金枪鱼三明治</a:t>
            </a:r>
            <a:endParaRPr lang="en-US" altLang="zh-CN" sz="2800" dirty="0">
              <a:latin typeface="黑体" panose="02010609060101010101" pitchFamily="49" charset="-122"/>
              <a:ea typeface="黑体" panose="02010609060101010101" pitchFamily="49" charset="-122"/>
            </a:endParaRPr>
          </a:p>
          <a:p>
            <a:pPr marL="630555" indent="-630555" eaLnBrk="0" hangingPunct="0">
              <a:lnSpc>
                <a:spcPct val="90000"/>
              </a:lnSpc>
              <a:spcBef>
                <a:spcPct val="20000"/>
              </a:spcBef>
              <a:spcAft>
                <a:spcPts val="590"/>
              </a:spcAft>
              <a:buClr>
                <a:schemeClr val="accent1"/>
              </a:buClr>
              <a:buSzPct val="80000"/>
              <a:buFont typeface="Wingdings" panose="05000000000000000000" pitchFamily="2" charset="2"/>
            </a:pPr>
            <a:r>
              <a:rPr lang="zh-CN" altLang="en-US" sz="2800" dirty="0">
                <a:latin typeface="黑体" panose="02010609060101010101" pitchFamily="49" charset="-122"/>
                <a:ea typeface="黑体" panose="02010609060101010101" pitchFamily="49" charset="-122"/>
              </a:rPr>
              <a:t>薯条</a:t>
            </a:r>
            <a:endParaRPr lang="en-US" altLang="zh-CN" sz="2800" dirty="0">
              <a:latin typeface="黑体" panose="02010609060101010101" pitchFamily="49" charset="-122"/>
              <a:ea typeface="黑体" panose="02010609060101010101" pitchFamily="49" charset="-122"/>
            </a:endParaRPr>
          </a:p>
          <a:p>
            <a:pPr marL="630555" indent="-630555" eaLnBrk="0" hangingPunct="0">
              <a:lnSpc>
                <a:spcPct val="90000"/>
              </a:lnSpc>
              <a:spcBef>
                <a:spcPct val="20000"/>
              </a:spcBef>
              <a:spcAft>
                <a:spcPts val="590"/>
              </a:spcAft>
              <a:buClr>
                <a:schemeClr val="accent1"/>
              </a:buClr>
              <a:buSzPct val="80000"/>
              <a:buFont typeface="Wingdings" panose="05000000000000000000" pitchFamily="2" charset="2"/>
            </a:pPr>
            <a:r>
              <a:rPr lang="zh-CN" altLang="en-US" sz="2800" dirty="0">
                <a:latin typeface="黑体" panose="02010609060101010101" pitchFamily="49" charset="-122"/>
                <a:ea typeface="黑体" panose="02010609060101010101" pitchFamily="49" charset="-122"/>
              </a:rPr>
              <a:t>咖啡</a:t>
            </a:r>
            <a:endParaRPr lang="en-US" altLang="zh-CN" sz="2800" dirty="0">
              <a:latin typeface="Arial" panose="020B0604020202090204" pitchFamily="34" charset="0"/>
            </a:endParaRPr>
          </a:p>
        </p:txBody>
      </p:sp>
      <p:pic>
        <p:nvPicPr>
          <p:cNvPr id="16389" name="Picture 5" descr="chushi2_0041"/>
          <p:cNvPicPr>
            <a:picLocks noChangeAspect="1"/>
          </p:cNvPicPr>
          <p:nvPr/>
        </p:nvPicPr>
        <p:blipFill>
          <a:blip r:embed="rId1">
            <a:clrChange>
              <a:clrFrom>
                <a:srgbClr val="FFFFFF"/>
              </a:clrFrom>
              <a:clrTo>
                <a:srgbClr val="FFFFFF">
                  <a:alpha val="0"/>
                </a:srgbClr>
              </a:clrTo>
            </a:clrChange>
          </a:blip>
          <a:stretch>
            <a:fillRect/>
          </a:stretch>
        </p:blipFill>
        <p:spPr>
          <a:xfrm>
            <a:off x="8532813" y="2466975"/>
            <a:ext cx="2316162" cy="1638300"/>
          </a:xfrm>
          <a:prstGeom prst="rect">
            <a:avLst/>
          </a:prstGeom>
          <a:noFill/>
          <a:ln w="9525">
            <a:noFill/>
          </a:ln>
        </p:spPr>
      </p:pic>
      <p:sp>
        <p:nvSpPr>
          <p:cNvPr id="9" name="Rectangle 3"/>
          <p:cNvSpPr/>
          <p:nvPr/>
        </p:nvSpPr>
        <p:spPr>
          <a:xfrm>
            <a:off x="1271588" y="1625600"/>
            <a:ext cx="9490075" cy="939800"/>
          </a:xfrm>
          <a:prstGeom prst="rect">
            <a:avLst/>
          </a:prstGeom>
          <a:noFill/>
          <a:ln w="9525">
            <a:noFill/>
          </a:ln>
        </p:spPr>
        <p:txBody>
          <a:bodyPr lIns="92075" tIns="46037" rIns="92075" bIns="46037" anchor="t" anchorCtr="0"/>
          <a:lstStyle/>
          <a:p>
            <a:pPr marL="374650" lvl="1" indent="-374650" algn="l" rtl="0" eaLnBrk="0" fontAlgn="base" hangingPunct="0">
              <a:lnSpc>
                <a:spcPct val="95000"/>
              </a:lnSpc>
              <a:spcBef>
                <a:spcPct val="20000"/>
              </a:spcBef>
              <a:spcAft>
                <a:spcPts val="590"/>
              </a:spcAft>
              <a:buClrTx/>
              <a:buSzPct val="50000"/>
              <a:buFont typeface="Wingdings" panose="05000000000000000000" pitchFamily="2" charset="2"/>
              <a:buChar char="n"/>
            </a:pPr>
            <a:r>
              <a:rPr lang="zh-CN" altLang="en-US" sz="3200" dirty="0">
                <a:solidFill>
                  <a:schemeClr val="tx1"/>
                </a:solidFill>
                <a:latin typeface="黑体" panose="02010609060101010101" pitchFamily="49" charset="-122"/>
                <a:ea typeface="黑体" panose="02010609060101010101" pitchFamily="49" charset="-122"/>
              </a:rPr>
              <a:t>管理学观点认为工作必须分工，各司其职</a:t>
            </a:r>
            <a:endParaRPr lang="en-US" altLang="zh-CN" sz="3600" dirty="0">
              <a:solidFill>
                <a:srgbClr val="000066"/>
              </a:solidFill>
              <a:latin typeface="黑体" panose="02010609060101010101" pitchFamily="49" charset="-122"/>
              <a:ea typeface="黑体" panose="02010609060101010101" pitchFamily="49" charset="-122"/>
            </a:endParaRPr>
          </a:p>
        </p:txBody>
      </p:sp>
      <p:sp>
        <p:nvSpPr>
          <p:cNvPr id="13317" name="Rectangle 2"/>
          <p:cNvSpPr txBox="1"/>
          <p:nvPr/>
        </p:nvSpPr>
        <p:spPr>
          <a:xfrm>
            <a:off x="1638300" y="269875"/>
            <a:ext cx="8915400" cy="1143000"/>
          </a:xfrm>
          <a:prstGeom prst="rect">
            <a:avLst/>
          </a:prstGeom>
          <a:noFill/>
          <a:ln w="9525">
            <a:noFill/>
          </a:ln>
        </p:spPr>
        <p:txBody>
          <a:bodyPr anchor="ctr" anchorCtr="0"/>
          <a:lstStyle/>
          <a:p>
            <a:pPr algn="ctr" eaLnBrk="0" hangingPunct="0">
              <a:buClrTx/>
              <a:buFont typeface="Wingdings" panose="05000000000000000000" pitchFamily="2" charset="2"/>
            </a:pPr>
            <a:r>
              <a:rPr lang="zh-CN" altLang="en-US" sz="4400" dirty="0">
                <a:solidFill>
                  <a:srgbClr val="2F2F2F"/>
                </a:solidFill>
                <a:latin typeface="Arial" panose="020B0604020202090204" pitchFamily="34" charset="0"/>
                <a:ea typeface="黑体" panose="02010609060101010101" pitchFamily="49" charset="-122"/>
              </a:rPr>
              <a:t>从生活中的问题求解谈起</a:t>
            </a:r>
            <a:endParaRPr lang="zh-CN" altLang="en-US" sz="4400" dirty="0">
              <a:solidFill>
                <a:srgbClr val="2F2F2F"/>
              </a:solidFill>
              <a:latin typeface="Arial" panose="020B0604020202090204" pitchFamily="34" charset="0"/>
              <a:ea typeface="黑体" panose="02010609060101010101" pitchFamily="49" charset="-122"/>
            </a:endParaRPr>
          </a:p>
        </p:txBody>
      </p:sp>
      <p:pic>
        <p:nvPicPr>
          <p:cNvPr id="177154" name="Picture 2"/>
          <p:cNvPicPr>
            <a:picLocks noChangeAspect="1"/>
          </p:cNvPicPr>
          <p:nvPr/>
        </p:nvPicPr>
        <p:blipFill>
          <a:blip r:embed="rId2">
            <a:clrChange>
              <a:clrFrom>
                <a:srgbClr val="FFFFFF"/>
              </a:clrFrom>
              <a:clrTo>
                <a:srgbClr val="FFFFFF">
                  <a:alpha val="0"/>
                </a:srgbClr>
              </a:clrTo>
            </a:clrChange>
          </a:blip>
          <a:stretch>
            <a:fillRect/>
          </a:stretch>
        </p:blipFill>
        <p:spPr>
          <a:xfrm>
            <a:off x="5735638" y="3457575"/>
            <a:ext cx="1223962" cy="1916113"/>
          </a:xfrm>
          <a:prstGeom prst="rect">
            <a:avLst/>
          </a:prstGeom>
          <a:noFill/>
          <a:ln w="9525">
            <a:noFill/>
          </a:ln>
        </p:spPr>
      </p:pic>
      <p:sp>
        <p:nvSpPr>
          <p:cNvPr id="5" name="灯片编号占位符 4"/>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16389"/>
                                        </p:tgtEl>
                                        <p:attrNameLst>
                                          <p:attrName>style.visibility</p:attrName>
                                        </p:attrNameLst>
                                      </p:cBhvr>
                                      <p:to>
                                        <p:strVal val="visible"/>
                                      </p:to>
                                    </p:set>
                                    <p:anim calcmode="lin" valueType="num">
                                      <p:cBhvr>
                                        <p:cTn id="23" dur="500" fill="hold"/>
                                        <p:tgtEl>
                                          <p:spTgt spid="16389"/>
                                        </p:tgtEl>
                                        <p:attrNameLst>
                                          <p:attrName>ppt_w</p:attrName>
                                        </p:attrNameLst>
                                      </p:cBhvr>
                                      <p:tavLst>
                                        <p:tav tm="0">
                                          <p:val>
                                            <p:fltVal val="0"/>
                                          </p:val>
                                        </p:tav>
                                        <p:tav tm="100000">
                                          <p:val>
                                            <p:strVal val="#ppt_w"/>
                                          </p:val>
                                        </p:tav>
                                      </p:tavLst>
                                    </p:anim>
                                    <p:anim calcmode="lin" valueType="num">
                                      <p:cBhvr>
                                        <p:cTn id="24" dur="500" fill="hold"/>
                                        <p:tgtEl>
                                          <p:spTgt spid="16389"/>
                                        </p:tgtEl>
                                        <p:attrNameLst>
                                          <p:attrName>ppt_h</p:attrName>
                                        </p:attrNameLst>
                                      </p:cBhvr>
                                      <p:tavLst>
                                        <p:tav tm="0">
                                          <p:val>
                                            <p:fltVal val="0"/>
                                          </p:val>
                                        </p:tav>
                                        <p:tav tm="100000">
                                          <p:val>
                                            <p:strVal val="#ppt_h"/>
                                          </p:val>
                                        </p:tav>
                                      </p:tavLst>
                                    </p:anim>
                                  </p:childTnLst>
                                </p:cTn>
                              </p:par>
                              <p:par>
                                <p:cTn id="25" presetID="2" presetClass="entr" presetSubtype="4" fill="hold" nodeType="withEffect">
                                  <p:stCondLst>
                                    <p:cond delay="0"/>
                                  </p:stCondLst>
                                  <p:childTnLst>
                                    <p:set>
                                      <p:cBhvr>
                                        <p:cTn id="26" dur="1" fill="hold">
                                          <p:stCondLst>
                                            <p:cond delay="0"/>
                                          </p:stCondLst>
                                        </p:cTn>
                                        <p:tgtEl>
                                          <p:spTgt spid="177154"/>
                                        </p:tgtEl>
                                        <p:attrNameLst>
                                          <p:attrName>style.visibility</p:attrName>
                                        </p:attrNameLst>
                                      </p:cBhvr>
                                      <p:to>
                                        <p:strVal val="visible"/>
                                      </p:to>
                                    </p:set>
                                    <p:anim calcmode="lin" valueType="num">
                                      <p:cBhvr additive="base">
                                        <p:cTn id="27" dur="500" fill="hold"/>
                                        <p:tgtEl>
                                          <p:spTgt spid="177154"/>
                                        </p:tgtEl>
                                        <p:attrNameLst>
                                          <p:attrName>ppt_x</p:attrName>
                                        </p:attrNameLst>
                                      </p:cBhvr>
                                      <p:tavLst>
                                        <p:tav tm="0">
                                          <p:val>
                                            <p:strVal val="#ppt_x"/>
                                          </p:val>
                                        </p:tav>
                                        <p:tav tm="100000">
                                          <p:val>
                                            <p:strVal val="#ppt_x"/>
                                          </p:val>
                                        </p:tav>
                                      </p:tavLst>
                                    </p:anim>
                                    <p:anim calcmode="lin" valueType="num">
                                      <p:cBhvr additive="base">
                                        <p:cTn id="28" dur="500" fill="hold"/>
                                        <p:tgtEl>
                                          <p:spTgt spid="177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314950" y="4090988"/>
            <a:ext cx="1795463" cy="1500187"/>
          </a:xfrm>
          <a:prstGeom prst="rect">
            <a:avLst/>
          </a:prstGeom>
          <a:noFill/>
          <a:ln w="9525">
            <a:noFill/>
          </a:ln>
        </p:spPr>
      </p:pic>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8091488" y="3875088"/>
            <a:ext cx="2138362" cy="1663700"/>
          </a:xfrm>
          <a:prstGeom prst="rect">
            <a:avLst/>
          </a:prstGeom>
          <a:noFill/>
          <a:ln w="9525">
            <a:noFill/>
          </a:ln>
        </p:spPr>
      </p:pic>
      <p:pic>
        <p:nvPicPr>
          <p:cNvPr id="6" name="Picture 5" descr="200831795522277_2"/>
          <p:cNvPicPr>
            <a:picLocks noChangeAspect="1"/>
          </p:cNvPicPr>
          <p:nvPr/>
        </p:nvPicPr>
        <p:blipFill>
          <a:blip r:embed="rId3">
            <a:clrChange>
              <a:clrFrom>
                <a:srgbClr val="FFFFFF"/>
              </a:clrFrom>
              <a:clrTo>
                <a:srgbClr val="FFFFFF">
                  <a:alpha val="0"/>
                </a:srgbClr>
              </a:clrTo>
            </a:clrChange>
          </a:blip>
          <a:stretch>
            <a:fillRect/>
          </a:stretch>
        </p:blipFill>
        <p:spPr>
          <a:xfrm>
            <a:off x="2117725" y="3875088"/>
            <a:ext cx="1531938" cy="1785937"/>
          </a:xfrm>
          <a:prstGeom prst="rect">
            <a:avLst/>
          </a:prstGeom>
          <a:noFill/>
          <a:ln w="9525">
            <a:noFill/>
          </a:ln>
        </p:spPr>
      </p:pic>
      <p:pic>
        <p:nvPicPr>
          <p:cNvPr id="14340" name="Picture 6"/>
          <p:cNvPicPr>
            <a:picLocks noChangeAspect="1"/>
          </p:cNvPicPr>
          <p:nvPr/>
        </p:nvPicPr>
        <p:blipFill>
          <a:blip r:embed="rId4">
            <a:clrChange>
              <a:clrFrom>
                <a:srgbClr val="FFFFFF"/>
              </a:clrFrom>
              <a:clrTo>
                <a:srgbClr val="FFFFFF">
                  <a:alpha val="0"/>
                </a:srgbClr>
              </a:clrTo>
            </a:clrChange>
          </a:blip>
          <a:stretch>
            <a:fillRect/>
          </a:stretch>
        </p:blipFill>
        <p:spPr>
          <a:xfrm>
            <a:off x="5591175" y="1368425"/>
            <a:ext cx="1068388" cy="1400175"/>
          </a:xfrm>
          <a:prstGeom prst="rect">
            <a:avLst/>
          </a:prstGeom>
          <a:noFill/>
          <a:ln w="9525">
            <a:noFill/>
          </a:ln>
        </p:spPr>
      </p:pic>
      <p:sp>
        <p:nvSpPr>
          <p:cNvPr id="9" name="AutoShape 7"/>
          <p:cNvSpPr/>
          <p:nvPr/>
        </p:nvSpPr>
        <p:spPr>
          <a:xfrm rot="3000000">
            <a:off x="4235450" y="2435225"/>
            <a:ext cx="409575" cy="1993900"/>
          </a:xfrm>
          <a:prstGeom prst="downArrow">
            <a:avLst>
              <a:gd name="adj1" fmla="val 50000"/>
              <a:gd name="adj2" fmla="val 11232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endParaRPr lang="zh-CN" altLang="en-US" sz="3600" b="1" dirty="0">
              <a:solidFill>
                <a:srgbClr val="3366FF"/>
              </a:solidFill>
              <a:latin typeface="Arial" panose="020B0604020202090204" pitchFamily="34" charset="0"/>
              <a:ea typeface="宋体" pitchFamily="2" charset="-122"/>
            </a:endParaRPr>
          </a:p>
        </p:txBody>
      </p:sp>
      <p:sp>
        <p:nvSpPr>
          <p:cNvPr id="10" name="AutoShape 8"/>
          <p:cNvSpPr/>
          <p:nvPr/>
        </p:nvSpPr>
        <p:spPr>
          <a:xfrm>
            <a:off x="5984875" y="2827338"/>
            <a:ext cx="466725" cy="1223962"/>
          </a:xfrm>
          <a:prstGeom prst="downArrow">
            <a:avLst>
              <a:gd name="adj1" fmla="val 50000"/>
              <a:gd name="adj2" fmla="val 7101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endParaRPr lang="zh-CN" altLang="en-US" sz="3600" b="1" dirty="0">
              <a:solidFill>
                <a:srgbClr val="3366FF"/>
              </a:solidFill>
              <a:latin typeface="Arial" panose="020B0604020202090204" pitchFamily="34" charset="0"/>
              <a:ea typeface="宋体" pitchFamily="2" charset="-122"/>
            </a:endParaRPr>
          </a:p>
        </p:txBody>
      </p:sp>
      <p:sp>
        <p:nvSpPr>
          <p:cNvPr id="14344" name="AutoShape 9"/>
          <p:cNvSpPr/>
          <p:nvPr/>
        </p:nvSpPr>
        <p:spPr>
          <a:xfrm rot="-3000000">
            <a:off x="7608888" y="2446338"/>
            <a:ext cx="412750" cy="2005012"/>
          </a:xfrm>
          <a:prstGeom prst="downArrow">
            <a:avLst>
              <a:gd name="adj1" fmla="val 50000"/>
              <a:gd name="adj2" fmla="val 112086"/>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endParaRPr lang="zh-CN" altLang="en-US" sz="3600" b="1" dirty="0">
              <a:solidFill>
                <a:srgbClr val="3366FF"/>
              </a:solidFill>
              <a:latin typeface="Arial" panose="020B0604020202090204" pitchFamily="34" charset="0"/>
              <a:ea typeface="宋体" pitchFamily="2" charset="-122"/>
            </a:endParaRPr>
          </a:p>
        </p:txBody>
      </p:sp>
      <p:sp>
        <p:nvSpPr>
          <p:cNvPr id="12" name="Text Box 10"/>
          <p:cNvSpPr txBox="1"/>
          <p:nvPr/>
        </p:nvSpPr>
        <p:spPr>
          <a:xfrm rot="-2580000">
            <a:off x="3136900" y="3095625"/>
            <a:ext cx="1792288" cy="34131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1800" b="1" dirty="0">
                <a:latin typeface="Arial" panose="020B0604020202090204" pitchFamily="34" charset="0"/>
              </a:rPr>
              <a:t>make coffee</a:t>
            </a:r>
            <a:endParaRPr lang="en-US" altLang="zh-CN" sz="1800" b="1" dirty="0">
              <a:latin typeface="Arial" panose="020B0604020202090204" pitchFamily="34" charset="0"/>
            </a:endParaRPr>
          </a:p>
        </p:txBody>
      </p:sp>
      <p:sp>
        <p:nvSpPr>
          <p:cNvPr id="13" name="Text Box 11"/>
          <p:cNvSpPr txBox="1"/>
          <p:nvPr/>
        </p:nvSpPr>
        <p:spPr>
          <a:xfrm rot="5400000">
            <a:off x="5033963" y="3271838"/>
            <a:ext cx="1584325" cy="339725"/>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1800" b="1" dirty="0">
                <a:latin typeface="Arial" panose="020B0604020202090204" pitchFamily="34" charset="0"/>
              </a:rPr>
              <a:t>make chips</a:t>
            </a:r>
            <a:endParaRPr lang="en-US" altLang="zh-CN" sz="1800" b="1" dirty="0">
              <a:latin typeface="Arial" panose="020B0604020202090204" pitchFamily="34" charset="0"/>
            </a:endParaRPr>
          </a:p>
        </p:txBody>
      </p:sp>
      <p:sp>
        <p:nvSpPr>
          <p:cNvPr id="14" name="Text Box 12"/>
          <p:cNvSpPr txBox="1"/>
          <p:nvPr/>
        </p:nvSpPr>
        <p:spPr>
          <a:xfrm rot="2400000">
            <a:off x="7037388" y="3089275"/>
            <a:ext cx="2417762" cy="34131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1800" b="1" dirty="0">
                <a:latin typeface="Arial" panose="020B0604020202090204" pitchFamily="34" charset="0"/>
              </a:rPr>
              <a:t>make sandwiches</a:t>
            </a:r>
            <a:endParaRPr lang="en-US" altLang="zh-CN" sz="1800" b="1" dirty="0">
              <a:latin typeface="Arial" panose="020B0604020202090204" pitchFamily="34" charset="0"/>
            </a:endParaRPr>
          </a:p>
        </p:txBody>
      </p:sp>
      <p:sp>
        <p:nvSpPr>
          <p:cNvPr id="14347" name="Rectangle 2"/>
          <p:cNvSpPr txBox="1"/>
          <p:nvPr/>
        </p:nvSpPr>
        <p:spPr>
          <a:xfrm>
            <a:off x="1638300" y="269875"/>
            <a:ext cx="8915400" cy="1143000"/>
          </a:xfrm>
          <a:prstGeom prst="rect">
            <a:avLst/>
          </a:prstGeom>
          <a:noFill/>
          <a:ln w="9525">
            <a:noFill/>
          </a:ln>
        </p:spPr>
        <p:txBody>
          <a:bodyPr anchor="ctr" anchorCtr="0"/>
          <a:lstStyle/>
          <a:p>
            <a:pPr algn="ctr" eaLnBrk="0" hangingPunct="0">
              <a:buClrTx/>
              <a:buFont typeface="Wingdings" panose="05000000000000000000" pitchFamily="2" charset="2"/>
            </a:pPr>
            <a:r>
              <a:rPr lang="zh-CN" altLang="en-US" sz="4400" dirty="0">
                <a:solidFill>
                  <a:srgbClr val="2F2F2F"/>
                </a:solidFill>
                <a:latin typeface="Arial" panose="020B0604020202090204" pitchFamily="34" charset="0"/>
                <a:ea typeface="黑体" panose="02010609060101010101" pitchFamily="49" charset="-122"/>
              </a:rPr>
              <a:t>从生活中的问题求解谈起</a:t>
            </a:r>
            <a:endParaRPr lang="zh-CN" altLang="en-US" sz="4400" dirty="0">
              <a:solidFill>
                <a:srgbClr val="2F2F2F"/>
              </a:solidFill>
              <a:latin typeface="Arial" panose="020B0604020202090204" pitchFamily="34" charset="0"/>
              <a:ea typeface="黑体" panose="02010609060101010101" pitchFamily="49" charset="-122"/>
            </a:endParaRPr>
          </a:p>
        </p:txBody>
      </p:sp>
      <p:sp>
        <p:nvSpPr>
          <p:cNvPr id="16" name="Rectangle 3"/>
          <p:cNvSpPr/>
          <p:nvPr/>
        </p:nvSpPr>
        <p:spPr>
          <a:xfrm>
            <a:off x="3287713" y="5732463"/>
            <a:ext cx="6264275" cy="792162"/>
          </a:xfrm>
          <a:prstGeom prst="rect">
            <a:avLst/>
          </a:prstGeom>
          <a:noFill/>
          <a:ln w="9525">
            <a:noFill/>
          </a:ln>
        </p:spPr>
        <p:txBody>
          <a:bodyPr lIns="92075" tIns="46037" rIns="92075" bIns="46037" anchor="t" anchorCtr="0"/>
          <a:lstStyle/>
          <a:p>
            <a:pPr marL="374650" lvl="1" indent="-374650" algn="l" rtl="0" eaLnBrk="0" fontAlgn="base" hangingPunct="0">
              <a:lnSpc>
                <a:spcPct val="95000"/>
              </a:lnSpc>
              <a:spcBef>
                <a:spcPct val="20000"/>
              </a:spcBef>
              <a:spcAft>
                <a:spcPts val="590"/>
              </a:spcAft>
              <a:buClrTx/>
              <a:buSzPct val="50000"/>
              <a:buFont typeface="Wingdings 2" panose="05020102010507070707" pitchFamily="18" charset="2"/>
              <a:buNone/>
            </a:pPr>
            <a:r>
              <a:rPr lang="zh-CN" altLang="en-US" sz="3200" dirty="0">
                <a:solidFill>
                  <a:schemeClr val="tx1"/>
                </a:solidFill>
                <a:latin typeface="黑体" panose="02010609060101010101" pitchFamily="49" charset="-122"/>
                <a:ea typeface="黑体" panose="02010609060101010101" pitchFamily="49" charset="-122"/>
              </a:rPr>
              <a:t>分工明确，各司其职，并行工作</a:t>
            </a:r>
            <a:endParaRPr lang="en-US" altLang="zh-CN" sz="3600" dirty="0">
              <a:solidFill>
                <a:srgbClr val="000066"/>
              </a:solidFill>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500"/>
                                        <p:tgtEl>
                                          <p:spTgt spid="10"/>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500"/>
                            </p:stCondLst>
                            <p:childTnLst>
                              <p:par>
                                <p:cTn id="25" presetID="23" presetClass="entr" presetSubtype="16"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4344"/>
                                        </p:tgtEl>
                                        <p:attrNameLst>
                                          <p:attrName>style.visibility</p:attrName>
                                        </p:attrNameLst>
                                      </p:cBhvr>
                                      <p:to>
                                        <p:strVal val="visible"/>
                                      </p:to>
                                    </p:set>
                                    <p:animEffect transition="in" filter="wipe(up)">
                                      <p:cBhvr>
                                        <p:cTn id="36" dur="500"/>
                                        <p:tgtEl>
                                          <p:spTgt spid="14344"/>
                                        </p:tgtEl>
                                      </p:cBhvr>
                                    </p:animEffect>
                                  </p:childTnLst>
                                </p:cTn>
                              </p:par>
                            </p:childTnLst>
                          </p:cTn>
                        </p:par>
                        <p:par>
                          <p:cTn id="37" fill="hold">
                            <p:stCondLst>
                              <p:cond delay="500"/>
                            </p:stCondLst>
                            <p:childTnLst>
                              <p:par>
                                <p:cTn id="38" presetID="23" presetClass="entr" presetSubtype="16"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500" fill="hold"/>
                                        <p:tgtEl>
                                          <p:spTgt spid="5"/>
                                        </p:tgtEl>
                                        <p:attrNameLst>
                                          <p:attrName>ppt_w</p:attrName>
                                        </p:attrNameLst>
                                      </p:cBhvr>
                                      <p:tavLst>
                                        <p:tav tm="0">
                                          <p:val>
                                            <p:fltVal val="0"/>
                                          </p:val>
                                        </p:tav>
                                        <p:tav tm="100000">
                                          <p:val>
                                            <p:strVal val="#ppt_w"/>
                                          </p:val>
                                        </p:tav>
                                      </p:tavLst>
                                    </p:anim>
                                    <p:anim calcmode="lin" valueType="num">
                                      <p:cBhvr>
                                        <p:cTn id="41"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6">
                                            <p:txEl>
                                              <p:pRg st="0" end="0"/>
                                            </p:txEl>
                                          </p:spTgt>
                                        </p:tgtEl>
                                        <p:attrNameLst>
                                          <p:attrName>style.visibility</p:attrName>
                                        </p:attrNameLst>
                                      </p:cBhvr>
                                      <p:to>
                                        <p:strVal val="visible"/>
                                      </p:to>
                                    </p:set>
                                    <p:anim calcmode="lin" valueType="num">
                                      <p:cBhvr>
                                        <p:cTn id="46"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47" dur="500" fill="hold"/>
                                        <p:tgtEl>
                                          <p:spTgt spid="16">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344" grpId="0" animBg="1"/>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2.1 </a:t>
            </a:r>
            <a:r>
              <a:rPr lang="zh-CN" altLang="en-US" kern="1200" dirty="0">
                <a:latin typeface="Arial" panose="020B0604020202090204" pitchFamily="34" charset="0"/>
                <a:ea typeface="黑体" panose="02010609060101010101" pitchFamily="49" charset="-122"/>
                <a:cs typeface="Arial" panose="020B0604020202090204" pitchFamily="34" charset="0"/>
              </a:rPr>
              <a:t>分而治之与信息隐藏</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370691" name="Rectangle 3"/>
          <p:cNvSpPr>
            <a:spLocks noGrp="1"/>
          </p:cNvSpPr>
          <p:nvPr>
            <p:ph idx="1"/>
          </p:nvPr>
        </p:nvSpPr>
        <p:spPr>
          <a:xfrm>
            <a:off x="1571625" y="1609725"/>
            <a:ext cx="9013825" cy="4411663"/>
          </a:xfrm>
        </p:spPr>
        <p:txBody>
          <a:bodyPr vert="horz" wrap="square" lIns="91440" tIns="45720" rIns="91440" bIns="45720" anchor="t" anchorCtr="0"/>
          <a:lstStyle/>
          <a:p>
            <a:pPr>
              <a:lnSpc>
                <a:spcPts val="4000"/>
              </a:lnSpc>
              <a:buSzPct val="50000"/>
            </a:pPr>
            <a:r>
              <a:rPr lang="zh-CN" altLang="en-US" sz="3200" kern="1200" dirty="0">
                <a:latin typeface="Arial" panose="020B0604020202090204" pitchFamily="34" charset="0"/>
                <a:ea typeface="黑体" panose="02010609060101010101" pitchFamily="49" charset="-122"/>
                <a:cs typeface="+mn-cs"/>
              </a:rPr>
              <a:t>分而治之</a:t>
            </a:r>
            <a:r>
              <a:rPr lang="en-US" altLang="zh-CN" sz="3200" kern="1200" dirty="0">
                <a:latin typeface="Arial" panose="020B0604020202090204" pitchFamily="34" charset="0"/>
                <a:ea typeface="黑体" panose="02010609060101010101" pitchFamily="49" charset="-122"/>
                <a:cs typeface="+mn-cs"/>
              </a:rPr>
              <a:t>(Divide and Conquer, Wirth, 1971 )</a:t>
            </a:r>
            <a:endParaRPr lang="zh-CN" altLang="en-US" sz="3200" kern="1200" dirty="0">
              <a:latin typeface="Arial" panose="020B0604020202090204" pitchFamily="34" charset="0"/>
              <a:ea typeface="黑体" panose="02010609060101010101" pitchFamily="49" charset="-122"/>
              <a:cs typeface="+mn-cs"/>
            </a:endParaRPr>
          </a:p>
          <a:p>
            <a:pPr lvl="1">
              <a:lnSpc>
                <a:spcPts val="4000"/>
              </a:lnSpc>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把一个复杂的问题分解为若干个简单的问题，提炼出公共任务，把不同的功能分解到不同的模块中，逐个解决</a:t>
            </a:r>
            <a:endParaRPr lang="en-US" altLang="zh-CN" sz="2800" kern="1200" dirty="0">
              <a:latin typeface="Arial" panose="020B0604020202090204" pitchFamily="34" charset="0"/>
              <a:ea typeface="黑体" panose="02010609060101010101" pitchFamily="49" charset="-122"/>
              <a:cs typeface="Times New Roman" panose="02020503050405090304" pitchFamily="18" charset="0"/>
            </a:endParaRPr>
          </a:p>
          <a:p>
            <a:pPr lvl="1">
              <a:lnSpc>
                <a:spcPts val="4000"/>
              </a:lnSpc>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复杂问题求解的基本方法</a:t>
            </a:r>
            <a:endParaRPr lang="en-US" altLang="zh-CN" sz="2800" kern="1200" dirty="0">
              <a:latin typeface="Arial" panose="020B0604020202090204" pitchFamily="34" charset="0"/>
              <a:ea typeface="黑体" panose="02010609060101010101" pitchFamily="49" charset="-122"/>
              <a:cs typeface="Times New Roman" panose="02020503050405090304" pitchFamily="18" charset="0"/>
            </a:endParaRPr>
          </a:p>
          <a:p>
            <a:pPr lvl="1">
              <a:lnSpc>
                <a:spcPts val="4000"/>
              </a:lnSpc>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模块化编程的基本思想</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0691">
                                            <p:txEl>
                                              <p:pRg st="0" end="0"/>
                                            </p:txEl>
                                          </p:spTgt>
                                        </p:tgtEl>
                                        <p:attrNameLst>
                                          <p:attrName>style.visibility</p:attrName>
                                        </p:attrNameLst>
                                      </p:cBhvr>
                                      <p:to>
                                        <p:strVal val="visible"/>
                                      </p:to>
                                    </p:set>
                                    <p:animEffect transition="in" filter="wipe(left)">
                                      <p:cBhvr>
                                        <p:cTn id="7" dur="500"/>
                                        <p:tgtEl>
                                          <p:spTgt spid="370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70691">
                                            <p:txEl>
                                              <p:pRg st="1" end="1"/>
                                            </p:txEl>
                                          </p:spTgt>
                                        </p:tgtEl>
                                        <p:attrNameLst>
                                          <p:attrName>style.visibility</p:attrName>
                                        </p:attrNameLst>
                                      </p:cBhvr>
                                      <p:to>
                                        <p:strVal val="visible"/>
                                      </p:to>
                                    </p:set>
                                    <p:anim calcmode="lin" valueType="num">
                                      <p:cBhvr>
                                        <p:cTn id="12" dur="500" fill="hold"/>
                                        <p:tgtEl>
                                          <p:spTgt spid="370691">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7069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370691">
                                            <p:txEl>
                                              <p:pRg st="2" end="2"/>
                                            </p:txEl>
                                          </p:spTgt>
                                        </p:tgtEl>
                                        <p:attrNameLst>
                                          <p:attrName>style.visibility</p:attrName>
                                        </p:attrNameLst>
                                      </p:cBhvr>
                                      <p:to>
                                        <p:strVal val="visible"/>
                                      </p:to>
                                    </p:set>
                                    <p:anim calcmode="lin" valueType="num">
                                      <p:cBhvr>
                                        <p:cTn id="18" dur="500" fill="hold"/>
                                        <p:tgtEl>
                                          <p:spTgt spid="370691">
                                            <p:txEl>
                                              <p:pRg st="2" end="2"/>
                                            </p:txEl>
                                          </p:spTgt>
                                        </p:tgtEl>
                                        <p:attrNameLst>
                                          <p:attrName>ppt_w</p:attrName>
                                        </p:attrNameLst>
                                      </p:cBhvr>
                                      <p:tavLst>
                                        <p:tav tm="0">
                                          <p:val>
                                            <p:fltVal val="0"/>
                                          </p:val>
                                        </p:tav>
                                        <p:tav tm="100000">
                                          <p:val>
                                            <p:strVal val="#ppt_w"/>
                                          </p:val>
                                        </p:tav>
                                      </p:tavLst>
                                    </p:anim>
                                    <p:anim calcmode="lin" valueType="num">
                                      <p:cBhvr>
                                        <p:cTn id="19" dur="500" fill="hold"/>
                                        <p:tgtEl>
                                          <p:spTgt spid="370691">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370691">
                                            <p:txEl>
                                              <p:pRg st="3" end="3"/>
                                            </p:txEl>
                                          </p:spTgt>
                                        </p:tgtEl>
                                        <p:attrNameLst>
                                          <p:attrName>style.visibility</p:attrName>
                                        </p:attrNameLst>
                                      </p:cBhvr>
                                      <p:to>
                                        <p:strVal val="visible"/>
                                      </p:to>
                                    </p:set>
                                    <p:anim calcmode="lin" valueType="num">
                                      <p:cBhvr>
                                        <p:cTn id="24" dur="500" fill="hold"/>
                                        <p:tgtEl>
                                          <p:spTgt spid="370691">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370691">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2.1 </a:t>
            </a:r>
            <a:r>
              <a:rPr lang="zh-CN" altLang="en-US" kern="1200" dirty="0">
                <a:latin typeface="Arial" panose="020B0604020202090204" pitchFamily="34" charset="0"/>
                <a:ea typeface="黑体" panose="02010609060101010101" pitchFamily="49" charset="-122"/>
                <a:cs typeface="Arial" panose="020B0604020202090204" pitchFamily="34" charset="0"/>
              </a:rPr>
              <a:t>分而治之与信息隐藏</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370691" name="Rectangle 3"/>
          <p:cNvSpPr>
            <a:spLocks noGrp="1"/>
          </p:cNvSpPr>
          <p:nvPr>
            <p:ph idx="1"/>
          </p:nvPr>
        </p:nvSpPr>
        <p:spPr>
          <a:xfrm>
            <a:off x="1571625" y="1484313"/>
            <a:ext cx="9283700" cy="4195762"/>
          </a:xfrm>
        </p:spPr>
        <p:txBody>
          <a:bodyPr vert="horz" wrap="square" lIns="91440" tIns="45720" rIns="91440" bIns="45720" anchor="t" anchorCtr="0"/>
          <a:lstStyle/>
          <a:p>
            <a:pPr>
              <a:lnSpc>
                <a:spcPct val="100000"/>
              </a:lnSpc>
              <a:spcAft>
                <a:spcPct val="0"/>
              </a:spcAft>
              <a:buSzPct val="50000"/>
            </a:pPr>
            <a:r>
              <a:rPr lang="zh-CN" altLang="en-US" sz="3200" kern="1200" dirty="0">
                <a:latin typeface="Arial" panose="020B0604020202090204" pitchFamily="34" charset="0"/>
                <a:ea typeface="黑体" panose="02010609060101010101" pitchFamily="49" charset="-122"/>
                <a:cs typeface="+mn-cs"/>
              </a:rPr>
              <a:t>信息隐藏（</a:t>
            </a:r>
            <a:r>
              <a:rPr lang="en-US" altLang="zh-CN" sz="3200" kern="1200" dirty="0">
                <a:latin typeface="Arial" panose="020B0604020202090204" pitchFamily="34" charset="0"/>
                <a:ea typeface="黑体" panose="02010609060101010101" pitchFamily="49" charset="-122"/>
                <a:cs typeface="+mn-cs"/>
              </a:rPr>
              <a:t>Information Hiding, Parnas, 1972</a:t>
            </a:r>
            <a:r>
              <a:rPr lang="zh-CN" altLang="en-US" sz="3200" kern="1200" dirty="0">
                <a:latin typeface="Arial" panose="020B0604020202090204" pitchFamily="34" charset="0"/>
                <a:ea typeface="黑体" panose="02010609060101010101" pitchFamily="49" charset="-122"/>
                <a:cs typeface="+mn-cs"/>
              </a:rPr>
              <a:t>）</a:t>
            </a:r>
            <a:endParaRPr lang="zh-CN" altLang="en-US" sz="3200" kern="1200" dirty="0">
              <a:latin typeface="Arial" panose="020B0604020202090204" pitchFamily="34" charset="0"/>
              <a:ea typeface="黑体" panose="02010609060101010101" pitchFamily="49" charset="-122"/>
              <a:cs typeface="+mn-cs"/>
            </a:endParaRPr>
          </a:p>
          <a:p>
            <a:pPr lvl="1">
              <a:lnSpc>
                <a:spcPct val="10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把函数内的具体操作细节对外界隐藏起来</a:t>
            </a:r>
            <a:endParaRPr lang="en-US" altLang="zh-CN" sz="2800"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对于函数的使用者，无需知道函数内部如何运作，只了解其输入输出即可</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尽管汇编语言里有“子程序”，但高级语言中的函数真正体现了“封装”的思想</a:t>
            </a:r>
            <a:endParaRPr lang="en-US" altLang="zh-CN" sz="2800"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它通过参数和返回值与外界交流，通过参数获取外部信息，函数接口必须定义清楚</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buSzPct val="50000"/>
            </a:pPr>
            <a:endParaRPr lang="en-US" altLang="zh-CN" sz="2800" kern="1200" dirty="0">
              <a:latin typeface="华文仿宋" panose="02010600040101010101" pitchFamily="2" charset="-122"/>
              <a:ea typeface="华文仿宋" panose="02010600040101010101" pitchFamily="2" charset="-122"/>
              <a:cs typeface="Times New Roman" panose="02020503050405090304" pitchFamily="18" charset="0"/>
            </a:endParaRPr>
          </a:p>
          <a:p>
            <a:pPr lvl="1">
              <a:lnSpc>
                <a:spcPct val="100000"/>
              </a:lnSpc>
              <a:spcAft>
                <a:spcPts val="300"/>
              </a:spcAft>
              <a:buSzPct val="50000"/>
            </a:pP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p:txBody>
      </p:sp>
      <p:sp>
        <p:nvSpPr>
          <p:cNvPr id="30728" name="AutoShape 8"/>
          <p:cNvSpPr>
            <a:spLocks noChangeArrowheads="1"/>
          </p:cNvSpPr>
          <p:nvPr/>
        </p:nvSpPr>
        <p:spPr bwMode="auto">
          <a:xfrm>
            <a:off x="4524375" y="5734050"/>
            <a:ext cx="546100" cy="287338"/>
          </a:xfrm>
          <a:prstGeom prst="rightArrow">
            <a:avLst>
              <a:gd name="adj1" fmla="val 50000"/>
              <a:gd name="adj2" fmla="val 43923"/>
            </a:avLst>
          </a:prstGeom>
          <a:solidFill>
            <a:schemeClr val="bg2">
              <a:lumMod val="90000"/>
            </a:schemeClr>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29" name="AutoShape 9"/>
          <p:cNvSpPr>
            <a:spLocks noChangeArrowheads="1"/>
          </p:cNvSpPr>
          <p:nvPr/>
        </p:nvSpPr>
        <p:spPr bwMode="auto">
          <a:xfrm>
            <a:off x="6708775" y="5734050"/>
            <a:ext cx="546100" cy="287338"/>
          </a:xfrm>
          <a:prstGeom prst="rightArrow">
            <a:avLst>
              <a:gd name="adj1" fmla="val 50000"/>
              <a:gd name="adj2" fmla="val 43923"/>
            </a:avLst>
          </a:prstGeom>
          <a:solidFill>
            <a:schemeClr val="bg2">
              <a:lumMod val="90000"/>
            </a:schemeClr>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30" name="Text Box 10"/>
          <p:cNvSpPr txBox="1"/>
          <p:nvPr/>
        </p:nvSpPr>
        <p:spPr>
          <a:xfrm>
            <a:off x="2640013" y="5727700"/>
            <a:ext cx="1908175" cy="369888"/>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b="1" dirty="0">
                <a:latin typeface="Arial" panose="020B0604020202090204" pitchFamily="34" charset="0"/>
                <a:ea typeface="宋体" pitchFamily="2" charset="-122"/>
              </a:rPr>
              <a:t>输入函数参数</a:t>
            </a:r>
            <a:endParaRPr lang="zh-CN" altLang="en-US" b="1" dirty="0">
              <a:latin typeface="Arial" panose="020B0604020202090204" pitchFamily="34" charset="0"/>
              <a:ea typeface="宋体" pitchFamily="2" charset="-122"/>
            </a:endParaRPr>
          </a:p>
        </p:txBody>
      </p:sp>
      <p:sp>
        <p:nvSpPr>
          <p:cNvPr id="30731" name="Text Box 11"/>
          <p:cNvSpPr txBox="1"/>
          <p:nvPr/>
        </p:nvSpPr>
        <p:spPr>
          <a:xfrm>
            <a:off x="7259638" y="5727700"/>
            <a:ext cx="2005012" cy="369888"/>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b="1" dirty="0">
                <a:latin typeface="Arial" panose="020B0604020202090204" pitchFamily="34" charset="0"/>
                <a:ea typeface="宋体" pitchFamily="2" charset="-122"/>
              </a:rPr>
              <a:t>返回计算结果</a:t>
            </a:r>
            <a:endParaRPr lang="zh-CN" altLang="en-US" b="1" dirty="0">
              <a:latin typeface="Arial" panose="020B0604020202090204" pitchFamily="34" charset="0"/>
              <a:ea typeface="宋体" pitchFamily="2" charset="-122"/>
            </a:endParaRPr>
          </a:p>
        </p:txBody>
      </p:sp>
      <p:grpSp>
        <p:nvGrpSpPr>
          <p:cNvPr id="2" name="Group 13"/>
          <p:cNvGrpSpPr/>
          <p:nvPr/>
        </p:nvGrpSpPr>
        <p:grpSpPr>
          <a:xfrm>
            <a:off x="5227638" y="5589588"/>
            <a:ext cx="1246187" cy="593725"/>
            <a:chOff x="2563" y="3748"/>
            <a:chExt cx="725" cy="374"/>
          </a:xfrm>
        </p:grpSpPr>
        <p:sp>
          <p:nvSpPr>
            <p:cNvPr id="2058" name="AutoShape 7"/>
            <p:cNvSpPr>
              <a:spLocks noChangeArrowheads="1"/>
            </p:cNvSpPr>
            <p:nvPr/>
          </p:nvSpPr>
          <p:spPr bwMode="auto">
            <a:xfrm>
              <a:off x="2563" y="3748"/>
              <a:ext cx="725" cy="318"/>
            </a:xfrm>
            <a:prstGeom prst="cube">
              <a:avLst>
                <a:gd name="adj" fmla="val 25000"/>
              </a:avLst>
            </a:prstGeom>
            <a:solidFill>
              <a:schemeClr val="bg2">
                <a:lumMod val="90000"/>
              </a:schemeClr>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graphicFrame>
          <p:nvGraphicFramePr>
            <p:cNvPr id="16393" name="Object 12"/>
            <p:cNvGraphicFramePr>
              <a:graphicFrameLocks noChangeAspect="1"/>
            </p:cNvGraphicFramePr>
            <p:nvPr/>
          </p:nvGraphicFramePr>
          <p:xfrm>
            <a:off x="2594" y="3823"/>
            <a:ext cx="643" cy="299"/>
          </p:xfrm>
          <a:graphic>
            <a:graphicData uri="http://schemas.openxmlformats.org/presentationml/2006/ole">
              <mc:AlternateContent xmlns:mc="http://schemas.openxmlformats.org/markup-compatibility/2006">
                <mc:Choice xmlns:v="urn:schemas-microsoft-com:vml" Requires="v">
                  <p:oleObj spid="_x0000_s80009" name="" r:id="rId1" imgW="7019925" imgH="3514725" progId="Equation.3">
                    <p:embed/>
                  </p:oleObj>
                </mc:Choice>
                <mc:Fallback>
                  <p:oleObj name="" r:id="rId1" imgW="7019925" imgH="3514725" progId="Equation.3">
                    <p:embed/>
                    <p:pic>
                      <p:nvPicPr>
                        <p:cNvPr id="0" name="图片 3075"/>
                        <p:cNvPicPr/>
                        <p:nvPr/>
                      </p:nvPicPr>
                      <p:blipFill>
                        <a:blip r:embed="rId2"/>
                        <a:stretch>
                          <a:fillRect/>
                        </a:stretch>
                      </p:blipFill>
                      <p:spPr>
                        <a:xfrm>
                          <a:off x="2594" y="3823"/>
                          <a:ext cx="643" cy="299"/>
                        </a:xfrm>
                        <a:prstGeom prst="rect">
                          <a:avLst/>
                        </a:prstGeom>
                        <a:noFill/>
                        <a:ln w="38100">
                          <a:noFill/>
                          <a:miter/>
                        </a:ln>
                      </p:spPr>
                    </p:pic>
                  </p:oleObj>
                </mc:Fallback>
              </mc:AlternateContent>
            </a:graphicData>
          </a:graphic>
        </p:graphicFrame>
      </p:gr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70691">
                                            <p:txEl>
                                              <p:pRg st="1" end="1"/>
                                            </p:txEl>
                                          </p:spTgt>
                                        </p:tgtEl>
                                        <p:attrNameLst>
                                          <p:attrName>style.visibility</p:attrName>
                                        </p:attrNameLst>
                                      </p:cBhvr>
                                      <p:to>
                                        <p:strVal val="visible"/>
                                      </p:to>
                                    </p:set>
                                    <p:anim calcmode="lin" valueType="num">
                                      <p:cBhvr>
                                        <p:cTn id="7" dur="500" fill="hold"/>
                                        <p:tgtEl>
                                          <p:spTgt spid="37069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7069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70691">
                                            <p:txEl>
                                              <p:pRg st="2" end="2"/>
                                            </p:txEl>
                                          </p:spTgt>
                                        </p:tgtEl>
                                        <p:attrNameLst>
                                          <p:attrName>style.visibility</p:attrName>
                                        </p:attrNameLst>
                                      </p:cBhvr>
                                      <p:to>
                                        <p:strVal val="visible"/>
                                      </p:to>
                                    </p:set>
                                    <p:anim calcmode="lin" valueType="num">
                                      <p:cBhvr>
                                        <p:cTn id="13" dur="500" fill="hold"/>
                                        <p:tgtEl>
                                          <p:spTgt spid="370691">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370691">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70691">
                                            <p:txEl>
                                              <p:pRg st="3" end="3"/>
                                            </p:txEl>
                                          </p:spTgt>
                                        </p:tgtEl>
                                        <p:attrNameLst>
                                          <p:attrName>style.visibility</p:attrName>
                                        </p:attrNameLst>
                                      </p:cBhvr>
                                      <p:to>
                                        <p:strVal val="visible"/>
                                      </p:to>
                                    </p:set>
                                    <p:anim calcmode="lin" valueType="num">
                                      <p:cBhvr>
                                        <p:cTn id="19" dur="500" fill="hold"/>
                                        <p:tgtEl>
                                          <p:spTgt spid="370691">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370691">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37069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370691">
                                            <p:txEl>
                                              <p:pRg st="4" end="4"/>
                                            </p:txEl>
                                          </p:spTgt>
                                        </p:tgtEl>
                                        <p:attrNameLst>
                                          <p:attrName>style.visibility</p:attrName>
                                        </p:attrNameLst>
                                      </p:cBhvr>
                                      <p:to>
                                        <p:strVal val="visible"/>
                                      </p:to>
                                    </p:set>
                                    <p:anim calcmode="lin" valueType="num">
                                      <p:cBhvr>
                                        <p:cTn id="26" dur="500" fill="hold"/>
                                        <p:tgtEl>
                                          <p:spTgt spid="370691">
                                            <p:txEl>
                                              <p:pRg st="4" end="4"/>
                                            </p:txEl>
                                          </p:spTgt>
                                        </p:tgtEl>
                                        <p:attrNameLst>
                                          <p:attrName>ppt_w</p:attrName>
                                        </p:attrNameLst>
                                      </p:cBhvr>
                                      <p:tavLst>
                                        <p:tav tm="0">
                                          <p:val>
                                            <p:fltVal val="0"/>
                                          </p:val>
                                        </p:tav>
                                        <p:tav tm="100000">
                                          <p:val>
                                            <p:strVal val="#ppt_w"/>
                                          </p:val>
                                        </p:tav>
                                      </p:tavLst>
                                    </p:anim>
                                    <p:anim calcmode="lin" valueType="num">
                                      <p:cBhvr>
                                        <p:cTn id="27" dur="500" fill="hold"/>
                                        <p:tgtEl>
                                          <p:spTgt spid="370691">
                                            <p:txEl>
                                              <p:pRg st="4" end="4"/>
                                            </p:txEl>
                                          </p:spTgt>
                                        </p:tgtEl>
                                        <p:attrNameLst>
                                          <p:attrName>ppt_h</p:attrName>
                                        </p:attrNameLst>
                                      </p:cBhvr>
                                      <p:tavLst>
                                        <p:tav tm="0">
                                          <p:val>
                                            <p:fltVal val="0"/>
                                          </p:val>
                                        </p:tav>
                                        <p:tav tm="100000">
                                          <p:val>
                                            <p:strVal val="#ppt_h"/>
                                          </p:val>
                                        </p:tav>
                                      </p:tavLst>
                                    </p:anim>
                                    <p:animEffect transition="in" filter="fade">
                                      <p:cBhvr>
                                        <p:cTn id="28" dur="500"/>
                                        <p:tgtEl>
                                          <p:spTgt spid="37069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0730"/>
                                        </p:tgtEl>
                                        <p:attrNameLst>
                                          <p:attrName>style.visibility</p:attrName>
                                        </p:attrNameLst>
                                      </p:cBhvr>
                                      <p:to>
                                        <p:strVal val="visible"/>
                                      </p:to>
                                    </p:set>
                                    <p:animEffect transition="in" filter="wipe(left)">
                                      <p:cBhvr>
                                        <p:cTn id="38" dur="500"/>
                                        <p:tgtEl>
                                          <p:spTgt spid="30730"/>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0728"/>
                                        </p:tgtEl>
                                        <p:attrNameLst>
                                          <p:attrName>style.visibility</p:attrName>
                                        </p:attrNameLst>
                                      </p:cBhvr>
                                      <p:to>
                                        <p:strVal val="visible"/>
                                      </p:to>
                                    </p:set>
                                    <p:animEffect transition="in" filter="wipe(left)">
                                      <p:cBhvr>
                                        <p:cTn id="42" dur="500"/>
                                        <p:tgtEl>
                                          <p:spTgt spid="307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0729"/>
                                        </p:tgtEl>
                                        <p:attrNameLst>
                                          <p:attrName>style.visibility</p:attrName>
                                        </p:attrNameLst>
                                      </p:cBhvr>
                                      <p:to>
                                        <p:strVal val="visible"/>
                                      </p:to>
                                    </p:set>
                                    <p:animEffect transition="in" filter="wipe(left)">
                                      <p:cBhvr>
                                        <p:cTn id="47" dur="500"/>
                                        <p:tgtEl>
                                          <p:spTgt spid="30729"/>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30731"/>
                                        </p:tgtEl>
                                        <p:attrNameLst>
                                          <p:attrName>style.visibility</p:attrName>
                                        </p:attrNameLst>
                                      </p:cBhvr>
                                      <p:to>
                                        <p:strVal val="visible"/>
                                      </p:to>
                                    </p:set>
                                    <p:animEffect transition="in" filter="wipe(left)">
                                      <p:cBhvr>
                                        <p:cTn id="51" dur="5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8" grpId="0" animBg="1"/>
      <p:bldP spid="30729" grpId="0" animBg="1"/>
      <p:bldP spid="30730" grpId="0"/>
      <p:bldP spid="30731"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Rectangle 2"/>
          <p:cNvSpPr>
            <a:spLocks noGrp="1"/>
          </p:cNvSpPr>
          <p:nvPr>
            <p:ph type="title" idx="4294967295"/>
          </p:nvPr>
        </p:nvSpPr>
        <p:spPr>
          <a:xfrm>
            <a:off x="1666875" y="404813"/>
            <a:ext cx="8874125" cy="839787"/>
          </a:xfrm>
        </p:spPr>
        <p:txBody>
          <a:bodyPr vert="horz" wrap="square" lIns="91440" tIns="45720" rIns="91440" bIns="45720" anchor="ctr" anchorCtr="0"/>
          <a:lstStyle/>
          <a:p>
            <a:r>
              <a:rPr lang="en-US" altLang="zh-CN" dirty="0"/>
              <a:t>2.2 </a:t>
            </a:r>
            <a:r>
              <a:rPr lang="zh-CN" altLang="en-US" dirty="0"/>
              <a:t>函数</a:t>
            </a:r>
            <a:endParaRPr lang="zh-CN" altLang="en-US" dirty="0"/>
          </a:p>
        </p:txBody>
      </p:sp>
      <p:sp>
        <p:nvSpPr>
          <p:cNvPr id="155652" name="Rectangle 4"/>
          <p:cNvSpPr>
            <a:spLocks noGrp="1"/>
          </p:cNvSpPr>
          <p:nvPr>
            <p:ph type="body" idx="4294967295"/>
          </p:nvPr>
        </p:nvSpPr>
        <p:spPr>
          <a:xfrm>
            <a:off x="1631950" y="1338263"/>
            <a:ext cx="9163050" cy="4611687"/>
          </a:xfrm>
        </p:spPr>
        <p:txBody>
          <a:bodyPr vert="horz" wrap="square" lIns="91440" tIns="45720" rIns="91440" bIns="45720" anchor="t" anchorCtr="0"/>
          <a:lstStyle/>
          <a:p>
            <a:pPr eaLnBrk="1" hangingPunct="1">
              <a:lnSpc>
                <a:spcPct val="105000"/>
              </a:lnSpc>
            </a:pPr>
            <a:r>
              <a:rPr lang="zh-CN" altLang="en-US" sz="2800" dirty="0"/>
              <a:t>函数（</a:t>
            </a:r>
            <a:r>
              <a:rPr lang="en-US" altLang="zh-CN" sz="2800" dirty="0"/>
              <a:t>Function</a:t>
            </a:r>
            <a:r>
              <a:rPr lang="zh-CN" altLang="en-US" sz="2800" dirty="0"/>
              <a:t>）是</a:t>
            </a:r>
            <a:r>
              <a:rPr lang="en-US" altLang="zh-CN" sz="2800" dirty="0"/>
              <a:t>C</a:t>
            </a:r>
            <a:r>
              <a:rPr lang="zh-CN" altLang="en-US" sz="2800" dirty="0"/>
              <a:t>中模块化编程的最小单位</a:t>
            </a:r>
            <a:endParaRPr lang="zh-CN" altLang="en-US" sz="2800" dirty="0"/>
          </a:p>
          <a:p>
            <a:pPr lvl="1" eaLnBrk="1" hangingPunct="1">
              <a:lnSpc>
                <a:spcPct val="105000"/>
              </a:lnSpc>
              <a:buSzPct val="80000"/>
              <a:buFont typeface="Arial" panose="020B0604020202090204" pitchFamily="34" charset="0"/>
              <a:buChar char="*"/>
            </a:pPr>
            <a:r>
              <a:rPr lang="zh-CN" altLang="en-US" sz="2400" dirty="0"/>
              <a:t>可把每个函数看作一个模块（</a:t>
            </a:r>
            <a:r>
              <a:rPr lang="en-US" altLang="zh-CN" sz="2400" dirty="0"/>
              <a:t>Module</a:t>
            </a:r>
            <a:r>
              <a:rPr lang="zh-CN" altLang="en-US" sz="2400" dirty="0"/>
              <a:t>）</a:t>
            </a:r>
            <a:endParaRPr lang="zh-CN" altLang="en-US" sz="2400" dirty="0"/>
          </a:p>
          <a:p>
            <a:pPr lvl="1" eaLnBrk="1" hangingPunct="1">
              <a:lnSpc>
                <a:spcPct val="105000"/>
              </a:lnSpc>
              <a:buSzPct val="80000"/>
              <a:buFont typeface="Arial" panose="020B0604020202090204" pitchFamily="34" charset="0"/>
              <a:buChar char="*"/>
            </a:pPr>
            <a:r>
              <a:rPr lang="zh-CN" altLang="en-US" sz="2400" dirty="0"/>
              <a:t>若干相关的函数也可合并成一个模块</a:t>
            </a:r>
            <a:endParaRPr lang="en-US" altLang="zh-CN" sz="2400" dirty="0"/>
          </a:p>
          <a:p>
            <a:pPr eaLnBrk="1" hangingPunct="1">
              <a:lnSpc>
                <a:spcPct val="105000"/>
              </a:lnSpc>
            </a:pPr>
            <a:r>
              <a:rPr lang="en-US" altLang="zh-CN" sz="2800" dirty="0"/>
              <a:t>C</a:t>
            </a:r>
            <a:r>
              <a:rPr lang="zh-CN" altLang="en-US" sz="2800" dirty="0"/>
              <a:t>程序的结构</a:t>
            </a:r>
            <a:endParaRPr lang="zh-CN" altLang="en-US" sz="2800" dirty="0"/>
          </a:p>
          <a:p>
            <a:pPr lvl="1">
              <a:lnSpc>
                <a:spcPct val="105000"/>
              </a:lnSpc>
              <a:buSzPct val="80000"/>
              <a:buFont typeface="Arial" panose="020B0604020202090204" pitchFamily="34" charset="0"/>
              <a:buChar char="*"/>
            </a:pPr>
            <a:r>
              <a:rPr lang="zh-CN" altLang="en-US" sz="2400" dirty="0"/>
              <a:t>一个</a:t>
            </a:r>
            <a:r>
              <a:rPr lang="en-US" altLang="zh-CN" sz="2400" dirty="0"/>
              <a:t>C</a:t>
            </a:r>
            <a:r>
              <a:rPr lang="zh-CN" altLang="en-US" sz="2400" dirty="0"/>
              <a:t>程序由一个或多个源程序文件组成</a:t>
            </a:r>
            <a:endParaRPr lang="en-US" altLang="zh-CN" sz="2400" dirty="0"/>
          </a:p>
          <a:p>
            <a:pPr lvl="1">
              <a:lnSpc>
                <a:spcPct val="105000"/>
              </a:lnSpc>
              <a:buSzPct val="80000"/>
              <a:buFont typeface="Arial" panose="020B0604020202090204" pitchFamily="34" charset="0"/>
              <a:buChar char="*"/>
            </a:pPr>
            <a:r>
              <a:rPr lang="zh-CN" altLang="en-US" sz="2400" dirty="0"/>
              <a:t>一个源程序文件由一个或多个函数组成</a:t>
            </a:r>
            <a:endParaRPr lang="zh-CN" altLang="en-US" sz="2400" dirty="0"/>
          </a:p>
        </p:txBody>
      </p:sp>
      <p:sp>
        <p:nvSpPr>
          <p:cNvPr id="17411" name="Rectangle 33"/>
          <p:cNvSpPr/>
          <p:nvPr/>
        </p:nvSpPr>
        <p:spPr>
          <a:xfrm>
            <a:off x="1143000" y="-184150"/>
            <a:ext cx="184150" cy="368300"/>
          </a:xfrm>
          <a:prstGeom prst="rect">
            <a:avLst/>
          </a:prstGeom>
          <a:noFill/>
          <a:ln w="9525">
            <a:noFill/>
          </a:ln>
        </p:spPr>
        <p:txBody>
          <a:bodyPr wrap="none" anchor="ctr"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dirty="0">
              <a:latin typeface="Arial" panose="020B0604020202090204" pitchFamily="34" charset="0"/>
              <a:ea typeface="宋体" pitchFamily="2" charset="-122"/>
            </a:endParaRPr>
          </a:p>
        </p:txBody>
      </p:sp>
      <p:pic>
        <p:nvPicPr>
          <p:cNvPr id="33797" name="Picture 46"/>
          <p:cNvPicPr>
            <a:picLocks noChangeAspect="1"/>
          </p:cNvPicPr>
          <p:nvPr/>
        </p:nvPicPr>
        <p:blipFill>
          <a:blip r:embed="rId1">
            <a:clrChange>
              <a:clrFrom>
                <a:srgbClr val="FFFFFF"/>
              </a:clrFrom>
              <a:clrTo>
                <a:srgbClr val="FFFFFF">
                  <a:alpha val="0"/>
                </a:srgbClr>
              </a:clrTo>
            </a:clrChange>
          </a:blip>
          <a:stretch>
            <a:fillRect/>
          </a:stretch>
        </p:blipFill>
        <p:spPr>
          <a:xfrm>
            <a:off x="3863975" y="4292600"/>
            <a:ext cx="5064125" cy="2205038"/>
          </a:xfrm>
          <a:prstGeom prst="rect">
            <a:avLst/>
          </a:prstGeom>
          <a:noFill/>
          <a:ln w="9525">
            <a:noFill/>
          </a:ln>
        </p:spPr>
      </p:pic>
      <p:pic>
        <p:nvPicPr>
          <p:cNvPr id="17413" name="Picture 2"/>
          <p:cNvPicPr>
            <a:picLocks noChangeAspect="1"/>
          </p:cNvPicPr>
          <p:nvPr/>
        </p:nvPicPr>
        <p:blipFill>
          <a:blip r:embed="rId2">
            <a:clrChange>
              <a:clrFrom>
                <a:srgbClr val="FFFFFF"/>
              </a:clrFrom>
              <a:clrTo>
                <a:srgbClr val="FFFFFF">
                  <a:alpha val="0"/>
                </a:srgbClr>
              </a:clrTo>
            </a:clrChange>
          </a:blip>
          <a:srcRect t="12515" b="9927"/>
          <a:stretch>
            <a:fillRect/>
          </a:stretch>
        </p:blipFill>
        <p:spPr>
          <a:xfrm>
            <a:off x="1662113" y="5013325"/>
            <a:ext cx="1625600" cy="1189038"/>
          </a:xfrm>
          <a:prstGeom prst="rect">
            <a:avLst/>
          </a:prstGeom>
          <a:noFill/>
          <a:ln w="9525">
            <a:noFill/>
          </a:ln>
        </p:spPr>
      </p:pic>
      <p:pic>
        <p:nvPicPr>
          <p:cNvPr id="17414" name="图片 9"/>
          <p:cNvPicPr>
            <a:picLocks noChangeAspect="1"/>
          </p:cNvPicPr>
          <p:nvPr/>
        </p:nvPicPr>
        <p:blipFill>
          <a:blip r:embed="rId3">
            <a:clrChange>
              <a:clrFrom>
                <a:srgbClr val="FEFFFA"/>
              </a:clrFrom>
              <a:clrTo>
                <a:srgbClr val="FEFFFA">
                  <a:alpha val="0"/>
                </a:srgbClr>
              </a:clrTo>
            </a:clrChange>
          </a:blip>
          <a:stretch>
            <a:fillRect/>
          </a:stretch>
        </p:blipFill>
        <p:spPr>
          <a:xfrm>
            <a:off x="10106025" y="1989138"/>
            <a:ext cx="942975" cy="1844675"/>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2">
                                            <p:txEl>
                                              <p:pRg st="0" end="0"/>
                                            </p:txEl>
                                          </p:spTgt>
                                        </p:tgtEl>
                                        <p:attrNameLst>
                                          <p:attrName>style.visibility</p:attrName>
                                        </p:attrNameLst>
                                      </p:cBhvr>
                                      <p:to>
                                        <p:strVal val="visible"/>
                                      </p:to>
                                    </p:set>
                                    <p:animEffect transition="in" filter="wipe(left)">
                                      <p:cBhvr>
                                        <p:cTn id="7" dur="500"/>
                                        <p:tgtEl>
                                          <p:spTgt spid="1556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52">
                                            <p:txEl>
                                              <p:pRg st="1" end="1"/>
                                            </p:txEl>
                                          </p:spTgt>
                                        </p:tgtEl>
                                        <p:attrNameLst>
                                          <p:attrName>style.visibility</p:attrName>
                                        </p:attrNameLst>
                                      </p:cBhvr>
                                      <p:to>
                                        <p:strVal val="visible"/>
                                      </p:to>
                                    </p:set>
                                    <p:animEffect transition="in" filter="wipe(left)">
                                      <p:cBhvr>
                                        <p:cTn id="12" dur="500"/>
                                        <p:tgtEl>
                                          <p:spTgt spid="1556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52">
                                            <p:txEl>
                                              <p:pRg st="2" end="2"/>
                                            </p:txEl>
                                          </p:spTgt>
                                        </p:tgtEl>
                                        <p:attrNameLst>
                                          <p:attrName>style.visibility</p:attrName>
                                        </p:attrNameLst>
                                      </p:cBhvr>
                                      <p:to>
                                        <p:strVal val="visible"/>
                                      </p:to>
                                    </p:set>
                                    <p:animEffect transition="in" filter="wipe(left)">
                                      <p:cBhvr>
                                        <p:cTn id="17" dur="500"/>
                                        <p:tgtEl>
                                          <p:spTgt spid="1556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5652">
                                            <p:txEl>
                                              <p:pRg st="3" end="3"/>
                                            </p:txEl>
                                          </p:spTgt>
                                        </p:tgtEl>
                                        <p:attrNameLst>
                                          <p:attrName>style.visibility</p:attrName>
                                        </p:attrNameLst>
                                      </p:cBhvr>
                                      <p:to>
                                        <p:strVal val="visible"/>
                                      </p:to>
                                    </p:set>
                                    <p:animEffect transition="in" filter="wipe(left)">
                                      <p:cBhvr>
                                        <p:cTn id="22" dur="500"/>
                                        <p:tgtEl>
                                          <p:spTgt spid="1556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33797"/>
                                        </p:tgtEl>
                                        <p:attrNameLst>
                                          <p:attrName>style.visibility</p:attrName>
                                        </p:attrNameLst>
                                      </p:cBhvr>
                                      <p:to>
                                        <p:strVal val="visible"/>
                                      </p:to>
                                    </p:set>
                                    <p:anim calcmode="lin" valueType="num">
                                      <p:cBhvr>
                                        <p:cTn id="27" dur="500" fill="hold"/>
                                        <p:tgtEl>
                                          <p:spTgt spid="33797"/>
                                        </p:tgtEl>
                                        <p:attrNameLst>
                                          <p:attrName>ppt_w</p:attrName>
                                        </p:attrNameLst>
                                      </p:cBhvr>
                                      <p:tavLst>
                                        <p:tav tm="0">
                                          <p:val>
                                            <p:fltVal val="0"/>
                                          </p:val>
                                        </p:tav>
                                        <p:tav tm="100000">
                                          <p:val>
                                            <p:strVal val="#ppt_w"/>
                                          </p:val>
                                        </p:tav>
                                      </p:tavLst>
                                    </p:anim>
                                    <p:anim calcmode="lin" valueType="num">
                                      <p:cBhvr>
                                        <p:cTn id="28" dur="500" fill="hold"/>
                                        <p:tgtEl>
                                          <p:spTgt spid="33797"/>
                                        </p:tgtEl>
                                        <p:attrNameLst>
                                          <p:attrName>ppt_h</p:attrName>
                                        </p:attrNameLst>
                                      </p:cBhvr>
                                      <p:tavLst>
                                        <p:tav tm="0">
                                          <p:val>
                                            <p:fltVal val="0"/>
                                          </p:val>
                                        </p:tav>
                                        <p:tav tm="100000">
                                          <p:val>
                                            <p:strVal val="#ppt_h"/>
                                          </p:val>
                                        </p:tav>
                                      </p:tavLst>
                                    </p:anim>
                                  </p:childTnLst>
                                </p:cTn>
                              </p:par>
                              <p:par>
                                <p:cTn id="29" presetID="22" presetClass="entr" presetSubtype="8" fill="hold" grpId="0" nodeType="withEffect">
                                  <p:stCondLst>
                                    <p:cond delay="0"/>
                                  </p:stCondLst>
                                  <p:childTnLst>
                                    <p:set>
                                      <p:cBhvr>
                                        <p:cTn id="30" dur="1" fill="hold">
                                          <p:stCondLst>
                                            <p:cond delay="0"/>
                                          </p:stCondLst>
                                        </p:cTn>
                                        <p:tgtEl>
                                          <p:spTgt spid="155652">
                                            <p:txEl>
                                              <p:pRg st="4" end="4"/>
                                            </p:txEl>
                                          </p:spTgt>
                                        </p:tgtEl>
                                        <p:attrNameLst>
                                          <p:attrName>style.visibility</p:attrName>
                                        </p:attrNameLst>
                                      </p:cBhvr>
                                      <p:to>
                                        <p:strVal val="visible"/>
                                      </p:to>
                                    </p:set>
                                    <p:animEffect transition="in" filter="wipe(left)">
                                      <p:cBhvr>
                                        <p:cTn id="31" dur="500"/>
                                        <p:tgtEl>
                                          <p:spTgt spid="155652">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5652">
                                            <p:txEl>
                                              <p:pRg st="5" end="5"/>
                                            </p:txEl>
                                          </p:spTgt>
                                        </p:tgtEl>
                                        <p:attrNameLst>
                                          <p:attrName>style.visibility</p:attrName>
                                        </p:attrNameLst>
                                      </p:cBhvr>
                                      <p:to>
                                        <p:strVal val="visible"/>
                                      </p:to>
                                    </p:set>
                                    <p:animEffect transition="in" filter="wipe(left)">
                                      <p:cBhvr>
                                        <p:cTn id="36" dur="500"/>
                                        <p:tgtEl>
                                          <p:spTgt spid="15565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矩形 16"/>
          <p:cNvSpPr>
            <a:spLocks noChangeArrowheads="1"/>
          </p:cNvSpPr>
          <p:nvPr/>
        </p:nvSpPr>
        <p:spPr bwMode="auto">
          <a:xfrm>
            <a:off x="5808663" y="4508500"/>
            <a:ext cx="1655763" cy="1873250"/>
          </a:xfrm>
          <a:prstGeom prst="rect">
            <a:avLst/>
          </a:prstGeom>
          <a:solidFill>
            <a:srgbClr val="FFFFCC"/>
          </a:solidFill>
          <a:ln w="25400" algn="ctr">
            <a:solidFill>
              <a:srgbClr val="008000"/>
            </a:solidFill>
            <a:miter lim="800000"/>
          </a:ln>
        </p:spPr>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6" name="矩形 15"/>
          <p:cNvSpPr>
            <a:spLocks noChangeArrowheads="1"/>
          </p:cNvSpPr>
          <p:nvPr/>
        </p:nvSpPr>
        <p:spPr bwMode="auto">
          <a:xfrm>
            <a:off x="3935413" y="4508500"/>
            <a:ext cx="1655763" cy="1873250"/>
          </a:xfrm>
          <a:prstGeom prst="rect">
            <a:avLst/>
          </a:prstGeom>
          <a:solidFill>
            <a:srgbClr val="FFFFCC"/>
          </a:solidFill>
          <a:ln w="25400" algn="ctr">
            <a:solidFill>
              <a:srgbClr val="008000"/>
            </a:solidFill>
            <a:miter lim="800000"/>
          </a:ln>
        </p:spPr>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9459" name="Rectangle 2"/>
          <p:cNvSpPr>
            <a:spLocks noGrp="1"/>
          </p:cNvSpPr>
          <p:nvPr>
            <p:ph type="title" idx="4294967295"/>
          </p:nvPr>
        </p:nvSpPr>
        <p:spPr/>
        <p:txBody>
          <a:bodyPr vert="horz" wrap="square" lIns="91440" tIns="45720" rIns="91440" bIns="45720" anchor="ctr" anchorCtr="0"/>
          <a:lstStyle/>
          <a:p>
            <a:r>
              <a:rPr lang="en-US" altLang="zh-CN" dirty="0"/>
              <a:t>2.2.1 </a:t>
            </a:r>
            <a:r>
              <a:rPr lang="zh-CN" altLang="en-US" dirty="0"/>
              <a:t>函数的分类</a:t>
            </a:r>
            <a:endParaRPr lang="en-US" altLang="zh-CN" dirty="0"/>
          </a:p>
        </p:txBody>
      </p:sp>
      <p:sp>
        <p:nvSpPr>
          <p:cNvPr id="180227" name="Rectangle 3"/>
          <p:cNvSpPr>
            <a:spLocks noGrp="1"/>
          </p:cNvSpPr>
          <p:nvPr>
            <p:ph type="body" idx="4294967295"/>
          </p:nvPr>
        </p:nvSpPr>
        <p:spPr>
          <a:xfrm>
            <a:off x="1631950" y="1341438"/>
            <a:ext cx="9001125" cy="3887787"/>
          </a:xfrm>
        </p:spPr>
        <p:txBody>
          <a:bodyPr vert="horz" wrap="square" lIns="91440" tIns="45720" rIns="91440" bIns="45720" anchor="t" anchorCtr="0"/>
          <a:lstStyle/>
          <a:p>
            <a:pPr eaLnBrk="1" hangingPunct="1">
              <a:lnSpc>
                <a:spcPct val="100000"/>
              </a:lnSpc>
            </a:pPr>
            <a:r>
              <a:rPr lang="zh-CN" altLang="en-US" dirty="0">
                <a:latin typeface="华文仿宋" panose="02010600040101010101" pitchFamily="2" charset="-122"/>
              </a:rPr>
              <a:t>函数生来都是平等的，互相独立的，没有高低贵贱和从属之分</a:t>
            </a:r>
            <a:endParaRPr lang="zh-CN" altLang="en-US" dirty="0">
              <a:latin typeface="华文仿宋" panose="02010600040101010101" pitchFamily="2" charset="-122"/>
            </a:endParaRPr>
          </a:p>
          <a:p>
            <a:pPr lvl="1" eaLnBrk="1" hangingPunct="1">
              <a:lnSpc>
                <a:spcPct val="100000"/>
              </a:lnSpc>
            </a:pPr>
            <a:r>
              <a:rPr lang="fr-FR" altLang="zh-CN" dirty="0"/>
              <a:t>main()</a:t>
            </a:r>
            <a:r>
              <a:rPr lang="zh-CN" altLang="en-US" dirty="0"/>
              <a:t>稍微特殊一点点</a:t>
            </a:r>
            <a:endParaRPr lang="zh-CN" altLang="en-US" dirty="0"/>
          </a:p>
          <a:p>
            <a:pPr lvl="1" eaLnBrk="1" hangingPunct="1">
              <a:lnSpc>
                <a:spcPct val="100000"/>
              </a:lnSpc>
            </a:pPr>
            <a:r>
              <a:rPr lang="en-US" altLang="zh-CN" dirty="0"/>
              <a:t>C</a:t>
            </a:r>
            <a:r>
              <a:rPr lang="zh-CN" altLang="en-US" dirty="0"/>
              <a:t>程序的执行从</a:t>
            </a:r>
            <a:r>
              <a:rPr lang="en-US" altLang="zh-CN" dirty="0"/>
              <a:t>main</a:t>
            </a:r>
            <a:r>
              <a:rPr lang="zh-CN" altLang="en-US" dirty="0"/>
              <a:t>函数开始</a:t>
            </a:r>
            <a:endParaRPr lang="zh-CN" altLang="en-US" dirty="0"/>
          </a:p>
          <a:p>
            <a:pPr lvl="1" eaLnBrk="1" hangingPunct="1">
              <a:lnSpc>
                <a:spcPct val="100000"/>
              </a:lnSpc>
            </a:pPr>
            <a:r>
              <a:rPr lang="zh-CN" altLang="en-US" dirty="0"/>
              <a:t>调用其他函数后流程回到</a:t>
            </a:r>
            <a:r>
              <a:rPr lang="en-US" altLang="zh-CN" dirty="0"/>
              <a:t>main</a:t>
            </a:r>
            <a:r>
              <a:rPr lang="zh-CN" altLang="en-US" dirty="0"/>
              <a:t>函数</a:t>
            </a:r>
            <a:endParaRPr lang="zh-CN" altLang="en-US" dirty="0"/>
          </a:p>
          <a:p>
            <a:pPr lvl="1" eaLnBrk="1" hangingPunct="1">
              <a:lnSpc>
                <a:spcPct val="100000"/>
              </a:lnSpc>
            </a:pPr>
            <a:r>
              <a:rPr lang="zh-CN" altLang="en-US" dirty="0"/>
              <a:t>在</a:t>
            </a:r>
            <a:r>
              <a:rPr lang="en-US" altLang="zh-CN" dirty="0"/>
              <a:t>main</a:t>
            </a:r>
            <a:r>
              <a:rPr lang="zh-CN" altLang="en-US" dirty="0"/>
              <a:t>函数中结束整个程序的运行</a:t>
            </a:r>
            <a:endParaRPr lang="zh-CN" altLang="en-US" dirty="0"/>
          </a:p>
        </p:txBody>
      </p:sp>
      <p:grpSp>
        <p:nvGrpSpPr>
          <p:cNvPr id="2" name="Group 28"/>
          <p:cNvGrpSpPr/>
          <p:nvPr/>
        </p:nvGrpSpPr>
        <p:grpSpPr>
          <a:xfrm>
            <a:off x="3935413" y="4508500"/>
            <a:ext cx="3536950" cy="1820863"/>
            <a:chOff x="1422" y="2963"/>
            <a:chExt cx="2057" cy="1147"/>
          </a:xfrm>
        </p:grpSpPr>
        <p:sp>
          <p:nvSpPr>
            <p:cNvPr id="19462" name="Text Box 8"/>
            <p:cNvSpPr txBox="1"/>
            <p:nvPr/>
          </p:nvSpPr>
          <p:spPr>
            <a:xfrm>
              <a:off x="1547" y="2963"/>
              <a:ext cx="595" cy="233"/>
            </a:xfrm>
            <a:prstGeom prst="rect">
              <a:avLst/>
            </a:prstGeom>
            <a:noFill/>
            <a:ln w="9525">
              <a:noFill/>
            </a:ln>
          </p:spPr>
          <p:txBody>
            <a:bodyPr wrap="none" anchor="ctr" anchorCtr="0">
              <a:spAutoFit/>
            </a:bodyPr>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C00000"/>
                  </a:solidFill>
                  <a:latin typeface="Arial" panose="020B0604020202090204" pitchFamily="34" charset="0"/>
                </a:rPr>
                <a:t>main</a:t>
              </a:r>
              <a:r>
                <a:rPr lang="en-US" altLang="zh-CN" b="1" dirty="0">
                  <a:solidFill>
                    <a:srgbClr val="000066"/>
                  </a:solidFill>
                  <a:latin typeface="Arial" panose="020B0604020202090204" pitchFamily="34" charset="0"/>
                </a:rPr>
                <a:t>( )</a:t>
              </a:r>
              <a:endParaRPr lang="en-US" altLang="zh-CN" b="1" dirty="0">
                <a:solidFill>
                  <a:srgbClr val="000066"/>
                </a:solidFill>
                <a:latin typeface="Arial" panose="020B0604020202090204" pitchFamily="34" charset="0"/>
              </a:endParaRPr>
            </a:p>
          </p:txBody>
        </p:sp>
        <p:sp>
          <p:nvSpPr>
            <p:cNvPr id="19463" name="Text Box 9"/>
            <p:cNvSpPr txBox="1"/>
            <p:nvPr/>
          </p:nvSpPr>
          <p:spPr>
            <a:xfrm>
              <a:off x="1422" y="3348"/>
              <a:ext cx="940" cy="233"/>
            </a:xfrm>
            <a:prstGeom prst="rect">
              <a:avLst/>
            </a:prstGeom>
            <a:noFill/>
            <a:ln w="9525">
              <a:noFill/>
            </a:ln>
          </p:spPr>
          <p:txBody>
            <a:bodyPr wrap="none" anchor="ctr" anchorCtr="0">
              <a:spAutoFit/>
            </a:bodyPr>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zh-CN" b="1" dirty="0">
                  <a:solidFill>
                    <a:srgbClr val="000066"/>
                  </a:solidFill>
                  <a:latin typeface="Arial" panose="020B0604020202090204" pitchFamily="34" charset="0"/>
                  <a:ea typeface="宋体" pitchFamily="2" charset="-122"/>
                </a:rPr>
                <a:t>调用函数</a:t>
              </a:r>
              <a:r>
                <a:rPr lang="zh-CN" altLang="en-US" b="1" dirty="0">
                  <a:solidFill>
                    <a:srgbClr val="000066"/>
                  </a:solidFill>
                  <a:latin typeface="Arial" panose="020B0604020202090204" pitchFamily="34" charset="0"/>
                  <a:ea typeface="宋体" pitchFamily="2" charset="-122"/>
                </a:rPr>
                <a:t>f</a:t>
              </a:r>
              <a:r>
                <a:rPr lang="en-US" altLang="zh-CN" b="1" dirty="0">
                  <a:solidFill>
                    <a:srgbClr val="000066"/>
                  </a:solidFill>
                  <a:latin typeface="Arial" panose="020B0604020202090204" pitchFamily="34" charset="0"/>
                </a:rPr>
                <a:t>un</a:t>
              </a:r>
              <a:endParaRPr lang="en-US" altLang="zh-CN" b="1" dirty="0">
                <a:solidFill>
                  <a:srgbClr val="000066"/>
                </a:solidFill>
                <a:latin typeface="Arial" panose="020B0604020202090204" pitchFamily="34" charset="0"/>
              </a:endParaRPr>
            </a:p>
          </p:txBody>
        </p:sp>
        <p:sp>
          <p:nvSpPr>
            <p:cNvPr id="19464" name="Text Box 10"/>
            <p:cNvSpPr txBox="1"/>
            <p:nvPr/>
          </p:nvSpPr>
          <p:spPr>
            <a:xfrm>
              <a:off x="1596" y="3853"/>
              <a:ext cx="408" cy="233"/>
            </a:xfrm>
            <a:prstGeom prst="rect">
              <a:avLst/>
            </a:prstGeom>
            <a:noFill/>
            <a:ln w="9525">
              <a:noFill/>
            </a:ln>
          </p:spPr>
          <p:txBody>
            <a:bodyPr wrap="none" anchor="ctr" anchorCtr="0">
              <a:spAutoFit/>
            </a:bodyPr>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zh-CN" b="1" dirty="0">
                  <a:solidFill>
                    <a:srgbClr val="000066"/>
                  </a:solidFill>
                  <a:latin typeface="Arial" panose="020B0604020202090204" pitchFamily="34" charset="0"/>
                  <a:ea typeface="宋体" pitchFamily="2" charset="-122"/>
                </a:rPr>
                <a:t>结束</a:t>
              </a:r>
              <a:endParaRPr lang="zh-CN" altLang="en-US" b="1" dirty="0">
                <a:solidFill>
                  <a:srgbClr val="000066"/>
                </a:solidFill>
                <a:latin typeface="Arial" panose="020B0604020202090204" pitchFamily="34" charset="0"/>
                <a:ea typeface="宋体" pitchFamily="2" charset="-122"/>
              </a:endParaRPr>
            </a:p>
          </p:txBody>
        </p:sp>
        <p:sp>
          <p:nvSpPr>
            <p:cNvPr id="19465" name="Text Box 11"/>
            <p:cNvSpPr txBox="1"/>
            <p:nvPr/>
          </p:nvSpPr>
          <p:spPr>
            <a:xfrm>
              <a:off x="2839" y="2983"/>
              <a:ext cx="640" cy="233"/>
            </a:xfrm>
            <a:prstGeom prst="rect">
              <a:avLst/>
            </a:prstGeom>
            <a:noFill/>
            <a:ln w="9525">
              <a:noFill/>
            </a:ln>
          </p:spPr>
          <p:txBody>
            <a:bodyPr wrap="none" anchor="ctr" anchorCtr="0">
              <a:spAutoFit/>
            </a:bodyPr>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b="1" dirty="0">
                  <a:solidFill>
                    <a:srgbClr val="000066"/>
                  </a:solidFill>
                  <a:latin typeface="Arial" panose="020B0604020202090204" pitchFamily="34" charset="0"/>
                  <a:ea typeface="宋体" pitchFamily="2" charset="-122"/>
                </a:rPr>
                <a:t>f</a:t>
              </a:r>
              <a:r>
                <a:rPr lang="en-US" altLang="zh-CN" b="1" dirty="0">
                  <a:solidFill>
                    <a:srgbClr val="000066"/>
                  </a:solidFill>
                  <a:latin typeface="Arial" panose="020B0604020202090204" pitchFamily="34" charset="0"/>
                </a:rPr>
                <a:t>un</a:t>
              </a:r>
              <a:r>
                <a:rPr lang="zh-CN" altLang="zh-CN" b="1" dirty="0">
                  <a:solidFill>
                    <a:srgbClr val="000066"/>
                  </a:solidFill>
                  <a:latin typeface="Arial" panose="020B0604020202090204" pitchFamily="34" charset="0"/>
                  <a:ea typeface="宋体" pitchFamily="2" charset="-122"/>
                </a:rPr>
                <a:t>函数</a:t>
              </a:r>
              <a:endParaRPr lang="zh-CN" altLang="en-US" b="1" dirty="0">
                <a:solidFill>
                  <a:srgbClr val="000066"/>
                </a:solidFill>
                <a:latin typeface="Arial" panose="020B0604020202090204" pitchFamily="34" charset="0"/>
                <a:ea typeface="宋体" pitchFamily="2" charset="-122"/>
              </a:endParaRPr>
            </a:p>
          </p:txBody>
        </p:sp>
        <p:sp>
          <p:nvSpPr>
            <p:cNvPr id="19466" name="Line 14"/>
            <p:cNvSpPr/>
            <p:nvPr/>
          </p:nvSpPr>
          <p:spPr>
            <a:xfrm>
              <a:off x="1794" y="3147"/>
              <a:ext cx="0" cy="236"/>
            </a:xfrm>
            <a:prstGeom prst="line">
              <a:avLst/>
            </a:prstGeom>
            <a:ln w="28575" cap="flat" cmpd="sng">
              <a:solidFill>
                <a:srgbClr val="C00000"/>
              </a:solidFill>
              <a:prstDash val="solid"/>
              <a:round/>
              <a:headEnd type="none" w="med" len="med"/>
              <a:tailEnd type="triangle" w="med" len="med"/>
            </a:ln>
          </p:spPr>
        </p:sp>
        <p:sp>
          <p:nvSpPr>
            <p:cNvPr id="19467" name="Line 15"/>
            <p:cNvSpPr/>
            <p:nvPr/>
          </p:nvSpPr>
          <p:spPr>
            <a:xfrm>
              <a:off x="1794" y="3545"/>
              <a:ext cx="0" cy="270"/>
            </a:xfrm>
            <a:prstGeom prst="line">
              <a:avLst/>
            </a:prstGeom>
            <a:ln w="28575" cap="flat" cmpd="sng">
              <a:solidFill>
                <a:srgbClr val="C00000"/>
              </a:solidFill>
              <a:prstDash val="solid"/>
              <a:round/>
              <a:headEnd type="none" w="med" len="med"/>
              <a:tailEnd type="triangle" w="med" len="med"/>
            </a:ln>
          </p:spPr>
        </p:sp>
        <p:sp>
          <p:nvSpPr>
            <p:cNvPr id="19468" name="Line 16"/>
            <p:cNvSpPr/>
            <p:nvPr/>
          </p:nvSpPr>
          <p:spPr>
            <a:xfrm flipV="1">
              <a:off x="2336" y="3180"/>
              <a:ext cx="713" cy="295"/>
            </a:xfrm>
            <a:prstGeom prst="line">
              <a:avLst/>
            </a:prstGeom>
            <a:ln w="28575" cap="flat" cmpd="sng">
              <a:solidFill>
                <a:srgbClr val="C00000"/>
              </a:solidFill>
              <a:prstDash val="solid"/>
              <a:round/>
              <a:headEnd type="none" w="med" len="med"/>
              <a:tailEnd type="triangle" w="med" len="med"/>
            </a:ln>
          </p:spPr>
        </p:sp>
        <p:sp>
          <p:nvSpPr>
            <p:cNvPr id="19469" name="Line 18"/>
            <p:cNvSpPr/>
            <p:nvPr/>
          </p:nvSpPr>
          <p:spPr>
            <a:xfrm flipH="1">
              <a:off x="3049" y="3203"/>
              <a:ext cx="0" cy="907"/>
            </a:xfrm>
            <a:prstGeom prst="line">
              <a:avLst/>
            </a:prstGeom>
            <a:ln w="28575" cap="flat" cmpd="sng">
              <a:solidFill>
                <a:srgbClr val="C00000"/>
              </a:solidFill>
              <a:prstDash val="solid"/>
              <a:round/>
              <a:headEnd type="none" w="med" len="med"/>
              <a:tailEnd type="triangle" w="med" len="med"/>
            </a:ln>
          </p:spPr>
        </p:sp>
        <p:sp>
          <p:nvSpPr>
            <p:cNvPr id="19470" name="Line 19"/>
            <p:cNvSpPr/>
            <p:nvPr/>
          </p:nvSpPr>
          <p:spPr>
            <a:xfrm flipH="1" flipV="1">
              <a:off x="2336" y="3521"/>
              <a:ext cx="725" cy="589"/>
            </a:xfrm>
            <a:prstGeom prst="line">
              <a:avLst/>
            </a:prstGeom>
            <a:ln w="28575" cap="flat" cmpd="sng">
              <a:solidFill>
                <a:srgbClr val="C00000"/>
              </a:solidFill>
              <a:prstDash val="solid"/>
              <a:round/>
              <a:headEnd type="none" w="med" len="med"/>
              <a:tailEnd type="triangle" w="med" len="med"/>
            </a:ln>
          </p:spPr>
        </p:sp>
      </p:grpSp>
      <p:pic>
        <p:nvPicPr>
          <p:cNvPr id="19471" name="Picture 4" descr="j0103172[1]"/>
          <p:cNvPicPr>
            <a:picLocks noChangeAspect="1"/>
          </p:cNvPicPr>
          <p:nvPr/>
        </p:nvPicPr>
        <p:blipFill>
          <a:blip r:embed="rId1"/>
          <a:stretch>
            <a:fillRect/>
          </a:stretch>
        </p:blipFill>
        <p:spPr>
          <a:xfrm>
            <a:off x="9605963" y="4797425"/>
            <a:ext cx="1041400" cy="1223963"/>
          </a:xfrm>
          <a:prstGeom prst="rect">
            <a:avLst/>
          </a:prstGeom>
          <a:noFill/>
          <a:ln w="9525">
            <a:noFill/>
          </a:ln>
        </p:spPr>
      </p:pic>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 calcmode="lin" valueType="num">
                                      <p:cBhvr>
                                        <p:cTn id="7" dur="500" fill="hold"/>
                                        <p:tgtEl>
                                          <p:spTgt spid="18022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8022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8022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0227">
                                            <p:txEl>
                                              <p:pRg st="1" end="1"/>
                                            </p:txEl>
                                          </p:spTgt>
                                        </p:tgtEl>
                                        <p:attrNameLst>
                                          <p:attrName>style.visibility</p:attrName>
                                        </p:attrNameLst>
                                      </p:cBhvr>
                                      <p:to>
                                        <p:strVal val="visible"/>
                                      </p:to>
                                    </p:set>
                                    <p:anim calcmode="lin" valueType="num">
                                      <p:cBhvr>
                                        <p:cTn id="14" dur="500" fill="hold"/>
                                        <p:tgtEl>
                                          <p:spTgt spid="18022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8022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8022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80227">
                                            <p:txEl>
                                              <p:pRg st="2" end="2"/>
                                            </p:txEl>
                                          </p:spTgt>
                                        </p:tgtEl>
                                        <p:attrNameLst>
                                          <p:attrName>style.visibility</p:attrName>
                                        </p:attrNameLst>
                                      </p:cBhvr>
                                      <p:to>
                                        <p:strVal val="visible"/>
                                      </p:to>
                                    </p:set>
                                    <p:anim calcmode="lin" valueType="num">
                                      <p:cBhvr>
                                        <p:cTn id="27" dur="500" fill="hold"/>
                                        <p:tgtEl>
                                          <p:spTgt spid="18022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18022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180227">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80227">
                                            <p:txEl>
                                              <p:pRg st="3" end="3"/>
                                            </p:txEl>
                                          </p:spTgt>
                                        </p:tgtEl>
                                        <p:attrNameLst>
                                          <p:attrName>style.visibility</p:attrName>
                                        </p:attrNameLst>
                                      </p:cBhvr>
                                      <p:to>
                                        <p:strVal val="visible"/>
                                      </p:to>
                                    </p:set>
                                    <p:anim calcmode="lin" valueType="num">
                                      <p:cBhvr>
                                        <p:cTn id="34" dur="500" fill="hold"/>
                                        <p:tgtEl>
                                          <p:spTgt spid="180227">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180227">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180227">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180227">
                                            <p:txEl>
                                              <p:pRg st="4" end="4"/>
                                            </p:txEl>
                                          </p:spTgt>
                                        </p:tgtEl>
                                        <p:attrNameLst>
                                          <p:attrName>style.visibility</p:attrName>
                                        </p:attrNameLst>
                                      </p:cBhvr>
                                      <p:to>
                                        <p:strVal val="visible"/>
                                      </p:to>
                                    </p:set>
                                    <p:anim calcmode="lin" valueType="num">
                                      <p:cBhvr>
                                        <p:cTn id="41" dur="500" fill="hold"/>
                                        <p:tgtEl>
                                          <p:spTgt spid="18022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80227">
                                            <p:txEl>
                                              <p:pRg st="4" end="4"/>
                                            </p:txEl>
                                          </p:spTgt>
                                        </p:tgtEl>
                                        <p:attrNameLst>
                                          <p:attrName>ppt_h</p:attrName>
                                        </p:attrNameLst>
                                      </p:cBhvr>
                                      <p:tavLst>
                                        <p:tav tm="0">
                                          <p:val>
                                            <p:fltVal val="0"/>
                                          </p:val>
                                        </p:tav>
                                        <p:tav tm="100000">
                                          <p:val>
                                            <p:strVal val="#ppt_h"/>
                                          </p:val>
                                        </p:tav>
                                      </p:tavLst>
                                    </p:anim>
                                    <p:animEffect transition="in" filter="fade">
                                      <p:cBhvr>
                                        <p:cTn id="43" dur="500"/>
                                        <p:tgtEl>
                                          <p:spTgt spid="180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Rectangle 2"/>
          <p:cNvSpPr>
            <a:spLocks noGrp="1"/>
          </p:cNvSpPr>
          <p:nvPr>
            <p:ph type="title" idx="4294967295"/>
          </p:nvPr>
        </p:nvSpPr>
        <p:spPr/>
        <p:txBody>
          <a:bodyPr vert="horz" wrap="square" lIns="91440" tIns="45720" rIns="91440" bIns="45720" anchor="ctr" anchorCtr="0"/>
          <a:lstStyle/>
          <a:p>
            <a:r>
              <a:rPr lang="en-US" altLang="zh-CN" dirty="0"/>
              <a:t>2.2.1 </a:t>
            </a:r>
            <a:r>
              <a:rPr lang="zh-CN" altLang="en-US" dirty="0"/>
              <a:t>函数的分类</a:t>
            </a:r>
            <a:endParaRPr lang="en-US" altLang="zh-CN" dirty="0"/>
          </a:p>
        </p:txBody>
      </p:sp>
      <p:sp>
        <p:nvSpPr>
          <p:cNvPr id="180227" name="Rectangle 3"/>
          <p:cNvSpPr>
            <a:spLocks noGrp="1"/>
          </p:cNvSpPr>
          <p:nvPr>
            <p:ph type="body" idx="4294967295"/>
          </p:nvPr>
        </p:nvSpPr>
        <p:spPr>
          <a:xfrm>
            <a:off x="1525588" y="1196975"/>
            <a:ext cx="8891587" cy="5184775"/>
          </a:xfrm>
        </p:spPr>
        <p:txBody>
          <a:bodyPr vert="horz" wrap="square" lIns="91440" tIns="45720" rIns="91440" bIns="45720" anchor="t" anchorCtr="0"/>
          <a:lstStyle/>
          <a:p>
            <a:pPr eaLnBrk="1" hangingPunct="1">
              <a:lnSpc>
                <a:spcPct val="105000"/>
              </a:lnSpc>
            </a:pPr>
            <a:r>
              <a:rPr lang="zh-CN" altLang="en-US" dirty="0"/>
              <a:t>标准库函数</a:t>
            </a:r>
            <a:endParaRPr lang="zh-CN" altLang="en-US" dirty="0"/>
          </a:p>
          <a:p>
            <a:pPr lvl="1" eaLnBrk="1" hangingPunct="1">
              <a:lnSpc>
                <a:spcPct val="105000"/>
              </a:lnSpc>
            </a:pPr>
            <a:r>
              <a:rPr lang="en-US" altLang="zh-CN" dirty="0"/>
              <a:t>ANSI/ISO C</a:t>
            </a:r>
            <a:r>
              <a:rPr lang="zh-CN" altLang="en-US" dirty="0"/>
              <a:t>定义的标准库函数</a:t>
            </a:r>
            <a:endParaRPr lang="zh-CN" altLang="en-US" dirty="0"/>
          </a:p>
          <a:p>
            <a:pPr lvl="2" eaLnBrk="1" hangingPunct="1">
              <a:lnSpc>
                <a:spcPct val="105000"/>
              </a:lnSpc>
              <a:buFont typeface="Wingdings" panose="05000000000000000000" pitchFamily="2" charset="2"/>
              <a:buChar char="u"/>
            </a:pPr>
            <a:r>
              <a:rPr lang="zh-CN" altLang="en-US" dirty="0"/>
              <a:t>符合标准的</a:t>
            </a:r>
            <a:r>
              <a:rPr lang="en-US" altLang="zh-CN" dirty="0"/>
              <a:t>C</a:t>
            </a:r>
            <a:r>
              <a:rPr lang="zh-CN" altLang="en-US" dirty="0"/>
              <a:t>语言编译器必须提供这些函数</a:t>
            </a:r>
            <a:endParaRPr lang="zh-CN" altLang="en-US" dirty="0"/>
          </a:p>
          <a:p>
            <a:pPr lvl="2" eaLnBrk="1" hangingPunct="1">
              <a:lnSpc>
                <a:spcPct val="105000"/>
              </a:lnSpc>
              <a:buFont typeface="Wingdings" panose="05000000000000000000" pitchFamily="2" charset="2"/>
              <a:buChar char="u"/>
            </a:pPr>
            <a:r>
              <a:rPr lang="zh-CN" altLang="en-US" dirty="0"/>
              <a:t>函数的行为也要符合</a:t>
            </a:r>
            <a:r>
              <a:rPr lang="en-US" altLang="zh-CN" dirty="0"/>
              <a:t>ANSI/ISO C</a:t>
            </a:r>
            <a:r>
              <a:rPr lang="zh-CN" altLang="en-US" dirty="0"/>
              <a:t>的定义</a:t>
            </a:r>
            <a:endParaRPr lang="zh-CN" altLang="en-US" dirty="0"/>
          </a:p>
          <a:p>
            <a:pPr lvl="1" eaLnBrk="1" hangingPunct="1">
              <a:lnSpc>
                <a:spcPct val="105000"/>
              </a:lnSpc>
            </a:pPr>
            <a:r>
              <a:rPr lang="zh-CN" altLang="en-US" dirty="0"/>
              <a:t>第三方库函数</a:t>
            </a:r>
            <a:endParaRPr lang="zh-CN" altLang="en-US" dirty="0"/>
          </a:p>
          <a:p>
            <a:pPr lvl="2" eaLnBrk="1" hangingPunct="1">
              <a:lnSpc>
                <a:spcPct val="105000"/>
              </a:lnSpc>
              <a:buFont typeface="Wingdings" panose="05000000000000000000" pitchFamily="2" charset="2"/>
              <a:buChar char="u"/>
            </a:pPr>
            <a:r>
              <a:rPr lang="zh-CN" altLang="en-US" dirty="0"/>
              <a:t>由其他厂商自行开发的</a:t>
            </a:r>
            <a:r>
              <a:rPr lang="en-US" altLang="zh-CN" dirty="0"/>
              <a:t>C</a:t>
            </a:r>
            <a:r>
              <a:rPr lang="zh-CN" altLang="en-US" dirty="0"/>
              <a:t>语言函数库</a:t>
            </a:r>
            <a:endParaRPr lang="zh-CN" altLang="en-US" dirty="0"/>
          </a:p>
          <a:p>
            <a:pPr lvl="2" eaLnBrk="1" hangingPunct="1">
              <a:lnSpc>
                <a:spcPct val="105000"/>
              </a:lnSpc>
              <a:buFont typeface="Wingdings" panose="05000000000000000000" pitchFamily="2" charset="2"/>
              <a:buChar char="u"/>
            </a:pPr>
            <a:r>
              <a:rPr lang="zh-CN" altLang="en-US" dirty="0"/>
              <a:t>不在标准范围内，能扩充</a:t>
            </a:r>
            <a:r>
              <a:rPr lang="en-US" altLang="zh-CN" dirty="0"/>
              <a:t>C</a:t>
            </a:r>
            <a:r>
              <a:rPr lang="zh-CN" altLang="en-US" dirty="0"/>
              <a:t>语言的功能（图形、数据库等）</a:t>
            </a:r>
            <a:endParaRPr lang="zh-CN" altLang="en-US" dirty="0"/>
          </a:p>
          <a:p>
            <a:pPr eaLnBrk="1" hangingPunct="1">
              <a:lnSpc>
                <a:spcPct val="105000"/>
              </a:lnSpc>
            </a:pPr>
            <a:r>
              <a:rPr lang="zh-CN" altLang="en-US" dirty="0"/>
              <a:t>自定义函数</a:t>
            </a:r>
            <a:endParaRPr lang="zh-CN" altLang="en-US" dirty="0"/>
          </a:p>
          <a:p>
            <a:pPr lvl="1" eaLnBrk="1" hangingPunct="1">
              <a:lnSpc>
                <a:spcPct val="105000"/>
              </a:lnSpc>
            </a:pPr>
            <a:r>
              <a:rPr lang="zh-CN" altLang="en-US" dirty="0"/>
              <a:t>用户自己定义的函数</a:t>
            </a:r>
            <a:endParaRPr lang="zh-CN" altLang="en-US" dirty="0"/>
          </a:p>
          <a:p>
            <a:pPr lvl="2" eaLnBrk="1" hangingPunct="1">
              <a:lnSpc>
                <a:spcPct val="105000"/>
              </a:lnSpc>
              <a:buFont typeface="Wingdings" panose="05000000000000000000" pitchFamily="2" charset="2"/>
              <a:buChar char="u"/>
            </a:pPr>
            <a:r>
              <a:rPr lang="zh-CN" altLang="en-US" dirty="0"/>
              <a:t>包装后，也可成为函数库，供别人使用</a:t>
            </a:r>
            <a:endParaRPr lang="en-US" altLang="zh-CN" dirty="0"/>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 calcmode="lin" valueType="num">
                                      <p:cBhvr>
                                        <p:cTn id="7" dur="500" fill="hold"/>
                                        <p:tgtEl>
                                          <p:spTgt spid="18022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8022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8022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0227">
                                            <p:txEl>
                                              <p:pRg st="1" end="1"/>
                                            </p:txEl>
                                          </p:spTgt>
                                        </p:tgtEl>
                                        <p:attrNameLst>
                                          <p:attrName>style.visibility</p:attrName>
                                        </p:attrNameLst>
                                      </p:cBhvr>
                                      <p:to>
                                        <p:strVal val="visible"/>
                                      </p:to>
                                    </p:set>
                                    <p:anim calcmode="lin" valueType="num">
                                      <p:cBhvr>
                                        <p:cTn id="14" dur="500" fill="hold"/>
                                        <p:tgtEl>
                                          <p:spTgt spid="18022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8022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8022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80227">
                                            <p:txEl>
                                              <p:pRg st="2" end="2"/>
                                            </p:txEl>
                                          </p:spTgt>
                                        </p:tgtEl>
                                        <p:attrNameLst>
                                          <p:attrName>style.visibility</p:attrName>
                                        </p:attrNameLst>
                                      </p:cBhvr>
                                      <p:to>
                                        <p:strVal val="visible"/>
                                      </p:to>
                                    </p:set>
                                    <p:anim calcmode="lin" valueType="num">
                                      <p:cBhvr>
                                        <p:cTn id="21" dur="500" fill="hold"/>
                                        <p:tgtEl>
                                          <p:spTgt spid="1802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8022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18022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80227">
                                            <p:txEl>
                                              <p:pRg st="3" end="3"/>
                                            </p:txEl>
                                          </p:spTgt>
                                        </p:tgtEl>
                                        <p:attrNameLst>
                                          <p:attrName>style.visibility</p:attrName>
                                        </p:attrNameLst>
                                      </p:cBhvr>
                                      <p:to>
                                        <p:strVal val="visible"/>
                                      </p:to>
                                    </p:set>
                                    <p:anim calcmode="lin" valueType="num">
                                      <p:cBhvr>
                                        <p:cTn id="28" dur="500" fill="hold"/>
                                        <p:tgtEl>
                                          <p:spTgt spid="18022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18022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18022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80227">
                                            <p:txEl>
                                              <p:pRg st="4" end="4"/>
                                            </p:txEl>
                                          </p:spTgt>
                                        </p:tgtEl>
                                        <p:attrNameLst>
                                          <p:attrName>style.visibility</p:attrName>
                                        </p:attrNameLst>
                                      </p:cBhvr>
                                      <p:to>
                                        <p:strVal val="visible"/>
                                      </p:to>
                                    </p:set>
                                    <p:anim calcmode="lin" valueType="num">
                                      <p:cBhvr>
                                        <p:cTn id="35" dur="500" fill="hold"/>
                                        <p:tgtEl>
                                          <p:spTgt spid="18022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18022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18022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80227">
                                            <p:txEl>
                                              <p:pRg st="5" end="5"/>
                                            </p:txEl>
                                          </p:spTgt>
                                        </p:tgtEl>
                                        <p:attrNameLst>
                                          <p:attrName>style.visibility</p:attrName>
                                        </p:attrNameLst>
                                      </p:cBhvr>
                                      <p:to>
                                        <p:strVal val="visible"/>
                                      </p:to>
                                    </p:set>
                                    <p:anim calcmode="lin" valueType="num">
                                      <p:cBhvr>
                                        <p:cTn id="42" dur="500" fill="hold"/>
                                        <p:tgtEl>
                                          <p:spTgt spid="180227">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180227">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180227">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80227">
                                            <p:txEl>
                                              <p:pRg st="6" end="6"/>
                                            </p:txEl>
                                          </p:spTgt>
                                        </p:tgtEl>
                                        <p:attrNameLst>
                                          <p:attrName>style.visibility</p:attrName>
                                        </p:attrNameLst>
                                      </p:cBhvr>
                                      <p:to>
                                        <p:strVal val="visible"/>
                                      </p:to>
                                    </p:set>
                                    <p:anim calcmode="lin" valueType="num">
                                      <p:cBhvr>
                                        <p:cTn id="49" dur="500" fill="hold"/>
                                        <p:tgtEl>
                                          <p:spTgt spid="180227">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180227">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180227">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80227">
                                            <p:txEl>
                                              <p:pRg st="7" end="7"/>
                                            </p:txEl>
                                          </p:spTgt>
                                        </p:tgtEl>
                                        <p:attrNameLst>
                                          <p:attrName>style.visibility</p:attrName>
                                        </p:attrNameLst>
                                      </p:cBhvr>
                                      <p:to>
                                        <p:strVal val="visible"/>
                                      </p:to>
                                    </p:set>
                                    <p:anim calcmode="lin" valueType="num">
                                      <p:cBhvr>
                                        <p:cTn id="56" dur="500" fill="hold"/>
                                        <p:tgtEl>
                                          <p:spTgt spid="180227">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180227">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180227">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80227">
                                            <p:txEl>
                                              <p:pRg st="8" end="8"/>
                                            </p:txEl>
                                          </p:spTgt>
                                        </p:tgtEl>
                                        <p:attrNameLst>
                                          <p:attrName>style.visibility</p:attrName>
                                        </p:attrNameLst>
                                      </p:cBhvr>
                                      <p:to>
                                        <p:strVal val="visible"/>
                                      </p:to>
                                    </p:set>
                                    <p:anim calcmode="lin" valueType="num">
                                      <p:cBhvr>
                                        <p:cTn id="63" dur="500" fill="hold"/>
                                        <p:tgtEl>
                                          <p:spTgt spid="180227">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180227">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180227">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80227">
                                            <p:txEl>
                                              <p:pRg st="9" end="9"/>
                                            </p:txEl>
                                          </p:spTgt>
                                        </p:tgtEl>
                                        <p:attrNameLst>
                                          <p:attrName>style.visibility</p:attrName>
                                        </p:attrNameLst>
                                      </p:cBhvr>
                                      <p:to>
                                        <p:strVal val="visible"/>
                                      </p:to>
                                    </p:set>
                                    <p:anim calcmode="lin" valueType="num">
                                      <p:cBhvr>
                                        <p:cTn id="70" dur="500" fill="hold"/>
                                        <p:tgtEl>
                                          <p:spTgt spid="180227">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180227">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1802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553" name="图片 9"/>
          <p:cNvPicPr>
            <a:picLocks noChangeAspect="1"/>
          </p:cNvPicPr>
          <p:nvPr/>
        </p:nvPicPr>
        <p:blipFill>
          <a:blip r:embed="rId1">
            <a:clrChange>
              <a:clrFrom>
                <a:srgbClr val="FEFFFA"/>
              </a:clrFrom>
              <a:clrTo>
                <a:srgbClr val="FEFFFA">
                  <a:alpha val="0"/>
                </a:srgbClr>
              </a:clrTo>
            </a:clrChange>
          </a:blip>
          <a:stretch>
            <a:fillRect/>
          </a:stretch>
        </p:blipFill>
        <p:spPr>
          <a:xfrm>
            <a:off x="9832975" y="4537075"/>
            <a:ext cx="942975" cy="1844675"/>
          </a:xfrm>
          <a:prstGeom prst="rect">
            <a:avLst/>
          </a:prstGeom>
          <a:noFill/>
          <a:ln w="9525">
            <a:noFill/>
          </a:ln>
        </p:spPr>
      </p:pic>
      <p:graphicFrame>
        <p:nvGraphicFramePr>
          <p:cNvPr id="16" name="表格 15"/>
          <p:cNvGraphicFramePr>
            <a:graphicFrameLocks noGrp="1"/>
          </p:cNvGraphicFramePr>
          <p:nvPr/>
        </p:nvGraphicFramePr>
        <p:xfrm>
          <a:off x="1416050" y="1854200"/>
          <a:ext cx="3744913" cy="2511427"/>
        </p:xfrm>
        <a:graphic>
          <a:graphicData uri="http://schemas.openxmlformats.org/drawingml/2006/table">
            <a:tbl>
              <a:tblPr/>
              <a:tblGrid>
                <a:gridCol w="1871663"/>
                <a:gridCol w="1873250"/>
              </a:tblGrid>
              <a:tr h="404813">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rPr>
                        <a:t>数学中的函数</a:t>
                      </a:r>
                      <a:endPar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数学表达式</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y = sin(x)</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函数名</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sin</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自变量</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x</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因变量</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y</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87362">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功能</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主要是计算</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bl>
          </a:graphicData>
        </a:graphic>
      </p:graphicFrame>
      <p:graphicFrame>
        <p:nvGraphicFramePr>
          <p:cNvPr id="17" name="表格 16"/>
          <p:cNvGraphicFramePr>
            <a:graphicFrameLocks noGrp="1"/>
          </p:cNvGraphicFramePr>
          <p:nvPr/>
        </p:nvGraphicFramePr>
        <p:xfrm>
          <a:off x="5303838" y="1847850"/>
          <a:ext cx="5472112" cy="2514602"/>
        </p:xfrm>
        <a:graphic>
          <a:graphicData uri="http://schemas.openxmlformats.org/drawingml/2006/table">
            <a:tbl>
              <a:tblPr/>
              <a:tblGrid>
                <a:gridCol w="1836737"/>
                <a:gridCol w="3635375"/>
              </a:tblGrid>
              <a:tr h="404813">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rPr>
                        <a:t>程序设计中的函数</a:t>
                      </a:r>
                      <a:endParaRPr kumimoji="0" lang="zh-CN" altLang="en-US" sz="2000" b="0" i="0" u="none" strike="noStrike" cap="none" normalizeH="0" baseline="0">
                        <a:ln>
                          <a:noFill/>
                        </a:ln>
                        <a:solidFill>
                          <a:schemeClr val="tx1"/>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06400">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C</a:t>
                      </a: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语言表达式</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y = sin(x)</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函数名</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sin</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06400">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函数的参数</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x</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40481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函数的返回值</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y</a:t>
                      </a:r>
                      <a:endParaRPr kumimoji="1" lang="en-US" altLang="zh-CN"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48736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功能</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rPr>
                        <a:t>不局限于计算，还有判断推理</a:t>
                      </a:r>
                      <a:endParaRPr kumimoji="1" lang="zh-CN" altLang="en-US" sz="2000" b="0" i="0" u="none" strike="noStrike" cap="none" normalizeH="0" baseline="0">
                        <a:ln>
                          <a:noFill/>
                        </a:ln>
                        <a:solidFill>
                          <a:srgbClr val="0000CC"/>
                        </a:solidFill>
                        <a:effectLst/>
                        <a:latin typeface="Arial" panose="020B0604020202090204" pitchFamily="34" charset="0"/>
                        <a:ea typeface="黑体" panose="02010609060101010101" pitchFamily="49" charset="-122"/>
                        <a:cs typeface="Arial" panose="020B0604020202090204" pitchFamily="34"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bl>
          </a:graphicData>
        </a:graphic>
      </p:graphicFrame>
      <p:sp>
        <p:nvSpPr>
          <p:cNvPr id="23600" name="Rectangle 2"/>
          <p:cNvSpPr>
            <a:spLocks noGrp="1"/>
          </p:cNvSpPr>
          <p:nvPr>
            <p:ph type="title"/>
          </p:nvPr>
        </p:nvSpPr>
        <p:spPr>
          <a:xfrm>
            <a:off x="1558925" y="404813"/>
            <a:ext cx="9364663" cy="839787"/>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2.2.2 </a:t>
            </a:r>
            <a:r>
              <a:rPr lang="zh-CN" altLang="en-US" kern="1200" dirty="0">
                <a:latin typeface="Arial" panose="020B0604020202090204" pitchFamily="34" charset="0"/>
                <a:ea typeface="黑体" panose="02010609060101010101" pitchFamily="49" charset="-122"/>
                <a:cs typeface="Arial" panose="020B0604020202090204" pitchFamily="34" charset="0"/>
              </a:rPr>
              <a:t>函数的定义</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ext Box 5"/>
          <p:cNvSpPr txBox="1">
            <a:spLocks noChangeArrowheads="1"/>
          </p:cNvSpPr>
          <p:nvPr/>
        </p:nvSpPr>
        <p:spPr bwMode="auto">
          <a:xfrm>
            <a:off x="2798763" y="2901950"/>
            <a:ext cx="3417888" cy="3092450"/>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Average (</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x,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y )</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return</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24578" name="Rectangle 2"/>
          <p:cNvSpPr>
            <a:spLocks noGrp="1"/>
          </p:cNvSpPr>
          <p:nvPr>
            <p:ph type="title" idx="4294967295"/>
          </p:nvPr>
        </p:nvSpPr>
        <p:spPr>
          <a:xfrm>
            <a:off x="1558925" y="404813"/>
            <a:ext cx="9364663" cy="839787"/>
          </a:xfrm>
        </p:spPr>
        <p:txBody>
          <a:bodyPr vert="horz" wrap="square" lIns="91440" tIns="45720" rIns="91440" bIns="45720" anchor="ctr" anchorCtr="0"/>
          <a:lstStyle/>
          <a:p>
            <a:r>
              <a:rPr lang="en-US" altLang="zh-CN" dirty="0"/>
              <a:t>2.2.2 </a:t>
            </a:r>
            <a:r>
              <a:rPr lang="zh-CN" altLang="en-US" dirty="0"/>
              <a:t>函数的定义</a:t>
            </a:r>
            <a:endParaRPr lang="en-US" altLang="zh-CN" dirty="0"/>
          </a:p>
        </p:txBody>
      </p:sp>
      <p:sp>
        <p:nvSpPr>
          <p:cNvPr id="156677" name="AutoShape 5"/>
          <p:cNvSpPr/>
          <p:nvPr/>
        </p:nvSpPr>
        <p:spPr>
          <a:xfrm>
            <a:off x="4656138" y="1628775"/>
            <a:ext cx="1873250" cy="923925"/>
          </a:xfrm>
          <a:prstGeom prst="wedgeEllipseCallout">
            <a:avLst>
              <a:gd name="adj1" fmla="val -88981"/>
              <a:gd name="adj2" fmla="val 97079"/>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函数名标识符</a:t>
            </a:r>
            <a:endParaRPr lang="en-US" altLang="zh-CN" sz="2400" b="1" dirty="0">
              <a:solidFill>
                <a:srgbClr val="333399"/>
              </a:solidFill>
              <a:latin typeface="Arial" panose="020B0604020202090204" pitchFamily="34" charset="0"/>
              <a:ea typeface="黑体" panose="02010609060101010101" pitchFamily="49" charset="-122"/>
            </a:endParaRPr>
          </a:p>
        </p:txBody>
      </p:sp>
      <p:sp>
        <p:nvSpPr>
          <p:cNvPr id="156678" name="AutoShape 6"/>
          <p:cNvSpPr/>
          <p:nvPr/>
        </p:nvSpPr>
        <p:spPr>
          <a:xfrm>
            <a:off x="5880100" y="1628775"/>
            <a:ext cx="4679950" cy="1079500"/>
          </a:xfrm>
          <a:prstGeom prst="wedgeEllipseCallout">
            <a:avLst>
              <a:gd name="adj1" fmla="val -58514"/>
              <a:gd name="adj2" fmla="val 52500"/>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黑体" panose="02010609060101010101" pitchFamily="49" charset="-122"/>
                <a:ea typeface="黑体" panose="02010609060101010101" pitchFamily="49" charset="-122"/>
              </a:rPr>
              <a:t>形参表，函数的入口，接收调用者传入的参数</a:t>
            </a:r>
            <a:endParaRPr lang="zh-CN" altLang="en-US" sz="2400" b="1" dirty="0">
              <a:solidFill>
                <a:srgbClr val="333399"/>
              </a:solidFill>
              <a:latin typeface="黑体" panose="02010609060101010101" pitchFamily="49" charset="-122"/>
              <a:ea typeface="黑体" panose="02010609060101010101" pitchFamily="49" charset="-122"/>
            </a:endParaRPr>
          </a:p>
        </p:txBody>
      </p:sp>
      <p:sp>
        <p:nvSpPr>
          <p:cNvPr id="24582" name="AutoShape 7"/>
          <p:cNvSpPr/>
          <p:nvPr/>
        </p:nvSpPr>
        <p:spPr>
          <a:xfrm rot="-5400000">
            <a:off x="5138738" y="2106613"/>
            <a:ext cx="298450" cy="1327150"/>
          </a:xfrm>
          <a:prstGeom prst="rightBrace">
            <a:avLst>
              <a:gd name="adj1" fmla="val 111037"/>
              <a:gd name="adj2" fmla="val 50000"/>
            </a:avLst>
          </a:prstGeom>
          <a:noFill/>
          <a:ln w="28575" cap="flat" cmpd="sng">
            <a:solidFill>
              <a:schemeClr val="tx1"/>
            </a:solidFill>
            <a:prstDash val="solid"/>
            <a:headEnd type="none" w="sm" len="sm"/>
            <a:tailEnd type="none" w="sm" len="sm"/>
          </a:ln>
        </p:spPr>
        <p:txBody>
          <a:bodyPr rot="10800000" wrap="none" anchor="ctr" anchorCtr="0"/>
          <a:lstStyle/>
          <a:p>
            <a:pPr algn="ctr" fontAlgn="base">
              <a:lnSpc>
                <a:spcPct val="90000"/>
              </a:lnSpc>
              <a:spcBef>
                <a:spcPts val="590"/>
              </a:spcBef>
              <a:spcAft>
                <a:spcPts val="590"/>
              </a:spcAft>
              <a:buClr>
                <a:schemeClr val="tx2"/>
              </a:buClr>
              <a:buSzPct val="80000"/>
              <a:buNone/>
            </a:pPr>
            <a:endParaRPr lang="zh-CN" altLang="en-US" b="1" strike="noStrike" noProof="1">
              <a:effectLst>
                <a:outerShdw blurRad="38100" dist="38100" dir="2700000">
                  <a:srgbClr val="FFFFFF"/>
                </a:outerShdw>
              </a:effectLst>
              <a:latin typeface="Arial" panose="020B0604020202090204" pitchFamily="34" charset="0"/>
            </a:endParaRPr>
          </a:p>
        </p:txBody>
      </p:sp>
      <p:sp>
        <p:nvSpPr>
          <p:cNvPr id="156680" name="AutoShape 8"/>
          <p:cNvSpPr/>
          <p:nvPr/>
        </p:nvSpPr>
        <p:spPr>
          <a:xfrm>
            <a:off x="3232150" y="5711825"/>
            <a:ext cx="4951413" cy="885825"/>
          </a:xfrm>
          <a:prstGeom prst="wedgeEllipseCallout">
            <a:avLst>
              <a:gd name="adj1" fmla="val -43394"/>
              <a:gd name="adj2" fmla="val -74014"/>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函数的出口，只能返回一个值给调用者</a:t>
            </a:r>
            <a:endParaRPr lang="en-US" altLang="zh-CN" sz="2400" b="1" dirty="0">
              <a:solidFill>
                <a:srgbClr val="333399"/>
              </a:solidFill>
              <a:latin typeface="Arial" panose="020B0604020202090204" pitchFamily="34" charset="0"/>
              <a:ea typeface="黑体" panose="02010609060101010101" pitchFamily="49" charset="-122"/>
            </a:endParaRPr>
          </a:p>
        </p:txBody>
      </p:sp>
      <p:grpSp>
        <p:nvGrpSpPr>
          <p:cNvPr id="2" name="Group 17"/>
          <p:cNvGrpSpPr/>
          <p:nvPr/>
        </p:nvGrpSpPr>
        <p:grpSpPr>
          <a:xfrm>
            <a:off x="2855913" y="3284538"/>
            <a:ext cx="6653212" cy="2600325"/>
            <a:chOff x="753" y="2329"/>
            <a:chExt cx="3869" cy="1278"/>
          </a:xfrm>
        </p:grpSpPr>
        <p:sp>
          <p:nvSpPr>
            <p:cNvPr id="11" name="Rectangle 11"/>
            <p:cNvSpPr>
              <a:spLocks noChangeArrowheads="1"/>
            </p:cNvSpPr>
            <p:nvPr/>
          </p:nvSpPr>
          <p:spPr bwMode="auto">
            <a:xfrm>
              <a:off x="753" y="2329"/>
              <a:ext cx="134" cy="224"/>
            </a:xfrm>
            <a:prstGeom prst="rect">
              <a:avLst/>
            </a:prstGeom>
            <a:noFill/>
            <a:ln w="28575">
              <a:solidFill>
                <a:srgbClr val="339966"/>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4585" name="Line 12"/>
            <p:cNvSpPr/>
            <p:nvPr/>
          </p:nvSpPr>
          <p:spPr>
            <a:xfrm flipH="1">
              <a:off x="905" y="2429"/>
              <a:ext cx="2109" cy="5"/>
            </a:xfrm>
            <a:prstGeom prst="line">
              <a:avLst/>
            </a:prstGeom>
            <a:ln w="28575" cap="flat" cmpd="sng">
              <a:solidFill>
                <a:srgbClr val="339966"/>
              </a:solidFill>
              <a:prstDash val="solid"/>
              <a:miter/>
              <a:headEnd type="none" w="med" len="med"/>
              <a:tailEnd type="triangle" w="med" len="med"/>
            </a:ln>
          </p:spPr>
        </p:sp>
        <p:sp>
          <p:nvSpPr>
            <p:cNvPr id="13" name="Rectangle 13"/>
            <p:cNvSpPr>
              <a:spLocks noChangeArrowheads="1"/>
            </p:cNvSpPr>
            <p:nvPr/>
          </p:nvSpPr>
          <p:spPr bwMode="auto">
            <a:xfrm>
              <a:off x="767" y="3391"/>
              <a:ext cx="120" cy="216"/>
            </a:xfrm>
            <a:prstGeom prst="rect">
              <a:avLst/>
            </a:prstGeom>
            <a:noFill/>
            <a:ln w="28575">
              <a:solidFill>
                <a:srgbClr val="339966"/>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4587" name="Line 14"/>
            <p:cNvSpPr/>
            <p:nvPr/>
          </p:nvSpPr>
          <p:spPr>
            <a:xfrm flipH="1">
              <a:off x="896" y="3501"/>
              <a:ext cx="2928" cy="0"/>
            </a:xfrm>
            <a:prstGeom prst="line">
              <a:avLst/>
            </a:prstGeom>
            <a:ln w="28575" cap="flat" cmpd="sng">
              <a:solidFill>
                <a:srgbClr val="339966"/>
              </a:solidFill>
              <a:prstDash val="solid"/>
              <a:miter/>
              <a:headEnd type="none" w="med" len="med"/>
              <a:tailEnd type="triangle" w="med" len="med"/>
            </a:ln>
          </p:spPr>
        </p:sp>
        <p:sp>
          <p:nvSpPr>
            <p:cNvPr id="24588" name="Line 15"/>
            <p:cNvSpPr/>
            <p:nvPr/>
          </p:nvSpPr>
          <p:spPr>
            <a:xfrm>
              <a:off x="3812" y="2631"/>
              <a:ext cx="0" cy="867"/>
            </a:xfrm>
            <a:prstGeom prst="line">
              <a:avLst/>
            </a:prstGeom>
            <a:ln w="28575" cap="flat" cmpd="sng">
              <a:solidFill>
                <a:srgbClr val="008000"/>
              </a:solidFill>
              <a:prstDash val="solid"/>
              <a:miter/>
              <a:headEnd type="none" w="med" len="med"/>
              <a:tailEnd type="none" w="med" len="med"/>
            </a:ln>
          </p:spPr>
        </p:sp>
        <p:sp>
          <p:nvSpPr>
            <p:cNvPr id="24589" name="Text Box 16"/>
            <p:cNvSpPr txBox="1"/>
            <p:nvPr/>
          </p:nvSpPr>
          <p:spPr>
            <a:xfrm>
              <a:off x="3012" y="2378"/>
              <a:ext cx="1610" cy="191"/>
            </a:xfrm>
            <a:prstGeom prst="rect">
              <a:avLst/>
            </a:prstGeom>
            <a:solidFill>
              <a:srgbClr val="FFFFCC"/>
            </a:solidFill>
            <a:ln w="28575" cap="flat" cmpd="sng">
              <a:solidFill>
                <a:srgbClr val="339966"/>
              </a:solidFill>
              <a:prstDash val="solid"/>
              <a:miter/>
              <a:headEnd type="none" w="med" len="med"/>
              <a:tailEnd type="none" w="med" len="med"/>
            </a:ln>
          </p:spPr>
          <p:txBody>
            <a:bodyPr anchor="t" anchorCtr="0">
              <a:spAutoFit/>
            </a:bodyPr>
            <a:lstStyle/>
            <a:p>
              <a:pPr algn="ctr" eaLnBrk="0" hangingPunct="0">
                <a:lnSpc>
                  <a:spcPct val="80000"/>
                </a:lnSpc>
                <a:spcBef>
                  <a:spcPct val="50000"/>
                </a:spcBef>
                <a:spcAft>
                  <a:spcPts val="590"/>
                </a:spcAft>
                <a:buClr>
                  <a:schemeClr val="tx2"/>
                </a:buClr>
                <a:buSzPct val="80000"/>
                <a:buFont typeface="Wingdings" panose="05000000000000000000" pitchFamily="2" charset="2"/>
              </a:pPr>
              <a:r>
                <a:rPr lang="zh-CN" altLang="en-US" sz="2400" b="1" dirty="0">
                  <a:solidFill>
                    <a:srgbClr val="333399"/>
                  </a:solidFill>
                  <a:latin typeface="黑体" panose="02010609060101010101" pitchFamily="49" charset="-122"/>
                  <a:ea typeface="黑体" panose="02010609060101010101" pitchFamily="49" charset="-122"/>
                </a:rPr>
                <a:t>函数体的定界符</a:t>
              </a:r>
              <a:endParaRPr lang="zh-CN" altLang="en-US" sz="2400" b="1" dirty="0">
                <a:solidFill>
                  <a:srgbClr val="333399"/>
                </a:solidFill>
                <a:latin typeface="黑体" panose="02010609060101010101" pitchFamily="49" charset="-122"/>
                <a:ea typeface="黑体" panose="02010609060101010101" pitchFamily="49" charset="-122"/>
              </a:endParaRPr>
            </a:p>
          </p:txBody>
        </p:sp>
      </p:grpSp>
      <p:sp>
        <p:nvSpPr>
          <p:cNvPr id="17" name="Rectangle 20"/>
          <p:cNvSpPr>
            <a:spLocks noChangeArrowheads="1"/>
          </p:cNvSpPr>
          <p:nvPr/>
        </p:nvSpPr>
        <p:spPr bwMode="auto">
          <a:xfrm>
            <a:off x="3140075" y="3692525"/>
            <a:ext cx="2308225" cy="1857375"/>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8" name="AutoShape 6"/>
          <p:cNvSpPr/>
          <p:nvPr/>
        </p:nvSpPr>
        <p:spPr>
          <a:xfrm>
            <a:off x="5880100" y="4349750"/>
            <a:ext cx="4178300" cy="1000125"/>
          </a:xfrm>
          <a:prstGeom prst="wedgeEllipseCallout">
            <a:avLst>
              <a:gd name="adj1" fmla="val -62690"/>
              <a:gd name="adj2" fmla="val -62222"/>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函数体</a:t>
            </a:r>
            <a:r>
              <a:rPr lang="en-US" altLang="zh-CN" sz="2400" b="1" dirty="0">
                <a:solidFill>
                  <a:srgbClr val="333399"/>
                </a:solidFill>
                <a:latin typeface="黑体" panose="02010609060101010101" pitchFamily="49" charset="-122"/>
                <a:ea typeface="黑体" panose="02010609060101010101" pitchFamily="49" charset="-122"/>
              </a:rPr>
              <a:t>—</a:t>
            </a:r>
            <a:r>
              <a:rPr lang="zh-CN" altLang="en-US" sz="2400" b="1" dirty="0">
                <a:solidFill>
                  <a:srgbClr val="333399"/>
                </a:solidFill>
                <a:latin typeface="Arial" panose="020B0604020202090204" pitchFamily="34" charset="0"/>
                <a:ea typeface="黑体" panose="02010609060101010101" pitchFamily="49" charset="-122"/>
              </a:rPr>
              <a:t>函数功能的主体实现部分</a:t>
            </a:r>
            <a:endParaRPr lang="en-US" altLang="zh-CN" sz="2400" b="1" dirty="0">
              <a:solidFill>
                <a:srgbClr val="333399"/>
              </a:solidFill>
              <a:latin typeface="Arial" panose="020B0604020202090204" pitchFamily="34" charset="0"/>
              <a:ea typeface="黑体" panose="02010609060101010101" pitchFamily="49" charset="-122"/>
            </a:endParaRPr>
          </a:p>
        </p:txBody>
      </p:sp>
      <p:sp>
        <p:nvSpPr>
          <p:cNvPr id="156676" name="AutoShape 4"/>
          <p:cNvSpPr/>
          <p:nvPr/>
        </p:nvSpPr>
        <p:spPr>
          <a:xfrm>
            <a:off x="1198563" y="1700213"/>
            <a:ext cx="4176712" cy="1009650"/>
          </a:xfrm>
          <a:prstGeom prst="wedgeEllipseCallout">
            <a:avLst>
              <a:gd name="adj1" fmla="val -8306"/>
              <a:gd name="adj2" fmla="val 79875"/>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返回值类型，与实际返回的变量类型一致</a:t>
            </a:r>
            <a:endParaRPr lang="en-US" altLang="zh-CN" sz="2400" b="1" dirty="0">
              <a:solidFill>
                <a:srgbClr val="333399"/>
              </a:solidFill>
              <a:latin typeface="Arial" panose="020B0604020202090204" pitchFamily="34" charset="0"/>
              <a:ea typeface="黑体" panose="02010609060101010101" pitchFamily="49" charset="-122"/>
            </a:endParaRPr>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Effect transition="in" filter="wipe(down)">
                                      <p:cBhvr>
                                        <p:cTn id="7" dur="500"/>
                                        <p:tgtEl>
                                          <p:spTgt spid="15667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strVal val="4/3*#ppt_w"/>
                                          </p:val>
                                        </p:tav>
                                        <p:tav tm="100000">
                                          <p:val>
                                            <p:strVal val="#ppt_w"/>
                                          </p:val>
                                        </p:tav>
                                      </p:tavLst>
                                    </p:anim>
                                    <p:anim calcmode="lin" valueType="num">
                                      <p:cBhvr>
                                        <p:cTn id="13" dur="500" fill="hold"/>
                                        <p:tgtEl>
                                          <p:spTgt spid="17"/>
                                        </p:tgtEl>
                                        <p:attrNameLst>
                                          <p:attrName>ppt_h</p:attrName>
                                        </p:attrNameLst>
                                      </p:cBhvr>
                                      <p:tavLst>
                                        <p:tav tm="0">
                                          <p:val>
                                            <p:strVal val="4/3*#ppt_h"/>
                                          </p:val>
                                        </p:tav>
                                        <p:tav tm="100000">
                                          <p:val>
                                            <p:strVal val="#ppt_h"/>
                                          </p:val>
                                        </p:tav>
                                      </p:tavLst>
                                    </p:anim>
                                  </p:childTnLst>
                                </p:cTn>
                              </p:par>
                              <p:par>
                                <p:cTn id="14" presetID="22" presetClass="entr" presetSubtype="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8"/>
                                        </p:tgtEl>
                                        <p:attrNameLst>
                                          <p:attrName>style.visibility</p:attrName>
                                        </p:attrNameLst>
                                      </p:cBhvr>
                                      <p:to>
                                        <p:strVal val="hidden"/>
                                      </p:to>
                                    </p:set>
                                  </p:childTnLst>
                                </p:cTn>
                              </p:par>
                            </p:childTnLst>
                          </p:cTn>
                        </p:par>
                        <p:par>
                          <p:cTn id="23" fill="hold">
                            <p:stCondLst>
                              <p:cond delay="0"/>
                            </p:stCondLst>
                            <p:childTnLst>
                              <p:par>
                                <p:cTn id="24" presetID="53" presetClass="entr" presetSubtype="16"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22" presetClass="entr" presetSubtype="4" fill="hold" grpId="0" nodeType="withEffect">
                                  <p:stCondLst>
                                    <p:cond delay="0"/>
                                  </p:stCondLst>
                                  <p:childTnLst>
                                    <p:set>
                                      <p:cBhvr>
                                        <p:cTn id="34" dur="1" fill="hold">
                                          <p:stCondLst>
                                            <p:cond delay="0"/>
                                          </p:stCondLst>
                                        </p:cTn>
                                        <p:tgtEl>
                                          <p:spTgt spid="24582"/>
                                        </p:tgtEl>
                                        <p:attrNameLst>
                                          <p:attrName>style.visibility</p:attrName>
                                        </p:attrNameLst>
                                      </p:cBhvr>
                                      <p:to>
                                        <p:strVal val="visible"/>
                                      </p:to>
                                    </p:set>
                                    <p:animEffect transition="in" filter="wipe(down)">
                                      <p:cBhvr>
                                        <p:cTn id="35" dur="500"/>
                                        <p:tgtEl>
                                          <p:spTgt spid="24582"/>
                                        </p:tgtEl>
                                      </p:cBhvr>
                                    </p:animEffect>
                                  </p:childTnLst>
                                </p:cTn>
                              </p:par>
                            </p:childTnLst>
                          </p:cTn>
                        </p:par>
                        <p:par>
                          <p:cTn id="36" fill="hold">
                            <p:stCondLst>
                              <p:cond delay="0"/>
                            </p:stCondLst>
                            <p:childTnLst>
                              <p:par>
                                <p:cTn id="37" presetID="22" presetClass="entr" presetSubtype="4" fill="hold" grpId="0" nodeType="afterEffect">
                                  <p:stCondLst>
                                    <p:cond delay="0"/>
                                  </p:stCondLst>
                                  <p:childTnLst>
                                    <p:set>
                                      <p:cBhvr>
                                        <p:cTn id="38" dur="1" fill="hold">
                                          <p:stCondLst>
                                            <p:cond delay="0"/>
                                          </p:stCondLst>
                                        </p:cTn>
                                        <p:tgtEl>
                                          <p:spTgt spid="156678"/>
                                        </p:tgtEl>
                                        <p:attrNameLst>
                                          <p:attrName>style.visibility</p:attrName>
                                        </p:attrNameLst>
                                      </p:cBhvr>
                                      <p:to>
                                        <p:strVal val="visible"/>
                                      </p:to>
                                    </p:set>
                                    <p:animEffect transition="in" filter="wipe(down)">
                                      <p:cBhvr>
                                        <p:cTn id="39" dur="500"/>
                                        <p:tgtEl>
                                          <p:spTgt spid="156678"/>
                                        </p:tgtEl>
                                      </p:cBhvr>
                                    </p:animEffect>
                                  </p:childTnLst>
                                </p:cTn>
                              </p:par>
                              <p:par>
                                <p:cTn id="40" presetID="1" presetClass="exit" presetSubtype="0" fill="hold" grpId="1" nodeType="withEffect">
                                  <p:stCondLst>
                                    <p:cond delay="0"/>
                                  </p:stCondLst>
                                  <p:childTnLst>
                                    <p:set>
                                      <p:cBhvr>
                                        <p:cTn id="41" dur="1" fill="hold">
                                          <p:stCondLst>
                                            <p:cond delay="0"/>
                                          </p:stCondLst>
                                        </p:cTn>
                                        <p:tgtEl>
                                          <p:spTgt spid="156677"/>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6680"/>
                                        </p:tgtEl>
                                        <p:attrNameLst>
                                          <p:attrName>style.visibility</p:attrName>
                                        </p:attrNameLst>
                                      </p:cBhvr>
                                      <p:to>
                                        <p:strVal val="visible"/>
                                      </p:to>
                                    </p:set>
                                    <p:animEffect transition="in" filter="wipe(left)">
                                      <p:cBhvr>
                                        <p:cTn id="46" dur="500"/>
                                        <p:tgtEl>
                                          <p:spTgt spid="15668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56676"/>
                                        </p:tgtEl>
                                        <p:attrNameLst>
                                          <p:attrName>style.visibility</p:attrName>
                                        </p:attrNameLst>
                                      </p:cBhvr>
                                      <p:to>
                                        <p:strVal val="visible"/>
                                      </p:to>
                                    </p:set>
                                    <p:animEffect transition="in" filter="wipe(down)">
                                      <p:cBhvr>
                                        <p:cTn id="51" dur="500"/>
                                        <p:tgtEl>
                                          <p:spTgt spid="156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7" grpId="0" animBg="1"/>
      <p:bldP spid="156677" grpId="1" animBg="1"/>
      <p:bldP spid="156678" grpId="0" animBg="1"/>
      <p:bldP spid="24582" grpId="0" animBg="1"/>
      <p:bldP spid="156680" grpId="0" animBg="1"/>
      <p:bldP spid="17" grpId="0" animBg="1"/>
      <p:bldP spid="17" grpId="1" animBg="1"/>
      <p:bldP spid="18" grpId="0" animBg="1"/>
      <p:bldP spid="18" grpId="1" animBg="1"/>
      <p:bldP spid="156676"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 Box 5"/>
          <p:cNvSpPr txBox="1">
            <a:spLocks noChangeArrowheads="1"/>
          </p:cNvSpPr>
          <p:nvPr/>
        </p:nvSpPr>
        <p:spPr bwMode="auto">
          <a:xfrm>
            <a:off x="2424113" y="2600325"/>
            <a:ext cx="3344863" cy="3386138"/>
          </a:xfrm>
          <a:prstGeom prst="rect">
            <a:avLst/>
          </a:prstGeom>
          <a:solidFill>
            <a:srgbClr val="CCFFCC"/>
          </a:solidFill>
          <a:ln w="9525">
            <a:solidFill>
              <a:schemeClr val="tx1"/>
            </a:solidFill>
            <a:miter lim="800000"/>
          </a:ln>
          <a:effectLst/>
        </p:spPr>
        <p:txBody>
          <a:bodyPr wrap="none">
            <a:spAutoFit/>
          </a:bodyPr>
          <a:lstStyle/>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void</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en-US" altLang="zh-CN" b="1" kern="1200" cap="none" spc="0" normalizeH="0" baseline="0" noProof="0" dirty="0" err="1">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DisplayMenu</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void</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printf("1. input");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printf("2. output");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printf("0. exit");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en-US"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return</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156676" name="AutoShape 4"/>
          <p:cNvSpPr/>
          <p:nvPr/>
        </p:nvSpPr>
        <p:spPr>
          <a:xfrm>
            <a:off x="1271588" y="1268413"/>
            <a:ext cx="3241675" cy="1085850"/>
          </a:xfrm>
          <a:prstGeom prst="wedgeEllipseCallout">
            <a:avLst>
              <a:gd name="adj1" fmla="val -1194"/>
              <a:gd name="adj2" fmla="val 75792"/>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5000"/>
              </a:lnSpc>
              <a:spcAft>
                <a:spcPts val="590"/>
              </a:spcAft>
              <a:buClr>
                <a:srgbClr val="FFCC66"/>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表示无返回值</a:t>
            </a:r>
            <a:endParaRPr lang="zh-CN" altLang="en-US" sz="2400" b="1" dirty="0">
              <a:solidFill>
                <a:srgbClr val="333399"/>
              </a:solidFill>
              <a:latin typeface="Arial" panose="020B0604020202090204" pitchFamily="34" charset="0"/>
              <a:ea typeface="黑体" panose="02010609060101010101" pitchFamily="49" charset="-122"/>
            </a:endParaRPr>
          </a:p>
          <a:p>
            <a:pPr eaLnBrk="0" hangingPunct="0">
              <a:lnSpc>
                <a:spcPct val="95000"/>
              </a:lnSpc>
              <a:spcAft>
                <a:spcPts val="590"/>
              </a:spcAft>
              <a:buClr>
                <a:srgbClr val="FFCC66"/>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省略默认为</a:t>
            </a:r>
            <a:r>
              <a:rPr lang="en-US" altLang="zh-CN" sz="2400" dirty="0">
                <a:solidFill>
                  <a:srgbClr val="333399"/>
                </a:solidFill>
                <a:latin typeface="Arial" panose="020B0604020202090204" pitchFamily="34" charset="0"/>
              </a:rPr>
              <a:t>int</a:t>
            </a:r>
            <a:endParaRPr lang="en-US" altLang="zh-CN" sz="2400" dirty="0">
              <a:solidFill>
                <a:srgbClr val="333399"/>
              </a:solidFill>
              <a:latin typeface="Arial" panose="020B0604020202090204" pitchFamily="34" charset="0"/>
            </a:endParaRPr>
          </a:p>
        </p:txBody>
      </p:sp>
      <p:sp>
        <p:nvSpPr>
          <p:cNvPr id="156678" name="AutoShape 6"/>
          <p:cNvSpPr/>
          <p:nvPr/>
        </p:nvSpPr>
        <p:spPr>
          <a:xfrm>
            <a:off x="4008438" y="1412875"/>
            <a:ext cx="2741612" cy="869950"/>
          </a:xfrm>
          <a:prstGeom prst="wedgeEllipseCallout">
            <a:avLst>
              <a:gd name="adj1" fmla="val -5352"/>
              <a:gd name="adj2" fmla="val 90764"/>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表示无参数，可省略</a:t>
            </a:r>
            <a:endParaRPr lang="en-US" altLang="zh-CN" sz="2400" b="1" dirty="0">
              <a:solidFill>
                <a:srgbClr val="333399"/>
              </a:solidFill>
              <a:latin typeface="Arial" panose="020B0604020202090204" pitchFamily="34" charset="0"/>
              <a:ea typeface="黑体" panose="02010609060101010101" pitchFamily="49" charset="-122"/>
            </a:endParaRPr>
          </a:p>
        </p:txBody>
      </p:sp>
      <p:sp>
        <p:nvSpPr>
          <p:cNvPr id="156680" name="AutoShape 8"/>
          <p:cNvSpPr/>
          <p:nvPr/>
        </p:nvSpPr>
        <p:spPr>
          <a:xfrm>
            <a:off x="3143250" y="5589588"/>
            <a:ext cx="3902075" cy="1008062"/>
          </a:xfrm>
          <a:prstGeom prst="wedgeEllipseCallout">
            <a:avLst>
              <a:gd name="adj1" fmla="val -36611"/>
              <a:gd name="adj2" fmla="val -64769"/>
            </a:avLst>
          </a:prstGeom>
          <a:solidFill>
            <a:srgbClr val="FFFFCC"/>
          </a:solidFill>
          <a:ln w="12700" cap="flat" cmpd="sng">
            <a:solidFill>
              <a:srgbClr val="3366FF"/>
            </a:solidFill>
            <a:prstDash val="solid"/>
            <a:miter/>
            <a:headEnd type="none" w="sm" len="sm"/>
            <a:tailEnd type="none" w="sm" len="sm"/>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en-US" altLang="zh-CN" sz="2400" dirty="0">
                <a:solidFill>
                  <a:srgbClr val="333399"/>
                </a:solidFill>
                <a:latin typeface="Arial" panose="020B0604020202090204" pitchFamily="34" charset="0"/>
              </a:rPr>
              <a:t>return</a:t>
            </a:r>
            <a:r>
              <a:rPr lang="zh-CN" altLang="en-US" sz="2400" b="1" dirty="0">
                <a:solidFill>
                  <a:srgbClr val="333399"/>
                </a:solidFill>
                <a:latin typeface="Arial" panose="020B0604020202090204" pitchFamily="34" charset="0"/>
                <a:ea typeface="黑体" panose="02010609060101010101" pitchFamily="49" charset="-122"/>
              </a:rPr>
              <a:t>后无任何表达式或不写</a:t>
            </a:r>
            <a:endParaRPr lang="en-US" altLang="zh-CN" sz="2400" b="1" dirty="0">
              <a:solidFill>
                <a:srgbClr val="333399"/>
              </a:solidFill>
              <a:latin typeface="Arial" panose="020B0604020202090204" pitchFamily="34" charset="0"/>
              <a:ea typeface="黑体" panose="02010609060101010101" pitchFamily="49" charset="-122"/>
            </a:endParaRPr>
          </a:p>
        </p:txBody>
      </p:sp>
      <p:pic>
        <p:nvPicPr>
          <p:cNvPr id="447498" name="Picture 10"/>
          <p:cNvPicPr>
            <a:picLocks noChangeAspect="1"/>
          </p:cNvPicPr>
          <p:nvPr/>
        </p:nvPicPr>
        <p:blipFill>
          <a:blip r:embed="rId1"/>
          <a:stretch>
            <a:fillRect/>
          </a:stretch>
        </p:blipFill>
        <p:spPr>
          <a:xfrm>
            <a:off x="8528050" y="2579688"/>
            <a:ext cx="2320925" cy="1476375"/>
          </a:xfrm>
          <a:prstGeom prst="rect">
            <a:avLst/>
          </a:prstGeom>
          <a:solidFill>
            <a:srgbClr val="E5D54B"/>
          </a:solidFill>
          <a:ln w="25400" cap="flat" cmpd="sng">
            <a:solidFill>
              <a:srgbClr val="00B050"/>
            </a:solidFill>
            <a:prstDash val="solid"/>
            <a:miter/>
            <a:headEnd type="none" w="sm" len="sm"/>
            <a:tailEnd type="none" w="sm" len="sm"/>
          </a:ln>
        </p:spPr>
      </p:pic>
      <p:pic>
        <p:nvPicPr>
          <p:cNvPr id="447499" name="Picture 11"/>
          <p:cNvPicPr>
            <a:picLocks noChangeAspect="1"/>
          </p:cNvPicPr>
          <p:nvPr/>
        </p:nvPicPr>
        <p:blipFill>
          <a:blip r:embed="rId2"/>
          <a:stretch>
            <a:fillRect/>
          </a:stretch>
        </p:blipFill>
        <p:spPr>
          <a:xfrm>
            <a:off x="8545513" y="4308475"/>
            <a:ext cx="2270125" cy="1857375"/>
          </a:xfrm>
          <a:prstGeom prst="rect">
            <a:avLst/>
          </a:prstGeom>
          <a:noFill/>
          <a:ln w="25400" cap="flat" cmpd="sng">
            <a:solidFill>
              <a:srgbClr val="00B050"/>
            </a:solidFill>
            <a:prstDash val="solid"/>
            <a:miter/>
            <a:headEnd type="none" w="sm" len="sm"/>
            <a:tailEnd type="none" w="sm" len="sm"/>
          </a:ln>
        </p:spPr>
      </p:pic>
      <p:sp>
        <p:nvSpPr>
          <p:cNvPr id="26631"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Tx/>
            </a:pPr>
            <a:r>
              <a:rPr lang="en-US" altLang="zh-CN" sz="4400" dirty="0">
                <a:solidFill>
                  <a:schemeClr val="tx2"/>
                </a:solidFill>
                <a:latin typeface="Arial" panose="020B0604020202090204" pitchFamily="34" charset="0"/>
                <a:ea typeface="黑体" panose="02010609060101010101" pitchFamily="49" charset="-122"/>
              </a:rPr>
              <a:t>2.2.2 </a:t>
            </a:r>
            <a:r>
              <a:rPr lang="zh-CN" altLang="en-US" sz="4400" dirty="0">
                <a:solidFill>
                  <a:schemeClr val="tx2"/>
                </a:solidFill>
                <a:latin typeface="Arial" panose="020B0604020202090204" pitchFamily="34" charset="0"/>
                <a:ea typeface="黑体" panose="02010609060101010101" pitchFamily="49" charset="-122"/>
              </a:rPr>
              <a:t>函数的定义</a:t>
            </a:r>
            <a:endParaRPr lang="en-US" altLang="zh-CN" sz="4400" dirty="0">
              <a:solidFill>
                <a:schemeClr val="tx2"/>
              </a:solidFill>
              <a:latin typeface="Arial" panose="020B0604020202090204" pitchFamily="34" charset="0"/>
              <a:ea typeface="黑体" panose="02010609060101010101" pitchFamily="49" charset="-122"/>
            </a:endParaRPr>
          </a:p>
        </p:txBody>
      </p:sp>
      <p:sp>
        <p:nvSpPr>
          <p:cNvPr id="11" name="AutoShape 6"/>
          <p:cNvSpPr/>
          <p:nvPr/>
        </p:nvSpPr>
        <p:spPr>
          <a:xfrm>
            <a:off x="5519738" y="2565400"/>
            <a:ext cx="2808287" cy="2232025"/>
          </a:xfrm>
          <a:prstGeom prst="wedgeEllipseCallout">
            <a:avLst>
              <a:gd name="adj1" fmla="val 58343"/>
              <a:gd name="adj2" fmla="val -18060"/>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dirty="0">
                <a:solidFill>
                  <a:srgbClr val="333399"/>
                </a:solidFill>
                <a:latin typeface="Arial" panose="020B0604020202090204" pitchFamily="34" charset="0"/>
                <a:ea typeface="黑体" panose="02010609060101010101" pitchFamily="49" charset="-122"/>
              </a:rPr>
              <a:t>不符合</a:t>
            </a:r>
            <a:r>
              <a:rPr lang="en-US" altLang="zh-CN" sz="2400" dirty="0">
                <a:solidFill>
                  <a:srgbClr val="333399"/>
                </a:solidFill>
                <a:latin typeface="Arial" panose="020B0604020202090204" pitchFamily="34" charset="0"/>
                <a:ea typeface="黑体" panose="02010609060101010101" pitchFamily="49" charset="-122"/>
              </a:rPr>
              <a:t>C</a:t>
            </a:r>
            <a:r>
              <a:rPr lang="zh-CN" altLang="en-US" sz="2400" dirty="0">
                <a:solidFill>
                  <a:srgbClr val="333399"/>
                </a:solidFill>
                <a:latin typeface="Arial" panose="020B0604020202090204" pitchFamily="34" charset="0"/>
                <a:ea typeface="黑体" panose="02010609060101010101" pitchFamily="49" charset="-122"/>
              </a:rPr>
              <a:t>标准，意味着永远不会在程序终止前检测程序状态</a:t>
            </a:r>
            <a:endParaRPr lang="en-US" altLang="zh-CN" sz="2400" dirty="0">
              <a:solidFill>
                <a:srgbClr val="333399"/>
              </a:solidFill>
              <a:latin typeface="Arial" panose="020B0604020202090204" pitchFamily="34"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6676"/>
                                        </p:tgtEl>
                                        <p:attrNameLst>
                                          <p:attrName>style.visibility</p:attrName>
                                        </p:attrNameLst>
                                      </p:cBhvr>
                                      <p:to>
                                        <p:strVal val="visible"/>
                                      </p:to>
                                    </p:set>
                                    <p:animEffect transition="in" filter="wipe(down)">
                                      <p:cBhvr>
                                        <p:cTn id="7" dur="500"/>
                                        <p:tgtEl>
                                          <p:spTgt spid="1566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6680"/>
                                        </p:tgtEl>
                                        <p:attrNameLst>
                                          <p:attrName>style.visibility</p:attrName>
                                        </p:attrNameLst>
                                      </p:cBhvr>
                                      <p:to>
                                        <p:strVal val="visible"/>
                                      </p:to>
                                    </p:set>
                                    <p:animEffect transition="in" filter="wipe(up)">
                                      <p:cBhvr>
                                        <p:cTn id="12" dur="500"/>
                                        <p:tgtEl>
                                          <p:spTgt spid="1566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wipe(down)">
                                      <p:cBhvr>
                                        <p:cTn id="17" dur="500"/>
                                        <p:tgtEl>
                                          <p:spTgt spid="156678"/>
                                        </p:tgtEl>
                                      </p:cBhvr>
                                    </p:animEffect>
                                  </p:childTnLst>
                                </p:cTn>
                              </p:par>
                            </p:childTnLst>
                          </p:cTn>
                        </p:par>
                      </p:childTnLst>
                    </p:cTn>
                  </p:par>
                  <p:par>
                    <p:cTn id="18" fill="hold">
                      <p:stCondLst>
                        <p:cond delay="indefinite"/>
                      </p:stCondLst>
                      <p:childTnLst>
                        <p:par>
                          <p:cTn id="19" fill="hold">
                            <p:stCondLst>
                              <p:cond delay="0"/>
                            </p:stCondLst>
                            <p:childTnLst>
                              <p:par>
                                <p:cTn id="20" presetID="54" presetClass="entr" presetSubtype="0" accel="100000" fill="hold" nodeType="clickEffect">
                                  <p:stCondLst>
                                    <p:cond delay="0"/>
                                  </p:stCondLst>
                                  <p:childTnLst>
                                    <p:set>
                                      <p:cBhvr>
                                        <p:cTn id="21" dur="1" fill="hold">
                                          <p:stCondLst>
                                            <p:cond delay="0"/>
                                          </p:stCondLst>
                                        </p:cTn>
                                        <p:tgtEl>
                                          <p:spTgt spid="447498"/>
                                        </p:tgtEl>
                                        <p:attrNameLst>
                                          <p:attrName>style.visibility</p:attrName>
                                        </p:attrNameLst>
                                      </p:cBhvr>
                                      <p:to>
                                        <p:strVal val="visible"/>
                                      </p:to>
                                    </p:set>
                                    <p:anim calcmode="lin" valueType="num">
                                      <p:cBhvr>
                                        <p:cTn id="22" dur="500" fill="hold"/>
                                        <p:tgtEl>
                                          <p:spTgt spid="447498"/>
                                        </p:tgtEl>
                                        <p:attrNameLst>
                                          <p:attrName>ppt_w</p:attrName>
                                        </p:attrNameLst>
                                      </p:cBhvr>
                                      <p:tavLst>
                                        <p:tav tm="0">
                                          <p:val>
                                            <p:strVal val="#ppt_w*0.05"/>
                                          </p:val>
                                        </p:tav>
                                        <p:tav tm="100000">
                                          <p:val>
                                            <p:strVal val="#ppt_w"/>
                                          </p:val>
                                        </p:tav>
                                      </p:tavLst>
                                    </p:anim>
                                    <p:anim calcmode="lin" valueType="num">
                                      <p:cBhvr>
                                        <p:cTn id="23" dur="500" fill="hold"/>
                                        <p:tgtEl>
                                          <p:spTgt spid="447498"/>
                                        </p:tgtEl>
                                        <p:attrNameLst>
                                          <p:attrName>ppt_h</p:attrName>
                                        </p:attrNameLst>
                                      </p:cBhvr>
                                      <p:tavLst>
                                        <p:tav tm="0">
                                          <p:val>
                                            <p:strVal val="#ppt_h"/>
                                          </p:val>
                                        </p:tav>
                                        <p:tav tm="100000">
                                          <p:val>
                                            <p:strVal val="#ppt_h"/>
                                          </p:val>
                                        </p:tav>
                                      </p:tavLst>
                                    </p:anim>
                                    <p:anim calcmode="lin" valueType="num">
                                      <p:cBhvr>
                                        <p:cTn id="24" dur="500" fill="hold"/>
                                        <p:tgtEl>
                                          <p:spTgt spid="447498"/>
                                        </p:tgtEl>
                                        <p:attrNameLst>
                                          <p:attrName>ppt_x</p:attrName>
                                        </p:attrNameLst>
                                      </p:cBhvr>
                                      <p:tavLst>
                                        <p:tav tm="0">
                                          <p:val>
                                            <p:strVal val="#ppt_x-.2"/>
                                          </p:val>
                                        </p:tav>
                                        <p:tav tm="100000">
                                          <p:val>
                                            <p:strVal val="#ppt_x"/>
                                          </p:val>
                                        </p:tav>
                                      </p:tavLst>
                                    </p:anim>
                                    <p:anim calcmode="lin" valueType="num">
                                      <p:cBhvr>
                                        <p:cTn id="25" dur="500" fill="hold"/>
                                        <p:tgtEl>
                                          <p:spTgt spid="447498"/>
                                        </p:tgtEl>
                                        <p:attrNameLst>
                                          <p:attrName>ppt_y</p:attrName>
                                        </p:attrNameLst>
                                      </p:cBhvr>
                                      <p:tavLst>
                                        <p:tav tm="0">
                                          <p:val>
                                            <p:strVal val="#ppt_y"/>
                                          </p:val>
                                        </p:tav>
                                        <p:tav tm="100000">
                                          <p:val>
                                            <p:strVal val="#ppt_y"/>
                                          </p:val>
                                        </p:tav>
                                      </p:tavLst>
                                    </p:anim>
                                    <p:animEffect transition="in" filter="fade">
                                      <p:cBhvr>
                                        <p:cTn id="26" dur="500"/>
                                        <p:tgtEl>
                                          <p:spTgt spid="447498"/>
                                        </p:tgtEl>
                                      </p:cBhvr>
                                    </p:animEffect>
                                  </p:childTnLst>
                                </p:cTn>
                              </p:par>
                            </p:childTnLst>
                          </p:cTn>
                        </p:par>
                      </p:childTnLst>
                    </p:cTn>
                  </p:par>
                  <p:par>
                    <p:cTn id="27" fill="hold">
                      <p:stCondLst>
                        <p:cond delay="indefinite"/>
                      </p:stCondLst>
                      <p:childTnLst>
                        <p:par>
                          <p:cTn id="28" fill="hold">
                            <p:stCondLst>
                              <p:cond delay="0"/>
                            </p:stCondLst>
                            <p:childTnLst>
                              <p:par>
                                <p:cTn id="29" presetID="54" presetClass="entr" presetSubtype="0" accel="100000" fill="hold" nodeType="clickEffect">
                                  <p:stCondLst>
                                    <p:cond delay="0"/>
                                  </p:stCondLst>
                                  <p:childTnLst>
                                    <p:set>
                                      <p:cBhvr>
                                        <p:cTn id="30" dur="1" fill="hold">
                                          <p:stCondLst>
                                            <p:cond delay="0"/>
                                          </p:stCondLst>
                                        </p:cTn>
                                        <p:tgtEl>
                                          <p:spTgt spid="447499"/>
                                        </p:tgtEl>
                                        <p:attrNameLst>
                                          <p:attrName>style.visibility</p:attrName>
                                        </p:attrNameLst>
                                      </p:cBhvr>
                                      <p:to>
                                        <p:strVal val="visible"/>
                                      </p:to>
                                    </p:set>
                                    <p:anim calcmode="lin" valueType="num">
                                      <p:cBhvr>
                                        <p:cTn id="31" dur="500" fill="hold"/>
                                        <p:tgtEl>
                                          <p:spTgt spid="447499"/>
                                        </p:tgtEl>
                                        <p:attrNameLst>
                                          <p:attrName>ppt_w</p:attrName>
                                        </p:attrNameLst>
                                      </p:cBhvr>
                                      <p:tavLst>
                                        <p:tav tm="0">
                                          <p:val>
                                            <p:strVal val="#ppt_w*0.05"/>
                                          </p:val>
                                        </p:tav>
                                        <p:tav tm="100000">
                                          <p:val>
                                            <p:strVal val="#ppt_w"/>
                                          </p:val>
                                        </p:tav>
                                      </p:tavLst>
                                    </p:anim>
                                    <p:anim calcmode="lin" valueType="num">
                                      <p:cBhvr>
                                        <p:cTn id="32" dur="500" fill="hold"/>
                                        <p:tgtEl>
                                          <p:spTgt spid="447499"/>
                                        </p:tgtEl>
                                        <p:attrNameLst>
                                          <p:attrName>ppt_h</p:attrName>
                                        </p:attrNameLst>
                                      </p:cBhvr>
                                      <p:tavLst>
                                        <p:tav tm="0">
                                          <p:val>
                                            <p:strVal val="#ppt_h"/>
                                          </p:val>
                                        </p:tav>
                                        <p:tav tm="100000">
                                          <p:val>
                                            <p:strVal val="#ppt_h"/>
                                          </p:val>
                                        </p:tav>
                                      </p:tavLst>
                                    </p:anim>
                                    <p:anim calcmode="lin" valueType="num">
                                      <p:cBhvr>
                                        <p:cTn id="33" dur="500" fill="hold"/>
                                        <p:tgtEl>
                                          <p:spTgt spid="447499"/>
                                        </p:tgtEl>
                                        <p:attrNameLst>
                                          <p:attrName>ppt_x</p:attrName>
                                        </p:attrNameLst>
                                      </p:cBhvr>
                                      <p:tavLst>
                                        <p:tav tm="0">
                                          <p:val>
                                            <p:strVal val="#ppt_x-.2"/>
                                          </p:val>
                                        </p:tav>
                                        <p:tav tm="100000">
                                          <p:val>
                                            <p:strVal val="#ppt_x"/>
                                          </p:val>
                                        </p:tav>
                                      </p:tavLst>
                                    </p:anim>
                                    <p:anim calcmode="lin" valueType="num">
                                      <p:cBhvr>
                                        <p:cTn id="34" dur="500" fill="hold"/>
                                        <p:tgtEl>
                                          <p:spTgt spid="447499"/>
                                        </p:tgtEl>
                                        <p:attrNameLst>
                                          <p:attrName>ppt_y</p:attrName>
                                        </p:attrNameLst>
                                      </p:cBhvr>
                                      <p:tavLst>
                                        <p:tav tm="0">
                                          <p:val>
                                            <p:strVal val="#ppt_y"/>
                                          </p:val>
                                        </p:tav>
                                        <p:tav tm="100000">
                                          <p:val>
                                            <p:strVal val="#ppt_y"/>
                                          </p:val>
                                        </p:tav>
                                      </p:tavLst>
                                    </p:anim>
                                    <p:animEffect transition="in" filter="fade">
                                      <p:cBhvr>
                                        <p:cTn id="35" dur="500"/>
                                        <p:tgtEl>
                                          <p:spTgt spid="44749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animBg="1"/>
      <p:bldP spid="156678" grpId="0" animBg="1"/>
      <p:bldP spid="15668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Rectangle 3"/>
          <p:cNvSpPr txBox="1">
            <a:spLocks noChangeArrowheads="1"/>
          </p:cNvSpPr>
          <p:nvPr/>
        </p:nvSpPr>
        <p:spPr>
          <a:xfrm>
            <a:off x="1571625" y="1412875"/>
            <a:ext cx="9205913" cy="1928813"/>
          </a:xfrm>
          <a:prstGeom prst="rect">
            <a:avLst/>
          </a:prstGeom>
        </p:spPr>
        <p:txBody>
          <a:bodyPr/>
          <a:lstStyle>
            <a:lvl1pPr marL="457200" indent="-457200">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333500" indent="-2921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调用者通过</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函数名</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调用函数</a:t>
            </a:r>
            <a:endPar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函数无返回值时，单独作为一个函数调用语句</a:t>
            </a:r>
            <a:endPar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1333500" marR="0" lvl="2" indent="-292100" algn="l" defTabSz="914400" rtl="0" eaLnBrk="0" fontAlgn="base" latinLnBrk="0" hangingPunct="0">
              <a:lnSpc>
                <a:spcPct val="90000"/>
              </a:lnSpc>
              <a:spcBef>
                <a:spcPct val="20000"/>
              </a:spcBef>
              <a:spcAft>
                <a:spcPts val="600"/>
              </a:spcAft>
              <a:buClr>
                <a:srgbClr val="FFCC66"/>
              </a:buClr>
              <a:buSzPct val="80000"/>
              <a:buFont typeface="Wingdings 2" panose="05020102010507070707" pitchFamily="18" charset="2"/>
              <a:buNone/>
              <a:defRPr/>
            </a:pPr>
            <a:r>
              <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endPar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p:txBody>
      </p:sp>
      <p:pic>
        <p:nvPicPr>
          <p:cNvPr id="28674" name="图片 7"/>
          <p:cNvPicPr>
            <a:picLocks noChangeAspect="1"/>
          </p:cNvPicPr>
          <p:nvPr/>
        </p:nvPicPr>
        <p:blipFill>
          <a:blip r:embed="rId1">
            <a:clrChange>
              <a:clrFrom>
                <a:srgbClr val="FFFBEF"/>
              </a:clrFrom>
              <a:clrTo>
                <a:srgbClr val="FFFBEF">
                  <a:alpha val="0"/>
                </a:srgbClr>
              </a:clrTo>
            </a:clrChange>
          </a:blip>
          <a:stretch>
            <a:fillRect/>
          </a:stretch>
        </p:blipFill>
        <p:spPr>
          <a:xfrm>
            <a:off x="9578975" y="3789363"/>
            <a:ext cx="1238250" cy="2420937"/>
          </a:xfrm>
          <a:prstGeom prst="rect">
            <a:avLst/>
          </a:prstGeom>
          <a:noFill/>
          <a:ln w="9525">
            <a:noFill/>
          </a:ln>
        </p:spPr>
      </p:pic>
      <p:sp>
        <p:nvSpPr>
          <p:cNvPr id="28675" name="AutoShape 4"/>
          <p:cNvSpPr/>
          <p:nvPr/>
        </p:nvSpPr>
        <p:spPr>
          <a:xfrm>
            <a:off x="8543925" y="1714500"/>
            <a:ext cx="2387600" cy="1143000"/>
          </a:xfrm>
          <a:prstGeom prst="cloudCallout">
            <a:avLst>
              <a:gd name="adj1" fmla="val 8347"/>
              <a:gd name="adj2" fmla="val 129722"/>
            </a:avLst>
          </a:prstGeom>
          <a:solidFill>
            <a:srgbClr val="FFFFCC"/>
          </a:solidFill>
          <a:ln w="28575" cap="flat" cmpd="sng">
            <a:solidFill>
              <a:srgbClr val="FF6600"/>
            </a:solidFill>
            <a:prstDash val="solid"/>
            <a:round/>
            <a:headEnd type="none" w="med" len="med"/>
            <a:tailEnd type="none" w="med" len="med"/>
          </a:ln>
        </p:spPr>
        <p:txBody>
          <a:bodyPr lIns="0" tIns="0" rIns="0" bIns="0"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sz="2800" dirty="0">
                <a:solidFill>
                  <a:srgbClr val="00007F"/>
                </a:solidFill>
                <a:latin typeface="Arial" panose="020B0604020202090204" pitchFamily="34" charset="0"/>
                <a:ea typeface="黑体" panose="02010609060101010101" pitchFamily="49" charset="-122"/>
              </a:rPr>
              <a:t>Function Call</a:t>
            </a:r>
            <a:r>
              <a:rPr lang="zh-CN" altLang="en-US" sz="2800" dirty="0">
                <a:solidFill>
                  <a:srgbClr val="00007F"/>
                </a:solidFill>
                <a:latin typeface="Arial" panose="020B0604020202090204" pitchFamily="34" charset="0"/>
                <a:ea typeface="黑体" panose="02010609060101010101" pitchFamily="49" charset="-122"/>
              </a:rPr>
              <a:t>？</a:t>
            </a:r>
            <a:endParaRPr lang="zh-CN" altLang="en-US" sz="2800" dirty="0">
              <a:solidFill>
                <a:srgbClr val="00007F"/>
              </a:solidFill>
              <a:latin typeface="Arial" panose="020B0604020202090204" pitchFamily="34" charset="0"/>
              <a:ea typeface="黑体" panose="02010609060101010101" pitchFamily="49" charset="-122"/>
            </a:endParaRPr>
          </a:p>
        </p:txBody>
      </p:sp>
      <p:sp>
        <p:nvSpPr>
          <p:cNvPr id="28676"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 </a:t>
            </a:r>
            <a:r>
              <a:rPr lang="zh-CN" altLang="en-US" sz="4400" dirty="0">
                <a:solidFill>
                  <a:schemeClr val="tx2"/>
                </a:solidFill>
                <a:latin typeface="Arial" panose="020B0604020202090204" pitchFamily="34" charset="0"/>
                <a:ea typeface="黑体" panose="02010609060101010101" pitchFamily="49" charset="-122"/>
              </a:rPr>
              <a:t>向函数传递值和从函数返回值</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10" name="Text Box 5"/>
          <p:cNvSpPr txBox="1">
            <a:spLocks noChangeArrowheads="1"/>
          </p:cNvSpPr>
          <p:nvPr/>
        </p:nvSpPr>
        <p:spPr bwMode="auto">
          <a:xfrm>
            <a:off x="5016500" y="2492375"/>
            <a:ext cx="3344863" cy="3386138"/>
          </a:xfrm>
          <a:prstGeom prst="rect">
            <a:avLst/>
          </a:prstGeom>
          <a:solidFill>
            <a:srgbClr val="CCFFCC"/>
          </a:solidFill>
          <a:ln w="9525">
            <a:solidFill>
              <a:schemeClr val="tx1"/>
            </a:solidFill>
            <a:miter lim="800000"/>
          </a:ln>
          <a:effectLst/>
        </p:spPr>
        <p:txBody>
          <a:bodyPr wrap="none">
            <a:spAutoFit/>
          </a:bodyPr>
          <a:lstStyle/>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void</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en-US" altLang="zh-CN" b="1" kern="1200" cap="none" spc="0" normalizeH="0" baseline="0" noProof="0" dirty="0" err="1">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DisplayMenu</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void</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printf("1. input");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printf("2. output");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printf("0. exit");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en-US"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return</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lnSpc>
                <a:spcPct val="90000"/>
              </a:lnSpc>
              <a:spcBef>
                <a:spcPts val="590"/>
              </a:spcBef>
              <a:spcAft>
                <a:spcPts val="59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3026" name="Text Box 3"/>
          <p:cNvSpPr txBox="1"/>
          <p:nvPr/>
        </p:nvSpPr>
        <p:spPr>
          <a:xfrm>
            <a:off x="2208213" y="2852738"/>
            <a:ext cx="2292350" cy="2692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DisplayMenu();</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 name="Rectangle 55"/>
          <p:cNvSpPr>
            <a:spLocks noChangeArrowheads="1"/>
          </p:cNvSpPr>
          <p:nvPr/>
        </p:nvSpPr>
        <p:spPr bwMode="auto">
          <a:xfrm>
            <a:off x="2466975" y="4005263"/>
            <a:ext cx="2016125"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wipe(left)">
                                      <p:cBhvr>
                                        <p:cTn id="7" dur="500"/>
                                        <p:tgtEl>
                                          <p:spTgt spid="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xEl>
                                              <p:pRg st="1" end="1"/>
                                            </p:txEl>
                                          </p:spTgt>
                                        </p:tgtEl>
                                        <p:attrNameLst>
                                          <p:attrName>style.visibility</p:attrName>
                                        </p:attrNameLst>
                                      </p:cBhvr>
                                      <p:to>
                                        <p:strVal val="visible"/>
                                      </p:to>
                                    </p:set>
                                    <p:animEffect transition="in" filter="wipe(left)">
                                      <p:cBhvr>
                                        <p:cTn id="12" dur="500"/>
                                        <p:tgtEl>
                                          <p:spTgt spid="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43026"/>
                                        </p:tgtEl>
                                        <p:attrNameLst>
                                          <p:attrName>style.visibility</p:attrName>
                                        </p:attrNameLst>
                                      </p:cBhvr>
                                      <p:to>
                                        <p:strVal val="visible"/>
                                      </p:to>
                                    </p:set>
                                    <p:anim calcmode="lin" valueType="num">
                                      <p:cBhvr>
                                        <p:cTn id="23" dur="500" fill="hold"/>
                                        <p:tgtEl>
                                          <p:spTgt spid="43026"/>
                                        </p:tgtEl>
                                        <p:attrNameLst>
                                          <p:attrName>ppt_w</p:attrName>
                                        </p:attrNameLst>
                                      </p:cBhvr>
                                      <p:tavLst>
                                        <p:tav tm="0">
                                          <p:val>
                                            <p:fltVal val="0"/>
                                          </p:val>
                                        </p:tav>
                                        <p:tav tm="100000">
                                          <p:val>
                                            <p:strVal val="#ppt_w"/>
                                          </p:val>
                                        </p:tav>
                                      </p:tavLst>
                                    </p:anim>
                                    <p:anim calcmode="lin" valueType="num">
                                      <p:cBhvr>
                                        <p:cTn id="24" dur="500" fill="hold"/>
                                        <p:tgtEl>
                                          <p:spTgt spid="43026"/>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3026" grpId="0" animBg="1"/>
      <p:bldP spid="4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Rectangle 3"/>
          <p:cNvSpPr txBox="1">
            <a:spLocks noChangeArrowheads="1"/>
          </p:cNvSpPr>
          <p:nvPr/>
        </p:nvSpPr>
        <p:spPr>
          <a:xfrm>
            <a:off x="1571625" y="1412875"/>
            <a:ext cx="9205913" cy="1928813"/>
          </a:xfrm>
          <a:prstGeom prst="rect">
            <a:avLst/>
          </a:prstGeom>
        </p:spPr>
        <p:txBody>
          <a:bodyPr/>
          <a:lstStyle>
            <a:lvl1pPr marL="457200" indent="-457200">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333500" indent="-2921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调用者通过</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函数名</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调用函数</a:t>
            </a:r>
            <a:endPar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有返回值时，可放到一个</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赋值表达式语句</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中</a:t>
            </a:r>
            <a:r>
              <a:rPr kumimoji="0" lang="en-US" altLang="zh-CN" sz="20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  </a:t>
            </a:r>
            <a:endParaRPr kumimoji="0" lang="en-US" altLang="zh-CN" sz="20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a:p>
            <a:pPr marL="1333500" marR="0" lvl="2" indent="-292100" algn="l" defTabSz="914400" rtl="0" eaLnBrk="0" fontAlgn="base" latinLnBrk="0" hangingPunct="0">
              <a:lnSpc>
                <a:spcPct val="90000"/>
              </a:lnSpc>
              <a:spcBef>
                <a:spcPct val="20000"/>
              </a:spcBef>
              <a:spcAft>
                <a:spcPts val="600"/>
              </a:spcAft>
              <a:buClr>
                <a:srgbClr val="FFCC66"/>
              </a:buClr>
              <a:buSzPct val="80000"/>
              <a:buFont typeface="Wingdings 2" panose="05020102010507070707" pitchFamily="18" charset="2"/>
              <a:buNone/>
              <a:defRPr/>
            </a:pPr>
            <a:r>
              <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endPar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p:txBody>
      </p:sp>
      <p:sp>
        <p:nvSpPr>
          <p:cNvPr id="29698" name="Text Box 3"/>
          <p:cNvSpPr txBox="1"/>
          <p:nvPr/>
        </p:nvSpPr>
        <p:spPr>
          <a:xfrm>
            <a:off x="2424113" y="2924175"/>
            <a:ext cx="2936875" cy="3073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 ave;</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ave =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2" name="Text Box 5"/>
          <p:cNvSpPr txBox="1">
            <a:spLocks noChangeArrowheads="1"/>
          </p:cNvSpPr>
          <p:nvPr/>
        </p:nvSpPr>
        <p:spPr bwMode="auto">
          <a:xfrm>
            <a:off x="5621338" y="2924175"/>
            <a:ext cx="2995613" cy="3092450"/>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Average(</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y)</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return</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5" name="Rectangle 55"/>
          <p:cNvSpPr>
            <a:spLocks noChangeArrowheads="1"/>
          </p:cNvSpPr>
          <p:nvPr/>
        </p:nvSpPr>
        <p:spPr bwMode="auto">
          <a:xfrm>
            <a:off x="2794000" y="4448175"/>
            <a:ext cx="2528888"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29701" name="图片 7"/>
          <p:cNvPicPr>
            <a:picLocks noChangeAspect="1"/>
          </p:cNvPicPr>
          <p:nvPr/>
        </p:nvPicPr>
        <p:blipFill>
          <a:blip r:embed="rId1">
            <a:clrChange>
              <a:clrFrom>
                <a:srgbClr val="FFFBEF"/>
              </a:clrFrom>
              <a:clrTo>
                <a:srgbClr val="FFFBEF">
                  <a:alpha val="0"/>
                </a:srgbClr>
              </a:clrTo>
            </a:clrChange>
          </a:blip>
          <a:stretch>
            <a:fillRect/>
          </a:stretch>
        </p:blipFill>
        <p:spPr>
          <a:xfrm>
            <a:off x="9578975" y="3789363"/>
            <a:ext cx="1238250" cy="2420937"/>
          </a:xfrm>
          <a:prstGeom prst="rect">
            <a:avLst/>
          </a:prstGeom>
          <a:noFill/>
          <a:ln w="9525">
            <a:noFill/>
          </a:ln>
        </p:spPr>
      </p:pic>
      <p:sp>
        <p:nvSpPr>
          <p:cNvPr id="29702" name="AutoShape 4"/>
          <p:cNvSpPr/>
          <p:nvPr/>
        </p:nvSpPr>
        <p:spPr>
          <a:xfrm>
            <a:off x="8543925" y="1714500"/>
            <a:ext cx="2387600" cy="1143000"/>
          </a:xfrm>
          <a:prstGeom prst="cloudCallout">
            <a:avLst>
              <a:gd name="adj1" fmla="val 8347"/>
              <a:gd name="adj2" fmla="val 129722"/>
            </a:avLst>
          </a:prstGeom>
          <a:solidFill>
            <a:srgbClr val="FFFFCC"/>
          </a:solidFill>
          <a:ln w="28575" cap="flat" cmpd="sng">
            <a:solidFill>
              <a:srgbClr val="FF6600"/>
            </a:solidFill>
            <a:prstDash val="solid"/>
            <a:round/>
            <a:headEnd type="none" w="med" len="med"/>
            <a:tailEnd type="none" w="med" len="med"/>
          </a:ln>
        </p:spPr>
        <p:txBody>
          <a:bodyPr lIns="0" tIns="0" rIns="0" bIns="0"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sz="2800" dirty="0">
                <a:solidFill>
                  <a:srgbClr val="00007F"/>
                </a:solidFill>
                <a:latin typeface="Arial" panose="020B0604020202090204" pitchFamily="34" charset="0"/>
                <a:ea typeface="黑体" panose="02010609060101010101" pitchFamily="49" charset="-122"/>
              </a:rPr>
              <a:t>Function Call</a:t>
            </a:r>
            <a:r>
              <a:rPr lang="zh-CN" altLang="en-US" sz="2800" dirty="0">
                <a:solidFill>
                  <a:srgbClr val="00007F"/>
                </a:solidFill>
                <a:latin typeface="Arial" panose="020B0604020202090204" pitchFamily="34" charset="0"/>
                <a:ea typeface="黑体" panose="02010609060101010101" pitchFamily="49" charset="-122"/>
              </a:rPr>
              <a:t>？</a:t>
            </a:r>
            <a:endParaRPr lang="zh-CN" altLang="en-US" sz="2800" dirty="0">
              <a:solidFill>
                <a:srgbClr val="00007F"/>
              </a:solidFill>
              <a:latin typeface="Arial" panose="020B0604020202090204" pitchFamily="34" charset="0"/>
              <a:ea typeface="黑体" panose="02010609060101010101" pitchFamily="49" charset="-122"/>
            </a:endParaRPr>
          </a:p>
        </p:txBody>
      </p:sp>
      <p:sp>
        <p:nvSpPr>
          <p:cNvPr id="29703"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 </a:t>
            </a:r>
            <a:r>
              <a:rPr lang="zh-CN" altLang="en-US" sz="4400" dirty="0">
                <a:solidFill>
                  <a:schemeClr val="tx2"/>
                </a:solidFill>
                <a:latin typeface="Arial" panose="020B0604020202090204" pitchFamily="34" charset="0"/>
                <a:ea typeface="黑体" panose="02010609060101010101" pitchFamily="49" charset="-122"/>
              </a:rPr>
              <a:t>向函数传递值和从函数返回值</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xEl>
                                              <p:pRg st="1" end="1"/>
                                            </p:txEl>
                                          </p:spTgt>
                                        </p:tgtEl>
                                        <p:attrNameLst>
                                          <p:attrName>style.visibility</p:attrName>
                                        </p:attrNameLst>
                                      </p:cBhvr>
                                      <p:to>
                                        <p:strVal val="visible"/>
                                      </p:to>
                                    </p:set>
                                    <p:animEffect transition="in" filter="wipe(left)">
                                      <p:cBhvr>
                                        <p:cTn id="7" dur="500"/>
                                        <p:tgtEl>
                                          <p:spTgt spid="3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left)">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Text Box 3"/>
          <p:cNvSpPr txBox="1"/>
          <p:nvPr/>
        </p:nvSpPr>
        <p:spPr>
          <a:xfrm>
            <a:off x="2317750" y="2997200"/>
            <a:ext cx="4065588" cy="3073400"/>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printf("%d\n",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6709" name="Text Box 5"/>
          <p:cNvSpPr txBox="1">
            <a:spLocks noChangeArrowheads="1"/>
          </p:cNvSpPr>
          <p:nvPr/>
        </p:nvSpPr>
        <p:spPr bwMode="auto">
          <a:xfrm>
            <a:off x="6602413" y="2997200"/>
            <a:ext cx="2995613" cy="3092450"/>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Average(</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y)</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return</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56759" name="Rectangle 55"/>
          <p:cNvSpPr>
            <a:spLocks noChangeArrowheads="1"/>
          </p:cNvSpPr>
          <p:nvPr/>
        </p:nvSpPr>
        <p:spPr bwMode="auto">
          <a:xfrm>
            <a:off x="2660650" y="4521200"/>
            <a:ext cx="3651250"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0724"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 </a:t>
            </a:r>
            <a:r>
              <a:rPr lang="zh-CN" altLang="en-US" sz="4400" dirty="0">
                <a:solidFill>
                  <a:schemeClr val="tx2"/>
                </a:solidFill>
                <a:latin typeface="Arial" panose="020B0604020202090204" pitchFamily="34" charset="0"/>
                <a:ea typeface="黑体" panose="02010609060101010101" pitchFamily="49" charset="-122"/>
              </a:rPr>
              <a:t>向函数传递值和从函数返回值</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36" name="Rectangle 3"/>
          <p:cNvSpPr txBox="1">
            <a:spLocks noChangeArrowheads="1"/>
          </p:cNvSpPr>
          <p:nvPr/>
        </p:nvSpPr>
        <p:spPr>
          <a:xfrm>
            <a:off x="1571625" y="1412875"/>
            <a:ext cx="9205913" cy="1928813"/>
          </a:xfrm>
          <a:prstGeom prst="rect">
            <a:avLst/>
          </a:prstGeom>
        </p:spPr>
        <p:txBody>
          <a:bodyPr/>
          <a:lstStyle>
            <a:lvl1pPr marL="457200" indent="-457200">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333500" indent="-2921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调用者通过</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函数名</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调用函数</a:t>
            </a:r>
            <a:endPar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有返回值时，可放到一个</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赋值表达式语句</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中</a:t>
            </a:r>
            <a:endPar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0" indent="-457200" algn="l" defTabSz="914400" rtl="0" eaLnBrk="0" fontAlgn="base" latinLnBrk="0" hangingPunct="0">
              <a:lnSpc>
                <a:spcPct val="90000"/>
              </a:lnSpc>
              <a:spcBef>
                <a:spcPct val="20000"/>
              </a:spcBef>
              <a:spcAft>
                <a:spcPts val="60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还可放到一个</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函数调用语句</a:t>
            </a:r>
            <a:r>
              <a:rPr kumimoji="0"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中，作为</a:t>
            </a:r>
            <a:r>
              <a:rPr kumimoji="0" lang="zh-CN" altLang="en-US"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rPr>
              <a:t>另一个函数的参数</a:t>
            </a:r>
            <a:endParaRPr kumimoji="0" lang="en-US" altLang="zh-CN" sz="2400" b="0" i="0" u="none" strike="noStrike" kern="1200" cap="none" spc="0" normalizeH="0" baseline="0" noProof="0">
              <a:ln>
                <a:noFill/>
              </a:ln>
              <a:solidFill>
                <a:srgbClr val="A50021"/>
              </a:solidFill>
              <a:effectLst/>
              <a:uLnTx/>
              <a:uFillTx/>
              <a:latin typeface="黑体" panose="02010609060101010101" pitchFamily="49" charset="-122"/>
              <a:ea typeface="黑体" panose="02010609060101010101" pitchFamily="49" charset="-122"/>
              <a:cs typeface="+mn-cs"/>
            </a:endParaRPr>
          </a:p>
          <a:p>
            <a:pPr marL="1333500" marR="0" lvl="2" indent="-292100" algn="l" defTabSz="914400" rtl="0" eaLnBrk="0" fontAlgn="base" latinLnBrk="0" hangingPunct="0">
              <a:lnSpc>
                <a:spcPct val="90000"/>
              </a:lnSpc>
              <a:spcBef>
                <a:spcPct val="20000"/>
              </a:spcBef>
              <a:spcAft>
                <a:spcPts val="600"/>
              </a:spcAft>
              <a:buClr>
                <a:srgbClr val="FFCC66"/>
              </a:buClr>
              <a:buSzPct val="80000"/>
              <a:buFont typeface="Wingdings 2" panose="05020102010507070707" pitchFamily="18" charset="2"/>
              <a:buNone/>
              <a:defRPr/>
            </a:pPr>
            <a:r>
              <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endParaRPr kumimoji="0" lang="en-US" altLang="zh-CN" sz="2000" b="1" i="0" u="none" strike="noStrike" kern="1200" cap="none" spc="0" normalizeH="0" baseline="0" noProof="0">
              <a:ln>
                <a:noFill/>
              </a:ln>
              <a:solidFill>
                <a:srgbClr val="0033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p:txBody>
      </p:sp>
      <p:sp>
        <p:nvSpPr>
          <p:cNvPr id="45" name="Rectangle 55"/>
          <p:cNvSpPr>
            <a:spLocks noChangeArrowheads="1"/>
          </p:cNvSpPr>
          <p:nvPr/>
        </p:nvSpPr>
        <p:spPr bwMode="auto">
          <a:xfrm>
            <a:off x="4440238" y="4524375"/>
            <a:ext cx="1655763"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xEl>
                                              <p:pRg st="2" end="2"/>
                                            </p:txEl>
                                          </p:spTgt>
                                        </p:tgtEl>
                                        <p:attrNameLst>
                                          <p:attrName>style.visibility</p:attrName>
                                        </p:attrNameLst>
                                      </p:cBhvr>
                                      <p:to>
                                        <p:strVal val="visible"/>
                                      </p:to>
                                    </p:set>
                                    <p:animEffect transition="in" filter="wipe(left)">
                                      <p:cBhvr>
                                        <p:cTn id="7" dur="500"/>
                                        <p:tgtEl>
                                          <p:spTgt spid="3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6759"/>
                                        </p:tgtEl>
                                        <p:attrNameLst>
                                          <p:attrName>style.visibility</p:attrName>
                                        </p:attrNameLst>
                                      </p:cBhvr>
                                      <p:to>
                                        <p:strVal val="visible"/>
                                      </p:to>
                                    </p:set>
                                    <p:animEffect transition="in" filter="wipe(left)">
                                      <p:cBhvr>
                                        <p:cTn id="12" dur="500"/>
                                        <p:tgtEl>
                                          <p:spTgt spid="45675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56759"/>
                                        </p:tgtEl>
                                        <p:attrNameLst>
                                          <p:attrName>style.visibility</p:attrName>
                                        </p:attrNameLst>
                                      </p:cBhvr>
                                      <p:to>
                                        <p:strVal val="hidden"/>
                                      </p:to>
                                    </p:set>
                                  </p:childTnLst>
                                </p:cTn>
                              </p:par>
                              <p:par>
                                <p:cTn id="17" presetID="22" presetClass="entr" presetSubtype="8"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wipe(left)">
                                      <p:cBhvr>
                                        <p:cTn id="1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59" grpId="0" animBg="1"/>
      <p:bldP spid="456759" grpId="1" animBg="1"/>
      <p:bldP spid="4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5" name="Text Box 3"/>
          <p:cNvSpPr txBox="1"/>
          <p:nvPr/>
        </p:nvSpPr>
        <p:spPr>
          <a:xfrm>
            <a:off x="2279650" y="3141663"/>
            <a:ext cx="3968750" cy="3073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printf("%d\n",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6709" name="Text Box 5"/>
          <p:cNvSpPr txBox="1">
            <a:spLocks noChangeArrowheads="1"/>
          </p:cNvSpPr>
          <p:nvPr/>
        </p:nvSpPr>
        <p:spPr bwMode="auto">
          <a:xfrm>
            <a:off x="6564313" y="3141663"/>
            <a:ext cx="2925763" cy="3073400"/>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buClr>
                <a:schemeClr val="tx2"/>
              </a:buClr>
              <a:buSzPct val="80000"/>
              <a:buFontTx/>
              <a:buNone/>
              <a:defRPr/>
            </a:pPr>
            <a:r>
              <a:rPr kumimoji="0" lang="fr-FR" altLang="zh-CN" b="1" kern="1200" cap="none" spc="0" normalizeH="0" baseline="0" noProof="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Average(</a:t>
            </a:r>
            <a:r>
              <a:rPr kumimoji="0" lang="fr-FR" altLang="zh-CN" b="1" kern="1200" cap="none" spc="0" normalizeH="0" baseline="0" noProof="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 </a:t>
            </a:r>
            <a:r>
              <a:rPr kumimoji="0" lang="fr-FR" altLang="zh-CN" b="1" kern="1200" cap="none" spc="0" normalizeH="0" baseline="0" noProof="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 </a:t>
            </a: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y)</a:t>
            </a:r>
            <a:endParaRPr kumimoji="1" lang="zh-CN" altLang="zh-CN" b="1" kern="1200" cap="none" spc="0" normalizeH="0" baseline="0" noProof="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r>
              <a:rPr kumimoji="1" lang="zh-CN" altLang="zh-CN" b="1" kern="1200" cap="none" spc="0" normalizeH="0" baseline="0" noProof="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r>
              <a:rPr kumimoji="0" lang="fr-FR" altLang="zh-CN" b="1" kern="1200" cap="none" spc="0" normalizeH="0" baseline="0" noProof="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a:t>
            </a:r>
            <a:endPar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endPar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endPar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r>
              <a:rPr kumimoji="0" lang="fr-FR" altLang="zh-CN" b="1" kern="1200" cap="none" spc="0" normalizeH="0" baseline="0" noProof="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return</a:t>
            </a:r>
            <a:r>
              <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a:t>
            </a:r>
            <a:endParaRPr kumimoji="0" lang="fr-FR" altLang="zh-CN"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buClr>
                <a:schemeClr val="tx2"/>
              </a:buClr>
              <a:buSzPct val="80000"/>
              <a:buFontTx/>
              <a:buNone/>
              <a:defRPr/>
            </a:pPr>
            <a:r>
              <a:rPr kumimoji="1" lang="en-US" altLang="zh-CN" b="1" kern="1200" cap="none" spc="0" normalizeH="0" baseline="0" noProof="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a:latin typeface="Arial" panose="020B0604020202090204" pitchFamily="34" charset="0"/>
              <a:ea typeface="宋体" pitchFamily="2" charset="-122"/>
              <a:cs typeface="Arial" panose="020B0604020202090204" pitchFamily="34" charset="0"/>
            </a:endParaRPr>
          </a:p>
        </p:txBody>
      </p:sp>
      <p:sp>
        <p:nvSpPr>
          <p:cNvPr id="456759" name="Rectangle 55"/>
          <p:cNvSpPr>
            <a:spLocks noChangeArrowheads="1"/>
          </p:cNvSpPr>
          <p:nvPr/>
        </p:nvSpPr>
        <p:spPr bwMode="auto">
          <a:xfrm>
            <a:off x="5399088" y="4662488"/>
            <a:ext cx="542925"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56765" name="Rectangle 61"/>
          <p:cNvSpPr>
            <a:spLocks noChangeArrowheads="1"/>
          </p:cNvSpPr>
          <p:nvPr/>
        </p:nvSpPr>
        <p:spPr bwMode="auto">
          <a:xfrm>
            <a:off x="8097838" y="3141663"/>
            <a:ext cx="1254125"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6" name="Rectangle 3"/>
          <p:cNvSpPr txBox="1">
            <a:spLocks noChangeArrowheads="1"/>
          </p:cNvSpPr>
          <p:nvPr/>
        </p:nvSpPr>
        <p:spPr>
          <a:xfrm>
            <a:off x="839788" y="1555750"/>
            <a:ext cx="9205913" cy="1368425"/>
          </a:xfrm>
          <a:prstGeom prst="rect">
            <a:avLst/>
          </a:prstGeom>
          <a:effectLst/>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565150" marR="0" lvl="1" indent="0" algn="l" defTabSz="914400" rtl="0" eaLnBrk="0" fontAlgn="base" latinLnBrk="0" hangingPunct="0">
              <a:lnSpc>
                <a:spcPct val="100000"/>
              </a:lnSpc>
              <a:spcBef>
                <a:spcPts val="600"/>
              </a:spcBef>
              <a:spcAft>
                <a:spcPct val="0"/>
              </a:spcAft>
              <a:buClrTx/>
              <a:buSzPct val="80000"/>
              <a:buFont typeface="Wingdings 2" panose="05020102010507070707" pitchFamily="18" charset="2"/>
              <a:buNone/>
            </a:pPr>
            <a:r>
              <a:rPr kumimoji="0" lang="zh-CN" altLang="en-US"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函数定义时的参数，形式参数（</a:t>
            </a:r>
            <a:r>
              <a:rPr kumimoji="0" lang="en-US" altLang="zh-CN"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Times New Roman" panose="02020503050405090304" pitchFamily="18" charset="0"/>
              </a:rPr>
              <a:t>Parameter</a:t>
            </a:r>
            <a:r>
              <a:rPr kumimoji="0" lang="en-US" altLang="zh-CN"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 </a:t>
            </a:r>
            <a:r>
              <a:rPr kumimoji="0" lang="zh-CN" altLang="en-US"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），简称</a:t>
            </a:r>
            <a:r>
              <a:rPr kumimoji="0" lang="zh-CN" altLang="en-US" sz="2400" b="0" i="0" u="none" strike="noStrike" kern="1200" cap="none" spc="0" normalizeH="0" baseline="0" noProof="1">
                <a:solidFill>
                  <a:srgbClr val="A50021"/>
                </a:solidFill>
                <a:latin typeface="Arial" panose="020B0604020202090204" pitchFamily="34" charset="0"/>
                <a:ea typeface="黑体" panose="02010609060101010101" pitchFamily="49" charset="-122"/>
                <a:cs typeface="Arial" panose="020B0604020202090204" pitchFamily="34" charset="0"/>
              </a:rPr>
              <a:t>形参</a:t>
            </a:r>
            <a:endParaRPr kumimoji="0" lang="zh-CN" altLang="en-US" sz="2400" b="0" i="0" u="none" strike="noStrike" kern="1200" cap="none" spc="0" normalizeH="0" baseline="0" noProof="1">
              <a:solidFill>
                <a:srgbClr val="A50021"/>
              </a:solidFill>
              <a:latin typeface="Arial" panose="020B0604020202090204" pitchFamily="34" charset="0"/>
              <a:ea typeface="黑体" panose="02010609060101010101" pitchFamily="49" charset="-122"/>
              <a:cs typeface="Arial" panose="020B0604020202090204" pitchFamily="34" charset="0"/>
            </a:endParaRPr>
          </a:p>
          <a:p>
            <a:pPr marL="565150" marR="0" lvl="1" indent="0" algn="l" defTabSz="914400" rtl="0" eaLnBrk="0" fontAlgn="base" latinLnBrk="0" hangingPunct="0">
              <a:lnSpc>
                <a:spcPct val="100000"/>
              </a:lnSpc>
              <a:spcBef>
                <a:spcPts val="600"/>
              </a:spcBef>
              <a:spcAft>
                <a:spcPct val="0"/>
              </a:spcAft>
              <a:buClrTx/>
              <a:buSzPct val="80000"/>
              <a:buFont typeface="Wingdings 2" panose="05020102010507070707" pitchFamily="18" charset="2"/>
              <a:buNone/>
            </a:pPr>
            <a:r>
              <a:rPr kumimoji="0" lang="zh-CN" altLang="en-US"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函数调用时的参数，实际参数（</a:t>
            </a:r>
            <a:r>
              <a:rPr kumimoji="0" lang="en-US" altLang="zh-CN"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Times New Roman" panose="02020503050405090304" pitchFamily="18" charset="0"/>
              </a:rPr>
              <a:t>Argument</a:t>
            </a:r>
            <a:r>
              <a:rPr kumimoji="0" lang="en-US" altLang="zh-CN"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 </a:t>
            </a:r>
            <a:r>
              <a:rPr kumimoji="0" lang="zh-CN" altLang="en-US" sz="2400" b="0" i="0" u="none" strike="noStrike" kern="1200" cap="none" spc="0" normalizeH="0" baseline="0" noProof="1">
                <a:solidFill>
                  <a:schemeClr val="tx1"/>
                </a:solidFill>
                <a:latin typeface="Arial" panose="020B0604020202090204" pitchFamily="34" charset="0"/>
                <a:ea typeface="黑体" panose="02010609060101010101" pitchFamily="49" charset="-122"/>
                <a:cs typeface="Arial" panose="020B0604020202090204" pitchFamily="34" charset="0"/>
              </a:rPr>
              <a:t>），简称</a:t>
            </a:r>
            <a:r>
              <a:rPr kumimoji="0" lang="zh-CN" altLang="en-US" sz="2400" b="0" i="0" u="none" strike="noStrike" kern="1200" cap="none" spc="0" normalizeH="0" baseline="0" noProof="1">
                <a:solidFill>
                  <a:srgbClr val="A50021"/>
                </a:solidFill>
                <a:latin typeface="Arial" panose="020B0604020202090204" pitchFamily="34" charset="0"/>
                <a:ea typeface="黑体" panose="02010609060101010101" pitchFamily="49" charset="-122"/>
                <a:cs typeface="Arial" panose="020B0604020202090204" pitchFamily="34" charset="0"/>
              </a:rPr>
              <a:t>实参</a:t>
            </a:r>
            <a:endParaRPr kumimoji="0" lang="zh-CN" altLang="en-US" sz="2400" b="0" i="0" u="none" strike="noStrike" kern="1200" cap="none" spc="0" normalizeH="0" baseline="0" noProof="1">
              <a:solidFill>
                <a:srgbClr val="A50021"/>
              </a:solidFill>
              <a:latin typeface="Arial" panose="020B0604020202090204" pitchFamily="34" charset="0"/>
              <a:ea typeface="黑体" panose="02010609060101010101" pitchFamily="49" charset="-122"/>
              <a:cs typeface="Arial" panose="020B0604020202090204" pitchFamily="34" charset="0"/>
            </a:endParaRPr>
          </a:p>
          <a:p>
            <a:pPr marL="565150" marR="0" lvl="1" indent="0" algn="l" defTabSz="914400" rtl="0" eaLnBrk="0" fontAlgn="base" latinLnBrk="0" hangingPunct="0">
              <a:lnSpc>
                <a:spcPct val="90000"/>
              </a:lnSpc>
              <a:spcBef>
                <a:spcPct val="20000"/>
              </a:spcBef>
              <a:spcAft>
                <a:spcPts val="600"/>
              </a:spcAft>
              <a:buClr>
                <a:srgbClr val="FFCC66"/>
              </a:buClr>
              <a:buSzPct val="115000"/>
              <a:buFontTx/>
              <a:buChar char="–"/>
            </a:pPr>
            <a:endParaRPr kumimoji="0" lang="zh-CN" altLang="en-US" sz="2000" b="1" i="0" u="none" strike="noStrike" kern="1200" cap="none" spc="0" normalizeH="0" baseline="0" noProof="1">
              <a:solidFill>
                <a:schemeClr val="tx1"/>
              </a:solidFill>
              <a:effectLst>
                <a:outerShdw blurRad="38100" dist="38100" dir="2700000">
                  <a:srgbClr val="FFFFFF"/>
                </a:outerShdw>
              </a:effectLst>
              <a:latin typeface="Arial" panose="020B0604020202090204" pitchFamily="34" charset="0"/>
              <a:ea typeface="宋体" pitchFamily="2" charset="-122"/>
              <a:cs typeface="Times New Roman" panose="02020503050405090304" pitchFamily="18" charset="0"/>
            </a:endParaRPr>
          </a:p>
          <a:p>
            <a:pPr marL="1333500" marR="0" lvl="2" indent="-292100" algn="l" defTabSz="914400" rtl="0" eaLnBrk="0" fontAlgn="base" latinLnBrk="0" hangingPunct="0">
              <a:lnSpc>
                <a:spcPct val="90000"/>
              </a:lnSpc>
              <a:spcBef>
                <a:spcPct val="20000"/>
              </a:spcBef>
              <a:spcAft>
                <a:spcPts val="600"/>
              </a:spcAft>
              <a:buClr>
                <a:srgbClr val="FFCC66"/>
              </a:buClr>
              <a:buSzPct val="80000"/>
              <a:buFont typeface="Wingdings 2" panose="05020102010507070707" pitchFamily="18" charset="2"/>
              <a:buNone/>
            </a:pPr>
            <a:r>
              <a:rPr kumimoji="0" lang="en-US" altLang="zh-CN" sz="2000" b="1" i="0" u="none" strike="noStrike" kern="1200" cap="none" spc="0" normalizeH="0" baseline="0" noProof="1">
                <a:solidFill>
                  <a:srgbClr val="0033CC"/>
                </a:solidFill>
                <a:effectLst>
                  <a:outerShdw blurRad="38100" dist="38100" dir="2700000">
                    <a:srgbClr val="000000"/>
                  </a:outerShdw>
                </a:effectLst>
                <a:latin typeface="Courier New" panose="02070409020205090404" pitchFamily="49" charset="0"/>
                <a:ea typeface="宋体" pitchFamily="2" charset="-122"/>
                <a:cs typeface="Times New Roman" panose="02020503050405090304" pitchFamily="18" charset="0"/>
              </a:rPr>
              <a:t>  </a:t>
            </a:r>
            <a:endParaRPr kumimoji="0" lang="en-US" altLang="zh-CN" sz="2000" b="1" i="0" u="none" strike="noStrike" kern="1200" cap="none" spc="0" normalizeH="0" baseline="0" noProof="1">
              <a:solidFill>
                <a:schemeClr val="tx1"/>
              </a:solidFill>
              <a:effectLst>
                <a:outerShdw blurRad="38100" dist="38100" dir="2700000">
                  <a:srgbClr val="FFFFFF"/>
                </a:outerShdw>
              </a:effectLst>
              <a:latin typeface="Courier New" panose="02070409020205090404" pitchFamily="49" charset="0"/>
              <a:ea typeface="宋体" pitchFamily="2" charset="-122"/>
              <a:cs typeface="Times New Roman" panose="02020503050405090304" pitchFamily="18" charset="0"/>
            </a:endParaRPr>
          </a:p>
        </p:txBody>
      </p:sp>
      <p:pic>
        <p:nvPicPr>
          <p:cNvPr id="31750" name="图片 7"/>
          <p:cNvPicPr>
            <a:picLocks noChangeAspect="1"/>
          </p:cNvPicPr>
          <p:nvPr/>
        </p:nvPicPr>
        <p:blipFill>
          <a:blip r:embed="rId1">
            <a:clrChange>
              <a:clrFrom>
                <a:srgbClr val="FFFFFB"/>
              </a:clrFrom>
              <a:clrTo>
                <a:srgbClr val="FFFFFB">
                  <a:alpha val="0"/>
                </a:srgbClr>
              </a:clrTo>
            </a:clrChange>
          </a:blip>
          <a:stretch>
            <a:fillRect/>
          </a:stretch>
        </p:blipFill>
        <p:spPr>
          <a:xfrm>
            <a:off x="9796463" y="4214813"/>
            <a:ext cx="1020762" cy="1995487"/>
          </a:xfrm>
          <a:prstGeom prst="rect">
            <a:avLst/>
          </a:prstGeom>
          <a:noFill/>
          <a:ln w="9525">
            <a:noFill/>
          </a:ln>
        </p:spPr>
      </p:pic>
      <p:sp>
        <p:nvSpPr>
          <p:cNvPr id="31751" name="AutoShape 4"/>
          <p:cNvSpPr/>
          <p:nvPr/>
        </p:nvSpPr>
        <p:spPr>
          <a:xfrm>
            <a:off x="9191625" y="1714500"/>
            <a:ext cx="1703388" cy="1143000"/>
          </a:xfrm>
          <a:prstGeom prst="cloudCallout">
            <a:avLst>
              <a:gd name="adj1" fmla="val 7273"/>
              <a:gd name="adj2" fmla="val 162583"/>
            </a:avLst>
          </a:prstGeom>
          <a:solidFill>
            <a:srgbClr val="FFFFCC"/>
          </a:solidFill>
          <a:ln w="28575" cap="flat" cmpd="sng">
            <a:solidFill>
              <a:srgbClr val="FF6600"/>
            </a:solidFill>
            <a:prstDash val="solid"/>
            <a:round/>
            <a:headEnd type="none" w="med" len="med"/>
            <a:tailEnd type="none" w="med" len="med"/>
          </a:ln>
        </p:spPr>
        <p:txBody>
          <a:bodyPr lIns="0" tIns="0" rIns="0" bIns="0"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Arial" panose="020B0604020202090204" pitchFamily="34" charset="0"/>
                <a:ea typeface="黑体" panose="02010609060101010101" pitchFamily="49" charset="-122"/>
              </a:rPr>
              <a:t>函数的参数？</a:t>
            </a:r>
            <a:endParaRPr lang="zh-CN" altLang="en-US" sz="2400" b="1" dirty="0">
              <a:solidFill>
                <a:srgbClr val="333399"/>
              </a:solidFill>
              <a:latin typeface="Arial" panose="020B0604020202090204" pitchFamily="34" charset="0"/>
              <a:ea typeface="黑体" panose="02010609060101010101" pitchFamily="49" charset="-122"/>
            </a:endParaRPr>
          </a:p>
        </p:txBody>
      </p:sp>
      <p:sp>
        <p:nvSpPr>
          <p:cNvPr id="31752"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56765"/>
                                        </p:tgtEl>
                                        <p:attrNameLst>
                                          <p:attrName>style.visibility</p:attrName>
                                        </p:attrNameLst>
                                      </p:cBhvr>
                                      <p:to>
                                        <p:strVal val="visible"/>
                                      </p:to>
                                    </p:set>
                                    <p:anim calcmode="lin" valueType="num">
                                      <p:cBhvr>
                                        <p:cTn id="7" dur="500" fill="hold"/>
                                        <p:tgtEl>
                                          <p:spTgt spid="456765"/>
                                        </p:tgtEl>
                                        <p:attrNameLst>
                                          <p:attrName>ppt_w</p:attrName>
                                        </p:attrNameLst>
                                      </p:cBhvr>
                                      <p:tavLst>
                                        <p:tav tm="0">
                                          <p:val>
                                            <p:fltVal val="0"/>
                                          </p:val>
                                        </p:tav>
                                        <p:tav tm="100000">
                                          <p:val>
                                            <p:strVal val="#ppt_w"/>
                                          </p:val>
                                        </p:tav>
                                      </p:tavLst>
                                    </p:anim>
                                    <p:anim calcmode="lin" valueType="num">
                                      <p:cBhvr>
                                        <p:cTn id="8" dur="500" fill="hold"/>
                                        <p:tgtEl>
                                          <p:spTgt spid="456765"/>
                                        </p:tgtEl>
                                        <p:attrNameLst>
                                          <p:attrName>ppt_h</p:attrName>
                                        </p:attrNameLst>
                                      </p:cBhvr>
                                      <p:tavLst>
                                        <p:tav tm="0">
                                          <p:val>
                                            <p:fltVal val="0"/>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36">
                                            <p:txEl>
                                              <p:pRg st="0" end="0"/>
                                            </p:txEl>
                                          </p:spTgt>
                                        </p:tgtEl>
                                        <p:attrNameLst>
                                          <p:attrName>style.visibility</p:attrName>
                                        </p:attrNameLst>
                                      </p:cBhvr>
                                      <p:to>
                                        <p:strVal val="visible"/>
                                      </p:to>
                                    </p:set>
                                    <p:anim calcmode="lin" valueType="num">
                                      <p:cBhvr>
                                        <p:cTn id="11" dur="500" fill="hold"/>
                                        <p:tgtEl>
                                          <p:spTgt spid="36">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3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56759"/>
                                        </p:tgtEl>
                                        <p:attrNameLst>
                                          <p:attrName>style.visibility</p:attrName>
                                        </p:attrNameLst>
                                      </p:cBhvr>
                                      <p:to>
                                        <p:strVal val="visible"/>
                                      </p:to>
                                    </p:set>
                                    <p:anim calcmode="lin" valueType="num">
                                      <p:cBhvr>
                                        <p:cTn id="17" dur="500" fill="hold"/>
                                        <p:tgtEl>
                                          <p:spTgt spid="456759"/>
                                        </p:tgtEl>
                                        <p:attrNameLst>
                                          <p:attrName>ppt_w</p:attrName>
                                        </p:attrNameLst>
                                      </p:cBhvr>
                                      <p:tavLst>
                                        <p:tav tm="0">
                                          <p:val>
                                            <p:fltVal val="0"/>
                                          </p:val>
                                        </p:tav>
                                        <p:tav tm="100000">
                                          <p:val>
                                            <p:strVal val="#ppt_w"/>
                                          </p:val>
                                        </p:tav>
                                      </p:tavLst>
                                    </p:anim>
                                    <p:anim calcmode="lin" valueType="num">
                                      <p:cBhvr>
                                        <p:cTn id="18" dur="500" fill="hold"/>
                                        <p:tgtEl>
                                          <p:spTgt spid="456759"/>
                                        </p:tgtEl>
                                        <p:attrNameLst>
                                          <p:attrName>ppt_h</p:attrName>
                                        </p:attrNameLst>
                                      </p:cBhvr>
                                      <p:tavLst>
                                        <p:tav tm="0">
                                          <p:val>
                                            <p:fltVal val="0"/>
                                          </p:val>
                                        </p:tav>
                                        <p:tav tm="100000">
                                          <p:val>
                                            <p:strVal val="#ppt_h"/>
                                          </p:val>
                                        </p:tav>
                                      </p:tavLst>
                                    </p:anim>
                                  </p:childTnLst>
                                </p:cTn>
                              </p:par>
                              <p:par>
                                <p:cTn id="19" presetID="17" presetClass="entr" presetSubtype="10" fill="hold" nodeType="withEffect">
                                  <p:stCondLst>
                                    <p:cond delay="0"/>
                                  </p:stCondLst>
                                  <p:childTnLst>
                                    <p:set>
                                      <p:cBhvr>
                                        <p:cTn id="20" dur="1" fill="hold">
                                          <p:stCondLst>
                                            <p:cond delay="0"/>
                                          </p:stCondLst>
                                        </p:cTn>
                                        <p:tgtEl>
                                          <p:spTgt spid="36">
                                            <p:txEl>
                                              <p:pRg st="1" end="1"/>
                                            </p:txEl>
                                          </p:spTgt>
                                        </p:tgtEl>
                                        <p:attrNameLst>
                                          <p:attrName>style.visibility</p:attrName>
                                        </p:attrNameLst>
                                      </p:cBhvr>
                                      <p:to>
                                        <p:strVal val="visible"/>
                                      </p:to>
                                    </p:set>
                                    <p:anim calcmode="lin" valueType="num">
                                      <p:cBhvr>
                                        <p:cTn id="21" dur="500" fill="hold"/>
                                        <p:tgtEl>
                                          <p:spTgt spid="36">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6">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59" grpId="0" animBg="1"/>
      <p:bldP spid="45676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1" name="Rectangle 3"/>
          <p:cNvSpPr>
            <a:spLocks noChangeArrowheads="1"/>
          </p:cNvSpPr>
          <p:nvPr/>
        </p:nvSpPr>
        <p:spPr bwMode="auto">
          <a:xfrm>
            <a:off x="1200150" y="1268413"/>
            <a:ext cx="9321800" cy="1727200"/>
          </a:xfrm>
          <a:prstGeom prst="rect">
            <a:avLst/>
          </a:prstGeom>
          <a:noFill/>
          <a:ln w="9525">
            <a:noFill/>
            <a:miter lim="800000"/>
          </a:ln>
          <a:effectLst/>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457200" marR="0" lvl="0" indent="-457200" algn="l" defTabSz="914400" rtl="0" eaLnBrk="0" fontAlgn="base" latinLnBrk="0" hangingPunct="0">
              <a:lnSpc>
                <a:spcPct val="90000"/>
              </a:lnSpc>
              <a:spcBef>
                <a:spcPct val="20000"/>
              </a:spcBef>
              <a:spcAft>
                <a:spcPts val="590"/>
              </a:spcAft>
              <a:buClr>
                <a:schemeClr val="tx1"/>
              </a:buClr>
              <a:buSzPct val="80000"/>
              <a:buFont typeface="Wingdings" panose="05000000000000000000" pitchFamily="2" charset="2"/>
              <a:buChar char="n"/>
            </a:pPr>
            <a:r>
              <a:rPr kumimoji="0" lang="zh-CN" altLang="en-US" sz="2400" b="0" i="0" u="none" strike="noStrike" kern="1200" cap="none" spc="0" normalizeH="0" baseline="0" noProof="1">
                <a:solidFill>
                  <a:schemeClr val="tx1"/>
                </a:solidFill>
                <a:latin typeface="黑体" panose="02010609060101010101" pitchFamily="49" charset="-122"/>
                <a:ea typeface="黑体" panose="02010609060101010101" pitchFamily="49" charset="-122"/>
                <a:cs typeface="+mn-cs"/>
              </a:rPr>
              <a:t>每次执行函数调用时</a:t>
            </a:r>
            <a:endParaRPr kumimoji="0" lang="zh-CN" altLang="en-US" sz="2400" b="0" i="0" u="none" strike="noStrike" kern="1200" cap="none" spc="0" normalizeH="0" baseline="0" noProof="1">
              <a:solidFill>
                <a:schemeClr val="tx1"/>
              </a:solidFill>
              <a:latin typeface="黑体" panose="02010609060101010101" pitchFamily="49" charset="-122"/>
              <a:ea typeface="黑体" panose="02010609060101010101" pitchFamily="49" charset="-122"/>
              <a:cs typeface="+mn-cs"/>
            </a:endParaRPr>
          </a:p>
          <a:p>
            <a:pPr marL="850900" marR="0" lvl="1" indent="-285750" algn="l" defTabSz="914400" rtl="0" eaLnBrk="0" fontAlgn="base" latinLnBrk="0" hangingPunct="0">
              <a:lnSpc>
                <a:spcPct val="90000"/>
              </a:lnSpc>
              <a:spcBef>
                <a:spcPct val="20000"/>
              </a:spcBef>
              <a:spcAft>
                <a:spcPts val="590"/>
              </a:spcAft>
              <a:buClr>
                <a:srgbClr val="FFCC66"/>
              </a:buClr>
              <a:buSzPct val="115000"/>
              <a:buFontTx/>
              <a:buChar char="–"/>
            </a:pPr>
            <a:r>
              <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rPr>
              <a:t>现场保护并为函数的内部变量（包括形参）分配内存</a:t>
            </a:r>
            <a:endPar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endParaRPr>
          </a:p>
          <a:p>
            <a:pPr marL="850900" marR="0" lvl="1" indent="-285750" algn="l" defTabSz="914400" rtl="0" eaLnBrk="0" fontAlgn="base" latinLnBrk="0" hangingPunct="0">
              <a:lnSpc>
                <a:spcPct val="90000"/>
              </a:lnSpc>
              <a:spcBef>
                <a:spcPct val="20000"/>
              </a:spcBef>
              <a:spcAft>
                <a:spcPts val="590"/>
              </a:spcAft>
              <a:buClr>
                <a:srgbClr val="FFCC66"/>
              </a:buClr>
              <a:buSzPct val="115000"/>
              <a:buFontTx/>
              <a:buChar char="–"/>
            </a:pPr>
            <a:r>
              <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rPr>
              <a:t>把实参值复制给形参，</a:t>
            </a:r>
            <a:r>
              <a:rPr kumimoji="0" lang="zh-CN" altLang="en-US" sz="2000" b="0" i="0" u="none" strike="noStrike" kern="1200" cap="none" spc="0" normalizeH="0" baseline="0" noProof="1">
                <a:solidFill>
                  <a:srgbClr val="C00000"/>
                </a:solidFill>
                <a:latin typeface="黑体" panose="02010609060101010101" pitchFamily="49" charset="-122"/>
                <a:ea typeface="黑体" panose="02010609060101010101" pitchFamily="49" charset="-122"/>
                <a:cs typeface="Times New Roman" panose="02020503050405090304" pitchFamily="18" charset="0"/>
              </a:rPr>
              <a:t>单向</a:t>
            </a:r>
            <a:r>
              <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rPr>
              <a:t>传值（实参</a:t>
            </a:r>
            <a:r>
              <a:rPr kumimoji="0" lang="en-US" altLang="zh-CN" sz="2000" b="0" i="0" u="none" strike="noStrike" kern="1200" cap="none" spc="0" normalizeH="0" baseline="0" noProof="1">
                <a:solidFill>
                  <a:srgbClr val="C00000"/>
                </a:solidFill>
                <a:latin typeface="黑体" panose="02010609060101010101" pitchFamily="49" charset="-122"/>
                <a:ea typeface="黑体" panose="02010609060101010101" pitchFamily="49" charset="-122"/>
                <a:cs typeface="Times New Roman" panose="02020503050405090304" pitchFamily="18" charset="0"/>
                <a:sym typeface="Wingdings" panose="05000000000000000000" pitchFamily="2" charset="2"/>
              </a:rPr>
              <a:t></a:t>
            </a:r>
            <a:r>
              <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rPr>
              <a:t>形参）</a:t>
            </a:r>
            <a:endPar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endParaRPr>
          </a:p>
          <a:p>
            <a:pPr marL="850900" marR="0" lvl="1" indent="-285750" algn="l" defTabSz="914400" rtl="0" eaLnBrk="0" fontAlgn="base" latinLnBrk="0" hangingPunct="0">
              <a:lnSpc>
                <a:spcPct val="90000"/>
              </a:lnSpc>
              <a:spcBef>
                <a:spcPct val="20000"/>
              </a:spcBef>
              <a:spcAft>
                <a:spcPts val="590"/>
              </a:spcAft>
              <a:buClr>
                <a:srgbClr val="FFCC66"/>
              </a:buClr>
              <a:buSzPct val="115000"/>
              <a:buFontTx/>
              <a:buChar char="–"/>
            </a:pPr>
            <a:r>
              <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rPr>
              <a:t>实参与形参数目一致，类型匹配（否则类型自动转换）</a:t>
            </a:r>
            <a:endParaRPr kumimoji="0" lang="zh-CN" altLang="en-US" sz="2000" b="0" i="0" u="none" strike="noStrike" kern="1200" cap="none" spc="0" normalizeH="0" baseline="0" noProof="1">
              <a:solidFill>
                <a:srgbClr val="333399"/>
              </a:solidFill>
              <a:latin typeface="黑体" panose="02010609060101010101" pitchFamily="49" charset="-122"/>
              <a:ea typeface="黑体" panose="02010609060101010101" pitchFamily="49" charset="-122"/>
              <a:cs typeface="Times New Roman" panose="02020503050405090304" pitchFamily="18" charset="0"/>
            </a:endParaRPr>
          </a:p>
          <a:p>
            <a:pPr marL="850900" marR="0" lvl="1" indent="-285750" algn="l" defTabSz="914400" rtl="0" eaLnBrk="0" fontAlgn="base" latinLnBrk="0" hangingPunct="0">
              <a:lnSpc>
                <a:spcPct val="90000"/>
              </a:lnSpc>
              <a:spcBef>
                <a:spcPct val="20000"/>
              </a:spcBef>
              <a:spcAft>
                <a:spcPts val="590"/>
              </a:spcAft>
              <a:buClr>
                <a:srgbClr val="FFCC66"/>
              </a:buClr>
              <a:buSzPct val="115000"/>
              <a:buFontTx/>
              <a:buChar char="–"/>
            </a:pPr>
            <a:endParaRPr kumimoji="0" lang="zh-CN" altLang="en-US" sz="1800" b="1" i="0" u="none" strike="noStrike" kern="1200" cap="none" spc="0" normalizeH="0" baseline="0" noProof="1">
              <a:solidFill>
                <a:srgbClr val="CC00CC"/>
              </a:solidFill>
              <a:effectLst>
                <a:outerShdw blurRad="38100" dist="38100" dir="2700000">
                  <a:srgbClr val="000000"/>
                </a:outerShdw>
              </a:effectLst>
              <a:latin typeface="宋体" pitchFamily="2" charset="-122"/>
              <a:ea typeface="宋体" pitchFamily="2" charset="-122"/>
              <a:cs typeface="Times New Roman" panose="02020503050405090304" pitchFamily="18" charset="0"/>
            </a:endParaRPr>
          </a:p>
          <a:p>
            <a:pPr marL="850900" marR="0" lvl="1" indent="-285750" algn="l" defTabSz="914400" rtl="0" eaLnBrk="0" fontAlgn="base" latinLnBrk="0" hangingPunct="0">
              <a:lnSpc>
                <a:spcPct val="90000"/>
              </a:lnSpc>
              <a:spcBef>
                <a:spcPct val="20000"/>
              </a:spcBef>
              <a:spcAft>
                <a:spcPts val="590"/>
              </a:spcAft>
              <a:buClr>
                <a:srgbClr val="FFCC66"/>
              </a:buClr>
              <a:buSzPct val="115000"/>
              <a:buFontTx/>
              <a:buChar char="–"/>
            </a:pPr>
            <a:endParaRPr kumimoji="0" lang="zh-CN" altLang="en-US" sz="2000" b="1" i="0" u="none" strike="noStrike" kern="1200" cap="none" spc="0" normalizeH="0" baseline="0" noProof="1">
              <a:solidFill>
                <a:srgbClr val="CC00CC"/>
              </a:solidFill>
              <a:effectLst>
                <a:outerShdw blurRad="38100" dist="38100" dir="2700000">
                  <a:srgbClr val="000000"/>
                </a:outerShdw>
              </a:effectLst>
              <a:latin typeface="华文仿宋" panose="02010600040101010101" pitchFamily="2" charset="-122"/>
              <a:ea typeface="华文仿宋" panose="02010600040101010101" pitchFamily="2" charset="-122"/>
              <a:cs typeface="Times New Roman" panose="02020503050405090304" pitchFamily="18" charset="0"/>
            </a:endParaRPr>
          </a:p>
          <a:p>
            <a:pPr marL="457200" marR="0" lvl="0" indent="-457200" algn="l" defTabSz="914400" rtl="0" eaLnBrk="0" fontAlgn="base" latinLnBrk="0" hangingPunct="0">
              <a:lnSpc>
                <a:spcPct val="105000"/>
              </a:lnSpc>
              <a:spcBef>
                <a:spcPct val="20000"/>
              </a:spcBef>
              <a:spcAft>
                <a:spcPts val="590"/>
              </a:spcAft>
              <a:buClr>
                <a:srgbClr val="FFCC66"/>
              </a:buClr>
              <a:buSzPct val="80000"/>
              <a:buFont typeface="Monotype Sorts"/>
              <a:buChar char=""/>
            </a:pPr>
            <a:endParaRPr kumimoji="0" lang="zh-CN" altLang="en-US" sz="2800" b="1" i="0" u="none" strike="noStrike" kern="1200" cap="none" spc="0" normalizeH="0" baseline="0" noProof="1">
              <a:solidFill>
                <a:schemeClr val="hlink"/>
              </a:solidFill>
              <a:effectLst>
                <a:outerShdw blurRad="38100" dist="38100" dir="2700000">
                  <a:srgbClr val="000000"/>
                </a:outerShdw>
              </a:effectLst>
              <a:latin typeface="Arial" panose="020B0604020202090204" pitchFamily="34" charset="0"/>
              <a:ea typeface="宋体" pitchFamily="2" charset="-122"/>
              <a:cs typeface="+mn-cs"/>
            </a:endParaRPr>
          </a:p>
        </p:txBody>
      </p:sp>
      <p:sp>
        <p:nvSpPr>
          <p:cNvPr id="32770" name="Text Box 3"/>
          <p:cNvSpPr txBox="1"/>
          <p:nvPr/>
        </p:nvSpPr>
        <p:spPr>
          <a:xfrm>
            <a:off x="1795463" y="3287713"/>
            <a:ext cx="2876550" cy="3073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b=24,ave;</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ave =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6708" name="Line 4"/>
          <p:cNvSpPr>
            <a:spLocks noChangeShapeType="1"/>
          </p:cNvSpPr>
          <p:nvPr/>
        </p:nvSpPr>
        <p:spPr bwMode="auto">
          <a:xfrm flipV="1">
            <a:off x="3600450" y="3514725"/>
            <a:ext cx="1403350" cy="12954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456709" name="Text Box 5"/>
          <p:cNvSpPr txBox="1">
            <a:spLocks noChangeArrowheads="1"/>
          </p:cNvSpPr>
          <p:nvPr/>
        </p:nvSpPr>
        <p:spPr bwMode="auto">
          <a:xfrm>
            <a:off x="4992688" y="3287713"/>
            <a:ext cx="2924175" cy="3094038"/>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Average(</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y)</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return</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56711" name="Text Box 7"/>
          <p:cNvSpPr txBox="1"/>
          <p:nvPr/>
        </p:nvSpPr>
        <p:spPr>
          <a:xfrm>
            <a:off x="4084638" y="3621088"/>
            <a:ext cx="441325"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①</a:t>
            </a:r>
            <a:endParaRPr lang="en-US" altLang="zh-CN" b="1" dirty="0">
              <a:solidFill>
                <a:srgbClr val="008000"/>
              </a:solidFill>
              <a:latin typeface="Arial" panose="020B0604020202090204" pitchFamily="34" charset="0"/>
            </a:endParaRPr>
          </a:p>
        </p:txBody>
      </p:sp>
      <p:sp>
        <p:nvSpPr>
          <p:cNvPr id="456717" name="Line 13"/>
          <p:cNvSpPr>
            <a:spLocks noChangeShapeType="1"/>
          </p:cNvSpPr>
          <p:nvPr/>
        </p:nvSpPr>
        <p:spPr bwMode="auto">
          <a:xfrm flipH="1">
            <a:off x="2135188" y="4092575"/>
            <a:ext cx="0" cy="935038"/>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grpSp>
        <p:nvGrpSpPr>
          <p:cNvPr id="2" name="Group 41"/>
          <p:cNvGrpSpPr/>
          <p:nvPr/>
        </p:nvGrpSpPr>
        <p:grpSpPr>
          <a:xfrm>
            <a:off x="8867775" y="4541838"/>
            <a:ext cx="1981200" cy="1855787"/>
            <a:chOff x="4404" y="2931"/>
            <a:chExt cx="1152" cy="1169"/>
          </a:xfrm>
        </p:grpSpPr>
        <p:grpSp>
          <p:nvGrpSpPr>
            <p:cNvPr id="32776" name="Group 22"/>
            <p:cNvGrpSpPr/>
            <p:nvPr/>
          </p:nvGrpSpPr>
          <p:grpSpPr>
            <a:xfrm>
              <a:off x="4404" y="3363"/>
              <a:ext cx="1152" cy="302"/>
              <a:chOff x="4176" y="2211"/>
              <a:chExt cx="1152" cy="302"/>
            </a:xfrm>
          </p:grpSpPr>
          <p:sp>
            <p:nvSpPr>
              <p:cNvPr id="32777" name="Text Box 23"/>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y</a:t>
                </a:r>
                <a:endParaRPr lang="en-US" altLang="zh-CN" b="1" dirty="0">
                  <a:solidFill>
                    <a:schemeClr val="tx2"/>
                  </a:solidFill>
                  <a:latin typeface="Arial" panose="020B0604020202090204" pitchFamily="34" charset="0"/>
                </a:endParaRPr>
              </a:p>
            </p:txBody>
          </p:sp>
          <p:sp>
            <p:nvSpPr>
              <p:cNvPr id="32778" name="Text Box 24"/>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nvGrpSpPr>
            <p:cNvPr id="32779" name="Group 25"/>
            <p:cNvGrpSpPr/>
            <p:nvPr/>
          </p:nvGrpSpPr>
          <p:grpSpPr>
            <a:xfrm>
              <a:off x="4404" y="2931"/>
              <a:ext cx="1152" cy="302"/>
              <a:chOff x="4176" y="2211"/>
              <a:chExt cx="1152" cy="302"/>
            </a:xfrm>
          </p:grpSpPr>
          <p:sp>
            <p:nvSpPr>
              <p:cNvPr id="32780" name="Text Box 26"/>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x</a:t>
                </a:r>
                <a:endParaRPr lang="en-US" altLang="zh-CN" b="1" dirty="0">
                  <a:solidFill>
                    <a:schemeClr val="tx2"/>
                  </a:solidFill>
                  <a:latin typeface="Arial" panose="020B0604020202090204" pitchFamily="34" charset="0"/>
                </a:endParaRPr>
              </a:p>
            </p:txBody>
          </p:sp>
          <p:sp>
            <p:nvSpPr>
              <p:cNvPr id="456731" name="Text Box 27"/>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rPr>
                  <a:t>?</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32782" name="Text Box 29"/>
            <p:cNvSpPr txBox="1"/>
            <p:nvPr/>
          </p:nvSpPr>
          <p:spPr>
            <a:xfrm>
              <a:off x="4415" y="3798"/>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result</a:t>
              </a:r>
              <a:endParaRPr lang="en-US" altLang="zh-CN" b="1" dirty="0">
                <a:solidFill>
                  <a:schemeClr val="tx2"/>
                </a:solidFill>
                <a:latin typeface="Arial" panose="020B0604020202090204" pitchFamily="34" charset="0"/>
              </a:endParaRPr>
            </a:p>
          </p:txBody>
        </p:sp>
        <p:sp>
          <p:nvSpPr>
            <p:cNvPr id="32783" name="Text Box 30"/>
            <p:cNvSpPr txBox="1"/>
            <p:nvPr/>
          </p:nvSpPr>
          <p:spPr>
            <a:xfrm>
              <a:off x="4980" y="3798"/>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nvGrpSpPr>
          <p:cNvPr id="6" name="Group 31"/>
          <p:cNvGrpSpPr/>
          <p:nvPr/>
        </p:nvGrpSpPr>
        <p:grpSpPr>
          <a:xfrm>
            <a:off x="8867775" y="2492375"/>
            <a:ext cx="1981200" cy="1855788"/>
            <a:chOff x="4176" y="1440"/>
            <a:chExt cx="1152" cy="1169"/>
          </a:xfrm>
        </p:grpSpPr>
        <p:grpSp>
          <p:nvGrpSpPr>
            <p:cNvPr id="32785" name="Group 32"/>
            <p:cNvGrpSpPr/>
            <p:nvPr/>
          </p:nvGrpSpPr>
          <p:grpSpPr>
            <a:xfrm>
              <a:off x="4176" y="1872"/>
              <a:ext cx="1152" cy="302"/>
              <a:chOff x="4176" y="2211"/>
              <a:chExt cx="1152" cy="302"/>
            </a:xfrm>
          </p:grpSpPr>
          <p:sp>
            <p:nvSpPr>
              <p:cNvPr id="32786" name="Text Box 33"/>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b</a:t>
                </a:r>
                <a:endParaRPr lang="en-US" altLang="zh-CN" b="1" dirty="0">
                  <a:solidFill>
                    <a:schemeClr val="tx2"/>
                  </a:solidFill>
                  <a:latin typeface="Arial" panose="020B0604020202090204" pitchFamily="34" charset="0"/>
                </a:endParaRPr>
              </a:p>
            </p:txBody>
          </p:sp>
          <p:sp>
            <p:nvSpPr>
              <p:cNvPr id="32787" name="Text Box 34"/>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grpSp>
        <p:grpSp>
          <p:nvGrpSpPr>
            <p:cNvPr id="32788" name="Group 35"/>
            <p:cNvGrpSpPr/>
            <p:nvPr/>
          </p:nvGrpSpPr>
          <p:grpSpPr>
            <a:xfrm>
              <a:off x="4176" y="1440"/>
              <a:ext cx="1152" cy="302"/>
              <a:chOff x="4176" y="2211"/>
              <a:chExt cx="1152" cy="302"/>
            </a:xfrm>
          </p:grpSpPr>
          <p:sp>
            <p:nvSpPr>
              <p:cNvPr id="32789" name="Text Box 36"/>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a</a:t>
                </a:r>
                <a:endParaRPr lang="en-US" altLang="zh-CN" b="1" dirty="0">
                  <a:solidFill>
                    <a:schemeClr val="tx2"/>
                  </a:solidFill>
                  <a:latin typeface="Arial" panose="020B0604020202090204" pitchFamily="34" charset="0"/>
                </a:endParaRPr>
              </a:p>
            </p:txBody>
          </p:sp>
          <p:sp>
            <p:nvSpPr>
              <p:cNvPr id="456741" name="Text Box 37"/>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rPr>
                  <a:t>12</a:t>
                </a:r>
                <a:endPar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endParaRPr>
              </a:p>
            </p:txBody>
          </p:sp>
        </p:grpSp>
        <p:grpSp>
          <p:nvGrpSpPr>
            <p:cNvPr id="32791" name="Group 38"/>
            <p:cNvGrpSpPr/>
            <p:nvPr/>
          </p:nvGrpSpPr>
          <p:grpSpPr>
            <a:xfrm>
              <a:off x="4320" y="2307"/>
              <a:ext cx="1008" cy="302"/>
              <a:chOff x="4320" y="2307"/>
              <a:chExt cx="1008" cy="302"/>
            </a:xfrm>
          </p:grpSpPr>
          <p:sp>
            <p:nvSpPr>
              <p:cNvPr id="32792" name="Text Box 39"/>
              <p:cNvSpPr txBox="1"/>
              <p:nvPr/>
            </p:nvSpPr>
            <p:spPr>
              <a:xfrm>
                <a:off x="4320" y="2307"/>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ave</a:t>
                </a:r>
                <a:endParaRPr lang="en-US" altLang="zh-CN" b="1" dirty="0">
                  <a:solidFill>
                    <a:schemeClr val="tx2"/>
                  </a:solidFill>
                  <a:latin typeface="Arial" panose="020B0604020202090204" pitchFamily="34" charset="0"/>
                </a:endParaRPr>
              </a:p>
            </p:txBody>
          </p:sp>
          <p:sp>
            <p:nvSpPr>
              <p:cNvPr id="32793" name="Text Box 40"/>
              <p:cNvSpPr txBox="1"/>
              <p:nvPr/>
            </p:nvSpPr>
            <p:spPr>
              <a:xfrm>
                <a:off x="4752" y="2307"/>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sp>
        <p:nvSpPr>
          <p:cNvPr id="456757" name="Text Box 53"/>
          <p:cNvSpPr txBox="1"/>
          <p:nvPr/>
        </p:nvSpPr>
        <p:spPr>
          <a:xfrm>
            <a:off x="9858375" y="4546600"/>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12</a:t>
            </a:r>
            <a:endParaRPr lang="en-US" altLang="zh-CN" sz="2800" b="1" dirty="0">
              <a:latin typeface="Arial" panose="020B0604020202090204" pitchFamily="34" charset="0"/>
            </a:endParaRPr>
          </a:p>
        </p:txBody>
      </p:sp>
      <p:sp>
        <p:nvSpPr>
          <p:cNvPr id="456758" name="Freeform 54"/>
          <p:cNvSpPr/>
          <p:nvPr/>
        </p:nvSpPr>
        <p:spPr>
          <a:xfrm>
            <a:off x="8507413" y="2781300"/>
            <a:ext cx="1081087" cy="1944688"/>
          </a:xfrm>
          <a:custGeom>
            <a:avLst/>
            <a:gdLst/>
            <a:ahLst/>
            <a:cxnLst>
              <a:cxn ang="0">
                <a:pos x="2147483646" y="0"/>
              </a:cxn>
              <a:cxn ang="0">
                <a:pos x="2147483646" y="2147483646"/>
              </a:cxn>
              <a:cxn ang="0">
                <a:pos x="2147483646" y="2147483646"/>
              </a:cxn>
              <a:cxn ang="0">
                <a:pos x="2147483646" y="2147483646"/>
              </a:cxn>
            </a:cxnLst>
            <a:rect l="0" t="0" r="0" b="0"/>
            <a:pathLst>
              <a:path w="628" h="1497">
                <a:moveTo>
                  <a:pt x="537" y="0"/>
                </a:moveTo>
                <a:cubicBezTo>
                  <a:pt x="306" y="34"/>
                  <a:pt x="76" y="68"/>
                  <a:pt x="38" y="272"/>
                </a:cubicBezTo>
                <a:cubicBezTo>
                  <a:pt x="0" y="476"/>
                  <a:pt x="213" y="1021"/>
                  <a:pt x="311" y="1225"/>
                </a:cubicBezTo>
                <a:cubicBezTo>
                  <a:pt x="409" y="1429"/>
                  <a:pt x="575" y="1452"/>
                  <a:pt x="628" y="1497"/>
                </a:cubicBezTo>
              </a:path>
            </a:pathLst>
          </a:custGeom>
          <a:noFill/>
          <a:ln w="28575" cap="flat" cmpd="sng">
            <a:solidFill>
              <a:srgbClr val="FF0000"/>
            </a:solidFill>
            <a:prstDash val="dash"/>
            <a:round/>
            <a:headEnd type="none" w="sm" len="sm"/>
            <a:tailEnd type="triangle" w="med" len="lg"/>
          </a:ln>
        </p:spPr>
        <p:txBody>
          <a:bodyPr/>
          <a:lstStyle/>
          <a:p>
            <a:endParaRPr lang="zh-CN" altLang="en-US"/>
          </a:p>
        </p:txBody>
      </p:sp>
      <p:sp>
        <p:nvSpPr>
          <p:cNvPr id="456759" name="Rectangle 55"/>
          <p:cNvSpPr>
            <a:spLocks noChangeArrowheads="1"/>
          </p:cNvSpPr>
          <p:nvPr/>
        </p:nvSpPr>
        <p:spPr bwMode="auto">
          <a:xfrm>
            <a:off x="2835275" y="4827588"/>
            <a:ext cx="1747838"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56760" name="Freeform 56"/>
          <p:cNvSpPr/>
          <p:nvPr/>
        </p:nvSpPr>
        <p:spPr>
          <a:xfrm>
            <a:off x="8543925" y="3429000"/>
            <a:ext cx="1079500" cy="1944688"/>
          </a:xfrm>
          <a:custGeom>
            <a:avLst/>
            <a:gdLst/>
            <a:ahLst/>
            <a:cxnLst>
              <a:cxn ang="0">
                <a:pos x="2147483646" y="0"/>
              </a:cxn>
              <a:cxn ang="0">
                <a:pos x="2147483646" y="2147483646"/>
              </a:cxn>
              <a:cxn ang="0">
                <a:pos x="2147483646" y="2147483646"/>
              </a:cxn>
              <a:cxn ang="0">
                <a:pos x="2147483646" y="2147483646"/>
              </a:cxn>
            </a:cxnLst>
            <a:rect l="0" t="0" r="0" b="0"/>
            <a:pathLst>
              <a:path w="628" h="1497">
                <a:moveTo>
                  <a:pt x="537" y="0"/>
                </a:moveTo>
                <a:cubicBezTo>
                  <a:pt x="306" y="34"/>
                  <a:pt x="76" y="68"/>
                  <a:pt x="38" y="272"/>
                </a:cubicBezTo>
                <a:cubicBezTo>
                  <a:pt x="0" y="476"/>
                  <a:pt x="213" y="1021"/>
                  <a:pt x="311" y="1225"/>
                </a:cubicBezTo>
                <a:cubicBezTo>
                  <a:pt x="409" y="1429"/>
                  <a:pt x="575" y="1452"/>
                  <a:pt x="628" y="1497"/>
                </a:cubicBezTo>
              </a:path>
            </a:pathLst>
          </a:custGeom>
          <a:noFill/>
          <a:ln w="28575" cap="flat" cmpd="sng">
            <a:solidFill>
              <a:srgbClr val="FF0000"/>
            </a:solidFill>
            <a:prstDash val="dash"/>
            <a:round/>
            <a:headEnd type="none" w="sm" len="sm"/>
            <a:tailEnd type="triangle" w="med" len="lg"/>
          </a:ln>
        </p:spPr>
        <p:txBody>
          <a:bodyPr/>
          <a:lstStyle/>
          <a:p>
            <a:endParaRPr lang="zh-CN" altLang="en-US"/>
          </a:p>
        </p:txBody>
      </p:sp>
      <p:sp>
        <p:nvSpPr>
          <p:cNvPr id="456761" name="Text Box 57"/>
          <p:cNvSpPr txBox="1"/>
          <p:nvPr/>
        </p:nvSpPr>
        <p:spPr>
          <a:xfrm>
            <a:off x="9858375" y="5232400"/>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sp>
        <p:nvSpPr>
          <p:cNvPr id="456765" name="Rectangle 61"/>
          <p:cNvSpPr>
            <a:spLocks noChangeArrowheads="1"/>
          </p:cNvSpPr>
          <p:nvPr/>
        </p:nvSpPr>
        <p:spPr bwMode="auto">
          <a:xfrm>
            <a:off x="5456238" y="3284538"/>
            <a:ext cx="2446338"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2800"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40" name="Rectangle 7"/>
          <p:cNvSpPr>
            <a:spLocks noChangeArrowheads="1"/>
          </p:cNvSpPr>
          <p:nvPr/>
        </p:nvSpPr>
        <p:spPr bwMode="auto">
          <a:xfrm>
            <a:off x="5303838" y="4076700"/>
            <a:ext cx="1368425" cy="427038"/>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6118" name="Freeform 38"/>
          <p:cNvSpPr/>
          <p:nvPr/>
        </p:nvSpPr>
        <p:spPr>
          <a:xfrm>
            <a:off x="4008438" y="3040063"/>
            <a:ext cx="3005137" cy="1920875"/>
          </a:xfrm>
          <a:custGeom>
            <a:avLst/>
            <a:gdLst/>
            <a:ahLst/>
            <a:cxnLst>
              <a:cxn ang="0">
                <a:pos x="0" y="2147483646"/>
              </a:cxn>
              <a:cxn ang="0">
                <a:pos x="2147483646" y="2147483646"/>
              </a:cxn>
              <a:cxn ang="0">
                <a:pos x="2147483646" y="2147483646"/>
              </a:cxn>
              <a:cxn ang="0">
                <a:pos x="2147483646" y="2147483646"/>
              </a:cxn>
            </a:cxnLst>
            <a:rect l="0" t="0" r="0" b="0"/>
            <a:pathLst>
              <a:path w="1678" h="1210">
                <a:moveTo>
                  <a:pt x="0" y="1210"/>
                </a:moveTo>
                <a:cubicBezTo>
                  <a:pt x="22" y="923"/>
                  <a:pt x="45" y="636"/>
                  <a:pt x="272" y="439"/>
                </a:cubicBezTo>
                <a:cubicBezTo>
                  <a:pt x="499" y="242"/>
                  <a:pt x="1127" y="60"/>
                  <a:pt x="1361" y="30"/>
                </a:cubicBezTo>
                <a:cubicBezTo>
                  <a:pt x="1595" y="0"/>
                  <a:pt x="1625" y="219"/>
                  <a:pt x="1678" y="257"/>
                </a:cubicBezTo>
              </a:path>
            </a:pathLst>
          </a:custGeom>
          <a:noFill/>
          <a:ln w="25400" cap="flat" cmpd="sng">
            <a:solidFill>
              <a:srgbClr val="FF0000"/>
            </a:solidFill>
            <a:prstDash val="dash"/>
            <a:round/>
            <a:headEnd type="none" w="med" len="med"/>
            <a:tailEnd type="triangle" w="med" len="med"/>
          </a:ln>
        </p:spPr>
        <p:txBody>
          <a:bodyPr/>
          <a:lstStyle/>
          <a:p>
            <a:endParaRPr lang="zh-CN" altLang="en-US"/>
          </a:p>
        </p:txBody>
      </p:sp>
      <p:sp>
        <p:nvSpPr>
          <p:cNvPr id="46119" name="Freeform 39"/>
          <p:cNvSpPr/>
          <p:nvPr/>
        </p:nvSpPr>
        <p:spPr>
          <a:xfrm>
            <a:off x="4295775" y="3030538"/>
            <a:ext cx="3384550" cy="1920875"/>
          </a:xfrm>
          <a:custGeom>
            <a:avLst/>
            <a:gdLst/>
            <a:ahLst/>
            <a:cxnLst>
              <a:cxn ang="0">
                <a:pos x="0" y="2147483646"/>
              </a:cxn>
              <a:cxn ang="0">
                <a:pos x="2147483646" y="2147483646"/>
              </a:cxn>
              <a:cxn ang="0">
                <a:pos x="2147483646" y="2147483646"/>
              </a:cxn>
              <a:cxn ang="0">
                <a:pos x="2147483646" y="2147483646"/>
              </a:cxn>
            </a:cxnLst>
            <a:rect l="0" t="0" r="0" b="0"/>
            <a:pathLst>
              <a:path w="1678" h="1210">
                <a:moveTo>
                  <a:pt x="0" y="1210"/>
                </a:moveTo>
                <a:cubicBezTo>
                  <a:pt x="22" y="923"/>
                  <a:pt x="45" y="636"/>
                  <a:pt x="272" y="439"/>
                </a:cubicBezTo>
                <a:cubicBezTo>
                  <a:pt x="499" y="242"/>
                  <a:pt x="1127" y="60"/>
                  <a:pt x="1361" y="30"/>
                </a:cubicBezTo>
                <a:cubicBezTo>
                  <a:pt x="1595" y="0"/>
                  <a:pt x="1625" y="219"/>
                  <a:pt x="1678" y="257"/>
                </a:cubicBezTo>
              </a:path>
            </a:pathLst>
          </a:custGeom>
          <a:noFill/>
          <a:ln w="25400" cap="flat" cmpd="sng">
            <a:solidFill>
              <a:srgbClr val="FF0000"/>
            </a:solidFill>
            <a:prstDash val="dash"/>
            <a:round/>
            <a:headEnd type="none" w="med" len="med"/>
            <a:tailEnd type="triangle" w="med" len="med"/>
          </a:ln>
        </p:spPr>
        <p:txBody>
          <a:bodyPr/>
          <a:lstStyle/>
          <a:p>
            <a:endParaRPr lang="zh-CN" altLang="en-US"/>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6717"/>
                                        </p:tgtEl>
                                        <p:attrNameLst>
                                          <p:attrName>style.visibility</p:attrName>
                                        </p:attrNameLst>
                                      </p:cBhvr>
                                      <p:to>
                                        <p:strVal val="visible"/>
                                      </p:to>
                                    </p:set>
                                    <p:animEffect transition="in" filter="wipe(up)">
                                      <p:cBhvr>
                                        <p:cTn id="7" dur="500"/>
                                        <p:tgtEl>
                                          <p:spTgt spid="456717"/>
                                        </p:tgtEl>
                                      </p:cBhvr>
                                    </p:animEffect>
                                  </p:childTnLst>
                                </p:cTn>
                              </p:par>
                              <p:par>
                                <p:cTn id="8" presetID="53"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88" fill="hold" grpId="0" nodeType="clickEffect">
                                  <p:stCondLst>
                                    <p:cond delay="0"/>
                                  </p:stCondLst>
                                  <p:childTnLst>
                                    <p:set>
                                      <p:cBhvr>
                                        <p:cTn id="16" dur="1" fill="hold">
                                          <p:stCondLst>
                                            <p:cond delay="0"/>
                                          </p:stCondLst>
                                        </p:cTn>
                                        <p:tgtEl>
                                          <p:spTgt spid="456759"/>
                                        </p:tgtEl>
                                        <p:attrNameLst>
                                          <p:attrName>style.visibility</p:attrName>
                                        </p:attrNameLst>
                                      </p:cBhvr>
                                      <p:to>
                                        <p:strVal val="visible"/>
                                      </p:to>
                                    </p:set>
                                    <p:anim calcmode="lin" valueType="num">
                                      <p:cBhvr>
                                        <p:cTn id="17" dur="500" fill="hold"/>
                                        <p:tgtEl>
                                          <p:spTgt spid="456759"/>
                                        </p:tgtEl>
                                        <p:attrNameLst>
                                          <p:attrName>ppt_w</p:attrName>
                                        </p:attrNameLst>
                                      </p:cBhvr>
                                      <p:tavLst>
                                        <p:tav tm="0">
                                          <p:val>
                                            <p:strVal val="4/3*#ppt_w"/>
                                          </p:val>
                                        </p:tav>
                                        <p:tav tm="100000">
                                          <p:val>
                                            <p:strVal val="#ppt_w"/>
                                          </p:val>
                                        </p:tav>
                                      </p:tavLst>
                                    </p:anim>
                                    <p:anim calcmode="lin" valueType="num">
                                      <p:cBhvr>
                                        <p:cTn id="18" dur="500" fill="hold"/>
                                        <p:tgtEl>
                                          <p:spTgt spid="456759"/>
                                        </p:tgtEl>
                                        <p:attrNameLst>
                                          <p:attrName>ppt_h</p:attrName>
                                        </p:attrNameLst>
                                      </p:cBhvr>
                                      <p:tavLst>
                                        <p:tav tm="0">
                                          <p:val>
                                            <p:strVal val="4/3*#ppt_h"/>
                                          </p:val>
                                        </p:tav>
                                        <p:tav tm="100000">
                                          <p:val>
                                            <p:strVal val="#ppt_h"/>
                                          </p:val>
                                        </p:tav>
                                      </p:tavLst>
                                    </p:anim>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456711"/>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456708"/>
                                        </p:tgtEl>
                                        <p:attrNameLst>
                                          <p:attrName>style.visibility</p:attrName>
                                        </p:attrNameLst>
                                      </p:cBhvr>
                                      <p:to>
                                        <p:strVal val="visible"/>
                                      </p:to>
                                    </p:set>
                                    <p:animEffect transition="in" filter="wipe(left)">
                                      <p:cBhvr>
                                        <p:cTn id="25" dur="500"/>
                                        <p:tgtEl>
                                          <p:spTgt spid="456708"/>
                                        </p:tgtEl>
                                      </p:cBhvr>
                                    </p:animEffect>
                                  </p:childTnLst>
                                </p:cTn>
                              </p:par>
                            </p:childTnLst>
                          </p:cTn>
                        </p:par>
                        <p:par>
                          <p:cTn id="26" fill="hold">
                            <p:stCondLst>
                              <p:cond delay="1500"/>
                            </p:stCondLst>
                            <p:childTnLst>
                              <p:par>
                                <p:cTn id="27" presetID="23" presetClass="entr" presetSubtype="288" fill="hold" grpId="0" nodeType="afterEffect">
                                  <p:stCondLst>
                                    <p:cond delay="0"/>
                                  </p:stCondLst>
                                  <p:childTnLst>
                                    <p:set>
                                      <p:cBhvr>
                                        <p:cTn id="28" dur="1" fill="hold">
                                          <p:stCondLst>
                                            <p:cond delay="0"/>
                                          </p:stCondLst>
                                        </p:cTn>
                                        <p:tgtEl>
                                          <p:spTgt spid="456765"/>
                                        </p:tgtEl>
                                        <p:attrNameLst>
                                          <p:attrName>style.visibility</p:attrName>
                                        </p:attrNameLst>
                                      </p:cBhvr>
                                      <p:to>
                                        <p:strVal val="visible"/>
                                      </p:to>
                                    </p:set>
                                    <p:anim calcmode="lin" valueType="num">
                                      <p:cBhvr>
                                        <p:cTn id="29" dur="500" fill="hold"/>
                                        <p:tgtEl>
                                          <p:spTgt spid="456765"/>
                                        </p:tgtEl>
                                        <p:attrNameLst>
                                          <p:attrName>ppt_w</p:attrName>
                                        </p:attrNameLst>
                                      </p:cBhvr>
                                      <p:tavLst>
                                        <p:tav tm="0">
                                          <p:val>
                                            <p:strVal val="4/3*#ppt_w"/>
                                          </p:val>
                                        </p:tav>
                                        <p:tav tm="100000">
                                          <p:val>
                                            <p:strVal val="#ppt_w"/>
                                          </p:val>
                                        </p:tav>
                                      </p:tavLst>
                                    </p:anim>
                                    <p:anim calcmode="lin" valueType="num">
                                      <p:cBhvr>
                                        <p:cTn id="30" dur="500" fill="hold"/>
                                        <p:tgtEl>
                                          <p:spTgt spid="456765"/>
                                        </p:tgtEl>
                                        <p:attrNameLst>
                                          <p:attrName>ppt_h</p:attrName>
                                        </p:attrNameLst>
                                      </p:cBhvr>
                                      <p:tavLst>
                                        <p:tav tm="0">
                                          <p:val>
                                            <p:strVal val="4/3*#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96611">
                                            <p:txEl>
                                              <p:pRg st="0" end="0"/>
                                            </p:txEl>
                                          </p:spTgt>
                                        </p:tgtEl>
                                        <p:attrNameLst>
                                          <p:attrName>style.visibility</p:attrName>
                                        </p:attrNameLst>
                                      </p:cBhvr>
                                      <p:to>
                                        <p:strVal val="visible"/>
                                      </p:to>
                                    </p:set>
                                    <p:anim calcmode="lin" valueType="num">
                                      <p:cBhvr>
                                        <p:cTn id="35" dur="500" fill="hold"/>
                                        <p:tgtEl>
                                          <p:spTgt spid="196611">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96611">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966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96611">
                                            <p:txEl>
                                              <p:pRg st="1" end="1"/>
                                            </p:txEl>
                                          </p:spTgt>
                                        </p:tgtEl>
                                        <p:attrNameLst>
                                          <p:attrName>style.visibility</p:attrName>
                                        </p:attrNameLst>
                                      </p:cBhvr>
                                      <p:to>
                                        <p:strVal val="visible"/>
                                      </p:to>
                                    </p:set>
                                    <p:anim calcmode="lin" valueType="num">
                                      <p:cBhvr>
                                        <p:cTn id="42" dur="500" fill="hold"/>
                                        <p:tgtEl>
                                          <p:spTgt spid="196611">
                                            <p:txEl>
                                              <p:pRg st="1" end="1"/>
                                            </p:txEl>
                                          </p:spTgt>
                                        </p:tgtEl>
                                        <p:attrNameLst>
                                          <p:attrName>ppt_w</p:attrName>
                                        </p:attrNameLst>
                                      </p:cBhvr>
                                      <p:tavLst>
                                        <p:tav tm="0">
                                          <p:val>
                                            <p:fltVal val="0"/>
                                          </p:val>
                                        </p:tav>
                                        <p:tav tm="100000">
                                          <p:val>
                                            <p:strVal val="#ppt_w"/>
                                          </p:val>
                                        </p:tav>
                                      </p:tavLst>
                                    </p:anim>
                                    <p:anim calcmode="lin" valueType="num">
                                      <p:cBhvr>
                                        <p:cTn id="43" dur="500" fill="hold"/>
                                        <p:tgtEl>
                                          <p:spTgt spid="196611">
                                            <p:txEl>
                                              <p:pRg st="1" end="1"/>
                                            </p:txEl>
                                          </p:spTgt>
                                        </p:tgtEl>
                                        <p:attrNameLst>
                                          <p:attrName>ppt_h</p:attrName>
                                        </p:attrNameLst>
                                      </p:cBhvr>
                                      <p:tavLst>
                                        <p:tav tm="0">
                                          <p:val>
                                            <p:fltVal val="0"/>
                                          </p:val>
                                        </p:tav>
                                        <p:tav tm="100000">
                                          <p:val>
                                            <p:strVal val="#ppt_h"/>
                                          </p:val>
                                        </p:tav>
                                      </p:tavLst>
                                    </p:anim>
                                    <p:animEffect transition="in" filter="fade">
                                      <p:cBhvr>
                                        <p:cTn id="44" dur="500"/>
                                        <p:tgtEl>
                                          <p:spTgt spid="196611">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1" nodeType="clickEffect">
                                  <p:stCondLst>
                                    <p:cond delay="0"/>
                                  </p:stCondLst>
                                  <p:childTnLst>
                                    <p:set>
                                      <p:cBhvr>
                                        <p:cTn id="48" dur="1" fill="hold">
                                          <p:stCondLst>
                                            <p:cond delay="0"/>
                                          </p:stCondLst>
                                        </p:cTn>
                                        <p:tgtEl>
                                          <p:spTgt spid="40"/>
                                        </p:tgtEl>
                                        <p:attrNameLst>
                                          <p:attrName>style.visibility</p:attrName>
                                        </p:attrNameLst>
                                      </p:cBhvr>
                                      <p:to>
                                        <p:strVal val="visible"/>
                                      </p:to>
                                    </p:set>
                                    <p:anim calcmode="lin" valueType="num">
                                      <p:cBhvr>
                                        <p:cTn id="49" dur="500" fill="hold"/>
                                        <p:tgtEl>
                                          <p:spTgt spid="40"/>
                                        </p:tgtEl>
                                        <p:attrNameLst>
                                          <p:attrName>ppt_w</p:attrName>
                                        </p:attrNameLst>
                                      </p:cBhvr>
                                      <p:tavLst>
                                        <p:tav tm="0">
                                          <p:val>
                                            <p:fltVal val="0"/>
                                          </p:val>
                                        </p:tav>
                                        <p:tav tm="100000">
                                          <p:val>
                                            <p:strVal val="#ppt_w"/>
                                          </p:val>
                                        </p:tav>
                                      </p:tavLst>
                                    </p:anim>
                                    <p:anim calcmode="lin" valueType="num">
                                      <p:cBhvr>
                                        <p:cTn id="50" dur="500" fill="hold"/>
                                        <p:tgtEl>
                                          <p:spTgt spid="4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p:cTn id="55" dur="500" fill="hold"/>
                                        <p:tgtEl>
                                          <p:spTgt spid="2"/>
                                        </p:tgtEl>
                                        <p:attrNameLst>
                                          <p:attrName>ppt_w</p:attrName>
                                        </p:attrNameLst>
                                      </p:cBhvr>
                                      <p:tavLst>
                                        <p:tav tm="0">
                                          <p:val>
                                            <p:fltVal val="0"/>
                                          </p:val>
                                        </p:tav>
                                        <p:tav tm="100000">
                                          <p:val>
                                            <p:strVal val="#ppt_w"/>
                                          </p:val>
                                        </p:tav>
                                      </p:tavLst>
                                    </p:anim>
                                    <p:anim calcmode="lin" valueType="num">
                                      <p:cBhvr>
                                        <p:cTn id="56" dur="500" fill="hold"/>
                                        <p:tgtEl>
                                          <p:spTgt spid="2"/>
                                        </p:tgtEl>
                                        <p:attrNameLst>
                                          <p:attrName>ppt_h</p:attrName>
                                        </p:attrNameLst>
                                      </p:cBhvr>
                                      <p:tavLst>
                                        <p:tav tm="0">
                                          <p:val>
                                            <p:fltVal val="0"/>
                                          </p:val>
                                        </p:tav>
                                        <p:tav tm="100000">
                                          <p:val>
                                            <p:strVal val="#ppt_h"/>
                                          </p:val>
                                        </p:tav>
                                      </p:tavLst>
                                    </p:anim>
                                    <p:animEffect transition="in" filter="fade">
                                      <p:cBhvr>
                                        <p:cTn id="57" dur="500"/>
                                        <p:tgtEl>
                                          <p:spTgt spid="2"/>
                                        </p:tgtEl>
                                      </p:cBhvr>
                                    </p:animEffect>
                                  </p:childTnLst>
                                </p:cTn>
                              </p:par>
                              <p:par>
                                <p:cTn id="58" presetID="10" presetClass="exit" presetSubtype="0" fill="hold" grpId="0" nodeType="withEffect">
                                  <p:stCondLst>
                                    <p:cond delay="0"/>
                                  </p:stCondLst>
                                  <p:childTnLst>
                                    <p:animEffect transition="out" filter="fade">
                                      <p:cBhvr>
                                        <p:cTn id="59" dur="500"/>
                                        <p:tgtEl>
                                          <p:spTgt spid="40"/>
                                        </p:tgtEl>
                                      </p:cBhvr>
                                    </p:animEffect>
                                    <p:set>
                                      <p:cBhvr>
                                        <p:cTn id="60" dur="1" fill="hold">
                                          <p:stCondLst>
                                            <p:cond delay="499"/>
                                          </p:stCondLst>
                                        </p:cTn>
                                        <p:tgtEl>
                                          <p:spTgt spid="4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196611">
                                            <p:txEl>
                                              <p:pRg st="2" end="2"/>
                                            </p:txEl>
                                          </p:spTgt>
                                        </p:tgtEl>
                                        <p:attrNameLst>
                                          <p:attrName>style.visibility</p:attrName>
                                        </p:attrNameLst>
                                      </p:cBhvr>
                                      <p:to>
                                        <p:strVal val="visible"/>
                                      </p:to>
                                    </p:set>
                                    <p:anim calcmode="lin" valueType="num">
                                      <p:cBhvr>
                                        <p:cTn id="65" dur="500" fill="hold"/>
                                        <p:tgtEl>
                                          <p:spTgt spid="196611">
                                            <p:txEl>
                                              <p:pRg st="2" end="2"/>
                                            </p:txEl>
                                          </p:spTgt>
                                        </p:tgtEl>
                                        <p:attrNameLst>
                                          <p:attrName>ppt_w</p:attrName>
                                        </p:attrNameLst>
                                      </p:cBhvr>
                                      <p:tavLst>
                                        <p:tav tm="0">
                                          <p:val>
                                            <p:fltVal val="0"/>
                                          </p:val>
                                        </p:tav>
                                        <p:tav tm="100000">
                                          <p:val>
                                            <p:strVal val="#ppt_w"/>
                                          </p:val>
                                        </p:tav>
                                      </p:tavLst>
                                    </p:anim>
                                    <p:anim calcmode="lin" valueType="num">
                                      <p:cBhvr>
                                        <p:cTn id="66" dur="500" fill="hold"/>
                                        <p:tgtEl>
                                          <p:spTgt spid="196611">
                                            <p:txEl>
                                              <p:pRg st="2" end="2"/>
                                            </p:txEl>
                                          </p:spTgt>
                                        </p:tgtEl>
                                        <p:attrNameLst>
                                          <p:attrName>ppt_h</p:attrName>
                                        </p:attrNameLst>
                                      </p:cBhvr>
                                      <p:tavLst>
                                        <p:tav tm="0">
                                          <p:val>
                                            <p:fltVal val="0"/>
                                          </p:val>
                                        </p:tav>
                                        <p:tav tm="100000">
                                          <p:val>
                                            <p:strVal val="#ppt_h"/>
                                          </p:val>
                                        </p:tav>
                                      </p:tavLst>
                                    </p:anim>
                                    <p:animEffect transition="in" filter="fade">
                                      <p:cBhvr>
                                        <p:cTn id="67" dur="500"/>
                                        <p:tgtEl>
                                          <p:spTgt spid="196611">
                                            <p:txEl>
                                              <p:pRg st="2" end="2"/>
                                            </p:txEl>
                                          </p:spTgt>
                                        </p:tgtEl>
                                      </p:cBhvr>
                                    </p:animEffect>
                                  </p:childTnLst>
                                </p:cTn>
                              </p:par>
                              <p:par>
                                <p:cTn id="68" presetID="1" presetClass="exit" presetSubtype="0" fill="hold" nodeType="withEffect">
                                  <p:stCondLst>
                                    <p:cond delay="0"/>
                                  </p:stCondLst>
                                  <p:childTnLst>
                                    <p:set>
                                      <p:cBhvr>
                                        <p:cTn id="69" dur="1" fill="hold">
                                          <p:stCondLst>
                                            <p:cond delay="0"/>
                                          </p:stCondLst>
                                        </p:cTn>
                                        <p:tgtEl>
                                          <p:spTgt spid="456717"/>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456759"/>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456708"/>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456765"/>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46118"/>
                                        </p:tgtEl>
                                        <p:attrNameLst>
                                          <p:attrName>style.visibility</p:attrName>
                                        </p:attrNameLst>
                                      </p:cBhvr>
                                      <p:to>
                                        <p:strVal val="visible"/>
                                      </p:to>
                                    </p:set>
                                    <p:animEffect transition="in" filter="wipe(down)">
                                      <p:cBhvr>
                                        <p:cTn id="80" dur="500"/>
                                        <p:tgtEl>
                                          <p:spTgt spid="4611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456758"/>
                                        </p:tgtEl>
                                        <p:attrNameLst>
                                          <p:attrName>style.visibility</p:attrName>
                                        </p:attrNameLst>
                                      </p:cBhvr>
                                      <p:to>
                                        <p:strVal val="visible"/>
                                      </p:to>
                                    </p:set>
                                    <p:animEffect transition="in" filter="wipe(up)">
                                      <p:cBhvr>
                                        <p:cTn id="85" dur="500"/>
                                        <p:tgtEl>
                                          <p:spTgt spid="456758"/>
                                        </p:tgtEl>
                                      </p:cBhvr>
                                    </p:animEffect>
                                  </p:childTnLst>
                                </p:cTn>
                              </p:par>
                            </p:childTnLst>
                          </p:cTn>
                        </p:par>
                        <p:par>
                          <p:cTn id="86" fill="hold">
                            <p:stCondLst>
                              <p:cond delay="500"/>
                            </p:stCondLst>
                            <p:childTnLst>
                              <p:par>
                                <p:cTn id="87" presetID="53" presetClass="entr" presetSubtype="16" fill="hold" grpId="0" nodeType="afterEffect">
                                  <p:stCondLst>
                                    <p:cond delay="0"/>
                                  </p:stCondLst>
                                  <p:childTnLst>
                                    <p:set>
                                      <p:cBhvr>
                                        <p:cTn id="88" dur="1" fill="hold">
                                          <p:stCondLst>
                                            <p:cond delay="0"/>
                                          </p:stCondLst>
                                        </p:cTn>
                                        <p:tgtEl>
                                          <p:spTgt spid="456757"/>
                                        </p:tgtEl>
                                        <p:attrNameLst>
                                          <p:attrName>style.visibility</p:attrName>
                                        </p:attrNameLst>
                                      </p:cBhvr>
                                      <p:to>
                                        <p:strVal val="visible"/>
                                      </p:to>
                                    </p:set>
                                    <p:anim calcmode="lin" valueType="num">
                                      <p:cBhvr>
                                        <p:cTn id="89" dur="500" fill="hold"/>
                                        <p:tgtEl>
                                          <p:spTgt spid="456757"/>
                                        </p:tgtEl>
                                        <p:attrNameLst>
                                          <p:attrName>ppt_w</p:attrName>
                                        </p:attrNameLst>
                                      </p:cBhvr>
                                      <p:tavLst>
                                        <p:tav tm="0">
                                          <p:val>
                                            <p:fltVal val="0"/>
                                          </p:val>
                                        </p:tav>
                                        <p:tav tm="100000">
                                          <p:val>
                                            <p:strVal val="#ppt_w"/>
                                          </p:val>
                                        </p:tav>
                                      </p:tavLst>
                                    </p:anim>
                                    <p:anim calcmode="lin" valueType="num">
                                      <p:cBhvr>
                                        <p:cTn id="90" dur="500" fill="hold"/>
                                        <p:tgtEl>
                                          <p:spTgt spid="456757"/>
                                        </p:tgtEl>
                                        <p:attrNameLst>
                                          <p:attrName>ppt_h</p:attrName>
                                        </p:attrNameLst>
                                      </p:cBhvr>
                                      <p:tavLst>
                                        <p:tav tm="0">
                                          <p:val>
                                            <p:fltVal val="0"/>
                                          </p:val>
                                        </p:tav>
                                        <p:tav tm="100000">
                                          <p:val>
                                            <p:strVal val="#ppt_h"/>
                                          </p:val>
                                        </p:tav>
                                      </p:tavLst>
                                    </p:anim>
                                    <p:animEffect transition="in" filter="fade">
                                      <p:cBhvr>
                                        <p:cTn id="91" dur="500"/>
                                        <p:tgtEl>
                                          <p:spTgt spid="45675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46119"/>
                                        </p:tgtEl>
                                        <p:attrNameLst>
                                          <p:attrName>style.visibility</p:attrName>
                                        </p:attrNameLst>
                                      </p:cBhvr>
                                      <p:to>
                                        <p:strVal val="visible"/>
                                      </p:to>
                                    </p:set>
                                    <p:animEffect transition="in" filter="wipe(down)">
                                      <p:cBhvr>
                                        <p:cTn id="96" dur="500"/>
                                        <p:tgtEl>
                                          <p:spTgt spid="46119"/>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456758"/>
                                        </p:tgtEl>
                                        <p:attrNameLst>
                                          <p:attrName>style.visibility</p:attrName>
                                        </p:attrNameLst>
                                      </p:cBhvr>
                                      <p:to>
                                        <p:strVal val="hidden"/>
                                      </p:to>
                                    </p:set>
                                  </p:childTnLst>
                                </p:cTn>
                              </p:par>
                              <p:par>
                                <p:cTn id="101" presetID="22" presetClass="entr" presetSubtype="1" fill="hold" nodeType="withEffect">
                                  <p:stCondLst>
                                    <p:cond delay="0"/>
                                  </p:stCondLst>
                                  <p:childTnLst>
                                    <p:set>
                                      <p:cBhvr>
                                        <p:cTn id="102" dur="1" fill="hold">
                                          <p:stCondLst>
                                            <p:cond delay="0"/>
                                          </p:stCondLst>
                                        </p:cTn>
                                        <p:tgtEl>
                                          <p:spTgt spid="456760"/>
                                        </p:tgtEl>
                                        <p:attrNameLst>
                                          <p:attrName>style.visibility</p:attrName>
                                        </p:attrNameLst>
                                      </p:cBhvr>
                                      <p:to>
                                        <p:strVal val="visible"/>
                                      </p:to>
                                    </p:set>
                                    <p:animEffect transition="in" filter="wipe(up)">
                                      <p:cBhvr>
                                        <p:cTn id="103" dur="500"/>
                                        <p:tgtEl>
                                          <p:spTgt spid="456760"/>
                                        </p:tgtEl>
                                      </p:cBhvr>
                                    </p:animEffect>
                                  </p:childTnLst>
                                </p:cTn>
                              </p:par>
                            </p:childTnLst>
                          </p:cTn>
                        </p:par>
                        <p:par>
                          <p:cTn id="104" fill="hold">
                            <p:stCondLst>
                              <p:cond delay="0"/>
                            </p:stCondLst>
                            <p:childTnLst>
                              <p:par>
                                <p:cTn id="105" presetID="53" presetClass="entr" presetSubtype="16" fill="hold" grpId="0" nodeType="afterEffect">
                                  <p:stCondLst>
                                    <p:cond delay="0"/>
                                  </p:stCondLst>
                                  <p:childTnLst>
                                    <p:set>
                                      <p:cBhvr>
                                        <p:cTn id="106" dur="1" fill="hold">
                                          <p:stCondLst>
                                            <p:cond delay="0"/>
                                          </p:stCondLst>
                                        </p:cTn>
                                        <p:tgtEl>
                                          <p:spTgt spid="456761"/>
                                        </p:tgtEl>
                                        <p:attrNameLst>
                                          <p:attrName>style.visibility</p:attrName>
                                        </p:attrNameLst>
                                      </p:cBhvr>
                                      <p:to>
                                        <p:strVal val="visible"/>
                                      </p:to>
                                    </p:set>
                                    <p:anim calcmode="lin" valueType="num">
                                      <p:cBhvr>
                                        <p:cTn id="107" dur="500" fill="hold"/>
                                        <p:tgtEl>
                                          <p:spTgt spid="456761"/>
                                        </p:tgtEl>
                                        <p:attrNameLst>
                                          <p:attrName>ppt_w</p:attrName>
                                        </p:attrNameLst>
                                      </p:cBhvr>
                                      <p:tavLst>
                                        <p:tav tm="0">
                                          <p:val>
                                            <p:fltVal val="0"/>
                                          </p:val>
                                        </p:tav>
                                        <p:tav tm="100000">
                                          <p:val>
                                            <p:strVal val="#ppt_w"/>
                                          </p:val>
                                        </p:tav>
                                      </p:tavLst>
                                    </p:anim>
                                    <p:anim calcmode="lin" valueType="num">
                                      <p:cBhvr>
                                        <p:cTn id="108" dur="500" fill="hold"/>
                                        <p:tgtEl>
                                          <p:spTgt spid="456761"/>
                                        </p:tgtEl>
                                        <p:attrNameLst>
                                          <p:attrName>ppt_h</p:attrName>
                                        </p:attrNameLst>
                                      </p:cBhvr>
                                      <p:tavLst>
                                        <p:tav tm="0">
                                          <p:val>
                                            <p:fltVal val="0"/>
                                          </p:val>
                                        </p:tav>
                                        <p:tav tm="100000">
                                          <p:val>
                                            <p:strVal val="#ppt_h"/>
                                          </p:val>
                                        </p:tav>
                                      </p:tavLst>
                                    </p:anim>
                                    <p:animEffect transition="in" filter="fade">
                                      <p:cBhvr>
                                        <p:cTn id="109" dur="500"/>
                                        <p:tgtEl>
                                          <p:spTgt spid="456761"/>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nodeType="clickEffect">
                                  <p:stCondLst>
                                    <p:cond delay="0"/>
                                  </p:stCondLst>
                                  <p:childTnLst>
                                    <p:set>
                                      <p:cBhvr>
                                        <p:cTn id="113" dur="1" fill="hold">
                                          <p:stCondLst>
                                            <p:cond delay="0"/>
                                          </p:stCondLst>
                                        </p:cTn>
                                        <p:tgtEl>
                                          <p:spTgt spid="196611">
                                            <p:txEl>
                                              <p:pRg st="3" end="3"/>
                                            </p:txEl>
                                          </p:spTgt>
                                        </p:tgtEl>
                                        <p:attrNameLst>
                                          <p:attrName>style.visibility</p:attrName>
                                        </p:attrNameLst>
                                      </p:cBhvr>
                                      <p:to>
                                        <p:strVal val="visible"/>
                                      </p:to>
                                    </p:set>
                                    <p:anim calcmode="lin" valueType="num">
                                      <p:cBhvr>
                                        <p:cTn id="114" dur="500" fill="hold"/>
                                        <p:tgtEl>
                                          <p:spTgt spid="196611">
                                            <p:txEl>
                                              <p:pRg st="3" end="3"/>
                                            </p:txEl>
                                          </p:spTgt>
                                        </p:tgtEl>
                                        <p:attrNameLst>
                                          <p:attrName>ppt_w</p:attrName>
                                        </p:attrNameLst>
                                      </p:cBhvr>
                                      <p:tavLst>
                                        <p:tav tm="0">
                                          <p:val>
                                            <p:fltVal val="0"/>
                                          </p:val>
                                        </p:tav>
                                        <p:tav tm="100000">
                                          <p:val>
                                            <p:strVal val="#ppt_w"/>
                                          </p:val>
                                        </p:tav>
                                      </p:tavLst>
                                    </p:anim>
                                    <p:anim calcmode="lin" valueType="num">
                                      <p:cBhvr>
                                        <p:cTn id="115" dur="500" fill="hold"/>
                                        <p:tgtEl>
                                          <p:spTgt spid="196611">
                                            <p:txEl>
                                              <p:pRg st="3" end="3"/>
                                            </p:txEl>
                                          </p:spTgt>
                                        </p:tgtEl>
                                        <p:attrNameLst>
                                          <p:attrName>ppt_h</p:attrName>
                                        </p:attrNameLst>
                                      </p:cBhvr>
                                      <p:tavLst>
                                        <p:tav tm="0">
                                          <p:val>
                                            <p:fltVal val="0"/>
                                          </p:val>
                                        </p:tav>
                                        <p:tav tm="100000">
                                          <p:val>
                                            <p:strVal val="#ppt_h"/>
                                          </p:val>
                                        </p:tav>
                                      </p:tavLst>
                                    </p:anim>
                                    <p:animEffect transition="in" filter="fade">
                                      <p:cBhvr>
                                        <p:cTn id="116" dur="500"/>
                                        <p:tgtEl>
                                          <p:spTgt spid="196611">
                                            <p:txEl>
                                              <p:pRg st="3" end="3"/>
                                            </p:txEl>
                                          </p:spTgt>
                                        </p:tgtEl>
                                      </p:cBhvr>
                                    </p:animEffect>
                                  </p:childTnLst>
                                </p:cTn>
                              </p:par>
                              <p:par>
                                <p:cTn id="117" presetID="1" presetClass="exit" presetSubtype="0" fill="hold" nodeType="withEffect">
                                  <p:stCondLst>
                                    <p:cond delay="0"/>
                                  </p:stCondLst>
                                  <p:childTnLst>
                                    <p:set>
                                      <p:cBhvr>
                                        <p:cTn id="118" dur="1" fill="hold">
                                          <p:stCondLst>
                                            <p:cond delay="0"/>
                                          </p:stCondLst>
                                        </p:cTn>
                                        <p:tgtEl>
                                          <p:spTgt spid="4567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11" grpId="0"/>
      <p:bldP spid="456757" grpId="0" animBg="1"/>
      <p:bldP spid="456759" grpId="0" animBg="1"/>
      <p:bldP spid="456759" grpId="1" animBg="1"/>
      <p:bldP spid="456761" grpId="0" animBg="1"/>
      <p:bldP spid="456765" grpId="0" animBg="1"/>
      <p:bldP spid="456765" grpId="1" animBg="1"/>
      <p:bldP spid="40" grpId="0" animBg="1"/>
      <p:bldP spid="40"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1" name="Rectangle 3"/>
          <p:cNvSpPr>
            <a:spLocks noChangeArrowheads="1"/>
          </p:cNvSpPr>
          <p:nvPr/>
        </p:nvSpPr>
        <p:spPr bwMode="auto">
          <a:xfrm>
            <a:off x="1271588" y="1341438"/>
            <a:ext cx="9321800" cy="1727200"/>
          </a:xfrm>
          <a:prstGeom prst="rect">
            <a:avLst/>
          </a:prstGeom>
          <a:noFill/>
          <a:ln w="9525">
            <a:noFill/>
            <a:miter lim="800000"/>
          </a:ln>
          <a:effectLst/>
        </p:spPr>
        <p:txBody>
          <a:bodyPr lIns="92075" tIns="46037" rIns="92075" bIns="46037"/>
          <a:lstStyle>
            <a:lvl1pPr marL="457200" indent="-457200">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457200" marR="0" lvl="0" indent="-457200" algn="l" defTabSz="914400" rtl="0" eaLnBrk="0" fontAlgn="base" latinLnBrk="0" hangingPunct="0">
              <a:lnSpc>
                <a:spcPct val="105000"/>
              </a:lnSpc>
              <a:spcBef>
                <a:spcPct val="0"/>
              </a:spcBef>
              <a:spcAft>
                <a:spcPts val="59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执行函数内的语句</a:t>
            </a:r>
            <a:endParaRPr kumimoji="0" lang="zh-CN" altLang="en-US"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endParaRPr>
          </a:p>
          <a:p>
            <a:pPr marL="457200" marR="0" lvl="0" indent="-457200" algn="l" defTabSz="914400" rtl="0" eaLnBrk="0" fontAlgn="base" latinLnBrk="0" hangingPunct="0">
              <a:lnSpc>
                <a:spcPct val="105000"/>
              </a:lnSpc>
              <a:spcBef>
                <a:spcPct val="0"/>
              </a:spcBef>
              <a:spcAft>
                <a:spcPts val="590"/>
              </a:spcAft>
              <a:buClr>
                <a:schemeClr val="tx1"/>
              </a:buClr>
              <a:buSzPct val="80000"/>
              <a:buFont typeface="Wingdings" panose="05000000000000000000" pitchFamily="2" charset="2"/>
              <a:buChar char="n"/>
              <a:defRPr/>
            </a:pPr>
            <a:r>
              <a:rPr kumimoji="0" lang="zh-CN" altLang="en-US"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当执行到</a:t>
            </a:r>
            <a:r>
              <a:rPr kumimoji="0" lang="en-US" altLang="zh-CN"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return</a:t>
            </a:r>
            <a:r>
              <a:rPr kumimoji="0" lang="zh-CN" altLang="en-US"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语句或</a:t>
            </a:r>
            <a:r>
              <a:rPr kumimoji="0" lang="en-US" altLang="zh-CN"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a:t>
            </a:r>
            <a:r>
              <a:rPr kumimoji="0" lang="zh-CN" altLang="en-US"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rPr>
              <a:t>时，从函数退出</a:t>
            </a:r>
            <a:endParaRPr kumimoji="0" lang="en-US" altLang="zh-CN" sz="2400" b="0" i="0" u="none" strike="noStrike" kern="1200" cap="none" spc="0" normalizeH="0" baseline="0" noProof="0">
              <a:ln>
                <a:noFill/>
              </a:ln>
              <a:solidFill>
                <a:schemeClr val="tx1"/>
              </a:solidFill>
              <a:effectLst/>
              <a:uLnTx/>
              <a:uFillTx/>
              <a:latin typeface="Arial" panose="020B0604020202090204" pitchFamily="34" charset="0"/>
              <a:ea typeface="黑体" panose="02010609060101010101" pitchFamily="49" charset="-122"/>
              <a:cs typeface="+mn-cs"/>
            </a:endParaRPr>
          </a:p>
          <a:p>
            <a:pPr marL="457200" marR="0" lvl="0" indent="-457200" algn="l" defTabSz="914400" rtl="0" eaLnBrk="0" fontAlgn="base" latinLnBrk="0" hangingPunct="0">
              <a:lnSpc>
                <a:spcPct val="105000"/>
              </a:lnSpc>
              <a:spcBef>
                <a:spcPct val="20000"/>
              </a:spcBef>
              <a:spcAft>
                <a:spcPts val="590"/>
              </a:spcAft>
              <a:buClr>
                <a:srgbClr val="FFCC66"/>
              </a:buClr>
              <a:buSzPct val="80000"/>
              <a:buFont typeface="Monotype Sorts"/>
              <a:buChar char=""/>
              <a:defRPr/>
            </a:pPr>
            <a:endParaRPr kumimoji="0" lang="zh-CN" altLang="en-US" sz="2400" b="1" i="0" u="none" strike="noStrike" kern="1200" cap="none" spc="0" normalizeH="0" baseline="0" noProof="0">
              <a:ln>
                <a:noFill/>
              </a:ln>
              <a:solidFill>
                <a:schemeClr val="hlink"/>
              </a:solidFill>
              <a:effectLst>
                <a:outerShdw blurRad="38100" dist="38100" dir="2700000" algn="tl">
                  <a:srgbClr val="C0C0C0"/>
                </a:outerShdw>
              </a:effectLst>
              <a:uLnTx/>
              <a:uFillTx/>
              <a:latin typeface="宋体" pitchFamily="2" charset="-122"/>
              <a:ea typeface="黑体" panose="02010609060101010101" pitchFamily="49" charset="-122"/>
              <a:cs typeface="+mn-cs"/>
            </a:endParaRPr>
          </a:p>
        </p:txBody>
      </p:sp>
      <p:sp>
        <p:nvSpPr>
          <p:cNvPr id="34818" name="Text Box 3"/>
          <p:cNvSpPr txBox="1"/>
          <p:nvPr/>
        </p:nvSpPr>
        <p:spPr>
          <a:xfrm>
            <a:off x="1795463" y="3284538"/>
            <a:ext cx="2876550" cy="3073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b=24,ave;</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ave =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7733" name="Text Box 5"/>
          <p:cNvSpPr txBox="1">
            <a:spLocks noChangeArrowheads="1"/>
          </p:cNvSpPr>
          <p:nvPr/>
        </p:nvSpPr>
        <p:spPr bwMode="auto">
          <a:xfrm>
            <a:off x="4992688" y="3284538"/>
            <a:ext cx="2924175" cy="3094038"/>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Average(</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y)</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return</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57734" name="Line 6"/>
          <p:cNvSpPr/>
          <p:nvPr/>
        </p:nvSpPr>
        <p:spPr>
          <a:xfrm>
            <a:off x="5375275" y="4508500"/>
            <a:ext cx="0" cy="576263"/>
          </a:xfrm>
          <a:prstGeom prst="line">
            <a:avLst/>
          </a:prstGeom>
          <a:ln w="57150" cap="flat" cmpd="sng">
            <a:solidFill>
              <a:srgbClr val="000080"/>
            </a:solidFill>
            <a:prstDash val="solid"/>
            <a:round/>
            <a:headEnd type="none" w="med" len="med"/>
            <a:tailEnd type="triangle" w="med" len="med"/>
          </a:ln>
        </p:spPr>
      </p:sp>
      <p:sp>
        <p:nvSpPr>
          <p:cNvPr id="457738" name="Rectangle 10"/>
          <p:cNvSpPr/>
          <p:nvPr/>
        </p:nvSpPr>
        <p:spPr>
          <a:xfrm>
            <a:off x="4926013" y="4481513"/>
            <a:ext cx="442912"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zh-CN" b="1" dirty="0">
                <a:solidFill>
                  <a:srgbClr val="008000"/>
                </a:solidFill>
                <a:latin typeface="Arial" panose="020B0604020202090204" pitchFamily="34" charset="0"/>
                <a:ea typeface="宋体" pitchFamily="2" charset="-122"/>
              </a:rPr>
              <a:t>②</a:t>
            </a:r>
            <a:endParaRPr lang="en-US" altLang="zh-CN" b="1" dirty="0">
              <a:solidFill>
                <a:srgbClr val="008000"/>
              </a:solidFill>
              <a:latin typeface="Arial" panose="020B0604020202090204" pitchFamily="34" charset="0"/>
            </a:endParaRPr>
          </a:p>
        </p:txBody>
      </p:sp>
      <p:grpSp>
        <p:nvGrpSpPr>
          <p:cNvPr id="34822" name="Group 14"/>
          <p:cNvGrpSpPr/>
          <p:nvPr/>
        </p:nvGrpSpPr>
        <p:grpSpPr>
          <a:xfrm>
            <a:off x="8861425" y="4541838"/>
            <a:ext cx="1981200" cy="1855787"/>
            <a:chOff x="4404" y="2931"/>
            <a:chExt cx="1152" cy="1169"/>
          </a:xfrm>
        </p:grpSpPr>
        <p:grpSp>
          <p:nvGrpSpPr>
            <p:cNvPr id="34823" name="Group 15"/>
            <p:cNvGrpSpPr/>
            <p:nvPr/>
          </p:nvGrpSpPr>
          <p:grpSpPr>
            <a:xfrm>
              <a:off x="4404" y="3363"/>
              <a:ext cx="1152" cy="302"/>
              <a:chOff x="4176" y="2211"/>
              <a:chExt cx="1152" cy="302"/>
            </a:xfrm>
          </p:grpSpPr>
          <p:sp>
            <p:nvSpPr>
              <p:cNvPr id="34824" name="Text Box 16"/>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y</a:t>
                </a:r>
                <a:endParaRPr lang="en-US" altLang="zh-CN" b="1" dirty="0">
                  <a:solidFill>
                    <a:schemeClr val="tx2"/>
                  </a:solidFill>
                  <a:latin typeface="Arial" panose="020B0604020202090204" pitchFamily="34" charset="0"/>
                </a:endParaRPr>
              </a:p>
            </p:txBody>
          </p:sp>
          <p:sp>
            <p:nvSpPr>
              <p:cNvPr id="34825" name="Text Box 17"/>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nvGrpSpPr>
            <p:cNvPr id="34826" name="Group 18"/>
            <p:cNvGrpSpPr/>
            <p:nvPr/>
          </p:nvGrpSpPr>
          <p:grpSpPr>
            <a:xfrm>
              <a:off x="4404" y="2931"/>
              <a:ext cx="1152" cy="302"/>
              <a:chOff x="4176" y="2211"/>
              <a:chExt cx="1152" cy="302"/>
            </a:xfrm>
          </p:grpSpPr>
          <p:sp>
            <p:nvSpPr>
              <p:cNvPr id="34827" name="Text Box 19"/>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x</a:t>
                </a:r>
                <a:endParaRPr lang="en-US" altLang="zh-CN" b="1" dirty="0">
                  <a:solidFill>
                    <a:schemeClr val="tx2"/>
                  </a:solidFill>
                  <a:latin typeface="Arial" panose="020B0604020202090204" pitchFamily="34" charset="0"/>
                </a:endParaRPr>
              </a:p>
            </p:txBody>
          </p:sp>
          <p:sp>
            <p:nvSpPr>
              <p:cNvPr id="457748" name="Text Box 20"/>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rPr>
                  <a:t>?</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34829" name="Text Box 21"/>
            <p:cNvSpPr txBox="1"/>
            <p:nvPr/>
          </p:nvSpPr>
          <p:spPr>
            <a:xfrm>
              <a:off x="4415" y="3798"/>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result</a:t>
              </a:r>
              <a:endParaRPr lang="en-US" altLang="zh-CN" b="1" dirty="0">
                <a:solidFill>
                  <a:schemeClr val="tx2"/>
                </a:solidFill>
                <a:latin typeface="Arial" panose="020B0604020202090204" pitchFamily="34" charset="0"/>
              </a:endParaRPr>
            </a:p>
          </p:txBody>
        </p:sp>
        <p:sp>
          <p:nvSpPr>
            <p:cNvPr id="34830" name="Text Box 22"/>
            <p:cNvSpPr txBox="1"/>
            <p:nvPr/>
          </p:nvSpPr>
          <p:spPr>
            <a:xfrm>
              <a:off x="4980" y="3798"/>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nvGrpSpPr>
          <p:cNvPr id="34831" name="Group 23"/>
          <p:cNvGrpSpPr/>
          <p:nvPr/>
        </p:nvGrpSpPr>
        <p:grpSpPr>
          <a:xfrm>
            <a:off x="8861425" y="2492375"/>
            <a:ext cx="1981200" cy="1855788"/>
            <a:chOff x="4176" y="1440"/>
            <a:chExt cx="1152" cy="1169"/>
          </a:xfrm>
        </p:grpSpPr>
        <p:grpSp>
          <p:nvGrpSpPr>
            <p:cNvPr id="34832" name="Group 24"/>
            <p:cNvGrpSpPr/>
            <p:nvPr/>
          </p:nvGrpSpPr>
          <p:grpSpPr>
            <a:xfrm>
              <a:off x="4176" y="1872"/>
              <a:ext cx="1152" cy="302"/>
              <a:chOff x="4176" y="2211"/>
              <a:chExt cx="1152" cy="302"/>
            </a:xfrm>
          </p:grpSpPr>
          <p:sp>
            <p:nvSpPr>
              <p:cNvPr id="34833" name="Text Box 25"/>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b</a:t>
                </a:r>
                <a:endParaRPr lang="en-US" altLang="zh-CN" b="1" dirty="0">
                  <a:solidFill>
                    <a:schemeClr val="tx2"/>
                  </a:solidFill>
                  <a:latin typeface="Arial" panose="020B0604020202090204" pitchFamily="34" charset="0"/>
                </a:endParaRPr>
              </a:p>
            </p:txBody>
          </p:sp>
          <p:sp>
            <p:nvSpPr>
              <p:cNvPr id="34834" name="Text Box 26"/>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grpSp>
        <p:grpSp>
          <p:nvGrpSpPr>
            <p:cNvPr id="34835" name="Group 27"/>
            <p:cNvGrpSpPr/>
            <p:nvPr/>
          </p:nvGrpSpPr>
          <p:grpSpPr>
            <a:xfrm>
              <a:off x="4176" y="1440"/>
              <a:ext cx="1152" cy="302"/>
              <a:chOff x="4176" y="2211"/>
              <a:chExt cx="1152" cy="302"/>
            </a:xfrm>
          </p:grpSpPr>
          <p:sp>
            <p:nvSpPr>
              <p:cNvPr id="34836" name="Text Box 28"/>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a</a:t>
                </a:r>
                <a:endParaRPr lang="en-US" altLang="zh-CN" b="1" dirty="0">
                  <a:solidFill>
                    <a:schemeClr val="tx2"/>
                  </a:solidFill>
                  <a:latin typeface="Arial" panose="020B0604020202090204" pitchFamily="34" charset="0"/>
                </a:endParaRPr>
              </a:p>
            </p:txBody>
          </p:sp>
          <p:sp>
            <p:nvSpPr>
              <p:cNvPr id="457757" name="Text Box 29"/>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rPr>
                  <a:t>12</a:t>
                </a:r>
                <a:endPar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endParaRPr>
              </a:p>
            </p:txBody>
          </p:sp>
        </p:grpSp>
        <p:grpSp>
          <p:nvGrpSpPr>
            <p:cNvPr id="34838" name="Group 30"/>
            <p:cNvGrpSpPr/>
            <p:nvPr/>
          </p:nvGrpSpPr>
          <p:grpSpPr>
            <a:xfrm>
              <a:off x="4320" y="2307"/>
              <a:ext cx="1008" cy="302"/>
              <a:chOff x="4320" y="2307"/>
              <a:chExt cx="1008" cy="302"/>
            </a:xfrm>
          </p:grpSpPr>
          <p:sp>
            <p:nvSpPr>
              <p:cNvPr id="34839" name="Text Box 31"/>
              <p:cNvSpPr txBox="1"/>
              <p:nvPr/>
            </p:nvSpPr>
            <p:spPr>
              <a:xfrm>
                <a:off x="4320" y="2307"/>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ave</a:t>
                </a:r>
                <a:endParaRPr lang="en-US" altLang="zh-CN" b="1" dirty="0">
                  <a:solidFill>
                    <a:schemeClr val="tx2"/>
                  </a:solidFill>
                  <a:latin typeface="Arial" panose="020B0604020202090204" pitchFamily="34" charset="0"/>
                </a:endParaRPr>
              </a:p>
            </p:txBody>
          </p:sp>
          <p:sp>
            <p:nvSpPr>
              <p:cNvPr id="34840" name="Text Box 32"/>
              <p:cNvSpPr txBox="1"/>
              <p:nvPr/>
            </p:nvSpPr>
            <p:spPr>
              <a:xfrm>
                <a:off x="4752" y="2307"/>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sp>
        <p:nvSpPr>
          <p:cNvPr id="34841" name="Text Box 33"/>
          <p:cNvSpPr txBox="1"/>
          <p:nvPr/>
        </p:nvSpPr>
        <p:spPr>
          <a:xfrm>
            <a:off x="9852025" y="4546600"/>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12</a:t>
            </a:r>
            <a:endParaRPr lang="en-US" altLang="zh-CN" sz="2800" b="1" dirty="0">
              <a:latin typeface="Arial" panose="020B0604020202090204" pitchFamily="34" charset="0"/>
            </a:endParaRPr>
          </a:p>
        </p:txBody>
      </p:sp>
      <p:sp>
        <p:nvSpPr>
          <p:cNvPr id="34842" name="Text Box 37"/>
          <p:cNvSpPr txBox="1"/>
          <p:nvPr/>
        </p:nvSpPr>
        <p:spPr>
          <a:xfrm>
            <a:off x="9852025" y="5232400"/>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sp>
        <p:nvSpPr>
          <p:cNvPr id="457766" name="Text Box 38"/>
          <p:cNvSpPr txBox="1"/>
          <p:nvPr/>
        </p:nvSpPr>
        <p:spPr>
          <a:xfrm>
            <a:off x="9844088" y="5910263"/>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solidFill>
                  <a:srgbClr val="FF3300"/>
                </a:solidFill>
                <a:latin typeface="Arial" panose="020B0604020202090204" pitchFamily="34" charset="0"/>
              </a:rPr>
              <a:t>18</a:t>
            </a:r>
            <a:endParaRPr lang="en-US" altLang="zh-CN" sz="2800" b="1" dirty="0">
              <a:solidFill>
                <a:srgbClr val="FF3300"/>
              </a:solidFill>
              <a:latin typeface="Arial" panose="020B0604020202090204" pitchFamily="34" charset="0"/>
            </a:endParaRPr>
          </a:p>
        </p:txBody>
      </p:sp>
      <p:sp>
        <p:nvSpPr>
          <p:cNvPr id="34844"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47139" name="Line 35"/>
          <p:cNvSpPr/>
          <p:nvPr/>
        </p:nvSpPr>
        <p:spPr>
          <a:xfrm>
            <a:off x="6096000" y="5157788"/>
            <a:ext cx="2879725" cy="863600"/>
          </a:xfrm>
          <a:prstGeom prst="line">
            <a:avLst/>
          </a:prstGeom>
          <a:ln w="25400" cap="flat" cmpd="sng">
            <a:solidFill>
              <a:srgbClr val="FF0000"/>
            </a:solidFill>
            <a:prstDash val="dash"/>
            <a:round/>
            <a:headEnd type="none" w="med" len="med"/>
            <a:tailEnd type="triangle" w="med" len="med"/>
          </a:ln>
        </p:spPr>
      </p:sp>
      <p:sp>
        <p:nvSpPr>
          <p:cNvPr id="2" name="Line 6"/>
          <p:cNvSpPr/>
          <p:nvPr/>
        </p:nvSpPr>
        <p:spPr>
          <a:xfrm>
            <a:off x="5375275" y="5300663"/>
            <a:ext cx="0" cy="576262"/>
          </a:xfrm>
          <a:prstGeom prst="line">
            <a:avLst/>
          </a:prstGeom>
          <a:ln w="57150" cap="flat" cmpd="sng">
            <a:solidFill>
              <a:srgbClr val="000080"/>
            </a:solidFill>
            <a:prstDash val="solid"/>
            <a:round/>
            <a:headEnd type="none" w="med" len="med"/>
            <a:tailEnd type="triangle" w="med" len="med"/>
          </a:ln>
        </p:spPr>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 calcmode="lin" valueType="num">
                                      <p:cBhvr>
                                        <p:cTn id="7" dur="500" fill="hold"/>
                                        <p:tgtEl>
                                          <p:spTgt spid="1966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966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966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57738"/>
                                        </p:tgtEl>
                                        <p:attrNameLst>
                                          <p:attrName>style.visibility</p:attrName>
                                        </p:attrNameLst>
                                      </p:cBhvr>
                                      <p:to>
                                        <p:strVal val="visible"/>
                                      </p:to>
                                    </p:se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457734"/>
                                        </p:tgtEl>
                                        <p:attrNameLst>
                                          <p:attrName>style.visibility</p:attrName>
                                        </p:attrNameLst>
                                      </p:cBhvr>
                                      <p:to>
                                        <p:strVal val="visible"/>
                                      </p:to>
                                    </p:set>
                                    <p:animEffect transition="in" filter="wipe(up)">
                                      <p:cBhvr>
                                        <p:cTn id="17" dur="500"/>
                                        <p:tgtEl>
                                          <p:spTgt spid="4577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7139"/>
                                        </p:tgtEl>
                                        <p:attrNameLst>
                                          <p:attrName>style.visibility</p:attrName>
                                        </p:attrNameLst>
                                      </p:cBhvr>
                                      <p:to>
                                        <p:strVal val="visible"/>
                                      </p:to>
                                    </p:set>
                                    <p:animEffect transition="in" filter="wipe(up)">
                                      <p:cBhvr>
                                        <p:cTn id="22" dur="500"/>
                                        <p:tgtEl>
                                          <p:spTgt spid="4713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457766"/>
                                        </p:tgtEl>
                                        <p:attrNameLst>
                                          <p:attrName>style.visibility</p:attrName>
                                        </p:attrNameLst>
                                      </p:cBhvr>
                                      <p:to>
                                        <p:strVal val="visible"/>
                                      </p:to>
                                    </p:set>
                                    <p:anim calcmode="lin" valueType="num">
                                      <p:cBhvr>
                                        <p:cTn id="27" dur="500" fill="hold"/>
                                        <p:tgtEl>
                                          <p:spTgt spid="457766"/>
                                        </p:tgtEl>
                                        <p:attrNameLst>
                                          <p:attrName>ppt_w</p:attrName>
                                        </p:attrNameLst>
                                      </p:cBhvr>
                                      <p:tavLst>
                                        <p:tav tm="0">
                                          <p:val>
                                            <p:fltVal val="0"/>
                                          </p:val>
                                        </p:tav>
                                        <p:tav tm="100000">
                                          <p:val>
                                            <p:strVal val="#ppt_w"/>
                                          </p:val>
                                        </p:tav>
                                      </p:tavLst>
                                    </p:anim>
                                    <p:anim calcmode="lin" valueType="num">
                                      <p:cBhvr>
                                        <p:cTn id="28" dur="500" fill="hold"/>
                                        <p:tgtEl>
                                          <p:spTgt spid="457766"/>
                                        </p:tgtEl>
                                        <p:attrNameLst>
                                          <p:attrName>ppt_h</p:attrName>
                                        </p:attrNameLst>
                                      </p:cBhvr>
                                      <p:tavLst>
                                        <p:tav tm="0">
                                          <p:val>
                                            <p:fltVal val="0"/>
                                          </p:val>
                                        </p:tav>
                                        <p:tav tm="100000">
                                          <p:val>
                                            <p:strVal val="#ppt_h"/>
                                          </p:val>
                                        </p:tav>
                                      </p:tavLst>
                                    </p:anim>
                                    <p:animEffect transition="in" filter="fade">
                                      <p:cBhvr>
                                        <p:cTn id="29" dur="500"/>
                                        <p:tgtEl>
                                          <p:spTgt spid="457766"/>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96611">
                                            <p:txEl>
                                              <p:pRg st="1" end="1"/>
                                            </p:txEl>
                                          </p:spTgt>
                                        </p:tgtEl>
                                        <p:attrNameLst>
                                          <p:attrName>style.visibility</p:attrName>
                                        </p:attrNameLst>
                                      </p:cBhvr>
                                      <p:to>
                                        <p:strVal val="visible"/>
                                      </p:to>
                                    </p:set>
                                    <p:anim calcmode="lin" valueType="num">
                                      <p:cBhvr>
                                        <p:cTn id="34" dur="500" fill="hold"/>
                                        <p:tgtEl>
                                          <p:spTgt spid="196611">
                                            <p:txEl>
                                              <p:pRg st="1" end="1"/>
                                            </p:txEl>
                                          </p:spTgt>
                                        </p:tgtEl>
                                        <p:attrNameLst>
                                          <p:attrName>ppt_w</p:attrName>
                                        </p:attrNameLst>
                                      </p:cBhvr>
                                      <p:tavLst>
                                        <p:tav tm="0">
                                          <p:val>
                                            <p:fltVal val="0"/>
                                          </p:val>
                                        </p:tav>
                                        <p:tav tm="100000">
                                          <p:val>
                                            <p:strVal val="#ppt_w"/>
                                          </p:val>
                                        </p:tav>
                                      </p:tavLst>
                                    </p:anim>
                                    <p:anim calcmode="lin" valueType="num">
                                      <p:cBhvr>
                                        <p:cTn id="35" dur="500" fill="hold"/>
                                        <p:tgtEl>
                                          <p:spTgt spid="196611">
                                            <p:txEl>
                                              <p:pRg st="1" end="1"/>
                                            </p:txEl>
                                          </p:spTgt>
                                        </p:tgtEl>
                                        <p:attrNameLst>
                                          <p:attrName>ppt_h</p:attrName>
                                        </p:attrNameLst>
                                      </p:cBhvr>
                                      <p:tavLst>
                                        <p:tav tm="0">
                                          <p:val>
                                            <p:fltVal val="0"/>
                                          </p:val>
                                        </p:tav>
                                        <p:tav tm="100000">
                                          <p:val>
                                            <p:strVal val="#ppt_h"/>
                                          </p:val>
                                        </p:tav>
                                      </p:tavLst>
                                    </p:anim>
                                    <p:animEffect transition="in" filter="fade">
                                      <p:cBhvr>
                                        <p:cTn id="36" dur="500"/>
                                        <p:tgtEl>
                                          <p:spTgt spid="196611">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up)">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8" grpId="0"/>
      <p:bldP spid="45776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1" name="Rectangle 3"/>
          <p:cNvSpPr/>
          <p:nvPr/>
        </p:nvSpPr>
        <p:spPr>
          <a:xfrm>
            <a:off x="1200150" y="1196975"/>
            <a:ext cx="9777413" cy="1727200"/>
          </a:xfrm>
          <a:prstGeom prst="rect">
            <a:avLst/>
          </a:prstGeom>
          <a:noFill/>
          <a:ln w="9525">
            <a:noFill/>
          </a:ln>
        </p:spPr>
        <p:txBody>
          <a:bodyPr lIns="92075" tIns="46037" rIns="92075" bIns="46037" anchor="t" anchorCtr="0"/>
          <a:lstStyle/>
          <a:p>
            <a:pPr marL="457200" indent="-457200" eaLnBrk="0" hangingPunct="0">
              <a:lnSpc>
                <a:spcPct val="105000"/>
              </a:lnSpc>
              <a:spcAft>
                <a:spcPts val="590"/>
              </a:spcAft>
              <a:buClr>
                <a:schemeClr val="tx1"/>
              </a:buClr>
              <a:buSzPct val="80000"/>
              <a:buFont typeface="Wingdings" panose="05000000000000000000" pitchFamily="2" charset="2"/>
              <a:buChar char="n"/>
            </a:pPr>
            <a:r>
              <a:rPr lang="zh-CN" altLang="en-US" sz="2400" dirty="0">
                <a:latin typeface="黑体" panose="02010609060101010101" pitchFamily="49" charset="-122"/>
                <a:ea typeface="黑体" panose="02010609060101010101" pitchFamily="49" charset="-122"/>
              </a:rPr>
              <a:t>从函数退出时</a:t>
            </a:r>
            <a:endParaRPr lang="zh-CN" altLang="en-US" sz="2400" dirty="0">
              <a:latin typeface="黑体" panose="02010609060101010101" pitchFamily="49" charset="-122"/>
              <a:ea typeface="黑体" panose="02010609060101010101" pitchFamily="49" charset="-122"/>
            </a:endParaRPr>
          </a:p>
          <a:p>
            <a:pPr marL="850900" lvl="1" indent="-285750" algn="l" rtl="0" eaLnBrk="0" fontAlgn="base" hangingPunct="0">
              <a:lnSpc>
                <a:spcPct val="105000"/>
              </a:lnSpc>
              <a:spcBef>
                <a:spcPct val="0"/>
              </a:spcBef>
              <a:spcAft>
                <a:spcPts val="590"/>
              </a:spcAft>
              <a:buClr>
                <a:srgbClr val="FFCC66"/>
              </a:buClr>
              <a:buSzPct val="115000"/>
              <a:buFontTx/>
              <a:buChar char="–"/>
            </a:pPr>
            <a:r>
              <a:rPr lang="zh-CN" altLang="en-US" sz="2000" dirty="0">
                <a:solidFill>
                  <a:srgbClr val="333399"/>
                </a:solidFill>
                <a:latin typeface="黑体" panose="02010609060101010101" pitchFamily="49" charset="-122"/>
                <a:ea typeface="黑体" panose="02010609060101010101" pitchFamily="49" charset="-122"/>
              </a:rPr>
              <a:t>根据函数调用栈中保存的返回地址，返回到当次函数调用的地方</a:t>
            </a:r>
            <a:endParaRPr lang="zh-CN" altLang="en-US" sz="2000" dirty="0">
              <a:solidFill>
                <a:srgbClr val="333399"/>
              </a:solidFill>
              <a:latin typeface="黑体" panose="02010609060101010101" pitchFamily="49" charset="-122"/>
              <a:ea typeface="黑体" panose="02010609060101010101" pitchFamily="49" charset="-122"/>
            </a:endParaRPr>
          </a:p>
          <a:p>
            <a:pPr marL="850900" lvl="1" indent="-285750" algn="l" rtl="0" eaLnBrk="0" fontAlgn="base" hangingPunct="0">
              <a:lnSpc>
                <a:spcPct val="105000"/>
              </a:lnSpc>
              <a:spcBef>
                <a:spcPct val="0"/>
              </a:spcBef>
              <a:spcAft>
                <a:spcPts val="590"/>
              </a:spcAft>
              <a:buClr>
                <a:srgbClr val="FFCC66"/>
              </a:buClr>
              <a:buSzPct val="115000"/>
              <a:buFontTx/>
              <a:buChar char="–"/>
            </a:pPr>
            <a:r>
              <a:rPr lang="zh-CN" altLang="en-US" sz="2000" dirty="0">
                <a:solidFill>
                  <a:srgbClr val="333399"/>
                </a:solidFill>
                <a:latin typeface="黑体" panose="02010609060101010101" pitchFamily="49" charset="-122"/>
                <a:ea typeface="黑体" panose="02010609060101010101" pitchFamily="49" charset="-122"/>
              </a:rPr>
              <a:t>程序控制权交给调用者，返回值作为函数调用表达式的值</a:t>
            </a:r>
            <a:endParaRPr lang="zh-CN" altLang="en-US" sz="2000" dirty="0">
              <a:solidFill>
                <a:srgbClr val="333399"/>
              </a:solidFill>
              <a:latin typeface="黑体" panose="02010609060101010101" pitchFamily="49" charset="-122"/>
              <a:ea typeface="黑体" panose="02010609060101010101" pitchFamily="49" charset="-122"/>
            </a:endParaRPr>
          </a:p>
          <a:p>
            <a:pPr marL="850900" lvl="1" indent="-285750" algn="l" rtl="0" eaLnBrk="0" fontAlgn="base" hangingPunct="0">
              <a:lnSpc>
                <a:spcPct val="105000"/>
              </a:lnSpc>
              <a:spcBef>
                <a:spcPct val="0"/>
              </a:spcBef>
              <a:spcAft>
                <a:spcPts val="590"/>
              </a:spcAft>
              <a:buClr>
                <a:srgbClr val="FFCC66"/>
              </a:buClr>
              <a:buSzPct val="115000"/>
              <a:buFontTx/>
              <a:buChar char="–"/>
            </a:pPr>
            <a:r>
              <a:rPr lang="zh-CN" altLang="en-US" sz="2000" dirty="0">
                <a:solidFill>
                  <a:srgbClr val="333399"/>
                </a:solidFill>
                <a:latin typeface="黑体" panose="02010609060101010101" pitchFamily="49" charset="-122"/>
                <a:ea typeface="黑体" panose="02010609060101010101" pitchFamily="49" charset="-122"/>
              </a:rPr>
              <a:t>收回分配给函数内所有变量（包括形参）的内存</a:t>
            </a:r>
            <a:endParaRPr lang="zh-CN" altLang="en-US" sz="2000" dirty="0">
              <a:solidFill>
                <a:srgbClr val="333399"/>
              </a:solidFill>
              <a:latin typeface="黑体" panose="02010609060101010101" pitchFamily="49" charset="-122"/>
              <a:ea typeface="黑体" panose="02010609060101010101" pitchFamily="49" charset="-122"/>
            </a:endParaRPr>
          </a:p>
          <a:p>
            <a:pPr marL="850900" lvl="1" indent="-285750" algn="l" rtl="0" eaLnBrk="0" fontAlgn="base" hangingPunct="0">
              <a:lnSpc>
                <a:spcPct val="105000"/>
              </a:lnSpc>
              <a:spcBef>
                <a:spcPct val="0"/>
              </a:spcBef>
              <a:spcAft>
                <a:spcPts val="590"/>
              </a:spcAft>
              <a:buClr>
                <a:srgbClr val="FFCC66"/>
              </a:buClr>
              <a:buSzPct val="115000"/>
              <a:buFontTx/>
              <a:buChar char="–"/>
            </a:pPr>
            <a:endParaRPr lang="zh-CN" altLang="en-US" sz="2000" dirty="0">
              <a:solidFill>
                <a:srgbClr val="333399"/>
              </a:solidFill>
              <a:latin typeface="黑体" panose="02010609060101010101" pitchFamily="49" charset="-122"/>
              <a:ea typeface="黑体" panose="02010609060101010101" pitchFamily="49" charset="-122"/>
            </a:endParaRPr>
          </a:p>
        </p:txBody>
      </p:sp>
      <p:sp>
        <p:nvSpPr>
          <p:cNvPr id="35842" name="Text Box 3"/>
          <p:cNvSpPr txBox="1"/>
          <p:nvPr/>
        </p:nvSpPr>
        <p:spPr>
          <a:xfrm>
            <a:off x="1795463" y="3284538"/>
            <a:ext cx="2876550" cy="3073400"/>
          </a:xfrm>
          <a:prstGeom prst="rect">
            <a:avLst/>
          </a:prstGeom>
          <a:solidFill>
            <a:srgbClr val="FFFFCC"/>
          </a:solidFill>
          <a:ln w="9525" cap="flat" cmpd="sng">
            <a:solidFill>
              <a:schemeClr val="tx1"/>
            </a:solidFill>
            <a:prstDash val="solid"/>
            <a:miter/>
            <a:headEnd type="none" w="med" len="med"/>
            <a:tailEnd type="none" w="med" len="med"/>
          </a:ln>
        </p:spPr>
        <p:txBody>
          <a:bodyPr wrap="none" anchor="t" anchorCtr="0">
            <a:spAutoFit/>
          </a:bodyPr>
          <a:lstStyle/>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int main()</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int a=12, b=24,ave;</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ave = Average(a, b);</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    return 0</a:t>
            </a:r>
            <a:r>
              <a:rPr lang="zh-CN" altLang="en-US" b="1" dirty="0">
                <a:latin typeface="Arial" panose="020B0604020202090204" pitchFamily="34" charset="0"/>
                <a:ea typeface="宋体" pitchFamily="2" charset="-122"/>
              </a:rPr>
              <a:t>；</a:t>
            </a:r>
            <a:endParaRPr lang="zh-CN" altLang="en-US" b="1" dirty="0">
              <a:latin typeface="Arial" panose="020B0604020202090204" pitchFamily="34" charset="0"/>
              <a:ea typeface="宋体" pitchFamily="2" charset="-122"/>
            </a:endParaRPr>
          </a:p>
          <a:p>
            <a:pPr eaLnBrk="0" hangingPunct="0">
              <a:spcBef>
                <a:spcPts val="600"/>
              </a:spcBef>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458757" name="Text Box 5"/>
          <p:cNvSpPr txBox="1">
            <a:spLocks noChangeArrowheads="1"/>
          </p:cNvSpPr>
          <p:nvPr/>
        </p:nvSpPr>
        <p:spPr bwMode="auto">
          <a:xfrm>
            <a:off x="4992688" y="3284538"/>
            <a:ext cx="2924175" cy="3094038"/>
          </a:xfrm>
          <a:prstGeom prst="rect">
            <a:avLst/>
          </a:prstGeom>
          <a:solidFill>
            <a:srgbClr val="CCFFCC"/>
          </a:solidFill>
          <a:ln w="9525">
            <a:solidFill>
              <a:schemeClr val="tx1"/>
            </a:solidFill>
            <a:miter lim="800000"/>
          </a:ln>
          <a:effectLst/>
        </p:spPr>
        <p:txBody>
          <a:bodyPr wrap="none">
            <a:spAutoFit/>
          </a:bodyPr>
          <a:lstStyle/>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Average(</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x,</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y)</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zh-CN" altLang="zh-CN" b="1" kern="1200" cap="none" spc="0" normalizeH="0" baseline="0" noProof="0" dirty="0">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chemeClr val="accent2"/>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int</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result = (x + y) / 2;</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0" lang="fr-FR" altLang="zh-CN" b="1" kern="1200" cap="none" spc="0" normalizeH="0" baseline="0" noProof="0" dirty="0">
                <a:solidFill>
                  <a:srgbClr val="C00000"/>
                </a:solidFill>
                <a:effectLst>
                  <a:outerShdw blurRad="38100" dist="38100" dir="2700000" algn="tl">
                    <a:srgbClr val="000000"/>
                  </a:outerShdw>
                </a:effectLst>
                <a:latin typeface="Arial" panose="020B0604020202090204" pitchFamily="34" charset="0"/>
                <a:ea typeface="宋体" pitchFamily="2" charset="-122"/>
                <a:cs typeface="Arial" panose="020B0604020202090204" pitchFamily="34" charset="0"/>
              </a:rPr>
              <a:t>     return</a:t>
            </a:r>
            <a:r>
              <a:rPr kumimoji="0" lang="fr-FR" altLang="zh-CN" b="1" kern="1200" cap="none" spc="0" normalizeH="0" baseline="0" noProof="0" dirty="0">
                <a:solidFill>
                  <a:srgbClr val="C00000"/>
                </a:solidFill>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 </a:t>
            </a:r>
            <a:r>
              <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rPr>
              <a:t>result;</a:t>
            </a:r>
            <a:endParaRPr kumimoji="0" lang="fr-FR" altLang="zh-CN" b="1" kern="1200" cap="none" spc="0" normalizeH="0" baseline="0" noProof="0" dirty="0">
              <a:effectLst>
                <a:outerShdw blurRad="38100" dist="38100" dir="2700000" algn="tl">
                  <a:srgbClr val="FFFFFF"/>
                </a:outerShdw>
              </a:effectLst>
              <a:latin typeface="Arial" panose="020B0604020202090204" pitchFamily="34" charset="0"/>
              <a:ea typeface="宋体" pitchFamily="2" charset="-122"/>
              <a:cs typeface="Arial" panose="020B0604020202090204" pitchFamily="34" charset="0"/>
            </a:endParaRPr>
          </a:p>
          <a:p>
            <a:pPr marR="0" defTabSz="914400" eaLnBrk="0" hangingPunct="0">
              <a:spcBef>
                <a:spcPts val="600"/>
              </a:spcBef>
              <a:spcAft>
                <a:spcPts val="0"/>
              </a:spcAft>
              <a:buClr>
                <a:schemeClr val="tx2"/>
              </a:buClr>
              <a:buSzPct val="80000"/>
              <a:buFontTx/>
              <a:buNone/>
              <a:defRPr/>
            </a:pPr>
            <a:r>
              <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rPr>
              <a:t>}</a:t>
            </a:r>
            <a:endParaRPr kumimoji="1" lang="en-US" altLang="zh-CN" b="1" kern="1200" cap="none" spc="0" normalizeH="0" baseline="0" noProof="0" dirty="0">
              <a:latin typeface="Arial" panose="020B0604020202090204" pitchFamily="34" charset="0"/>
              <a:ea typeface="宋体" pitchFamily="2" charset="-122"/>
              <a:cs typeface="Arial" panose="020B0604020202090204" pitchFamily="34" charset="0"/>
            </a:endParaRPr>
          </a:p>
        </p:txBody>
      </p:sp>
      <p:sp>
        <p:nvSpPr>
          <p:cNvPr id="458764" name="Line 12"/>
          <p:cNvSpPr>
            <a:spLocks noChangeShapeType="1"/>
          </p:cNvSpPr>
          <p:nvPr/>
        </p:nvSpPr>
        <p:spPr bwMode="auto">
          <a:xfrm flipH="1">
            <a:off x="2103438" y="5218113"/>
            <a:ext cx="0" cy="935038"/>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grpSp>
        <p:nvGrpSpPr>
          <p:cNvPr id="2" name="Group 14"/>
          <p:cNvGrpSpPr/>
          <p:nvPr/>
        </p:nvGrpSpPr>
        <p:grpSpPr>
          <a:xfrm>
            <a:off x="8836025" y="4541838"/>
            <a:ext cx="1981200" cy="1855787"/>
            <a:chOff x="4404" y="2931"/>
            <a:chExt cx="1152" cy="1169"/>
          </a:xfrm>
        </p:grpSpPr>
        <p:grpSp>
          <p:nvGrpSpPr>
            <p:cNvPr id="35846" name="Group 15"/>
            <p:cNvGrpSpPr/>
            <p:nvPr/>
          </p:nvGrpSpPr>
          <p:grpSpPr>
            <a:xfrm>
              <a:off x="4404" y="3363"/>
              <a:ext cx="1152" cy="302"/>
              <a:chOff x="4176" y="2211"/>
              <a:chExt cx="1152" cy="302"/>
            </a:xfrm>
          </p:grpSpPr>
          <p:sp>
            <p:nvSpPr>
              <p:cNvPr id="35847" name="Text Box 16"/>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y</a:t>
                </a:r>
                <a:endParaRPr lang="en-US" altLang="zh-CN" b="1" dirty="0">
                  <a:solidFill>
                    <a:schemeClr val="tx2"/>
                  </a:solidFill>
                  <a:latin typeface="Arial" panose="020B0604020202090204" pitchFamily="34" charset="0"/>
                </a:endParaRPr>
              </a:p>
            </p:txBody>
          </p:sp>
          <p:sp>
            <p:nvSpPr>
              <p:cNvPr id="35848" name="Text Box 17"/>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grpSp>
        <p:grpSp>
          <p:nvGrpSpPr>
            <p:cNvPr id="35849" name="Group 18"/>
            <p:cNvGrpSpPr/>
            <p:nvPr/>
          </p:nvGrpSpPr>
          <p:grpSpPr>
            <a:xfrm>
              <a:off x="4404" y="2931"/>
              <a:ext cx="1152" cy="302"/>
              <a:chOff x="4176" y="2211"/>
              <a:chExt cx="1152" cy="302"/>
            </a:xfrm>
          </p:grpSpPr>
          <p:sp>
            <p:nvSpPr>
              <p:cNvPr id="35850" name="Text Box 19"/>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x</a:t>
                </a:r>
                <a:endParaRPr lang="en-US" altLang="zh-CN" b="1" dirty="0">
                  <a:solidFill>
                    <a:schemeClr val="tx2"/>
                  </a:solidFill>
                  <a:latin typeface="Arial" panose="020B0604020202090204" pitchFamily="34" charset="0"/>
                </a:endParaRPr>
              </a:p>
            </p:txBody>
          </p:sp>
          <p:sp>
            <p:nvSpPr>
              <p:cNvPr id="458772" name="Text Box 20"/>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rPr>
                  <a:t>12</a:t>
                </a:r>
                <a:endPar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endParaRPr>
              </a:p>
            </p:txBody>
          </p:sp>
        </p:grpSp>
        <p:sp>
          <p:nvSpPr>
            <p:cNvPr id="35852" name="Text Box 21"/>
            <p:cNvSpPr txBox="1"/>
            <p:nvPr/>
          </p:nvSpPr>
          <p:spPr>
            <a:xfrm>
              <a:off x="4415" y="3798"/>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result</a:t>
              </a:r>
              <a:endParaRPr lang="en-US" altLang="zh-CN" b="1" dirty="0">
                <a:solidFill>
                  <a:schemeClr val="tx2"/>
                </a:solidFill>
                <a:latin typeface="Arial" panose="020B0604020202090204" pitchFamily="34" charset="0"/>
              </a:endParaRPr>
            </a:p>
          </p:txBody>
        </p:sp>
        <p:sp>
          <p:nvSpPr>
            <p:cNvPr id="35853" name="Text Box 22"/>
            <p:cNvSpPr txBox="1"/>
            <p:nvPr/>
          </p:nvSpPr>
          <p:spPr>
            <a:xfrm>
              <a:off x="4980" y="3798"/>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18</a:t>
              </a:r>
              <a:endParaRPr lang="en-US" altLang="zh-CN" sz="2800" b="1" dirty="0">
                <a:latin typeface="Arial" panose="020B0604020202090204" pitchFamily="34" charset="0"/>
              </a:endParaRPr>
            </a:p>
          </p:txBody>
        </p:sp>
      </p:grpSp>
      <p:grpSp>
        <p:nvGrpSpPr>
          <p:cNvPr id="35854" name="Group 23"/>
          <p:cNvGrpSpPr/>
          <p:nvPr/>
        </p:nvGrpSpPr>
        <p:grpSpPr>
          <a:xfrm>
            <a:off x="8836025" y="2492375"/>
            <a:ext cx="1981200" cy="1855788"/>
            <a:chOff x="4176" y="1440"/>
            <a:chExt cx="1152" cy="1169"/>
          </a:xfrm>
        </p:grpSpPr>
        <p:grpSp>
          <p:nvGrpSpPr>
            <p:cNvPr id="35855" name="Group 24"/>
            <p:cNvGrpSpPr/>
            <p:nvPr/>
          </p:nvGrpSpPr>
          <p:grpSpPr>
            <a:xfrm>
              <a:off x="4176" y="1872"/>
              <a:ext cx="1152" cy="302"/>
              <a:chOff x="4176" y="2211"/>
              <a:chExt cx="1152" cy="302"/>
            </a:xfrm>
          </p:grpSpPr>
          <p:sp>
            <p:nvSpPr>
              <p:cNvPr id="35856" name="Text Box 25"/>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b</a:t>
                </a:r>
                <a:endParaRPr lang="en-US" altLang="zh-CN" b="1" dirty="0">
                  <a:solidFill>
                    <a:schemeClr val="tx2"/>
                  </a:solidFill>
                  <a:latin typeface="Arial" panose="020B0604020202090204" pitchFamily="34" charset="0"/>
                </a:endParaRPr>
              </a:p>
            </p:txBody>
          </p:sp>
          <p:sp>
            <p:nvSpPr>
              <p:cNvPr id="35857" name="Text Box 26"/>
              <p:cNvSpPr txBox="1"/>
              <p:nvPr/>
            </p:nvSpPr>
            <p:spPr>
              <a:xfrm>
                <a:off x="4752" y="2211"/>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24</a:t>
                </a:r>
                <a:endParaRPr lang="en-US" altLang="zh-CN" sz="2800" b="1" dirty="0">
                  <a:latin typeface="Arial" panose="020B0604020202090204" pitchFamily="34" charset="0"/>
                </a:endParaRPr>
              </a:p>
            </p:txBody>
          </p:sp>
        </p:grpSp>
        <p:grpSp>
          <p:nvGrpSpPr>
            <p:cNvPr id="35858" name="Group 27"/>
            <p:cNvGrpSpPr/>
            <p:nvPr/>
          </p:nvGrpSpPr>
          <p:grpSpPr>
            <a:xfrm>
              <a:off x="4176" y="1440"/>
              <a:ext cx="1152" cy="302"/>
              <a:chOff x="4176" y="2211"/>
              <a:chExt cx="1152" cy="302"/>
            </a:xfrm>
          </p:grpSpPr>
          <p:sp>
            <p:nvSpPr>
              <p:cNvPr id="35859" name="Text Box 28"/>
              <p:cNvSpPr txBox="1"/>
              <p:nvPr/>
            </p:nvSpPr>
            <p:spPr>
              <a:xfrm>
                <a:off x="4176" y="2211"/>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       a</a:t>
                </a:r>
                <a:endParaRPr lang="en-US" altLang="zh-CN" b="1" dirty="0">
                  <a:solidFill>
                    <a:schemeClr val="tx2"/>
                  </a:solidFill>
                  <a:latin typeface="Arial" panose="020B0604020202090204" pitchFamily="34" charset="0"/>
                </a:endParaRPr>
              </a:p>
            </p:txBody>
          </p:sp>
          <p:sp>
            <p:nvSpPr>
              <p:cNvPr id="458781" name="Text Box 29"/>
              <p:cNvSpPr txBox="1">
                <a:spLocks noChangeArrowheads="1"/>
              </p:cNvSpPr>
              <p:nvPr/>
            </p:nvSpPr>
            <p:spPr bwMode="auto">
              <a:xfrm>
                <a:off x="4752" y="2211"/>
                <a:ext cx="576" cy="302"/>
              </a:xfrm>
              <a:prstGeom prst="rect">
                <a:avLst/>
              </a:prstGeom>
              <a:solidFill>
                <a:srgbClr val="FFFF99"/>
              </a:solidFill>
              <a:ln w="9525">
                <a:solidFill>
                  <a:schemeClr val="tx1"/>
                </a:solidFill>
                <a:miter lim="800000"/>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rPr>
                  <a:t>12</a:t>
                </a:r>
                <a:endParaRPr kumimoji="0" lang="en-US" altLang="zh-CN" sz="2800" b="1" kern="1200" cap="none" spc="0" normalizeH="0" baseline="0" noProof="0">
                  <a:effectLst>
                    <a:outerShdw blurRad="38100" dist="38100" dir="2700000" algn="tl">
                      <a:srgbClr val="FFFFFF"/>
                    </a:outerShdw>
                  </a:effectLst>
                  <a:latin typeface="Arial" panose="020B0604020202090204" pitchFamily="34" charset="0"/>
                  <a:ea typeface="宋体" pitchFamily="2" charset="-122"/>
                  <a:cs typeface="+mn-cs"/>
                </a:endParaRPr>
              </a:p>
            </p:txBody>
          </p:sp>
        </p:grpSp>
        <p:grpSp>
          <p:nvGrpSpPr>
            <p:cNvPr id="35861" name="Group 30"/>
            <p:cNvGrpSpPr/>
            <p:nvPr/>
          </p:nvGrpSpPr>
          <p:grpSpPr>
            <a:xfrm>
              <a:off x="4320" y="2307"/>
              <a:ext cx="1008" cy="302"/>
              <a:chOff x="4320" y="2307"/>
              <a:chExt cx="1008" cy="302"/>
            </a:xfrm>
          </p:grpSpPr>
          <p:sp>
            <p:nvSpPr>
              <p:cNvPr id="35862" name="Text Box 31"/>
              <p:cNvSpPr txBox="1"/>
              <p:nvPr/>
            </p:nvSpPr>
            <p:spPr>
              <a:xfrm>
                <a:off x="4320" y="2307"/>
                <a:ext cx="960" cy="233"/>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en-US" altLang="zh-CN" b="1" dirty="0">
                    <a:solidFill>
                      <a:schemeClr val="tx2"/>
                    </a:solidFill>
                    <a:latin typeface="Arial" panose="020B0604020202090204" pitchFamily="34" charset="0"/>
                  </a:rPr>
                  <a:t>ave</a:t>
                </a:r>
                <a:endParaRPr lang="en-US" altLang="zh-CN" b="1" dirty="0">
                  <a:solidFill>
                    <a:schemeClr val="tx2"/>
                  </a:solidFill>
                  <a:latin typeface="Arial" panose="020B0604020202090204" pitchFamily="34" charset="0"/>
                </a:endParaRPr>
              </a:p>
            </p:txBody>
          </p:sp>
          <p:sp>
            <p:nvSpPr>
              <p:cNvPr id="35863" name="Text Box 32"/>
              <p:cNvSpPr txBox="1"/>
              <p:nvPr/>
            </p:nvSpPr>
            <p:spPr>
              <a:xfrm>
                <a:off x="4752" y="2307"/>
                <a:ext cx="576" cy="302"/>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latin typeface="Arial" panose="020B0604020202090204" pitchFamily="34" charset="0"/>
                  </a:rPr>
                  <a:t>?</a:t>
                </a:r>
                <a:endParaRPr lang="en-US" altLang="zh-CN" sz="2800" b="1" dirty="0">
                  <a:latin typeface="Arial" panose="020B0604020202090204" pitchFamily="34" charset="0"/>
                </a:endParaRPr>
              </a:p>
            </p:txBody>
          </p:sp>
        </p:grpSp>
      </p:grpSp>
      <p:sp>
        <p:nvSpPr>
          <p:cNvPr id="458792" name="Text Box 40"/>
          <p:cNvSpPr txBox="1"/>
          <p:nvPr/>
        </p:nvSpPr>
        <p:spPr>
          <a:xfrm>
            <a:off x="9818688" y="3867150"/>
            <a:ext cx="990600" cy="479425"/>
          </a:xfrm>
          <a:prstGeom prst="rect">
            <a:avLst/>
          </a:prstGeom>
          <a:solidFill>
            <a:srgbClr val="FFFF99"/>
          </a:solidFill>
          <a:ln w="9525" cap="flat" cmpd="sng">
            <a:solidFill>
              <a:schemeClr val="tx1"/>
            </a:solidFill>
            <a:prstDash val="solid"/>
            <a:miter/>
            <a:headEnd type="none" w="med" len="med"/>
            <a:tailEnd type="none" w="med" len="med"/>
          </a:ln>
        </p:spPr>
        <p:txBody>
          <a:bodyPr anchor="t" anchorCtr="0">
            <a:spAutoFit/>
          </a:bodyPr>
          <a:lstStyle/>
          <a:p>
            <a:pPr algn="ctr" eaLnBrk="0" hangingPunct="0">
              <a:lnSpc>
                <a:spcPct val="90000"/>
              </a:lnSpc>
              <a:spcBef>
                <a:spcPct val="50000"/>
              </a:spcBef>
              <a:spcAft>
                <a:spcPts val="590"/>
              </a:spcAft>
              <a:buClr>
                <a:schemeClr val="tx2"/>
              </a:buClr>
              <a:buSzPct val="80000"/>
              <a:buFont typeface="Wingdings" panose="05000000000000000000" pitchFamily="2" charset="2"/>
            </a:pPr>
            <a:r>
              <a:rPr lang="en-US" altLang="zh-CN" sz="2800" b="1" dirty="0">
                <a:solidFill>
                  <a:srgbClr val="FF3300"/>
                </a:solidFill>
                <a:latin typeface="Arial" panose="020B0604020202090204" pitchFamily="34" charset="0"/>
              </a:rPr>
              <a:t>18</a:t>
            </a:r>
            <a:endParaRPr lang="en-US" altLang="zh-CN" sz="2800" b="1" dirty="0">
              <a:solidFill>
                <a:srgbClr val="FF3300"/>
              </a:solidFill>
              <a:latin typeface="Arial" panose="020B0604020202090204" pitchFamily="34" charset="0"/>
            </a:endParaRPr>
          </a:p>
        </p:txBody>
      </p:sp>
      <p:sp>
        <p:nvSpPr>
          <p:cNvPr id="35865"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457736" name="Text Box 8"/>
          <p:cNvSpPr txBox="1"/>
          <p:nvPr/>
        </p:nvSpPr>
        <p:spPr>
          <a:xfrm>
            <a:off x="4240213" y="5561013"/>
            <a:ext cx="442912"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③</a:t>
            </a:r>
            <a:endParaRPr lang="en-US" altLang="zh-CN" b="1" dirty="0">
              <a:solidFill>
                <a:srgbClr val="008000"/>
              </a:solidFill>
              <a:latin typeface="Arial" panose="020B0604020202090204" pitchFamily="34" charset="0"/>
            </a:endParaRPr>
          </a:p>
        </p:txBody>
      </p:sp>
      <p:sp>
        <p:nvSpPr>
          <p:cNvPr id="457737" name="Line 9"/>
          <p:cNvSpPr>
            <a:spLocks noChangeShapeType="1"/>
          </p:cNvSpPr>
          <p:nvPr/>
        </p:nvSpPr>
        <p:spPr bwMode="auto">
          <a:xfrm flipH="1" flipV="1">
            <a:off x="3521075" y="5154613"/>
            <a:ext cx="1803400" cy="766763"/>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457770" name="Rectangle 42"/>
          <p:cNvSpPr>
            <a:spLocks noChangeArrowheads="1"/>
          </p:cNvSpPr>
          <p:nvPr/>
        </p:nvSpPr>
        <p:spPr bwMode="auto">
          <a:xfrm>
            <a:off x="2073275" y="4797425"/>
            <a:ext cx="2497138"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Rectangle 42"/>
          <p:cNvSpPr>
            <a:spLocks noChangeArrowheads="1"/>
          </p:cNvSpPr>
          <p:nvPr/>
        </p:nvSpPr>
        <p:spPr bwMode="auto">
          <a:xfrm>
            <a:off x="2063750" y="4797425"/>
            <a:ext cx="576263"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 name="Rectangle 42"/>
          <p:cNvSpPr>
            <a:spLocks noChangeArrowheads="1"/>
          </p:cNvSpPr>
          <p:nvPr/>
        </p:nvSpPr>
        <p:spPr bwMode="auto">
          <a:xfrm>
            <a:off x="2855913" y="4797425"/>
            <a:ext cx="1655763"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8163" name="Freeform 35"/>
          <p:cNvSpPr/>
          <p:nvPr/>
        </p:nvSpPr>
        <p:spPr>
          <a:xfrm>
            <a:off x="2424113" y="4016375"/>
            <a:ext cx="6624637" cy="925513"/>
          </a:xfrm>
          <a:custGeom>
            <a:avLst/>
            <a:gdLst/>
            <a:ahLst/>
            <a:cxnLst>
              <a:cxn ang="0">
                <a:pos x="0" y="2147483646"/>
              </a:cxn>
              <a:cxn ang="0">
                <a:pos x="2147483646" y="2147483646"/>
              </a:cxn>
              <a:cxn ang="0">
                <a:pos x="2147483646" y="2147483646"/>
              </a:cxn>
              <a:cxn ang="0">
                <a:pos x="2147483646" y="2147483646"/>
              </a:cxn>
            </a:cxnLst>
            <a:rect l="0" t="0" r="0" b="0"/>
            <a:pathLst>
              <a:path w="4173" h="583">
                <a:moveTo>
                  <a:pt x="0" y="583"/>
                </a:moveTo>
                <a:cubicBezTo>
                  <a:pt x="22" y="469"/>
                  <a:pt x="45" y="356"/>
                  <a:pt x="408" y="265"/>
                </a:cubicBezTo>
                <a:cubicBezTo>
                  <a:pt x="771" y="174"/>
                  <a:pt x="1549" y="76"/>
                  <a:pt x="2177" y="38"/>
                </a:cubicBezTo>
                <a:cubicBezTo>
                  <a:pt x="2805" y="0"/>
                  <a:pt x="3489" y="19"/>
                  <a:pt x="4173" y="38"/>
                </a:cubicBezTo>
              </a:path>
            </a:pathLst>
          </a:custGeom>
          <a:noFill/>
          <a:ln w="25400" cap="flat" cmpd="sng">
            <a:solidFill>
              <a:srgbClr val="FF0000"/>
            </a:solidFill>
            <a:prstDash val="dash"/>
            <a:round/>
            <a:headEnd type="none" w="med" len="med"/>
            <a:tailEnd type="triangle" w="med" len="med"/>
          </a:ln>
        </p:spPr>
        <p:txBody>
          <a:bodyPr/>
          <a:lstStyle/>
          <a:p>
            <a:endParaRPr lang="zh-CN" altLang="en-US"/>
          </a:p>
        </p:txBody>
      </p:sp>
      <p:sp>
        <p:nvSpPr>
          <p:cNvPr id="6" name="灯片编号占位符 5"/>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anim calcmode="lin" valueType="num">
                                      <p:cBhvr>
                                        <p:cTn id="7" dur="500" fill="hold"/>
                                        <p:tgtEl>
                                          <p:spTgt spid="19661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9661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96611">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57736"/>
                                        </p:tgtEl>
                                        <p:attrNameLst>
                                          <p:attrName>style.visibility</p:attrName>
                                        </p:attrNameLst>
                                      </p:cBhvr>
                                      <p:to>
                                        <p:strVal val="visible"/>
                                      </p:to>
                                    </p:set>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457737"/>
                                        </p:tgtEl>
                                        <p:attrNameLst>
                                          <p:attrName>style.visibility</p:attrName>
                                        </p:attrNameLst>
                                      </p:cBhvr>
                                      <p:to>
                                        <p:strVal val="visible"/>
                                      </p:to>
                                    </p:set>
                                    <p:animEffect transition="in" filter="wipe(down)">
                                      <p:cBhvr>
                                        <p:cTn id="17" dur="500"/>
                                        <p:tgtEl>
                                          <p:spTgt spid="457737"/>
                                        </p:tgtEl>
                                      </p:cBhvr>
                                    </p:animEffect>
                                  </p:childTnLst>
                                </p:cTn>
                              </p:par>
                            </p:childTnLst>
                          </p:cTn>
                        </p:par>
                        <p:par>
                          <p:cTn id="18" fill="hold">
                            <p:stCondLst>
                              <p:cond delay="1000"/>
                            </p:stCondLst>
                            <p:childTnLst>
                              <p:par>
                                <p:cTn id="19" presetID="23" presetClass="entr" presetSubtype="288" fill="hold" grpId="0" nodeType="afterEffect">
                                  <p:stCondLst>
                                    <p:cond delay="0"/>
                                  </p:stCondLst>
                                  <p:childTnLst>
                                    <p:set>
                                      <p:cBhvr>
                                        <p:cTn id="20" dur="1" fill="hold">
                                          <p:stCondLst>
                                            <p:cond delay="0"/>
                                          </p:stCondLst>
                                        </p:cTn>
                                        <p:tgtEl>
                                          <p:spTgt spid="457770"/>
                                        </p:tgtEl>
                                        <p:attrNameLst>
                                          <p:attrName>style.visibility</p:attrName>
                                        </p:attrNameLst>
                                      </p:cBhvr>
                                      <p:to>
                                        <p:strVal val="visible"/>
                                      </p:to>
                                    </p:set>
                                    <p:anim calcmode="lin" valueType="num">
                                      <p:cBhvr>
                                        <p:cTn id="21" dur="500" fill="hold"/>
                                        <p:tgtEl>
                                          <p:spTgt spid="457770"/>
                                        </p:tgtEl>
                                        <p:attrNameLst>
                                          <p:attrName>ppt_w</p:attrName>
                                        </p:attrNameLst>
                                      </p:cBhvr>
                                      <p:tavLst>
                                        <p:tav tm="0">
                                          <p:val>
                                            <p:strVal val="4/3*#ppt_w"/>
                                          </p:val>
                                        </p:tav>
                                        <p:tav tm="100000">
                                          <p:val>
                                            <p:strVal val="#ppt_w"/>
                                          </p:val>
                                        </p:tav>
                                      </p:tavLst>
                                    </p:anim>
                                    <p:anim calcmode="lin" valueType="num">
                                      <p:cBhvr>
                                        <p:cTn id="22" dur="500" fill="hold"/>
                                        <p:tgtEl>
                                          <p:spTgt spid="457770"/>
                                        </p:tgtEl>
                                        <p:attrNameLst>
                                          <p:attrName>ppt_h</p:attrName>
                                        </p:attrNameLst>
                                      </p:cBhvr>
                                      <p:tavLst>
                                        <p:tav tm="0">
                                          <p:val>
                                            <p:strVal val="4/3*#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96611">
                                            <p:txEl>
                                              <p:pRg st="2" end="2"/>
                                            </p:txEl>
                                          </p:spTgt>
                                        </p:tgtEl>
                                        <p:attrNameLst>
                                          <p:attrName>style.visibility</p:attrName>
                                        </p:attrNameLst>
                                      </p:cBhvr>
                                      <p:to>
                                        <p:strVal val="visible"/>
                                      </p:to>
                                    </p:set>
                                    <p:anim calcmode="lin" valueType="num">
                                      <p:cBhvr>
                                        <p:cTn id="27" dur="500" fill="hold"/>
                                        <p:tgtEl>
                                          <p:spTgt spid="196611">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196611">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196611">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457770"/>
                                        </p:tgtEl>
                                        <p:attrNameLst>
                                          <p:attrName>style.visibility</p:attrName>
                                        </p:attrNameLst>
                                      </p:cBhvr>
                                      <p:to>
                                        <p:strVal val="hidden"/>
                                      </p:to>
                                    </p:set>
                                  </p:childTnLst>
                                </p:cTn>
                              </p:par>
                              <p:par>
                                <p:cTn id="34" presetID="23" presetClass="entr" presetSubtype="288"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p:cTn id="36" dur="500" fill="hold"/>
                                        <p:tgtEl>
                                          <p:spTgt spid="4"/>
                                        </p:tgtEl>
                                        <p:attrNameLst>
                                          <p:attrName>ppt_w</p:attrName>
                                        </p:attrNameLst>
                                      </p:cBhvr>
                                      <p:tavLst>
                                        <p:tav tm="0">
                                          <p:val>
                                            <p:strVal val="4/3*#ppt_w"/>
                                          </p:val>
                                        </p:tav>
                                        <p:tav tm="100000">
                                          <p:val>
                                            <p:strVal val="#ppt_w"/>
                                          </p:val>
                                        </p:tav>
                                      </p:tavLst>
                                    </p:anim>
                                    <p:anim calcmode="lin" valueType="num">
                                      <p:cBhvr>
                                        <p:cTn id="37" dur="500" fill="hold"/>
                                        <p:tgtEl>
                                          <p:spTgt spid="4"/>
                                        </p:tgtEl>
                                        <p:attrNameLst>
                                          <p:attrName>ppt_h</p:attrName>
                                        </p:attrNameLst>
                                      </p:cBhvr>
                                      <p:tavLst>
                                        <p:tav tm="0">
                                          <p:val>
                                            <p:strVal val="4/3*#ppt_h"/>
                                          </p:val>
                                        </p:tav>
                                        <p:tav tm="100000">
                                          <p:val>
                                            <p:strVal val="#ppt_h"/>
                                          </p:val>
                                        </p:tav>
                                      </p:tavLst>
                                    </p:anim>
                                  </p:childTnLst>
                                </p:cTn>
                              </p:par>
                            </p:childTnLst>
                          </p:cTn>
                        </p:par>
                        <p:par>
                          <p:cTn id="38" fill="hold">
                            <p:stCondLst>
                              <p:cond delay="0"/>
                            </p:stCondLst>
                            <p:childTnLst>
                              <p:par>
                                <p:cTn id="39" presetID="23" presetClass="entr" presetSubtype="288" fill="hold" grpId="0" nodeType="after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p:cTn id="41" dur="500" fill="hold"/>
                                        <p:tgtEl>
                                          <p:spTgt spid="3"/>
                                        </p:tgtEl>
                                        <p:attrNameLst>
                                          <p:attrName>ppt_w</p:attrName>
                                        </p:attrNameLst>
                                      </p:cBhvr>
                                      <p:tavLst>
                                        <p:tav tm="0">
                                          <p:val>
                                            <p:strVal val="4/3*#ppt_w"/>
                                          </p:val>
                                        </p:tav>
                                        <p:tav tm="100000">
                                          <p:val>
                                            <p:strVal val="#ppt_w"/>
                                          </p:val>
                                        </p:tav>
                                      </p:tavLst>
                                    </p:anim>
                                    <p:anim calcmode="lin" valueType="num">
                                      <p:cBhvr>
                                        <p:cTn id="42" dur="500" fill="hold"/>
                                        <p:tgtEl>
                                          <p:spTgt spid="3"/>
                                        </p:tgtEl>
                                        <p:attrNameLst>
                                          <p:attrName>ppt_h</p:attrName>
                                        </p:attrNameLst>
                                      </p:cBhvr>
                                      <p:tavLst>
                                        <p:tav tm="0">
                                          <p:val>
                                            <p:strVal val="4/3*#ppt_h"/>
                                          </p:val>
                                        </p:tav>
                                        <p:tav tm="100000">
                                          <p:val>
                                            <p:strVal val="#ppt_h"/>
                                          </p:val>
                                        </p:tav>
                                      </p:tavLst>
                                    </p:anim>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48163"/>
                                        </p:tgtEl>
                                        <p:attrNameLst>
                                          <p:attrName>style.visibility</p:attrName>
                                        </p:attrNameLst>
                                      </p:cBhvr>
                                      <p:to>
                                        <p:strVal val="visible"/>
                                      </p:to>
                                    </p:set>
                                    <p:animEffect transition="in" filter="wipe(left)">
                                      <p:cBhvr>
                                        <p:cTn id="46" dur="500"/>
                                        <p:tgtEl>
                                          <p:spTgt spid="48163"/>
                                        </p:tgtEl>
                                      </p:cBhvr>
                                    </p:animEffect>
                                  </p:childTnLst>
                                </p:cTn>
                              </p:par>
                            </p:childTnLst>
                          </p:cTn>
                        </p:par>
                        <p:par>
                          <p:cTn id="47" fill="hold">
                            <p:stCondLst>
                              <p:cond delay="1000"/>
                            </p:stCondLst>
                            <p:childTnLst>
                              <p:par>
                                <p:cTn id="48" presetID="53" presetClass="entr" presetSubtype="16" fill="hold" grpId="0" nodeType="afterEffect">
                                  <p:stCondLst>
                                    <p:cond delay="0"/>
                                  </p:stCondLst>
                                  <p:childTnLst>
                                    <p:set>
                                      <p:cBhvr>
                                        <p:cTn id="49" dur="1" fill="hold">
                                          <p:stCondLst>
                                            <p:cond delay="0"/>
                                          </p:stCondLst>
                                        </p:cTn>
                                        <p:tgtEl>
                                          <p:spTgt spid="458792"/>
                                        </p:tgtEl>
                                        <p:attrNameLst>
                                          <p:attrName>style.visibility</p:attrName>
                                        </p:attrNameLst>
                                      </p:cBhvr>
                                      <p:to>
                                        <p:strVal val="visible"/>
                                      </p:to>
                                    </p:set>
                                    <p:anim calcmode="lin" valueType="num">
                                      <p:cBhvr>
                                        <p:cTn id="50" dur="500" fill="hold"/>
                                        <p:tgtEl>
                                          <p:spTgt spid="458792"/>
                                        </p:tgtEl>
                                        <p:attrNameLst>
                                          <p:attrName>ppt_w</p:attrName>
                                        </p:attrNameLst>
                                      </p:cBhvr>
                                      <p:tavLst>
                                        <p:tav tm="0">
                                          <p:val>
                                            <p:fltVal val="0"/>
                                          </p:val>
                                        </p:tav>
                                        <p:tav tm="100000">
                                          <p:val>
                                            <p:strVal val="#ppt_w"/>
                                          </p:val>
                                        </p:tav>
                                      </p:tavLst>
                                    </p:anim>
                                    <p:anim calcmode="lin" valueType="num">
                                      <p:cBhvr>
                                        <p:cTn id="51" dur="500" fill="hold"/>
                                        <p:tgtEl>
                                          <p:spTgt spid="458792"/>
                                        </p:tgtEl>
                                        <p:attrNameLst>
                                          <p:attrName>ppt_h</p:attrName>
                                        </p:attrNameLst>
                                      </p:cBhvr>
                                      <p:tavLst>
                                        <p:tav tm="0">
                                          <p:val>
                                            <p:fltVal val="0"/>
                                          </p:val>
                                        </p:tav>
                                        <p:tav tm="100000">
                                          <p:val>
                                            <p:strVal val="#ppt_h"/>
                                          </p:val>
                                        </p:tav>
                                      </p:tavLst>
                                    </p:anim>
                                    <p:animEffect transition="in" filter="fade">
                                      <p:cBhvr>
                                        <p:cTn id="52" dur="500"/>
                                        <p:tgtEl>
                                          <p:spTgt spid="458792"/>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96611">
                                            <p:txEl>
                                              <p:pRg st="3" end="3"/>
                                            </p:txEl>
                                          </p:spTgt>
                                        </p:tgtEl>
                                        <p:attrNameLst>
                                          <p:attrName>style.visibility</p:attrName>
                                        </p:attrNameLst>
                                      </p:cBhvr>
                                      <p:to>
                                        <p:strVal val="visible"/>
                                      </p:to>
                                    </p:set>
                                    <p:anim calcmode="lin" valueType="num">
                                      <p:cBhvr>
                                        <p:cTn id="57" dur="500" fill="hold"/>
                                        <p:tgtEl>
                                          <p:spTgt spid="196611">
                                            <p:txEl>
                                              <p:pRg st="3" end="3"/>
                                            </p:txEl>
                                          </p:spTgt>
                                        </p:tgtEl>
                                        <p:attrNameLst>
                                          <p:attrName>ppt_w</p:attrName>
                                        </p:attrNameLst>
                                      </p:cBhvr>
                                      <p:tavLst>
                                        <p:tav tm="0">
                                          <p:val>
                                            <p:fltVal val="0"/>
                                          </p:val>
                                        </p:tav>
                                        <p:tav tm="100000">
                                          <p:val>
                                            <p:strVal val="#ppt_w"/>
                                          </p:val>
                                        </p:tav>
                                      </p:tavLst>
                                    </p:anim>
                                    <p:anim calcmode="lin" valueType="num">
                                      <p:cBhvr>
                                        <p:cTn id="58" dur="500" fill="hold"/>
                                        <p:tgtEl>
                                          <p:spTgt spid="196611">
                                            <p:txEl>
                                              <p:pRg st="3" end="3"/>
                                            </p:txEl>
                                          </p:spTgt>
                                        </p:tgtEl>
                                        <p:attrNameLst>
                                          <p:attrName>ppt_h</p:attrName>
                                        </p:attrNameLst>
                                      </p:cBhvr>
                                      <p:tavLst>
                                        <p:tav tm="0">
                                          <p:val>
                                            <p:fltVal val="0"/>
                                          </p:val>
                                        </p:tav>
                                        <p:tav tm="100000">
                                          <p:val>
                                            <p:strVal val="#ppt_h"/>
                                          </p:val>
                                        </p:tav>
                                      </p:tavLst>
                                    </p:anim>
                                    <p:animEffect transition="in" filter="fade">
                                      <p:cBhvr>
                                        <p:cTn id="59" dur="500"/>
                                        <p:tgtEl>
                                          <p:spTgt spid="196611">
                                            <p:txEl>
                                              <p:pRg st="3" end="3"/>
                                            </p:txEl>
                                          </p:spTgt>
                                        </p:tgtEl>
                                      </p:cBhvr>
                                    </p:animEffect>
                                  </p:childTnLst>
                                </p:cTn>
                              </p:par>
                              <p:par>
                                <p:cTn id="60" presetID="1" presetClass="exit" presetSubtype="0" fill="hold" nodeType="withEffect">
                                  <p:stCondLst>
                                    <p:cond delay="0"/>
                                  </p:stCondLst>
                                  <p:childTnLst>
                                    <p:set>
                                      <p:cBhvr>
                                        <p:cTn id="61" dur="1" fill="hold">
                                          <p:stCondLst>
                                            <p:cond delay="0"/>
                                          </p:stCondLst>
                                        </p:cTn>
                                        <p:tgtEl>
                                          <p:spTgt spid="48163"/>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458764"/>
                                        </p:tgtEl>
                                        <p:attrNameLst>
                                          <p:attrName>style.visibility</p:attrName>
                                        </p:attrNameLst>
                                      </p:cBhvr>
                                      <p:to>
                                        <p:strVal val="visible"/>
                                      </p:to>
                                    </p:set>
                                    <p:animEffect transition="in" filter="wipe(up)">
                                      <p:cBhvr>
                                        <p:cTn id="70" dur="500"/>
                                        <p:tgtEl>
                                          <p:spTgt spid="458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92" grpId="0" animBg="1"/>
      <p:bldP spid="457736" grpId="0"/>
      <p:bldP spid="457770" grpId="0" animBg="1"/>
      <p:bldP spid="457770" grpId="1" animBg="1"/>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5" name="Picture 9">
            <a:hlinkClick r:id="rId1" action="ppaction://hlinkfile"/>
          </p:cNvPr>
          <p:cNvPicPr>
            <a:picLocks noChangeAspect="1"/>
          </p:cNvPicPr>
          <p:nvPr/>
        </p:nvPicPr>
        <p:blipFill>
          <a:blip r:embed="rId2"/>
          <a:stretch>
            <a:fillRect/>
          </a:stretch>
        </p:blipFill>
        <p:spPr>
          <a:xfrm>
            <a:off x="1608138" y="1844675"/>
            <a:ext cx="5227637" cy="3500438"/>
          </a:xfrm>
          <a:prstGeom prst="rect">
            <a:avLst/>
          </a:prstGeom>
          <a:noFill/>
          <a:ln w="50800" cap="flat" cmpd="thickThin">
            <a:solidFill>
              <a:srgbClr val="333399"/>
            </a:solidFill>
            <a:prstDash val="solid"/>
            <a:miter/>
            <a:headEnd type="none" w="med" len="med"/>
            <a:tailEnd type="none" w="med" len="med"/>
          </a:ln>
        </p:spPr>
      </p:pic>
      <p:pic>
        <p:nvPicPr>
          <p:cNvPr id="36866"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0013" y="1125538"/>
            <a:ext cx="1833562" cy="669925"/>
          </a:xfrm>
          <a:prstGeom prst="rect">
            <a:avLst/>
          </a:prstGeom>
          <a:noFill/>
          <a:ln w="9525">
            <a:noFill/>
          </a:ln>
        </p:spPr>
      </p:pic>
      <p:sp>
        <p:nvSpPr>
          <p:cNvPr id="497672" name="Rectangle 8"/>
          <p:cNvSpPr>
            <a:spLocks noChangeArrowheads="1"/>
          </p:cNvSpPr>
          <p:nvPr/>
        </p:nvSpPr>
        <p:spPr bwMode="auto">
          <a:xfrm>
            <a:off x="1055688" y="333375"/>
            <a:ext cx="8447088"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en-US" altLang="zh-CN" sz="4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a:t>
            </a:r>
            <a:r>
              <a:rPr kumimoji="0" lang="zh-CN" altLang="en-US" sz="4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例</a:t>
            </a:r>
            <a:r>
              <a:rPr kumimoji="0" lang="en-US" altLang="zh-CN" sz="4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a:t>
            </a:r>
            <a:r>
              <a:rPr kumimoji="0" lang="zh-CN" altLang="en-US" sz="4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编写计算组合数的程序</a:t>
            </a:r>
            <a:endParaRPr kumimoji="0" lang="zh-CN" altLang="en-US" sz="4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sp>
        <p:nvSpPr>
          <p:cNvPr id="32773" name="Rectangle 8"/>
          <p:cNvSpPr/>
          <p:nvPr/>
        </p:nvSpPr>
        <p:spPr>
          <a:xfrm>
            <a:off x="2044700" y="4402138"/>
            <a:ext cx="4748213" cy="285750"/>
          </a:xfrm>
          <a:prstGeom prst="rect">
            <a:avLst/>
          </a:prstGeom>
          <a:noFill/>
          <a:ln w="19050" cap="flat" cmpd="sng">
            <a:solidFill>
              <a:srgbClr val="008000"/>
            </a:solidFill>
            <a:prstDash val="solid"/>
            <a:miter/>
            <a:headEnd type="none" w="med" len="med"/>
            <a:tailEnd type="none" w="med" len="med"/>
          </a:ln>
        </p:spPr>
        <p:txBody>
          <a:bodyPr wrap="none" anchor="ctr" anchorCtr="0"/>
          <a:lstStyle/>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sz="3600" b="1" dirty="0">
              <a:latin typeface="Arial" panose="020B0604020202090204" pitchFamily="34" charset="0"/>
              <a:ea typeface="宋体" pitchFamily="2" charset="-122"/>
            </a:endParaRPr>
          </a:p>
        </p:txBody>
      </p:sp>
      <p:sp>
        <p:nvSpPr>
          <p:cNvPr id="497676" name="Rectangle 12"/>
          <p:cNvSpPr>
            <a:spLocks noChangeArrowheads="1"/>
          </p:cNvSpPr>
          <p:nvPr/>
        </p:nvSpPr>
        <p:spPr bwMode="auto">
          <a:xfrm>
            <a:off x="1774825" y="5373688"/>
            <a:ext cx="3363913"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zh-CN" altLang="en-US" sz="32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函数复用</a:t>
            </a:r>
            <a:endParaRPr kumimoji="0" lang="en-US" altLang="zh-CN" sz="4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pic>
        <p:nvPicPr>
          <p:cNvPr id="36870" name="Picture 13"/>
          <p:cNvPicPr>
            <a:picLocks noChangeAspect="1"/>
          </p:cNvPicPr>
          <p:nvPr/>
        </p:nvPicPr>
        <p:blipFill>
          <a:blip r:embed="rId4"/>
          <a:stretch>
            <a:fillRect/>
          </a:stretch>
        </p:blipFill>
        <p:spPr>
          <a:xfrm>
            <a:off x="6989763" y="1857375"/>
            <a:ext cx="3860800" cy="1938338"/>
          </a:xfrm>
          <a:prstGeom prst="rect">
            <a:avLst/>
          </a:prstGeom>
          <a:noFill/>
          <a:ln w="57150" cap="flat" cmpd="thickThin">
            <a:solidFill>
              <a:srgbClr val="000080"/>
            </a:solidFill>
            <a:prstDash val="solid"/>
            <a:miter/>
            <a:headEnd type="none" w="med" len="med"/>
            <a:tailEnd type="none" w="med" len="med"/>
          </a:ln>
        </p:spPr>
      </p:pic>
      <p:pic>
        <p:nvPicPr>
          <p:cNvPr id="29704" name="Picture 14"/>
          <p:cNvPicPr>
            <a:picLocks noChangeAspect="1"/>
          </p:cNvPicPr>
          <p:nvPr/>
        </p:nvPicPr>
        <p:blipFill>
          <a:blip r:embed="rId5">
            <a:clrChange>
              <a:clrFrom>
                <a:srgbClr val="FFFFFF"/>
              </a:clrFrom>
              <a:clrTo>
                <a:srgbClr val="FFFFFF">
                  <a:alpha val="0"/>
                </a:srgbClr>
              </a:clrTo>
            </a:clrChange>
          </a:blip>
          <a:stretch>
            <a:fillRect/>
          </a:stretch>
        </p:blipFill>
        <p:spPr>
          <a:xfrm>
            <a:off x="7032625" y="4005263"/>
            <a:ext cx="3790950" cy="2362200"/>
          </a:xfrm>
          <a:prstGeom prst="rect">
            <a:avLst/>
          </a:prstGeom>
          <a:noFill/>
          <a:ln w="12700">
            <a:noFill/>
          </a:ln>
        </p:spPr>
      </p:pic>
      <p:sp>
        <p:nvSpPr>
          <p:cNvPr id="2" name="Rectangle 8"/>
          <p:cNvSpPr/>
          <p:nvPr/>
        </p:nvSpPr>
        <p:spPr>
          <a:xfrm>
            <a:off x="2051050" y="3370263"/>
            <a:ext cx="3746500" cy="1008062"/>
          </a:xfrm>
          <a:prstGeom prst="rect">
            <a:avLst/>
          </a:prstGeom>
          <a:noFill/>
          <a:ln w="19050" cap="flat" cmpd="sng">
            <a:solidFill>
              <a:srgbClr val="008000"/>
            </a:solidFill>
            <a:prstDash val="solid"/>
            <a:miter/>
            <a:headEnd type="none" w="med" len="med"/>
            <a:tailEnd type="none" w="med" len="med"/>
          </a:ln>
        </p:spPr>
        <p:txBody>
          <a:bodyPr wrap="none" anchor="ctr" anchorCtr="0"/>
          <a:lstStyle/>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sz="3600" b="1" dirty="0">
              <a:latin typeface="Arial" panose="020B0604020202090204" pitchFamily="34" charset="0"/>
              <a:ea typeface="宋体" pitchFamily="2" charset="-122"/>
            </a:endParaRPr>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9705"/>
                                        </p:tgtEl>
                                        <p:attrNameLst>
                                          <p:attrName>style.visibility</p:attrName>
                                        </p:attrNameLst>
                                      </p:cBhvr>
                                      <p:to>
                                        <p:strVal val="visible"/>
                                      </p:to>
                                    </p:set>
                                    <p:anim calcmode="lin" valueType="num">
                                      <p:cBhvr>
                                        <p:cTn id="7" dur="500" fill="hold"/>
                                        <p:tgtEl>
                                          <p:spTgt spid="29705"/>
                                        </p:tgtEl>
                                        <p:attrNameLst>
                                          <p:attrName>ppt_w</p:attrName>
                                        </p:attrNameLst>
                                      </p:cBhvr>
                                      <p:tavLst>
                                        <p:tav tm="0">
                                          <p:val>
                                            <p:fltVal val="0"/>
                                          </p:val>
                                        </p:tav>
                                        <p:tav tm="100000">
                                          <p:val>
                                            <p:strVal val="#ppt_w"/>
                                          </p:val>
                                        </p:tav>
                                      </p:tavLst>
                                    </p:anim>
                                    <p:anim calcmode="lin" valueType="num">
                                      <p:cBhvr>
                                        <p:cTn id="8" dur="500" fill="hold"/>
                                        <p:tgtEl>
                                          <p:spTgt spid="2970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2773"/>
                                        </p:tgtEl>
                                        <p:attrNameLst>
                                          <p:attrName>style.visibility</p:attrName>
                                        </p:attrNameLst>
                                      </p:cBhvr>
                                      <p:to>
                                        <p:strVal val="visible"/>
                                      </p:to>
                                    </p:set>
                                    <p:anim calcmode="lin" valueType="num">
                                      <p:cBhvr>
                                        <p:cTn id="13" dur="500" fill="hold"/>
                                        <p:tgtEl>
                                          <p:spTgt spid="32773"/>
                                        </p:tgtEl>
                                        <p:attrNameLst>
                                          <p:attrName>ppt_w</p:attrName>
                                        </p:attrNameLst>
                                      </p:cBhvr>
                                      <p:tavLst>
                                        <p:tav tm="0">
                                          <p:val>
                                            <p:fltVal val="0"/>
                                          </p:val>
                                        </p:tav>
                                        <p:tav tm="100000">
                                          <p:val>
                                            <p:strVal val="#ppt_w"/>
                                          </p:val>
                                        </p:tav>
                                      </p:tavLst>
                                    </p:anim>
                                    <p:anim calcmode="lin" valueType="num">
                                      <p:cBhvr>
                                        <p:cTn id="14" dur="500" fill="hold"/>
                                        <p:tgtEl>
                                          <p:spTgt spid="32773"/>
                                        </p:tgtEl>
                                        <p:attrNameLst>
                                          <p:attrName>ppt_h</p:attrName>
                                        </p:attrNameLst>
                                      </p:cBhvr>
                                      <p:tavLst>
                                        <p:tav tm="0">
                                          <p:val>
                                            <p:fltVal val="0"/>
                                          </p:val>
                                        </p:tav>
                                        <p:tav tm="100000">
                                          <p:val>
                                            <p:strVal val="#ppt_h"/>
                                          </p:val>
                                        </p:tav>
                                      </p:tavLst>
                                    </p:anim>
                                    <p:animEffect transition="in" filter="fade">
                                      <p:cBhvr>
                                        <p:cTn id="15" dur="500"/>
                                        <p:tgtEl>
                                          <p:spTgt spid="32773"/>
                                        </p:tgtEl>
                                      </p:cBhvr>
                                    </p:animEffect>
                                  </p:childTnLst>
                                </p:cTn>
                              </p:par>
                            </p:childTnLst>
                          </p:cTn>
                        </p:par>
                        <p:par>
                          <p:cTn id="16" fill="hold">
                            <p:stCondLst>
                              <p:cond delay="500"/>
                            </p:stCondLst>
                            <p:childTnLst>
                              <p:par>
                                <p:cTn id="17" presetID="17" presetClass="entr" presetSubtype="10" fill="hold" grpId="0" nodeType="afterEffect">
                                  <p:stCondLst>
                                    <p:cond delay="0"/>
                                  </p:stCondLst>
                                  <p:childTnLst>
                                    <p:set>
                                      <p:cBhvr>
                                        <p:cTn id="18" dur="1" fill="hold">
                                          <p:stCondLst>
                                            <p:cond delay="0"/>
                                          </p:stCondLst>
                                        </p:cTn>
                                        <p:tgtEl>
                                          <p:spTgt spid="497676"/>
                                        </p:tgtEl>
                                        <p:attrNameLst>
                                          <p:attrName>style.visibility</p:attrName>
                                        </p:attrNameLst>
                                      </p:cBhvr>
                                      <p:to>
                                        <p:strVal val="visible"/>
                                      </p:to>
                                    </p:set>
                                    <p:anim calcmode="lin" valueType="num">
                                      <p:cBhvr>
                                        <p:cTn id="19" dur="500" fill="hold"/>
                                        <p:tgtEl>
                                          <p:spTgt spid="497676"/>
                                        </p:tgtEl>
                                        <p:attrNameLst>
                                          <p:attrName>ppt_w</p:attrName>
                                        </p:attrNameLst>
                                      </p:cBhvr>
                                      <p:tavLst>
                                        <p:tav tm="0">
                                          <p:val>
                                            <p:fltVal val="0"/>
                                          </p:val>
                                        </p:tav>
                                        <p:tav tm="100000">
                                          <p:val>
                                            <p:strVal val="#ppt_w"/>
                                          </p:val>
                                        </p:tav>
                                      </p:tavLst>
                                    </p:anim>
                                    <p:anim calcmode="lin" valueType="num">
                                      <p:cBhvr>
                                        <p:cTn id="20" dur="500" fill="hold"/>
                                        <p:tgtEl>
                                          <p:spTgt spid="49767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32773"/>
                                        </p:tgtEl>
                                        <p:attrNameLst>
                                          <p:attrName>style.visibility</p:attrName>
                                        </p:attrNameLst>
                                      </p:cBhvr>
                                      <p:to>
                                        <p:strVal val="hidden"/>
                                      </p:to>
                                    </p:set>
                                  </p:childTnLst>
                                </p:cTn>
                              </p:par>
                              <p:par>
                                <p:cTn id="25" presetID="53" presetClass="entr" presetSubtype="16"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29704"/>
                                        </p:tgtEl>
                                        <p:attrNameLst>
                                          <p:attrName>style.visibility</p:attrName>
                                        </p:attrNameLst>
                                      </p:cBhvr>
                                      <p:to>
                                        <p:strVal val="visible"/>
                                      </p:to>
                                    </p:set>
                                    <p:animEffect transition="in" filter="box(out)">
                                      <p:cBhvr>
                                        <p:cTn id="34"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nimBg="1"/>
      <p:bldP spid="32773" grpId="1" animBg="1"/>
      <p:bldP spid="497676"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p:nvPr/>
        </p:nvSpPr>
        <p:spPr>
          <a:xfrm>
            <a:off x="1200150" y="1196975"/>
            <a:ext cx="9777413" cy="1727200"/>
          </a:xfrm>
          <a:prstGeom prst="rect">
            <a:avLst/>
          </a:prstGeom>
          <a:noFill/>
          <a:ln w="9525">
            <a:noFill/>
          </a:ln>
        </p:spPr>
        <p:txBody>
          <a:bodyPr lIns="92075" tIns="46037" rIns="92075" bIns="46037" anchor="t" anchorCtr="0"/>
          <a:lstStyle/>
          <a:p>
            <a:pPr marL="457200" indent="-457200" eaLnBrk="0" hangingPunct="0">
              <a:lnSpc>
                <a:spcPct val="105000"/>
              </a:lnSpc>
              <a:spcAft>
                <a:spcPts val="590"/>
              </a:spcAft>
              <a:buClr>
                <a:schemeClr val="tx1"/>
              </a:buClr>
              <a:buSzPct val="80000"/>
              <a:buFont typeface="Wingdings" panose="05000000000000000000" pitchFamily="2" charset="2"/>
              <a:buChar char="n"/>
            </a:pPr>
            <a:r>
              <a:rPr lang="zh-CN" altLang="en-US" sz="2400" dirty="0">
                <a:latin typeface="黑体" panose="02010609060101010101" pitchFamily="49" charset="-122"/>
                <a:ea typeface="黑体" panose="02010609060101010101" pitchFamily="49" charset="-122"/>
              </a:rPr>
              <a:t>按值调用与按地址调用</a:t>
            </a:r>
            <a:endParaRPr lang="zh-CN" altLang="en-US" sz="2400" dirty="0">
              <a:latin typeface="黑体" panose="02010609060101010101" pitchFamily="49" charset="-122"/>
              <a:ea typeface="黑体" panose="02010609060101010101" pitchFamily="49" charset="-122"/>
            </a:endParaRPr>
          </a:p>
          <a:p>
            <a:pPr marL="850900" lvl="1" indent="-285750" algn="l" rtl="0" eaLnBrk="0" fontAlgn="base" hangingPunct="0">
              <a:lnSpc>
                <a:spcPct val="105000"/>
              </a:lnSpc>
              <a:spcBef>
                <a:spcPct val="0"/>
              </a:spcBef>
              <a:spcAft>
                <a:spcPts val="590"/>
              </a:spcAft>
              <a:buClr>
                <a:srgbClr val="FFCC66"/>
              </a:buClr>
              <a:buSzPct val="115000"/>
              <a:buFontTx/>
              <a:buChar char="–"/>
            </a:pPr>
            <a:endParaRPr lang="zh-CN" altLang="en-US" sz="2000" dirty="0">
              <a:solidFill>
                <a:srgbClr val="333399"/>
              </a:solidFill>
              <a:latin typeface="黑体" panose="02010609060101010101" pitchFamily="49" charset="-122"/>
              <a:ea typeface="黑体" panose="02010609060101010101" pitchFamily="49" charset="-122"/>
            </a:endParaRPr>
          </a:p>
        </p:txBody>
      </p:sp>
      <p:sp>
        <p:nvSpPr>
          <p:cNvPr id="38914"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34" name="Rectangle 3"/>
          <p:cNvSpPr txBox="1"/>
          <p:nvPr/>
        </p:nvSpPr>
        <p:spPr>
          <a:xfrm>
            <a:off x="1343025" y="1773238"/>
            <a:ext cx="9163050" cy="3743325"/>
          </a:xfrm>
          <a:prstGeom prst="rect">
            <a:avLst/>
          </a:prstGeom>
          <a:noFill/>
          <a:ln w="9525">
            <a:noFill/>
          </a:ln>
        </p:spPr>
        <p:txBody>
          <a:bodyPr tIns="46038" bIns="46038" anchor="t" anchorCtr="0"/>
          <a:lstStyle/>
          <a:p>
            <a:pPr marL="342900" indent="-342900" hangingPunct="0">
              <a:lnSpc>
                <a:spcPct val="130000"/>
              </a:lnSpc>
              <a:buClr>
                <a:schemeClr val="tx2"/>
              </a:buClr>
              <a:buSzPct val="50000"/>
              <a:buFont typeface="Wingdings" panose="05000000000000000000" pitchFamily="2" charset="2"/>
              <a:buChar char="n"/>
            </a:pPr>
            <a:r>
              <a:rPr lang="zh-CN" altLang="en-US" sz="2400" dirty="0">
                <a:latin typeface="Arial" panose="020B0604020202090204" pitchFamily="34" charset="0"/>
                <a:ea typeface="黑体" panose="02010609060101010101" pitchFamily="49" charset="-122"/>
              </a:rPr>
              <a:t>普通变量作函数参数</a:t>
            </a:r>
            <a:r>
              <a:rPr lang="en-US" altLang="zh-CN" sz="2400" dirty="0">
                <a:latin typeface="Arial" panose="020B0604020202090204" pitchFamily="34" charset="0"/>
                <a:ea typeface="黑体" panose="02010609060101010101" pitchFamily="49" charset="-122"/>
              </a:rPr>
              <a:t>—</a:t>
            </a:r>
            <a:r>
              <a:rPr lang="zh-CN" altLang="en-US" sz="2400" dirty="0">
                <a:latin typeface="Arial" panose="020B0604020202090204" pitchFamily="34" charset="0"/>
                <a:ea typeface="黑体" panose="02010609060101010101" pitchFamily="49" charset="-122"/>
              </a:rPr>
              <a:t>按值调用</a:t>
            </a:r>
            <a:endParaRPr lang="en-US" altLang="zh-CN" sz="2400" i="1" dirty="0">
              <a:solidFill>
                <a:srgbClr val="0033CC"/>
              </a:solidFill>
              <a:latin typeface="Arial" panose="020B0604020202090204" pitchFamily="34" charset="0"/>
              <a:ea typeface="黑体" panose="02010609060101010101" pitchFamily="49" charset="-122"/>
            </a:endParaRPr>
          </a:p>
          <a:p>
            <a:pPr marL="742950" lvl="1" indent="-285750" algn="l" rtl="0" eaLnBrk="1" fontAlgn="base" hangingPunct="0">
              <a:lnSpc>
                <a:spcPct val="130000"/>
              </a:lnSpc>
              <a:spcBef>
                <a:spcPct val="0"/>
              </a:spcBef>
              <a:spcAft>
                <a:spcPct val="0"/>
              </a:spcAft>
              <a:buClr>
                <a:schemeClr val="tx2"/>
              </a:buClr>
              <a:buSzPct val="50000"/>
              <a:buFont typeface="Wingdings 2" panose="05020102010507070707" pitchFamily="18" charset="2"/>
              <a:buChar char="Þ"/>
            </a:pPr>
            <a:r>
              <a:rPr lang="zh-CN" altLang="en-US" sz="2000" dirty="0">
                <a:solidFill>
                  <a:srgbClr val="333399"/>
                </a:solidFill>
                <a:latin typeface="Arial" panose="020B0604020202090204" pitchFamily="34" charset="0"/>
                <a:ea typeface="黑体" panose="02010609060101010101" pitchFamily="49" charset="-122"/>
              </a:rPr>
              <a:t>实参的值不随形参值的改变而改变</a:t>
            </a:r>
            <a:endParaRPr lang="en-US" altLang="zh-CN" sz="2000" dirty="0">
              <a:solidFill>
                <a:srgbClr val="333399"/>
              </a:solidFill>
              <a:latin typeface="Arial" panose="020B0604020202090204" pitchFamily="34" charset="0"/>
              <a:ea typeface="黑体" panose="02010609060101010101" pitchFamily="49" charset="-122"/>
            </a:endParaRPr>
          </a:p>
          <a:p>
            <a:pPr marL="342900" indent="-342900" hangingPunct="0">
              <a:lnSpc>
                <a:spcPct val="130000"/>
              </a:lnSpc>
              <a:buClr>
                <a:schemeClr val="tx2"/>
              </a:buClr>
              <a:buSzPct val="50000"/>
              <a:buFont typeface="Wingdings" panose="05000000000000000000" pitchFamily="2" charset="2"/>
              <a:buChar char="n"/>
            </a:pPr>
            <a:r>
              <a:rPr lang="zh-CN" altLang="en-US" sz="2400" dirty="0">
                <a:latin typeface="Arial" panose="020B0604020202090204" pitchFamily="34" charset="0"/>
                <a:ea typeface="黑体" panose="02010609060101010101" pitchFamily="49" charset="-122"/>
              </a:rPr>
              <a:t>形参（</a:t>
            </a:r>
            <a:r>
              <a:rPr lang="en-US" altLang="zh-CN" sz="2400" b="1" dirty="0">
                <a:latin typeface="Arial" panose="020B0604020202090204" pitchFamily="34" charset="0"/>
                <a:ea typeface="黑体" panose="02010609060101010101" pitchFamily="49" charset="-122"/>
              </a:rPr>
              <a:t>parameter</a:t>
            </a:r>
            <a:r>
              <a:rPr lang="zh-CN" altLang="en-US" sz="2400" dirty="0">
                <a:latin typeface="Arial" panose="020B0604020202090204" pitchFamily="34" charset="0"/>
                <a:ea typeface="黑体" panose="02010609060101010101" pitchFamily="49" charset="-122"/>
              </a:rPr>
              <a:t>）</a:t>
            </a:r>
            <a:r>
              <a:rPr lang="en-US" altLang="zh-CN" sz="2400" dirty="0">
                <a:latin typeface="Arial" panose="020B0604020202090204" pitchFamily="34" charset="0"/>
                <a:ea typeface="黑体" panose="02010609060101010101" pitchFamily="49" charset="-122"/>
              </a:rPr>
              <a:t>← </a:t>
            </a:r>
            <a:r>
              <a:rPr lang="zh-CN" altLang="en-US" sz="2400" dirty="0">
                <a:latin typeface="Arial" panose="020B0604020202090204" pitchFamily="34" charset="0"/>
                <a:ea typeface="黑体" panose="02010609060101010101" pitchFamily="49" charset="-122"/>
              </a:rPr>
              <a:t>实参变量的值</a:t>
            </a:r>
            <a:endParaRPr lang="zh-CN" altLang="en-US" sz="2400" dirty="0">
              <a:latin typeface="Arial" panose="020B0604020202090204" pitchFamily="34" charset="0"/>
              <a:ea typeface="黑体" panose="02010609060101010101" pitchFamily="49" charset="-122"/>
            </a:endParaRPr>
          </a:p>
          <a:p>
            <a:pPr marL="342900" indent="-342900" hangingPunct="0">
              <a:lnSpc>
                <a:spcPct val="130000"/>
              </a:lnSpc>
              <a:buClr>
                <a:schemeClr val="tx2"/>
              </a:buClr>
              <a:buSzPct val="50000"/>
              <a:buFont typeface="Wingdings" panose="05000000000000000000" pitchFamily="2" charset="2"/>
              <a:buChar char="n"/>
            </a:pPr>
            <a:r>
              <a:rPr lang="zh-CN" altLang="en-US" sz="2400" dirty="0">
                <a:solidFill>
                  <a:srgbClr val="FF0000"/>
                </a:solidFill>
                <a:latin typeface="Arial" panose="020B0604020202090204" pitchFamily="34" charset="0"/>
                <a:ea typeface="黑体" panose="02010609060101010101" pitchFamily="49" charset="-122"/>
              </a:rPr>
              <a:t>指针</a:t>
            </a:r>
            <a:r>
              <a:rPr lang="zh-CN" altLang="en-US" sz="2400" dirty="0">
                <a:latin typeface="Arial" panose="020B0604020202090204" pitchFamily="34" charset="0"/>
                <a:ea typeface="黑体" panose="02010609060101010101" pitchFamily="49" charset="-122"/>
              </a:rPr>
              <a:t>做函数参数</a:t>
            </a:r>
            <a:r>
              <a:rPr lang="en-US" altLang="zh-CN" sz="2400" dirty="0">
                <a:latin typeface="Arial" panose="020B0604020202090204" pitchFamily="34" charset="0"/>
                <a:ea typeface="黑体" panose="02010609060101010101" pitchFamily="49" charset="-122"/>
              </a:rPr>
              <a:t>—</a:t>
            </a:r>
            <a:r>
              <a:rPr lang="zh-CN" altLang="en-US" sz="2400" dirty="0">
                <a:latin typeface="Arial" panose="020B0604020202090204" pitchFamily="34" charset="0"/>
                <a:ea typeface="黑体" panose="02010609060101010101" pitchFamily="49" charset="-122"/>
              </a:rPr>
              <a:t>按</a:t>
            </a:r>
            <a:r>
              <a:rPr lang="zh-CN" altLang="en-US" sz="2400" dirty="0">
                <a:solidFill>
                  <a:srgbClr val="FF0000"/>
                </a:solidFill>
                <a:latin typeface="Arial" panose="020B0604020202090204" pitchFamily="34" charset="0"/>
                <a:ea typeface="黑体" panose="02010609060101010101" pitchFamily="49" charset="-122"/>
              </a:rPr>
              <a:t>地址</a:t>
            </a:r>
            <a:r>
              <a:rPr lang="zh-CN" altLang="en-US" sz="2400" dirty="0">
                <a:latin typeface="Arial" panose="020B0604020202090204" pitchFamily="34" charset="0"/>
                <a:ea typeface="黑体" panose="02010609060101010101" pitchFamily="49" charset="-122"/>
              </a:rPr>
              <a:t>调用</a:t>
            </a:r>
            <a:endParaRPr lang="en-US" altLang="zh-CN" sz="2800" dirty="0">
              <a:latin typeface="Arial" panose="020B0604020202090204" pitchFamily="34" charset="0"/>
              <a:ea typeface="黑体" panose="02010609060101010101" pitchFamily="49" charset="-122"/>
            </a:endParaRPr>
          </a:p>
          <a:p>
            <a:pPr marL="742950" lvl="1" indent="-285750" algn="l" rtl="0" eaLnBrk="1" fontAlgn="base" hangingPunct="0">
              <a:lnSpc>
                <a:spcPct val="130000"/>
              </a:lnSpc>
              <a:spcBef>
                <a:spcPct val="0"/>
              </a:spcBef>
              <a:spcAft>
                <a:spcPct val="0"/>
              </a:spcAft>
              <a:buClr>
                <a:schemeClr val="tx2"/>
              </a:buClr>
              <a:buSzPct val="50000"/>
              <a:buFont typeface="Wingdings 2" panose="05020102010507070707" pitchFamily="18" charset="2"/>
              <a:buChar char="Þ"/>
            </a:pPr>
            <a:r>
              <a:rPr lang="zh-CN" altLang="en-US" sz="2000" dirty="0">
                <a:solidFill>
                  <a:srgbClr val="333399"/>
                </a:solidFill>
                <a:latin typeface="Arial" panose="020B0604020202090204" pitchFamily="34" charset="0"/>
                <a:ea typeface="黑体" panose="02010609060101010101" pitchFamily="49" charset="-122"/>
              </a:rPr>
              <a:t>为了在被调函数中修改其无法直接访问的实参的值</a:t>
            </a:r>
            <a:endParaRPr lang="zh-CN" altLang="en-US" sz="2000" dirty="0">
              <a:solidFill>
                <a:srgbClr val="333399"/>
              </a:solidFill>
              <a:latin typeface="Arial" panose="020B0604020202090204" pitchFamily="34" charset="0"/>
              <a:ea typeface="黑体" panose="02010609060101010101" pitchFamily="49" charset="-122"/>
            </a:endParaRPr>
          </a:p>
          <a:p>
            <a:pPr marL="342900" indent="-342900" hangingPunct="0">
              <a:lnSpc>
                <a:spcPct val="130000"/>
              </a:lnSpc>
              <a:buClr>
                <a:schemeClr val="tx2"/>
              </a:buClr>
              <a:buSzPct val="50000"/>
              <a:buFont typeface="Wingdings" panose="05000000000000000000" pitchFamily="2" charset="2"/>
              <a:buChar char="n"/>
            </a:pPr>
            <a:r>
              <a:rPr lang="zh-CN" altLang="en-US" sz="2400" dirty="0">
                <a:latin typeface="Arial" panose="020B0604020202090204" pitchFamily="34" charset="0"/>
                <a:ea typeface="黑体" panose="02010609060101010101" pitchFamily="49" charset="-122"/>
              </a:rPr>
              <a:t>指针形参</a:t>
            </a:r>
            <a:r>
              <a:rPr lang="en-US" altLang="zh-CN" sz="2400" dirty="0">
                <a:latin typeface="Arial" panose="020B0604020202090204" pitchFamily="34" charset="0"/>
                <a:ea typeface="黑体" panose="02010609060101010101" pitchFamily="49" charset="-122"/>
              </a:rPr>
              <a:t>(</a:t>
            </a:r>
            <a:r>
              <a:rPr lang="en-US" altLang="zh-CN" sz="2400" b="1" dirty="0">
                <a:latin typeface="Arial" panose="020B0604020202090204" pitchFamily="34" charset="0"/>
                <a:ea typeface="黑体" panose="02010609060101010101" pitchFamily="49" charset="-122"/>
              </a:rPr>
              <a:t>pointer parameter</a:t>
            </a:r>
            <a:r>
              <a:rPr lang="en-US" altLang="zh-CN" sz="2400" dirty="0">
                <a:latin typeface="Arial" panose="020B0604020202090204" pitchFamily="34" charset="0"/>
                <a:ea typeface="黑体" panose="02010609060101010101" pitchFamily="49" charset="-122"/>
              </a:rPr>
              <a:t>) ←  </a:t>
            </a:r>
            <a:r>
              <a:rPr lang="zh-CN" altLang="en-US" sz="2400" dirty="0">
                <a:solidFill>
                  <a:srgbClr val="FF0000"/>
                </a:solidFill>
                <a:latin typeface="Arial" panose="020B0604020202090204" pitchFamily="34" charset="0"/>
                <a:ea typeface="黑体" panose="02010609060101010101" pitchFamily="49" charset="-122"/>
              </a:rPr>
              <a:t>实参</a:t>
            </a:r>
            <a:r>
              <a:rPr lang="zh-CN" altLang="en-US" sz="2400" dirty="0">
                <a:latin typeface="Arial" panose="020B0604020202090204" pitchFamily="34" charset="0"/>
                <a:ea typeface="黑体" panose="02010609060101010101" pitchFamily="49" charset="-122"/>
              </a:rPr>
              <a:t>变量的</a:t>
            </a:r>
            <a:r>
              <a:rPr lang="zh-CN" altLang="en-US" sz="2400" dirty="0">
                <a:solidFill>
                  <a:srgbClr val="FF0000"/>
                </a:solidFill>
                <a:latin typeface="Arial" panose="020B0604020202090204" pitchFamily="34" charset="0"/>
                <a:ea typeface="黑体" panose="02010609060101010101" pitchFamily="49" charset="-122"/>
              </a:rPr>
              <a:t>地址</a:t>
            </a:r>
            <a:endParaRPr lang="zh-CN" altLang="en-US" sz="2400" dirty="0">
              <a:solidFill>
                <a:srgbClr val="FF0000"/>
              </a:solidFill>
              <a:latin typeface="Arial" panose="020B0604020202090204" pitchFamily="34" charset="0"/>
              <a:ea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 calcmode="lin" valueType="num">
                                      <p:cBhvr>
                                        <p:cTn id="7"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4">
                                            <p:txEl>
                                              <p:pRg st="2" end="2"/>
                                            </p:txEl>
                                          </p:spTgt>
                                        </p:tgtEl>
                                        <p:attrNameLst>
                                          <p:attrName>style.visibility</p:attrName>
                                        </p:attrNameLst>
                                      </p:cBhvr>
                                      <p:to>
                                        <p:strVal val="visible"/>
                                      </p:to>
                                    </p:set>
                                    <p:anim calcmode="lin" valueType="num">
                                      <p:cBhvr>
                                        <p:cTn id="14" dur="500" fill="hold"/>
                                        <p:tgtEl>
                                          <p:spTgt spid="34">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4">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4">
                                            <p:txEl>
                                              <p:pRg st="1" end="1"/>
                                            </p:txEl>
                                          </p:spTgt>
                                        </p:tgtEl>
                                        <p:attrNameLst>
                                          <p:attrName>style.visibility</p:attrName>
                                        </p:attrNameLst>
                                      </p:cBhvr>
                                      <p:to>
                                        <p:strVal val="visible"/>
                                      </p:to>
                                    </p:set>
                                    <p:anim calcmode="lin" valueType="num">
                                      <p:cBhvr>
                                        <p:cTn id="21" dur="500" fill="hold"/>
                                        <p:tgtEl>
                                          <p:spTgt spid="34">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4">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4">
                                            <p:txEl>
                                              <p:pRg st="4" end="4"/>
                                            </p:txEl>
                                          </p:spTgt>
                                        </p:tgtEl>
                                        <p:attrNameLst>
                                          <p:attrName>style.visibility</p:attrName>
                                        </p:attrNameLst>
                                      </p:cBhvr>
                                      <p:to>
                                        <p:strVal val="visible"/>
                                      </p:to>
                                    </p:set>
                                    <p:anim calcmode="lin" valueType="num">
                                      <p:cBhvr>
                                        <p:cTn id="28" dur="500" fill="hold"/>
                                        <p:tgtEl>
                                          <p:spTgt spid="34">
                                            <p:txEl>
                                              <p:pRg st="4" end="4"/>
                                            </p:txEl>
                                          </p:spTgt>
                                        </p:tgtEl>
                                        <p:attrNameLst>
                                          <p:attrName>ppt_w</p:attrName>
                                        </p:attrNameLst>
                                      </p:cBhvr>
                                      <p:tavLst>
                                        <p:tav tm="0">
                                          <p:val>
                                            <p:fltVal val="0"/>
                                          </p:val>
                                        </p:tav>
                                        <p:tav tm="100000">
                                          <p:val>
                                            <p:strVal val="#ppt_w"/>
                                          </p:val>
                                        </p:tav>
                                      </p:tavLst>
                                    </p:anim>
                                    <p:anim calcmode="lin" valueType="num">
                                      <p:cBhvr>
                                        <p:cTn id="29" dur="500" fill="hold"/>
                                        <p:tgtEl>
                                          <p:spTgt spid="34">
                                            <p:txEl>
                                              <p:pRg st="4" end="4"/>
                                            </p:txEl>
                                          </p:spTgt>
                                        </p:tgtEl>
                                        <p:attrNameLst>
                                          <p:attrName>ppt_h</p:attrName>
                                        </p:attrNameLst>
                                      </p:cBhvr>
                                      <p:tavLst>
                                        <p:tav tm="0">
                                          <p:val>
                                            <p:fltVal val="0"/>
                                          </p:val>
                                        </p:tav>
                                        <p:tav tm="100000">
                                          <p:val>
                                            <p:strVal val="#ppt_h"/>
                                          </p:val>
                                        </p:tav>
                                      </p:tavLst>
                                    </p:anim>
                                    <p:animEffect transition="in" filter="fade">
                                      <p:cBhvr>
                                        <p:cTn id="30" dur="500"/>
                                        <p:tgtEl>
                                          <p:spTgt spid="3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4">
                                            <p:txEl>
                                              <p:pRg st="3" end="3"/>
                                            </p:txEl>
                                          </p:spTgt>
                                        </p:tgtEl>
                                        <p:attrNameLst>
                                          <p:attrName>style.visibility</p:attrName>
                                        </p:attrNameLst>
                                      </p:cBhvr>
                                      <p:to>
                                        <p:strVal val="visible"/>
                                      </p:to>
                                    </p:set>
                                    <p:anim calcmode="lin" valueType="num">
                                      <p:cBhvr>
                                        <p:cTn id="35" dur="500" fill="hold"/>
                                        <p:tgtEl>
                                          <p:spTgt spid="34">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34">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3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4">
                                            <p:txEl>
                                              <p:pRg st="5" end="5"/>
                                            </p:txEl>
                                          </p:spTgt>
                                        </p:tgtEl>
                                        <p:attrNameLst>
                                          <p:attrName>style.visibility</p:attrName>
                                        </p:attrNameLst>
                                      </p:cBhvr>
                                      <p:to>
                                        <p:strVal val="visible"/>
                                      </p:to>
                                    </p:set>
                                    <p:anim calcmode="lin" valueType="num">
                                      <p:cBhvr>
                                        <p:cTn id="42" dur="500" fill="hold"/>
                                        <p:tgtEl>
                                          <p:spTgt spid="34">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4">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p:nvPr/>
        </p:nvSpPr>
        <p:spPr>
          <a:xfrm>
            <a:off x="1558925" y="404813"/>
            <a:ext cx="9364663" cy="839787"/>
          </a:xfrm>
          <a:prstGeom prst="rect">
            <a:avLst/>
          </a:prstGeom>
          <a:noFill/>
          <a:ln w="9525">
            <a:noFill/>
          </a:ln>
        </p:spPr>
        <p:txBody>
          <a:bodyPr anchor="ctr" anchorCtr="0"/>
          <a:lstStyle/>
          <a:p>
            <a:pPr algn="ctr" eaLnBrk="0" hangingPunct="0">
              <a:buClrTx/>
              <a:buFont typeface="Wingdings" panose="05000000000000000000" pitchFamily="2" charset="2"/>
            </a:pPr>
            <a:r>
              <a:rPr lang="en-US" altLang="zh-CN" sz="4400" dirty="0">
                <a:solidFill>
                  <a:schemeClr val="tx2"/>
                </a:solidFill>
                <a:latin typeface="Arial" panose="020B0604020202090204" pitchFamily="34" charset="0"/>
                <a:ea typeface="黑体" panose="02010609060101010101" pitchFamily="49" charset="-122"/>
              </a:rPr>
              <a:t>2.3.1 </a:t>
            </a:r>
            <a:r>
              <a:rPr lang="zh-CN" altLang="en-US" sz="4400" dirty="0">
                <a:solidFill>
                  <a:schemeClr val="tx2"/>
                </a:solidFill>
                <a:latin typeface="Arial" panose="020B0604020202090204" pitchFamily="34" charset="0"/>
                <a:ea typeface="黑体" panose="02010609060101010101" pitchFamily="49" charset="-122"/>
              </a:rPr>
              <a:t>函数调用</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7" name="Rectangle 5"/>
          <p:cNvSpPr/>
          <p:nvPr/>
        </p:nvSpPr>
        <p:spPr>
          <a:xfrm>
            <a:off x="6550025" y="4313238"/>
            <a:ext cx="4392613" cy="2519362"/>
          </a:xfrm>
          <a:prstGeom prst="rect">
            <a:avLst/>
          </a:prstGeom>
          <a:noFill/>
          <a:ln w="9525">
            <a:noFill/>
          </a:ln>
        </p:spPr>
        <p:txBody>
          <a:bodyPr anchor="t" anchorCtr="0"/>
          <a:lstStyle/>
          <a:p>
            <a:pPr>
              <a:lnSpc>
                <a:spcPct val="90000"/>
              </a:lnSpc>
              <a:spcBef>
                <a:spcPts val="590"/>
              </a:spcBef>
              <a:spcAft>
                <a:spcPts val="590"/>
              </a:spcAft>
              <a:buClr>
                <a:schemeClr val="tx2"/>
              </a:buClr>
              <a:buSzPct val="80000"/>
              <a:buFont typeface="Wingdings" panose="05000000000000000000" pitchFamily="2" charset="2"/>
            </a:pP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void Swap( int *x, int *y )</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 </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    int temp;</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    temp = *x;</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    *x = *y;</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    *y = temp;</a:t>
            </a:r>
            <a:endParaRPr lang="en-US" altLang="zh-CN" b="1" dirty="0">
              <a:latin typeface="Courier New" panose="02070409020205090404" pitchFamily="49" charset="0"/>
            </a:endParaRPr>
          </a:p>
          <a:p>
            <a:pPr>
              <a:lnSpc>
                <a:spcPct val="90000"/>
              </a:lnSpc>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a:lnSpc>
                <a:spcPct val="90000"/>
              </a:lnSpc>
              <a:spcBef>
                <a:spcPts val="590"/>
              </a:spcBef>
              <a:spcAft>
                <a:spcPts val="590"/>
              </a:spcAft>
              <a:buClr>
                <a:schemeClr val="tx2"/>
              </a:buClr>
              <a:buSzPct val="80000"/>
              <a:buFont typeface="Wingdings" panose="05000000000000000000" pitchFamily="2" charset="2"/>
            </a:pPr>
            <a:endParaRPr lang="zh-CN" altLang="en-US" b="1" dirty="0">
              <a:latin typeface="Courier New" panose="02070409020205090404" pitchFamily="49" charset="0"/>
              <a:ea typeface="宋体" pitchFamily="2" charset="-122"/>
            </a:endParaRPr>
          </a:p>
        </p:txBody>
      </p:sp>
      <p:sp>
        <p:nvSpPr>
          <p:cNvPr id="8" name="Rectangle 6"/>
          <p:cNvSpPr>
            <a:spLocks noChangeArrowheads="1"/>
          </p:cNvSpPr>
          <p:nvPr/>
        </p:nvSpPr>
        <p:spPr bwMode="auto">
          <a:xfrm>
            <a:off x="6530975" y="1801813"/>
            <a:ext cx="4491038" cy="2919413"/>
          </a:xfrm>
          <a:prstGeom prst="rect">
            <a:avLst/>
          </a:prstGeom>
          <a:noFill/>
          <a:ln w="9525">
            <a:noFill/>
            <a:miter lim="800000"/>
          </a:ln>
          <a:effectLst/>
        </p:spPr>
        <p:txBody>
          <a:bodyPr>
            <a:spAutoFit/>
          </a:bodyPr>
          <a:lstStyle/>
          <a:p>
            <a:pPr>
              <a:lnSpc>
                <a:spcPts val="2200"/>
              </a:lnSpc>
              <a:buClr>
                <a:schemeClr val="tx2"/>
              </a:buClr>
              <a:buSzPct val="80000"/>
              <a:buFont typeface="Wingdings" panose="05000000000000000000" pitchFamily="2" charset="2"/>
            </a:pPr>
            <a:r>
              <a:rPr lang="en-US" altLang="zh-CN" b="1" dirty="0" err="1">
                <a:latin typeface="Courier New" panose="02070409020205090404" pitchFamily="49" charset="0"/>
              </a:rPr>
              <a:t>int</a:t>
            </a:r>
            <a:r>
              <a:rPr lang="en-US" altLang="zh-CN" b="1" dirty="0">
                <a:latin typeface="Courier New" panose="02070409020205090404" pitchFamily="49" charset="0"/>
              </a:rPr>
              <a:t> main()</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a:t>
            </a:r>
            <a:r>
              <a:rPr lang="en-US" altLang="zh-CN" b="1" dirty="0" err="1">
                <a:latin typeface="Courier New" panose="02070409020205090404" pitchFamily="49" charset="0"/>
              </a:rPr>
              <a:t>int</a:t>
            </a:r>
            <a:r>
              <a:rPr lang="en-US" altLang="zh-CN" b="1" dirty="0">
                <a:latin typeface="Courier New" panose="02070409020205090404" pitchFamily="49" charset="0"/>
              </a:rPr>
              <a:t> a, b;</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a = 5;</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b = 9;</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Swap( &amp;a, &amp;b );</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a:t>
            </a:r>
            <a:r>
              <a:rPr lang="en-US" altLang="zh-CN" b="1" dirty="0" err="1">
                <a:latin typeface="Courier New" panose="02070409020205090404" pitchFamily="49" charset="0"/>
              </a:rPr>
              <a:t>printf</a:t>
            </a:r>
            <a:r>
              <a:rPr lang="en-US" altLang="zh-CN" b="1" dirty="0">
                <a:latin typeface="Courier New" panose="02070409020205090404" pitchFamily="49" charset="0"/>
              </a:rPr>
              <a:t>(</a:t>
            </a:r>
            <a:r>
              <a:rPr lang="en-US" altLang="zh-CN" b="1" dirty="0">
                <a:effectLst>
                  <a:outerShdw blurRad="38100" dist="38100" dir="2700000">
                    <a:srgbClr val="FFFFFF"/>
                  </a:outerShdw>
                </a:effectLst>
                <a:latin typeface="Arial" panose="020B0604020202090204" pitchFamily="34" charset="0"/>
              </a:rPr>
              <a:t>"</a:t>
            </a:r>
            <a:r>
              <a:rPr lang="en-US" altLang="zh-CN" b="1" dirty="0">
                <a:latin typeface="Courier New" panose="02070409020205090404" pitchFamily="49" charset="0"/>
              </a:rPr>
              <a:t>a=%</a:t>
            </a:r>
            <a:r>
              <a:rPr lang="en-US" altLang="zh-CN" b="1" dirty="0" err="1">
                <a:latin typeface="Courier New" panose="02070409020205090404" pitchFamily="49" charset="0"/>
              </a:rPr>
              <a:t>d,b</a:t>
            </a:r>
            <a:r>
              <a:rPr lang="en-US" altLang="zh-CN" b="1" dirty="0">
                <a:latin typeface="Courier New" panose="02070409020205090404" pitchFamily="49" charset="0"/>
              </a:rPr>
              <a:t>=%</a:t>
            </a:r>
            <a:r>
              <a:rPr lang="en-US" altLang="zh-CN" b="1" dirty="0" err="1">
                <a:latin typeface="Courier New" panose="02070409020205090404" pitchFamily="49" charset="0"/>
              </a:rPr>
              <a:t>d</a:t>
            </a:r>
            <a:r>
              <a:rPr lang="en-US" altLang="zh-CN" b="1" dirty="0" err="1">
                <a:effectLst>
                  <a:outerShdw blurRad="38100" dist="38100" dir="2700000">
                    <a:srgbClr val="FFFFFF"/>
                  </a:outerShdw>
                </a:effectLst>
                <a:latin typeface="Arial" panose="020B0604020202090204" pitchFamily="34" charset="0"/>
              </a:rPr>
              <a:t>"</a:t>
            </a:r>
            <a:r>
              <a:rPr lang="en-US" altLang="zh-CN" b="1" dirty="0" err="1">
                <a:latin typeface="Courier New" panose="02070409020205090404" pitchFamily="49" charset="0"/>
              </a:rPr>
              <a:t>,a,b</a:t>
            </a:r>
            <a:r>
              <a:rPr lang="en-US" altLang="zh-CN" b="1" dirty="0">
                <a:latin typeface="Courier New" panose="02070409020205090404" pitchFamily="49" charset="0"/>
              </a:rPr>
              <a:t>);</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return 0;</a:t>
            </a:r>
            <a:endParaRPr lang="en-US" altLang="zh-CN" b="1" dirty="0">
              <a:latin typeface="Courier New" panose="02070409020205090404" pitchFamily="49" charset="0"/>
            </a:endParaRPr>
          </a:p>
          <a:p>
            <a:pPr>
              <a:lnSpc>
                <a:spcPts val="2200"/>
              </a:lnSpc>
              <a:buClr>
                <a:schemeClr val="tx2"/>
              </a:buClr>
              <a:buSzPct val="80000"/>
              <a:buFont typeface="Wingdings" panose="05000000000000000000" pitchFamily="2" charset="2"/>
            </a:pPr>
            <a:r>
              <a:rPr lang="en-US" altLang="zh-CN" b="1" dirty="0">
                <a:latin typeface="Courier New" panose="02070409020205090404" pitchFamily="49" charset="0"/>
              </a:rPr>
              <a:t>} </a:t>
            </a:r>
            <a:br>
              <a:rPr lang="en-US" altLang="zh-CN" b="1" dirty="0">
                <a:latin typeface="Courier New" panose="02070409020205090404" pitchFamily="49" charset="0"/>
              </a:rPr>
            </a:br>
            <a:endParaRPr lang="en-US" altLang="zh-CN" b="1" dirty="0">
              <a:latin typeface="Courier New" panose="02070409020205090404" pitchFamily="49" charset="0"/>
            </a:endParaRPr>
          </a:p>
        </p:txBody>
      </p:sp>
      <p:sp>
        <p:nvSpPr>
          <p:cNvPr id="39940" name="Rectangle 9"/>
          <p:cNvSpPr txBox="1"/>
          <p:nvPr/>
        </p:nvSpPr>
        <p:spPr>
          <a:xfrm>
            <a:off x="1212850" y="4057650"/>
            <a:ext cx="4070350" cy="2774950"/>
          </a:xfrm>
          <a:prstGeom prst="rect">
            <a:avLst/>
          </a:prstGeom>
          <a:noFill/>
          <a:ln w="9525">
            <a:noFill/>
          </a:ln>
        </p:spPr>
        <p:txBody>
          <a:bodyPr anchor="t" anchorCtr="0"/>
          <a:lstStyle/>
          <a:p>
            <a:pPr marL="342900" indent="-342900" hangingPunct="0">
              <a:lnSpc>
                <a:spcPct val="85000"/>
              </a:lnSpc>
              <a:buClr>
                <a:schemeClr val="tx2"/>
              </a:buClr>
              <a:buSzPct val="50000"/>
              <a:buFont typeface="Monotype Sorts"/>
            </a:pPr>
            <a:endParaRPr lang="zh-CN" altLang="en-US" sz="2800" dirty="0">
              <a:latin typeface="Times New Roman" panose="02020503050405090304" pitchFamily="18" charset="0"/>
              <a:ea typeface="宋体" pitchFamily="2" charset="-122"/>
            </a:endParaRPr>
          </a:p>
          <a:p>
            <a:pPr marL="342900" indent="-342900" hangingPunct="0">
              <a:lnSpc>
                <a:spcPct val="85000"/>
              </a:lnSpc>
              <a:buClr>
                <a:schemeClr val="tx2"/>
              </a:buClr>
              <a:buSzPct val="50000"/>
              <a:buFont typeface="Monotype Sorts"/>
            </a:pPr>
            <a:endParaRPr lang="en-US" altLang="zh-CN" dirty="0">
              <a:latin typeface="Courier New" panose="02070409020205090404" pitchFamily="49" charset="0"/>
            </a:endParaRPr>
          </a:p>
          <a:p>
            <a:pPr marL="342900" indent="-342900" hangingPunct="0">
              <a:lnSpc>
                <a:spcPct val="85000"/>
              </a:lnSpc>
              <a:buClr>
                <a:schemeClr val="tx2"/>
              </a:buClr>
              <a:buSzPct val="50000"/>
              <a:buFont typeface="Monotype Sorts"/>
            </a:pPr>
            <a:r>
              <a:rPr lang="en-US" altLang="zh-CN" b="1" dirty="0">
                <a:latin typeface="Courier New" panose="02070409020205090404" pitchFamily="49" charset="0"/>
              </a:rPr>
              <a:t>void Swap( int x, int y )</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 </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    int temp;</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    temp = x;</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    x = y;</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    y = temp;</a:t>
            </a:r>
            <a:endParaRPr lang="en-US" altLang="zh-CN" b="1" dirty="0">
              <a:latin typeface="Courier New" panose="02070409020205090404" pitchFamily="49" charset="0"/>
            </a:endParaRPr>
          </a:p>
          <a:p>
            <a:pPr marL="342900" indent="-342900" hangingPunct="0">
              <a:lnSpc>
                <a:spcPct val="90000"/>
              </a:lnSpc>
              <a:buClr>
                <a:schemeClr val="tx2"/>
              </a:buClr>
              <a:buSzPct val="50000"/>
              <a:buFont typeface="Monotype Sorts"/>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sp>
        <p:nvSpPr>
          <p:cNvPr id="11" name="Rectangle 10"/>
          <p:cNvSpPr>
            <a:spLocks noChangeArrowheads="1"/>
          </p:cNvSpPr>
          <p:nvPr/>
        </p:nvSpPr>
        <p:spPr bwMode="auto">
          <a:xfrm>
            <a:off x="1276350" y="1839913"/>
            <a:ext cx="4083050" cy="2606675"/>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int main()</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int a, b;</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 = 5;</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b = 9;</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Swap( a, b );</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printf</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r>
              <a:rPr kumimoji="0" lang="en-US" altLang="zh-CN"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d,b</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=%d</a:t>
            </a:r>
            <a:r>
              <a:rPr kumimoji="0" lang="en-US" altLang="zh-CN"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a,b</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return 0;</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 typeface="Wingdings" panose="05000000000000000000" pitchFamily="2" charset="2"/>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p:txBody>
      </p:sp>
      <p:sp>
        <p:nvSpPr>
          <p:cNvPr id="12" name="Oval 22"/>
          <p:cNvSpPr>
            <a:spLocks noChangeArrowheads="1"/>
          </p:cNvSpPr>
          <p:nvPr/>
        </p:nvSpPr>
        <p:spPr bwMode="auto">
          <a:xfrm>
            <a:off x="2514600" y="3260725"/>
            <a:ext cx="820738" cy="288925"/>
          </a:xfrm>
          <a:prstGeom prst="ellipse">
            <a:avLst/>
          </a:prstGeom>
          <a:noFill/>
          <a:ln w="19050" cap="sq">
            <a:solidFill>
              <a:srgbClr val="009900"/>
            </a:solidFill>
            <a:round/>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3" name="Oval 23"/>
          <p:cNvSpPr>
            <a:spLocks noChangeArrowheads="1"/>
          </p:cNvSpPr>
          <p:nvPr/>
        </p:nvSpPr>
        <p:spPr bwMode="auto">
          <a:xfrm>
            <a:off x="7693025" y="3160713"/>
            <a:ext cx="1152525" cy="390525"/>
          </a:xfrm>
          <a:prstGeom prst="ellipse">
            <a:avLst/>
          </a:prstGeom>
          <a:noFill/>
          <a:ln w="19050" cap="sq">
            <a:solidFill>
              <a:srgbClr val="009900"/>
            </a:solidFill>
            <a:round/>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4" name="Oval 24"/>
          <p:cNvSpPr/>
          <p:nvPr/>
        </p:nvSpPr>
        <p:spPr>
          <a:xfrm>
            <a:off x="4922838" y="3279775"/>
            <a:ext cx="1585912" cy="390525"/>
          </a:xfrm>
          <a:prstGeom prst="ellipse">
            <a:avLst/>
          </a:prstGeom>
          <a:solidFill>
            <a:srgbClr val="FFFFC2"/>
          </a:solidFill>
          <a:ln w="28575" cap="sq" cmpd="sng">
            <a:solidFill>
              <a:srgbClr val="009900"/>
            </a:solidFill>
            <a:prstDash val="solid"/>
            <a:round/>
            <a:headEnd type="none" w="sm" len="sm"/>
            <a:tailEnd type="none" w="sm" len="sm"/>
          </a:ln>
        </p:spPr>
        <p:txBody>
          <a:bodyPr wrap="none" anchor="ctr" anchorCtr="0"/>
          <a:lstStyle/>
          <a:p>
            <a:pPr algn="ctr">
              <a:lnSpc>
                <a:spcPct val="90000"/>
              </a:lnSpc>
              <a:spcBef>
                <a:spcPts val="590"/>
              </a:spcBef>
              <a:spcAft>
                <a:spcPts val="590"/>
              </a:spcAft>
              <a:buClr>
                <a:schemeClr val="tx2"/>
              </a:buClr>
              <a:buSzPct val="80000"/>
              <a:buFont typeface="Wingdings" panose="05000000000000000000" pitchFamily="2" charset="2"/>
            </a:pPr>
            <a:r>
              <a:rPr lang="zh-CN" altLang="en-US" dirty="0">
                <a:latin typeface="黑体" panose="02010609060101010101" pitchFamily="49" charset="-122"/>
                <a:ea typeface="黑体" panose="02010609060101010101" pitchFamily="49" charset="-122"/>
              </a:rPr>
              <a:t>实参</a:t>
            </a:r>
            <a:endParaRPr lang="zh-CN" altLang="en-US" dirty="0">
              <a:latin typeface="黑体" panose="02010609060101010101" pitchFamily="49" charset="-122"/>
              <a:ea typeface="黑体" panose="02010609060101010101" pitchFamily="49" charset="-122"/>
            </a:endParaRPr>
          </a:p>
        </p:txBody>
      </p:sp>
      <p:sp>
        <p:nvSpPr>
          <p:cNvPr id="15" name="Line 25"/>
          <p:cNvSpPr/>
          <p:nvPr/>
        </p:nvSpPr>
        <p:spPr>
          <a:xfrm flipH="1">
            <a:off x="3305175" y="3487738"/>
            <a:ext cx="1616075" cy="0"/>
          </a:xfrm>
          <a:prstGeom prst="line">
            <a:avLst/>
          </a:prstGeom>
          <a:ln w="28575" cap="sq" cmpd="sng">
            <a:solidFill>
              <a:srgbClr val="009900"/>
            </a:solidFill>
            <a:prstDash val="solid"/>
            <a:round/>
            <a:headEnd type="triangle" w="med" len="med"/>
            <a:tailEnd type="none" w="med" len="med"/>
          </a:ln>
        </p:spPr>
      </p:sp>
      <p:sp>
        <p:nvSpPr>
          <p:cNvPr id="16" name="Line 26"/>
          <p:cNvSpPr/>
          <p:nvPr/>
        </p:nvSpPr>
        <p:spPr>
          <a:xfrm>
            <a:off x="6523038" y="3478213"/>
            <a:ext cx="1223962" cy="0"/>
          </a:xfrm>
          <a:prstGeom prst="line">
            <a:avLst/>
          </a:prstGeom>
          <a:ln w="28575" cap="sq" cmpd="sng">
            <a:solidFill>
              <a:srgbClr val="009900"/>
            </a:solidFill>
            <a:prstDash val="solid"/>
            <a:round/>
            <a:headEnd type="triangle" w="med" len="med"/>
            <a:tailEnd type="none" w="med" len="med"/>
          </a:ln>
        </p:spPr>
      </p:sp>
      <p:sp>
        <p:nvSpPr>
          <p:cNvPr id="17" name="Oval 27"/>
          <p:cNvSpPr>
            <a:spLocks noChangeArrowheads="1"/>
          </p:cNvSpPr>
          <p:nvPr/>
        </p:nvSpPr>
        <p:spPr bwMode="auto">
          <a:xfrm>
            <a:off x="2868613" y="4548188"/>
            <a:ext cx="2089150" cy="431800"/>
          </a:xfrm>
          <a:prstGeom prst="ellipse">
            <a:avLst/>
          </a:prstGeom>
          <a:noFill/>
          <a:ln w="28575" cap="sq">
            <a:solidFill>
              <a:srgbClr val="009900"/>
            </a:solidFill>
            <a:round/>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8" name="Oval 28"/>
          <p:cNvSpPr>
            <a:spLocks noChangeArrowheads="1"/>
          </p:cNvSpPr>
          <p:nvPr/>
        </p:nvSpPr>
        <p:spPr bwMode="auto">
          <a:xfrm>
            <a:off x="8124825" y="4567238"/>
            <a:ext cx="2376488" cy="431800"/>
          </a:xfrm>
          <a:prstGeom prst="ellipse">
            <a:avLst/>
          </a:prstGeom>
          <a:noFill/>
          <a:ln w="28575" cap="sq">
            <a:solidFill>
              <a:srgbClr val="009900"/>
            </a:solidFill>
            <a:round/>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 name="Oval 29"/>
          <p:cNvSpPr/>
          <p:nvPr/>
        </p:nvSpPr>
        <p:spPr>
          <a:xfrm>
            <a:off x="4830763" y="5075238"/>
            <a:ext cx="1711325" cy="390525"/>
          </a:xfrm>
          <a:prstGeom prst="ellipse">
            <a:avLst/>
          </a:prstGeom>
          <a:solidFill>
            <a:srgbClr val="FFFFC2"/>
          </a:solidFill>
          <a:ln w="28575" cap="sq" cmpd="sng">
            <a:solidFill>
              <a:srgbClr val="009900"/>
            </a:solidFill>
            <a:prstDash val="solid"/>
            <a:round/>
            <a:headEnd type="none" w="sm" len="sm"/>
            <a:tailEnd type="none" w="sm" len="sm"/>
          </a:ln>
        </p:spPr>
        <p:txBody>
          <a:bodyPr wrap="none" anchor="ctr" anchorCtr="0"/>
          <a:lstStyle/>
          <a:p>
            <a:pPr algn="ctr">
              <a:lnSpc>
                <a:spcPct val="90000"/>
              </a:lnSpc>
              <a:spcBef>
                <a:spcPts val="590"/>
              </a:spcBef>
              <a:spcAft>
                <a:spcPts val="590"/>
              </a:spcAft>
              <a:buClr>
                <a:schemeClr val="tx2"/>
              </a:buClr>
              <a:buSzPct val="80000"/>
              <a:buFont typeface="Wingdings" panose="05000000000000000000" pitchFamily="2" charset="2"/>
            </a:pPr>
            <a:r>
              <a:rPr lang="zh-CN" altLang="en-US" dirty="0">
                <a:latin typeface="黑体" panose="02010609060101010101" pitchFamily="49" charset="-122"/>
                <a:ea typeface="黑体" panose="02010609060101010101" pitchFamily="49" charset="-122"/>
              </a:rPr>
              <a:t>形参</a:t>
            </a:r>
            <a:endParaRPr lang="zh-CN" altLang="en-US" dirty="0">
              <a:latin typeface="黑体" panose="02010609060101010101" pitchFamily="49" charset="-122"/>
              <a:ea typeface="黑体" panose="02010609060101010101" pitchFamily="49" charset="-122"/>
            </a:endParaRPr>
          </a:p>
        </p:txBody>
      </p:sp>
      <p:sp>
        <p:nvSpPr>
          <p:cNvPr id="20" name="Line 30"/>
          <p:cNvSpPr/>
          <p:nvPr/>
        </p:nvSpPr>
        <p:spPr>
          <a:xfrm flipV="1">
            <a:off x="6542088" y="4932363"/>
            <a:ext cx="1943100" cy="360362"/>
          </a:xfrm>
          <a:prstGeom prst="line">
            <a:avLst/>
          </a:prstGeom>
          <a:ln w="28575" cap="sq" cmpd="sng">
            <a:solidFill>
              <a:srgbClr val="009900"/>
            </a:solidFill>
            <a:prstDash val="solid"/>
            <a:round/>
            <a:headEnd type="triangle" w="med" len="med"/>
            <a:tailEnd type="none" w="med" len="med"/>
          </a:ln>
        </p:spPr>
      </p:sp>
      <p:sp>
        <p:nvSpPr>
          <p:cNvPr id="21" name="Line 31"/>
          <p:cNvSpPr/>
          <p:nvPr/>
        </p:nvSpPr>
        <p:spPr>
          <a:xfrm flipH="1" flipV="1">
            <a:off x="3752850" y="5005388"/>
            <a:ext cx="1079500" cy="215900"/>
          </a:xfrm>
          <a:prstGeom prst="line">
            <a:avLst/>
          </a:prstGeom>
          <a:ln w="28575" cap="sq" cmpd="sng">
            <a:solidFill>
              <a:srgbClr val="009900"/>
            </a:solidFill>
            <a:prstDash val="solid"/>
            <a:round/>
            <a:headEnd type="triangle" w="med" len="med"/>
            <a:tailEnd type="none" w="med" len="med"/>
          </a:ln>
        </p:spPr>
      </p:sp>
      <p:sp>
        <p:nvSpPr>
          <p:cNvPr id="39952" name="Text Box 11"/>
          <p:cNvSpPr txBox="1"/>
          <p:nvPr/>
        </p:nvSpPr>
        <p:spPr>
          <a:xfrm>
            <a:off x="1214438" y="1200150"/>
            <a:ext cx="4616450" cy="366713"/>
          </a:xfrm>
          <a:prstGeom prst="rect">
            <a:avLst/>
          </a:prstGeom>
          <a:noFill/>
          <a:ln w="12700">
            <a:noFill/>
          </a:ln>
        </p:spPr>
        <p:txBody>
          <a:bodyPr anchor="t" anchorCtr="0">
            <a:spAutoFit/>
          </a:bodyPr>
          <a:lstStyle/>
          <a:p>
            <a:pPr>
              <a:lnSpc>
                <a:spcPct val="90000"/>
              </a:lnSpc>
              <a:spcBef>
                <a:spcPts val="590"/>
              </a:spcBef>
              <a:spcAft>
                <a:spcPts val="590"/>
              </a:spcAft>
              <a:buClr>
                <a:schemeClr val="tx2"/>
              </a:buClr>
              <a:buSzPct val="80000"/>
              <a:buFont typeface="Wingdings" panose="05000000000000000000" pitchFamily="2" charset="2"/>
            </a:pPr>
            <a:r>
              <a:rPr lang="zh-CN" altLang="en-US" b="1" dirty="0">
                <a:latin typeface="黑体" panose="02010609060101010101" pitchFamily="49" charset="-122"/>
                <a:ea typeface="黑体" panose="02010609060101010101" pitchFamily="49" charset="-122"/>
              </a:rPr>
              <a:t>程序 </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：简单变量作函数参数</a:t>
            </a:r>
            <a:endParaRPr lang="en-US" altLang="zh-CN" b="1" dirty="0">
              <a:latin typeface="黑体" panose="02010609060101010101" pitchFamily="49" charset="-122"/>
              <a:ea typeface="黑体" panose="02010609060101010101" pitchFamily="49" charset="-122"/>
            </a:endParaRPr>
          </a:p>
        </p:txBody>
      </p:sp>
      <p:sp>
        <p:nvSpPr>
          <p:cNvPr id="39953" name="Text Box 11"/>
          <p:cNvSpPr txBox="1"/>
          <p:nvPr/>
        </p:nvSpPr>
        <p:spPr>
          <a:xfrm>
            <a:off x="6557963" y="1244600"/>
            <a:ext cx="4576762" cy="366713"/>
          </a:xfrm>
          <a:prstGeom prst="rect">
            <a:avLst/>
          </a:prstGeom>
          <a:noFill/>
          <a:ln w="12700">
            <a:noFill/>
          </a:ln>
        </p:spPr>
        <p:txBody>
          <a:bodyPr anchor="t" anchorCtr="0">
            <a:spAutoFit/>
          </a:bodyPr>
          <a:lstStyle/>
          <a:p>
            <a:pPr>
              <a:lnSpc>
                <a:spcPct val="90000"/>
              </a:lnSpc>
              <a:spcBef>
                <a:spcPts val="590"/>
              </a:spcBef>
              <a:spcAft>
                <a:spcPts val="590"/>
              </a:spcAft>
              <a:buClr>
                <a:schemeClr val="tx2"/>
              </a:buClr>
              <a:buSzPct val="80000"/>
              <a:buFont typeface="Wingdings" panose="05000000000000000000" pitchFamily="2" charset="2"/>
            </a:pPr>
            <a:r>
              <a:rPr lang="zh-CN" altLang="en-US" b="1" dirty="0">
                <a:latin typeface="黑体" panose="02010609060101010101" pitchFamily="49" charset="-122"/>
                <a:ea typeface="黑体" panose="02010609060101010101" pitchFamily="49" charset="-122"/>
              </a:rPr>
              <a:t>程序 </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：指针变量作函数参数</a:t>
            </a:r>
            <a:endParaRPr lang="en-US" altLang="zh-CN" b="1" dirty="0">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000"/>
                            </p:stCondLst>
                            <p:childTnLst>
                              <p:par>
                                <p:cTn id="21" presetID="22" presetClass="entr" presetSubtype="2"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500"/>
                                        <p:tgtEl>
                                          <p:spTgt spid="13"/>
                                        </p:tgtEl>
                                      </p:cBhvr>
                                    </p:animEffect>
                                  </p:childTnLst>
                                </p:cTn>
                              </p:par>
                            </p:childTnLst>
                          </p:cTn>
                        </p:par>
                        <p:par>
                          <p:cTn id="24" fill="hold">
                            <p:stCondLst>
                              <p:cond delay="1500"/>
                            </p:stCondLst>
                            <p:childTnLst>
                              <p:par>
                                <p:cTn id="25" presetID="22" presetClass="entr" presetSubtype="2"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right)">
                                      <p:cBhvr>
                                        <p:cTn id="27" dur="500"/>
                                        <p:tgtEl>
                                          <p:spTgt spid="16"/>
                                        </p:tgtEl>
                                      </p:cBhvr>
                                    </p:animEffect>
                                  </p:childTnLst>
                                </p:cTn>
                              </p:par>
                            </p:childTnLst>
                          </p:cTn>
                        </p:par>
                        <p:par>
                          <p:cTn id="28" fill="hold">
                            <p:stCondLst>
                              <p:cond delay="2000"/>
                            </p:stCondLst>
                            <p:childTnLst>
                              <p:par>
                                <p:cTn id="29" presetID="16" presetClass="entr" presetSubtype="21"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par>
                          <p:cTn id="37" fill="hold">
                            <p:stCondLst>
                              <p:cond delay="500"/>
                            </p:stCondLst>
                            <p:childTnLst>
                              <p:par>
                                <p:cTn id="38" presetID="22" presetClass="entr" presetSubtype="1"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up)">
                                      <p:cBhvr>
                                        <p:cTn id="40" dur="500"/>
                                        <p:tgtEl>
                                          <p:spTgt spid="21"/>
                                        </p:tgtEl>
                                      </p:cBhvr>
                                    </p:animEffect>
                                  </p:childTnLst>
                                </p:cTn>
                              </p:par>
                            </p:childTnLst>
                          </p:cTn>
                        </p:par>
                        <p:par>
                          <p:cTn id="41" fill="hold">
                            <p:stCondLst>
                              <p:cond delay="1000"/>
                            </p:stCondLst>
                            <p:childTnLst>
                              <p:par>
                                <p:cTn id="42" presetID="22" presetClass="entr" presetSubtype="2"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500"/>
                                        <p:tgtEl>
                                          <p:spTgt spid="18"/>
                                        </p:tgtEl>
                                      </p:cBhvr>
                                    </p:animEffect>
                                  </p:childTnLst>
                                </p:cTn>
                              </p:par>
                            </p:childTnLst>
                          </p:cTn>
                        </p:par>
                        <p:par>
                          <p:cTn id="45" fill="hold">
                            <p:stCondLst>
                              <p:cond delay="1500"/>
                            </p:stCondLst>
                            <p:childTnLst>
                              <p:par>
                                <p:cTn id="46" presetID="22" presetClass="entr" presetSubtype="1" fill="hold" nodeType="after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up)">
                                      <p:cBhvr>
                                        <p:cTn id="48" dur="500"/>
                                        <p:tgtEl>
                                          <p:spTgt spid="20"/>
                                        </p:tgtEl>
                                      </p:cBhvr>
                                    </p:animEffect>
                                  </p:childTnLst>
                                </p:cTn>
                              </p:par>
                            </p:childTnLst>
                          </p:cTn>
                        </p:par>
                        <p:par>
                          <p:cTn id="49" fill="hold">
                            <p:stCondLst>
                              <p:cond delay="2000"/>
                            </p:stCondLst>
                            <p:childTnLst>
                              <p:par>
                                <p:cTn id="50" presetID="16" presetClass="entr" presetSubtype="21"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animBg="1"/>
      <p:bldP spid="13" grpId="0" animBg="1"/>
      <p:bldP spid="14" grpId="0" animBg="1"/>
      <p:bldP spid="17" grpId="0" animBg="1"/>
      <p:bldP spid="18" grpId="0" animBg="1"/>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61" name="Picture 15"/>
          <p:cNvPicPr>
            <a:picLocks noChangeAspect="1"/>
          </p:cNvPicPr>
          <p:nvPr/>
        </p:nvPicPr>
        <p:blipFill>
          <a:blip r:embed="rId1"/>
          <a:stretch>
            <a:fillRect/>
          </a:stretch>
        </p:blipFill>
        <p:spPr>
          <a:xfrm>
            <a:off x="2351088" y="2974975"/>
            <a:ext cx="4175125" cy="3333750"/>
          </a:xfrm>
          <a:prstGeom prst="rect">
            <a:avLst/>
          </a:prstGeom>
          <a:noFill/>
          <a:ln w="50800" cap="flat" cmpd="thickThin">
            <a:solidFill>
              <a:srgbClr val="333399"/>
            </a:solidFill>
            <a:prstDash val="solid"/>
            <a:miter/>
            <a:headEnd type="none" w="med" len="med"/>
            <a:tailEnd type="none" w="med" len="med"/>
          </a:ln>
        </p:spPr>
      </p:pic>
      <p:pic>
        <p:nvPicPr>
          <p:cNvPr id="40962" name="Picture 16"/>
          <p:cNvPicPr>
            <a:picLocks noChangeAspect="1"/>
          </p:cNvPicPr>
          <p:nvPr/>
        </p:nvPicPr>
        <p:blipFill>
          <a:blip r:embed="rId2"/>
          <a:stretch>
            <a:fillRect/>
          </a:stretch>
        </p:blipFill>
        <p:spPr>
          <a:xfrm>
            <a:off x="6743700" y="3238500"/>
            <a:ext cx="3100388" cy="3073400"/>
          </a:xfrm>
          <a:prstGeom prst="rect">
            <a:avLst/>
          </a:prstGeom>
          <a:noFill/>
          <a:ln w="50800" cap="flat" cmpd="thickThin">
            <a:solidFill>
              <a:srgbClr val="333399"/>
            </a:solidFill>
            <a:prstDash val="solid"/>
            <a:miter/>
            <a:headEnd type="none" w="med" len="med"/>
            <a:tailEnd type="none" w="med" len="med"/>
          </a:ln>
        </p:spPr>
      </p:pic>
      <p:sp>
        <p:nvSpPr>
          <p:cNvPr id="40963" name="Rectangle 2"/>
          <p:cNvSpPr>
            <a:spLocks noGrp="1"/>
          </p:cNvSpPr>
          <p:nvPr>
            <p:ph type="title"/>
          </p:nvPr>
        </p:nvSpPr>
        <p:spPr>
          <a:xfrm>
            <a:off x="1881188" y="404813"/>
            <a:ext cx="8858250" cy="839787"/>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2.3.2 </a:t>
            </a:r>
            <a:r>
              <a:rPr lang="zh-CN" altLang="en-US" kern="1200" dirty="0">
                <a:latin typeface="Arial" panose="020B0604020202090204" pitchFamily="34" charset="0"/>
                <a:ea typeface="黑体" panose="02010609060101010101" pitchFamily="49" charset="-122"/>
                <a:cs typeface="Arial" panose="020B0604020202090204" pitchFamily="34" charset="0"/>
              </a:rPr>
              <a:t>函数原型</a:t>
            </a:r>
            <a:endParaRPr lang="en-US" altLang="zh-CN" sz="4800" kern="1200" dirty="0">
              <a:latin typeface="Arial" panose="020B0604020202090204" pitchFamily="34" charset="0"/>
              <a:ea typeface="黑体" panose="02010609060101010101" pitchFamily="49" charset="-122"/>
              <a:cs typeface="Arial" panose="020B0604020202090204" pitchFamily="34" charset="0"/>
            </a:endParaRPr>
          </a:p>
        </p:txBody>
      </p:sp>
      <p:sp>
        <p:nvSpPr>
          <p:cNvPr id="506883" name="Rectangle 3"/>
          <p:cNvSpPr>
            <a:spLocks noGrp="1"/>
          </p:cNvSpPr>
          <p:nvPr>
            <p:ph idx="1"/>
          </p:nvPr>
        </p:nvSpPr>
        <p:spPr>
          <a:xfrm>
            <a:off x="1530350" y="1341438"/>
            <a:ext cx="9209088" cy="2303462"/>
          </a:xfrm>
        </p:spPr>
        <p:txBody>
          <a:bodyPr vert="horz" wrap="square" lIns="91440" tIns="45720" rIns="91440" bIns="45720" anchor="t" anchorCtr="0"/>
          <a:lstStyle/>
          <a:p>
            <a:pPr eaLnBrk="1" hangingPunct="1">
              <a:lnSpc>
                <a:spcPct val="100000"/>
              </a:lnSpc>
              <a:spcBef>
                <a:spcPct val="0"/>
              </a:spcBef>
              <a:buSzPct val="50000"/>
            </a:pPr>
            <a:r>
              <a:rPr lang="zh-CN" altLang="en-US" sz="3000" kern="1200" dirty="0">
                <a:latin typeface="Arial" panose="020B0604020202090204" pitchFamily="34" charset="0"/>
                <a:ea typeface="黑体" panose="02010609060101010101" pitchFamily="49" charset="-122"/>
                <a:cs typeface="+mn-cs"/>
              </a:rPr>
              <a:t>函数原型</a:t>
            </a:r>
            <a:r>
              <a:rPr lang="zh-CN" altLang="en-US" sz="3200" kern="1200" dirty="0">
                <a:latin typeface="Arial" panose="020B0604020202090204" pitchFamily="34" charset="0"/>
                <a:ea typeface="黑体" panose="02010609060101010101" pitchFamily="49" charset="-122"/>
                <a:cs typeface="+mn-cs"/>
              </a:rPr>
              <a:t>（</a:t>
            </a:r>
            <a:r>
              <a:rPr lang="en-US" altLang="zh-CN" sz="3200" kern="1200" dirty="0">
                <a:latin typeface="Arial" panose="020B0604020202090204" pitchFamily="34" charset="0"/>
                <a:ea typeface="黑体" panose="02010609060101010101" pitchFamily="49" charset="-122"/>
                <a:cs typeface="+mn-cs"/>
              </a:rPr>
              <a:t>Function Prototype</a:t>
            </a:r>
            <a:r>
              <a:rPr lang="zh-CN" altLang="en-US" sz="3200" kern="1200" dirty="0">
                <a:latin typeface="Arial" panose="020B0604020202090204" pitchFamily="34" charset="0"/>
                <a:ea typeface="黑体" panose="02010609060101010101" pitchFamily="49" charset="-122"/>
                <a:cs typeface="+mn-cs"/>
              </a:rPr>
              <a:t>）</a:t>
            </a:r>
            <a:endParaRPr lang="zh-CN" altLang="en-US" sz="3200" kern="1200" dirty="0">
              <a:latin typeface="Arial" panose="020B0604020202090204" pitchFamily="34" charset="0"/>
              <a:ea typeface="黑体" panose="02010609060101010101" pitchFamily="49" charset="-122"/>
              <a:cs typeface="+mn-cs"/>
            </a:endParaRPr>
          </a:p>
          <a:p>
            <a:pPr lvl="1" eaLnBrk="1" hangingPunct="1">
              <a:lnSpc>
                <a:spcPct val="100000"/>
              </a:lnSpc>
              <a:spcBef>
                <a:spcPct val="0"/>
              </a:spcBef>
              <a:buSzPct val="50000"/>
            </a:pPr>
            <a:r>
              <a:rPr lang="zh-CN" altLang="en-US" sz="2600" kern="1200" dirty="0">
                <a:latin typeface="宋体" pitchFamily="2" charset="-122"/>
                <a:ea typeface="黑体" panose="02010609060101010101" pitchFamily="49" charset="-122"/>
                <a:cs typeface="Times New Roman" panose="02020503050405090304" pitchFamily="18" charset="0"/>
              </a:rPr>
              <a:t>调用函数前先声明返回值类型、函数名和形参类型</a:t>
            </a:r>
            <a:endParaRPr lang="en-US" altLang="zh-CN" sz="2600" kern="1200" dirty="0">
              <a:latin typeface="宋体" pitchFamily="2" charset="-122"/>
              <a:ea typeface="黑体" panose="02010609060101010101" pitchFamily="49" charset="-122"/>
              <a:cs typeface="Times New Roman" panose="02020503050405090304" pitchFamily="18" charset="0"/>
            </a:endParaRPr>
          </a:p>
          <a:p>
            <a:pPr lvl="1" eaLnBrk="1" hangingPunct="1">
              <a:lnSpc>
                <a:spcPct val="100000"/>
              </a:lnSpc>
              <a:spcBef>
                <a:spcPct val="0"/>
              </a:spcBef>
              <a:buSzPct val="50000"/>
            </a:pPr>
            <a:r>
              <a:rPr lang="zh-CN" altLang="en-US" sz="2600" kern="1200" dirty="0">
                <a:latin typeface="宋体" pitchFamily="2" charset="-122"/>
                <a:ea typeface="黑体" panose="02010609060101010101" pitchFamily="49" charset="-122"/>
                <a:cs typeface="Times New Roman" panose="02020503050405090304" pitchFamily="18" charset="0"/>
              </a:rPr>
              <a:t>有助于编译器对函数参数类型的匹配检查</a:t>
            </a:r>
            <a:endParaRPr lang="zh-CN" altLang="en-US" sz="2600" kern="1200" dirty="0">
              <a:latin typeface="宋体" pitchFamily="2" charset="-122"/>
              <a:ea typeface="黑体" panose="02010609060101010101" pitchFamily="49" charset="-122"/>
              <a:cs typeface="Times New Roman" panose="02020503050405090304" pitchFamily="18" charset="0"/>
            </a:endParaRPr>
          </a:p>
        </p:txBody>
      </p:sp>
      <p:sp>
        <p:nvSpPr>
          <p:cNvPr id="506888" name="Rectangle 8"/>
          <p:cNvSpPr>
            <a:spLocks noChangeArrowheads="1"/>
          </p:cNvSpPr>
          <p:nvPr/>
        </p:nvSpPr>
        <p:spPr bwMode="auto">
          <a:xfrm>
            <a:off x="2346325" y="3200400"/>
            <a:ext cx="2433638" cy="296863"/>
          </a:xfrm>
          <a:prstGeom prst="rect">
            <a:avLst/>
          </a:prstGeom>
          <a:noFill/>
          <a:ln w="28575">
            <a:solidFill>
              <a:srgbClr val="00B05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06888"/>
                                        </p:tgtEl>
                                        <p:attrNameLst>
                                          <p:attrName>style.visibility</p:attrName>
                                        </p:attrNameLst>
                                      </p:cBhvr>
                                      <p:to>
                                        <p:strVal val="visible"/>
                                      </p:to>
                                    </p:set>
                                    <p:anim calcmode="lin" valueType="num">
                                      <p:cBhvr>
                                        <p:cTn id="7" dur="500" fill="hold"/>
                                        <p:tgtEl>
                                          <p:spTgt spid="506888"/>
                                        </p:tgtEl>
                                        <p:attrNameLst>
                                          <p:attrName>ppt_w</p:attrName>
                                        </p:attrNameLst>
                                      </p:cBhvr>
                                      <p:tavLst>
                                        <p:tav tm="0">
                                          <p:val>
                                            <p:fltVal val="0"/>
                                          </p:val>
                                        </p:tav>
                                        <p:tav tm="100000">
                                          <p:val>
                                            <p:strVal val="#ppt_w"/>
                                          </p:val>
                                        </p:tav>
                                      </p:tavLst>
                                    </p:anim>
                                    <p:anim calcmode="lin" valueType="num">
                                      <p:cBhvr>
                                        <p:cTn id="8" dur="500" fill="hold"/>
                                        <p:tgtEl>
                                          <p:spTgt spid="50688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06883">
                                            <p:txEl>
                                              <p:pRg st="1" end="1"/>
                                            </p:txEl>
                                          </p:spTgt>
                                        </p:tgtEl>
                                        <p:attrNameLst>
                                          <p:attrName>style.visibility</p:attrName>
                                        </p:attrNameLst>
                                      </p:cBhvr>
                                      <p:to>
                                        <p:strVal val="visible"/>
                                      </p:to>
                                    </p:set>
                                    <p:anim calcmode="lin" valueType="num">
                                      <p:cBhvr>
                                        <p:cTn id="13" dur="500" fill="hold"/>
                                        <p:tgtEl>
                                          <p:spTgt spid="50688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0688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06883">
                                            <p:txEl>
                                              <p:pRg st="2" end="2"/>
                                            </p:txEl>
                                          </p:spTgt>
                                        </p:tgtEl>
                                        <p:attrNameLst>
                                          <p:attrName>style.visibility</p:attrName>
                                        </p:attrNameLst>
                                      </p:cBhvr>
                                      <p:to>
                                        <p:strVal val="visible"/>
                                      </p:to>
                                    </p:set>
                                    <p:anim calcmode="lin" valueType="num">
                                      <p:cBhvr>
                                        <p:cTn id="19" dur="500" fill="hold"/>
                                        <p:tgtEl>
                                          <p:spTgt spid="50688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06883">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985" name="图片 9"/>
          <p:cNvPicPr>
            <a:picLocks noChangeAspect="1"/>
          </p:cNvPicPr>
          <p:nvPr/>
        </p:nvPicPr>
        <p:blipFill>
          <a:blip r:embed="rId1">
            <a:clrChange>
              <a:clrFrom>
                <a:srgbClr val="FFFFFD"/>
              </a:clrFrom>
              <a:clrTo>
                <a:srgbClr val="FFFFFD">
                  <a:alpha val="0"/>
                </a:srgbClr>
              </a:clrTo>
            </a:clrChange>
          </a:blip>
          <a:stretch>
            <a:fillRect/>
          </a:stretch>
        </p:blipFill>
        <p:spPr>
          <a:xfrm>
            <a:off x="9983788" y="4437063"/>
            <a:ext cx="847725" cy="1655762"/>
          </a:xfrm>
          <a:prstGeom prst="rect">
            <a:avLst/>
          </a:prstGeom>
          <a:noFill/>
          <a:ln w="9525">
            <a:noFill/>
          </a:ln>
        </p:spPr>
      </p:pic>
      <p:sp>
        <p:nvSpPr>
          <p:cNvPr id="41986" name="AutoShape 4"/>
          <p:cNvSpPr/>
          <p:nvPr/>
        </p:nvSpPr>
        <p:spPr>
          <a:xfrm>
            <a:off x="9328150" y="1341438"/>
            <a:ext cx="1663700" cy="2303462"/>
          </a:xfrm>
          <a:prstGeom prst="cloudCallout">
            <a:avLst>
              <a:gd name="adj1" fmla="val 20403"/>
              <a:gd name="adj2" fmla="val 79880"/>
            </a:avLst>
          </a:prstGeom>
          <a:solidFill>
            <a:srgbClr val="FFFFCC"/>
          </a:solidFill>
          <a:ln w="38100" cap="flat" cmpd="sng">
            <a:solidFill>
              <a:srgbClr val="FF6600"/>
            </a:solidFill>
            <a:prstDash val="solid"/>
            <a:round/>
            <a:headEnd type="none" w="med" len="med"/>
            <a:tailEnd type="none" w="med" len="med"/>
          </a:ln>
        </p:spPr>
        <p:txBody>
          <a:bodyPr lIns="0" tIns="0" rIns="0" bIns="0" anchor="t"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400" dirty="0">
                <a:solidFill>
                  <a:srgbClr val="000099"/>
                </a:solidFill>
                <a:latin typeface="黑体" panose="02010609060101010101" pitchFamily="49" charset="-122"/>
                <a:ea typeface="黑体" panose="02010609060101010101" pitchFamily="49" charset="-122"/>
              </a:rPr>
              <a:t>函数定义与函数原型</a:t>
            </a:r>
            <a:r>
              <a:rPr lang="zh-CN" altLang="en-US" sz="2400" dirty="0">
                <a:solidFill>
                  <a:srgbClr val="000099"/>
                </a:solidFill>
                <a:latin typeface="黑体" panose="02010609060101010101" pitchFamily="49" charset="-122"/>
                <a:ea typeface="黑体" panose="02010609060101010101" pitchFamily="49" charset="-122"/>
              </a:rPr>
              <a:t>的区别？</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41987" name="Rectangle 2"/>
          <p:cNvSpPr>
            <a:spLocks noGrp="1"/>
          </p:cNvSpPr>
          <p:nvPr>
            <p:ph type="title"/>
          </p:nvPr>
        </p:nvSpPr>
        <p:spPr>
          <a:xfrm>
            <a:off x="1881188" y="404813"/>
            <a:ext cx="8858250" cy="839787"/>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2.3.2 </a:t>
            </a:r>
            <a:r>
              <a:rPr lang="zh-CN" altLang="en-US" kern="1200" dirty="0">
                <a:latin typeface="Arial" panose="020B0604020202090204" pitchFamily="34" charset="0"/>
                <a:ea typeface="黑体" panose="02010609060101010101" pitchFamily="49" charset="-122"/>
                <a:cs typeface="Arial" panose="020B0604020202090204" pitchFamily="34" charset="0"/>
              </a:rPr>
              <a:t>函数原型</a:t>
            </a:r>
            <a:endParaRPr lang="en-US" altLang="zh-CN" sz="4800" kern="1200" dirty="0">
              <a:latin typeface="Arial" panose="020B0604020202090204" pitchFamily="34" charset="0"/>
              <a:ea typeface="黑体" panose="02010609060101010101" pitchFamily="49" charset="-122"/>
              <a:cs typeface="Arial" panose="020B0604020202090204" pitchFamily="34" charset="0"/>
            </a:endParaRPr>
          </a:p>
        </p:txBody>
      </p:sp>
      <p:graphicFrame>
        <p:nvGraphicFramePr>
          <p:cNvPr id="8" name="表格 7"/>
          <p:cNvGraphicFramePr>
            <a:graphicFrameLocks noGrp="1"/>
          </p:cNvGraphicFramePr>
          <p:nvPr/>
        </p:nvGraphicFramePr>
        <p:xfrm>
          <a:off x="1487488" y="1341438"/>
          <a:ext cx="7993062" cy="4860926"/>
        </p:xfrm>
        <a:graphic>
          <a:graphicData uri="http://schemas.openxmlformats.org/drawingml/2006/table">
            <a:tbl>
              <a:tblPr/>
              <a:tblGrid>
                <a:gridCol w="2663825"/>
                <a:gridCol w="5329237"/>
              </a:tblGrid>
              <a:tr h="539750">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Franklin Gothic Book" pitchFamily="34" charset="0"/>
                          <a:ea typeface="黑体" panose="02010609060101010101" pitchFamily="49" charset="-122"/>
                        </a:rPr>
                        <a:t>函数定义</a:t>
                      </a:r>
                      <a:endParaRPr kumimoji="0" lang="zh-CN" altLang="en-US" sz="2400" b="1" i="0" u="none" strike="noStrike" cap="none" normalizeH="0" baseline="0">
                        <a:ln>
                          <a:noFill/>
                        </a:ln>
                        <a:solidFill>
                          <a:schemeClr val="tx1"/>
                        </a:solidFill>
                        <a:effectLst/>
                        <a:latin typeface="Franklin Gothic Book" pitchFamily="34" charset="0"/>
                        <a:ea typeface="黑体" panose="02010609060101010101" pitchFamily="49" charset="-122"/>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Franklin Gothic Book" pitchFamily="34" charset="0"/>
                          <a:ea typeface="黑体" panose="02010609060101010101" pitchFamily="49" charset="-122"/>
                        </a:rPr>
                        <a:t>函数原型</a:t>
                      </a:r>
                      <a:endParaRPr kumimoji="0" lang="zh-CN" altLang="en-US" sz="2400" b="1" i="0" u="none" strike="noStrike" cap="none" normalizeH="0" baseline="0">
                        <a:ln>
                          <a:noFill/>
                        </a:ln>
                        <a:solidFill>
                          <a:schemeClr val="tx1"/>
                        </a:solidFill>
                        <a:effectLst/>
                        <a:latin typeface="Franklin Gothic Book" pitchFamily="34" charset="0"/>
                        <a:ea typeface="黑体" panose="02010609060101010101" pitchFamily="49" charset="-122"/>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936625">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指函数功能的确立</a:t>
                      </a:r>
                      <a:endParaRPr kumimoji="1" lang="zh-CN" altLang="en-US"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对函数名、返回值类型、形参类型进行声明</a:t>
                      </a:r>
                      <a:endParaRPr kumimoji="1" lang="zh-CN" altLang="en-US"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576263">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有函数体</a:t>
                      </a:r>
                      <a:endParaRPr kumimoji="1" lang="zh-CN" altLang="en-US"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不包括函数体</a:t>
                      </a:r>
                      <a:endParaRPr kumimoji="1" lang="zh-CN" altLang="en-US"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936625">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是完整独立的单位</a:t>
                      </a:r>
                      <a:endParaRPr kumimoji="1" lang="en-US" altLang="zh-CN"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是一条语句，以分号结束，只起声明作用</a:t>
                      </a:r>
                      <a:endParaRPr kumimoji="1" lang="en-US" altLang="zh-CN"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r h="576263">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rPr>
                        <a:t>编译器做实事</a:t>
                      </a:r>
                      <a:endParaRPr kumimoji="0" lang="zh-CN" altLang="en-US" sz="2400" b="0" i="0" u="none" strike="noStrike" cap="none" normalizeH="0" baseline="0">
                        <a:ln>
                          <a:noFill/>
                        </a:ln>
                        <a:solidFill>
                          <a:srgbClr val="333399"/>
                        </a:solidFill>
                        <a:effectLst/>
                        <a:latin typeface="Franklin Gothic Book" pitchFamily="34" charset="0"/>
                        <a:ea typeface="黑体" panose="02010609060101010101" pitchFamily="49" charset="-122"/>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编译器对声明的态度是“我知道了”</a:t>
                      </a:r>
                      <a:endParaRPr kumimoji="1" lang="en-US" altLang="zh-CN"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EDF1F4"/>
                    </a:solidFill>
                  </a:tcPr>
                </a:tc>
              </a:tr>
              <a:tr h="1295400">
                <a:tc>
                  <a:txBody>
                    <a:bodyPr/>
                    <a:lstStyle>
                      <a:lvl1pPr>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rPr>
                        <a:t>分配内存，把函数装入内存</a:t>
                      </a:r>
                      <a:endParaRPr kumimoji="0" lang="zh-CN" altLang="en-US" sz="2400" b="0" i="0" u="none" strike="noStrike" cap="none" normalizeH="0" baseline="0">
                        <a:ln>
                          <a:noFill/>
                        </a:ln>
                        <a:solidFill>
                          <a:srgbClr val="333399"/>
                        </a:solidFill>
                        <a:effectLst/>
                        <a:latin typeface="Franklin Gothic Book" pitchFamily="34" charset="0"/>
                        <a:ea typeface="黑体" panose="02010609060101010101" pitchFamily="49" charset="-122"/>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c>
                  <a:txBody>
                    <a:bodyPr/>
                    <a:lstStyle>
                      <a:lvl1pPr marL="342900" indent="-342900">
                        <a:lnSpc>
                          <a:spcPct val="95000"/>
                        </a:lnSpc>
                        <a:spcBef>
                          <a:spcPts val="575"/>
                        </a:spcBef>
                        <a:buClr>
                          <a:schemeClr val="tx2"/>
                        </a:buClr>
                        <a:buSzPct val="50000"/>
                        <a:buFont typeface="Wingdings" panose="05000000000000000000" pitchFamily="2" charset="2"/>
                        <a:defRPr sz="2800">
                          <a:solidFill>
                            <a:schemeClr val="tx1"/>
                          </a:solidFill>
                          <a:latin typeface="Arial" panose="020B0604020202090204" pitchFamily="34" charset="0"/>
                          <a:ea typeface="黑体" panose="02010609060101010101" pitchFamily="49" charset="-122"/>
                        </a:defRPr>
                      </a:lvl1pPr>
                      <a:lvl2pPr>
                        <a:lnSpc>
                          <a:spcPct val="95000"/>
                        </a:lnSpc>
                        <a:spcBef>
                          <a:spcPts val="575"/>
                        </a:spcBef>
                        <a:buClr>
                          <a:schemeClr val="tx2"/>
                        </a:buClr>
                        <a:buSzPct val="50000"/>
                        <a:buFont typeface="Wingdings 2" panose="05020102010507070707" pitchFamily="18" charset="2"/>
                        <a:defRPr sz="24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defRPr sz="20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defRPr>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1"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rgbClr val="000000"/>
                          </a:solidFill>
                          <a:effectLst/>
                          <a:latin typeface="Franklin Gothic Book" pitchFamily="34" charset="0"/>
                          <a:ea typeface="黑体" panose="02010609060101010101" pitchFamily="49" charset="-122"/>
                          <a:cs typeface="Times New Roman" panose="02020503050405090304" pitchFamily="18" charset="0"/>
                        </a:rPr>
                        <a:t>不申请内存，只保留一个引用，执行程序链接时，将正确的内存地址链接到那个引用上</a:t>
                      </a:r>
                      <a:endParaRPr kumimoji="1" lang="zh-CN" altLang="en-US" sz="2400" b="0" i="0" u="none" strike="noStrike" cap="none" normalizeH="0" baseline="0">
                        <a:ln>
                          <a:noFill/>
                        </a:ln>
                        <a:solidFill>
                          <a:srgbClr val="333399"/>
                        </a:solidFill>
                        <a:effectLst/>
                        <a:latin typeface="宋体" pitchFamily="2" charset="-122"/>
                        <a:ea typeface="黑体" panose="02010609060101010101" pitchFamily="49" charset="-122"/>
                        <a:cs typeface="Times New Roman" panose="02020503050405090304" pitchFamily="18" charset="0"/>
                      </a:endParaRPr>
                    </a:p>
                  </a:txBody>
                  <a:tcPr marL="91442" marR="91442" marT="45713" marB="45713" horzOverflow="overflow">
                    <a:lnL w="12700" cap="flat" cmpd="sng" algn="ctr">
                      <a:solidFill>
                        <a:srgbClr val="85ADBC"/>
                      </a:solidFill>
                      <a:prstDash val="solid"/>
                      <a:round/>
                      <a:headEnd type="none" w="med" len="med"/>
                      <a:tailEnd type="none" w="med" len="med"/>
                    </a:lnL>
                    <a:lnR w="12700" cap="flat" cmpd="sng" algn="ctr">
                      <a:solidFill>
                        <a:srgbClr val="85ADBC"/>
                      </a:solidFill>
                      <a:prstDash val="solid"/>
                      <a:round/>
                      <a:headEnd type="none" w="med" len="med"/>
                      <a:tailEnd type="none" w="med" len="med"/>
                    </a:lnR>
                    <a:lnT w="12700" cap="flat" cmpd="sng" algn="ctr">
                      <a:solidFill>
                        <a:srgbClr val="85ADBC"/>
                      </a:solidFill>
                      <a:prstDash val="solid"/>
                      <a:round/>
                      <a:headEnd type="none" w="med" len="med"/>
                      <a:tailEnd type="none" w="med" len="med"/>
                    </a:lnT>
                    <a:lnB w="12700" cap="flat" cmpd="sng" algn="ctr">
                      <a:solidFill>
                        <a:srgbClr val="85ADBC"/>
                      </a:solidFill>
                      <a:prstDash val="solid"/>
                      <a:round/>
                      <a:headEnd type="none" w="med" len="med"/>
                      <a:tailEnd type="none" w="med" len="med"/>
                    </a:lnB>
                    <a:lnTlToBr>
                      <a:noFill/>
                    </a:lnTlToBr>
                    <a:lnBlToTr>
                      <a:noFill/>
                    </a:lnBlToTr>
                    <a:solidFill>
                      <a:srgbClr val="D9E3E7"/>
                    </a:solidFill>
                  </a:tcPr>
                </a:tc>
              </a:tr>
            </a:tbl>
          </a:graphicData>
        </a:graphic>
      </p:graphicFrame>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2.4 </a:t>
            </a:r>
            <a:r>
              <a:rPr lang="zh-CN" altLang="en-US" sz="4000" kern="1200" dirty="0">
                <a:latin typeface="Arial" panose="020B0604020202090204" pitchFamily="34" charset="0"/>
                <a:ea typeface="黑体" panose="02010609060101010101" pitchFamily="49" charset="-122"/>
                <a:cs typeface="Arial" panose="020B0604020202090204" pitchFamily="34" charset="0"/>
              </a:rPr>
              <a:t>变量的作用域和存储类型</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558083" name="Rectangle 3"/>
          <p:cNvSpPr>
            <a:spLocks noGrp="1"/>
          </p:cNvSpPr>
          <p:nvPr>
            <p:ph idx="1"/>
          </p:nvPr>
        </p:nvSpPr>
        <p:spPr>
          <a:xfrm>
            <a:off x="1703388" y="1484313"/>
            <a:ext cx="8815387" cy="4611687"/>
          </a:xfrm>
        </p:spPr>
        <p:txBody>
          <a:bodyPr vert="horz" wrap="square" lIns="91440" tIns="45720" rIns="91440" bIns="45720" anchor="t" anchorCtr="0"/>
          <a:lstStyle/>
          <a:p>
            <a:pPr>
              <a:lnSpc>
                <a:spcPct val="125000"/>
              </a:lnSpc>
              <a:spcAft>
                <a:spcPct val="0"/>
              </a:spcAft>
              <a:buSzPct val="50000"/>
            </a:pPr>
            <a:r>
              <a:rPr lang="zh-CN" altLang="en-US" sz="3600" kern="1200" dirty="0">
                <a:latin typeface="Arial" panose="020B0604020202090204" pitchFamily="34" charset="0"/>
                <a:ea typeface="黑体" panose="02010609060101010101" pitchFamily="49" charset="-122"/>
                <a:cs typeface="+mn-cs"/>
              </a:rPr>
              <a:t>变量的作用域 （</a:t>
            </a:r>
            <a:r>
              <a:rPr lang="en-US" altLang="zh-CN" sz="3600" kern="1200" dirty="0">
                <a:latin typeface="Arial" panose="020B0604020202090204" pitchFamily="34" charset="0"/>
                <a:ea typeface="黑体" panose="02010609060101010101" pitchFamily="49" charset="-122"/>
                <a:cs typeface="+mn-cs"/>
              </a:rPr>
              <a:t>Scope</a:t>
            </a:r>
            <a:r>
              <a:rPr lang="zh-CN" altLang="en-US" sz="3600" kern="1200" dirty="0">
                <a:latin typeface="Arial" panose="020B0604020202090204" pitchFamily="34" charset="0"/>
                <a:ea typeface="黑体" panose="02010609060101010101" pitchFamily="49" charset="-122"/>
                <a:cs typeface="+mn-cs"/>
              </a:rPr>
              <a:t>）</a:t>
            </a:r>
            <a:endParaRPr lang="zh-CN" altLang="en-US" sz="3600" kern="1200" dirty="0">
              <a:latin typeface="Arial" panose="020B0604020202090204" pitchFamily="34" charset="0"/>
              <a:ea typeface="黑体" panose="02010609060101010101" pitchFamily="49" charset="-122"/>
              <a:cs typeface="+mn-cs"/>
            </a:endParaRPr>
          </a:p>
          <a:p>
            <a:pPr lvl="1">
              <a:lnSpc>
                <a:spcPct val="125000"/>
              </a:lnSpc>
              <a:spcAft>
                <a:spcPct val="0"/>
              </a:spcAft>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指在源程序中定义变量的位置及其能被读写访问的范围，分为：</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lvl="1">
              <a:lnSpc>
                <a:spcPct val="125000"/>
              </a:lnSpc>
              <a:spcAft>
                <a:spcPct val="0"/>
              </a:spcAft>
              <a:buSzPct val="50000"/>
              <a:buFont typeface="Wingdings" panose="05000000000000000000" pitchFamily="2" charset="2"/>
              <a:buChar char="l"/>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局部变量（</a:t>
            </a:r>
            <a:r>
              <a:rPr lang="en-US" altLang="zh-CN" sz="2800" kern="1200" dirty="0">
                <a:latin typeface="Arial" panose="020B0604020202090204" pitchFamily="34" charset="0"/>
                <a:ea typeface="黑体" panose="02010609060101010101" pitchFamily="49" charset="-122"/>
                <a:cs typeface="Times New Roman" panose="02020503050405090304" pitchFamily="18" charset="0"/>
              </a:rPr>
              <a:t>Local Variable</a:t>
            </a: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 </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lvl="2">
              <a:lnSpc>
                <a:spcPct val="125000"/>
              </a:lnSpc>
              <a:spcAft>
                <a:spcPct val="0"/>
              </a:spcAft>
              <a:buSzPct val="50000"/>
            </a:pPr>
            <a:r>
              <a:rPr lang="zh-CN" altLang="en-US" sz="2400" kern="1200" dirty="0">
                <a:latin typeface="Arial" panose="020B0604020202090204" pitchFamily="34" charset="0"/>
                <a:ea typeface="黑体" panose="02010609060101010101" pitchFamily="49" charset="-122"/>
                <a:cs typeface="Times New Roman" panose="02020503050405090304" pitchFamily="18" charset="0"/>
              </a:rPr>
              <a:t>在语句块内（函数、复合语句）定义的变量</a:t>
            </a:r>
            <a:endParaRPr lang="zh-CN" altLang="en-US" sz="2400" kern="1200" dirty="0">
              <a:latin typeface="Arial" panose="020B0604020202090204" pitchFamily="34" charset="0"/>
              <a:ea typeface="黑体" panose="02010609060101010101" pitchFamily="49" charset="-122"/>
              <a:cs typeface="Times New Roman" panose="02020503050405090304" pitchFamily="18" charset="0"/>
            </a:endParaRPr>
          </a:p>
          <a:p>
            <a:pPr lvl="1">
              <a:lnSpc>
                <a:spcPct val="125000"/>
              </a:lnSpc>
              <a:spcAft>
                <a:spcPct val="0"/>
              </a:spcAft>
              <a:buSzPct val="50000"/>
              <a:buFont typeface="Wingdings" panose="05000000000000000000" pitchFamily="2" charset="2"/>
              <a:buChar char="l"/>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全局变量（</a:t>
            </a:r>
            <a:r>
              <a:rPr lang="en-US" altLang="zh-CN" sz="2800" kern="1200" dirty="0">
                <a:latin typeface="Arial" panose="020B0604020202090204" pitchFamily="34" charset="0"/>
                <a:ea typeface="黑体" panose="02010609060101010101" pitchFamily="49" charset="-122"/>
                <a:cs typeface="Times New Roman" panose="02020503050405090304" pitchFamily="18" charset="0"/>
              </a:rPr>
              <a:t>Global Variable )</a:t>
            </a:r>
            <a:endParaRPr lang="en-US" altLang="zh-CN" sz="2800" kern="1200" dirty="0">
              <a:latin typeface="Arial" panose="020B0604020202090204" pitchFamily="34" charset="0"/>
              <a:ea typeface="黑体" panose="02010609060101010101" pitchFamily="49" charset="-122"/>
              <a:cs typeface="Times New Roman" panose="02020503050405090304" pitchFamily="18" charset="0"/>
            </a:endParaRPr>
          </a:p>
          <a:p>
            <a:pPr lvl="2">
              <a:lnSpc>
                <a:spcPct val="125000"/>
              </a:lnSpc>
              <a:spcAft>
                <a:spcPct val="0"/>
              </a:spcAft>
              <a:buSzPct val="50000"/>
            </a:pPr>
            <a:r>
              <a:rPr lang="zh-CN" altLang="en-US" sz="2400" kern="1200" dirty="0">
                <a:latin typeface="Arial" panose="020B0604020202090204" pitchFamily="34" charset="0"/>
                <a:ea typeface="黑体" panose="02010609060101010101" pitchFamily="49" charset="-122"/>
                <a:cs typeface="Times New Roman" panose="02020503050405090304" pitchFamily="18" charset="0"/>
              </a:rPr>
              <a:t>在所有函数之外定义的变量</a:t>
            </a:r>
            <a:endParaRPr lang="zh-CN" altLang="en-US" sz="2400" kern="1200" dirty="0">
              <a:latin typeface="Arial" panose="020B0604020202090204" pitchFamily="34"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558083">
                                            <p:txEl>
                                              <p:pRg st="1" end="1"/>
                                            </p:txEl>
                                          </p:spTgt>
                                        </p:tgtEl>
                                        <p:attrNameLst>
                                          <p:attrName>style.visibility</p:attrName>
                                        </p:attrNameLst>
                                      </p:cBhvr>
                                      <p:to>
                                        <p:strVal val="visible"/>
                                      </p:to>
                                    </p:set>
                                    <p:anim calcmode="lin" valueType="num">
                                      <p:cBhvr>
                                        <p:cTn id="7" dur="500" fill="hold"/>
                                        <p:tgtEl>
                                          <p:spTgt spid="558083">
                                            <p:txEl>
                                              <p:pRg st="1" end="1"/>
                                            </p:txEl>
                                          </p:spTgt>
                                        </p:tgtEl>
                                        <p:attrNameLst>
                                          <p:attrName>ppt_w</p:attrName>
                                        </p:attrNameLst>
                                      </p:cBhvr>
                                      <p:tavLst>
                                        <p:tav tm="0">
                                          <p:val>
                                            <p:strVal val="#ppt_w*0.05"/>
                                          </p:val>
                                        </p:tav>
                                        <p:tav tm="100000">
                                          <p:val>
                                            <p:strVal val="#ppt_w"/>
                                          </p:val>
                                        </p:tav>
                                      </p:tavLst>
                                    </p:anim>
                                    <p:anim calcmode="lin" valueType="num">
                                      <p:cBhvr>
                                        <p:cTn id="8" dur="500" fill="hold"/>
                                        <p:tgtEl>
                                          <p:spTgt spid="558083">
                                            <p:txEl>
                                              <p:pRg st="1" end="1"/>
                                            </p:txEl>
                                          </p:spTgt>
                                        </p:tgtEl>
                                        <p:attrNameLst>
                                          <p:attrName>ppt_h</p:attrName>
                                        </p:attrNameLst>
                                      </p:cBhvr>
                                      <p:tavLst>
                                        <p:tav tm="0">
                                          <p:val>
                                            <p:strVal val="#ppt_h"/>
                                          </p:val>
                                        </p:tav>
                                        <p:tav tm="100000">
                                          <p:val>
                                            <p:strVal val="#ppt_h"/>
                                          </p:val>
                                        </p:tav>
                                      </p:tavLst>
                                    </p:anim>
                                    <p:anim calcmode="lin" valueType="num">
                                      <p:cBhvr>
                                        <p:cTn id="9" dur="500" fill="hold"/>
                                        <p:tgtEl>
                                          <p:spTgt spid="558083">
                                            <p:txEl>
                                              <p:pRg st="1" end="1"/>
                                            </p:txEl>
                                          </p:spTgt>
                                        </p:tgtEl>
                                        <p:attrNameLst>
                                          <p:attrName>ppt_x</p:attrName>
                                        </p:attrNameLst>
                                      </p:cBhvr>
                                      <p:tavLst>
                                        <p:tav tm="0">
                                          <p:val>
                                            <p:strVal val="#ppt_x-.2"/>
                                          </p:val>
                                        </p:tav>
                                        <p:tav tm="100000">
                                          <p:val>
                                            <p:strVal val="#ppt_x"/>
                                          </p:val>
                                        </p:tav>
                                      </p:tavLst>
                                    </p:anim>
                                    <p:anim calcmode="lin" valueType="num">
                                      <p:cBhvr>
                                        <p:cTn id="10" dur="500" fill="hold"/>
                                        <p:tgtEl>
                                          <p:spTgt spid="558083">
                                            <p:txEl>
                                              <p:pRg st="1" end="1"/>
                                            </p:txEl>
                                          </p:spTgt>
                                        </p:tgtEl>
                                        <p:attrNameLst>
                                          <p:attrName>ppt_y</p:attrName>
                                        </p:attrNameLst>
                                      </p:cBhvr>
                                      <p:tavLst>
                                        <p:tav tm="0">
                                          <p:val>
                                            <p:strVal val="#ppt_y"/>
                                          </p:val>
                                        </p:tav>
                                        <p:tav tm="100000">
                                          <p:val>
                                            <p:strVal val="#ppt_y"/>
                                          </p:val>
                                        </p:tav>
                                      </p:tavLst>
                                    </p:anim>
                                    <p:animEffect transition="in" filter="fade">
                                      <p:cBhvr>
                                        <p:cTn id="11" dur="500"/>
                                        <p:tgtEl>
                                          <p:spTgt spid="55808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58083">
                                            <p:txEl>
                                              <p:pRg st="2" end="2"/>
                                            </p:txEl>
                                          </p:spTgt>
                                        </p:tgtEl>
                                        <p:attrNameLst>
                                          <p:attrName>style.visibility</p:attrName>
                                        </p:attrNameLst>
                                      </p:cBhvr>
                                      <p:to>
                                        <p:strVal val="visible"/>
                                      </p:to>
                                    </p:set>
                                    <p:animEffect transition="in" filter="wipe(left)">
                                      <p:cBhvr>
                                        <p:cTn id="16" dur="500"/>
                                        <p:tgtEl>
                                          <p:spTgt spid="558083">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58083">
                                            <p:txEl>
                                              <p:pRg st="3" end="3"/>
                                            </p:txEl>
                                          </p:spTgt>
                                        </p:tgtEl>
                                        <p:attrNameLst>
                                          <p:attrName>style.visibility</p:attrName>
                                        </p:attrNameLst>
                                      </p:cBhvr>
                                      <p:to>
                                        <p:strVal val="visible"/>
                                      </p:to>
                                    </p:set>
                                    <p:animEffect transition="in" filter="wipe(left)">
                                      <p:cBhvr>
                                        <p:cTn id="19" dur="500"/>
                                        <p:tgtEl>
                                          <p:spTgt spid="558083">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58083">
                                            <p:txEl>
                                              <p:pRg st="4" end="4"/>
                                            </p:txEl>
                                          </p:spTgt>
                                        </p:tgtEl>
                                        <p:attrNameLst>
                                          <p:attrName>style.visibility</p:attrName>
                                        </p:attrNameLst>
                                      </p:cBhvr>
                                      <p:to>
                                        <p:strVal val="visible"/>
                                      </p:to>
                                    </p:set>
                                    <p:animEffect transition="in" filter="wipe(left)">
                                      <p:cBhvr>
                                        <p:cTn id="22" dur="500"/>
                                        <p:tgtEl>
                                          <p:spTgt spid="558083">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58083">
                                            <p:txEl>
                                              <p:pRg st="5" end="5"/>
                                            </p:txEl>
                                          </p:spTgt>
                                        </p:tgtEl>
                                        <p:attrNameLst>
                                          <p:attrName>style.visibility</p:attrName>
                                        </p:attrNameLst>
                                      </p:cBhvr>
                                      <p:to>
                                        <p:strVal val="visible"/>
                                      </p:to>
                                    </p:set>
                                    <p:animEffect transition="in" filter="wipe(left)">
                                      <p:cBhvr>
                                        <p:cTn id="25" dur="500"/>
                                        <p:tgtEl>
                                          <p:spTgt spid="5580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3"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2.4.1 </a:t>
            </a:r>
            <a:r>
              <a:rPr lang="zh-CN" altLang="en-US" sz="4000" kern="1200" dirty="0">
                <a:latin typeface="Arial" panose="020B0604020202090204" pitchFamily="34" charset="0"/>
                <a:ea typeface="黑体" panose="02010609060101010101" pitchFamily="49" charset="-122"/>
                <a:cs typeface="Arial" panose="020B0604020202090204" pitchFamily="34" charset="0"/>
              </a:rPr>
              <a:t>变量的作用域</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559107" name="Rectangle 3"/>
          <p:cNvSpPr>
            <a:spLocks noGrp="1"/>
          </p:cNvSpPr>
          <p:nvPr>
            <p:ph idx="1"/>
          </p:nvPr>
        </p:nvSpPr>
        <p:spPr>
          <a:xfrm>
            <a:off x="1271588" y="1484313"/>
            <a:ext cx="9720262" cy="2665412"/>
          </a:xfrm>
        </p:spPr>
        <p:txBody>
          <a:bodyPr vert="horz" wrap="square" lIns="91440" tIns="45720" rIns="91440" bIns="45720" anchor="t" anchorCtr="0"/>
          <a:lstStyle/>
          <a:p>
            <a:pPr>
              <a:lnSpc>
                <a:spcPct val="100000"/>
              </a:lnSpc>
              <a:buSzPct val="50000"/>
            </a:pPr>
            <a:r>
              <a:rPr lang="zh-CN" altLang="en-US" kern="1200" dirty="0">
                <a:latin typeface="Arial" panose="020B0604020202090204" pitchFamily="34" charset="0"/>
                <a:ea typeface="黑体" panose="02010609060101010101" pitchFamily="49" charset="-122"/>
                <a:cs typeface="+mn-cs"/>
              </a:rPr>
              <a:t>局部变量（</a:t>
            </a:r>
            <a:r>
              <a:rPr lang="en-US" altLang="zh-CN" kern="1200" dirty="0">
                <a:latin typeface="Arial" panose="020B0604020202090204" pitchFamily="34" charset="0"/>
                <a:ea typeface="黑体" panose="02010609060101010101" pitchFamily="49" charset="-122"/>
                <a:cs typeface="+mn-cs"/>
              </a:rPr>
              <a:t>Local Variable</a:t>
            </a:r>
            <a:r>
              <a:rPr lang="zh-CN" altLang="en-US" kern="1200" dirty="0">
                <a:latin typeface="Arial" panose="020B0604020202090204" pitchFamily="34" charset="0"/>
                <a:ea typeface="黑体" panose="02010609060101010101" pitchFamily="49" charset="-122"/>
                <a:cs typeface="+mn-cs"/>
              </a:rPr>
              <a:t>）的作用域</a:t>
            </a:r>
            <a:endParaRPr lang="zh-CN" altLang="en-US" kern="1200" dirty="0">
              <a:latin typeface="Arial" panose="020B0604020202090204" pitchFamily="34" charset="0"/>
              <a:ea typeface="黑体" panose="02010609060101010101" pitchFamily="49" charset="-122"/>
              <a:cs typeface="+mn-cs"/>
            </a:endParaRPr>
          </a:p>
          <a:p>
            <a:pPr lvl="1">
              <a:lnSpc>
                <a:spcPct val="100000"/>
              </a:lnSpc>
              <a:spcAft>
                <a:spcPct val="0"/>
              </a:spcAft>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有效范围仅为该语句块（函数，复合语句）</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仅能由语句块内的语句访问，退出语句块时释放内存，不再有效</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lvl="1">
              <a:lnSpc>
                <a:spcPct val="110000"/>
              </a:lnSpc>
              <a:spcBef>
                <a:spcPts val="800"/>
              </a:spcBef>
              <a:buSzPct val="50000"/>
            </a:pPr>
            <a:endParaRPr lang="en-US" altLang="zh-CN" sz="2000" kern="1200" dirty="0">
              <a:latin typeface="华文仿宋" panose="02010600040101010101" pitchFamily="2" charset="-122"/>
              <a:ea typeface="华文仿宋" panose="02010600040101010101" pitchFamily="2" charset="-122"/>
              <a:cs typeface="Times New Roman" panose="02020503050405090304" pitchFamily="18" charset="0"/>
            </a:endParaRPr>
          </a:p>
        </p:txBody>
      </p:sp>
      <p:sp>
        <p:nvSpPr>
          <p:cNvPr id="7" name="Text Box 3"/>
          <p:cNvSpPr txBox="1"/>
          <p:nvPr/>
        </p:nvSpPr>
        <p:spPr>
          <a:xfrm>
            <a:off x="1847850" y="2997200"/>
            <a:ext cx="6048375" cy="3478213"/>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int main()</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a:t>
            </a:r>
            <a:r>
              <a:rPr lang="en-US" altLang="zh-CN" b="1" dirty="0">
                <a:solidFill>
                  <a:srgbClr val="3333CC"/>
                </a:solidFill>
                <a:latin typeface="Courier New" panose="02070409020205090404" pitchFamily="49" charset="0"/>
              </a:rPr>
              <a:t>int  x = 1,</a:t>
            </a:r>
            <a:r>
              <a:rPr lang="en-US" altLang="zh-CN" b="1" dirty="0">
                <a:solidFill>
                  <a:srgbClr val="C00000"/>
                </a:solidFill>
                <a:latin typeface="Courier New" panose="02070409020205090404" pitchFamily="49" charset="0"/>
              </a:rPr>
              <a:t> </a:t>
            </a:r>
            <a:r>
              <a:rPr lang="en-US" altLang="zh-CN" b="1" dirty="0">
                <a:solidFill>
                  <a:srgbClr val="A50021"/>
                </a:solidFill>
                <a:latin typeface="Courier New" panose="02070409020205090404" pitchFamily="49" charset="0"/>
              </a:rPr>
              <a:t>y = 1</a:t>
            </a: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a:t>
            </a:r>
            <a:r>
              <a:rPr lang="en-US" altLang="zh-CN" b="1" dirty="0">
                <a:solidFill>
                  <a:srgbClr val="A50021"/>
                </a:solidFill>
                <a:latin typeface="Courier New" panose="02070409020205090404" pitchFamily="49" charset="0"/>
              </a:rPr>
              <a:t>{</a:t>
            </a:r>
            <a:endParaRPr lang="en-US" altLang="zh-CN" b="1" dirty="0">
              <a:solidFill>
                <a:srgbClr val="A50021"/>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A50021"/>
                </a:solidFill>
                <a:latin typeface="Courier New" panose="02070409020205090404" pitchFamily="49" charset="0"/>
              </a:rPr>
              <a:t>       int  y = 2;  </a:t>
            </a:r>
            <a:endParaRPr lang="en-US" altLang="zh-CN" b="1" dirty="0">
              <a:solidFill>
                <a:srgbClr val="A50021"/>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a:t>
            </a:r>
            <a:r>
              <a:rPr lang="en-US" altLang="zh-CN" b="1" dirty="0">
                <a:solidFill>
                  <a:srgbClr val="3333CC"/>
                </a:solidFill>
                <a:latin typeface="Courier New" panose="02070409020205090404" pitchFamily="49" charset="0"/>
              </a:rPr>
              <a:t>x = 3;</a:t>
            </a:r>
            <a:endParaRPr lang="en-US" altLang="zh-CN" b="1" dirty="0">
              <a:solidFill>
                <a:srgbClr val="3333CC"/>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a:t>
            </a:r>
            <a:r>
              <a:rPr lang="en-US" altLang="zh-CN" b="1" dirty="0">
                <a:latin typeface="Courier New" panose="02070409020205090404" pitchFamily="49" charset="0"/>
              </a:rPr>
              <a:t>printf("x=%d,y=%d\n", x, </a:t>
            </a:r>
            <a:r>
              <a:rPr lang="en-US" altLang="zh-CN" b="1" dirty="0">
                <a:solidFill>
                  <a:srgbClr val="A50021"/>
                </a:solidFill>
                <a:latin typeface="Courier New" panose="02070409020205090404" pitchFamily="49" charset="0"/>
              </a:rPr>
              <a:t>y</a:t>
            </a: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a:t>
            </a:r>
            <a:r>
              <a:rPr lang="en-US" altLang="zh-CN" b="1" dirty="0">
                <a:solidFill>
                  <a:srgbClr val="A50021"/>
                </a:solidFill>
                <a:latin typeface="Courier New" panose="02070409020205090404" pitchFamily="49" charset="0"/>
              </a:rPr>
              <a:t> }</a:t>
            </a:r>
            <a:endParaRPr lang="en-US" altLang="zh-CN" b="1" dirty="0">
              <a:solidFill>
                <a:srgbClr val="A50021"/>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printf("x=%d,y=%d\n", x,  </a:t>
            </a:r>
            <a:r>
              <a:rPr lang="en-US" altLang="zh-CN" b="1" dirty="0">
                <a:solidFill>
                  <a:srgbClr val="A50021"/>
                </a:solidFill>
                <a:latin typeface="Courier New" panose="02070409020205090404" pitchFamily="49" charset="0"/>
              </a:rPr>
              <a:t>y</a:t>
            </a:r>
            <a:r>
              <a:rPr lang="en-US" altLang="zh-CN" b="1" dirty="0">
                <a:latin typeface="Courier New" panose="02070409020205090404" pitchFamily="49" charset="0"/>
              </a:rPr>
              <a:t>);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return 0;</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pic>
        <p:nvPicPr>
          <p:cNvPr id="86023" name="Picture 7"/>
          <p:cNvPicPr>
            <a:picLocks noChangeAspect="1"/>
          </p:cNvPicPr>
          <p:nvPr/>
        </p:nvPicPr>
        <p:blipFill>
          <a:blip r:embed="rId1"/>
          <a:stretch>
            <a:fillRect/>
          </a:stretch>
        </p:blipFill>
        <p:spPr>
          <a:xfrm>
            <a:off x="7535863" y="4005263"/>
            <a:ext cx="3384550" cy="1536700"/>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animEffect transition="in" filter="wipe(left)">
                                      <p:cBhvr>
                                        <p:cTn id="7" dur="500"/>
                                        <p:tgtEl>
                                          <p:spTgt spid="559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9107">
                                            <p:txEl>
                                              <p:pRg st="2" end="2"/>
                                            </p:txEl>
                                          </p:spTgt>
                                        </p:tgtEl>
                                        <p:attrNameLst>
                                          <p:attrName>style.visibility</p:attrName>
                                        </p:attrNameLst>
                                      </p:cBhvr>
                                      <p:to>
                                        <p:strVal val="visible"/>
                                      </p:to>
                                    </p:set>
                                    <p:animEffect transition="in" filter="wipe(left)">
                                      <p:cBhvr>
                                        <p:cTn id="12" dur="500"/>
                                        <p:tgtEl>
                                          <p:spTgt spid="5591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6023"/>
                                        </p:tgtEl>
                                        <p:attrNameLst>
                                          <p:attrName>style.visibility</p:attrName>
                                        </p:attrNameLst>
                                      </p:cBhvr>
                                      <p:to>
                                        <p:strVal val="visible"/>
                                      </p:to>
                                    </p:set>
                                    <p:anim calcmode="lin" valueType="num">
                                      <p:cBhvr additive="base">
                                        <p:cTn id="23" dur="500" fill="hold"/>
                                        <p:tgtEl>
                                          <p:spTgt spid="86023"/>
                                        </p:tgtEl>
                                        <p:attrNameLst>
                                          <p:attrName>ppt_x</p:attrName>
                                        </p:attrNameLst>
                                      </p:cBhvr>
                                      <p:tavLst>
                                        <p:tav tm="0">
                                          <p:val>
                                            <p:strVal val="#ppt_x"/>
                                          </p:val>
                                        </p:tav>
                                        <p:tav tm="100000">
                                          <p:val>
                                            <p:strVal val="#ppt_x"/>
                                          </p:val>
                                        </p:tav>
                                      </p:tavLst>
                                    </p:anim>
                                    <p:anim calcmode="lin" valueType="num">
                                      <p:cBhvr additive="base">
                                        <p:cTn id="24" dur="500" fill="hold"/>
                                        <p:tgtEl>
                                          <p:spTgt spid="860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0131" name="Rectangle 3"/>
          <p:cNvSpPr>
            <a:spLocks noGrp="1"/>
          </p:cNvSpPr>
          <p:nvPr>
            <p:ph idx="1"/>
          </p:nvPr>
        </p:nvSpPr>
        <p:spPr>
          <a:xfrm>
            <a:off x="1570038" y="1484313"/>
            <a:ext cx="9091612" cy="2879725"/>
          </a:xfrm>
        </p:spPr>
        <p:txBody>
          <a:bodyPr vert="horz" wrap="square" lIns="91440" tIns="45720" rIns="91440" bIns="45720" anchor="t" anchorCtr="0"/>
          <a:lstStyle/>
          <a:p>
            <a:pPr>
              <a:lnSpc>
                <a:spcPct val="100000"/>
              </a:lnSpc>
              <a:buSzPct val="50000"/>
            </a:pPr>
            <a:r>
              <a:rPr lang="zh-CN" altLang="en-US" kern="1200" dirty="0">
                <a:latin typeface="华文仿宋" panose="02010600040101010101" pitchFamily="2" charset="-122"/>
                <a:ea typeface="黑体" panose="02010609060101010101" pitchFamily="49" charset="-122"/>
                <a:cs typeface="+mn-cs"/>
              </a:rPr>
              <a:t>全局变量</a:t>
            </a:r>
            <a:r>
              <a:rPr lang="zh-CN" altLang="en-US" kern="1200" dirty="0">
                <a:latin typeface="Times New Roman" panose="02020503050405090304" pitchFamily="18" charset="0"/>
                <a:ea typeface="黑体" panose="02010609060101010101" pitchFamily="49" charset="-122"/>
                <a:cs typeface="+mn-cs"/>
              </a:rPr>
              <a:t>（</a:t>
            </a:r>
            <a:r>
              <a:rPr lang="en-US" altLang="zh-CN" kern="1200" dirty="0">
                <a:latin typeface="Arial" panose="020B0604020202090204" pitchFamily="34" charset="0"/>
                <a:ea typeface="黑体" panose="02010609060101010101" pitchFamily="49" charset="-122"/>
                <a:cs typeface="+mn-cs"/>
              </a:rPr>
              <a:t>Global Variable</a:t>
            </a:r>
            <a:r>
              <a:rPr lang="zh-CN" altLang="en-US" kern="1200" dirty="0">
                <a:latin typeface="Arial" panose="020B0604020202090204" pitchFamily="34" charset="0"/>
                <a:ea typeface="黑体" panose="02010609060101010101" pitchFamily="49" charset="-122"/>
                <a:cs typeface="+mn-cs"/>
              </a:rPr>
              <a:t>）</a:t>
            </a:r>
            <a:r>
              <a:rPr lang="zh-CN" altLang="en-US" kern="1200" dirty="0">
                <a:latin typeface="Times New Roman" panose="02020503050405090304" pitchFamily="18" charset="0"/>
                <a:ea typeface="黑体" panose="02010609060101010101" pitchFamily="49" charset="-122"/>
                <a:cs typeface="+mn-cs"/>
              </a:rPr>
              <a:t>的作用域</a:t>
            </a:r>
            <a:endParaRPr lang="zh-CN" altLang="en-US" kern="1200" dirty="0">
              <a:latin typeface="华文仿宋" panose="02010600040101010101" pitchFamily="2" charset="-122"/>
              <a:ea typeface="黑体" panose="02010609060101010101" pitchFamily="49" charset="-122"/>
              <a:cs typeface="+mn-cs"/>
            </a:endParaRPr>
          </a:p>
          <a:p>
            <a:pPr lvl="1">
              <a:lnSpc>
                <a:spcPct val="100000"/>
              </a:lnSpc>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有效范围是从定义变量的位置开始，到本程序结束</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lvl="2">
              <a:lnSpc>
                <a:spcPct val="110000"/>
              </a:lnSpc>
              <a:buSzPct val="50000"/>
            </a:pPr>
            <a:endParaRPr lang="zh-CN" altLang="en-US" sz="1800" kern="1200" dirty="0">
              <a:latin typeface="Arial" panose="020B0604020202090204" pitchFamily="34" charset="0"/>
              <a:ea typeface="华文仿宋" panose="02010600040101010101" pitchFamily="2" charset="-122"/>
              <a:cs typeface="Times New Roman" panose="02020503050405090304" pitchFamily="18" charset="0"/>
            </a:endParaRPr>
          </a:p>
        </p:txBody>
      </p:sp>
      <p:pic>
        <p:nvPicPr>
          <p:cNvPr id="76802" name="Picture 2"/>
          <p:cNvPicPr>
            <a:picLocks noChangeAspect="1"/>
          </p:cNvPicPr>
          <p:nvPr/>
        </p:nvPicPr>
        <p:blipFill>
          <a:blip r:embed="rId1">
            <a:clrChange>
              <a:clrFrom>
                <a:srgbClr val="CCFFCC"/>
              </a:clrFrom>
              <a:clrTo>
                <a:srgbClr val="CCFFCC">
                  <a:alpha val="0"/>
                </a:srgbClr>
              </a:clrTo>
            </a:clrChange>
          </a:blip>
          <a:stretch>
            <a:fillRect/>
          </a:stretch>
        </p:blipFill>
        <p:spPr>
          <a:xfrm>
            <a:off x="4727575" y="3068638"/>
            <a:ext cx="5329238" cy="3068637"/>
          </a:xfrm>
          <a:prstGeom prst="rect">
            <a:avLst/>
          </a:prstGeom>
          <a:noFill/>
          <a:ln w="9525">
            <a:noFill/>
          </a:ln>
        </p:spPr>
      </p:pic>
      <p:pic>
        <p:nvPicPr>
          <p:cNvPr id="45059" name="Picture 7"/>
          <p:cNvPicPr>
            <a:picLocks noChangeAspect="1"/>
          </p:cNvPicPr>
          <p:nvPr/>
        </p:nvPicPr>
        <p:blipFill>
          <a:blip r:embed="rId2">
            <a:clrChange>
              <a:clrFrom>
                <a:srgbClr val="F5F6F7"/>
              </a:clrFrom>
              <a:clrTo>
                <a:srgbClr val="F5F6F7">
                  <a:alpha val="0"/>
                </a:srgbClr>
              </a:clrTo>
            </a:clrChange>
          </a:blip>
          <a:stretch>
            <a:fillRect/>
          </a:stretch>
        </p:blipFill>
        <p:spPr>
          <a:xfrm>
            <a:off x="1703388" y="4076700"/>
            <a:ext cx="2419350" cy="1387475"/>
          </a:xfrm>
          <a:prstGeom prst="rect">
            <a:avLst/>
          </a:prstGeom>
          <a:noFill/>
          <a:ln w="9525">
            <a:noFill/>
          </a:ln>
        </p:spPr>
      </p:pic>
      <p:sp>
        <p:nvSpPr>
          <p:cNvPr id="45060" name="Rectangle 2"/>
          <p:cNvSpPr>
            <a:spLocks noGrp="1"/>
          </p:cNvSpPr>
          <p:nvPr>
            <p:ph type="title"/>
          </p:nvPr>
        </p:nvSpPr>
        <p:spPr>
          <a:xfrm>
            <a:off x="609600" y="274638"/>
            <a:ext cx="10972800" cy="1143000"/>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2.4.1 </a:t>
            </a:r>
            <a:r>
              <a:rPr lang="zh-CN" altLang="en-US" sz="4000" kern="1200" dirty="0">
                <a:latin typeface="Arial" panose="020B0604020202090204" pitchFamily="34" charset="0"/>
                <a:ea typeface="黑体" panose="02010609060101010101" pitchFamily="49" charset="-122"/>
                <a:cs typeface="Arial" panose="020B0604020202090204" pitchFamily="34" charset="0"/>
              </a:rPr>
              <a:t>变量的作用域</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0131">
                                            <p:txEl>
                                              <p:pRg st="1" end="1"/>
                                            </p:txEl>
                                          </p:spTgt>
                                        </p:tgtEl>
                                        <p:attrNameLst>
                                          <p:attrName>style.visibility</p:attrName>
                                        </p:attrNameLst>
                                      </p:cBhvr>
                                      <p:to>
                                        <p:strVal val="visible"/>
                                      </p:to>
                                    </p:set>
                                    <p:animEffect transition="in" filter="wipe(left)">
                                      <p:cBhvr>
                                        <p:cTn id="7" dur="500"/>
                                        <p:tgtEl>
                                          <p:spTgt spid="5601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6802"/>
                                        </p:tgtEl>
                                        <p:attrNameLst>
                                          <p:attrName>style.visibility</p:attrName>
                                        </p:attrNameLst>
                                      </p:cBhvr>
                                      <p:to>
                                        <p:strVal val="visible"/>
                                      </p:to>
                                    </p:set>
                                    <p:animEffect transition="in" filter="box(in)">
                                      <p:cBhvr>
                                        <p:cTn id="12" dur="500"/>
                                        <p:tgtEl>
                                          <p:spTgt spid="76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5" name="Rectangle 2"/>
          <p:cNvSpPr>
            <a:spLocks noGrp="1"/>
          </p:cNvSpPr>
          <p:nvPr>
            <p:ph type="title" idx="4294967295"/>
          </p:nvPr>
        </p:nvSpPr>
        <p:spPr/>
        <p:txBody>
          <a:bodyPr vert="horz" wrap="square" lIns="91440" tIns="45720" rIns="91440" bIns="45720" anchor="ctr" anchorCtr="0"/>
          <a:lstStyle/>
          <a:p>
            <a:r>
              <a:rPr lang="en-US" altLang="zh-CN" sz="4000" dirty="0"/>
              <a:t>2.4.1 </a:t>
            </a:r>
            <a:r>
              <a:rPr lang="zh-CN" altLang="en-US" sz="4000" dirty="0"/>
              <a:t>变量的作用域</a:t>
            </a:r>
            <a:endParaRPr lang="zh-CN" altLang="en-US" sz="4000" dirty="0"/>
          </a:p>
        </p:txBody>
      </p:sp>
      <p:sp>
        <p:nvSpPr>
          <p:cNvPr id="559107" name="Rectangle 3"/>
          <p:cNvSpPr>
            <a:spLocks noGrp="1"/>
          </p:cNvSpPr>
          <p:nvPr>
            <p:ph type="body" idx="4294967295"/>
          </p:nvPr>
        </p:nvSpPr>
        <p:spPr>
          <a:xfrm>
            <a:off x="1530350" y="1196975"/>
            <a:ext cx="9131300" cy="2232025"/>
          </a:xfrm>
        </p:spPr>
        <p:txBody>
          <a:bodyPr vert="horz" wrap="square" lIns="91440" tIns="45720" rIns="91440" bIns="45720" anchor="t" anchorCtr="0"/>
          <a:lstStyle/>
          <a:p>
            <a:pPr>
              <a:lnSpc>
                <a:spcPct val="110000"/>
              </a:lnSpc>
              <a:spcBef>
                <a:spcPct val="0"/>
              </a:spcBef>
            </a:pPr>
            <a:r>
              <a:rPr lang="zh-CN" altLang="en-US" sz="2800" dirty="0">
                <a:latin typeface="黑体" panose="02010609060101010101" pitchFamily="49" charset="-122"/>
              </a:rPr>
              <a:t>假如变量同名</a:t>
            </a:r>
            <a:r>
              <a:rPr lang="en-US" altLang="zh-CN" sz="2800" dirty="0">
                <a:latin typeface="黑体" panose="02010609060101010101" pitchFamily="49" charset="-122"/>
              </a:rPr>
              <a:t>......</a:t>
            </a:r>
            <a:endParaRPr lang="en-US" altLang="zh-CN" sz="2800" dirty="0">
              <a:latin typeface="黑体" panose="02010609060101010101" pitchFamily="49" charset="-122"/>
            </a:endParaRPr>
          </a:p>
          <a:p>
            <a:pPr lvl="1">
              <a:lnSpc>
                <a:spcPct val="110000"/>
              </a:lnSpc>
              <a:spcBef>
                <a:spcPct val="0"/>
              </a:spcBef>
            </a:pPr>
            <a:r>
              <a:rPr lang="zh-CN" altLang="en-US" sz="2400" dirty="0">
                <a:latin typeface="黑体" panose="02010609060101010101" pitchFamily="49" charset="-122"/>
              </a:rPr>
              <a:t>并列语句块内各自定义（不同作用域）的变量同名</a:t>
            </a:r>
            <a:endParaRPr lang="en-US" altLang="zh-CN" sz="2400" dirty="0">
              <a:latin typeface="黑体" panose="02010609060101010101" pitchFamily="49" charset="-122"/>
            </a:endParaRPr>
          </a:p>
          <a:p>
            <a:pPr lvl="1">
              <a:lnSpc>
                <a:spcPct val="110000"/>
              </a:lnSpc>
              <a:spcBef>
                <a:spcPct val="0"/>
              </a:spcBef>
            </a:pPr>
            <a:r>
              <a:rPr lang="zh-CN" altLang="en-US" sz="2400" dirty="0">
                <a:latin typeface="黑体" panose="02010609060101010101" pitchFamily="49" charset="-122"/>
              </a:rPr>
              <a:t>互不干扰 </a:t>
            </a:r>
            <a:endParaRPr lang="zh-CN" altLang="en-US" sz="2400" dirty="0">
              <a:latin typeface="黑体" panose="02010609060101010101" pitchFamily="49" charset="-122"/>
            </a:endParaRPr>
          </a:p>
          <a:p>
            <a:pPr lvl="2">
              <a:lnSpc>
                <a:spcPct val="110000"/>
              </a:lnSpc>
              <a:spcBef>
                <a:spcPct val="0"/>
              </a:spcBef>
            </a:pPr>
            <a:r>
              <a:rPr lang="zh-CN" altLang="en-US" sz="2000" dirty="0">
                <a:latin typeface="黑体" panose="02010609060101010101" pitchFamily="49" charset="-122"/>
              </a:rPr>
              <a:t>形参和实参的作用域不同</a:t>
            </a:r>
            <a:endParaRPr lang="en-US" altLang="zh-CN" sz="2000" dirty="0">
              <a:latin typeface="黑体" panose="02010609060101010101" pitchFamily="49" charset="-122"/>
            </a:endParaRPr>
          </a:p>
          <a:p>
            <a:pPr lvl="1">
              <a:lnSpc>
                <a:spcPct val="110000"/>
              </a:lnSpc>
              <a:spcBef>
                <a:spcPts val="800"/>
              </a:spcBef>
            </a:pPr>
            <a:endParaRPr lang="en-US" altLang="zh-CN" dirty="0"/>
          </a:p>
          <a:p>
            <a:pPr lvl="2">
              <a:lnSpc>
                <a:spcPct val="110000"/>
              </a:lnSpc>
              <a:spcBef>
                <a:spcPts val="800"/>
              </a:spcBef>
            </a:pPr>
            <a:endParaRPr lang="en-US" altLang="zh-CN" sz="2800" dirty="0">
              <a:solidFill>
                <a:schemeClr val="hlink"/>
              </a:solidFill>
              <a:latin typeface="宋体" pitchFamily="2" charset="-122"/>
            </a:endParaRPr>
          </a:p>
        </p:txBody>
      </p:sp>
      <p:pic>
        <p:nvPicPr>
          <p:cNvPr id="47107" name="图片 9"/>
          <p:cNvPicPr>
            <a:picLocks noChangeAspect="1"/>
          </p:cNvPicPr>
          <p:nvPr/>
        </p:nvPicPr>
        <p:blipFill>
          <a:blip r:embed="rId1">
            <a:clrChange>
              <a:clrFrom>
                <a:srgbClr val="FFFFFD"/>
              </a:clrFrom>
              <a:clrTo>
                <a:srgbClr val="FFFFFD">
                  <a:alpha val="0"/>
                </a:srgbClr>
              </a:clrTo>
            </a:clrChange>
          </a:blip>
          <a:stretch>
            <a:fillRect/>
          </a:stretch>
        </p:blipFill>
        <p:spPr>
          <a:xfrm>
            <a:off x="9883775" y="1052513"/>
            <a:ext cx="965200" cy="1889125"/>
          </a:xfrm>
          <a:prstGeom prst="rect">
            <a:avLst/>
          </a:prstGeom>
          <a:noFill/>
          <a:ln w="9525">
            <a:noFill/>
          </a:ln>
        </p:spPr>
      </p:pic>
      <p:sp>
        <p:nvSpPr>
          <p:cNvPr id="7" name="Text Box 3"/>
          <p:cNvSpPr txBox="1"/>
          <p:nvPr/>
        </p:nvSpPr>
        <p:spPr>
          <a:xfrm>
            <a:off x="1200150" y="2997200"/>
            <a:ext cx="4889500" cy="3170238"/>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#include &lt;stdio.h&gt;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Function(int x,  int y)</a:t>
            </a:r>
            <a:r>
              <a:rPr lang="en-US" altLang="zh-CN" b="1" dirty="0">
                <a:latin typeface="Courier New" panose="02070409020205090404" pitchFamily="49" charset="0"/>
              </a:rPr>
              <a: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int main()</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int  x = 1;</a:t>
            </a:r>
            <a:endParaRPr lang="en-US"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int  y = 2;  </a:t>
            </a:r>
            <a:endParaRPr lang="en-US"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Function(</a:t>
            </a:r>
            <a:r>
              <a:rPr lang="en-US" altLang="zh-CN" b="1" dirty="0">
                <a:solidFill>
                  <a:srgbClr val="C00000"/>
                </a:solidFill>
                <a:latin typeface="Courier New" panose="02070409020205090404" pitchFamily="49" charset="0"/>
              </a:rPr>
              <a:t>x, y</a:t>
            </a:r>
            <a:r>
              <a:rPr lang="en-US" altLang="zh-CN" b="1" dirty="0">
                <a:latin typeface="Courier New" panose="02070409020205090404" pitchFamily="49" charset="0"/>
              </a:rPr>
              <a:t>);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printf("x=%d,y=%d\n",x,y);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return 0;</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sp>
        <p:nvSpPr>
          <p:cNvPr id="8" name="Text Box 5"/>
          <p:cNvSpPr txBox="1"/>
          <p:nvPr/>
        </p:nvSpPr>
        <p:spPr>
          <a:xfrm>
            <a:off x="6189663" y="2997200"/>
            <a:ext cx="4730750" cy="1938338"/>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a:t>
            </a:r>
            <a:r>
              <a:rPr lang="fr-FR" altLang="zh-CN" b="1" dirty="0">
                <a:solidFill>
                  <a:srgbClr val="C00000"/>
                </a:solidFill>
                <a:latin typeface="Courier New" panose="02070409020205090404" pitchFamily="49" charset="0"/>
              </a:rPr>
              <a:t>int x,  int y</a:t>
            </a:r>
            <a:r>
              <a:rPr lang="fr-FR" altLang="zh-CN" b="1" dirty="0">
                <a:latin typeface="Courier New" panose="02070409020205090404" pitchFamily="49" charset="0"/>
              </a:rPr>
              <a:t>)</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zh-CN" altLang="zh-CN" b="1" dirty="0">
                <a:latin typeface="Courier New" panose="02070409020205090404" pitchFamily="49" charset="0"/>
                <a:ea typeface="宋体" pitchFamily="2" charset="-122"/>
              </a:rPr>
              <a:t>{</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fr-FR" altLang="zh-CN" b="1" dirty="0">
                <a:solidFill>
                  <a:srgbClr val="C00000"/>
                </a:solidFill>
                <a:latin typeface="Courier New" panose="02070409020205090404" pitchFamily="49" charset="0"/>
              </a:rPr>
              <a:t>x = 2;</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   y = 1;</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en-US" altLang="zh-CN" b="1" dirty="0">
                <a:latin typeface="Courier New" panose="02070409020205090404" pitchFamily="49" charset="0"/>
              </a:rPr>
              <a:t>printf("x=%d,y=%d\n",x,y);</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pic>
        <p:nvPicPr>
          <p:cNvPr id="9" name="Picture 2"/>
          <p:cNvPicPr>
            <a:picLocks noChangeAspect="1"/>
          </p:cNvPicPr>
          <p:nvPr/>
        </p:nvPicPr>
        <p:blipFill>
          <a:blip r:embed="rId2"/>
          <a:stretch>
            <a:fillRect/>
          </a:stretch>
        </p:blipFill>
        <p:spPr>
          <a:xfrm>
            <a:off x="6523038" y="4968875"/>
            <a:ext cx="4110037" cy="1412875"/>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animEffect transition="in" filter="wipe(left)">
                                      <p:cBhvr>
                                        <p:cTn id="7" dur="500"/>
                                        <p:tgtEl>
                                          <p:spTgt spid="559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59107">
                                            <p:txEl>
                                              <p:pRg st="2" end="2"/>
                                            </p:txEl>
                                          </p:spTgt>
                                        </p:tgtEl>
                                        <p:attrNameLst>
                                          <p:attrName>style.visibility</p:attrName>
                                        </p:attrNameLst>
                                      </p:cBhvr>
                                      <p:to>
                                        <p:strVal val="visible"/>
                                      </p:to>
                                    </p:set>
                                    <p:animEffect transition="in" filter="wipe(left)">
                                      <p:cBhvr>
                                        <p:cTn id="28" dur="500"/>
                                        <p:tgtEl>
                                          <p:spTgt spid="55910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59107">
                                            <p:txEl>
                                              <p:pRg st="3" end="3"/>
                                            </p:txEl>
                                          </p:spTgt>
                                        </p:tgtEl>
                                        <p:attrNameLst>
                                          <p:attrName>style.visibility</p:attrName>
                                        </p:attrNameLst>
                                      </p:cBhvr>
                                      <p:to>
                                        <p:strVal val="visible"/>
                                      </p:to>
                                    </p:set>
                                    <p:animEffect transition="in" filter="wipe(left)">
                                      <p:cBhvr>
                                        <p:cTn id="33" dur="500"/>
                                        <p:tgtEl>
                                          <p:spTgt spid="559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3" name="Rectangle 2"/>
          <p:cNvSpPr>
            <a:spLocks noGrp="1"/>
          </p:cNvSpPr>
          <p:nvPr>
            <p:ph type="title" idx="4294967295"/>
          </p:nvPr>
        </p:nvSpPr>
        <p:spPr/>
        <p:txBody>
          <a:bodyPr vert="horz" wrap="square" lIns="91440" tIns="45720" rIns="91440" bIns="45720" anchor="ctr" anchorCtr="0"/>
          <a:lstStyle/>
          <a:p>
            <a:r>
              <a:rPr lang="en-US" altLang="zh-CN" sz="4000" dirty="0"/>
              <a:t>2.4.1 </a:t>
            </a:r>
            <a:r>
              <a:rPr lang="zh-CN" altLang="en-US" sz="4000" dirty="0"/>
              <a:t>变量的作用域</a:t>
            </a:r>
            <a:endParaRPr lang="zh-CN" altLang="en-US" sz="4000" dirty="0"/>
          </a:p>
        </p:txBody>
      </p:sp>
      <p:sp>
        <p:nvSpPr>
          <p:cNvPr id="559107" name="Rectangle 3"/>
          <p:cNvSpPr>
            <a:spLocks noGrp="1"/>
          </p:cNvSpPr>
          <p:nvPr>
            <p:ph type="body" idx="4294967295"/>
          </p:nvPr>
        </p:nvSpPr>
        <p:spPr>
          <a:xfrm>
            <a:off x="1530350" y="1196975"/>
            <a:ext cx="8388350" cy="4251325"/>
          </a:xfrm>
        </p:spPr>
        <p:txBody>
          <a:bodyPr vert="horz" wrap="square" lIns="91440" tIns="45720" rIns="91440" bIns="45720" anchor="t" anchorCtr="0"/>
          <a:lstStyle/>
          <a:p>
            <a:pPr>
              <a:lnSpc>
                <a:spcPct val="110000"/>
              </a:lnSpc>
              <a:spcBef>
                <a:spcPts val="800"/>
              </a:spcBef>
            </a:pPr>
            <a:r>
              <a:rPr lang="zh-CN" altLang="en-US" sz="2800" dirty="0">
                <a:latin typeface="华文仿宋" panose="02010600040101010101" pitchFamily="2" charset="-122"/>
              </a:rPr>
              <a:t>假如变量同名</a:t>
            </a:r>
            <a:r>
              <a:rPr lang="en-US" altLang="zh-CN" sz="2800" dirty="0">
                <a:latin typeface="华文仿宋" panose="02010600040101010101" pitchFamily="2" charset="-122"/>
              </a:rPr>
              <a:t>......</a:t>
            </a:r>
            <a:endParaRPr lang="en-US" altLang="zh-CN" sz="2800" dirty="0">
              <a:latin typeface="华文仿宋" panose="02010600040101010101" pitchFamily="2" charset="-122"/>
            </a:endParaRPr>
          </a:p>
          <a:p>
            <a:pPr lvl="1">
              <a:lnSpc>
                <a:spcPct val="100000"/>
              </a:lnSpc>
              <a:spcBef>
                <a:spcPts val="600"/>
              </a:spcBef>
            </a:pPr>
            <a:r>
              <a:rPr lang="zh-CN" altLang="en-US" sz="2400" dirty="0">
                <a:latin typeface="宋体" pitchFamily="2" charset="-122"/>
              </a:rPr>
              <a:t>局部变量与全局变量同名</a:t>
            </a:r>
            <a:endParaRPr lang="en-US" altLang="zh-CN" sz="2400" dirty="0">
              <a:latin typeface="宋体" pitchFamily="2" charset="-122"/>
            </a:endParaRPr>
          </a:p>
          <a:p>
            <a:pPr lvl="1">
              <a:lnSpc>
                <a:spcPct val="100000"/>
              </a:lnSpc>
              <a:spcBef>
                <a:spcPts val="600"/>
              </a:spcBef>
            </a:pPr>
            <a:r>
              <a:rPr lang="zh-CN" altLang="en-US" sz="2400" dirty="0">
                <a:latin typeface="宋体" pitchFamily="2" charset="-122"/>
              </a:rPr>
              <a:t>局部变量屏蔽全局变量</a:t>
            </a:r>
            <a:endParaRPr lang="zh-CN" altLang="en-US" sz="2400" dirty="0">
              <a:latin typeface="宋体" pitchFamily="2" charset="-122"/>
            </a:endParaRPr>
          </a:p>
        </p:txBody>
      </p:sp>
      <p:sp>
        <p:nvSpPr>
          <p:cNvPr id="8" name="Text Box 3"/>
          <p:cNvSpPr txBox="1"/>
          <p:nvPr/>
        </p:nvSpPr>
        <p:spPr>
          <a:xfrm>
            <a:off x="1416050" y="3138488"/>
            <a:ext cx="4687888" cy="3170237"/>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#include &lt;stdio.h&gt;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a:t>
            </a:r>
            <a:r>
              <a:rPr lang="en-US" altLang="zh-CN" b="1" dirty="0">
                <a:latin typeface="Courier New" panose="02070409020205090404" pitchFamily="49" charset="0"/>
              </a:rPr>
              <a: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int  x = 1;</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int  y = 2;</a:t>
            </a:r>
            <a:endParaRPr lang="en-US"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int main()</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Function();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printf("x=%d,y=%d\n",x,y);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return 0;</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sp>
        <p:nvSpPr>
          <p:cNvPr id="9" name="Text Box 5"/>
          <p:cNvSpPr txBox="1"/>
          <p:nvPr/>
        </p:nvSpPr>
        <p:spPr>
          <a:xfrm>
            <a:off x="6254750" y="3722688"/>
            <a:ext cx="4594225" cy="2246312"/>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zh-CN" altLang="zh-CN" b="1" dirty="0">
                <a:latin typeface="Courier New" panose="02070409020205090404" pitchFamily="49" charset="0"/>
                <a:ea typeface="宋体" pitchFamily="2" charset="-122"/>
              </a:rPr>
              <a:t>{</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fr-FR" altLang="zh-CN" b="1" dirty="0">
                <a:solidFill>
                  <a:srgbClr val="C00000"/>
                </a:solidFill>
                <a:latin typeface="Courier New" panose="02070409020205090404" pitchFamily="49" charset="0"/>
              </a:rPr>
              <a:t>int x</a:t>
            </a:r>
            <a:r>
              <a:rPr lang="en-US" altLang="zh-CN" b="1" dirty="0">
                <a:solidFill>
                  <a:srgbClr val="C00000"/>
                </a:solidFill>
                <a:latin typeface="Courier New" panose="02070409020205090404" pitchFamily="49" charset="0"/>
              </a:rPr>
              <a:t>, y;</a:t>
            </a:r>
            <a:endParaRPr lang="en-US"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solidFill>
                  <a:srgbClr val="C00000"/>
                </a:solidFill>
                <a:latin typeface="Courier New" panose="02070409020205090404" pitchFamily="49" charset="0"/>
              </a:rPr>
              <a:t>  x</a:t>
            </a:r>
            <a:r>
              <a:rPr lang="fr-FR" altLang="zh-CN" b="1" dirty="0">
                <a:solidFill>
                  <a:srgbClr val="C00000"/>
                </a:solidFill>
                <a:latin typeface="Courier New" panose="02070409020205090404" pitchFamily="49" charset="0"/>
              </a:rPr>
              <a:t> = 2;</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  y = 1;</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en-US" altLang="zh-CN" b="1" dirty="0">
                <a:latin typeface="Courier New" panose="02070409020205090404" pitchFamily="49" charset="0"/>
              </a:rPr>
              <a:t>printf("x=%d,y=%d\n",x,y);</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pic>
        <p:nvPicPr>
          <p:cNvPr id="166914" name="Picture 2"/>
          <p:cNvPicPr>
            <a:picLocks noChangeAspect="1"/>
          </p:cNvPicPr>
          <p:nvPr/>
        </p:nvPicPr>
        <p:blipFill>
          <a:blip r:embed="rId1"/>
          <a:stretch>
            <a:fillRect/>
          </a:stretch>
        </p:blipFill>
        <p:spPr>
          <a:xfrm>
            <a:off x="6167438" y="1844675"/>
            <a:ext cx="4487862" cy="1543050"/>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animEffect transition="in" filter="wipe(left)">
                                      <p:cBhvr>
                                        <p:cTn id="7" dur="500"/>
                                        <p:tgtEl>
                                          <p:spTgt spid="559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par>
                                <p:cTn id="14" presetID="23" presetClass="entr" presetSubtype="16"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166914"/>
                                        </p:tgtEl>
                                        <p:attrNameLst>
                                          <p:attrName>style.visibility</p:attrName>
                                        </p:attrNameLst>
                                      </p:cBhvr>
                                      <p:to>
                                        <p:strVal val="visible"/>
                                      </p:to>
                                    </p:set>
                                    <p:anim calcmode="lin" valueType="num">
                                      <p:cBhvr>
                                        <p:cTn id="22" dur="500" fill="hold"/>
                                        <p:tgtEl>
                                          <p:spTgt spid="166914"/>
                                        </p:tgtEl>
                                        <p:attrNameLst>
                                          <p:attrName>ppt_w</p:attrName>
                                        </p:attrNameLst>
                                      </p:cBhvr>
                                      <p:tavLst>
                                        <p:tav tm="0">
                                          <p:val>
                                            <p:fltVal val="0"/>
                                          </p:val>
                                        </p:tav>
                                        <p:tav tm="100000">
                                          <p:val>
                                            <p:strVal val="#ppt_w"/>
                                          </p:val>
                                        </p:tav>
                                      </p:tavLst>
                                    </p:anim>
                                    <p:anim calcmode="lin" valueType="num">
                                      <p:cBhvr>
                                        <p:cTn id="23" dur="500" fill="hold"/>
                                        <p:tgtEl>
                                          <p:spTgt spid="166914"/>
                                        </p:tgtEl>
                                        <p:attrNameLst>
                                          <p:attrName>ppt_h</p:attrName>
                                        </p:attrNameLst>
                                      </p:cBhvr>
                                      <p:tavLst>
                                        <p:tav tm="0">
                                          <p:val>
                                            <p:strVal val="#ppt_h"/>
                                          </p:val>
                                        </p:tav>
                                        <p:tav tm="100000">
                                          <p:val>
                                            <p:strVal val="#ppt_h"/>
                                          </p:val>
                                        </p:tav>
                                      </p:tavLst>
                                    </p:anim>
                                  </p:childTnLst>
                                </p:cTn>
                              </p:par>
                              <p:par>
                                <p:cTn id="24" presetID="22" presetClass="entr" presetSubtype="8" fill="hold" grpId="0" nodeType="withEffect">
                                  <p:stCondLst>
                                    <p:cond delay="0"/>
                                  </p:stCondLst>
                                  <p:childTnLst>
                                    <p:set>
                                      <p:cBhvr>
                                        <p:cTn id="25" dur="1" fill="hold">
                                          <p:stCondLst>
                                            <p:cond delay="0"/>
                                          </p:stCondLst>
                                        </p:cTn>
                                        <p:tgtEl>
                                          <p:spTgt spid="559107">
                                            <p:txEl>
                                              <p:pRg st="2" end="2"/>
                                            </p:txEl>
                                          </p:spTgt>
                                        </p:tgtEl>
                                        <p:attrNameLst>
                                          <p:attrName>style.visibility</p:attrName>
                                        </p:attrNameLst>
                                      </p:cBhvr>
                                      <p:to>
                                        <p:strVal val="visible"/>
                                      </p:to>
                                    </p:set>
                                    <p:animEffect transition="in" filter="wipe(left)">
                                      <p:cBhvr>
                                        <p:cTn id="26" dur="500"/>
                                        <p:tgtEl>
                                          <p:spTgt spid="5591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1" name="Rectangle 2"/>
          <p:cNvSpPr>
            <a:spLocks noGrp="1"/>
          </p:cNvSpPr>
          <p:nvPr>
            <p:ph type="title" idx="4294967295"/>
          </p:nvPr>
        </p:nvSpPr>
        <p:spPr/>
        <p:txBody>
          <a:bodyPr vert="horz" wrap="square" lIns="91440" tIns="45720" rIns="91440" bIns="45720" anchor="ctr" anchorCtr="0"/>
          <a:lstStyle/>
          <a:p>
            <a:r>
              <a:rPr lang="en-US" altLang="zh-CN" sz="4000" dirty="0"/>
              <a:t>2.4.1 </a:t>
            </a:r>
            <a:r>
              <a:rPr lang="zh-CN" altLang="en-US" sz="4000" dirty="0"/>
              <a:t>变量的作用域</a:t>
            </a:r>
            <a:endParaRPr lang="zh-CN" altLang="en-US" sz="4000" dirty="0"/>
          </a:p>
        </p:txBody>
      </p:sp>
      <p:sp>
        <p:nvSpPr>
          <p:cNvPr id="51202" name="Text Box 3"/>
          <p:cNvSpPr txBox="1"/>
          <p:nvPr/>
        </p:nvSpPr>
        <p:spPr>
          <a:xfrm>
            <a:off x="1343025" y="2995613"/>
            <a:ext cx="4760913" cy="3170237"/>
          </a:xfrm>
          <a:prstGeom prst="rect">
            <a:avLst/>
          </a:prstGeom>
          <a:solidFill>
            <a:srgbClr val="FF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#include &lt;stdio.h&gt;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Function(int x,  int y)</a:t>
            </a:r>
            <a:r>
              <a:rPr lang="en-US" altLang="zh-CN" b="1" dirty="0">
                <a:latin typeface="Courier New" panose="02070409020205090404" pitchFamily="49" charset="0"/>
              </a:rPr>
              <a:t>;</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int  x = 1;</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int  y = 2;</a:t>
            </a:r>
            <a:endParaRPr lang="en-US"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int main()</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Function(</a:t>
            </a:r>
            <a:r>
              <a:rPr lang="en-US" altLang="zh-CN" b="1" dirty="0">
                <a:solidFill>
                  <a:srgbClr val="C00000"/>
                </a:solidFill>
                <a:latin typeface="Courier New" panose="02070409020205090404" pitchFamily="49" charset="0"/>
              </a:rPr>
              <a:t>x, y</a:t>
            </a:r>
            <a:r>
              <a:rPr lang="en-US" altLang="zh-CN" b="1" dirty="0">
                <a:latin typeface="Courier New" panose="02070409020205090404" pitchFamily="49" charset="0"/>
              </a:rPr>
              <a:t>);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printf("x=%d,y=%d\n",x,y);  </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  return 0;</a:t>
            </a:r>
            <a:endParaRPr lang="en-US"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sp>
        <p:nvSpPr>
          <p:cNvPr id="51203" name="Text Box 5"/>
          <p:cNvSpPr txBox="1"/>
          <p:nvPr/>
        </p:nvSpPr>
        <p:spPr>
          <a:xfrm>
            <a:off x="6215063" y="3752850"/>
            <a:ext cx="4560887" cy="1938338"/>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spAutoFit/>
          </a:bodyPr>
          <a:lstStyle/>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void Function(</a:t>
            </a:r>
            <a:r>
              <a:rPr lang="fr-FR" altLang="zh-CN" b="1" dirty="0">
                <a:solidFill>
                  <a:srgbClr val="C00000"/>
                </a:solidFill>
                <a:latin typeface="Courier New" panose="02070409020205090404" pitchFamily="49" charset="0"/>
              </a:rPr>
              <a:t>int x,  int y</a:t>
            </a:r>
            <a:r>
              <a:rPr lang="fr-FR" altLang="zh-CN" b="1" dirty="0">
                <a:latin typeface="Courier New" panose="02070409020205090404" pitchFamily="49" charset="0"/>
              </a:rPr>
              <a:t>)</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zh-CN" altLang="zh-CN" b="1" dirty="0">
                <a:latin typeface="Courier New" panose="02070409020205090404" pitchFamily="49" charset="0"/>
                <a:ea typeface="宋体" pitchFamily="2" charset="-122"/>
              </a:rPr>
              <a:t>{</a:t>
            </a:r>
            <a:endParaRPr lang="zh-CN" altLang="zh-CN" b="1" dirty="0">
              <a:latin typeface="Courier New" panose="02070409020205090404" pitchFamily="49" charset="0"/>
              <a:ea typeface="宋体" pitchFamily="2" charset="-122"/>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fr-FR" altLang="zh-CN" b="1" dirty="0">
                <a:solidFill>
                  <a:srgbClr val="C00000"/>
                </a:solidFill>
                <a:latin typeface="Courier New" panose="02070409020205090404" pitchFamily="49" charset="0"/>
              </a:rPr>
              <a:t>x = 2;</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solidFill>
                  <a:srgbClr val="C00000"/>
                </a:solidFill>
                <a:latin typeface="Courier New" panose="02070409020205090404" pitchFamily="49" charset="0"/>
              </a:rPr>
              <a:t>  y = 1;</a:t>
            </a:r>
            <a:endParaRPr lang="fr-FR" altLang="zh-CN" b="1" dirty="0">
              <a:solidFill>
                <a:srgbClr val="C00000"/>
              </a:solidFill>
              <a:latin typeface="Courier New" panose="02070409020205090404" pitchFamily="49" charset="0"/>
            </a:endParaRPr>
          </a:p>
          <a:p>
            <a:pPr eaLnBrk="0" hangingPunct="0">
              <a:buClr>
                <a:schemeClr val="tx2"/>
              </a:buClr>
              <a:buSzPct val="80000"/>
              <a:buFont typeface="Wingdings" panose="05000000000000000000" pitchFamily="2" charset="2"/>
            </a:pPr>
            <a:r>
              <a:rPr lang="fr-FR" altLang="zh-CN" b="1" dirty="0">
                <a:latin typeface="Courier New" panose="02070409020205090404" pitchFamily="49" charset="0"/>
              </a:rPr>
              <a:t>  </a:t>
            </a:r>
            <a:r>
              <a:rPr lang="en-US" altLang="zh-CN" b="1" dirty="0">
                <a:latin typeface="Courier New" panose="02070409020205090404" pitchFamily="49" charset="0"/>
              </a:rPr>
              <a:t>printf("x=%d,y=%d\n",x,y);</a:t>
            </a:r>
            <a:endParaRPr lang="fr-FR" altLang="zh-CN" b="1" dirty="0">
              <a:latin typeface="Courier New" panose="02070409020205090404" pitchFamily="49" charset="0"/>
            </a:endParaRPr>
          </a:p>
          <a:p>
            <a:pPr eaLnBrk="0" hangingPunct="0">
              <a:buClr>
                <a:schemeClr val="tx2"/>
              </a:buClr>
              <a:buSzPct val="80000"/>
              <a:buFont typeface="Wingdings" panose="05000000000000000000" pitchFamily="2" charset="2"/>
            </a:pPr>
            <a:r>
              <a:rPr lang="en-US" altLang="zh-CN" b="1" dirty="0">
                <a:latin typeface="Courier New" panose="02070409020205090404" pitchFamily="49" charset="0"/>
              </a:rPr>
              <a:t>}</a:t>
            </a:r>
            <a:endParaRPr lang="en-US" altLang="zh-CN" b="1" dirty="0">
              <a:latin typeface="Courier New" panose="02070409020205090404" pitchFamily="49" charset="0"/>
            </a:endParaRPr>
          </a:p>
        </p:txBody>
      </p:sp>
      <p:pic>
        <p:nvPicPr>
          <p:cNvPr id="166914" name="Picture 2"/>
          <p:cNvPicPr>
            <a:picLocks noChangeAspect="1"/>
          </p:cNvPicPr>
          <p:nvPr/>
        </p:nvPicPr>
        <p:blipFill>
          <a:blip r:embed="rId1"/>
          <a:stretch>
            <a:fillRect/>
          </a:stretch>
        </p:blipFill>
        <p:spPr>
          <a:xfrm>
            <a:off x="6240463" y="1643063"/>
            <a:ext cx="4487862" cy="1543050"/>
          </a:xfrm>
          <a:prstGeom prst="rect">
            <a:avLst/>
          </a:prstGeom>
          <a:noFill/>
          <a:ln w="9525">
            <a:noFill/>
          </a:ln>
        </p:spPr>
      </p:pic>
      <p:sp>
        <p:nvSpPr>
          <p:cNvPr id="7" name="Rectangle 3"/>
          <p:cNvSpPr txBox="1"/>
          <p:nvPr/>
        </p:nvSpPr>
        <p:spPr>
          <a:xfrm>
            <a:off x="1487488" y="1196975"/>
            <a:ext cx="8389937" cy="1989138"/>
          </a:xfrm>
          <a:prstGeom prst="rect">
            <a:avLst/>
          </a:prstGeom>
          <a:noFill/>
          <a:ln w="9525">
            <a:noFill/>
          </a:ln>
        </p:spPr>
        <p:txBody>
          <a:bodyPr lIns="92075" tIns="46037" rIns="92075" bIns="46037" anchor="t" anchorCtr="0"/>
          <a:lstStyle/>
          <a:p>
            <a:pPr marL="457200" indent="-457200" eaLnBrk="0" hangingPunct="0">
              <a:lnSpc>
                <a:spcPct val="110000"/>
              </a:lnSpc>
              <a:spcBef>
                <a:spcPts val="800"/>
              </a:spcBef>
              <a:spcAft>
                <a:spcPts val="590"/>
              </a:spcAft>
              <a:buClr>
                <a:schemeClr val="tx1"/>
              </a:buClr>
              <a:buSzPct val="50000"/>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假如变量同名</a:t>
            </a:r>
            <a:r>
              <a:rPr lang="en-US"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850900" lvl="1" indent="-285750" algn="l" rtl="0" eaLnBrk="0" fontAlgn="base" hangingPunct="0">
              <a:lnSpc>
                <a:spcPct val="90000"/>
              </a:lnSpc>
              <a:spcBef>
                <a:spcPts val="600"/>
              </a:spcBef>
              <a:spcAft>
                <a:spcPts val="590"/>
              </a:spcAft>
              <a:buClr>
                <a:srgbClr val="FFCC66"/>
              </a:buClr>
              <a:buSzPct val="115000"/>
              <a:buFontTx/>
              <a:buChar char="–"/>
            </a:pPr>
            <a:r>
              <a:rPr lang="zh-CN" altLang="en-US" sz="2400" dirty="0">
                <a:solidFill>
                  <a:srgbClr val="333399"/>
                </a:solidFill>
                <a:latin typeface="黑体" panose="02010609060101010101" pitchFamily="49" charset="-122"/>
                <a:ea typeface="黑体" panose="02010609060101010101" pitchFamily="49" charset="-122"/>
              </a:rPr>
              <a:t>只要作用域不同</a:t>
            </a:r>
            <a:endParaRPr lang="en-US" altLang="zh-CN" sz="2400" dirty="0">
              <a:solidFill>
                <a:srgbClr val="333399"/>
              </a:solidFill>
              <a:latin typeface="黑体" panose="02010609060101010101" pitchFamily="49" charset="-122"/>
              <a:ea typeface="黑体" panose="02010609060101010101" pitchFamily="49" charset="-122"/>
            </a:endParaRPr>
          </a:p>
          <a:p>
            <a:pPr marL="850900" lvl="1" indent="-285750" algn="l" rtl="0" eaLnBrk="0" fontAlgn="base" hangingPunct="0">
              <a:lnSpc>
                <a:spcPct val="90000"/>
              </a:lnSpc>
              <a:spcBef>
                <a:spcPts val="600"/>
              </a:spcBef>
              <a:spcAft>
                <a:spcPts val="590"/>
              </a:spcAft>
              <a:buClr>
                <a:srgbClr val="FFCC66"/>
              </a:buClr>
              <a:buSzPct val="115000"/>
              <a:buFontTx/>
              <a:buChar char="–"/>
            </a:pPr>
            <a:r>
              <a:rPr lang="zh-CN" altLang="en-US" sz="2400" dirty="0">
                <a:solidFill>
                  <a:srgbClr val="333399"/>
                </a:solidFill>
                <a:latin typeface="黑体" panose="02010609060101010101" pitchFamily="49" charset="-122"/>
                <a:ea typeface="黑体" panose="02010609060101010101" pitchFamily="49" charset="-122"/>
              </a:rPr>
              <a:t>新的声明屏蔽旧的声明</a:t>
            </a:r>
            <a:endParaRPr lang="en-US" altLang="zh-CN" sz="2400" dirty="0">
              <a:solidFill>
                <a:srgbClr val="333399"/>
              </a:solidFill>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66914"/>
                                        </p:tgtEl>
                                        <p:attrNameLst>
                                          <p:attrName>style.visibility</p:attrName>
                                        </p:attrNameLst>
                                      </p:cBhvr>
                                      <p:to>
                                        <p:strVal val="visible"/>
                                      </p:to>
                                    </p:set>
                                    <p:anim calcmode="lin" valueType="num">
                                      <p:cBhvr>
                                        <p:cTn id="7" dur="500" fill="hold"/>
                                        <p:tgtEl>
                                          <p:spTgt spid="166914"/>
                                        </p:tgtEl>
                                        <p:attrNameLst>
                                          <p:attrName>ppt_w</p:attrName>
                                        </p:attrNameLst>
                                      </p:cBhvr>
                                      <p:tavLst>
                                        <p:tav tm="0">
                                          <p:val>
                                            <p:fltVal val="0"/>
                                          </p:val>
                                        </p:tav>
                                        <p:tav tm="100000">
                                          <p:val>
                                            <p:strVal val="#ppt_w"/>
                                          </p:val>
                                        </p:tav>
                                      </p:tavLst>
                                    </p:anim>
                                    <p:anim calcmode="lin" valueType="num">
                                      <p:cBhvr>
                                        <p:cTn id="8" dur="500" fill="hold"/>
                                        <p:tgtEl>
                                          <p:spTgt spid="16691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left)">
                                      <p:cBhvr>
                                        <p:cTn id="13" dur="500"/>
                                        <p:tgtEl>
                                          <p:spTgt spid="7">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wipe(left)">
                                      <p:cBhvr>
                                        <p:cTn id="16"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Rectangle 2"/>
          <p:cNvSpPr>
            <a:spLocks noGrp="1"/>
          </p:cNvSpPr>
          <p:nvPr>
            <p:ph type="title" idx="4294967295"/>
          </p:nvPr>
        </p:nvSpPr>
        <p:spPr/>
        <p:txBody>
          <a:bodyPr vert="horz" wrap="square" lIns="91440" tIns="45720" rIns="91440" bIns="45720" anchor="ctr" anchorCtr="0"/>
          <a:lstStyle/>
          <a:p>
            <a:r>
              <a:rPr lang="en-US" altLang="zh-CN" sz="4000" dirty="0"/>
              <a:t>2.4.1 </a:t>
            </a:r>
            <a:r>
              <a:rPr lang="zh-CN" altLang="en-US" sz="4000" dirty="0"/>
              <a:t>变量的作用域</a:t>
            </a:r>
            <a:endParaRPr lang="zh-CN" altLang="en-US" sz="4000" dirty="0"/>
          </a:p>
        </p:txBody>
      </p:sp>
      <p:sp>
        <p:nvSpPr>
          <p:cNvPr id="559107" name="Rectangle 3"/>
          <p:cNvSpPr>
            <a:spLocks noGrp="1"/>
          </p:cNvSpPr>
          <p:nvPr>
            <p:ph type="body" idx="4294967295"/>
          </p:nvPr>
        </p:nvSpPr>
        <p:spPr>
          <a:xfrm>
            <a:off x="1684338" y="1625600"/>
            <a:ext cx="9013825" cy="4756150"/>
          </a:xfrm>
        </p:spPr>
        <p:txBody>
          <a:bodyPr vert="horz" wrap="square" lIns="91440" tIns="45720" rIns="91440" bIns="45720" anchor="t" anchorCtr="0"/>
          <a:lstStyle/>
          <a:p>
            <a:pPr>
              <a:lnSpc>
                <a:spcPct val="115000"/>
              </a:lnSpc>
              <a:spcBef>
                <a:spcPts val="600"/>
              </a:spcBef>
            </a:pPr>
            <a:r>
              <a:rPr lang="zh-CN" altLang="en-US" dirty="0"/>
              <a:t>全局变量有什么用？</a:t>
            </a:r>
            <a:endParaRPr lang="en-US" altLang="zh-CN" dirty="0"/>
          </a:p>
          <a:p>
            <a:pPr>
              <a:lnSpc>
                <a:spcPct val="115000"/>
              </a:lnSpc>
              <a:spcBef>
                <a:spcPts val="600"/>
              </a:spcBef>
            </a:pPr>
            <a:r>
              <a:rPr lang="zh-CN" altLang="en-US" dirty="0"/>
              <a:t>当多个函数必须共享同一个变量</a:t>
            </a:r>
            <a:endParaRPr lang="en-US" altLang="zh-CN" dirty="0"/>
          </a:p>
          <a:p>
            <a:pPr>
              <a:lnSpc>
                <a:spcPct val="115000"/>
              </a:lnSpc>
              <a:spcBef>
                <a:spcPts val="600"/>
              </a:spcBef>
            </a:pPr>
            <a:r>
              <a:rPr lang="zh-CN" altLang="en-US" dirty="0"/>
              <a:t>或者少数几个函数必须共享大量变量时</a:t>
            </a:r>
            <a:endParaRPr lang="zh-CN" altLang="en-US" dirty="0"/>
          </a:p>
          <a:p>
            <a:pPr marL="946150" lvl="1" indent="-381000">
              <a:lnSpc>
                <a:spcPct val="115000"/>
              </a:lnSpc>
              <a:spcBef>
                <a:spcPts val="600"/>
              </a:spcBef>
            </a:pPr>
            <a:r>
              <a:rPr lang="zh-CN" altLang="zh-CN" dirty="0"/>
              <a:t>使函数间的数据交换更容易，更高效</a:t>
            </a:r>
            <a:endParaRPr lang="zh-CN" altLang="en-US" dirty="0"/>
          </a:p>
        </p:txBody>
      </p:sp>
      <p:pic>
        <p:nvPicPr>
          <p:cNvPr id="53251" name="图片 9"/>
          <p:cNvPicPr>
            <a:picLocks noChangeAspect="1"/>
          </p:cNvPicPr>
          <p:nvPr/>
        </p:nvPicPr>
        <p:blipFill>
          <a:blip r:embed="rId1">
            <a:clrChange>
              <a:clrFrom>
                <a:srgbClr val="FFFFFD"/>
              </a:clrFrom>
              <a:clrTo>
                <a:srgbClr val="FFFFFD">
                  <a:alpha val="0"/>
                </a:srgbClr>
              </a:clrTo>
            </a:clrChange>
          </a:blip>
          <a:stretch>
            <a:fillRect/>
          </a:stretch>
        </p:blipFill>
        <p:spPr>
          <a:xfrm>
            <a:off x="10134600" y="4791075"/>
            <a:ext cx="836613" cy="1638300"/>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anim calcmode="lin" valueType="num">
                                      <p:cBhvr>
                                        <p:cTn id="7" dur="500" fill="hold"/>
                                        <p:tgtEl>
                                          <p:spTgt spid="55910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5910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59107">
                                            <p:txEl>
                                              <p:pRg st="2" end="2"/>
                                            </p:txEl>
                                          </p:spTgt>
                                        </p:tgtEl>
                                        <p:attrNameLst>
                                          <p:attrName>style.visibility</p:attrName>
                                        </p:attrNameLst>
                                      </p:cBhvr>
                                      <p:to>
                                        <p:strVal val="visible"/>
                                      </p:to>
                                    </p:set>
                                    <p:anim calcmode="lin" valueType="num">
                                      <p:cBhvr>
                                        <p:cTn id="13" dur="500" fill="hold"/>
                                        <p:tgtEl>
                                          <p:spTgt spid="55910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55910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59107">
                                            <p:txEl>
                                              <p:pRg st="3" end="3"/>
                                            </p:txEl>
                                          </p:spTgt>
                                        </p:tgtEl>
                                        <p:attrNameLst>
                                          <p:attrName>style.visibility</p:attrName>
                                        </p:attrNameLst>
                                      </p:cBhvr>
                                      <p:to>
                                        <p:strVal val="visible"/>
                                      </p:to>
                                    </p:set>
                                    <p:anim calcmode="lin" valueType="num">
                                      <p:cBhvr>
                                        <p:cTn id="19" dur="500" fill="hold"/>
                                        <p:tgtEl>
                                          <p:spTgt spid="55910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559107">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Rectangle 2"/>
          <p:cNvSpPr>
            <a:spLocks noGrp="1"/>
          </p:cNvSpPr>
          <p:nvPr>
            <p:ph type="title" idx="4294967295"/>
          </p:nvPr>
        </p:nvSpPr>
        <p:spPr>
          <a:xfrm>
            <a:off x="1638300" y="188913"/>
            <a:ext cx="8915400" cy="1143000"/>
          </a:xfrm>
        </p:spPr>
        <p:txBody>
          <a:bodyPr vert="horz" wrap="square" lIns="91440" tIns="45720" rIns="91440" bIns="45720" anchor="ctr" anchorCtr="0"/>
          <a:lstStyle/>
          <a:p>
            <a:r>
              <a:rPr lang="en-US" altLang="zh-CN" sz="4000" dirty="0"/>
              <a:t>2.4.1 </a:t>
            </a:r>
            <a:r>
              <a:rPr lang="zh-CN" altLang="en-US" sz="4000" dirty="0"/>
              <a:t>变量的作用域</a:t>
            </a:r>
            <a:endParaRPr lang="zh-CN" altLang="en-US" sz="4000" dirty="0"/>
          </a:p>
        </p:txBody>
      </p:sp>
      <p:sp>
        <p:nvSpPr>
          <p:cNvPr id="559107" name="Rectangle 3"/>
          <p:cNvSpPr>
            <a:spLocks noGrp="1"/>
          </p:cNvSpPr>
          <p:nvPr>
            <p:ph type="body" idx="4294967295"/>
          </p:nvPr>
        </p:nvSpPr>
        <p:spPr>
          <a:xfrm>
            <a:off x="1530350" y="1341438"/>
            <a:ext cx="9364663" cy="4756150"/>
          </a:xfrm>
        </p:spPr>
        <p:txBody>
          <a:bodyPr vert="horz" wrap="square" lIns="91440" tIns="45720" rIns="91440" bIns="45720" anchor="t" anchorCtr="0"/>
          <a:lstStyle/>
          <a:p>
            <a:pPr>
              <a:lnSpc>
                <a:spcPct val="115000"/>
              </a:lnSpc>
              <a:spcBef>
                <a:spcPts val="600"/>
              </a:spcBef>
              <a:spcAft>
                <a:spcPts val="600"/>
              </a:spcAft>
            </a:pPr>
            <a:r>
              <a:rPr lang="zh-CN" altLang="zh-CN" dirty="0"/>
              <a:t>尽量少用</a:t>
            </a:r>
            <a:r>
              <a:rPr lang="zh-CN" altLang="en-US" dirty="0"/>
              <a:t>全局变量</a:t>
            </a:r>
            <a:endParaRPr lang="en-US" altLang="zh-CN" dirty="0"/>
          </a:p>
          <a:p>
            <a:pPr>
              <a:lnSpc>
                <a:spcPct val="115000"/>
              </a:lnSpc>
              <a:spcBef>
                <a:spcPts val="600"/>
              </a:spcBef>
              <a:spcAft>
                <a:spcPts val="600"/>
              </a:spcAft>
            </a:pPr>
            <a:r>
              <a:rPr lang="zh-CN" altLang="en-US" dirty="0"/>
              <a:t>多数情况下，通过形参和返回值进行数据交流比共享全局变量的方法更好  </a:t>
            </a:r>
            <a:endParaRPr lang="en-US" altLang="zh-CN" dirty="0">
              <a:latin typeface="华文仿宋" panose="02010600040101010101" pitchFamily="2" charset="-122"/>
            </a:endParaRPr>
          </a:p>
          <a:p>
            <a:pPr marL="946150" lvl="1" indent="-381000">
              <a:lnSpc>
                <a:spcPct val="115000"/>
              </a:lnSpc>
              <a:spcBef>
                <a:spcPts val="600"/>
              </a:spcBef>
              <a:spcAft>
                <a:spcPts val="600"/>
              </a:spcAft>
            </a:pPr>
            <a:r>
              <a:rPr lang="zh-CN" altLang="en-US" sz="2400" dirty="0">
                <a:latin typeface="宋体" pitchFamily="2" charset="-122"/>
              </a:rPr>
              <a:t>不能实现信息隐藏，谁都可改写它，很难确定谁改写了它，</a:t>
            </a:r>
            <a:r>
              <a:rPr lang="zh-CN" altLang="en-US" sz="2400" dirty="0"/>
              <a:t>就像处理聚集很多人的晚会上的谋杀案很难缩小嫌疑犯范围一样 </a:t>
            </a:r>
            <a:endParaRPr lang="zh-CN" altLang="en-US" sz="2400" dirty="0"/>
          </a:p>
          <a:p>
            <a:pPr marL="946150" lvl="1" indent="-381000">
              <a:lnSpc>
                <a:spcPct val="115000"/>
              </a:lnSpc>
              <a:spcBef>
                <a:spcPts val="600"/>
              </a:spcBef>
              <a:spcAft>
                <a:spcPts val="600"/>
              </a:spcAft>
            </a:pPr>
            <a:r>
              <a:rPr lang="zh-CN" altLang="en-US" sz="2400" dirty="0">
                <a:latin typeface="Calibri" panose="020F0502020204030204" pitchFamily="34" charset="0"/>
              </a:rPr>
              <a:t>很难在其他程序中复用，依赖全局变量的函数不是“独立”的，为在另一程序中使用它，不得不带上函数所需的全局变量</a:t>
            </a:r>
            <a:endParaRPr lang="zh-CN" altLang="en-US" sz="2400" dirty="0">
              <a:latin typeface="Calibri" panose="020F0502020204030204" pitchFamily="34" charset="0"/>
            </a:endParaRPr>
          </a:p>
          <a:p>
            <a:pPr marL="946150" lvl="1" indent="-381000">
              <a:lnSpc>
                <a:spcPct val="115000"/>
              </a:lnSpc>
              <a:spcBef>
                <a:spcPts val="600"/>
              </a:spcBef>
              <a:spcAft>
                <a:spcPts val="600"/>
              </a:spcAft>
            </a:pPr>
            <a:r>
              <a:rPr lang="zh-CN" altLang="en-US" sz="2400" dirty="0"/>
              <a:t>修改程序时，若改变全局变量（如类型），则需检查同一文件中的每个函数，以确认该变化对函数的影响程度 </a:t>
            </a:r>
            <a:endParaRPr lang="zh-CN" altLang="en-US" sz="2400" dirty="0"/>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anim calcmode="lin" valueType="num">
                                      <p:cBhvr>
                                        <p:cTn id="7" dur="500" fill="hold"/>
                                        <p:tgtEl>
                                          <p:spTgt spid="55910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5910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59107">
                                            <p:txEl>
                                              <p:pRg st="2" end="2"/>
                                            </p:txEl>
                                          </p:spTgt>
                                        </p:tgtEl>
                                        <p:attrNameLst>
                                          <p:attrName>style.visibility</p:attrName>
                                        </p:attrNameLst>
                                      </p:cBhvr>
                                      <p:to>
                                        <p:strVal val="visible"/>
                                      </p:to>
                                    </p:set>
                                    <p:anim calcmode="lin" valueType="num">
                                      <p:cBhvr>
                                        <p:cTn id="13" dur="500" fill="hold"/>
                                        <p:tgtEl>
                                          <p:spTgt spid="55910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55910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59107">
                                            <p:txEl>
                                              <p:pRg st="3" end="3"/>
                                            </p:txEl>
                                          </p:spTgt>
                                        </p:tgtEl>
                                        <p:attrNameLst>
                                          <p:attrName>style.visibility</p:attrName>
                                        </p:attrNameLst>
                                      </p:cBhvr>
                                      <p:to>
                                        <p:strVal val="visible"/>
                                      </p:to>
                                    </p:set>
                                    <p:anim calcmode="lin" valueType="num">
                                      <p:cBhvr>
                                        <p:cTn id="19" dur="500" fill="hold"/>
                                        <p:tgtEl>
                                          <p:spTgt spid="55910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559107">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59107">
                                            <p:txEl>
                                              <p:pRg st="4" end="4"/>
                                            </p:txEl>
                                          </p:spTgt>
                                        </p:tgtEl>
                                        <p:attrNameLst>
                                          <p:attrName>style.visibility</p:attrName>
                                        </p:attrNameLst>
                                      </p:cBhvr>
                                      <p:to>
                                        <p:strVal val="visible"/>
                                      </p:to>
                                    </p:set>
                                    <p:anim calcmode="lin" valueType="num">
                                      <p:cBhvr>
                                        <p:cTn id="25" dur="500" fill="hold"/>
                                        <p:tgtEl>
                                          <p:spTgt spid="559107">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55910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p:cNvSpPr>
            <a:spLocks noGrp="1"/>
          </p:cNvSpPr>
          <p:nvPr>
            <p:ph type="title" idx="4294967295"/>
          </p:nvPr>
        </p:nvSpPr>
        <p:spPr>
          <a:xfrm>
            <a:off x="1414463" y="285750"/>
            <a:ext cx="9634537" cy="839788"/>
          </a:xfrm>
        </p:spPr>
        <p:txBody>
          <a:bodyPr vert="horz" wrap="square" lIns="91440" tIns="45720" rIns="91440" bIns="45720" anchor="ctr" anchorCtr="0"/>
          <a:lstStyle/>
          <a:p>
            <a:r>
              <a:rPr lang="en-US" altLang="zh-CN" sz="4000" dirty="0"/>
              <a:t>2.4.2 </a:t>
            </a:r>
            <a:r>
              <a:rPr lang="zh-CN" altLang="en-US" sz="4000" dirty="0"/>
              <a:t>变量的存储类型</a:t>
            </a:r>
            <a:endParaRPr lang="zh-CN" altLang="en-US" sz="4000" dirty="0"/>
          </a:p>
        </p:txBody>
      </p:sp>
      <p:sp>
        <p:nvSpPr>
          <p:cNvPr id="57346" name="Rectangle 3"/>
          <p:cNvSpPr>
            <a:spLocks noGrp="1"/>
          </p:cNvSpPr>
          <p:nvPr>
            <p:ph type="body" idx="4294967295"/>
          </p:nvPr>
        </p:nvSpPr>
        <p:spPr>
          <a:xfrm>
            <a:off x="1530350" y="1268413"/>
            <a:ext cx="8658225" cy="706437"/>
          </a:xfrm>
        </p:spPr>
        <p:txBody>
          <a:bodyPr vert="horz" wrap="square" lIns="91440" tIns="45720" rIns="91440" bIns="45720" anchor="t" anchorCtr="0"/>
          <a:lstStyle/>
          <a:p>
            <a:pPr>
              <a:lnSpc>
                <a:spcPct val="120000"/>
              </a:lnSpc>
            </a:pPr>
            <a:r>
              <a:rPr lang="zh-CN" altLang="en-US" dirty="0"/>
              <a:t>内存中供用户使用的存储空间可分为</a:t>
            </a:r>
            <a:r>
              <a:rPr lang="en-US" altLang="zh-CN" dirty="0"/>
              <a:t>4</a:t>
            </a:r>
            <a:r>
              <a:rPr lang="zh-CN" altLang="en-US" dirty="0"/>
              <a:t>个部分</a:t>
            </a:r>
            <a:r>
              <a:rPr lang="zh-CN" altLang="en-US" dirty="0">
                <a:solidFill>
                  <a:srgbClr val="C00000"/>
                </a:solidFill>
                <a:ea typeface="宋体" pitchFamily="2" charset="-122"/>
              </a:rPr>
              <a:t>               </a:t>
            </a:r>
            <a:endParaRPr lang="zh-CN" altLang="en-US" dirty="0">
              <a:solidFill>
                <a:srgbClr val="C00000"/>
              </a:solidFill>
              <a:ea typeface="宋体" pitchFamily="2" charset="-122"/>
            </a:endParaRPr>
          </a:p>
        </p:txBody>
      </p:sp>
      <p:pic>
        <p:nvPicPr>
          <p:cNvPr id="156677" name="Picture 12"/>
          <p:cNvPicPr>
            <a:picLocks noChangeAspect="1"/>
          </p:cNvPicPr>
          <p:nvPr/>
        </p:nvPicPr>
        <p:blipFill>
          <a:blip r:embed="rId1">
            <a:clrChange>
              <a:clrFrom>
                <a:srgbClr val="FFFFFF"/>
              </a:clrFrom>
              <a:clrTo>
                <a:srgbClr val="FFFFFF">
                  <a:alpha val="0"/>
                </a:srgbClr>
              </a:clrTo>
            </a:clrChange>
          </a:blip>
          <a:stretch>
            <a:fillRect/>
          </a:stretch>
        </p:blipFill>
        <p:spPr>
          <a:xfrm>
            <a:off x="9609138" y="2781300"/>
            <a:ext cx="1322387" cy="3384550"/>
          </a:xfrm>
          <a:prstGeom prst="rect">
            <a:avLst/>
          </a:prstGeom>
          <a:noFill/>
          <a:ln w="9525">
            <a:noFill/>
          </a:ln>
        </p:spPr>
      </p:pic>
      <p:sp>
        <p:nvSpPr>
          <p:cNvPr id="2" name="Rectangle 3"/>
          <p:cNvSpPr/>
          <p:nvPr/>
        </p:nvSpPr>
        <p:spPr>
          <a:xfrm>
            <a:off x="1530350" y="1916113"/>
            <a:ext cx="7518400" cy="1439862"/>
          </a:xfrm>
          <a:prstGeom prst="rect">
            <a:avLst/>
          </a:prstGeom>
          <a:noFill/>
          <a:ln w="9525">
            <a:noFill/>
          </a:ln>
        </p:spPr>
        <p:txBody>
          <a:bodyPr lIns="92075" tIns="46037" rIns="92075" bIns="46037" anchor="t" anchorCtr="0"/>
          <a:lstStyle/>
          <a:p>
            <a:pPr marL="457200" indent="-457200" eaLnBrk="0" hangingPunct="0">
              <a:spcBef>
                <a:spcPts val="600"/>
              </a:spcBef>
              <a:buClr>
                <a:schemeClr val="tx1"/>
              </a:buClr>
              <a:buSzPct val="50000"/>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“静态”</a:t>
            </a:r>
            <a:endParaRPr lang="zh-CN" altLang="en-US" sz="2800" dirty="0">
              <a:latin typeface="黑体" panose="02010609060101010101" pitchFamily="49" charset="-122"/>
              <a:ea typeface="黑体" panose="02010609060101010101" pitchFamily="49" charset="-122"/>
            </a:endParaRPr>
          </a:p>
          <a:p>
            <a:pPr marL="850900" lvl="1" indent="-285750" algn="l" rtl="0" eaLnBrk="0" fontAlgn="base" hangingPunct="0">
              <a:lnSpc>
                <a:spcPct val="100000"/>
              </a:lnSpc>
              <a:spcBef>
                <a:spcPts val="600"/>
              </a:spcBef>
              <a:spcAft>
                <a:spcPct val="0"/>
              </a:spcAft>
              <a:buClr>
                <a:srgbClr val="333399"/>
              </a:buClr>
              <a:buSzPct val="50000"/>
              <a:buFont typeface="Wingdings" panose="05000000000000000000" pitchFamily="2" charset="2"/>
              <a:buChar char="u"/>
            </a:pPr>
            <a:r>
              <a:rPr lang="zh-CN" altLang="en-US" sz="2400" dirty="0">
                <a:solidFill>
                  <a:srgbClr val="333399"/>
                </a:solidFill>
                <a:latin typeface="黑体" panose="02010609060101010101" pitchFamily="49" charset="-122"/>
                <a:ea typeface="黑体" panose="02010609060101010101" pitchFamily="49" charset="-122"/>
              </a:rPr>
              <a:t>表示事情发生在程序构建的编译时和链接时，而非程序实际开始运行的载入时和运行时</a:t>
            </a:r>
            <a:endParaRPr lang="zh-CN" altLang="en-US" sz="2400" dirty="0">
              <a:solidFill>
                <a:srgbClr val="333399"/>
              </a:solidFill>
              <a:latin typeface="黑体" panose="02010609060101010101" pitchFamily="49" charset="-122"/>
              <a:ea typeface="黑体" panose="02010609060101010101" pitchFamily="49" charset="-122"/>
            </a:endParaRPr>
          </a:p>
          <a:p>
            <a:pPr marL="1333500" lvl="2" indent="-292100" algn="l" rtl="0" eaLnBrk="0" fontAlgn="base" hangingPunct="0">
              <a:lnSpc>
                <a:spcPct val="120000"/>
              </a:lnSpc>
              <a:spcBef>
                <a:spcPct val="20000"/>
              </a:spcBef>
              <a:spcAft>
                <a:spcPts val="590"/>
              </a:spcAft>
              <a:buClr>
                <a:srgbClr val="FFCC66"/>
              </a:buClr>
              <a:buSzPct val="80000"/>
              <a:buFont typeface="Wingdings 2" panose="05020102010507070707" pitchFamily="18" charset="2"/>
              <a:buNone/>
            </a:pPr>
            <a:r>
              <a:rPr lang="zh-CN" altLang="en-US" sz="2000" dirty="0">
                <a:solidFill>
                  <a:srgbClr val="C00000"/>
                </a:solidFill>
                <a:latin typeface="黑体" panose="02010609060101010101" pitchFamily="49" charset="-122"/>
                <a:ea typeface="黑体" panose="02010609060101010101" pitchFamily="49" charset="-122"/>
              </a:rPr>
              <a:t>               </a:t>
            </a:r>
            <a:endParaRPr lang="zh-CN" altLang="en-US" sz="2000" dirty="0">
              <a:solidFill>
                <a:srgbClr val="C00000"/>
              </a:solidFill>
              <a:latin typeface="黑体" panose="02010609060101010101" pitchFamily="49" charset="-122"/>
              <a:ea typeface="黑体" panose="02010609060101010101" pitchFamily="49" charset="-122"/>
            </a:endParaRPr>
          </a:p>
        </p:txBody>
      </p:sp>
      <p:sp>
        <p:nvSpPr>
          <p:cNvPr id="3" name="Rectangle 3"/>
          <p:cNvSpPr/>
          <p:nvPr/>
        </p:nvSpPr>
        <p:spPr>
          <a:xfrm>
            <a:off x="1530350" y="3355975"/>
            <a:ext cx="7878763" cy="1152525"/>
          </a:xfrm>
          <a:prstGeom prst="rect">
            <a:avLst/>
          </a:prstGeom>
          <a:noFill/>
          <a:ln w="9525">
            <a:noFill/>
          </a:ln>
        </p:spPr>
        <p:txBody>
          <a:bodyPr lIns="92075" tIns="46037" rIns="92075" bIns="46037" anchor="t" anchorCtr="0"/>
          <a:lstStyle/>
          <a:p>
            <a:pPr marL="457200" indent="-457200" eaLnBrk="0" hangingPunct="0">
              <a:spcBef>
                <a:spcPts val="600"/>
              </a:spcBef>
              <a:buClr>
                <a:schemeClr val="tx1"/>
              </a:buClr>
              <a:buSzPct val="50000"/>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“动态”</a:t>
            </a:r>
            <a:endParaRPr lang="zh-CN" altLang="en-US" sz="2800" dirty="0">
              <a:latin typeface="黑体" panose="02010609060101010101" pitchFamily="49" charset="-122"/>
              <a:ea typeface="黑体" panose="02010609060101010101" pitchFamily="49" charset="-122"/>
            </a:endParaRPr>
          </a:p>
          <a:p>
            <a:pPr marL="850900" lvl="1" indent="-285750" algn="l" rtl="0" eaLnBrk="0" fontAlgn="base" hangingPunct="0">
              <a:lnSpc>
                <a:spcPct val="100000"/>
              </a:lnSpc>
              <a:spcBef>
                <a:spcPts val="600"/>
              </a:spcBef>
              <a:spcAft>
                <a:spcPct val="0"/>
              </a:spcAft>
              <a:buClr>
                <a:srgbClr val="333399"/>
              </a:buClr>
              <a:buSzPct val="50000"/>
              <a:buFont typeface="Wingdings" panose="05000000000000000000" pitchFamily="2" charset="2"/>
              <a:buChar char="u"/>
            </a:pPr>
            <a:r>
              <a:rPr lang="zh-CN" altLang="en-US" sz="2400" dirty="0">
                <a:solidFill>
                  <a:srgbClr val="333399"/>
                </a:solidFill>
                <a:latin typeface="黑体" panose="02010609060101010101" pitchFamily="49" charset="-122"/>
                <a:ea typeface="黑体" panose="02010609060101010101" pitchFamily="49" charset="-122"/>
              </a:rPr>
              <a:t>表示事情发生在程序载入时和运行时</a:t>
            </a:r>
            <a:endParaRPr lang="zh-CN" altLang="en-US" sz="2400" dirty="0">
              <a:solidFill>
                <a:srgbClr val="333399"/>
              </a:solidFill>
              <a:latin typeface="黑体" panose="02010609060101010101" pitchFamily="49" charset="-122"/>
              <a:ea typeface="黑体" panose="02010609060101010101" pitchFamily="49" charset="-122"/>
            </a:endParaRPr>
          </a:p>
          <a:p>
            <a:pPr marL="1333500" lvl="2" indent="-292100" algn="l" rtl="0" eaLnBrk="0" fontAlgn="base" hangingPunct="0">
              <a:lnSpc>
                <a:spcPct val="120000"/>
              </a:lnSpc>
              <a:spcBef>
                <a:spcPct val="20000"/>
              </a:spcBef>
              <a:spcAft>
                <a:spcPts val="590"/>
              </a:spcAft>
              <a:buClr>
                <a:srgbClr val="FFCC66"/>
              </a:buClr>
              <a:buSzPct val="80000"/>
              <a:buFont typeface="Wingdings 2" panose="05020102010507070707" pitchFamily="18" charset="2"/>
              <a:buNone/>
            </a:pPr>
            <a:r>
              <a:rPr lang="zh-CN" altLang="en-US" sz="2000" dirty="0">
                <a:solidFill>
                  <a:srgbClr val="C00000"/>
                </a:solidFill>
                <a:latin typeface="黑体" panose="02010609060101010101" pitchFamily="49" charset="-122"/>
                <a:ea typeface="黑体" panose="02010609060101010101" pitchFamily="49" charset="-122"/>
              </a:rPr>
              <a:t>               </a:t>
            </a:r>
            <a:endParaRPr lang="zh-CN" altLang="en-US" sz="2000" dirty="0">
              <a:solidFill>
                <a:srgbClr val="C00000"/>
              </a:solidFill>
              <a:latin typeface="黑体" panose="02010609060101010101" pitchFamily="49" charset="-122"/>
              <a:ea typeface="黑体" panose="02010609060101010101" pitchFamily="49" charset="-122"/>
            </a:endParaRPr>
          </a:p>
        </p:txBody>
      </p:sp>
      <p:sp>
        <p:nvSpPr>
          <p:cNvPr id="4" name="Rectangle 3"/>
          <p:cNvSpPr/>
          <p:nvPr/>
        </p:nvSpPr>
        <p:spPr>
          <a:xfrm>
            <a:off x="1558925" y="4435475"/>
            <a:ext cx="7561263" cy="1873250"/>
          </a:xfrm>
          <a:prstGeom prst="rect">
            <a:avLst/>
          </a:prstGeom>
          <a:noFill/>
          <a:ln w="9525">
            <a:noFill/>
          </a:ln>
        </p:spPr>
        <p:txBody>
          <a:bodyPr lIns="92075" tIns="46037" rIns="92075" bIns="46037" anchor="t" anchorCtr="0"/>
          <a:lstStyle/>
          <a:p>
            <a:pPr marL="457200" indent="-457200" eaLnBrk="0" hangingPunct="0">
              <a:spcBef>
                <a:spcPts val="600"/>
              </a:spcBef>
              <a:buClrTx/>
              <a:buSzPct val="50000"/>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变量的存储类型</a:t>
            </a:r>
            <a:endParaRPr lang="zh-CN" altLang="en-US" sz="2800" dirty="0">
              <a:latin typeface="黑体" panose="02010609060101010101" pitchFamily="49" charset="-122"/>
              <a:ea typeface="黑体" panose="02010609060101010101" pitchFamily="49" charset="-122"/>
            </a:endParaRPr>
          </a:p>
          <a:p>
            <a:pPr marL="742950" lvl="1" indent="-285750" algn="l" rtl="0" eaLnBrk="0" fontAlgn="base" hangingPunct="0">
              <a:lnSpc>
                <a:spcPct val="100000"/>
              </a:lnSpc>
              <a:spcBef>
                <a:spcPts val="600"/>
              </a:spcBef>
              <a:spcAft>
                <a:spcPct val="0"/>
              </a:spcAft>
              <a:buClr>
                <a:srgbClr val="333399"/>
              </a:buClr>
              <a:buSzPct val="50000"/>
              <a:buFont typeface="Wingdings" panose="05000000000000000000" pitchFamily="2" charset="2"/>
              <a:buChar char="u"/>
            </a:pPr>
            <a:r>
              <a:rPr lang="zh-CN" altLang="en-US" sz="2400" dirty="0">
                <a:solidFill>
                  <a:srgbClr val="333399"/>
                </a:solidFill>
                <a:latin typeface="黑体" panose="02010609060101010101" pitchFamily="49" charset="-122"/>
                <a:ea typeface="黑体" panose="02010609060101010101" pitchFamily="49" charset="-122"/>
              </a:rPr>
              <a:t>在内存中存储（编译器为变量分配内存）的方式</a:t>
            </a:r>
            <a:endParaRPr lang="zh-CN" altLang="en-US" sz="2400" dirty="0">
              <a:solidFill>
                <a:srgbClr val="333399"/>
              </a:solidFill>
              <a:latin typeface="黑体" panose="02010609060101010101" pitchFamily="49" charset="-122"/>
              <a:ea typeface="黑体" panose="02010609060101010101" pitchFamily="49" charset="-122"/>
            </a:endParaRPr>
          </a:p>
          <a:p>
            <a:pPr marL="742950" lvl="1" indent="-285750" algn="l" rtl="0" eaLnBrk="0" fontAlgn="base" hangingPunct="0">
              <a:lnSpc>
                <a:spcPct val="100000"/>
              </a:lnSpc>
              <a:spcBef>
                <a:spcPts val="600"/>
              </a:spcBef>
              <a:spcAft>
                <a:spcPct val="0"/>
              </a:spcAft>
              <a:buClr>
                <a:srgbClr val="333399"/>
              </a:buClr>
              <a:buSzPct val="50000"/>
              <a:buFont typeface="Wingdings" panose="05000000000000000000" pitchFamily="2" charset="2"/>
              <a:buChar char="u"/>
            </a:pPr>
            <a:r>
              <a:rPr lang="zh-CN" altLang="en-US" sz="2400" dirty="0">
                <a:solidFill>
                  <a:srgbClr val="333399"/>
                </a:solidFill>
                <a:latin typeface="黑体" panose="02010609060101010101" pitchFamily="49" charset="-122"/>
                <a:ea typeface="黑体" panose="02010609060101010101" pitchFamily="49" charset="-122"/>
              </a:rPr>
              <a:t>静态存储方式，是指在程序运行期间分配固定的存储空间的方式 </a:t>
            </a:r>
            <a:endParaRPr lang="zh-CN" altLang="en-US" sz="2400" dirty="0">
              <a:solidFill>
                <a:srgbClr val="333399"/>
              </a:solidFill>
              <a:latin typeface="黑体" panose="02010609060101010101" pitchFamily="49" charset="-122"/>
              <a:ea typeface="黑体" panose="02010609060101010101" pitchFamily="49" charset="-122"/>
            </a:endParaRPr>
          </a:p>
        </p:txBody>
      </p:sp>
      <p:sp>
        <p:nvSpPr>
          <p:cNvPr id="6" name="灯片编号占位符 5"/>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6677"/>
                                        </p:tgtEl>
                                        <p:attrNameLst>
                                          <p:attrName>style.visibility</p:attrName>
                                        </p:attrNameLst>
                                      </p:cBhvr>
                                      <p:to>
                                        <p:strVal val="visible"/>
                                      </p:to>
                                    </p:set>
                                    <p:animEffect transition="in" filter="box(in)">
                                      <p:cBhvr>
                                        <p:cTn id="7" dur="500"/>
                                        <p:tgtEl>
                                          <p:spTgt spid="15667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ox(in)">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box(in)">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box(in)">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box(in)">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box(in)">
                                      <p:cBhvr>
                                        <p:cTn id="4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9" name="Text Box 2"/>
          <p:cNvSpPr txBox="1"/>
          <p:nvPr/>
        </p:nvSpPr>
        <p:spPr>
          <a:xfrm>
            <a:off x="2135188" y="4292600"/>
            <a:ext cx="7239000" cy="1274763"/>
          </a:xfrm>
          <a:prstGeom prst="rect">
            <a:avLst/>
          </a:prstGeom>
          <a:solidFill>
            <a:srgbClr val="FFFFCC"/>
          </a:solidFill>
          <a:ln w="22225" cap="flat" cmpd="sng">
            <a:solidFill>
              <a:srgbClr val="339966"/>
            </a:solidFill>
            <a:prstDash val="solid"/>
            <a:miter/>
            <a:headEnd type="none" w="med" len="med"/>
            <a:tailEnd type="none" w="med" len="med"/>
          </a:ln>
        </p:spPr>
        <p:txBody>
          <a:bodyPr tIns="154800" bIns="180000" anchor="t" anchorCtr="0">
            <a:spAutoFit/>
          </a:bodyPr>
          <a:lstStyle/>
          <a:p>
            <a:pPr defTabSz="914400" eaLnBrk="0" hangingPunct="0">
              <a:lnSpc>
                <a:spcPct val="90000"/>
              </a:lnSpc>
              <a:spcBef>
                <a:spcPts val="590"/>
              </a:spcBef>
              <a:spcAft>
                <a:spcPts val="590"/>
              </a:spcAft>
              <a:buClr>
                <a:schemeClr val="tx2"/>
              </a:buClr>
              <a:buSzPct val="80000"/>
              <a:buFont typeface="Wingdings" panose="05000000000000000000" pitchFamily="2" charset="2"/>
              <a:tabLst>
                <a:tab pos="0" algn="l"/>
              </a:tabLst>
            </a:pPr>
            <a:r>
              <a:rPr lang="zh-CN" altLang="en-US" sz="2800" b="1" dirty="0">
                <a:solidFill>
                  <a:srgbClr val="C00000"/>
                </a:solidFill>
                <a:latin typeface="黑体" panose="02010609060101010101" pitchFamily="49" charset="-122"/>
                <a:ea typeface="黑体" panose="02010609060101010101" pitchFamily="49" charset="-122"/>
              </a:rPr>
              <a:t>静态</a:t>
            </a:r>
            <a:r>
              <a:rPr lang="zh-CN" altLang="en-US" sz="2800" b="1" dirty="0">
                <a:latin typeface="黑体" panose="02010609060101010101" pitchFamily="49" charset="-122"/>
                <a:ea typeface="黑体" panose="02010609060101010101" pitchFamily="49" charset="-122"/>
              </a:rPr>
              <a:t>存储区中的变量：与</a:t>
            </a:r>
            <a:r>
              <a:rPr lang="zh-CN" altLang="en-US" sz="2800" b="1" dirty="0">
                <a:solidFill>
                  <a:srgbClr val="C00000"/>
                </a:solidFill>
                <a:latin typeface="黑体" panose="02010609060101010101" pitchFamily="49" charset="-122"/>
                <a:ea typeface="黑体" panose="02010609060101010101" pitchFamily="49" charset="-122"/>
              </a:rPr>
              <a:t>程序 </a:t>
            </a:r>
            <a:r>
              <a:rPr lang="zh-CN" altLang="en-US" sz="2800" b="1" dirty="0">
                <a:latin typeface="黑体" panose="02010609060101010101" pitchFamily="49" charset="-122"/>
                <a:ea typeface="黑体" panose="02010609060101010101" pitchFamily="49" charset="-122"/>
              </a:rPr>
              <a:t> “共存亡”</a:t>
            </a:r>
            <a:endParaRPr lang="zh-CN" altLang="en-US" sz="2800" b="1" dirty="0">
              <a:latin typeface="黑体" panose="02010609060101010101" pitchFamily="49" charset="-122"/>
              <a:ea typeface="黑体" panose="02010609060101010101" pitchFamily="49" charset="-122"/>
            </a:endParaRPr>
          </a:p>
          <a:p>
            <a:pPr defTabSz="914400" eaLnBrk="0" hangingPunct="0">
              <a:lnSpc>
                <a:spcPct val="90000"/>
              </a:lnSpc>
              <a:spcBef>
                <a:spcPts val="590"/>
              </a:spcBef>
              <a:spcAft>
                <a:spcPts val="590"/>
              </a:spcAft>
              <a:buClr>
                <a:schemeClr val="tx2"/>
              </a:buClr>
              <a:buSzPct val="80000"/>
              <a:buFont typeface="Wingdings" panose="05000000000000000000" pitchFamily="2" charset="2"/>
              <a:tabLst>
                <a:tab pos="0" algn="l"/>
              </a:tabLst>
            </a:pPr>
            <a:r>
              <a:rPr lang="zh-CN" altLang="en-US" sz="2800" b="1" dirty="0">
                <a:solidFill>
                  <a:srgbClr val="C00000"/>
                </a:solidFill>
                <a:latin typeface="黑体" panose="02010609060101010101" pitchFamily="49" charset="-122"/>
                <a:ea typeface="黑体" panose="02010609060101010101" pitchFamily="49" charset="-122"/>
              </a:rPr>
              <a:t>动态</a:t>
            </a:r>
            <a:r>
              <a:rPr lang="zh-CN" altLang="en-US" sz="2800" b="1" dirty="0">
                <a:latin typeface="黑体" panose="02010609060101010101" pitchFamily="49" charset="-122"/>
                <a:ea typeface="黑体" panose="02010609060101010101" pitchFamily="49" charset="-122"/>
              </a:rPr>
              <a:t>存储区中的变量：与</a:t>
            </a:r>
            <a:r>
              <a:rPr lang="zh-CN" altLang="en-US" sz="2800" b="1" dirty="0">
                <a:solidFill>
                  <a:srgbClr val="C00000"/>
                </a:solidFill>
                <a:latin typeface="黑体" panose="02010609060101010101" pitchFamily="49" charset="-122"/>
                <a:ea typeface="黑体" panose="02010609060101010101" pitchFamily="49" charset="-122"/>
              </a:rPr>
              <a:t>语句块</a:t>
            </a:r>
            <a:r>
              <a:rPr lang="zh-CN" altLang="en-US" sz="2800" b="1" dirty="0">
                <a:latin typeface="黑体" panose="02010609060101010101" pitchFamily="49" charset="-122"/>
                <a:ea typeface="黑体" panose="02010609060101010101" pitchFamily="49" charset="-122"/>
              </a:rPr>
              <a:t>“共存亡”</a:t>
            </a:r>
            <a:r>
              <a:rPr lang="zh-CN" altLang="en-US" sz="2800" b="1" dirty="0">
                <a:solidFill>
                  <a:srgbClr val="FF0000"/>
                </a:solidFill>
                <a:latin typeface="Arial" panose="020B0604020202090204" pitchFamily="34" charset="0"/>
                <a:ea typeface="华文细黑" panose="02010600040101010101" pitchFamily="2" charset="-122"/>
              </a:rPr>
              <a:t>        </a:t>
            </a:r>
            <a:endParaRPr lang="zh-CN" altLang="en-US" sz="2800" b="1" dirty="0">
              <a:solidFill>
                <a:srgbClr val="FF0000"/>
              </a:solidFill>
              <a:latin typeface="Arial" panose="020B0604020202090204" pitchFamily="34" charset="0"/>
              <a:ea typeface="华文细黑" panose="02010600040101010101" pitchFamily="2" charset="-122"/>
            </a:endParaRPr>
          </a:p>
        </p:txBody>
      </p:sp>
      <p:sp>
        <p:nvSpPr>
          <p:cNvPr id="565252" name="Rectangle 4"/>
          <p:cNvSpPr>
            <a:spLocks noChangeArrowheads="1"/>
          </p:cNvSpPr>
          <p:nvPr/>
        </p:nvSpPr>
        <p:spPr bwMode="auto">
          <a:xfrm>
            <a:off x="1881188" y="836613"/>
            <a:ext cx="8816975" cy="839788"/>
          </a:xfrm>
          <a:prstGeom prst="rect">
            <a:avLst/>
          </a:prstGeom>
          <a:noFill/>
          <a:ln>
            <a:noFill/>
          </a:ln>
          <a:effectLst>
            <a:outerShdw dist="35921" dir="2700000" algn="ctr" rotWithShape="0">
              <a:schemeClr val="tx1"/>
            </a:outerShdw>
          </a:effectLst>
        </p:spPr>
        <p:txBody>
          <a:bodyPr lIns="92075" tIns="46037" rIns="92075" bIns="46037" anchor="ctr"/>
          <a:lstStyle/>
          <a:p>
            <a:pPr marL="0" marR="0" lvl="0" indent="0" algn="ctr" defTabSz="914400" rtl="0" eaLnBrk="0" fontAlgn="base" latinLnBrk="0" hangingPunct="0">
              <a:lnSpc>
                <a:spcPct val="85000"/>
              </a:lnSpc>
              <a:spcBef>
                <a:spcPts val="590"/>
              </a:spcBef>
              <a:spcAft>
                <a:spcPts val="590"/>
              </a:spcAft>
              <a:buClr>
                <a:schemeClr val="tx2"/>
              </a:buClr>
              <a:buSzPct val="80000"/>
              <a:buFontTx/>
              <a:buNone/>
              <a:defRPr/>
            </a:pPr>
            <a:endParaRPr kumimoji="0" lang="zh-CN" altLang="en-US" sz="4000" b="1" i="1"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sp>
        <p:nvSpPr>
          <p:cNvPr id="2" name="Rectangle 3"/>
          <p:cNvSpPr/>
          <p:nvPr/>
        </p:nvSpPr>
        <p:spPr>
          <a:xfrm>
            <a:off x="1343025" y="1557338"/>
            <a:ext cx="8266113" cy="2519362"/>
          </a:xfrm>
          <a:prstGeom prst="rect">
            <a:avLst/>
          </a:prstGeom>
          <a:noFill/>
          <a:ln w="9525">
            <a:noFill/>
          </a:ln>
        </p:spPr>
        <p:txBody>
          <a:bodyPr lIns="92075" tIns="46037" rIns="92075" bIns="46037" anchor="t" anchorCtr="0"/>
          <a:lstStyle/>
          <a:p>
            <a:pPr marL="457200" indent="-457200" eaLnBrk="0" hangingPunct="0">
              <a:lnSpc>
                <a:spcPct val="120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Arial" panose="020B0604020202090204" pitchFamily="34" charset="0"/>
                <a:ea typeface="黑体" panose="02010609060101010101" pitchFamily="49" charset="-122"/>
              </a:rPr>
              <a:t>存储类型决定变量的生存期（</a:t>
            </a:r>
            <a:r>
              <a:rPr lang="en-US" altLang="zh-CN" sz="3200" dirty="0">
                <a:solidFill>
                  <a:srgbClr val="000066"/>
                </a:solidFill>
                <a:latin typeface="Arial" panose="020B0604020202090204" pitchFamily="34" charset="0"/>
                <a:ea typeface="黑体" panose="02010609060101010101" pitchFamily="49" charset="-122"/>
              </a:rPr>
              <a:t>Lifetime </a:t>
            </a:r>
            <a:r>
              <a:rPr lang="zh-CN" altLang="en-US" sz="3200" dirty="0">
                <a:solidFill>
                  <a:srgbClr val="000066"/>
                </a:solidFill>
                <a:latin typeface="Arial" panose="020B0604020202090204" pitchFamily="34" charset="0"/>
                <a:ea typeface="黑体" panose="02010609060101010101" pitchFamily="49" charset="-122"/>
              </a:rPr>
              <a:t>）</a:t>
            </a:r>
            <a:endParaRPr lang="zh-CN" altLang="en-US" sz="3200" dirty="0">
              <a:solidFill>
                <a:srgbClr val="000066"/>
              </a:solidFill>
              <a:latin typeface="Arial" panose="020B0604020202090204" pitchFamily="34" charset="0"/>
              <a:ea typeface="黑体" panose="02010609060101010101" pitchFamily="49" charset="-122"/>
            </a:endParaRPr>
          </a:p>
          <a:p>
            <a:pPr marL="742950" lvl="1" indent="-285750" algn="l" rtl="0" eaLnBrk="0" fontAlgn="base" hangingPunct="0">
              <a:lnSpc>
                <a:spcPct val="120000"/>
              </a:lnSpc>
              <a:spcBef>
                <a:spcPct val="20000"/>
              </a:spcBef>
              <a:spcAft>
                <a:spcPts val="590"/>
              </a:spcAft>
              <a:buClr>
                <a:srgbClr val="333399"/>
              </a:buClr>
              <a:buSzPct val="50000"/>
              <a:buFont typeface="Wingdings" panose="05000000000000000000" pitchFamily="2" charset="2"/>
              <a:buChar char="u"/>
            </a:pPr>
            <a:r>
              <a:rPr lang="zh-CN" altLang="en-US" sz="2800" dirty="0">
                <a:solidFill>
                  <a:srgbClr val="333399"/>
                </a:solidFill>
                <a:latin typeface="Arial" panose="020B0604020202090204" pitchFamily="34" charset="0"/>
                <a:ea typeface="黑体" panose="02010609060101010101" pitchFamily="49" charset="-122"/>
              </a:rPr>
              <a:t>何时“生”，何时“灭”</a:t>
            </a:r>
            <a:endParaRPr lang="zh-CN" altLang="en-US" sz="2800" dirty="0">
              <a:solidFill>
                <a:srgbClr val="333399"/>
              </a:solidFill>
              <a:latin typeface="Arial" panose="020B0604020202090204" pitchFamily="34" charset="0"/>
              <a:ea typeface="黑体" panose="02010609060101010101" pitchFamily="49" charset="-122"/>
            </a:endParaRPr>
          </a:p>
          <a:p>
            <a:pPr marL="742950" lvl="1" indent="-285750" algn="l" rtl="0" eaLnBrk="0" fontAlgn="base" hangingPunct="0">
              <a:lnSpc>
                <a:spcPct val="120000"/>
              </a:lnSpc>
              <a:spcBef>
                <a:spcPct val="20000"/>
              </a:spcBef>
              <a:spcAft>
                <a:spcPts val="590"/>
              </a:spcAft>
              <a:buClr>
                <a:srgbClr val="333399"/>
              </a:buClr>
              <a:buSzPct val="50000"/>
              <a:buFont typeface="Wingdings" panose="05000000000000000000" pitchFamily="2" charset="2"/>
              <a:buChar char="u"/>
            </a:pPr>
            <a:r>
              <a:rPr lang="zh-CN" altLang="en-US" sz="2800" dirty="0">
                <a:solidFill>
                  <a:srgbClr val="333399"/>
                </a:solidFill>
                <a:latin typeface="Arial" panose="020B0604020202090204" pitchFamily="34" charset="0"/>
                <a:ea typeface="黑体" panose="02010609060101010101" pitchFamily="49" charset="-122"/>
              </a:rPr>
              <a:t>静态分配的变量在整个程序的生命周期内全程占据内存</a:t>
            </a:r>
            <a:endParaRPr lang="zh-CN" altLang="en-US" sz="2800" dirty="0">
              <a:solidFill>
                <a:srgbClr val="333399"/>
              </a:solidFill>
              <a:latin typeface="Arial" panose="020B0604020202090204" pitchFamily="34" charset="0"/>
              <a:ea typeface="黑体" panose="02010609060101010101" pitchFamily="49" charset="-122"/>
            </a:endParaRPr>
          </a:p>
        </p:txBody>
      </p:sp>
      <p:pic>
        <p:nvPicPr>
          <p:cNvPr id="58372" name="Picture 12"/>
          <p:cNvPicPr>
            <a:picLocks noChangeAspect="1"/>
          </p:cNvPicPr>
          <p:nvPr/>
        </p:nvPicPr>
        <p:blipFill>
          <a:blip r:embed="rId1">
            <a:clrChange>
              <a:clrFrom>
                <a:srgbClr val="FFFFFF"/>
              </a:clrFrom>
              <a:clrTo>
                <a:srgbClr val="FFFFFF">
                  <a:alpha val="0"/>
                </a:srgbClr>
              </a:clrTo>
            </a:clrChange>
          </a:blip>
          <a:stretch>
            <a:fillRect/>
          </a:stretch>
        </p:blipFill>
        <p:spPr>
          <a:xfrm>
            <a:off x="9609138" y="2781300"/>
            <a:ext cx="1322387" cy="3384550"/>
          </a:xfrm>
          <a:prstGeom prst="rect">
            <a:avLst/>
          </a:prstGeom>
          <a:noFill/>
          <a:ln w="9525">
            <a:noFill/>
          </a:ln>
        </p:spPr>
      </p:pic>
      <p:sp>
        <p:nvSpPr>
          <p:cNvPr id="58373" name="Rectangle 2"/>
          <p:cNvSpPr>
            <a:spLocks noGrp="1"/>
          </p:cNvSpPr>
          <p:nvPr>
            <p:ph type="title"/>
          </p:nvPr>
        </p:nvSpPr>
        <p:spPr>
          <a:xfrm>
            <a:off x="1414463" y="285750"/>
            <a:ext cx="9634537" cy="839788"/>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2.4.2 </a:t>
            </a:r>
            <a:r>
              <a:rPr lang="zh-CN" altLang="en-US" sz="4000" kern="1200" dirty="0">
                <a:latin typeface="Arial" panose="020B0604020202090204" pitchFamily="34" charset="0"/>
                <a:ea typeface="黑体" panose="02010609060101010101" pitchFamily="49" charset="-122"/>
                <a:cs typeface="Arial" panose="020B0604020202090204" pitchFamily="34" charset="0"/>
              </a:rPr>
              <a:t>变量的存储类型</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p:cTn id="13"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75779"/>
                                        </p:tgtEl>
                                        <p:attrNameLst>
                                          <p:attrName>style.visibility</p:attrName>
                                        </p:attrNameLst>
                                      </p:cBhvr>
                                      <p:to>
                                        <p:strVal val="visible"/>
                                      </p:to>
                                    </p:set>
                                    <p:anim calcmode="lin" valueType="num">
                                      <p:cBhvr>
                                        <p:cTn id="25" dur="500" fill="hold"/>
                                        <p:tgtEl>
                                          <p:spTgt spid="75779"/>
                                        </p:tgtEl>
                                        <p:attrNameLst>
                                          <p:attrName>ppt_w</p:attrName>
                                        </p:attrNameLst>
                                      </p:cBhvr>
                                      <p:tavLst>
                                        <p:tav tm="0">
                                          <p:val>
                                            <p:fltVal val="0"/>
                                          </p:val>
                                        </p:tav>
                                        <p:tav tm="100000">
                                          <p:val>
                                            <p:strVal val="#ppt_w"/>
                                          </p:val>
                                        </p:tav>
                                      </p:tavLst>
                                    </p:anim>
                                    <p:anim calcmode="lin" valueType="num">
                                      <p:cBhvr>
                                        <p:cTn id="26" dur="500" fill="hold"/>
                                        <p:tgtEl>
                                          <p:spTgt spid="757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nimBg="1"/>
      <p:bldP spid="2"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03" name="Rectangle 3"/>
          <p:cNvSpPr>
            <a:spLocks noGrp="1"/>
          </p:cNvSpPr>
          <p:nvPr>
            <p:ph idx="1"/>
          </p:nvPr>
        </p:nvSpPr>
        <p:spPr>
          <a:xfrm>
            <a:off x="1571625" y="1412875"/>
            <a:ext cx="8658225" cy="4133850"/>
          </a:xfrm>
        </p:spPr>
        <p:txBody>
          <a:bodyPr vert="horz" wrap="square" lIns="91440" tIns="45720" rIns="91440" bIns="45720" anchor="t" anchorCtr="0"/>
          <a:lstStyle/>
          <a:p>
            <a:pPr>
              <a:spcBef>
                <a:spcPct val="0"/>
              </a:spcBef>
              <a:buSzPct val="50000"/>
            </a:pPr>
            <a:r>
              <a:rPr lang="zh-CN" altLang="en-US" sz="3200" kern="1200" dirty="0">
                <a:latin typeface="华文仿宋" panose="02010600040101010101" pitchFamily="2" charset="-122"/>
                <a:ea typeface="黑体" panose="02010609060101010101" pitchFamily="49" charset="-122"/>
                <a:cs typeface="+mn-cs"/>
              </a:rPr>
              <a:t>如何声明变量的存储类型？</a:t>
            </a:r>
            <a:endParaRPr lang="zh-CN" altLang="en-US" sz="3200" kern="1200" dirty="0">
              <a:latin typeface="华文仿宋" panose="02010600040101010101" pitchFamily="2" charset="-122"/>
              <a:ea typeface="黑体" panose="02010609060101010101" pitchFamily="49" charset="-122"/>
              <a:cs typeface="+mn-cs"/>
            </a:endParaRPr>
          </a:p>
          <a:p>
            <a:pPr lvl="1">
              <a:spcBef>
                <a:spcPct val="0"/>
              </a:spcBef>
              <a:buSzPct val="50000"/>
              <a:buFontTx/>
              <a:buNone/>
            </a:pPr>
            <a:r>
              <a:rPr lang="zh-CN" altLang="en-US" kern="1200" dirty="0">
                <a:solidFill>
                  <a:srgbClr val="C00000"/>
                </a:solidFill>
                <a:latin typeface="Arial" panose="020B0604020202090204" pitchFamily="34" charset="0"/>
                <a:ea typeface="黑体" panose="02010609060101010101" pitchFamily="49" charset="-122"/>
                <a:cs typeface="Times New Roman" panose="02020503050405090304" pitchFamily="18" charset="0"/>
              </a:rPr>
              <a:t>               </a:t>
            </a:r>
            <a:r>
              <a:rPr lang="zh-CN" altLang="en-US" sz="28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存储类型   </a:t>
            </a:r>
            <a:r>
              <a:rPr lang="zh-CN" altLang="en-US" sz="2800" b="1" kern="1200" dirty="0">
                <a:latin typeface="Courier New" panose="02070409020205090404" pitchFamily="49" charset="0"/>
                <a:ea typeface="黑体" panose="02010609060101010101" pitchFamily="49" charset="-122"/>
                <a:cs typeface="Times New Roman" panose="02020503050405090304" pitchFamily="18" charset="0"/>
              </a:rPr>
              <a:t>数据类型   变量名</a:t>
            </a:r>
            <a:r>
              <a:rPr lang="en-US" altLang="zh-CN" sz="2800" b="1" kern="1200" dirty="0">
                <a:latin typeface="Courier New" panose="02070409020205090404" pitchFamily="49" charset="0"/>
                <a:ea typeface="黑体" panose="02010609060101010101" pitchFamily="49" charset="-122"/>
                <a:cs typeface="Times New Roman" panose="02020503050405090304" pitchFamily="18" charset="0"/>
              </a:rPr>
              <a:t>;</a:t>
            </a:r>
            <a:endParaRPr lang="en-US" altLang="zh-CN" sz="2800" b="1" kern="1200" dirty="0">
              <a:latin typeface="Courier New" panose="02070409020205090404" pitchFamily="49" charset="0"/>
              <a:ea typeface="黑体" panose="02010609060101010101" pitchFamily="49" charset="-122"/>
              <a:cs typeface="Times New Roman" panose="02020503050405090304" pitchFamily="18" charset="0"/>
            </a:endParaRPr>
          </a:p>
          <a:p>
            <a:pPr>
              <a:spcBef>
                <a:spcPct val="0"/>
              </a:spcBef>
              <a:buSzPct val="50000"/>
            </a:pPr>
            <a:r>
              <a:rPr lang="en-US" altLang="zh-CN" sz="3200" kern="1200" dirty="0">
                <a:latin typeface="Arial" panose="020B0604020202090204" pitchFamily="34" charset="0"/>
                <a:ea typeface="黑体" panose="02010609060101010101" pitchFamily="49" charset="-122"/>
                <a:cs typeface="+mn-cs"/>
              </a:rPr>
              <a:t>C</a:t>
            </a:r>
            <a:r>
              <a:rPr lang="zh-CN" altLang="en-US" sz="3200" kern="1200" dirty="0">
                <a:latin typeface="华文仿宋" panose="02010600040101010101" pitchFamily="2" charset="-122"/>
                <a:ea typeface="黑体" panose="02010609060101010101" pitchFamily="49" charset="-122"/>
                <a:cs typeface="+mn-cs"/>
              </a:rPr>
              <a:t>存储类型关键字</a:t>
            </a:r>
            <a:endParaRPr lang="zh-CN" altLang="en-US" sz="3200" kern="1200" dirty="0">
              <a:latin typeface="华文仿宋" panose="02010600040101010101" pitchFamily="2" charset="-122"/>
              <a:ea typeface="黑体" panose="02010609060101010101" pitchFamily="49" charset="-122"/>
              <a:cs typeface="+mn-cs"/>
            </a:endParaRPr>
          </a:p>
          <a:p>
            <a:pPr lvl="1">
              <a:spcBef>
                <a:spcPct val="0"/>
              </a:spcBef>
              <a:buSzPct val="50000"/>
            </a:pPr>
            <a:r>
              <a:rPr lang="en-US" altLang="zh-CN" b="1" kern="1200" dirty="0">
                <a:solidFill>
                  <a:srgbClr val="880000"/>
                </a:solidFill>
                <a:latin typeface="Arial" panose="020B0604020202090204" pitchFamily="34" charset="0"/>
                <a:ea typeface="黑体" panose="02010609060101010101" pitchFamily="49" charset="-122"/>
                <a:cs typeface="Times New Roman" panose="02020503050405090304" pitchFamily="18" charset="0"/>
              </a:rPr>
              <a:t>auto</a:t>
            </a:r>
            <a:r>
              <a:rPr lang="zh-CN" altLang="en-US" kern="1200" dirty="0">
                <a:latin typeface="Arial" panose="020B0604020202090204" pitchFamily="34" charset="0"/>
                <a:ea typeface="黑体" panose="02010609060101010101" pitchFamily="49" charset="-122"/>
                <a:cs typeface="Times New Roman" panose="02020503050405090304" pitchFamily="18" charset="0"/>
              </a:rPr>
              <a:t>（自动变量）</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a:p>
            <a:pPr lvl="1">
              <a:spcBef>
                <a:spcPct val="0"/>
              </a:spcBef>
              <a:buSzPct val="50000"/>
            </a:pPr>
            <a:r>
              <a:rPr lang="en-US" altLang="zh-CN" b="1" kern="1200" dirty="0">
                <a:solidFill>
                  <a:srgbClr val="880000"/>
                </a:solidFill>
                <a:latin typeface="Arial" panose="020B0604020202090204" pitchFamily="34" charset="0"/>
                <a:ea typeface="黑体" panose="02010609060101010101" pitchFamily="49" charset="-122"/>
                <a:cs typeface="Times New Roman" panose="02020503050405090304" pitchFamily="18" charset="0"/>
              </a:rPr>
              <a:t>static</a:t>
            </a:r>
            <a:r>
              <a:rPr lang="zh-CN" altLang="en-US" kern="1200" dirty="0">
                <a:latin typeface="Arial" panose="020B0604020202090204" pitchFamily="34" charset="0"/>
                <a:ea typeface="黑体" panose="02010609060101010101" pitchFamily="49" charset="-122"/>
                <a:cs typeface="Times New Roman" panose="02020503050405090304" pitchFamily="18" charset="0"/>
              </a:rPr>
              <a:t>（静态变量）</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a:p>
            <a:pPr lvl="1">
              <a:spcBef>
                <a:spcPct val="0"/>
              </a:spcBef>
              <a:buSzPct val="50000"/>
            </a:pPr>
            <a:r>
              <a:rPr lang="en-US" altLang="zh-CN" b="1" kern="1200" dirty="0">
                <a:solidFill>
                  <a:srgbClr val="880000"/>
                </a:solidFill>
                <a:latin typeface="Arial" panose="020B0604020202090204" pitchFamily="34" charset="0"/>
                <a:ea typeface="黑体" panose="02010609060101010101" pitchFamily="49" charset="-122"/>
                <a:cs typeface="Times New Roman" panose="02020503050405090304" pitchFamily="18" charset="0"/>
              </a:rPr>
              <a:t>extern</a:t>
            </a:r>
            <a:r>
              <a:rPr lang="zh-CN" altLang="en-US" kern="1200" dirty="0">
                <a:latin typeface="Arial" panose="020B0604020202090204" pitchFamily="34" charset="0"/>
                <a:ea typeface="黑体" panose="02010609060101010101" pitchFamily="49" charset="-122"/>
                <a:cs typeface="Times New Roman" panose="02020503050405090304" pitchFamily="18" charset="0"/>
              </a:rPr>
              <a:t>（外部变量）</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a:p>
            <a:pPr lvl="2">
              <a:spcBef>
                <a:spcPct val="0"/>
              </a:spcBef>
              <a:buSzPct val="50000"/>
            </a:pPr>
            <a:r>
              <a:rPr lang="zh-CN" altLang="en-US" sz="2400" kern="1200" dirty="0">
                <a:latin typeface="黑体" panose="02010609060101010101" pitchFamily="49" charset="-122"/>
                <a:ea typeface="黑体" panose="02010609060101010101" pitchFamily="49" charset="-122"/>
                <a:cs typeface="Times New Roman" panose="02020503050405090304" pitchFamily="18" charset="0"/>
              </a:rPr>
              <a:t>编译器并不对其分配内存，只是表明“我知道了”</a:t>
            </a:r>
            <a:endParaRPr lang="zh-CN" altLang="en-US" sz="2400" kern="1200" dirty="0">
              <a:latin typeface="黑体" panose="02010609060101010101" pitchFamily="49" charset="-122"/>
              <a:ea typeface="黑体" panose="02010609060101010101" pitchFamily="49" charset="-122"/>
              <a:cs typeface="Times New Roman" panose="02020503050405090304" pitchFamily="18" charset="0"/>
            </a:endParaRPr>
          </a:p>
          <a:p>
            <a:pPr lvl="1">
              <a:spcBef>
                <a:spcPct val="0"/>
              </a:spcBef>
              <a:buSzPct val="50000"/>
            </a:pPr>
            <a:r>
              <a:rPr lang="en-US" altLang="zh-CN" b="1" kern="1200" dirty="0">
                <a:solidFill>
                  <a:srgbClr val="880000"/>
                </a:solidFill>
                <a:latin typeface="Arial" panose="020B0604020202090204" pitchFamily="34" charset="0"/>
                <a:ea typeface="黑体" panose="02010609060101010101" pitchFamily="49" charset="-122"/>
                <a:cs typeface="Times New Roman" panose="02020503050405090304" pitchFamily="18" charset="0"/>
              </a:rPr>
              <a:t>register</a:t>
            </a:r>
            <a:r>
              <a:rPr lang="zh-CN" altLang="en-US" kern="1200" dirty="0">
                <a:latin typeface="Arial" panose="020B0604020202090204" pitchFamily="34" charset="0"/>
                <a:ea typeface="黑体" panose="02010609060101010101" pitchFamily="49" charset="-122"/>
                <a:cs typeface="Times New Roman" panose="02020503050405090304" pitchFamily="18" charset="0"/>
              </a:rPr>
              <a:t>（寄存器变量）</a:t>
            </a: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p:txBody>
      </p:sp>
      <p:sp>
        <p:nvSpPr>
          <p:cNvPr id="59394" name="Rectangle 2"/>
          <p:cNvSpPr>
            <a:spLocks noGrp="1"/>
          </p:cNvSpPr>
          <p:nvPr>
            <p:ph type="title"/>
          </p:nvPr>
        </p:nvSpPr>
        <p:spPr>
          <a:xfrm>
            <a:off x="1414463" y="285750"/>
            <a:ext cx="9634537" cy="839788"/>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2.4.2 </a:t>
            </a:r>
            <a:r>
              <a:rPr lang="zh-CN" altLang="en-US" sz="4000" kern="1200" dirty="0">
                <a:latin typeface="Arial" panose="020B0604020202090204" pitchFamily="34" charset="0"/>
                <a:ea typeface="黑体" panose="02010609060101010101" pitchFamily="49" charset="-122"/>
                <a:cs typeface="Arial" panose="020B0604020202090204" pitchFamily="34" charset="0"/>
              </a:rPr>
              <a:t>变量的存储类型</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3203">
                                            <p:txEl>
                                              <p:pRg st="1" end="1"/>
                                            </p:txEl>
                                          </p:spTgt>
                                        </p:tgtEl>
                                        <p:attrNameLst>
                                          <p:attrName>style.visibility</p:attrName>
                                        </p:attrNameLst>
                                      </p:cBhvr>
                                      <p:to>
                                        <p:strVal val="visible"/>
                                      </p:to>
                                    </p:set>
                                    <p:animEffect transition="in" filter="wipe(left)">
                                      <p:cBhvr>
                                        <p:cTn id="7" dur="500"/>
                                        <p:tgtEl>
                                          <p:spTgt spid="5632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63203">
                                            <p:txEl>
                                              <p:pRg st="2" end="2"/>
                                            </p:txEl>
                                          </p:spTgt>
                                        </p:tgtEl>
                                        <p:attrNameLst>
                                          <p:attrName>style.visibility</p:attrName>
                                        </p:attrNameLst>
                                      </p:cBhvr>
                                      <p:to>
                                        <p:strVal val="visible"/>
                                      </p:to>
                                    </p:set>
                                    <p:animEffect transition="in" filter="box(in)">
                                      <p:cBhvr>
                                        <p:cTn id="12" dur="500"/>
                                        <p:tgtEl>
                                          <p:spTgt spid="5632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63203">
                                            <p:txEl>
                                              <p:pRg st="3" end="3"/>
                                            </p:txEl>
                                          </p:spTgt>
                                        </p:tgtEl>
                                        <p:attrNameLst>
                                          <p:attrName>style.visibility</p:attrName>
                                        </p:attrNameLst>
                                      </p:cBhvr>
                                      <p:to>
                                        <p:strVal val="visible"/>
                                      </p:to>
                                    </p:set>
                                    <p:animEffect transition="in" filter="box(in)">
                                      <p:cBhvr>
                                        <p:cTn id="17" dur="500"/>
                                        <p:tgtEl>
                                          <p:spTgt spid="5632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63203">
                                            <p:txEl>
                                              <p:pRg st="4" end="4"/>
                                            </p:txEl>
                                          </p:spTgt>
                                        </p:tgtEl>
                                        <p:attrNameLst>
                                          <p:attrName>style.visibility</p:attrName>
                                        </p:attrNameLst>
                                      </p:cBhvr>
                                      <p:to>
                                        <p:strVal val="visible"/>
                                      </p:to>
                                    </p:set>
                                    <p:animEffect transition="in" filter="box(in)">
                                      <p:cBhvr>
                                        <p:cTn id="22" dur="500"/>
                                        <p:tgtEl>
                                          <p:spTgt spid="56320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63203">
                                            <p:txEl>
                                              <p:pRg st="5" end="5"/>
                                            </p:txEl>
                                          </p:spTgt>
                                        </p:tgtEl>
                                        <p:attrNameLst>
                                          <p:attrName>style.visibility</p:attrName>
                                        </p:attrNameLst>
                                      </p:cBhvr>
                                      <p:to>
                                        <p:strVal val="visible"/>
                                      </p:to>
                                    </p:set>
                                    <p:animEffect transition="in" filter="box(in)">
                                      <p:cBhvr>
                                        <p:cTn id="27" dur="500"/>
                                        <p:tgtEl>
                                          <p:spTgt spid="56320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563203">
                                            <p:txEl>
                                              <p:pRg st="6" end="6"/>
                                            </p:txEl>
                                          </p:spTgt>
                                        </p:tgtEl>
                                        <p:attrNameLst>
                                          <p:attrName>style.visibility</p:attrName>
                                        </p:attrNameLst>
                                      </p:cBhvr>
                                      <p:to>
                                        <p:strVal val="visible"/>
                                      </p:to>
                                    </p:set>
                                    <p:animEffect transition="in" filter="box(in)">
                                      <p:cBhvr>
                                        <p:cTn id="32" dur="500"/>
                                        <p:tgtEl>
                                          <p:spTgt spid="56320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563203">
                                            <p:txEl>
                                              <p:pRg st="7" end="7"/>
                                            </p:txEl>
                                          </p:spTgt>
                                        </p:tgtEl>
                                        <p:attrNameLst>
                                          <p:attrName>style.visibility</p:attrName>
                                        </p:attrNameLst>
                                      </p:cBhvr>
                                      <p:to>
                                        <p:strVal val="visible"/>
                                      </p:to>
                                    </p:set>
                                    <p:animEffect transition="in" filter="box(in)">
                                      <p:cBhvr>
                                        <p:cTn id="37" dur="500"/>
                                        <p:tgtEl>
                                          <p:spTgt spid="5632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6275" name="Rectangle 3"/>
          <p:cNvSpPr>
            <a:spLocks noGrp="1"/>
          </p:cNvSpPr>
          <p:nvPr>
            <p:ph idx="1"/>
          </p:nvPr>
        </p:nvSpPr>
        <p:spPr>
          <a:xfrm>
            <a:off x="1651000" y="1484313"/>
            <a:ext cx="9204325" cy="4954587"/>
          </a:xfrm>
        </p:spPr>
        <p:txBody>
          <a:bodyPr vert="horz" wrap="square" lIns="91440" tIns="45720" rIns="91440" bIns="45720" anchor="t" anchorCtr="0"/>
          <a:lstStyle/>
          <a:p>
            <a:pPr>
              <a:lnSpc>
                <a:spcPct val="100000"/>
              </a:lnSpc>
              <a:spcAft>
                <a:spcPct val="0"/>
              </a:spcAft>
              <a:buSzPct val="50000"/>
            </a:pPr>
            <a:r>
              <a:rPr lang="zh-CN" altLang="en-US" kern="1200" dirty="0">
                <a:latin typeface="Times New Roman" panose="02020503050405090304" pitchFamily="18" charset="0"/>
                <a:ea typeface="黑体" panose="02010609060101010101" pitchFamily="49" charset="-122"/>
                <a:cs typeface="+mn-cs"/>
              </a:rPr>
              <a:t>自动变量</a:t>
            </a:r>
            <a:r>
              <a:rPr lang="en-US" altLang="zh-CN" kern="1200" dirty="0">
                <a:latin typeface="Times New Roman" panose="02020503050405090304" pitchFamily="18" charset="0"/>
                <a:ea typeface="Times New Roman" panose="02020503050405090304" pitchFamily="18" charset="0"/>
                <a:cs typeface="+mn-cs"/>
              </a:rPr>
              <a:t>——</a:t>
            </a:r>
            <a:r>
              <a:rPr lang="zh-CN" altLang="en-US" kern="1200" dirty="0">
                <a:latin typeface="Times New Roman" panose="02020503050405090304" pitchFamily="18" charset="0"/>
                <a:ea typeface="黑体" panose="02010609060101010101" pitchFamily="49" charset="-122"/>
                <a:cs typeface="+mn-cs"/>
              </a:rPr>
              <a:t>动态局部变量（缺省类型）</a:t>
            </a:r>
            <a:endParaRPr lang="zh-CN" altLang="en-US" kern="1200" dirty="0">
              <a:latin typeface="Times New Roman" panose="02020503050405090304" pitchFamily="18" charset="0"/>
              <a:ea typeface="黑体" panose="02010609060101010101" pitchFamily="49" charset="-122"/>
              <a:cs typeface="+mn-cs"/>
            </a:endParaRPr>
          </a:p>
          <a:p>
            <a:pPr>
              <a:lnSpc>
                <a:spcPct val="100000"/>
              </a:lnSpc>
              <a:spcAft>
                <a:spcPct val="0"/>
              </a:spcAft>
              <a:buSzPct val="50000"/>
              <a:buFont typeface="Monotype Sorts"/>
              <a:buNone/>
            </a:pPr>
            <a:r>
              <a:rPr lang="en-US" altLang="zh-CN" kern="1200" dirty="0">
                <a:solidFill>
                  <a:srgbClr val="880000"/>
                </a:solidFill>
                <a:latin typeface="Courier New" panose="02070409020205090404" pitchFamily="49" charset="0"/>
                <a:ea typeface="幼圆" panose="02010509060101010101" pitchFamily="49" charset="-122"/>
                <a:cs typeface="+mn-cs"/>
              </a:rPr>
              <a:t>         </a:t>
            </a:r>
            <a:r>
              <a:rPr lang="en-US" altLang="zh-CN" b="1" kern="1200" dirty="0">
                <a:solidFill>
                  <a:srgbClr val="CC0000"/>
                </a:solidFill>
                <a:latin typeface="Courier New" panose="02070409020205090404" pitchFamily="49" charset="0"/>
                <a:ea typeface="幼圆" panose="02010509060101010101" pitchFamily="49" charset="-122"/>
                <a:cs typeface="+mn-cs"/>
              </a:rPr>
              <a:t>auto</a:t>
            </a:r>
            <a:r>
              <a:rPr lang="en-US" altLang="zh-CN" kern="1200" dirty="0">
                <a:latin typeface="Courier New" panose="02070409020205090404" pitchFamily="49" charset="0"/>
                <a:ea typeface="幼圆" panose="02010509060101010101" pitchFamily="49" charset="-122"/>
                <a:cs typeface="+mn-cs"/>
              </a:rPr>
              <a:t> </a:t>
            </a:r>
            <a:r>
              <a:rPr lang="zh-CN" altLang="en-US" kern="1200" dirty="0">
                <a:latin typeface="华文仿宋" panose="02010600040101010101" pitchFamily="2" charset="-122"/>
                <a:ea typeface="黑体" panose="02010609060101010101" pitchFamily="49" charset="-122"/>
                <a:cs typeface="+mn-cs"/>
              </a:rPr>
              <a:t>数据类型 变量名</a:t>
            </a:r>
            <a:r>
              <a:rPr lang="en-US" altLang="zh-CN" kern="1200" dirty="0">
                <a:latin typeface="华文仿宋" panose="02010600040101010101" pitchFamily="2" charset="-122"/>
                <a:ea typeface="黑体" panose="02010609060101010101" pitchFamily="49" charset="-122"/>
                <a:cs typeface="+mn-cs"/>
              </a:rPr>
              <a:t>;</a:t>
            </a:r>
            <a:endParaRPr lang="en-US" altLang="zh-CN" kern="1200" dirty="0">
              <a:latin typeface="华文仿宋" panose="02010600040101010101" pitchFamily="2" charset="-122"/>
              <a:ea typeface="黑体" panose="02010609060101010101" pitchFamily="49" charset="-122"/>
              <a:cs typeface="+mn-cs"/>
            </a:endParaRPr>
          </a:p>
          <a:p>
            <a:pPr lvl="1">
              <a:lnSpc>
                <a:spcPct val="100000"/>
              </a:lnSpc>
              <a:spcAft>
                <a:spcPct val="0"/>
              </a:spcAft>
              <a:buSzPct val="50000"/>
            </a:pPr>
            <a:r>
              <a:rPr lang="zh-CN" altLang="en-US" kern="1200" dirty="0">
                <a:latin typeface="宋体" pitchFamily="2" charset="-122"/>
                <a:ea typeface="黑体" panose="02010609060101010101" pitchFamily="49" charset="-122"/>
                <a:cs typeface="Times New Roman" panose="02020503050405090304" pitchFamily="18" charset="0"/>
              </a:rPr>
              <a:t>进入语句块时</a:t>
            </a:r>
            <a:r>
              <a:rPr lang="zh-CN" altLang="en-US" kern="1200" dirty="0">
                <a:solidFill>
                  <a:srgbClr val="CC0000"/>
                </a:solidFill>
                <a:latin typeface="宋体" pitchFamily="2" charset="-122"/>
                <a:ea typeface="黑体" panose="02010609060101010101" pitchFamily="49" charset="-122"/>
                <a:cs typeface="Times New Roman" panose="02020503050405090304" pitchFamily="18" charset="0"/>
              </a:rPr>
              <a:t>自动</a:t>
            </a:r>
            <a:r>
              <a:rPr lang="zh-CN" altLang="en-US" kern="1200" dirty="0">
                <a:latin typeface="宋体" pitchFamily="2" charset="-122"/>
                <a:ea typeface="黑体" panose="02010609060101010101" pitchFamily="49" charset="-122"/>
                <a:cs typeface="Times New Roman" panose="02020503050405090304" pitchFamily="18" charset="0"/>
              </a:rPr>
              <a:t>申请内存，退出时</a:t>
            </a:r>
            <a:r>
              <a:rPr lang="zh-CN" altLang="en-US" kern="1200" dirty="0">
                <a:solidFill>
                  <a:srgbClr val="CC0000"/>
                </a:solidFill>
                <a:latin typeface="宋体" pitchFamily="2" charset="-122"/>
                <a:ea typeface="黑体" panose="02010609060101010101" pitchFamily="49" charset="-122"/>
                <a:cs typeface="Times New Roman" panose="02020503050405090304" pitchFamily="18" charset="0"/>
              </a:rPr>
              <a:t>自动</a:t>
            </a:r>
            <a:r>
              <a:rPr lang="zh-CN" altLang="en-US" kern="1200" dirty="0">
                <a:latin typeface="宋体" pitchFamily="2" charset="-122"/>
                <a:ea typeface="黑体" panose="02010609060101010101" pitchFamily="49" charset="-122"/>
                <a:cs typeface="Times New Roman" panose="02020503050405090304" pitchFamily="18" charset="0"/>
              </a:rPr>
              <a:t>释放内存</a:t>
            </a:r>
            <a:endParaRPr lang="zh-CN" altLang="en-US" kern="1200" dirty="0">
              <a:solidFill>
                <a:schemeClr val="accent2"/>
              </a:solidFill>
              <a:latin typeface="宋体" pitchFamily="2"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solidFill>
                  <a:srgbClr val="CC0000"/>
                </a:solidFill>
                <a:latin typeface="宋体" pitchFamily="2" charset="-122"/>
                <a:ea typeface="黑体" panose="02010609060101010101" pitchFamily="49" charset="-122"/>
                <a:cs typeface="Times New Roman" panose="02020503050405090304" pitchFamily="18" charset="0"/>
              </a:rPr>
              <a:t>离开函数，值就消失</a:t>
            </a:r>
            <a:endParaRPr lang="zh-CN" altLang="en-US" kern="1200" dirty="0">
              <a:solidFill>
                <a:srgbClr val="CC0000"/>
              </a:solidFill>
              <a:latin typeface="宋体" pitchFamily="2" charset="-122"/>
              <a:ea typeface="黑体" panose="02010609060101010101" pitchFamily="49" charset="-122"/>
              <a:cs typeface="Times New Roman" panose="02020503050405090304" pitchFamily="18" charset="0"/>
            </a:endParaRPr>
          </a:p>
          <a:p>
            <a:pPr>
              <a:lnSpc>
                <a:spcPct val="100000"/>
              </a:lnSpc>
              <a:spcAft>
                <a:spcPct val="0"/>
              </a:spcAft>
              <a:buSzPct val="50000"/>
            </a:pPr>
            <a:r>
              <a:rPr lang="zh-CN" altLang="en-US" kern="1200" dirty="0">
                <a:latin typeface="华文仿宋" panose="02010600040101010101" pitchFamily="2" charset="-122"/>
                <a:ea typeface="黑体" panose="02010609060101010101" pitchFamily="49" charset="-122"/>
                <a:cs typeface="+mn-cs"/>
              </a:rPr>
              <a:t>静态变量</a:t>
            </a:r>
            <a:endParaRPr lang="zh-CN" altLang="en-US" kern="1200" dirty="0">
              <a:latin typeface="华文仿宋" panose="02010600040101010101" pitchFamily="2" charset="-122"/>
              <a:ea typeface="黑体" panose="02010609060101010101" pitchFamily="49" charset="-122"/>
              <a:cs typeface="+mn-cs"/>
            </a:endParaRPr>
          </a:p>
          <a:p>
            <a:pPr lvl="1">
              <a:lnSpc>
                <a:spcPct val="100000"/>
              </a:lnSpc>
              <a:spcAft>
                <a:spcPct val="0"/>
              </a:spcAft>
              <a:buSzPct val="50000"/>
              <a:buFontTx/>
              <a:buNone/>
            </a:pPr>
            <a:r>
              <a:rPr lang="en-US" altLang="zh-CN" sz="2800" kern="1200" dirty="0">
                <a:solidFill>
                  <a:srgbClr val="880000"/>
                </a:solidFill>
                <a:latin typeface="Courier New" panose="02070409020205090404" pitchFamily="49" charset="0"/>
                <a:ea typeface="幼圆" panose="02010509060101010101" pitchFamily="49" charset="-122"/>
                <a:cs typeface="Times New Roman" panose="02020503050405090304" pitchFamily="18" charset="0"/>
              </a:rPr>
              <a:t>       </a:t>
            </a:r>
            <a:r>
              <a:rPr lang="en-US" altLang="zh-CN" sz="2800" b="1" kern="1200" dirty="0">
                <a:solidFill>
                  <a:srgbClr val="CC0000"/>
                </a:solidFill>
                <a:latin typeface="Courier New" panose="02070409020205090404" pitchFamily="49" charset="0"/>
                <a:ea typeface="幼圆" panose="02010509060101010101" pitchFamily="49" charset="-122"/>
                <a:cs typeface="Times New Roman" panose="02020503050405090304" pitchFamily="18" charset="0"/>
              </a:rPr>
              <a:t>static</a:t>
            </a:r>
            <a:r>
              <a:rPr lang="en-US" altLang="zh-CN" sz="2800" kern="1200" dirty="0">
                <a:solidFill>
                  <a:schemeClr val="tx1"/>
                </a:solidFill>
                <a:latin typeface="Courier New" panose="02070409020205090404" pitchFamily="49" charset="0"/>
                <a:ea typeface="幼圆" panose="02010509060101010101" pitchFamily="49" charset="-122"/>
                <a:cs typeface="Times New Roman" panose="02020503050405090304" pitchFamily="18" charset="0"/>
              </a:rPr>
              <a:t> </a:t>
            </a:r>
            <a:r>
              <a:rPr lang="zh-CN" altLang="en-US" sz="2800"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数据类型 变量名</a:t>
            </a:r>
            <a:r>
              <a:rPr lang="en-US" altLang="zh-CN" sz="2800"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a:t>
            </a:r>
            <a:endParaRPr lang="en-US" altLang="zh-CN" sz="2800" i="1"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latin typeface="宋体" pitchFamily="2" charset="-122"/>
                <a:ea typeface="黑体" panose="02010609060101010101" pitchFamily="49" charset="-122"/>
                <a:cs typeface="Times New Roman" panose="02020503050405090304" pitchFamily="18" charset="0"/>
              </a:rPr>
              <a:t>从程序运行起占据内存，程序退出时释放内存</a:t>
            </a:r>
            <a:endParaRPr lang="zh-CN" altLang="en-US" kern="1200" dirty="0">
              <a:latin typeface="宋体" pitchFamily="2"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solidFill>
                  <a:srgbClr val="CC0000"/>
                </a:solidFill>
                <a:latin typeface="宋体" pitchFamily="2" charset="-122"/>
                <a:ea typeface="黑体" panose="02010609060101010101" pitchFamily="49" charset="-122"/>
                <a:cs typeface="Times New Roman" panose="02020503050405090304" pitchFamily="18" charset="0"/>
              </a:rPr>
              <a:t>离开函数，值仍保留</a:t>
            </a:r>
            <a:endParaRPr lang="zh-CN" altLang="en-US" kern="1200" dirty="0">
              <a:solidFill>
                <a:srgbClr val="CC0000"/>
              </a:solidFill>
              <a:latin typeface="宋体" pitchFamily="2"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latin typeface="宋体" pitchFamily="2" charset="-122"/>
                <a:ea typeface="黑体" panose="02010609060101010101" pitchFamily="49" charset="-122"/>
                <a:cs typeface="Times New Roman" panose="02020503050405090304" pitchFamily="18" charset="0"/>
              </a:rPr>
              <a:t>包括：静态局部变量，静态外部变量</a:t>
            </a:r>
            <a:endParaRPr lang="zh-CN" altLang="en-US" kern="1200" dirty="0">
              <a:latin typeface="宋体" pitchFamily="2" charset="-122"/>
              <a:ea typeface="黑体" panose="02010609060101010101" pitchFamily="49" charset="-122"/>
              <a:cs typeface="Times New Roman" panose="02020503050405090304" pitchFamily="18" charset="0"/>
            </a:endParaRPr>
          </a:p>
          <a:p>
            <a:pPr lvl="1">
              <a:lnSpc>
                <a:spcPct val="100000"/>
              </a:lnSpc>
              <a:spcAft>
                <a:spcPct val="0"/>
              </a:spcAft>
              <a:buSzPct val="50000"/>
            </a:pPr>
            <a:r>
              <a:rPr lang="zh-CN" altLang="en-US" kern="1200" dirty="0">
                <a:latin typeface="宋体" pitchFamily="2" charset="-122"/>
                <a:ea typeface="黑体" panose="02010609060101010101" pitchFamily="49" charset="-122"/>
                <a:cs typeface="Times New Roman" panose="02020503050405090304" pitchFamily="18" charset="0"/>
              </a:rPr>
              <a:t>生存期相同，作用域不同（语句块内，文件内）</a:t>
            </a:r>
            <a:endParaRPr lang="zh-CN" altLang="en-US" kern="1200" dirty="0">
              <a:latin typeface="宋体" pitchFamily="2" charset="-122"/>
              <a:ea typeface="黑体" panose="02010609060101010101" pitchFamily="49" charset="-122"/>
              <a:cs typeface="Times New Roman" panose="02020503050405090304" pitchFamily="18" charset="0"/>
            </a:endParaRPr>
          </a:p>
        </p:txBody>
      </p:sp>
      <p:sp>
        <p:nvSpPr>
          <p:cNvPr id="4" name="Rectangle 7"/>
          <p:cNvSpPr>
            <a:spLocks noChangeArrowheads="1"/>
          </p:cNvSpPr>
          <p:nvPr/>
        </p:nvSpPr>
        <p:spPr bwMode="auto">
          <a:xfrm>
            <a:off x="1881188" y="404813"/>
            <a:ext cx="8447088"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自动变量和静态变量</a:t>
            </a:r>
            <a:endPar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6275">
                                            <p:txEl>
                                              <p:pRg st="2" end="2"/>
                                            </p:txEl>
                                          </p:spTgt>
                                        </p:tgtEl>
                                        <p:attrNameLst>
                                          <p:attrName>style.visibility</p:attrName>
                                        </p:attrNameLst>
                                      </p:cBhvr>
                                      <p:to>
                                        <p:strVal val="visible"/>
                                      </p:to>
                                    </p:set>
                                    <p:animEffect transition="in" filter="wipe(left)">
                                      <p:cBhvr>
                                        <p:cTn id="7" dur="500"/>
                                        <p:tgtEl>
                                          <p:spTgt spid="56627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6275">
                                            <p:txEl>
                                              <p:pRg st="3" end="3"/>
                                            </p:txEl>
                                          </p:spTgt>
                                        </p:tgtEl>
                                        <p:attrNameLst>
                                          <p:attrName>style.visibility</p:attrName>
                                        </p:attrNameLst>
                                      </p:cBhvr>
                                      <p:to>
                                        <p:strVal val="visible"/>
                                      </p:to>
                                    </p:set>
                                    <p:animEffect transition="in" filter="wipe(left)">
                                      <p:cBhvr>
                                        <p:cTn id="12" dur="500"/>
                                        <p:tgtEl>
                                          <p:spTgt spid="56627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6275">
                                            <p:txEl>
                                              <p:pRg st="4" end="4"/>
                                            </p:txEl>
                                          </p:spTgt>
                                        </p:tgtEl>
                                        <p:attrNameLst>
                                          <p:attrName>style.visibility</p:attrName>
                                        </p:attrNameLst>
                                      </p:cBhvr>
                                      <p:to>
                                        <p:strVal val="visible"/>
                                      </p:to>
                                    </p:set>
                                    <p:animEffect transition="in" filter="wipe(left)">
                                      <p:cBhvr>
                                        <p:cTn id="17" dur="500"/>
                                        <p:tgtEl>
                                          <p:spTgt spid="56627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6275">
                                            <p:txEl>
                                              <p:pRg st="5" end="5"/>
                                            </p:txEl>
                                          </p:spTgt>
                                        </p:tgtEl>
                                        <p:attrNameLst>
                                          <p:attrName>style.visibility</p:attrName>
                                        </p:attrNameLst>
                                      </p:cBhvr>
                                      <p:to>
                                        <p:strVal val="visible"/>
                                      </p:to>
                                    </p:set>
                                    <p:animEffect transition="in" filter="wipe(left)">
                                      <p:cBhvr>
                                        <p:cTn id="22" dur="500"/>
                                        <p:tgtEl>
                                          <p:spTgt spid="56627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6275">
                                            <p:txEl>
                                              <p:pRg st="6" end="6"/>
                                            </p:txEl>
                                          </p:spTgt>
                                        </p:tgtEl>
                                        <p:attrNameLst>
                                          <p:attrName>style.visibility</p:attrName>
                                        </p:attrNameLst>
                                      </p:cBhvr>
                                      <p:to>
                                        <p:strVal val="visible"/>
                                      </p:to>
                                    </p:set>
                                    <p:animEffect transition="in" filter="wipe(left)">
                                      <p:cBhvr>
                                        <p:cTn id="27" dur="500"/>
                                        <p:tgtEl>
                                          <p:spTgt spid="56627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66275">
                                            <p:txEl>
                                              <p:pRg st="7" end="7"/>
                                            </p:txEl>
                                          </p:spTgt>
                                        </p:tgtEl>
                                        <p:attrNameLst>
                                          <p:attrName>style.visibility</p:attrName>
                                        </p:attrNameLst>
                                      </p:cBhvr>
                                      <p:to>
                                        <p:strVal val="visible"/>
                                      </p:to>
                                    </p:set>
                                    <p:animEffect transition="in" filter="wipe(left)">
                                      <p:cBhvr>
                                        <p:cTn id="32" dur="500"/>
                                        <p:tgtEl>
                                          <p:spTgt spid="56627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66275">
                                            <p:txEl>
                                              <p:pRg st="8" end="8"/>
                                            </p:txEl>
                                          </p:spTgt>
                                        </p:tgtEl>
                                        <p:attrNameLst>
                                          <p:attrName>style.visibility</p:attrName>
                                        </p:attrNameLst>
                                      </p:cBhvr>
                                      <p:to>
                                        <p:strVal val="visible"/>
                                      </p:to>
                                    </p:set>
                                    <p:animEffect transition="in" filter="wipe(left)">
                                      <p:cBhvr>
                                        <p:cTn id="37" dur="500"/>
                                        <p:tgtEl>
                                          <p:spTgt spid="56627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66275">
                                            <p:txEl>
                                              <p:pRg st="9" end="9"/>
                                            </p:txEl>
                                          </p:spTgt>
                                        </p:tgtEl>
                                        <p:attrNameLst>
                                          <p:attrName>style.visibility</p:attrName>
                                        </p:attrNameLst>
                                      </p:cBhvr>
                                      <p:to>
                                        <p:strVal val="visible"/>
                                      </p:to>
                                    </p:set>
                                    <p:animEffect transition="in" filter="wipe(left)">
                                      <p:cBhvr>
                                        <p:cTn id="42" dur="500"/>
                                        <p:tgtEl>
                                          <p:spTgt spid="5662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5"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2465" name="Picture 2"/>
          <p:cNvPicPr>
            <a:picLocks noChangeAspect="1"/>
          </p:cNvPicPr>
          <p:nvPr/>
        </p:nvPicPr>
        <p:blipFill>
          <a:blip r:embed="rId1"/>
          <a:stretch>
            <a:fillRect/>
          </a:stretch>
        </p:blipFill>
        <p:spPr>
          <a:xfrm>
            <a:off x="1762125" y="2143125"/>
            <a:ext cx="6089650" cy="4200525"/>
          </a:xfrm>
          <a:prstGeom prst="rect">
            <a:avLst/>
          </a:prstGeom>
          <a:noFill/>
          <a:ln w="50800" cap="flat" cmpd="thickThin">
            <a:solidFill>
              <a:srgbClr val="002060"/>
            </a:solidFill>
            <a:prstDash val="solid"/>
            <a:miter/>
            <a:headEnd type="none" w="med" len="med"/>
            <a:tailEnd type="none" w="med" len="med"/>
          </a:ln>
        </p:spPr>
      </p:pic>
      <p:sp>
        <p:nvSpPr>
          <p:cNvPr id="62466" name="Rectangle 3"/>
          <p:cNvSpPr>
            <a:spLocks noGrp="1"/>
          </p:cNvSpPr>
          <p:nvPr>
            <p:ph type="body" idx="4294967295"/>
          </p:nvPr>
        </p:nvSpPr>
        <p:spPr>
          <a:xfrm>
            <a:off x="1622425" y="1341438"/>
            <a:ext cx="8420100" cy="660400"/>
          </a:xfrm>
        </p:spPr>
        <p:txBody>
          <a:bodyPr vert="horz" wrap="square" lIns="91440" tIns="45720" rIns="91440" bIns="45720" anchor="t" anchorCtr="0"/>
          <a:lstStyle/>
          <a:p>
            <a:pPr>
              <a:buFont typeface="Monotype Sorts"/>
              <a:buNone/>
            </a:pPr>
            <a:r>
              <a:rPr lang="en-US" altLang="zh-CN" dirty="0">
                <a:latin typeface="华文仿宋" panose="02010600040101010101" pitchFamily="2" charset="-122"/>
              </a:rPr>
              <a:t>【</a:t>
            </a:r>
            <a:r>
              <a:rPr lang="zh-CN" altLang="en-US" dirty="0">
                <a:latin typeface="华文仿宋" panose="02010600040101010101" pitchFamily="2" charset="-122"/>
              </a:rPr>
              <a:t>例</a:t>
            </a:r>
            <a:r>
              <a:rPr lang="en-US" altLang="zh-CN" dirty="0">
                <a:latin typeface="华文仿宋" panose="02010600040101010101" pitchFamily="2" charset="-122"/>
              </a:rPr>
              <a:t>】</a:t>
            </a:r>
            <a:r>
              <a:rPr lang="zh-CN" altLang="en-US" dirty="0"/>
              <a:t>利用</a:t>
            </a:r>
            <a:r>
              <a:rPr lang="zh-CN" altLang="en-US" dirty="0">
                <a:solidFill>
                  <a:srgbClr val="C00000"/>
                </a:solidFill>
              </a:rPr>
              <a:t>静态</a:t>
            </a:r>
            <a:r>
              <a:rPr lang="zh-CN" altLang="en-US" dirty="0"/>
              <a:t>变量计算整数</a:t>
            </a:r>
            <a:r>
              <a:rPr lang="en-US" altLang="zh-CN" dirty="0"/>
              <a:t>n</a:t>
            </a:r>
            <a:r>
              <a:rPr lang="zh-CN" altLang="en-US" dirty="0"/>
              <a:t>的阶乘</a:t>
            </a:r>
            <a:r>
              <a:rPr lang="en-US" altLang="zh-CN" dirty="0"/>
              <a:t>n</a:t>
            </a:r>
            <a:r>
              <a:rPr lang="zh-CN" altLang="en-US" dirty="0"/>
              <a:t>！ </a:t>
            </a:r>
            <a:endParaRPr lang="zh-CN" altLang="en-US" dirty="0"/>
          </a:p>
          <a:p>
            <a:pPr lvl="2">
              <a:buFont typeface="Monotype Sorts"/>
              <a:buChar char=""/>
            </a:pPr>
            <a:endParaRPr lang="zh-CN" altLang="en-US" sz="2500" dirty="0">
              <a:ea typeface="宋体" pitchFamily="2" charset="-122"/>
            </a:endParaRPr>
          </a:p>
        </p:txBody>
      </p:sp>
      <p:pic>
        <p:nvPicPr>
          <p:cNvPr id="65540" name="Picture 6"/>
          <p:cNvPicPr>
            <a:picLocks noChangeAspect="1"/>
          </p:cNvPicPr>
          <p:nvPr/>
        </p:nvPicPr>
        <p:blipFill>
          <a:blip r:embed="rId2">
            <a:clrChange>
              <a:clrFrom>
                <a:srgbClr val="FFFFFF"/>
              </a:clrFrom>
              <a:clrTo>
                <a:srgbClr val="FFFFFF">
                  <a:alpha val="0"/>
                </a:srgbClr>
              </a:clrTo>
            </a:clrChange>
          </a:blip>
          <a:stretch>
            <a:fillRect/>
          </a:stretch>
        </p:blipFill>
        <p:spPr>
          <a:xfrm>
            <a:off x="8340725" y="2330450"/>
            <a:ext cx="1997075" cy="4027488"/>
          </a:xfrm>
          <a:prstGeom prst="rect">
            <a:avLst/>
          </a:prstGeom>
          <a:noFill/>
          <a:ln w="9525">
            <a:noFill/>
          </a:ln>
        </p:spPr>
      </p:pic>
      <p:sp>
        <p:nvSpPr>
          <p:cNvPr id="62468" name="Rectangle 11"/>
          <p:cNvSpPr/>
          <p:nvPr/>
        </p:nvSpPr>
        <p:spPr>
          <a:xfrm>
            <a:off x="2922588" y="5429250"/>
            <a:ext cx="2400300" cy="285750"/>
          </a:xfrm>
          <a:prstGeom prst="rect">
            <a:avLst/>
          </a:prstGeom>
          <a:noFill/>
          <a:ln w="19050" cap="flat" cmpd="sng">
            <a:solidFill>
              <a:srgbClr val="FF0000"/>
            </a:solidFill>
            <a:prstDash val="solid"/>
            <a:miter/>
            <a:headEnd type="none" w="med" len="med"/>
            <a:tailEnd type="none" w="med" len="med"/>
          </a:ln>
        </p:spPr>
        <p:txBody>
          <a:bodyPr wrap="none" anchor="ctr" anchorCtr="0"/>
          <a:lstStyle/>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sz="3600" b="1" dirty="0">
              <a:latin typeface="Arial" panose="020B0604020202090204" pitchFamily="34" charset="0"/>
              <a:ea typeface="宋体" pitchFamily="2" charset="-122"/>
            </a:endParaRPr>
          </a:p>
        </p:txBody>
      </p:sp>
      <p:sp>
        <p:nvSpPr>
          <p:cNvPr id="501767" name="Rectangle 7"/>
          <p:cNvSpPr>
            <a:spLocks noChangeArrowheads="1"/>
          </p:cNvSpPr>
          <p:nvPr/>
        </p:nvSpPr>
        <p:spPr bwMode="auto">
          <a:xfrm>
            <a:off x="1881188" y="404813"/>
            <a:ext cx="8447088"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自动变量和静态变量</a:t>
            </a:r>
            <a:endPar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sp>
        <p:nvSpPr>
          <p:cNvPr id="2" name="AutoShape 6"/>
          <p:cNvSpPr/>
          <p:nvPr/>
        </p:nvSpPr>
        <p:spPr>
          <a:xfrm>
            <a:off x="4727575" y="2565400"/>
            <a:ext cx="3600450" cy="2519363"/>
          </a:xfrm>
          <a:prstGeom prst="wedgeEllipseCallout">
            <a:avLst>
              <a:gd name="adj1" fmla="val -54718"/>
              <a:gd name="adj2" fmla="val 60523"/>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dirty="0">
                <a:solidFill>
                  <a:srgbClr val="000066"/>
                </a:solidFill>
                <a:latin typeface="黑体" panose="02010609060101010101" pitchFamily="49" charset="-122"/>
                <a:ea typeface="黑体" panose="02010609060101010101" pitchFamily="49" charset="-122"/>
              </a:rPr>
              <a:t>静态变量在编译时赋值，仅初始化一次，变量的值可保存到下次进入函数，使函数具有记忆功能</a:t>
            </a:r>
            <a:endParaRPr lang="zh-CN" altLang="en-US" sz="2400" dirty="0">
              <a:solidFill>
                <a:srgbClr val="000066"/>
              </a:solidFill>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ox(out)">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Rectangle 2"/>
          <p:cNvSpPr>
            <a:spLocks noGrp="1"/>
          </p:cNvSpPr>
          <p:nvPr>
            <p:ph type="title"/>
          </p:nvPr>
        </p:nvSpPr>
        <p:spPr>
          <a:xfrm>
            <a:off x="1638300" y="269875"/>
            <a:ext cx="8915400" cy="1143000"/>
          </a:xfrm>
        </p:spPr>
        <p:txBody>
          <a:bodyPr vert="horz" wrap="square" lIns="91440" tIns="45720" rIns="91440" bIns="45720" anchor="ctr" anchorCtr="0"/>
          <a:lstStyle/>
          <a:p>
            <a:r>
              <a:rPr lang="zh-CN" altLang="en-US" sz="4000" kern="1200" dirty="0">
                <a:latin typeface="Courier New" panose="02070409020205090404" pitchFamily="49" charset="0"/>
                <a:ea typeface="黑体" panose="02010609060101010101" pitchFamily="49" charset="-122"/>
                <a:cs typeface="Arial" panose="020B0604020202090204" pitchFamily="34" charset="0"/>
              </a:rPr>
              <a:t>寄存器变量</a:t>
            </a:r>
            <a:endParaRPr lang="zh-CN" altLang="en-US" sz="4000" kern="1200" dirty="0">
              <a:latin typeface="Courier New" panose="02070409020205090404" pitchFamily="49" charset="0"/>
              <a:ea typeface="黑体" panose="02010609060101010101" pitchFamily="49" charset="-122"/>
              <a:cs typeface="Arial" panose="020B0604020202090204" pitchFamily="34" charset="0"/>
            </a:endParaRPr>
          </a:p>
        </p:txBody>
      </p:sp>
      <p:sp>
        <p:nvSpPr>
          <p:cNvPr id="570371" name="Rectangle 3"/>
          <p:cNvSpPr>
            <a:spLocks noGrp="1"/>
          </p:cNvSpPr>
          <p:nvPr>
            <p:ph idx="1"/>
          </p:nvPr>
        </p:nvSpPr>
        <p:spPr>
          <a:xfrm>
            <a:off x="1416050" y="1412875"/>
            <a:ext cx="9204325" cy="5257800"/>
          </a:xfrm>
        </p:spPr>
        <p:txBody>
          <a:bodyPr vert="horz" wrap="square" lIns="91440" tIns="45720" rIns="91440" bIns="45720" anchor="t" anchorCtr="0"/>
          <a:lstStyle/>
          <a:p>
            <a:pPr>
              <a:spcBef>
                <a:spcPct val="0"/>
              </a:spcBef>
              <a:buSzPct val="50000"/>
            </a:pPr>
            <a:r>
              <a:rPr lang="zh-CN" altLang="en-US" kern="1200" dirty="0">
                <a:latin typeface="华文仿宋" panose="02010600040101010101" pitchFamily="2" charset="-122"/>
                <a:ea typeface="黑体" panose="02010609060101010101" pitchFamily="49" charset="-122"/>
                <a:cs typeface="+mn-cs"/>
              </a:rPr>
              <a:t>寄存器</a:t>
            </a:r>
            <a:endParaRPr lang="zh-CN" altLang="en-US" kern="1200" dirty="0">
              <a:latin typeface="华文仿宋" panose="02010600040101010101" pitchFamily="2" charset="-122"/>
              <a:ea typeface="黑体" panose="02010609060101010101" pitchFamily="49" charset="-122"/>
              <a:cs typeface="+mn-cs"/>
            </a:endParaRPr>
          </a:p>
          <a:p>
            <a:pPr lvl="1">
              <a:spcBef>
                <a:spcPct val="0"/>
              </a:spcBef>
              <a:buSzPct val="50000"/>
            </a:pPr>
            <a:r>
              <a:rPr lang="en-US" altLang="zh-CN" kern="1200" dirty="0">
                <a:latin typeface="Arial" panose="020B0604020202090204" pitchFamily="34" charset="0"/>
                <a:ea typeface="黑体" panose="02010609060101010101" pitchFamily="49" charset="-122"/>
                <a:cs typeface="Times New Roman" panose="02020503050405090304" pitchFamily="18" charset="0"/>
              </a:rPr>
              <a:t>CPU</a:t>
            </a:r>
            <a:r>
              <a:rPr lang="zh-CN" altLang="en-US" kern="1200" dirty="0">
                <a:latin typeface="Arial" panose="020B0604020202090204" pitchFamily="34" charset="0"/>
                <a:ea typeface="黑体" panose="02010609060101010101" pitchFamily="49" charset="-122"/>
                <a:cs typeface="Times New Roman" panose="02020503050405090304" pitchFamily="18" charset="0"/>
              </a:rPr>
              <a:t>内部容量有限、但速度极快的存储器</a:t>
            </a: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a:p>
            <a:pPr>
              <a:spcBef>
                <a:spcPct val="0"/>
              </a:spcBef>
              <a:buSzPct val="50000"/>
            </a:pPr>
            <a:r>
              <a:rPr lang="zh-CN" altLang="en-US" kern="1200" dirty="0">
                <a:latin typeface="Times New Roman" panose="02020503050405090304" pitchFamily="18" charset="0"/>
                <a:ea typeface="黑体" panose="02010609060101010101" pitchFamily="49" charset="-122"/>
                <a:cs typeface="+mn-cs"/>
              </a:rPr>
              <a:t>寄存器变量的生存期与程序“共存亡” </a:t>
            </a:r>
            <a:endParaRPr lang="zh-CN" altLang="en-US" kern="1200" dirty="0">
              <a:latin typeface="Times New Roman" panose="02020503050405090304" pitchFamily="18" charset="0"/>
              <a:ea typeface="黑体" panose="02010609060101010101" pitchFamily="49" charset="-122"/>
              <a:cs typeface="+mn-cs"/>
            </a:endParaRPr>
          </a:p>
          <a:p>
            <a:pPr lvl="1">
              <a:spcBef>
                <a:spcPct val="0"/>
              </a:spcBef>
              <a:buSzPct val="50000"/>
              <a:buFontTx/>
              <a:buNone/>
            </a:pPr>
            <a:r>
              <a:rPr lang="en-US" altLang="zh-CN" sz="2000" i="1" kern="1200" dirty="0">
                <a:solidFill>
                  <a:srgbClr val="880000"/>
                </a:solidFill>
                <a:latin typeface="Arial" panose="020B0604020202090204" pitchFamily="34" charset="0"/>
                <a:ea typeface="黑体" panose="02010609060101010101" pitchFamily="49" charset="-122"/>
                <a:cs typeface="Times New Roman" panose="02020503050405090304" pitchFamily="18" charset="0"/>
              </a:rPr>
              <a:t>                </a:t>
            </a:r>
            <a:r>
              <a:rPr lang="en-US" altLang="zh-CN" sz="2800" b="1" kern="1200" dirty="0">
                <a:solidFill>
                  <a:srgbClr val="CC0000"/>
                </a:solidFill>
                <a:latin typeface="Courier New" panose="02070409020205090404" pitchFamily="49" charset="0"/>
                <a:ea typeface="幼圆" panose="02010509060101010101" pitchFamily="49" charset="-122"/>
                <a:cs typeface="Times New Roman" panose="02020503050405090304" pitchFamily="18" charset="0"/>
              </a:rPr>
              <a:t>register</a:t>
            </a:r>
            <a:r>
              <a:rPr lang="en-US" altLang="zh-CN" sz="2800" kern="1200" dirty="0">
                <a:solidFill>
                  <a:schemeClr val="tx1"/>
                </a:solidFill>
                <a:latin typeface="Courier New" panose="02070409020205090404" pitchFamily="49" charset="0"/>
                <a:ea typeface="幼圆" panose="02010509060101010101" pitchFamily="49" charset="-122"/>
                <a:cs typeface="Times New Roman" panose="02020503050405090304" pitchFamily="18" charset="0"/>
              </a:rPr>
              <a:t> </a:t>
            </a:r>
            <a:r>
              <a:rPr lang="zh-CN" altLang="en-US" sz="2800"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类型名 变量名</a:t>
            </a:r>
            <a:r>
              <a:rPr lang="en-US" altLang="zh-CN" sz="2800" kern="1200" dirty="0">
                <a:solidFill>
                  <a:schemeClr val="tx1"/>
                </a:solidFill>
                <a:latin typeface="Courier New" panose="02070409020205090404" pitchFamily="49" charset="0"/>
                <a:ea typeface="黑体" panose="02010609060101010101" pitchFamily="49" charset="-122"/>
                <a:cs typeface="Times New Roman" panose="02020503050405090304" pitchFamily="18" charset="0"/>
              </a:rPr>
              <a:t>;</a:t>
            </a:r>
            <a:r>
              <a:rPr lang="en-US" altLang="zh-CN" sz="2800"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 </a:t>
            </a:r>
            <a:endParaRPr lang="zh-CN" altLang="en-US"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endParaRPr>
          </a:p>
          <a:p>
            <a:pPr>
              <a:spcBef>
                <a:spcPct val="0"/>
              </a:spcBef>
              <a:buSzPct val="50000"/>
            </a:pPr>
            <a:r>
              <a:rPr lang="zh-CN" altLang="en-US" kern="1200" dirty="0">
                <a:latin typeface="Times New Roman" panose="02020503050405090304" pitchFamily="18" charset="0"/>
                <a:ea typeface="黑体" panose="02010609060101010101" pitchFamily="49" charset="-122"/>
                <a:cs typeface="+mn-cs"/>
              </a:rPr>
              <a:t>适用于使用频率较高的变量，可使程序更小、执行速度更快</a:t>
            </a:r>
            <a:endParaRPr lang="zh-CN" altLang="en-US" kern="1200" dirty="0">
              <a:latin typeface="Times New Roman" panose="02020503050405090304" pitchFamily="18" charset="0"/>
              <a:ea typeface="黑体" panose="02010609060101010101" pitchFamily="49" charset="-122"/>
              <a:cs typeface="+mn-cs"/>
            </a:endParaRPr>
          </a:p>
          <a:p>
            <a:pPr lvl="1">
              <a:spcBef>
                <a:spcPct val="0"/>
              </a:spcBef>
              <a:buSzPct val="50000"/>
            </a:pPr>
            <a:r>
              <a:rPr lang="zh-CN" altLang="en-US" kern="1200" dirty="0">
                <a:latin typeface="宋体" pitchFamily="2" charset="-122"/>
                <a:ea typeface="黑体" panose="02010609060101010101" pitchFamily="49" charset="-122"/>
                <a:cs typeface="Times New Roman" panose="02020503050405090304" pitchFamily="18" charset="0"/>
              </a:rPr>
              <a:t>现代编译器有能力自动把普通变量优化为寄存器变量，并且可以忽略用户的指定</a:t>
            </a:r>
            <a:endParaRPr lang="zh-CN" altLang="en-US" kern="1200" dirty="0">
              <a:latin typeface="宋体" pitchFamily="2" charset="-122"/>
              <a:ea typeface="黑体" panose="02010609060101010101" pitchFamily="49" charset="-122"/>
              <a:cs typeface="Times New Roman" panose="02020503050405090304" pitchFamily="18" charset="0"/>
            </a:endParaRPr>
          </a:p>
          <a:p>
            <a:pPr lvl="1">
              <a:spcBef>
                <a:spcPct val="0"/>
              </a:spcBef>
              <a:buSzPct val="50000"/>
            </a:pPr>
            <a:r>
              <a:rPr lang="zh-CN" altLang="en-US" kern="1200" dirty="0">
                <a:latin typeface="宋体" pitchFamily="2" charset="-122"/>
                <a:ea typeface="黑体" panose="02010609060101010101" pitchFamily="49" charset="-122"/>
                <a:cs typeface="Times New Roman" panose="02020503050405090304" pitchFamily="18" charset="0"/>
              </a:rPr>
              <a:t>所以一般无需特别声明变量为</a:t>
            </a:r>
            <a:r>
              <a:rPr lang="en-US" altLang="zh-CN"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register </a:t>
            </a:r>
            <a:endParaRPr lang="en-US" altLang="zh-CN"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endParaRPr>
          </a:p>
        </p:txBody>
      </p:sp>
      <p:pic>
        <p:nvPicPr>
          <p:cNvPr id="63491" name="Picture 4"/>
          <p:cNvPicPr>
            <a:picLocks noChangeAspect="1"/>
          </p:cNvPicPr>
          <p:nvPr/>
        </p:nvPicPr>
        <p:blipFill>
          <a:blip r:embed="rId1">
            <a:clrChange>
              <a:clrFrom>
                <a:srgbClr val="FFFFFF"/>
              </a:clrFrom>
              <a:clrTo>
                <a:srgbClr val="FFFFFF">
                  <a:alpha val="0"/>
                </a:srgbClr>
              </a:clrTo>
            </a:clrChange>
          </a:blip>
          <a:stretch>
            <a:fillRect/>
          </a:stretch>
        </p:blipFill>
        <p:spPr>
          <a:xfrm>
            <a:off x="8904288" y="1557338"/>
            <a:ext cx="1871662" cy="1404937"/>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0371">
                                            <p:txEl>
                                              <p:pRg st="1" end="1"/>
                                            </p:txEl>
                                          </p:spTgt>
                                        </p:tgtEl>
                                        <p:attrNameLst>
                                          <p:attrName>style.visibility</p:attrName>
                                        </p:attrNameLst>
                                      </p:cBhvr>
                                      <p:to>
                                        <p:strVal val="visible"/>
                                      </p:to>
                                    </p:set>
                                    <p:animEffect transition="in" filter="wipe(left)">
                                      <p:cBhvr>
                                        <p:cTn id="7" dur="500"/>
                                        <p:tgtEl>
                                          <p:spTgt spid="5703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0371">
                                            <p:txEl>
                                              <p:pRg st="2" end="2"/>
                                            </p:txEl>
                                          </p:spTgt>
                                        </p:tgtEl>
                                        <p:attrNameLst>
                                          <p:attrName>style.visibility</p:attrName>
                                        </p:attrNameLst>
                                      </p:cBhvr>
                                      <p:to>
                                        <p:strVal val="visible"/>
                                      </p:to>
                                    </p:set>
                                    <p:animEffect transition="in" filter="wipe(left)">
                                      <p:cBhvr>
                                        <p:cTn id="12" dur="500"/>
                                        <p:tgtEl>
                                          <p:spTgt spid="5703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0371">
                                            <p:txEl>
                                              <p:pRg st="3" end="3"/>
                                            </p:txEl>
                                          </p:spTgt>
                                        </p:tgtEl>
                                        <p:attrNameLst>
                                          <p:attrName>style.visibility</p:attrName>
                                        </p:attrNameLst>
                                      </p:cBhvr>
                                      <p:to>
                                        <p:strVal val="visible"/>
                                      </p:to>
                                    </p:set>
                                    <p:animEffect transition="in" filter="wipe(left)">
                                      <p:cBhvr>
                                        <p:cTn id="17" dur="500"/>
                                        <p:tgtEl>
                                          <p:spTgt spid="5703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0371">
                                            <p:txEl>
                                              <p:pRg st="4" end="4"/>
                                            </p:txEl>
                                          </p:spTgt>
                                        </p:tgtEl>
                                        <p:attrNameLst>
                                          <p:attrName>style.visibility</p:attrName>
                                        </p:attrNameLst>
                                      </p:cBhvr>
                                      <p:to>
                                        <p:strVal val="visible"/>
                                      </p:to>
                                    </p:set>
                                    <p:animEffect transition="in" filter="wipe(left)">
                                      <p:cBhvr>
                                        <p:cTn id="22" dur="500"/>
                                        <p:tgtEl>
                                          <p:spTgt spid="57037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0371">
                                            <p:txEl>
                                              <p:pRg st="5" end="5"/>
                                            </p:txEl>
                                          </p:spTgt>
                                        </p:tgtEl>
                                        <p:attrNameLst>
                                          <p:attrName>style.visibility</p:attrName>
                                        </p:attrNameLst>
                                      </p:cBhvr>
                                      <p:to>
                                        <p:strVal val="visible"/>
                                      </p:to>
                                    </p:set>
                                    <p:animEffect transition="in" filter="wipe(left)">
                                      <p:cBhvr>
                                        <p:cTn id="27" dur="500"/>
                                        <p:tgtEl>
                                          <p:spTgt spid="57037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70371">
                                            <p:txEl>
                                              <p:pRg st="6" end="6"/>
                                            </p:txEl>
                                          </p:spTgt>
                                        </p:tgtEl>
                                        <p:attrNameLst>
                                          <p:attrName>style.visibility</p:attrName>
                                        </p:attrNameLst>
                                      </p:cBhvr>
                                      <p:to>
                                        <p:strVal val="visible"/>
                                      </p:to>
                                    </p:set>
                                    <p:animEffect transition="in" filter="wipe(left)">
                                      <p:cBhvr>
                                        <p:cTn id="32" dur="500"/>
                                        <p:tgtEl>
                                          <p:spTgt spid="570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Text Box 2"/>
          <p:cNvSpPr txBox="1"/>
          <p:nvPr/>
        </p:nvSpPr>
        <p:spPr>
          <a:xfrm>
            <a:off x="1666875" y="2074863"/>
            <a:ext cx="1568450"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全局变量</a:t>
            </a:r>
            <a:endParaRPr lang="zh-CN" altLang="en-US" sz="2400" b="1" dirty="0">
              <a:solidFill>
                <a:srgbClr val="000099"/>
              </a:solidFill>
              <a:latin typeface="黑体" panose="02010609060101010101" pitchFamily="49" charset="-122"/>
              <a:ea typeface="黑体" panose="02010609060101010101" pitchFamily="49" charset="-122"/>
            </a:endParaRPr>
          </a:p>
        </p:txBody>
      </p:sp>
      <p:sp>
        <p:nvSpPr>
          <p:cNvPr id="587779" name="AutoShape 3"/>
          <p:cNvSpPr/>
          <p:nvPr/>
        </p:nvSpPr>
        <p:spPr bwMode="auto">
          <a:xfrm>
            <a:off x="3317875" y="1770063"/>
            <a:ext cx="330200" cy="1295400"/>
          </a:xfrm>
          <a:prstGeom prst="leftBrace">
            <a:avLst>
              <a:gd name="adj1" fmla="val 35417"/>
              <a:gd name="adj2" fmla="val 50000"/>
            </a:avLst>
          </a:prstGeom>
          <a:noFill/>
          <a:ln w="28575">
            <a:solidFill>
              <a:schemeClr val="tx1"/>
            </a:solidFill>
            <a:roun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64515" name="Text Box 4"/>
          <p:cNvSpPr txBox="1"/>
          <p:nvPr/>
        </p:nvSpPr>
        <p:spPr>
          <a:xfrm>
            <a:off x="3600450" y="1693863"/>
            <a:ext cx="6604000"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静态外部变量</a:t>
            </a:r>
            <a:r>
              <a:rPr lang="zh-CN" altLang="en-US" sz="2400" b="1" dirty="0">
                <a:latin typeface="黑体" panose="02010609060101010101" pitchFamily="49" charset="-122"/>
                <a:ea typeface="黑体" panose="02010609060101010101" pitchFamily="49" charset="-122"/>
              </a:rPr>
              <a:t> （只限本文件使用）</a:t>
            </a:r>
            <a:endParaRPr lang="zh-CN" altLang="en-US" sz="2400" b="1" dirty="0">
              <a:latin typeface="黑体" panose="02010609060101010101" pitchFamily="49" charset="-122"/>
              <a:ea typeface="黑体" panose="02010609060101010101" pitchFamily="49" charset="-122"/>
            </a:endParaRPr>
          </a:p>
        </p:txBody>
      </p:sp>
      <p:sp>
        <p:nvSpPr>
          <p:cNvPr id="64516" name="Text Box 5"/>
          <p:cNvSpPr txBox="1"/>
          <p:nvPr/>
        </p:nvSpPr>
        <p:spPr>
          <a:xfrm>
            <a:off x="3648075" y="2684463"/>
            <a:ext cx="7129463"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外部变量</a:t>
            </a:r>
            <a:r>
              <a:rPr lang="zh-CN" altLang="en-US" sz="2400" b="1" dirty="0">
                <a:latin typeface="黑体" panose="02010609060101010101" pitchFamily="49" charset="-122"/>
                <a:ea typeface="黑体" panose="02010609060101010101" pitchFamily="49" charset="-122"/>
              </a:rPr>
              <a:t> （非静态外部变量允许其他文件引用）</a:t>
            </a:r>
            <a:endParaRPr lang="zh-CN" altLang="en-US" sz="2400" b="1" dirty="0">
              <a:latin typeface="黑体" panose="02010609060101010101" pitchFamily="49" charset="-122"/>
              <a:ea typeface="黑体" panose="02010609060101010101" pitchFamily="49" charset="-122"/>
            </a:endParaRPr>
          </a:p>
        </p:txBody>
      </p:sp>
      <p:sp>
        <p:nvSpPr>
          <p:cNvPr id="64517" name="Text Box 6"/>
          <p:cNvSpPr txBox="1"/>
          <p:nvPr/>
        </p:nvSpPr>
        <p:spPr>
          <a:xfrm>
            <a:off x="1584325" y="4471988"/>
            <a:ext cx="1568450"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局部变量</a:t>
            </a:r>
            <a:endParaRPr lang="zh-CN" altLang="en-US" sz="2400" b="1" dirty="0">
              <a:solidFill>
                <a:srgbClr val="000099"/>
              </a:solidFill>
              <a:latin typeface="黑体" panose="02010609060101010101" pitchFamily="49" charset="-122"/>
              <a:ea typeface="黑体" panose="02010609060101010101" pitchFamily="49" charset="-122"/>
            </a:endParaRPr>
          </a:p>
        </p:txBody>
      </p:sp>
      <p:sp>
        <p:nvSpPr>
          <p:cNvPr id="587783" name="AutoShape 7"/>
          <p:cNvSpPr/>
          <p:nvPr/>
        </p:nvSpPr>
        <p:spPr bwMode="auto">
          <a:xfrm>
            <a:off x="3070225" y="3751263"/>
            <a:ext cx="330200" cy="1905000"/>
          </a:xfrm>
          <a:prstGeom prst="leftBrace">
            <a:avLst>
              <a:gd name="adj1" fmla="val 52083"/>
              <a:gd name="adj2" fmla="val 50000"/>
            </a:avLst>
          </a:prstGeom>
          <a:noFill/>
          <a:ln w="28575">
            <a:solidFill>
              <a:schemeClr val="tx1"/>
            </a:solidFill>
            <a:roun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64519" name="Text Box 8"/>
          <p:cNvSpPr txBox="1"/>
          <p:nvPr/>
        </p:nvSpPr>
        <p:spPr>
          <a:xfrm>
            <a:off x="4872038" y="5370513"/>
            <a:ext cx="5811837"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latin typeface="黑体" panose="02010609060101010101" pitchFamily="49" charset="-122"/>
                <a:ea typeface="黑体" panose="02010609060101010101" pitchFamily="49" charset="-122"/>
              </a:rPr>
              <a:t>  （</a:t>
            </a:r>
            <a:r>
              <a:rPr lang="zh-CN" altLang="en-US" sz="2400" b="1" dirty="0">
                <a:solidFill>
                  <a:srgbClr val="000099"/>
                </a:solidFill>
                <a:latin typeface="黑体" panose="02010609060101010101" pitchFamily="49" charset="-122"/>
                <a:ea typeface="黑体" panose="02010609060101010101" pitchFamily="49" charset="-122"/>
              </a:rPr>
              <a:t>自动变量）</a:t>
            </a:r>
            <a:r>
              <a:rPr lang="zh-CN" altLang="en-US" sz="2400" b="1" dirty="0">
                <a:latin typeface="黑体" panose="02010609060101010101" pitchFamily="49" charset="-122"/>
                <a:ea typeface="黑体" panose="02010609060101010101" pitchFamily="49" charset="-122"/>
              </a:rPr>
              <a:t>（离开函数，值就消失）</a:t>
            </a:r>
            <a:endParaRPr lang="zh-CN" altLang="en-US" sz="2400" b="1" dirty="0">
              <a:latin typeface="黑体" panose="02010609060101010101" pitchFamily="49" charset="-122"/>
              <a:ea typeface="黑体" panose="02010609060101010101" pitchFamily="49" charset="-122"/>
            </a:endParaRPr>
          </a:p>
        </p:txBody>
      </p:sp>
      <p:sp>
        <p:nvSpPr>
          <p:cNvPr id="587786" name="AutoShape 10"/>
          <p:cNvSpPr/>
          <p:nvPr/>
        </p:nvSpPr>
        <p:spPr bwMode="auto">
          <a:xfrm>
            <a:off x="1336675" y="2303463"/>
            <a:ext cx="330200" cy="2438400"/>
          </a:xfrm>
          <a:prstGeom prst="leftBrace">
            <a:avLst>
              <a:gd name="adj1" fmla="val 66667"/>
              <a:gd name="adj2" fmla="val 50000"/>
            </a:avLst>
          </a:prstGeom>
          <a:noFill/>
          <a:ln w="28575">
            <a:solidFill>
              <a:schemeClr val="tx1"/>
            </a:solidFill>
            <a:roun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64521" name="Text Box 11"/>
          <p:cNvSpPr txBox="1"/>
          <p:nvPr/>
        </p:nvSpPr>
        <p:spPr>
          <a:xfrm>
            <a:off x="1608138" y="2543175"/>
            <a:ext cx="1898650" cy="1235075"/>
          </a:xfrm>
          <a:prstGeom prst="rect">
            <a:avLst/>
          </a:prstGeom>
          <a:noFill/>
          <a:ln w="9525">
            <a:noFill/>
          </a:ln>
        </p:spPr>
        <p:txBody>
          <a:bodyPr anchor="t" anchorCtr="0">
            <a:spAutoFit/>
          </a:bodyPr>
          <a:lstStyle/>
          <a:p>
            <a:pPr eaLnBrk="0" hangingPunct="0">
              <a:lnSpc>
                <a:spcPct val="90000"/>
              </a:lnSpc>
              <a:spcBef>
                <a:spcPts val="600"/>
              </a:spcBef>
              <a:spcAft>
                <a:spcPts val="590"/>
              </a:spcAft>
              <a:buClr>
                <a:schemeClr val="tx2"/>
              </a:buClr>
              <a:buSzPct val="80000"/>
              <a:buFont typeface="Wingdings" panose="05000000000000000000" pitchFamily="2" charset="2"/>
            </a:pPr>
            <a:r>
              <a:rPr lang="zh-CN" altLang="en-US" b="1" dirty="0">
                <a:solidFill>
                  <a:srgbClr val="CC3300"/>
                </a:solidFill>
                <a:latin typeface="Courier New" panose="02070409020205090404" pitchFamily="49" charset="0"/>
                <a:ea typeface="黑体" panose="02010609060101010101" pitchFamily="49" charset="-122"/>
              </a:rPr>
              <a:t>定义点之前</a:t>
            </a:r>
            <a:endParaRPr lang="zh-CN" altLang="en-US" b="1" dirty="0">
              <a:solidFill>
                <a:srgbClr val="CC3300"/>
              </a:solidFill>
              <a:latin typeface="Courier New" panose="02070409020205090404" pitchFamily="49" charset="0"/>
              <a:ea typeface="黑体" panose="02010609060101010101" pitchFamily="49" charset="-122"/>
            </a:endParaRPr>
          </a:p>
          <a:p>
            <a:pPr eaLnBrk="0" hangingPunct="0">
              <a:lnSpc>
                <a:spcPct val="90000"/>
              </a:lnSpc>
              <a:spcBef>
                <a:spcPts val="600"/>
              </a:spcBef>
              <a:spcAft>
                <a:spcPts val="590"/>
              </a:spcAft>
              <a:buClr>
                <a:schemeClr val="tx2"/>
              </a:buClr>
              <a:buSzPct val="80000"/>
              <a:buFont typeface="Wingdings" panose="05000000000000000000" pitchFamily="2" charset="2"/>
            </a:pPr>
            <a:r>
              <a:rPr lang="zh-CN" altLang="en-US" b="1" dirty="0">
                <a:solidFill>
                  <a:srgbClr val="CC3300"/>
                </a:solidFill>
                <a:latin typeface="Courier New" panose="02070409020205090404" pitchFamily="49" charset="0"/>
                <a:ea typeface="黑体" panose="02010609060101010101" pitchFamily="49" charset="-122"/>
              </a:rPr>
              <a:t>使用，需用</a:t>
            </a:r>
            <a:endParaRPr lang="zh-CN" altLang="en-US" b="1" dirty="0">
              <a:solidFill>
                <a:srgbClr val="CC3300"/>
              </a:solidFill>
              <a:latin typeface="Courier New" panose="02070409020205090404" pitchFamily="49" charset="0"/>
              <a:ea typeface="黑体" panose="02010609060101010101" pitchFamily="49" charset="-122"/>
            </a:endParaRPr>
          </a:p>
          <a:p>
            <a:pPr eaLnBrk="0" hangingPunct="0">
              <a:lnSpc>
                <a:spcPct val="90000"/>
              </a:lnSpc>
              <a:spcBef>
                <a:spcPts val="600"/>
              </a:spcBef>
              <a:spcAft>
                <a:spcPts val="590"/>
              </a:spcAft>
              <a:buClr>
                <a:schemeClr val="tx2"/>
              </a:buClr>
              <a:buSzPct val="80000"/>
              <a:buFont typeface="Wingdings" panose="05000000000000000000" pitchFamily="2" charset="2"/>
            </a:pPr>
            <a:r>
              <a:rPr lang="en-US" altLang="zh-CN" b="1" dirty="0">
                <a:solidFill>
                  <a:srgbClr val="CC3300"/>
                </a:solidFill>
                <a:latin typeface="Courier New" panose="02070409020205090404" pitchFamily="49" charset="0"/>
                <a:ea typeface="黑体" panose="02010609060101010101" pitchFamily="49" charset="-122"/>
              </a:rPr>
              <a:t>extern</a:t>
            </a:r>
            <a:r>
              <a:rPr lang="zh-CN" altLang="en-US" b="1" dirty="0">
                <a:solidFill>
                  <a:srgbClr val="CC3300"/>
                </a:solidFill>
                <a:latin typeface="Courier New" panose="02070409020205090404" pitchFamily="49" charset="0"/>
                <a:ea typeface="黑体" panose="02010609060101010101" pitchFamily="49" charset="-122"/>
              </a:rPr>
              <a:t>声明</a:t>
            </a:r>
            <a:endParaRPr lang="zh-CN" altLang="en-US" b="1" dirty="0">
              <a:solidFill>
                <a:srgbClr val="CC3300"/>
              </a:solidFill>
              <a:latin typeface="Courier New" panose="02070409020205090404" pitchFamily="49" charset="0"/>
              <a:ea typeface="黑体" panose="02010609060101010101" pitchFamily="49" charset="-122"/>
            </a:endParaRPr>
          </a:p>
        </p:txBody>
      </p:sp>
      <p:sp>
        <p:nvSpPr>
          <p:cNvPr id="64522" name="Text Box 12"/>
          <p:cNvSpPr txBox="1"/>
          <p:nvPr/>
        </p:nvSpPr>
        <p:spPr>
          <a:xfrm>
            <a:off x="3287713" y="3644900"/>
            <a:ext cx="6356350"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静态局部变量</a:t>
            </a:r>
            <a:r>
              <a:rPr lang="zh-CN" altLang="en-US" sz="2400" b="1" dirty="0">
                <a:latin typeface="黑体" panose="02010609060101010101" pitchFamily="49" charset="-122"/>
                <a:ea typeface="黑体" panose="02010609060101010101" pitchFamily="49" charset="-122"/>
              </a:rPr>
              <a:t> （离开函数，值仍保留）</a:t>
            </a:r>
            <a:endParaRPr lang="zh-CN" altLang="en-US" sz="2400" b="1" dirty="0">
              <a:latin typeface="黑体" panose="02010609060101010101" pitchFamily="49" charset="-122"/>
              <a:ea typeface="黑体" panose="02010609060101010101" pitchFamily="49" charset="-122"/>
            </a:endParaRPr>
          </a:p>
        </p:txBody>
      </p:sp>
      <p:sp>
        <p:nvSpPr>
          <p:cNvPr id="64523" name="Text Box 13"/>
          <p:cNvSpPr txBox="1"/>
          <p:nvPr/>
        </p:nvSpPr>
        <p:spPr>
          <a:xfrm>
            <a:off x="3317875" y="5351463"/>
            <a:ext cx="2228850" cy="425450"/>
          </a:xfrm>
          <a:prstGeom prst="rect">
            <a:avLst/>
          </a:prstGeom>
          <a:noFill/>
          <a:ln w="9525">
            <a:noFill/>
          </a:ln>
        </p:spPr>
        <p:txBody>
          <a:bodyPr anchor="t" anchorCtr="0">
            <a:spAutoFit/>
          </a:bodyPr>
          <a:lstStyle/>
          <a:p>
            <a:pPr eaLnBrk="0" hangingPunct="0">
              <a:lnSpc>
                <a:spcPct val="90000"/>
              </a:lnSpc>
              <a:spcBef>
                <a:spcPct val="50000"/>
              </a:spcBef>
              <a:spcAft>
                <a:spcPts val="590"/>
              </a:spcAft>
              <a:buClr>
                <a:schemeClr val="tx2"/>
              </a:buClr>
              <a:buSzPct val="80000"/>
              <a:buFont typeface="Wingdings" panose="05000000000000000000" pitchFamily="2" charset="2"/>
            </a:pPr>
            <a:r>
              <a:rPr lang="zh-CN" altLang="en-US" sz="2400" b="1" dirty="0">
                <a:solidFill>
                  <a:srgbClr val="000099"/>
                </a:solidFill>
                <a:latin typeface="黑体" panose="02010609060101010101" pitchFamily="49" charset="-122"/>
                <a:ea typeface="黑体" panose="02010609060101010101" pitchFamily="49" charset="-122"/>
              </a:rPr>
              <a:t>动态局部变量</a:t>
            </a:r>
            <a:endParaRPr lang="zh-CN" altLang="en-US" sz="2400" b="1" dirty="0">
              <a:solidFill>
                <a:srgbClr val="000099"/>
              </a:solidFill>
              <a:latin typeface="黑体" panose="02010609060101010101" pitchFamily="49" charset="-122"/>
              <a:ea typeface="黑体" panose="02010609060101010101" pitchFamily="49" charset="-122"/>
            </a:endParaRPr>
          </a:p>
        </p:txBody>
      </p:sp>
      <p:sp>
        <p:nvSpPr>
          <p:cNvPr id="64524" name="Rectangle 2"/>
          <p:cNvSpPr txBox="1"/>
          <p:nvPr/>
        </p:nvSpPr>
        <p:spPr>
          <a:xfrm>
            <a:off x="1638300" y="341313"/>
            <a:ext cx="8915400" cy="1143000"/>
          </a:xfrm>
          <a:prstGeom prst="rect">
            <a:avLst/>
          </a:prstGeom>
          <a:noFill/>
          <a:ln w="9525">
            <a:noFill/>
          </a:ln>
        </p:spPr>
        <p:txBody>
          <a:bodyPr anchor="t" anchorCtr="0"/>
          <a:lstStyle/>
          <a:p>
            <a:pPr algn="ctr" eaLnBrk="0" hangingPunct="0">
              <a:lnSpc>
                <a:spcPct val="90000"/>
              </a:lnSpc>
              <a:buClr>
                <a:schemeClr val="tx2"/>
              </a:buClr>
              <a:buSzPct val="80000"/>
              <a:buFont typeface="Wingdings" panose="05000000000000000000" pitchFamily="2" charset="2"/>
            </a:pPr>
            <a:r>
              <a:rPr lang="zh-CN" altLang="en-US" sz="4400" dirty="0">
                <a:solidFill>
                  <a:schemeClr val="tx2"/>
                </a:solidFill>
                <a:latin typeface="Arial" panose="020B0604020202090204" pitchFamily="34" charset="0"/>
                <a:ea typeface="黑体" panose="02010609060101010101" pitchFamily="49" charset="-122"/>
              </a:rPr>
              <a:t>变量的作用域和存储类型 </a:t>
            </a:r>
            <a:endParaRPr lang="zh-CN" altLang="en-US" sz="4400" dirty="0">
              <a:solidFill>
                <a:schemeClr val="tx2"/>
              </a:solidFill>
              <a:latin typeface="Arial" panose="020B0604020202090204" pitchFamily="34"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矩形 26"/>
          <p:cNvSpPr/>
          <p:nvPr/>
        </p:nvSpPr>
        <p:spPr>
          <a:xfrm>
            <a:off x="5448300" y="3068638"/>
            <a:ext cx="1655763" cy="33131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26" name="矩形 25"/>
          <p:cNvSpPr/>
          <p:nvPr/>
        </p:nvSpPr>
        <p:spPr>
          <a:xfrm>
            <a:off x="3648075" y="3068638"/>
            <a:ext cx="1655763" cy="33131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25" name="矩形 24"/>
          <p:cNvSpPr/>
          <p:nvPr/>
        </p:nvSpPr>
        <p:spPr>
          <a:xfrm>
            <a:off x="1847850" y="3068638"/>
            <a:ext cx="1655763" cy="33131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96611" name="Rectangle 3"/>
          <p:cNvSpPr/>
          <p:nvPr/>
        </p:nvSpPr>
        <p:spPr>
          <a:xfrm>
            <a:off x="1727200" y="1409700"/>
            <a:ext cx="9090025" cy="2305050"/>
          </a:xfrm>
          <a:prstGeom prst="rect">
            <a:avLst/>
          </a:prstGeom>
          <a:noFill/>
          <a:ln w="9525">
            <a:noFill/>
          </a:ln>
        </p:spPr>
        <p:txBody>
          <a:bodyPr lIns="92075" tIns="46037" rIns="92075" bIns="46037" anchor="t" anchorCtr="0"/>
          <a:lstStyle/>
          <a:p>
            <a:pPr lvl="1" indent="-457200" algn="l" rtl="0" eaLnBrk="0" fontAlgn="base" hangingPunct="0">
              <a:lnSpc>
                <a:spcPct val="95000"/>
              </a:lnSpc>
              <a:spcBef>
                <a:spcPct val="0"/>
              </a:spcBef>
              <a:spcAft>
                <a:spcPts val="300"/>
              </a:spcAft>
              <a:buClr>
                <a:schemeClr val="tx1"/>
              </a:buClr>
              <a:buSzPct val="80000"/>
              <a:buFont typeface="Wingdings" panose="05000000000000000000" pitchFamily="2" charset="2"/>
              <a:buChar char="n"/>
            </a:pPr>
            <a:r>
              <a:rPr lang="en-US" altLang="zh-CN" sz="2400" dirty="0">
                <a:solidFill>
                  <a:schemeClr val="tx1"/>
                </a:solidFill>
                <a:latin typeface="Arial" panose="020B0604020202090204" pitchFamily="34" charset="0"/>
                <a:ea typeface="黑体" panose="02010609060101010101" pitchFamily="49" charset="-122"/>
              </a:rPr>
              <a:t>C</a:t>
            </a:r>
            <a:r>
              <a:rPr lang="zh-CN" altLang="en-US" sz="2400" dirty="0">
                <a:solidFill>
                  <a:schemeClr val="tx1"/>
                </a:solidFill>
                <a:latin typeface="Arial" panose="020B0604020202090204" pitchFamily="34" charset="0"/>
                <a:ea typeface="黑体" panose="02010609060101010101" pitchFamily="49" charset="-122"/>
              </a:rPr>
              <a:t>语言规定函数不能嵌套定义</a:t>
            </a:r>
            <a:endParaRPr lang="zh-CN" altLang="en-US" sz="2400" dirty="0">
              <a:solidFill>
                <a:schemeClr val="tx1"/>
              </a:solidFill>
              <a:latin typeface="Arial" panose="020B0604020202090204" pitchFamily="34" charset="0"/>
              <a:ea typeface="黑体" panose="02010609060101010101" pitchFamily="49" charset="-122"/>
            </a:endParaRPr>
          </a:p>
          <a:p>
            <a:pPr marL="1143000" lvl="2" indent="-228600" algn="l" rtl="0" eaLnBrk="0" fontAlgn="base" hangingPunct="0">
              <a:lnSpc>
                <a:spcPct val="95000"/>
              </a:lnSpc>
              <a:spcBef>
                <a:spcPct val="0"/>
              </a:spcBef>
              <a:spcAft>
                <a:spcPts val="300"/>
              </a:spcAft>
              <a:buClr>
                <a:srgbClr val="FFCC66"/>
              </a:buClr>
              <a:buSzPct val="115000"/>
              <a:buFontTx/>
              <a:buChar char="–"/>
            </a:pPr>
            <a:r>
              <a:rPr lang="zh-CN" altLang="en-US" sz="2000" dirty="0">
                <a:solidFill>
                  <a:srgbClr val="333399"/>
                </a:solidFill>
                <a:latin typeface="Arial" panose="020B0604020202090204" pitchFamily="34" charset="0"/>
                <a:ea typeface="黑体" panose="02010609060101010101" pitchFamily="49" charset="-122"/>
              </a:rPr>
              <a:t>函数是相互平行的，该限制可以使编译器简单化 </a:t>
            </a:r>
            <a:endParaRPr lang="zh-CN" altLang="en-US" sz="2000" dirty="0">
              <a:solidFill>
                <a:srgbClr val="333399"/>
              </a:solidFill>
              <a:latin typeface="Arial" panose="020B0604020202090204" pitchFamily="34" charset="0"/>
              <a:ea typeface="黑体" panose="02010609060101010101" pitchFamily="49" charset="-122"/>
            </a:endParaRPr>
          </a:p>
          <a:p>
            <a:pPr lvl="1" indent="-457200" algn="l" rtl="0" eaLnBrk="0" fontAlgn="base" hangingPunct="0">
              <a:lnSpc>
                <a:spcPct val="95000"/>
              </a:lnSpc>
              <a:spcBef>
                <a:spcPct val="0"/>
              </a:spcBef>
              <a:spcAft>
                <a:spcPts val="300"/>
              </a:spcAft>
              <a:buClr>
                <a:schemeClr val="tx1"/>
              </a:buClr>
              <a:buSzPct val="80000"/>
              <a:buFont typeface="Wingdings" panose="05000000000000000000" pitchFamily="2" charset="2"/>
              <a:buChar char="n"/>
            </a:pPr>
            <a:r>
              <a:rPr lang="zh-CN" altLang="en-US" sz="2400" dirty="0">
                <a:solidFill>
                  <a:schemeClr val="tx1"/>
                </a:solidFill>
                <a:latin typeface="Arial" panose="020B0604020202090204" pitchFamily="34" charset="0"/>
                <a:ea typeface="黑体" panose="02010609060101010101" pitchFamily="49" charset="-122"/>
              </a:rPr>
              <a:t>但可以嵌套调用</a:t>
            </a:r>
            <a:endParaRPr lang="zh-CN" altLang="en-US" sz="2400" dirty="0">
              <a:solidFill>
                <a:schemeClr val="tx1"/>
              </a:solidFill>
              <a:latin typeface="Arial" panose="020B0604020202090204" pitchFamily="34" charset="0"/>
              <a:ea typeface="黑体" panose="02010609060101010101" pitchFamily="49" charset="-122"/>
            </a:endParaRPr>
          </a:p>
          <a:p>
            <a:pPr marL="1143000" lvl="2" indent="-228600" algn="l" rtl="0" eaLnBrk="0" fontAlgn="base" hangingPunct="0">
              <a:lnSpc>
                <a:spcPct val="95000"/>
              </a:lnSpc>
              <a:spcBef>
                <a:spcPct val="0"/>
              </a:spcBef>
              <a:spcAft>
                <a:spcPts val="300"/>
              </a:spcAft>
              <a:buClr>
                <a:srgbClr val="FFCC66"/>
              </a:buClr>
              <a:buSzPct val="115000"/>
              <a:buFontTx/>
              <a:buChar char="–"/>
            </a:pPr>
            <a:r>
              <a:rPr lang="zh-CN" altLang="en-US" sz="2000" dirty="0">
                <a:solidFill>
                  <a:srgbClr val="333399"/>
                </a:solidFill>
                <a:latin typeface="Arial" panose="020B0604020202090204" pitchFamily="34" charset="0"/>
                <a:ea typeface="黑体" panose="02010609060101010101" pitchFamily="49" charset="-122"/>
              </a:rPr>
              <a:t>在调用一个函数的过程中又调用另一个函数</a:t>
            </a:r>
            <a:endParaRPr lang="zh-CN" altLang="en-US" sz="2400" dirty="0">
              <a:solidFill>
                <a:schemeClr val="tx1"/>
              </a:solidFill>
              <a:latin typeface="Arial" panose="020B0604020202090204" pitchFamily="34" charset="0"/>
              <a:ea typeface="黑体" panose="02010609060101010101" pitchFamily="49" charset="-122"/>
            </a:endParaRPr>
          </a:p>
        </p:txBody>
      </p:sp>
      <p:sp>
        <p:nvSpPr>
          <p:cNvPr id="594948" name="Text Box 4"/>
          <p:cNvSpPr txBox="1"/>
          <p:nvPr/>
        </p:nvSpPr>
        <p:spPr>
          <a:xfrm>
            <a:off x="1839913" y="3011488"/>
            <a:ext cx="1781175" cy="338613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int main()</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 a();</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   </a:t>
            </a:r>
            <a:r>
              <a:rPr lang="en-US" altLang="zh-CN" b="1" dirty="0">
                <a:latin typeface="Courier New" panose="02070409020205090404" pitchFamily="49" charset="0"/>
              </a:rPr>
              <a:t>return 0;</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594949" name="Line 5"/>
          <p:cNvSpPr>
            <a:spLocks noChangeShapeType="1"/>
          </p:cNvSpPr>
          <p:nvPr/>
        </p:nvSpPr>
        <p:spPr bwMode="auto">
          <a:xfrm flipV="1">
            <a:off x="2600325" y="3251200"/>
            <a:ext cx="1403350" cy="12954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50" name="Text Box 6"/>
          <p:cNvSpPr txBox="1"/>
          <p:nvPr/>
        </p:nvSpPr>
        <p:spPr>
          <a:xfrm>
            <a:off x="3792538" y="3021013"/>
            <a:ext cx="1416050" cy="338613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void a()</a:t>
            </a:r>
            <a:endParaRPr lang="zh-CN" altLang="zh-CN" b="1" dirty="0">
              <a:latin typeface="Courier New" panose="02070409020205090404" pitchFamily="49" charset="0"/>
              <a:ea typeface="宋体" pitchFamily="2" charset="-122"/>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zh-CN" altLang="zh-CN" b="1" dirty="0">
                <a:latin typeface="Arial" panose="020B0604020202090204" pitchFamily="34" charset="0"/>
                <a:ea typeface="宋体" pitchFamily="2" charset="-122"/>
              </a:rPr>
              <a:t>{</a:t>
            </a:r>
            <a:endParaRPr lang="zh-CN" altLang="zh-CN" b="1" dirty="0">
              <a:latin typeface="Arial" panose="020B0604020202090204" pitchFamily="34" charset="0"/>
              <a:ea typeface="宋体" pitchFamily="2" charset="-122"/>
            </a:endParaRPr>
          </a:p>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zh-CN" b="1" dirty="0">
              <a:latin typeface="Arial" panose="020B0604020202090204" pitchFamily="34" charset="0"/>
              <a:ea typeface="宋体" pitchFamily="2" charset="-122"/>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b();</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return;</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594951" name="Line 7"/>
          <p:cNvSpPr>
            <a:spLocks noChangeShapeType="1"/>
          </p:cNvSpPr>
          <p:nvPr/>
        </p:nvSpPr>
        <p:spPr bwMode="auto">
          <a:xfrm>
            <a:off x="4498975" y="3479800"/>
            <a:ext cx="0" cy="7620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52" name="Line 8"/>
          <p:cNvSpPr>
            <a:spLocks noChangeShapeType="1"/>
          </p:cNvSpPr>
          <p:nvPr/>
        </p:nvSpPr>
        <p:spPr bwMode="auto">
          <a:xfrm flipV="1">
            <a:off x="4581525" y="3403600"/>
            <a:ext cx="990600" cy="9144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53" name="Text Box 9"/>
          <p:cNvSpPr txBox="1"/>
          <p:nvPr/>
        </p:nvSpPr>
        <p:spPr>
          <a:xfrm>
            <a:off x="5448300" y="2997200"/>
            <a:ext cx="1584325" cy="3386138"/>
          </a:xfrm>
          <a:prstGeom prst="rect">
            <a:avLst/>
          </a:prstGeom>
          <a:noFill/>
          <a:ln w="9525">
            <a:noFill/>
          </a:ln>
        </p:spPr>
        <p:txBody>
          <a:bodyPr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void b()</a:t>
            </a:r>
            <a:endParaRPr lang="zh-CN" altLang="en-US" b="1" dirty="0">
              <a:latin typeface="Arial" panose="020B0604020202090204" pitchFamily="34" charset="0"/>
              <a:ea typeface="宋体" pitchFamily="2" charset="-122"/>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   …</a:t>
            </a: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endParaRPr lang="en-US" altLang="zh-CN" b="1" dirty="0">
              <a:latin typeface="Arial" panose="020B0604020202090204" pitchFamily="34"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Courier New" panose="02070409020205090404" pitchFamily="49" charset="0"/>
              </a:rPr>
              <a:t>return;</a:t>
            </a:r>
            <a:endParaRPr lang="en-US" altLang="zh-CN" b="1" dirty="0">
              <a:latin typeface="Courier New" panose="02070409020205090404" pitchFamily="49" charset="0"/>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latin typeface="Arial" panose="020B0604020202090204" pitchFamily="34" charset="0"/>
              </a:rPr>
              <a:t>}</a:t>
            </a:r>
            <a:endParaRPr lang="en-US" altLang="zh-CN" b="1" dirty="0">
              <a:latin typeface="Arial" panose="020B0604020202090204" pitchFamily="34" charset="0"/>
            </a:endParaRPr>
          </a:p>
        </p:txBody>
      </p:sp>
      <p:sp>
        <p:nvSpPr>
          <p:cNvPr id="594954" name="Line 10"/>
          <p:cNvSpPr>
            <a:spLocks noChangeShapeType="1"/>
          </p:cNvSpPr>
          <p:nvPr/>
        </p:nvSpPr>
        <p:spPr bwMode="auto">
          <a:xfrm>
            <a:off x="6042025" y="3476625"/>
            <a:ext cx="0" cy="17526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55" name="Line 11"/>
          <p:cNvSpPr>
            <a:spLocks noChangeShapeType="1"/>
          </p:cNvSpPr>
          <p:nvPr/>
        </p:nvSpPr>
        <p:spPr bwMode="auto">
          <a:xfrm flipH="1" flipV="1">
            <a:off x="4498975" y="4394200"/>
            <a:ext cx="1320800" cy="881063"/>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56" name="Text Box 12"/>
          <p:cNvSpPr txBox="1"/>
          <p:nvPr/>
        </p:nvSpPr>
        <p:spPr>
          <a:xfrm>
            <a:off x="2830513" y="3652838"/>
            <a:ext cx="442912"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①</a:t>
            </a:r>
            <a:endParaRPr lang="en-US" altLang="zh-CN" b="1" dirty="0">
              <a:solidFill>
                <a:srgbClr val="008000"/>
              </a:solidFill>
              <a:latin typeface="Arial" panose="020B0604020202090204" pitchFamily="34" charset="0"/>
            </a:endParaRPr>
          </a:p>
        </p:txBody>
      </p:sp>
      <p:sp>
        <p:nvSpPr>
          <p:cNvPr id="594957" name="Text Box 13"/>
          <p:cNvSpPr txBox="1"/>
          <p:nvPr/>
        </p:nvSpPr>
        <p:spPr>
          <a:xfrm>
            <a:off x="4829175" y="3251200"/>
            <a:ext cx="441325" cy="369888"/>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③</a:t>
            </a:r>
            <a:endParaRPr lang="en-US" altLang="zh-CN" b="1" dirty="0">
              <a:solidFill>
                <a:srgbClr val="008000"/>
              </a:solidFill>
              <a:latin typeface="Arial" panose="020B0604020202090204" pitchFamily="34" charset="0"/>
            </a:endParaRPr>
          </a:p>
        </p:txBody>
      </p:sp>
      <p:sp>
        <p:nvSpPr>
          <p:cNvPr id="594958" name="Text Box 14"/>
          <p:cNvSpPr txBox="1"/>
          <p:nvPr/>
        </p:nvSpPr>
        <p:spPr>
          <a:xfrm>
            <a:off x="6024563" y="3898900"/>
            <a:ext cx="439737" cy="366713"/>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④</a:t>
            </a:r>
            <a:endParaRPr lang="en-US" altLang="zh-CN" b="1" dirty="0">
              <a:solidFill>
                <a:srgbClr val="008000"/>
              </a:solidFill>
              <a:latin typeface="Arial" panose="020B0604020202090204" pitchFamily="34" charset="0"/>
            </a:endParaRPr>
          </a:p>
        </p:txBody>
      </p:sp>
      <p:sp>
        <p:nvSpPr>
          <p:cNvPr id="594959" name="Text Box 15"/>
          <p:cNvSpPr txBox="1"/>
          <p:nvPr/>
        </p:nvSpPr>
        <p:spPr>
          <a:xfrm>
            <a:off x="4729163" y="4872038"/>
            <a:ext cx="442912"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⑤</a:t>
            </a:r>
            <a:endParaRPr lang="en-US" altLang="zh-CN" b="1" dirty="0">
              <a:solidFill>
                <a:srgbClr val="008000"/>
              </a:solidFill>
              <a:latin typeface="Arial" panose="020B0604020202090204" pitchFamily="34" charset="0"/>
            </a:endParaRPr>
          </a:p>
        </p:txBody>
      </p:sp>
      <p:sp>
        <p:nvSpPr>
          <p:cNvPr id="594960" name="Line 16"/>
          <p:cNvSpPr>
            <a:spLocks noChangeShapeType="1"/>
          </p:cNvSpPr>
          <p:nvPr/>
        </p:nvSpPr>
        <p:spPr bwMode="auto">
          <a:xfrm>
            <a:off x="4500563" y="4602163"/>
            <a:ext cx="0" cy="9144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61" name="Text Box 17"/>
          <p:cNvSpPr txBox="1"/>
          <p:nvPr/>
        </p:nvSpPr>
        <p:spPr>
          <a:xfrm>
            <a:off x="3921125" y="4699000"/>
            <a:ext cx="441325" cy="369888"/>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⑥</a:t>
            </a:r>
            <a:endParaRPr lang="en-US" altLang="zh-CN" b="1" dirty="0">
              <a:solidFill>
                <a:srgbClr val="008000"/>
              </a:solidFill>
              <a:latin typeface="Arial" panose="020B0604020202090204" pitchFamily="34" charset="0"/>
            </a:endParaRPr>
          </a:p>
        </p:txBody>
      </p:sp>
      <p:sp>
        <p:nvSpPr>
          <p:cNvPr id="594962" name="Line 18"/>
          <p:cNvSpPr>
            <a:spLocks noChangeShapeType="1"/>
          </p:cNvSpPr>
          <p:nvPr/>
        </p:nvSpPr>
        <p:spPr bwMode="auto">
          <a:xfrm flipH="1" flipV="1">
            <a:off x="2517775" y="4699000"/>
            <a:ext cx="1568450" cy="838200"/>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63" name="Text Box 19"/>
          <p:cNvSpPr txBox="1"/>
          <p:nvPr/>
        </p:nvSpPr>
        <p:spPr>
          <a:xfrm>
            <a:off x="2665413" y="4872038"/>
            <a:ext cx="442912" cy="369887"/>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en-US" altLang="zh-CN" b="1" dirty="0">
                <a:solidFill>
                  <a:srgbClr val="008000"/>
                </a:solidFill>
                <a:latin typeface="Arial" panose="020B0604020202090204" pitchFamily="34" charset="0"/>
              </a:rPr>
              <a:t>⑦</a:t>
            </a:r>
            <a:endParaRPr lang="en-US" altLang="zh-CN" b="1" dirty="0">
              <a:solidFill>
                <a:srgbClr val="008000"/>
              </a:solidFill>
              <a:latin typeface="Arial" panose="020B0604020202090204" pitchFamily="34" charset="0"/>
            </a:endParaRPr>
          </a:p>
        </p:txBody>
      </p:sp>
      <p:sp>
        <p:nvSpPr>
          <p:cNvPr id="594964" name="Rectangle 20"/>
          <p:cNvSpPr/>
          <p:nvPr/>
        </p:nvSpPr>
        <p:spPr>
          <a:xfrm>
            <a:off x="3883025" y="3708400"/>
            <a:ext cx="442913" cy="369888"/>
          </a:xfrm>
          <a:prstGeom prst="rect">
            <a:avLst/>
          </a:prstGeom>
          <a:noFill/>
          <a:ln w="9525">
            <a:noFill/>
          </a:ln>
        </p:spPr>
        <p:txBody>
          <a:bodyPr wrap="none"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zh-CN" b="1" dirty="0">
                <a:solidFill>
                  <a:srgbClr val="008000"/>
                </a:solidFill>
                <a:latin typeface="Arial" panose="020B0604020202090204" pitchFamily="34" charset="0"/>
                <a:ea typeface="宋体" pitchFamily="2" charset="-122"/>
              </a:rPr>
              <a:t>②</a:t>
            </a:r>
            <a:endParaRPr lang="en-US" altLang="zh-CN" b="1" dirty="0">
              <a:solidFill>
                <a:srgbClr val="008000"/>
              </a:solidFill>
              <a:latin typeface="Arial" panose="020B0604020202090204" pitchFamily="34" charset="0"/>
            </a:endParaRPr>
          </a:p>
        </p:txBody>
      </p:sp>
      <p:sp>
        <p:nvSpPr>
          <p:cNvPr id="594965" name="Line 21"/>
          <p:cNvSpPr>
            <a:spLocks noChangeShapeType="1"/>
          </p:cNvSpPr>
          <p:nvPr/>
        </p:nvSpPr>
        <p:spPr bwMode="auto">
          <a:xfrm flipH="1">
            <a:off x="2465388" y="3548063"/>
            <a:ext cx="0" cy="935038"/>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94966" name="Line 22"/>
          <p:cNvSpPr>
            <a:spLocks noChangeShapeType="1"/>
          </p:cNvSpPr>
          <p:nvPr/>
        </p:nvSpPr>
        <p:spPr bwMode="auto">
          <a:xfrm flipH="1">
            <a:off x="2465388" y="4916488"/>
            <a:ext cx="0" cy="828675"/>
          </a:xfrm>
          <a:prstGeom prst="line">
            <a:avLst/>
          </a:prstGeom>
          <a:noFill/>
          <a:ln w="57150">
            <a:solidFill>
              <a:srgbClr val="333399"/>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56346" name="Rectangle 26"/>
          <p:cNvSpPr/>
          <p:nvPr/>
        </p:nvSpPr>
        <p:spPr>
          <a:xfrm>
            <a:off x="7607300" y="3429000"/>
            <a:ext cx="3168650" cy="2320925"/>
          </a:xfrm>
          <a:prstGeom prst="rect">
            <a:avLst/>
          </a:prstGeom>
          <a:solidFill>
            <a:srgbClr val="FFFFCC"/>
          </a:solidFill>
          <a:ln w="38100" cap="flat" cmpd="thickThin">
            <a:solidFill>
              <a:srgbClr val="002060"/>
            </a:solidFill>
            <a:prstDash val="solid"/>
            <a:miter/>
            <a:headEnd type="none" w="med" len="med"/>
            <a:tailEnd type="none" w="med" len="med"/>
          </a:ln>
        </p:spPr>
        <p:txBody>
          <a:bodyPr anchor="t" anchorCtr="0">
            <a:spAutoFit/>
          </a:bodyPr>
          <a:lstStyle/>
          <a:p>
            <a:pPr eaLnBrk="0" hangingPunct="0">
              <a:spcBef>
                <a:spcPts val="590"/>
              </a:spcBef>
              <a:spcAft>
                <a:spcPts val="590"/>
              </a:spcAft>
              <a:buClr>
                <a:schemeClr val="tx2"/>
              </a:buClr>
              <a:buSzPct val="80000"/>
              <a:buFont typeface="Wingdings" panose="05000000000000000000" pitchFamily="2" charset="2"/>
            </a:pPr>
            <a:r>
              <a:rPr lang="zh-CN" altLang="en-US" sz="2400" dirty="0">
                <a:solidFill>
                  <a:srgbClr val="000066"/>
                </a:solidFill>
                <a:latin typeface="Arial" panose="020B0604020202090204" pitchFamily="34" charset="0"/>
                <a:ea typeface="黑体" panose="02010609060101010101" pitchFamily="49" charset="-122"/>
              </a:rPr>
              <a:t>函数直接或间接调用自己，称为</a:t>
            </a:r>
            <a:r>
              <a:rPr lang="zh-CN" altLang="en-US" sz="2400" dirty="0">
                <a:solidFill>
                  <a:srgbClr val="CC0000"/>
                </a:solidFill>
                <a:latin typeface="Arial" panose="020B0604020202090204" pitchFamily="34" charset="0"/>
                <a:ea typeface="黑体" panose="02010609060101010101" pitchFamily="49" charset="-122"/>
              </a:rPr>
              <a:t>递归调用</a:t>
            </a:r>
            <a:r>
              <a:rPr lang="zh-CN" altLang="en-US" sz="2400" dirty="0">
                <a:solidFill>
                  <a:srgbClr val="000066"/>
                </a:solidFill>
                <a:latin typeface="Arial" panose="020B0604020202090204" pitchFamily="34" charset="0"/>
                <a:ea typeface="黑体" panose="02010609060101010101" pitchFamily="49" charset="-122"/>
              </a:rPr>
              <a:t>（</a:t>
            </a:r>
            <a:r>
              <a:rPr lang="en-US" altLang="zh-CN" sz="2400" dirty="0">
                <a:solidFill>
                  <a:srgbClr val="000066"/>
                </a:solidFill>
                <a:latin typeface="Arial" panose="020B0604020202090204" pitchFamily="34" charset="0"/>
                <a:ea typeface="黑体" panose="02010609060101010101" pitchFamily="49" charset="-122"/>
              </a:rPr>
              <a:t>Recursive Call</a:t>
            </a:r>
            <a:r>
              <a:rPr lang="zh-CN" altLang="en-US" sz="2400" dirty="0">
                <a:solidFill>
                  <a:srgbClr val="000066"/>
                </a:solidFill>
                <a:latin typeface="Arial" panose="020B0604020202090204" pitchFamily="34" charset="0"/>
                <a:ea typeface="黑体" panose="02010609060101010101" pitchFamily="49" charset="-122"/>
              </a:rPr>
              <a:t>），这样的函数，称为</a:t>
            </a:r>
            <a:r>
              <a:rPr lang="zh-CN" altLang="en-US" sz="2400" dirty="0">
                <a:solidFill>
                  <a:srgbClr val="CC0000"/>
                </a:solidFill>
                <a:latin typeface="Arial" panose="020B0604020202090204" pitchFamily="34" charset="0"/>
                <a:ea typeface="黑体" panose="02010609060101010101" pitchFamily="49" charset="-122"/>
              </a:rPr>
              <a:t>递归函数</a:t>
            </a:r>
            <a:r>
              <a:rPr lang="zh-CN" altLang="en-US" sz="2400" dirty="0">
                <a:solidFill>
                  <a:srgbClr val="000066"/>
                </a:solidFill>
                <a:latin typeface="Arial" panose="020B0604020202090204" pitchFamily="34" charset="0"/>
                <a:ea typeface="黑体" panose="02010609060101010101" pitchFamily="49" charset="-122"/>
              </a:rPr>
              <a:t>（</a:t>
            </a:r>
            <a:r>
              <a:rPr lang="en-US" altLang="zh-CN" sz="2400" dirty="0">
                <a:solidFill>
                  <a:srgbClr val="000066"/>
                </a:solidFill>
                <a:latin typeface="Arial" panose="020B0604020202090204" pitchFamily="34" charset="0"/>
                <a:ea typeface="黑体" panose="02010609060101010101" pitchFamily="49" charset="-122"/>
              </a:rPr>
              <a:t>Recursive Function</a:t>
            </a:r>
            <a:r>
              <a:rPr lang="zh-CN" altLang="en-US" sz="2400" dirty="0">
                <a:solidFill>
                  <a:srgbClr val="000066"/>
                </a:solidFill>
                <a:latin typeface="Arial" panose="020B0604020202090204" pitchFamily="34" charset="0"/>
                <a:ea typeface="黑体" panose="02010609060101010101" pitchFamily="49" charset="-122"/>
              </a:rPr>
              <a:t>）</a:t>
            </a:r>
            <a:endParaRPr lang="zh-CN" altLang="en-US" sz="2400" dirty="0">
              <a:solidFill>
                <a:srgbClr val="000066"/>
              </a:solidFill>
              <a:latin typeface="Arial" panose="020B0604020202090204" pitchFamily="34" charset="0"/>
              <a:ea typeface="黑体" panose="02010609060101010101" pitchFamily="49" charset="-122"/>
            </a:endParaRPr>
          </a:p>
        </p:txBody>
      </p:sp>
      <p:sp>
        <p:nvSpPr>
          <p:cNvPr id="66585"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2.5 </a:t>
            </a:r>
            <a:r>
              <a:rPr lang="zh-CN" altLang="en-US" kern="1200" dirty="0">
                <a:latin typeface="Arial" panose="020B0604020202090204" pitchFamily="34" charset="0"/>
                <a:ea typeface="黑体" panose="02010609060101010101" pitchFamily="49" charset="-122"/>
                <a:cs typeface="Arial" panose="020B0604020202090204" pitchFamily="34" charset="0"/>
              </a:rPr>
              <a:t>递归函数</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anim calcmode="lin" valueType="num">
                                      <p:cBhvr>
                                        <p:cTn id="7" dur="500" fill="hold"/>
                                        <p:tgtEl>
                                          <p:spTgt spid="19661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9661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96611">
                                            <p:txEl>
                                              <p:pRg st="1" end="1"/>
                                            </p:txEl>
                                          </p:spTgt>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94948"/>
                                        </p:tgtEl>
                                        <p:attrNameLst>
                                          <p:attrName>style.visibility</p:attrName>
                                        </p:attrNameLst>
                                      </p:cBhvr>
                                      <p:to>
                                        <p:strVal val="visible"/>
                                      </p:to>
                                    </p:set>
                                    <p:animEffect transition="in" filter="wipe(up)">
                                      <p:cBhvr>
                                        <p:cTn id="23" dur="500"/>
                                        <p:tgtEl>
                                          <p:spTgt spid="594948"/>
                                        </p:tgtEl>
                                      </p:cBhvr>
                                    </p:animEffec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594950"/>
                                        </p:tgtEl>
                                        <p:attrNameLst>
                                          <p:attrName>style.visibility</p:attrName>
                                        </p:attrNameLst>
                                      </p:cBhvr>
                                      <p:to>
                                        <p:strVal val="visible"/>
                                      </p:to>
                                    </p:set>
                                    <p:animEffect transition="in" filter="wipe(up)">
                                      <p:cBhvr>
                                        <p:cTn id="27" dur="500"/>
                                        <p:tgtEl>
                                          <p:spTgt spid="594950"/>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594953"/>
                                        </p:tgtEl>
                                        <p:attrNameLst>
                                          <p:attrName>style.visibility</p:attrName>
                                        </p:attrNameLst>
                                      </p:cBhvr>
                                      <p:to>
                                        <p:strVal val="visible"/>
                                      </p:to>
                                    </p:set>
                                    <p:animEffect transition="in" filter="wipe(up)">
                                      <p:cBhvr>
                                        <p:cTn id="31" dur="500"/>
                                        <p:tgtEl>
                                          <p:spTgt spid="59495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96611">
                                            <p:txEl>
                                              <p:pRg st="2" end="2"/>
                                            </p:txEl>
                                          </p:spTgt>
                                        </p:tgtEl>
                                        <p:attrNameLst>
                                          <p:attrName>style.visibility</p:attrName>
                                        </p:attrNameLst>
                                      </p:cBhvr>
                                      <p:to>
                                        <p:strVal val="visible"/>
                                      </p:to>
                                    </p:set>
                                    <p:animEffect transition="in" filter="wipe(left)">
                                      <p:cBhvr>
                                        <p:cTn id="36" dur="500"/>
                                        <p:tgtEl>
                                          <p:spTgt spid="196611">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96611">
                                            <p:txEl>
                                              <p:pRg st="3" end="3"/>
                                            </p:txEl>
                                          </p:spTgt>
                                        </p:tgtEl>
                                        <p:attrNameLst>
                                          <p:attrName>style.visibility</p:attrName>
                                        </p:attrNameLst>
                                      </p:cBhvr>
                                      <p:to>
                                        <p:strVal val="visible"/>
                                      </p:to>
                                    </p:set>
                                    <p:animEffect transition="in" filter="wipe(left)">
                                      <p:cBhvr>
                                        <p:cTn id="41" dur="500"/>
                                        <p:tgtEl>
                                          <p:spTgt spid="196611">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94965"/>
                                        </p:tgtEl>
                                        <p:attrNameLst>
                                          <p:attrName>style.visibility</p:attrName>
                                        </p:attrNameLst>
                                      </p:cBhvr>
                                      <p:to>
                                        <p:strVal val="visible"/>
                                      </p:to>
                                    </p:set>
                                    <p:animEffect transition="in" filter="wipe(up)">
                                      <p:cBhvr>
                                        <p:cTn id="46" dur="500"/>
                                        <p:tgtEl>
                                          <p:spTgt spid="594965"/>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594956"/>
                                        </p:tgtEl>
                                        <p:attrNameLst>
                                          <p:attrName>style.visibility</p:attrName>
                                        </p:attrNameLst>
                                      </p:cBhvr>
                                      <p:to>
                                        <p:strVal val="visible"/>
                                      </p:to>
                                    </p:se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594949"/>
                                        </p:tgtEl>
                                        <p:attrNameLst>
                                          <p:attrName>style.visibility</p:attrName>
                                        </p:attrNameLst>
                                      </p:cBhvr>
                                      <p:to>
                                        <p:strVal val="visible"/>
                                      </p:to>
                                    </p:set>
                                    <p:animEffect transition="in" filter="wipe(left)">
                                      <p:cBhvr>
                                        <p:cTn id="54" dur="500"/>
                                        <p:tgtEl>
                                          <p:spTgt spid="594949"/>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594964"/>
                                        </p:tgtEl>
                                        <p:attrNameLst>
                                          <p:attrName>style.visibility</p:attrName>
                                        </p:attrNameLst>
                                      </p:cBhvr>
                                      <p:to>
                                        <p:strVal val="visible"/>
                                      </p:to>
                                    </p:se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594951"/>
                                        </p:tgtEl>
                                        <p:attrNameLst>
                                          <p:attrName>style.visibility</p:attrName>
                                        </p:attrNameLst>
                                      </p:cBhvr>
                                      <p:to>
                                        <p:strVal val="visible"/>
                                      </p:to>
                                    </p:set>
                                    <p:animEffect transition="in" filter="wipe(up)">
                                      <p:cBhvr>
                                        <p:cTn id="62" dur="500"/>
                                        <p:tgtEl>
                                          <p:spTgt spid="59495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594957"/>
                                        </p:tgtEl>
                                        <p:attrNameLst>
                                          <p:attrName>style.visibility</p:attrName>
                                        </p:attrNameLst>
                                      </p:cBhvr>
                                      <p:to>
                                        <p:strVal val="visible"/>
                                      </p:to>
                                    </p:se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594952"/>
                                        </p:tgtEl>
                                        <p:attrNameLst>
                                          <p:attrName>style.visibility</p:attrName>
                                        </p:attrNameLst>
                                      </p:cBhvr>
                                      <p:to>
                                        <p:strVal val="visible"/>
                                      </p:to>
                                    </p:set>
                                    <p:animEffect transition="in" filter="wipe(left)">
                                      <p:cBhvr>
                                        <p:cTn id="70" dur="500"/>
                                        <p:tgtEl>
                                          <p:spTgt spid="594952"/>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594958"/>
                                        </p:tgtEl>
                                        <p:attrNameLst>
                                          <p:attrName>style.visibility</p:attrName>
                                        </p:attrNameLst>
                                      </p:cBhvr>
                                      <p:to>
                                        <p:strVal val="visible"/>
                                      </p:to>
                                    </p:set>
                                  </p:childTnLst>
                                </p:cTn>
                              </p:par>
                            </p:childTnLst>
                          </p:cTn>
                        </p:par>
                        <p:par>
                          <p:cTn id="75" fill="hold">
                            <p:stCondLst>
                              <p:cond delay="500"/>
                            </p:stCondLst>
                            <p:childTnLst>
                              <p:par>
                                <p:cTn id="76" presetID="22" presetClass="entr" presetSubtype="1" fill="hold" nodeType="afterEffect">
                                  <p:stCondLst>
                                    <p:cond delay="0"/>
                                  </p:stCondLst>
                                  <p:childTnLst>
                                    <p:set>
                                      <p:cBhvr>
                                        <p:cTn id="77" dur="1" fill="hold">
                                          <p:stCondLst>
                                            <p:cond delay="0"/>
                                          </p:stCondLst>
                                        </p:cTn>
                                        <p:tgtEl>
                                          <p:spTgt spid="594954"/>
                                        </p:tgtEl>
                                        <p:attrNameLst>
                                          <p:attrName>style.visibility</p:attrName>
                                        </p:attrNameLst>
                                      </p:cBhvr>
                                      <p:to>
                                        <p:strVal val="visible"/>
                                      </p:to>
                                    </p:set>
                                    <p:animEffect transition="in" filter="wipe(up)">
                                      <p:cBhvr>
                                        <p:cTn id="78" dur="500"/>
                                        <p:tgtEl>
                                          <p:spTgt spid="594954"/>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594959"/>
                                        </p:tgtEl>
                                        <p:attrNameLst>
                                          <p:attrName>style.visibility</p:attrName>
                                        </p:attrNameLst>
                                      </p:cBhvr>
                                      <p:to>
                                        <p:strVal val="visible"/>
                                      </p:to>
                                    </p:set>
                                  </p:childTnLst>
                                </p:cTn>
                              </p:par>
                            </p:childTnLst>
                          </p:cTn>
                        </p:par>
                        <p:par>
                          <p:cTn id="83" fill="hold">
                            <p:stCondLst>
                              <p:cond delay="500"/>
                            </p:stCondLst>
                            <p:childTnLst>
                              <p:par>
                                <p:cTn id="84" presetID="22" presetClass="entr" presetSubtype="4" fill="hold" nodeType="afterEffect">
                                  <p:stCondLst>
                                    <p:cond delay="0"/>
                                  </p:stCondLst>
                                  <p:childTnLst>
                                    <p:set>
                                      <p:cBhvr>
                                        <p:cTn id="85" dur="1" fill="hold">
                                          <p:stCondLst>
                                            <p:cond delay="0"/>
                                          </p:stCondLst>
                                        </p:cTn>
                                        <p:tgtEl>
                                          <p:spTgt spid="594955"/>
                                        </p:tgtEl>
                                        <p:attrNameLst>
                                          <p:attrName>style.visibility</p:attrName>
                                        </p:attrNameLst>
                                      </p:cBhvr>
                                      <p:to>
                                        <p:strVal val="visible"/>
                                      </p:to>
                                    </p:set>
                                    <p:animEffect transition="in" filter="wipe(down)">
                                      <p:cBhvr>
                                        <p:cTn id="86" dur="500"/>
                                        <p:tgtEl>
                                          <p:spTgt spid="594955"/>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594961"/>
                                        </p:tgtEl>
                                        <p:attrNameLst>
                                          <p:attrName>style.visibility</p:attrName>
                                        </p:attrNameLst>
                                      </p:cBhvr>
                                      <p:to>
                                        <p:strVal val="visible"/>
                                      </p:to>
                                    </p:set>
                                  </p:childTnLst>
                                </p:cTn>
                              </p:par>
                            </p:childTnLst>
                          </p:cTn>
                        </p:par>
                        <p:par>
                          <p:cTn id="91" fill="hold">
                            <p:stCondLst>
                              <p:cond delay="500"/>
                            </p:stCondLst>
                            <p:childTnLst>
                              <p:par>
                                <p:cTn id="92" presetID="22" presetClass="entr" presetSubtype="1" fill="hold" nodeType="afterEffect">
                                  <p:stCondLst>
                                    <p:cond delay="0"/>
                                  </p:stCondLst>
                                  <p:childTnLst>
                                    <p:set>
                                      <p:cBhvr>
                                        <p:cTn id="93" dur="1" fill="hold">
                                          <p:stCondLst>
                                            <p:cond delay="0"/>
                                          </p:stCondLst>
                                        </p:cTn>
                                        <p:tgtEl>
                                          <p:spTgt spid="594960"/>
                                        </p:tgtEl>
                                        <p:attrNameLst>
                                          <p:attrName>style.visibility</p:attrName>
                                        </p:attrNameLst>
                                      </p:cBhvr>
                                      <p:to>
                                        <p:strVal val="visible"/>
                                      </p:to>
                                    </p:set>
                                    <p:animEffect transition="in" filter="wipe(up)">
                                      <p:cBhvr>
                                        <p:cTn id="94" dur="500"/>
                                        <p:tgtEl>
                                          <p:spTgt spid="594960"/>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594963"/>
                                        </p:tgtEl>
                                        <p:attrNameLst>
                                          <p:attrName>style.visibility</p:attrName>
                                        </p:attrNameLst>
                                      </p:cBhvr>
                                      <p:to>
                                        <p:strVal val="visible"/>
                                      </p:to>
                                    </p:set>
                                  </p:childTnLst>
                                </p:cTn>
                              </p:par>
                            </p:childTnLst>
                          </p:cTn>
                        </p:par>
                        <p:par>
                          <p:cTn id="99" fill="hold">
                            <p:stCondLst>
                              <p:cond delay="500"/>
                            </p:stCondLst>
                            <p:childTnLst>
                              <p:par>
                                <p:cTn id="100" presetID="22" presetClass="entr" presetSubtype="4" fill="hold" nodeType="afterEffect">
                                  <p:stCondLst>
                                    <p:cond delay="0"/>
                                  </p:stCondLst>
                                  <p:childTnLst>
                                    <p:set>
                                      <p:cBhvr>
                                        <p:cTn id="101" dur="1" fill="hold">
                                          <p:stCondLst>
                                            <p:cond delay="0"/>
                                          </p:stCondLst>
                                        </p:cTn>
                                        <p:tgtEl>
                                          <p:spTgt spid="594962"/>
                                        </p:tgtEl>
                                        <p:attrNameLst>
                                          <p:attrName>style.visibility</p:attrName>
                                        </p:attrNameLst>
                                      </p:cBhvr>
                                      <p:to>
                                        <p:strVal val="visible"/>
                                      </p:to>
                                    </p:set>
                                    <p:animEffect transition="in" filter="wipe(down)">
                                      <p:cBhvr>
                                        <p:cTn id="102" dur="500"/>
                                        <p:tgtEl>
                                          <p:spTgt spid="59496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594966"/>
                                        </p:tgtEl>
                                        <p:attrNameLst>
                                          <p:attrName>style.visibility</p:attrName>
                                        </p:attrNameLst>
                                      </p:cBhvr>
                                      <p:to>
                                        <p:strVal val="visible"/>
                                      </p:to>
                                    </p:set>
                                    <p:animEffect transition="in" filter="wipe(up)">
                                      <p:cBhvr>
                                        <p:cTn id="107" dur="500"/>
                                        <p:tgtEl>
                                          <p:spTgt spid="594966"/>
                                        </p:tgtEl>
                                      </p:cBhvr>
                                    </p:animEffect>
                                  </p:childTnLst>
                                </p:cTn>
                              </p:par>
                            </p:childTnLst>
                          </p:cTn>
                        </p:par>
                      </p:childTnLst>
                    </p:cTn>
                  </p:par>
                  <p:par>
                    <p:cTn id="108" fill="hold">
                      <p:stCondLst>
                        <p:cond delay="indefinite"/>
                      </p:stCondLst>
                      <p:childTnLst>
                        <p:par>
                          <p:cTn id="109" fill="hold">
                            <p:stCondLst>
                              <p:cond delay="0"/>
                            </p:stCondLst>
                            <p:childTnLst>
                              <p:par>
                                <p:cTn id="110" presetID="23" presetClass="entr" presetSubtype="16" fill="hold" grpId="0" nodeType="clickEffect">
                                  <p:stCondLst>
                                    <p:cond delay="0"/>
                                  </p:stCondLst>
                                  <p:childTnLst>
                                    <p:set>
                                      <p:cBhvr>
                                        <p:cTn id="111" dur="1" fill="hold">
                                          <p:stCondLst>
                                            <p:cond delay="0"/>
                                          </p:stCondLst>
                                        </p:cTn>
                                        <p:tgtEl>
                                          <p:spTgt spid="56346"/>
                                        </p:tgtEl>
                                        <p:attrNameLst>
                                          <p:attrName>style.visibility</p:attrName>
                                        </p:attrNameLst>
                                      </p:cBhvr>
                                      <p:to>
                                        <p:strVal val="visible"/>
                                      </p:to>
                                    </p:set>
                                    <p:anim calcmode="lin" valueType="num">
                                      <p:cBhvr>
                                        <p:cTn id="112" dur="500" fill="hold"/>
                                        <p:tgtEl>
                                          <p:spTgt spid="56346"/>
                                        </p:tgtEl>
                                        <p:attrNameLst>
                                          <p:attrName>ppt_w</p:attrName>
                                        </p:attrNameLst>
                                      </p:cBhvr>
                                      <p:tavLst>
                                        <p:tav tm="0">
                                          <p:val>
                                            <p:fltVal val="0"/>
                                          </p:val>
                                        </p:tav>
                                        <p:tav tm="100000">
                                          <p:val>
                                            <p:strVal val="#ppt_w"/>
                                          </p:val>
                                        </p:tav>
                                      </p:tavLst>
                                    </p:anim>
                                    <p:anim calcmode="lin" valueType="num">
                                      <p:cBhvr>
                                        <p:cTn id="113" dur="500" fill="hold"/>
                                        <p:tgtEl>
                                          <p:spTgt spid="5634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5" grpId="0" animBg="1"/>
      <p:bldP spid="594948" grpId="0"/>
      <p:bldP spid="594950" grpId="0"/>
      <p:bldP spid="594953" grpId="0"/>
      <p:bldP spid="594956" grpId="0"/>
      <p:bldP spid="594957" grpId="0"/>
      <p:bldP spid="594958" grpId="0"/>
      <p:bldP spid="594959" grpId="0"/>
      <p:bldP spid="594961" grpId="0"/>
      <p:bldP spid="594963" grpId="0"/>
      <p:bldP spid="594964" grpId="0"/>
      <p:bldP spid="56346"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5"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7586" name="Rectangle 3"/>
          <p:cNvSpPr>
            <a:spLocks noGrp="1"/>
          </p:cNvSpPr>
          <p:nvPr>
            <p:ph type="body" idx="4294967295"/>
          </p:nvPr>
        </p:nvSpPr>
        <p:spPr>
          <a:xfrm>
            <a:off x="1487488" y="1962150"/>
            <a:ext cx="8420100" cy="4252913"/>
          </a:xfrm>
        </p:spPr>
        <p:txBody>
          <a:bodyPr vert="horz" wrap="square" lIns="91440" tIns="45720" rIns="91440" bIns="45720" anchor="t" anchorCtr="0"/>
          <a:lstStyle/>
          <a:p>
            <a:pPr eaLnBrk="1" hangingPunct="1">
              <a:buFont typeface="Monotype Sorts"/>
              <a:buNone/>
            </a:pPr>
            <a:endParaRPr lang="en-US" altLang="zh-CN" sz="2600" b="1" dirty="0">
              <a:solidFill>
                <a:srgbClr val="0000FF"/>
              </a:solidFill>
              <a:latin typeface="Courier New" panose="02070409020205090404" pitchFamily="49" charset="0"/>
              <a:ea typeface="宋体" pitchFamily="2" charset="-122"/>
            </a:endParaRPr>
          </a:p>
          <a:p>
            <a:pPr eaLnBrk="1" hangingPunct="1">
              <a:lnSpc>
                <a:spcPct val="100000"/>
              </a:lnSpc>
              <a:spcBef>
                <a:spcPct val="0"/>
              </a:spcBef>
              <a:buFont typeface="Monotype Sorts"/>
              <a:buNone/>
            </a:pPr>
            <a:r>
              <a:rPr lang="en-US" altLang="zh-CN" sz="2600" b="1" dirty="0">
                <a:solidFill>
                  <a:srgbClr val="0000FF"/>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long</a:t>
            </a: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FF3300"/>
                </a:solidFill>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a:t>
            </a:r>
            <a:r>
              <a:rPr lang="en-US" altLang="zh-CN" sz="2600" b="1" dirty="0">
                <a:solidFill>
                  <a:srgbClr val="0000CC"/>
                </a:solidFill>
                <a:latin typeface="Courier New" panose="02070409020205090404" pitchFamily="49" charset="0"/>
                <a:ea typeface="宋体" pitchFamily="2" charset="-122"/>
              </a:rPr>
              <a:t>int</a:t>
            </a:r>
            <a:r>
              <a:rPr lang="en-US" altLang="zh-CN" sz="2600" b="1" dirty="0">
                <a:solidFill>
                  <a:srgbClr val="000000"/>
                </a:solidFill>
                <a:latin typeface="Courier New" panose="02070409020205090404" pitchFamily="49" charset="0"/>
                <a:ea typeface="宋体" pitchFamily="2" charset="-122"/>
              </a:rPr>
              <a:t> n)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if</a:t>
            </a:r>
            <a:r>
              <a:rPr lang="en-US" altLang="zh-CN" sz="2600" b="1" dirty="0">
                <a:solidFill>
                  <a:srgbClr val="000000"/>
                </a:solidFill>
                <a:latin typeface="Courier New" panose="02070409020205090404" pitchFamily="49" charset="0"/>
                <a:ea typeface="宋体" pitchFamily="2" charset="-122"/>
              </a:rPr>
              <a:t> (n &lt; 0) </a:t>
            </a:r>
            <a:endParaRPr lang="en-US" altLang="zh-CN" sz="2600" b="1" dirty="0">
              <a:solidFill>
                <a:srgbClr val="000000"/>
              </a:solidFill>
              <a:latin typeface="Courier New" panose="02070409020205090404" pitchFamily="49" charset="0"/>
              <a:ea typeface="宋体" pitchFamily="2" charset="-122"/>
            </a:endParaRPr>
          </a:p>
          <a:p>
            <a:pPr eaLnBrk="1" hangingPunct="1">
              <a:lnSpc>
                <a:spcPct val="100000"/>
              </a:lnSpc>
              <a:spcBef>
                <a:spcPct val="0"/>
              </a:spcBef>
              <a:buFont typeface="Monotype Sorts"/>
              <a:buNone/>
            </a:pP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-1;</a:t>
            </a:r>
            <a:endParaRPr lang="en-US" altLang="zh-CN" sz="2600" b="1" dirty="0">
              <a:solidFill>
                <a:srgbClr val="000000"/>
              </a:solidFill>
              <a:latin typeface="Courier New" panose="02070409020205090404" pitchFamily="49" charset="0"/>
              <a:ea typeface="宋体" pitchFamily="2" charset="-122"/>
            </a:endParaRPr>
          </a:p>
          <a:p>
            <a:pPr eaLnBrk="1" hangingPunct="1">
              <a:lnSpc>
                <a:spcPct val="100000"/>
              </a:lnSpc>
              <a:spcBef>
                <a:spcPct val="0"/>
              </a:spcBef>
              <a:buFont typeface="Monotype Sorts"/>
              <a:buNone/>
            </a:pP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else if </a:t>
            </a:r>
            <a:r>
              <a:rPr lang="en-US" altLang="zh-CN" sz="2600" b="1" dirty="0">
                <a:solidFill>
                  <a:srgbClr val="000000"/>
                </a:solidFill>
                <a:latin typeface="Courier New" panose="02070409020205090404" pitchFamily="49" charset="0"/>
                <a:ea typeface="宋体" pitchFamily="2" charset="-122"/>
              </a:rPr>
              <a:t>(n == 0 || n == 1)</a:t>
            </a:r>
            <a:endParaRPr lang="en-US" altLang="zh-CN" sz="2600" b="1" dirty="0">
              <a:solidFill>
                <a:srgbClr val="000000"/>
              </a:solidFill>
              <a:latin typeface="Courier New" panose="02070409020205090404" pitchFamily="49" charset="0"/>
              <a:ea typeface="宋体" pitchFamily="2" charset="-122"/>
            </a:endParaRPr>
          </a:p>
          <a:p>
            <a:pPr eaLnBrk="1" hangingPunct="1">
              <a:lnSpc>
                <a:spcPct val="100000"/>
              </a:lnSpc>
              <a:spcBef>
                <a:spcPct val="0"/>
              </a:spcBef>
              <a:buFont typeface="Monotype Sorts"/>
              <a:buNone/>
            </a:pP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1;</a:t>
            </a:r>
            <a:endParaRPr lang="en-US" altLang="zh-CN" sz="2600" b="1" dirty="0">
              <a:solidFill>
                <a:srgbClr val="000000"/>
              </a:solidFill>
              <a:latin typeface="Courier New" panose="02070409020205090404" pitchFamily="49" charset="0"/>
              <a:ea typeface="宋体" pitchFamily="2" charset="-122"/>
            </a:endParaRPr>
          </a:p>
          <a:p>
            <a:pPr eaLnBrk="1" hangingPunct="1">
              <a:lnSpc>
                <a:spcPct val="100000"/>
              </a:lnSpc>
              <a:spcBef>
                <a:spcPct val="0"/>
              </a:spcBef>
              <a:buFont typeface="Monotype Sorts"/>
              <a:buNone/>
            </a:pP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else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CC"/>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n * </a:t>
            </a:r>
            <a:r>
              <a:rPr lang="en-US" altLang="zh-CN" sz="2600" b="1" dirty="0">
                <a:solidFill>
                  <a:srgbClr val="FF3300"/>
                </a:solidFill>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(n-1);</a:t>
            </a:r>
            <a:r>
              <a:rPr lang="zh-CN" altLang="en-US" sz="2600" b="1" dirty="0">
                <a:solidFill>
                  <a:srgbClr val="000000"/>
                </a:solidFill>
                <a:latin typeface="Courier New" panose="02070409020205090404" pitchFamily="49" charset="0"/>
                <a:ea typeface="宋体" pitchFamily="2" charset="-122"/>
              </a:rPr>
              <a:t> </a:t>
            </a:r>
            <a:br>
              <a:rPr lang="zh-CN" altLang="en-US"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a:t>
            </a:r>
            <a:endParaRPr lang="zh-CN" altLang="en-US" b="1" dirty="0">
              <a:ea typeface="宋体" pitchFamily="2" charset="-122"/>
            </a:endParaRPr>
          </a:p>
        </p:txBody>
      </p:sp>
      <p:sp>
        <p:nvSpPr>
          <p:cNvPr id="595972" name="Rectangle 4"/>
          <p:cNvSpPr>
            <a:spLocks noChangeArrowheads="1"/>
          </p:cNvSpPr>
          <p:nvPr/>
        </p:nvSpPr>
        <p:spPr bwMode="auto">
          <a:xfrm>
            <a:off x="5462588" y="5151438"/>
            <a:ext cx="1952625" cy="417513"/>
          </a:xfrm>
          <a:prstGeom prst="rect">
            <a:avLst/>
          </a:prstGeom>
          <a:noFill/>
          <a:ln w="28575">
            <a:solidFill>
              <a:srgbClr val="00CC00"/>
            </a:solidFill>
            <a:miter lim="800000"/>
            <a:headEnd type="none" w="sm" len="sm"/>
            <a:tailEnd type="none" w="sm" len="sm"/>
          </a:ln>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5973" name="Rectangle 5"/>
          <p:cNvSpPr>
            <a:spLocks noChangeArrowheads="1"/>
          </p:cNvSpPr>
          <p:nvPr/>
        </p:nvSpPr>
        <p:spPr bwMode="auto">
          <a:xfrm>
            <a:off x="1874838" y="2370138"/>
            <a:ext cx="3436938" cy="417513"/>
          </a:xfrm>
          <a:prstGeom prst="rect">
            <a:avLst/>
          </a:prstGeom>
          <a:noFill/>
          <a:ln w="28575">
            <a:solidFill>
              <a:srgbClr val="00CC00"/>
            </a:solidFill>
            <a:miter lim="800000"/>
            <a:headEnd type="none" w="sm" len="sm"/>
            <a:tailEnd type="none" w="sm" len="sm"/>
          </a:ln>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 name="Rectangle 6"/>
          <p:cNvSpPr>
            <a:spLocks noChangeArrowheads="1"/>
          </p:cNvSpPr>
          <p:nvPr/>
        </p:nvSpPr>
        <p:spPr bwMode="auto">
          <a:xfrm>
            <a:off x="1452563" y="1628775"/>
            <a:ext cx="8513763"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l"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en-US" altLang="zh-CN"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a:t>
            </a:r>
            <a:r>
              <a:rPr kumimoji="0" lang="zh-CN" altLang="en-US"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例</a:t>
            </a:r>
            <a:r>
              <a:rPr kumimoji="0" lang="en-US" altLang="zh-CN"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a:t>
            </a:r>
            <a:r>
              <a:rPr kumimoji="0" lang="zh-CN" altLang="en-US"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计算</a:t>
            </a:r>
            <a:r>
              <a:rPr kumimoji="0" lang="en-US" altLang="zh-CN"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n</a:t>
            </a:r>
            <a:r>
              <a:rPr kumimoji="0" lang="zh-CN" altLang="en-US"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a:t>
            </a:r>
            <a:r>
              <a:rPr kumimoji="0" lang="en-US" altLang="zh-CN"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rPr>
              <a:t>= n *(n-1)*(n-2)*……*1 </a:t>
            </a:r>
            <a:endParaRPr kumimoji="0" lang="en-US" altLang="zh-CN" sz="32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Arial" panose="020B0604020202090204" pitchFamily="34" charset="0"/>
            </a:endParaRPr>
          </a:p>
          <a:p>
            <a:pPr marL="0" marR="0" lvl="0" indent="0" algn="l"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en-US" altLang="zh-CN" sz="4400" b="1" i="1"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Arial" panose="020B0604020202090204" pitchFamily="34" charset="0"/>
              </a:rPr>
              <a:t> </a:t>
            </a:r>
            <a:endParaRPr kumimoji="0" lang="zh-CN" altLang="en-US" sz="4400" b="1" i="1"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Arial" panose="020B0604020202090204" pitchFamily="34" charset="0"/>
            </a:endParaRPr>
          </a:p>
        </p:txBody>
      </p:sp>
      <p:pic>
        <p:nvPicPr>
          <p:cNvPr id="67590" name="Picture 11"/>
          <p:cNvPicPr>
            <a:picLocks noChangeAspect="1"/>
          </p:cNvPicPr>
          <p:nvPr/>
        </p:nvPicPr>
        <p:blipFill>
          <a:blip r:embed="rId1">
            <a:clrChange>
              <a:clrFrom>
                <a:srgbClr val="FFFFFF"/>
              </a:clrFrom>
              <a:clrTo>
                <a:srgbClr val="FFFFFF">
                  <a:alpha val="0"/>
                </a:srgbClr>
              </a:clrTo>
            </a:clrChange>
          </a:blip>
          <a:stretch>
            <a:fillRect/>
          </a:stretch>
        </p:blipFill>
        <p:spPr>
          <a:xfrm>
            <a:off x="7024688" y="2551113"/>
            <a:ext cx="3484562" cy="928687"/>
          </a:xfrm>
          <a:prstGeom prst="rect">
            <a:avLst/>
          </a:prstGeom>
          <a:noFill/>
          <a:ln w="9525">
            <a:noFill/>
          </a:ln>
        </p:spPr>
      </p:pic>
      <p:sp>
        <p:nvSpPr>
          <p:cNvPr id="9" name="Rectangle 26"/>
          <p:cNvSpPr/>
          <p:nvPr/>
        </p:nvSpPr>
        <p:spPr>
          <a:xfrm>
            <a:off x="8399463" y="4173538"/>
            <a:ext cx="2233612" cy="1200150"/>
          </a:xfrm>
          <a:prstGeom prst="rect">
            <a:avLst/>
          </a:prstGeom>
          <a:solidFill>
            <a:srgbClr val="FFFFCC"/>
          </a:solidFill>
          <a:ln w="38100" cap="flat" cmpd="thickThin">
            <a:solidFill>
              <a:srgbClr val="002060"/>
            </a:solidFill>
            <a:prstDash val="solid"/>
            <a:miter/>
            <a:headEnd type="none" w="med" len="med"/>
            <a:tailEnd type="none" w="med" len="med"/>
          </a:ln>
        </p:spPr>
        <p:txBody>
          <a:bodyPr anchor="t" anchorCtr="0">
            <a:spAutoFit/>
          </a:bodyPr>
          <a:lstStyle/>
          <a:p>
            <a:pPr eaLnBrk="0" hangingPunct="0">
              <a:spcBef>
                <a:spcPts val="590"/>
              </a:spcBef>
              <a:spcAft>
                <a:spcPts val="590"/>
              </a:spcAft>
              <a:buClr>
                <a:schemeClr val="tx2"/>
              </a:buClr>
              <a:buSzPct val="80000"/>
              <a:buFont typeface="Wingdings" panose="05000000000000000000" pitchFamily="2" charset="2"/>
            </a:pPr>
            <a:r>
              <a:rPr lang="zh-CN" altLang="en-US" sz="2400" dirty="0">
                <a:solidFill>
                  <a:srgbClr val="CC0000"/>
                </a:solidFill>
                <a:latin typeface="Arial" panose="020B0604020202090204" pitchFamily="34" charset="0"/>
                <a:ea typeface="黑体" panose="02010609060101010101" pitchFamily="49" charset="-122"/>
              </a:rPr>
              <a:t>递归调用</a:t>
            </a:r>
            <a:r>
              <a:rPr lang="zh-CN" altLang="en-US" sz="2400" dirty="0">
                <a:solidFill>
                  <a:srgbClr val="000066"/>
                </a:solidFill>
                <a:latin typeface="Arial" panose="020B0604020202090204" pitchFamily="34" charset="0"/>
                <a:ea typeface="黑体" panose="02010609060101010101" pitchFamily="49" charset="-122"/>
              </a:rPr>
              <a:t>，这样的函数，称为</a:t>
            </a:r>
            <a:r>
              <a:rPr lang="zh-CN" altLang="en-US" sz="2400" dirty="0">
                <a:solidFill>
                  <a:srgbClr val="CC0000"/>
                </a:solidFill>
                <a:latin typeface="Arial" panose="020B0604020202090204" pitchFamily="34" charset="0"/>
                <a:ea typeface="黑体" panose="02010609060101010101" pitchFamily="49" charset="-122"/>
              </a:rPr>
              <a:t>递归函数</a:t>
            </a:r>
            <a:endParaRPr lang="zh-CN" altLang="en-US" sz="2400" dirty="0">
              <a:solidFill>
                <a:srgbClr val="000066"/>
              </a:solidFill>
              <a:latin typeface="Arial" panose="020B0604020202090204" pitchFamily="34"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95972"/>
                                        </p:tgtEl>
                                        <p:attrNameLst>
                                          <p:attrName>style.visibility</p:attrName>
                                        </p:attrNameLst>
                                      </p:cBhvr>
                                      <p:to>
                                        <p:strVal val="visible"/>
                                      </p:to>
                                    </p:set>
                                    <p:anim calcmode="lin" valueType="num">
                                      <p:cBhvr>
                                        <p:cTn id="7" dur="500" fill="hold"/>
                                        <p:tgtEl>
                                          <p:spTgt spid="595972"/>
                                        </p:tgtEl>
                                        <p:attrNameLst>
                                          <p:attrName>ppt_w</p:attrName>
                                        </p:attrNameLst>
                                      </p:cBhvr>
                                      <p:tavLst>
                                        <p:tav tm="0">
                                          <p:val>
                                            <p:fltVal val="0"/>
                                          </p:val>
                                        </p:tav>
                                        <p:tav tm="100000">
                                          <p:val>
                                            <p:strVal val="#ppt_w"/>
                                          </p:val>
                                        </p:tav>
                                      </p:tavLst>
                                    </p:anim>
                                    <p:anim calcmode="lin" valueType="num">
                                      <p:cBhvr>
                                        <p:cTn id="8" dur="500" fill="hold"/>
                                        <p:tgtEl>
                                          <p:spTgt spid="595972"/>
                                        </p:tgtEl>
                                        <p:attrNameLst>
                                          <p:attrName>ppt_h</p:attrName>
                                        </p:attrNameLst>
                                      </p:cBhvr>
                                      <p:tavLst>
                                        <p:tav tm="0">
                                          <p:val>
                                            <p:fltVal val="0"/>
                                          </p:val>
                                        </p:tav>
                                        <p:tav tm="100000">
                                          <p:val>
                                            <p:strVal val="#ppt_h"/>
                                          </p:val>
                                        </p:tav>
                                      </p:tavLst>
                                    </p:anim>
                                    <p:animEffect transition="in" filter="fade">
                                      <p:cBhvr>
                                        <p:cTn id="9" dur="500"/>
                                        <p:tgtEl>
                                          <p:spTgt spid="59597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95973"/>
                                        </p:tgtEl>
                                        <p:attrNameLst>
                                          <p:attrName>style.visibility</p:attrName>
                                        </p:attrNameLst>
                                      </p:cBhvr>
                                      <p:to>
                                        <p:strVal val="visible"/>
                                      </p:to>
                                    </p:set>
                                    <p:anim calcmode="lin" valueType="num">
                                      <p:cBhvr>
                                        <p:cTn id="14" dur="500" fill="hold"/>
                                        <p:tgtEl>
                                          <p:spTgt spid="595973"/>
                                        </p:tgtEl>
                                        <p:attrNameLst>
                                          <p:attrName>ppt_w</p:attrName>
                                        </p:attrNameLst>
                                      </p:cBhvr>
                                      <p:tavLst>
                                        <p:tav tm="0">
                                          <p:val>
                                            <p:fltVal val="0"/>
                                          </p:val>
                                        </p:tav>
                                        <p:tav tm="100000">
                                          <p:val>
                                            <p:strVal val="#ppt_w"/>
                                          </p:val>
                                        </p:tav>
                                      </p:tavLst>
                                    </p:anim>
                                    <p:anim calcmode="lin" valueType="num">
                                      <p:cBhvr>
                                        <p:cTn id="15" dur="500" fill="hold"/>
                                        <p:tgtEl>
                                          <p:spTgt spid="595973"/>
                                        </p:tgtEl>
                                        <p:attrNameLst>
                                          <p:attrName>ppt_h</p:attrName>
                                        </p:attrNameLst>
                                      </p:cBhvr>
                                      <p:tavLst>
                                        <p:tav tm="0">
                                          <p:val>
                                            <p:fltVal val="0"/>
                                          </p:val>
                                        </p:tav>
                                        <p:tav tm="100000">
                                          <p:val>
                                            <p:strVal val="#ppt_h"/>
                                          </p:val>
                                        </p:tav>
                                      </p:tavLst>
                                    </p:anim>
                                    <p:animEffect transition="in" filter="fade">
                                      <p:cBhvr>
                                        <p:cTn id="16" dur="500"/>
                                        <p:tgtEl>
                                          <p:spTgt spid="595973"/>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2" grpId="0" animBg="1"/>
      <p:bldP spid="595973"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09"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8610" name="Rectangle 3"/>
          <p:cNvSpPr>
            <a:spLocks noGrp="1"/>
          </p:cNvSpPr>
          <p:nvPr>
            <p:ph type="body" idx="4294967295"/>
          </p:nvPr>
        </p:nvSpPr>
        <p:spPr>
          <a:xfrm>
            <a:off x="1416050" y="1341438"/>
            <a:ext cx="8915400" cy="4686300"/>
          </a:xfrm>
        </p:spPr>
        <p:txBody>
          <a:bodyPr vert="horz" wrap="square" lIns="91440" tIns="45720" rIns="91440" bIns="45720" anchor="t" anchorCtr="0"/>
          <a:lstStyle/>
          <a:p>
            <a:pPr eaLnBrk="1" hangingPunct="1"/>
            <a:endParaRPr lang="en-US" altLang="zh-CN" b="1" dirty="0"/>
          </a:p>
          <a:p>
            <a:pPr eaLnBrk="1" hangingPunct="1"/>
            <a:endParaRPr lang="zh-CN" altLang="en-US" b="1" dirty="0"/>
          </a:p>
          <a:p>
            <a:pPr eaLnBrk="1" hangingPunct="1">
              <a:buFont typeface="Monotype Sorts"/>
              <a:buNone/>
            </a:pPr>
            <a:r>
              <a:rPr lang="en-US" altLang="zh-CN" sz="2600" b="1" dirty="0">
                <a:solidFill>
                  <a:srgbClr val="0000FF"/>
                </a:solidFill>
                <a:latin typeface="Courier New" panose="02070409020205090404" pitchFamily="49" charset="0"/>
                <a:ea typeface="宋体" pitchFamily="2" charset="-122"/>
              </a:rPr>
              <a:t>	</a:t>
            </a:r>
            <a:r>
              <a:rPr lang="en-US" altLang="zh-CN" sz="2600" b="1" dirty="0">
                <a:solidFill>
                  <a:srgbClr val="FF0000"/>
                </a:solidFill>
                <a:latin typeface="Courier New" panose="02070409020205090404" pitchFamily="49" charset="0"/>
                <a:ea typeface="宋体" pitchFamily="2" charset="-122"/>
              </a:rPr>
              <a:t>unsigned long </a:t>
            </a:r>
            <a:r>
              <a:rPr lang="en-US" altLang="zh-CN" sz="2600" b="1" dirty="0">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a:t>
            </a:r>
            <a:r>
              <a:rPr lang="en-US" altLang="zh-CN" sz="2600" b="1" dirty="0">
                <a:solidFill>
                  <a:srgbClr val="FF0000"/>
                </a:solidFill>
                <a:latin typeface="Courier New" panose="02070409020205090404" pitchFamily="49" charset="0"/>
                <a:ea typeface="宋体" pitchFamily="2" charset="-122"/>
              </a:rPr>
              <a:t>unsigned int </a:t>
            </a:r>
            <a:r>
              <a:rPr lang="en-US" altLang="zh-CN" sz="2600" b="1" dirty="0">
                <a:solidFill>
                  <a:srgbClr val="000000"/>
                </a:solidFill>
                <a:latin typeface="Courier New" panose="02070409020205090404" pitchFamily="49" charset="0"/>
                <a:ea typeface="宋体" pitchFamily="2" charset="-122"/>
              </a:rPr>
              <a:t>n)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if</a:t>
            </a:r>
            <a:r>
              <a:rPr lang="en-US" altLang="zh-CN" sz="2600" b="1" dirty="0">
                <a:solidFill>
                  <a:srgbClr val="000000"/>
                </a:solidFill>
                <a:latin typeface="Courier New" panose="02070409020205090404" pitchFamily="49" charset="0"/>
                <a:ea typeface="宋体" pitchFamily="2" charset="-122"/>
              </a:rPr>
              <a:t> (n == 0 || n == 1)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1;</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else</a:t>
            </a:r>
            <a:r>
              <a:rPr lang="en-US" altLang="zh-CN" sz="2600" b="1" dirty="0">
                <a:solidFill>
                  <a:srgbClr val="000000"/>
                </a:solidFill>
                <a:latin typeface="Courier New" panose="02070409020205090404" pitchFamily="49" charset="0"/>
                <a:ea typeface="宋体" pitchFamily="2" charset="-122"/>
              </a:rPr>
              <a:t>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n * </a:t>
            </a:r>
            <a:r>
              <a:rPr lang="en-US" altLang="zh-CN" sz="2600" b="1" dirty="0">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(n-1);</a:t>
            </a:r>
            <a:r>
              <a:rPr lang="zh-CN" altLang="en-US" sz="2600" b="1" dirty="0">
                <a:solidFill>
                  <a:srgbClr val="000000"/>
                </a:solidFill>
                <a:latin typeface="Courier New" panose="02070409020205090404" pitchFamily="49" charset="0"/>
                <a:ea typeface="宋体" pitchFamily="2" charset="-122"/>
              </a:rPr>
              <a:t> </a:t>
            </a:r>
            <a:br>
              <a:rPr lang="zh-CN" altLang="en-US"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a:t>
            </a:r>
            <a:endParaRPr lang="en-US" altLang="zh-CN" sz="2600" b="1" dirty="0">
              <a:solidFill>
                <a:srgbClr val="000000"/>
              </a:solidFill>
              <a:latin typeface="Courier New" panose="02070409020205090404" pitchFamily="49" charset="0"/>
              <a:ea typeface="宋体" pitchFamily="2" charset="-122"/>
            </a:endParaRPr>
          </a:p>
          <a:p>
            <a:pPr eaLnBrk="1" hangingPunct="1">
              <a:buFont typeface="Wingdings" panose="05000000000000000000" pitchFamily="2" charset="2"/>
              <a:buChar char="n"/>
            </a:pPr>
            <a:endParaRPr lang="zh-CN" altLang="en-US" b="1" dirty="0">
              <a:ea typeface="宋体" pitchFamily="2" charset="-122"/>
            </a:endParaRPr>
          </a:p>
        </p:txBody>
      </p:sp>
      <p:sp>
        <p:nvSpPr>
          <p:cNvPr id="614404" name="Rectangle 4"/>
          <p:cNvSpPr>
            <a:spLocks noChangeArrowheads="1"/>
          </p:cNvSpPr>
          <p:nvPr/>
        </p:nvSpPr>
        <p:spPr bwMode="auto">
          <a:xfrm>
            <a:off x="2417763" y="4033838"/>
            <a:ext cx="5334000" cy="704850"/>
          </a:xfrm>
          <a:prstGeom prst="rect">
            <a:avLst/>
          </a:prstGeom>
          <a:noFill/>
          <a:ln w="28575">
            <a:solidFill>
              <a:srgbClr val="00B05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4405" name="Rectangle 5"/>
          <p:cNvSpPr>
            <a:spLocks noChangeArrowheads="1"/>
          </p:cNvSpPr>
          <p:nvPr/>
        </p:nvSpPr>
        <p:spPr bwMode="auto">
          <a:xfrm>
            <a:off x="1774825" y="2420938"/>
            <a:ext cx="7566025" cy="417513"/>
          </a:xfrm>
          <a:prstGeom prst="rect">
            <a:avLst/>
          </a:prstGeom>
          <a:noFill/>
          <a:ln w="28575">
            <a:solidFill>
              <a:srgbClr val="FF000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4408" name="Rectangle 8"/>
          <p:cNvSpPr>
            <a:spLocks noChangeArrowheads="1"/>
          </p:cNvSpPr>
          <p:nvPr/>
        </p:nvSpPr>
        <p:spPr bwMode="auto">
          <a:xfrm>
            <a:off x="2417763" y="3170238"/>
            <a:ext cx="4602163" cy="792163"/>
          </a:xfrm>
          <a:prstGeom prst="rect">
            <a:avLst/>
          </a:prstGeom>
          <a:noFill/>
          <a:ln w="28575">
            <a:solidFill>
              <a:srgbClr val="00B05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56678" name="AutoShape 6"/>
          <p:cNvSpPr/>
          <p:nvPr/>
        </p:nvSpPr>
        <p:spPr>
          <a:xfrm>
            <a:off x="6399213" y="1844675"/>
            <a:ext cx="4418012" cy="709613"/>
          </a:xfrm>
          <a:prstGeom prst="wedgeEllipseCallout">
            <a:avLst>
              <a:gd name="adj1" fmla="val -34361"/>
              <a:gd name="adj2" fmla="val 123991"/>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000066"/>
                </a:solidFill>
                <a:latin typeface="黑体" panose="02010609060101010101" pitchFamily="49" charset="-122"/>
                <a:ea typeface="黑体" panose="02010609060101010101" pitchFamily="49" charset="-122"/>
              </a:rPr>
              <a:t>基本条件</a:t>
            </a:r>
            <a:r>
              <a:rPr lang="en-US" altLang="zh-CN" sz="2400" b="1" dirty="0">
                <a:solidFill>
                  <a:srgbClr val="000066"/>
                </a:solidFill>
                <a:latin typeface="Arial" panose="020B0604020202090204" pitchFamily="34" charset="0"/>
              </a:rPr>
              <a:t>(base case)</a:t>
            </a:r>
            <a:endParaRPr lang="zh-CN" altLang="en-US" sz="2400" b="1" dirty="0">
              <a:solidFill>
                <a:srgbClr val="000066"/>
              </a:solidFill>
              <a:latin typeface="Arial" panose="020B0604020202090204" pitchFamily="34" charset="0"/>
              <a:ea typeface="宋体" pitchFamily="2" charset="-122"/>
            </a:endParaRPr>
          </a:p>
        </p:txBody>
      </p:sp>
      <p:sp>
        <p:nvSpPr>
          <p:cNvPr id="2" name="AutoShape 6"/>
          <p:cNvSpPr/>
          <p:nvPr/>
        </p:nvSpPr>
        <p:spPr>
          <a:xfrm>
            <a:off x="7620000" y="3068638"/>
            <a:ext cx="3197225" cy="1008062"/>
          </a:xfrm>
          <a:prstGeom prst="wedgeEllipseCallout">
            <a:avLst>
              <a:gd name="adj1" fmla="val -37042"/>
              <a:gd name="adj2" fmla="val 62185"/>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b="1" dirty="0">
                <a:solidFill>
                  <a:srgbClr val="000066"/>
                </a:solidFill>
                <a:latin typeface="黑体" panose="02010609060101010101" pitchFamily="49" charset="-122"/>
                <a:ea typeface="黑体" panose="02010609060101010101" pitchFamily="49" charset="-122"/>
              </a:rPr>
              <a:t>一般条件</a:t>
            </a:r>
            <a:r>
              <a:rPr lang="en-US" altLang="zh-CN" sz="2400" b="1" dirty="0">
                <a:solidFill>
                  <a:srgbClr val="000066"/>
                </a:solidFill>
                <a:latin typeface="Arial" panose="020B0604020202090204" pitchFamily="34" charset="0"/>
              </a:rPr>
              <a:t>(general case)</a:t>
            </a:r>
            <a:endParaRPr lang="zh-CN" altLang="en-US" sz="2400" b="1" dirty="0">
              <a:solidFill>
                <a:srgbClr val="000066"/>
              </a:solidFill>
              <a:latin typeface="Arial" panose="020B0604020202090204" pitchFamily="34" charset="0"/>
              <a:ea typeface="宋体" pitchFamily="2" charset="-122"/>
            </a:endParaRPr>
          </a:p>
        </p:txBody>
      </p:sp>
      <p:sp>
        <p:nvSpPr>
          <p:cNvPr id="48141" name="AutoShape 6"/>
          <p:cNvSpPr/>
          <p:nvPr/>
        </p:nvSpPr>
        <p:spPr>
          <a:xfrm>
            <a:off x="8593138" y="4500563"/>
            <a:ext cx="1901825" cy="895350"/>
          </a:xfrm>
          <a:prstGeom prst="wedgeEllipseCallout">
            <a:avLst>
              <a:gd name="adj1" fmla="val 14972"/>
              <a:gd name="adj2" fmla="val 60222"/>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r>
              <a:rPr lang="zh-CN" altLang="en-US" b="1" dirty="0">
                <a:solidFill>
                  <a:srgbClr val="A01304"/>
                </a:solidFill>
                <a:latin typeface="Courier New" panose="02070409020205090404" pitchFamily="49" charset="0"/>
                <a:ea typeface="黑体" panose="02010609060101010101" pitchFamily="49" charset="-122"/>
              </a:rPr>
              <a:t>无需考虑</a:t>
            </a:r>
            <a:r>
              <a:rPr lang="en-US" altLang="zh-CN" b="1" dirty="0">
                <a:solidFill>
                  <a:srgbClr val="A01304"/>
                </a:solidFill>
                <a:latin typeface="Courier New" panose="02070409020205090404" pitchFamily="49" charset="0"/>
                <a:ea typeface="黑体" panose="02010609060101010101" pitchFamily="49" charset="-122"/>
              </a:rPr>
              <a:t>n&lt;0</a:t>
            </a:r>
            <a:r>
              <a:rPr lang="zh-CN" altLang="en-US" b="1" dirty="0">
                <a:solidFill>
                  <a:srgbClr val="A01304"/>
                </a:solidFill>
                <a:latin typeface="Courier New" panose="02070409020205090404" pitchFamily="49" charset="0"/>
                <a:ea typeface="黑体" panose="02010609060101010101" pitchFamily="49" charset="-122"/>
              </a:rPr>
              <a:t>了</a:t>
            </a:r>
            <a:endParaRPr lang="en-US" altLang="zh-CN" b="1" dirty="0">
              <a:solidFill>
                <a:srgbClr val="A01304"/>
              </a:solidFill>
              <a:latin typeface="Courier New" panose="02070409020205090404" pitchFamily="49" charset="0"/>
              <a:ea typeface="黑体" panose="02010609060101010101" pitchFamily="49" charset="-122"/>
            </a:endParaRPr>
          </a:p>
        </p:txBody>
      </p:sp>
      <p:sp>
        <p:nvSpPr>
          <p:cNvPr id="68617" name="Rectangle 6"/>
          <p:cNvSpPr/>
          <p:nvPr/>
        </p:nvSpPr>
        <p:spPr>
          <a:xfrm>
            <a:off x="1452563" y="1268413"/>
            <a:ext cx="8513762" cy="839787"/>
          </a:xfrm>
          <a:prstGeom prst="rect">
            <a:avLst/>
          </a:prstGeom>
          <a:noFill/>
          <a:ln w="9525">
            <a:noFill/>
          </a:ln>
        </p:spPr>
        <p:txBody>
          <a:bodyPr lIns="92075" tIns="46037" rIns="92075" bIns="46037" anchor="ctr"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en-US" altLang="zh-CN" sz="3200" dirty="0">
                <a:solidFill>
                  <a:srgbClr val="000066"/>
                </a:solidFill>
                <a:latin typeface="Arial" panose="020B0604020202090204" pitchFamily="34" charset="0"/>
                <a:ea typeface="黑体" panose="02010609060101010101" pitchFamily="49" charset="-122"/>
              </a:rPr>
              <a:t>【</a:t>
            </a:r>
            <a:r>
              <a:rPr lang="zh-CN" altLang="en-US" sz="3200" dirty="0">
                <a:solidFill>
                  <a:srgbClr val="000066"/>
                </a:solidFill>
                <a:latin typeface="Arial" panose="020B0604020202090204" pitchFamily="34" charset="0"/>
                <a:ea typeface="黑体" panose="02010609060101010101" pitchFamily="49" charset="-122"/>
              </a:rPr>
              <a:t>例</a:t>
            </a:r>
            <a:r>
              <a:rPr lang="en-US" altLang="zh-CN" sz="3200" dirty="0">
                <a:solidFill>
                  <a:srgbClr val="000066"/>
                </a:solidFill>
                <a:latin typeface="Arial" panose="020B0604020202090204" pitchFamily="34" charset="0"/>
                <a:ea typeface="黑体" panose="02010609060101010101" pitchFamily="49" charset="-122"/>
              </a:rPr>
              <a:t>】</a:t>
            </a:r>
            <a:r>
              <a:rPr lang="zh-CN" altLang="en-US" sz="3200" dirty="0">
                <a:solidFill>
                  <a:srgbClr val="000066"/>
                </a:solidFill>
                <a:latin typeface="Arial" panose="020B0604020202090204" pitchFamily="34" charset="0"/>
                <a:ea typeface="黑体" panose="02010609060101010101" pitchFamily="49" charset="-122"/>
              </a:rPr>
              <a:t>计算</a:t>
            </a:r>
            <a:r>
              <a:rPr lang="en-US" altLang="zh-CN" sz="3200" dirty="0">
                <a:solidFill>
                  <a:srgbClr val="000066"/>
                </a:solidFill>
                <a:latin typeface="Arial" panose="020B0604020202090204" pitchFamily="34" charset="0"/>
                <a:ea typeface="黑体" panose="02010609060101010101" pitchFamily="49" charset="-122"/>
              </a:rPr>
              <a:t>n</a:t>
            </a:r>
            <a:r>
              <a:rPr lang="zh-CN" altLang="en-US" sz="3200" dirty="0">
                <a:solidFill>
                  <a:srgbClr val="000066"/>
                </a:solidFill>
                <a:latin typeface="Arial" panose="020B0604020202090204" pitchFamily="34" charset="0"/>
                <a:ea typeface="黑体" panose="02010609060101010101" pitchFamily="49" charset="-122"/>
              </a:rPr>
              <a:t>！</a:t>
            </a:r>
            <a:r>
              <a:rPr lang="en-US" altLang="zh-CN" sz="3200" dirty="0">
                <a:solidFill>
                  <a:srgbClr val="000066"/>
                </a:solidFill>
                <a:latin typeface="Arial" panose="020B0604020202090204" pitchFamily="34" charset="0"/>
                <a:ea typeface="黑体" panose="02010609060101010101" pitchFamily="49" charset="-122"/>
              </a:rPr>
              <a:t>= n *(n-1)*(n-2)*……*1 </a:t>
            </a:r>
            <a:endParaRPr lang="zh-CN" altLang="en-US" sz="4400" dirty="0">
              <a:solidFill>
                <a:srgbClr val="000066"/>
              </a:solidFill>
              <a:latin typeface="Arial" panose="020B0604020202090204" pitchFamily="34" charset="0"/>
              <a:ea typeface="黑体" panose="02010609060101010101" pitchFamily="49" charset="-122"/>
            </a:endParaRPr>
          </a:p>
        </p:txBody>
      </p:sp>
      <p:pic>
        <p:nvPicPr>
          <p:cNvPr id="15" name="Picture 15"/>
          <p:cNvPicPr>
            <a:picLocks noChangeAspect="1"/>
          </p:cNvPicPr>
          <p:nvPr>
            <p:custDataLst>
              <p:tags r:id="rId1"/>
            </p:custDataLst>
          </p:nvPr>
        </p:nvPicPr>
        <p:blipFill>
          <a:blip r:embed="rId2"/>
          <a:stretch>
            <a:fillRect/>
          </a:stretch>
        </p:blipFill>
        <p:spPr>
          <a:xfrm>
            <a:off x="8802688" y="5500688"/>
            <a:ext cx="1936750" cy="1101725"/>
          </a:xfrm>
          <a:prstGeom prst="rect">
            <a:avLst/>
          </a:prstGeom>
          <a:noFill/>
          <a:ln w="9525">
            <a:noFill/>
          </a:ln>
        </p:spPr>
      </p:pic>
      <p:pic>
        <p:nvPicPr>
          <p:cNvPr id="68619" name="Picture 11"/>
          <p:cNvPicPr>
            <a:picLocks noChangeAspect="1"/>
          </p:cNvPicPr>
          <p:nvPr/>
        </p:nvPicPr>
        <p:blipFill>
          <a:blip r:embed="rId3">
            <a:clrChange>
              <a:clrFrom>
                <a:srgbClr val="FFFFFF"/>
              </a:clrFrom>
              <a:clrTo>
                <a:srgbClr val="FFFFFF">
                  <a:alpha val="0"/>
                </a:srgbClr>
              </a:clrTo>
            </a:clrChange>
          </a:blip>
          <a:stretch>
            <a:fillRect/>
          </a:stretch>
        </p:blipFill>
        <p:spPr>
          <a:xfrm>
            <a:off x="1890713" y="5229225"/>
            <a:ext cx="3484562" cy="928688"/>
          </a:xfrm>
          <a:prstGeom prst="rect">
            <a:avLst/>
          </a:prstGeom>
          <a:noFill/>
          <a:ln w="9525">
            <a:noFill/>
          </a:ln>
        </p:spPr>
      </p:pic>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14405"/>
                                        </p:tgtEl>
                                        <p:attrNameLst>
                                          <p:attrName>style.visibility</p:attrName>
                                        </p:attrNameLst>
                                      </p:cBhvr>
                                      <p:to>
                                        <p:strVal val="visible"/>
                                      </p:to>
                                    </p:set>
                                    <p:anim calcmode="lin" valueType="num">
                                      <p:cBhvr>
                                        <p:cTn id="7" dur="500" fill="hold"/>
                                        <p:tgtEl>
                                          <p:spTgt spid="614405"/>
                                        </p:tgtEl>
                                        <p:attrNameLst>
                                          <p:attrName>ppt_w</p:attrName>
                                        </p:attrNameLst>
                                      </p:cBhvr>
                                      <p:tavLst>
                                        <p:tav tm="0">
                                          <p:val>
                                            <p:fltVal val="0"/>
                                          </p:val>
                                        </p:tav>
                                        <p:tav tm="100000">
                                          <p:val>
                                            <p:strVal val="#ppt_w"/>
                                          </p:val>
                                        </p:tav>
                                      </p:tavLst>
                                    </p:anim>
                                    <p:anim calcmode="lin" valueType="num">
                                      <p:cBhvr>
                                        <p:cTn id="8" dur="500" fill="hold"/>
                                        <p:tgtEl>
                                          <p:spTgt spid="614405"/>
                                        </p:tgtEl>
                                        <p:attrNameLst>
                                          <p:attrName>ppt_h</p:attrName>
                                        </p:attrNameLst>
                                      </p:cBhvr>
                                      <p:tavLst>
                                        <p:tav tm="0">
                                          <p:val>
                                            <p:fltVal val="0"/>
                                          </p:val>
                                        </p:tav>
                                        <p:tav tm="100000">
                                          <p:val>
                                            <p:strVal val="#ppt_h"/>
                                          </p:val>
                                        </p:tav>
                                      </p:tavLst>
                                    </p:anim>
                                    <p:animEffect transition="in" filter="fade">
                                      <p:cBhvr>
                                        <p:cTn id="9" dur="500"/>
                                        <p:tgtEl>
                                          <p:spTgt spid="61440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48141"/>
                                        </p:tgtEl>
                                        <p:attrNameLst>
                                          <p:attrName>style.visibility</p:attrName>
                                        </p:attrNameLst>
                                      </p:cBhvr>
                                      <p:to>
                                        <p:strVal val="visible"/>
                                      </p:to>
                                    </p:set>
                                    <p:anim calcmode="lin" valueType="num">
                                      <p:cBhvr additive="base">
                                        <p:cTn id="14" dur="500" fill="hold"/>
                                        <p:tgtEl>
                                          <p:spTgt spid="48141"/>
                                        </p:tgtEl>
                                        <p:attrNameLst>
                                          <p:attrName>ppt_x</p:attrName>
                                        </p:attrNameLst>
                                      </p:cBhvr>
                                      <p:tavLst>
                                        <p:tav tm="0">
                                          <p:val>
                                            <p:strVal val="1+#ppt_w/2"/>
                                          </p:val>
                                        </p:tav>
                                        <p:tav tm="100000">
                                          <p:val>
                                            <p:strVal val="#ppt_x"/>
                                          </p:val>
                                        </p:tav>
                                      </p:tavLst>
                                    </p:anim>
                                    <p:anim calcmode="lin" valueType="num">
                                      <p:cBhvr additive="base">
                                        <p:cTn id="15" dur="500" fill="hold"/>
                                        <p:tgtEl>
                                          <p:spTgt spid="48141"/>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1+#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614404"/>
                                        </p:tgtEl>
                                        <p:attrNameLst>
                                          <p:attrName>style.visibility</p:attrName>
                                        </p:attrNameLst>
                                      </p:cBhvr>
                                      <p:to>
                                        <p:strVal val="visible"/>
                                      </p:to>
                                    </p:set>
                                    <p:anim calcmode="lin" valueType="num">
                                      <p:cBhvr>
                                        <p:cTn id="24" dur="500" fill="hold"/>
                                        <p:tgtEl>
                                          <p:spTgt spid="614404"/>
                                        </p:tgtEl>
                                        <p:attrNameLst>
                                          <p:attrName>ppt_w</p:attrName>
                                        </p:attrNameLst>
                                      </p:cBhvr>
                                      <p:tavLst>
                                        <p:tav tm="0">
                                          <p:val>
                                            <p:fltVal val="0"/>
                                          </p:val>
                                        </p:tav>
                                        <p:tav tm="100000">
                                          <p:val>
                                            <p:strVal val="#ppt_w"/>
                                          </p:val>
                                        </p:tav>
                                      </p:tavLst>
                                    </p:anim>
                                    <p:anim calcmode="lin" valueType="num">
                                      <p:cBhvr>
                                        <p:cTn id="25" dur="500" fill="hold"/>
                                        <p:tgtEl>
                                          <p:spTgt spid="614404"/>
                                        </p:tgtEl>
                                        <p:attrNameLst>
                                          <p:attrName>ppt_h</p:attrName>
                                        </p:attrNameLst>
                                      </p:cBhvr>
                                      <p:tavLst>
                                        <p:tav tm="0">
                                          <p:val>
                                            <p:fltVal val="0"/>
                                          </p:val>
                                        </p:tav>
                                        <p:tav tm="100000">
                                          <p:val>
                                            <p:strVal val="#ppt_h"/>
                                          </p:val>
                                        </p:tav>
                                      </p:tavLst>
                                    </p:anim>
                                    <p:animEffect transition="in" filter="fade">
                                      <p:cBhvr>
                                        <p:cTn id="26" dur="500"/>
                                        <p:tgtEl>
                                          <p:spTgt spid="61440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614408"/>
                                        </p:tgtEl>
                                        <p:attrNameLst>
                                          <p:attrName>style.visibility</p:attrName>
                                        </p:attrNameLst>
                                      </p:cBhvr>
                                      <p:to>
                                        <p:strVal val="visible"/>
                                      </p:to>
                                    </p:set>
                                    <p:anim calcmode="lin" valueType="num">
                                      <p:cBhvr>
                                        <p:cTn id="36" dur="500" fill="hold"/>
                                        <p:tgtEl>
                                          <p:spTgt spid="614408"/>
                                        </p:tgtEl>
                                        <p:attrNameLst>
                                          <p:attrName>ppt_w</p:attrName>
                                        </p:attrNameLst>
                                      </p:cBhvr>
                                      <p:tavLst>
                                        <p:tav tm="0">
                                          <p:val>
                                            <p:fltVal val="0"/>
                                          </p:val>
                                        </p:tav>
                                        <p:tav tm="100000">
                                          <p:val>
                                            <p:strVal val="#ppt_w"/>
                                          </p:val>
                                        </p:tav>
                                      </p:tavLst>
                                    </p:anim>
                                    <p:anim calcmode="lin" valueType="num">
                                      <p:cBhvr>
                                        <p:cTn id="37" dur="500" fill="hold"/>
                                        <p:tgtEl>
                                          <p:spTgt spid="614408"/>
                                        </p:tgtEl>
                                        <p:attrNameLst>
                                          <p:attrName>ppt_h</p:attrName>
                                        </p:attrNameLst>
                                      </p:cBhvr>
                                      <p:tavLst>
                                        <p:tav tm="0">
                                          <p:val>
                                            <p:fltVal val="0"/>
                                          </p:val>
                                        </p:tav>
                                        <p:tav tm="100000">
                                          <p:val>
                                            <p:strVal val="#ppt_h"/>
                                          </p:val>
                                        </p:tav>
                                      </p:tavLst>
                                    </p:anim>
                                    <p:animEffect transition="in" filter="fade">
                                      <p:cBhvr>
                                        <p:cTn id="38" dur="500"/>
                                        <p:tgtEl>
                                          <p:spTgt spid="61440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56678"/>
                                        </p:tgtEl>
                                        <p:attrNameLst>
                                          <p:attrName>style.visibility</p:attrName>
                                        </p:attrNameLst>
                                      </p:cBhvr>
                                      <p:to>
                                        <p:strVal val="visible"/>
                                      </p:to>
                                    </p:set>
                                    <p:animEffect transition="in" filter="wipe(down)">
                                      <p:cBhvr>
                                        <p:cTn id="43" dur="500"/>
                                        <p:tgtEl>
                                          <p:spTgt spid="156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4" grpId="0" animBg="1"/>
      <p:bldP spid="614405" grpId="0" animBg="1"/>
      <p:bldP spid="614408" grpId="0" animBg="1"/>
      <p:bldP spid="156678" grpId="0" animBg="1"/>
      <p:bldP spid="2" grpId="0" animBg="1"/>
      <p:bldP spid="48141"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3"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9634" name="Rectangle 3"/>
          <p:cNvSpPr>
            <a:spLocks noGrp="1"/>
          </p:cNvSpPr>
          <p:nvPr>
            <p:ph type="body" idx="4294967295"/>
          </p:nvPr>
        </p:nvSpPr>
        <p:spPr>
          <a:xfrm>
            <a:off x="1416050" y="1341438"/>
            <a:ext cx="8915400" cy="4686300"/>
          </a:xfrm>
        </p:spPr>
        <p:txBody>
          <a:bodyPr vert="horz" wrap="square" lIns="91440" tIns="45720" rIns="91440" bIns="45720" anchor="t" anchorCtr="0"/>
          <a:lstStyle/>
          <a:p>
            <a:pPr eaLnBrk="1" hangingPunct="1"/>
            <a:endParaRPr lang="en-US" altLang="zh-CN" b="1" dirty="0"/>
          </a:p>
          <a:p>
            <a:pPr eaLnBrk="1" hangingPunct="1"/>
            <a:endParaRPr lang="zh-CN" altLang="en-US" b="1" dirty="0"/>
          </a:p>
          <a:p>
            <a:pPr eaLnBrk="1" hangingPunct="1">
              <a:buFont typeface="Monotype Sorts"/>
              <a:buNone/>
            </a:pPr>
            <a:r>
              <a:rPr lang="en-US" altLang="zh-CN" sz="2600" b="1" dirty="0">
                <a:solidFill>
                  <a:srgbClr val="0000FF"/>
                </a:solidFill>
                <a:latin typeface="Courier New" panose="02070409020205090404" pitchFamily="49" charset="0"/>
                <a:ea typeface="宋体" pitchFamily="2" charset="-122"/>
              </a:rPr>
              <a:t>	</a:t>
            </a:r>
            <a:r>
              <a:rPr lang="en-US" altLang="zh-CN" sz="2600" b="1" dirty="0">
                <a:solidFill>
                  <a:srgbClr val="FF0000"/>
                </a:solidFill>
                <a:latin typeface="Courier New" panose="02070409020205090404" pitchFamily="49" charset="0"/>
                <a:ea typeface="宋体" pitchFamily="2" charset="-122"/>
              </a:rPr>
              <a:t>unsigned long </a:t>
            </a:r>
            <a:r>
              <a:rPr lang="en-US" altLang="zh-CN" sz="2600" b="1" dirty="0">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a:t>
            </a:r>
            <a:r>
              <a:rPr lang="en-US" altLang="zh-CN" sz="2600" b="1" dirty="0">
                <a:solidFill>
                  <a:srgbClr val="FF0000"/>
                </a:solidFill>
                <a:latin typeface="Courier New" panose="02070409020205090404" pitchFamily="49" charset="0"/>
                <a:ea typeface="宋体" pitchFamily="2" charset="-122"/>
              </a:rPr>
              <a:t>unsigned int </a:t>
            </a:r>
            <a:r>
              <a:rPr lang="en-US" altLang="zh-CN" sz="2600" b="1" dirty="0">
                <a:solidFill>
                  <a:srgbClr val="000000"/>
                </a:solidFill>
                <a:latin typeface="Courier New" panose="02070409020205090404" pitchFamily="49" charset="0"/>
                <a:ea typeface="宋体" pitchFamily="2" charset="-122"/>
              </a:rPr>
              <a:t>n)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if</a:t>
            </a:r>
            <a:r>
              <a:rPr lang="en-US" altLang="zh-CN" sz="2600" b="1" dirty="0">
                <a:solidFill>
                  <a:srgbClr val="000000"/>
                </a:solidFill>
                <a:latin typeface="Courier New" panose="02070409020205090404" pitchFamily="49" charset="0"/>
                <a:ea typeface="宋体" pitchFamily="2" charset="-122"/>
              </a:rPr>
              <a:t> (n == 0 || n == 1)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1;</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else</a:t>
            </a:r>
            <a:r>
              <a:rPr lang="en-US" altLang="zh-CN" sz="2600" b="1" dirty="0">
                <a:solidFill>
                  <a:srgbClr val="000000"/>
                </a:solidFill>
                <a:latin typeface="Courier New" panose="02070409020205090404" pitchFamily="49" charset="0"/>
                <a:ea typeface="宋体" pitchFamily="2" charset="-122"/>
              </a:rPr>
              <a:t> </a:t>
            </a:r>
            <a:br>
              <a:rPr lang="en-US" altLang="zh-CN"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		</a:t>
            </a:r>
            <a:r>
              <a:rPr lang="en-US" altLang="zh-CN" sz="2600" b="1" dirty="0">
                <a:solidFill>
                  <a:srgbClr val="0000FF"/>
                </a:solidFill>
                <a:latin typeface="Courier New" panose="02070409020205090404" pitchFamily="49" charset="0"/>
                <a:ea typeface="宋体" pitchFamily="2" charset="-122"/>
              </a:rPr>
              <a:t>return</a:t>
            </a:r>
            <a:r>
              <a:rPr lang="en-US" altLang="zh-CN" sz="2600" b="1" dirty="0">
                <a:solidFill>
                  <a:srgbClr val="000000"/>
                </a:solidFill>
                <a:latin typeface="Courier New" panose="02070409020205090404" pitchFamily="49" charset="0"/>
                <a:ea typeface="宋体" pitchFamily="2" charset="-122"/>
              </a:rPr>
              <a:t> n * </a:t>
            </a:r>
            <a:r>
              <a:rPr lang="en-US" altLang="zh-CN" sz="2600" b="1" dirty="0">
                <a:latin typeface="Courier New" panose="02070409020205090404" pitchFamily="49" charset="0"/>
                <a:ea typeface="宋体" pitchFamily="2" charset="-122"/>
              </a:rPr>
              <a:t>Fact</a:t>
            </a:r>
            <a:r>
              <a:rPr lang="en-US" altLang="zh-CN" sz="2600" b="1" dirty="0">
                <a:solidFill>
                  <a:srgbClr val="000000"/>
                </a:solidFill>
                <a:latin typeface="Courier New" panose="02070409020205090404" pitchFamily="49" charset="0"/>
                <a:ea typeface="宋体" pitchFamily="2" charset="-122"/>
              </a:rPr>
              <a:t>(n-1);</a:t>
            </a:r>
            <a:r>
              <a:rPr lang="zh-CN" altLang="en-US" sz="2600" b="1" dirty="0">
                <a:solidFill>
                  <a:srgbClr val="000000"/>
                </a:solidFill>
                <a:latin typeface="Courier New" panose="02070409020205090404" pitchFamily="49" charset="0"/>
                <a:ea typeface="宋体" pitchFamily="2" charset="-122"/>
              </a:rPr>
              <a:t> </a:t>
            </a:r>
            <a:br>
              <a:rPr lang="zh-CN" altLang="en-US" sz="2600" b="1" dirty="0">
                <a:solidFill>
                  <a:srgbClr val="000000"/>
                </a:solidFill>
                <a:latin typeface="Courier New" panose="02070409020205090404" pitchFamily="49" charset="0"/>
                <a:ea typeface="宋体" pitchFamily="2" charset="-122"/>
              </a:rPr>
            </a:br>
            <a:r>
              <a:rPr lang="en-US" altLang="zh-CN" sz="2600" b="1" dirty="0">
                <a:solidFill>
                  <a:srgbClr val="000000"/>
                </a:solidFill>
                <a:latin typeface="Courier New" panose="02070409020205090404" pitchFamily="49" charset="0"/>
                <a:ea typeface="宋体" pitchFamily="2" charset="-122"/>
              </a:rPr>
              <a:t>}</a:t>
            </a:r>
            <a:endParaRPr lang="en-US" altLang="zh-CN" sz="2600" b="1" dirty="0">
              <a:solidFill>
                <a:srgbClr val="000000"/>
              </a:solidFill>
              <a:latin typeface="Courier New" panose="02070409020205090404" pitchFamily="49" charset="0"/>
              <a:ea typeface="宋体" pitchFamily="2" charset="-122"/>
            </a:endParaRPr>
          </a:p>
          <a:p>
            <a:pPr eaLnBrk="1" hangingPunct="1">
              <a:buFont typeface="Wingdings" panose="05000000000000000000" pitchFamily="2" charset="2"/>
              <a:buChar char="n"/>
            </a:pPr>
            <a:endParaRPr lang="zh-CN" altLang="en-US" b="1" dirty="0">
              <a:ea typeface="宋体" pitchFamily="2" charset="-122"/>
            </a:endParaRPr>
          </a:p>
        </p:txBody>
      </p:sp>
      <p:sp>
        <p:nvSpPr>
          <p:cNvPr id="614404" name="Rectangle 4"/>
          <p:cNvSpPr>
            <a:spLocks noChangeArrowheads="1"/>
          </p:cNvSpPr>
          <p:nvPr/>
        </p:nvSpPr>
        <p:spPr bwMode="auto">
          <a:xfrm>
            <a:off x="2417763" y="4033838"/>
            <a:ext cx="5632450" cy="704850"/>
          </a:xfrm>
          <a:prstGeom prst="rect">
            <a:avLst/>
          </a:prstGeom>
          <a:noFill/>
          <a:ln w="28575">
            <a:solidFill>
              <a:srgbClr val="00B05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4408" name="Rectangle 8"/>
          <p:cNvSpPr>
            <a:spLocks noChangeArrowheads="1"/>
          </p:cNvSpPr>
          <p:nvPr/>
        </p:nvSpPr>
        <p:spPr bwMode="auto">
          <a:xfrm>
            <a:off x="2417763" y="3170238"/>
            <a:ext cx="4602163" cy="792163"/>
          </a:xfrm>
          <a:prstGeom prst="rect">
            <a:avLst/>
          </a:prstGeom>
          <a:noFill/>
          <a:ln w="28575">
            <a:solidFill>
              <a:srgbClr val="00B050"/>
            </a:solidFill>
            <a:miter lim="800000"/>
            <a:headEnd type="none" w="sm" len="sm"/>
            <a:tailEnd type="none" w="sm" len="sm"/>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637" name="Rectangle 6"/>
          <p:cNvSpPr/>
          <p:nvPr/>
        </p:nvSpPr>
        <p:spPr>
          <a:xfrm>
            <a:off x="1452563" y="1268413"/>
            <a:ext cx="8513762" cy="839787"/>
          </a:xfrm>
          <a:prstGeom prst="rect">
            <a:avLst/>
          </a:prstGeom>
          <a:noFill/>
          <a:ln w="9525">
            <a:noFill/>
          </a:ln>
        </p:spPr>
        <p:txBody>
          <a:bodyPr lIns="92075" tIns="46037" rIns="92075" bIns="46037" anchor="ctr"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en-US" altLang="zh-CN" sz="3200" dirty="0">
                <a:solidFill>
                  <a:srgbClr val="000066"/>
                </a:solidFill>
                <a:latin typeface="Arial" panose="020B0604020202090204" pitchFamily="34" charset="0"/>
                <a:ea typeface="黑体" panose="02010609060101010101" pitchFamily="49" charset="-122"/>
              </a:rPr>
              <a:t>【</a:t>
            </a:r>
            <a:r>
              <a:rPr lang="zh-CN" altLang="en-US" sz="3200" dirty="0">
                <a:solidFill>
                  <a:srgbClr val="000066"/>
                </a:solidFill>
                <a:latin typeface="Arial" panose="020B0604020202090204" pitchFamily="34" charset="0"/>
                <a:ea typeface="黑体" panose="02010609060101010101" pitchFamily="49" charset="-122"/>
              </a:rPr>
              <a:t>例</a:t>
            </a:r>
            <a:r>
              <a:rPr lang="en-US" altLang="zh-CN" sz="3200" dirty="0">
                <a:solidFill>
                  <a:srgbClr val="000066"/>
                </a:solidFill>
                <a:latin typeface="Arial" panose="020B0604020202090204" pitchFamily="34" charset="0"/>
                <a:ea typeface="黑体" panose="02010609060101010101" pitchFamily="49" charset="-122"/>
              </a:rPr>
              <a:t>】</a:t>
            </a:r>
            <a:r>
              <a:rPr lang="zh-CN" altLang="en-US" sz="3200" dirty="0">
                <a:solidFill>
                  <a:srgbClr val="000066"/>
                </a:solidFill>
                <a:latin typeface="Arial" panose="020B0604020202090204" pitchFamily="34" charset="0"/>
                <a:ea typeface="黑体" panose="02010609060101010101" pitchFamily="49" charset="-122"/>
              </a:rPr>
              <a:t>计算</a:t>
            </a:r>
            <a:r>
              <a:rPr lang="en-US" altLang="zh-CN" sz="3200" dirty="0">
                <a:solidFill>
                  <a:srgbClr val="000066"/>
                </a:solidFill>
                <a:latin typeface="Arial" panose="020B0604020202090204" pitchFamily="34" charset="0"/>
                <a:ea typeface="黑体" panose="02010609060101010101" pitchFamily="49" charset="-122"/>
              </a:rPr>
              <a:t>n</a:t>
            </a:r>
            <a:r>
              <a:rPr lang="zh-CN" altLang="en-US" sz="3200" dirty="0">
                <a:solidFill>
                  <a:srgbClr val="000066"/>
                </a:solidFill>
                <a:latin typeface="Arial" panose="020B0604020202090204" pitchFamily="34" charset="0"/>
                <a:ea typeface="黑体" panose="02010609060101010101" pitchFamily="49" charset="-122"/>
              </a:rPr>
              <a:t>！</a:t>
            </a:r>
            <a:r>
              <a:rPr lang="en-US" altLang="zh-CN" sz="3200" dirty="0">
                <a:solidFill>
                  <a:srgbClr val="000066"/>
                </a:solidFill>
                <a:latin typeface="Arial" panose="020B0604020202090204" pitchFamily="34" charset="0"/>
                <a:ea typeface="黑体" panose="02010609060101010101" pitchFamily="49" charset="-122"/>
              </a:rPr>
              <a:t>= n *(n-1)*(n-2)*……*1 </a:t>
            </a:r>
            <a:endParaRPr lang="zh-CN" altLang="en-US" sz="4400" dirty="0">
              <a:solidFill>
                <a:srgbClr val="000066"/>
              </a:solidFill>
              <a:latin typeface="Arial" panose="020B0604020202090204" pitchFamily="34" charset="0"/>
              <a:ea typeface="黑体" panose="02010609060101010101" pitchFamily="49" charset="-122"/>
            </a:endParaRPr>
          </a:p>
        </p:txBody>
      </p:sp>
      <p:pic>
        <p:nvPicPr>
          <p:cNvPr id="69638" name="Picture 11"/>
          <p:cNvPicPr>
            <a:picLocks noChangeAspect="1"/>
          </p:cNvPicPr>
          <p:nvPr/>
        </p:nvPicPr>
        <p:blipFill>
          <a:blip r:embed="rId1">
            <a:clrChange>
              <a:clrFrom>
                <a:srgbClr val="FFFFFF"/>
              </a:clrFrom>
              <a:clrTo>
                <a:srgbClr val="FFFFFF">
                  <a:alpha val="0"/>
                </a:srgbClr>
              </a:clrTo>
            </a:clrChange>
          </a:blip>
          <a:stretch>
            <a:fillRect/>
          </a:stretch>
        </p:blipFill>
        <p:spPr>
          <a:xfrm>
            <a:off x="1890713" y="5229225"/>
            <a:ext cx="3484562" cy="928688"/>
          </a:xfrm>
          <a:prstGeom prst="rect">
            <a:avLst/>
          </a:prstGeom>
          <a:noFill/>
          <a:ln w="9525">
            <a:noFill/>
          </a:ln>
        </p:spPr>
      </p:pic>
      <p:sp>
        <p:nvSpPr>
          <p:cNvPr id="17" name="AutoShape 6"/>
          <p:cNvSpPr/>
          <p:nvPr/>
        </p:nvSpPr>
        <p:spPr>
          <a:xfrm>
            <a:off x="5159375" y="4652963"/>
            <a:ext cx="5889625" cy="1512887"/>
          </a:xfrm>
          <a:prstGeom prst="wedgeEllipseCallout">
            <a:avLst>
              <a:gd name="adj1" fmla="val -44269"/>
              <a:gd name="adj2" fmla="val -47940"/>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zh-CN" altLang="en-US" sz="2400" dirty="0">
                <a:solidFill>
                  <a:srgbClr val="C00000"/>
                </a:solidFill>
                <a:latin typeface="黑体" panose="02010609060101010101" pitchFamily="49" charset="-122"/>
                <a:ea typeface="黑体" panose="02010609060101010101" pitchFamily="49" charset="-122"/>
              </a:rPr>
              <a:t>一般条件</a:t>
            </a:r>
            <a:r>
              <a:rPr lang="zh-CN" altLang="en-US" sz="2400" dirty="0">
                <a:solidFill>
                  <a:srgbClr val="000066"/>
                </a:solidFill>
                <a:latin typeface="黑体" panose="02010609060101010101" pitchFamily="49" charset="-122"/>
                <a:ea typeface="黑体" panose="02010609060101010101" pitchFamily="49" charset="-122"/>
              </a:rPr>
              <a:t>控制</a:t>
            </a:r>
            <a:r>
              <a:rPr lang="en-US" altLang="zh-CN" sz="2400" dirty="0">
                <a:solidFill>
                  <a:srgbClr val="000066"/>
                </a:solidFill>
                <a:latin typeface="黑体" panose="02010609060101010101" pitchFamily="49" charset="-122"/>
                <a:ea typeface="黑体" panose="02010609060101010101" pitchFamily="49" charset="-122"/>
              </a:rPr>
              <a:t>递归</a:t>
            </a:r>
            <a:r>
              <a:rPr lang="zh-CN" altLang="en-US" sz="2400" dirty="0">
                <a:solidFill>
                  <a:srgbClr val="000066"/>
                </a:solidFill>
                <a:latin typeface="黑体" panose="02010609060101010101" pitchFamily="49" charset="-122"/>
                <a:ea typeface="黑体" panose="02010609060101010101" pitchFamily="49" charset="-122"/>
              </a:rPr>
              <a:t>调用向着基本条件的方向转化</a:t>
            </a:r>
            <a:r>
              <a:rPr lang="en-US" altLang="zh-CN" sz="2400" dirty="0">
                <a:solidFill>
                  <a:srgbClr val="000066"/>
                </a:solidFill>
                <a:latin typeface="黑体" panose="02010609060101010101" pitchFamily="49" charset="-122"/>
                <a:ea typeface="黑体" panose="02010609060101010101" pitchFamily="49" charset="-122"/>
              </a:rPr>
              <a:t>,</a:t>
            </a:r>
            <a:r>
              <a:rPr lang="zh-CN" altLang="en-US" sz="2400" dirty="0">
                <a:solidFill>
                  <a:srgbClr val="000066"/>
                </a:solidFill>
                <a:latin typeface="黑体" panose="02010609060101010101" pitchFamily="49" charset="-122"/>
                <a:ea typeface="黑体" panose="02010609060101010101" pitchFamily="49" charset="-122"/>
              </a:rPr>
              <a:t>一般条件必须最终能转化为基本条件</a:t>
            </a:r>
            <a:endParaRPr lang="zh-CN" altLang="en-US" sz="2400" dirty="0">
              <a:solidFill>
                <a:srgbClr val="000066"/>
              </a:solidFill>
              <a:latin typeface="黑体" panose="02010609060101010101" pitchFamily="49" charset="-122"/>
              <a:ea typeface="黑体" panose="02010609060101010101" pitchFamily="49" charset="-122"/>
            </a:endParaRPr>
          </a:p>
          <a:p>
            <a:pPr eaLnBrk="0" hangingPunct="0">
              <a:lnSpc>
                <a:spcPct val="85000"/>
              </a:lnSpc>
              <a:spcBef>
                <a:spcPts val="590"/>
              </a:spcBef>
              <a:spcAft>
                <a:spcPts val="590"/>
              </a:spcAft>
              <a:buClr>
                <a:schemeClr val="tx2"/>
              </a:buClr>
              <a:buSzPct val="80000"/>
              <a:buFont typeface="Wingdings" panose="05000000000000000000" pitchFamily="2" charset="2"/>
            </a:pPr>
            <a:endParaRPr lang="zh-CN" altLang="en-US" sz="2400" b="1" dirty="0">
              <a:solidFill>
                <a:srgbClr val="000066"/>
              </a:solidFill>
              <a:latin typeface="黑体" panose="02010609060101010101" pitchFamily="49" charset="-122"/>
              <a:ea typeface="黑体" panose="02010609060101010101" pitchFamily="49" charset="-122"/>
            </a:endParaRPr>
          </a:p>
        </p:txBody>
      </p:sp>
      <p:sp>
        <p:nvSpPr>
          <p:cNvPr id="14" name="AutoShape 6"/>
          <p:cNvSpPr/>
          <p:nvPr/>
        </p:nvSpPr>
        <p:spPr>
          <a:xfrm>
            <a:off x="4440238" y="1773238"/>
            <a:ext cx="6480175" cy="1368425"/>
          </a:xfrm>
          <a:prstGeom prst="wedgeEllipseCallout">
            <a:avLst>
              <a:gd name="adj1" fmla="val -44213"/>
              <a:gd name="adj2" fmla="val 45884"/>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zh-CN" altLang="en-US" sz="2400" dirty="0">
                <a:solidFill>
                  <a:srgbClr val="C00000"/>
                </a:solidFill>
                <a:latin typeface="黑体" panose="02010609060101010101" pitchFamily="49" charset="-122"/>
                <a:ea typeface="黑体" panose="02010609060101010101" pitchFamily="49" charset="-122"/>
              </a:rPr>
              <a:t>基本条件</a:t>
            </a:r>
            <a:r>
              <a:rPr lang="zh-CN" altLang="en-US" sz="2400" dirty="0">
                <a:solidFill>
                  <a:srgbClr val="000066"/>
                </a:solidFill>
                <a:latin typeface="黑体" panose="02010609060101010101" pitchFamily="49" charset="-122"/>
                <a:ea typeface="黑体" panose="02010609060101010101" pitchFamily="49" charset="-122"/>
              </a:rPr>
              <a:t>控制</a:t>
            </a:r>
            <a:r>
              <a:rPr lang="en-US" altLang="zh-CN" sz="2400" dirty="0">
                <a:solidFill>
                  <a:srgbClr val="000066"/>
                </a:solidFill>
                <a:latin typeface="黑体" panose="02010609060101010101" pitchFamily="49" charset="-122"/>
                <a:ea typeface="黑体" panose="02010609060101010101" pitchFamily="49" charset="-122"/>
              </a:rPr>
              <a:t>递归</a:t>
            </a:r>
            <a:r>
              <a:rPr lang="zh-CN" altLang="en-US" sz="2400" dirty="0">
                <a:solidFill>
                  <a:srgbClr val="000066"/>
                </a:solidFill>
                <a:latin typeface="黑体" panose="02010609060101010101" pitchFamily="49" charset="-122"/>
                <a:ea typeface="黑体" panose="02010609060101010101" pitchFamily="49" charset="-122"/>
              </a:rPr>
              <a:t>调用结束</a:t>
            </a:r>
            <a:r>
              <a:rPr lang="en-US" altLang="zh-CN" sz="2400" dirty="0">
                <a:solidFill>
                  <a:srgbClr val="000066"/>
                </a:solidFill>
                <a:latin typeface="黑体" panose="02010609060101010101" pitchFamily="49" charset="-122"/>
                <a:ea typeface="黑体" panose="02010609060101010101" pitchFamily="49" charset="-122"/>
              </a:rPr>
              <a:t>,</a:t>
            </a:r>
            <a:r>
              <a:rPr lang="zh-CN" altLang="en-US" sz="2400" dirty="0">
                <a:solidFill>
                  <a:srgbClr val="000066"/>
                </a:solidFill>
                <a:latin typeface="黑体" panose="02010609060101010101" pitchFamily="49" charset="-122"/>
                <a:ea typeface="黑体" panose="02010609060101010101" pitchFamily="49" charset="-122"/>
              </a:rPr>
              <a:t>每个递归函数必须至少有一个基本条件能用非递归的方式计算得到</a:t>
            </a:r>
            <a:endParaRPr lang="zh-CN" altLang="en-US" sz="2400" dirty="0">
              <a:solidFill>
                <a:srgbClr val="000066"/>
              </a:solidFill>
              <a:latin typeface="黑体" panose="02010609060101010101" pitchFamily="49" charset="-122"/>
              <a:ea typeface="黑体" panose="02010609060101010101" pitchFamily="49" charset="-122"/>
            </a:endParaRPr>
          </a:p>
          <a:p>
            <a:pPr eaLnBrk="0" hangingPunct="0">
              <a:lnSpc>
                <a:spcPct val="85000"/>
              </a:lnSpc>
              <a:spcBef>
                <a:spcPts val="590"/>
              </a:spcBef>
              <a:spcAft>
                <a:spcPts val="590"/>
              </a:spcAft>
              <a:buClr>
                <a:schemeClr val="tx2"/>
              </a:buClr>
              <a:buSzPct val="80000"/>
              <a:buFont typeface="Wingdings" panose="05000000000000000000" pitchFamily="2" charset="2"/>
            </a:pPr>
            <a:endParaRPr lang="zh-CN" altLang="en-US" sz="2400" b="1" dirty="0">
              <a:solidFill>
                <a:srgbClr val="000066"/>
              </a:solidFill>
              <a:latin typeface="黑体" panose="02010609060101010101" pitchFamily="49" charset="-122"/>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7" name="Rectangle 5"/>
          <p:cNvSpPr/>
          <p:nvPr/>
        </p:nvSpPr>
        <p:spPr>
          <a:xfrm>
            <a:off x="7751763" y="2627313"/>
            <a:ext cx="3297237" cy="877887"/>
          </a:xfrm>
          <a:prstGeom prst="rect">
            <a:avLst/>
          </a:prstGeom>
          <a:noFill/>
          <a:ln w="9525">
            <a:noFill/>
          </a:ln>
        </p:spPr>
        <p:txBody>
          <a:bodyPr lIns="92075" tIns="46038" rIns="92075" bIns="46038" anchor="t" anchorCtr="0"/>
          <a:lstStyle/>
          <a:p>
            <a:pPr marL="342900" indent="-342900" eaLnBrk="0" hangingPunct="0">
              <a:lnSpc>
                <a:spcPct val="90000"/>
              </a:lnSpc>
              <a:spcBef>
                <a:spcPct val="20000"/>
              </a:spcBef>
              <a:spcAft>
                <a:spcPts val="590"/>
              </a:spcAft>
              <a:buClr>
                <a:schemeClr val="tx2"/>
              </a:buClr>
              <a:buSzPct val="80000"/>
              <a:buFont typeface="Wingdings" panose="05000000000000000000" pitchFamily="2" charset="2"/>
            </a:pPr>
            <a:r>
              <a:rPr lang="en-US" altLang="zh-CN" dirty="0">
                <a:latin typeface="Arial" panose="020B0604020202090204" pitchFamily="34" charset="0"/>
              </a:rPr>
              <a:t>Fact(1) = 1;</a:t>
            </a:r>
            <a:endParaRPr lang="en-US" altLang="zh-CN" dirty="0">
              <a:latin typeface="Arial" panose="020B0604020202090204" pitchFamily="34" charset="0"/>
            </a:endParaRPr>
          </a:p>
          <a:p>
            <a:pPr marL="342900" indent="-342900" eaLnBrk="0" hangingPunct="0">
              <a:lnSpc>
                <a:spcPct val="90000"/>
              </a:lnSpc>
              <a:spcBef>
                <a:spcPct val="20000"/>
              </a:spcBef>
              <a:spcAft>
                <a:spcPts val="590"/>
              </a:spcAft>
              <a:buClr>
                <a:schemeClr val="tx2"/>
              </a:buClr>
              <a:buSzPct val="80000"/>
              <a:buFont typeface="Wingdings" panose="05000000000000000000" pitchFamily="2" charset="2"/>
            </a:pPr>
            <a:r>
              <a:rPr lang="en-US" altLang="zh-CN" dirty="0">
                <a:latin typeface="Arial" panose="020B0604020202090204" pitchFamily="34" charset="0"/>
              </a:rPr>
              <a:t>Fact(n) = n * Fact(n-1);</a:t>
            </a:r>
            <a:endParaRPr lang="en-US" altLang="zh-CN" dirty="0">
              <a:latin typeface="Arial" panose="020B0604020202090204" pitchFamily="34" charset="0"/>
            </a:endParaRPr>
          </a:p>
        </p:txBody>
      </p:sp>
      <p:sp>
        <p:nvSpPr>
          <p:cNvPr id="181254" name="Rectangle 3"/>
          <p:cNvSpPr/>
          <p:nvPr/>
        </p:nvSpPr>
        <p:spPr>
          <a:xfrm>
            <a:off x="1595438" y="2636838"/>
            <a:ext cx="2005012" cy="1019175"/>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Fact(4)</a:t>
            </a:r>
            <a:endParaRPr lang="en-US" altLang="zh-CN" sz="2800" b="1" dirty="0">
              <a:solidFill>
                <a:srgbClr val="000066"/>
              </a:solidFill>
              <a:latin typeface="Arial" panose="020B0604020202090204" pitchFamily="34" charset="0"/>
            </a:endParaRPr>
          </a:p>
        </p:txBody>
      </p:sp>
      <p:sp>
        <p:nvSpPr>
          <p:cNvPr id="181255" name="Rectangle 3"/>
          <p:cNvSpPr/>
          <p:nvPr/>
        </p:nvSpPr>
        <p:spPr>
          <a:xfrm>
            <a:off x="2881313" y="2647950"/>
            <a:ext cx="3316287" cy="900113"/>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Fact(3) </a:t>
            </a:r>
            <a:endParaRPr lang="en-US" altLang="zh-CN" sz="2800" b="1" dirty="0">
              <a:solidFill>
                <a:srgbClr val="000066"/>
              </a:solidFill>
              <a:latin typeface="Arial" panose="020B0604020202090204" pitchFamily="34" charset="0"/>
            </a:endParaRPr>
          </a:p>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b="1" dirty="0">
                <a:solidFill>
                  <a:srgbClr val="000066"/>
                </a:solidFill>
                <a:latin typeface="Arial" panose="020B0604020202090204" pitchFamily="34" charset="0"/>
              </a:rPr>
              <a:t>                   </a:t>
            </a:r>
            <a:endParaRPr lang="en-US" altLang="zh-CN" b="1" dirty="0">
              <a:solidFill>
                <a:srgbClr val="000066"/>
              </a:solidFill>
              <a:latin typeface="Arial" panose="020B0604020202090204" pitchFamily="34" charset="0"/>
            </a:endParaRPr>
          </a:p>
        </p:txBody>
      </p:sp>
      <p:sp>
        <p:nvSpPr>
          <p:cNvPr id="181256" name="Rectangle 3"/>
          <p:cNvSpPr/>
          <p:nvPr/>
        </p:nvSpPr>
        <p:spPr>
          <a:xfrm>
            <a:off x="2897188" y="3178175"/>
            <a:ext cx="4330700" cy="971550"/>
          </a:xfrm>
          <a:prstGeom prst="rect">
            <a:avLst/>
          </a:prstGeom>
          <a:noFill/>
          <a:ln w="9525">
            <a:noFill/>
          </a:ln>
        </p:spPr>
        <p:txBody>
          <a:bodyPr anchor="t" anchorCtr="0"/>
          <a:lstStyle/>
          <a:p>
            <a:pPr marL="374650" indent="-374650" eaLnBrk="0" hangingPunct="0">
              <a:lnSpc>
                <a:spcPct val="8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(3 * Fact(2)) </a:t>
            </a:r>
            <a:endParaRPr lang="en-US" altLang="zh-CN" sz="2800" b="1" dirty="0">
              <a:solidFill>
                <a:srgbClr val="000066"/>
              </a:solidFill>
              <a:latin typeface="Arial" panose="020B0604020202090204" pitchFamily="34" charset="0"/>
            </a:endParaRPr>
          </a:p>
          <a:p>
            <a:pPr marL="374650" indent="-374650" eaLnBrk="0" hangingPunct="0">
              <a:lnSpc>
                <a:spcPct val="8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a:t>
            </a:r>
            <a:endParaRPr lang="en-US" altLang="zh-CN" sz="2800" b="1" dirty="0">
              <a:solidFill>
                <a:srgbClr val="000066"/>
              </a:solidFill>
              <a:latin typeface="Arial" panose="020B0604020202090204" pitchFamily="34" charset="0"/>
            </a:endParaRPr>
          </a:p>
        </p:txBody>
      </p:sp>
      <p:sp>
        <p:nvSpPr>
          <p:cNvPr id="181258" name="Rectangle 3"/>
          <p:cNvSpPr/>
          <p:nvPr/>
        </p:nvSpPr>
        <p:spPr>
          <a:xfrm>
            <a:off x="2897188" y="3617913"/>
            <a:ext cx="5383212" cy="963612"/>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(3 * (2 * Fact(1)))                    </a:t>
            </a:r>
            <a:endParaRPr lang="en-US" altLang="zh-CN" sz="2800" b="1" dirty="0">
              <a:solidFill>
                <a:srgbClr val="000066"/>
              </a:solidFill>
              <a:latin typeface="Arial" panose="020B0604020202090204" pitchFamily="34" charset="0"/>
            </a:endParaRPr>
          </a:p>
        </p:txBody>
      </p:sp>
      <p:sp>
        <p:nvSpPr>
          <p:cNvPr id="181259" name="Rectangle 3"/>
          <p:cNvSpPr/>
          <p:nvPr/>
        </p:nvSpPr>
        <p:spPr>
          <a:xfrm>
            <a:off x="2897188" y="4149725"/>
            <a:ext cx="4330700" cy="936625"/>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(3 * (2 * 1))</a:t>
            </a:r>
            <a:endParaRPr lang="en-US" altLang="zh-CN" sz="2800" b="1" dirty="0">
              <a:solidFill>
                <a:srgbClr val="000066"/>
              </a:solidFill>
              <a:latin typeface="Arial" panose="020B0604020202090204" pitchFamily="34" charset="0"/>
            </a:endParaRPr>
          </a:p>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a:t>
            </a:r>
            <a:endParaRPr lang="en-US" altLang="zh-CN" sz="2800" b="1" dirty="0">
              <a:solidFill>
                <a:srgbClr val="000066"/>
              </a:solidFill>
              <a:latin typeface="Arial" panose="020B0604020202090204" pitchFamily="34" charset="0"/>
            </a:endParaRPr>
          </a:p>
        </p:txBody>
      </p:sp>
      <p:sp>
        <p:nvSpPr>
          <p:cNvPr id="181260" name="Rectangle 3"/>
          <p:cNvSpPr/>
          <p:nvPr/>
        </p:nvSpPr>
        <p:spPr>
          <a:xfrm>
            <a:off x="2897188" y="4724400"/>
            <a:ext cx="4330700" cy="936625"/>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(3 * 2)</a:t>
            </a:r>
            <a:endParaRPr lang="en-US" altLang="zh-CN" sz="2800" b="1" dirty="0">
              <a:solidFill>
                <a:srgbClr val="000066"/>
              </a:solidFill>
              <a:latin typeface="Arial" panose="020B0604020202090204" pitchFamily="34" charset="0"/>
            </a:endParaRPr>
          </a:p>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a:t>
            </a:r>
            <a:endParaRPr lang="en-US" altLang="zh-CN" sz="2800" b="1" dirty="0">
              <a:solidFill>
                <a:srgbClr val="000066"/>
              </a:solidFill>
              <a:latin typeface="Arial" panose="020B0604020202090204" pitchFamily="34" charset="0"/>
            </a:endParaRPr>
          </a:p>
        </p:txBody>
      </p:sp>
      <p:sp>
        <p:nvSpPr>
          <p:cNvPr id="181261" name="Rectangle 3"/>
          <p:cNvSpPr/>
          <p:nvPr/>
        </p:nvSpPr>
        <p:spPr>
          <a:xfrm>
            <a:off x="2897188" y="5229225"/>
            <a:ext cx="4330700" cy="936625"/>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4 * 6</a:t>
            </a:r>
            <a:endParaRPr lang="en-US" altLang="zh-CN" sz="2800" b="1" dirty="0">
              <a:solidFill>
                <a:srgbClr val="000066"/>
              </a:solidFill>
              <a:latin typeface="Arial" panose="020B0604020202090204" pitchFamily="34" charset="0"/>
            </a:endParaRPr>
          </a:p>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a:t>
            </a:r>
            <a:endParaRPr lang="en-US" altLang="zh-CN" sz="2800" b="1" dirty="0">
              <a:solidFill>
                <a:srgbClr val="000066"/>
              </a:solidFill>
              <a:latin typeface="Arial" panose="020B0604020202090204" pitchFamily="34" charset="0"/>
            </a:endParaRPr>
          </a:p>
        </p:txBody>
      </p:sp>
      <p:sp>
        <p:nvSpPr>
          <p:cNvPr id="181262" name="Rectangle 3"/>
          <p:cNvSpPr/>
          <p:nvPr/>
        </p:nvSpPr>
        <p:spPr>
          <a:xfrm>
            <a:off x="2897188" y="5805488"/>
            <a:ext cx="4330700" cy="936625"/>
          </a:xfrm>
          <a:prstGeom prst="rect">
            <a:avLst/>
          </a:prstGeom>
          <a:noFill/>
          <a:ln w="9525">
            <a:noFill/>
          </a:ln>
        </p:spPr>
        <p:txBody>
          <a:bodyPr anchor="t" anchorCtr="0"/>
          <a:lstStyle/>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24</a:t>
            </a:r>
            <a:endParaRPr lang="en-US" altLang="zh-CN" sz="2800" b="1" dirty="0">
              <a:solidFill>
                <a:srgbClr val="000066"/>
              </a:solidFill>
              <a:latin typeface="Arial" panose="020B0604020202090204" pitchFamily="34" charset="0"/>
            </a:endParaRPr>
          </a:p>
          <a:p>
            <a:pPr marL="374650" indent="-374650" eaLnBrk="0" hangingPunct="0">
              <a:lnSpc>
                <a:spcPct val="95000"/>
              </a:lnSpc>
              <a:spcBef>
                <a:spcPct val="20000"/>
              </a:spcBef>
              <a:spcAft>
                <a:spcPts val="590"/>
              </a:spcAft>
              <a:buClr>
                <a:srgbClr val="FFCC66"/>
              </a:buClr>
              <a:buSzPct val="80000"/>
              <a:buFont typeface="Wingdings" panose="05000000000000000000" pitchFamily="2" charset="2"/>
            </a:pPr>
            <a:r>
              <a:rPr lang="en-US" altLang="zh-CN" sz="2800" b="1" dirty="0">
                <a:solidFill>
                  <a:srgbClr val="000066"/>
                </a:solidFill>
                <a:latin typeface="Arial" panose="020B0604020202090204" pitchFamily="34" charset="0"/>
              </a:rPr>
              <a:t>                   </a:t>
            </a:r>
            <a:endParaRPr lang="en-US" altLang="zh-CN" sz="2800" b="1" dirty="0">
              <a:solidFill>
                <a:srgbClr val="000066"/>
              </a:solidFill>
              <a:latin typeface="Arial" panose="020B0604020202090204" pitchFamily="34" charset="0"/>
            </a:endParaRPr>
          </a:p>
        </p:txBody>
      </p:sp>
      <p:grpSp>
        <p:nvGrpSpPr>
          <p:cNvPr id="70666" name="组合 13"/>
          <p:cNvGrpSpPr/>
          <p:nvPr/>
        </p:nvGrpSpPr>
        <p:grpSpPr>
          <a:xfrm>
            <a:off x="2459038" y="1338263"/>
            <a:ext cx="7351712" cy="1082675"/>
            <a:chOff x="2000232" y="174625"/>
            <a:chExt cx="6786581" cy="1082675"/>
          </a:xfrm>
        </p:grpSpPr>
        <p:sp>
          <p:nvSpPr>
            <p:cNvPr id="70667" name="Rectangle 4"/>
            <p:cNvSpPr/>
            <p:nvPr/>
          </p:nvSpPr>
          <p:spPr>
            <a:xfrm>
              <a:off x="2000232" y="500063"/>
              <a:ext cx="827088" cy="744537"/>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lstStyle/>
            <a:p>
              <a:pPr algn="ct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dirty="0">
                <a:solidFill>
                  <a:schemeClr val="hlink"/>
                </a:solidFill>
                <a:latin typeface="Arial" panose="020B0604020202090204" pitchFamily="34" charset="0"/>
                <a:ea typeface="宋体" pitchFamily="2" charset="-122"/>
              </a:endParaRPr>
            </a:p>
          </p:txBody>
        </p:sp>
        <p:grpSp>
          <p:nvGrpSpPr>
            <p:cNvPr id="70668" name="Group 5"/>
            <p:cNvGrpSpPr/>
            <p:nvPr/>
          </p:nvGrpSpPr>
          <p:grpSpPr>
            <a:xfrm>
              <a:off x="2710606" y="428625"/>
              <a:ext cx="5744425" cy="828675"/>
              <a:chOff x="1672" y="1459"/>
              <a:chExt cx="3656" cy="797"/>
            </a:xfrm>
          </p:grpSpPr>
          <p:sp>
            <p:nvSpPr>
              <p:cNvPr id="24" name="Rectangle 7"/>
              <p:cNvSpPr>
                <a:spLocks noChangeArrowheads="1"/>
              </p:cNvSpPr>
              <p:nvPr/>
            </p:nvSpPr>
            <p:spPr bwMode="auto">
              <a:xfrm>
                <a:off x="2112" y="1535"/>
                <a:ext cx="527" cy="721"/>
              </a:xfrm>
              <a:prstGeom prst="rect">
                <a:avLst/>
              </a:prstGeom>
              <a:solidFill>
                <a:srgbClr val="FFFFCC"/>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5" name="Rectangle 8"/>
              <p:cNvSpPr>
                <a:spLocks noChangeArrowheads="1"/>
              </p:cNvSpPr>
              <p:nvPr/>
            </p:nvSpPr>
            <p:spPr bwMode="auto">
              <a:xfrm>
                <a:off x="3027" y="1535"/>
                <a:ext cx="506" cy="721"/>
              </a:xfrm>
              <a:prstGeom prst="rect">
                <a:avLst/>
              </a:prstGeom>
              <a:solidFill>
                <a:srgbClr val="FFFFCC"/>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6" name="Rectangle 9"/>
              <p:cNvSpPr>
                <a:spLocks noChangeArrowheads="1"/>
              </p:cNvSpPr>
              <p:nvPr/>
            </p:nvSpPr>
            <p:spPr bwMode="auto">
              <a:xfrm>
                <a:off x="3936" y="1535"/>
                <a:ext cx="533" cy="721"/>
              </a:xfrm>
              <a:prstGeom prst="rect">
                <a:avLst/>
              </a:prstGeom>
              <a:solidFill>
                <a:srgbClr val="FFFFCC"/>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7" name="Rectangle 10"/>
              <p:cNvSpPr>
                <a:spLocks noChangeArrowheads="1"/>
              </p:cNvSpPr>
              <p:nvPr/>
            </p:nvSpPr>
            <p:spPr bwMode="auto">
              <a:xfrm>
                <a:off x="4800" y="1535"/>
                <a:ext cx="528" cy="721"/>
              </a:xfrm>
              <a:prstGeom prst="rect">
                <a:avLst/>
              </a:prstGeom>
              <a:solidFill>
                <a:srgbClr val="FFFFCC"/>
              </a:solidFill>
              <a:ln w="9525">
                <a:solidFill>
                  <a:schemeClr val="tx1"/>
                </a:solidFill>
                <a:miter lim="800000"/>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28" name="Line 11"/>
              <p:cNvSpPr>
                <a:spLocks noChangeShapeType="1"/>
              </p:cNvSpPr>
              <p:nvPr/>
            </p:nvSpPr>
            <p:spPr bwMode="auto">
              <a:xfrm flipV="1">
                <a:off x="1746" y="1486"/>
                <a:ext cx="331" cy="270"/>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0" name="Line 13"/>
              <p:cNvSpPr>
                <a:spLocks noChangeShapeType="1"/>
              </p:cNvSpPr>
              <p:nvPr/>
            </p:nvSpPr>
            <p:spPr bwMode="auto">
              <a:xfrm flipV="1">
                <a:off x="2514" y="1459"/>
                <a:ext cx="450" cy="373"/>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1" name="Line 14"/>
              <p:cNvSpPr>
                <a:spLocks noChangeShapeType="1"/>
              </p:cNvSpPr>
              <p:nvPr/>
            </p:nvSpPr>
            <p:spPr bwMode="auto">
              <a:xfrm flipV="1">
                <a:off x="3416" y="1459"/>
                <a:ext cx="500" cy="412"/>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2" name="Line 15"/>
              <p:cNvSpPr>
                <a:spLocks noChangeShapeType="1"/>
              </p:cNvSpPr>
              <p:nvPr/>
            </p:nvSpPr>
            <p:spPr bwMode="auto">
              <a:xfrm flipV="1">
                <a:off x="4371" y="1528"/>
                <a:ext cx="367" cy="304"/>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3" name="Line 16"/>
              <p:cNvSpPr>
                <a:spLocks noChangeShapeType="1"/>
              </p:cNvSpPr>
              <p:nvPr/>
            </p:nvSpPr>
            <p:spPr bwMode="auto">
              <a:xfrm flipH="1" flipV="1">
                <a:off x="4330" y="1920"/>
                <a:ext cx="450" cy="295"/>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4" name="Line 17"/>
              <p:cNvSpPr>
                <a:spLocks noChangeShapeType="1"/>
              </p:cNvSpPr>
              <p:nvPr/>
            </p:nvSpPr>
            <p:spPr bwMode="auto">
              <a:xfrm flipH="1" flipV="1">
                <a:off x="3442" y="1952"/>
                <a:ext cx="475" cy="273"/>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5" name="Line 18"/>
              <p:cNvSpPr>
                <a:spLocks noChangeShapeType="1"/>
              </p:cNvSpPr>
              <p:nvPr/>
            </p:nvSpPr>
            <p:spPr bwMode="auto">
              <a:xfrm flipH="1" flipV="1">
                <a:off x="2514" y="1952"/>
                <a:ext cx="520" cy="263"/>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7" name="Line 20"/>
              <p:cNvSpPr>
                <a:spLocks noChangeShapeType="1"/>
              </p:cNvSpPr>
              <p:nvPr/>
            </p:nvSpPr>
            <p:spPr bwMode="auto">
              <a:xfrm flipH="1" flipV="1">
                <a:off x="1672" y="1952"/>
                <a:ext cx="415" cy="263"/>
              </a:xfrm>
              <a:prstGeom prst="line">
                <a:avLst/>
              </a:prstGeom>
              <a:noFill/>
              <a:ln w="9525">
                <a:solidFill>
                  <a:schemeClr val="tx1"/>
                </a:solidFill>
                <a:round/>
                <a:tailEnd type="triangle" w="med" len="med"/>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grpSp>
        <p:sp>
          <p:nvSpPr>
            <p:cNvPr id="17" name="Text Box 21"/>
            <p:cNvSpPr txBox="1">
              <a:spLocks noChangeArrowheads="1"/>
            </p:cNvSpPr>
            <p:nvPr/>
          </p:nvSpPr>
          <p:spPr bwMode="auto">
            <a:xfrm>
              <a:off x="2000232" y="174625"/>
              <a:ext cx="863160" cy="376237"/>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main</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19" name="Text Box 23"/>
            <p:cNvSpPr txBox="1">
              <a:spLocks noChangeArrowheads="1"/>
            </p:cNvSpPr>
            <p:nvPr/>
          </p:nvSpPr>
          <p:spPr bwMode="auto">
            <a:xfrm>
              <a:off x="3168209" y="174625"/>
              <a:ext cx="1411246" cy="376237"/>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Fact(4)</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20" name="Text Box 24"/>
            <p:cNvSpPr txBox="1">
              <a:spLocks noChangeArrowheads="1"/>
            </p:cNvSpPr>
            <p:nvPr/>
          </p:nvSpPr>
          <p:spPr bwMode="auto">
            <a:xfrm>
              <a:off x="4597041" y="190500"/>
              <a:ext cx="1411245" cy="376237"/>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Fact(3)</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21" name="Text Box 25"/>
            <p:cNvSpPr txBox="1">
              <a:spLocks noChangeArrowheads="1"/>
            </p:cNvSpPr>
            <p:nvPr/>
          </p:nvSpPr>
          <p:spPr bwMode="auto">
            <a:xfrm>
              <a:off x="6025872" y="182562"/>
              <a:ext cx="1411246"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Fact(2)</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22" name="Text Box 26"/>
            <p:cNvSpPr txBox="1">
              <a:spLocks noChangeArrowheads="1"/>
            </p:cNvSpPr>
            <p:nvPr/>
          </p:nvSpPr>
          <p:spPr bwMode="auto">
            <a:xfrm>
              <a:off x="7375568" y="198437"/>
              <a:ext cx="1411245"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Fact(1)</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grpSp>
      <p:sp>
        <p:nvSpPr>
          <p:cNvPr id="56353" name="AutoShape 33"/>
          <p:cNvSpPr/>
          <p:nvPr/>
        </p:nvSpPr>
        <p:spPr>
          <a:xfrm>
            <a:off x="6797675" y="2708275"/>
            <a:ext cx="701675" cy="3602038"/>
          </a:xfrm>
          <a:prstGeom prst="downArrow">
            <a:avLst>
              <a:gd name="adj1" fmla="val 50000"/>
              <a:gd name="adj2" fmla="val 139008"/>
            </a:avLst>
          </a:prstGeom>
          <a:solidFill>
            <a:srgbClr val="FFFFCC"/>
          </a:solidFill>
          <a:ln w="9525" cap="flat" cmpd="sng">
            <a:solidFill>
              <a:schemeClr val="tx1"/>
            </a:solidFill>
            <a:prstDash val="solid"/>
            <a:miter/>
            <a:headEnd type="none" w="med" len="med"/>
            <a:tailEnd type="none" w="med" len="med"/>
          </a:ln>
        </p:spPr>
        <p:txBody>
          <a:bodyPr wrap="none" anchor="ctr" anchorCtr="0"/>
          <a:lstStyle/>
          <a:p>
            <a:pPr eaLnBrk="0" hangingPunct="0">
              <a:lnSpc>
                <a:spcPct val="90000"/>
              </a:lnSpc>
              <a:spcBef>
                <a:spcPts val="590"/>
              </a:spcBef>
              <a:spcAft>
                <a:spcPts val="590"/>
              </a:spcAft>
              <a:buClr>
                <a:schemeClr val="tx2"/>
              </a:buClr>
              <a:buSzPct val="80000"/>
              <a:buFont typeface="Wingdings" panose="05000000000000000000" pitchFamily="2" charset="2"/>
            </a:pPr>
            <a:endParaRPr lang="zh-CN" altLang="en-US" dirty="0">
              <a:latin typeface="Arial" panose="020B0604020202090204" pitchFamily="34" charset="0"/>
              <a:ea typeface="宋体" pitchFamily="2" charset="-122"/>
            </a:endParaRPr>
          </a:p>
        </p:txBody>
      </p:sp>
      <p:sp>
        <p:nvSpPr>
          <p:cNvPr id="56354" name="Text Box 34"/>
          <p:cNvSpPr txBox="1"/>
          <p:nvPr/>
        </p:nvSpPr>
        <p:spPr>
          <a:xfrm>
            <a:off x="7813675" y="3906838"/>
            <a:ext cx="3035300" cy="1908175"/>
          </a:xfrm>
          <a:prstGeom prst="rect">
            <a:avLst/>
          </a:prstGeom>
          <a:solidFill>
            <a:srgbClr val="FFFFCC"/>
          </a:solidFill>
          <a:ln w="38100" cap="flat" cmpd="thickThin">
            <a:solidFill>
              <a:srgbClr val="0000CC"/>
            </a:solidFill>
            <a:prstDash val="solid"/>
            <a:miter/>
            <a:headEnd type="none" w="med" len="med"/>
            <a:tailEnd type="none" w="med" len="med"/>
          </a:ln>
        </p:spPr>
        <p:txBody>
          <a:bodyPr anchor="t" anchorCtr="0">
            <a:spAutoFit/>
          </a:bodyPr>
          <a:lstStyle/>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dirty="0">
                <a:solidFill>
                  <a:srgbClr val="333399"/>
                </a:solidFill>
                <a:latin typeface="黑体" panose="02010609060101010101" pitchFamily="49" charset="-122"/>
                <a:ea typeface="黑体" panose="02010609060101010101" pitchFamily="49" charset="-122"/>
              </a:rPr>
              <a:t>复杂问题逐步简化，最终转化为一个最简单的问题</a:t>
            </a:r>
            <a:endParaRPr lang="en-US" altLang="zh-CN" sz="2400" dirty="0">
              <a:solidFill>
                <a:srgbClr val="333399"/>
              </a:solidFill>
              <a:latin typeface="黑体" panose="02010609060101010101" pitchFamily="49" charset="-122"/>
              <a:ea typeface="黑体" panose="02010609060101010101" pitchFamily="49" charset="-122"/>
            </a:endParaRPr>
          </a:p>
          <a:p>
            <a:pPr eaLnBrk="0" hangingPunct="0">
              <a:lnSpc>
                <a:spcPct val="90000"/>
              </a:lnSpc>
              <a:spcBef>
                <a:spcPts val="590"/>
              </a:spcBef>
              <a:spcAft>
                <a:spcPts val="590"/>
              </a:spcAft>
              <a:buClr>
                <a:schemeClr val="tx2"/>
              </a:buClr>
              <a:buSzPct val="80000"/>
              <a:buFont typeface="Wingdings" panose="05000000000000000000" pitchFamily="2" charset="2"/>
            </a:pPr>
            <a:r>
              <a:rPr lang="zh-CN" altLang="en-US" sz="2400" dirty="0">
                <a:solidFill>
                  <a:srgbClr val="333399"/>
                </a:solidFill>
                <a:latin typeface="黑体" panose="02010609060101010101" pitchFamily="49" charset="-122"/>
                <a:ea typeface="黑体" panose="02010609060101010101" pitchFamily="49" charset="-122"/>
              </a:rPr>
              <a:t>最简单问题的解决意味着整个问题的解决</a:t>
            </a:r>
            <a:endParaRPr lang="en-US" altLang="zh-CN" dirty="0">
              <a:solidFill>
                <a:srgbClr val="333399"/>
              </a:solidFill>
              <a:latin typeface="黑体" panose="02010609060101010101" pitchFamily="49" charset="-122"/>
              <a:ea typeface="黑体" panose="02010609060101010101" pitchFamily="49" charset="-122"/>
            </a:endParaRPr>
          </a:p>
        </p:txBody>
      </p:sp>
      <p:sp>
        <p:nvSpPr>
          <p:cNvPr id="12" name="Rectangle 2"/>
          <p:cNvSpPr txBox="1">
            <a:spLocks noChangeArrowheads="1"/>
          </p:cNvSpPr>
          <p:nvPr/>
        </p:nvSpPr>
        <p:spPr bwMode="auto">
          <a:xfrm>
            <a:off x="1881188" y="260350"/>
            <a:ext cx="8447088" cy="839788"/>
          </a:xfrm>
          <a:prstGeom prst="rect">
            <a:avLst/>
          </a:prstGeom>
          <a:noFill/>
          <a:ln w="9525">
            <a:noFill/>
            <a:miter lim="800000"/>
          </a:ln>
          <a:effectLst/>
        </p:spPr>
        <p:txBody>
          <a:bodyPr lIns="92075" tIns="46037" rIns="92075" bIns="46037"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85000"/>
              </a:lnSpc>
              <a:spcBef>
                <a:spcPts val="590"/>
              </a:spcBef>
              <a:spcAft>
                <a:spcPts val="590"/>
              </a:spcAft>
              <a:buClr>
                <a:schemeClr val="tx2"/>
              </a:buClr>
              <a:buSzPct val="80000"/>
              <a:buFont typeface="Wingdings" panose="05000000000000000000" pitchFamily="2" charset="2"/>
              <a:buNone/>
              <a:defRPr/>
            </a:pPr>
            <a:r>
              <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rPr>
              <a:t>递归计算的过程</a:t>
            </a:r>
            <a:endParaRPr kumimoji="0" lang="zh-CN" altLang="en-US" sz="40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黑体" panose="02010609060101010101" pitchFamily="49" charset="-122"/>
              <a:cs typeface="+mn-cs"/>
            </a:endParaRPr>
          </a:p>
        </p:txBody>
      </p:sp>
      <p:sp>
        <p:nvSpPr>
          <p:cNvPr id="36" name="Text Box 23"/>
          <p:cNvSpPr txBox="1">
            <a:spLocks noChangeArrowheads="1"/>
          </p:cNvSpPr>
          <p:nvPr/>
        </p:nvSpPr>
        <p:spPr bwMode="auto">
          <a:xfrm>
            <a:off x="7751763" y="1979613"/>
            <a:ext cx="958850" cy="37623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1</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39" name="Text Box 23"/>
          <p:cNvSpPr txBox="1">
            <a:spLocks noChangeArrowheads="1"/>
          </p:cNvSpPr>
          <p:nvPr/>
        </p:nvSpPr>
        <p:spPr bwMode="auto">
          <a:xfrm>
            <a:off x="6240463" y="1989138"/>
            <a:ext cx="958850" cy="37623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2</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40" name="Text Box 23"/>
          <p:cNvSpPr txBox="1">
            <a:spLocks noChangeArrowheads="1"/>
          </p:cNvSpPr>
          <p:nvPr/>
        </p:nvSpPr>
        <p:spPr bwMode="auto">
          <a:xfrm>
            <a:off x="4656138" y="1989138"/>
            <a:ext cx="958850" cy="37623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6</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41" name="Text Box 23"/>
          <p:cNvSpPr txBox="1">
            <a:spLocks noChangeArrowheads="1"/>
          </p:cNvSpPr>
          <p:nvPr/>
        </p:nvSpPr>
        <p:spPr bwMode="auto">
          <a:xfrm>
            <a:off x="3143250" y="1989138"/>
            <a:ext cx="958850"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24</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2" name="Text Box 23"/>
          <p:cNvSpPr txBox="1">
            <a:spLocks noChangeArrowheads="1"/>
          </p:cNvSpPr>
          <p:nvPr/>
        </p:nvSpPr>
        <p:spPr bwMode="auto">
          <a:xfrm>
            <a:off x="7043738" y="1901825"/>
            <a:ext cx="958850"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2</a:t>
            </a:r>
            <a:r>
              <a:rPr kumimoji="0" lang="zh-CN" altLang="en-US"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1</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3" name="Text Box 23"/>
          <p:cNvSpPr txBox="1">
            <a:spLocks noChangeArrowheads="1"/>
          </p:cNvSpPr>
          <p:nvPr/>
        </p:nvSpPr>
        <p:spPr bwMode="auto">
          <a:xfrm>
            <a:off x="5443538" y="1901825"/>
            <a:ext cx="958850"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3</a:t>
            </a:r>
            <a:r>
              <a:rPr kumimoji="0" lang="zh-CN" altLang="en-US"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2</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4" name="Text Box 23"/>
          <p:cNvSpPr txBox="1">
            <a:spLocks noChangeArrowheads="1"/>
          </p:cNvSpPr>
          <p:nvPr/>
        </p:nvSpPr>
        <p:spPr bwMode="auto">
          <a:xfrm>
            <a:off x="3905250" y="1901825"/>
            <a:ext cx="958850" cy="376238"/>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4</a:t>
            </a:r>
            <a:r>
              <a:rPr kumimoji="0" lang="zh-CN" altLang="en-US"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6</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5" name="Text Box 23"/>
          <p:cNvSpPr txBox="1">
            <a:spLocks noChangeArrowheads="1"/>
          </p:cNvSpPr>
          <p:nvPr/>
        </p:nvSpPr>
        <p:spPr bwMode="auto">
          <a:xfrm>
            <a:off x="8510588" y="1897063"/>
            <a:ext cx="958850" cy="377825"/>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ct val="5000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1</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46" name="Text Box 23"/>
          <p:cNvSpPr txBox="1">
            <a:spLocks noChangeArrowheads="1"/>
          </p:cNvSpPr>
          <p:nvPr/>
        </p:nvSpPr>
        <p:spPr bwMode="auto">
          <a:xfrm>
            <a:off x="2378075" y="1885950"/>
            <a:ext cx="958850" cy="377825"/>
          </a:xfrm>
          <a:prstGeom prst="rect">
            <a:avLst/>
          </a:prstGeom>
          <a:noFill/>
          <a:ln w="12700">
            <a:noFill/>
            <a:miter lim="800000"/>
            <a:headEnd type="none" w="sm" len="sm"/>
            <a:tailEnd type="none" w="sm" len="sm"/>
          </a:ln>
          <a:effectLst/>
        </p:spPr>
        <p:txBody>
          <a:bodyPr>
            <a:spAutoFit/>
          </a:bodyPr>
          <a:lstStyle/>
          <a:p>
            <a:pPr marR="0" algn="ctr" defTabSz="914400" eaLnBrk="0" hangingPunct="0">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4!</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2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12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12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12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12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12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12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12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6353"/>
                                        </p:tgtEl>
                                        <p:attrNameLst>
                                          <p:attrName>style.visibility</p:attrName>
                                        </p:attrNameLst>
                                      </p:cBhvr>
                                      <p:to>
                                        <p:strVal val="visible"/>
                                      </p:to>
                                    </p:set>
                                    <p:animEffect transition="in" filter="wipe(up)">
                                      <p:cBhvr>
                                        <p:cTn id="39" dur="500"/>
                                        <p:tgtEl>
                                          <p:spTgt spid="56353"/>
                                        </p:tgtEl>
                                      </p:cBhvr>
                                    </p:animEffect>
                                  </p:childTnLst>
                                </p:cTn>
                              </p:par>
                              <p:par>
                                <p:cTn id="40" presetID="23" presetClass="entr" presetSubtype="16" fill="hold" nodeType="withEffect">
                                  <p:stCondLst>
                                    <p:cond delay="0"/>
                                  </p:stCondLst>
                                  <p:childTnLst>
                                    <p:set>
                                      <p:cBhvr>
                                        <p:cTn id="41" dur="1" fill="hold">
                                          <p:stCondLst>
                                            <p:cond delay="0"/>
                                          </p:stCondLst>
                                        </p:cTn>
                                        <p:tgtEl>
                                          <p:spTgt spid="56354"/>
                                        </p:tgtEl>
                                        <p:attrNameLst>
                                          <p:attrName>style.visibility</p:attrName>
                                        </p:attrNameLst>
                                      </p:cBhvr>
                                      <p:to>
                                        <p:strVal val="visible"/>
                                      </p:to>
                                    </p:set>
                                    <p:anim calcmode="lin" valueType="num">
                                      <p:cBhvr>
                                        <p:cTn id="42" dur="500" fill="hold"/>
                                        <p:tgtEl>
                                          <p:spTgt spid="56354"/>
                                        </p:tgtEl>
                                        <p:attrNameLst>
                                          <p:attrName>ppt_w</p:attrName>
                                        </p:attrNameLst>
                                      </p:cBhvr>
                                      <p:tavLst>
                                        <p:tav tm="0">
                                          <p:val>
                                            <p:fltVal val="0"/>
                                          </p:val>
                                        </p:tav>
                                        <p:tav tm="100000">
                                          <p:val>
                                            <p:strVal val="#ppt_w"/>
                                          </p:val>
                                        </p:tav>
                                      </p:tavLst>
                                    </p:anim>
                                    <p:anim calcmode="lin" valueType="num">
                                      <p:cBhvr>
                                        <p:cTn id="43" dur="500" fill="hold"/>
                                        <p:tgtEl>
                                          <p:spTgt spid="5635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5" grpId="0"/>
      <p:bldP spid="181256" grpId="0"/>
      <p:bldP spid="181258" grpId="0"/>
      <p:bldP spid="181259" grpId="0"/>
      <p:bldP spid="181260" grpId="0"/>
      <p:bldP spid="181261" grpId="0"/>
      <p:bldP spid="181262" grpId="0"/>
      <p:bldP spid="56353"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5"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10307" name="Rectangle 3"/>
          <p:cNvSpPr>
            <a:spLocks noGrp="1"/>
          </p:cNvSpPr>
          <p:nvPr>
            <p:ph type="body" idx="4294967295"/>
          </p:nvPr>
        </p:nvSpPr>
        <p:spPr>
          <a:xfrm>
            <a:off x="1608138" y="1412875"/>
            <a:ext cx="8929687" cy="2927350"/>
          </a:xfrm>
        </p:spPr>
        <p:txBody>
          <a:bodyPr vert="horz" wrap="square" lIns="91440" tIns="45720" rIns="91440" bIns="45720" anchor="t" anchorCtr="0"/>
          <a:lstStyle/>
          <a:p>
            <a:r>
              <a:rPr lang="zh-CN" altLang="en-US" dirty="0">
                <a:latin typeface="华文仿宋" panose="02010600040101010101" pitchFamily="2" charset="-122"/>
              </a:rPr>
              <a:t>任何一个递归调用程序必须包括两部分</a:t>
            </a:r>
            <a:endParaRPr lang="zh-CN" altLang="en-US" dirty="0">
              <a:latin typeface="华文仿宋" panose="02010600040101010101" pitchFamily="2" charset="-122"/>
            </a:endParaRPr>
          </a:p>
          <a:p>
            <a:pPr lvl="1"/>
            <a:endParaRPr lang="zh-CN" altLang="en-US" dirty="0">
              <a:latin typeface="华文仿宋" panose="02010600040101010101" pitchFamily="2" charset="-122"/>
              <a:ea typeface="华文仿宋" panose="02010600040101010101" pitchFamily="2" charset="-122"/>
            </a:endParaRPr>
          </a:p>
          <a:p>
            <a:pPr lvl="1"/>
            <a:endParaRPr lang="zh-CN" altLang="en-US" dirty="0">
              <a:solidFill>
                <a:schemeClr val="hlink"/>
              </a:solidFill>
              <a:latin typeface="楷体_GB2312" pitchFamily="49" charset="-122"/>
            </a:endParaRPr>
          </a:p>
          <a:p>
            <a:endParaRPr lang="zh-CN" altLang="en-US" dirty="0">
              <a:solidFill>
                <a:srgbClr val="00007F"/>
              </a:solidFill>
              <a:latin typeface="华文仿宋" panose="02010600040101010101" pitchFamily="2" charset="-122"/>
            </a:endParaRPr>
          </a:p>
          <a:p>
            <a:endParaRPr lang="zh-CN" altLang="en-US" dirty="0">
              <a:solidFill>
                <a:srgbClr val="00007F"/>
              </a:solidFill>
              <a:latin typeface="华文仿宋" panose="02010600040101010101" pitchFamily="2" charset="-122"/>
            </a:endParaRPr>
          </a:p>
        </p:txBody>
      </p:sp>
      <p:sp>
        <p:nvSpPr>
          <p:cNvPr id="4" name="Rectangle 3"/>
          <p:cNvSpPr txBox="1">
            <a:spLocks noChangeArrowheads="1"/>
          </p:cNvSpPr>
          <p:nvPr/>
        </p:nvSpPr>
        <p:spPr bwMode="auto">
          <a:xfrm>
            <a:off x="839788" y="2205038"/>
            <a:ext cx="8369300" cy="3675063"/>
          </a:xfrm>
          <a:prstGeom prst="rect">
            <a:avLst/>
          </a:prstGeom>
          <a:noFill/>
          <a:ln w="9525">
            <a:noFill/>
            <a:miter lim="800000"/>
          </a:ln>
          <a:effectLst/>
        </p:spPr>
        <p:txBody>
          <a:bodyPr lIns="92075" tIns="46037" rIns="92075" bIns="46037"/>
          <a:lstStyle>
            <a:lvl1pPr marL="374650" indent="-374650">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85090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374650" marR="0" lvl="0" indent="-374650" algn="l" defTabSz="914400" rtl="0" eaLnBrk="0" fontAlgn="base" latinLnBrk="0" hangingPunct="0">
              <a:lnSpc>
                <a:spcPct val="150000"/>
              </a:lnSpc>
              <a:spcBef>
                <a:spcPct val="0"/>
              </a:spcBef>
              <a:spcAft>
                <a:spcPct val="0"/>
              </a:spcAft>
              <a:buClr>
                <a:srgbClr val="FFCC66"/>
              </a:buClr>
              <a:buSzPct val="80000"/>
              <a:buFont typeface="Monotype Sorts"/>
              <a:buNone/>
              <a:defRPr/>
            </a:pPr>
            <a:r>
              <a:rPr kumimoji="0" lang="en-US" altLang="zh-CN" sz="36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endParaRPr kumimoji="0" lang="en-US" altLang="zh-CN" sz="36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endParaRPr>
          </a:p>
          <a:p>
            <a:pPr marL="374650" marR="0" lvl="0" indent="-374650" algn="l" defTabSz="914400" rtl="0" eaLnBrk="0" fontAlgn="base" latinLnBrk="0" hangingPunct="0">
              <a:lnSpc>
                <a:spcPct val="150000"/>
              </a:lnSpc>
              <a:spcBef>
                <a:spcPct val="0"/>
              </a:spcBef>
              <a:spcAft>
                <a:spcPct val="0"/>
              </a:spcAft>
              <a:buClr>
                <a:srgbClr val="FFCC66"/>
              </a:buClr>
              <a:buSzPct val="80000"/>
              <a:buFont typeface="Monotype Sorts"/>
              <a:buNone/>
              <a:defRPr/>
            </a:pPr>
            <a:r>
              <a:rPr kumimoji="0" lang="en-US" altLang="zh-CN" sz="3600" b="1" i="0" u="none" strike="noStrike" kern="1200" cap="none" spc="0" normalizeH="0" baseline="0" noProof="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if (</a:t>
            </a:r>
            <a:r>
              <a:rPr kumimoji="0"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递归终止条件</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endParaRPr kumimoji="0" lang="en-US" altLang="zh-CN"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850900" marR="0" lvl="1" indent="-285750" algn="l" defTabSz="914400" rtl="0" eaLnBrk="0" fontAlgn="base" latinLnBrk="0" hangingPunct="0">
              <a:lnSpc>
                <a:spcPct val="150000"/>
              </a:lnSpc>
              <a:spcBef>
                <a:spcPct val="0"/>
              </a:spcBef>
              <a:spcAft>
                <a:spcPct val="0"/>
              </a:spcAft>
              <a:buClr>
                <a:srgbClr val="FFCC66"/>
              </a:buClr>
              <a:buSzPct val="115000"/>
              <a:buFont typeface="Wingdings" panose="05000000000000000000" pitchFamily="2" charset="2"/>
              <a:buNone/>
              <a:defRPr/>
            </a:pPr>
            <a:r>
              <a:rPr kumimoji="0" lang="en-US" altLang="zh-CN" sz="2800" b="1" i="0" u="none" strike="noStrike" kern="1200" cap="none" spc="0" normalizeH="0" baseline="0" noProof="0">
                <a:ln>
                  <a:noFill/>
                </a:ln>
                <a:solidFill>
                  <a:srgbClr val="CC00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return  </a:t>
            </a:r>
            <a:r>
              <a:rPr kumimoji="0"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宋体" pitchFamily="2" charset="-122"/>
                <a:cs typeface="Times New Roman" panose="02020503050405090304" pitchFamily="18" charset="0"/>
              </a:rPr>
              <a:t>递归公式的初值</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endPar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a:p>
            <a:pPr marL="850900" marR="0" lvl="1" indent="-285750" algn="l" defTabSz="914400" rtl="0" eaLnBrk="0" fontAlgn="base" latinLnBrk="0" hangingPunct="0">
              <a:lnSpc>
                <a:spcPct val="150000"/>
              </a:lnSpc>
              <a:spcBef>
                <a:spcPct val="0"/>
              </a:spcBef>
              <a:spcAft>
                <a:spcPct val="0"/>
              </a:spcAft>
              <a:buClr>
                <a:srgbClr val="FFCC66"/>
              </a:buClr>
              <a:buSzPct val="115000"/>
              <a:buFont typeface="Wingdings" panose="05000000000000000000" pitchFamily="2" charset="2"/>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else</a:t>
            </a:r>
            <a:endPar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a:p>
            <a:pPr marL="850900" marR="0" lvl="1" indent="-285750" algn="l" defTabSz="914400" rtl="0" eaLnBrk="0" fontAlgn="base" latinLnBrk="0" hangingPunct="0">
              <a:lnSpc>
                <a:spcPct val="150000"/>
              </a:lnSpc>
              <a:spcBef>
                <a:spcPct val="0"/>
              </a:spcBef>
              <a:spcAft>
                <a:spcPct val="0"/>
              </a:spcAft>
              <a:buClr>
                <a:srgbClr val="FFCC66"/>
              </a:buClr>
              <a:buSzPct val="115000"/>
              <a:buFont typeface="Wingdings" panose="05000000000000000000" pitchFamily="2" charset="2"/>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return  </a:t>
            </a:r>
            <a:r>
              <a:rPr kumimoji="0"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宋体" pitchFamily="2" charset="-122"/>
                <a:cs typeface="Times New Roman" panose="02020503050405090304" pitchFamily="18" charset="0"/>
              </a:rPr>
              <a:t>递归函数调用返回的结果值</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a:t>
            </a:r>
            <a:r>
              <a:rPr kumimoji="0" lang="en-US" altLang="zh-CN" sz="2800" b="1" i="0" u="none" strike="noStrike" kern="1200" cap="none" spc="0" normalizeH="0" baseline="0" noProof="0">
                <a:ln>
                  <a:noFill/>
                </a:ln>
                <a:solidFill>
                  <a:srgbClr val="CC00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r>
              <a:rPr kumimoji="0" lang="zh-CN" altLang="en-US" sz="2800" b="1" i="0" u="none" strike="noStrike" kern="1200" cap="none" spc="0" normalizeH="0" baseline="0" noProof="0">
                <a:ln>
                  <a:noFill/>
                </a:ln>
                <a:solidFill>
                  <a:srgbClr val="CC00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endParaRPr kumimoji="0" lang="zh-CN" altLang="en-US" sz="2800" b="1" i="0" u="none" strike="noStrike" kern="1200" cap="none" spc="0" normalizeH="0" baseline="0" noProof="0">
              <a:ln>
                <a:noFill/>
              </a:ln>
              <a:solidFill>
                <a:srgbClr val="CC00CC"/>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p:txBody>
      </p:sp>
      <p:sp>
        <p:nvSpPr>
          <p:cNvPr id="3" name="AutoShape 6"/>
          <p:cNvSpPr/>
          <p:nvPr/>
        </p:nvSpPr>
        <p:spPr>
          <a:xfrm>
            <a:off x="7319963" y="2781300"/>
            <a:ext cx="3024187" cy="1008063"/>
          </a:xfrm>
          <a:prstGeom prst="wedgeEllipseCallout">
            <a:avLst>
              <a:gd name="adj1" fmla="val -52153"/>
              <a:gd name="adj2" fmla="val 64889"/>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zh-CN" altLang="en-US" sz="2400" b="1" dirty="0">
                <a:solidFill>
                  <a:srgbClr val="C00000"/>
                </a:solidFill>
                <a:latin typeface="黑体" panose="02010609060101010101" pitchFamily="49" charset="-122"/>
                <a:ea typeface="黑体" panose="02010609060101010101" pitchFamily="49" charset="-122"/>
              </a:rPr>
              <a:t>基本条件</a:t>
            </a:r>
            <a:r>
              <a:rPr lang="zh-CN" altLang="en-US" sz="2400" b="1" dirty="0">
                <a:solidFill>
                  <a:srgbClr val="000066"/>
                </a:solidFill>
                <a:latin typeface="黑体" panose="02010609060101010101" pitchFamily="49" charset="-122"/>
                <a:ea typeface="黑体" panose="02010609060101010101" pitchFamily="49" charset="-122"/>
              </a:rPr>
              <a:t>控制</a:t>
            </a:r>
            <a:r>
              <a:rPr lang="en-US" altLang="zh-CN" sz="2400" b="1" dirty="0">
                <a:solidFill>
                  <a:srgbClr val="000066"/>
                </a:solidFill>
                <a:latin typeface="黑体" panose="02010609060101010101" pitchFamily="49" charset="-122"/>
                <a:ea typeface="黑体" panose="02010609060101010101" pitchFamily="49" charset="-122"/>
              </a:rPr>
              <a:t>递归</a:t>
            </a:r>
            <a:r>
              <a:rPr lang="zh-CN" altLang="en-US" sz="2400" b="1" dirty="0">
                <a:solidFill>
                  <a:srgbClr val="000066"/>
                </a:solidFill>
                <a:latin typeface="黑体" panose="02010609060101010101" pitchFamily="49" charset="-122"/>
                <a:ea typeface="黑体" panose="02010609060101010101" pitchFamily="49" charset="-122"/>
              </a:rPr>
              <a:t>调用结束</a:t>
            </a:r>
            <a:endParaRPr lang="zh-CN" altLang="en-US" sz="2400" b="1" dirty="0">
              <a:solidFill>
                <a:srgbClr val="000066"/>
              </a:solidFill>
              <a:latin typeface="黑体" panose="02010609060101010101" pitchFamily="49" charset="-122"/>
              <a:ea typeface="黑体" panose="02010609060101010101" pitchFamily="49" charset="-122"/>
            </a:endParaRPr>
          </a:p>
        </p:txBody>
      </p:sp>
      <p:sp>
        <p:nvSpPr>
          <p:cNvPr id="8" name="AutoShape 6"/>
          <p:cNvSpPr/>
          <p:nvPr/>
        </p:nvSpPr>
        <p:spPr>
          <a:xfrm>
            <a:off x="2424113" y="2060575"/>
            <a:ext cx="5040312" cy="1081088"/>
          </a:xfrm>
          <a:prstGeom prst="wedgeEllipseCallout">
            <a:avLst>
              <a:gd name="adj1" fmla="val -29037"/>
              <a:gd name="adj2" fmla="val 60667"/>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zh-CN" altLang="en-US" sz="2400" b="1" dirty="0">
                <a:solidFill>
                  <a:srgbClr val="333399"/>
                </a:solidFill>
                <a:latin typeface="黑体" panose="02010609060101010101" pitchFamily="49" charset="-122"/>
                <a:ea typeface="黑体" panose="02010609060101010101" pitchFamily="49" charset="-122"/>
              </a:rPr>
              <a:t>仅当满足一定条件时，递归终止，称为</a:t>
            </a:r>
            <a:r>
              <a:rPr lang="zh-CN" altLang="en-US" sz="2400" b="1" dirty="0">
                <a:solidFill>
                  <a:srgbClr val="C00000"/>
                </a:solidFill>
                <a:latin typeface="黑体" panose="02010609060101010101" pitchFamily="49" charset="-122"/>
                <a:ea typeface="黑体" panose="02010609060101010101" pitchFamily="49" charset="-122"/>
              </a:rPr>
              <a:t>条件递归</a:t>
            </a:r>
            <a:endParaRPr lang="zh-CN" altLang="en-US" sz="2400" b="1" dirty="0">
              <a:solidFill>
                <a:srgbClr val="000066"/>
              </a:solidFill>
              <a:latin typeface="黑体" panose="02010609060101010101" pitchFamily="49" charset="-122"/>
              <a:ea typeface="黑体" panose="02010609060101010101" pitchFamily="49" charset="-122"/>
            </a:endParaRPr>
          </a:p>
        </p:txBody>
      </p:sp>
      <p:sp>
        <p:nvSpPr>
          <p:cNvPr id="2" name="AutoShape 6"/>
          <p:cNvSpPr/>
          <p:nvPr/>
        </p:nvSpPr>
        <p:spPr>
          <a:xfrm>
            <a:off x="7286625" y="3933825"/>
            <a:ext cx="3130550" cy="1333500"/>
          </a:xfrm>
          <a:prstGeom prst="wedgeEllipseCallout">
            <a:avLst>
              <a:gd name="adj1" fmla="val -49773"/>
              <a:gd name="adj2" fmla="val 46046"/>
            </a:avLst>
          </a:prstGeom>
          <a:solidFill>
            <a:srgbClr val="FFFFCC"/>
          </a:solidFill>
          <a:ln w="12700" cap="flat" cmpd="sng">
            <a:solidFill>
              <a:srgbClr val="3366FF"/>
            </a:solidFill>
            <a:prstDash val="solid"/>
            <a:miter/>
            <a:headEnd type="none" w="sm" len="sm"/>
            <a:tailEnd type="none" w="sm" len="sm"/>
          </a:ln>
        </p:spPr>
        <p:txBody>
          <a:bodyPr anchor="t" anchorCtr="0"/>
          <a:lstStyle/>
          <a:p>
            <a:pPr eaLnBrk="0" hangingPunct="0">
              <a:lnSpc>
                <a:spcPct val="85000"/>
              </a:lnSpc>
              <a:spcBef>
                <a:spcPts val="590"/>
              </a:spcBef>
              <a:spcAft>
                <a:spcPts val="590"/>
              </a:spcAft>
              <a:buClr>
                <a:schemeClr val="tx2"/>
              </a:buClr>
              <a:buSzPct val="80000"/>
              <a:buFont typeface="Wingdings" panose="05000000000000000000" pitchFamily="2" charset="2"/>
            </a:pPr>
            <a:r>
              <a:rPr lang="zh-CN" altLang="en-US" sz="2400" b="1" dirty="0">
                <a:solidFill>
                  <a:srgbClr val="C00000"/>
                </a:solidFill>
                <a:latin typeface="黑体" panose="02010609060101010101" pitchFamily="49" charset="-122"/>
                <a:ea typeface="黑体" panose="02010609060101010101" pitchFamily="49" charset="-122"/>
              </a:rPr>
              <a:t>一般条件</a:t>
            </a:r>
            <a:r>
              <a:rPr lang="zh-CN" altLang="en-US" sz="2400" b="1" dirty="0">
                <a:solidFill>
                  <a:srgbClr val="000066"/>
                </a:solidFill>
                <a:latin typeface="黑体" panose="02010609060101010101" pitchFamily="49" charset="-122"/>
                <a:ea typeface="黑体" panose="02010609060101010101" pitchFamily="49" charset="-122"/>
              </a:rPr>
              <a:t>控制</a:t>
            </a:r>
            <a:r>
              <a:rPr lang="en-US" altLang="zh-CN" sz="2400" b="1" dirty="0">
                <a:solidFill>
                  <a:srgbClr val="000066"/>
                </a:solidFill>
                <a:latin typeface="黑体" panose="02010609060101010101" pitchFamily="49" charset="-122"/>
                <a:ea typeface="黑体" panose="02010609060101010101" pitchFamily="49" charset="-122"/>
              </a:rPr>
              <a:t>递归</a:t>
            </a:r>
            <a:r>
              <a:rPr lang="zh-CN" altLang="en-US" sz="2400" b="1" dirty="0">
                <a:solidFill>
                  <a:srgbClr val="000066"/>
                </a:solidFill>
                <a:latin typeface="黑体" panose="02010609060101010101" pitchFamily="49" charset="-122"/>
                <a:ea typeface="黑体" panose="02010609060101010101" pitchFamily="49" charset="-122"/>
              </a:rPr>
              <a:t>调用向基本条件转化</a:t>
            </a:r>
            <a:endParaRPr lang="zh-CN" altLang="en-US" sz="2400" b="1" dirty="0">
              <a:solidFill>
                <a:srgbClr val="000066"/>
              </a:solidFill>
              <a:latin typeface="黑体" panose="02010609060101010101" pitchFamily="49" charset="-122"/>
              <a:ea typeface="黑体" panose="02010609060101010101" pitchFamily="49" charset="-122"/>
            </a:endParaRPr>
          </a:p>
          <a:p>
            <a:pPr eaLnBrk="0" hangingPunct="0">
              <a:lnSpc>
                <a:spcPct val="85000"/>
              </a:lnSpc>
              <a:spcBef>
                <a:spcPts val="590"/>
              </a:spcBef>
              <a:spcAft>
                <a:spcPts val="590"/>
              </a:spcAft>
              <a:buClr>
                <a:schemeClr val="tx2"/>
              </a:buClr>
              <a:buSzPct val="80000"/>
              <a:buFont typeface="Wingdings" panose="05000000000000000000" pitchFamily="2" charset="2"/>
            </a:pPr>
            <a:endParaRPr lang="zh-CN" altLang="en-US" sz="2400" b="1" dirty="0">
              <a:solidFill>
                <a:srgbClr val="000066"/>
              </a:solidFill>
              <a:latin typeface="宋体" pitchFamily="2" charset="-122"/>
              <a:ea typeface="宋体" pitchFamily="2" charset="-122"/>
            </a:endParaRPr>
          </a:p>
        </p:txBody>
      </p:sp>
      <p:sp>
        <p:nvSpPr>
          <p:cNvPr id="6" name="灯片编号占位符 5"/>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 calcmode="lin" valueType="num">
                                      <p:cBhvr>
                                        <p:cTn id="7" dur="500" fill="hold"/>
                                        <p:tgtEl>
                                          <p:spTgt spid="61030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030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1030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8" grpId="0" animBg="1"/>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2.5 </a:t>
            </a:r>
            <a:r>
              <a:rPr lang="zh-CN" altLang="en-US" kern="1200" dirty="0">
                <a:latin typeface="Arial" panose="020B0604020202090204" pitchFamily="34" charset="0"/>
                <a:ea typeface="黑体" panose="02010609060101010101" pitchFamily="49" charset="-122"/>
                <a:cs typeface="Arial" panose="020B0604020202090204" pitchFamily="34" charset="0"/>
              </a:rPr>
              <a:t>递归函数</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147459" name="Rectangle 3"/>
          <p:cNvSpPr>
            <a:spLocks noGrp="1"/>
          </p:cNvSpPr>
          <p:nvPr>
            <p:ph idx="1"/>
          </p:nvPr>
        </p:nvSpPr>
        <p:spPr>
          <a:xfrm>
            <a:off x="1703388" y="1484313"/>
            <a:ext cx="8713787" cy="4972050"/>
          </a:xfrm>
        </p:spPr>
        <p:txBody>
          <a:bodyPr vert="horz" wrap="square" lIns="91440" tIns="45720" rIns="91440" bIns="45720" anchor="t" anchorCtr="0"/>
          <a:lstStyle/>
          <a:p>
            <a:pPr>
              <a:buSzPct val="50000"/>
            </a:pPr>
            <a:r>
              <a:rPr lang="zh-CN" altLang="zh-CN" kern="1200" dirty="0">
                <a:latin typeface="华文仿宋" panose="02010600040101010101" pitchFamily="2" charset="-122"/>
                <a:ea typeface="黑体" panose="02010609060101010101" pitchFamily="49" charset="-122"/>
                <a:cs typeface="+mn-cs"/>
              </a:rPr>
              <a:t>任何递归调用都必须向着“基本条件”的方向进行</a:t>
            </a:r>
            <a:endParaRPr lang="en-US" altLang="zh-CN" kern="1200" dirty="0">
              <a:latin typeface="华文仿宋" panose="02010600040101010101" pitchFamily="2" charset="-122"/>
              <a:ea typeface="黑体" panose="02010609060101010101" pitchFamily="49" charset="-122"/>
              <a:cs typeface="+mn-cs"/>
            </a:endParaRPr>
          </a:p>
          <a:p>
            <a:pPr lvl="1">
              <a:buSzPct val="50000"/>
            </a:pPr>
            <a:r>
              <a:rPr lang="zh-CN" altLang="en-US" kern="1200" dirty="0">
                <a:latin typeface="楷体_GB2312" pitchFamily="49" charset="-122"/>
                <a:ea typeface="黑体" panose="02010609060101010101" pitchFamily="49" charset="-122"/>
                <a:cs typeface="Times New Roman" panose="02020503050405090304" pitchFamily="18" charset="0"/>
              </a:rPr>
              <a:t>递归调用能在有限次数内终止，否则将无限循环</a:t>
            </a:r>
            <a:endParaRPr lang="zh-CN" altLang="en-US" kern="1200" dirty="0">
              <a:latin typeface="楷体_GB2312" pitchFamily="49" charset="-122"/>
              <a:ea typeface="黑体" panose="02010609060101010101" pitchFamily="49" charset="-122"/>
              <a:cs typeface="Times New Roman" panose="02020503050405090304" pitchFamily="18" charset="0"/>
            </a:endParaRPr>
          </a:p>
          <a:p>
            <a:pPr>
              <a:buSzPct val="50000"/>
            </a:pPr>
            <a:r>
              <a:rPr lang="zh-CN" altLang="en-US" kern="1200" dirty="0">
                <a:latin typeface="Times New Roman" panose="02020503050405090304" pitchFamily="18" charset="0"/>
                <a:ea typeface="黑体" panose="02010609060101010101" pitchFamily="49" charset="-122"/>
                <a:cs typeface="+mn-cs"/>
              </a:rPr>
              <a:t>老和尚讲故事的“无穷故事”</a:t>
            </a:r>
            <a:endParaRPr lang="zh-CN" altLang="en-US" kern="1200" dirty="0">
              <a:latin typeface="Times New Roman" panose="02020503050405090304" pitchFamily="18" charset="0"/>
              <a:ea typeface="黑体" panose="02010609060101010101" pitchFamily="49" charset="-122"/>
              <a:cs typeface="+mn-cs"/>
            </a:endParaRPr>
          </a:p>
          <a:p>
            <a:pPr lvl="1">
              <a:buSzPct val="50000"/>
            </a:pPr>
            <a:r>
              <a:rPr lang="zh-CN" altLang="en-US" kern="1200" dirty="0">
                <a:latin typeface="Arial" panose="020B0604020202090204" pitchFamily="34" charset="0"/>
                <a:ea typeface="黑体" panose="02010609060101010101" pitchFamily="49" charset="-122"/>
                <a:cs typeface="Times New Roman" panose="02020503050405090304" pitchFamily="18" charset="0"/>
              </a:rPr>
              <a:t>从前有座山，山上有座庙，庙里有个老和尚，老和尚给小和尚讲故事，故事说 </a:t>
            </a: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a:p>
            <a:pPr lvl="1">
              <a:buSzPct val="50000"/>
            </a:pPr>
            <a:r>
              <a:rPr lang="zh-CN" altLang="en-US" kern="1200" dirty="0">
                <a:latin typeface="Arial" panose="020B0604020202090204" pitchFamily="34" charset="0"/>
                <a:ea typeface="黑体" panose="02010609060101010101" pitchFamily="49" charset="-122"/>
                <a:cs typeface="Times New Roman" panose="02020503050405090304" pitchFamily="18" charset="0"/>
              </a:rPr>
              <a:t>“从前有座山，山上有座庙，庙里有个老和尚，老和尚给小和尚讲故事，故事说</a:t>
            </a: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a:p>
            <a:pPr lvl="1">
              <a:buSzPct val="50000"/>
            </a:pPr>
            <a:r>
              <a:rPr lang="zh-CN" altLang="en-US" kern="1200" dirty="0">
                <a:latin typeface="Arial" panose="020B0604020202090204" pitchFamily="34" charset="0"/>
                <a:ea typeface="黑体" panose="02010609060101010101" pitchFamily="49" charset="-122"/>
                <a:cs typeface="Times New Roman" panose="02020503050405090304" pitchFamily="18" charset="0"/>
              </a:rPr>
              <a:t>递归将永无终止，无穷递归</a:t>
            </a: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a:p>
            <a:pPr lvl="1">
              <a:buSzPct val="50000"/>
            </a:pP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marL="914400" lvl="2" indent="0">
              <a:lnSpc>
                <a:spcPct val="110000"/>
              </a:lnSpc>
              <a:buSzPct val="50000"/>
              <a:buFont typeface="Wingdings 2" panose="05020102010507070707" pitchFamily="18" charset="2"/>
              <a:buNone/>
            </a:pPr>
            <a:endParaRPr lang="zh-CN" altLang="en-US" kern="1200" dirty="0">
              <a:latin typeface="Arial" panose="020B0604020202090204" pitchFamily="34"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wipe(left)">
                                      <p:cBhvr>
                                        <p:cTn id="7" dur="500"/>
                                        <p:tgtEl>
                                          <p:spTgt spid="147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7459">
                                            <p:txEl>
                                              <p:pRg st="1" end="1"/>
                                            </p:txEl>
                                          </p:spTgt>
                                        </p:tgtEl>
                                        <p:attrNameLst>
                                          <p:attrName>style.visibility</p:attrName>
                                        </p:attrNameLst>
                                      </p:cBhvr>
                                      <p:to>
                                        <p:strVal val="visible"/>
                                      </p:to>
                                    </p:set>
                                    <p:animEffect transition="in" filter="wipe(left)">
                                      <p:cBhvr>
                                        <p:cTn id="12" dur="500"/>
                                        <p:tgtEl>
                                          <p:spTgt spid="147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7459">
                                            <p:txEl>
                                              <p:pRg st="2" end="2"/>
                                            </p:txEl>
                                          </p:spTgt>
                                        </p:tgtEl>
                                        <p:attrNameLst>
                                          <p:attrName>style.visibility</p:attrName>
                                        </p:attrNameLst>
                                      </p:cBhvr>
                                      <p:to>
                                        <p:strVal val="visible"/>
                                      </p:to>
                                    </p:set>
                                    <p:animEffect transition="in" filter="wipe(left)">
                                      <p:cBhvr>
                                        <p:cTn id="17" dur="500"/>
                                        <p:tgtEl>
                                          <p:spTgt spid="147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7459">
                                            <p:txEl>
                                              <p:pRg st="3" end="3"/>
                                            </p:txEl>
                                          </p:spTgt>
                                        </p:tgtEl>
                                        <p:attrNameLst>
                                          <p:attrName>style.visibility</p:attrName>
                                        </p:attrNameLst>
                                      </p:cBhvr>
                                      <p:to>
                                        <p:strVal val="visible"/>
                                      </p:to>
                                    </p:set>
                                    <p:animEffect transition="in" filter="wipe(left)">
                                      <p:cBhvr>
                                        <p:cTn id="22" dur="500"/>
                                        <p:tgtEl>
                                          <p:spTgt spid="147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7459">
                                            <p:txEl>
                                              <p:pRg st="4" end="4"/>
                                            </p:txEl>
                                          </p:spTgt>
                                        </p:tgtEl>
                                        <p:attrNameLst>
                                          <p:attrName>style.visibility</p:attrName>
                                        </p:attrNameLst>
                                      </p:cBhvr>
                                      <p:to>
                                        <p:strVal val="visible"/>
                                      </p:to>
                                    </p:set>
                                    <p:animEffect transition="in" filter="wipe(left)">
                                      <p:cBhvr>
                                        <p:cTn id="27" dur="500"/>
                                        <p:tgtEl>
                                          <p:spTgt spid="1474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7459">
                                            <p:txEl>
                                              <p:pRg st="5" end="5"/>
                                            </p:txEl>
                                          </p:spTgt>
                                        </p:tgtEl>
                                        <p:attrNameLst>
                                          <p:attrName>style.visibility</p:attrName>
                                        </p:attrNameLst>
                                      </p:cBhvr>
                                      <p:to>
                                        <p:strVal val="visible"/>
                                      </p:to>
                                    </p:set>
                                    <p:animEffect transition="in" filter="wipe(left)">
                                      <p:cBhvr>
                                        <p:cTn id="32" dur="500"/>
                                        <p:tgtEl>
                                          <p:spTgt spid="147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7"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00067" name="Rectangle 3"/>
          <p:cNvSpPr>
            <a:spLocks noGrp="1"/>
          </p:cNvSpPr>
          <p:nvPr>
            <p:ph type="body" idx="4294967295"/>
          </p:nvPr>
        </p:nvSpPr>
        <p:spPr>
          <a:xfrm>
            <a:off x="1487488" y="1484313"/>
            <a:ext cx="9342437" cy="4897437"/>
          </a:xfrm>
        </p:spPr>
        <p:txBody>
          <a:bodyPr vert="horz" wrap="square" lIns="91440" tIns="45720" rIns="91440" bIns="45720" anchor="t" anchorCtr="0"/>
          <a:lstStyle/>
          <a:p>
            <a:pPr>
              <a:lnSpc>
                <a:spcPct val="120000"/>
              </a:lnSpc>
              <a:spcBef>
                <a:spcPts val="600"/>
              </a:spcBef>
              <a:spcAft>
                <a:spcPts val="600"/>
              </a:spcAft>
            </a:pPr>
            <a:r>
              <a:rPr lang="zh-CN" altLang="en-GB" dirty="0">
                <a:latin typeface="宋体" pitchFamily="2" charset="-122"/>
              </a:rPr>
              <a:t>递归方法编写程序的优点</a:t>
            </a:r>
            <a:endParaRPr lang="zh-CN" altLang="en-GB" dirty="0">
              <a:latin typeface="宋体" pitchFamily="2" charset="-122"/>
            </a:endParaRPr>
          </a:p>
          <a:p>
            <a:pPr lvl="1">
              <a:lnSpc>
                <a:spcPct val="120000"/>
              </a:lnSpc>
              <a:spcBef>
                <a:spcPts val="600"/>
              </a:spcBef>
              <a:spcAft>
                <a:spcPts val="600"/>
              </a:spcAft>
            </a:pPr>
            <a:r>
              <a:rPr lang="zh-CN" altLang="en-US" dirty="0">
                <a:latin typeface="华文仿宋" panose="02010600040101010101" pitchFamily="2" charset="-122"/>
              </a:rPr>
              <a:t>符合人的思维习惯，逼近数学公式的表示</a:t>
            </a:r>
            <a:endParaRPr lang="zh-CN" altLang="en-US" dirty="0">
              <a:latin typeface="华文仿宋" panose="02010600040101010101" pitchFamily="2" charset="-122"/>
            </a:endParaRPr>
          </a:p>
          <a:p>
            <a:pPr lvl="2">
              <a:lnSpc>
                <a:spcPct val="120000"/>
              </a:lnSpc>
              <a:spcBef>
                <a:spcPts val="600"/>
              </a:spcBef>
              <a:spcAft>
                <a:spcPts val="600"/>
              </a:spcAft>
            </a:pPr>
            <a:r>
              <a:rPr lang="zh-CN" altLang="en-GB" dirty="0">
                <a:latin typeface="宋体" pitchFamily="2" charset="-122"/>
              </a:rPr>
              <a:t>递归求阶乘程序遵循了数学中对阶乘的定义</a:t>
            </a:r>
            <a:endParaRPr lang="zh-CN" altLang="en-US" dirty="0">
              <a:latin typeface="华文仿宋" panose="02010600040101010101" pitchFamily="2" charset="-122"/>
            </a:endParaRPr>
          </a:p>
          <a:p>
            <a:pPr lvl="1">
              <a:lnSpc>
                <a:spcPct val="120000"/>
              </a:lnSpc>
              <a:spcBef>
                <a:spcPts val="600"/>
              </a:spcBef>
              <a:spcAft>
                <a:spcPts val="600"/>
              </a:spcAft>
            </a:pPr>
            <a:r>
              <a:rPr lang="zh-CN" altLang="en-US" dirty="0">
                <a:latin typeface="华文仿宋" panose="02010600040101010101" pitchFamily="2" charset="-122"/>
              </a:rPr>
              <a:t>从编程角度来看，简洁、直观、精炼，</a:t>
            </a:r>
            <a:r>
              <a:rPr lang="zh-CN" altLang="en-US" dirty="0"/>
              <a:t>易编、易懂、</a:t>
            </a:r>
            <a:r>
              <a:rPr lang="zh-CN" altLang="en-US" dirty="0">
                <a:latin typeface="华文仿宋" panose="02010600040101010101" pitchFamily="2" charset="-122"/>
              </a:rPr>
              <a:t>逻辑清楚，</a:t>
            </a:r>
            <a:r>
              <a:rPr lang="zh-CN" altLang="en-GB" dirty="0">
                <a:latin typeface="宋体" pitchFamily="2" charset="-122"/>
              </a:rPr>
              <a:t>结构清晰、可读性好</a:t>
            </a:r>
            <a:endParaRPr lang="zh-CN" altLang="en-US" dirty="0">
              <a:latin typeface="华文仿宋" panose="02010600040101010101" pitchFamily="2" charset="-122"/>
            </a:endParaRPr>
          </a:p>
          <a:p>
            <a:pPr lvl="1">
              <a:lnSpc>
                <a:spcPct val="90000"/>
              </a:lnSpc>
            </a:pPr>
            <a:endParaRPr lang="zh-CN" altLang="en-US" dirty="0">
              <a:latin typeface="宋体" pitchFamily="2"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00067">
                                            <p:txEl>
                                              <p:pRg st="1" end="1"/>
                                            </p:txEl>
                                          </p:spTgt>
                                        </p:tgtEl>
                                        <p:attrNameLst>
                                          <p:attrName>style.visibility</p:attrName>
                                        </p:attrNameLst>
                                      </p:cBhvr>
                                      <p:to>
                                        <p:strVal val="visible"/>
                                      </p:to>
                                    </p:set>
                                    <p:anim calcmode="lin" valueType="num">
                                      <p:cBhvr>
                                        <p:cTn id="7" dur="500" fill="hold"/>
                                        <p:tgtEl>
                                          <p:spTgt spid="60006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0006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00067">
                                            <p:txEl>
                                              <p:pRg st="2" end="2"/>
                                            </p:txEl>
                                          </p:spTgt>
                                        </p:tgtEl>
                                        <p:attrNameLst>
                                          <p:attrName>style.visibility</p:attrName>
                                        </p:attrNameLst>
                                      </p:cBhvr>
                                      <p:to>
                                        <p:strVal val="visible"/>
                                      </p:to>
                                    </p:set>
                                    <p:anim calcmode="lin" valueType="num">
                                      <p:cBhvr>
                                        <p:cTn id="13" dur="500" fill="hold"/>
                                        <p:tgtEl>
                                          <p:spTgt spid="60006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60006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00067">
                                            <p:txEl>
                                              <p:pRg st="3" end="3"/>
                                            </p:txEl>
                                          </p:spTgt>
                                        </p:tgtEl>
                                        <p:attrNameLst>
                                          <p:attrName>style.visibility</p:attrName>
                                        </p:attrNameLst>
                                      </p:cBhvr>
                                      <p:to>
                                        <p:strVal val="visible"/>
                                      </p:to>
                                    </p:set>
                                    <p:anim calcmode="lin" valueType="num">
                                      <p:cBhvr>
                                        <p:cTn id="19" dur="500" fill="hold"/>
                                        <p:tgtEl>
                                          <p:spTgt spid="60006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600067">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00067" name="Rectangle 3"/>
          <p:cNvSpPr>
            <a:spLocks noGrp="1"/>
          </p:cNvSpPr>
          <p:nvPr>
            <p:ph type="body" idx="4294967295"/>
          </p:nvPr>
        </p:nvSpPr>
        <p:spPr>
          <a:xfrm>
            <a:off x="1487488" y="1412875"/>
            <a:ext cx="9342437" cy="5111750"/>
          </a:xfrm>
        </p:spPr>
        <p:txBody>
          <a:bodyPr vert="horz" wrap="square" lIns="91440" tIns="45720" rIns="91440" bIns="45720" anchor="t" anchorCtr="0"/>
          <a:lstStyle/>
          <a:p>
            <a:pPr>
              <a:lnSpc>
                <a:spcPct val="120000"/>
              </a:lnSpc>
              <a:spcBef>
                <a:spcPts val="600"/>
              </a:spcBef>
              <a:spcAft>
                <a:spcPts val="600"/>
              </a:spcAft>
            </a:pPr>
            <a:r>
              <a:rPr lang="zh-CN" altLang="en-GB" dirty="0">
                <a:latin typeface="宋体" pitchFamily="2" charset="-122"/>
              </a:rPr>
              <a:t>递归方法编写程序的</a:t>
            </a:r>
            <a:r>
              <a:rPr lang="zh-CN" altLang="en-US" dirty="0">
                <a:latin typeface="华文仿宋" panose="02010600040101010101" pitchFamily="2" charset="-122"/>
              </a:rPr>
              <a:t>缺点</a:t>
            </a:r>
            <a:endParaRPr lang="zh-CN" altLang="en-US" dirty="0">
              <a:latin typeface="华文仿宋" panose="02010600040101010101" pitchFamily="2" charset="-122"/>
            </a:endParaRPr>
          </a:p>
          <a:p>
            <a:pPr lvl="1">
              <a:lnSpc>
                <a:spcPct val="120000"/>
              </a:lnSpc>
              <a:spcBef>
                <a:spcPts val="600"/>
              </a:spcBef>
              <a:spcAft>
                <a:spcPts val="600"/>
              </a:spcAft>
            </a:pPr>
            <a:r>
              <a:rPr lang="zh-CN" altLang="en-GB" dirty="0">
                <a:latin typeface="宋体" pitchFamily="2" charset="-122"/>
              </a:rPr>
              <a:t>增加了函数调用开销，</a:t>
            </a:r>
            <a:r>
              <a:rPr lang="zh-CN" altLang="en-US" dirty="0">
                <a:latin typeface="宋体" pitchFamily="2" charset="-122"/>
              </a:rPr>
              <a:t>每次调用都需参数传递、现场保护等，</a:t>
            </a:r>
            <a:r>
              <a:rPr lang="zh-CN" altLang="en-US" dirty="0"/>
              <a:t>为函数使用的参数、局部变量等额外分配存储空间</a:t>
            </a:r>
            <a:endParaRPr lang="zh-CN" altLang="en-US" dirty="0">
              <a:latin typeface="宋体" pitchFamily="2" charset="-122"/>
            </a:endParaRPr>
          </a:p>
          <a:p>
            <a:pPr lvl="1">
              <a:lnSpc>
                <a:spcPct val="120000"/>
              </a:lnSpc>
              <a:spcBef>
                <a:spcPts val="600"/>
              </a:spcBef>
              <a:spcAft>
                <a:spcPts val="600"/>
              </a:spcAft>
            </a:pPr>
            <a:r>
              <a:rPr lang="zh-CN" altLang="en-US" dirty="0">
                <a:latin typeface="宋体" pitchFamily="2" charset="-122"/>
              </a:rPr>
              <a:t>耗费更多的时间和栈空间，时空效率低</a:t>
            </a:r>
            <a:endParaRPr lang="zh-CN" altLang="en-US" dirty="0">
              <a:latin typeface="宋体" pitchFamily="2" charset="-122"/>
            </a:endParaRPr>
          </a:p>
          <a:p>
            <a:pPr lvl="1">
              <a:lnSpc>
                <a:spcPct val="120000"/>
              </a:lnSpc>
              <a:spcBef>
                <a:spcPts val="600"/>
              </a:spcBef>
              <a:spcAft>
                <a:spcPts val="600"/>
              </a:spcAft>
            </a:pPr>
            <a:r>
              <a:rPr lang="zh-CN" altLang="en-US" dirty="0">
                <a:latin typeface="宋体" pitchFamily="2" charset="-122"/>
              </a:rPr>
              <a:t>重复计算多</a:t>
            </a:r>
            <a:endParaRPr lang="en-US" altLang="zh-CN" dirty="0">
              <a:latin typeface="宋体" pitchFamily="2" charset="-122"/>
            </a:endParaRPr>
          </a:p>
          <a:p>
            <a:pPr lvl="1">
              <a:lnSpc>
                <a:spcPct val="90000"/>
              </a:lnSpc>
            </a:pPr>
            <a:endParaRPr lang="zh-CN" altLang="en-US" sz="3200" dirty="0">
              <a:latin typeface="宋体" pitchFamily="2"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00067">
                                            <p:txEl>
                                              <p:pRg st="1" end="1"/>
                                            </p:txEl>
                                          </p:spTgt>
                                        </p:tgtEl>
                                        <p:attrNameLst>
                                          <p:attrName>style.visibility</p:attrName>
                                        </p:attrNameLst>
                                      </p:cBhvr>
                                      <p:to>
                                        <p:strVal val="visible"/>
                                      </p:to>
                                    </p:set>
                                    <p:anim calcmode="lin" valueType="num">
                                      <p:cBhvr>
                                        <p:cTn id="7" dur="500" fill="hold"/>
                                        <p:tgtEl>
                                          <p:spTgt spid="60006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0006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60006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00067">
                                            <p:txEl>
                                              <p:pRg st="2" end="2"/>
                                            </p:txEl>
                                          </p:spTgt>
                                        </p:tgtEl>
                                        <p:attrNameLst>
                                          <p:attrName>style.visibility</p:attrName>
                                        </p:attrNameLst>
                                      </p:cBhvr>
                                      <p:to>
                                        <p:strVal val="visible"/>
                                      </p:to>
                                    </p:set>
                                    <p:anim calcmode="lin" valueType="num">
                                      <p:cBhvr>
                                        <p:cTn id="14" dur="500" fill="hold"/>
                                        <p:tgtEl>
                                          <p:spTgt spid="60006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60006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60006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00067">
                                            <p:txEl>
                                              <p:pRg st="3" end="3"/>
                                            </p:txEl>
                                          </p:spTgt>
                                        </p:tgtEl>
                                        <p:attrNameLst>
                                          <p:attrName>style.visibility</p:attrName>
                                        </p:attrNameLst>
                                      </p:cBhvr>
                                      <p:to>
                                        <p:strVal val="visible"/>
                                      </p:to>
                                    </p:set>
                                    <p:anim calcmode="lin" valueType="num">
                                      <p:cBhvr>
                                        <p:cTn id="21" dur="500" fill="hold"/>
                                        <p:tgtEl>
                                          <p:spTgt spid="600067">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600067">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6000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5" name="Rectangle 2"/>
          <p:cNvSpPr>
            <a:spLocks noGrp="1"/>
          </p:cNvSpPr>
          <p:nvPr>
            <p:ph type="title" idx="4294967295"/>
          </p:nvPr>
        </p:nvSpPr>
        <p:spPr/>
        <p:txBody>
          <a:bodyPr vert="horz" wrap="square" lIns="91440" tIns="45720" rIns="91440" bIns="45720" anchor="ctr" anchorCtr="0"/>
          <a:lstStyle/>
          <a:p>
            <a:r>
              <a:rPr lang="en-US" altLang="zh-CN" dirty="0"/>
              <a:t>2.5 </a:t>
            </a:r>
            <a:r>
              <a:rPr lang="zh-CN" altLang="en-US" dirty="0"/>
              <a:t>递归函数</a:t>
            </a:r>
            <a:endParaRPr lang="zh-CN" altLang="en-US" dirty="0"/>
          </a:p>
        </p:txBody>
      </p:sp>
      <p:sp>
        <p:nvSpPr>
          <p:cNvPr id="600067" name="Rectangle 3"/>
          <p:cNvSpPr>
            <a:spLocks noGrp="1"/>
          </p:cNvSpPr>
          <p:nvPr>
            <p:ph type="body" idx="4294967295"/>
          </p:nvPr>
        </p:nvSpPr>
        <p:spPr>
          <a:xfrm>
            <a:off x="1571625" y="1484313"/>
            <a:ext cx="9283700" cy="5113337"/>
          </a:xfrm>
        </p:spPr>
        <p:txBody>
          <a:bodyPr vert="horz" wrap="square" lIns="91440" tIns="45720" rIns="91440" bIns="45720" anchor="t" anchorCtr="0"/>
          <a:lstStyle/>
          <a:p>
            <a:pPr>
              <a:lnSpc>
                <a:spcPct val="120000"/>
              </a:lnSpc>
              <a:spcBef>
                <a:spcPts val="600"/>
              </a:spcBef>
              <a:spcAft>
                <a:spcPts val="600"/>
              </a:spcAft>
            </a:pPr>
            <a:r>
              <a:rPr lang="zh-CN" altLang="en-US" dirty="0"/>
              <a:t>通常下面三种情况需要使用递归：</a:t>
            </a:r>
            <a:endParaRPr lang="zh-CN" altLang="en-US" dirty="0"/>
          </a:p>
          <a:p>
            <a:pPr lvl="1">
              <a:lnSpc>
                <a:spcPct val="120000"/>
              </a:lnSpc>
              <a:spcBef>
                <a:spcPts val="600"/>
              </a:spcBef>
              <a:spcAft>
                <a:spcPts val="600"/>
              </a:spcAft>
            </a:pPr>
            <a:r>
              <a:rPr lang="zh-CN" altLang="en-US" dirty="0"/>
              <a:t>数学定义递归的，如计算阶乘</a:t>
            </a:r>
            <a:endParaRPr lang="zh-CN" altLang="en-US" dirty="0"/>
          </a:p>
          <a:p>
            <a:pPr lvl="1">
              <a:lnSpc>
                <a:spcPct val="120000"/>
              </a:lnSpc>
              <a:spcBef>
                <a:spcPts val="600"/>
              </a:spcBef>
              <a:spcAft>
                <a:spcPts val="600"/>
              </a:spcAft>
            </a:pPr>
            <a:r>
              <a:rPr lang="zh-CN" altLang="en-US" dirty="0"/>
              <a:t>数据结构是递归的，如单向链表</a:t>
            </a:r>
            <a:endParaRPr lang="zh-CN" altLang="en-US" dirty="0"/>
          </a:p>
          <a:p>
            <a:pPr lvl="1">
              <a:lnSpc>
                <a:spcPct val="120000"/>
              </a:lnSpc>
              <a:spcBef>
                <a:spcPts val="600"/>
              </a:spcBef>
              <a:spcAft>
                <a:spcPts val="600"/>
              </a:spcAft>
            </a:pPr>
            <a:r>
              <a:rPr lang="zh-CN" altLang="en-US" dirty="0"/>
              <a:t>问题的解法是递归的</a:t>
            </a:r>
            <a:endParaRPr lang="zh-CN" altLang="en-US" sz="2000" dirty="0"/>
          </a:p>
          <a:p>
            <a:pPr lvl="2">
              <a:lnSpc>
                <a:spcPct val="120000"/>
              </a:lnSpc>
              <a:spcBef>
                <a:spcPts val="600"/>
              </a:spcBef>
              <a:spcAft>
                <a:spcPts val="600"/>
              </a:spcAft>
            </a:pPr>
            <a:r>
              <a:rPr lang="zh-CN" altLang="en-US" dirty="0">
                <a:solidFill>
                  <a:srgbClr val="000099"/>
                </a:solidFill>
              </a:rPr>
              <a:t>非数值计算领域存在很多必须用递归法才能解决的经典问题</a:t>
            </a:r>
            <a:endParaRPr lang="zh-CN" altLang="en-US" dirty="0">
              <a:solidFill>
                <a:srgbClr val="000099"/>
              </a:solidFill>
            </a:endParaRPr>
          </a:p>
          <a:p>
            <a:pPr lvl="3">
              <a:lnSpc>
                <a:spcPct val="120000"/>
              </a:lnSpc>
              <a:spcBef>
                <a:spcPts val="600"/>
              </a:spcBef>
              <a:spcAft>
                <a:spcPts val="600"/>
              </a:spcAft>
            </a:pPr>
            <a:r>
              <a:rPr lang="en-US" altLang="zh-CN" sz="2400" dirty="0">
                <a:solidFill>
                  <a:srgbClr val="000099"/>
                </a:solidFill>
              </a:rPr>
              <a:t>Hanoi</a:t>
            </a:r>
            <a:r>
              <a:rPr lang="zh-CN" altLang="en-US" sz="2400" dirty="0">
                <a:solidFill>
                  <a:srgbClr val="000099"/>
                </a:solidFill>
              </a:rPr>
              <a:t>塔，骑士游历、八皇后问题（回溯法）</a:t>
            </a:r>
            <a:endParaRPr lang="zh-CN" altLang="en-US" sz="2400" dirty="0">
              <a:solidFill>
                <a:srgbClr val="000099"/>
              </a:solidFill>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00067">
                                            <p:txEl>
                                              <p:pRg st="1" end="1"/>
                                            </p:txEl>
                                          </p:spTgt>
                                        </p:tgtEl>
                                        <p:attrNameLst>
                                          <p:attrName>style.visibility</p:attrName>
                                        </p:attrNameLst>
                                      </p:cBhvr>
                                      <p:to>
                                        <p:strVal val="visible"/>
                                      </p:to>
                                    </p:set>
                                    <p:anim calcmode="lin" valueType="num">
                                      <p:cBhvr>
                                        <p:cTn id="7" dur="500" fill="hold"/>
                                        <p:tgtEl>
                                          <p:spTgt spid="60006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0006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00067">
                                            <p:txEl>
                                              <p:pRg st="2" end="2"/>
                                            </p:txEl>
                                          </p:spTgt>
                                        </p:tgtEl>
                                        <p:attrNameLst>
                                          <p:attrName>style.visibility</p:attrName>
                                        </p:attrNameLst>
                                      </p:cBhvr>
                                      <p:to>
                                        <p:strVal val="visible"/>
                                      </p:to>
                                    </p:set>
                                    <p:anim calcmode="lin" valueType="num">
                                      <p:cBhvr>
                                        <p:cTn id="13" dur="500" fill="hold"/>
                                        <p:tgtEl>
                                          <p:spTgt spid="60006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60006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00067">
                                            <p:txEl>
                                              <p:pRg st="3" end="3"/>
                                            </p:txEl>
                                          </p:spTgt>
                                        </p:tgtEl>
                                        <p:attrNameLst>
                                          <p:attrName>style.visibility</p:attrName>
                                        </p:attrNameLst>
                                      </p:cBhvr>
                                      <p:to>
                                        <p:strVal val="visible"/>
                                      </p:to>
                                    </p:set>
                                    <p:anim calcmode="lin" valueType="num">
                                      <p:cBhvr>
                                        <p:cTn id="19" dur="500" fill="hold"/>
                                        <p:tgtEl>
                                          <p:spTgt spid="60006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600067">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600067">
                                            <p:txEl>
                                              <p:pRg st="4" end="4"/>
                                            </p:txEl>
                                          </p:spTgt>
                                        </p:tgtEl>
                                        <p:attrNameLst>
                                          <p:attrName>style.visibility</p:attrName>
                                        </p:attrNameLst>
                                      </p:cBhvr>
                                      <p:to>
                                        <p:strVal val="visible"/>
                                      </p:to>
                                    </p:set>
                                    <p:anim calcmode="lin" valueType="num">
                                      <p:cBhvr>
                                        <p:cTn id="25" dur="500" fill="hold"/>
                                        <p:tgtEl>
                                          <p:spTgt spid="600067">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600067">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600067">
                                            <p:txEl>
                                              <p:pRg st="5" end="5"/>
                                            </p:txEl>
                                          </p:spTgt>
                                        </p:tgtEl>
                                        <p:attrNameLst>
                                          <p:attrName>style.visibility</p:attrName>
                                        </p:attrNameLst>
                                      </p:cBhvr>
                                      <p:to>
                                        <p:strVal val="visible"/>
                                      </p:to>
                                    </p:set>
                                    <p:anim calcmode="lin" valueType="num">
                                      <p:cBhvr>
                                        <p:cTn id="31" dur="500" fill="hold"/>
                                        <p:tgtEl>
                                          <p:spTgt spid="600067">
                                            <p:txEl>
                                              <p:pRg st="5" end="5"/>
                                            </p:txEl>
                                          </p:spTgt>
                                        </p:tgtEl>
                                        <p:attrNameLst>
                                          <p:attrName>ppt_w</p:attrName>
                                        </p:attrNameLst>
                                      </p:cBhvr>
                                      <p:tavLst>
                                        <p:tav tm="0">
                                          <p:val>
                                            <p:fltVal val="0"/>
                                          </p:val>
                                        </p:tav>
                                        <p:tav tm="100000">
                                          <p:val>
                                            <p:strVal val="#ppt_w"/>
                                          </p:val>
                                        </p:tav>
                                      </p:tavLst>
                                    </p:anim>
                                    <p:anim calcmode="lin" valueType="num">
                                      <p:cBhvr>
                                        <p:cTn id="32" dur="500" fill="hold"/>
                                        <p:tgtEl>
                                          <p:spTgt spid="600067">
                                            <p:txEl>
                                              <p:pRg st="5" end="5"/>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8849" name="图片 9"/>
          <p:cNvPicPr>
            <a:picLocks noChangeAspect="1"/>
          </p:cNvPicPr>
          <p:nvPr/>
        </p:nvPicPr>
        <p:blipFill>
          <a:blip r:embed="rId1">
            <a:clrChange>
              <a:clrFrom>
                <a:srgbClr val="FFFFFD"/>
              </a:clrFrom>
              <a:clrTo>
                <a:srgbClr val="FFFFFD">
                  <a:alpha val="0"/>
                </a:srgbClr>
              </a:clrTo>
            </a:clrChange>
          </a:blip>
          <a:stretch>
            <a:fillRect/>
          </a:stretch>
        </p:blipFill>
        <p:spPr>
          <a:xfrm>
            <a:off x="10182225" y="2133600"/>
            <a:ext cx="866775" cy="1695450"/>
          </a:xfrm>
          <a:prstGeom prst="rect">
            <a:avLst/>
          </a:prstGeom>
          <a:noFill/>
          <a:ln w="9525">
            <a:noFill/>
          </a:ln>
        </p:spPr>
      </p:pic>
      <p:sp>
        <p:nvSpPr>
          <p:cNvPr id="78850" name="AutoShape 4"/>
          <p:cNvSpPr/>
          <p:nvPr/>
        </p:nvSpPr>
        <p:spPr>
          <a:xfrm>
            <a:off x="8688388" y="908050"/>
            <a:ext cx="1943100" cy="1150938"/>
          </a:xfrm>
          <a:prstGeom prst="cloudCallout">
            <a:avLst>
              <a:gd name="adj1" fmla="val 41505"/>
              <a:gd name="adj2" fmla="val 55792"/>
            </a:avLst>
          </a:prstGeom>
          <a:solidFill>
            <a:srgbClr val="FFFFCC"/>
          </a:solidFill>
          <a:ln w="38100" cap="flat" cmpd="sng">
            <a:solidFill>
              <a:srgbClr val="FF6600"/>
            </a:solidFill>
            <a:prstDash val="solid"/>
            <a:round/>
            <a:headEnd type="none" w="med" len="med"/>
            <a:tailEnd type="none" w="med" len="med"/>
          </a:ln>
        </p:spPr>
        <p:txBody>
          <a:bodyPr lIns="0" tIns="0" rIns="0" bIns="0" anchor="t"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r>
              <a:rPr lang="zh-CN" altLang="en-US" sz="2800" dirty="0">
                <a:solidFill>
                  <a:srgbClr val="000099"/>
                </a:solidFill>
                <a:latin typeface="Arial" panose="020B0604020202090204" pitchFamily="34" charset="0"/>
                <a:ea typeface="黑体" panose="02010609060101010101" pitchFamily="49" charset="-122"/>
              </a:rPr>
              <a:t>何谓模块化？</a:t>
            </a:r>
            <a:endParaRPr lang="zh-CN" altLang="en-US" sz="2800" dirty="0">
              <a:solidFill>
                <a:srgbClr val="000099"/>
              </a:solidFill>
              <a:latin typeface="Arial" panose="020B0604020202090204" pitchFamily="34" charset="0"/>
              <a:ea typeface="黑体" panose="02010609060101010101" pitchFamily="49" charset="-122"/>
            </a:endParaRPr>
          </a:p>
        </p:txBody>
      </p:sp>
      <p:sp>
        <p:nvSpPr>
          <p:cNvPr id="78851" name="Rectangle 2"/>
          <p:cNvSpPr>
            <a:spLocks noGrp="1"/>
          </p:cNvSpPr>
          <p:nvPr>
            <p:ph type="title"/>
          </p:nvPr>
        </p:nvSpPr>
        <p:spPr>
          <a:xfrm>
            <a:off x="1703388" y="260350"/>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2.6 </a:t>
            </a:r>
            <a:r>
              <a:rPr lang="zh-CN" altLang="en-US" kern="1200" dirty="0">
                <a:latin typeface="Arial" panose="020B0604020202090204" pitchFamily="34" charset="0"/>
                <a:ea typeface="黑体" panose="02010609060101010101" pitchFamily="49" charset="-122"/>
                <a:cs typeface="Arial" panose="020B0604020202090204" pitchFamily="34" charset="0"/>
              </a:rPr>
              <a:t>模块化程序设计</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71395" name="Rectangle 3"/>
          <p:cNvSpPr>
            <a:spLocks noGrp="1"/>
          </p:cNvSpPr>
          <p:nvPr>
            <p:ph idx="1"/>
          </p:nvPr>
        </p:nvSpPr>
        <p:spPr>
          <a:xfrm>
            <a:off x="1487488" y="1412875"/>
            <a:ext cx="8640762" cy="4679950"/>
          </a:xfrm>
        </p:spPr>
        <p:txBody>
          <a:bodyPr vert="horz" wrap="square" lIns="91440" tIns="45720" rIns="91440" bIns="45720" anchor="t" anchorCtr="0"/>
          <a:lstStyle/>
          <a:p>
            <a:pPr eaLnBrk="1" hangingPunct="1">
              <a:buSzPct val="50000"/>
            </a:pPr>
            <a:r>
              <a:rPr lang="zh-CN" altLang="en-US" sz="3200" kern="1200" dirty="0">
                <a:solidFill>
                  <a:srgbClr val="CC0000"/>
                </a:solidFill>
                <a:latin typeface="黑体" panose="02010609060101010101" pitchFamily="49" charset="-122"/>
                <a:ea typeface="黑体" panose="02010609060101010101" pitchFamily="49" charset="-122"/>
                <a:cs typeface="+mn-cs"/>
              </a:rPr>
              <a:t>模块</a:t>
            </a:r>
            <a:r>
              <a:rPr lang="zh-CN" altLang="en-US" sz="3200" kern="1200" dirty="0">
                <a:latin typeface="黑体" panose="02010609060101010101" pitchFamily="49" charset="-122"/>
                <a:ea typeface="黑体" panose="02010609060101010101" pitchFamily="49" charset="-122"/>
                <a:cs typeface="+mn-cs"/>
              </a:rPr>
              <a:t>各司其职</a:t>
            </a:r>
            <a:endParaRPr lang="zh-CN" altLang="en-US" sz="3200" kern="1200" dirty="0">
              <a:latin typeface="黑体" panose="02010609060101010101" pitchFamily="49" charset="-122"/>
              <a:ea typeface="黑体" panose="02010609060101010101" pitchFamily="49" charset="-122"/>
              <a:cs typeface="+mn-cs"/>
            </a:endParaRPr>
          </a:p>
          <a:p>
            <a:pPr lvl="1" eaLnBrk="1" hangingPunct="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每个模块只负责一件事情，它可以更专心</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hangingPunct="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一个模块一个模块地完成，最后再将它们集成</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hangingPunct="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便于单个模块的设计、开发、调试、测试和维护</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eaLnBrk="1" hangingPunct="1">
              <a:buSzPct val="50000"/>
            </a:pPr>
            <a:r>
              <a:rPr lang="zh-CN" altLang="en-US" sz="3200" kern="1200" dirty="0">
                <a:solidFill>
                  <a:srgbClr val="CC0000"/>
                </a:solidFill>
                <a:latin typeface="黑体" panose="02010609060101010101" pitchFamily="49" charset="-122"/>
                <a:ea typeface="黑体" panose="02010609060101010101" pitchFamily="49" charset="-122"/>
                <a:cs typeface="+mn-cs"/>
              </a:rPr>
              <a:t>开发人员</a:t>
            </a:r>
            <a:r>
              <a:rPr lang="zh-CN" altLang="en-US" sz="3200" kern="1200" dirty="0">
                <a:latin typeface="黑体" panose="02010609060101010101" pitchFamily="49" charset="-122"/>
                <a:ea typeface="黑体" panose="02010609060101010101" pitchFamily="49" charset="-122"/>
                <a:cs typeface="+mn-cs"/>
              </a:rPr>
              <a:t>各司其职</a:t>
            </a:r>
            <a:endParaRPr lang="zh-CN" altLang="en-US" sz="3200" kern="1200" dirty="0">
              <a:latin typeface="黑体" panose="02010609060101010101" pitchFamily="49" charset="-122"/>
              <a:ea typeface="黑体" panose="02010609060101010101" pitchFamily="49" charset="-122"/>
              <a:cs typeface="+mn-cs"/>
            </a:endParaRPr>
          </a:p>
          <a:p>
            <a:pPr lvl="1" eaLnBrk="1" hangingPunct="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按模块分配任务，职责明确</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hangingPunct="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并行开发，缩短开发时间</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p:txBody>
      </p:sp>
      <p:pic>
        <p:nvPicPr>
          <p:cNvPr id="7" name="Picture 3"/>
          <p:cNvPicPr>
            <a:picLocks noChangeAspect="1"/>
          </p:cNvPicPr>
          <p:nvPr/>
        </p:nvPicPr>
        <p:blipFill>
          <a:blip r:embed="rId2"/>
          <a:stretch>
            <a:fillRect/>
          </a:stretch>
        </p:blipFill>
        <p:spPr>
          <a:xfrm>
            <a:off x="8183563" y="4930775"/>
            <a:ext cx="1220787" cy="1019175"/>
          </a:xfrm>
          <a:prstGeom prst="rect">
            <a:avLst/>
          </a:prstGeom>
          <a:noFill/>
          <a:ln w="9525">
            <a:noFill/>
          </a:ln>
        </p:spPr>
      </p:pic>
      <p:pic>
        <p:nvPicPr>
          <p:cNvPr id="8" name="Picture 4"/>
          <p:cNvPicPr>
            <a:picLocks noChangeAspect="1"/>
          </p:cNvPicPr>
          <p:nvPr/>
        </p:nvPicPr>
        <p:blipFill>
          <a:blip r:embed="rId3">
            <a:clrChange>
              <a:clrFrom>
                <a:srgbClr val="FFFFFF"/>
              </a:clrFrom>
              <a:clrTo>
                <a:srgbClr val="FFFFFF">
                  <a:alpha val="0"/>
                </a:srgbClr>
              </a:clrTo>
            </a:clrChange>
          </a:blip>
          <a:stretch>
            <a:fillRect/>
          </a:stretch>
        </p:blipFill>
        <p:spPr>
          <a:xfrm>
            <a:off x="9480550" y="4840288"/>
            <a:ext cx="1423988" cy="1109662"/>
          </a:xfrm>
          <a:prstGeom prst="rect">
            <a:avLst/>
          </a:prstGeom>
          <a:noFill/>
          <a:ln w="9525">
            <a:noFill/>
          </a:ln>
        </p:spPr>
      </p:pic>
      <p:pic>
        <p:nvPicPr>
          <p:cNvPr id="9" name="Picture 5" descr="200831795522277_2"/>
          <p:cNvPicPr>
            <a:picLocks noChangeAspect="1"/>
          </p:cNvPicPr>
          <p:nvPr/>
        </p:nvPicPr>
        <p:blipFill>
          <a:blip r:embed="rId4">
            <a:clrChange>
              <a:clrFrom>
                <a:srgbClr val="FFFFFF"/>
              </a:clrFrom>
              <a:clrTo>
                <a:srgbClr val="FFFFFF">
                  <a:alpha val="0"/>
                </a:srgbClr>
              </a:clrTo>
            </a:clrChange>
          </a:blip>
          <a:stretch>
            <a:fillRect/>
          </a:stretch>
        </p:blipFill>
        <p:spPr>
          <a:xfrm>
            <a:off x="6816725" y="4797425"/>
            <a:ext cx="1028700" cy="1198563"/>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71395">
                                            <p:txEl>
                                              <p:pRg st="0" end="0"/>
                                            </p:txEl>
                                          </p:spTgt>
                                        </p:tgtEl>
                                        <p:attrNameLst>
                                          <p:attrName>style.visibility</p:attrName>
                                        </p:attrNameLst>
                                      </p:cBhvr>
                                      <p:to>
                                        <p:strVal val="visible"/>
                                      </p:to>
                                    </p:set>
                                    <p:anim calcmode="lin" valueType="num">
                                      <p:cBhvr>
                                        <p:cTn id="7" dur="500" fill="hold"/>
                                        <p:tgtEl>
                                          <p:spTgt spid="57139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7139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7139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71395">
                                            <p:txEl>
                                              <p:pRg st="1" end="1"/>
                                            </p:txEl>
                                          </p:spTgt>
                                        </p:tgtEl>
                                        <p:attrNameLst>
                                          <p:attrName>style.visibility</p:attrName>
                                        </p:attrNameLst>
                                      </p:cBhvr>
                                      <p:to>
                                        <p:strVal val="visible"/>
                                      </p:to>
                                    </p:set>
                                    <p:anim calcmode="lin" valueType="num">
                                      <p:cBhvr>
                                        <p:cTn id="14" dur="500" fill="hold"/>
                                        <p:tgtEl>
                                          <p:spTgt spid="57139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7139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71395">
                                            <p:txEl>
                                              <p:pRg st="1" end="1"/>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571395">
                                            <p:txEl>
                                              <p:pRg st="2" end="2"/>
                                            </p:txEl>
                                          </p:spTgt>
                                        </p:tgtEl>
                                        <p:attrNameLst>
                                          <p:attrName>style.visibility</p:attrName>
                                        </p:attrNameLst>
                                      </p:cBhvr>
                                      <p:to>
                                        <p:strVal val="visible"/>
                                      </p:to>
                                    </p:set>
                                    <p:anim calcmode="lin" valueType="num">
                                      <p:cBhvr>
                                        <p:cTn id="19" dur="500" fill="hold"/>
                                        <p:tgtEl>
                                          <p:spTgt spid="57139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7139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57139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71395">
                                            <p:txEl>
                                              <p:pRg st="3" end="3"/>
                                            </p:txEl>
                                          </p:spTgt>
                                        </p:tgtEl>
                                        <p:attrNameLst>
                                          <p:attrName>style.visibility</p:attrName>
                                        </p:attrNameLst>
                                      </p:cBhvr>
                                      <p:to>
                                        <p:strVal val="visible"/>
                                      </p:to>
                                    </p:set>
                                    <p:anim calcmode="lin" valueType="num">
                                      <p:cBhvr>
                                        <p:cTn id="26" dur="500" fill="hold"/>
                                        <p:tgtEl>
                                          <p:spTgt spid="571395">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571395">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57139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571395">
                                            <p:txEl>
                                              <p:pRg st="4" end="4"/>
                                            </p:txEl>
                                          </p:spTgt>
                                        </p:tgtEl>
                                        <p:attrNameLst>
                                          <p:attrName>style.visibility</p:attrName>
                                        </p:attrNameLst>
                                      </p:cBhvr>
                                      <p:to>
                                        <p:strVal val="visible"/>
                                      </p:to>
                                    </p:set>
                                    <p:anim calcmode="lin" valueType="num">
                                      <p:cBhvr>
                                        <p:cTn id="33" dur="500" fill="hold"/>
                                        <p:tgtEl>
                                          <p:spTgt spid="571395">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571395">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571395">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571395">
                                            <p:txEl>
                                              <p:pRg st="5" end="5"/>
                                            </p:txEl>
                                          </p:spTgt>
                                        </p:tgtEl>
                                        <p:attrNameLst>
                                          <p:attrName>style.visibility</p:attrName>
                                        </p:attrNameLst>
                                      </p:cBhvr>
                                      <p:to>
                                        <p:strVal val="visible"/>
                                      </p:to>
                                    </p:set>
                                    <p:anim calcmode="lin" valueType="num">
                                      <p:cBhvr>
                                        <p:cTn id="40" dur="500" fill="hold"/>
                                        <p:tgtEl>
                                          <p:spTgt spid="571395">
                                            <p:txEl>
                                              <p:pRg st="5" end="5"/>
                                            </p:txEl>
                                          </p:spTgt>
                                        </p:tgtEl>
                                        <p:attrNameLst>
                                          <p:attrName>ppt_w</p:attrName>
                                        </p:attrNameLst>
                                      </p:cBhvr>
                                      <p:tavLst>
                                        <p:tav tm="0">
                                          <p:val>
                                            <p:fltVal val="0"/>
                                          </p:val>
                                        </p:tav>
                                        <p:tav tm="100000">
                                          <p:val>
                                            <p:strVal val="#ppt_w"/>
                                          </p:val>
                                        </p:tav>
                                      </p:tavLst>
                                    </p:anim>
                                    <p:anim calcmode="lin" valueType="num">
                                      <p:cBhvr>
                                        <p:cTn id="41" dur="500" fill="hold"/>
                                        <p:tgtEl>
                                          <p:spTgt spid="571395">
                                            <p:txEl>
                                              <p:pRg st="5" end="5"/>
                                            </p:txEl>
                                          </p:spTgt>
                                        </p:tgtEl>
                                        <p:attrNameLst>
                                          <p:attrName>ppt_h</p:attrName>
                                        </p:attrNameLst>
                                      </p:cBhvr>
                                      <p:tavLst>
                                        <p:tav tm="0">
                                          <p:val>
                                            <p:fltVal val="0"/>
                                          </p:val>
                                        </p:tav>
                                        <p:tav tm="100000">
                                          <p:val>
                                            <p:strVal val="#ppt_h"/>
                                          </p:val>
                                        </p:tav>
                                      </p:tavLst>
                                    </p:anim>
                                    <p:animEffect transition="in" filter="fade">
                                      <p:cBhvr>
                                        <p:cTn id="42" dur="500"/>
                                        <p:tgtEl>
                                          <p:spTgt spid="57139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571395">
                                            <p:txEl>
                                              <p:pRg st="6" end="6"/>
                                            </p:txEl>
                                          </p:spTgt>
                                        </p:tgtEl>
                                        <p:attrNameLst>
                                          <p:attrName>style.visibility</p:attrName>
                                        </p:attrNameLst>
                                      </p:cBhvr>
                                      <p:to>
                                        <p:strVal val="visible"/>
                                      </p:to>
                                    </p:set>
                                    <p:anim calcmode="lin" valueType="num">
                                      <p:cBhvr>
                                        <p:cTn id="47" dur="500" fill="hold"/>
                                        <p:tgtEl>
                                          <p:spTgt spid="571395">
                                            <p:txEl>
                                              <p:pRg st="6" end="6"/>
                                            </p:txEl>
                                          </p:spTgt>
                                        </p:tgtEl>
                                        <p:attrNameLst>
                                          <p:attrName>ppt_w</p:attrName>
                                        </p:attrNameLst>
                                      </p:cBhvr>
                                      <p:tavLst>
                                        <p:tav tm="0">
                                          <p:val>
                                            <p:fltVal val="0"/>
                                          </p:val>
                                        </p:tav>
                                        <p:tav tm="100000">
                                          <p:val>
                                            <p:strVal val="#ppt_w"/>
                                          </p:val>
                                        </p:tav>
                                      </p:tavLst>
                                    </p:anim>
                                    <p:anim calcmode="lin" valueType="num">
                                      <p:cBhvr>
                                        <p:cTn id="48" dur="500" fill="hold"/>
                                        <p:tgtEl>
                                          <p:spTgt spid="571395">
                                            <p:txEl>
                                              <p:pRg st="6" end="6"/>
                                            </p:txEl>
                                          </p:spTgt>
                                        </p:tgtEl>
                                        <p:attrNameLst>
                                          <p:attrName>ppt_h</p:attrName>
                                        </p:attrNameLst>
                                      </p:cBhvr>
                                      <p:tavLst>
                                        <p:tav tm="0">
                                          <p:val>
                                            <p:fltVal val="0"/>
                                          </p:val>
                                        </p:tav>
                                        <p:tav tm="100000">
                                          <p:val>
                                            <p:strVal val="#ppt_h"/>
                                          </p:val>
                                        </p:tav>
                                      </p:tavLst>
                                    </p:anim>
                                    <p:animEffect transition="in" filter="fade">
                                      <p:cBhvr>
                                        <p:cTn id="49" dur="500"/>
                                        <p:tgtEl>
                                          <p:spTgt spid="571395">
                                            <p:txEl>
                                              <p:pRg st="6" end="6"/>
                                            </p:txEl>
                                          </p:spTgt>
                                        </p:tgtEl>
                                      </p:cBhvr>
                                    </p:animEffect>
                                  </p:childTnLst>
                                </p:cTn>
                              </p:par>
                            </p:childTnLst>
                          </p:cTn>
                        </p:par>
                        <p:par>
                          <p:cTn id="50" fill="hold">
                            <p:stCondLst>
                              <p:cond delay="500"/>
                            </p:stCondLst>
                            <p:childTnLst>
                              <p:par>
                                <p:cTn id="51" presetID="23" presetClass="entr" presetSubtype="16" fill="hold" nodeType="after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p:cTn id="53" dur="500" fill="hold"/>
                                        <p:tgtEl>
                                          <p:spTgt spid="9"/>
                                        </p:tgtEl>
                                        <p:attrNameLst>
                                          <p:attrName>ppt_w</p:attrName>
                                        </p:attrNameLst>
                                      </p:cBhvr>
                                      <p:tavLst>
                                        <p:tav tm="0">
                                          <p:val>
                                            <p:fltVal val="0"/>
                                          </p:val>
                                        </p:tav>
                                        <p:tav tm="100000">
                                          <p:val>
                                            <p:strVal val="#ppt_w"/>
                                          </p:val>
                                        </p:tav>
                                      </p:tavLst>
                                    </p:anim>
                                    <p:anim calcmode="lin" valueType="num">
                                      <p:cBhvr>
                                        <p:cTn id="54" dur="500" fill="hold"/>
                                        <p:tgtEl>
                                          <p:spTgt spid="9"/>
                                        </p:tgtEl>
                                        <p:attrNameLst>
                                          <p:attrName>ppt_h</p:attrName>
                                        </p:attrNameLst>
                                      </p:cBhvr>
                                      <p:tavLst>
                                        <p:tav tm="0">
                                          <p:val>
                                            <p:fltVal val="0"/>
                                          </p:val>
                                        </p:tav>
                                        <p:tav tm="100000">
                                          <p:val>
                                            <p:strVal val="#ppt_h"/>
                                          </p:val>
                                        </p:tav>
                                      </p:tavLst>
                                    </p:anim>
                                  </p:childTnLst>
                                </p:cTn>
                              </p:par>
                            </p:childTnLst>
                          </p:cTn>
                        </p:par>
                        <p:par>
                          <p:cTn id="55" fill="hold">
                            <p:stCondLst>
                              <p:cond delay="1000"/>
                            </p:stCondLst>
                            <p:childTnLst>
                              <p:par>
                                <p:cTn id="56" presetID="23" presetClass="entr" presetSubtype="16" fill="hold" nodeType="afterEffect">
                                  <p:stCondLst>
                                    <p:cond delay="0"/>
                                  </p:stCondLst>
                                  <p:childTnLst>
                                    <p:set>
                                      <p:cBhvr>
                                        <p:cTn id="57" dur="1" fill="hold">
                                          <p:stCondLst>
                                            <p:cond delay="0"/>
                                          </p:stCondLst>
                                        </p:cTn>
                                        <p:tgtEl>
                                          <p:spTgt spid="7"/>
                                        </p:tgtEl>
                                        <p:attrNameLst>
                                          <p:attrName>style.visibility</p:attrName>
                                        </p:attrNameLst>
                                      </p:cBhvr>
                                      <p:to>
                                        <p:strVal val="visible"/>
                                      </p:to>
                                    </p:set>
                                    <p:anim calcmode="lin" valueType="num">
                                      <p:cBhvr>
                                        <p:cTn id="58" dur="500" fill="hold"/>
                                        <p:tgtEl>
                                          <p:spTgt spid="7"/>
                                        </p:tgtEl>
                                        <p:attrNameLst>
                                          <p:attrName>ppt_w</p:attrName>
                                        </p:attrNameLst>
                                      </p:cBhvr>
                                      <p:tavLst>
                                        <p:tav tm="0">
                                          <p:val>
                                            <p:fltVal val="0"/>
                                          </p:val>
                                        </p:tav>
                                        <p:tav tm="100000">
                                          <p:val>
                                            <p:strVal val="#ppt_w"/>
                                          </p:val>
                                        </p:tav>
                                      </p:tavLst>
                                    </p:anim>
                                    <p:anim calcmode="lin" valueType="num">
                                      <p:cBhvr>
                                        <p:cTn id="59" dur="500" fill="hold"/>
                                        <p:tgtEl>
                                          <p:spTgt spid="7"/>
                                        </p:tgtEl>
                                        <p:attrNameLst>
                                          <p:attrName>ppt_h</p:attrName>
                                        </p:attrNameLst>
                                      </p:cBhvr>
                                      <p:tavLst>
                                        <p:tav tm="0">
                                          <p:val>
                                            <p:fltVal val="0"/>
                                          </p:val>
                                        </p:tav>
                                        <p:tav tm="100000">
                                          <p:val>
                                            <p:strVal val="#ppt_h"/>
                                          </p:val>
                                        </p:tav>
                                      </p:tavLst>
                                    </p:anim>
                                  </p:childTnLst>
                                </p:cTn>
                              </p:par>
                            </p:childTnLst>
                          </p:cTn>
                        </p:par>
                        <p:par>
                          <p:cTn id="60" fill="hold">
                            <p:stCondLst>
                              <p:cond delay="1500"/>
                            </p:stCondLst>
                            <p:childTnLst>
                              <p:par>
                                <p:cTn id="61" presetID="23" presetClass="entr" presetSubtype="16" fill="hold" nodeType="afterEffect">
                                  <p:stCondLst>
                                    <p:cond delay="0"/>
                                  </p:stCondLst>
                                  <p:childTnLst>
                                    <p:set>
                                      <p:cBhvr>
                                        <p:cTn id="62" dur="1" fill="hold">
                                          <p:stCondLst>
                                            <p:cond delay="0"/>
                                          </p:stCondLst>
                                        </p:cTn>
                                        <p:tgtEl>
                                          <p:spTgt spid="8"/>
                                        </p:tgtEl>
                                        <p:attrNameLst>
                                          <p:attrName>style.visibility</p:attrName>
                                        </p:attrNameLst>
                                      </p:cBhvr>
                                      <p:to>
                                        <p:strVal val="visible"/>
                                      </p:to>
                                    </p:set>
                                    <p:anim calcmode="lin" valueType="num">
                                      <p:cBhvr>
                                        <p:cTn id="63" dur="500" fill="hold"/>
                                        <p:tgtEl>
                                          <p:spTgt spid="8"/>
                                        </p:tgtEl>
                                        <p:attrNameLst>
                                          <p:attrName>ppt_w</p:attrName>
                                        </p:attrNameLst>
                                      </p:cBhvr>
                                      <p:tavLst>
                                        <p:tav tm="0">
                                          <p:val>
                                            <p:fltVal val="0"/>
                                          </p:val>
                                        </p:tav>
                                        <p:tav tm="100000">
                                          <p:val>
                                            <p:strVal val="#ppt_w"/>
                                          </p:val>
                                        </p:tav>
                                      </p:tavLst>
                                    </p:anim>
                                    <p:anim calcmode="lin" valueType="num">
                                      <p:cBhvr>
                                        <p:cTn id="64"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3" name="Rectangle 2"/>
          <p:cNvSpPr>
            <a:spLocks noGrp="1"/>
          </p:cNvSpPr>
          <p:nvPr>
            <p:ph type="title" idx="4294967295"/>
          </p:nvPr>
        </p:nvSpPr>
        <p:spPr/>
        <p:txBody>
          <a:bodyPr vert="horz" wrap="square" lIns="91440" tIns="45720" rIns="91440" bIns="45720" anchor="ctr" anchorCtr="0"/>
          <a:lstStyle/>
          <a:p>
            <a:r>
              <a:rPr lang="en-US" altLang="zh-CN" dirty="0"/>
              <a:t>2.6 </a:t>
            </a:r>
            <a:r>
              <a:rPr lang="zh-CN" altLang="en-US" dirty="0"/>
              <a:t>模块化程序设计</a:t>
            </a:r>
            <a:endParaRPr lang="zh-CN" altLang="en-US" dirty="0"/>
          </a:p>
        </p:txBody>
      </p:sp>
      <p:sp>
        <p:nvSpPr>
          <p:cNvPr id="571395" name="Rectangle 3"/>
          <p:cNvSpPr>
            <a:spLocks noGrp="1"/>
          </p:cNvSpPr>
          <p:nvPr>
            <p:ph type="body" idx="4294967295"/>
          </p:nvPr>
        </p:nvSpPr>
        <p:spPr>
          <a:xfrm>
            <a:off x="1651000" y="1557338"/>
            <a:ext cx="6380163" cy="4443412"/>
          </a:xfrm>
        </p:spPr>
        <p:txBody>
          <a:bodyPr vert="horz" wrap="square" lIns="91440" tIns="45720" rIns="91440" bIns="45720" anchor="t" anchorCtr="0"/>
          <a:lstStyle/>
          <a:p>
            <a:pPr>
              <a:lnSpc>
                <a:spcPct val="120000"/>
              </a:lnSpc>
              <a:spcBef>
                <a:spcPts val="600"/>
              </a:spcBef>
              <a:spcAft>
                <a:spcPts val="600"/>
              </a:spcAft>
            </a:pPr>
            <a:r>
              <a:rPr lang="zh-CN" altLang="en-US" sz="2800" dirty="0">
                <a:latin typeface="黑体" panose="02010609060101010101" pitchFamily="49" charset="-122"/>
              </a:rPr>
              <a:t>某一功能，若重复实现</a:t>
            </a:r>
            <a:r>
              <a:rPr lang="en-US" altLang="zh-CN" sz="2800" dirty="0"/>
              <a:t>3</a:t>
            </a:r>
            <a:r>
              <a:rPr lang="zh-CN" altLang="en-US" sz="2800" dirty="0">
                <a:latin typeface="黑体" panose="02010609060101010101" pitchFamily="49" charset="-122"/>
              </a:rPr>
              <a:t>遍以上</a:t>
            </a:r>
            <a:endParaRPr lang="en-US" altLang="zh-CN" sz="2800" dirty="0">
              <a:latin typeface="黑体" panose="02010609060101010101" pitchFamily="49" charset="-122"/>
            </a:endParaRPr>
          </a:p>
          <a:p>
            <a:pPr>
              <a:lnSpc>
                <a:spcPct val="120000"/>
              </a:lnSpc>
              <a:spcBef>
                <a:spcPts val="600"/>
              </a:spcBef>
              <a:spcAft>
                <a:spcPts val="600"/>
              </a:spcAft>
            </a:pPr>
            <a:r>
              <a:rPr lang="zh-CN" altLang="en-US" sz="2800" dirty="0">
                <a:latin typeface="黑体" panose="02010609060101010101" pitchFamily="49" charset="-122"/>
              </a:rPr>
              <a:t>则应考虑模块化，将它写成通用函数，向小组成员发布</a:t>
            </a:r>
            <a:endParaRPr lang="en-US" altLang="zh-CN" sz="2800" dirty="0">
              <a:latin typeface="黑体" panose="02010609060101010101" pitchFamily="49" charset="-122"/>
            </a:endParaRPr>
          </a:p>
          <a:p>
            <a:pPr marL="457200" lvl="2" indent="-457200">
              <a:lnSpc>
                <a:spcPct val="120000"/>
              </a:lnSpc>
              <a:spcBef>
                <a:spcPts val="600"/>
              </a:spcBef>
              <a:spcAft>
                <a:spcPts val="600"/>
              </a:spcAft>
              <a:buFont typeface="Wingdings" panose="05000000000000000000" pitchFamily="2" charset="2"/>
              <a:buChar char="n"/>
            </a:pPr>
            <a:r>
              <a:rPr lang="zh-CN" altLang="en-US" sz="2800" dirty="0">
                <a:solidFill>
                  <a:schemeClr val="tx1"/>
                </a:solidFill>
                <a:latin typeface="黑体" panose="02010609060101010101" pitchFamily="49" charset="-122"/>
              </a:rPr>
              <a:t>拿来拿去主义，不是人类懒惰的表现，而是智慧的表现</a:t>
            </a:r>
            <a:endParaRPr lang="zh-CN" altLang="en-US" sz="2800" dirty="0">
              <a:solidFill>
                <a:schemeClr val="tx1"/>
              </a:solidFill>
              <a:latin typeface="黑体" panose="02010609060101010101" pitchFamily="49" charset="-122"/>
            </a:endParaRPr>
          </a:p>
          <a:p>
            <a:pPr marL="457200" lvl="2" indent="-457200">
              <a:lnSpc>
                <a:spcPct val="100000"/>
              </a:lnSpc>
              <a:spcAft>
                <a:spcPts val="300"/>
              </a:spcAft>
              <a:buFont typeface="Monotype Sorts"/>
              <a:buChar char=""/>
            </a:pPr>
            <a:endParaRPr lang="zh-CN" altLang="en-US" sz="3200" dirty="0">
              <a:latin typeface="华文仿宋" panose="02010600040101010101" pitchFamily="2" charset="-122"/>
              <a:ea typeface="华文仿宋" panose="02010600040101010101" pitchFamily="2" charset="-122"/>
            </a:endParaRPr>
          </a:p>
        </p:txBody>
      </p:sp>
      <p:pic>
        <p:nvPicPr>
          <p:cNvPr id="79875" name="图片 9"/>
          <p:cNvPicPr>
            <a:picLocks noChangeAspect="1"/>
          </p:cNvPicPr>
          <p:nvPr/>
        </p:nvPicPr>
        <p:blipFill>
          <a:blip r:embed="rId1">
            <a:clrChange>
              <a:clrFrom>
                <a:srgbClr val="FFFFFD"/>
              </a:clrFrom>
              <a:clrTo>
                <a:srgbClr val="FFFFFD">
                  <a:alpha val="0"/>
                </a:srgbClr>
              </a:clrTo>
            </a:clrChange>
          </a:blip>
          <a:stretch>
            <a:fillRect/>
          </a:stretch>
        </p:blipFill>
        <p:spPr>
          <a:xfrm>
            <a:off x="9693275" y="4248150"/>
            <a:ext cx="1082675" cy="2117725"/>
          </a:xfrm>
          <a:prstGeom prst="rect">
            <a:avLst/>
          </a:prstGeom>
          <a:noFill/>
          <a:ln w="9525">
            <a:noFill/>
          </a:ln>
        </p:spPr>
      </p:pic>
      <p:sp>
        <p:nvSpPr>
          <p:cNvPr id="79876" name="AutoShape 4"/>
          <p:cNvSpPr/>
          <p:nvPr/>
        </p:nvSpPr>
        <p:spPr>
          <a:xfrm>
            <a:off x="8164513" y="1857375"/>
            <a:ext cx="2652712" cy="1223963"/>
          </a:xfrm>
          <a:prstGeom prst="cloudCallout">
            <a:avLst>
              <a:gd name="adj1" fmla="val 20116"/>
              <a:gd name="adj2" fmla="val 155292"/>
            </a:avLst>
          </a:prstGeom>
          <a:solidFill>
            <a:srgbClr val="FFFFCC"/>
          </a:solidFill>
          <a:ln w="38100" cap="flat" cmpd="sng">
            <a:solidFill>
              <a:srgbClr val="FF6600"/>
            </a:solidFill>
            <a:prstDash val="solid"/>
            <a:round/>
            <a:headEnd type="none" w="med" len="med"/>
            <a:tailEnd type="none" w="med" len="med"/>
          </a:ln>
        </p:spPr>
        <p:txBody>
          <a:bodyPr lIns="0" tIns="0" rIns="0" bIns="0" anchor="t" anchorCtr="0"/>
          <a:lstStyle/>
          <a:p>
            <a:pPr algn="ctr" eaLnBrk="0" hangingPunct="0">
              <a:lnSpc>
                <a:spcPct val="95000"/>
              </a:lnSpc>
              <a:spcBef>
                <a:spcPct val="20000"/>
              </a:spcBef>
              <a:spcAft>
                <a:spcPts val="590"/>
              </a:spcAft>
              <a:buClr>
                <a:srgbClr val="FFCC66"/>
              </a:buClr>
              <a:buSzPct val="80000"/>
              <a:buFont typeface="Wingdings" panose="05000000000000000000" pitchFamily="2" charset="2"/>
            </a:pPr>
            <a:r>
              <a:rPr lang="zh-CN" altLang="en-US" sz="2800" dirty="0">
                <a:solidFill>
                  <a:srgbClr val="000099"/>
                </a:solidFill>
                <a:latin typeface="Arial" panose="020B0604020202090204" pitchFamily="34" charset="0"/>
                <a:ea typeface="黑体" panose="02010609060101010101" pitchFamily="49" charset="-122"/>
              </a:rPr>
              <a:t>何时需要模块化？</a:t>
            </a:r>
            <a:endParaRPr lang="zh-CN" altLang="en-US" sz="2800" dirty="0">
              <a:solidFill>
                <a:srgbClr val="000099"/>
              </a:solidFill>
              <a:latin typeface="Arial" panose="020B0604020202090204" pitchFamily="34" charset="0"/>
              <a:ea typeface="黑体" panose="02010609060101010101" pitchFamily="49" charset="-122"/>
            </a:endParaRPr>
          </a:p>
        </p:txBody>
      </p:sp>
      <p:pic>
        <p:nvPicPr>
          <p:cNvPr id="79877" name="Picture 2" descr="n982282001286760330"/>
          <p:cNvPicPr>
            <a:picLocks noChangeAspect="1"/>
          </p:cNvPicPr>
          <p:nvPr/>
        </p:nvPicPr>
        <p:blipFill>
          <a:blip r:embed="rId2"/>
          <a:stretch>
            <a:fillRect/>
          </a:stretch>
        </p:blipFill>
        <p:spPr>
          <a:xfrm>
            <a:off x="3365500" y="5084763"/>
            <a:ext cx="1662113" cy="1152525"/>
          </a:xfrm>
          <a:prstGeom prst="rect">
            <a:avLst/>
          </a:prstGeom>
          <a:noFill/>
          <a:ln w="9525">
            <a:noFill/>
          </a:ln>
        </p:spPr>
      </p:pic>
      <p:pic>
        <p:nvPicPr>
          <p:cNvPr id="79878" name="Picture 5" descr="2374418_135317011_2"/>
          <p:cNvPicPr>
            <a:picLocks noChangeAspect="1"/>
          </p:cNvPicPr>
          <p:nvPr/>
        </p:nvPicPr>
        <p:blipFill>
          <a:blip r:embed="rId3">
            <a:clrChange>
              <a:clrFrom>
                <a:srgbClr val="FEFEFE"/>
              </a:clrFrom>
              <a:clrTo>
                <a:srgbClr val="FEFEFE">
                  <a:alpha val="0"/>
                </a:srgbClr>
              </a:clrTo>
            </a:clrChange>
          </a:blip>
          <a:stretch>
            <a:fillRect/>
          </a:stretch>
        </p:blipFill>
        <p:spPr>
          <a:xfrm>
            <a:off x="5546725" y="5087938"/>
            <a:ext cx="1250950" cy="1139825"/>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71395">
                                            <p:txEl>
                                              <p:pRg st="0" end="0"/>
                                            </p:txEl>
                                          </p:spTgt>
                                        </p:tgtEl>
                                        <p:attrNameLst>
                                          <p:attrName>style.visibility</p:attrName>
                                        </p:attrNameLst>
                                      </p:cBhvr>
                                      <p:to>
                                        <p:strVal val="visible"/>
                                      </p:to>
                                    </p:set>
                                    <p:anim calcmode="lin" valueType="num">
                                      <p:cBhvr>
                                        <p:cTn id="7" dur="500" fill="hold"/>
                                        <p:tgtEl>
                                          <p:spTgt spid="57139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7139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7139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71395">
                                            <p:txEl>
                                              <p:pRg st="1" end="1"/>
                                            </p:txEl>
                                          </p:spTgt>
                                        </p:tgtEl>
                                        <p:attrNameLst>
                                          <p:attrName>style.visibility</p:attrName>
                                        </p:attrNameLst>
                                      </p:cBhvr>
                                      <p:to>
                                        <p:strVal val="visible"/>
                                      </p:to>
                                    </p:set>
                                    <p:anim calcmode="lin" valueType="num">
                                      <p:cBhvr>
                                        <p:cTn id="14" dur="500" fill="hold"/>
                                        <p:tgtEl>
                                          <p:spTgt spid="57139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7139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7139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71395">
                                            <p:txEl>
                                              <p:pRg st="2" end="2"/>
                                            </p:txEl>
                                          </p:spTgt>
                                        </p:tgtEl>
                                        <p:attrNameLst>
                                          <p:attrName>style.visibility</p:attrName>
                                        </p:attrNameLst>
                                      </p:cBhvr>
                                      <p:to>
                                        <p:strVal val="visible"/>
                                      </p:to>
                                    </p:set>
                                    <p:anim calcmode="lin" valueType="num">
                                      <p:cBhvr>
                                        <p:cTn id="21" dur="500" fill="hold"/>
                                        <p:tgtEl>
                                          <p:spTgt spid="571395">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71395">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5713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7" name="Rectangle 2"/>
          <p:cNvSpPr>
            <a:spLocks noGrp="1"/>
          </p:cNvSpPr>
          <p:nvPr>
            <p:ph type="title" idx="4294967295"/>
          </p:nvPr>
        </p:nvSpPr>
        <p:spPr/>
        <p:txBody>
          <a:bodyPr vert="horz" wrap="square" lIns="91440" tIns="45720" rIns="91440" bIns="45720" anchor="ctr" anchorCtr="0"/>
          <a:lstStyle/>
          <a:p>
            <a:r>
              <a:rPr lang="en-US" altLang="zh-CN" dirty="0"/>
              <a:t>2.6 </a:t>
            </a:r>
            <a:r>
              <a:rPr lang="zh-CN" altLang="en-US" dirty="0"/>
              <a:t>模块化程序设计</a:t>
            </a:r>
            <a:endParaRPr lang="en-US" altLang="zh-CN" dirty="0"/>
          </a:p>
        </p:txBody>
      </p:sp>
      <p:sp>
        <p:nvSpPr>
          <p:cNvPr id="178179" name="Rectangle 3"/>
          <p:cNvSpPr>
            <a:spLocks noGrp="1"/>
          </p:cNvSpPr>
          <p:nvPr>
            <p:ph type="body" idx="4294967295"/>
          </p:nvPr>
        </p:nvSpPr>
        <p:spPr>
          <a:xfrm>
            <a:off x="1558925" y="1484313"/>
            <a:ext cx="8640763" cy="4881562"/>
          </a:xfrm>
        </p:spPr>
        <p:txBody>
          <a:bodyPr vert="horz" wrap="square" lIns="91440" tIns="45720" rIns="91440" bIns="45720" anchor="t" anchorCtr="0"/>
          <a:lstStyle/>
          <a:p>
            <a:pPr>
              <a:lnSpc>
                <a:spcPct val="120000"/>
              </a:lnSpc>
              <a:spcBef>
                <a:spcPts val="600"/>
              </a:spcBef>
              <a:spcAft>
                <a:spcPts val="600"/>
              </a:spcAft>
            </a:pPr>
            <a:r>
              <a:rPr lang="zh-CN" altLang="en-US" sz="3600" dirty="0">
                <a:latin typeface="黑体" panose="02010609060101010101" pitchFamily="49" charset="-122"/>
              </a:rPr>
              <a:t>模块化的优点</a:t>
            </a:r>
            <a:r>
              <a:rPr lang="en-US" altLang="zh-CN" sz="3600" dirty="0">
                <a:latin typeface="黑体" panose="02010609060101010101" pitchFamily="49" charset="-122"/>
              </a:rPr>
              <a:t>——</a:t>
            </a:r>
            <a:r>
              <a:rPr lang="zh-CN" altLang="en-US" sz="3600" dirty="0">
                <a:latin typeface="黑体" panose="02010609060101010101" pitchFamily="49" charset="-122"/>
              </a:rPr>
              <a:t>便于复用</a:t>
            </a:r>
            <a:endParaRPr lang="zh-CN" altLang="en-US" sz="3600" dirty="0">
              <a:latin typeface="黑体" panose="02010609060101010101" pitchFamily="49" charset="-122"/>
            </a:endParaRPr>
          </a:p>
          <a:p>
            <a:pPr lvl="1">
              <a:lnSpc>
                <a:spcPct val="120000"/>
              </a:lnSpc>
              <a:spcBef>
                <a:spcPts val="600"/>
              </a:spcBef>
              <a:spcAft>
                <a:spcPts val="600"/>
              </a:spcAft>
            </a:pPr>
            <a:r>
              <a:rPr lang="zh-CN" altLang="en-US" sz="3200" dirty="0">
                <a:latin typeface="黑体" panose="02010609060101010101" pitchFamily="49" charset="-122"/>
              </a:rPr>
              <a:t>构建新的软件系统可以不必每次从零做起</a:t>
            </a:r>
            <a:endParaRPr lang="en-US" altLang="zh-CN" sz="3200" dirty="0">
              <a:latin typeface="黑体" panose="02010609060101010101" pitchFamily="49" charset="-122"/>
            </a:endParaRPr>
          </a:p>
          <a:p>
            <a:pPr lvl="1">
              <a:lnSpc>
                <a:spcPct val="120000"/>
              </a:lnSpc>
              <a:spcBef>
                <a:spcPts val="600"/>
              </a:spcBef>
              <a:spcAft>
                <a:spcPts val="600"/>
              </a:spcAft>
            </a:pPr>
            <a:r>
              <a:rPr lang="zh-CN" altLang="en-US" sz="3200" dirty="0">
                <a:latin typeface="黑体" panose="02010609060101010101" pitchFamily="49" charset="-122"/>
              </a:rPr>
              <a:t>直接使用已有的经过反复验证的软构件，组装或修改后成为新的系统</a:t>
            </a:r>
            <a:endParaRPr lang="en-US" altLang="zh-CN" sz="3200" dirty="0">
              <a:latin typeface="黑体" panose="02010609060101010101" pitchFamily="49" charset="-122"/>
            </a:endParaRPr>
          </a:p>
          <a:p>
            <a:pPr lvl="1">
              <a:lnSpc>
                <a:spcPct val="120000"/>
              </a:lnSpc>
              <a:spcBef>
                <a:spcPts val="600"/>
              </a:spcBef>
              <a:spcAft>
                <a:spcPts val="600"/>
              </a:spcAft>
            </a:pPr>
            <a:r>
              <a:rPr lang="zh-CN" altLang="en-US" sz="3200" dirty="0">
                <a:latin typeface="黑体" panose="02010609060101010101" pitchFamily="49" charset="-122"/>
              </a:rPr>
              <a:t>提高软件生产效率和程序质量</a:t>
            </a:r>
            <a:endParaRPr lang="zh-CN" altLang="en-US" sz="3200" dirty="0">
              <a:latin typeface="黑体" panose="02010609060101010101" pitchFamily="49" charset="-122"/>
            </a:endParaRPr>
          </a:p>
          <a:p>
            <a:pPr lvl="1">
              <a:lnSpc>
                <a:spcPct val="105000"/>
              </a:lnSpc>
              <a:spcAft>
                <a:spcPts val="300"/>
              </a:spcAft>
            </a:pPr>
            <a:endParaRPr lang="zh-CN" altLang="en-US" dirty="0"/>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8179">
                                            <p:txEl>
                                              <p:pRg st="1" end="1"/>
                                            </p:txEl>
                                          </p:spTgt>
                                        </p:tgtEl>
                                        <p:attrNameLst>
                                          <p:attrName>style.visibility</p:attrName>
                                        </p:attrNameLst>
                                      </p:cBhvr>
                                      <p:to>
                                        <p:strVal val="visible"/>
                                      </p:to>
                                    </p:set>
                                    <p:anim calcmode="lin" valueType="num">
                                      <p:cBhvr>
                                        <p:cTn id="7" dur="500" fill="hold"/>
                                        <p:tgtEl>
                                          <p:spTgt spid="17817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78179">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78179">
                                            <p:txEl>
                                              <p:pRg st="2" end="2"/>
                                            </p:txEl>
                                          </p:spTgt>
                                        </p:tgtEl>
                                        <p:attrNameLst>
                                          <p:attrName>style.visibility</p:attrName>
                                        </p:attrNameLst>
                                      </p:cBhvr>
                                      <p:to>
                                        <p:strVal val="visible"/>
                                      </p:to>
                                    </p:set>
                                    <p:anim calcmode="lin" valueType="num">
                                      <p:cBhvr>
                                        <p:cTn id="13" dur="500" fill="hold"/>
                                        <p:tgtEl>
                                          <p:spTgt spid="178179">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178179">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78179">
                                            <p:txEl>
                                              <p:pRg st="3" end="3"/>
                                            </p:txEl>
                                          </p:spTgt>
                                        </p:tgtEl>
                                        <p:attrNameLst>
                                          <p:attrName>style.visibility</p:attrName>
                                        </p:attrNameLst>
                                      </p:cBhvr>
                                      <p:to>
                                        <p:strVal val="visible"/>
                                      </p:to>
                                    </p:set>
                                    <p:anim calcmode="lin" valueType="num">
                                      <p:cBhvr>
                                        <p:cTn id="19" dur="500" fill="hold"/>
                                        <p:tgtEl>
                                          <p:spTgt spid="178179">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178179">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5" name="Rectangle 2"/>
          <p:cNvSpPr>
            <a:spLocks noGrp="1"/>
          </p:cNvSpPr>
          <p:nvPr>
            <p:ph type="title" idx="4294967295"/>
          </p:nvPr>
        </p:nvSpPr>
        <p:spPr/>
        <p:txBody>
          <a:bodyPr vert="horz" wrap="square" lIns="91440" tIns="45720" rIns="91440" bIns="45720" anchor="ctr" anchorCtr="0"/>
          <a:lstStyle/>
          <a:p>
            <a:r>
              <a:rPr lang="en-US" altLang="zh-CN" dirty="0"/>
              <a:t>2.6 </a:t>
            </a:r>
            <a:r>
              <a:rPr lang="zh-CN" altLang="en-US" dirty="0"/>
              <a:t>模块化程序设计</a:t>
            </a:r>
            <a:endParaRPr lang="zh-CN" altLang="en-US" dirty="0"/>
          </a:p>
        </p:txBody>
      </p:sp>
      <p:sp>
        <p:nvSpPr>
          <p:cNvPr id="581635" name="Rectangle 3"/>
          <p:cNvSpPr>
            <a:spLocks noGrp="1"/>
          </p:cNvSpPr>
          <p:nvPr>
            <p:ph type="body" idx="4294967295"/>
          </p:nvPr>
        </p:nvSpPr>
        <p:spPr>
          <a:xfrm>
            <a:off x="1343025" y="1341438"/>
            <a:ext cx="9432925" cy="5256212"/>
          </a:xfrm>
        </p:spPr>
        <p:txBody>
          <a:bodyPr vert="horz" wrap="square" lIns="91440" tIns="45720" rIns="91440" bIns="45720" anchor="t" anchorCtr="0"/>
          <a:lstStyle/>
          <a:p>
            <a:pPr>
              <a:lnSpc>
                <a:spcPct val="100000"/>
              </a:lnSpc>
            </a:pPr>
            <a:r>
              <a:rPr lang="zh-CN" altLang="en-US" dirty="0"/>
              <a:t>模块分解的过程</a:t>
            </a:r>
            <a:endParaRPr lang="zh-CN" altLang="en-US" dirty="0"/>
          </a:p>
          <a:p>
            <a:pPr lvl="1">
              <a:lnSpc>
                <a:spcPct val="100000"/>
              </a:lnSpc>
            </a:pPr>
            <a:r>
              <a:rPr lang="zh-CN" altLang="en-US" dirty="0"/>
              <a:t>自顶向下（</a:t>
            </a:r>
            <a:r>
              <a:rPr lang="en-US" altLang="zh-CN" dirty="0"/>
              <a:t>Top-down</a:t>
            </a:r>
            <a:r>
              <a:rPr lang="zh-CN" altLang="en-US" dirty="0"/>
              <a:t>） 、逐步求精（</a:t>
            </a:r>
            <a:r>
              <a:rPr lang="en-US" altLang="zh-CN" dirty="0"/>
              <a:t>Stepwise refinement</a:t>
            </a:r>
            <a:r>
              <a:rPr lang="zh-CN" altLang="en-US" dirty="0"/>
              <a:t>）的程序设计方法</a:t>
            </a:r>
            <a:endParaRPr lang="en-US" altLang="zh-CN" dirty="0"/>
          </a:p>
          <a:p>
            <a:pPr lvl="2">
              <a:lnSpc>
                <a:spcPct val="100000"/>
              </a:lnSpc>
            </a:pPr>
            <a:r>
              <a:rPr lang="zh-CN" altLang="en-US" dirty="0"/>
              <a:t>先全局后局部，先整体后细节，先抽象后具体</a:t>
            </a:r>
            <a:endParaRPr lang="zh-CN" altLang="en-US" dirty="0"/>
          </a:p>
          <a:p>
            <a:pPr lvl="1">
              <a:lnSpc>
                <a:spcPct val="100000"/>
              </a:lnSpc>
            </a:pPr>
            <a:r>
              <a:rPr lang="zh-CN" altLang="en-US" dirty="0"/>
              <a:t>由不断的自底向上修正所补充的自顶向下的程序设计方法</a:t>
            </a:r>
            <a:endParaRPr lang="zh-CN" altLang="en-US" dirty="0"/>
          </a:p>
        </p:txBody>
      </p:sp>
      <p:pic>
        <p:nvPicPr>
          <p:cNvPr id="82947" name="Picture 4"/>
          <p:cNvPicPr>
            <a:picLocks noChangeAspect="1"/>
          </p:cNvPicPr>
          <p:nvPr/>
        </p:nvPicPr>
        <p:blipFill>
          <a:blip r:embed="rId1">
            <a:clrChange>
              <a:clrFrom>
                <a:srgbClr val="FEFEFE"/>
              </a:clrFrom>
              <a:clrTo>
                <a:srgbClr val="FEFEFE">
                  <a:alpha val="0"/>
                </a:srgbClr>
              </a:clrTo>
            </a:clrChange>
          </a:blip>
          <a:stretch>
            <a:fillRect/>
          </a:stretch>
        </p:blipFill>
        <p:spPr>
          <a:xfrm>
            <a:off x="3667125" y="3933825"/>
            <a:ext cx="4673600" cy="2598738"/>
          </a:xfrm>
          <a:prstGeom prst="rect">
            <a:avLst/>
          </a:prstGeom>
          <a:noFill/>
          <a:ln w="9525">
            <a:noFill/>
          </a:ln>
        </p:spPr>
      </p:pic>
      <p:pic>
        <p:nvPicPr>
          <p:cNvPr id="82948" name="Picture 12"/>
          <p:cNvPicPr>
            <a:picLocks noChangeAspect="1"/>
          </p:cNvPicPr>
          <p:nvPr/>
        </p:nvPicPr>
        <p:blipFill>
          <a:blip r:embed="rId2">
            <a:clrChange>
              <a:clrFrom>
                <a:srgbClr val="FFFFFF"/>
              </a:clrFrom>
              <a:clrTo>
                <a:srgbClr val="FFFFFF">
                  <a:alpha val="0"/>
                </a:srgbClr>
              </a:clrTo>
            </a:clrChange>
          </a:blip>
          <a:stretch>
            <a:fillRect/>
          </a:stretch>
        </p:blipFill>
        <p:spPr>
          <a:xfrm>
            <a:off x="9037638" y="4095750"/>
            <a:ext cx="1522412" cy="2286000"/>
          </a:xfrm>
          <a:prstGeom prst="rect">
            <a:avLst/>
          </a:prstGeom>
          <a:noFill/>
          <a:ln w="9525">
            <a:noFill/>
          </a:ln>
        </p:spPr>
      </p:pic>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1635">
                                            <p:txEl>
                                              <p:pRg st="1" end="1"/>
                                            </p:txEl>
                                          </p:spTgt>
                                        </p:tgtEl>
                                        <p:attrNameLst>
                                          <p:attrName>style.visibility</p:attrName>
                                        </p:attrNameLst>
                                      </p:cBhvr>
                                      <p:to>
                                        <p:strVal val="visible"/>
                                      </p:to>
                                    </p:set>
                                    <p:animEffect transition="in" filter="wipe(left)">
                                      <p:cBhvr>
                                        <p:cTn id="7" dur="500"/>
                                        <p:tgtEl>
                                          <p:spTgt spid="5816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81635">
                                            <p:txEl>
                                              <p:pRg st="2" end="2"/>
                                            </p:txEl>
                                          </p:spTgt>
                                        </p:tgtEl>
                                        <p:attrNameLst>
                                          <p:attrName>style.visibility</p:attrName>
                                        </p:attrNameLst>
                                      </p:cBhvr>
                                      <p:to>
                                        <p:strVal val="visible"/>
                                      </p:to>
                                    </p:set>
                                    <p:anim calcmode="lin" valueType="num">
                                      <p:cBhvr>
                                        <p:cTn id="12" dur="500" fill="hold"/>
                                        <p:tgtEl>
                                          <p:spTgt spid="581635">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581635">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 calcmode="lin" valueType="num">
                                      <p:cBhvr>
                                        <p:cTn id="18" dur="500" fill="hold"/>
                                        <p:tgtEl>
                                          <p:spTgt spid="581635">
                                            <p:txEl>
                                              <p:pRg st="3" end="3"/>
                                            </p:txEl>
                                          </p:spTgt>
                                        </p:tgtEl>
                                        <p:attrNameLst>
                                          <p:attrName>ppt_w</p:attrName>
                                        </p:attrNameLst>
                                      </p:cBhvr>
                                      <p:tavLst>
                                        <p:tav tm="0">
                                          <p:val>
                                            <p:fltVal val="0"/>
                                          </p:val>
                                        </p:tav>
                                        <p:tav tm="100000">
                                          <p:val>
                                            <p:strVal val="#ppt_w"/>
                                          </p:val>
                                        </p:tav>
                                      </p:tavLst>
                                    </p:anim>
                                    <p:anim calcmode="lin" valueType="num">
                                      <p:cBhvr>
                                        <p:cTn id="19" dur="500" fill="hold"/>
                                        <p:tgtEl>
                                          <p:spTgt spid="581635">
                                            <p:txEl>
                                              <p:pRg st="3" end="3"/>
                                            </p:txEl>
                                          </p:spTgt>
                                        </p:tgtEl>
                                        <p:attrNameLst>
                                          <p:attrName>ppt_h</p:attrName>
                                        </p:attrNameLst>
                                      </p:cBhvr>
                                      <p:tavLst>
                                        <p:tav tm="0">
                                          <p:val>
                                            <p:fltVal val="0"/>
                                          </p:val>
                                        </p:tav>
                                        <p:tav tm="100000">
                                          <p:val>
                                            <p:strVal val="#ppt_h"/>
                                          </p:val>
                                        </p:tav>
                                      </p:tavLst>
                                    </p:anim>
                                    <p:animEffect transition="in" filter="fade">
                                      <p:cBhvr>
                                        <p:cTn id="20" dur="500"/>
                                        <p:tgtEl>
                                          <p:spTgt spid="581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89"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2.6 </a:t>
            </a:r>
            <a:r>
              <a:rPr lang="zh-CN" altLang="en-US" kern="1200" dirty="0">
                <a:latin typeface="Arial" panose="020B0604020202090204" pitchFamily="34" charset="0"/>
                <a:ea typeface="黑体" panose="02010609060101010101" pitchFamily="49" charset="-122"/>
                <a:cs typeface="Arial" panose="020B0604020202090204" pitchFamily="34" charset="0"/>
              </a:rPr>
              <a:t>模块化程序设计</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1571625" y="1414463"/>
            <a:ext cx="9126538" cy="5183187"/>
          </a:xfrm>
        </p:spPr>
        <p:txBody>
          <a:bodyPr vert="horz" wrap="square" lIns="91440" tIns="45720" rIns="91440" bIns="45720" anchor="t" anchorCtr="0"/>
          <a:lstStyle/>
          <a:p>
            <a:pPr>
              <a:spcAft>
                <a:spcPct val="0"/>
              </a:spcAft>
              <a:buSzPct val="50000"/>
            </a:pPr>
            <a:r>
              <a:rPr lang="zh-CN" altLang="en-US" sz="3200" kern="1200" dirty="0">
                <a:latin typeface="黑体" panose="02010609060101010101" pitchFamily="49" charset="-122"/>
                <a:ea typeface="黑体" panose="02010609060101010101" pitchFamily="49" charset="-122"/>
                <a:cs typeface="+mn-cs"/>
              </a:rPr>
              <a:t>模块分解的基本原则</a:t>
            </a:r>
            <a:endParaRPr lang="zh-CN" altLang="en-US" sz="3200" kern="1200" dirty="0">
              <a:latin typeface="黑体" panose="02010609060101010101" pitchFamily="49" charset="-122"/>
              <a:ea typeface="黑体" panose="02010609060101010101" pitchFamily="49" charset="-122"/>
              <a:cs typeface="+mn-cs"/>
            </a:endParaRPr>
          </a:p>
          <a:p>
            <a:pPr lvl="1">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保证模块的相对独立性</a:t>
            </a:r>
            <a:r>
              <a:rPr lang="en-US" altLang="zh-CN" sz="2800" kern="1200" dirty="0">
                <a:latin typeface="黑体" panose="02010609060101010101" pitchFamily="49" charset="-122"/>
                <a:ea typeface="黑体" panose="02010609060101010101" pitchFamily="49" charset="-122"/>
                <a:cs typeface="Times New Roman" panose="02020503050405090304" pitchFamily="18" charset="0"/>
              </a:rPr>
              <a:t>——</a:t>
            </a: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高聚合、低耦合</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模块的实现细节对外不可见</a:t>
            </a:r>
            <a:r>
              <a:rPr lang="en-US" altLang="zh-CN" sz="2800" kern="1200" dirty="0">
                <a:latin typeface="黑体" panose="02010609060101010101" pitchFamily="49" charset="-122"/>
                <a:ea typeface="黑体" panose="02010609060101010101" pitchFamily="49" charset="-122"/>
                <a:cs typeface="Times New Roman" panose="02020503050405090304" pitchFamily="18" charset="0"/>
              </a:rPr>
              <a:t>——</a:t>
            </a: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信息隐藏</a:t>
            </a:r>
            <a:endParaRPr lang="en-US" altLang="zh-CN" sz="2800" kern="1200" dirty="0">
              <a:latin typeface="黑体" panose="02010609060101010101" pitchFamily="49" charset="-122"/>
              <a:ea typeface="黑体" panose="02010609060101010101" pitchFamily="49" charset="-122"/>
              <a:cs typeface="Times New Roman" panose="02020503050405090304" pitchFamily="18" charset="0"/>
            </a:endParaRPr>
          </a:p>
          <a:p>
            <a:pPr lvl="2">
              <a:spcAft>
                <a:spcPct val="0"/>
              </a:spcAft>
              <a:buSzPct val="50000"/>
              <a:buFont typeface="Wingdings" panose="05000000000000000000" pitchFamily="2" charset="2"/>
              <a:buChar char="u"/>
            </a:pPr>
            <a:r>
              <a:rPr lang="zh-CN" altLang="en-US" sz="2400" kern="1200" dirty="0">
                <a:latin typeface="黑体" panose="02010609060101010101" pitchFamily="49" charset="-122"/>
                <a:ea typeface="黑体" panose="02010609060101010101" pitchFamily="49" charset="-122"/>
                <a:cs typeface="Times New Roman" panose="02020503050405090304" pitchFamily="18" charset="0"/>
              </a:rPr>
              <a:t>外部：关心做什么；内部：关心怎么做</a:t>
            </a:r>
            <a:endParaRPr lang="zh-CN" altLang="en-US" sz="2400" kern="1200" dirty="0">
              <a:latin typeface="黑体" panose="02010609060101010101" pitchFamily="49" charset="-122"/>
              <a:ea typeface="黑体" panose="02010609060101010101" pitchFamily="49" charset="-122"/>
              <a:cs typeface="Times New Roman" panose="02020503050405090304" pitchFamily="18" charset="0"/>
            </a:endParaRPr>
          </a:p>
          <a:p>
            <a:pPr>
              <a:spcAft>
                <a:spcPct val="0"/>
              </a:spcAft>
              <a:buSzPct val="50000"/>
            </a:pPr>
            <a:r>
              <a:rPr lang="zh-CN" altLang="en-US" sz="3200" kern="1200" dirty="0">
                <a:latin typeface="黑体" panose="02010609060101010101" pitchFamily="49" charset="-122"/>
                <a:ea typeface="黑体" panose="02010609060101010101" pitchFamily="49" charset="-122"/>
                <a:cs typeface="+mn-cs"/>
              </a:rPr>
              <a:t>设计好模块接口</a:t>
            </a:r>
            <a:endParaRPr lang="zh-CN" altLang="en-US" sz="3200" kern="1200" dirty="0">
              <a:latin typeface="黑体" panose="02010609060101010101" pitchFamily="49" charset="-122"/>
              <a:ea typeface="黑体" panose="02010609060101010101" pitchFamily="49" charset="-122"/>
              <a:cs typeface="+mn-cs"/>
            </a:endParaRPr>
          </a:p>
          <a:p>
            <a:pPr lvl="1">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指罗列出一个模块的所有与外部打交道的变量 </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定义好后不要轻易改动</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在模块开头（文件的开头）进行函数声明</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1635">
                                            <p:txEl>
                                              <p:pRg st="1" end="1"/>
                                            </p:txEl>
                                          </p:spTgt>
                                        </p:tgtEl>
                                        <p:attrNameLst>
                                          <p:attrName>style.visibility</p:attrName>
                                        </p:attrNameLst>
                                      </p:cBhvr>
                                      <p:to>
                                        <p:strVal val="visible"/>
                                      </p:to>
                                    </p:set>
                                    <p:animEffect transition="in" filter="wipe(left)">
                                      <p:cBhvr>
                                        <p:cTn id="12" dur="500"/>
                                        <p:tgtEl>
                                          <p:spTgt spid="5816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1635">
                                            <p:txEl>
                                              <p:pRg st="2" end="2"/>
                                            </p:txEl>
                                          </p:spTgt>
                                        </p:tgtEl>
                                        <p:attrNameLst>
                                          <p:attrName>style.visibility</p:attrName>
                                        </p:attrNameLst>
                                      </p:cBhvr>
                                      <p:to>
                                        <p:strVal val="visible"/>
                                      </p:to>
                                    </p:set>
                                    <p:animEffect transition="in" filter="wipe(left)">
                                      <p:cBhvr>
                                        <p:cTn id="17" dur="500"/>
                                        <p:tgtEl>
                                          <p:spTgt spid="581635">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81635">
                                            <p:txEl>
                                              <p:pRg st="3" end="3"/>
                                            </p:txEl>
                                          </p:spTgt>
                                        </p:tgtEl>
                                        <p:attrNameLst>
                                          <p:attrName>style.visibility</p:attrName>
                                        </p:attrNameLst>
                                      </p:cBhvr>
                                      <p:to>
                                        <p:strVal val="visible"/>
                                      </p:to>
                                    </p:set>
                                    <p:animEffect transition="in" filter="wipe(left)">
                                      <p:cBhvr>
                                        <p:cTn id="20" dur="500"/>
                                        <p:tgtEl>
                                          <p:spTgt spid="58163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81635">
                                            <p:txEl>
                                              <p:pRg st="4" end="4"/>
                                            </p:txEl>
                                          </p:spTgt>
                                        </p:tgtEl>
                                        <p:attrNameLst>
                                          <p:attrName>style.visibility</p:attrName>
                                        </p:attrNameLst>
                                      </p:cBhvr>
                                      <p:to>
                                        <p:strVal val="visible"/>
                                      </p:to>
                                    </p:set>
                                    <p:animEffect transition="in" filter="wipe(left)">
                                      <p:cBhvr>
                                        <p:cTn id="25" dur="500"/>
                                        <p:tgtEl>
                                          <p:spTgt spid="58163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81635">
                                            <p:txEl>
                                              <p:pRg st="5" end="5"/>
                                            </p:txEl>
                                          </p:spTgt>
                                        </p:tgtEl>
                                        <p:attrNameLst>
                                          <p:attrName>style.visibility</p:attrName>
                                        </p:attrNameLst>
                                      </p:cBhvr>
                                      <p:to>
                                        <p:strVal val="visible"/>
                                      </p:to>
                                    </p:set>
                                    <p:animEffect transition="in" filter="wipe(left)">
                                      <p:cBhvr>
                                        <p:cTn id="30" dur="500"/>
                                        <p:tgtEl>
                                          <p:spTgt spid="58163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81635">
                                            <p:txEl>
                                              <p:pRg st="6" end="6"/>
                                            </p:txEl>
                                          </p:spTgt>
                                        </p:tgtEl>
                                        <p:attrNameLst>
                                          <p:attrName>style.visibility</p:attrName>
                                        </p:attrNameLst>
                                      </p:cBhvr>
                                      <p:to>
                                        <p:strVal val="visible"/>
                                      </p:to>
                                    </p:set>
                                    <p:animEffect transition="in" filter="wipe(left)">
                                      <p:cBhvr>
                                        <p:cTn id="35" dur="500"/>
                                        <p:tgtEl>
                                          <p:spTgt spid="58163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81635">
                                            <p:txEl>
                                              <p:pRg st="7" end="7"/>
                                            </p:txEl>
                                          </p:spTgt>
                                        </p:tgtEl>
                                        <p:attrNameLst>
                                          <p:attrName>style.visibility</p:attrName>
                                        </p:attrNameLst>
                                      </p:cBhvr>
                                      <p:to>
                                        <p:strVal val="visible"/>
                                      </p:to>
                                    </p:set>
                                    <p:animEffect transition="in" filter="wipe(left)">
                                      <p:cBhvr>
                                        <p:cTn id="40" dur="500"/>
                                        <p:tgtEl>
                                          <p:spTgt spid="5816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endParaRPr lang="en-US" altLang="zh-CN" sz="4000" dirty="0"/>
          </a:p>
        </p:txBody>
      </p:sp>
      <p:sp>
        <p:nvSpPr>
          <p:cNvPr id="189443" name="Rectangle 3"/>
          <p:cNvSpPr>
            <a:spLocks noGrp="1"/>
          </p:cNvSpPr>
          <p:nvPr>
            <p:ph type="body" idx="4294967295"/>
          </p:nvPr>
        </p:nvSpPr>
        <p:spPr>
          <a:xfrm>
            <a:off x="1487488" y="1484313"/>
            <a:ext cx="8420100" cy="4611687"/>
          </a:xfrm>
        </p:spPr>
        <p:txBody>
          <a:bodyPr vert="horz" wrap="square" lIns="91440" tIns="45720" rIns="91440" bIns="45720" anchor="t" anchorCtr="0"/>
          <a:lstStyle/>
          <a:p>
            <a:pPr eaLnBrk="1" hangingPunct="1"/>
            <a:r>
              <a:rPr lang="zh-CN" altLang="en-US" dirty="0">
                <a:latin typeface="华文仿宋" panose="02010600040101010101" pitchFamily="2" charset="-122"/>
              </a:rPr>
              <a:t>猜多个数，</a:t>
            </a:r>
            <a:r>
              <a:rPr lang="en-US" altLang="zh-CN" dirty="0"/>
              <a:t>10</a:t>
            </a:r>
            <a:r>
              <a:rPr lang="zh-CN" altLang="en-US" dirty="0">
                <a:latin typeface="华文仿宋" panose="02010600040101010101" pitchFamily="2" charset="-122"/>
              </a:rPr>
              <a:t>次猜不对就猜下一个数</a:t>
            </a:r>
            <a:endParaRPr lang="zh-CN" altLang="en-US" dirty="0">
              <a:latin typeface="华文仿宋" panose="02010600040101010101" pitchFamily="2" charset="-122"/>
            </a:endParaRPr>
          </a:p>
          <a:p>
            <a:pPr eaLnBrk="1" hangingPunct="1">
              <a:buFont typeface="Monotype Sorts"/>
              <a:buChar char=""/>
            </a:pPr>
            <a:r>
              <a:rPr lang="zh-CN" altLang="en-US" dirty="0">
                <a:latin typeface="华文仿宋" panose="02010600040101010101" pitchFamily="2" charset="-122"/>
              </a:rPr>
              <a:t>模块分解过程 </a:t>
            </a:r>
            <a:endParaRPr lang="zh-CN" altLang="en-US" dirty="0">
              <a:latin typeface="华文仿宋" panose="02010600040101010101" pitchFamily="2" charset="-122"/>
            </a:endParaRPr>
          </a:p>
        </p:txBody>
      </p:sp>
      <p:pic>
        <p:nvPicPr>
          <p:cNvPr id="72709" name="Picture 5"/>
          <p:cNvPicPr>
            <a:picLocks noChangeAspect="1"/>
          </p:cNvPicPr>
          <p:nvPr/>
        </p:nvPicPr>
        <p:blipFill>
          <a:blip r:embed="rId1">
            <a:clrChange>
              <a:clrFrom>
                <a:srgbClr val="FFFFFF"/>
              </a:clrFrom>
              <a:clrTo>
                <a:srgbClr val="FFFFFF">
                  <a:alpha val="0"/>
                </a:srgbClr>
              </a:clrTo>
            </a:clrChange>
          </a:blip>
          <a:stretch>
            <a:fillRect/>
          </a:stretch>
        </p:blipFill>
        <p:spPr>
          <a:xfrm>
            <a:off x="2586038" y="3213100"/>
            <a:ext cx="5070475" cy="1439863"/>
          </a:xfrm>
          <a:prstGeom prst="rect">
            <a:avLst/>
          </a:prstGeom>
          <a:noFill/>
          <a:ln w="12700">
            <a:noFill/>
          </a:ln>
        </p:spPr>
      </p:pic>
      <p:sp>
        <p:nvSpPr>
          <p:cNvPr id="190471" name="AutoShape 7"/>
          <p:cNvSpPr>
            <a:spLocks noChangeArrowheads="1"/>
          </p:cNvSpPr>
          <p:nvPr/>
        </p:nvSpPr>
        <p:spPr bwMode="auto">
          <a:xfrm>
            <a:off x="8748713" y="1844675"/>
            <a:ext cx="1792288"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开始</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0472" name="AutoShape 8"/>
          <p:cNvSpPr>
            <a:spLocks noChangeArrowheads="1"/>
          </p:cNvSpPr>
          <p:nvPr/>
        </p:nvSpPr>
        <p:spPr bwMode="auto">
          <a:xfrm>
            <a:off x="8748713" y="5445125"/>
            <a:ext cx="1792288"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结束</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0473" name="AutoShape 9"/>
          <p:cNvSpPr>
            <a:spLocks noChangeArrowheads="1"/>
          </p:cNvSpPr>
          <p:nvPr/>
        </p:nvSpPr>
        <p:spPr bwMode="auto">
          <a:xfrm>
            <a:off x="8864600" y="2689225"/>
            <a:ext cx="1562100" cy="504825"/>
          </a:xfrm>
          <a:prstGeom prst="flowChartProcess">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初始化</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0474" name="AutoShape 10"/>
          <p:cNvSpPr>
            <a:spLocks noChangeArrowheads="1"/>
          </p:cNvSpPr>
          <p:nvPr/>
        </p:nvSpPr>
        <p:spPr bwMode="auto">
          <a:xfrm>
            <a:off x="8864600" y="4527550"/>
            <a:ext cx="1562100" cy="503238"/>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退出处理</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0475" name="AutoShape 11"/>
          <p:cNvSpPr>
            <a:spLocks noChangeArrowheads="1"/>
          </p:cNvSpPr>
          <p:nvPr/>
        </p:nvSpPr>
        <p:spPr bwMode="auto">
          <a:xfrm>
            <a:off x="8864600" y="3608388"/>
            <a:ext cx="1562100" cy="504825"/>
          </a:xfrm>
          <a:prstGeom prst="flowChartProcess">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主功能</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0477" name="AutoShape 13"/>
          <p:cNvCxnSpPr>
            <a:stCxn id="190471" idx="2"/>
            <a:endCxn id="190473" idx="0"/>
          </p:cNvCxnSpPr>
          <p:nvPr/>
        </p:nvCxnSpPr>
        <p:spPr>
          <a:xfrm>
            <a:off x="9645650" y="2295525"/>
            <a:ext cx="0" cy="374650"/>
          </a:xfrm>
          <a:prstGeom prst="straightConnector1">
            <a:avLst/>
          </a:prstGeom>
          <a:ln w="38100" cap="flat" cmpd="sng">
            <a:solidFill>
              <a:schemeClr val="tx1"/>
            </a:solidFill>
            <a:prstDash val="solid"/>
            <a:headEnd type="none" w="med" len="med"/>
            <a:tailEnd type="triangle" w="med" len="med"/>
          </a:ln>
        </p:spPr>
      </p:cxnSp>
      <p:cxnSp>
        <p:nvCxnSpPr>
          <p:cNvPr id="190478" name="AutoShape 14"/>
          <p:cNvCxnSpPr>
            <a:stCxn id="190473" idx="2"/>
            <a:endCxn id="190475" idx="0"/>
          </p:cNvCxnSpPr>
          <p:nvPr/>
        </p:nvCxnSpPr>
        <p:spPr>
          <a:xfrm>
            <a:off x="9645650" y="3213100"/>
            <a:ext cx="0" cy="376238"/>
          </a:xfrm>
          <a:prstGeom prst="straightConnector1">
            <a:avLst/>
          </a:prstGeom>
          <a:ln w="38100" cap="flat" cmpd="sng">
            <a:solidFill>
              <a:schemeClr val="tx1"/>
            </a:solidFill>
            <a:prstDash val="solid"/>
            <a:headEnd type="none" w="med" len="med"/>
            <a:tailEnd type="triangle" w="med" len="med"/>
          </a:ln>
        </p:spPr>
      </p:cxnSp>
      <p:cxnSp>
        <p:nvCxnSpPr>
          <p:cNvPr id="190479" name="AutoShape 15"/>
          <p:cNvCxnSpPr>
            <a:stCxn id="190475" idx="2"/>
            <a:endCxn id="190474" idx="0"/>
          </p:cNvCxnSpPr>
          <p:nvPr/>
        </p:nvCxnSpPr>
        <p:spPr>
          <a:xfrm>
            <a:off x="9645650" y="4132263"/>
            <a:ext cx="0" cy="376237"/>
          </a:xfrm>
          <a:prstGeom prst="straightConnector1">
            <a:avLst/>
          </a:prstGeom>
          <a:ln w="38100" cap="flat" cmpd="sng">
            <a:solidFill>
              <a:schemeClr val="tx1"/>
            </a:solidFill>
            <a:prstDash val="solid"/>
            <a:headEnd type="none" w="med" len="med"/>
            <a:tailEnd type="triangle" w="med" len="med"/>
          </a:ln>
        </p:spPr>
      </p:cxnSp>
      <p:cxnSp>
        <p:nvCxnSpPr>
          <p:cNvPr id="190480" name="AutoShape 16"/>
          <p:cNvCxnSpPr>
            <a:stCxn id="190474" idx="2"/>
            <a:endCxn id="190472" idx="0"/>
          </p:cNvCxnSpPr>
          <p:nvPr/>
        </p:nvCxnSpPr>
        <p:spPr>
          <a:xfrm>
            <a:off x="9645650" y="5049838"/>
            <a:ext cx="0" cy="376237"/>
          </a:xfrm>
          <a:prstGeom prst="straightConnector1">
            <a:avLst/>
          </a:prstGeom>
          <a:ln w="38100" cap="flat" cmpd="sng">
            <a:solidFill>
              <a:schemeClr val="tx1"/>
            </a:solidFill>
            <a:prstDash val="solid"/>
            <a:headEnd type="none" w="med" len="med"/>
            <a:tailEnd type="triangle" w="med" len="med"/>
          </a:ln>
        </p:spPr>
      </p:cxnSp>
      <p:sp>
        <p:nvSpPr>
          <p:cNvPr id="190481" name="AutoShape 17"/>
          <p:cNvSpPr/>
          <p:nvPr/>
        </p:nvSpPr>
        <p:spPr>
          <a:xfrm>
            <a:off x="6096000" y="2276475"/>
            <a:ext cx="2574925" cy="936625"/>
          </a:xfrm>
          <a:prstGeom prst="wedgeEllipseCallout">
            <a:avLst>
              <a:gd name="adj1" fmla="val 57750"/>
              <a:gd name="adj2" fmla="val 28306"/>
            </a:avLst>
          </a:prstGeom>
          <a:solidFill>
            <a:srgbClr val="FFFFCC"/>
          </a:solidFill>
          <a:ln w="9525" cap="flat" cmpd="sng">
            <a:solidFill>
              <a:srgbClr val="000080"/>
            </a:solidFill>
            <a:prstDash val="solid"/>
            <a:miter/>
            <a:headEnd type="none" w="med" len="med"/>
            <a:tailEnd type="none" w="med" len="med"/>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90000"/>
              </a:lnSpc>
              <a:spcBef>
                <a:spcPts val="590"/>
              </a:spcBef>
              <a:spcAft>
                <a:spcPts val="590"/>
              </a:spcAft>
              <a:buSzPct val="80000"/>
              <a:buNone/>
            </a:pPr>
            <a:r>
              <a:rPr lang="zh-CN" altLang="en-US" sz="2000" dirty="0"/>
              <a:t>为程序运行所做的准备工作</a:t>
            </a:r>
            <a:endParaRPr lang="en-US" altLang="zh-CN" sz="2000" dirty="0"/>
          </a:p>
        </p:txBody>
      </p:sp>
      <p:sp>
        <p:nvSpPr>
          <p:cNvPr id="190483" name="AutoShape 19"/>
          <p:cNvSpPr/>
          <p:nvPr/>
        </p:nvSpPr>
        <p:spPr>
          <a:xfrm>
            <a:off x="5784850" y="4868863"/>
            <a:ext cx="3040063" cy="1079500"/>
          </a:xfrm>
          <a:prstGeom prst="wedgeEllipseCallout">
            <a:avLst>
              <a:gd name="adj1" fmla="val 50894"/>
              <a:gd name="adj2" fmla="val -67440"/>
            </a:avLst>
          </a:prstGeom>
          <a:solidFill>
            <a:srgbClr val="FFFFCC"/>
          </a:solidFill>
          <a:ln w="9525" cap="flat" cmpd="sng">
            <a:solidFill>
              <a:srgbClr val="000080"/>
            </a:solidFill>
            <a:prstDash val="solid"/>
            <a:miter/>
            <a:headEnd type="none" w="med" len="med"/>
            <a:tailEnd type="none" w="med" len="med"/>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90000"/>
              </a:lnSpc>
              <a:spcBef>
                <a:spcPts val="590"/>
              </a:spcBef>
              <a:spcAft>
                <a:spcPts val="590"/>
              </a:spcAft>
              <a:buSzPct val="80000"/>
              <a:buNone/>
            </a:pPr>
            <a:r>
              <a:rPr lang="zh-CN" altLang="en-US" sz="2000" dirty="0"/>
              <a:t>在退出前要做的事情，如打印结果、资源释放等</a:t>
            </a:r>
            <a:endParaRPr lang="en-US" altLang="zh-CN" sz="2000" dirty="0"/>
          </a:p>
        </p:txBody>
      </p:sp>
      <p:sp>
        <p:nvSpPr>
          <p:cNvPr id="56329" name="Text Box 13"/>
          <p:cNvSpPr txBox="1"/>
          <p:nvPr/>
        </p:nvSpPr>
        <p:spPr>
          <a:xfrm>
            <a:off x="2351088" y="6000750"/>
            <a:ext cx="1651000" cy="338138"/>
          </a:xfrm>
          <a:prstGeom prst="rect">
            <a:avLst/>
          </a:prstGeom>
          <a:noFill/>
          <a:ln w="57150" cap="flat" cmpd="thickThin">
            <a:solidFill>
              <a:srgbClr val="003366"/>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80000"/>
              </a:lnSpc>
              <a:spcBef>
                <a:spcPct val="50000"/>
              </a:spcBef>
              <a:spcAft>
                <a:spcPts val="590"/>
              </a:spcAft>
              <a:buSzPct val="80000"/>
              <a:buNone/>
            </a:pPr>
            <a:r>
              <a:rPr lang="zh-CN" altLang="en-US" sz="2000" b="1" dirty="0"/>
              <a:t>自底向上</a:t>
            </a:r>
            <a:endParaRPr lang="zh-CN" altLang="en-US" sz="2000" b="1" dirty="0"/>
          </a:p>
        </p:txBody>
      </p:sp>
      <p:sp>
        <p:nvSpPr>
          <p:cNvPr id="56330" name="Text Box 13"/>
          <p:cNvSpPr txBox="1"/>
          <p:nvPr/>
        </p:nvSpPr>
        <p:spPr>
          <a:xfrm>
            <a:off x="4745038" y="6021388"/>
            <a:ext cx="3367087" cy="338137"/>
          </a:xfrm>
          <a:prstGeom prst="rect">
            <a:avLst/>
          </a:prstGeom>
          <a:noFill/>
          <a:ln w="57150" cap="flat" cmpd="thickThin">
            <a:solidFill>
              <a:srgbClr val="003366"/>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80000"/>
              </a:lnSpc>
              <a:spcBef>
                <a:spcPct val="50000"/>
              </a:spcBef>
              <a:spcAft>
                <a:spcPts val="590"/>
              </a:spcAft>
              <a:buSzPct val="80000"/>
              <a:buNone/>
            </a:pPr>
            <a:r>
              <a:rPr lang="zh-CN" altLang="en-US" sz="2000" b="1" dirty="0"/>
              <a:t>自顶向下的模块化程序设计</a:t>
            </a:r>
            <a:endParaRPr lang="zh-CN" altLang="en-US" sz="2000" b="1" dirty="0"/>
          </a:p>
        </p:txBody>
      </p:sp>
      <p:sp>
        <p:nvSpPr>
          <p:cNvPr id="56331" name="AutoShape 18"/>
          <p:cNvSpPr/>
          <p:nvPr/>
        </p:nvSpPr>
        <p:spPr>
          <a:xfrm>
            <a:off x="4167188" y="6076950"/>
            <a:ext cx="412750" cy="304800"/>
          </a:xfrm>
          <a:prstGeom prst="rightArrow">
            <a:avLst>
              <a:gd name="adj1" fmla="val 50000"/>
              <a:gd name="adj2" fmla="val 3125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72723" name="灯片编号占位符 1"/>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9"/>
                                        </p:tgtEl>
                                        <p:attrNameLst>
                                          <p:attrName>style.visibility</p:attrName>
                                        </p:attrNameLst>
                                      </p:cBhvr>
                                      <p:to>
                                        <p:strVal val="visible"/>
                                      </p:to>
                                    </p:set>
                                    <p:anim calcmode="lin" valueType="num">
                                      <p:cBhvr additive="base">
                                        <p:cTn id="7" dur="500" fill="hold"/>
                                        <p:tgtEl>
                                          <p:spTgt spid="56329"/>
                                        </p:tgtEl>
                                        <p:attrNameLst>
                                          <p:attrName>ppt_x</p:attrName>
                                        </p:attrNameLst>
                                      </p:cBhvr>
                                      <p:tavLst>
                                        <p:tav tm="0">
                                          <p:val>
                                            <p:strVal val="0-#ppt_w/2"/>
                                          </p:val>
                                        </p:tav>
                                        <p:tav tm="100000">
                                          <p:val>
                                            <p:strVal val="#ppt_x"/>
                                          </p:val>
                                        </p:tav>
                                      </p:tavLst>
                                    </p:anim>
                                    <p:anim calcmode="lin" valueType="num">
                                      <p:cBhvr additive="base">
                                        <p:cTn id="8" dur="500" fill="hold"/>
                                        <p:tgtEl>
                                          <p:spTgt spid="563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31"/>
                                        </p:tgtEl>
                                        <p:attrNameLst>
                                          <p:attrName>style.visibility</p:attrName>
                                        </p:attrNameLst>
                                      </p:cBhvr>
                                      <p:to>
                                        <p:strVal val="visible"/>
                                      </p:to>
                                    </p:set>
                                    <p:anim calcmode="lin" valueType="num">
                                      <p:cBhvr additive="base">
                                        <p:cTn id="13" dur="500" fill="hold"/>
                                        <p:tgtEl>
                                          <p:spTgt spid="56331"/>
                                        </p:tgtEl>
                                        <p:attrNameLst>
                                          <p:attrName>ppt_x</p:attrName>
                                        </p:attrNameLst>
                                      </p:cBhvr>
                                      <p:tavLst>
                                        <p:tav tm="0">
                                          <p:val>
                                            <p:strVal val="0-#ppt_w/2"/>
                                          </p:val>
                                        </p:tav>
                                        <p:tav tm="100000">
                                          <p:val>
                                            <p:strVal val="#ppt_x"/>
                                          </p:val>
                                        </p:tav>
                                      </p:tavLst>
                                    </p:anim>
                                    <p:anim calcmode="lin" valueType="num">
                                      <p:cBhvr additive="base">
                                        <p:cTn id="14" dur="500" fill="hold"/>
                                        <p:tgtEl>
                                          <p:spTgt spid="56331"/>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56330"/>
                                        </p:tgtEl>
                                        <p:attrNameLst>
                                          <p:attrName>style.visibility</p:attrName>
                                        </p:attrNameLst>
                                      </p:cBhvr>
                                      <p:to>
                                        <p:strVal val="visible"/>
                                      </p:to>
                                    </p:set>
                                    <p:anim calcmode="lin" valueType="num">
                                      <p:cBhvr additive="base">
                                        <p:cTn id="18" dur="500" fill="hold"/>
                                        <p:tgtEl>
                                          <p:spTgt spid="56330"/>
                                        </p:tgtEl>
                                        <p:attrNameLst>
                                          <p:attrName>ppt_x</p:attrName>
                                        </p:attrNameLst>
                                      </p:cBhvr>
                                      <p:tavLst>
                                        <p:tav tm="0">
                                          <p:val>
                                            <p:strVal val="0-#ppt_w/2"/>
                                          </p:val>
                                        </p:tav>
                                        <p:tav tm="100000">
                                          <p:val>
                                            <p:strVal val="#ppt_x"/>
                                          </p:val>
                                        </p:tav>
                                      </p:tavLst>
                                    </p:anim>
                                    <p:anim calcmode="lin" valueType="num">
                                      <p:cBhvr additive="base">
                                        <p:cTn id="19" dur="500" fill="hold"/>
                                        <p:tgtEl>
                                          <p:spTgt spid="5633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89443">
                                            <p:txEl>
                                              <p:pRg st="1" end="1"/>
                                            </p:txEl>
                                          </p:spTgt>
                                        </p:tgtEl>
                                        <p:attrNameLst>
                                          <p:attrName>style.visibility</p:attrName>
                                        </p:attrNameLst>
                                      </p:cBhvr>
                                      <p:to>
                                        <p:strVal val="visible"/>
                                      </p:to>
                                    </p:set>
                                    <p:animEffect transition="in" filter="wipe(left)">
                                      <p:cBhvr>
                                        <p:cTn id="24" dur="500"/>
                                        <p:tgtEl>
                                          <p:spTgt spid="18944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90471"/>
                                        </p:tgtEl>
                                        <p:attrNameLst>
                                          <p:attrName>style.visibility</p:attrName>
                                        </p:attrNameLst>
                                      </p:cBhvr>
                                      <p:to>
                                        <p:strVal val="visible"/>
                                      </p:to>
                                    </p:set>
                                    <p:animEffect transition="in" filter="wipe(up)">
                                      <p:cBhvr>
                                        <p:cTn id="29" dur="500"/>
                                        <p:tgtEl>
                                          <p:spTgt spid="19047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90477"/>
                                        </p:tgtEl>
                                        <p:attrNameLst>
                                          <p:attrName>style.visibility</p:attrName>
                                        </p:attrNameLst>
                                      </p:cBhvr>
                                      <p:to>
                                        <p:strVal val="visible"/>
                                      </p:to>
                                    </p:set>
                                    <p:animEffect transition="in" filter="wipe(up)">
                                      <p:cBhvr>
                                        <p:cTn id="34" dur="500"/>
                                        <p:tgtEl>
                                          <p:spTgt spid="190477"/>
                                        </p:tgtEl>
                                      </p:cBhvr>
                                    </p:animEffect>
                                  </p:childTnLst>
                                </p:cTn>
                              </p:par>
                            </p:childTnLst>
                          </p:cTn>
                        </p:par>
                        <p:par>
                          <p:cTn id="35" fill="hold">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190473"/>
                                        </p:tgtEl>
                                        <p:attrNameLst>
                                          <p:attrName>style.visibility</p:attrName>
                                        </p:attrNameLst>
                                      </p:cBhvr>
                                      <p:to>
                                        <p:strVal val="visible"/>
                                      </p:to>
                                    </p:set>
                                    <p:animEffect transition="in" filter="wipe(up)">
                                      <p:cBhvr>
                                        <p:cTn id="38" dur="500"/>
                                        <p:tgtEl>
                                          <p:spTgt spid="19047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90478"/>
                                        </p:tgtEl>
                                        <p:attrNameLst>
                                          <p:attrName>style.visibility</p:attrName>
                                        </p:attrNameLst>
                                      </p:cBhvr>
                                      <p:to>
                                        <p:strVal val="visible"/>
                                      </p:to>
                                    </p:set>
                                    <p:animEffect transition="in" filter="wipe(up)">
                                      <p:cBhvr>
                                        <p:cTn id="43" dur="500"/>
                                        <p:tgtEl>
                                          <p:spTgt spid="190478"/>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90475"/>
                                        </p:tgtEl>
                                        <p:attrNameLst>
                                          <p:attrName>style.visibility</p:attrName>
                                        </p:attrNameLst>
                                      </p:cBhvr>
                                      <p:to>
                                        <p:strVal val="visible"/>
                                      </p:to>
                                    </p:set>
                                    <p:animEffect transition="in" filter="wipe(up)">
                                      <p:cBhvr>
                                        <p:cTn id="47" dur="500"/>
                                        <p:tgtEl>
                                          <p:spTgt spid="19047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90479"/>
                                        </p:tgtEl>
                                        <p:attrNameLst>
                                          <p:attrName>style.visibility</p:attrName>
                                        </p:attrNameLst>
                                      </p:cBhvr>
                                      <p:to>
                                        <p:strVal val="visible"/>
                                      </p:to>
                                    </p:set>
                                    <p:animEffect transition="in" filter="wipe(up)">
                                      <p:cBhvr>
                                        <p:cTn id="52" dur="500"/>
                                        <p:tgtEl>
                                          <p:spTgt spid="190479"/>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190474"/>
                                        </p:tgtEl>
                                        <p:attrNameLst>
                                          <p:attrName>style.visibility</p:attrName>
                                        </p:attrNameLst>
                                      </p:cBhvr>
                                      <p:to>
                                        <p:strVal val="visible"/>
                                      </p:to>
                                    </p:set>
                                    <p:animEffect transition="in" filter="wipe(up)">
                                      <p:cBhvr>
                                        <p:cTn id="56" dur="500"/>
                                        <p:tgtEl>
                                          <p:spTgt spid="19047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90480"/>
                                        </p:tgtEl>
                                        <p:attrNameLst>
                                          <p:attrName>style.visibility</p:attrName>
                                        </p:attrNameLst>
                                      </p:cBhvr>
                                      <p:to>
                                        <p:strVal val="visible"/>
                                      </p:to>
                                    </p:set>
                                    <p:animEffect transition="in" filter="wipe(up)">
                                      <p:cBhvr>
                                        <p:cTn id="61" dur="500"/>
                                        <p:tgtEl>
                                          <p:spTgt spid="190480"/>
                                        </p:tgtEl>
                                      </p:cBhvr>
                                    </p:animEffect>
                                  </p:childTnLst>
                                </p:cTn>
                              </p:par>
                            </p:childTnLst>
                          </p:cTn>
                        </p:par>
                        <p:par>
                          <p:cTn id="62" fill="hold">
                            <p:stCondLst>
                              <p:cond delay="500"/>
                            </p:stCondLst>
                            <p:childTnLst>
                              <p:par>
                                <p:cTn id="63" presetID="22" presetClass="entr" presetSubtype="1" fill="hold" grpId="0" nodeType="afterEffect">
                                  <p:stCondLst>
                                    <p:cond delay="0"/>
                                  </p:stCondLst>
                                  <p:childTnLst>
                                    <p:set>
                                      <p:cBhvr>
                                        <p:cTn id="64" dur="1" fill="hold">
                                          <p:stCondLst>
                                            <p:cond delay="0"/>
                                          </p:stCondLst>
                                        </p:cTn>
                                        <p:tgtEl>
                                          <p:spTgt spid="190472"/>
                                        </p:tgtEl>
                                        <p:attrNameLst>
                                          <p:attrName>style.visibility</p:attrName>
                                        </p:attrNameLst>
                                      </p:cBhvr>
                                      <p:to>
                                        <p:strVal val="visible"/>
                                      </p:to>
                                    </p:set>
                                    <p:animEffect transition="in" filter="wipe(up)">
                                      <p:cBhvr>
                                        <p:cTn id="65" dur="500"/>
                                        <p:tgtEl>
                                          <p:spTgt spid="19047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90481"/>
                                        </p:tgtEl>
                                        <p:attrNameLst>
                                          <p:attrName>style.visibility</p:attrName>
                                        </p:attrNameLst>
                                      </p:cBhvr>
                                      <p:to>
                                        <p:strVal val="visible"/>
                                      </p:to>
                                    </p:set>
                                    <p:animEffect transition="in" filter="wipe(left)">
                                      <p:cBhvr>
                                        <p:cTn id="70" dur="500"/>
                                        <p:tgtEl>
                                          <p:spTgt spid="19048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90483"/>
                                        </p:tgtEl>
                                        <p:attrNameLst>
                                          <p:attrName>style.visibility</p:attrName>
                                        </p:attrNameLst>
                                      </p:cBhvr>
                                      <p:to>
                                        <p:strVal val="visible"/>
                                      </p:to>
                                    </p:set>
                                    <p:animEffect transition="in" filter="wipe(left)">
                                      <p:cBhvr>
                                        <p:cTn id="75" dur="500"/>
                                        <p:tgtEl>
                                          <p:spTgt spid="190483"/>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32" fill="hold" nodeType="clickEffect">
                                  <p:stCondLst>
                                    <p:cond delay="0"/>
                                  </p:stCondLst>
                                  <p:childTnLst>
                                    <p:set>
                                      <p:cBhvr>
                                        <p:cTn id="79" dur="1" fill="hold">
                                          <p:stCondLst>
                                            <p:cond delay="0"/>
                                          </p:stCondLst>
                                        </p:cTn>
                                        <p:tgtEl>
                                          <p:spTgt spid="72709"/>
                                        </p:tgtEl>
                                        <p:attrNameLst>
                                          <p:attrName>style.visibility</p:attrName>
                                        </p:attrNameLst>
                                      </p:cBhvr>
                                      <p:to>
                                        <p:strVal val="visible"/>
                                      </p:to>
                                    </p:set>
                                    <p:animEffect transition="in" filter="box(out)">
                                      <p:cBhvr>
                                        <p:cTn id="80" dur="500"/>
                                        <p:tgtEl>
                                          <p:spTgt spid="7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1" grpId="0" bldLvl="0" animBg="1"/>
      <p:bldP spid="190472" grpId="0" bldLvl="0" animBg="1"/>
      <p:bldP spid="190473" grpId="0" bldLvl="0" animBg="1"/>
      <p:bldP spid="190474" grpId="0" bldLvl="0" animBg="1"/>
      <p:bldP spid="190475" grpId="0" bldLvl="0" animBg="1"/>
      <p:bldP spid="190481" grpId="0" bldLvl="0" animBg="1"/>
      <p:bldP spid="190483" grpId="0" bldLvl="0" animBg="1"/>
      <p:bldP spid="56329" grpId="0" bldLvl="0" animBg="1"/>
      <p:bldP spid="56331"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endParaRPr lang="en-US" altLang="zh-CN" sz="4000" dirty="0"/>
          </a:p>
        </p:txBody>
      </p:sp>
      <p:pic>
        <p:nvPicPr>
          <p:cNvPr id="74755" name="Picture 4"/>
          <p:cNvPicPr>
            <a:picLocks noChangeAspect="1"/>
          </p:cNvPicPr>
          <p:nvPr/>
        </p:nvPicPr>
        <p:blipFill>
          <a:blip r:embed="rId1">
            <a:clrChange>
              <a:clrFrom>
                <a:srgbClr val="FFFFFF"/>
              </a:clrFrom>
              <a:clrTo>
                <a:srgbClr val="FFFFFF">
                  <a:alpha val="0"/>
                </a:srgbClr>
              </a:clrTo>
            </a:clrChange>
          </a:blip>
          <a:stretch>
            <a:fillRect/>
          </a:stretch>
        </p:blipFill>
        <p:spPr>
          <a:xfrm>
            <a:off x="2249488" y="1484313"/>
            <a:ext cx="5070475" cy="1439862"/>
          </a:xfrm>
          <a:prstGeom prst="rect">
            <a:avLst/>
          </a:prstGeom>
          <a:noFill/>
          <a:ln w="12700">
            <a:noFill/>
          </a:ln>
        </p:spPr>
      </p:pic>
      <p:sp>
        <p:nvSpPr>
          <p:cNvPr id="13" name="下箭头 12"/>
          <p:cNvSpPr/>
          <p:nvPr/>
        </p:nvSpPr>
        <p:spPr>
          <a:xfrm>
            <a:off x="4510088" y="2722563"/>
            <a:ext cx="4953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3600" b="1" i="0" u="none" strike="noStrike" kern="1200" cap="none" spc="0" normalizeH="0" baseline="0" noProof="0">
              <a:ln>
                <a:noFill/>
              </a:ln>
              <a:solidFill>
                <a:srgbClr val="FFFFFF"/>
              </a:solidFill>
              <a:effectLst/>
              <a:uLnTx/>
              <a:uFillTx/>
              <a:latin typeface="+mn-lt"/>
              <a:ea typeface="宋体" pitchFamily="2" charset="-122"/>
              <a:cs typeface="+mn-cs"/>
            </a:endParaRPr>
          </a:p>
        </p:txBody>
      </p:sp>
      <p:sp>
        <p:nvSpPr>
          <p:cNvPr id="193542" name="AutoShape 6"/>
          <p:cNvSpPr>
            <a:spLocks noChangeArrowheads="1"/>
          </p:cNvSpPr>
          <p:nvPr/>
        </p:nvSpPr>
        <p:spPr bwMode="auto">
          <a:xfrm>
            <a:off x="8318500" y="1846263"/>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开始</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3" name="AutoShape 7"/>
          <p:cNvSpPr>
            <a:spLocks noChangeArrowheads="1"/>
          </p:cNvSpPr>
          <p:nvPr/>
        </p:nvSpPr>
        <p:spPr bwMode="auto">
          <a:xfrm>
            <a:off x="8318500" y="4559300"/>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结束</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4" name="AutoShape 8"/>
          <p:cNvSpPr>
            <a:spLocks noChangeArrowheads="1"/>
          </p:cNvSpPr>
          <p:nvPr/>
        </p:nvSpPr>
        <p:spPr bwMode="auto">
          <a:xfrm>
            <a:off x="8434388" y="2700338"/>
            <a:ext cx="1562100" cy="504825"/>
          </a:xfrm>
          <a:prstGeom prst="flowChartProcess">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生成数字</a:t>
            </a:r>
            <a:endParaRPr kumimoji="0" lang="zh-CN" altLang="en-US"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6" name="AutoShape 10"/>
          <p:cNvSpPr>
            <a:spLocks noChangeArrowheads="1"/>
          </p:cNvSpPr>
          <p:nvPr/>
        </p:nvSpPr>
        <p:spPr bwMode="auto">
          <a:xfrm>
            <a:off x="8434388" y="3629025"/>
            <a:ext cx="1562100"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用户猜数字</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47" name="AutoShape 11"/>
          <p:cNvCxnSpPr>
            <a:stCxn id="193542" idx="2"/>
            <a:endCxn id="193544" idx="0"/>
          </p:cNvCxnSpPr>
          <p:nvPr/>
        </p:nvCxnSpPr>
        <p:spPr>
          <a:xfrm>
            <a:off x="9215438" y="2297113"/>
            <a:ext cx="0" cy="384175"/>
          </a:xfrm>
          <a:prstGeom prst="straightConnector1">
            <a:avLst/>
          </a:prstGeom>
          <a:ln w="38100" cap="flat" cmpd="sng">
            <a:solidFill>
              <a:schemeClr val="tx1"/>
            </a:solidFill>
            <a:prstDash val="solid"/>
            <a:headEnd type="none" w="med" len="med"/>
            <a:tailEnd type="triangle" w="med" len="med"/>
          </a:ln>
        </p:spPr>
      </p:cxnSp>
      <p:cxnSp>
        <p:nvCxnSpPr>
          <p:cNvPr id="193548" name="AutoShape 12"/>
          <p:cNvCxnSpPr>
            <a:stCxn id="193544" idx="2"/>
            <a:endCxn id="193546" idx="0"/>
          </p:cNvCxnSpPr>
          <p:nvPr/>
        </p:nvCxnSpPr>
        <p:spPr>
          <a:xfrm>
            <a:off x="9215438" y="3224213"/>
            <a:ext cx="0" cy="385762"/>
          </a:xfrm>
          <a:prstGeom prst="straightConnector1">
            <a:avLst/>
          </a:prstGeom>
          <a:ln w="38100" cap="flat" cmpd="sng">
            <a:solidFill>
              <a:schemeClr val="tx1"/>
            </a:solidFill>
            <a:prstDash val="solid"/>
            <a:headEnd type="none" w="med" len="med"/>
            <a:tailEnd type="triangle" w="med" len="med"/>
          </a:ln>
        </p:spPr>
      </p:cxnSp>
      <p:cxnSp>
        <p:nvCxnSpPr>
          <p:cNvPr id="193549" name="AutoShape 13"/>
          <p:cNvCxnSpPr>
            <a:stCxn id="193546" idx="2"/>
          </p:cNvCxnSpPr>
          <p:nvPr/>
        </p:nvCxnSpPr>
        <p:spPr>
          <a:xfrm>
            <a:off x="9215438" y="4152900"/>
            <a:ext cx="0" cy="384175"/>
          </a:xfrm>
          <a:prstGeom prst="straightConnector1">
            <a:avLst/>
          </a:prstGeom>
          <a:ln w="38100" cap="flat" cmpd="sng">
            <a:solidFill>
              <a:schemeClr val="tx1"/>
            </a:solidFill>
            <a:prstDash val="solid"/>
            <a:headEnd type="none" w="med" len="med"/>
            <a:tailEnd type="triangle" w="med" len="med"/>
          </a:ln>
        </p:spPr>
      </p:cxnSp>
      <p:pic>
        <p:nvPicPr>
          <p:cNvPr id="80898" name="Picture 2"/>
          <p:cNvPicPr>
            <a:picLocks noChangeAspect="1"/>
          </p:cNvPicPr>
          <p:nvPr/>
        </p:nvPicPr>
        <p:blipFill>
          <a:blip r:embed="rId2"/>
          <a:stretch>
            <a:fillRect/>
          </a:stretch>
        </p:blipFill>
        <p:spPr>
          <a:xfrm>
            <a:off x="3133725" y="3165475"/>
            <a:ext cx="3217863" cy="3143250"/>
          </a:xfrm>
          <a:prstGeom prst="rect">
            <a:avLst/>
          </a:prstGeom>
          <a:noFill/>
          <a:ln w="50800" cap="flat" cmpd="thickThin">
            <a:solidFill>
              <a:srgbClr val="002060"/>
            </a:solidFill>
            <a:prstDash val="solid"/>
            <a:miter/>
            <a:headEnd type="none" w="med" len="med"/>
            <a:tailEnd type="none" w="med" len="med"/>
          </a:ln>
        </p:spPr>
      </p:pic>
      <p:sp>
        <p:nvSpPr>
          <p:cNvPr id="74765" name="灯片编号占位符 1"/>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3542"/>
                                        </p:tgtEl>
                                        <p:attrNameLst>
                                          <p:attrName>style.visibility</p:attrName>
                                        </p:attrNameLst>
                                      </p:cBhvr>
                                      <p:to>
                                        <p:strVal val="visible"/>
                                      </p:to>
                                    </p:set>
                                    <p:animEffect transition="in" filter="wipe(up)">
                                      <p:cBhvr>
                                        <p:cTn id="7" dur="500"/>
                                        <p:tgtEl>
                                          <p:spTgt spid="1935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3547"/>
                                        </p:tgtEl>
                                        <p:attrNameLst>
                                          <p:attrName>style.visibility</p:attrName>
                                        </p:attrNameLst>
                                      </p:cBhvr>
                                      <p:to>
                                        <p:strVal val="visible"/>
                                      </p:to>
                                    </p:set>
                                    <p:animEffect transition="in" filter="wipe(up)">
                                      <p:cBhvr>
                                        <p:cTn id="12" dur="500"/>
                                        <p:tgtEl>
                                          <p:spTgt spid="19354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93544"/>
                                        </p:tgtEl>
                                        <p:attrNameLst>
                                          <p:attrName>style.visibility</p:attrName>
                                        </p:attrNameLst>
                                      </p:cBhvr>
                                      <p:to>
                                        <p:strVal val="visible"/>
                                      </p:to>
                                    </p:set>
                                    <p:animEffect transition="in" filter="wipe(up)">
                                      <p:cBhvr>
                                        <p:cTn id="16" dur="500"/>
                                        <p:tgtEl>
                                          <p:spTgt spid="19354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93548"/>
                                        </p:tgtEl>
                                        <p:attrNameLst>
                                          <p:attrName>style.visibility</p:attrName>
                                        </p:attrNameLst>
                                      </p:cBhvr>
                                      <p:to>
                                        <p:strVal val="visible"/>
                                      </p:to>
                                    </p:set>
                                    <p:animEffect transition="in" filter="wipe(up)">
                                      <p:cBhvr>
                                        <p:cTn id="21" dur="500"/>
                                        <p:tgtEl>
                                          <p:spTgt spid="193548"/>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93546"/>
                                        </p:tgtEl>
                                        <p:attrNameLst>
                                          <p:attrName>style.visibility</p:attrName>
                                        </p:attrNameLst>
                                      </p:cBhvr>
                                      <p:to>
                                        <p:strVal val="visible"/>
                                      </p:to>
                                    </p:set>
                                    <p:animEffect transition="in" filter="wipe(up)">
                                      <p:cBhvr>
                                        <p:cTn id="25" dur="500"/>
                                        <p:tgtEl>
                                          <p:spTgt spid="1935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93549"/>
                                        </p:tgtEl>
                                        <p:attrNameLst>
                                          <p:attrName>style.visibility</p:attrName>
                                        </p:attrNameLst>
                                      </p:cBhvr>
                                      <p:to>
                                        <p:strVal val="visible"/>
                                      </p:to>
                                    </p:set>
                                    <p:animEffect transition="in" filter="wipe(up)">
                                      <p:cBhvr>
                                        <p:cTn id="30" dur="500"/>
                                        <p:tgtEl>
                                          <p:spTgt spid="193549"/>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93543"/>
                                        </p:tgtEl>
                                        <p:attrNameLst>
                                          <p:attrName>style.visibility</p:attrName>
                                        </p:attrNameLst>
                                      </p:cBhvr>
                                      <p:to>
                                        <p:strVal val="visible"/>
                                      </p:to>
                                    </p:set>
                                    <p:animEffect transition="in" filter="wipe(up)">
                                      <p:cBhvr>
                                        <p:cTn id="34" dur="500"/>
                                        <p:tgtEl>
                                          <p:spTgt spid="19354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500"/>
                                        <p:tgtEl>
                                          <p:spTgt spid="13"/>
                                        </p:tgtEl>
                                      </p:cBhvr>
                                    </p:animEffect>
                                  </p:childTnLst>
                                </p:cTn>
                              </p:par>
                            </p:childTnLst>
                          </p:cTn>
                        </p:par>
                        <p:par>
                          <p:cTn id="40" fill="hold">
                            <p:stCondLst>
                              <p:cond delay="500"/>
                            </p:stCondLst>
                            <p:childTnLst>
                              <p:par>
                                <p:cTn id="41" presetID="17" presetClass="entr" presetSubtype="10" fill="hold" nodeType="afterEffect">
                                  <p:stCondLst>
                                    <p:cond delay="0"/>
                                  </p:stCondLst>
                                  <p:childTnLst>
                                    <p:set>
                                      <p:cBhvr>
                                        <p:cTn id="42" dur="1" fill="hold">
                                          <p:stCondLst>
                                            <p:cond delay="0"/>
                                          </p:stCondLst>
                                        </p:cTn>
                                        <p:tgtEl>
                                          <p:spTgt spid="80898"/>
                                        </p:tgtEl>
                                        <p:attrNameLst>
                                          <p:attrName>style.visibility</p:attrName>
                                        </p:attrNameLst>
                                      </p:cBhvr>
                                      <p:to>
                                        <p:strVal val="visible"/>
                                      </p:to>
                                    </p:set>
                                    <p:anim calcmode="lin" valueType="num">
                                      <p:cBhvr>
                                        <p:cTn id="43" dur="500" fill="hold"/>
                                        <p:tgtEl>
                                          <p:spTgt spid="80898"/>
                                        </p:tgtEl>
                                        <p:attrNameLst>
                                          <p:attrName>ppt_w</p:attrName>
                                        </p:attrNameLst>
                                      </p:cBhvr>
                                      <p:tavLst>
                                        <p:tav tm="0">
                                          <p:val>
                                            <p:fltVal val="0"/>
                                          </p:val>
                                        </p:tav>
                                        <p:tav tm="100000">
                                          <p:val>
                                            <p:strVal val="#ppt_w"/>
                                          </p:val>
                                        </p:tav>
                                      </p:tavLst>
                                    </p:anim>
                                    <p:anim calcmode="lin" valueType="num">
                                      <p:cBhvr>
                                        <p:cTn id="44" dur="500" fill="hold"/>
                                        <p:tgtEl>
                                          <p:spTgt spid="8089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93542" grpId="0" bldLvl="0" animBg="1"/>
      <p:bldP spid="193543" grpId="0" bldLvl="0" animBg="1"/>
      <p:bldP spid="193544" grpId="0" bldLvl="0" animBg="1"/>
      <p:bldP spid="193546"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3" name="Picture 3"/>
          <p:cNvPicPr>
            <a:picLocks noChangeAspect="1"/>
          </p:cNvPicPr>
          <p:nvPr/>
        </p:nvPicPr>
        <p:blipFill>
          <a:blip r:embed="rId1"/>
          <a:stretch>
            <a:fillRect/>
          </a:stretch>
        </p:blipFill>
        <p:spPr>
          <a:xfrm>
            <a:off x="1652588" y="3100388"/>
            <a:ext cx="6180137" cy="3352800"/>
          </a:xfrm>
          <a:prstGeom prst="rect">
            <a:avLst/>
          </a:prstGeom>
          <a:noFill/>
          <a:ln w="50800" cap="flat" cmpd="thickThin">
            <a:solidFill>
              <a:srgbClr val="002060"/>
            </a:solidFill>
            <a:prstDash val="solid"/>
            <a:miter/>
            <a:headEnd type="none" w="med" len="med"/>
            <a:tailEnd type="none" w="med" len="med"/>
          </a:ln>
        </p:spPr>
      </p:pic>
      <p:sp>
        <p:nvSpPr>
          <p:cNvPr id="76803"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endParaRPr lang="en-US" altLang="zh-CN" sz="4000" dirty="0"/>
          </a:p>
        </p:txBody>
      </p:sp>
      <p:sp>
        <p:nvSpPr>
          <p:cNvPr id="193542" name="AutoShape 6"/>
          <p:cNvSpPr>
            <a:spLocks noChangeArrowheads="1"/>
          </p:cNvSpPr>
          <p:nvPr/>
        </p:nvSpPr>
        <p:spPr bwMode="auto">
          <a:xfrm>
            <a:off x="8318500" y="1846263"/>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开始</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3" name="AutoShape 7"/>
          <p:cNvSpPr>
            <a:spLocks noChangeArrowheads="1"/>
          </p:cNvSpPr>
          <p:nvPr/>
        </p:nvSpPr>
        <p:spPr bwMode="auto">
          <a:xfrm>
            <a:off x="8318500" y="5589588"/>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结束</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4" name="AutoShape 8"/>
          <p:cNvSpPr>
            <a:spLocks noChangeArrowheads="1"/>
          </p:cNvSpPr>
          <p:nvPr/>
        </p:nvSpPr>
        <p:spPr bwMode="auto">
          <a:xfrm>
            <a:off x="8434388" y="2700338"/>
            <a:ext cx="1562100" cy="504825"/>
          </a:xfrm>
          <a:prstGeom prst="flowChartProcess">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生成数字</a:t>
            </a:r>
            <a:endParaRPr kumimoji="0" lang="zh-CN" altLang="en-US"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46" name="AutoShape 10"/>
          <p:cNvSpPr>
            <a:spLocks noChangeArrowheads="1"/>
          </p:cNvSpPr>
          <p:nvPr/>
        </p:nvSpPr>
        <p:spPr bwMode="auto">
          <a:xfrm>
            <a:off x="8434388" y="3629025"/>
            <a:ext cx="1562100"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用户猜数字</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47" name="AutoShape 11"/>
          <p:cNvCxnSpPr>
            <a:stCxn id="193542" idx="2"/>
            <a:endCxn id="193544" idx="0"/>
          </p:cNvCxnSpPr>
          <p:nvPr/>
        </p:nvCxnSpPr>
        <p:spPr>
          <a:xfrm>
            <a:off x="9215438" y="2297113"/>
            <a:ext cx="0" cy="384175"/>
          </a:xfrm>
          <a:prstGeom prst="straightConnector1">
            <a:avLst/>
          </a:prstGeom>
          <a:ln w="38100" cap="flat" cmpd="sng">
            <a:solidFill>
              <a:schemeClr val="tx1"/>
            </a:solidFill>
            <a:prstDash val="solid"/>
            <a:headEnd type="none" w="med" len="med"/>
            <a:tailEnd type="triangle" w="med" len="med"/>
          </a:ln>
        </p:spPr>
      </p:cxnSp>
      <p:cxnSp>
        <p:nvCxnSpPr>
          <p:cNvPr id="193548" name="AutoShape 12"/>
          <p:cNvCxnSpPr>
            <a:stCxn id="193544" idx="2"/>
            <a:endCxn id="193546" idx="0"/>
          </p:cNvCxnSpPr>
          <p:nvPr/>
        </p:nvCxnSpPr>
        <p:spPr>
          <a:xfrm>
            <a:off x="9215438" y="3224213"/>
            <a:ext cx="0" cy="385762"/>
          </a:xfrm>
          <a:prstGeom prst="straightConnector1">
            <a:avLst/>
          </a:prstGeom>
          <a:ln w="38100" cap="flat" cmpd="sng">
            <a:solidFill>
              <a:schemeClr val="tx1"/>
            </a:solidFill>
            <a:prstDash val="solid"/>
            <a:headEnd type="none" w="med" len="med"/>
            <a:tailEnd type="triangle" w="med" len="med"/>
          </a:ln>
        </p:spPr>
      </p:cxnSp>
      <p:cxnSp>
        <p:nvCxnSpPr>
          <p:cNvPr id="193549" name="AutoShape 13"/>
          <p:cNvCxnSpPr>
            <a:stCxn id="193546" idx="2"/>
            <a:endCxn id="193551" idx="0"/>
          </p:cNvCxnSpPr>
          <p:nvPr/>
        </p:nvCxnSpPr>
        <p:spPr>
          <a:xfrm>
            <a:off x="9215438" y="4152900"/>
            <a:ext cx="0" cy="384175"/>
          </a:xfrm>
          <a:prstGeom prst="straightConnector1">
            <a:avLst/>
          </a:prstGeom>
          <a:ln w="38100" cap="flat" cmpd="sng">
            <a:solidFill>
              <a:schemeClr val="tx1"/>
            </a:solidFill>
            <a:prstDash val="solid"/>
            <a:headEnd type="none" w="med" len="med"/>
            <a:tailEnd type="triangle" w="med" len="med"/>
          </a:ln>
        </p:spPr>
      </p:cxnSp>
      <p:cxnSp>
        <p:nvCxnSpPr>
          <p:cNvPr id="193550" name="AutoShape 14"/>
          <p:cNvCxnSpPr>
            <a:stCxn id="193551" idx="2"/>
            <a:endCxn id="193543" idx="0"/>
          </p:cNvCxnSpPr>
          <p:nvPr/>
        </p:nvCxnSpPr>
        <p:spPr>
          <a:xfrm>
            <a:off x="9215438" y="5184775"/>
            <a:ext cx="0" cy="385763"/>
          </a:xfrm>
          <a:prstGeom prst="straightConnector1">
            <a:avLst/>
          </a:prstGeom>
          <a:ln w="38100" cap="flat" cmpd="sng">
            <a:solidFill>
              <a:schemeClr val="tx1"/>
            </a:solidFill>
            <a:prstDash val="solid"/>
            <a:headEnd type="none" w="med" len="med"/>
            <a:tailEnd type="triangle" w="med" len="med"/>
          </a:ln>
        </p:spPr>
      </p:cxnSp>
      <p:sp>
        <p:nvSpPr>
          <p:cNvPr id="193551" name="AutoShape 15"/>
          <p:cNvSpPr>
            <a:spLocks noChangeArrowheads="1"/>
          </p:cNvSpPr>
          <p:nvPr/>
        </p:nvSpPr>
        <p:spPr bwMode="auto">
          <a:xfrm>
            <a:off x="7732713" y="4556125"/>
            <a:ext cx="2965450" cy="609600"/>
          </a:xfrm>
          <a:prstGeom prst="flowChartDecision">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是否继续？</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52" name="Text Box 16"/>
          <p:cNvSpPr txBox="1">
            <a:spLocks noChangeArrowheads="1"/>
          </p:cNvSpPr>
          <p:nvPr/>
        </p:nvSpPr>
        <p:spPr bwMode="auto">
          <a:xfrm>
            <a:off x="8782050" y="5132388"/>
            <a:ext cx="369888"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53" name="AutoShape 17"/>
          <p:cNvCxnSpPr>
            <a:stCxn id="193551" idx="3"/>
            <a:endCxn id="193559" idx="0"/>
          </p:cNvCxnSpPr>
          <p:nvPr/>
        </p:nvCxnSpPr>
        <p:spPr>
          <a:xfrm flipV="1">
            <a:off x="10718800" y="2474913"/>
            <a:ext cx="212725" cy="2386012"/>
          </a:xfrm>
          <a:prstGeom prst="bentConnector4">
            <a:avLst>
              <a:gd name="adj1" fmla="val 99995"/>
              <a:gd name="adj2" fmla="val 22356"/>
            </a:avLst>
          </a:prstGeom>
          <a:ln w="38100" cap="flat" cmpd="sng">
            <a:solidFill>
              <a:schemeClr val="tx1"/>
            </a:solidFill>
            <a:prstDash val="solid"/>
            <a:miter/>
            <a:headEnd type="none" w="med" len="med"/>
            <a:tailEnd type="none" w="med" len="med"/>
          </a:ln>
        </p:spPr>
      </p:cxnSp>
      <p:sp>
        <p:nvSpPr>
          <p:cNvPr id="193554" name="Text Box 18"/>
          <p:cNvSpPr txBox="1">
            <a:spLocks noChangeArrowheads="1"/>
          </p:cNvSpPr>
          <p:nvPr/>
        </p:nvSpPr>
        <p:spPr bwMode="auto">
          <a:xfrm>
            <a:off x="10506075" y="4294188"/>
            <a:ext cx="355600"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59" name="Line 23"/>
          <p:cNvSpPr>
            <a:spLocks noChangeShapeType="1"/>
          </p:cNvSpPr>
          <p:nvPr/>
        </p:nvSpPr>
        <p:spPr bwMode="auto">
          <a:xfrm flipH="1">
            <a:off x="9215438" y="2493963"/>
            <a:ext cx="1716088" cy="0"/>
          </a:xfrm>
          <a:prstGeom prst="line">
            <a:avLst/>
          </a:prstGeom>
          <a:noFill/>
          <a:ln w="38100">
            <a:solidFill>
              <a:schemeClr val="tx1"/>
            </a:solidFill>
            <a:round/>
            <a:tailEnd type="triangle" w="med" len="med"/>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pic>
        <p:nvPicPr>
          <p:cNvPr id="76817" name="Picture 25"/>
          <p:cNvPicPr>
            <a:picLocks noChangeAspect="1"/>
          </p:cNvPicPr>
          <p:nvPr/>
        </p:nvPicPr>
        <p:blipFill>
          <a:blip r:embed="rId2">
            <a:clrChange>
              <a:clrFrom>
                <a:srgbClr val="FFFFFF"/>
              </a:clrFrom>
              <a:clrTo>
                <a:srgbClr val="FFFFFF">
                  <a:alpha val="0"/>
                </a:srgbClr>
              </a:clrTo>
            </a:clrChange>
          </a:blip>
          <a:stretch>
            <a:fillRect/>
          </a:stretch>
        </p:blipFill>
        <p:spPr>
          <a:xfrm>
            <a:off x="1884363" y="1484313"/>
            <a:ext cx="5070475" cy="1439862"/>
          </a:xfrm>
          <a:prstGeom prst="rect">
            <a:avLst/>
          </a:prstGeom>
          <a:noFill/>
          <a:ln w="12700">
            <a:noFill/>
          </a:ln>
        </p:spPr>
      </p:pic>
      <p:sp>
        <p:nvSpPr>
          <p:cNvPr id="13" name="下箭头 12"/>
          <p:cNvSpPr/>
          <p:nvPr/>
        </p:nvSpPr>
        <p:spPr>
          <a:xfrm>
            <a:off x="4144963" y="2565400"/>
            <a:ext cx="4953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3600" b="1" i="0" u="none" strike="noStrike" kern="1200" cap="none" spc="0" normalizeH="0" baseline="0" noProof="0">
              <a:ln>
                <a:noFill/>
              </a:ln>
              <a:solidFill>
                <a:srgbClr val="FFFFFF"/>
              </a:solidFill>
              <a:effectLst/>
              <a:uLnTx/>
              <a:uFillTx/>
              <a:latin typeface="+mn-lt"/>
              <a:ea typeface="宋体" pitchFamily="2" charset="-122"/>
              <a:cs typeface="+mn-cs"/>
            </a:endParaRPr>
          </a:p>
        </p:txBody>
      </p:sp>
      <p:sp>
        <p:nvSpPr>
          <p:cNvPr id="125979" name="Rectangle 12"/>
          <p:cNvSpPr/>
          <p:nvPr/>
        </p:nvSpPr>
        <p:spPr>
          <a:xfrm>
            <a:off x="2279650" y="4897438"/>
            <a:ext cx="2497138" cy="247650"/>
          </a:xfrm>
          <a:prstGeom prst="rect">
            <a:avLst/>
          </a:prstGeom>
          <a:noFill/>
          <a:ln w="19050"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76820" name="灯片编号占位符 1"/>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3542"/>
                                        </p:tgtEl>
                                        <p:attrNameLst>
                                          <p:attrName>style.visibility</p:attrName>
                                        </p:attrNameLst>
                                      </p:cBhvr>
                                      <p:to>
                                        <p:strVal val="visible"/>
                                      </p:to>
                                    </p:set>
                                    <p:animEffect transition="in" filter="wipe(up)">
                                      <p:cBhvr>
                                        <p:cTn id="7" dur="500"/>
                                        <p:tgtEl>
                                          <p:spTgt spid="1935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3547"/>
                                        </p:tgtEl>
                                        <p:attrNameLst>
                                          <p:attrName>style.visibility</p:attrName>
                                        </p:attrNameLst>
                                      </p:cBhvr>
                                      <p:to>
                                        <p:strVal val="visible"/>
                                      </p:to>
                                    </p:set>
                                    <p:animEffect transition="in" filter="wipe(up)">
                                      <p:cBhvr>
                                        <p:cTn id="12" dur="500"/>
                                        <p:tgtEl>
                                          <p:spTgt spid="19354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93544"/>
                                        </p:tgtEl>
                                        <p:attrNameLst>
                                          <p:attrName>style.visibility</p:attrName>
                                        </p:attrNameLst>
                                      </p:cBhvr>
                                      <p:to>
                                        <p:strVal val="visible"/>
                                      </p:to>
                                    </p:set>
                                    <p:animEffect transition="in" filter="wipe(up)">
                                      <p:cBhvr>
                                        <p:cTn id="16" dur="500"/>
                                        <p:tgtEl>
                                          <p:spTgt spid="19354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93548"/>
                                        </p:tgtEl>
                                        <p:attrNameLst>
                                          <p:attrName>style.visibility</p:attrName>
                                        </p:attrNameLst>
                                      </p:cBhvr>
                                      <p:to>
                                        <p:strVal val="visible"/>
                                      </p:to>
                                    </p:set>
                                    <p:animEffect transition="in" filter="wipe(up)">
                                      <p:cBhvr>
                                        <p:cTn id="21" dur="500"/>
                                        <p:tgtEl>
                                          <p:spTgt spid="193548"/>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93546"/>
                                        </p:tgtEl>
                                        <p:attrNameLst>
                                          <p:attrName>style.visibility</p:attrName>
                                        </p:attrNameLst>
                                      </p:cBhvr>
                                      <p:to>
                                        <p:strVal val="visible"/>
                                      </p:to>
                                    </p:set>
                                    <p:animEffect transition="in" filter="wipe(up)">
                                      <p:cBhvr>
                                        <p:cTn id="25" dur="500"/>
                                        <p:tgtEl>
                                          <p:spTgt spid="1935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93549"/>
                                        </p:tgtEl>
                                        <p:attrNameLst>
                                          <p:attrName>style.visibility</p:attrName>
                                        </p:attrNameLst>
                                      </p:cBhvr>
                                      <p:to>
                                        <p:strVal val="visible"/>
                                      </p:to>
                                    </p:set>
                                    <p:animEffect transition="in" filter="wipe(up)">
                                      <p:cBhvr>
                                        <p:cTn id="30" dur="500"/>
                                        <p:tgtEl>
                                          <p:spTgt spid="193549"/>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93551"/>
                                        </p:tgtEl>
                                        <p:attrNameLst>
                                          <p:attrName>style.visibility</p:attrName>
                                        </p:attrNameLst>
                                      </p:cBhvr>
                                      <p:to>
                                        <p:strVal val="visible"/>
                                      </p:to>
                                    </p:set>
                                    <p:animEffect transition="in" filter="wipe(up)">
                                      <p:cBhvr>
                                        <p:cTn id="34" dur="500"/>
                                        <p:tgtEl>
                                          <p:spTgt spid="19355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93553"/>
                                        </p:tgtEl>
                                        <p:attrNameLst>
                                          <p:attrName>style.visibility</p:attrName>
                                        </p:attrNameLst>
                                      </p:cBhvr>
                                      <p:to>
                                        <p:strVal val="visible"/>
                                      </p:to>
                                    </p:set>
                                    <p:animEffect transition="in" filter="wipe(down)">
                                      <p:cBhvr>
                                        <p:cTn id="39" dur="500"/>
                                        <p:tgtEl>
                                          <p:spTgt spid="193553"/>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93554"/>
                                        </p:tgtEl>
                                        <p:attrNameLst>
                                          <p:attrName>style.visibility</p:attrName>
                                        </p:attrNameLst>
                                      </p:cBhvr>
                                      <p:to>
                                        <p:strVal val="visible"/>
                                      </p:to>
                                    </p:set>
                                    <p:animEffect transition="in" filter="wipe(down)">
                                      <p:cBhvr>
                                        <p:cTn id="42" dur="500"/>
                                        <p:tgtEl>
                                          <p:spTgt spid="193554"/>
                                        </p:tgtEl>
                                      </p:cBhvr>
                                    </p:animEffect>
                                  </p:childTnLst>
                                </p:cTn>
                              </p:par>
                            </p:childTnLst>
                          </p:cTn>
                        </p:par>
                        <p:par>
                          <p:cTn id="43" fill="hold">
                            <p:stCondLst>
                              <p:cond delay="500"/>
                            </p:stCondLst>
                            <p:childTnLst>
                              <p:par>
                                <p:cTn id="44" presetID="22" presetClass="entr" presetSubtype="2" fill="hold" nodeType="afterEffect">
                                  <p:stCondLst>
                                    <p:cond delay="0"/>
                                  </p:stCondLst>
                                  <p:childTnLst>
                                    <p:set>
                                      <p:cBhvr>
                                        <p:cTn id="45" dur="1" fill="hold">
                                          <p:stCondLst>
                                            <p:cond delay="0"/>
                                          </p:stCondLst>
                                        </p:cTn>
                                        <p:tgtEl>
                                          <p:spTgt spid="193559"/>
                                        </p:tgtEl>
                                        <p:attrNameLst>
                                          <p:attrName>style.visibility</p:attrName>
                                        </p:attrNameLst>
                                      </p:cBhvr>
                                      <p:to>
                                        <p:strVal val="visible"/>
                                      </p:to>
                                    </p:set>
                                    <p:animEffect transition="in" filter="wipe(right)">
                                      <p:cBhvr>
                                        <p:cTn id="46" dur="500"/>
                                        <p:tgtEl>
                                          <p:spTgt spid="19355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93550"/>
                                        </p:tgtEl>
                                        <p:attrNameLst>
                                          <p:attrName>style.visibility</p:attrName>
                                        </p:attrNameLst>
                                      </p:cBhvr>
                                      <p:to>
                                        <p:strVal val="visible"/>
                                      </p:to>
                                    </p:set>
                                    <p:animEffect transition="in" filter="wipe(up)">
                                      <p:cBhvr>
                                        <p:cTn id="51" dur="500"/>
                                        <p:tgtEl>
                                          <p:spTgt spid="19355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93552"/>
                                        </p:tgtEl>
                                        <p:attrNameLst>
                                          <p:attrName>style.visibility</p:attrName>
                                        </p:attrNameLst>
                                      </p:cBhvr>
                                      <p:to>
                                        <p:strVal val="visible"/>
                                      </p:to>
                                    </p:set>
                                    <p:animEffect transition="in" filter="wipe(up)">
                                      <p:cBhvr>
                                        <p:cTn id="54" dur="500"/>
                                        <p:tgtEl>
                                          <p:spTgt spid="193552"/>
                                        </p:tgtEl>
                                      </p:cBhvr>
                                    </p:animEffect>
                                  </p:childTnLst>
                                </p:cTn>
                              </p:par>
                            </p:childTnLst>
                          </p:cTn>
                        </p:par>
                        <p:par>
                          <p:cTn id="55" fill="hold">
                            <p:stCondLst>
                              <p:cond delay="500"/>
                            </p:stCondLst>
                            <p:childTnLst>
                              <p:par>
                                <p:cTn id="56" presetID="22" presetClass="entr" presetSubtype="1" fill="hold" grpId="0" nodeType="afterEffect">
                                  <p:stCondLst>
                                    <p:cond delay="0"/>
                                  </p:stCondLst>
                                  <p:childTnLst>
                                    <p:set>
                                      <p:cBhvr>
                                        <p:cTn id="57" dur="1" fill="hold">
                                          <p:stCondLst>
                                            <p:cond delay="0"/>
                                          </p:stCondLst>
                                        </p:cTn>
                                        <p:tgtEl>
                                          <p:spTgt spid="193543"/>
                                        </p:tgtEl>
                                        <p:attrNameLst>
                                          <p:attrName>style.visibility</p:attrName>
                                        </p:attrNameLst>
                                      </p:cBhvr>
                                      <p:to>
                                        <p:strVal val="visible"/>
                                      </p:to>
                                    </p:set>
                                    <p:animEffect transition="in" filter="wipe(up)">
                                      <p:cBhvr>
                                        <p:cTn id="58" dur="500"/>
                                        <p:tgtEl>
                                          <p:spTgt spid="19354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up)">
                                      <p:cBhvr>
                                        <p:cTn id="63" dur="500"/>
                                        <p:tgtEl>
                                          <p:spTgt spid="13"/>
                                        </p:tgtEl>
                                      </p:cBhvr>
                                    </p:animEffect>
                                  </p:childTnLst>
                                </p:cTn>
                              </p:par>
                            </p:childTnLst>
                          </p:cTn>
                        </p:par>
                        <p:par>
                          <p:cTn id="64" fill="hold">
                            <p:stCondLst>
                              <p:cond delay="500"/>
                            </p:stCondLst>
                            <p:childTnLst>
                              <p:par>
                                <p:cTn id="65" presetID="17" presetClass="entr" presetSubtype="10" fill="hold" nodeType="afterEffect">
                                  <p:stCondLst>
                                    <p:cond delay="0"/>
                                  </p:stCondLst>
                                  <p:childTnLst>
                                    <p:set>
                                      <p:cBhvr>
                                        <p:cTn id="66" dur="1" fill="hold">
                                          <p:stCondLst>
                                            <p:cond delay="0"/>
                                          </p:stCondLst>
                                        </p:cTn>
                                        <p:tgtEl>
                                          <p:spTgt spid="81923"/>
                                        </p:tgtEl>
                                        <p:attrNameLst>
                                          <p:attrName>style.visibility</p:attrName>
                                        </p:attrNameLst>
                                      </p:cBhvr>
                                      <p:to>
                                        <p:strVal val="visible"/>
                                      </p:to>
                                    </p:set>
                                    <p:anim calcmode="lin" valueType="num">
                                      <p:cBhvr>
                                        <p:cTn id="67" dur="500" fill="hold"/>
                                        <p:tgtEl>
                                          <p:spTgt spid="81923"/>
                                        </p:tgtEl>
                                        <p:attrNameLst>
                                          <p:attrName>ppt_w</p:attrName>
                                        </p:attrNameLst>
                                      </p:cBhvr>
                                      <p:tavLst>
                                        <p:tav tm="0">
                                          <p:val>
                                            <p:fltVal val="0"/>
                                          </p:val>
                                        </p:tav>
                                        <p:tav tm="100000">
                                          <p:val>
                                            <p:strVal val="#ppt_w"/>
                                          </p:val>
                                        </p:tav>
                                      </p:tavLst>
                                    </p:anim>
                                    <p:anim calcmode="lin" valueType="num">
                                      <p:cBhvr>
                                        <p:cTn id="68" dur="500" fill="hold"/>
                                        <p:tgtEl>
                                          <p:spTgt spid="81923"/>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25979"/>
                                        </p:tgtEl>
                                        <p:attrNameLst>
                                          <p:attrName>style.visibility</p:attrName>
                                        </p:attrNameLst>
                                      </p:cBhvr>
                                      <p:to>
                                        <p:strVal val="visible"/>
                                      </p:to>
                                    </p:set>
                                    <p:anim calcmode="lin" valueType="num">
                                      <p:cBhvr>
                                        <p:cTn id="73" dur="500" fill="hold"/>
                                        <p:tgtEl>
                                          <p:spTgt spid="125979"/>
                                        </p:tgtEl>
                                        <p:attrNameLst>
                                          <p:attrName>ppt_w</p:attrName>
                                        </p:attrNameLst>
                                      </p:cBhvr>
                                      <p:tavLst>
                                        <p:tav tm="0">
                                          <p:val>
                                            <p:fltVal val="0"/>
                                          </p:val>
                                        </p:tav>
                                        <p:tav tm="100000">
                                          <p:val>
                                            <p:strVal val="#ppt_w"/>
                                          </p:val>
                                        </p:tav>
                                      </p:tavLst>
                                    </p:anim>
                                    <p:anim calcmode="lin" valueType="num">
                                      <p:cBhvr>
                                        <p:cTn id="74" dur="500" fill="hold"/>
                                        <p:tgtEl>
                                          <p:spTgt spid="125979"/>
                                        </p:tgtEl>
                                        <p:attrNameLst>
                                          <p:attrName>ppt_h</p:attrName>
                                        </p:attrNameLst>
                                      </p:cBhvr>
                                      <p:tavLst>
                                        <p:tav tm="0">
                                          <p:val>
                                            <p:fltVal val="0"/>
                                          </p:val>
                                        </p:tav>
                                        <p:tav tm="100000">
                                          <p:val>
                                            <p:strVal val="#ppt_h"/>
                                          </p:val>
                                        </p:tav>
                                      </p:tavLst>
                                    </p:anim>
                                    <p:animEffect transition="in" filter="fade">
                                      <p:cBhvr>
                                        <p:cTn id="75" dur="500"/>
                                        <p:tgtEl>
                                          <p:spTgt spid="125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2" grpId="0" bldLvl="0" animBg="1"/>
      <p:bldP spid="193543" grpId="0" bldLvl="0" animBg="1"/>
      <p:bldP spid="193544" grpId="0" bldLvl="0" animBg="1"/>
      <p:bldP spid="193546" grpId="0" bldLvl="0" animBg="1"/>
      <p:bldP spid="193551" grpId="0" bldLvl="0" animBg="1"/>
      <p:bldP spid="193552" grpId="0" bldLvl="0" animBg="1"/>
      <p:bldP spid="193554" grpId="0" bldLvl="0" animBg="1"/>
      <p:bldP spid="13" grpId="0" bldLvl="0" animBg="1"/>
      <p:bldP spid="125979"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45" name="Picture 45"/>
          <p:cNvPicPr>
            <a:picLocks noChangeAspect="1"/>
          </p:cNvPicPr>
          <p:nvPr/>
        </p:nvPicPr>
        <p:blipFill>
          <a:blip r:embed="rId1">
            <a:clrChange>
              <a:clrFrom>
                <a:srgbClr val="FFFFFF"/>
              </a:clrFrom>
              <a:clrTo>
                <a:srgbClr val="FFFFFF">
                  <a:alpha val="0"/>
                </a:srgbClr>
              </a:clrTo>
            </a:clrChange>
          </a:blip>
          <a:stretch>
            <a:fillRect/>
          </a:stretch>
        </p:blipFill>
        <p:spPr>
          <a:xfrm>
            <a:off x="1649413" y="3540125"/>
            <a:ext cx="5772150" cy="1808163"/>
          </a:xfrm>
          <a:prstGeom prst="rect">
            <a:avLst/>
          </a:prstGeom>
          <a:noFill/>
          <a:ln w="12700">
            <a:noFill/>
          </a:ln>
        </p:spPr>
      </p:pic>
      <p:sp>
        <p:nvSpPr>
          <p:cNvPr id="78851" name="Rectangle 2"/>
          <p:cNvSpPr>
            <a:spLocks noGrp="1"/>
          </p:cNvSpPr>
          <p:nvPr>
            <p:ph type="title" idx="4294967295"/>
          </p:nvPr>
        </p:nvSpPr>
        <p:spPr/>
        <p:txBody>
          <a:bodyPr vert="horz" wrap="square" lIns="91440" tIns="45720" rIns="91440" bIns="45720" anchor="ctr" anchorCtr="0"/>
          <a:lstStyle/>
          <a:p>
            <a:pPr algn="ctr"/>
            <a:r>
              <a:rPr lang="en-US" altLang="zh-CN" sz="4000" dirty="0">
                <a:sym typeface="+mn-ea"/>
              </a:rPr>
              <a:t>2.6 </a:t>
            </a:r>
            <a:r>
              <a:rPr lang="zh-CN" altLang="en-US" sz="4000" dirty="0">
                <a:sym typeface="+mn-ea"/>
              </a:rPr>
              <a:t>模块化程序设计</a:t>
            </a:r>
            <a:endParaRPr lang="en-US" altLang="zh-CN" sz="4000" dirty="0"/>
          </a:p>
        </p:txBody>
      </p:sp>
      <p:sp>
        <p:nvSpPr>
          <p:cNvPr id="193561" name="AutoShape 25"/>
          <p:cNvSpPr>
            <a:spLocks noChangeArrowheads="1"/>
          </p:cNvSpPr>
          <p:nvPr/>
        </p:nvSpPr>
        <p:spPr bwMode="auto">
          <a:xfrm>
            <a:off x="9055418" y="763270"/>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开始</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62" name="AutoShape 26"/>
          <p:cNvSpPr>
            <a:spLocks noChangeArrowheads="1"/>
          </p:cNvSpPr>
          <p:nvPr/>
        </p:nvSpPr>
        <p:spPr bwMode="auto">
          <a:xfrm>
            <a:off x="9033193" y="6308408"/>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结束</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65" name="AutoShape 29"/>
          <p:cNvCxnSpPr/>
          <p:nvPr/>
        </p:nvCxnSpPr>
        <p:spPr>
          <a:xfrm flipH="1">
            <a:off x="9952355" y="1210945"/>
            <a:ext cx="1588" cy="263525"/>
          </a:xfrm>
          <a:prstGeom prst="straightConnector1">
            <a:avLst/>
          </a:prstGeom>
          <a:ln w="38100" cap="flat" cmpd="sng">
            <a:solidFill>
              <a:schemeClr val="tx1"/>
            </a:solidFill>
            <a:prstDash val="solid"/>
            <a:headEnd type="none" w="med" len="med"/>
            <a:tailEnd type="triangle" w="med" len="med"/>
          </a:ln>
        </p:spPr>
      </p:cxnSp>
      <p:cxnSp>
        <p:nvCxnSpPr>
          <p:cNvPr id="193568" name="AutoShape 32"/>
          <p:cNvCxnSpPr>
            <a:stCxn id="193569" idx="2"/>
            <a:endCxn id="193575" idx="1"/>
          </p:cNvCxnSpPr>
          <p:nvPr/>
        </p:nvCxnSpPr>
        <p:spPr>
          <a:xfrm flipH="1">
            <a:off x="9942830" y="4374833"/>
            <a:ext cx="11113" cy="265112"/>
          </a:xfrm>
          <a:prstGeom prst="straightConnector1">
            <a:avLst/>
          </a:prstGeom>
          <a:ln w="38100" cap="flat" cmpd="sng">
            <a:solidFill>
              <a:schemeClr val="tx1"/>
            </a:solidFill>
            <a:prstDash val="solid"/>
            <a:headEnd type="none" w="med" len="med"/>
            <a:tailEnd type="triangle" w="med" len="med"/>
          </a:ln>
        </p:spPr>
      </p:cxnSp>
      <p:sp>
        <p:nvSpPr>
          <p:cNvPr id="193569" name="AutoShape 33"/>
          <p:cNvSpPr>
            <a:spLocks noChangeArrowheads="1"/>
          </p:cNvSpPr>
          <p:nvPr/>
        </p:nvSpPr>
        <p:spPr bwMode="auto">
          <a:xfrm>
            <a:off x="8471218" y="3746183"/>
            <a:ext cx="2965450" cy="609600"/>
          </a:xfrm>
          <a:prstGeom prst="flowChartDecision">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猜得对吗？</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0" name="Text Box 34"/>
          <p:cNvSpPr txBox="1">
            <a:spLocks noChangeArrowheads="1"/>
          </p:cNvSpPr>
          <p:nvPr/>
        </p:nvSpPr>
        <p:spPr bwMode="auto">
          <a:xfrm>
            <a:off x="9441180" y="4266883"/>
            <a:ext cx="369888"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2" name="Text Box 36"/>
          <p:cNvSpPr txBox="1">
            <a:spLocks noChangeArrowheads="1"/>
          </p:cNvSpPr>
          <p:nvPr/>
        </p:nvSpPr>
        <p:spPr bwMode="auto">
          <a:xfrm>
            <a:off x="8282305" y="3617595"/>
            <a:ext cx="355600"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5" name="AutoShape 39"/>
          <p:cNvSpPr>
            <a:spLocks noChangeArrowheads="1"/>
          </p:cNvSpPr>
          <p:nvPr/>
        </p:nvSpPr>
        <p:spPr bwMode="auto">
          <a:xfrm>
            <a:off x="8879205" y="4658995"/>
            <a:ext cx="2128838" cy="433388"/>
          </a:xfrm>
          <a:prstGeom prst="flowChartInputOutput">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提示大小</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6" name="AutoShape 40"/>
          <p:cNvSpPr>
            <a:spLocks noChangeArrowheads="1"/>
          </p:cNvSpPr>
          <p:nvPr/>
        </p:nvSpPr>
        <p:spPr bwMode="auto">
          <a:xfrm>
            <a:off x="8453755" y="5395595"/>
            <a:ext cx="2965450" cy="609600"/>
          </a:xfrm>
          <a:prstGeom prst="flowChartDecision">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次数</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&lt;10</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77" name="AutoShape 41"/>
          <p:cNvCxnSpPr>
            <a:stCxn id="193575" idx="4"/>
            <a:endCxn id="193576" idx="0"/>
          </p:cNvCxnSpPr>
          <p:nvPr/>
        </p:nvCxnSpPr>
        <p:spPr>
          <a:xfrm flipH="1">
            <a:off x="9936480" y="5111433"/>
            <a:ext cx="6350" cy="265112"/>
          </a:xfrm>
          <a:prstGeom prst="straightConnector1">
            <a:avLst/>
          </a:prstGeom>
          <a:ln w="38100" cap="flat" cmpd="sng">
            <a:solidFill>
              <a:schemeClr val="tx1"/>
            </a:solidFill>
            <a:prstDash val="solid"/>
            <a:headEnd type="none" w="med" len="med"/>
            <a:tailEnd type="triangle" w="med" len="med"/>
          </a:ln>
        </p:spPr>
      </p:cxnSp>
      <p:sp>
        <p:nvSpPr>
          <p:cNvPr id="193579" name="AutoShape 43"/>
          <p:cNvSpPr>
            <a:spLocks noChangeArrowheads="1"/>
          </p:cNvSpPr>
          <p:nvPr/>
        </p:nvSpPr>
        <p:spPr bwMode="auto">
          <a:xfrm>
            <a:off x="8887143" y="1496695"/>
            <a:ext cx="2128838" cy="433388"/>
          </a:xfrm>
          <a:prstGeom prst="flowChartInputOutput">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输入数字</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80" name="AutoShape 44"/>
          <p:cNvCxnSpPr>
            <a:endCxn id="193569" idx="0"/>
          </p:cNvCxnSpPr>
          <p:nvPr/>
        </p:nvCxnSpPr>
        <p:spPr>
          <a:xfrm>
            <a:off x="9952355" y="3462020"/>
            <a:ext cx="1588" cy="265113"/>
          </a:xfrm>
          <a:prstGeom prst="straightConnector1">
            <a:avLst/>
          </a:prstGeom>
          <a:ln w="38100" cap="flat" cmpd="sng">
            <a:solidFill>
              <a:schemeClr val="tx1"/>
            </a:solidFill>
            <a:prstDash val="solid"/>
            <a:headEnd type="none" w="med" len="med"/>
            <a:tailEnd type="triangle" w="med" len="med"/>
          </a:ln>
        </p:spPr>
      </p:cxnSp>
      <p:cxnSp>
        <p:nvCxnSpPr>
          <p:cNvPr id="193581" name="AutoShape 45"/>
          <p:cNvCxnSpPr>
            <a:stCxn id="193576" idx="2"/>
            <a:endCxn id="193562" idx="0"/>
          </p:cNvCxnSpPr>
          <p:nvPr/>
        </p:nvCxnSpPr>
        <p:spPr>
          <a:xfrm flipH="1">
            <a:off x="9931718" y="6024245"/>
            <a:ext cx="4762" cy="265113"/>
          </a:xfrm>
          <a:prstGeom prst="straightConnector1">
            <a:avLst/>
          </a:prstGeom>
          <a:ln w="38100" cap="flat" cmpd="sng">
            <a:solidFill>
              <a:schemeClr val="tx1"/>
            </a:solidFill>
            <a:prstDash val="solid"/>
            <a:headEnd type="none" w="med" len="med"/>
            <a:tailEnd type="triangle" w="med" len="med"/>
          </a:ln>
        </p:spPr>
      </p:cxnSp>
      <p:cxnSp>
        <p:nvCxnSpPr>
          <p:cNvPr id="78865" name="AutoShape 46"/>
          <p:cNvCxnSpPr/>
          <p:nvPr/>
        </p:nvCxnSpPr>
        <p:spPr>
          <a:xfrm rot="-10800000" flipV="1">
            <a:off x="8325168" y="4050983"/>
            <a:ext cx="82550" cy="2070100"/>
          </a:xfrm>
          <a:prstGeom prst="bentConnector2">
            <a:avLst/>
          </a:prstGeom>
          <a:ln w="38100" cap="flat" cmpd="sng">
            <a:solidFill>
              <a:schemeClr val="tx1"/>
            </a:solidFill>
            <a:prstDash val="solid"/>
            <a:miter/>
            <a:headEnd type="none" w="med" len="med"/>
            <a:tailEnd type="none" w="med" len="med"/>
          </a:ln>
        </p:spPr>
      </p:cxnSp>
      <p:sp>
        <p:nvSpPr>
          <p:cNvPr id="193583" name="Line 47"/>
          <p:cNvSpPr>
            <a:spLocks noChangeShapeType="1"/>
          </p:cNvSpPr>
          <p:nvPr/>
        </p:nvSpPr>
        <p:spPr bwMode="auto">
          <a:xfrm>
            <a:off x="8307705" y="6140133"/>
            <a:ext cx="1597025" cy="0"/>
          </a:xfrm>
          <a:prstGeom prst="line">
            <a:avLst/>
          </a:prstGeom>
          <a:noFill/>
          <a:ln w="38100">
            <a:solidFill>
              <a:schemeClr val="tx1"/>
            </a:solidFill>
            <a:round/>
            <a:tailEnd type="triangle" w="med" len="med"/>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93584" name="Text Box 48"/>
          <p:cNvSpPr txBox="1">
            <a:spLocks noChangeArrowheads="1"/>
          </p:cNvSpPr>
          <p:nvPr/>
        </p:nvSpPr>
        <p:spPr bwMode="auto">
          <a:xfrm>
            <a:off x="9987280" y="5951220"/>
            <a:ext cx="371475"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193585" name="AutoShape 49"/>
          <p:cNvCxnSpPr/>
          <p:nvPr/>
        </p:nvCxnSpPr>
        <p:spPr>
          <a:xfrm flipV="1">
            <a:off x="11244580" y="1339533"/>
            <a:ext cx="466725" cy="4356100"/>
          </a:xfrm>
          <a:prstGeom prst="bentConnector4">
            <a:avLst>
              <a:gd name="adj1" fmla="val 100000"/>
              <a:gd name="adj2" fmla="val 18593"/>
            </a:avLst>
          </a:prstGeom>
          <a:ln w="38100" cap="flat" cmpd="sng">
            <a:solidFill>
              <a:schemeClr val="tx1"/>
            </a:solidFill>
            <a:prstDash val="solid"/>
            <a:miter/>
            <a:headEnd type="none" w="med" len="med"/>
            <a:tailEnd type="none" w="med" len="med"/>
          </a:ln>
        </p:spPr>
      </p:cxnSp>
      <p:sp>
        <p:nvSpPr>
          <p:cNvPr id="193586" name="Line 50"/>
          <p:cNvSpPr>
            <a:spLocks noChangeShapeType="1"/>
          </p:cNvSpPr>
          <p:nvPr/>
        </p:nvSpPr>
        <p:spPr bwMode="auto">
          <a:xfrm flipH="1">
            <a:off x="10006330" y="1337945"/>
            <a:ext cx="1714500" cy="0"/>
          </a:xfrm>
          <a:prstGeom prst="line">
            <a:avLst/>
          </a:prstGeom>
          <a:noFill/>
          <a:ln w="38100">
            <a:solidFill>
              <a:schemeClr val="tx1"/>
            </a:solidFill>
            <a:round/>
            <a:tailEnd type="triangle" w="med" len="med"/>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93587" name="Text Box 51"/>
          <p:cNvSpPr txBox="1">
            <a:spLocks noChangeArrowheads="1"/>
          </p:cNvSpPr>
          <p:nvPr/>
        </p:nvSpPr>
        <p:spPr bwMode="auto">
          <a:xfrm>
            <a:off x="11244580" y="5419408"/>
            <a:ext cx="357188"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78871" name="Picture 42"/>
          <p:cNvPicPr>
            <a:picLocks noChangeAspect="1"/>
          </p:cNvPicPr>
          <p:nvPr/>
        </p:nvPicPr>
        <p:blipFill>
          <a:blip r:embed="rId2">
            <a:clrChange>
              <a:clrFrom>
                <a:srgbClr val="FFFFFF"/>
              </a:clrFrom>
              <a:clrTo>
                <a:srgbClr val="FFFFFF">
                  <a:alpha val="0"/>
                </a:srgbClr>
              </a:clrTo>
            </a:clrChange>
          </a:blip>
          <a:stretch>
            <a:fillRect/>
          </a:stretch>
        </p:blipFill>
        <p:spPr>
          <a:xfrm>
            <a:off x="1884363" y="1484313"/>
            <a:ext cx="5070475" cy="1439862"/>
          </a:xfrm>
          <a:prstGeom prst="rect">
            <a:avLst/>
          </a:prstGeom>
          <a:noFill/>
          <a:ln w="12700">
            <a:noFill/>
          </a:ln>
        </p:spPr>
      </p:pic>
      <p:sp>
        <p:nvSpPr>
          <p:cNvPr id="13" name="下箭头 12"/>
          <p:cNvSpPr/>
          <p:nvPr/>
        </p:nvSpPr>
        <p:spPr>
          <a:xfrm>
            <a:off x="4144963" y="2986088"/>
            <a:ext cx="4953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3600" b="1" i="0" u="none" strike="noStrike" kern="1200" cap="none" spc="0" normalizeH="0" baseline="0" noProof="0">
              <a:ln>
                <a:noFill/>
              </a:ln>
              <a:solidFill>
                <a:srgbClr val="FFFFFF"/>
              </a:solidFill>
              <a:effectLst/>
              <a:uLnTx/>
              <a:uFillTx/>
              <a:latin typeface="+mn-lt"/>
              <a:ea typeface="宋体" pitchFamily="2" charset="-122"/>
              <a:cs typeface="+mn-cs"/>
            </a:endParaRPr>
          </a:p>
        </p:txBody>
      </p:sp>
      <p:sp>
        <p:nvSpPr>
          <p:cNvPr id="128046" name="Text Box 11"/>
          <p:cNvSpPr txBox="1"/>
          <p:nvPr/>
        </p:nvSpPr>
        <p:spPr>
          <a:xfrm>
            <a:off x="1651000" y="5516563"/>
            <a:ext cx="4660900" cy="757237"/>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r>
              <a:rPr lang="zh-CN" altLang="en-US" sz="2400" b="1" dirty="0">
                <a:solidFill>
                  <a:srgbClr val="000000"/>
                </a:solidFill>
                <a:latin typeface="黑体" panose="02010609060101010101" pitchFamily="49" charset="-122"/>
              </a:rPr>
              <a:t>处理用户输入，判断是否有输入错误，是否在合法的数值范围内</a:t>
            </a:r>
            <a:r>
              <a:rPr lang="zh-CN" altLang="en-US" sz="2400" b="1" dirty="0">
                <a:latin typeface="宋体" pitchFamily="2" charset="-122"/>
              </a:rPr>
              <a:t> </a:t>
            </a:r>
            <a:endParaRPr lang="zh-CN" altLang="en-US" sz="2400" b="1" dirty="0">
              <a:latin typeface="宋体" pitchFamily="2" charset="-122"/>
            </a:endParaRPr>
          </a:p>
        </p:txBody>
      </p:sp>
      <p:sp>
        <p:nvSpPr>
          <p:cNvPr id="78874" name="Rectangle 27"/>
          <p:cNvSpPr/>
          <p:nvPr/>
        </p:nvSpPr>
        <p:spPr>
          <a:xfrm>
            <a:off x="4846638" y="2338388"/>
            <a:ext cx="2030412" cy="539750"/>
          </a:xfrm>
          <a:prstGeom prst="rect">
            <a:avLst/>
          </a:prstGeom>
          <a:noFill/>
          <a:ln w="571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2000" dirty="0">
              <a:ea typeface="宋体" pitchFamily="2" charset="-122"/>
            </a:endParaRPr>
          </a:p>
        </p:txBody>
      </p:sp>
      <p:sp>
        <p:nvSpPr>
          <p:cNvPr id="29" name="AutoShape 10"/>
          <p:cNvSpPr>
            <a:spLocks noChangeArrowheads="1"/>
          </p:cNvSpPr>
          <p:nvPr/>
        </p:nvSpPr>
        <p:spPr bwMode="auto">
          <a:xfrm>
            <a:off x="8328343" y="2188845"/>
            <a:ext cx="3195638"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判断用户猜的数字是否合法</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0" name="AutoShape 10"/>
          <p:cNvSpPr>
            <a:spLocks noChangeArrowheads="1"/>
          </p:cNvSpPr>
          <p:nvPr/>
        </p:nvSpPr>
        <p:spPr bwMode="auto">
          <a:xfrm>
            <a:off x="8344218" y="2965133"/>
            <a:ext cx="3195638"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记录用户猜的次数</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31" name="AutoShape 29"/>
          <p:cNvCxnSpPr/>
          <p:nvPr/>
        </p:nvCxnSpPr>
        <p:spPr>
          <a:xfrm flipH="1">
            <a:off x="9980930" y="2707958"/>
            <a:ext cx="1588" cy="263525"/>
          </a:xfrm>
          <a:prstGeom prst="straightConnector1">
            <a:avLst/>
          </a:prstGeom>
          <a:ln w="38100" cap="flat" cmpd="sng">
            <a:solidFill>
              <a:schemeClr val="tx1"/>
            </a:solidFill>
            <a:prstDash val="solid"/>
            <a:headEnd type="none" w="med" len="med"/>
            <a:tailEnd type="triangle" w="med" len="med"/>
          </a:ln>
        </p:spPr>
      </p:cxnSp>
      <p:cxnSp>
        <p:nvCxnSpPr>
          <p:cNvPr id="32" name="AutoShape 29"/>
          <p:cNvCxnSpPr/>
          <p:nvPr/>
        </p:nvCxnSpPr>
        <p:spPr>
          <a:xfrm flipH="1">
            <a:off x="9966643" y="1939608"/>
            <a:ext cx="1587" cy="263525"/>
          </a:xfrm>
          <a:prstGeom prst="straightConnector1">
            <a:avLst/>
          </a:prstGeom>
          <a:ln w="38100" cap="flat" cmpd="sng">
            <a:solidFill>
              <a:schemeClr val="tx1"/>
            </a:solidFill>
            <a:prstDash val="solid"/>
            <a:headEnd type="none" w="med" len="med"/>
            <a:tailEnd type="triangle" w="med" len="med"/>
          </a:ln>
        </p:spPr>
      </p:cxn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28045"/>
                                        </p:tgtEl>
                                        <p:attrNameLst>
                                          <p:attrName>style.visibility</p:attrName>
                                        </p:attrNameLst>
                                      </p:cBhvr>
                                      <p:to>
                                        <p:strVal val="visible"/>
                                      </p:to>
                                    </p:set>
                                    <p:animEffect transition="in" filter="wipe(up)">
                                      <p:cBhvr>
                                        <p:cTn id="11" dur="500"/>
                                        <p:tgtEl>
                                          <p:spTgt spid="128045"/>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28046"/>
                                        </p:tgtEl>
                                        <p:attrNameLst>
                                          <p:attrName>style.visibility</p:attrName>
                                        </p:attrNameLst>
                                      </p:cBhvr>
                                      <p:to>
                                        <p:strVal val="visible"/>
                                      </p:to>
                                    </p:set>
                                    <p:animEffect transition="in" filter="box(out)">
                                      <p:cBhvr>
                                        <p:cTn id="16" dur="500"/>
                                        <p:tgtEl>
                                          <p:spTgt spid="1280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93561"/>
                                        </p:tgtEl>
                                        <p:attrNameLst>
                                          <p:attrName>style.visibility</p:attrName>
                                        </p:attrNameLst>
                                      </p:cBhvr>
                                      <p:to>
                                        <p:strVal val="visible"/>
                                      </p:to>
                                    </p:set>
                                    <p:animEffect transition="in" filter="wipe(up)">
                                      <p:cBhvr>
                                        <p:cTn id="21" dur="500"/>
                                        <p:tgtEl>
                                          <p:spTgt spid="1935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93565"/>
                                        </p:tgtEl>
                                        <p:attrNameLst>
                                          <p:attrName>style.visibility</p:attrName>
                                        </p:attrNameLst>
                                      </p:cBhvr>
                                      <p:to>
                                        <p:strVal val="visible"/>
                                      </p:to>
                                    </p:set>
                                    <p:animEffect transition="in" filter="wipe(up)">
                                      <p:cBhvr>
                                        <p:cTn id="26" dur="500"/>
                                        <p:tgtEl>
                                          <p:spTgt spid="193565"/>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93579"/>
                                        </p:tgtEl>
                                        <p:attrNameLst>
                                          <p:attrName>style.visibility</p:attrName>
                                        </p:attrNameLst>
                                      </p:cBhvr>
                                      <p:to>
                                        <p:strVal val="visible"/>
                                      </p:to>
                                    </p:set>
                                    <p:animEffect transition="in" filter="wipe(up)">
                                      <p:cBhvr>
                                        <p:cTn id="30" dur="500"/>
                                        <p:tgtEl>
                                          <p:spTgt spid="1935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up)">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up)">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up)">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93580"/>
                                        </p:tgtEl>
                                        <p:attrNameLst>
                                          <p:attrName>style.visibility</p:attrName>
                                        </p:attrNameLst>
                                      </p:cBhvr>
                                      <p:to>
                                        <p:strVal val="visible"/>
                                      </p:to>
                                    </p:set>
                                    <p:animEffect transition="in" filter="wipe(up)">
                                      <p:cBhvr>
                                        <p:cTn id="55" dur="500"/>
                                        <p:tgtEl>
                                          <p:spTgt spid="193580"/>
                                        </p:tgtEl>
                                      </p:cBhvr>
                                    </p:animEffect>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193569"/>
                                        </p:tgtEl>
                                        <p:attrNameLst>
                                          <p:attrName>style.visibility</p:attrName>
                                        </p:attrNameLst>
                                      </p:cBhvr>
                                      <p:to>
                                        <p:strVal val="visible"/>
                                      </p:to>
                                    </p:set>
                                    <p:animEffect transition="in" filter="wipe(up)">
                                      <p:cBhvr>
                                        <p:cTn id="59" dur="500"/>
                                        <p:tgtEl>
                                          <p:spTgt spid="19356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193568"/>
                                        </p:tgtEl>
                                        <p:attrNameLst>
                                          <p:attrName>style.visibility</p:attrName>
                                        </p:attrNameLst>
                                      </p:cBhvr>
                                      <p:to>
                                        <p:strVal val="visible"/>
                                      </p:to>
                                    </p:set>
                                    <p:animEffect transition="in" filter="wipe(up)">
                                      <p:cBhvr>
                                        <p:cTn id="64" dur="500"/>
                                        <p:tgtEl>
                                          <p:spTgt spid="193568"/>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193570"/>
                                        </p:tgtEl>
                                        <p:attrNameLst>
                                          <p:attrName>style.visibility</p:attrName>
                                        </p:attrNameLst>
                                      </p:cBhvr>
                                      <p:to>
                                        <p:strVal val="visible"/>
                                      </p:to>
                                    </p:set>
                                    <p:animEffect transition="in" filter="wipe(up)">
                                      <p:cBhvr>
                                        <p:cTn id="67" dur="500"/>
                                        <p:tgtEl>
                                          <p:spTgt spid="193570"/>
                                        </p:tgtEl>
                                      </p:cBhvr>
                                    </p:animEffect>
                                  </p:childTnLst>
                                </p:cTn>
                              </p:par>
                            </p:childTnLst>
                          </p:cTn>
                        </p:par>
                        <p:par>
                          <p:cTn id="68" fill="hold">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193575"/>
                                        </p:tgtEl>
                                        <p:attrNameLst>
                                          <p:attrName>style.visibility</p:attrName>
                                        </p:attrNameLst>
                                      </p:cBhvr>
                                      <p:to>
                                        <p:strVal val="visible"/>
                                      </p:to>
                                    </p:set>
                                    <p:animEffect transition="in" filter="wipe(up)">
                                      <p:cBhvr>
                                        <p:cTn id="71" dur="500"/>
                                        <p:tgtEl>
                                          <p:spTgt spid="19357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193577"/>
                                        </p:tgtEl>
                                        <p:attrNameLst>
                                          <p:attrName>style.visibility</p:attrName>
                                        </p:attrNameLst>
                                      </p:cBhvr>
                                      <p:to>
                                        <p:strVal val="visible"/>
                                      </p:to>
                                    </p:set>
                                    <p:animEffect transition="in" filter="wipe(up)">
                                      <p:cBhvr>
                                        <p:cTn id="76" dur="500"/>
                                        <p:tgtEl>
                                          <p:spTgt spid="193577"/>
                                        </p:tgtEl>
                                      </p:cBhvr>
                                    </p:animEffect>
                                  </p:childTnLst>
                                </p:cTn>
                              </p:par>
                            </p:childTnLst>
                          </p:cTn>
                        </p:par>
                        <p:par>
                          <p:cTn id="77" fill="hold">
                            <p:stCondLst>
                              <p:cond delay="500"/>
                            </p:stCondLst>
                            <p:childTnLst>
                              <p:par>
                                <p:cTn id="78" presetID="22" presetClass="entr" presetSubtype="1" fill="hold" grpId="0" nodeType="afterEffect">
                                  <p:stCondLst>
                                    <p:cond delay="0"/>
                                  </p:stCondLst>
                                  <p:childTnLst>
                                    <p:set>
                                      <p:cBhvr>
                                        <p:cTn id="79" dur="1" fill="hold">
                                          <p:stCondLst>
                                            <p:cond delay="0"/>
                                          </p:stCondLst>
                                        </p:cTn>
                                        <p:tgtEl>
                                          <p:spTgt spid="193576"/>
                                        </p:tgtEl>
                                        <p:attrNameLst>
                                          <p:attrName>style.visibility</p:attrName>
                                        </p:attrNameLst>
                                      </p:cBhvr>
                                      <p:to>
                                        <p:strVal val="visible"/>
                                      </p:to>
                                    </p:set>
                                    <p:animEffect transition="in" filter="wipe(up)">
                                      <p:cBhvr>
                                        <p:cTn id="80" dur="500"/>
                                        <p:tgtEl>
                                          <p:spTgt spid="19357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193581"/>
                                        </p:tgtEl>
                                        <p:attrNameLst>
                                          <p:attrName>style.visibility</p:attrName>
                                        </p:attrNameLst>
                                      </p:cBhvr>
                                      <p:to>
                                        <p:strVal val="visible"/>
                                      </p:to>
                                    </p:set>
                                    <p:animEffect transition="in" filter="wipe(up)">
                                      <p:cBhvr>
                                        <p:cTn id="85" dur="500"/>
                                        <p:tgtEl>
                                          <p:spTgt spid="193581"/>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193584"/>
                                        </p:tgtEl>
                                        <p:attrNameLst>
                                          <p:attrName>style.visibility</p:attrName>
                                        </p:attrNameLst>
                                      </p:cBhvr>
                                      <p:to>
                                        <p:strVal val="visible"/>
                                      </p:to>
                                    </p:set>
                                    <p:animEffect transition="in" filter="wipe(up)">
                                      <p:cBhvr>
                                        <p:cTn id="88" dur="500"/>
                                        <p:tgtEl>
                                          <p:spTgt spid="193584"/>
                                        </p:tgtEl>
                                      </p:cBhvr>
                                    </p:animEffect>
                                  </p:childTnLst>
                                </p:cTn>
                              </p:par>
                            </p:childTnLst>
                          </p:cTn>
                        </p:par>
                        <p:par>
                          <p:cTn id="89" fill="hold">
                            <p:stCondLst>
                              <p:cond delay="500"/>
                            </p:stCondLst>
                            <p:childTnLst>
                              <p:par>
                                <p:cTn id="90" presetID="22" presetClass="entr" presetSubtype="1" fill="hold" grpId="0" nodeType="afterEffect">
                                  <p:stCondLst>
                                    <p:cond delay="0"/>
                                  </p:stCondLst>
                                  <p:childTnLst>
                                    <p:set>
                                      <p:cBhvr>
                                        <p:cTn id="91" dur="1" fill="hold">
                                          <p:stCondLst>
                                            <p:cond delay="0"/>
                                          </p:stCondLst>
                                        </p:cTn>
                                        <p:tgtEl>
                                          <p:spTgt spid="193562"/>
                                        </p:tgtEl>
                                        <p:attrNameLst>
                                          <p:attrName>style.visibility</p:attrName>
                                        </p:attrNameLst>
                                      </p:cBhvr>
                                      <p:to>
                                        <p:strVal val="visible"/>
                                      </p:to>
                                    </p:set>
                                    <p:animEffect transition="in" filter="wipe(up)">
                                      <p:cBhvr>
                                        <p:cTn id="92" dur="500"/>
                                        <p:tgtEl>
                                          <p:spTgt spid="19356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193585"/>
                                        </p:tgtEl>
                                        <p:attrNameLst>
                                          <p:attrName>style.visibility</p:attrName>
                                        </p:attrNameLst>
                                      </p:cBhvr>
                                      <p:to>
                                        <p:strVal val="visible"/>
                                      </p:to>
                                    </p:set>
                                    <p:animEffect transition="in" filter="wipe(down)">
                                      <p:cBhvr>
                                        <p:cTn id="97" dur="500"/>
                                        <p:tgtEl>
                                          <p:spTgt spid="193585"/>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193587"/>
                                        </p:tgtEl>
                                        <p:attrNameLst>
                                          <p:attrName>style.visibility</p:attrName>
                                        </p:attrNameLst>
                                      </p:cBhvr>
                                      <p:to>
                                        <p:strVal val="visible"/>
                                      </p:to>
                                    </p:set>
                                    <p:animEffect transition="in" filter="wipe(down)">
                                      <p:cBhvr>
                                        <p:cTn id="100" dur="500"/>
                                        <p:tgtEl>
                                          <p:spTgt spid="193587"/>
                                        </p:tgtEl>
                                      </p:cBhvr>
                                    </p:animEffect>
                                  </p:childTnLst>
                                </p:cTn>
                              </p:par>
                            </p:childTnLst>
                          </p:cTn>
                        </p:par>
                        <p:par>
                          <p:cTn id="101" fill="hold">
                            <p:stCondLst>
                              <p:cond delay="500"/>
                            </p:stCondLst>
                            <p:childTnLst>
                              <p:par>
                                <p:cTn id="102" presetID="22" presetClass="entr" presetSubtype="2" fill="hold" nodeType="afterEffect">
                                  <p:stCondLst>
                                    <p:cond delay="0"/>
                                  </p:stCondLst>
                                  <p:childTnLst>
                                    <p:set>
                                      <p:cBhvr>
                                        <p:cTn id="103" dur="1" fill="hold">
                                          <p:stCondLst>
                                            <p:cond delay="0"/>
                                          </p:stCondLst>
                                        </p:cTn>
                                        <p:tgtEl>
                                          <p:spTgt spid="193586"/>
                                        </p:tgtEl>
                                        <p:attrNameLst>
                                          <p:attrName>style.visibility</p:attrName>
                                        </p:attrNameLst>
                                      </p:cBhvr>
                                      <p:to>
                                        <p:strVal val="visible"/>
                                      </p:to>
                                    </p:set>
                                    <p:animEffect transition="in" filter="wipe(right)">
                                      <p:cBhvr>
                                        <p:cTn id="104" dur="500"/>
                                        <p:tgtEl>
                                          <p:spTgt spid="19358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nodeType="clickEffect">
                                  <p:stCondLst>
                                    <p:cond delay="0"/>
                                  </p:stCondLst>
                                  <p:childTnLst>
                                    <p:set>
                                      <p:cBhvr>
                                        <p:cTn id="108" dur="1" fill="hold">
                                          <p:stCondLst>
                                            <p:cond delay="0"/>
                                          </p:stCondLst>
                                        </p:cTn>
                                        <p:tgtEl>
                                          <p:spTgt spid="78865"/>
                                        </p:tgtEl>
                                        <p:attrNameLst>
                                          <p:attrName>style.visibility</p:attrName>
                                        </p:attrNameLst>
                                      </p:cBhvr>
                                      <p:to>
                                        <p:strVal val="visible"/>
                                      </p:to>
                                    </p:set>
                                    <p:animEffect transition="in" filter="wipe(up)">
                                      <p:cBhvr>
                                        <p:cTn id="109" dur="500"/>
                                        <p:tgtEl>
                                          <p:spTgt spid="78865"/>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193572"/>
                                        </p:tgtEl>
                                        <p:attrNameLst>
                                          <p:attrName>style.visibility</p:attrName>
                                        </p:attrNameLst>
                                      </p:cBhvr>
                                      <p:to>
                                        <p:strVal val="visible"/>
                                      </p:to>
                                    </p:set>
                                    <p:animEffect transition="in" filter="wipe(up)">
                                      <p:cBhvr>
                                        <p:cTn id="112" dur="500"/>
                                        <p:tgtEl>
                                          <p:spTgt spid="193572"/>
                                        </p:tgtEl>
                                      </p:cBhvr>
                                    </p:animEffect>
                                  </p:childTnLst>
                                </p:cTn>
                              </p:par>
                            </p:childTnLst>
                          </p:cTn>
                        </p:par>
                        <p:par>
                          <p:cTn id="113" fill="hold">
                            <p:stCondLst>
                              <p:cond delay="500"/>
                            </p:stCondLst>
                            <p:childTnLst>
                              <p:par>
                                <p:cTn id="114" presetID="22" presetClass="entr" presetSubtype="8" fill="hold" nodeType="afterEffect">
                                  <p:stCondLst>
                                    <p:cond delay="0"/>
                                  </p:stCondLst>
                                  <p:childTnLst>
                                    <p:set>
                                      <p:cBhvr>
                                        <p:cTn id="115" dur="1" fill="hold">
                                          <p:stCondLst>
                                            <p:cond delay="0"/>
                                          </p:stCondLst>
                                        </p:cTn>
                                        <p:tgtEl>
                                          <p:spTgt spid="193583"/>
                                        </p:tgtEl>
                                        <p:attrNameLst>
                                          <p:attrName>style.visibility</p:attrName>
                                        </p:attrNameLst>
                                      </p:cBhvr>
                                      <p:to>
                                        <p:strVal val="visible"/>
                                      </p:to>
                                    </p:set>
                                    <p:animEffect transition="in" filter="wipe(left)">
                                      <p:cBhvr>
                                        <p:cTn id="116" dur="500"/>
                                        <p:tgtEl>
                                          <p:spTgt spid="193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61" grpId="0" bldLvl="0" animBg="1"/>
      <p:bldP spid="193562" grpId="0" bldLvl="0" animBg="1"/>
      <p:bldP spid="193569" grpId="0" bldLvl="0" animBg="1"/>
      <p:bldP spid="193570" grpId="0" bldLvl="0" animBg="1"/>
      <p:bldP spid="193572" grpId="0" bldLvl="0" animBg="1"/>
      <p:bldP spid="193575" grpId="0" bldLvl="0" animBg="1"/>
      <p:bldP spid="193576" grpId="0" bldLvl="0" animBg="1"/>
      <p:bldP spid="193579" grpId="0" bldLvl="0" animBg="1"/>
      <p:bldP spid="193584" grpId="0" bldLvl="0" animBg="1"/>
      <p:bldP spid="193587" grpId="0" bldLvl="0" animBg="1"/>
      <p:bldP spid="13" grpId="0" bldLvl="0" animBg="1"/>
      <p:bldP spid="128046" grpId="0"/>
      <p:bldP spid="29" grpId="0" bldLvl="0" animBg="1"/>
      <p:bldP spid="30"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11"/>
          <p:cNvSpPr txBox="1"/>
          <p:nvPr/>
        </p:nvSpPr>
        <p:spPr>
          <a:xfrm>
            <a:off x="1651000" y="5516563"/>
            <a:ext cx="4660900" cy="757237"/>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r>
              <a:rPr lang="zh-CN" altLang="en-US" sz="2400" b="1" dirty="0">
                <a:solidFill>
                  <a:srgbClr val="000000"/>
                </a:solidFill>
                <a:latin typeface="黑体" panose="02010609060101010101" pitchFamily="49" charset="-122"/>
              </a:rPr>
              <a:t>处理用户输入，判断是否有输入错误，是否在合法的数值范围内</a:t>
            </a:r>
            <a:r>
              <a:rPr lang="zh-CN" altLang="en-US" sz="2400" b="1" dirty="0">
                <a:latin typeface="宋体" pitchFamily="2" charset="-122"/>
              </a:rPr>
              <a:t> </a:t>
            </a:r>
            <a:endParaRPr lang="zh-CN" altLang="en-US" sz="2400" b="1" dirty="0">
              <a:latin typeface="宋体" pitchFamily="2" charset="-122"/>
            </a:endParaRPr>
          </a:p>
        </p:txBody>
      </p:sp>
      <p:pic>
        <p:nvPicPr>
          <p:cNvPr id="80899" name="Picture 45"/>
          <p:cNvPicPr>
            <a:picLocks noChangeAspect="1"/>
          </p:cNvPicPr>
          <p:nvPr/>
        </p:nvPicPr>
        <p:blipFill>
          <a:blip r:embed="rId1">
            <a:clrChange>
              <a:clrFrom>
                <a:srgbClr val="FFFFFF"/>
              </a:clrFrom>
              <a:clrTo>
                <a:srgbClr val="FFFFFF">
                  <a:alpha val="0"/>
                </a:srgbClr>
              </a:clrTo>
            </a:clrChange>
          </a:blip>
          <a:stretch>
            <a:fillRect/>
          </a:stretch>
        </p:blipFill>
        <p:spPr>
          <a:xfrm>
            <a:off x="1649413" y="3540125"/>
            <a:ext cx="5772150" cy="1808163"/>
          </a:xfrm>
          <a:prstGeom prst="rect">
            <a:avLst/>
          </a:prstGeom>
          <a:noFill/>
          <a:ln w="12700">
            <a:noFill/>
          </a:ln>
        </p:spPr>
      </p:pic>
      <p:sp>
        <p:nvSpPr>
          <p:cNvPr id="80900" name="Rectangle 2"/>
          <p:cNvSpPr>
            <a:spLocks noGrp="1"/>
          </p:cNvSpPr>
          <p:nvPr>
            <p:ph type="title" idx="4294967295"/>
          </p:nvPr>
        </p:nvSpPr>
        <p:spPr/>
        <p:txBody>
          <a:bodyPr vert="horz" wrap="square" lIns="91440" tIns="45720" rIns="91440" bIns="45720" anchor="ctr" anchorCtr="0"/>
          <a:lstStyle/>
          <a:p>
            <a:pPr algn="ctr"/>
            <a:r>
              <a:rPr lang="en-US" altLang="zh-CN" sz="4000" dirty="0">
                <a:sym typeface="+mn-ea"/>
              </a:rPr>
              <a:t>2.6 </a:t>
            </a:r>
            <a:r>
              <a:rPr lang="zh-CN" altLang="en-US" sz="4000" dirty="0">
                <a:sym typeface="+mn-ea"/>
              </a:rPr>
              <a:t>模块化程序设计</a:t>
            </a:r>
            <a:endParaRPr lang="en-US" altLang="zh-CN" sz="4000" dirty="0"/>
          </a:p>
        </p:txBody>
      </p:sp>
      <p:sp>
        <p:nvSpPr>
          <p:cNvPr id="193561" name="AutoShape 25"/>
          <p:cNvSpPr>
            <a:spLocks noChangeArrowheads="1"/>
          </p:cNvSpPr>
          <p:nvPr/>
        </p:nvSpPr>
        <p:spPr bwMode="auto">
          <a:xfrm>
            <a:off x="9055418" y="691515"/>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开始</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62" name="AutoShape 26"/>
          <p:cNvSpPr>
            <a:spLocks noChangeArrowheads="1"/>
          </p:cNvSpPr>
          <p:nvPr/>
        </p:nvSpPr>
        <p:spPr bwMode="auto">
          <a:xfrm>
            <a:off x="9033193" y="6236653"/>
            <a:ext cx="1793875" cy="431800"/>
          </a:xfrm>
          <a:prstGeom prst="flowChartTerminator">
            <a:avLst/>
          </a:prstGeom>
          <a:noFill/>
          <a:ln w="38100">
            <a:solidFill>
              <a:schemeClr val="tx1"/>
            </a:solidFill>
            <a:miter lim="800000"/>
            <a:headEnd type="none" w="sm" len="sm"/>
            <a:tailEnd type="none" w="sm" len="sm"/>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结束</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80903" name="AutoShape 29"/>
          <p:cNvCxnSpPr/>
          <p:nvPr/>
        </p:nvCxnSpPr>
        <p:spPr>
          <a:xfrm flipH="1">
            <a:off x="9952355" y="1139190"/>
            <a:ext cx="1588" cy="263525"/>
          </a:xfrm>
          <a:prstGeom prst="straightConnector1">
            <a:avLst/>
          </a:prstGeom>
          <a:ln w="38100" cap="flat" cmpd="sng">
            <a:solidFill>
              <a:schemeClr val="tx1"/>
            </a:solidFill>
            <a:prstDash val="solid"/>
            <a:headEnd type="none" w="med" len="med"/>
            <a:tailEnd type="triangle" w="med" len="med"/>
          </a:ln>
        </p:spPr>
      </p:cxnSp>
      <p:cxnSp>
        <p:nvCxnSpPr>
          <p:cNvPr id="80904" name="AutoShape 32"/>
          <p:cNvCxnSpPr>
            <a:stCxn id="193569" idx="2"/>
            <a:endCxn id="193575" idx="1"/>
          </p:cNvCxnSpPr>
          <p:nvPr/>
        </p:nvCxnSpPr>
        <p:spPr>
          <a:xfrm flipH="1">
            <a:off x="9942830" y="4303078"/>
            <a:ext cx="11113" cy="265112"/>
          </a:xfrm>
          <a:prstGeom prst="straightConnector1">
            <a:avLst/>
          </a:prstGeom>
          <a:ln w="38100" cap="flat" cmpd="sng">
            <a:solidFill>
              <a:schemeClr val="tx1"/>
            </a:solidFill>
            <a:prstDash val="solid"/>
            <a:headEnd type="none" w="med" len="med"/>
            <a:tailEnd type="triangle" w="med" len="med"/>
          </a:ln>
        </p:spPr>
      </p:cxnSp>
      <p:sp>
        <p:nvSpPr>
          <p:cNvPr id="193569" name="AutoShape 33"/>
          <p:cNvSpPr>
            <a:spLocks noChangeArrowheads="1"/>
          </p:cNvSpPr>
          <p:nvPr/>
        </p:nvSpPr>
        <p:spPr bwMode="auto">
          <a:xfrm>
            <a:off x="8471218" y="3674428"/>
            <a:ext cx="2965450" cy="609600"/>
          </a:xfrm>
          <a:prstGeom prst="flowChartDecision">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猜得对吗？</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0" name="Text Box 34"/>
          <p:cNvSpPr txBox="1">
            <a:spLocks noChangeArrowheads="1"/>
          </p:cNvSpPr>
          <p:nvPr/>
        </p:nvSpPr>
        <p:spPr bwMode="auto">
          <a:xfrm>
            <a:off x="9441180" y="4195128"/>
            <a:ext cx="369888"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2" name="Text Box 36"/>
          <p:cNvSpPr txBox="1">
            <a:spLocks noChangeArrowheads="1"/>
          </p:cNvSpPr>
          <p:nvPr/>
        </p:nvSpPr>
        <p:spPr bwMode="auto">
          <a:xfrm>
            <a:off x="8282305" y="3545840"/>
            <a:ext cx="355600"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5" name="AutoShape 39"/>
          <p:cNvSpPr>
            <a:spLocks noChangeArrowheads="1"/>
          </p:cNvSpPr>
          <p:nvPr/>
        </p:nvSpPr>
        <p:spPr bwMode="auto">
          <a:xfrm>
            <a:off x="8879205" y="4587240"/>
            <a:ext cx="2128838" cy="433388"/>
          </a:xfrm>
          <a:prstGeom prst="flowChartInputOutput">
            <a:avLst/>
          </a:prstGeom>
          <a:noFill/>
          <a:ln w="38100" algn="ctr">
            <a:solidFill>
              <a:schemeClr val="tx1"/>
            </a:solidFill>
            <a:miter lim="800000"/>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提示大小</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3576" name="AutoShape 40"/>
          <p:cNvSpPr>
            <a:spLocks noChangeArrowheads="1"/>
          </p:cNvSpPr>
          <p:nvPr/>
        </p:nvSpPr>
        <p:spPr bwMode="auto">
          <a:xfrm>
            <a:off x="8453755" y="5323840"/>
            <a:ext cx="2965450" cy="609600"/>
          </a:xfrm>
          <a:prstGeom prst="flowChartDecision">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次数</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&lt;10</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80910" name="AutoShape 41"/>
          <p:cNvCxnSpPr>
            <a:stCxn id="193575" idx="4"/>
            <a:endCxn id="193576" idx="0"/>
          </p:cNvCxnSpPr>
          <p:nvPr/>
        </p:nvCxnSpPr>
        <p:spPr>
          <a:xfrm flipH="1">
            <a:off x="9936480" y="5039678"/>
            <a:ext cx="6350" cy="265112"/>
          </a:xfrm>
          <a:prstGeom prst="straightConnector1">
            <a:avLst/>
          </a:prstGeom>
          <a:ln w="38100" cap="flat" cmpd="sng">
            <a:solidFill>
              <a:schemeClr val="tx1"/>
            </a:solidFill>
            <a:prstDash val="solid"/>
            <a:headEnd type="none" w="med" len="med"/>
            <a:tailEnd type="triangle" w="med" len="med"/>
          </a:ln>
        </p:spPr>
      </p:cxnSp>
      <p:sp>
        <p:nvSpPr>
          <p:cNvPr id="193579" name="AutoShape 43"/>
          <p:cNvSpPr>
            <a:spLocks noChangeArrowheads="1"/>
          </p:cNvSpPr>
          <p:nvPr/>
        </p:nvSpPr>
        <p:spPr bwMode="auto">
          <a:xfrm>
            <a:off x="8887143" y="1424940"/>
            <a:ext cx="2128838" cy="433388"/>
          </a:xfrm>
          <a:prstGeom prst="flowChartInputOutput">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输入数字</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80912" name="AutoShape 44"/>
          <p:cNvCxnSpPr>
            <a:endCxn id="193569" idx="0"/>
          </p:cNvCxnSpPr>
          <p:nvPr/>
        </p:nvCxnSpPr>
        <p:spPr>
          <a:xfrm>
            <a:off x="9952355" y="3390265"/>
            <a:ext cx="1588" cy="265113"/>
          </a:xfrm>
          <a:prstGeom prst="straightConnector1">
            <a:avLst/>
          </a:prstGeom>
          <a:ln w="38100" cap="flat" cmpd="sng">
            <a:solidFill>
              <a:schemeClr val="tx1"/>
            </a:solidFill>
            <a:prstDash val="solid"/>
            <a:headEnd type="none" w="med" len="med"/>
            <a:tailEnd type="triangle" w="med" len="med"/>
          </a:ln>
        </p:spPr>
      </p:cxnSp>
      <p:cxnSp>
        <p:nvCxnSpPr>
          <p:cNvPr id="80913" name="AutoShape 45"/>
          <p:cNvCxnSpPr>
            <a:stCxn id="193576" idx="2"/>
            <a:endCxn id="193562" idx="0"/>
          </p:cNvCxnSpPr>
          <p:nvPr/>
        </p:nvCxnSpPr>
        <p:spPr>
          <a:xfrm flipH="1">
            <a:off x="9931718" y="5952490"/>
            <a:ext cx="4762" cy="265113"/>
          </a:xfrm>
          <a:prstGeom prst="straightConnector1">
            <a:avLst/>
          </a:prstGeom>
          <a:ln w="38100" cap="flat" cmpd="sng">
            <a:solidFill>
              <a:schemeClr val="tx1"/>
            </a:solidFill>
            <a:prstDash val="solid"/>
            <a:headEnd type="none" w="med" len="med"/>
            <a:tailEnd type="triangle" w="med" len="med"/>
          </a:ln>
        </p:spPr>
      </p:cxnSp>
      <p:cxnSp>
        <p:nvCxnSpPr>
          <p:cNvPr id="80914" name="AutoShape 46"/>
          <p:cNvCxnSpPr/>
          <p:nvPr/>
        </p:nvCxnSpPr>
        <p:spPr>
          <a:xfrm rot="-10800000" flipV="1">
            <a:off x="8325168" y="3979228"/>
            <a:ext cx="82550" cy="2070100"/>
          </a:xfrm>
          <a:prstGeom prst="bentConnector2">
            <a:avLst/>
          </a:prstGeom>
          <a:ln w="38100" cap="flat" cmpd="sng">
            <a:solidFill>
              <a:schemeClr val="tx1"/>
            </a:solidFill>
            <a:prstDash val="solid"/>
            <a:miter/>
            <a:headEnd type="none" w="med" len="med"/>
            <a:tailEnd type="none" w="med" len="med"/>
          </a:ln>
        </p:spPr>
      </p:cxnSp>
      <p:sp>
        <p:nvSpPr>
          <p:cNvPr id="193583" name="Line 47"/>
          <p:cNvSpPr>
            <a:spLocks noChangeShapeType="1"/>
          </p:cNvSpPr>
          <p:nvPr/>
        </p:nvSpPr>
        <p:spPr bwMode="auto">
          <a:xfrm>
            <a:off x="8307705" y="6068378"/>
            <a:ext cx="1597025" cy="0"/>
          </a:xfrm>
          <a:prstGeom prst="line">
            <a:avLst/>
          </a:prstGeom>
          <a:noFill/>
          <a:ln w="38100">
            <a:solidFill>
              <a:schemeClr val="tx1"/>
            </a:solidFill>
            <a:round/>
            <a:tailEnd type="triangle" w="med" len="med"/>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93584" name="Text Box 48"/>
          <p:cNvSpPr txBox="1">
            <a:spLocks noChangeArrowheads="1"/>
          </p:cNvSpPr>
          <p:nvPr/>
        </p:nvSpPr>
        <p:spPr bwMode="auto">
          <a:xfrm>
            <a:off x="9987280" y="5879465"/>
            <a:ext cx="371475"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80917" name="AutoShape 49"/>
          <p:cNvCxnSpPr/>
          <p:nvPr/>
        </p:nvCxnSpPr>
        <p:spPr>
          <a:xfrm flipV="1">
            <a:off x="11244580" y="1267778"/>
            <a:ext cx="466725" cy="4356100"/>
          </a:xfrm>
          <a:prstGeom prst="bentConnector4">
            <a:avLst>
              <a:gd name="adj1" fmla="val 100000"/>
              <a:gd name="adj2" fmla="val 18593"/>
            </a:avLst>
          </a:prstGeom>
          <a:ln w="38100" cap="flat" cmpd="sng">
            <a:solidFill>
              <a:schemeClr val="tx1"/>
            </a:solidFill>
            <a:prstDash val="solid"/>
            <a:miter/>
            <a:headEnd type="none" w="med" len="med"/>
            <a:tailEnd type="none" w="med" len="med"/>
          </a:ln>
        </p:spPr>
      </p:cxnSp>
      <p:sp>
        <p:nvSpPr>
          <p:cNvPr id="193586" name="Line 50"/>
          <p:cNvSpPr>
            <a:spLocks noChangeShapeType="1"/>
          </p:cNvSpPr>
          <p:nvPr/>
        </p:nvSpPr>
        <p:spPr bwMode="auto">
          <a:xfrm flipH="1">
            <a:off x="10006330" y="1266190"/>
            <a:ext cx="1714500" cy="0"/>
          </a:xfrm>
          <a:prstGeom prst="line">
            <a:avLst/>
          </a:prstGeom>
          <a:noFill/>
          <a:ln w="38100">
            <a:solidFill>
              <a:schemeClr val="tx1"/>
            </a:solidFill>
            <a:round/>
            <a:tailEnd type="triangle" w="med" len="med"/>
          </a:ln>
          <a:effectLst/>
        </p:spPr>
        <p:txBody>
          <a:bodyPr wrap="none"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93587" name="Text Box 51"/>
          <p:cNvSpPr txBox="1">
            <a:spLocks noChangeArrowheads="1"/>
          </p:cNvSpPr>
          <p:nvPr/>
        </p:nvSpPr>
        <p:spPr bwMode="auto">
          <a:xfrm>
            <a:off x="11244580" y="5347653"/>
            <a:ext cx="357188" cy="369888"/>
          </a:xfrm>
          <a:prstGeom prst="rect">
            <a:avLst/>
          </a:prstGeom>
          <a:noFill/>
          <a:ln w="38100" algn="ctr">
            <a:noFill/>
            <a:miter lim="800000"/>
          </a:ln>
          <a:effectLst/>
        </p:spPr>
        <p:txBody>
          <a:bodyPr wrap="none">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Y</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80920" name="Picture 42"/>
          <p:cNvPicPr>
            <a:picLocks noChangeAspect="1"/>
          </p:cNvPicPr>
          <p:nvPr/>
        </p:nvPicPr>
        <p:blipFill>
          <a:blip r:embed="rId2">
            <a:clrChange>
              <a:clrFrom>
                <a:srgbClr val="FFFFFF"/>
              </a:clrFrom>
              <a:clrTo>
                <a:srgbClr val="FFFFFF">
                  <a:alpha val="0"/>
                </a:srgbClr>
              </a:clrTo>
            </a:clrChange>
          </a:blip>
          <a:stretch>
            <a:fillRect/>
          </a:stretch>
        </p:blipFill>
        <p:spPr>
          <a:xfrm>
            <a:off x="1884363" y="1484313"/>
            <a:ext cx="5070475" cy="1439862"/>
          </a:xfrm>
          <a:prstGeom prst="rect">
            <a:avLst/>
          </a:prstGeom>
          <a:noFill/>
          <a:ln w="12700">
            <a:noFill/>
          </a:ln>
        </p:spPr>
      </p:pic>
      <p:sp>
        <p:nvSpPr>
          <p:cNvPr id="13" name="下箭头 12"/>
          <p:cNvSpPr/>
          <p:nvPr/>
        </p:nvSpPr>
        <p:spPr>
          <a:xfrm>
            <a:off x="4144963" y="2986088"/>
            <a:ext cx="495300" cy="358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3600" b="1" i="0" u="none" strike="noStrike" kern="1200" cap="none" spc="0" normalizeH="0" baseline="0" noProof="0">
              <a:ln>
                <a:noFill/>
              </a:ln>
              <a:solidFill>
                <a:srgbClr val="FFFFFF"/>
              </a:solidFill>
              <a:effectLst/>
              <a:uLnTx/>
              <a:uFillTx/>
              <a:latin typeface="+mn-lt"/>
              <a:ea typeface="宋体" pitchFamily="2" charset="-122"/>
              <a:cs typeface="+mn-cs"/>
            </a:endParaRPr>
          </a:p>
        </p:txBody>
      </p:sp>
      <p:sp>
        <p:nvSpPr>
          <p:cNvPr id="80922" name="Rectangle 27"/>
          <p:cNvSpPr/>
          <p:nvPr/>
        </p:nvSpPr>
        <p:spPr>
          <a:xfrm>
            <a:off x="4846638" y="2338388"/>
            <a:ext cx="2030412" cy="539750"/>
          </a:xfrm>
          <a:prstGeom prst="rect">
            <a:avLst/>
          </a:prstGeom>
          <a:noFill/>
          <a:ln w="571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2000" dirty="0">
              <a:ea typeface="宋体" pitchFamily="2" charset="-122"/>
            </a:endParaRPr>
          </a:p>
        </p:txBody>
      </p:sp>
      <p:sp>
        <p:nvSpPr>
          <p:cNvPr id="29" name="AutoShape 10"/>
          <p:cNvSpPr>
            <a:spLocks noChangeArrowheads="1"/>
          </p:cNvSpPr>
          <p:nvPr/>
        </p:nvSpPr>
        <p:spPr bwMode="auto">
          <a:xfrm>
            <a:off x="8328343" y="2117090"/>
            <a:ext cx="3195638"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判断用户猜的数字是否合法</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0" name="AutoShape 10"/>
          <p:cNvSpPr>
            <a:spLocks noChangeArrowheads="1"/>
          </p:cNvSpPr>
          <p:nvPr/>
        </p:nvSpPr>
        <p:spPr bwMode="auto">
          <a:xfrm>
            <a:off x="8344218" y="2893378"/>
            <a:ext cx="3195638" cy="504825"/>
          </a:xfrm>
          <a:prstGeom prst="flowChartProcess">
            <a:avLst/>
          </a:prstGeom>
          <a:noFill/>
          <a:ln w="38100" algn="ctr">
            <a:solidFill>
              <a:schemeClr val="tx1"/>
            </a:solidFill>
            <a:miter lim="800000"/>
          </a:ln>
          <a:effectLst/>
        </p:spPr>
        <p:txBody>
          <a:bodyPr wrap="none" anchor="ctr"/>
          <a:lstStyle>
            <a:lvl1pPr>
              <a:lnSpc>
                <a:spcPct val="95000"/>
              </a:lnSpc>
              <a:spcBef>
                <a:spcPts val="575"/>
              </a:spcBef>
              <a:buClr>
                <a:schemeClr val="tx2"/>
              </a:buClr>
              <a:buSzPct val="50000"/>
              <a:buFont typeface="Wingdings" panose="05000000000000000000" pitchFamily="2" charset="2"/>
              <a:buChar char="n"/>
              <a:defRPr sz="3200">
                <a:solidFill>
                  <a:schemeClr val="tx1"/>
                </a:solidFill>
                <a:latin typeface="Arial" panose="020B0604020202090204" pitchFamily="34" charset="0"/>
                <a:ea typeface="黑体" panose="02010609060101010101" pitchFamily="49" charset="-122"/>
              </a:defRPr>
            </a:lvl1pPr>
            <a:lvl2pPr marL="742950" indent="-285750">
              <a:lnSpc>
                <a:spcPct val="95000"/>
              </a:lnSpc>
              <a:spcBef>
                <a:spcPts val="575"/>
              </a:spcBef>
              <a:buClr>
                <a:schemeClr val="tx2"/>
              </a:buClr>
              <a:buSzPct val="50000"/>
              <a:buFont typeface="Wingdings 2" panose="05020102010507070707" pitchFamily="18" charset="2"/>
              <a:buChar char="Þ"/>
              <a:defRPr sz="28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nSpc>
                <a:spcPct val="95000"/>
              </a:lnSpc>
              <a:spcBef>
                <a:spcPts val="575"/>
              </a:spcBef>
              <a:buClr>
                <a:schemeClr val="tx2"/>
              </a:buClr>
              <a:buSzPct val="50000"/>
              <a:buFont typeface="Wingdings 2" panose="05020102010507070707" pitchFamily="18" charset="2"/>
              <a:buChar char=""/>
              <a:defRPr sz="24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nSpc>
                <a:spcPct val="95000"/>
              </a:lnSpc>
              <a:spcBef>
                <a:spcPts val="575"/>
              </a:spcBef>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6pPr>
            <a:lvl7pPr marL="29718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7pPr>
            <a:lvl8pPr marL="34290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8pPr>
            <a:lvl9pPr marL="3886200" indent="-22860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a:solidFill>
                  <a:schemeClr val="tx1"/>
                </a:solidFill>
                <a:latin typeface="Arial" panose="020B0604020202090204" pitchFamily="34" charset="0"/>
                <a:ea typeface="黑体" panose="02010609060101010101" pitchFamily="49" charset="-122"/>
                <a:cs typeface="Times New Roman" panose="02020503050405090304" pitchFamily="18" charset="0"/>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记录用户猜的次数</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cxnSp>
        <p:nvCxnSpPr>
          <p:cNvPr id="80925" name="AutoShape 29"/>
          <p:cNvCxnSpPr/>
          <p:nvPr/>
        </p:nvCxnSpPr>
        <p:spPr>
          <a:xfrm flipH="1">
            <a:off x="9980930" y="2636203"/>
            <a:ext cx="1588" cy="263525"/>
          </a:xfrm>
          <a:prstGeom prst="straightConnector1">
            <a:avLst/>
          </a:prstGeom>
          <a:ln w="38100" cap="flat" cmpd="sng">
            <a:solidFill>
              <a:schemeClr val="tx1"/>
            </a:solidFill>
            <a:prstDash val="solid"/>
            <a:headEnd type="none" w="med" len="med"/>
            <a:tailEnd type="triangle" w="med" len="med"/>
          </a:ln>
        </p:spPr>
      </p:cxnSp>
      <p:cxnSp>
        <p:nvCxnSpPr>
          <p:cNvPr id="80926" name="AutoShape 29"/>
          <p:cNvCxnSpPr/>
          <p:nvPr/>
        </p:nvCxnSpPr>
        <p:spPr>
          <a:xfrm flipH="1">
            <a:off x="9966643" y="1867853"/>
            <a:ext cx="1587" cy="263525"/>
          </a:xfrm>
          <a:prstGeom prst="straightConnector1">
            <a:avLst/>
          </a:prstGeom>
          <a:ln w="38100" cap="flat" cmpd="sng">
            <a:solidFill>
              <a:schemeClr val="tx1"/>
            </a:solidFill>
            <a:prstDash val="solid"/>
            <a:headEnd type="none" w="med" len="med"/>
            <a:tailEnd type="triangle" w="med" len="med"/>
          </a:ln>
        </p:spPr>
      </p:cxnSp>
      <p:grpSp>
        <p:nvGrpSpPr>
          <p:cNvPr id="2" name="Group 15"/>
          <p:cNvGrpSpPr/>
          <p:nvPr/>
        </p:nvGrpSpPr>
        <p:grpSpPr>
          <a:xfrm>
            <a:off x="1230313" y="3421063"/>
            <a:ext cx="6161087" cy="2778125"/>
            <a:chOff x="1748" y="2448"/>
            <a:chExt cx="3923" cy="1795"/>
          </a:xfrm>
        </p:grpSpPr>
        <p:pic>
          <p:nvPicPr>
            <p:cNvPr id="80929" name="Picture 12"/>
            <p:cNvPicPr>
              <a:picLocks noChangeAspect="1"/>
            </p:cNvPicPr>
            <p:nvPr/>
          </p:nvPicPr>
          <p:blipFill>
            <a:blip r:embed="rId3"/>
            <a:stretch>
              <a:fillRect/>
            </a:stretch>
          </p:blipFill>
          <p:spPr>
            <a:xfrm>
              <a:off x="1748" y="2448"/>
              <a:ext cx="3923" cy="1795"/>
            </a:xfrm>
            <a:prstGeom prst="rect">
              <a:avLst/>
            </a:prstGeom>
            <a:noFill/>
            <a:ln w="57150" cap="flat" cmpd="thickThin">
              <a:solidFill>
                <a:srgbClr val="000080"/>
              </a:solidFill>
              <a:prstDash val="solid"/>
              <a:miter/>
              <a:headEnd type="none" w="med" len="med"/>
              <a:tailEnd type="none" w="med" len="med"/>
            </a:ln>
          </p:spPr>
        </p:pic>
        <p:sp>
          <p:nvSpPr>
            <p:cNvPr id="80930" name="Rectangle 14"/>
            <p:cNvSpPr/>
            <p:nvPr/>
          </p:nvSpPr>
          <p:spPr>
            <a:xfrm>
              <a:off x="2195" y="3072"/>
              <a:ext cx="3456" cy="13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80931" name="Rectangle 15"/>
            <p:cNvSpPr/>
            <p:nvPr/>
          </p:nvSpPr>
          <p:spPr>
            <a:xfrm>
              <a:off x="2201" y="3326"/>
              <a:ext cx="2400" cy="144"/>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grpSp>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946" name="Group 15"/>
          <p:cNvGrpSpPr/>
          <p:nvPr/>
        </p:nvGrpSpPr>
        <p:grpSpPr>
          <a:xfrm>
            <a:off x="1230313" y="3421063"/>
            <a:ext cx="6161087" cy="2778125"/>
            <a:chOff x="1748" y="2448"/>
            <a:chExt cx="3923" cy="1795"/>
          </a:xfrm>
        </p:grpSpPr>
        <p:pic>
          <p:nvPicPr>
            <p:cNvPr id="82953" name="Picture 12"/>
            <p:cNvPicPr>
              <a:picLocks noChangeAspect="1"/>
            </p:cNvPicPr>
            <p:nvPr/>
          </p:nvPicPr>
          <p:blipFill>
            <a:blip r:embed="rId1"/>
            <a:stretch>
              <a:fillRect/>
            </a:stretch>
          </p:blipFill>
          <p:spPr>
            <a:xfrm>
              <a:off x="1748" y="2448"/>
              <a:ext cx="3923" cy="1795"/>
            </a:xfrm>
            <a:prstGeom prst="rect">
              <a:avLst/>
            </a:prstGeom>
            <a:noFill/>
            <a:ln w="57150" cap="flat" cmpd="thickThin">
              <a:solidFill>
                <a:srgbClr val="000080"/>
              </a:solidFill>
              <a:prstDash val="solid"/>
              <a:miter/>
              <a:headEnd type="none" w="med" len="med"/>
              <a:tailEnd type="none" w="med" len="med"/>
            </a:ln>
          </p:spPr>
        </p:pic>
        <p:sp>
          <p:nvSpPr>
            <p:cNvPr id="82954" name="Rectangle 14"/>
            <p:cNvSpPr/>
            <p:nvPr/>
          </p:nvSpPr>
          <p:spPr>
            <a:xfrm>
              <a:off x="2195" y="3072"/>
              <a:ext cx="3456" cy="130"/>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82955" name="Rectangle 15"/>
            <p:cNvSpPr/>
            <p:nvPr/>
          </p:nvSpPr>
          <p:spPr>
            <a:xfrm>
              <a:off x="2201" y="3326"/>
              <a:ext cx="2400" cy="144"/>
            </a:xfrm>
            <a:prstGeom prst="rect">
              <a:avLst/>
            </a:prstGeom>
            <a:noFill/>
            <a:ln w="1905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grpSp>
      <p:sp>
        <p:nvSpPr>
          <p:cNvPr id="82947"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endParaRPr lang="en-US" altLang="zh-CN" sz="4000" dirty="0"/>
          </a:p>
        </p:txBody>
      </p:sp>
      <p:pic>
        <p:nvPicPr>
          <p:cNvPr id="10" name="Picture 5"/>
          <p:cNvPicPr>
            <a:picLocks noChangeAspect="1"/>
          </p:cNvPicPr>
          <p:nvPr/>
        </p:nvPicPr>
        <p:blipFill>
          <a:blip r:embed="rId2"/>
          <a:stretch>
            <a:fillRect/>
          </a:stretch>
        </p:blipFill>
        <p:spPr>
          <a:xfrm>
            <a:off x="5183188" y="71438"/>
            <a:ext cx="5808662" cy="4725987"/>
          </a:xfrm>
          <a:prstGeom prst="rect">
            <a:avLst/>
          </a:prstGeom>
          <a:noFill/>
          <a:ln w="50800" cap="flat" cmpd="thickThin">
            <a:solidFill>
              <a:srgbClr val="002060"/>
            </a:solidFill>
            <a:prstDash val="solid"/>
            <a:miter/>
            <a:headEnd type="none" w="med" len="med"/>
            <a:tailEnd type="none" w="med" len="med"/>
          </a:ln>
        </p:spPr>
      </p:pic>
      <p:sp>
        <p:nvSpPr>
          <p:cNvPr id="11" name="Rectangle 11"/>
          <p:cNvSpPr/>
          <p:nvPr/>
        </p:nvSpPr>
        <p:spPr>
          <a:xfrm>
            <a:off x="5783263" y="1068388"/>
            <a:ext cx="4992687" cy="1223962"/>
          </a:xfrm>
          <a:prstGeom prst="rect">
            <a:avLst/>
          </a:prstGeom>
          <a:noFill/>
          <a:ln w="25400"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12" name="Rectangle 11"/>
          <p:cNvSpPr/>
          <p:nvPr/>
        </p:nvSpPr>
        <p:spPr>
          <a:xfrm>
            <a:off x="5808663" y="2505075"/>
            <a:ext cx="4989512" cy="215900"/>
          </a:xfrm>
          <a:prstGeom prst="rect">
            <a:avLst/>
          </a:prstGeom>
          <a:noFill/>
          <a:ln w="25400"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13" name="圆角右箭头 12"/>
          <p:cNvSpPr/>
          <p:nvPr/>
        </p:nvSpPr>
        <p:spPr bwMode="auto">
          <a:xfrm>
            <a:off x="4160838" y="2349500"/>
            <a:ext cx="774700" cy="857250"/>
          </a:xfrm>
          <a:prstGeom prst="bentArrow">
            <a:avLst/>
          </a:prstGeom>
          <a:solidFill>
            <a:schemeClr val="accent1"/>
          </a:solidFill>
          <a:ln w="12700" cap="flat" cmpd="sng" algn="ctr">
            <a:solidFill>
              <a:schemeClr val="tx1"/>
            </a:solidFill>
            <a:prstDash val="solid"/>
            <a:round/>
            <a:headEnd type="none" w="sm" len="sm"/>
            <a:tailEnd type="none" w="sm" len="sm"/>
          </a:ln>
          <a:effectLst/>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2952" name="灯片编号占位符 1"/>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4"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from="(-#ppt_w/2)" to="(#ppt_x)" calcmode="lin" valueType="num">
                                      <p:cBhvr>
                                        <p:cTn id="18" dur="600" fill="hold">
                                          <p:stCondLst>
                                            <p:cond delay="0"/>
                                          </p:stCondLst>
                                        </p:cTn>
                                        <p:tgtEl>
                                          <p:spTgt spid="11"/>
                                        </p:tgtEl>
                                        <p:attrNameLst>
                                          <p:attrName>ppt_x</p:attrName>
                                        </p:attrNameLst>
                                      </p:cBhvr>
                                    </p:anim>
                                    <p:anim from="0" to="-1.0" calcmode="lin" valueType="num">
                                      <p:cBhvr>
                                        <p:cTn id="19" dur="200" decel="50000" autoRev="1" fill="hold">
                                          <p:stCondLst>
                                            <p:cond delay="600"/>
                                          </p:stCondLst>
                                        </p:cTn>
                                        <p:tgtEl>
                                          <p:spTgt spid="11"/>
                                        </p:tgtEl>
                                        <p:attrNameLst>
                                          <p:attrName>xshear</p:attrName>
                                        </p:attrNameLst>
                                      </p:cBhvr>
                                    </p:anim>
                                    <p:animScale>
                                      <p:cBhvr>
                                        <p:cTn id="20" dur="200" decel="100000" autoRev="1" fill="hold">
                                          <p:stCondLst>
                                            <p:cond delay="600"/>
                                          </p:stCondLst>
                                        </p:cTn>
                                        <p:tgtEl>
                                          <p:spTgt spid="11"/>
                                        </p:tgtEl>
                                      </p:cBhvr>
                                      <p:from x="100000" y="100000"/>
                                      <p:to x="80000" y="100000"/>
                                    </p:animScale>
                                    <p:anim by="(#ppt_h/3+#ppt_w*0.1)" calcmode="lin" valueType="num">
                                      <p:cBhvr additive="sum">
                                        <p:cTn id="21" dur="200" decel="100000" autoRev="1" fill="hold">
                                          <p:stCondLst>
                                            <p:cond delay="600"/>
                                          </p:stCondLst>
                                        </p:cTn>
                                        <p:tgtEl>
                                          <p:spTgt spid="11"/>
                                        </p:tgtEl>
                                        <p:attrNameLst>
                                          <p:attrName>ppt_x</p:attrName>
                                        </p:attrNameLst>
                                      </p:cBhvr>
                                    </p:anim>
                                  </p:childTnLst>
                                </p:cTn>
                              </p:par>
                            </p:childTnLst>
                          </p:cTn>
                        </p:par>
                      </p:childTnLst>
                    </p:cTn>
                  </p:par>
                  <p:par>
                    <p:cTn id="22" fill="hold">
                      <p:stCondLst>
                        <p:cond delay="indefinite"/>
                      </p:stCondLst>
                      <p:childTnLst>
                        <p:par>
                          <p:cTn id="23" fill="hold">
                            <p:stCondLst>
                              <p:cond delay="0"/>
                            </p:stCondLst>
                            <p:childTnLst>
                              <p:par>
                                <p:cTn id="24" presetID="34"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from="(-#ppt_w/2)" to="(#ppt_x)" calcmode="lin" valueType="num">
                                      <p:cBhvr>
                                        <p:cTn id="26" dur="600" fill="hold">
                                          <p:stCondLst>
                                            <p:cond delay="0"/>
                                          </p:stCondLst>
                                        </p:cTn>
                                        <p:tgtEl>
                                          <p:spTgt spid="12"/>
                                        </p:tgtEl>
                                        <p:attrNameLst>
                                          <p:attrName>ppt_x</p:attrName>
                                        </p:attrNameLst>
                                      </p:cBhvr>
                                    </p:anim>
                                    <p:anim from="0" to="-1.0" calcmode="lin" valueType="num">
                                      <p:cBhvr>
                                        <p:cTn id="27" dur="200" decel="50000" autoRev="1" fill="hold">
                                          <p:stCondLst>
                                            <p:cond delay="600"/>
                                          </p:stCondLst>
                                        </p:cTn>
                                        <p:tgtEl>
                                          <p:spTgt spid="12"/>
                                        </p:tgtEl>
                                        <p:attrNameLst>
                                          <p:attrName>xshear</p:attrName>
                                        </p:attrNameLst>
                                      </p:cBhvr>
                                    </p:anim>
                                    <p:animScale>
                                      <p:cBhvr>
                                        <p:cTn id="28" dur="200" decel="100000" autoRev="1" fill="hold">
                                          <p:stCondLst>
                                            <p:cond delay="600"/>
                                          </p:stCondLst>
                                        </p:cTn>
                                        <p:tgtEl>
                                          <p:spTgt spid="12"/>
                                        </p:tgtEl>
                                      </p:cBhvr>
                                      <p:from x="100000" y="100000"/>
                                      <p:to x="80000" y="100000"/>
                                    </p:animScale>
                                    <p:anim by="(#ppt_h/3+#ppt_w*0.1)" calcmode="lin" valueType="num">
                                      <p:cBhvr additive="sum">
                                        <p:cTn id="29" dur="200" decel="100000" autoRev="1" fill="hold">
                                          <p:stCondLst>
                                            <p:cond delay="600"/>
                                          </p:stCondLst>
                                        </p:cTn>
                                        <p:tgtEl>
                                          <p:spTgt spid="1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r>
              <a:rPr lang="zh-CN" altLang="en-US" sz="4000" dirty="0"/>
              <a:t>游戏</a:t>
            </a:r>
            <a:endParaRPr lang="en-US" altLang="zh-CN" sz="4000" dirty="0"/>
          </a:p>
        </p:txBody>
      </p:sp>
      <p:sp>
        <p:nvSpPr>
          <p:cNvPr id="13" name="圆角右箭头 12"/>
          <p:cNvSpPr/>
          <p:nvPr/>
        </p:nvSpPr>
        <p:spPr bwMode="auto">
          <a:xfrm rot="16200000" flipH="1">
            <a:off x="4079875" y="1916113"/>
            <a:ext cx="928688" cy="928688"/>
          </a:xfrm>
          <a:prstGeom prst="bentArrow">
            <a:avLst/>
          </a:prstGeom>
          <a:solidFill>
            <a:schemeClr val="accent1"/>
          </a:solidFill>
          <a:ln w="12700" cap="flat" cmpd="sng" algn="ctr">
            <a:solidFill>
              <a:schemeClr val="tx1"/>
            </a:solidFill>
            <a:prstDash val="solid"/>
            <a:round/>
            <a:headEnd type="none" w="sm" len="sm"/>
            <a:tailEnd type="none" w="sm" len="sm"/>
          </a:ln>
          <a:effectLst/>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pic>
        <p:nvPicPr>
          <p:cNvPr id="84996" name="Picture 5"/>
          <p:cNvPicPr>
            <a:picLocks noChangeAspect="1"/>
          </p:cNvPicPr>
          <p:nvPr/>
        </p:nvPicPr>
        <p:blipFill>
          <a:blip r:embed="rId1"/>
          <a:stretch>
            <a:fillRect/>
          </a:stretch>
        </p:blipFill>
        <p:spPr>
          <a:xfrm>
            <a:off x="5183188" y="71438"/>
            <a:ext cx="5808662" cy="4725987"/>
          </a:xfrm>
          <a:prstGeom prst="rect">
            <a:avLst/>
          </a:prstGeom>
          <a:noFill/>
          <a:ln w="50800" cap="flat" cmpd="thickThin">
            <a:solidFill>
              <a:srgbClr val="002060"/>
            </a:solidFill>
            <a:prstDash val="solid"/>
            <a:miter/>
            <a:headEnd type="none" w="med" len="med"/>
            <a:tailEnd type="none" w="med" len="med"/>
          </a:ln>
        </p:spPr>
      </p:pic>
      <p:sp>
        <p:nvSpPr>
          <p:cNvPr id="84997" name="Rectangle 11"/>
          <p:cNvSpPr/>
          <p:nvPr/>
        </p:nvSpPr>
        <p:spPr>
          <a:xfrm>
            <a:off x="5783263" y="1068388"/>
            <a:ext cx="4992687" cy="1223962"/>
          </a:xfrm>
          <a:prstGeom prst="rect">
            <a:avLst/>
          </a:prstGeom>
          <a:noFill/>
          <a:ln w="25400"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84998" name="Rectangle 11"/>
          <p:cNvSpPr/>
          <p:nvPr/>
        </p:nvSpPr>
        <p:spPr>
          <a:xfrm>
            <a:off x="5808663" y="2505075"/>
            <a:ext cx="4989512" cy="215900"/>
          </a:xfrm>
          <a:prstGeom prst="rect">
            <a:avLst/>
          </a:prstGeom>
          <a:noFill/>
          <a:ln w="25400"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pic>
        <p:nvPicPr>
          <p:cNvPr id="82948" name="Picture 4"/>
          <p:cNvPicPr>
            <a:picLocks noChangeAspect="1"/>
          </p:cNvPicPr>
          <p:nvPr/>
        </p:nvPicPr>
        <p:blipFill>
          <a:blip r:embed="rId2"/>
          <a:stretch>
            <a:fillRect/>
          </a:stretch>
        </p:blipFill>
        <p:spPr>
          <a:xfrm>
            <a:off x="1416050" y="3000375"/>
            <a:ext cx="9093200" cy="3236913"/>
          </a:xfrm>
          <a:prstGeom prst="rect">
            <a:avLst/>
          </a:prstGeom>
          <a:noFill/>
          <a:ln w="50800" cap="flat" cmpd="thickThin">
            <a:solidFill>
              <a:srgbClr val="002060"/>
            </a:solidFill>
            <a:prstDash val="solid"/>
            <a:miter/>
            <a:headEnd type="none" w="med" len="med"/>
            <a:tailEnd type="none" w="med" len="med"/>
          </a:ln>
        </p:spPr>
      </p:pic>
      <p:sp>
        <p:nvSpPr>
          <p:cNvPr id="139275" name="Rectangle 11"/>
          <p:cNvSpPr/>
          <p:nvPr/>
        </p:nvSpPr>
        <p:spPr>
          <a:xfrm>
            <a:off x="1939925" y="3989388"/>
            <a:ext cx="4876800" cy="1506537"/>
          </a:xfrm>
          <a:prstGeom prst="rect">
            <a:avLst/>
          </a:prstGeom>
          <a:noFill/>
          <a:ln w="19050"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139276" name="Rectangle 11"/>
          <p:cNvSpPr/>
          <p:nvPr/>
        </p:nvSpPr>
        <p:spPr>
          <a:xfrm>
            <a:off x="1957388" y="5718175"/>
            <a:ext cx="4283075" cy="284163"/>
          </a:xfrm>
          <a:prstGeom prst="rect">
            <a:avLst/>
          </a:prstGeom>
          <a:noFill/>
          <a:ln w="19050"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endParaRPr lang="zh-CN" altLang="en-US" sz="3600" b="1" dirty="0">
              <a:ea typeface="宋体" pitchFamily="2" charset="-122"/>
            </a:endParaRPr>
          </a:p>
        </p:txBody>
      </p:sp>
      <p:sp>
        <p:nvSpPr>
          <p:cNvPr id="85002" name="灯片编号占位符 1"/>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82948"/>
                                        </p:tgtEl>
                                        <p:attrNameLst>
                                          <p:attrName>style.visibility</p:attrName>
                                        </p:attrNameLst>
                                      </p:cBhvr>
                                      <p:to>
                                        <p:strVal val="visible"/>
                                      </p:to>
                                    </p:set>
                                    <p:anim calcmode="lin" valueType="num">
                                      <p:cBhvr>
                                        <p:cTn id="12" dur="500" fill="hold"/>
                                        <p:tgtEl>
                                          <p:spTgt spid="82948"/>
                                        </p:tgtEl>
                                        <p:attrNameLst>
                                          <p:attrName>ppt_w</p:attrName>
                                        </p:attrNameLst>
                                      </p:cBhvr>
                                      <p:tavLst>
                                        <p:tav tm="0">
                                          <p:val>
                                            <p:fltVal val="0"/>
                                          </p:val>
                                        </p:tav>
                                        <p:tav tm="100000">
                                          <p:val>
                                            <p:strVal val="#ppt_w"/>
                                          </p:val>
                                        </p:tav>
                                      </p:tavLst>
                                    </p:anim>
                                    <p:anim calcmode="lin" valueType="num">
                                      <p:cBhvr>
                                        <p:cTn id="13" dur="500" fill="hold"/>
                                        <p:tgtEl>
                                          <p:spTgt spid="82948"/>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4" presetClass="entr" presetSubtype="0" fill="hold" grpId="0" nodeType="clickEffect">
                                  <p:stCondLst>
                                    <p:cond delay="0"/>
                                  </p:stCondLst>
                                  <p:childTnLst>
                                    <p:set>
                                      <p:cBhvr>
                                        <p:cTn id="17" dur="1" fill="hold">
                                          <p:stCondLst>
                                            <p:cond delay="0"/>
                                          </p:stCondLst>
                                        </p:cTn>
                                        <p:tgtEl>
                                          <p:spTgt spid="139275"/>
                                        </p:tgtEl>
                                        <p:attrNameLst>
                                          <p:attrName>style.visibility</p:attrName>
                                        </p:attrNameLst>
                                      </p:cBhvr>
                                      <p:to>
                                        <p:strVal val="visible"/>
                                      </p:to>
                                    </p:set>
                                    <p:anim from="(-#ppt_w/2)" to="(#ppt_x)" calcmode="lin" valueType="num">
                                      <p:cBhvr>
                                        <p:cTn id="18" dur="600" fill="hold">
                                          <p:stCondLst>
                                            <p:cond delay="0"/>
                                          </p:stCondLst>
                                        </p:cTn>
                                        <p:tgtEl>
                                          <p:spTgt spid="139275"/>
                                        </p:tgtEl>
                                        <p:attrNameLst>
                                          <p:attrName>ppt_x</p:attrName>
                                        </p:attrNameLst>
                                      </p:cBhvr>
                                    </p:anim>
                                    <p:anim from="0" to="-1.0" calcmode="lin" valueType="num">
                                      <p:cBhvr>
                                        <p:cTn id="19" dur="200" decel="50000" autoRev="1" fill="hold">
                                          <p:stCondLst>
                                            <p:cond delay="600"/>
                                          </p:stCondLst>
                                        </p:cTn>
                                        <p:tgtEl>
                                          <p:spTgt spid="139275"/>
                                        </p:tgtEl>
                                        <p:attrNameLst>
                                          <p:attrName>xshear</p:attrName>
                                        </p:attrNameLst>
                                      </p:cBhvr>
                                    </p:anim>
                                    <p:animScale>
                                      <p:cBhvr>
                                        <p:cTn id="20" dur="200" decel="100000" autoRev="1" fill="hold">
                                          <p:stCondLst>
                                            <p:cond delay="600"/>
                                          </p:stCondLst>
                                        </p:cTn>
                                        <p:tgtEl>
                                          <p:spTgt spid="139275"/>
                                        </p:tgtEl>
                                      </p:cBhvr>
                                      <p:from x="100000" y="100000"/>
                                      <p:to x="80000" y="100000"/>
                                    </p:animScale>
                                    <p:anim by="(#ppt_h/3+#ppt_w*0.1)" calcmode="lin" valueType="num">
                                      <p:cBhvr additive="sum">
                                        <p:cTn id="21" dur="200" decel="100000" autoRev="1" fill="hold">
                                          <p:stCondLst>
                                            <p:cond delay="600"/>
                                          </p:stCondLst>
                                        </p:cTn>
                                        <p:tgtEl>
                                          <p:spTgt spid="139275"/>
                                        </p:tgtEl>
                                        <p:attrNameLst>
                                          <p:attrName>ppt_x</p:attrName>
                                        </p:attrNameLst>
                                      </p:cBhvr>
                                    </p:anim>
                                  </p:childTnLst>
                                </p:cTn>
                              </p:par>
                            </p:childTnLst>
                          </p:cTn>
                        </p:par>
                      </p:childTnLst>
                    </p:cTn>
                  </p:par>
                  <p:par>
                    <p:cTn id="22" fill="hold">
                      <p:stCondLst>
                        <p:cond delay="indefinite"/>
                      </p:stCondLst>
                      <p:childTnLst>
                        <p:par>
                          <p:cTn id="23" fill="hold">
                            <p:stCondLst>
                              <p:cond delay="0"/>
                            </p:stCondLst>
                            <p:childTnLst>
                              <p:par>
                                <p:cTn id="24" presetID="34" presetClass="entr" presetSubtype="0" fill="hold" grpId="0" nodeType="clickEffect">
                                  <p:stCondLst>
                                    <p:cond delay="0"/>
                                  </p:stCondLst>
                                  <p:childTnLst>
                                    <p:set>
                                      <p:cBhvr>
                                        <p:cTn id="25" dur="1" fill="hold">
                                          <p:stCondLst>
                                            <p:cond delay="0"/>
                                          </p:stCondLst>
                                        </p:cTn>
                                        <p:tgtEl>
                                          <p:spTgt spid="139276"/>
                                        </p:tgtEl>
                                        <p:attrNameLst>
                                          <p:attrName>style.visibility</p:attrName>
                                        </p:attrNameLst>
                                      </p:cBhvr>
                                      <p:to>
                                        <p:strVal val="visible"/>
                                      </p:to>
                                    </p:set>
                                    <p:anim from="(-#ppt_w/2)" to="(#ppt_x)" calcmode="lin" valueType="num">
                                      <p:cBhvr>
                                        <p:cTn id="26" dur="600" fill="hold">
                                          <p:stCondLst>
                                            <p:cond delay="0"/>
                                          </p:stCondLst>
                                        </p:cTn>
                                        <p:tgtEl>
                                          <p:spTgt spid="139276"/>
                                        </p:tgtEl>
                                        <p:attrNameLst>
                                          <p:attrName>ppt_x</p:attrName>
                                        </p:attrNameLst>
                                      </p:cBhvr>
                                    </p:anim>
                                    <p:anim from="0" to="-1.0" calcmode="lin" valueType="num">
                                      <p:cBhvr>
                                        <p:cTn id="27" dur="200" decel="50000" autoRev="1" fill="hold">
                                          <p:stCondLst>
                                            <p:cond delay="600"/>
                                          </p:stCondLst>
                                        </p:cTn>
                                        <p:tgtEl>
                                          <p:spTgt spid="139276"/>
                                        </p:tgtEl>
                                        <p:attrNameLst>
                                          <p:attrName>xshear</p:attrName>
                                        </p:attrNameLst>
                                      </p:cBhvr>
                                    </p:anim>
                                    <p:animScale>
                                      <p:cBhvr>
                                        <p:cTn id="28" dur="200" decel="100000" autoRev="1" fill="hold">
                                          <p:stCondLst>
                                            <p:cond delay="600"/>
                                          </p:stCondLst>
                                        </p:cTn>
                                        <p:tgtEl>
                                          <p:spTgt spid="139276"/>
                                        </p:tgtEl>
                                      </p:cBhvr>
                                      <p:from x="100000" y="100000"/>
                                      <p:to x="80000" y="100000"/>
                                    </p:animScale>
                                    <p:anim by="(#ppt_h/3+#ppt_w*0.1)" calcmode="lin" valueType="num">
                                      <p:cBhvr additive="sum">
                                        <p:cTn id="29" dur="200" decel="100000" autoRev="1" fill="hold">
                                          <p:stCondLst>
                                            <p:cond delay="600"/>
                                          </p:stCondLst>
                                        </p:cTn>
                                        <p:tgtEl>
                                          <p:spTgt spid="13927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5" grpId="0" bldLvl="0" animBg="1"/>
      <p:bldP spid="139276"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p:cNvPicPr>
          <p:nvPr/>
        </p:nvPicPr>
        <p:blipFill>
          <a:blip r:embed="rId1">
            <a:clrChange>
              <a:clrFrom>
                <a:srgbClr val="FFFFFF"/>
              </a:clrFrom>
              <a:clrTo>
                <a:srgbClr val="FFFFFF">
                  <a:alpha val="0"/>
                </a:srgbClr>
              </a:clrTo>
            </a:clrChange>
          </a:blip>
          <a:stretch>
            <a:fillRect/>
          </a:stretch>
        </p:blipFill>
        <p:spPr>
          <a:xfrm>
            <a:off x="1336675" y="1412875"/>
            <a:ext cx="5773738" cy="1808163"/>
          </a:xfrm>
          <a:prstGeom prst="rect">
            <a:avLst/>
          </a:prstGeom>
          <a:noFill/>
          <a:ln w="12700">
            <a:noFill/>
          </a:ln>
        </p:spPr>
      </p:pic>
      <p:sp>
        <p:nvSpPr>
          <p:cNvPr id="87043" name="Rectangle 2"/>
          <p:cNvSpPr>
            <a:spLocks noGrp="1"/>
          </p:cNvSpPr>
          <p:nvPr>
            <p:ph type="title" idx="4294967295"/>
          </p:nvPr>
        </p:nvSpPr>
        <p:spPr/>
        <p:txBody>
          <a:bodyPr vert="horz" wrap="square" lIns="91440" tIns="45720" rIns="91440" bIns="45720" anchor="ctr" anchorCtr="0"/>
          <a:lstStyle/>
          <a:p>
            <a:r>
              <a:rPr lang="en-US" altLang="zh-CN" sz="4000" dirty="0">
                <a:sym typeface="+mn-ea"/>
              </a:rPr>
              <a:t>2.6 </a:t>
            </a:r>
            <a:r>
              <a:rPr lang="zh-CN" altLang="en-US" sz="4000" dirty="0">
                <a:sym typeface="+mn-ea"/>
              </a:rPr>
              <a:t>模块化程序设计</a:t>
            </a:r>
            <a:endParaRPr lang="en-US" altLang="zh-CN" sz="4000" dirty="0"/>
          </a:p>
        </p:txBody>
      </p:sp>
      <p:pic>
        <p:nvPicPr>
          <p:cNvPr id="83970" name="Picture 2"/>
          <p:cNvPicPr>
            <a:picLocks noChangeAspect="1"/>
          </p:cNvPicPr>
          <p:nvPr/>
        </p:nvPicPr>
        <p:blipFill>
          <a:blip r:embed="rId2"/>
          <a:stretch>
            <a:fillRect/>
          </a:stretch>
        </p:blipFill>
        <p:spPr>
          <a:xfrm>
            <a:off x="1608138" y="3286125"/>
            <a:ext cx="6340475" cy="977900"/>
          </a:xfrm>
          <a:prstGeom prst="rect">
            <a:avLst/>
          </a:prstGeom>
          <a:noFill/>
          <a:ln w="50800" cap="flat" cmpd="thickThin">
            <a:solidFill>
              <a:srgbClr val="002060"/>
            </a:solidFill>
            <a:prstDash val="solid"/>
            <a:miter/>
            <a:headEnd type="none" w="med" len="med"/>
            <a:tailEnd type="none" w="med" len="med"/>
          </a:ln>
        </p:spPr>
      </p:pic>
      <p:pic>
        <p:nvPicPr>
          <p:cNvPr id="75783" name="Picture 7"/>
          <p:cNvPicPr>
            <a:picLocks noChangeAspect="1"/>
          </p:cNvPicPr>
          <p:nvPr/>
        </p:nvPicPr>
        <p:blipFill>
          <a:blip r:embed="rId3"/>
          <a:stretch>
            <a:fillRect/>
          </a:stretch>
        </p:blipFill>
        <p:spPr>
          <a:xfrm>
            <a:off x="6075363" y="4071938"/>
            <a:ext cx="4741862" cy="2643187"/>
          </a:xfrm>
          <a:prstGeom prst="rect">
            <a:avLst/>
          </a:prstGeom>
          <a:noFill/>
          <a:ln w="50800" cap="flat" cmpd="thickThin">
            <a:solidFill>
              <a:srgbClr val="002060"/>
            </a:solidFill>
            <a:prstDash val="solid"/>
            <a:miter/>
            <a:headEnd type="none" w="med" len="med"/>
            <a:tailEnd type="none" w="med" len="med"/>
          </a:ln>
        </p:spPr>
      </p:pic>
      <p:sp>
        <p:nvSpPr>
          <p:cNvPr id="131104" name="AutoShape 32"/>
          <p:cNvSpPr>
            <a:spLocks noChangeArrowheads="1"/>
          </p:cNvSpPr>
          <p:nvPr/>
        </p:nvSpPr>
        <p:spPr bwMode="auto">
          <a:xfrm flipH="1">
            <a:off x="1506538" y="2468563"/>
            <a:ext cx="611188" cy="863600"/>
          </a:xfrm>
          <a:prstGeom prst="curvedLeftArrow">
            <a:avLst>
              <a:gd name="adj1" fmla="val 23806"/>
              <a:gd name="adj2" fmla="val 47618"/>
              <a:gd name="adj3" fmla="val 33333"/>
            </a:avLst>
          </a:prstGeom>
          <a:solidFill>
            <a:schemeClr val="accent1"/>
          </a:solidFill>
          <a:ln w="12700">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pic>
        <p:nvPicPr>
          <p:cNvPr id="93193" name="Picture 9"/>
          <p:cNvPicPr>
            <a:picLocks noChangeAspect="1"/>
          </p:cNvPicPr>
          <p:nvPr/>
        </p:nvPicPr>
        <p:blipFill>
          <a:blip r:embed="rId4"/>
          <a:stretch>
            <a:fillRect/>
          </a:stretch>
        </p:blipFill>
        <p:spPr>
          <a:xfrm>
            <a:off x="5394325" y="1341438"/>
            <a:ext cx="5510213" cy="1276350"/>
          </a:xfrm>
          <a:prstGeom prst="rect">
            <a:avLst/>
          </a:prstGeom>
          <a:noFill/>
          <a:ln w="57150" cap="flat" cmpd="thickThin">
            <a:solidFill>
              <a:srgbClr val="000080"/>
            </a:solidFill>
            <a:prstDash val="solid"/>
            <a:miter/>
            <a:headEnd type="none" w="med" len="med"/>
            <a:tailEnd type="none" w="med" len="med"/>
          </a:ln>
        </p:spPr>
      </p:pic>
      <p:sp>
        <p:nvSpPr>
          <p:cNvPr id="87048" name="AutoShape 32"/>
          <p:cNvSpPr/>
          <p:nvPr/>
        </p:nvSpPr>
        <p:spPr>
          <a:xfrm rot="2328215" flipH="1" flipV="1">
            <a:off x="4167188" y="1412875"/>
            <a:ext cx="523875" cy="1381125"/>
          </a:xfrm>
          <a:prstGeom prst="curvedLeftArrow">
            <a:avLst>
              <a:gd name="adj1" fmla="val 44438"/>
              <a:gd name="adj2" fmla="val 88892"/>
              <a:gd name="adj3" fmla="val 33333"/>
            </a:avLst>
          </a:prstGeom>
          <a:solidFill>
            <a:schemeClr val="accent1"/>
          </a:solidFill>
          <a:ln w="12700" cap="flat" cmpd="sng">
            <a:solidFill>
              <a:schemeClr val="tx1"/>
            </a:solidFill>
            <a:prstDash val="solid"/>
            <a:miter/>
            <a:headEnd type="none" w="sm" len="sm"/>
            <a:tailEnd type="none" w="sm" len="sm"/>
          </a:ln>
        </p:spPr>
        <p:txBody>
          <a:bodyPr rot="10800000" wrap="none" anchor="ctr" anchorCtr="0"/>
          <a:lstStyle/>
          <a:p>
            <a:pPr>
              <a:lnSpc>
                <a:spcPct val="90000"/>
              </a:lnSpc>
              <a:spcBef>
                <a:spcPts val="590"/>
              </a:spcBef>
              <a:spcAft>
                <a:spcPts val="590"/>
              </a:spcAft>
              <a:buClr>
                <a:schemeClr val="tx2"/>
              </a:buClr>
              <a:buSzPct val="80000"/>
              <a:buNone/>
            </a:pPr>
            <a:endParaRPr lang="zh-CN" altLang="en-US" dirty="0">
              <a:effectLst>
                <a:outerShdw blurRad="38100" dist="38100" dir="2700000">
                  <a:srgbClr val="FFFFFF"/>
                </a:outerShdw>
              </a:effectLst>
              <a:latin typeface="Arial" panose="020B0604020202090204" pitchFamily="34" charset="0"/>
            </a:endParaRPr>
          </a:p>
        </p:txBody>
      </p:sp>
      <p:sp>
        <p:nvSpPr>
          <p:cNvPr id="3" name="AutoShape 32"/>
          <p:cNvSpPr>
            <a:spLocks noChangeArrowheads="1"/>
          </p:cNvSpPr>
          <p:nvPr/>
        </p:nvSpPr>
        <p:spPr bwMode="auto">
          <a:xfrm flipH="1">
            <a:off x="5327650" y="3141663"/>
            <a:ext cx="611188" cy="1150938"/>
          </a:xfrm>
          <a:prstGeom prst="curvedLeftArrow">
            <a:avLst>
              <a:gd name="adj1" fmla="val 23806"/>
              <a:gd name="adj2" fmla="val 47618"/>
              <a:gd name="adj3" fmla="val 33333"/>
            </a:avLst>
          </a:prstGeom>
          <a:solidFill>
            <a:schemeClr val="accent1"/>
          </a:solidFill>
          <a:ln w="12700">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56335" name="Text Box 16"/>
          <p:cNvSpPr txBox="1"/>
          <p:nvPr/>
        </p:nvSpPr>
        <p:spPr>
          <a:xfrm>
            <a:off x="2063750" y="4941888"/>
            <a:ext cx="3246438" cy="935037"/>
          </a:xfrm>
          <a:prstGeom prst="rect">
            <a:avLst/>
          </a:prstGeom>
          <a:solidFill>
            <a:srgbClr val="FFFFCC"/>
          </a:solidFill>
          <a:ln w="9525"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1" indent="0">
              <a:lnSpc>
                <a:spcPct val="120000"/>
              </a:lnSpc>
              <a:spcBef>
                <a:spcPct val="20000"/>
              </a:spcBef>
              <a:spcAft>
                <a:spcPts val="590"/>
              </a:spcAft>
              <a:buClr>
                <a:srgbClr val="FFCC66"/>
              </a:buClr>
              <a:buSzPct val="115000"/>
              <a:buNone/>
            </a:pPr>
            <a:r>
              <a:rPr lang="zh-CN" altLang="en-US" sz="2400" b="1" dirty="0">
                <a:solidFill>
                  <a:srgbClr val="000066"/>
                </a:solidFill>
              </a:rPr>
              <a:t>参数被声明为</a:t>
            </a:r>
            <a:r>
              <a:rPr lang="en-US" altLang="zh-CN" sz="2400" b="1" dirty="0">
                <a:solidFill>
                  <a:srgbClr val="000066"/>
                </a:solidFill>
                <a:ea typeface="宋体" pitchFamily="2" charset="-122"/>
              </a:rPr>
              <a:t>const</a:t>
            </a:r>
            <a:r>
              <a:rPr lang="zh-CN" altLang="en-US" sz="2400" b="1" dirty="0">
                <a:solidFill>
                  <a:srgbClr val="000066"/>
                </a:solidFill>
                <a:ea typeface="宋体" pitchFamily="2" charset="-122"/>
              </a:rPr>
              <a:t>，保护参数不被改写</a:t>
            </a:r>
            <a:endParaRPr lang="en-US" altLang="zh-CN" sz="2400" b="1" dirty="0">
              <a:solidFill>
                <a:srgbClr val="000066"/>
              </a:solidFill>
              <a:ea typeface="宋体" pitchFamily="2" charset="-122"/>
            </a:endParaRPr>
          </a:p>
        </p:txBody>
      </p:sp>
      <p:sp>
        <p:nvSpPr>
          <p:cNvPr id="87051" name="灯片编号占位符 3"/>
          <p:cNvSpPr txBox="1">
            <a:spLocks noGrp="1"/>
          </p:cNvSpPr>
          <p:nvPr>
            <p:ph type="sldNum" sz="quarter" idx="4"/>
          </p:nvPr>
        </p:nvSpPr>
        <p:spPr>
          <a:ln>
            <a:noFill/>
          </a:ln>
        </p:spPr>
        <p:txBody>
          <a:bodyPr lIns="45720" rIns="45720" anchor="ctr" anchorCtr="0"/>
          <a:lstStyle/>
          <a:p>
            <a:pPr marL="0" indent="0" algn="ctr" eaLnBrk="1" hangingPunct="1">
              <a:lnSpc>
                <a:spcPct val="90000"/>
              </a:lnSpc>
              <a:spcBef>
                <a:spcPts val="590"/>
              </a:spcBef>
              <a:spcAft>
                <a:spcPts val="590"/>
              </a:spcAft>
              <a:buSzPct val="80000"/>
              <a:buNone/>
            </a:pPr>
            <a:fld id="{9A0DB2DC-4C9A-4742-B13C-FB6460FD3503}" type="slidenum">
              <a:rPr lang="en-US" altLang="zh-CN" sz="1100" dirty="0">
                <a:solidFill>
                  <a:srgbClr val="636363"/>
                </a:solidFill>
                <a:ea typeface="宋体" pitchFamily="2" charset="-122"/>
              </a:rPr>
            </a:fld>
            <a:endParaRPr lang="zh-CN" altLang="en-US" sz="1100" dirty="0">
              <a:solidFill>
                <a:srgbClr val="636363"/>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1104"/>
                                        </p:tgtEl>
                                        <p:attrNameLst>
                                          <p:attrName>style.visibility</p:attrName>
                                        </p:attrNameLst>
                                      </p:cBhvr>
                                      <p:to>
                                        <p:strVal val="visible"/>
                                      </p:to>
                                    </p:set>
                                    <p:animEffect transition="in" filter="wipe(up)">
                                      <p:cBhvr>
                                        <p:cTn id="7" dur="500"/>
                                        <p:tgtEl>
                                          <p:spTgt spid="13110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83970"/>
                                        </p:tgtEl>
                                        <p:attrNameLst>
                                          <p:attrName>style.visibility</p:attrName>
                                        </p:attrNameLst>
                                      </p:cBhvr>
                                      <p:to>
                                        <p:strVal val="visible"/>
                                      </p:to>
                                    </p:set>
                                    <p:anim calcmode="lin" valueType="num">
                                      <p:cBhvr>
                                        <p:cTn id="12" dur="500" fill="hold"/>
                                        <p:tgtEl>
                                          <p:spTgt spid="83970"/>
                                        </p:tgtEl>
                                        <p:attrNameLst>
                                          <p:attrName>ppt_w</p:attrName>
                                        </p:attrNameLst>
                                      </p:cBhvr>
                                      <p:tavLst>
                                        <p:tav tm="0">
                                          <p:val>
                                            <p:fltVal val="0"/>
                                          </p:val>
                                        </p:tav>
                                        <p:tav tm="100000">
                                          <p:val>
                                            <p:strVal val="#ppt_w"/>
                                          </p:val>
                                        </p:tav>
                                      </p:tavLst>
                                    </p:anim>
                                    <p:anim calcmode="lin" valueType="num">
                                      <p:cBhvr>
                                        <p:cTn id="13" dur="500" fill="hold"/>
                                        <p:tgtEl>
                                          <p:spTgt spid="83970"/>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7048"/>
                                        </p:tgtEl>
                                        <p:attrNameLst>
                                          <p:attrName>style.visibility</p:attrName>
                                        </p:attrNameLst>
                                      </p:cBhvr>
                                      <p:to>
                                        <p:strVal val="visible"/>
                                      </p:to>
                                    </p:set>
                                    <p:animEffect transition="in" filter="wipe(down)">
                                      <p:cBhvr>
                                        <p:cTn id="18" dur="500"/>
                                        <p:tgtEl>
                                          <p:spTgt spid="87048"/>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93193"/>
                                        </p:tgtEl>
                                        <p:attrNameLst>
                                          <p:attrName>style.visibility</p:attrName>
                                        </p:attrNameLst>
                                      </p:cBhvr>
                                      <p:to>
                                        <p:strVal val="visible"/>
                                      </p:to>
                                    </p:set>
                                    <p:anim calcmode="lin" valueType="num">
                                      <p:cBhvr>
                                        <p:cTn id="23" dur="500" fill="hold"/>
                                        <p:tgtEl>
                                          <p:spTgt spid="93193"/>
                                        </p:tgtEl>
                                        <p:attrNameLst>
                                          <p:attrName>ppt_w</p:attrName>
                                        </p:attrNameLst>
                                      </p:cBhvr>
                                      <p:tavLst>
                                        <p:tav tm="0">
                                          <p:val>
                                            <p:fltVal val="0"/>
                                          </p:val>
                                        </p:tav>
                                        <p:tav tm="100000">
                                          <p:val>
                                            <p:strVal val="#ppt_w"/>
                                          </p:val>
                                        </p:tav>
                                      </p:tavLst>
                                    </p:anim>
                                    <p:anim calcmode="lin" valueType="num">
                                      <p:cBhvr>
                                        <p:cTn id="24" dur="500" fill="hold"/>
                                        <p:tgtEl>
                                          <p:spTgt spid="93193"/>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nodeType="clickEffect">
                                  <p:stCondLst>
                                    <p:cond delay="0"/>
                                  </p:stCondLst>
                                  <p:childTnLst>
                                    <p:set>
                                      <p:cBhvr>
                                        <p:cTn id="33" dur="1" fill="hold">
                                          <p:stCondLst>
                                            <p:cond delay="0"/>
                                          </p:stCondLst>
                                        </p:cTn>
                                        <p:tgtEl>
                                          <p:spTgt spid="75783"/>
                                        </p:tgtEl>
                                        <p:attrNameLst>
                                          <p:attrName>style.visibility</p:attrName>
                                        </p:attrNameLst>
                                      </p:cBhvr>
                                      <p:to>
                                        <p:strVal val="visible"/>
                                      </p:to>
                                    </p:set>
                                    <p:anim calcmode="lin" valueType="num">
                                      <p:cBhvr>
                                        <p:cTn id="34" dur="500" fill="hold"/>
                                        <p:tgtEl>
                                          <p:spTgt spid="75783"/>
                                        </p:tgtEl>
                                        <p:attrNameLst>
                                          <p:attrName>ppt_w</p:attrName>
                                        </p:attrNameLst>
                                      </p:cBhvr>
                                      <p:tavLst>
                                        <p:tav tm="0">
                                          <p:val>
                                            <p:fltVal val="0"/>
                                          </p:val>
                                        </p:tav>
                                        <p:tav tm="100000">
                                          <p:val>
                                            <p:strVal val="#ppt_w"/>
                                          </p:val>
                                        </p:tav>
                                      </p:tavLst>
                                    </p:anim>
                                    <p:anim calcmode="lin" valueType="num">
                                      <p:cBhvr>
                                        <p:cTn id="35" dur="500" fill="hold"/>
                                        <p:tgtEl>
                                          <p:spTgt spid="75783"/>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56335"/>
                                        </p:tgtEl>
                                        <p:attrNameLst>
                                          <p:attrName>style.visibility</p:attrName>
                                        </p:attrNameLst>
                                      </p:cBhvr>
                                      <p:to>
                                        <p:strVal val="visible"/>
                                      </p:to>
                                    </p:set>
                                    <p:anim calcmode="lin" valueType="num">
                                      <p:cBhvr additive="base">
                                        <p:cTn id="40" dur="500" fill="hold"/>
                                        <p:tgtEl>
                                          <p:spTgt spid="56335"/>
                                        </p:tgtEl>
                                        <p:attrNameLst>
                                          <p:attrName>ppt_x</p:attrName>
                                        </p:attrNameLst>
                                      </p:cBhvr>
                                      <p:tavLst>
                                        <p:tav tm="0">
                                          <p:val>
                                            <p:strVal val="#ppt_x"/>
                                          </p:val>
                                        </p:tav>
                                        <p:tav tm="100000">
                                          <p:val>
                                            <p:strVal val="#ppt_x"/>
                                          </p:val>
                                        </p:tav>
                                      </p:tavLst>
                                    </p:anim>
                                    <p:anim calcmode="lin" valueType="num">
                                      <p:cBhvr additive="base">
                                        <p:cTn id="41" dur="500" fill="hold"/>
                                        <p:tgtEl>
                                          <p:spTgt spid="563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04" grpId="0" bldLvl="0" animBg="1"/>
      <p:bldP spid="87048" grpId="0" bldLvl="0" animBg="1"/>
      <p:bldP spid="3" grpId="0" bldLvl="0" animBg="1"/>
      <p:bldP spid="5633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3"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2.7 </a:t>
            </a:r>
            <a:r>
              <a:rPr lang="zh-CN" altLang="en-US" kern="1200" dirty="0">
                <a:latin typeface="Arial" panose="020B0604020202090204" pitchFamily="34" charset="0"/>
                <a:ea typeface="黑体" panose="02010609060101010101" pitchFamily="49" charset="-122"/>
                <a:cs typeface="Arial" panose="020B0604020202090204" pitchFamily="34" charset="0"/>
              </a:rPr>
              <a:t>预编译指令</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1571625" y="1414463"/>
            <a:ext cx="9126538" cy="5183187"/>
          </a:xfrm>
        </p:spPr>
        <p:txBody>
          <a:bodyPr vert="horz" wrap="square" lIns="91440" tIns="45720" rIns="91440" bIns="45720" anchor="t" anchorCtr="0"/>
          <a:lstStyle/>
          <a:p>
            <a:pPr>
              <a:spcAft>
                <a:spcPct val="0"/>
              </a:spcAft>
              <a:buSzPct val="50000"/>
            </a:pPr>
            <a:r>
              <a:rPr lang="zh-CN" altLang="en-US" sz="3200" kern="1200" dirty="0">
                <a:latin typeface="Times New Roman" panose="02020503050405090304" pitchFamily="18" charset="0"/>
                <a:ea typeface="黑体" panose="02010609060101010101" pitchFamily="49" charset="-122"/>
                <a:cs typeface="+mn-cs"/>
              </a:rPr>
              <a:t>举例：</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#include &lt;stdio.h&gt;</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lvl="1">
              <a:spcAft>
                <a:spcPct val="0"/>
              </a:spcAft>
              <a:buSzPct val="50000"/>
            </a:pP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#define MAX 100</a:t>
            </a:r>
            <a:endParaRPr lang="en-US" altLang="zh-CN" kern="1200" dirty="0">
              <a:latin typeface="黑体" panose="02010609060101010101" pitchFamily="49" charset="-122"/>
              <a:ea typeface="黑体" panose="02010609060101010101" pitchFamily="49" charset="-122"/>
              <a:cs typeface="Times New Roman" panose="02020503050405090304" pitchFamily="18" charset="0"/>
            </a:endParaRPr>
          </a:p>
          <a:p>
            <a:pPr>
              <a:spcAft>
                <a:spcPct val="0"/>
              </a:spcAft>
              <a:buSzPct val="50000"/>
            </a:pPr>
            <a:r>
              <a:rPr lang="zh-CN" altLang="en-US" kern="1200" dirty="0">
                <a:latin typeface="Times New Roman" panose="02020503050405090304" pitchFamily="18" charset="0"/>
                <a:ea typeface="黑体" panose="02010609060101010101" pitchFamily="49" charset="-122"/>
                <a:cs typeface="+mn-cs"/>
              </a:rPr>
              <a:t>预编译不是编译器的组成部分，但是它是编译过程中一个单独的步骤，是一个文本替换工具，它们会指示编译器在实际编译之前完成所需的预处理。</a:t>
            </a:r>
            <a:endParaRPr lang="zh-CN" altLang="en-US" kern="1200" dirty="0">
              <a:latin typeface="Times New Roman" panose="02020503050405090304" pitchFamily="18" charset="0"/>
              <a:ea typeface="黑体" panose="02010609060101010101" pitchFamily="49" charset="-122"/>
              <a:cs typeface="+mn-cs"/>
            </a:endParaRPr>
          </a:p>
          <a:p>
            <a:pPr>
              <a:spcAft>
                <a:spcPct val="0"/>
              </a:spcAft>
              <a:buSzPct val="50000"/>
            </a:pPr>
            <a:r>
              <a:rPr lang="zh-CN" altLang="en-US" kern="1200" dirty="0">
                <a:latin typeface="Times New Roman" panose="02020503050405090304" pitchFamily="18" charset="0"/>
                <a:ea typeface="黑体" panose="02010609060101010101" pitchFamily="49" charset="-122"/>
                <a:cs typeface="+mn-cs"/>
              </a:rPr>
              <a:t>以井号（</a:t>
            </a:r>
            <a:r>
              <a:rPr lang="en-US" altLang="zh-CN" kern="1200" dirty="0">
                <a:latin typeface="Times New Roman" panose="02020503050405090304" pitchFamily="18" charset="0"/>
                <a:ea typeface="黑体" panose="02010609060101010101" pitchFamily="49" charset="-122"/>
                <a:cs typeface="+mn-cs"/>
              </a:rPr>
              <a:t>#</a:t>
            </a:r>
            <a:r>
              <a:rPr lang="zh-CN" altLang="en-US" kern="1200" dirty="0">
                <a:latin typeface="Times New Roman" panose="02020503050405090304" pitchFamily="18" charset="0"/>
                <a:ea typeface="黑体" panose="02010609060101010101" pitchFamily="49" charset="-122"/>
                <a:cs typeface="+mn-cs"/>
              </a:rPr>
              <a:t>）开头。它必须是第一个非空字符，为了增强可读性，预处理器指令应从第一列开始。</a:t>
            </a:r>
            <a:endParaRPr lang="en-US" altLang="zh-CN" kern="1200" dirty="0">
              <a:latin typeface="Times New Roman" panose="02020503050405090304" pitchFamily="18" charset="0"/>
              <a:ea typeface="Times New Roman" panose="02020503050405090304" pitchFamily="18" charset="0"/>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81635">
                                            <p:txEl>
                                              <p:pRg st="2" end="2"/>
                                            </p:txEl>
                                          </p:spTgt>
                                        </p:tgtEl>
                                        <p:attrNameLst>
                                          <p:attrName>style.visibility</p:attrName>
                                        </p:attrNameLst>
                                      </p:cBhvr>
                                      <p:to>
                                        <p:strVal val="visible"/>
                                      </p:to>
                                    </p:set>
                                    <p:animEffect transition="in" filter="wipe(left)">
                                      <p:cBhvr>
                                        <p:cTn id="13" dur="500"/>
                                        <p:tgtEl>
                                          <p:spTgt spid="58163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Effect transition="in" filter="wipe(left)">
                                      <p:cBhvr>
                                        <p:cTn id="18" dur="500"/>
                                        <p:tgtEl>
                                          <p:spTgt spid="5816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81635">
                                            <p:txEl>
                                              <p:pRg st="4" end="4"/>
                                            </p:txEl>
                                          </p:spTgt>
                                        </p:tgtEl>
                                        <p:attrNameLst>
                                          <p:attrName>style.visibility</p:attrName>
                                        </p:attrNameLst>
                                      </p:cBhvr>
                                      <p:to>
                                        <p:strVal val="visible"/>
                                      </p:to>
                                    </p:set>
                                    <p:animEffect transition="in" filter="wipe(left)">
                                      <p:cBhvr>
                                        <p:cTn id="23" dur="500"/>
                                        <p:tgtEl>
                                          <p:spTgt spid="581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7"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2.7 </a:t>
            </a:r>
            <a:r>
              <a:rPr lang="zh-CN" altLang="en-US" kern="1200" dirty="0">
                <a:latin typeface="Arial" panose="020B0604020202090204" pitchFamily="34" charset="0"/>
                <a:ea typeface="黑体" panose="02010609060101010101" pitchFamily="49" charset="-122"/>
                <a:cs typeface="Arial" panose="020B0604020202090204" pitchFamily="34" charset="0"/>
              </a:rPr>
              <a:t>预编译指令</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1571625" y="1414463"/>
            <a:ext cx="9126538" cy="5183187"/>
          </a:xfrm>
        </p:spPr>
        <p:txBody>
          <a:bodyPr vert="horz" wrap="square" lIns="91440" tIns="45720" rIns="91440" bIns="45720" anchor="t" anchorCtr="0"/>
          <a:lstStyle/>
          <a:p>
            <a:pPr marL="0" indent="0">
              <a:spcAft>
                <a:spcPct val="0"/>
              </a:spcAft>
              <a:buSzPct val="50000"/>
              <a:buFont typeface="Wingdings" panose="05000000000000000000" pitchFamily="2" charset="2"/>
              <a:buNone/>
            </a:pPr>
            <a:r>
              <a:rPr lang="zh-CN" altLang="en-US" kern="1200" dirty="0">
                <a:latin typeface="Times New Roman" panose="02020503050405090304" pitchFamily="18" charset="0"/>
                <a:ea typeface="黑体" panose="02010609060101010101" pitchFamily="49" charset="-122"/>
                <a:cs typeface="+mn-cs"/>
              </a:rPr>
              <a:t>文件包含</a:t>
            </a:r>
            <a:r>
              <a:rPr lang="en-US" altLang="zh-CN" kern="1200" dirty="0">
                <a:latin typeface="Times New Roman" panose="02020503050405090304" pitchFamily="18" charset="0"/>
                <a:ea typeface="黑体" panose="02010609060101010101" pitchFamily="49" charset="-122"/>
                <a:cs typeface="+mn-cs"/>
              </a:rPr>
              <a:t>: #include </a:t>
            </a:r>
            <a:endParaRPr lang="en-US" altLang="zh-CN"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是一种最为常见的预处理，主要是做为文件的引用组合源程序正文。</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lvl="1">
              <a:spcAft>
                <a:spcPct val="0"/>
              </a:spcAft>
              <a:buSzPct val="50000"/>
            </a:pPr>
            <a:r>
              <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rPr>
              <a:t>#include &lt;stdio.h&gt;</a:t>
            </a:r>
            <a:endPar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endParaRPr>
          </a:p>
          <a:p>
            <a:pPr lvl="1">
              <a:spcAft>
                <a:spcPct val="0"/>
              </a:spcAft>
              <a:buSzPct val="50000"/>
            </a:pPr>
            <a:r>
              <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rPr>
              <a:t>#include &lt;math.h&gt;</a:t>
            </a:r>
            <a:endPar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endParaRPr>
          </a:p>
          <a:p>
            <a:pPr lvl="1">
              <a:spcAft>
                <a:spcPct val="0"/>
              </a:spcAft>
              <a:buSzPct val="50000"/>
            </a:pPr>
            <a:r>
              <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rPr>
              <a:t>#include &lt;stdlib.h&gt;</a:t>
            </a:r>
            <a:endParaRPr lang="en-US" altLang="zh-CN" sz="2000" kern="12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91139" name="文本框 1"/>
          <p:cNvSpPr txBox="1"/>
          <p:nvPr/>
        </p:nvSpPr>
        <p:spPr>
          <a:xfrm>
            <a:off x="1487488" y="4437063"/>
            <a:ext cx="9066212" cy="2376487"/>
          </a:xfrm>
          <a:prstGeom prst="rect">
            <a:avLst/>
          </a:prstGeom>
          <a:noFill/>
          <a:ln w="9525">
            <a:noFill/>
          </a:ln>
        </p:spPr>
        <p:txBody>
          <a:bodyPr wrap="square" anchor="t" anchorCtr="0">
            <a:spAutoFit/>
          </a:bodyPr>
          <a:lstStyle/>
          <a:p>
            <a:pPr eaLnBrk="0" hangingPunct="0">
              <a:buSzPct val="50000"/>
            </a:pPr>
            <a:r>
              <a:rPr lang="zh-CN" altLang="en-US" sz="2800" dirty="0">
                <a:latin typeface="Times New Roman" panose="02020503050405090304" pitchFamily="18" charset="0"/>
                <a:ea typeface="黑体" panose="02010609060101010101" pitchFamily="49" charset="-122"/>
              </a:rPr>
              <a:t>宏替换</a:t>
            </a:r>
            <a:r>
              <a:rPr lang="en-US" altLang="zh-CN" sz="2800" dirty="0">
                <a:latin typeface="Times New Roman" panose="02020503050405090304" pitchFamily="18" charset="0"/>
                <a:ea typeface="黑体" panose="02010609060101010101" pitchFamily="49" charset="-122"/>
              </a:rPr>
              <a:t>: #define</a:t>
            </a:r>
            <a:endParaRPr lang="en-US" altLang="zh-CN" sz="2800" dirty="0">
              <a:latin typeface="Times New Roman" panose="02020503050405090304" pitchFamily="18" charset="0"/>
              <a:ea typeface="黑体" panose="02010609060101010101" pitchFamily="49" charset="-122"/>
            </a:endParaRPr>
          </a:p>
          <a:p>
            <a:pPr marL="742950" lvl="1" indent="-285750" algn="l" eaLnBrk="0" hangingPunct="0">
              <a:lnSpc>
                <a:spcPct val="120000"/>
              </a:lnSpc>
              <a:spcBef>
                <a:spcPts val="600"/>
              </a:spcBef>
              <a:buClr>
                <a:schemeClr val="tx2"/>
              </a:buClr>
              <a:buSzPct val="50000"/>
              <a:buChar char="Þ"/>
            </a:pPr>
            <a:r>
              <a:rPr lang="zh-CN" altLang="en-US" sz="2400" dirty="0">
                <a:solidFill>
                  <a:srgbClr val="333399"/>
                </a:solidFill>
                <a:latin typeface="Times New Roman" panose="02020503050405090304" pitchFamily="18" charset="0"/>
                <a:ea typeface="黑体" panose="02010609060101010101" pitchFamily="49" charset="-122"/>
              </a:rPr>
              <a:t>可以定义符号常量、函数功能、重新命名、字符串的拼接等各种功能</a:t>
            </a:r>
            <a:endParaRPr lang="zh-CN" altLang="en-US" sz="2400" dirty="0">
              <a:solidFill>
                <a:srgbClr val="333399"/>
              </a:solidFill>
              <a:latin typeface="Times New Roman" panose="02020503050405090304" pitchFamily="18" charset="0"/>
              <a:ea typeface="黑体" panose="02010609060101010101" pitchFamily="49" charset="-122"/>
            </a:endParaRPr>
          </a:p>
          <a:p>
            <a:pPr marL="742950" lvl="1" indent="-285750" algn="l" eaLnBrk="0" hangingPunct="0">
              <a:lnSpc>
                <a:spcPct val="120000"/>
              </a:lnSpc>
              <a:spcBef>
                <a:spcPts val="600"/>
              </a:spcBef>
              <a:buClr>
                <a:schemeClr val="tx2"/>
              </a:buClr>
              <a:buSzPct val="50000"/>
              <a:buChar char="Þ"/>
            </a:pPr>
            <a:r>
              <a:rPr lang="zh-CN" altLang="en-US" dirty="0">
                <a:solidFill>
                  <a:srgbClr val="333399"/>
                </a:solidFill>
                <a:latin typeface="Times New Roman" panose="02020503050405090304" pitchFamily="18" charset="0"/>
                <a:ea typeface="黑体" panose="02010609060101010101" pitchFamily="49" charset="-122"/>
              </a:rPr>
              <a:t>#define MAX 100</a:t>
            </a:r>
            <a:endParaRPr lang="zh-CN" altLang="en-US" dirty="0">
              <a:solidFill>
                <a:srgbClr val="333399"/>
              </a:solidFill>
              <a:latin typeface="Times New Roman" panose="02020503050405090304" pitchFamily="18" charset="0"/>
              <a:ea typeface="黑体" panose="02010609060101010101" pitchFamily="49" charset="-122"/>
            </a:endParaRPr>
          </a:p>
          <a:p>
            <a:pPr marL="742950" lvl="1" indent="-285750" algn="l" eaLnBrk="0" hangingPunct="0">
              <a:lnSpc>
                <a:spcPct val="120000"/>
              </a:lnSpc>
              <a:spcBef>
                <a:spcPts val="600"/>
              </a:spcBef>
              <a:buClr>
                <a:schemeClr val="tx2"/>
              </a:buClr>
              <a:buSzPct val="50000"/>
              <a:buChar char="Þ"/>
            </a:pPr>
            <a:r>
              <a:rPr lang="zh-CN" altLang="en-US" dirty="0">
                <a:solidFill>
                  <a:srgbClr val="333399"/>
                </a:solidFill>
                <a:latin typeface="Times New Roman" panose="02020503050405090304" pitchFamily="18" charset="0"/>
                <a:ea typeface="黑体" panose="02010609060101010101" pitchFamily="49" charset="-122"/>
              </a:rPr>
              <a:t>#define SQUARE(x)  ((x)*(x))</a:t>
            </a:r>
            <a:endParaRPr lang="zh-CN" altLang="en-US" dirty="0">
              <a:solidFill>
                <a:srgbClr val="333399"/>
              </a:solidFill>
              <a:latin typeface="Times New Roman" panose="02020503050405090304" pitchFamily="18" charset="0"/>
              <a:ea typeface="黑体" panose="02010609060101010101" pitchFamily="49" charset="-122"/>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81635">
                                            <p:txEl>
                                              <p:pRg st="2" end="2"/>
                                            </p:txEl>
                                          </p:spTgt>
                                        </p:tgtEl>
                                        <p:attrNameLst>
                                          <p:attrName>style.visibility</p:attrName>
                                        </p:attrNameLst>
                                      </p:cBhvr>
                                      <p:to>
                                        <p:strVal val="visible"/>
                                      </p:to>
                                    </p:set>
                                    <p:animEffect transition="in" filter="wipe(left)">
                                      <p:cBhvr>
                                        <p:cTn id="13" dur="500"/>
                                        <p:tgtEl>
                                          <p:spTgt spid="58163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81635">
                                            <p:txEl>
                                              <p:pRg st="3" end="3"/>
                                            </p:txEl>
                                          </p:spTgt>
                                        </p:tgtEl>
                                        <p:attrNameLst>
                                          <p:attrName>style.visibility</p:attrName>
                                        </p:attrNameLst>
                                      </p:cBhvr>
                                      <p:to>
                                        <p:strVal val="visible"/>
                                      </p:to>
                                    </p:set>
                                    <p:animEffect transition="in" filter="wipe(left)">
                                      <p:cBhvr>
                                        <p:cTn id="16" dur="500"/>
                                        <p:tgtEl>
                                          <p:spTgt spid="58163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81635">
                                            <p:txEl>
                                              <p:pRg st="4" end="4"/>
                                            </p:txEl>
                                          </p:spTgt>
                                        </p:tgtEl>
                                        <p:attrNameLst>
                                          <p:attrName>style.visibility</p:attrName>
                                        </p:attrNameLst>
                                      </p:cBhvr>
                                      <p:to>
                                        <p:strVal val="visible"/>
                                      </p:to>
                                    </p:set>
                                    <p:animEffect transition="in" filter="wipe(left)">
                                      <p:cBhvr>
                                        <p:cTn id="19" dur="500"/>
                                        <p:tgtEl>
                                          <p:spTgt spid="581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1"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695325" y="1414463"/>
            <a:ext cx="11088688" cy="5183187"/>
          </a:xfrm>
        </p:spPr>
        <p:txBody>
          <a:bodyPr vert="horz" wrap="square" lIns="91440" tIns="45720" rIns="91440" bIns="45720" anchor="t" anchorCtr="0"/>
          <a:lstStyle/>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1.</a:t>
            </a:r>
            <a:r>
              <a:rPr lang="zh-CN" altLang="en-US" sz="3200" kern="1200" dirty="0">
                <a:latin typeface="Times New Roman" panose="02020503050405090304" pitchFamily="18" charset="0"/>
                <a:ea typeface="黑体" panose="02010609060101010101" pitchFamily="49" charset="-122"/>
                <a:cs typeface="+mn-cs"/>
              </a:rPr>
              <a:t>模块化设计</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将实现特定功能的代码封装成函数或模块，这样当需要使用该功能时，可以直接调用，而不需要重复编写代码。这有助于减少代码几余，提高代码的复用性。</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2.</a:t>
            </a:r>
            <a:r>
              <a:rPr lang="zh-CN" altLang="en-US" sz="3200" kern="1200" dirty="0">
                <a:latin typeface="Times New Roman" panose="02020503050405090304" pitchFamily="18" charset="0"/>
                <a:ea typeface="黑体" panose="02010609060101010101" pitchFamily="49" charset="-122"/>
                <a:cs typeface="+mn-cs"/>
              </a:rPr>
              <a:t>清晰的命名</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变量、函数和模块的命名应该清晰、准确，能够直观地反映其作用和用途。避免使用模糊不清或者过于简化的命名，这样可以大大提高代码的可读性。</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5016500" y="5437188"/>
            <a:ext cx="1530350" cy="1319212"/>
          </a:xfrm>
          <a:prstGeom prst="rect">
            <a:avLst/>
          </a:prstGeom>
          <a:noFill/>
          <a:ln w="9525">
            <a:noFill/>
          </a:ln>
        </p:spPr>
      </p:pic>
      <p:pic>
        <p:nvPicPr>
          <p:cNvPr id="5" name="图片 4"/>
          <p:cNvPicPr>
            <a:picLocks noChangeAspect="1"/>
          </p:cNvPicPr>
          <p:nvPr/>
        </p:nvPicPr>
        <p:blipFill>
          <a:blip r:embed="rId2"/>
          <a:stretch>
            <a:fillRect/>
          </a:stretch>
        </p:blipFill>
        <p:spPr>
          <a:xfrm>
            <a:off x="6743700" y="6251575"/>
            <a:ext cx="1692275" cy="519113"/>
          </a:xfrm>
          <a:prstGeom prst="rect">
            <a:avLst/>
          </a:prstGeom>
          <a:noFill/>
          <a:ln w="9525">
            <a:noFill/>
          </a:ln>
        </p:spPr>
      </p:pic>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animEffect transition="in" filter="wipe(left)">
                                      <p:cBhvr>
                                        <p:cTn id="15" dur="500"/>
                                        <p:tgtEl>
                                          <p:spTgt spid="58163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Effect transition="in" filter="wipe(left)">
                                      <p:cBhvr>
                                        <p:cTn id="18" dur="500"/>
                                        <p:tgtEl>
                                          <p:spTgt spid="5816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09"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623888" y="1412875"/>
            <a:ext cx="10937875" cy="5183188"/>
          </a:xfrm>
        </p:spPr>
        <p:txBody>
          <a:bodyPr vert="horz" wrap="square" lIns="91440" tIns="45720" rIns="91440" bIns="45720" anchor="t" anchorCtr="0"/>
          <a:lstStyle/>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3.</a:t>
            </a:r>
            <a:r>
              <a:rPr lang="zh-CN" altLang="en-US" sz="3200" kern="1200" dirty="0">
                <a:latin typeface="Times New Roman" panose="02020503050405090304" pitchFamily="18" charset="0"/>
                <a:ea typeface="黑体" panose="02010609060101010101" pitchFamily="49" charset="-122"/>
                <a:cs typeface="+mn-cs"/>
              </a:rPr>
              <a:t>注释和文档</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在代码中添加必要的注释，特别是对于复杂的逻辑和算法，以及公共接口的使用说明。同时，维护良好的文档，包括设计文档</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Q</a:t>
            </a: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、用户手册等，有助于其他开发者快速理解和使用代码。</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4.</a:t>
            </a:r>
            <a:r>
              <a:rPr lang="zh-CN" altLang="en-US" sz="3200" kern="1200" dirty="0">
                <a:latin typeface="Times New Roman" panose="02020503050405090304" pitchFamily="18" charset="0"/>
                <a:ea typeface="黑体" panose="02010609060101010101" pitchFamily="49" charset="-122"/>
                <a:cs typeface="+mn-cs"/>
              </a:rPr>
              <a:t>代码风格统一</a:t>
            </a:r>
            <a:r>
              <a:rPr lang="en-US" altLang="zh-CN" sz="3200" kern="1200" dirty="0">
                <a:latin typeface="Times New Roman" panose="02020503050405090304" pitchFamily="18" charset="0"/>
                <a:ea typeface="黑体" panose="02010609060101010101" pitchFamily="49" charset="-122"/>
                <a:cs typeface="+mn-cs"/>
              </a:rPr>
              <a:t>: </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遵循一致的编码风格和规范，比如缩进、空格、括号的使用等，使得代码看起来整洁有序，便于阅读和维护</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animEffect transition="in" filter="wipe(left)">
                                      <p:cBhvr>
                                        <p:cTn id="15" dur="500"/>
                                        <p:tgtEl>
                                          <p:spTgt spid="58163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Effect transition="in" filter="wipe(left)">
                                      <p:cBhvr>
                                        <p:cTn id="18" dur="500"/>
                                        <p:tgtEl>
                                          <p:spTgt spid="581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7" name="标题 1"/>
          <p:cNvSpPr>
            <a:spLocks noGrp="1"/>
          </p:cNvSpPr>
          <p:nvPr>
            <p:ph type="title"/>
          </p:nvPr>
        </p:nvSpPr>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pic>
        <p:nvPicPr>
          <p:cNvPr id="96258" name="图片 5"/>
          <p:cNvPicPr>
            <a:picLocks noChangeAspect="1"/>
          </p:cNvPicPr>
          <p:nvPr/>
        </p:nvPicPr>
        <p:blipFill>
          <a:blip r:embed="rId1"/>
          <a:stretch>
            <a:fillRect/>
          </a:stretch>
        </p:blipFill>
        <p:spPr>
          <a:xfrm>
            <a:off x="1416050" y="3213100"/>
            <a:ext cx="3371850" cy="1782763"/>
          </a:xfrm>
          <a:prstGeom prst="rect">
            <a:avLst/>
          </a:prstGeom>
          <a:noFill/>
          <a:ln w="9525">
            <a:noFill/>
          </a:ln>
        </p:spPr>
      </p:pic>
      <p:pic>
        <p:nvPicPr>
          <p:cNvPr id="96259" name="图片 7"/>
          <p:cNvPicPr>
            <a:picLocks noChangeAspect="1"/>
          </p:cNvPicPr>
          <p:nvPr/>
        </p:nvPicPr>
        <p:blipFill>
          <a:blip r:embed="rId2"/>
          <a:stretch>
            <a:fillRect/>
          </a:stretch>
        </p:blipFill>
        <p:spPr>
          <a:xfrm>
            <a:off x="7032625" y="2420938"/>
            <a:ext cx="4471988" cy="3795712"/>
          </a:xfrm>
          <a:prstGeom prst="rect">
            <a:avLst/>
          </a:prstGeom>
          <a:noFill/>
          <a:ln w="9525">
            <a:noFill/>
          </a:ln>
        </p:spPr>
      </p:pic>
      <p:sp>
        <p:nvSpPr>
          <p:cNvPr id="9" name="文本框 8"/>
          <p:cNvSpPr txBox="1"/>
          <p:nvPr/>
        </p:nvSpPr>
        <p:spPr>
          <a:xfrm>
            <a:off x="5253290" y="3429000"/>
            <a:ext cx="1313180" cy="1107995"/>
          </a:xfrm>
          <a:prstGeom prst="rect">
            <a:avLst/>
          </a:prstGeom>
          <a:noFill/>
        </p:spPr>
        <p:txBody>
          <a:bodyPr wrap="none">
            <a:spAutoFit/>
          </a:bodyPr>
          <a:lstStyle/>
          <a:p>
            <a:pPr marR="0" defTabSz="914400" eaLnBrk="0" hangingPunct="0">
              <a:buClrTx/>
              <a:buSzTx/>
              <a:buFontTx/>
              <a:buNone/>
              <a:defRPr/>
            </a:pPr>
            <a:r>
              <a:rPr kumimoji="0" lang="en-US" altLang="zh-CN" sz="6600" b="1" kern="1200" cap="none" spc="0" normalizeH="0" baseline="0" noProof="0" dirty="0">
                <a:ln w="6600">
                  <a:solidFill>
                    <a:schemeClr val="accent2"/>
                  </a:solidFill>
                  <a:prstDash val="solid"/>
                </a:ln>
                <a:solidFill>
                  <a:srgbClr val="FFFFFF"/>
                </a:solidFill>
                <a:effectLst>
                  <a:outerShdw dist="38100" dir="2700000" algn="tl" rotWithShape="0">
                    <a:schemeClr val="accent2"/>
                  </a:outerShdw>
                </a:effectLst>
                <a:latin typeface="Arial" panose="020B0604020202090204" pitchFamily="34" charset="0"/>
                <a:ea typeface="宋体" pitchFamily="2" charset="-122"/>
                <a:cs typeface="+mn-cs"/>
              </a:rPr>
              <a:t>VS</a:t>
            </a:r>
            <a:endParaRPr kumimoji="0" lang="zh-CN" altLang="en-US" sz="6600" b="1" kern="1200" cap="none" spc="0" normalizeH="0" baseline="0" noProof="0" dirty="0">
              <a:ln w="6600">
                <a:solidFill>
                  <a:schemeClr val="accent2"/>
                </a:solidFill>
                <a:prstDash val="solid"/>
              </a:ln>
              <a:solidFill>
                <a:srgbClr val="FFFFFF"/>
              </a:solidFill>
              <a:effectLst>
                <a:outerShdw dist="38100" dir="2700000" algn="tl" rotWithShape="0">
                  <a:schemeClr val="accent2"/>
                </a:outerShdw>
              </a:effectLst>
              <a:latin typeface="Arial" panose="020B0604020202090204" pitchFamily="34" charset="0"/>
              <a:ea typeface="宋体" pitchFamily="2" charset="-122"/>
              <a:cs typeface="+mn-cs"/>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1"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623888" y="1412875"/>
            <a:ext cx="10937875" cy="5183188"/>
          </a:xfrm>
        </p:spPr>
        <p:txBody>
          <a:bodyPr vert="horz" wrap="square" lIns="91440" tIns="45720" rIns="91440" bIns="45720" anchor="t" anchorCtr="0"/>
          <a:lstStyle/>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5.</a:t>
            </a:r>
            <a:r>
              <a:rPr lang="zh-CN" altLang="en-US" sz="3200" kern="1200" dirty="0">
                <a:latin typeface="Times New Roman" panose="02020503050405090304" pitchFamily="18" charset="0"/>
                <a:ea typeface="黑体" panose="02010609060101010101" pitchFamily="49" charset="-122"/>
                <a:cs typeface="+mn-cs"/>
              </a:rPr>
              <a:t>控制结构简洁</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尽量使用简单的控制结构，避免过深的嵌套和复杂的条件判断，这样可以减少理解和维护的难度。</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6</a:t>
            </a:r>
            <a:r>
              <a:rPr lang="zh-CN" altLang="en-US" sz="3200" kern="1200" dirty="0">
                <a:latin typeface="Times New Roman" panose="02020503050405090304" pitchFamily="18" charset="0"/>
                <a:ea typeface="黑体" panose="02010609060101010101" pitchFamily="49" charset="-122"/>
                <a:cs typeface="+mn-cs"/>
              </a:rPr>
              <a:t>、错误外理：</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合理地外理错误情况，不要忽略异常，确保程序在各种情况下都能给出明确的错误信息或者采取恰当的措施</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9525000" y="765175"/>
            <a:ext cx="2262188" cy="2971800"/>
          </a:xfrm>
          <a:prstGeom prst="rect">
            <a:avLst/>
          </a:prstGeom>
          <a:noFill/>
          <a:ln w="9525">
            <a:noFill/>
          </a:ln>
        </p:spPr>
      </p:pic>
      <p:sp>
        <p:nvSpPr>
          <p:cNvPr id="4" name="灯片编号占位符 3"/>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1635">
                                            <p:txEl>
                                              <p:pRg st="2" end="2"/>
                                            </p:txEl>
                                          </p:spTgt>
                                        </p:tgtEl>
                                        <p:attrNameLst>
                                          <p:attrName>style.visibility</p:attrName>
                                        </p:attrNameLst>
                                      </p:cBhvr>
                                      <p:to>
                                        <p:strVal val="visible"/>
                                      </p:to>
                                    </p:set>
                                    <p:animEffect transition="in" filter="wipe(left)">
                                      <p:cBhvr>
                                        <p:cTn id="21" dur="500"/>
                                        <p:tgtEl>
                                          <p:spTgt spid="581635">
                                            <p:txEl>
                                              <p:pRg st="2" end="2"/>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81635">
                                            <p:txEl>
                                              <p:pRg st="3" end="3"/>
                                            </p:txEl>
                                          </p:spTgt>
                                        </p:tgtEl>
                                        <p:attrNameLst>
                                          <p:attrName>style.visibility</p:attrName>
                                        </p:attrNameLst>
                                      </p:cBhvr>
                                      <p:to>
                                        <p:strVal val="visible"/>
                                      </p:to>
                                    </p:set>
                                    <p:animEffect transition="in" filter="wipe(left)">
                                      <p:cBhvr>
                                        <p:cTn id="24" dur="500"/>
                                        <p:tgtEl>
                                          <p:spTgt spid="581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29"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623888" y="1412875"/>
            <a:ext cx="10937875" cy="5183188"/>
          </a:xfrm>
        </p:spPr>
        <p:txBody>
          <a:bodyPr vert="horz" wrap="square" lIns="91440" tIns="45720" rIns="91440" bIns="45720" anchor="t" anchorCtr="0"/>
          <a:lstStyle/>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7.</a:t>
            </a:r>
            <a:r>
              <a:rPr lang="zh-CN" altLang="en-US" sz="3200" kern="1200" dirty="0">
                <a:latin typeface="Times New Roman" panose="02020503050405090304" pitchFamily="18" charset="0"/>
                <a:ea typeface="黑体" panose="02010609060101010101" pitchFamily="49" charset="-122"/>
                <a:cs typeface="+mn-cs"/>
              </a:rPr>
              <a:t>代码审查</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定期进行代码审查，可以帮助发现潜在的问题和改进代码质量，同时也是知识共享和团队协作的好方法。</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8.</a:t>
            </a:r>
            <a:r>
              <a:rPr lang="zh-CN" altLang="en-US" sz="3200" kern="1200" dirty="0">
                <a:latin typeface="Times New Roman" panose="02020503050405090304" pitchFamily="18" charset="0"/>
                <a:ea typeface="黑体" panose="02010609060101010101" pitchFamily="49" charset="-122"/>
                <a:cs typeface="+mn-cs"/>
              </a:rPr>
              <a:t>测试</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编写充分的测试用例，进行单元测试、集成测试和系统测试，确保代码的正确性和稳定性。</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9.</a:t>
            </a:r>
            <a:r>
              <a:rPr lang="zh-CN" altLang="en-US" sz="3200" kern="1200" dirty="0">
                <a:latin typeface="Times New Roman" panose="02020503050405090304" pitchFamily="18" charset="0"/>
                <a:ea typeface="黑体" panose="02010609060101010101" pitchFamily="49" charset="-122"/>
                <a:cs typeface="+mn-cs"/>
              </a:rPr>
              <a:t>设计模式</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在适当的场合使用设计模式，可以提高代码的灵活性和扩展性，同时也使得代码更加易于理解和维护</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animEffect transition="in" filter="wipe(left)">
                                      <p:cBhvr>
                                        <p:cTn id="15" dur="500"/>
                                        <p:tgtEl>
                                          <p:spTgt spid="58163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Effect transition="in" filter="wipe(left)">
                                      <p:cBhvr>
                                        <p:cTn id="18" dur="500"/>
                                        <p:tgtEl>
                                          <p:spTgt spid="5816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81635">
                                            <p:txEl>
                                              <p:pRg st="4" end="4"/>
                                            </p:txEl>
                                          </p:spTgt>
                                        </p:tgtEl>
                                        <p:attrNameLst>
                                          <p:attrName>style.visibility</p:attrName>
                                        </p:attrNameLst>
                                      </p:cBhvr>
                                      <p:to>
                                        <p:strVal val="visible"/>
                                      </p:to>
                                    </p:set>
                                    <p:animEffect transition="in" filter="wipe(left)">
                                      <p:cBhvr>
                                        <p:cTn id="23" dur="500"/>
                                        <p:tgtEl>
                                          <p:spTgt spid="581635">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81635">
                                            <p:txEl>
                                              <p:pRg st="5" end="5"/>
                                            </p:txEl>
                                          </p:spTgt>
                                        </p:tgtEl>
                                        <p:attrNameLst>
                                          <p:attrName>style.visibility</p:attrName>
                                        </p:attrNameLst>
                                      </p:cBhvr>
                                      <p:to>
                                        <p:strVal val="visible"/>
                                      </p:to>
                                    </p:set>
                                    <p:animEffect transition="in" filter="wipe(left)">
                                      <p:cBhvr>
                                        <p:cTn id="26" dur="500"/>
                                        <p:tgtEl>
                                          <p:spTgt spid="5816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7" name="Rectangle 2"/>
          <p:cNvSpPr>
            <a:spLocks noGrp="1"/>
          </p:cNvSpPr>
          <p:nvPr>
            <p:ph type="title"/>
          </p:nvPr>
        </p:nvSpPr>
        <p:spPr>
          <a:xfrm>
            <a:off x="1638300" y="269875"/>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2.8 </a:t>
            </a:r>
            <a:r>
              <a:rPr lang="zh-CN" altLang="en-US" kern="1200" dirty="0">
                <a:latin typeface="Arial" panose="020B0604020202090204" pitchFamily="34" charset="0"/>
                <a:ea typeface="黑体" panose="02010609060101010101" pitchFamily="49" charset="-122"/>
                <a:cs typeface="Arial" panose="020B0604020202090204" pitchFamily="34" charset="0"/>
              </a:rPr>
              <a:t>提高程序可维护性</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1635" name="Rectangle 3"/>
          <p:cNvSpPr>
            <a:spLocks noGrp="1"/>
          </p:cNvSpPr>
          <p:nvPr>
            <p:ph idx="1"/>
          </p:nvPr>
        </p:nvSpPr>
        <p:spPr>
          <a:xfrm>
            <a:off x="623888" y="1412875"/>
            <a:ext cx="10937875" cy="5183188"/>
          </a:xfrm>
        </p:spPr>
        <p:txBody>
          <a:bodyPr vert="horz" wrap="square" lIns="91440" tIns="45720" rIns="91440" bIns="45720" anchor="t" anchorCtr="0"/>
          <a:lstStyle/>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10.</a:t>
            </a:r>
            <a:r>
              <a:rPr lang="zh-CN" altLang="en-US" sz="3200" kern="1200" dirty="0">
                <a:latin typeface="Times New Roman" panose="02020503050405090304" pitchFamily="18" charset="0"/>
                <a:ea typeface="黑体" panose="02010609060101010101" pitchFamily="49" charset="-122"/>
                <a:cs typeface="+mn-cs"/>
              </a:rPr>
              <a:t>架构设计</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站在软件整体架构的角度去思考，合理规划软件的结构，使得各个部分职责分明，相互协作，提高整体的可维护性</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11.</a:t>
            </a:r>
            <a:r>
              <a:rPr lang="zh-CN" altLang="en-US" sz="3200" kern="1200" dirty="0">
                <a:latin typeface="Times New Roman" panose="02020503050405090304" pitchFamily="18" charset="0"/>
                <a:ea typeface="黑体" panose="02010609060101010101" pitchFamily="49" charset="-122"/>
                <a:cs typeface="+mn-cs"/>
              </a:rPr>
              <a:t>避免过度工程</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即不要为了追求完美而过度设计和编写不必要的代码，这样会导致代码复杂难以维护</a:t>
            </a:r>
            <a:endPar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endParaRPr>
          </a:p>
          <a:p>
            <a:pPr>
              <a:spcAft>
                <a:spcPct val="0"/>
              </a:spcAft>
              <a:buSzPct val="50000"/>
            </a:pPr>
            <a:r>
              <a:rPr lang="en-US" altLang="zh-CN" sz="3200" kern="1200" dirty="0">
                <a:latin typeface="Times New Roman" panose="02020503050405090304" pitchFamily="18" charset="0"/>
                <a:ea typeface="黑体" panose="02010609060101010101" pitchFamily="49" charset="-122"/>
                <a:cs typeface="+mn-cs"/>
              </a:rPr>
              <a:t>12.</a:t>
            </a:r>
            <a:r>
              <a:rPr lang="zh-CN" altLang="en-US" sz="3200" kern="1200" dirty="0">
                <a:latin typeface="Times New Roman" panose="02020503050405090304" pitchFamily="18" charset="0"/>
                <a:ea typeface="黑体" panose="02010609060101010101" pitchFamily="49" charset="-122"/>
                <a:cs typeface="+mn-cs"/>
              </a:rPr>
              <a:t>持续重构</a:t>
            </a:r>
            <a:r>
              <a:rPr lang="en-US" altLang="zh-CN" sz="3200" kern="1200" dirty="0">
                <a:latin typeface="Times New Roman" panose="02020503050405090304" pitchFamily="18" charset="0"/>
                <a:ea typeface="黑体" panose="02010609060101010101" pitchFamily="49" charset="-122"/>
                <a:cs typeface="+mn-cs"/>
              </a:rPr>
              <a:t>:</a:t>
            </a:r>
            <a:endParaRPr lang="en-US" altLang="zh-CN" sz="3200" kern="1200" dirty="0">
              <a:latin typeface="Times New Roman" panose="02020503050405090304" pitchFamily="18" charset="0"/>
              <a:ea typeface="黑体" panose="02010609060101010101" pitchFamily="49" charset="-122"/>
              <a:cs typeface="+mn-cs"/>
            </a:endParaRPr>
          </a:p>
          <a:p>
            <a:pPr lvl="1">
              <a:spcAft>
                <a:spcPct val="0"/>
              </a:spcAft>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随着需求的变更和技术的进步，不断重构代码，去除不再需要的代码，优化现有的设计，保持代码的活力</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animEffect transition="in" filter="wipe(left)">
                                      <p:cBhvr>
                                        <p:cTn id="7" dur="500"/>
                                        <p:tgtEl>
                                          <p:spTgt spid="5816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81635">
                                            <p:txEl>
                                              <p:pRg st="1" end="1"/>
                                            </p:txEl>
                                          </p:spTgt>
                                        </p:tgtEl>
                                        <p:attrNameLst>
                                          <p:attrName>style.visibility</p:attrName>
                                        </p:attrNameLst>
                                      </p:cBhvr>
                                      <p:to>
                                        <p:strVal val="visible"/>
                                      </p:to>
                                    </p:set>
                                    <p:animEffect transition="in" filter="wipe(left)">
                                      <p:cBhvr>
                                        <p:cTn id="10" dur="500"/>
                                        <p:tgtEl>
                                          <p:spTgt spid="5816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animEffect transition="in" filter="wipe(left)">
                                      <p:cBhvr>
                                        <p:cTn id="15" dur="500"/>
                                        <p:tgtEl>
                                          <p:spTgt spid="58163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1635">
                                            <p:txEl>
                                              <p:pRg st="3" end="3"/>
                                            </p:txEl>
                                          </p:spTgt>
                                        </p:tgtEl>
                                        <p:attrNameLst>
                                          <p:attrName>style.visibility</p:attrName>
                                        </p:attrNameLst>
                                      </p:cBhvr>
                                      <p:to>
                                        <p:strVal val="visible"/>
                                      </p:to>
                                    </p:set>
                                    <p:animEffect transition="in" filter="wipe(left)">
                                      <p:cBhvr>
                                        <p:cTn id="18" dur="500"/>
                                        <p:tgtEl>
                                          <p:spTgt spid="5816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81635">
                                            <p:txEl>
                                              <p:pRg st="4" end="4"/>
                                            </p:txEl>
                                          </p:spTgt>
                                        </p:tgtEl>
                                        <p:attrNameLst>
                                          <p:attrName>style.visibility</p:attrName>
                                        </p:attrNameLst>
                                      </p:cBhvr>
                                      <p:to>
                                        <p:strVal val="visible"/>
                                      </p:to>
                                    </p:set>
                                    <p:animEffect transition="in" filter="wipe(left)">
                                      <p:cBhvr>
                                        <p:cTn id="23" dur="500"/>
                                        <p:tgtEl>
                                          <p:spTgt spid="581635">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81635">
                                            <p:txEl>
                                              <p:pRg st="5" end="5"/>
                                            </p:txEl>
                                          </p:spTgt>
                                        </p:tgtEl>
                                        <p:attrNameLst>
                                          <p:attrName>style.visibility</p:attrName>
                                        </p:attrNameLst>
                                      </p:cBhvr>
                                      <p:to>
                                        <p:strVal val="visible"/>
                                      </p:to>
                                    </p:set>
                                    <p:animEffect transition="in" filter="wipe(left)">
                                      <p:cBhvr>
                                        <p:cTn id="26" dur="500"/>
                                        <p:tgtEl>
                                          <p:spTgt spid="5816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5" name="Rectangle 2"/>
          <p:cNvSpPr>
            <a:spLocks noGrp="1"/>
          </p:cNvSpPr>
          <p:nvPr>
            <p:ph type="title" idx="4294967295"/>
          </p:nvPr>
        </p:nvSpPr>
        <p:spPr/>
        <p:txBody>
          <a:bodyPr vert="horz" wrap="square" lIns="91440" tIns="45720" rIns="91440" bIns="45720" anchor="ctr" anchorCtr="0"/>
          <a:lstStyle/>
          <a:p>
            <a:r>
              <a:rPr lang="zh-CN" altLang="en-US" dirty="0"/>
              <a:t>小结</a:t>
            </a:r>
            <a:endParaRPr lang="zh-CN" altLang="en-US" dirty="0"/>
          </a:p>
        </p:txBody>
      </p:sp>
      <p:sp>
        <p:nvSpPr>
          <p:cNvPr id="103426" name="Rectangle 3"/>
          <p:cNvSpPr txBox="1"/>
          <p:nvPr/>
        </p:nvSpPr>
        <p:spPr>
          <a:xfrm>
            <a:off x="1727200" y="1628775"/>
            <a:ext cx="8420100" cy="4657725"/>
          </a:xfrm>
          <a:prstGeom prst="rect">
            <a:avLst/>
          </a:prstGeom>
          <a:noFill/>
          <a:ln w="9525">
            <a:noFill/>
          </a:ln>
        </p:spPr>
        <p:txBody>
          <a:bodyPr lIns="92075" tIns="46037" rIns="92075" bIns="46037" anchor="t" anchorCtr="0"/>
          <a:lstStyle/>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黑体" panose="02010609060101010101" pitchFamily="49" charset="-122"/>
                <a:ea typeface="黑体" panose="02010609060101010101" pitchFamily="49" charset="-122"/>
              </a:rPr>
              <a:t>如何定义一个函数</a:t>
            </a:r>
            <a:endParaRPr lang="zh-CN" altLang="en-US"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黑体" panose="02010609060101010101" pitchFamily="49" charset="-122"/>
                <a:ea typeface="黑体" panose="02010609060101010101" pitchFamily="49" charset="-122"/>
              </a:rPr>
              <a:t>如何调用一个函数</a:t>
            </a:r>
            <a:endParaRPr lang="zh-CN" altLang="en-US"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黑体" panose="02010609060101010101" pitchFamily="49" charset="-122"/>
                <a:ea typeface="黑体" panose="02010609060101010101" pitchFamily="49" charset="-122"/>
              </a:rPr>
              <a:t>如何向函数传值</a:t>
            </a:r>
            <a:endParaRPr lang="zh-CN" altLang="en-US"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黑体" panose="02010609060101010101" pitchFamily="49" charset="-122"/>
                <a:ea typeface="黑体" panose="02010609060101010101" pitchFamily="49" charset="-122"/>
              </a:rPr>
              <a:t>如何从函数返回值</a:t>
            </a:r>
            <a:endParaRPr lang="zh-CN" altLang="en-US"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en-US" altLang="zh-CN" sz="3200" dirty="0">
                <a:solidFill>
                  <a:srgbClr val="000066"/>
                </a:solidFill>
                <a:latin typeface="黑体" panose="02010609060101010101" pitchFamily="49" charset="-122"/>
                <a:ea typeface="黑体" panose="02010609060101010101" pitchFamily="49" charset="-122"/>
              </a:rPr>
              <a:t>递归函数</a:t>
            </a:r>
            <a:endParaRPr lang="en-US" altLang="zh-CN"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en-US" altLang="zh-CN" sz="3200" dirty="0">
                <a:solidFill>
                  <a:srgbClr val="000066"/>
                </a:solidFill>
                <a:latin typeface="黑体" panose="02010609060101010101" pitchFamily="49" charset="-122"/>
                <a:ea typeface="黑体" panose="02010609060101010101" pitchFamily="49" charset="-122"/>
              </a:rPr>
              <a:t>变量的作用域</a:t>
            </a:r>
            <a:r>
              <a:rPr lang="zh-CN" altLang="en-US" sz="3200" dirty="0">
                <a:solidFill>
                  <a:srgbClr val="000066"/>
                </a:solidFill>
                <a:latin typeface="黑体" panose="02010609060101010101" pitchFamily="49" charset="-122"/>
                <a:ea typeface="黑体" panose="02010609060101010101" pitchFamily="49" charset="-122"/>
              </a:rPr>
              <a:t>和存储类型</a:t>
            </a:r>
            <a:endParaRPr lang="en-US" altLang="zh-CN" sz="3200" dirty="0">
              <a:solidFill>
                <a:srgbClr val="000066"/>
              </a:solidFill>
              <a:latin typeface="黑体" panose="02010609060101010101" pitchFamily="49" charset="-122"/>
              <a:ea typeface="黑体" panose="02010609060101010101" pitchFamily="49" charset="-122"/>
            </a:endParaRPr>
          </a:p>
          <a:p>
            <a:pPr marL="457200" indent="-457200" eaLnBrk="0" hangingPunct="0">
              <a:lnSpc>
                <a:spcPct val="105000"/>
              </a:lnSpc>
              <a:spcBef>
                <a:spcPct val="20000"/>
              </a:spcBef>
              <a:spcAft>
                <a:spcPts val="590"/>
              </a:spcAft>
              <a:buClr>
                <a:schemeClr val="tx1"/>
              </a:buClr>
              <a:buSzPct val="80000"/>
              <a:buFont typeface="Wingdings" panose="05000000000000000000" pitchFamily="2" charset="2"/>
              <a:buChar char="n"/>
            </a:pPr>
            <a:r>
              <a:rPr lang="zh-CN" altLang="en-US" sz="3200" dirty="0">
                <a:solidFill>
                  <a:srgbClr val="000066"/>
                </a:solidFill>
                <a:latin typeface="黑体" panose="02010609060101010101" pitchFamily="49" charset="-122"/>
                <a:ea typeface="黑体" panose="02010609060101010101" pitchFamily="49" charset="-122"/>
              </a:rPr>
              <a:t>模块化程序设计思想</a:t>
            </a:r>
            <a:endParaRPr lang="zh-CN" altLang="en-US" sz="3200" dirty="0">
              <a:solidFill>
                <a:srgbClr val="000066"/>
              </a:solidFill>
              <a:latin typeface="黑体" panose="02010609060101010101" pitchFamily="49" charset="-122"/>
              <a:ea typeface="黑体" panose="02010609060101010101" pitchFamily="49" charset="-122"/>
            </a:endParaRPr>
          </a:p>
        </p:txBody>
      </p:sp>
      <p:graphicFrame>
        <p:nvGraphicFramePr>
          <p:cNvPr id="103427" name="Object 2"/>
          <p:cNvGraphicFramePr>
            <a:graphicFrameLocks noChangeAspect="1"/>
          </p:cNvGraphicFramePr>
          <p:nvPr/>
        </p:nvGraphicFramePr>
        <p:xfrm>
          <a:off x="7829550" y="4724400"/>
          <a:ext cx="2641600" cy="1476375"/>
        </p:xfrm>
        <a:graphic>
          <a:graphicData uri="http://schemas.openxmlformats.org/presentationml/2006/ole">
            <mc:AlternateContent xmlns:mc="http://schemas.openxmlformats.org/markup-compatibility/2006">
              <mc:Choice xmlns:v="urn:schemas-microsoft-com:vml" Requires="v">
                <p:oleObj spid="_x0000_s80009" name="" r:id="rId1" imgW="28803600" imgH="16163925" progId="MS_ClipArt_Gallery.2">
                  <p:embed/>
                </p:oleObj>
              </mc:Choice>
              <mc:Fallback>
                <p:oleObj name="" r:id="rId1" imgW="28803600" imgH="16163925" progId="MS_ClipArt_Gallery.2">
                  <p:embed/>
                  <p:pic>
                    <p:nvPicPr>
                      <p:cNvPr id="0" name="图片 3075"/>
                      <p:cNvPicPr/>
                      <p:nvPr/>
                    </p:nvPicPr>
                    <p:blipFill>
                      <a:blip r:embed="rId2"/>
                      <a:stretch>
                        <a:fillRect/>
                      </a:stretch>
                    </p:blipFill>
                    <p:spPr>
                      <a:xfrm>
                        <a:off x="7829550" y="4724400"/>
                        <a:ext cx="2641600" cy="1476375"/>
                      </a:xfrm>
                      <a:prstGeom prst="rect">
                        <a:avLst/>
                      </a:prstGeom>
                      <a:noFill/>
                      <a:ln w="38100">
                        <a:noFill/>
                        <a:miter/>
                      </a:ln>
                    </p:spPr>
                  </p:pic>
                </p:oleObj>
              </mc:Fallback>
            </mc:AlternateContent>
          </a:graphicData>
        </a:graphic>
      </p:graphicFrame>
      <p:sp>
        <p:nvSpPr>
          <p:cNvPr id="3" name="灯片编号占位符 2"/>
          <p:cNvSpPr>
            <a:spLocks noGrp="1"/>
          </p:cNvSpPr>
          <p:nvPr>
            <p:ph type="sldNum" sz="quarter" idx="4"/>
          </p:nvPr>
        </p:nvSpPr>
        <p:spPr/>
        <p:txBody>
          <a:bodyPr/>
          <a:lstStyle/>
          <a:p>
            <a:pPr algn="ctr" eaLnBrk="1" fontAlgn="base"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strike="noStrike" noProof="1" smtClean="0">
                <a:latin typeface="Arial" panose="020B0604020202090204" pitchFamily="34" charset="0"/>
                <a:ea typeface="宋体" pitchFamily="2" charset="-122"/>
                <a:cs typeface="+mn-cs"/>
              </a:rPr>
            </a:fld>
            <a:endParaRPr lang="zh-CN" altLang="en-US" strike="noStrike" noProof="1"/>
          </a:p>
        </p:txBody>
      </p:sp>
    </p:spTree>
  </p:cSld>
  <p:clrMapOvr>
    <a:masterClrMapping/>
  </p:clrMapOvr>
  <p:transition/>
</p:sld>
</file>

<file path=ppt/tags/tag1.xml><?xml version="1.0" encoding="utf-8"?>
<p:tagLst xmlns:p="http://schemas.openxmlformats.org/presentationml/2006/main">
  <p:tag name="TIMING" val="|1.5|2.8|1|1.1|0.9|1.9|1.5|1.2|1.5|2.6|11.9"/>
</p:tagLst>
</file>

<file path=ppt/tags/tag2.xml><?xml version="1.0" encoding="utf-8"?>
<p:tagLst xmlns:p="http://schemas.openxmlformats.org/presentationml/2006/main">
  <p:tag name="DVSHAPEID" val="wJZ8rzv3dGcdpVTf9Y7Okg"/>
</p:tagLst>
</file>

<file path=ppt/theme/_rels/them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10503</Words>
  <Application>WPS 演示</Application>
  <PresentationFormat>宽屏</PresentationFormat>
  <Paragraphs>1351</Paragraphs>
  <Slides>72</Slides>
  <Notes>34</Notes>
  <HiddenSlides>0</HiddenSlides>
  <MMClips>0</MMClips>
  <ScaleCrop>false</ScaleCrop>
  <HeadingPairs>
    <vt:vector size="8" baseType="variant">
      <vt:variant>
        <vt:lpstr>已用的字体</vt:lpstr>
      </vt:variant>
      <vt:variant>
        <vt:i4>38</vt:i4>
      </vt:variant>
      <vt:variant>
        <vt:lpstr>主题</vt:lpstr>
      </vt:variant>
      <vt:variant>
        <vt:i4>1</vt:i4>
      </vt:variant>
      <vt:variant>
        <vt:lpstr>嵌入 OLE 服务器</vt:lpstr>
      </vt:variant>
      <vt:variant>
        <vt:i4>2</vt:i4>
      </vt:variant>
      <vt:variant>
        <vt:lpstr>幻灯片标题</vt:lpstr>
      </vt:variant>
      <vt:variant>
        <vt:i4>72</vt:i4>
      </vt:variant>
    </vt:vector>
  </HeadingPairs>
  <TitlesOfParts>
    <vt:vector size="113" baseType="lpstr">
      <vt:lpstr>Arial</vt:lpstr>
      <vt:lpstr>宋体</vt:lpstr>
      <vt:lpstr>Wingdings</vt:lpstr>
      <vt:lpstr>汉仪书宋二KW</vt:lpstr>
      <vt:lpstr>黑体</vt:lpstr>
      <vt:lpstr>汉仪中黑KW</vt:lpstr>
      <vt:lpstr>Times New Roman</vt:lpstr>
      <vt:lpstr>华文行楷</vt:lpstr>
      <vt:lpstr>楷体_GB2312</vt:lpstr>
      <vt:lpstr>Wingdings 2</vt:lpstr>
      <vt:lpstr>Arial</vt:lpstr>
      <vt:lpstr>行楷-简</vt:lpstr>
      <vt:lpstr>微软雅黑</vt:lpstr>
      <vt:lpstr>汉仪旗黑</vt:lpstr>
      <vt:lpstr>华文仿宋</vt:lpstr>
      <vt:lpstr>Monotype Sorts</vt:lpstr>
      <vt:lpstr>Thonburi</vt:lpstr>
      <vt:lpstr>Franklin Gothic Book</vt:lpstr>
      <vt:lpstr>Arial Narrow</vt:lpstr>
      <vt:lpstr>宋体</vt:lpstr>
      <vt:lpstr>Arial Unicode MS</vt:lpstr>
      <vt:lpstr>Courier New</vt:lpstr>
      <vt:lpstr>Calibri</vt:lpstr>
      <vt:lpstr>华文细黑</vt:lpstr>
      <vt:lpstr>幼圆</vt:lpstr>
      <vt:lpstr>苹方-简</vt:lpstr>
      <vt:lpstr>汉仪楷体简</vt:lpstr>
      <vt:lpstr>Helvetica Neue</vt:lpstr>
      <vt:lpstr>黑体-简</vt:lpstr>
      <vt:lpstr>华文宋体</vt:lpstr>
      <vt:lpstr>Monotype Sorts</vt:lpstr>
      <vt:lpstr>Wingdings</vt:lpstr>
      <vt:lpstr>Wingdings 2</vt:lpstr>
      <vt:lpstr>华文细黑</vt:lpstr>
      <vt:lpstr>幼圆</vt:lpstr>
      <vt:lpstr>微软雅黑</vt:lpstr>
      <vt:lpstr>楷体_GB2312</vt:lpstr>
      <vt:lpstr>黑体</vt:lpstr>
      <vt:lpstr>暗香扑面</vt:lpstr>
      <vt:lpstr>Equation.3</vt:lpstr>
      <vt:lpstr>MS_ClipArt_Gallery.2</vt:lpstr>
      <vt:lpstr>计算思维与实践</vt:lpstr>
      <vt:lpstr>PowerPoint 演示文稿</vt:lpstr>
      <vt:lpstr> 学习内容</vt:lpstr>
      <vt:lpstr>PowerPoint 演示文稿</vt:lpstr>
      <vt:lpstr>PowerPoint 演示文稿</vt:lpstr>
      <vt:lpstr>2.1 分而治之与信息隐藏</vt:lpstr>
      <vt:lpstr>2.1 分而治之与信息隐藏</vt:lpstr>
      <vt:lpstr>2.2 函数</vt:lpstr>
      <vt:lpstr>2.2.1 函数的分类</vt:lpstr>
      <vt:lpstr>2.2.1 函数的分类</vt:lpstr>
      <vt:lpstr>2.2.2 函数的定义</vt:lpstr>
      <vt:lpstr>2.2.2 函数的定义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2.3.2 函数原型</vt:lpstr>
      <vt:lpstr>2.3.2 函数原型</vt:lpstr>
      <vt:lpstr>2.4 变量的作用域和存储类型</vt:lpstr>
      <vt:lpstr>2.4.1 变量的作用域</vt:lpstr>
      <vt:lpstr>2.4.1 变量的作用域</vt:lpstr>
      <vt:lpstr>2.4.1 变量的作用域</vt:lpstr>
      <vt:lpstr>2.4.1 变量的作用域</vt:lpstr>
      <vt:lpstr>2.4.1 变量的作用域</vt:lpstr>
      <vt:lpstr>2.4.1 变量的作用域</vt:lpstr>
      <vt:lpstr>2.4.1 变量的作用域</vt:lpstr>
      <vt:lpstr>2.4.2 变量的存储类型</vt:lpstr>
      <vt:lpstr>2.4.2 变量的存储类型</vt:lpstr>
      <vt:lpstr>2.4.2 变量的存储类型</vt:lpstr>
      <vt:lpstr>PowerPoint 演示文稿</vt:lpstr>
      <vt:lpstr>PowerPoint 演示文稿</vt:lpstr>
      <vt:lpstr>寄存器变量</vt:lpstr>
      <vt:lpstr>PowerPoint 演示文稿</vt:lpstr>
      <vt:lpstr>2.5 递归函数</vt:lpstr>
      <vt:lpstr>2.5 递归函数</vt:lpstr>
      <vt:lpstr>2.5 递归函数</vt:lpstr>
      <vt:lpstr>2.5 递归函数</vt:lpstr>
      <vt:lpstr>PowerPoint 演示文稿</vt:lpstr>
      <vt:lpstr>2.5 递归函数</vt:lpstr>
      <vt:lpstr>2.5 递归函数</vt:lpstr>
      <vt:lpstr>2.5 递归函数</vt:lpstr>
      <vt:lpstr>2.5 递归函数</vt:lpstr>
      <vt:lpstr>2.5 递归函数</vt:lpstr>
      <vt:lpstr>2.6 模块化程序设计</vt:lpstr>
      <vt:lpstr>2.6 模块化程序设计</vt:lpstr>
      <vt:lpstr>2.6 模块化程序设计</vt:lpstr>
      <vt:lpstr>2.6 模块化程序设计</vt:lpstr>
      <vt:lpstr>2.6 模块化程序设计</vt:lpstr>
      <vt:lpstr>2.6 模块化程序设计</vt:lpstr>
      <vt:lpstr>2.6 模块化程序设计</vt:lpstr>
      <vt:lpstr>2.6 模块化程序设计</vt:lpstr>
      <vt:lpstr>2.6 模块化程序设计</vt:lpstr>
      <vt:lpstr>2.6 模块化程序设计</vt:lpstr>
      <vt:lpstr>2.6 模块化程序设计</vt:lpstr>
      <vt:lpstr>2.6 模块化程序设计游戏</vt:lpstr>
      <vt:lpstr>2.6 模块化程序设计</vt:lpstr>
      <vt:lpstr>2.7 预编译指令</vt:lpstr>
      <vt:lpstr>2.7 预编译指令</vt:lpstr>
      <vt:lpstr>2.8 提高程序可维护性</vt:lpstr>
      <vt:lpstr>2.8 提高程序可维护性</vt:lpstr>
      <vt:lpstr>2.8 提高程序可维护性</vt:lpstr>
      <vt:lpstr>2.8 提高程序可维护性</vt:lpstr>
      <vt:lpstr>2.8 提高程序可维护性</vt:lpstr>
      <vt:lpstr>2.8 提高程序可维护性</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AAADX</cp:lastModifiedBy>
  <cp:revision>102</cp:revision>
  <dcterms:created xsi:type="dcterms:W3CDTF">2025-11-10T08:19:17Z</dcterms:created>
  <dcterms:modified xsi:type="dcterms:W3CDTF">2025-11-10T08:19:17Z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4A2838C2222B48AE9BDFE2455302D757_13</vt:lpwstr>
  </property>
  <property fmtid="{D5CDD505-2E9C-101B-9397-08002B2CF9AE}" pid="3" name="KSOProductBuildVer">
    <vt:lpwstr>2052-12.1.22522.22522</vt:lpwstr>
  </property>
</Properties>
</file>